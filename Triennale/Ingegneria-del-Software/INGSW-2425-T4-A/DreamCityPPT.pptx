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5"/>
  </p:notesMasterIdLst>
  <p:sldIdLst>
    <p:sldId id="277" r:id="rId5"/>
    <p:sldId id="272" r:id="rId6"/>
    <p:sldId id="294" r:id="rId7"/>
    <p:sldId id="295" r:id="rId8"/>
    <p:sldId id="299" r:id="rId9"/>
    <p:sldId id="298" r:id="rId10"/>
    <p:sldId id="296" r:id="rId11"/>
    <p:sldId id="273" r:id="rId12"/>
    <p:sldId id="276" r:id="rId13"/>
    <p:sldId id="278" r:id="rId14"/>
    <p:sldId id="279" r:id="rId15"/>
    <p:sldId id="280" r:id="rId16"/>
    <p:sldId id="281" r:id="rId17"/>
    <p:sldId id="282" r:id="rId18"/>
    <p:sldId id="293" r:id="rId19"/>
    <p:sldId id="309" r:id="rId20"/>
    <p:sldId id="310" r:id="rId21"/>
    <p:sldId id="311" r:id="rId22"/>
    <p:sldId id="312" r:id="rId23"/>
    <p:sldId id="284" r:id="rId24"/>
    <p:sldId id="285" r:id="rId25"/>
    <p:sldId id="286" r:id="rId26"/>
    <p:sldId id="287" r:id="rId27"/>
    <p:sldId id="288" r:id="rId28"/>
    <p:sldId id="289" r:id="rId29"/>
    <p:sldId id="290" r:id="rId30"/>
    <p:sldId id="291" r:id="rId31"/>
    <p:sldId id="257" r:id="rId32"/>
    <p:sldId id="259" r:id="rId33"/>
    <p:sldId id="262" r:id="rId34"/>
    <p:sldId id="260" r:id="rId35"/>
    <p:sldId id="258" r:id="rId36"/>
    <p:sldId id="263" r:id="rId37"/>
    <p:sldId id="268" r:id="rId38"/>
    <p:sldId id="269" r:id="rId39"/>
    <p:sldId id="283" r:id="rId40"/>
    <p:sldId id="264" r:id="rId41"/>
    <p:sldId id="265" r:id="rId42"/>
    <p:sldId id="266" r:id="rId43"/>
    <p:sldId id="292" r:id="rId44"/>
    <p:sldId id="300" r:id="rId45"/>
    <p:sldId id="301" r:id="rId46"/>
    <p:sldId id="302" r:id="rId47"/>
    <p:sldId id="313" r:id="rId48"/>
    <p:sldId id="307" r:id="rId49"/>
    <p:sldId id="306" r:id="rId50"/>
    <p:sldId id="308" r:id="rId51"/>
    <p:sldId id="303" r:id="rId52"/>
    <p:sldId id="304" r:id="rId53"/>
    <p:sldId id="314" r:id="rId54"/>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04CA97-B5F9-A39B-620C-3B6F4FC7556E}" v="383" dt="2025-02-03T22:33:37.053"/>
    <p1510:client id="{2BC6162A-0A8C-9F31-F090-7EA3582031DE}" v="7" dt="2025-02-04T20:52:46.522"/>
    <p1510:client id="{4BF70A6A-FBE0-FDBC-9ECB-7C7849A33AB2}" v="127" dt="2025-02-04T21:07:25.228"/>
    <p1510:client id="{5631B25E-AC58-634D-93BD-ABB746413EE8}" v="1" dt="2025-02-04T21:21:18.389"/>
    <p1510:client id="{6CE92A6C-326C-E8E4-FEF8-B111913E3FF0}" v="24" dt="2025-02-02T22:16:45.884"/>
    <p1510:client id="{A6BA73A5-3D26-4C65-833E-1069110C55A3}" v="5048" dt="2025-02-03T11:41:06.538"/>
    <p1510:client id="{B7DD1479-05D6-46A4-BB71-124C96B0006A}" v="5041" dt="2025-02-02T23:18:30.038"/>
    <p1510:client id="{F7B0A9AE-561B-E491-08BD-8FACDE4A0C76}" v="32" dt="2025-02-03T08:13:40.2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50"/>
  </p:normalViewPr>
  <p:slideViewPr>
    <p:cSldViewPr snapToGrid="0">
      <p:cViewPr varScale="1">
        <p:scale>
          <a:sx n="120" d="100"/>
          <a:sy n="120" d="100"/>
        </p:scale>
        <p:origin x="2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5/10/relationships/revisionInfo" Target="revisionInfo.xml"/></Relationships>
</file>

<file path=ppt/diagrams/_rels/data3.xml.rels><?xml version="1.0" encoding="UTF-8" standalone="yes"?>
<Relationships xmlns="http://schemas.openxmlformats.org/package/2006/relationships"><Relationship Id="rId1" Type="http://schemas.openxmlformats.org/officeDocument/2006/relationships/hyperlink" Target="http://localhost/" TargetMode="External"/></Relationships>
</file>

<file path=ppt/diagrams/_rels/data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rawing3.xml.rels><?xml version="1.0" encoding="UTF-8" standalone="yes"?>
<Relationships xmlns="http://schemas.openxmlformats.org/package/2006/relationships"><Relationship Id="rId1" Type="http://schemas.openxmlformats.org/officeDocument/2006/relationships/hyperlink" Target="http://localhost/" TargetMode="External"/></Relationships>
</file>

<file path=ppt/diagrams/_rels/drawing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DC0E5E-A371-47E8-94AB-9F9666F37F1B}"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A8511A61-398E-4F24-9DB6-095AAE1EF0C6}">
      <dgm:prSet/>
      <dgm:spPr/>
      <dgm:t>
        <a:bodyPr/>
        <a:lstStyle/>
        <a:p>
          <a:r>
            <a:rPr lang="it-IT"/>
            <a:t>Responsabile della logica di backend</a:t>
          </a:r>
          <a:endParaRPr lang="en-US"/>
        </a:p>
      </dgm:t>
    </dgm:pt>
    <dgm:pt modelId="{BA3CF2BC-FE34-4D4D-B2FC-788286F761F5}" type="parTrans" cxnId="{FBF9053F-9A7E-4400-A847-A26B1D977314}">
      <dgm:prSet/>
      <dgm:spPr/>
      <dgm:t>
        <a:bodyPr/>
        <a:lstStyle/>
        <a:p>
          <a:endParaRPr lang="en-US"/>
        </a:p>
      </dgm:t>
    </dgm:pt>
    <dgm:pt modelId="{091EABB3-BD89-49B3-BC7A-4ED0D4E693B9}" type="sibTrans" cxnId="{FBF9053F-9A7E-4400-A847-A26B1D977314}">
      <dgm:prSet/>
      <dgm:spPr/>
      <dgm:t>
        <a:bodyPr/>
        <a:lstStyle/>
        <a:p>
          <a:endParaRPr lang="en-US"/>
        </a:p>
      </dgm:t>
    </dgm:pt>
    <dgm:pt modelId="{89054964-4CDF-4A11-B274-5EDC31271807}">
      <dgm:prSet/>
      <dgm:spPr/>
      <dgm:t>
        <a:bodyPr/>
        <a:lstStyle/>
        <a:p>
          <a:r>
            <a:rPr lang="it-IT"/>
            <a:t>Gestisce le richieste degli utenti e la comunicazione con il db</a:t>
          </a:r>
          <a:endParaRPr lang="en-US"/>
        </a:p>
      </dgm:t>
    </dgm:pt>
    <dgm:pt modelId="{6351113E-0C65-4E45-932F-A9E561B64FF7}" type="parTrans" cxnId="{C017DAA7-5315-43B9-8D35-BDD60F6BE309}">
      <dgm:prSet/>
      <dgm:spPr/>
      <dgm:t>
        <a:bodyPr/>
        <a:lstStyle/>
        <a:p>
          <a:endParaRPr lang="en-US"/>
        </a:p>
      </dgm:t>
    </dgm:pt>
    <dgm:pt modelId="{BF33B290-11F5-458E-BB22-6770671BB847}" type="sibTrans" cxnId="{C017DAA7-5315-43B9-8D35-BDD60F6BE309}">
      <dgm:prSet/>
      <dgm:spPr/>
      <dgm:t>
        <a:bodyPr/>
        <a:lstStyle/>
        <a:p>
          <a:endParaRPr lang="en-US"/>
        </a:p>
      </dgm:t>
    </dgm:pt>
    <dgm:pt modelId="{E95AF161-2B81-45E4-B8DB-B0C4EBAC37AE}">
      <dgm:prSet/>
      <dgm:spPr/>
      <dgm:t>
        <a:bodyPr/>
        <a:lstStyle/>
        <a:p>
          <a:r>
            <a:rPr lang="it-IT"/>
            <a:t>Espone il gioco tramite un'interfaccia web (porta 80)</a:t>
          </a:r>
          <a:endParaRPr lang="en-US"/>
        </a:p>
      </dgm:t>
    </dgm:pt>
    <dgm:pt modelId="{BE4A2399-E586-4C4A-BD9D-4FA0B96FB51A}" type="parTrans" cxnId="{E8E72E2D-A455-4CC1-A7D3-5C45CB57C599}">
      <dgm:prSet/>
      <dgm:spPr/>
      <dgm:t>
        <a:bodyPr/>
        <a:lstStyle/>
        <a:p>
          <a:endParaRPr lang="en-US"/>
        </a:p>
      </dgm:t>
    </dgm:pt>
    <dgm:pt modelId="{A2DF4CF1-B17D-4CB0-B2E0-6BF9E3CF8A15}" type="sibTrans" cxnId="{E8E72E2D-A455-4CC1-A7D3-5C45CB57C599}">
      <dgm:prSet/>
      <dgm:spPr/>
      <dgm:t>
        <a:bodyPr/>
        <a:lstStyle/>
        <a:p>
          <a:endParaRPr lang="en-US"/>
        </a:p>
      </dgm:t>
    </dgm:pt>
    <dgm:pt modelId="{5306A644-7C44-4D70-9492-DAE701CD4D90}" type="pres">
      <dgm:prSet presAssocID="{7DDC0E5E-A371-47E8-94AB-9F9666F37F1B}" presName="hierChild1" presStyleCnt="0">
        <dgm:presLayoutVars>
          <dgm:chPref val="1"/>
          <dgm:dir/>
          <dgm:animOne val="branch"/>
          <dgm:animLvl val="lvl"/>
          <dgm:resizeHandles/>
        </dgm:presLayoutVars>
      </dgm:prSet>
      <dgm:spPr/>
    </dgm:pt>
    <dgm:pt modelId="{2B322A37-84C4-446F-919E-B36D512C909E}" type="pres">
      <dgm:prSet presAssocID="{A8511A61-398E-4F24-9DB6-095AAE1EF0C6}" presName="hierRoot1" presStyleCnt="0"/>
      <dgm:spPr/>
    </dgm:pt>
    <dgm:pt modelId="{BFB11730-B905-4C84-BD41-5A60BFB92D6A}" type="pres">
      <dgm:prSet presAssocID="{A8511A61-398E-4F24-9DB6-095AAE1EF0C6}" presName="composite" presStyleCnt="0"/>
      <dgm:spPr/>
    </dgm:pt>
    <dgm:pt modelId="{64CCE6C2-3EF9-48AC-AF8C-FBDCE3B4A392}" type="pres">
      <dgm:prSet presAssocID="{A8511A61-398E-4F24-9DB6-095AAE1EF0C6}" presName="background" presStyleLbl="node0" presStyleIdx="0" presStyleCnt="3"/>
      <dgm:spPr/>
    </dgm:pt>
    <dgm:pt modelId="{306493F6-650C-4189-B8BA-913C12666EA9}" type="pres">
      <dgm:prSet presAssocID="{A8511A61-398E-4F24-9DB6-095AAE1EF0C6}" presName="text" presStyleLbl="fgAcc0" presStyleIdx="0" presStyleCnt="3">
        <dgm:presLayoutVars>
          <dgm:chPref val="3"/>
        </dgm:presLayoutVars>
      </dgm:prSet>
      <dgm:spPr/>
    </dgm:pt>
    <dgm:pt modelId="{CE0D842A-E6F3-4E48-B97D-0D0C6348FC69}" type="pres">
      <dgm:prSet presAssocID="{A8511A61-398E-4F24-9DB6-095AAE1EF0C6}" presName="hierChild2" presStyleCnt="0"/>
      <dgm:spPr/>
    </dgm:pt>
    <dgm:pt modelId="{787777F6-314E-40F7-8AF7-ECFCA688AA21}" type="pres">
      <dgm:prSet presAssocID="{89054964-4CDF-4A11-B274-5EDC31271807}" presName="hierRoot1" presStyleCnt="0"/>
      <dgm:spPr/>
    </dgm:pt>
    <dgm:pt modelId="{68F670B8-A596-48B0-BD4E-A9921E2ACF00}" type="pres">
      <dgm:prSet presAssocID="{89054964-4CDF-4A11-B274-5EDC31271807}" presName="composite" presStyleCnt="0"/>
      <dgm:spPr/>
    </dgm:pt>
    <dgm:pt modelId="{D59C9BCF-5583-403A-850D-A1E8345EBB83}" type="pres">
      <dgm:prSet presAssocID="{89054964-4CDF-4A11-B274-5EDC31271807}" presName="background" presStyleLbl="node0" presStyleIdx="1" presStyleCnt="3"/>
      <dgm:spPr/>
    </dgm:pt>
    <dgm:pt modelId="{B6E98D90-5463-47C9-BD15-DE5A881EBC32}" type="pres">
      <dgm:prSet presAssocID="{89054964-4CDF-4A11-B274-5EDC31271807}" presName="text" presStyleLbl="fgAcc0" presStyleIdx="1" presStyleCnt="3">
        <dgm:presLayoutVars>
          <dgm:chPref val="3"/>
        </dgm:presLayoutVars>
      </dgm:prSet>
      <dgm:spPr/>
    </dgm:pt>
    <dgm:pt modelId="{38200388-28DF-4C49-A445-81093DA6F459}" type="pres">
      <dgm:prSet presAssocID="{89054964-4CDF-4A11-B274-5EDC31271807}" presName="hierChild2" presStyleCnt="0"/>
      <dgm:spPr/>
    </dgm:pt>
    <dgm:pt modelId="{EDEC9A7F-89C8-497C-B562-1611F62AEA08}" type="pres">
      <dgm:prSet presAssocID="{E95AF161-2B81-45E4-B8DB-B0C4EBAC37AE}" presName="hierRoot1" presStyleCnt="0"/>
      <dgm:spPr/>
    </dgm:pt>
    <dgm:pt modelId="{FA039188-5105-4348-B55A-37B88D0A8631}" type="pres">
      <dgm:prSet presAssocID="{E95AF161-2B81-45E4-B8DB-B0C4EBAC37AE}" presName="composite" presStyleCnt="0"/>
      <dgm:spPr/>
    </dgm:pt>
    <dgm:pt modelId="{9193A556-E9A0-4708-9A00-F59A11F1069E}" type="pres">
      <dgm:prSet presAssocID="{E95AF161-2B81-45E4-B8DB-B0C4EBAC37AE}" presName="background" presStyleLbl="node0" presStyleIdx="2" presStyleCnt="3"/>
      <dgm:spPr/>
    </dgm:pt>
    <dgm:pt modelId="{25D8CF52-EA89-4759-8049-A2764FFC83A7}" type="pres">
      <dgm:prSet presAssocID="{E95AF161-2B81-45E4-B8DB-B0C4EBAC37AE}" presName="text" presStyleLbl="fgAcc0" presStyleIdx="2" presStyleCnt="3">
        <dgm:presLayoutVars>
          <dgm:chPref val="3"/>
        </dgm:presLayoutVars>
      </dgm:prSet>
      <dgm:spPr/>
    </dgm:pt>
    <dgm:pt modelId="{EF147FDB-14E9-479A-A4CD-E926C280E05B}" type="pres">
      <dgm:prSet presAssocID="{E95AF161-2B81-45E4-B8DB-B0C4EBAC37AE}" presName="hierChild2" presStyleCnt="0"/>
      <dgm:spPr/>
    </dgm:pt>
  </dgm:ptLst>
  <dgm:cxnLst>
    <dgm:cxn modelId="{29C0720E-1846-4103-9B42-23949A4E8E93}" type="presOf" srcId="{89054964-4CDF-4A11-B274-5EDC31271807}" destId="{B6E98D90-5463-47C9-BD15-DE5A881EBC32}" srcOrd="0" destOrd="0" presId="urn:microsoft.com/office/officeart/2005/8/layout/hierarchy1"/>
    <dgm:cxn modelId="{E8E72E2D-A455-4CC1-A7D3-5C45CB57C599}" srcId="{7DDC0E5E-A371-47E8-94AB-9F9666F37F1B}" destId="{E95AF161-2B81-45E4-B8DB-B0C4EBAC37AE}" srcOrd="2" destOrd="0" parTransId="{BE4A2399-E586-4C4A-BD9D-4FA0B96FB51A}" sibTransId="{A2DF4CF1-B17D-4CB0-B2E0-6BF9E3CF8A15}"/>
    <dgm:cxn modelId="{35D74134-AB5F-47C8-84BE-A8A12917C8CC}" type="presOf" srcId="{E95AF161-2B81-45E4-B8DB-B0C4EBAC37AE}" destId="{25D8CF52-EA89-4759-8049-A2764FFC83A7}" srcOrd="0" destOrd="0" presId="urn:microsoft.com/office/officeart/2005/8/layout/hierarchy1"/>
    <dgm:cxn modelId="{FBF9053F-9A7E-4400-A847-A26B1D977314}" srcId="{7DDC0E5E-A371-47E8-94AB-9F9666F37F1B}" destId="{A8511A61-398E-4F24-9DB6-095AAE1EF0C6}" srcOrd="0" destOrd="0" parTransId="{BA3CF2BC-FE34-4D4D-B2FC-788286F761F5}" sibTransId="{091EABB3-BD89-49B3-BC7A-4ED0D4E693B9}"/>
    <dgm:cxn modelId="{C017DAA7-5315-43B9-8D35-BDD60F6BE309}" srcId="{7DDC0E5E-A371-47E8-94AB-9F9666F37F1B}" destId="{89054964-4CDF-4A11-B274-5EDC31271807}" srcOrd="1" destOrd="0" parTransId="{6351113E-0C65-4E45-932F-A9E561B64FF7}" sibTransId="{BF33B290-11F5-458E-BB22-6770671BB847}"/>
    <dgm:cxn modelId="{C9B7B9C6-5F40-42FF-9A24-E34566CF5815}" type="presOf" srcId="{7DDC0E5E-A371-47E8-94AB-9F9666F37F1B}" destId="{5306A644-7C44-4D70-9492-DAE701CD4D90}" srcOrd="0" destOrd="0" presId="urn:microsoft.com/office/officeart/2005/8/layout/hierarchy1"/>
    <dgm:cxn modelId="{994ECDD6-296A-4E2D-8510-522304BBD395}" type="presOf" srcId="{A8511A61-398E-4F24-9DB6-095AAE1EF0C6}" destId="{306493F6-650C-4189-B8BA-913C12666EA9}" srcOrd="0" destOrd="0" presId="urn:microsoft.com/office/officeart/2005/8/layout/hierarchy1"/>
    <dgm:cxn modelId="{8A94ACAB-43E1-4D5E-B523-4E2E1B0D4B13}" type="presParOf" srcId="{5306A644-7C44-4D70-9492-DAE701CD4D90}" destId="{2B322A37-84C4-446F-919E-B36D512C909E}" srcOrd="0" destOrd="0" presId="urn:microsoft.com/office/officeart/2005/8/layout/hierarchy1"/>
    <dgm:cxn modelId="{9A60F234-1D30-4AE1-9F10-D07019108B9C}" type="presParOf" srcId="{2B322A37-84C4-446F-919E-B36D512C909E}" destId="{BFB11730-B905-4C84-BD41-5A60BFB92D6A}" srcOrd="0" destOrd="0" presId="urn:microsoft.com/office/officeart/2005/8/layout/hierarchy1"/>
    <dgm:cxn modelId="{FA6E5E3F-6F2D-4A9F-83B8-6BB1E084112B}" type="presParOf" srcId="{BFB11730-B905-4C84-BD41-5A60BFB92D6A}" destId="{64CCE6C2-3EF9-48AC-AF8C-FBDCE3B4A392}" srcOrd="0" destOrd="0" presId="urn:microsoft.com/office/officeart/2005/8/layout/hierarchy1"/>
    <dgm:cxn modelId="{16181FF9-1521-4FAC-99E7-5257B75A102F}" type="presParOf" srcId="{BFB11730-B905-4C84-BD41-5A60BFB92D6A}" destId="{306493F6-650C-4189-B8BA-913C12666EA9}" srcOrd="1" destOrd="0" presId="urn:microsoft.com/office/officeart/2005/8/layout/hierarchy1"/>
    <dgm:cxn modelId="{F1434E1F-CAB0-4564-95D4-DFE00DBDB698}" type="presParOf" srcId="{2B322A37-84C4-446F-919E-B36D512C909E}" destId="{CE0D842A-E6F3-4E48-B97D-0D0C6348FC69}" srcOrd="1" destOrd="0" presId="urn:microsoft.com/office/officeart/2005/8/layout/hierarchy1"/>
    <dgm:cxn modelId="{7A7870FE-943A-40BD-A554-50C02D245FBD}" type="presParOf" srcId="{5306A644-7C44-4D70-9492-DAE701CD4D90}" destId="{787777F6-314E-40F7-8AF7-ECFCA688AA21}" srcOrd="1" destOrd="0" presId="urn:microsoft.com/office/officeart/2005/8/layout/hierarchy1"/>
    <dgm:cxn modelId="{2425BDAB-655F-4A41-B467-5CEBDFFCB3FC}" type="presParOf" srcId="{787777F6-314E-40F7-8AF7-ECFCA688AA21}" destId="{68F670B8-A596-48B0-BD4E-A9921E2ACF00}" srcOrd="0" destOrd="0" presId="urn:microsoft.com/office/officeart/2005/8/layout/hierarchy1"/>
    <dgm:cxn modelId="{7742BC6B-E67F-4324-9605-AA4187CA4915}" type="presParOf" srcId="{68F670B8-A596-48B0-BD4E-A9921E2ACF00}" destId="{D59C9BCF-5583-403A-850D-A1E8345EBB83}" srcOrd="0" destOrd="0" presId="urn:microsoft.com/office/officeart/2005/8/layout/hierarchy1"/>
    <dgm:cxn modelId="{67372E0C-EBF7-4C82-ADC5-78BC768E7336}" type="presParOf" srcId="{68F670B8-A596-48B0-BD4E-A9921E2ACF00}" destId="{B6E98D90-5463-47C9-BD15-DE5A881EBC32}" srcOrd="1" destOrd="0" presId="urn:microsoft.com/office/officeart/2005/8/layout/hierarchy1"/>
    <dgm:cxn modelId="{4977644E-6EDB-42F3-A0C4-036E1F80AE03}" type="presParOf" srcId="{787777F6-314E-40F7-8AF7-ECFCA688AA21}" destId="{38200388-28DF-4C49-A445-81093DA6F459}" srcOrd="1" destOrd="0" presId="urn:microsoft.com/office/officeart/2005/8/layout/hierarchy1"/>
    <dgm:cxn modelId="{0455DE53-C456-4231-A484-554FB6A5739B}" type="presParOf" srcId="{5306A644-7C44-4D70-9492-DAE701CD4D90}" destId="{EDEC9A7F-89C8-497C-B562-1611F62AEA08}" srcOrd="2" destOrd="0" presId="urn:microsoft.com/office/officeart/2005/8/layout/hierarchy1"/>
    <dgm:cxn modelId="{91434CDA-3639-4DAC-AAF6-0B26D9AE29D6}" type="presParOf" srcId="{EDEC9A7F-89C8-497C-B562-1611F62AEA08}" destId="{FA039188-5105-4348-B55A-37B88D0A8631}" srcOrd="0" destOrd="0" presId="urn:microsoft.com/office/officeart/2005/8/layout/hierarchy1"/>
    <dgm:cxn modelId="{2F1BF891-A189-4803-9791-7AE435F01A7C}" type="presParOf" srcId="{FA039188-5105-4348-B55A-37B88D0A8631}" destId="{9193A556-E9A0-4708-9A00-F59A11F1069E}" srcOrd="0" destOrd="0" presId="urn:microsoft.com/office/officeart/2005/8/layout/hierarchy1"/>
    <dgm:cxn modelId="{C11E5D4E-6B77-44C8-8D3A-9EB7AC564300}" type="presParOf" srcId="{FA039188-5105-4348-B55A-37B88D0A8631}" destId="{25D8CF52-EA89-4759-8049-A2764FFC83A7}" srcOrd="1" destOrd="0" presId="urn:microsoft.com/office/officeart/2005/8/layout/hierarchy1"/>
    <dgm:cxn modelId="{156796D4-F52D-40FF-95DC-1420F96B678E}" type="presParOf" srcId="{EDEC9A7F-89C8-497C-B562-1611F62AEA08}" destId="{EF147FDB-14E9-479A-A4CD-E926C280E05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DC0E5E-A371-47E8-94AB-9F9666F37F1B}"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A8511A61-398E-4F24-9DB6-095AAE1EF0C6}">
      <dgm:prSet/>
      <dgm:spPr/>
      <dgm:t>
        <a:bodyPr/>
        <a:lstStyle/>
        <a:p>
          <a:pPr rtl="0"/>
          <a:r>
            <a:rPr lang="it-IT">
              <a:solidFill>
                <a:srgbClr val="000000"/>
              </a:solidFill>
              <a:latin typeface="Aptos"/>
            </a:rPr>
            <a:t>Contiene i dati del gioco</a:t>
          </a:r>
          <a:endParaRPr lang="en-US"/>
        </a:p>
      </dgm:t>
    </dgm:pt>
    <dgm:pt modelId="{BA3CF2BC-FE34-4D4D-B2FC-788286F761F5}" type="parTrans" cxnId="{FBF9053F-9A7E-4400-A847-A26B1D977314}">
      <dgm:prSet/>
      <dgm:spPr/>
      <dgm:t>
        <a:bodyPr/>
        <a:lstStyle/>
        <a:p>
          <a:endParaRPr lang="en-US"/>
        </a:p>
      </dgm:t>
    </dgm:pt>
    <dgm:pt modelId="{091EABB3-BD89-49B3-BC7A-4ED0D4E693B9}" type="sibTrans" cxnId="{FBF9053F-9A7E-4400-A847-A26B1D977314}">
      <dgm:prSet/>
      <dgm:spPr/>
      <dgm:t>
        <a:bodyPr/>
        <a:lstStyle/>
        <a:p>
          <a:endParaRPr lang="en-US"/>
        </a:p>
      </dgm:t>
    </dgm:pt>
    <dgm:pt modelId="{89054964-4CDF-4A11-B274-5EDC31271807}">
      <dgm:prSet/>
      <dgm:spPr/>
      <dgm:t>
        <a:bodyPr/>
        <a:lstStyle/>
        <a:p>
          <a:pPr algn="l" rtl="0">
            <a:lnSpc>
              <a:spcPct val="90000"/>
            </a:lnSpc>
          </a:pPr>
          <a:r>
            <a:rPr lang="it-IT">
              <a:solidFill>
                <a:srgbClr val="000000"/>
              </a:solidFill>
              <a:latin typeface="Aptos"/>
            </a:rPr>
            <a:t>Memorizza le informazioni degli utenti</a:t>
          </a:r>
          <a:endParaRPr lang="en-US">
            <a:solidFill>
              <a:srgbClr val="000000"/>
            </a:solidFill>
            <a:latin typeface="Aptos"/>
          </a:endParaRPr>
        </a:p>
      </dgm:t>
    </dgm:pt>
    <dgm:pt modelId="{6351113E-0C65-4E45-932F-A9E561B64FF7}" type="parTrans" cxnId="{C017DAA7-5315-43B9-8D35-BDD60F6BE309}">
      <dgm:prSet/>
      <dgm:spPr/>
      <dgm:t>
        <a:bodyPr/>
        <a:lstStyle/>
        <a:p>
          <a:endParaRPr lang="en-US"/>
        </a:p>
      </dgm:t>
    </dgm:pt>
    <dgm:pt modelId="{BF33B290-11F5-458E-BB22-6770671BB847}" type="sibTrans" cxnId="{C017DAA7-5315-43B9-8D35-BDD60F6BE309}">
      <dgm:prSet/>
      <dgm:spPr/>
      <dgm:t>
        <a:bodyPr/>
        <a:lstStyle/>
        <a:p>
          <a:endParaRPr lang="en-US"/>
        </a:p>
      </dgm:t>
    </dgm:pt>
    <dgm:pt modelId="{E95AF161-2B81-45E4-B8DB-B0C4EBAC37AE}">
      <dgm:prSet/>
      <dgm:spPr/>
      <dgm:t>
        <a:bodyPr/>
        <a:lstStyle/>
        <a:p>
          <a:pPr algn="l">
            <a:lnSpc>
              <a:spcPct val="90000"/>
            </a:lnSpc>
          </a:pPr>
          <a:r>
            <a:rPr lang="it-IT">
              <a:solidFill>
                <a:srgbClr val="000000"/>
              </a:solidFill>
              <a:latin typeface="Aptos"/>
            </a:rPr>
            <a:t>Gestisce i dati in modo persistente anche se il container viene riavviato, grazie ai volumi Docker</a:t>
          </a:r>
          <a:endParaRPr lang="en-US">
            <a:solidFill>
              <a:srgbClr val="000000"/>
            </a:solidFill>
            <a:latin typeface="Aptos"/>
          </a:endParaRPr>
        </a:p>
      </dgm:t>
    </dgm:pt>
    <dgm:pt modelId="{BE4A2399-E586-4C4A-BD9D-4FA0B96FB51A}" type="parTrans" cxnId="{E8E72E2D-A455-4CC1-A7D3-5C45CB57C599}">
      <dgm:prSet/>
      <dgm:spPr/>
      <dgm:t>
        <a:bodyPr/>
        <a:lstStyle/>
        <a:p>
          <a:endParaRPr lang="en-US"/>
        </a:p>
      </dgm:t>
    </dgm:pt>
    <dgm:pt modelId="{A2DF4CF1-B17D-4CB0-B2E0-6BF9E3CF8A15}" type="sibTrans" cxnId="{E8E72E2D-A455-4CC1-A7D3-5C45CB57C599}">
      <dgm:prSet/>
      <dgm:spPr/>
      <dgm:t>
        <a:bodyPr/>
        <a:lstStyle/>
        <a:p>
          <a:endParaRPr lang="en-US"/>
        </a:p>
      </dgm:t>
    </dgm:pt>
    <dgm:pt modelId="{5306A644-7C44-4D70-9492-DAE701CD4D90}" type="pres">
      <dgm:prSet presAssocID="{7DDC0E5E-A371-47E8-94AB-9F9666F37F1B}" presName="hierChild1" presStyleCnt="0">
        <dgm:presLayoutVars>
          <dgm:chPref val="1"/>
          <dgm:dir/>
          <dgm:animOne val="branch"/>
          <dgm:animLvl val="lvl"/>
          <dgm:resizeHandles/>
        </dgm:presLayoutVars>
      </dgm:prSet>
      <dgm:spPr/>
    </dgm:pt>
    <dgm:pt modelId="{2B322A37-84C4-446F-919E-B36D512C909E}" type="pres">
      <dgm:prSet presAssocID="{A8511A61-398E-4F24-9DB6-095AAE1EF0C6}" presName="hierRoot1" presStyleCnt="0"/>
      <dgm:spPr/>
    </dgm:pt>
    <dgm:pt modelId="{BFB11730-B905-4C84-BD41-5A60BFB92D6A}" type="pres">
      <dgm:prSet presAssocID="{A8511A61-398E-4F24-9DB6-095AAE1EF0C6}" presName="composite" presStyleCnt="0"/>
      <dgm:spPr/>
    </dgm:pt>
    <dgm:pt modelId="{64CCE6C2-3EF9-48AC-AF8C-FBDCE3B4A392}" type="pres">
      <dgm:prSet presAssocID="{A8511A61-398E-4F24-9DB6-095AAE1EF0C6}" presName="background" presStyleLbl="node0" presStyleIdx="0" presStyleCnt="3"/>
      <dgm:spPr/>
    </dgm:pt>
    <dgm:pt modelId="{306493F6-650C-4189-B8BA-913C12666EA9}" type="pres">
      <dgm:prSet presAssocID="{A8511A61-398E-4F24-9DB6-095AAE1EF0C6}" presName="text" presStyleLbl="fgAcc0" presStyleIdx="0" presStyleCnt="3">
        <dgm:presLayoutVars>
          <dgm:chPref val="3"/>
        </dgm:presLayoutVars>
      </dgm:prSet>
      <dgm:spPr/>
    </dgm:pt>
    <dgm:pt modelId="{CE0D842A-E6F3-4E48-B97D-0D0C6348FC69}" type="pres">
      <dgm:prSet presAssocID="{A8511A61-398E-4F24-9DB6-095AAE1EF0C6}" presName="hierChild2" presStyleCnt="0"/>
      <dgm:spPr/>
    </dgm:pt>
    <dgm:pt modelId="{787777F6-314E-40F7-8AF7-ECFCA688AA21}" type="pres">
      <dgm:prSet presAssocID="{89054964-4CDF-4A11-B274-5EDC31271807}" presName="hierRoot1" presStyleCnt="0"/>
      <dgm:spPr/>
    </dgm:pt>
    <dgm:pt modelId="{68F670B8-A596-48B0-BD4E-A9921E2ACF00}" type="pres">
      <dgm:prSet presAssocID="{89054964-4CDF-4A11-B274-5EDC31271807}" presName="composite" presStyleCnt="0"/>
      <dgm:spPr/>
    </dgm:pt>
    <dgm:pt modelId="{D59C9BCF-5583-403A-850D-A1E8345EBB83}" type="pres">
      <dgm:prSet presAssocID="{89054964-4CDF-4A11-B274-5EDC31271807}" presName="background" presStyleLbl="node0" presStyleIdx="1" presStyleCnt="3"/>
      <dgm:spPr/>
    </dgm:pt>
    <dgm:pt modelId="{B6E98D90-5463-47C9-BD15-DE5A881EBC32}" type="pres">
      <dgm:prSet presAssocID="{89054964-4CDF-4A11-B274-5EDC31271807}" presName="text" presStyleLbl="fgAcc0" presStyleIdx="1" presStyleCnt="3">
        <dgm:presLayoutVars>
          <dgm:chPref val="3"/>
        </dgm:presLayoutVars>
      </dgm:prSet>
      <dgm:spPr/>
    </dgm:pt>
    <dgm:pt modelId="{38200388-28DF-4C49-A445-81093DA6F459}" type="pres">
      <dgm:prSet presAssocID="{89054964-4CDF-4A11-B274-5EDC31271807}" presName="hierChild2" presStyleCnt="0"/>
      <dgm:spPr/>
    </dgm:pt>
    <dgm:pt modelId="{EDEC9A7F-89C8-497C-B562-1611F62AEA08}" type="pres">
      <dgm:prSet presAssocID="{E95AF161-2B81-45E4-B8DB-B0C4EBAC37AE}" presName="hierRoot1" presStyleCnt="0"/>
      <dgm:spPr/>
    </dgm:pt>
    <dgm:pt modelId="{FA039188-5105-4348-B55A-37B88D0A8631}" type="pres">
      <dgm:prSet presAssocID="{E95AF161-2B81-45E4-B8DB-B0C4EBAC37AE}" presName="composite" presStyleCnt="0"/>
      <dgm:spPr/>
    </dgm:pt>
    <dgm:pt modelId="{9193A556-E9A0-4708-9A00-F59A11F1069E}" type="pres">
      <dgm:prSet presAssocID="{E95AF161-2B81-45E4-B8DB-B0C4EBAC37AE}" presName="background" presStyleLbl="node0" presStyleIdx="2" presStyleCnt="3"/>
      <dgm:spPr/>
    </dgm:pt>
    <dgm:pt modelId="{25D8CF52-EA89-4759-8049-A2764FFC83A7}" type="pres">
      <dgm:prSet presAssocID="{E95AF161-2B81-45E4-B8DB-B0C4EBAC37AE}" presName="text" presStyleLbl="fgAcc0" presStyleIdx="2" presStyleCnt="3">
        <dgm:presLayoutVars>
          <dgm:chPref val="3"/>
        </dgm:presLayoutVars>
      </dgm:prSet>
      <dgm:spPr/>
    </dgm:pt>
    <dgm:pt modelId="{EF147FDB-14E9-479A-A4CD-E926C280E05B}" type="pres">
      <dgm:prSet presAssocID="{E95AF161-2B81-45E4-B8DB-B0C4EBAC37AE}" presName="hierChild2" presStyleCnt="0"/>
      <dgm:spPr/>
    </dgm:pt>
  </dgm:ptLst>
  <dgm:cxnLst>
    <dgm:cxn modelId="{6986250E-4A3D-4DC3-B860-4EB310AB3D23}" type="presOf" srcId="{89054964-4CDF-4A11-B274-5EDC31271807}" destId="{B6E98D90-5463-47C9-BD15-DE5A881EBC32}" srcOrd="0" destOrd="0" presId="urn:microsoft.com/office/officeart/2005/8/layout/hierarchy1"/>
    <dgm:cxn modelId="{E8E72E2D-A455-4CC1-A7D3-5C45CB57C599}" srcId="{7DDC0E5E-A371-47E8-94AB-9F9666F37F1B}" destId="{E95AF161-2B81-45E4-B8DB-B0C4EBAC37AE}" srcOrd="2" destOrd="0" parTransId="{BE4A2399-E586-4C4A-BD9D-4FA0B96FB51A}" sibTransId="{A2DF4CF1-B17D-4CB0-B2E0-6BF9E3CF8A15}"/>
    <dgm:cxn modelId="{FBF9053F-9A7E-4400-A847-A26B1D977314}" srcId="{7DDC0E5E-A371-47E8-94AB-9F9666F37F1B}" destId="{A8511A61-398E-4F24-9DB6-095AAE1EF0C6}" srcOrd="0" destOrd="0" parTransId="{BA3CF2BC-FE34-4D4D-B2FC-788286F761F5}" sibTransId="{091EABB3-BD89-49B3-BC7A-4ED0D4E693B9}"/>
    <dgm:cxn modelId="{6909FF8A-DD74-4068-A0CA-9BECE6C1CA7F}" type="presOf" srcId="{E95AF161-2B81-45E4-B8DB-B0C4EBAC37AE}" destId="{25D8CF52-EA89-4759-8049-A2764FFC83A7}" srcOrd="0" destOrd="0" presId="urn:microsoft.com/office/officeart/2005/8/layout/hierarchy1"/>
    <dgm:cxn modelId="{C017DAA7-5315-43B9-8D35-BDD60F6BE309}" srcId="{7DDC0E5E-A371-47E8-94AB-9F9666F37F1B}" destId="{89054964-4CDF-4A11-B274-5EDC31271807}" srcOrd="1" destOrd="0" parTransId="{6351113E-0C65-4E45-932F-A9E561B64FF7}" sibTransId="{BF33B290-11F5-458E-BB22-6770671BB847}"/>
    <dgm:cxn modelId="{C9B7B9C6-5F40-42FF-9A24-E34566CF5815}" type="presOf" srcId="{7DDC0E5E-A371-47E8-94AB-9F9666F37F1B}" destId="{5306A644-7C44-4D70-9492-DAE701CD4D90}" srcOrd="0" destOrd="0" presId="urn:microsoft.com/office/officeart/2005/8/layout/hierarchy1"/>
    <dgm:cxn modelId="{D003CBDC-E731-4024-A426-B6EC08E36F6F}" type="presOf" srcId="{A8511A61-398E-4F24-9DB6-095AAE1EF0C6}" destId="{306493F6-650C-4189-B8BA-913C12666EA9}" srcOrd="0" destOrd="0" presId="urn:microsoft.com/office/officeart/2005/8/layout/hierarchy1"/>
    <dgm:cxn modelId="{F11CEAFB-8C70-4B0C-B046-3DCF81AA148B}" type="presParOf" srcId="{5306A644-7C44-4D70-9492-DAE701CD4D90}" destId="{2B322A37-84C4-446F-919E-B36D512C909E}" srcOrd="0" destOrd="0" presId="urn:microsoft.com/office/officeart/2005/8/layout/hierarchy1"/>
    <dgm:cxn modelId="{BDAE2C06-45D2-411A-A779-D9BC8FCEDA78}" type="presParOf" srcId="{2B322A37-84C4-446F-919E-B36D512C909E}" destId="{BFB11730-B905-4C84-BD41-5A60BFB92D6A}" srcOrd="0" destOrd="0" presId="urn:microsoft.com/office/officeart/2005/8/layout/hierarchy1"/>
    <dgm:cxn modelId="{C18807F6-B6EC-43B6-8E8A-85B872206ECC}" type="presParOf" srcId="{BFB11730-B905-4C84-BD41-5A60BFB92D6A}" destId="{64CCE6C2-3EF9-48AC-AF8C-FBDCE3B4A392}" srcOrd="0" destOrd="0" presId="urn:microsoft.com/office/officeart/2005/8/layout/hierarchy1"/>
    <dgm:cxn modelId="{E8050892-7342-4FF8-B34B-88B39F4B97B9}" type="presParOf" srcId="{BFB11730-B905-4C84-BD41-5A60BFB92D6A}" destId="{306493F6-650C-4189-B8BA-913C12666EA9}" srcOrd="1" destOrd="0" presId="urn:microsoft.com/office/officeart/2005/8/layout/hierarchy1"/>
    <dgm:cxn modelId="{2E57E338-D172-46A4-ABFB-728F1C7E01E0}" type="presParOf" srcId="{2B322A37-84C4-446F-919E-B36D512C909E}" destId="{CE0D842A-E6F3-4E48-B97D-0D0C6348FC69}" srcOrd="1" destOrd="0" presId="urn:microsoft.com/office/officeart/2005/8/layout/hierarchy1"/>
    <dgm:cxn modelId="{87D066BB-9A91-4D63-9229-5A354A3D7803}" type="presParOf" srcId="{5306A644-7C44-4D70-9492-DAE701CD4D90}" destId="{787777F6-314E-40F7-8AF7-ECFCA688AA21}" srcOrd="1" destOrd="0" presId="urn:microsoft.com/office/officeart/2005/8/layout/hierarchy1"/>
    <dgm:cxn modelId="{12872C57-5DFE-48E9-BAB1-D8E2BB74F936}" type="presParOf" srcId="{787777F6-314E-40F7-8AF7-ECFCA688AA21}" destId="{68F670B8-A596-48B0-BD4E-A9921E2ACF00}" srcOrd="0" destOrd="0" presId="urn:microsoft.com/office/officeart/2005/8/layout/hierarchy1"/>
    <dgm:cxn modelId="{BB4E7035-897B-4CA1-87C4-27C8F79A6186}" type="presParOf" srcId="{68F670B8-A596-48B0-BD4E-A9921E2ACF00}" destId="{D59C9BCF-5583-403A-850D-A1E8345EBB83}" srcOrd="0" destOrd="0" presId="urn:microsoft.com/office/officeart/2005/8/layout/hierarchy1"/>
    <dgm:cxn modelId="{192BEA93-5DEE-40EC-855F-9B56B14B45A7}" type="presParOf" srcId="{68F670B8-A596-48B0-BD4E-A9921E2ACF00}" destId="{B6E98D90-5463-47C9-BD15-DE5A881EBC32}" srcOrd="1" destOrd="0" presId="urn:microsoft.com/office/officeart/2005/8/layout/hierarchy1"/>
    <dgm:cxn modelId="{0733AB49-1277-4FE3-AB74-63C510DBF0DD}" type="presParOf" srcId="{787777F6-314E-40F7-8AF7-ECFCA688AA21}" destId="{38200388-28DF-4C49-A445-81093DA6F459}" srcOrd="1" destOrd="0" presId="urn:microsoft.com/office/officeart/2005/8/layout/hierarchy1"/>
    <dgm:cxn modelId="{B8F7FC10-68E1-4451-9EEB-8FD34B441DC3}" type="presParOf" srcId="{5306A644-7C44-4D70-9492-DAE701CD4D90}" destId="{EDEC9A7F-89C8-497C-B562-1611F62AEA08}" srcOrd="2" destOrd="0" presId="urn:microsoft.com/office/officeart/2005/8/layout/hierarchy1"/>
    <dgm:cxn modelId="{102951F1-9F17-4090-BFC0-7A8C37989AA4}" type="presParOf" srcId="{EDEC9A7F-89C8-497C-B562-1611F62AEA08}" destId="{FA039188-5105-4348-B55A-37B88D0A8631}" srcOrd="0" destOrd="0" presId="urn:microsoft.com/office/officeart/2005/8/layout/hierarchy1"/>
    <dgm:cxn modelId="{BF2D4A3A-78FD-4878-8A3F-D90F21BBABF4}" type="presParOf" srcId="{FA039188-5105-4348-B55A-37B88D0A8631}" destId="{9193A556-E9A0-4708-9A00-F59A11F1069E}" srcOrd="0" destOrd="0" presId="urn:microsoft.com/office/officeart/2005/8/layout/hierarchy1"/>
    <dgm:cxn modelId="{2120DF49-8F28-47F6-A8F4-095F393E3E54}" type="presParOf" srcId="{FA039188-5105-4348-B55A-37B88D0A8631}" destId="{25D8CF52-EA89-4759-8049-A2764FFC83A7}" srcOrd="1" destOrd="0" presId="urn:microsoft.com/office/officeart/2005/8/layout/hierarchy1"/>
    <dgm:cxn modelId="{0F3DCB3E-0CC1-45F3-928D-9156C38DAC5C}" type="presParOf" srcId="{EDEC9A7F-89C8-497C-B562-1611F62AEA08}" destId="{EF147FDB-14E9-479A-A4CD-E926C280E05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4FC4319-247C-476C-8F04-35553B5D271E}" type="doc">
      <dgm:prSet loTypeId="urn:microsoft.com/office/officeart/2005/8/layout/vList5" loCatId="list" qsTypeId="urn:microsoft.com/office/officeart/2005/8/quickstyle/simple2" qsCatId="simple" csTypeId="urn:microsoft.com/office/officeart/2005/8/colors/colorful1" csCatId="colorful"/>
      <dgm:spPr/>
      <dgm:t>
        <a:bodyPr/>
        <a:lstStyle/>
        <a:p>
          <a:endParaRPr lang="en-US"/>
        </a:p>
      </dgm:t>
    </dgm:pt>
    <dgm:pt modelId="{5F62FF00-0775-476C-8921-5BAB1E12804E}">
      <dgm:prSet/>
      <dgm:spPr/>
      <dgm:t>
        <a:bodyPr/>
        <a:lstStyle/>
        <a:p>
          <a:r>
            <a:rPr lang="it-IT"/>
            <a:t>Docker-compose build</a:t>
          </a:r>
          <a:endParaRPr lang="en-US"/>
        </a:p>
      </dgm:t>
    </dgm:pt>
    <dgm:pt modelId="{D5CFBB6F-A461-4240-AC73-FE593BAE9D64}" type="parTrans" cxnId="{30FDF474-01CF-4276-A40E-E3B4A7849868}">
      <dgm:prSet/>
      <dgm:spPr/>
      <dgm:t>
        <a:bodyPr/>
        <a:lstStyle/>
        <a:p>
          <a:endParaRPr lang="en-US"/>
        </a:p>
      </dgm:t>
    </dgm:pt>
    <dgm:pt modelId="{694DDFE5-1B35-4454-8C79-10313CB1A98A}" type="sibTrans" cxnId="{30FDF474-01CF-4276-A40E-E3B4A7849868}">
      <dgm:prSet/>
      <dgm:spPr/>
      <dgm:t>
        <a:bodyPr/>
        <a:lstStyle/>
        <a:p>
          <a:endParaRPr lang="en-US"/>
        </a:p>
      </dgm:t>
    </dgm:pt>
    <dgm:pt modelId="{3A54999B-8AA3-4EBA-AC97-C4E420842707}">
      <dgm:prSet/>
      <dgm:spPr/>
      <dgm:t>
        <a:bodyPr/>
        <a:lstStyle/>
        <a:p>
          <a:r>
            <a:rPr lang="it-IT"/>
            <a:t>Docker-compose up</a:t>
          </a:r>
          <a:endParaRPr lang="en-US"/>
        </a:p>
      </dgm:t>
    </dgm:pt>
    <dgm:pt modelId="{1AD73343-B230-4893-8DBC-5CDCC451609F}" type="parTrans" cxnId="{E28B7C0B-71B2-4076-82FA-F4A6477880F7}">
      <dgm:prSet/>
      <dgm:spPr/>
      <dgm:t>
        <a:bodyPr/>
        <a:lstStyle/>
        <a:p>
          <a:endParaRPr lang="en-US"/>
        </a:p>
      </dgm:t>
    </dgm:pt>
    <dgm:pt modelId="{CD24DED4-5854-44F5-B1E9-862B6EAB67EA}" type="sibTrans" cxnId="{E28B7C0B-71B2-4076-82FA-F4A6477880F7}">
      <dgm:prSet/>
      <dgm:spPr/>
      <dgm:t>
        <a:bodyPr/>
        <a:lstStyle/>
        <a:p>
          <a:endParaRPr lang="en-US"/>
        </a:p>
      </dgm:t>
    </dgm:pt>
    <dgm:pt modelId="{E23D6423-AEFD-4F25-BD82-46A14A840F08}">
      <dgm:prSet/>
      <dgm:spPr/>
      <dgm:t>
        <a:bodyPr/>
        <a:lstStyle/>
        <a:p>
          <a:r>
            <a:rPr lang="it-IT">
              <a:hlinkClick xmlns:r="http://schemas.openxmlformats.org/officeDocument/2006/relationships" r:id="rId1"/>
            </a:rPr>
            <a:t>http://localhost</a:t>
          </a:r>
          <a:endParaRPr lang="en-US"/>
        </a:p>
      </dgm:t>
    </dgm:pt>
    <dgm:pt modelId="{7BE656CE-1987-4292-89AA-E6699BAC7A1E}" type="parTrans" cxnId="{450048AB-E925-45A2-8C89-32C82A1FC318}">
      <dgm:prSet/>
      <dgm:spPr/>
      <dgm:t>
        <a:bodyPr/>
        <a:lstStyle/>
        <a:p>
          <a:endParaRPr lang="en-US"/>
        </a:p>
      </dgm:t>
    </dgm:pt>
    <dgm:pt modelId="{D5446D3A-5142-446B-9EE7-57F630B3057A}" type="sibTrans" cxnId="{450048AB-E925-45A2-8C89-32C82A1FC318}">
      <dgm:prSet/>
      <dgm:spPr/>
      <dgm:t>
        <a:bodyPr/>
        <a:lstStyle/>
        <a:p>
          <a:endParaRPr lang="en-US"/>
        </a:p>
      </dgm:t>
    </dgm:pt>
    <dgm:pt modelId="{FE37B187-176C-455E-8A97-8FF60211A406}" type="pres">
      <dgm:prSet presAssocID="{F4FC4319-247C-476C-8F04-35553B5D271E}" presName="Name0" presStyleCnt="0">
        <dgm:presLayoutVars>
          <dgm:dir/>
          <dgm:animLvl val="lvl"/>
          <dgm:resizeHandles val="exact"/>
        </dgm:presLayoutVars>
      </dgm:prSet>
      <dgm:spPr/>
    </dgm:pt>
    <dgm:pt modelId="{8B6E0178-E699-4B49-815E-5C80AB03C6DC}" type="pres">
      <dgm:prSet presAssocID="{5F62FF00-0775-476C-8921-5BAB1E12804E}" presName="linNode" presStyleCnt="0"/>
      <dgm:spPr/>
    </dgm:pt>
    <dgm:pt modelId="{6C656013-ECC0-4752-8A68-A7B6C056B803}" type="pres">
      <dgm:prSet presAssocID="{5F62FF00-0775-476C-8921-5BAB1E12804E}" presName="parentText" presStyleLbl="node1" presStyleIdx="0" presStyleCnt="3">
        <dgm:presLayoutVars>
          <dgm:chMax val="1"/>
          <dgm:bulletEnabled val="1"/>
        </dgm:presLayoutVars>
      </dgm:prSet>
      <dgm:spPr/>
    </dgm:pt>
    <dgm:pt modelId="{E5F01B62-AF39-44C3-B12A-FBDA16077B5E}" type="pres">
      <dgm:prSet presAssocID="{694DDFE5-1B35-4454-8C79-10313CB1A98A}" presName="sp" presStyleCnt="0"/>
      <dgm:spPr/>
    </dgm:pt>
    <dgm:pt modelId="{730AFD01-4D8C-4BC3-93B8-594E97332DEB}" type="pres">
      <dgm:prSet presAssocID="{3A54999B-8AA3-4EBA-AC97-C4E420842707}" presName="linNode" presStyleCnt="0"/>
      <dgm:spPr/>
    </dgm:pt>
    <dgm:pt modelId="{FB966B2D-053A-4914-838C-3C7EF7E76773}" type="pres">
      <dgm:prSet presAssocID="{3A54999B-8AA3-4EBA-AC97-C4E420842707}" presName="parentText" presStyleLbl="node1" presStyleIdx="1" presStyleCnt="3">
        <dgm:presLayoutVars>
          <dgm:chMax val="1"/>
          <dgm:bulletEnabled val="1"/>
        </dgm:presLayoutVars>
      </dgm:prSet>
      <dgm:spPr/>
    </dgm:pt>
    <dgm:pt modelId="{A1E4FBDF-53A4-4B55-995D-AA3BFFAA74C5}" type="pres">
      <dgm:prSet presAssocID="{CD24DED4-5854-44F5-B1E9-862B6EAB67EA}" presName="sp" presStyleCnt="0"/>
      <dgm:spPr/>
    </dgm:pt>
    <dgm:pt modelId="{AD62F7DD-4369-49EF-84F5-FA8EED95EAC1}" type="pres">
      <dgm:prSet presAssocID="{E23D6423-AEFD-4F25-BD82-46A14A840F08}" presName="linNode" presStyleCnt="0"/>
      <dgm:spPr/>
    </dgm:pt>
    <dgm:pt modelId="{0C398A03-1732-4F48-885C-266557794D06}" type="pres">
      <dgm:prSet presAssocID="{E23D6423-AEFD-4F25-BD82-46A14A840F08}" presName="parentText" presStyleLbl="node1" presStyleIdx="2" presStyleCnt="3">
        <dgm:presLayoutVars>
          <dgm:chMax val="1"/>
          <dgm:bulletEnabled val="1"/>
        </dgm:presLayoutVars>
      </dgm:prSet>
      <dgm:spPr/>
    </dgm:pt>
  </dgm:ptLst>
  <dgm:cxnLst>
    <dgm:cxn modelId="{E28B7C0B-71B2-4076-82FA-F4A6477880F7}" srcId="{F4FC4319-247C-476C-8F04-35553B5D271E}" destId="{3A54999B-8AA3-4EBA-AC97-C4E420842707}" srcOrd="1" destOrd="0" parTransId="{1AD73343-B230-4893-8DBC-5CDCC451609F}" sibTransId="{CD24DED4-5854-44F5-B1E9-862B6EAB67EA}"/>
    <dgm:cxn modelId="{5F5F3910-D2E6-48E0-9EE0-0ADAE934BF21}" type="presOf" srcId="{F4FC4319-247C-476C-8F04-35553B5D271E}" destId="{FE37B187-176C-455E-8A97-8FF60211A406}" srcOrd="0" destOrd="0" presId="urn:microsoft.com/office/officeart/2005/8/layout/vList5"/>
    <dgm:cxn modelId="{59280014-1CAB-4352-8CD0-57C576576C55}" type="presOf" srcId="{3A54999B-8AA3-4EBA-AC97-C4E420842707}" destId="{FB966B2D-053A-4914-838C-3C7EF7E76773}" srcOrd="0" destOrd="0" presId="urn:microsoft.com/office/officeart/2005/8/layout/vList5"/>
    <dgm:cxn modelId="{30FDF474-01CF-4276-A40E-E3B4A7849868}" srcId="{F4FC4319-247C-476C-8F04-35553B5D271E}" destId="{5F62FF00-0775-476C-8921-5BAB1E12804E}" srcOrd="0" destOrd="0" parTransId="{D5CFBB6F-A461-4240-AC73-FE593BAE9D64}" sibTransId="{694DDFE5-1B35-4454-8C79-10313CB1A98A}"/>
    <dgm:cxn modelId="{6AEE6C9C-0E6E-4008-BC46-419769FEE7FB}" type="presOf" srcId="{E23D6423-AEFD-4F25-BD82-46A14A840F08}" destId="{0C398A03-1732-4F48-885C-266557794D06}" srcOrd="0" destOrd="0" presId="urn:microsoft.com/office/officeart/2005/8/layout/vList5"/>
    <dgm:cxn modelId="{450048AB-E925-45A2-8C89-32C82A1FC318}" srcId="{F4FC4319-247C-476C-8F04-35553B5D271E}" destId="{E23D6423-AEFD-4F25-BD82-46A14A840F08}" srcOrd="2" destOrd="0" parTransId="{7BE656CE-1987-4292-89AA-E6699BAC7A1E}" sibTransId="{D5446D3A-5142-446B-9EE7-57F630B3057A}"/>
    <dgm:cxn modelId="{418AFAF0-765E-40E9-AC84-619DBCD1035A}" type="presOf" srcId="{5F62FF00-0775-476C-8921-5BAB1E12804E}" destId="{6C656013-ECC0-4752-8A68-A7B6C056B803}" srcOrd="0" destOrd="0" presId="urn:microsoft.com/office/officeart/2005/8/layout/vList5"/>
    <dgm:cxn modelId="{F423C9D6-1E58-4846-804E-CE81ECF744CF}" type="presParOf" srcId="{FE37B187-176C-455E-8A97-8FF60211A406}" destId="{8B6E0178-E699-4B49-815E-5C80AB03C6DC}" srcOrd="0" destOrd="0" presId="urn:microsoft.com/office/officeart/2005/8/layout/vList5"/>
    <dgm:cxn modelId="{FF5078DB-9DFE-4A65-9777-D6E777ADBB0E}" type="presParOf" srcId="{8B6E0178-E699-4B49-815E-5C80AB03C6DC}" destId="{6C656013-ECC0-4752-8A68-A7B6C056B803}" srcOrd="0" destOrd="0" presId="urn:microsoft.com/office/officeart/2005/8/layout/vList5"/>
    <dgm:cxn modelId="{E43579E8-0B06-44BF-A358-205E70C5CB6D}" type="presParOf" srcId="{FE37B187-176C-455E-8A97-8FF60211A406}" destId="{E5F01B62-AF39-44C3-B12A-FBDA16077B5E}" srcOrd="1" destOrd="0" presId="urn:microsoft.com/office/officeart/2005/8/layout/vList5"/>
    <dgm:cxn modelId="{9359F5E0-B5B5-49B1-B4AE-335B9B239973}" type="presParOf" srcId="{FE37B187-176C-455E-8A97-8FF60211A406}" destId="{730AFD01-4D8C-4BC3-93B8-594E97332DEB}" srcOrd="2" destOrd="0" presId="urn:microsoft.com/office/officeart/2005/8/layout/vList5"/>
    <dgm:cxn modelId="{D49C0A6A-CD9D-4E18-A048-5463C48C6A7F}" type="presParOf" srcId="{730AFD01-4D8C-4BC3-93B8-594E97332DEB}" destId="{FB966B2D-053A-4914-838C-3C7EF7E76773}" srcOrd="0" destOrd="0" presId="urn:microsoft.com/office/officeart/2005/8/layout/vList5"/>
    <dgm:cxn modelId="{7414B35C-2DDC-4F25-8469-D6DA8EB9FB0F}" type="presParOf" srcId="{FE37B187-176C-455E-8A97-8FF60211A406}" destId="{A1E4FBDF-53A4-4B55-995D-AA3BFFAA74C5}" srcOrd="3" destOrd="0" presId="urn:microsoft.com/office/officeart/2005/8/layout/vList5"/>
    <dgm:cxn modelId="{76B8F6C1-3F84-4092-A274-D104D465AC68}" type="presParOf" srcId="{FE37B187-176C-455E-8A97-8FF60211A406}" destId="{AD62F7DD-4369-49EF-84F5-FA8EED95EAC1}" srcOrd="4" destOrd="0" presId="urn:microsoft.com/office/officeart/2005/8/layout/vList5"/>
    <dgm:cxn modelId="{38EBF861-ECC6-4D21-B44C-DF53FCB86CDC}" type="presParOf" srcId="{AD62F7DD-4369-49EF-84F5-FA8EED95EAC1}" destId="{0C398A03-1732-4F48-885C-266557794D06}"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F596A35-EFAF-4646-9F9A-20E70928C4E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7B60B76-926D-4759-8FF3-EE46550CCB0C}">
      <dgm:prSet/>
      <dgm:spPr/>
      <dgm:t>
        <a:bodyPr/>
        <a:lstStyle/>
        <a:p>
          <a:r>
            <a:rPr lang="it-IT"/>
            <a:t>La registrazione invia i dati al database per creare un nuovo account.</a:t>
          </a:r>
          <a:endParaRPr lang="en-US"/>
        </a:p>
      </dgm:t>
    </dgm:pt>
    <dgm:pt modelId="{46D6C472-9142-4150-B76F-AE2F4C47BD4B}" type="parTrans" cxnId="{B955F996-657C-45A0-8740-9F4D26643345}">
      <dgm:prSet/>
      <dgm:spPr/>
      <dgm:t>
        <a:bodyPr/>
        <a:lstStyle/>
        <a:p>
          <a:endParaRPr lang="en-US"/>
        </a:p>
      </dgm:t>
    </dgm:pt>
    <dgm:pt modelId="{F6880DEB-6528-4191-8807-793C4E5BED49}" type="sibTrans" cxnId="{B955F996-657C-45A0-8740-9F4D26643345}">
      <dgm:prSet/>
      <dgm:spPr/>
      <dgm:t>
        <a:bodyPr/>
        <a:lstStyle/>
        <a:p>
          <a:endParaRPr lang="en-US"/>
        </a:p>
      </dgm:t>
    </dgm:pt>
    <dgm:pt modelId="{814D81D4-101C-4AF3-BC00-0357C1AB73CD}">
      <dgm:prSet/>
      <dgm:spPr/>
      <dgm:t>
        <a:bodyPr/>
        <a:lstStyle/>
        <a:p>
          <a:r>
            <a:rPr lang="it-IT"/>
            <a:t>Il login verifica le credenziali nel database:</a:t>
          </a:r>
          <a:br>
            <a:rPr lang="it-IT"/>
          </a:br>
          <a:r>
            <a:rPr lang="it-IT"/>
            <a:t>Se corrette, l'utente viene reindirizzato alla </a:t>
          </a:r>
          <a:r>
            <a:rPr lang="it-IT" err="1"/>
            <a:t>hompage</a:t>
          </a:r>
          <a:r>
            <a:rPr lang="it-IT"/>
            <a:t>.</a:t>
          </a:r>
          <a:endParaRPr lang="en-US"/>
        </a:p>
      </dgm:t>
    </dgm:pt>
    <dgm:pt modelId="{431A11D1-8E7A-4A32-AA4F-924F094A5EF9}" type="parTrans" cxnId="{A4262B38-7C7A-44B5-92E3-F076B2FBE7E4}">
      <dgm:prSet/>
      <dgm:spPr/>
      <dgm:t>
        <a:bodyPr/>
        <a:lstStyle/>
        <a:p>
          <a:endParaRPr lang="en-US"/>
        </a:p>
      </dgm:t>
    </dgm:pt>
    <dgm:pt modelId="{53559377-7E36-4DD1-872F-EA89A96BDB82}" type="sibTrans" cxnId="{A4262B38-7C7A-44B5-92E3-F076B2FBE7E4}">
      <dgm:prSet/>
      <dgm:spPr/>
      <dgm:t>
        <a:bodyPr/>
        <a:lstStyle/>
        <a:p>
          <a:endParaRPr lang="en-US"/>
        </a:p>
      </dgm:t>
    </dgm:pt>
    <dgm:pt modelId="{11F9F1C5-18B1-4636-BC0E-36CA63D90B68}">
      <dgm:prSet/>
      <dgm:spPr/>
      <dgm:t>
        <a:bodyPr/>
        <a:lstStyle/>
        <a:p>
          <a:r>
            <a:rPr lang="it-IT"/>
            <a:t>In caso di errore, viene mostrato un messaggio di errore.</a:t>
          </a:r>
          <a:endParaRPr lang="en-US"/>
        </a:p>
      </dgm:t>
    </dgm:pt>
    <dgm:pt modelId="{FC72B82D-A1B6-43F4-AB22-B1CDF8A6E9F7}" type="parTrans" cxnId="{98BECEAD-C574-4245-87D3-9AF934C81727}">
      <dgm:prSet/>
      <dgm:spPr/>
      <dgm:t>
        <a:bodyPr/>
        <a:lstStyle/>
        <a:p>
          <a:endParaRPr lang="en-US"/>
        </a:p>
      </dgm:t>
    </dgm:pt>
    <dgm:pt modelId="{D0349502-86A7-4B03-A8E9-0E011BFA3D87}" type="sibTrans" cxnId="{98BECEAD-C574-4245-87D3-9AF934C81727}">
      <dgm:prSet/>
      <dgm:spPr/>
      <dgm:t>
        <a:bodyPr/>
        <a:lstStyle/>
        <a:p>
          <a:endParaRPr lang="en-US"/>
        </a:p>
      </dgm:t>
    </dgm:pt>
    <dgm:pt modelId="{3F907F10-5302-4F95-B521-0B63EAD219B0}" type="pres">
      <dgm:prSet presAssocID="{7F596A35-EFAF-4646-9F9A-20E70928C4E2}" presName="root" presStyleCnt="0">
        <dgm:presLayoutVars>
          <dgm:dir/>
          <dgm:resizeHandles val="exact"/>
        </dgm:presLayoutVars>
      </dgm:prSet>
      <dgm:spPr/>
    </dgm:pt>
    <dgm:pt modelId="{C984EFEE-300D-4839-BABE-7B7B085111B5}" type="pres">
      <dgm:prSet presAssocID="{A7B60B76-926D-4759-8FF3-EE46550CCB0C}" presName="compNode" presStyleCnt="0"/>
      <dgm:spPr/>
    </dgm:pt>
    <dgm:pt modelId="{B3FCF869-38B9-4D3C-817D-AB17E1B3A4F3}" type="pres">
      <dgm:prSet presAssocID="{A7B60B76-926D-4759-8FF3-EE46550CCB0C}" presName="bgRect" presStyleLbl="bgShp" presStyleIdx="0" presStyleCnt="3"/>
      <dgm:spPr/>
    </dgm:pt>
    <dgm:pt modelId="{2676E3DE-79CE-4445-8B2A-43387706A138}" type="pres">
      <dgm:prSet presAssocID="{A7B60B76-926D-4759-8FF3-EE46550CCB0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E4F0A4AC-2B7D-441B-8159-B578998B9616}" type="pres">
      <dgm:prSet presAssocID="{A7B60B76-926D-4759-8FF3-EE46550CCB0C}" presName="spaceRect" presStyleCnt="0"/>
      <dgm:spPr/>
    </dgm:pt>
    <dgm:pt modelId="{40F6AA31-CE17-49BB-85CB-19FFA31248E3}" type="pres">
      <dgm:prSet presAssocID="{A7B60B76-926D-4759-8FF3-EE46550CCB0C}" presName="parTx" presStyleLbl="revTx" presStyleIdx="0" presStyleCnt="3">
        <dgm:presLayoutVars>
          <dgm:chMax val="0"/>
          <dgm:chPref val="0"/>
        </dgm:presLayoutVars>
      </dgm:prSet>
      <dgm:spPr/>
    </dgm:pt>
    <dgm:pt modelId="{1ECA00EE-2859-437D-B0A4-9D63663C773E}" type="pres">
      <dgm:prSet presAssocID="{F6880DEB-6528-4191-8807-793C4E5BED49}" presName="sibTrans" presStyleCnt="0"/>
      <dgm:spPr/>
    </dgm:pt>
    <dgm:pt modelId="{A587D073-8418-4762-8ECA-53D93F74D093}" type="pres">
      <dgm:prSet presAssocID="{814D81D4-101C-4AF3-BC00-0357C1AB73CD}" presName="compNode" presStyleCnt="0"/>
      <dgm:spPr/>
    </dgm:pt>
    <dgm:pt modelId="{55755AAB-A0EC-44EE-8CB5-3A65981FF6EE}" type="pres">
      <dgm:prSet presAssocID="{814D81D4-101C-4AF3-BC00-0357C1AB73CD}" presName="bgRect" presStyleLbl="bgShp" presStyleIdx="1" presStyleCnt="3"/>
      <dgm:spPr/>
    </dgm:pt>
    <dgm:pt modelId="{1F90F63D-12AA-45E8-AC7F-3227A3F83225}" type="pres">
      <dgm:prSet presAssocID="{814D81D4-101C-4AF3-BC00-0357C1AB73C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sso"/>
        </a:ext>
      </dgm:extLst>
    </dgm:pt>
    <dgm:pt modelId="{D88845B7-FF90-43B7-A058-9F34856DF2D8}" type="pres">
      <dgm:prSet presAssocID="{814D81D4-101C-4AF3-BC00-0357C1AB73CD}" presName="spaceRect" presStyleCnt="0"/>
      <dgm:spPr/>
    </dgm:pt>
    <dgm:pt modelId="{82766AF4-7C56-49D0-9ACB-15074F841EF1}" type="pres">
      <dgm:prSet presAssocID="{814D81D4-101C-4AF3-BC00-0357C1AB73CD}" presName="parTx" presStyleLbl="revTx" presStyleIdx="1" presStyleCnt="3">
        <dgm:presLayoutVars>
          <dgm:chMax val="0"/>
          <dgm:chPref val="0"/>
        </dgm:presLayoutVars>
      </dgm:prSet>
      <dgm:spPr/>
    </dgm:pt>
    <dgm:pt modelId="{029541A8-CA65-4B1A-B24B-A904F2B2CD0F}" type="pres">
      <dgm:prSet presAssocID="{53559377-7E36-4DD1-872F-EA89A96BDB82}" presName="sibTrans" presStyleCnt="0"/>
      <dgm:spPr/>
    </dgm:pt>
    <dgm:pt modelId="{34283D05-2C89-473B-87D8-F7B289231A8B}" type="pres">
      <dgm:prSet presAssocID="{11F9F1C5-18B1-4636-BC0E-36CA63D90B68}" presName="compNode" presStyleCnt="0"/>
      <dgm:spPr/>
    </dgm:pt>
    <dgm:pt modelId="{3CA219DD-392D-4C33-A72B-A673E131123C}" type="pres">
      <dgm:prSet presAssocID="{11F9F1C5-18B1-4636-BC0E-36CA63D90B68}" presName="bgRect" presStyleLbl="bgShp" presStyleIdx="2" presStyleCnt="3"/>
      <dgm:spPr/>
    </dgm:pt>
    <dgm:pt modelId="{35F42993-EEF8-4490-89F3-63142C5332CA}" type="pres">
      <dgm:prSet presAssocID="{11F9F1C5-18B1-4636-BC0E-36CA63D90B6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xclamation Mark"/>
        </a:ext>
      </dgm:extLst>
    </dgm:pt>
    <dgm:pt modelId="{393FA241-AAE2-4917-B184-8AA251172285}" type="pres">
      <dgm:prSet presAssocID="{11F9F1C5-18B1-4636-BC0E-36CA63D90B68}" presName="spaceRect" presStyleCnt="0"/>
      <dgm:spPr/>
    </dgm:pt>
    <dgm:pt modelId="{923BACFA-3383-4E83-93E1-D0863352F5D6}" type="pres">
      <dgm:prSet presAssocID="{11F9F1C5-18B1-4636-BC0E-36CA63D90B68}" presName="parTx" presStyleLbl="revTx" presStyleIdx="2" presStyleCnt="3">
        <dgm:presLayoutVars>
          <dgm:chMax val="0"/>
          <dgm:chPref val="0"/>
        </dgm:presLayoutVars>
      </dgm:prSet>
      <dgm:spPr/>
    </dgm:pt>
  </dgm:ptLst>
  <dgm:cxnLst>
    <dgm:cxn modelId="{10294020-25C5-4000-AD7E-790CB54D4CAD}" type="presOf" srcId="{7F596A35-EFAF-4646-9F9A-20E70928C4E2}" destId="{3F907F10-5302-4F95-B521-0B63EAD219B0}" srcOrd="0" destOrd="0" presId="urn:microsoft.com/office/officeart/2018/2/layout/IconVerticalSolidList"/>
    <dgm:cxn modelId="{B3864C2C-0A91-4BA3-8697-84674C98B91C}" type="presOf" srcId="{A7B60B76-926D-4759-8FF3-EE46550CCB0C}" destId="{40F6AA31-CE17-49BB-85CB-19FFA31248E3}" srcOrd="0" destOrd="0" presId="urn:microsoft.com/office/officeart/2018/2/layout/IconVerticalSolidList"/>
    <dgm:cxn modelId="{A4262B38-7C7A-44B5-92E3-F076B2FBE7E4}" srcId="{7F596A35-EFAF-4646-9F9A-20E70928C4E2}" destId="{814D81D4-101C-4AF3-BC00-0357C1AB73CD}" srcOrd="1" destOrd="0" parTransId="{431A11D1-8E7A-4A32-AA4F-924F094A5EF9}" sibTransId="{53559377-7E36-4DD1-872F-EA89A96BDB82}"/>
    <dgm:cxn modelId="{B955F996-657C-45A0-8740-9F4D26643345}" srcId="{7F596A35-EFAF-4646-9F9A-20E70928C4E2}" destId="{A7B60B76-926D-4759-8FF3-EE46550CCB0C}" srcOrd="0" destOrd="0" parTransId="{46D6C472-9142-4150-B76F-AE2F4C47BD4B}" sibTransId="{F6880DEB-6528-4191-8807-793C4E5BED49}"/>
    <dgm:cxn modelId="{0C9D33A1-8997-4FAA-9292-670B981F7660}" type="presOf" srcId="{11F9F1C5-18B1-4636-BC0E-36CA63D90B68}" destId="{923BACFA-3383-4E83-93E1-D0863352F5D6}" srcOrd="0" destOrd="0" presId="urn:microsoft.com/office/officeart/2018/2/layout/IconVerticalSolidList"/>
    <dgm:cxn modelId="{98BECEAD-C574-4245-87D3-9AF934C81727}" srcId="{7F596A35-EFAF-4646-9F9A-20E70928C4E2}" destId="{11F9F1C5-18B1-4636-BC0E-36CA63D90B68}" srcOrd="2" destOrd="0" parTransId="{FC72B82D-A1B6-43F4-AB22-B1CDF8A6E9F7}" sibTransId="{D0349502-86A7-4B03-A8E9-0E011BFA3D87}"/>
    <dgm:cxn modelId="{E8CBDBF1-DAB3-4F6D-8B68-0875FEDBDD3D}" type="presOf" srcId="{814D81D4-101C-4AF3-BC00-0357C1AB73CD}" destId="{82766AF4-7C56-49D0-9ACB-15074F841EF1}" srcOrd="0" destOrd="0" presId="urn:microsoft.com/office/officeart/2018/2/layout/IconVerticalSolidList"/>
    <dgm:cxn modelId="{3CD7026D-290C-44FF-B749-9997B162F40D}" type="presParOf" srcId="{3F907F10-5302-4F95-B521-0B63EAD219B0}" destId="{C984EFEE-300D-4839-BABE-7B7B085111B5}" srcOrd="0" destOrd="0" presId="urn:microsoft.com/office/officeart/2018/2/layout/IconVerticalSolidList"/>
    <dgm:cxn modelId="{6EBD36BA-7E12-4111-BBEA-2A4EB4913F61}" type="presParOf" srcId="{C984EFEE-300D-4839-BABE-7B7B085111B5}" destId="{B3FCF869-38B9-4D3C-817D-AB17E1B3A4F3}" srcOrd="0" destOrd="0" presId="urn:microsoft.com/office/officeart/2018/2/layout/IconVerticalSolidList"/>
    <dgm:cxn modelId="{4CFB1AC6-58C2-4F97-BDC9-FA64BA97CD6E}" type="presParOf" srcId="{C984EFEE-300D-4839-BABE-7B7B085111B5}" destId="{2676E3DE-79CE-4445-8B2A-43387706A138}" srcOrd="1" destOrd="0" presId="urn:microsoft.com/office/officeart/2018/2/layout/IconVerticalSolidList"/>
    <dgm:cxn modelId="{AFBCD3D0-0569-4DAE-B39D-BF5A4932F404}" type="presParOf" srcId="{C984EFEE-300D-4839-BABE-7B7B085111B5}" destId="{E4F0A4AC-2B7D-441B-8159-B578998B9616}" srcOrd="2" destOrd="0" presId="urn:microsoft.com/office/officeart/2018/2/layout/IconVerticalSolidList"/>
    <dgm:cxn modelId="{E4A19F95-AC4B-4F83-A953-1AE0B9251927}" type="presParOf" srcId="{C984EFEE-300D-4839-BABE-7B7B085111B5}" destId="{40F6AA31-CE17-49BB-85CB-19FFA31248E3}" srcOrd="3" destOrd="0" presId="urn:microsoft.com/office/officeart/2018/2/layout/IconVerticalSolidList"/>
    <dgm:cxn modelId="{6D615453-91CF-4957-AD6B-BC962D850C97}" type="presParOf" srcId="{3F907F10-5302-4F95-B521-0B63EAD219B0}" destId="{1ECA00EE-2859-437D-B0A4-9D63663C773E}" srcOrd="1" destOrd="0" presId="urn:microsoft.com/office/officeart/2018/2/layout/IconVerticalSolidList"/>
    <dgm:cxn modelId="{E455157D-0AEE-4610-911B-5AA24F56AE2A}" type="presParOf" srcId="{3F907F10-5302-4F95-B521-0B63EAD219B0}" destId="{A587D073-8418-4762-8ECA-53D93F74D093}" srcOrd="2" destOrd="0" presId="urn:microsoft.com/office/officeart/2018/2/layout/IconVerticalSolidList"/>
    <dgm:cxn modelId="{EBFA119E-1DE4-42E4-A705-21556825A5EF}" type="presParOf" srcId="{A587D073-8418-4762-8ECA-53D93F74D093}" destId="{55755AAB-A0EC-44EE-8CB5-3A65981FF6EE}" srcOrd="0" destOrd="0" presId="urn:microsoft.com/office/officeart/2018/2/layout/IconVerticalSolidList"/>
    <dgm:cxn modelId="{C02EF634-02D9-4341-BF13-9EAFE1FE1624}" type="presParOf" srcId="{A587D073-8418-4762-8ECA-53D93F74D093}" destId="{1F90F63D-12AA-45E8-AC7F-3227A3F83225}" srcOrd="1" destOrd="0" presId="urn:microsoft.com/office/officeart/2018/2/layout/IconVerticalSolidList"/>
    <dgm:cxn modelId="{175F5A5F-81EB-4E66-B30F-2A05B7327946}" type="presParOf" srcId="{A587D073-8418-4762-8ECA-53D93F74D093}" destId="{D88845B7-FF90-43B7-A058-9F34856DF2D8}" srcOrd="2" destOrd="0" presId="urn:microsoft.com/office/officeart/2018/2/layout/IconVerticalSolidList"/>
    <dgm:cxn modelId="{78A059ED-5F3A-4527-8FBD-B945F3EDCD60}" type="presParOf" srcId="{A587D073-8418-4762-8ECA-53D93F74D093}" destId="{82766AF4-7C56-49D0-9ACB-15074F841EF1}" srcOrd="3" destOrd="0" presId="urn:microsoft.com/office/officeart/2018/2/layout/IconVerticalSolidList"/>
    <dgm:cxn modelId="{B6036F4D-B81D-4EAB-AEF2-EF4F4603C628}" type="presParOf" srcId="{3F907F10-5302-4F95-B521-0B63EAD219B0}" destId="{029541A8-CA65-4B1A-B24B-A904F2B2CD0F}" srcOrd="3" destOrd="0" presId="urn:microsoft.com/office/officeart/2018/2/layout/IconVerticalSolidList"/>
    <dgm:cxn modelId="{155B0F41-C8D2-41BB-9711-BA5A3A2A4C29}" type="presParOf" srcId="{3F907F10-5302-4F95-B521-0B63EAD219B0}" destId="{34283D05-2C89-473B-87D8-F7B289231A8B}" srcOrd="4" destOrd="0" presId="urn:microsoft.com/office/officeart/2018/2/layout/IconVerticalSolidList"/>
    <dgm:cxn modelId="{B6B81D8B-7D01-4CEF-8344-01FE3118904E}" type="presParOf" srcId="{34283D05-2C89-473B-87D8-F7B289231A8B}" destId="{3CA219DD-392D-4C33-A72B-A673E131123C}" srcOrd="0" destOrd="0" presId="urn:microsoft.com/office/officeart/2018/2/layout/IconVerticalSolidList"/>
    <dgm:cxn modelId="{5A7DD64D-714C-4CC8-8A80-8805D2FBD0CC}" type="presParOf" srcId="{34283D05-2C89-473B-87D8-F7B289231A8B}" destId="{35F42993-EEF8-4490-89F3-63142C5332CA}" srcOrd="1" destOrd="0" presId="urn:microsoft.com/office/officeart/2018/2/layout/IconVerticalSolidList"/>
    <dgm:cxn modelId="{62A23FF7-B501-470C-91EA-9FDAADCA3917}" type="presParOf" srcId="{34283D05-2C89-473B-87D8-F7B289231A8B}" destId="{393FA241-AAE2-4917-B184-8AA251172285}" srcOrd="2" destOrd="0" presId="urn:microsoft.com/office/officeart/2018/2/layout/IconVerticalSolidList"/>
    <dgm:cxn modelId="{C62AE3AF-C242-48E6-AB04-30F54832CC1D}" type="presParOf" srcId="{34283D05-2C89-473B-87D8-F7B289231A8B}" destId="{923BACFA-3383-4E83-93E1-D0863352F5D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1C35988-8B97-4448-8434-15670B73E9F9}"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BABC01EA-DD79-49B9-A046-9EB9DB101578}">
      <dgm:prSet/>
      <dgm:spPr/>
      <dgm:t>
        <a:bodyPr/>
        <a:lstStyle/>
        <a:p>
          <a:r>
            <a:rPr lang="it-IT"/>
            <a:t>L'utente fornisce i dettagli della mappa.</a:t>
          </a:r>
          <a:endParaRPr lang="en-US"/>
        </a:p>
      </dgm:t>
    </dgm:pt>
    <dgm:pt modelId="{29BDE8F2-479C-4981-8C03-C0773D7D0E19}" type="parTrans" cxnId="{6B466C72-689A-4C58-B47C-C430E9E12929}">
      <dgm:prSet/>
      <dgm:spPr/>
      <dgm:t>
        <a:bodyPr/>
        <a:lstStyle/>
        <a:p>
          <a:endParaRPr lang="en-US"/>
        </a:p>
      </dgm:t>
    </dgm:pt>
    <dgm:pt modelId="{F93AEA34-53E1-4AA7-A5D8-2E2C649A66BD}" type="sibTrans" cxnId="{6B466C72-689A-4C58-B47C-C430E9E12929}">
      <dgm:prSet/>
      <dgm:spPr/>
      <dgm:t>
        <a:bodyPr/>
        <a:lstStyle/>
        <a:p>
          <a:endParaRPr lang="en-US"/>
        </a:p>
      </dgm:t>
    </dgm:pt>
    <dgm:pt modelId="{BB0DE980-DB94-4125-B222-23E8F7B9E493}">
      <dgm:prSet/>
      <dgm:spPr/>
      <dgm:t>
        <a:bodyPr/>
        <a:lstStyle/>
        <a:p>
          <a:r>
            <a:rPr lang="it-IT"/>
            <a:t>I dati vengono inviati al database e la mappa viene creata</a:t>
          </a:r>
          <a:endParaRPr lang="en-US"/>
        </a:p>
      </dgm:t>
    </dgm:pt>
    <dgm:pt modelId="{48578438-798F-4ADA-AEA5-48DB4457370B}" type="parTrans" cxnId="{DC0F705B-8070-4F76-BD73-67B21EBE055F}">
      <dgm:prSet/>
      <dgm:spPr/>
      <dgm:t>
        <a:bodyPr/>
        <a:lstStyle/>
        <a:p>
          <a:endParaRPr lang="en-US"/>
        </a:p>
      </dgm:t>
    </dgm:pt>
    <dgm:pt modelId="{8F0B34E5-BA76-4B18-8406-FFFCB6EED82F}" type="sibTrans" cxnId="{DC0F705B-8070-4F76-BD73-67B21EBE055F}">
      <dgm:prSet/>
      <dgm:spPr/>
      <dgm:t>
        <a:bodyPr/>
        <a:lstStyle/>
        <a:p>
          <a:endParaRPr lang="en-US"/>
        </a:p>
      </dgm:t>
    </dgm:pt>
    <dgm:pt modelId="{47DE485F-695A-4A73-8523-A2CC3A1C8B8C}">
      <dgm:prSet/>
      <dgm:spPr/>
      <dgm:t>
        <a:bodyPr/>
        <a:lstStyle/>
        <a:p>
          <a:r>
            <a:rPr lang="it-IT"/>
            <a:t>Una volta creata, la mappa appare nell'elenco delle mappe disponibili</a:t>
          </a:r>
          <a:endParaRPr lang="en-US"/>
        </a:p>
      </dgm:t>
    </dgm:pt>
    <dgm:pt modelId="{5F897A90-F6E8-4BCA-8F4A-48B81F7720BC}" type="parTrans" cxnId="{A5458F68-AEC6-4421-8FED-C746ABCE08E9}">
      <dgm:prSet/>
      <dgm:spPr/>
      <dgm:t>
        <a:bodyPr/>
        <a:lstStyle/>
        <a:p>
          <a:endParaRPr lang="en-US"/>
        </a:p>
      </dgm:t>
    </dgm:pt>
    <dgm:pt modelId="{06F2CB6B-15E0-41FB-BAB0-74EE9986E94D}" type="sibTrans" cxnId="{A5458F68-AEC6-4421-8FED-C746ABCE08E9}">
      <dgm:prSet/>
      <dgm:spPr/>
      <dgm:t>
        <a:bodyPr/>
        <a:lstStyle/>
        <a:p>
          <a:endParaRPr lang="en-US"/>
        </a:p>
      </dgm:t>
    </dgm:pt>
    <dgm:pt modelId="{4B00E485-C9E3-4A30-90B9-420D8A97F223}" type="pres">
      <dgm:prSet presAssocID="{61C35988-8B97-4448-8434-15670B73E9F9}" presName="linear" presStyleCnt="0">
        <dgm:presLayoutVars>
          <dgm:animLvl val="lvl"/>
          <dgm:resizeHandles val="exact"/>
        </dgm:presLayoutVars>
      </dgm:prSet>
      <dgm:spPr/>
    </dgm:pt>
    <dgm:pt modelId="{0DB579C0-BE3F-432A-8C75-7AF08FA93A3B}" type="pres">
      <dgm:prSet presAssocID="{BABC01EA-DD79-49B9-A046-9EB9DB101578}" presName="parentText" presStyleLbl="node1" presStyleIdx="0" presStyleCnt="3">
        <dgm:presLayoutVars>
          <dgm:chMax val="0"/>
          <dgm:bulletEnabled val="1"/>
        </dgm:presLayoutVars>
      </dgm:prSet>
      <dgm:spPr/>
    </dgm:pt>
    <dgm:pt modelId="{C9F7460E-140F-4C1E-9E04-F0CE2B46BEF2}" type="pres">
      <dgm:prSet presAssocID="{F93AEA34-53E1-4AA7-A5D8-2E2C649A66BD}" presName="spacer" presStyleCnt="0"/>
      <dgm:spPr/>
    </dgm:pt>
    <dgm:pt modelId="{858B2CEF-5602-422E-94B7-6EE11FFBBEE7}" type="pres">
      <dgm:prSet presAssocID="{BB0DE980-DB94-4125-B222-23E8F7B9E493}" presName="parentText" presStyleLbl="node1" presStyleIdx="1" presStyleCnt="3">
        <dgm:presLayoutVars>
          <dgm:chMax val="0"/>
          <dgm:bulletEnabled val="1"/>
        </dgm:presLayoutVars>
      </dgm:prSet>
      <dgm:spPr/>
    </dgm:pt>
    <dgm:pt modelId="{C0B3CDD3-1861-4715-B45E-A9B795F9389B}" type="pres">
      <dgm:prSet presAssocID="{8F0B34E5-BA76-4B18-8406-FFFCB6EED82F}" presName="spacer" presStyleCnt="0"/>
      <dgm:spPr/>
    </dgm:pt>
    <dgm:pt modelId="{9FA80634-6B19-49D5-B410-EC608D73C015}" type="pres">
      <dgm:prSet presAssocID="{47DE485F-695A-4A73-8523-A2CC3A1C8B8C}" presName="parentText" presStyleLbl="node1" presStyleIdx="2" presStyleCnt="3">
        <dgm:presLayoutVars>
          <dgm:chMax val="0"/>
          <dgm:bulletEnabled val="1"/>
        </dgm:presLayoutVars>
      </dgm:prSet>
      <dgm:spPr/>
    </dgm:pt>
  </dgm:ptLst>
  <dgm:cxnLst>
    <dgm:cxn modelId="{578F383E-58A9-4B20-B92E-07E88B134C2B}" type="presOf" srcId="{BABC01EA-DD79-49B9-A046-9EB9DB101578}" destId="{0DB579C0-BE3F-432A-8C75-7AF08FA93A3B}" srcOrd="0" destOrd="0" presId="urn:microsoft.com/office/officeart/2005/8/layout/vList2"/>
    <dgm:cxn modelId="{DC0F705B-8070-4F76-BD73-67B21EBE055F}" srcId="{61C35988-8B97-4448-8434-15670B73E9F9}" destId="{BB0DE980-DB94-4125-B222-23E8F7B9E493}" srcOrd="1" destOrd="0" parTransId="{48578438-798F-4ADA-AEA5-48DB4457370B}" sibTransId="{8F0B34E5-BA76-4B18-8406-FFFCB6EED82F}"/>
    <dgm:cxn modelId="{A5458F68-AEC6-4421-8FED-C746ABCE08E9}" srcId="{61C35988-8B97-4448-8434-15670B73E9F9}" destId="{47DE485F-695A-4A73-8523-A2CC3A1C8B8C}" srcOrd="2" destOrd="0" parTransId="{5F897A90-F6E8-4BCA-8F4A-48B81F7720BC}" sibTransId="{06F2CB6B-15E0-41FB-BAB0-74EE9986E94D}"/>
    <dgm:cxn modelId="{6B466C72-689A-4C58-B47C-C430E9E12929}" srcId="{61C35988-8B97-4448-8434-15670B73E9F9}" destId="{BABC01EA-DD79-49B9-A046-9EB9DB101578}" srcOrd="0" destOrd="0" parTransId="{29BDE8F2-479C-4981-8C03-C0773D7D0E19}" sibTransId="{F93AEA34-53E1-4AA7-A5D8-2E2C649A66BD}"/>
    <dgm:cxn modelId="{9FDF55B0-8CEF-4062-A937-ACA98E7AF153}" type="presOf" srcId="{BB0DE980-DB94-4125-B222-23E8F7B9E493}" destId="{858B2CEF-5602-422E-94B7-6EE11FFBBEE7}" srcOrd="0" destOrd="0" presId="urn:microsoft.com/office/officeart/2005/8/layout/vList2"/>
    <dgm:cxn modelId="{0C039CC4-20AB-4B01-B014-65B98C361C4D}" type="presOf" srcId="{47DE485F-695A-4A73-8523-A2CC3A1C8B8C}" destId="{9FA80634-6B19-49D5-B410-EC608D73C015}" srcOrd="0" destOrd="0" presId="urn:microsoft.com/office/officeart/2005/8/layout/vList2"/>
    <dgm:cxn modelId="{C29442D0-0882-40D3-9F6E-D349D9B1E2A2}" type="presOf" srcId="{61C35988-8B97-4448-8434-15670B73E9F9}" destId="{4B00E485-C9E3-4A30-90B9-420D8A97F223}" srcOrd="0" destOrd="0" presId="urn:microsoft.com/office/officeart/2005/8/layout/vList2"/>
    <dgm:cxn modelId="{C06C399D-300C-40E4-8AED-291B2F40D93D}" type="presParOf" srcId="{4B00E485-C9E3-4A30-90B9-420D8A97F223}" destId="{0DB579C0-BE3F-432A-8C75-7AF08FA93A3B}" srcOrd="0" destOrd="0" presId="urn:microsoft.com/office/officeart/2005/8/layout/vList2"/>
    <dgm:cxn modelId="{98A18769-806B-42F7-8350-17BE20192155}" type="presParOf" srcId="{4B00E485-C9E3-4A30-90B9-420D8A97F223}" destId="{C9F7460E-140F-4C1E-9E04-F0CE2B46BEF2}" srcOrd="1" destOrd="0" presId="urn:microsoft.com/office/officeart/2005/8/layout/vList2"/>
    <dgm:cxn modelId="{9F0307B5-6BBE-4EAA-9272-405B8FD56C9E}" type="presParOf" srcId="{4B00E485-C9E3-4A30-90B9-420D8A97F223}" destId="{858B2CEF-5602-422E-94B7-6EE11FFBBEE7}" srcOrd="2" destOrd="0" presId="urn:microsoft.com/office/officeart/2005/8/layout/vList2"/>
    <dgm:cxn modelId="{44A19B35-B33B-41D1-BEE8-FC9F4D3C1719}" type="presParOf" srcId="{4B00E485-C9E3-4A30-90B9-420D8A97F223}" destId="{C0B3CDD3-1861-4715-B45E-A9B795F9389B}" srcOrd="3" destOrd="0" presId="urn:microsoft.com/office/officeart/2005/8/layout/vList2"/>
    <dgm:cxn modelId="{261EAE86-E87E-4B9D-88C5-D9A8AF1DD2A3}" type="presParOf" srcId="{4B00E485-C9E3-4A30-90B9-420D8A97F223}" destId="{9FA80634-6B19-49D5-B410-EC608D73C01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CCE6C2-3EF9-48AC-AF8C-FBDCE3B4A392}">
      <dsp:nvSpPr>
        <dsp:cNvPr id="0" name=""/>
        <dsp:cNvSpPr/>
      </dsp:nvSpPr>
      <dsp:spPr>
        <a:xfrm>
          <a:off x="0" y="1080567"/>
          <a:ext cx="2957512" cy="1878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6493F6-650C-4189-B8BA-913C12666EA9}">
      <dsp:nvSpPr>
        <dsp:cNvPr id="0" name=""/>
        <dsp:cNvSpPr/>
      </dsp:nvSpPr>
      <dsp:spPr>
        <a:xfrm>
          <a:off x="328612" y="1392749"/>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it-IT" sz="2400" kern="1200"/>
            <a:t>Responsabile della logica di backend</a:t>
          </a:r>
          <a:endParaRPr lang="en-US" sz="2400" kern="1200"/>
        </a:p>
      </dsp:txBody>
      <dsp:txXfrm>
        <a:off x="383617" y="1447754"/>
        <a:ext cx="2847502" cy="1768010"/>
      </dsp:txXfrm>
    </dsp:sp>
    <dsp:sp modelId="{D59C9BCF-5583-403A-850D-A1E8345EBB83}">
      <dsp:nvSpPr>
        <dsp:cNvPr id="0" name=""/>
        <dsp:cNvSpPr/>
      </dsp:nvSpPr>
      <dsp:spPr>
        <a:xfrm>
          <a:off x="3614737" y="1080567"/>
          <a:ext cx="2957512" cy="1878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E98D90-5463-47C9-BD15-DE5A881EBC32}">
      <dsp:nvSpPr>
        <dsp:cNvPr id="0" name=""/>
        <dsp:cNvSpPr/>
      </dsp:nvSpPr>
      <dsp:spPr>
        <a:xfrm>
          <a:off x="3943350" y="1392749"/>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it-IT" sz="2400" kern="1200"/>
            <a:t>Gestisce le richieste degli utenti e la comunicazione con il db</a:t>
          </a:r>
          <a:endParaRPr lang="en-US" sz="2400" kern="1200"/>
        </a:p>
      </dsp:txBody>
      <dsp:txXfrm>
        <a:off x="3998355" y="1447754"/>
        <a:ext cx="2847502" cy="1768010"/>
      </dsp:txXfrm>
    </dsp:sp>
    <dsp:sp modelId="{9193A556-E9A0-4708-9A00-F59A11F1069E}">
      <dsp:nvSpPr>
        <dsp:cNvPr id="0" name=""/>
        <dsp:cNvSpPr/>
      </dsp:nvSpPr>
      <dsp:spPr>
        <a:xfrm>
          <a:off x="7229475" y="1080567"/>
          <a:ext cx="2957512" cy="1878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D8CF52-EA89-4759-8049-A2764FFC83A7}">
      <dsp:nvSpPr>
        <dsp:cNvPr id="0" name=""/>
        <dsp:cNvSpPr/>
      </dsp:nvSpPr>
      <dsp:spPr>
        <a:xfrm>
          <a:off x="7558087" y="1392749"/>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it-IT" sz="2400" kern="1200"/>
            <a:t>Espone il gioco tramite un'interfaccia web (porta 80)</a:t>
          </a:r>
          <a:endParaRPr lang="en-US" sz="2400" kern="1200"/>
        </a:p>
      </dsp:txBody>
      <dsp:txXfrm>
        <a:off x="7613092" y="1447754"/>
        <a:ext cx="2847502" cy="17680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CCE6C2-3EF9-48AC-AF8C-FBDCE3B4A392}">
      <dsp:nvSpPr>
        <dsp:cNvPr id="0" name=""/>
        <dsp:cNvSpPr/>
      </dsp:nvSpPr>
      <dsp:spPr>
        <a:xfrm>
          <a:off x="0" y="1080567"/>
          <a:ext cx="2957512" cy="1878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6493F6-650C-4189-B8BA-913C12666EA9}">
      <dsp:nvSpPr>
        <dsp:cNvPr id="0" name=""/>
        <dsp:cNvSpPr/>
      </dsp:nvSpPr>
      <dsp:spPr>
        <a:xfrm>
          <a:off x="328612" y="1392749"/>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it-IT" sz="2200" kern="1200">
              <a:solidFill>
                <a:srgbClr val="000000"/>
              </a:solidFill>
              <a:latin typeface="Aptos"/>
            </a:rPr>
            <a:t>Contiene i dati del gioco</a:t>
          </a:r>
          <a:endParaRPr lang="en-US" sz="2200" kern="1200"/>
        </a:p>
      </dsp:txBody>
      <dsp:txXfrm>
        <a:off x="383617" y="1447754"/>
        <a:ext cx="2847502" cy="1768010"/>
      </dsp:txXfrm>
    </dsp:sp>
    <dsp:sp modelId="{D59C9BCF-5583-403A-850D-A1E8345EBB83}">
      <dsp:nvSpPr>
        <dsp:cNvPr id="0" name=""/>
        <dsp:cNvSpPr/>
      </dsp:nvSpPr>
      <dsp:spPr>
        <a:xfrm>
          <a:off x="3614737" y="1080567"/>
          <a:ext cx="2957512" cy="1878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E98D90-5463-47C9-BD15-DE5A881EBC32}">
      <dsp:nvSpPr>
        <dsp:cNvPr id="0" name=""/>
        <dsp:cNvSpPr/>
      </dsp:nvSpPr>
      <dsp:spPr>
        <a:xfrm>
          <a:off x="3943350" y="1392749"/>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it-IT" sz="2200" kern="1200">
              <a:solidFill>
                <a:srgbClr val="000000"/>
              </a:solidFill>
              <a:latin typeface="Aptos"/>
            </a:rPr>
            <a:t>Memorizza le informazioni degli utenti</a:t>
          </a:r>
          <a:endParaRPr lang="en-US" sz="2200" kern="1200">
            <a:solidFill>
              <a:srgbClr val="000000"/>
            </a:solidFill>
            <a:latin typeface="Aptos"/>
          </a:endParaRPr>
        </a:p>
      </dsp:txBody>
      <dsp:txXfrm>
        <a:off x="3998355" y="1447754"/>
        <a:ext cx="2847502" cy="1768010"/>
      </dsp:txXfrm>
    </dsp:sp>
    <dsp:sp modelId="{9193A556-E9A0-4708-9A00-F59A11F1069E}">
      <dsp:nvSpPr>
        <dsp:cNvPr id="0" name=""/>
        <dsp:cNvSpPr/>
      </dsp:nvSpPr>
      <dsp:spPr>
        <a:xfrm>
          <a:off x="7229475" y="1080567"/>
          <a:ext cx="2957512" cy="1878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D8CF52-EA89-4759-8049-A2764FFC83A7}">
      <dsp:nvSpPr>
        <dsp:cNvPr id="0" name=""/>
        <dsp:cNvSpPr/>
      </dsp:nvSpPr>
      <dsp:spPr>
        <a:xfrm>
          <a:off x="7558087" y="1392749"/>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it-IT" sz="2200" kern="1200">
              <a:solidFill>
                <a:srgbClr val="000000"/>
              </a:solidFill>
              <a:latin typeface="Aptos"/>
            </a:rPr>
            <a:t>Gestisce i dati in modo persistente anche se il container viene riavviato, grazie ai volumi Docker</a:t>
          </a:r>
          <a:endParaRPr lang="en-US" sz="2200" kern="1200">
            <a:solidFill>
              <a:srgbClr val="000000"/>
            </a:solidFill>
            <a:latin typeface="Aptos"/>
          </a:endParaRPr>
        </a:p>
      </dsp:txBody>
      <dsp:txXfrm>
        <a:off x="7613092" y="1447754"/>
        <a:ext cx="2847502" cy="17680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656013-ECC0-4752-8A68-A7B6C056B803}">
      <dsp:nvSpPr>
        <dsp:cNvPr id="0" name=""/>
        <dsp:cNvSpPr/>
      </dsp:nvSpPr>
      <dsp:spPr>
        <a:xfrm>
          <a:off x="3364992" y="2124"/>
          <a:ext cx="3785616" cy="1402286"/>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it-IT" sz="3600" kern="1200"/>
            <a:t>Docker-compose build</a:t>
          </a:r>
          <a:endParaRPr lang="en-US" sz="3600" kern="1200"/>
        </a:p>
      </dsp:txBody>
      <dsp:txXfrm>
        <a:off x="3433446" y="70578"/>
        <a:ext cx="3648708" cy="1265378"/>
      </dsp:txXfrm>
    </dsp:sp>
    <dsp:sp modelId="{FB966B2D-053A-4914-838C-3C7EF7E76773}">
      <dsp:nvSpPr>
        <dsp:cNvPr id="0" name=""/>
        <dsp:cNvSpPr/>
      </dsp:nvSpPr>
      <dsp:spPr>
        <a:xfrm>
          <a:off x="3364992" y="1474525"/>
          <a:ext cx="3785616" cy="1402286"/>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it-IT" sz="3600" kern="1200"/>
            <a:t>Docker-compose up</a:t>
          </a:r>
          <a:endParaRPr lang="en-US" sz="3600" kern="1200"/>
        </a:p>
      </dsp:txBody>
      <dsp:txXfrm>
        <a:off x="3433446" y="1542979"/>
        <a:ext cx="3648708" cy="1265378"/>
      </dsp:txXfrm>
    </dsp:sp>
    <dsp:sp modelId="{0C398A03-1732-4F48-885C-266557794D06}">
      <dsp:nvSpPr>
        <dsp:cNvPr id="0" name=""/>
        <dsp:cNvSpPr/>
      </dsp:nvSpPr>
      <dsp:spPr>
        <a:xfrm>
          <a:off x="3364992" y="2946926"/>
          <a:ext cx="3785616" cy="1402286"/>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it-IT" sz="3600" kern="1200">
              <a:hlinkClick xmlns:r="http://schemas.openxmlformats.org/officeDocument/2006/relationships" r:id="rId1"/>
            </a:rPr>
            <a:t>http://localhost</a:t>
          </a:r>
          <a:endParaRPr lang="en-US" sz="3600" kern="1200"/>
        </a:p>
      </dsp:txBody>
      <dsp:txXfrm>
        <a:off x="3433446" y="3015380"/>
        <a:ext cx="3648708" cy="12653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FCF869-38B9-4D3C-817D-AB17E1B3A4F3}">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76E3DE-79CE-4445-8B2A-43387706A138}">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0F6AA31-CE17-49BB-85CB-19FFA31248E3}">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111250">
            <a:lnSpc>
              <a:spcPct val="90000"/>
            </a:lnSpc>
            <a:spcBef>
              <a:spcPct val="0"/>
            </a:spcBef>
            <a:spcAft>
              <a:spcPct val="35000"/>
            </a:spcAft>
            <a:buNone/>
          </a:pPr>
          <a:r>
            <a:rPr lang="it-IT" sz="2500" kern="1200"/>
            <a:t>La registrazione invia i dati al database per creare un nuovo account.</a:t>
          </a:r>
          <a:endParaRPr lang="en-US" sz="2500" kern="1200"/>
        </a:p>
      </dsp:txBody>
      <dsp:txXfrm>
        <a:off x="1437631" y="531"/>
        <a:ext cx="9077968" cy="1244702"/>
      </dsp:txXfrm>
    </dsp:sp>
    <dsp:sp modelId="{55755AAB-A0EC-44EE-8CB5-3A65981FF6EE}">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90F63D-12AA-45E8-AC7F-3227A3F83225}">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766AF4-7C56-49D0-9ACB-15074F841EF1}">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111250">
            <a:lnSpc>
              <a:spcPct val="90000"/>
            </a:lnSpc>
            <a:spcBef>
              <a:spcPct val="0"/>
            </a:spcBef>
            <a:spcAft>
              <a:spcPct val="35000"/>
            </a:spcAft>
            <a:buNone/>
          </a:pPr>
          <a:r>
            <a:rPr lang="it-IT" sz="2500" kern="1200"/>
            <a:t>Il login verifica le credenziali nel database:</a:t>
          </a:r>
          <a:br>
            <a:rPr lang="it-IT" sz="2500" kern="1200"/>
          </a:br>
          <a:r>
            <a:rPr lang="it-IT" sz="2500" kern="1200"/>
            <a:t>Se corrette, l'utente viene reindirizzato alla </a:t>
          </a:r>
          <a:r>
            <a:rPr lang="it-IT" sz="2500" kern="1200" err="1"/>
            <a:t>hompage</a:t>
          </a:r>
          <a:r>
            <a:rPr lang="it-IT" sz="2500" kern="1200"/>
            <a:t>.</a:t>
          </a:r>
          <a:endParaRPr lang="en-US" sz="2500" kern="1200"/>
        </a:p>
      </dsp:txBody>
      <dsp:txXfrm>
        <a:off x="1437631" y="1556410"/>
        <a:ext cx="9077968" cy="1244702"/>
      </dsp:txXfrm>
    </dsp:sp>
    <dsp:sp modelId="{3CA219DD-392D-4C33-A72B-A673E131123C}">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F42993-EEF8-4490-89F3-63142C5332CA}">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3BACFA-3383-4E83-93E1-D0863352F5D6}">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111250">
            <a:lnSpc>
              <a:spcPct val="90000"/>
            </a:lnSpc>
            <a:spcBef>
              <a:spcPct val="0"/>
            </a:spcBef>
            <a:spcAft>
              <a:spcPct val="35000"/>
            </a:spcAft>
            <a:buNone/>
          </a:pPr>
          <a:r>
            <a:rPr lang="it-IT" sz="2500" kern="1200"/>
            <a:t>In caso di errore, viene mostrato un messaggio di errore.</a:t>
          </a:r>
          <a:endParaRPr lang="en-US" sz="2500" kern="1200"/>
        </a:p>
      </dsp:txBody>
      <dsp:txXfrm>
        <a:off x="1437631" y="3112289"/>
        <a:ext cx="9077968" cy="124470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B579C0-BE3F-432A-8C75-7AF08FA93A3B}">
      <dsp:nvSpPr>
        <dsp:cNvPr id="0" name=""/>
        <dsp:cNvSpPr/>
      </dsp:nvSpPr>
      <dsp:spPr>
        <a:xfrm>
          <a:off x="0" y="42113"/>
          <a:ext cx="10515600" cy="1357492"/>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it-IT" sz="3400" kern="1200"/>
            <a:t>L'utente fornisce i dettagli della mappa.</a:t>
          </a:r>
          <a:endParaRPr lang="en-US" sz="3400" kern="1200"/>
        </a:p>
      </dsp:txBody>
      <dsp:txXfrm>
        <a:off x="66267" y="108380"/>
        <a:ext cx="10383066" cy="1224958"/>
      </dsp:txXfrm>
    </dsp:sp>
    <dsp:sp modelId="{858B2CEF-5602-422E-94B7-6EE11FFBBEE7}">
      <dsp:nvSpPr>
        <dsp:cNvPr id="0" name=""/>
        <dsp:cNvSpPr/>
      </dsp:nvSpPr>
      <dsp:spPr>
        <a:xfrm>
          <a:off x="0" y="1497525"/>
          <a:ext cx="10515600" cy="1357492"/>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it-IT" sz="3400" kern="1200"/>
            <a:t>I dati vengono inviati al database e la mappa viene creata</a:t>
          </a:r>
          <a:endParaRPr lang="en-US" sz="3400" kern="1200"/>
        </a:p>
      </dsp:txBody>
      <dsp:txXfrm>
        <a:off x="66267" y="1563792"/>
        <a:ext cx="10383066" cy="1224958"/>
      </dsp:txXfrm>
    </dsp:sp>
    <dsp:sp modelId="{9FA80634-6B19-49D5-B410-EC608D73C015}">
      <dsp:nvSpPr>
        <dsp:cNvPr id="0" name=""/>
        <dsp:cNvSpPr/>
      </dsp:nvSpPr>
      <dsp:spPr>
        <a:xfrm>
          <a:off x="0" y="2952938"/>
          <a:ext cx="10515600" cy="1357492"/>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it-IT" sz="3400" kern="1200"/>
            <a:t>Una volta creata, la mappa appare nell'elenco delle mappe disponibili</a:t>
          </a:r>
          <a:endParaRPr lang="en-US" sz="3400" kern="1200"/>
        </a:p>
      </dsp:txBody>
      <dsp:txXfrm>
        <a:off x="66267" y="3019205"/>
        <a:ext cx="10383066" cy="122495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69B198-ABA1-4C19-A462-596A69E8911B}" type="datetimeFigureOut">
              <a:rPr lang="it-IT" smtClean="0"/>
              <a:t>04/02/25</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A29851-700A-40E7-81D3-80C595FFDF35}" type="slidenum">
              <a:rPr lang="it-IT" smtClean="0"/>
              <a:t>‹N›</a:t>
            </a:fld>
            <a:endParaRPr lang="it-IT"/>
          </a:p>
        </p:txBody>
      </p:sp>
    </p:spTree>
    <p:extLst>
      <p:ext uri="{BB962C8B-B14F-4D97-AF65-F5344CB8AC3E}">
        <p14:creationId xmlns:p14="http://schemas.microsoft.com/office/powerpoint/2010/main" val="2743508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6BBF4E9-9B27-5112-196F-A41876377293}"/>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B25B3E9D-5A02-574F-C09F-3056550793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C30C6170-0B68-417E-B3F6-2A6AAB0C5B05}"/>
              </a:ext>
            </a:extLst>
          </p:cNvPr>
          <p:cNvSpPr>
            <a:spLocks noGrp="1"/>
          </p:cNvSpPr>
          <p:nvPr>
            <p:ph type="dt" sz="half" idx="10"/>
          </p:nvPr>
        </p:nvSpPr>
        <p:spPr/>
        <p:txBody>
          <a:bodyPr/>
          <a:lstStyle/>
          <a:p>
            <a:fld id="{A1097F21-451B-465B-9E8E-316FA1593E5C}" type="datetimeFigureOut">
              <a:rPr lang="it-IT" smtClean="0"/>
              <a:t>04/02/25</a:t>
            </a:fld>
            <a:endParaRPr lang="it-IT"/>
          </a:p>
        </p:txBody>
      </p:sp>
      <p:sp>
        <p:nvSpPr>
          <p:cNvPr id="5" name="Segnaposto piè di pagina 4">
            <a:extLst>
              <a:ext uri="{FF2B5EF4-FFF2-40B4-BE49-F238E27FC236}">
                <a16:creationId xmlns:a16="http://schemas.microsoft.com/office/drawing/2014/main" id="{6DAFC855-9583-5AE3-5AE9-E9FD4D212BE6}"/>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DA4B96C-8B76-D9FD-D8BD-70F100A027E2}"/>
              </a:ext>
            </a:extLst>
          </p:cNvPr>
          <p:cNvSpPr>
            <a:spLocks noGrp="1"/>
          </p:cNvSpPr>
          <p:nvPr>
            <p:ph type="sldNum" sz="quarter" idx="12"/>
          </p:nvPr>
        </p:nvSpPr>
        <p:spPr/>
        <p:txBody>
          <a:bodyPr/>
          <a:lstStyle/>
          <a:p>
            <a:fld id="{C609CCA4-FE10-4B09-AE13-6F11A28D4063}" type="slidenum">
              <a:rPr lang="it-IT" smtClean="0"/>
              <a:t>‹N›</a:t>
            </a:fld>
            <a:endParaRPr lang="it-IT"/>
          </a:p>
        </p:txBody>
      </p:sp>
    </p:spTree>
    <p:extLst>
      <p:ext uri="{BB962C8B-B14F-4D97-AF65-F5344CB8AC3E}">
        <p14:creationId xmlns:p14="http://schemas.microsoft.com/office/powerpoint/2010/main" val="25287210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102C59D-2683-304C-1976-A4B44FD74C82}"/>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9E15DE1E-99E8-762B-7465-7C338EBD9574}"/>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C23D54D-D767-6D79-D8E1-F728A6CDF240}"/>
              </a:ext>
            </a:extLst>
          </p:cNvPr>
          <p:cNvSpPr>
            <a:spLocks noGrp="1"/>
          </p:cNvSpPr>
          <p:nvPr>
            <p:ph type="dt" sz="half" idx="10"/>
          </p:nvPr>
        </p:nvSpPr>
        <p:spPr/>
        <p:txBody>
          <a:bodyPr/>
          <a:lstStyle/>
          <a:p>
            <a:fld id="{A1097F21-451B-465B-9E8E-316FA1593E5C}" type="datetimeFigureOut">
              <a:rPr lang="it-IT" smtClean="0"/>
              <a:t>04/02/25</a:t>
            </a:fld>
            <a:endParaRPr lang="it-IT"/>
          </a:p>
        </p:txBody>
      </p:sp>
      <p:sp>
        <p:nvSpPr>
          <p:cNvPr id="5" name="Segnaposto piè di pagina 4">
            <a:extLst>
              <a:ext uri="{FF2B5EF4-FFF2-40B4-BE49-F238E27FC236}">
                <a16:creationId xmlns:a16="http://schemas.microsoft.com/office/drawing/2014/main" id="{5CFD0E7B-66D2-4CC1-075E-2FB603CC8F3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3F7F629-966E-CF9B-6D55-B633AFA7A725}"/>
              </a:ext>
            </a:extLst>
          </p:cNvPr>
          <p:cNvSpPr>
            <a:spLocks noGrp="1"/>
          </p:cNvSpPr>
          <p:nvPr>
            <p:ph type="sldNum" sz="quarter" idx="12"/>
          </p:nvPr>
        </p:nvSpPr>
        <p:spPr/>
        <p:txBody>
          <a:bodyPr/>
          <a:lstStyle/>
          <a:p>
            <a:fld id="{C609CCA4-FE10-4B09-AE13-6F11A28D4063}" type="slidenum">
              <a:rPr lang="it-IT" smtClean="0"/>
              <a:t>‹N›</a:t>
            </a:fld>
            <a:endParaRPr lang="it-IT"/>
          </a:p>
        </p:txBody>
      </p:sp>
    </p:spTree>
    <p:extLst>
      <p:ext uri="{BB962C8B-B14F-4D97-AF65-F5344CB8AC3E}">
        <p14:creationId xmlns:p14="http://schemas.microsoft.com/office/powerpoint/2010/main" val="15042668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878555F-C54A-67D8-C85E-CAF826E1077C}"/>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4D904993-1C2F-F690-D0D9-BE654D8855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5848592D-1B9C-061D-4FD5-507706E820B6}"/>
              </a:ext>
            </a:extLst>
          </p:cNvPr>
          <p:cNvSpPr>
            <a:spLocks noGrp="1"/>
          </p:cNvSpPr>
          <p:nvPr>
            <p:ph type="dt" sz="half" idx="10"/>
          </p:nvPr>
        </p:nvSpPr>
        <p:spPr/>
        <p:txBody>
          <a:bodyPr/>
          <a:lstStyle/>
          <a:p>
            <a:fld id="{A1097F21-451B-465B-9E8E-316FA1593E5C}" type="datetimeFigureOut">
              <a:rPr lang="it-IT" smtClean="0"/>
              <a:t>04/02/25</a:t>
            </a:fld>
            <a:endParaRPr lang="it-IT"/>
          </a:p>
        </p:txBody>
      </p:sp>
      <p:sp>
        <p:nvSpPr>
          <p:cNvPr id="5" name="Segnaposto piè di pagina 4">
            <a:extLst>
              <a:ext uri="{FF2B5EF4-FFF2-40B4-BE49-F238E27FC236}">
                <a16:creationId xmlns:a16="http://schemas.microsoft.com/office/drawing/2014/main" id="{8A33BF36-162D-8C08-DBF0-C00A83D36F3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013F7EE-3C8E-E330-523C-7FE5DB5019EF}"/>
              </a:ext>
            </a:extLst>
          </p:cNvPr>
          <p:cNvSpPr>
            <a:spLocks noGrp="1"/>
          </p:cNvSpPr>
          <p:nvPr>
            <p:ph type="sldNum" sz="quarter" idx="12"/>
          </p:nvPr>
        </p:nvSpPr>
        <p:spPr/>
        <p:txBody>
          <a:bodyPr/>
          <a:lstStyle/>
          <a:p>
            <a:fld id="{C609CCA4-FE10-4B09-AE13-6F11A28D4063}" type="slidenum">
              <a:rPr lang="it-IT" smtClean="0"/>
              <a:t>‹N›</a:t>
            </a:fld>
            <a:endParaRPr lang="it-IT"/>
          </a:p>
        </p:txBody>
      </p:sp>
    </p:spTree>
    <p:extLst>
      <p:ext uri="{BB962C8B-B14F-4D97-AF65-F5344CB8AC3E}">
        <p14:creationId xmlns:p14="http://schemas.microsoft.com/office/powerpoint/2010/main" val="35777213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1316E5C-607D-7812-C913-B7FFF6ED150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F9D92FBC-CB8C-3C3F-EA1F-840B62ED8F5F}"/>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DBCFFF74-4422-17B7-D348-D48559D43830}"/>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EC0E709A-5FB5-EAAE-4D81-3A8914A54C25}"/>
              </a:ext>
            </a:extLst>
          </p:cNvPr>
          <p:cNvSpPr>
            <a:spLocks noGrp="1"/>
          </p:cNvSpPr>
          <p:nvPr>
            <p:ph type="dt" sz="half" idx="10"/>
          </p:nvPr>
        </p:nvSpPr>
        <p:spPr/>
        <p:txBody>
          <a:bodyPr/>
          <a:lstStyle/>
          <a:p>
            <a:fld id="{A1097F21-451B-465B-9E8E-316FA1593E5C}" type="datetimeFigureOut">
              <a:rPr lang="it-IT" smtClean="0"/>
              <a:t>04/02/25</a:t>
            </a:fld>
            <a:endParaRPr lang="it-IT"/>
          </a:p>
        </p:txBody>
      </p:sp>
      <p:sp>
        <p:nvSpPr>
          <p:cNvPr id="6" name="Segnaposto piè di pagina 5">
            <a:extLst>
              <a:ext uri="{FF2B5EF4-FFF2-40B4-BE49-F238E27FC236}">
                <a16:creationId xmlns:a16="http://schemas.microsoft.com/office/drawing/2014/main" id="{3D3D070D-5BED-3D14-312F-3B000EDDED4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605D7378-3C83-08A3-A907-0A55AC6C61DA}"/>
              </a:ext>
            </a:extLst>
          </p:cNvPr>
          <p:cNvSpPr>
            <a:spLocks noGrp="1"/>
          </p:cNvSpPr>
          <p:nvPr>
            <p:ph type="sldNum" sz="quarter" idx="12"/>
          </p:nvPr>
        </p:nvSpPr>
        <p:spPr/>
        <p:txBody>
          <a:bodyPr/>
          <a:lstStyle/>
          <a:p>
            <a:fld id="{C609CCA4-FE10-4B09-AE13-6F11A28D4063}" type="slidenum">
              <a:rPr lang="it-IT" smtClean="0"/>
              <a:t>‹N›</a:t>
            </a:fld>
            <a:endParaRPr lang="it-IT"/>
          </a:p>
        </p:txBody>
      </p:sp>
    </p:spTree>
    <p:extLst>
      <p:ext uri="{BB962C8B-B14F-4D97-AF65-F5344CB8AC3E}">
        <p14:creationId xmlns:p14="http://schemas.microsoft.com/office/powerpoint/2010/main" val="15080953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4E7A449-77F3-49A4-AD77-6137CD598C2F}"/>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B8DA812A-3F5E-1663-7DD7-ABC84B7EFB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6F15CD1C-9282-6CC2-BA28-86B614448D8E}"/>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557634C9-FB3B-D062-4DEF-D2F37ECD08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EC3474FB-BF9D-D4CD-89E2-738CA3C95216}"/>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988A2E70-610C-731F-DC24-A2E9052A3ACA}"/>
              </a:ext>
            </a:extLst>
          </p:cNvPr>
          <p:cNvSpPr>
            <a:spLocks noGrp="1"/>
          </p:cNvSpPr>
          <p:nvPr>
            <p:ph type="dt" sz="half" idx="10"/>
          </p:nvPr>
        </p:nvSpPr>
        <p:spPr/>
        <p:txBody>
          <a:bodyPr/>
          <a:lstStyle/>
          <a:p>
            <a:fld id="{A1097F21-451B-465B-9E8E-316FA1593E5C}" type="datetimeFigureOut">
              <a:rPr lang="it-IT" smtClean="0"/>
              <a:t>04/02/25</a:t>
            </a:fld>
            <a:endParaRPr lang="it-IT"/>
          </a:p>
        </p:txBody>
      </p:sp>
      <p:sp>
        <p:nvSpPr>
          <p:cNvPr id="8" name="Segnaposto piè di pagina 7">
            <a:extLst>
              <a:ext uri="{FF2B5EF4-FFF2-40B4-BE49-F238E27FC236}">
                <a16:creationId xmlns:a16="http://schemas.microsoft.com/office/drawing/2014/main" id="{8F3E7EDC-186B-07F2-C753-6716E8A91831}"/>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9C030EFE-C62F-E6A1-D376-F111B3894708}"/>
              </a:ext>
            </a:extLst>
          </p:cNvPr>
          <p:cNvSpPr>
            <a:spLocks noGrp="1"/>
          </p:cNvSpPr>
          <p:nvPr>
            <p:ph type="sldNum" sz="quarter" idx="12"/>
          </p:nvPr>
        </p:nvSpPr>
        <p:spPr/>
        <p:txBody>
          <a:bodyPr/>
          <a:lstStyle/>
          <a:p>
            <a:fld id="{C609CCA4-FE10-4B09-AE13-6F11A28D4063}" type="slidenum">
              <a:rPr lang="it-IT" smtClean="0"/>
              <a:t>‹N›</a:t>
            </a:fld>
            <a:endParaRPr lang="it-IT"/>
          </a:p>
        </p:txBody>
      </p:sp>
    </p:spTree>
    <p:extLst>
      <p:ext uri="{BB962C8B-B14F-4D97-AF65-F5344CB8AC3E}">
        <p14:creationId xmlns:p14="http://schemas.microsoft.com/office/powerpoint/2010/main" val="35970420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58153B5-8877-29D4-D7EB-662D3543E993}"/>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0F37CB56-F8E9-9572-F3B6-61DBFF0233C4}"/>
              </a:ext>
            </a:extLst>
          </p:cNvPr>
          <p:cNvSpPr>
            <a:spLocks noGrp="1"/>
          </p:cNvSpPr>
          <p:nvPr>
            <p:ph type="dt" sz="half" idx="10"/>
          </p:nvPr>
        </p:nvSpPr>
        <p:spPr/>
        <p:txBody>
          <a:bodyPr/>
          <a:lstStyle/>
          <a:p>
            <a:fld id="{A1097F21-451B-465B-9E8E-316FA1593E5C}" type="datetimeFigureOut">
              <a:rPr lang="it-IT" smtClean="0"/>
              <a:t>04/02/25</a:t>
            </a:fld>
            <a:endParaRPr lang="it-IT"/>
          </a:p>
        </p:txBody>
      </p:sp>
      <p:sp>
        <p:nvSpPr>
          <p:cNvPr id="4" name="Segnaposto piè di pagina 3">
            <a:extLst>
              <a:ext uri="{FF2B5EF4-FFF2-40B4-BE49-F238E27FC236}">
                <a16:creationId xmlns:a16="http://schemas.microsoft.com/office/drawing/2014/main" id="{B09D7B86-676A-C5AC-93CC-86DA2ABB650F}"/>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DD46FAE2-A0C7-57B8-9E76-65BB0E622FDC}"/>
              </a:ext>
            </a:extLst>
          </p:cNvPr>
          <p:cNvSpPr>
            <a:spLocks noGrp="1"/>
          </p:cNvSpPr>
          <p:nvPr>
            <p:ph type="sldNum" sz="quarter" idx="12"/>
          </p:nvPr>
        </p:nvSpPr>
        <p:spPr/>
        <p:txBody>
          <a:bodyPr/>
          <a:lstStyle/>
          <a:p>
            <a:fld id="{C609CCA4-FE10-4B09-AE13-6F11A28D4063}" type="slidenum">
              <a:rPr lang="it-IT" smtClean="0"/>
              <a:t>‹N›</a:t>
            </a:fld>
            <a:endParaRPr lang="it-IT"/>
          </a:p>
        </p:txBody>
      </p:sp>
    </p:spTree>
    <p:extLst>
      <p:ext uri="{BB962C8B-B14F-4D97-AF65-F5344CB8AC3E}">
        <p14:creationId xmlns:p14="http://schemas.microsoft.com/office/powerpoint/2010/main" val="9019140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867A316C-38BA-42B5-34D0-FC058DC1A47B}"/>
              </a:ext>
            </a:extLst>
          </p:cNvPr>
          <p:cNvSpPr>
            <a:spLocks noGrp="1"/>
          </p:cNvSpPr>
          <p:nvPr>
            <p:ph type="dt" sz="half" idx="10"/>
          </p:nvPr>
        </p:nvSpPr>
        <p:spPr/>
        <p:txBody>
          <a:bodyPr/>
          <a:lstStyle/>
          <a:p>
            <a:fld id="{A1097F21-451B-465B-9E8E-316FA1593E5C}" type="datetimeFigureOut">
              <a:rPr lang="it-IT" smtClean="0"/>
              <a:t>04/02/25</a:t>
            </a:fld>
            <a:endParaRPr lang="it-IT"/>
          </a:p>
        </p:txBody>
      </p:sp>
      <p:sp>
        <p:nvSpPr>
          <p:cNvPr id="3" name="Segnaposto piè di pagina 2">
            <a:extLst>
              <a:ext uri="{FF2B5EF4-FFF2-40B4-BE49-F238E27FC236}">
                <a16:creationId xmlns:a16="http://schemas.microsoft.com/office/drawing/2014/main" id="{8E424C91-3460-0452-0656-28E64190C3BB}"/>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FF1D3C61-BD4C-9DB9-3FA4-B2E3D12249F3}"/>
              </a:ext>
            </a:extLst>
          </p:cNvPr>
          <p:cNvSpPr>
            <a:spLocks noGrp="1"/>
          </p:cNvSpPr>
          <p:nvPr>
            <p:ph type="sldNum" sz="quarter" idx="12"/>
          </p:nvPr>
        </p:nvSpPr>
        <p:spPr/>
        <p:txBody>
          <a:bodyPr/>
          <a:lstStyle/>
          <a:p>
            <a:fld id="{C609CCA4-FE10-4B09-AE13-6F11A28D4063}" type="slidenum">
              <a:rPr lang="it-IT" smtClean="0"/>
              <a:t>‹N›</a:t>
            </a:fld>
            <a:endParaRPr lang="it-IT"/>
          </a:p>
        </p:txBody>
      </p:sp>
    </p:spTree>
    <p:extLst>
      <p:ext uri="{BB962C8B-B14F-4D97-AF65-F5344CB8AC3E}">
        <p14:creationId xmlns:p14="http://schemas.microsoft.com/office/powerpoint/2010/main" val="31799068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A76718F-CC7E-7CFD-17C0-5D143710B4C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5814354D-599B-DE93-9E71-2C1131A2CE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866BD319-B86A-4017-B1AE-64AACF9D9B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2E7A4B92-84FD-A822-6B19-365468A20A48}"/>
              </a:ext>
            </a:extLst>
          </p:cNvPr>
          <p:cNvSpPr>
            <a:spLocks noGrp="1"/>
          </p:cNvSpPr>
          <p:nvPr>
            <p:ph type="dt" sz="half" idx="10"/>
          </p:nvPr>
        </p:nvSpPr>
        <p:spPr/>
        <p:txBody>
          <a:bodyPr/>
          <a:lstStyle/>
          <a:p>
            <a:fld id="{A1097F21-451B-465B-9E8E-316FA1593E5C}" type="datetimeFigureOut">
              <a:rPr lang="it-IT" smtClean="0"/>
              <a:t>04/02/25</a:t>
            </a:fld>
            <a:endParaRPr lang="it-IT"/>
          </a:p>
        </p:txBody>
      </p:sp>
      <p:sp>
        <p:nvSpPr>
          <p:cNvPr id="6" name="Segnaposto piè di pagina 5">
            <a:extLst>
              <a:ext uri="{FF2B5EF4-FFF2-40B4-BE49-F238E27FC236}">
                <a16:creationId xmlns:a16="http://schemas.microsoft.com/office/drawing/2014/main" id="{2D248C98-CA53-94CE-AD02-982371BF337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5CA8B2B9-352D-BB06-3587-BF5A7EB83B16}"/>
              </a:ext>
            </a:extLst>
          </p:cNvPr>
          <p:cNvSpPr>
            <a:spLocks noGrp="1"/>
          </p:cNvSpPr>
          <p:nvPr>
            <p:ph type="sldNum" sz="quarter" idx="12"/>
          </p:nvPr>
        </p:nvSpPr>
        <p:spPr/>
        <p:txBody>
          <a:bodyPr/>
          <a:lstStyle/>
          <a:p>
            <a:fld id="{C609CCA4-FE10-4B09-AE13-6F11A28D4063}" type="slidenum">
              <a:rPr lang="it-IT" smtClean="0"/>
              <a:t>‹N›</a:t>
            </a:fld>
            <a:endParaRPr lang="it-IT"/>
          </a:p>
        </p:txBody>
      </p:sp>
    </p:spTree>
    <p:extLst>
      <p:ext uri="{BB962C8B-B14F-4D97-AF65-F5344CB8AC3E}">
        <p14:creationId xmlns:p14="http://schemas.microsoft.com/office/powerpoint/2010/main" val="32724911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31422F0-B04E-7A28-F0D8-52B00E3F9A08}"/>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31C3C4F5-FDBE-2127-40A3-5E96B40122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DBDCFB32-E4AA-B802-9EC2-5394DD07C7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19CA3101-DA41-B77B-7146-B2495A69E070}"/>
              </a:ext>
            </a:extLst>
          </p:cNvPr>
          <p:cNvSpPr>
            <a:spLocks noGrp="1"/>
          </p:cNvSpPr>
          <p:nvPr>
            <p:ph type="dt" sz="half" idx="10"/>
          </p:nvPr>
        </p:nvSpPr>
        <p:spPr/>
        <p:txBody>
          <a:bodyPr/>
          <a:lstStyle/>
          <a:p>
            <a:fld id="{A1097F21-451B-465B-9E8E-316FA1593E5C}" type="datetimeFigureOut">
              <a:rPr lang="it-IT" smtClean="0"/>
              <a:t>04/02/25</a:t>
            </a:fld>
            <a:endParaRPr lang="it-IT"/>
          </a:p>
        </p:txBody>
      </p:sp>
      <p:sp>
        <p:nvSpPr>
          <p:cNvPr id="6" name="Segnaposto piè di pagina 5">
            <a:extLst>
              <a:ext uri="{FF2B5EF4-FFF2-40B4-BE49-F238E27FC236}">
                <a16:creationId xmlns:a16="http://schemas.microsoft.com/office/drawing/2014/main" id="{B67F58D5-1EA7-012C-16BA-2F11E7DF552F}"/>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EF681A7E-2460-C828-9CA6-4236BFB63B26}"/>
              </a:ext>
            </a:extLst>
          </p:cNvPr>
          <p:cNvSpPr>
            <a:spLocks noGrp="1"/>
          </p:cNvSpPr>
          <p:nvPr>
            <p:ph type="sldNum" sz="quarter" idx="12"/>
          </p:nvPr>
        </p:nvSpPr>
        <p:spPr/>
        <p:txBody>
          <a:bodyPr/>
          <a:lstStyle/>
          <a:p>
            <a:fld id="{C609CCA4-FE10-4B09-AE13-6F11A28D4063}" type="slidenum">
              <a:rPr lang="it-IT" smtClean="0"/>
              <a:t>‹N›</a:t>
            </a:fld>
            <a:endParaRPr lang="it-IT"/>
          </a:p>
        </p:txBody>
      </p:sp>
    </p:spTree>
    <p:extLst>
      <p:ext uri="{BB962C8B-B14F-4D97-AF65-F5344CB8AC3E}">
        <p14:creationId xmlns:p14="http://schemas.microsoft.com/office/powerpoint/2010/main" val="23895915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62F4B41-34BE-1174-CD97-435A6303FD85}"/>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C05A878A-D0FF-4639-A7E8-77DBAA4CF166}"/>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741B55AB-6C53-CD1D-8C0C-20F761CA656E}"/>
              </a:ext>
            </a:extLst>
          </p:cNvPr>
          <p:cNvSpPr>
            <a:spLocks noGrp="1"/>
          </p:cNvSpPr>
          <p:nvPr>
            <p:ph type="dt" sz="half" idx="10"/>
          </p:nvPr>
        </p:nvSpPr>
        <p:spPr/>
        <p:txBody>
          <a:bodyPr/>
          <a:lstStyle/>
          <a:p>
            <a:fld id="{A1097F21-451B-465B-9E8E-316FA1593E5C}" type="datetimeFigureOut">
              <a:rPr lang="it-IT" smtClean="0"/>
              <a:t>04/02/25</a:t>
            </a:fld>
            <a:endParaRPr lang="it-IT"/>
          </a:p>
        </p:txBody>
      </p:sp>
      <p:sp>
        <p:nvSpPr>
          <p:cNvPr id="5" name="Segnaposto piè di pagina 4">
            <a:extLst>
              <a:ext uri="{FF2B5EF4-FFF2-40B4-BE49-F238E27FC236}">
                <a16:creationId xmlns:a16="http://schemas.microsoft.com/office/drawing/2014/main" id="{F2B882D8-5583-1620-1308-B6CB2829E368}"/>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50D5923-DB8C-C7A2-99D1-A33DCE56AFA1}"/>
              </a:ext>
            </a:extLst>
          </p:cNvPr>
          <p:cNvSpPr>
            <a:spLocks noGrp="1"/>
          </p:cNvSpPr>
          <p:nvPr>
            <p:ph type="sldNum" sz="quarter" idx="12"/>
          </p:nvPr>
        </p:nvSpPr>
        <p:spPr/>
        <p:txBody>
          <a:bodyPr/>
          <a:lstStyle/>
          <a:p>
            <a:fld id="{C609CCA4-FE10-4B09-AE13-6F11A28D4063}" type="slidenum">
              <a:rPr lang="it-IT" smtClean="0"/>
              <a:t>‹N›</a:t>
            </a:fld>
            <a:endParaRPr lang="it-IT"/>
          </a:p>
        </p:txBody>
      </p:sp>
    </p:spTree>
    <p:extLst>
      <p:ext uri="{BB962C8B-B14F-4D97-AF65-F5344CB8AC3E}">
        <p14:creationId xmlns:p14="http://schemas.microsoft.com/office/powerpoint/2010/main" val="38163246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1518D33B-5218-5A00-BFB6-935CA34E2C61}"/>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9C147ECE-4451-C633-F73E-FAC07BD966F2}"/>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42B6BE9-68DE-85F7-5C9D-8A3EDA876B22}"/>
              </a:ext>
            </a:extLst>
          </p:cNvPr>
          <p:cNvSpPr>
            <a:spLocks noGrp="1"/>
          </p:cNvSpPr>
          <p:nvPr>
            <p:ph type="dt" sz="half" idx="10"/>
          </p:nvPr>
        </p:nvSpPr>
        <p:spPr/>
        <p:txBody>
          <a:bodyPr/>
          <a:lstStyle/>
          <a:p>
            <a:fld id="{A1097F21-451B-465B-9E8E-316FA1593E5C}" type="datetimeFigureOut">
              <a:rPr lang="it-IT" smtClean="0"/>
              <a:t>04/02/25</a:t>
            </a:fld>
            <a:endParaRPr lang="it-IT"/>
          </a:p>
        </p:txBody>
      </p:sp>
      <p:sp>
        <p:nvSpPr>
          <p:cNvPr id="5" name="Segnaposto piè di pagina 4">
            <a:extLst>
              <a:ext uri="{FF2B5EF4-FFF2-40B4-BE49-F238E27FC236}">
                <a16:creationId xmlns:a16="http://schemas.microsoft.com/office/drawing/2014/main" id="{24513B30-7871-9D01-74CF-79C2DE1E27B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4225237D-D7E6-D5B7-3A30-F1D628AD92E6}"/>
              </a:ext>
            </a:extLst>
          </p:cNvPr>
          <p:cNvSpPr>
            <a:spLocks noGrp="1"/>
          </p:cNvSpPr>
          <p:nvPr>
            <p:ph type="sldNum" sz="quarter" idx="12"/>
          </p:nvPr>
        </p:nvSpPr>
        <p:spPr/>
        <p:txBody>
          <a:bodyPr/>
          <a:lstStyle/>
          <a:p>
            <a:fld id="{C609CCA4-FE10-4B09-AE13-6F11A28D4063}" type="slidenum">
              <a:rPr lang="it-IT" smtClean="0"/>
              <a:t>‹N›</a:t>
            </a:fld>
            <a:endParaRPr lang="it-IT"/>
          </a:p>
        </p:txBody>
      </p:sp>
    </p:spTree>
    <p:extLst>
      <p:ext uri="{BB962C8B-B14F-4D97-AF65-F5344CB8AC3E}">
        <p14:creationId xmlns:p14="http://schemas.microsoft.com/office/powerpoint/2010/main" val="19533270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4AB59E59-C581-A19D-497C-B5F4800981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D623B38-2A5A-53CE-EACD-551325311D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11E34022-D444-8A1D-FC2F-E7384BB3A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097F21-451B-465B-9E8E-316FA1593E5C}" type="datetimeFigureOut">
              <a:rPr lang="it-IT" smtClean="0"/>
              <a:t>04/02/25</a:t>
            </a:fld>
            <a:endParaRPr lang="it-IT"/>
          </a:p>
        </p:txBody>
      </p:sp>
      <p:sp>
        <p:nvSpPr>
          <p:cNvPr id="5" name="Segnaposto piè di pagina 4">
            <a:extLst>
              <a:ext uri="{FF2B5EF4-FFF2-40B4-BE49-F238E27FC236}">
                <a16:creationId xmlns:a16="http://schemas.microsoft.com/office/drawing/2014/main" id="{4231481E-4764-55EF-0389-B6680C072F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65286D27-411E-D285-90F7-1A7BC84B22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609CCA4-FE10-4B09-AE13-6F11A28D4063}" type="slidenum">
              <a:rPr lang="it-IT" smtClean="0"/>
              <a:t>‹N›</a:t>
            </a:fld>
            <a:endParaRPr lang="it-IT"/>
          </a:p>
        </p:txBody>
      </p:sp>
    </p:spTree>
    <p:extLst>
      <p:ext uri="{BB962C8B-B14F-4D97-AF65-F5344CB8AC3E}">
        <p14:creationId xmlns:p14="http://schemas.microsoft.com/office/powerpoint/2010/main" val="662422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3.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C189DD64-3C9E-722A-7D24-A3CF79FB0670}"/>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r>
              <a:rPr lang="en-US" sz="7200" b="1" kern="1200">
                <a:solidFill>
                  <a:schemeClr val="tx1"/>
                </a:solidFill>
                <a:latin typeface="+mj-lt"/>
                <a:ea typeface="+mj-ea"/>
                <a:cs typeface="+mj-cs"/>
              </a:rPr>
              <a:t>DreamCity</a:t>
            </a:r>
          </a:p>
        </p:txBody>
      </p:sp>
      <p:cxnSp>
        <p:nvCxnSpPr>
          <p:cNvPr id="13" name="Straight Connector 12">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25390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6CB6D2E8-1B11-F455-61EC-CFD9956D587E}"/>
              </a:ext>
            </a:extLst>
          </p:cNvPr>
          <p:cNvSpPr>
            <a:spLocks noGrp="1"/>
          </p:cNvSpPr>
          <p:nvPr>
            <p:ph type="title"/>
          </p:nvPr>
        </p:nvSpPr>
        <p:spPr>
          <a:xfrm>
            <a:off x="640080" y="329184"/>
            <a:ext cx="6894576" cy="1783080"/>
          </a:xfrm>
        </p:spPr>
        <p:txBody>
          <a:bodyPr vert="horz" lIns="91440" tIns="45720" rIns="91440" bIns="45720" rtlCol="0" anchor="b">
            <a:normAutofit/>
          </a:bodyPr>
          <a:lstStyle/>
          <a:p>
            <a:r>
              <a:rPr lang="en-US" sz="5400" b="1"/>
              <a:t>DOCKER </a:t>
            </a:r>
          </a:p>
        </p:txBody>
      </p:sp>
      <p:sp>
        <p:nvSpPr>
          <p:cNvPr id="127"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asellaDiTesto 6">
            <a:extLst>
              <a:ext uri="{FF2B5EF4-FFF2-40B4-BE49-F238E27FC236}">
                <a16:creationId xmlns:a16="http://schemas.microsoft.com/office/drawing/2014/main" id="{6472A03C-6D21-BCE2-AF17-F6E2E8F19D57}"/>
              </a:ext>
            </a:extLst>
          </p:cNvPr>
          <p:cNvSpPr txBox="1"/>
          <p:nvPr/>
        </p:nvSpPr>
        <p:spPr>
          <a:xfrm>
            <a:off x="640080" y="2706624"/>
            <a:ext cx="6894576" cy="3483864"/>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r>
              <a:rPr lang="en-US" sz="2200" b="1" err="1"/>
              <a:t>Obiettivo</a:t>
            </a:r>
            <a:r>
              <a:rPr lang="en-US" sz="2200" b="1"/>
              <a:t>:  Docker per il lato server </a:t>
            </a:r>
            <a:endParaRPr lang="en-US" sz="2200"/>
          </a:p>
          <a:p>
            <a:pPr indent="-228600">
              <a:lnSpc>
                <a:spcPct val="90000"/>
              </a:lnSpc>
              <a:spcAft>
                <a:spcPts val="600"/>
              </a:spcAft>
              <a:buFont typeface="Arial" panose="020B0604020202020204" pitchFamily="34" charset="0"/>
              <a:buChar char="•"/>
            </a:pPr>
            <a:endParaRPr lang="en-US" sz="2200" b="1"/>
          </a:p>
          <a:p>
            <a:pPr>
              <a:lnSpc>
                <a:spcPct val="90000"/>
              </a:lnSpc>
              <a:spcAft>
                <a:spcPts val="600"/>
              </a:spcAft>
            </a:pPr>
            <a:r>
              <a:rPr lang="en-US" sz="2200"/>
              <a:t>Docker è </a:t>
            </a:r>
            <a:r>
              <a:rPr lang="en-US" sz="2200" err="1"/>
              <a:t>una</a:t>
            </a:r>
            <a:r>
              <a:rPr lang="en-US" sz="2200"/>
              <a:t> </a:t>
            </a:r>
            <a:r>
              <a:rPr lang="en-US" sz="2200" err="1"/>
              <a:t>piattaforma</a:t>
            </a:r>
            <a:r>
              <a:rPr lang="en-US" sz="2200"/>
              <a:t> </a:t>
            </a:r>
            <a:r>
              <a:rPr lang="en-US" sz="2200" err="1"/>
              <a:t>che</a:t>
            </a:r>
            <a:r>
              <a:rPr lang="en-US" sz="2200"/>
              <a:t> </a:t>
            </a:r>
            <a:r>
              <a:rPr lang="en-US" sz="2200" err="1"/>
              <a:t>permette</a:t>
            </a:r>
            <a:r>
              <a:rPr lang="en-US" sz="2200"/>
              <a:t> </a:t>
            </a:r>
            <a:r>
              <a:rPr lang="en-US" sz="2200" err="1"/>
              <a:t>agli</a:t>
            </a:r>
            <a:r>
              <a:rPr lang="en-US" sz="2200"/>
              <a:t> </a:t>
            </a:r>
            <a:r>
              <a:rPr lang="en-US" sz="2200" err="1"/>
              <a:t>sviluppatori</a:t>
            </a:r>
            <a:r>
              <a:rPr lang="en-US" sz="2200"/>
              <a:t> di </a:t>
            </a:r>
            <a:r>
              <a:rPr lang="en-US" sz="2200" err="1"/>
              <a:t>creare</a:t>
            </a:r>
            <a:r>
              <a:rPr lang="en-US" sz="2200"/>
              <a:t> e </a:t>
            </a:r>
            <a:r>
              <a:rPr lang="en-US" sz="2200" err="1"/>
              <a:t>gestire</a:t>
            </a:r>
            <a:r>
              <a:rPr lang="en-US" sz="2200"/>
              <a:t> </a:t>
            </a:r>
            <a:r>
              <a:rPr lang="en-US" sz="2200" err="1"/>
              <a:t>applicazioni</a:t>
            </a:r>
            <a:r>
              <a:rPr lang="en-US" sz="2200"/>
              <a:t> in </a:t>
            </a:r>
            <a:r>
              <a:rPr lang="en-US" sz="2200" err="1"/>
              <a:t>ambienti</a:t>
            </a:r>
            <a:r>
              <a:rPr lang="en-US" sz="2200"/>
              <a:t> </a:t>
            </a:r>
            <a:r>
              <a:rPr lang="en-US" sz="2200" err="1"/>
              <a:t>isolati</a:t>
            </a:r>
            <a:r>
              <a:rPr lang="en-US" sz="2200"/>
              <a:t> </a:t>
            </a:r>
            <a:r>
              <a:rPr lang="en-US" sz="2200" err="1"/>
              <a:t>chiamati</a:t>
            </a:r>
            <a:r>
              <a:rPr lang="en-US" sz="2200"/>
              <a:t> </a:t>
            </a:r>
            <a:r>
              <a:rPr lang="en-US" sz="2200" b="1"/>
              <a:t>CONTAINER</a:t>
            </a:r>
            <a:r>
              <a:rPr lang="en-US" sz="2200"/>
              <a:t>. </a:t>
            </a:r>
          </a:p>
          <a:p>
            <a:pPr marL="285750" indent="-228600">
              <a:lnSpc>
                <a:spcPct val="90000"/>
              </a:lnSpc>
              <a:spcAft>
                <a:spcPts val="600"/>
              </a:spcAft>
              <a:buFont typeface="Arial" panose="020B0604020202020204" pitchFamily="34" charset="0"/>
              <a:buChar char="•"/>
            </a:pPr>
            <a:endParaRPr lang="en-US" sz="2200"/>
          </a:p>
          <a:p>
            <a:pPr indent="-228600">
              <a:lnSpc>
                <a:spcPct val="90000"/>
              </a:lnSpc>
              <a:spcAft>
                <a:spcPts val="600"/>
              </a:spcAft>
              <a:buFont typeface="Arial" panose="020B0604020202020204" pitchFamily="34" charset="0"/>
              <a:buChar char="•"/>
            </a:pPr>
            <a:endParaRPr lang="en-US" sz="2200"/>
          </a:p>
          <a:p>
            <a:pPr indent="-228600">
              <a:lnSpc>
                <a:spcPct val="90000"/>
              </a:lnSpc>
              <a:spcAft>
                <a:spcPts val="600"/>
              </a:spcAft>
              <a:buFont typeface="Arial" panose="020B0604020202020204" pitchFamily="34" charset="0"/>
              <a:buChar char="•"/>
            </a:pPr>
            <a:endParaRPr lang="en-US" sz="2200" b="1"/>
          </a:p>
          <a:p>
            <a:pPr indent="-228600">
              <a:lnSpc>
                <a:spcPct val="90000"/>
              </a:lnSpc>
              <a:spcAft>
                <a:spcPts val="600"/>
              </a:spcAft>
              <a:buFont typeface="Arial" panose="020B0604020202020204" pitchFamily="34" charset="0"/>
              <a:buChar char="•"/>
            </a:pPr>
            <a:endParaRPr lang="en-US" sz="2200" b="1"/>
          </a:p>
          <a:p>
            <a:pPr indent="-228600">
              <a:lnSpc>
                <a:spcPct val="90000"/>
              </a:lnSpc>
              <a:spcAft>
                <a:spcPts val="600"/>
              </a:spcAft>
              <a:buFont typeface="Arial" panose="020B0604020202020204" pitchFamily="34" charset="0"/>
              <a:buChar char="•"/>
            </a:pPr>
            <a:endParaRPr lang="en-US" sz="2200"/>
          </a:p>
        </p:txBody>
      </p:sp>
      <p:pic>
        <p:nvPicPr>
          <p:cNvPr id="5" name="Immagine 4" descr="About Docker | Docker">
            <a:extLst>
              <a:ext uri="{FF2B5EF4-FFF2-40B4-BE49-F238E27FC236}">
                <a16:creationId xmlns:a16="http://schemas.microsoft.com/office/drawing/2014/main" id="{2A7E2F02-007F-781F-1A1D-E4DAFE96164D}"/>
              </a:ext>
            </a:extLst>
          </p:cNvPr>
          <p:cNvPicPr>
            <a:picLocks noChangeAspect="1"/>
          </p:cNvPicPr>
          <p:nvPr/>
        </p:nvPicPr>
        <p:blipFill>
          <a:blip r:embed="rId2"/>
          <a:stretch>
            <a:fillRect/>
          </a:stretch>
        </p:blipFill>
        <p:spPr>
          <a:xfrm>
            <a:off x="7863840" y="632532"/>
            <a:ext cx="4014216" cy="2823270"/>
          </a:xfrm>
          <a:prstGeom prst="rect">
            <a:avLst/>
          </a:prstGeom>
        </p:spPr>
      </p:pic>
      <p:pic>
        <p:nvPicPr>
          <p:cNvPr id="6" name="Immagine 5" descr="How I Deployed my Website as a Docker Container - DEV Community">
            <a:extLst>
              <a:ext uri="{FF2B5EF4-FFF2-40B4-BE49-F238E27FC236}">
                <a16:creationId xmlns:a16="http://schemas.microsoft.com/office/drawing/2014/main" id="{460E9008-1743-B561-16DD-C8231C193562}"/>
              </a:ext>
            </a:extLst>
          </p:cNvPr>
          <p:cNvPicPr>
            <a:picLocks noChangeAspect="1"/>
          </p:cNvPicPr>
          <p:nvPr/>
        </p:nvPicPr>
        <p:blipFill>
          <a:blip r:embed="rId3"/>
          <a:stretch>
            <a:fillRect/>
          </a:stretch>
        </p:blipFill>
        <p:spPr>
          <a:xfrm>
            <a:off x="7927340" y="4079193"/>
            <a:ext cx="3868928" cy="2176272"/>
          </a:xfrm>
          <a:prstGeom prst="rect">
            <a:avLst/>
          </a:prstGeom>
        </p:spPr>
      </p:pic>
    </p:spTree>
    <p:extLst>
      <p:ext uri="{BB962C8B-B14F-4D97-AF65-F5344CB8AC3E}">
        <p14:creationId xmlns:p14="http://schemas.microsoft.com/office/powerpoint/2010/main" val="18837758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5C125FA3-DCF5-D3F5-1310-8C602C72FDFF}"/>
              </a:ext>
            </a:extLst>
          </p:cNvPr>
          <p:cNvSpPr>
            <a:spLocks noGrp="1"/>
          </p:cNvSpPr>
          <p:nvPr>
            <p:ph type="title"/>
          </p:nvPr>
        </p:nvSpPr>
        <p:spPr>
          <a:xfrm>
            <a:off x="804672" y="802955"/>
            <a:ext cx="4766330" cy="1454051"/>
          </a:xfrm>
        </p:spPr>
        <p:txBody>
          <a:bodyPr>
            <a:normAutofit/>
          </a:bodyPr>
          <a:lstStyle/>
          <a:p>
            <a:r>
              <a:rPr lang="it-IT" sz="3600" b="1"/>
              <a:t>Docker: container</a:t>
            </a:r>
          </a:p>
        </p:txBody>
      </p:sp>
      <p:sp>
        <p:nvSpPr>
          <p:cNvPr id="3" name="Segnaposto contenuto 2">
            <a:extLst>
              <a:ext uri="{FF2B5EF4-FFF2-40B4-BE49-F238E27FC236}">
                <a16:creationId xmlns:a16="http://schemas.microsoft.com/office/drawing/2014/main" id="{5814F6CD-D785-2224-376B-8DDB511F3A27}"/>
              </a:ext>
            </a:extLst>
          </p:cNvPr>
          <p:cNvSpPr>
            <a:spLocks noGrp="1"/>
          </p:cNvSpPr>
          <p:nvPr>
            <p:ph idx="1"/>
          </p:nvPr>
        </p:nvSpPr>
        <p:spPr>
          <a:xfrm>
            <a:off x="804672" y="2421683"/>
            <a:ext cx="4765949" cy="3353476"/>
          </a:xfrm>
        </p:spPr>
        <p:txBody>
          <a:bodyPr vert="horz" lIns="91440" tIns="45720" rIns="91440" bIns="45720" rtlCol="0" anchor="t">
            <a:noAutofit/>
          </a:bodyPr>
          <a:lstStyle/>
          <a:p>
            <a:pPr marL="0" indent="0">
              <a:buNone/>
            </a:pPr>
            <a:r>
              <a:rPr lang="it-IT" sz="2000"/>
              <a:t>Il progetto utilizza un'architettura basata su due container principali:</a:t>
            </a:r>
          </a:p>
          <a:p>
            <a:pPr marL="514350" indent="-514350">
              <a:buAutoNum type="arabicPeriod"/>
            </a:pPr>
            <a:r>
              <a:rPr lang="it-IT" sz="2000"/>
              <a:t>App server (</a:t>
            </a:r>
            <a:r>
              <a:rPr lang="it-IT" sz="2000" err="1"/>
              <a:t>PHP+Apache</a:t>
            </a:r>
            <a:r>
              <a:rPr lang="it-IT" sz="2000"/>
              <a:t>)-&gt; Responsabile della logica di </a:t>
            </a:r>
            <a:r>
              <a:rPr lang="it-IT" sz="2000" err="1"/>
              <a:t>backend</a:t>
            </a:r>
            <a:endParaRPr lang="it-IT" sz="2000"/>
          </a:p>
          <a:p>
            <a:pPr marL="514350" indent="-514350">
              <a:buAutoNum type="arabicPeriod"/>
            </a:pPr>
            <a:r>
              <a:rPr lang="it-IT" sz="2000"/>
              <a:t>Database(MySQL)-&gt; Contiene i dati del gioco e degli utenti</a:t>
            </a:r>
          </a:p>
          <a:p>
            <a:pPr marL="0" indent="0">
              <a:buNone/>
            </a:pPr>
            <a:r>
              <a:rPr lang="it-IT" sz="2000"/>
              <a:t>La configurazione dei due container viene </a:t>
            </a:r>
            <a:r>
              <a:rPr lang="it-IT" sz="2000" err="1"/>
              <a:t>descitta</a:t>
            </a:r>
            <a:r>
              <a:rPr lang="it-IT" sz="2000"/>
              <a:t> in un singolo file : </a:t>
            </a:r>
            <a:r>
              <a:rPr lang="it-IT" sz="2000" i="1"/>
              <a:t>docker-compose.yml</a:t>
            </a:r>
            <a:r>
              <a:rPr lang="it-IT" sz="2000"/>
              <a:t>, che specifica come i servizi devono interagire tra di loro. </a:t>
            </a:r>
          </a:p>
          <a:p>
            <a:pPr marL="0" indent="0">
              <a:buNone/>
            </a:pPr>
            <a:endParaRPr lang="it-IT" sz="1800"/>
          </a:p>
        </p:txBody>
      </p:sp>
      <p:grpSp>
        <p:nvGrpSpPr>
          <p:cNvPr id="22" name="Group 21">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23" name="Freeform: Shape 22">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Immagine 5" descr="3 Methods to Run Docker in Docker Containers | Packagecloud Blog">
            <a:extLst>
              <a:ext uri="{FF2B5EF4-FFF2-40B4-BE49-F238E27FC236}">
                <a16:creationId xmlns:a16="http://schemas.microsoft.com/office/drawing/2014/main" id="{7493E434-628D-7731-AB28-D9689BA744AE}"/>
              </a:ext>
            </a:extLst>
          </p:cNvPr>
          <p:cNvPicPr>
            <a:picLocks noChangeAspect="1"/>
          </p:cNvPicPr>
          <p:nvPr/>
        </p:nvPicPr>
        <p:blipFill>
          <a:blip r:embed="rId2"/>
          <a:srcRect l="24498" r="21388" b="2"/>
          <a:stretch/>
        </p:blipFill>
        <p:spPr>
          <a:xfrm>
            <a:off x="8170210" y="2245948"/>
            <a:ext cx="2999232" cy="3128012"/>
          </a:xfrm>
          <a:prstGeom prst="rect">
            <a:avLst/>
          </a:prstGeom>
        </p:spPr>
      </p:pic>
    </p:spTree>
    <p:extLst>
      <p:ext uri="{BB962C8B-B14F-4D97-AF65-F5344CB8AC3E}">
        <p14:creationId xmlns:p14="http://schemas.microsoft.com/office/powerpoint/2010/main" val="22904564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15B2326-01AB-272E-0592-A3169BEA63FB}"/>
              </a:ext>
            </a:extLst>
          </p:cNvPr>
          <p:cNvSpPr>
            <a:spLocks noGrp="1"/>
          </p:cNvSpPr>
          <p:nvPr>
            <p:ph type="title"/>
          </p:nvPr>
        </p:nvSpPr>
        <p:spPr/>
        <p:txBody>
          <a:bodyPr/>
          <a:lstStyle/>
          <a:p>
            <a:r>
              <a:rPr lang="it-IT"/>
              <a:t>Contenitore per l'applicazione PHP</a:t>
            </a:r>
          </a:p>
        </p:txBody>
      </p:sp>
      <p:graphicFrame>
        <p:nvGraphicFramePr>
          <p:cNvPr id="7" name="Segnaposto contenuto 2">
            <a:extLst>
              <a:ext uri="{FF2B5EF4-FFF2-40B4-BE49-F238E27FC236}">
                <a16:creationId xmlns:a16="http://schemas.microsoft.com/office/drawing/2014/main" id="{2D1050F3-7751-A4A1-1591-3B8D69EB081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magine 4" descr="3 Methods to Run Docker in Docker Containers | Packagecloud Blog">
            <a:extLst>
              <a:ext uri="{FF2B5EF4-FFF2-40B4-BE49-F238E27FC236}">
                <a16:creationId xmlns:a16="http://schemas.microsoft.com/office/drawing/2014/main" id="{206AD565-4F91-228F-1568-35F75399A4B7}"/>
              </a:ext>
            </a:extLst>
          </p:cNvPr>
          <p:cNvPicPr>
            <a:picLocks noChangeAspect="1"/>
          </p:cNvPicPr>
          <p:nvPr/>
        </p:nvPicPr>
        <p:blipFill>
          <a:blip r:embed="rId7"/>
          <a:stretch>
            <a:fillRect/>
          </a:stretch>
        </p:blipFill>
        <p:spPr>
          <a:xfrm>
            <a:off x="8997388" y="149627"/>
            <a:ext cx="2743198" cy="1543049"/>
          </a:xfrm>
          <a:prstGeom prst="rect">
            <a:avLst/>
          </a:prstGeom>
        </p:spPr>
      </p:pic>
    </p:spTree>
    <p:extLst>
      <p:ext uri="{BB962C8B-B14F-4D97-AF65-F5344CB8AC3E}">
        <p14:creationId xmlns:p14="http://schemas.microsoft.com/office/powerpoint/2010/main" val="40467178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078A4-7895-9CD4-A924-AAC8CBD54D7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34C2D8A-2109-65DE-AB27-73B64CC83581}"/>
              </a:ext>
            </a:extLst>
          </p:cNvPr>
          <p:cNvSpPr>
            <a:spLocks noGrp="1"/>
          </p:cNvSpPr>
          <p:nvPr>
            <p:ph type="title"/>
          </p:nvPr>
        </p:nvSpPr>
        <p:spPr/>
        <p:txBody>
          <a:bodyPr/>
          <a:lstStyle/>
          <a:p>
            <a:r>
              <a:rPr lang="it-IT"/>
              <a:t>Contenitore per il Database</a:t>
            </a:r>
          </a:p>
        </p:txBody>
      </p:sp>
      <p:graphicFrame>
        <p:nvGraphicFramePr>
          <p:cNvPr id="7" name="Segnaposto contenuto 2">
            <a:extLst>
              <a:ext uri="{FF2B5EF4-FFF2-40B4-BE49-F238E27FC236}">
                <a16:creationId xmlns:a16="http://schemas.microsoft.com/office/drawing/2014/main" id="{95D12E2B-ACC0-C67A-4980-2A7BDBA9FC6C}"/>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magine 4" descr="3 Methods to Run Docker in Docker Containers | Packagecloud Blog">
            <a:extLst>
              <a:ext uri="{FF2B5EF4-FFF2-40B4-BE49-F238E27FC236}">
                <a16:creationId xmlns:a16="http://schemas.microsoft.com/office/drawing/2014/main" id="{95DBB3A2-9179-EF12-076F-F0958FEC363B}"/>
              </a:ext>
            </a:extLst>
          </p:cNvPr>
          <p:cNvPicPr>
            <a:picLocks noChangeAspect="1"/>
          </p:cNvPicPr>
          <p:nvPr/>
        </p:nvPicPr>
        <p:blipFill>
          <a:blip r:embed="rId7"/>
          <a:stretch>
            <a:fillRect/>
          </a:stretch>
        </p:blipFill>
        <p:spPr>
          <a:xfrm>
            <a:off x="8997388" y="149627"/>
            <a:ext cx="2743198" cy="1543049"/>
          </a:xfrm>
          <a:prstGeom prst="rect">
            <a:avLst/>
          </a:prstGeom>
        </p:spPr>
      </p:pic>
    </p:spTree>
    <p:extLst>
      <p:ext uri="{BB962C8B-B14F-4D97-AF65-F5344CB8AC3E}">
        <p14:creationId xmlns:p14="http://schemas.microsoft.com/office/powerpoint/2010/main" val="2212603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C7EC7017-1928-E8FE-FE30-787B4E10F518}"/>
              </a:ext>
            </a:extLst>
          </p:cNvPr>
          <p:cNvSpPr>
            <a:spLocks noGrp="1"/>
          </p:cNvSpPr>
          <p:nvPr>
            <p:ph type="title"/>
          </p:nvPr>
        </p:nvSpPr>
        <p:spPr>
          <a:xfrm>
            <a:off x="793662" y="386930"/>
            <a:ext cx="10066122" cy="1298448"/>
          </a:xfrm>
        </p:spPr>
        <p:txBody>
          <a:bodyPr anchor="b">
            <a:normAutofit/>
          </a:bodyPr>
          <a:lstStyle/>
          <a:p>
            <a:r>
              <a:rPr lang="it-IT" sz="4100" err="1"/>
              <a:t>Dockerfile</a:t>
            </a:r>
            <a:br>
              <a:rPr lang="it-IT" sz="4100"/>
            </a:br>
            <a:r>
              <a:rPr lang="it-IT" sz="3600" i="1"/>
              <a:t>Crea immagine </a:t>
            </a:r>
            <a:r>
              <a:rPr lang="it-IT" sz="3600" i="1" err="1"/>
              <a:t>docker</a:t>
            </a:r>
            <a:endParaRPr lang="it-IT" sz="3600" i="1"/>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9C6970E4-F450-64D9-A66E-D3079EE9ADFB}"/>
              </a:ext>
            </a:extLst>
          </p:cNvPr>
          <p:cNvSpPr>
            <a:spLocks noGrp="1"/>
          </p:cNvSpPr>
          <p:nvPr>
            <p:ph idx="1"/>
          </p:nvPr>
        </p:nvSpPr>
        <p:spPr>
          <a:xfrm>
            <a:off x="793661" y="2772037"/>
            <a:ext cx="4530898" cy="3639450"/>
          </a:xfrm>
        </p:spPr>
        <p:txBody>
          <a:bodyPr vert="horz" lIns="91440" tIns="45720" rIns="91440" bIns="45720" rtlCol="0" anchor="ctr">
            <a:noAutofit/>
          </a:bodyPr>
          <a:lstStyle/>
          <a:p>
            <a:pPr marL="0" indent="0">
              <a:buNone/>
            </a:pPr>
            <a:r>
              <a:rPr lang="it-IT" sz="1900"/>
              <a:t>Definisce l'ambiente in cui il container viene creato e configurato.</a:t>
            </a:r>
          </a:p>
          <a:p>
            <a:pPr marL="457200" indent="-457200"/>
            <a:r>
              <a:rPr lang="it-IT" sz="1900"/>
              <a:t>Imposto l'immagine di base: usiamo un'immagine di PHP con Apache</a:t>
            </a:r>
          </a:p>
          <a:p>
            <a:pPr marL="457200" indent="-457200"/>
            <a:r>
              <a:rPr lang="it-IT" sz="1900"/>
              <a:t>Installo le librerie necessarie per consentire a PHP di connettersi al database MySQL</a:t>
            </a:r>
          </a:p>
          <a:p>
            <a:pPr marL="457200" indent="-457200"/>
            <a:r>
              <a:rPr lang="it-IT" sz="1900"/>
              <a:t>Abilito il modulo di riscrittura degli URL</a:t>
            </a:r>
          </a:p>
          <a:p>
            <a:pPr marL="457200" indent="-457200"/>
            <a:r>
              <a:rPr lang="it-IT" sz="1900"/>
              <a:t>Copio i file nella cartella di destinazione</a:t>
            </a:r>
            <a:endParaRPr lang="it-IT"/>
          </a:p>
          <a:p>
            <a:pPr marL="0" indent="0">
              <a:buNone/>
            </a:pPr>
            <a:endParaRPr lang="it-IT" sz="1700"/>
          </a:p>
          <a:p>
            <a:endParaRPr lang="it-IT" sz="1700"/>
          </a:p>
        </p:txBody>
      </p:sp>
      <p:pic>
        <p:nvPicPr>
          <p:cNvPr id="4" name="Immagine 3" descr="10 Essential Dockerfile Commands. Docker is a powerful containerization… |  by Kerrache Massipssa | Medium">
            <a:extLst>
              <a:ext uri="{FF2B5EF4-FFF2-40B4-BE49-F238E27FC236}">
                <a16:creationId xmlns:a16="http://schemas.microsoft.com/office/drawing/2014/main" id="{2E893D8C-5937-2A30-97DF-E71F4E190B87}"/>
              </a:ext>
            </a:extLst>
          </p:cNvPr>
          <p:cNvPicPr>
            <a:picLocks noChangeAspect="1"/>
          </p:cNvPicPr>
          <p:nvPr/>
        </p:nvPicPr>
        <p:blipFill>
          <a:blip r:embed="rId2"/>
          <a:stretch>
            <a:fillRect/>
          </a:stretch>
        </p:blipFill>
        <p:spPr>
          <a:xfrm>
            <a:off x="5911532" y="3311322"/>
            <a:ext cx="5150277" cy="2060110"/>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83641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727D2776-09E9-83E3-4B8A-53DBBA80CDB6}"/>
              </a:ext>
            </a:extLst>
          </p:cNvPr>
          <p:cNvPicPr>
            <a:picLocks noChangeAspect="1"/>
          </p:cNvPicPr>
          <p:nvPr/>
        </p:nvPicPr>
        <p:blipFill>
          <a:blip r:embed="rId2">
            <a:duotone>
              <a:schemeClr val="bg2">
                <a:shade val="45000"/>
                <a:satMod val="135000"/>
              </a:schemeClr>
              <a:prstClr val="white"/>
            </a:duotone>
          </a:blip>
          <a:srcRect l="9092" t="9955" r="-7" b="20176"/>
          <a:stretch/>
        </p:blipFill>
        <p:spPr>
          <a:xfrm>
            <a:off x="20" y="10"/>
            <a:ext cx="12191980" cy="6857990"/>
          </a:xfrm>
          <a:prstGeom prst="rect">
            <a:avLst/>
          </a:prstGeom>
        </p:spPr>
      </p:pic>
      <p:sp>
        <p:nvSpPr>
          <p:cNvPr id="31" name="Rectangle 3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56E7B13C-457B-5BAD-6D01-83229BF22E5C}"/>
              </a:ext>
            </a:extLst>
          </p:cNvPr>
          <p:cNvSpPr>
            <a:spLocks noGrp="1"/>
          </p:cNvSpPr>
          <p:nvPr>
            <p:ph type="title"/>
          </p:nvPr>
        </p:nvSpPr>
        <p:spPr>
          <a:xfrm>
            <a:off x="838200" y="365125"/>
            <a:ext cx="10515600" cy="1325563"/>
          </a:xfrm>
        </p:spPr>
        <p:txBody>
          <a:bodyPr>
            <a:normAutofit/>
          </a:bodyPr>
          <a:lstStyle/>
          <a:p>
            <a:r>
              <a:rPr lang="it-IT"/>
              <a:t>AVVIO GIOCO</a:t>
            </a:r>
          </a:p>
        </p:txBody>
      </p:sp>
      <p:graphicFrame>
        <p:nvGraphicFramePr>
          <p:cNvPr id="26" name="Segnaposto contenuto 2">
            <a:extLst>
              <a:ext uri="{FF2B5EF4-FFF2-40B4-BE49-F238E27FC236}">
                <a16:creationId xmlns:a16="http://schemas.microsoft.com/office/drawing/2014/main" id="{15A2D2CF-2C44-E190-8BA2-D4AC5A83C9AD}"/>
              </a:ext>
            </a:extLst>
          </p:cNvPr>
          <p:cNvGraphicFramePr>
            <a:graphicFrameLocks noGrp="1"/>
          </p:cNvGraphicFramePr>
          <p:nvPr>
            <p:ph idx="1"/>
            <p:extLst>
              <p:ext uri="{D42A27DB-BD31-4B8C-83A1-F6EECF244321}">
                <p14:modId xmlns:p14="http://schemas.microsoft.com/office/powerpoint/2010/main" val="53851835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693964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12">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BA5A9485-3E8C-3EA4-E904-6EF4DB5FC90F}"/>
              </a:ext>
            </a:extLst>
          </p:cNvPr>
          <p:cNvSpPr>
            <a:spLocks noGrp="1"/>
          </p:cNvSpPr>
          <p:nvPr>
            <p:ph type="title"/>
          </p:nvPr>
        </p:nvSpPr>
        <p:spPr>
          <a:xfrm>
            <a:off x="0" y="0"/>
            <a:ext cx="12188952" cy="816337"/>
          </a:xfrm>
        </p:spPr>
        <p:txBody>
          <a:bodyPr vert="horz" lIns="91440" tIns="45720" rIns="91440" bIns="45720" rtlCol="0" anchor="b">
            <a:normAutofit/>
          </a:bodyPr>
          <a:lstStyle/>
          <a:p>
            <a:pPr algn="ctr"/>
            <a:r>
              <a:rPr lang="en-US" sz="4000" kern="1200">
                <a:solidFill>
                  <a:schemeClr val="tx1"/>
                </a:solidFill>
                <a:latin typeface="+mj-lt"/>
                <a:ea typeface="+mj-ea"/>
                <a:cs typeface="+mj-cs"/>
              </a:rPr>
              <a:t>Database: </a:t>
            </a:r>
            <a:r>
              <a:rPr lang="en-US" sz="4000" kern="1200" err="1">
                <a:solidFill>
                  <a:schemeClr val="tx1"/>
                </a:solidFill>
                <a:latin typeface="+mj-lt"/>
                <a:ea typeface="+mj-ea"/>
                <a:cs typeface="+mj-cs"/>
              </a:rPr>
              <a:t>analisi</a:t>
            </a:r>
            <a:endParaRPr lang="en-US" sz="4000" kern="1200">
              <a:solidFill>
                <a:schemeClr val="tx1"/>
              </a:solidFill>
              <a:latin typeface="+mj-lt"/>
              <a:ea typeface="+mj-ea"/>
              <a:cs typeface="+mj-cs"/>
            </a:endParaRPr>
          </a:p>
        </p:txBody>
      </p:sp>
      <p:pic>
        <p:nvPicPr>
          <p:cNvPr id="43" name="Graphic 7" descr="Portatile sicuro">
            <a:extLst>
              <a:ext uri="{FF2B5EF4-FFF2-40B4-BE49-F238E27FC236}">
                <a16:creationId xmlns:a16="http://schemas.microsoft.com/office/drawing/2014/main" id="{9819875D-7246-8C8F-79B5-2E8D7AAB88B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6948" y="2694018"/>
            <a:ext cx="1198532" cy="1198532"/>
          </a:xfrm>
          <a:prstGeom prst="rect">
            <a:avLst/>
          </a:prstGeom>
        </p:spPr>
      </p:pic>
      <p:sp>
        <p:nvSpPr>
          <p:cNvPr id="3" name="CasellaDiTesto 2">
            <a:extLst>
              <a:ext uri="{FF2B5EF4-FFF2-40B4-BE49-F238E27FC236}">
                <a16:creationId xmlns:a16="http://schemas.microsoft.com/office/drawing/2014/main" id="{8E28AEB1-23E8-6178-1932-E2988BA729B6}"/>
              </a:ext>
            </a:extLst>
          </p:cNvPr>
          <p:cNvSpPr txBox="1"/>
          <p:nvPr/>
        </p:nvSpPr>
        <p:spPr>
          <a:xfrm>
            <a:off x="1935480" y="1155032"/>
            <a:ext cx="9931278" cy="5470357"/>
          </a:xfrm>
          <a:prstGeom prst="rect">
            <a:avLst/>
          </a:prstGeom>
        </p:spPr>
        <p:txBody>
          <a:bodyPr vert="horz" lIns="91440" tIns="45720" rIns="91440" bIns="45720" rtlCol="0">
            <a:normAutofit/>
          </a:bodyPr>
          <a:lstStyle/>
          <a:p>
            <a:pPr algn="just">
              <a:lnSpc>
                <a:spcPct val="90000"/>
              </a:lnSpc>
              <a:spcAft>
                <a:spcPts val="600"/>
              </a:spcAft>
            </a:pPr>
            <a:r>
              <a:rPr lang="en-US" b="1" err="1"/>
              <a:t>Obiettivo</a:t>
            </a:r>
            <a:r>
              <a:rPr lang="en-US"/>
              <a:t>: </a:t>
            </a:r>
            <a:r>
              <a:rPr lang="en-US" err="1"/>
              <a:t>Sviluppare</a:t>
            </a:r>
            <a:r>
              <a:rPr lang="en-US"/>
              <a:t> </a:t>
            </a:r>
            <a:r>
              <a:rPr lang="en-US" err="1"/>
              <a:t>una</a:t>
            </a:r>
            <a:r>
              <a:rPr lang="en-US"/>
              <a:t> base di </a:t>
            </a:r>
            <a:r>
              <a:rPr lang="en-US" err="1"/>
              <a:t>dati</a:t>
            </a:r>
            <a:r>
              <a:rPr lang="en-US"/>
              <a:t> </a:t>
            </a:r>
            <a:r>
              <a:rPr lang="en-US" err="1"/>
              <a:t>che</a:t>
            </a:r>
            <a:r>
              <a:rPr lang="en-US"/>
              <a:t> </a:t>
            </a:r>
            <a:r>
              <a:rPr lang="en-US" err="1"/>
              <a:t>gestisca</a:t>
            </a:r>
            <a:r>
              <a:rPr lang="en-US"/>
              <a:t> le </a:t>
            </a:r>
            <a:r>
              <a:rPr lang="en-US" err="1"/>
              <a:t>interazioni</a:t>
            </a:r>
            <a:r>
              <a:rPr lang="en-US"/>
              <a:t> </a:t>
            </a:r>
            <a:r>
              <a:rPr lang="en-US" err="1"/>
              <a:t>degli</a:t>
            </a:r>
            <a:r>
              <a:rPr lang="en-US"/>
              <a:t> </a:t>
            </a:r>
            <a:r>
              <a:rPr lang="en-US" err="1"/>
              <a:t>utenti</a:t>
            </a:r>
            <a:r>
              <a:rPr lang="en-US"/>
              <a:t>, </a:t>
            </a:r>
            <a:r>
              <a:rPr lang="en-US" err="1"/>
              <a:t>implementando</a:t>
            </a:r>
            <a:r>
              <a:rPr lang="en-US"/>
              <a:t> tutte le </a:t>
            </a:r>
            <a:r>
              <a:rPr lang="en-US" err="1"/>
              <a:t>funzionalità</a:t>
            </a:r>
            <a:r>
              <a:rPr lang="en-US"/>
              <a:t> </a:t>
            </a:r>
            <a:r>
              <a:rPr lang="en-US" err="1"/>
              <a:t>necessarie</a:t>
            </a:r>
            <a:r>
              <a:rPr lang="en-US"/>
              <a:t>.</a:t>
            </a:r>
          </a:p>
          <a:p>
            <a:pPr algn="just">
              <a:lnSpc>
                <a:spcPct val="90000"/>
              </a:lnSpc>
              <a:spcAft>
                <a:spcPts val="600"/>
              </a:spcAft>
            </a:pPr>
            <a:endParaRPr lang="en-US"/>
          </a:p>
          <a:p>
            <a:pPr algn="just">
              <a:lnSpc>
                <a:spcPct val="90000"/>
              </a:lnSpc>
              <a:spcAft>
                <a:spcPts val="600"/>
              </a:spcAft>
            </a:pPr>
            <a:r>
              <a:rPr lang="en-US"/>
              <a:t>Per la </a:t>
            </a:r>
            <a:r>
              <a:rPr lang="en-US" err="1"/>
              <a:t>creazione</a:t>
            </a:r>
            <a:r>
              <a:rPr lang="en-US"/>
              <a:t> </a:t>
            </a:r>
            <a:r>
              <a:rPr lang="en-US" err="1"/>
              <a:t>della</a:t>
            </a:r>
            <a:r>
              <a:rPr lang="en-US"/>
              <a:t> base di </a:t>
            </a:r>
            <a:r>
              <a:rPr lang="en-US" err="1"/>
              <a:t>dati</a:t>
            </a:r>
            <a:r>
              <a:rPr lang="en-US"/>
              <a:t> in </a:t>
            </a:r>
            <a:r>
              <a:rPr lang="en-US" err="1"/>
              <a:t>questione</a:t>
            </a:r>
            <a:r>
              <a:rPr lang="en-US"/>
              <a:t>, </a:t>
            </a:r>
            <a:r>
              <a:rPr lang="en-US" err="1"/>
              <a:t>abbiamo</a:t>
            </a:r>
            <a:r>
              <a:rPr lang="en-US"/>
              <a:t> </a:t>
            </a:r>
            <a:r>
              <a:rPr lang="en-US" err="1"/>
              <a:t>iniziato</a:t>
            </a:r>
            <a:r>
              <a:rPr lang="en-US"/>
              <a:t> </a:t>
            </a:r>
            <a:r>
              <a:rPr lang="en-US" err="1"/>
              <a:t>individuando</a:t>
            </a:r>
            <a:r>
              <a:rPr lang="en-US"/>
              <a:t> e </a:t>
            </a:r>
            <a:r>
              <a:rPr lang="en-US" err="1"/>
              <a:t>schematizzando</a:t>
            </a:r>
            <a:r>
              <a:rPr lang="en-US"/>
              <a:t> le </a:t>
            </a:r>
            <a:r>
              <a:rPr lang="en-US" err="1"/>
              <a:t>varie</a:t>
            </a:r>
            <a:r>
              <a:rPr lang="en-US"/>
              <a:t> </a:t>
            </a:r>
            <a:r>
              <a:rPr lang="en-US" err="1"/>
              <a:t>tabelle</a:t>
            </a:r>
            <a:r>
              <a:rPr lang="en-US"/>
              <a:t> (con </a:t>
            </a:r>
            <a:r>
              <a:rPr lang="en-US" err="1"/>
              <a:t>i</a:t>
            </a:r>
            <a:r>
              <a:rPr lang="en-US"/>
              <a:t> </a:t>
            </a:r>
            <a:r>
              <a:rPr lang="en-US" err="1"/>
              <a:t>relativi</a:t>
            </a:r>
            <a:r>
              <a:rPr lang="en-US"/>
              <a:t> </a:t>
            </a:r>
            <a:r>
              <a:rPr lang="en-US" err="1"/>
              <a:t>attributi</a:t>
            </a:r>
            <a:r>
              <a:rPr lang="en-US"/>
              <a:t>) </a:t>
            </a:r>
            <a:r>
              <a:rPr lang="en-US" err="1"/>
              <a:t>che</a:t>
            </a:r>
            <a:r>
              <a:rPr lang="en-US"/>
              <a:t>, dopo </a:t>
            </a:r>
            <a:r>
              <a:rPr lang="en-US" err="1"/>
              <a:t>un’attenta</a:t>
            </a:r>
            <a:r>
              <a:rPr lang="en-US"/>
              <a:t> </a:t>
            </a:r>
            <a:r>
              <a:rPr lang="en-US" err="1"/>
              <a:t>analisi</a:t>
            </a:r>
            <a:r>
              <a:rPr lang="en-US"/>
              <a:t>, </a:t>
            </a:r>
            <a:r>
              <a:rPr lang="en-US" err="1"/>
              <a:t>abbiamo</a:t>
            </a:r>
            <a:r>
              <a:rPr lang="en-US"/>
              <a:t> ritenuto </a:t>
            </a:r>
            <a:r>
              <a:rPr lang="en-US" err="1"/>
              <a:t>potessero</a:t>
            </a:r>
            <a:r>
              <a:rPr lang="en-US"/>
              <a:t> </a:t>
            </a:r>
            <a:r>
              <a:rPr lang="en-US" err="1"/>
              <a:t>essere</a:t>
            </a:r>
            <a:r>
              <a:rPr lang="en-US"/>
              <a:t> le </a:t>
            </a:r>
            <a:r>
              <a:rPr lang="en-US" err="1"/>
              <a:t>seguenti</a:t>
            </a:r>
            <a:r>
              <a:rPr lang="en-US"/>
              <a:t>:</a:t>
            </a:r>
          </a:p>
          <a:p>
            <a:pPr algn="just">
              <a:lnSpc>
                <a:spcPct val="90000"/>
              </a:lnSpc>
              <a:spcAft>
                <a:spcPts val="600"/>
              </a:spcAft>
            </a:pPr>
            <a:endParaRPr lang="en-US"/>
          </a:p>
          <a:p>
            <a:pPr marL="285750" indent="-228600" algn="just">
              <a:lnSpc>
                <a:spcPct val="90000"/>
              </a:lnSpc>
              <a:spcAft>
                <a:spcPts val="600"/>
              </a:spcAft>
              <a:buFont typeface="Arial" panose="020B0604020202020204" pitchFamily="34" charset="0"/>
              <a:buChar char="•"/>
            </a:pPr>
            <a:r>
              <a:rPr lang="en-US" i="1"/>
              <a:t>Users,  </a:t>
            </a:r>
            <a:r>
              <a:rPr lang="en-US"/>
              <a:t>per la </a:t>
            </a:r>
            <a:r>
              <a:rPr lang="en-US" err="1"/>
              <a:t>gestione</a:t>
            </a:r>
            <a:r>
              <a:rPr lang="en-US"/>
              <a:t> </a:t>
            </a:r>
            <a:r>
              <a:rPr lang="en-US" err="1"/>
              <a:t>degli</a:t>
            </a:r>
            <a:r>
              <a:rPr lang="en-US"/>
              <a:t> </a:t>
            </a:r>
            <a:r>
              <a:rPr lang="en-US" err="1"/>
              <a:t>utenti</a:t>
            </a:r>
            <a:r>
              <a:rPr lang="en-US"/>
              <a:t> </a:t>
            </a:r>
            <a:r>
              <a:rPr lang="en-US" err="1"/>
              <a:t>registrati</a:t>
            </a:r>
            <a:r>
              <a:rPr lang="en-US"/>
              <a:t> </a:t>
            </a:r>
            <a:r>
              <a:rPr lang="en-US" err="1"/>
              <a:t>nel</a:t>
            </a:r>
            <a:r>
              <a:rPr lang="en-US"/>
              <a:t> </a:t>
            </a:r>
            <a:r>
              <a:rPr lang="en-US" err="1"/>
              <a:t>sistema</a:t>
            </a:r>
            <a:r>
              <a:rPr lang="en-US"/>
              <a:t>;</a:t>
            </a:r>
          </a:p>
          <a:p>
            <a:pPr marL="285750" indent="-228600" algn="just">
              <a:lnSpc>
                <a:spcPct val="90000"/>
              </a:lnSpc>
              <a:spcAft>
                <a:spcPts val="600"/>
              </a:spcAft>
              <a:buFont typeface="Arial" panose="020B0604020202020204" pitchFamily="34" charset="0"/>
              <a:buChar char="•"/>
            </a:pPr>
            <a:r>
              <a:rPr lang="en-US" i="1"/>
              <a:t>Roles, </a:t>
            </a:r>
            <a:r>
              <a:rPr lang="en-US" err="1"/>
              <a:t>definente</a:t>
            </a:r>
            <a:r>
              <a:rPr lang="en-US"/>
              <a:t> </a:t>
            </a:r>
            <a:r>
              <a:rPr lang="en-US" err="1"/>
              <a:t>i</a:t>
            </a:r>
            <a:r>
              <a:rPr lang="en-US"/>
              <a:t> </a:t>
            </a:r>
            <a:r>
              <a:rPr lang="en-US" err="1"/>
              <a:t>ruoli</a:t>
            </a:r>
            <a:r>
              <a:rPr lang="en-US"/>
              <a:t> </a:t>
            </a:r>
            <a:r>
              <a:rPr lang="en-US" err="1"/>
              <a:t>disponibili</a:t>
            </a:r>
            <a:r>
              <a:rPr lang="en-US"/>
              <a:t> </a:t>
            </a:r>
            <a:r>
              <a:rPr lang="en-US" err="1"/>
              <a:t>all’interno</a:t>
            </a:r>
            <a:r>
              <a:rPr lang="en-US"/>
              <a:t> del </a:t>
            </a:r>
            <a:r>
              <a:rPr lang="en-US" err="1"/>
              <a:t>gioco</a:t>
            </a:r>
            <a:r>
              <a:rPr lang="en-US"/>
              <a:t>;</a:t>
            </a:r>
          </a:p>
          <a:p>
            <a:pPr marL="285750" indent="-228600" algn="just">
              <a:lnSpc>
                <a:spcPct val="90000"/>
              </a:lnSpc>
              <a:spcAft>
                <a:spcPts val="600"/>
              </a:spcAft>
              <a:buFont typeface="Arial" panose="020B0604020202020204" pitchFamily="34" charset="0"/>
              <a:buChar char="•"/>
            </a:pPr>
            <a:r>
              <a:rPr lang="en-US" i="1"/>
              <a:t>Messages, </a:t>
            </a:r>
            <a:r>
              <a:rPr lang="en-US"/>
              <a:t>per </a:t>
            </a:r>
            <a:r>
              <a:rPr lang="en-US" err="1"/>
              <a:t>registrare</a:t>
            </a:r>
            <a:r>
              <a:rPr lang="en-US"/>
              <a:t> le </a:t>
            </a:r>
            <a:r>
              <a:rPr lang="en-US" err="1"/>
              <a:t>comunicazioni</a:t>
            </a:r>
            <a:r>
              <a:rPr lang="en-US"/>
              <a:t> </a:t>
            </a:r>
            <a:r>
              <a:rPr lang="en-US" err="1"/>
              <a:t>tra</a:t>
            </a:r>
            <a:r>
              <a:rPr lang="en-US"/>
              <a:t> </a:t>
            </a:r>
            <a:r>
              <a:rPr lang="en-US" err="1"/>
              <a:t>gli</a:t>
            </a:r>
            <a:r>
              <a:rPr lang="en-US"/>
              <a:t> </a:t>
            </a:r>
            <a:r>
              <a:rPr lang="en-US" err="1"/>
              <a:t>utenti</a:t>
            </a:r>
            <a:r>
              <a:rPr lang="en-US"/>
              <a:t>;</a:t>
            </a:r>
          </a:p>
          <a:p>
            <a:pPr marL="285750" indent="-228600" algn="just">
              <a:lnSpc>
                <a:spcPct val="90000"/>
              </a:lnSpc>
              <a:spcAft>
                <a:spcPts val="600"/>
              </a:spcAft>
              <a:buFont typeface="Arial" panose="020B0604020202020204" pitchFamily="34" charset="0"/>
              <a:buChar char="•"/>
            </a:pPr>
            <a:r>
              <a:rPr lang="en-US" i="1"/>
              <a:t>Maps, </a:t>
            </a:r>
            <a:r>
              <a:rPr lang="en-US" err="1"/>
              <a:t>contenente</a:t>
            </a:r>
            <a:r>
              <a:rPr lang="en-US"/>
              <a:t> le </a:t>
            </a:r>
            <a:r>
              <a:rPr lang="en-US" err="1"/>
              <a:t>varie</a:t>
            </a:r>
            <a:r>
              <a:rPr lang="en-US"/>
              <a:t> </a:t>
            </a:r>
            <a:r>
              <a:rPr lang="en-US" err="1"/>
              <a:t>mappe</a:t>
            </a:r>
            <a:r>
              <a:rPr lang="en-US"/>
              <a:t> create;</a:t>
            </a:r>
          </a:p>
          <a:p>
            <a:pPr marL="285750" indent="-228600" algn="just">
              <a:lnSpc>
                <a:spcPct val="90000"/>
              </a:lnSpc>
              <a:spcAft>
                <a:spcPts val="600"/>
              </a:spcAft>
              <a:buFont typeface="Arial" panose="020B0604020202020204" pitchFamily="34" charset="0"/>
              <a:buChar char="•"/>
            </a:pPr>
            <a:r>
              <a:rPr lang="en-US" i="1" err="1"/>
              <a:t>MapClicks</a:t>
            </a:r>
            <a:r>
              <a:rPr lang="en-US"/>
              <a:t>, per le </a:t>
            </a:r>
            <a:r>
              <a:rPr lang="en-US" err="1"/>
              <a:t>interazioni</a:t>
            </a:r>
            <a:r>
              <a:rPr lang="en-US"/>
              <a:t> </a:t>
            </a:r>
            <a:r>
              <a:rPr lang="en-US" err="1"/>
              <a:t>degli</a:t>
            </a:r>
            <a:r>
              <a:rPr lang="en-US"/>
              <a:t> </a:t>
            </a:r>
            <a:r>
              <a:rPr lang="en-US" err="1"/>
              <a:t>utenti</a:t>
            </a:r>
            <a:r>
              <a:rPr lang="en-US"/>
              <a:t> con la </a:t>
            </a:r>
            <a:r>
              <a:rPr lang="en-US" err="1"/>
              <a:t>mappa</a:t>
            </a:r>
            <a:r>
              <a:rPr lang="en-US"/>
              <a:t>;</a:t>
            </a:r>
          </a:p>
          <a:p>
            <a:pPr marL="285750" indent="-228600" algn="just">
              <a:lnSpc>
                <a:spcPct val="90000"/>
              </a:lnSpc>
              <a:spcAft>
                <a:spcPts val="600"/>
              </a:spcAft>
              <a:buFont typeface="Arial" panose="020B0604020202020204" pitchFamily="34" charset="0"/>
              <a:buChar char="•"/>
            </a:pPr>
            <a:r>
              <a:rPr lang="en-US" i="1" err="1"/>
              <a:t>MapBuildings</a:t>
            </a:r>
            <a:r>
              <a:rPr lang="en-US" i="1"/>
              <a:t>, </a:t>
            </a:r>
            <a:r>
              <a:rPr lang="en-US"/>
              <a:t>utile per </a:t>
            </a:r>
            <a:r>
              <a:rPr lang="en-US" err="1"/>
              <a:t>tener</a:t>
            </a:r>
            <a:r>
              <a:rPr lang="en-US"/>
              <a:t> </a:t>
            </a:r>
            <a:r>
              <a:rPr lang="en-US" err="1"/>
              <a:t>conto</a:t>
            </a:r>
            <a:r>
              <a:rPr lang="en-US"/>
              <a:t> </a:t>
            </a:r>
            <a:r>
              <a:rPr lang="en-US" err="1"/>
              <a:t>degli</a:t>
            </a:r>
            <a:r>
              <a:rPr lang="en-US"/>
              <a:t> </a:t>
            </a:r>
            <a:r>
              <a:rPr lang="en-US" err="1"/>
              <a:t>edifici</a:t>
            </a:r>
            <a:r>
              <a:rPr lang="en-US"/>
              <a:t> </a:t>
            </a:r>
            <a:r>
              <a:rPr lang="en-US" err="1"/>
              <a:t>presenti</a:t>
            </a:r>
            <a:r>
              <a:rPr lang="en-US"/>
              <a:t> in </a:t>
            </a:r>
            <a:r>
              <a:rPr lang="en-US" err="1"/>
              <a:t>ogni</a:t>
            </a:r>
            <a:r>
              <a:rPr lang="en-US"/>
              <a:t> </a:t>
            </a:r>
            <a:r>
              <a:rPr lang="en-US" err="1"/>
              <a:t>mappa</a:t>
            </a:r>
            <a:r>
              <a:rPr lang="en-US"/>
              <a:t>;</a:t>
            </a:r>
          </a:p>
          <a:p>
            <a:pPr marL="285750" indent="-228600" algn="just">
              <a:lnSpc>
                <a:spcPct val="90000"/>
              </a:lnSpc>
              <a:spcAft>
                <a:spcPts val="600"/>
              </a:spcAft>
              <a:buFont typeface="Arial" panose="020B0604020202020204" pitchFamily="34" charset="0"/>
              <a:buChar char="•"/>
            </a:pPr>
            <a:r>
              <a:rPr lang="en-US" i="1"/>
              <a:t>Departments, </a:t>
            </a:r>
            <a:r>
              <a:rPr lang="en-US"/>
              <a:t>per </a:t>
            </a:r>
            <a:r>
              <a:rPr lang="en-US" err="1"/>
              <a:t>registrare</a:t>
            </a:r>
            <a:r>
              <a:rPr lang="en-US"/>
              <a:t> il </a:t>
            </a:r>
            <a:r>
              <a:rPr lang="en-US" err="1"/>
              <a:t>ruolo</a:t>
            </a:r>
            <a:r>
              <a:rPr lang="en-US"/>
              <a:t> di </a:t>
            </a:r>
            <a:r>
              <a:rPr lang="en-US" err="1"/>
              <a:t>ogni</a:t>
            </a:r>
            <a:r>
              <a:rPr lang="en-US"/>
              <a:t> </a:t>
            </a:r>
            <a:r>
              <a:rPr lang="en-US" err="1"/>
              <a:t>utente</a:t>
            </a:r>
            <a:r>
              <a:rPr lang="en-US"/>
              <a:t> </a:t>
            </a:r>
            <a:r>
              <a:rPr lang="en-US" err="1"/>
              <a:t>all’interno</a:t>
            </a:r>
            <a:r>
              <a:rPr lang="en-US"/>
              <a:t> </a:t>
            </a:r>
            <a:r>
              <a:rPr lang="en-US" err="1"/>
              <a:t>delle</a:t>
            </a:r>
            <a:r>
              <a:rPr lang="en-US"/>
              <a:t> </a:t>
            </a:r>
            <a:r>
              <a:rPr lang="en-US" err="1"/>
              <a:t>varie</a:t>
            </a:r>
            <a:r>
              <a:rPr lang="en-US"/>
              <a:t> </a:t>
            </a:r>
            <a:r>
              <a:rPr lang="en-US" err="1"/>
              <a:t>mappe</a:t>
            </a:r>
            <a:r>
              <a:rPr lang="en-US"/>
              <a:t>;</a:t>
            </a:r>
          </a:p>
          <a:p>
            <a:pPr marL="285750" indent="-228600" algn="just">
              <a:lnSpc>
                <a:spcPct val="90000"/>
              </a:lnSpc>
              <a:spcAft>
                <a:spcPts val="600"/>
              </a:spcAft>
              <a:buFont typeface="Arial" panose="020B0604020202020204" pitchFamily="34" charset="0"/>
              <a:buChar char="•"/>
            </a:pPr>
            <a:r>
              <a:rPr lang="en-US" i="1"/>
              <a:t>Buildings, </a:t>
            </a:r>
            <a:r>
              <a:rPr lang="en-US"/>
              <a:t>per </a:t>
            </a:r>
            <a:r>
              <a:rPr lang="en-US" err="1"/>
              <a:t>fornire</a:t>
            </a:r>
            <a:r>
              <a:rPr lang="en-US"/>
              <a:t> il </a:t>
            </a:r>
            <a:r>
              <a:rPr lang="en-US" err="1"/>
              <a:t>catalogo</a:t>
            </a:r>
            <a:r>
              <a:rPr lang="en-US"/>
              <a:t> </a:t>
            </a:r>
            <a:r>
              <a:rPr lang="en-US" err="1"/>
              <a:t>degli</a:t>
            </a:r>
            <a:r>
              <a:rPr lang="en-US"/>
              <a:t> </a:t>
            </a:r>
            <a:r>
              <a:rPr lang="en-US" err="1"/>
              <a:t>edifici</a:t>
            </a:r>
            <a:r>
              <a:rPr lang="en-US"/>
              <a:t> </a:t>
            </a:r>
            <a:r>
              <a:rPr lang="en-US" err="1"/>
              <a:t>disponibili</a:t>
            </a:r>
            <a:r>
              <a:rPr lang="en-US"/>
              <a:t> per </a:t>
            </a:r>
            <a:r>
              <a:rPr lang="en-US" err="1"/>
              <a:t>ogni</a:t>
            </a:r>
            <a:r>
              <a:rPr lang="en-US"/>
              <a:t> </a:t>
            </a:r>
            <a:r>
              <a:rPr lang="en-US" err="1"/>
              <a:t>ruolo</a:t>
            </a:r>
            <a:r>
              <a:rPr lang="en-US"/>
              <a:t>.</a:t>
            </a:r>
          </a:p>
          <a:p>
            <a:pPr indent="-228600" algn="just">
              <a:lnSpc>
                <a:spcPct val="90000"/>
              </a:lnSpc>
              <a:spcAft>
                <a:spcPts val="600"/>
              </a:spcAft>
              <a:buFont typeface="Arial" panose="020B0604020202020204" pitchFamily="34" charset="0"/>
              <a:buChar char="•"/>
            </a:pPr>
            <a:endParaRPr lang="en-US"/>
          </a:p>
          <a:p>
            <a:pPr algn="just">
              <a:lnSpc>
                <a:spcPct val="90000"/>
              </a:lnSpc>
              <a:spcAft>
                <a:spcPts val="600"/>
              </a:spcAft>
            </a:pPr>
            <a:r>
              <a:rPr lang="en-US" sz="1200"/>
              <a:t>Per il </a:t>
            </a:r>
            <a:r>
              <a:rPr lang="en-US" sz="1200" err="1"/>
              <a:t>raggiungimento</a:t>
            </a:r>
            <a:r>
              <a:rPr lang="en-US" sz="1200"/>
              <a:t> </a:t>
            </a:r>
            <a:r>
              <a:rPr lang="en-US" sz="1200" err="1"/>
              <a:t>dell’obiettivo</a:t>
            </a:r>
            <a:r>
              <a:rPr lang="en-US" sz="1200"/>
              <a:t> ho </a:t>
            </a:r>
            <a:r>
              <a:rPr lang="en-US" sz="1200" err="1"/>
              <a:t>utilizzato</a:t>
            </a:r>
            <a:r>
              <a:rPr lang="en-US" sz="1200"/>
              <a:t> </a:t>
            </a:r>
            <a:r>
              <a:rPr lang="en-US" sz="1200" err="1"/>
              <a:t>i</a:t>
            </a:r>
            <a:r>
              <a:rPr lang="en-US" sz="1200"/>
              <a:t> </a:t>
            </a:r>
            <a:r>
              <a:rPr lang="en-US" sz="1200" err="1"/>
              <a:t>servizi</a:t>
            </a:r>
            <a:r>
              <a:rPr lang="en-US" sz="1200"/>
              <a:t> </a:t>
            </a:r>
            <a:r>
              <a:rPr lang="en-US" sz="1200" err="1"/>
              <a:t>offerti</a:t>
            </a:r>
            <a:r>
              <a:rPr lang="en-US" sz="1200"/>
              <a:t> da </a:t>
            </a:r>
            <a:r>
              <a:rPr lang="en-US" sz="1200" err="1"/>
              <a:t>PHPmyAdmin</a:t>
            </a:r>
            <a:r>
              <a:rPr lang="en-US" sz="1200"/>
              <a:t> (per la </a:t>
            </a:r>
            <a:r>
              <a:rPr lang="en-US" sz="1200" err="1"/>
              <a:t>creazione</a:t>
            </a:r>
            <a:r>
              <a:rPr lang="en-US" sz="1200"/>
              <a:t>/</a:t>
            </a:r>
            <a:r>
              <a:rPr lang="en-US" sz="1200" err="1"/>
              <a:t>modifica</a:t>
            </a:r>
            <a:r>
              <a:rPr lang="en-US" sz="1200"/>
              <a:t> del database) e Model.io per lo </a:t>
            </a:r>
            <a:r>
              <a:rPr lang="en-US" sz="1200" err="1"/>
              <a:t>sviluppo</a:t>
            </a:r>
            <a:r>
              <a:rPr lang="en-US" sz="1200"/>
              <a:t> del </a:t>
            </a:r>
            <a:r>
              <a:rPr lang="en-US" sz="1200" err="1"/>
              <a:t>diagramma</a:t>
            </a:r>
            <a:r>
              <a:rPr lang="en-US" sz="1200"/>
              <a:t> UML </a:t>
            </a:r>
            <a:r>
              <a:rPr lang="en-US" sz="1200" err="1"/>
              <a:t>delle</a:t>
            </a:r>
            <a:r>
              <a:rPr lang="en-US" sz="1200"/>
              <a:t> </a:t>
            </a:r>
            <a:r>
              <a:rPr lang="en-US" sz="1200" err="1"/>
              <a:t>classi</a:t>
            </a:r>
            <a:r>
              <a:rPr lang="en-US" sz="1200"/>
              <a:t> </a:t>
            </a:r>
            <a:r>
              <a:rPr lang="en-US" sz="1200" err="1"/>
              <a:t>relativo</a:t>
            </a:r>
            <a:r>
              <a:rPr lang="en-US" sz="1200"/>
              <a:t>.</a:t>
            </a:r>
          </a:p>
        </p:txBody>
      </p:sp>
      <p:pic>
        <p:nvPicPr>
          <p:cNvPr id="44" name="Graphic 9" descr="Portatile sicuro">
            <a:extLst>
              <a:ext uri="{FF2B5EF4-FFF2-40B4-BE49-F238E27FC236}">
                <a16:creationId xmlns:a16="http://schemas.microsoft.com/office/drawing/2014/main" id="{B60D19A4-242F-4985-B401-A87D2DDD9E2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29272912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10">
            <a:extLst>
              <a:ext uri="{FF2B5EF4-FFF2-40B4-BE49-F238E27FC236}">
                <a16:creationId xmlns:a16="http://schemas.microsoft.com/office/drawing/2014/main" id="{74B0B678-CD10-4371-96E5-2706F4579F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12">
            <a:extLst>
              <a:ext uri="{FF2B5EF4-FFF2-40B4-BE49-F238E27FC236}">
                <a16:creationId xmlns:a16="http://schemas.microsoft.com/office/drawing/2014/main" id="{A9270323-9616-4384-857D-E86B78272E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4" name="Rectangle 13">
              <a:extLst>
                <a:ext uri="{FF2B5EF4-FFF2-40B4-BE49-F238E27FC236}">
                  <a16:creationId xmlns:a16="http://schemas.microsoft.com/office/drawing/2014/main" id="{8A3838D5-9565-4601-BAC3-D1B5BDB803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14">
              <a:extLst>
                <a:ext uri="{FF2B5EF4-FFF2-40B4-BE49-F238E27FC236}">
                  <a16:creationId xmlns:a16="http://schemas.microsoft.com/office/drawing/2014/main" id="{3349A4B8-3246-4579-922E-FE1155C7F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F27C415C-B7D2-4C2B-91E8-97C720182F22}"/>
              </a:ext>
            </a:extLst>
          </p:cNvPr>
          <p:cNvSpPr>
            <a:spLocks noGrp="1"/>
          </p:cNvSpPr>
          <p:nvPr>
            <p:ph type="title"/>
          </p:nvPr>
        </p:nvSpPr>
        <p:spPr>
          <a:xfrm>
            <a:off x="7782738" y="847827"/>
            <a:ext cx="3493550" cy="1169585"/>
          </a:xfrm>
        </p:spPr>
        <p:txBody>
          <a:bodyPr anchor="b">
            <a:normAutofit fontScale="90000"/>
          </a:bodyPr>
          <a:lstStyle/>
          <a:p>
            <a:r>
              <a:rPr lang="it-IT" sz="3700"/>
              <a:t>Database: struttura e funzionamento</a:t>
            </a:r>
          </a:p>
        </p:txBody>
      </p:sp>
      <p:pic>
        <p:nvPicPr>
          <p:cNvPr id="5" name="Immagine 4" descr="Immagine che contiene testo, schermata, Carattere&#10;&#10;Descrizione generata automaticamente">
            <a:extLst>
              <a:ext uri="{FF2B5EF4-FFF2-40B4-BE49-F238E27FC236}">
                <a16:creationId xmlns:a16="http://schemas.microsoft.com/office/drawing/2014/main" id="{395B6829-E602-1075-B8A7-C24F0D63E6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3120" y="931066"/>
            <a:ext cx="6735115" cy="1257475"/>
          </a:xfrm>
          <a:prstGeom prst="rect">
            <a:avLst/>
          </a:prstGeom>
        </p:spPr>
      </p:pic>
      <p:sp>
        <p:nvSpPr>
          <p:cNvPr id="19" name="Rectangle 18">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57331" y="2188548"/>
            <a:ext cx="5041025"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magine 5" descr="Immagine che contiene testo, Carattere, schermata&#10;&#10;Descrizione generata automaticamente">
            <a:extLst>
              <a:ext uri="{FF2B5EF4-FFF2-40B4-BE49-F238E27FC236}">
                <a16:creationId xmlns:a16="http://schemas.microsoft.com/office/drawing/2014/main" id="{E5E28900-A78F-8FD2-87DA-ABAA741576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3120" y="4155279"/>
            <a:ext cx="7125694" cy="1114581"/>
          </a:xfrm>
          <a:prstGeom prst="rect">
            <a:avLst/>
          </a:prstGeom>
        </p:spPr>
      </p:pic>
      <p:sp>
        <p:nvSpPr>
          <p:cNvPr id="3" name="Segnaposto contenuto 2">
            <a:extLst>
              <a:ext uri="{FF2B5EF4-FFF2-40B4-BE49-F238E27FC236}">
                <a16:creationId xmlns:a16="http://schemas.microsoft.com/office/drawing/2014/main" id="{505B473B-93D6-70F0-5E83-807C8817529D}"/>
              </a:ext>
            </a:extLst>
          </p:cNvPr>
          <p:cNvSpPr>
            <a:spLocks noGrp="1"/>
          </p:cNvSpPr>
          <p:nvPr>
            <p:ph idx="1"/>
          </p:nvPr>
        </p:nvSpPr>
        <p:spPr>
          <a:xfrm>
            <a:off x="6322166" y="2368997"/>
            <a:ext cx="5408813" cy="3632493"/>
          </a:xfrm>
        </p:spPr>
        <p:txBody>
          <a:bodyPr anchor="ctr">
            <a:normAutofit/>
          </a:bodyPr>
          <a:lstStyle/>
          <a:p>
            <a:pPr marL="0" indent="0">
              <a:buNone/>
            </a:pPr>
            <a:r>
              <a:rPr lang="it-IT" sz="1800" b="1"/>
              <a:t>Struttura</a:t>
            </a:r>
            <a:r>
              <a:rPr lang="it-IT" sz="1800"/>
              <a:t>: Una volta definito il compito di ogni tabella, ne abbiamo definito la struttura, prestando attenzione a tutti i vincoli relazionali necessari:</a:t>
            </a:r>
          </a:p>
          <a:p>
            <a:pPr marL="0" indent="0">
              <a:buNone/>
            </a:pPr>
            <a:endParaRPr lang="it-IT" sz="1400"/>
          </a:p>
          <a:p>
            <a:pPr marL="0" indent="0">
              <a:buNone/>
            </a:pPr>
            <a:endParaRPr lang="it-IT" sz="1400"/>
          </a:p>
          <a:p>
            <a:pPr marL="0" indent="0">
              <a:buNone/>
            </a:pPr>
            <a:endParaRPr lang="it-IT" sz="1400"/>
          </a:p>
          <a:p>
            <a:pPr marL="0" indent="0">
              <a:buNone/>
            </a:pPr>
            <a:endParaRPr lang="it-IT" sz="1400"/>
          </a:p>
          <a:p>
            <a:pPr marL="0" indent="0">
              <a:buNone/>
            </a:pPr>
            <a:endParaRPr lang="it-IT" sz="1400"/>
          </a:p>
          <a:p>
            <a:pPr marL="0" indent="0">
              <a:buNone/>
            </a:pPr>
            <a:endParaRPr lang="it-IT" sz="1400"/>
          </a:p>
          <a:p>
            <a:pPr marL="0" indent="0">
              <a:buNone/>
            </a:pPr>
            <a:endParaRPr lang="it-IT" sz="1400"/>
          </a:p>
        </p:txBody>
      </p:sp>
      <p:sp>
        <p:nvSpPr>
          <p:cNvPr id="4" name="CasellaDiTesto 3">
            <a:extLst>
              <a:ext uri="{FF2B5EF4-FFF2-40B4-BE49-F238E27FC236}">
                <a16:creationId xmlns:a16="http://schemas.microsoft.com/office/drawing/2014/main" id="{A4A0ED72-2A52-E0D0-873C-1569F738A1B5}"/>
              </a:ext>
            </a:extLst>
          </p:cNvPr>
          <p:cNvSpPr txBox="1"/>
          <p:nvPr/>
        </p:nvSpPr>
        <p:spPr>
          <a:xfrm>
            <a:off x="856329" y="423413"/>
            <a:ext cx="990944" cy="461665"/>
          </a:xfrm>
          <a:prstGeom prst="rect">
            <a:avLst/>
          </a:prstGeom>
          <a:noFill/>
          <a:ln>
            <a:solidFill>
              <a:srgbClr val="0070C0"/>
            </a:solidFill>
          </a:ln>
        </p:spPr>
        <p:txBody>
          <a:bodyPr wrap="square" rtlCol="0">
            <a:spAutoFit/>
          </a:bodyPr>
          <a:lstStyle/>
          <a:p>
            <a:r>
              <a:rPr lang="it-IT" sz="2400" b="1"/>
              <a:t>Users</a:t>
            </a:r>
          </a:p>
        </p:txBody>
      </p:sp>
      <p:sp>
        <p:nvSpPr>
          <p:cNvPr id="7" name="CasellaDiTesto 6">
            <a:extLst>
              <a:ext uri="{FF2B5EF4-FFF2-40B4-BE49-F238E27FC236}">
                <a16:creationId xmlns:a16="http://schemas.microsoft.com/office/drawing/2014/main" id="{ED4109A7-BC1B-C041-903A-DAD7A5137E68}"/>
              </a:ext>
            </a:extLst>
          </p:cNvPr>
          <p:cNvSpPr txBox="1"/>
          <p:nvPr/>
        </p:nvSpPr>
        <p:spPr>
          <a:xfrm>
            <a:off x="853120" y="3663715"/>
            <a:ext cx="994153" cy="461665"/>
          </a:xfrm>
          <a:prstGeom prst="rect">
            <a:avLst/>
          </a:prstGeom>
          <a:noFill/>
          <a:ln>
            <a:solidFill>
              <a:srgbClr val="0070C0"/>
            </a:solidFill>
          </a:ln>
        </p:spPr>
        <p:txBody>
          <a:bodyPr wrap="square" rtlCol="0">
            <a:spAutoFit/>
          </a:bodyPr>
          <a:lstStyle/>
          <a:p>
            <a:r>
              <a:rPr lang="it-IT" sz="2400" b="1" err="1"/>
              <a:t>Roles</a:t>
            </a:r>
            <a:endParaRPr lang="it-IT" sz="2400" b="1"/>
          </a:p>
        </p:txBody>
      </p:sp>
    </p:spTree>
    <p:extLst>
      <p:ext uri="{BB962C8B-B14F-4D97-AF65-F5344CB8AC3E}">
        <p14:creationId xmlns:p14="http://schemas.microsoft.com/office/powerpoint/2010/main" val="15789804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8" name="Rectangle 17">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20">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79617E3C-633C-8E71-9BFD-342159318724}"/>
              </a:ext>
            </a:extLst>
          </p:cNvPr>
          <p:cNvSpPr>
            <a:spLocks noGrp="1"/>
          </p:cNvSpPr>
          <p:nvPr>
            <p:ph idx="1"/>
          </p:nvPr>
        </p:nvSpPr>
        <p:spPr>
          <a:xfrm>
            <a:off x="1055715" y="2508105"/>
            <a:ext cx="5040285" cy="3632493"/>
          </a:xfrm>
        </p:spPr>
        <p:txBody>
          <a:bodyPr anchor="ctr">
            <a:normAutofit/>
          </a:bodyPr>
          <a:lstStyle/>
          <a:p>
            <a:pPr marL="0" indent="0">
              <a:buNone/>
            </a:pPr>
            <a:r>
              <a:rPr lang="it-IT" sz="2000"/>
              <a:t>   </a:t>
            </a:r>
          </a:p>
          <a:p>
            <a:pPr marL="0" indent="0">
              <a:buNone/>
            </a:pPr>
            <a:endParaRPr lang="it-IT" sz="2000"/>
          </a:p>
          <a:p>
            <a:pPr marL="0" indent="0">
              <a:buNone/>
            </a:pPr>
            <a:endParaRPr lang="it-IT" sz="2000"/>
          </a:p>
          <a:p>
            <a:pPr marL="0" indent="0">
              <a:buNone/>
            </a:pPr>
            <a:endParaRPr lang="it-IT" sz="2000"/>
          </a:p>
          <a:p>
            <a:pPr marL="0" indent="0">
              <a:buNone/>
            </a:pPr>
            <a:endParaRPr lang="it-IT" sz="2000"/>
          </a:p>
          <a:p>
            <a:pPr marL="0" indent="0">
              <a:buNone/>
            </a:pPr>
            <a:endParaRPr lang="it-IT" sz="2000"/>
          </a:p>
          <a:p>
            <a:pPr marL="0" indent="0">
              <a:buNone/>
            </a:pPr>
            <a:r>
              <a:rPr lang="it-IT" sz="2000"/>
              <a:t>                          </a:t>
            </a:r>
          </a:p>
        </p:txBody>
      </p:sp>
      <p:pic>
        <p:nvPicPr>
          <p:cNvPr id="10" name="Immagine 9" descr="Immagine che contiene testo, Carattere, numero, software">
            <a:extLst>
              <a:ext uri="{FF2B5EF4-FFF2-40B4-BE49-F238E27FC236}">
                <a16:creationId xmlns:a16="http://schemas.microsoft.com/office/drawing/2014/main" id="{1BCE6321-B87D-4824-00E4-F5005676AB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2668" y="63406"/>
            <a:ext cx="7268589" cy="2048161"/>
          </a:xfrm>
          <a:prstGeom prst="rect">
            <a:avLst/>
          </a:prstGeom>
        </p:spPr>
      </p:pic>
      <p:pic>
        <p:nvPicPr>
          <p:cNvPr id="8" name="Immagine 7" descr="Immagine che contiene testo, Carattere, numero, schermata">
            <a:extLst>
              <a:ext uri="{FF2B5EF4-FFF2-40B4-BE49-F238E27FC236}">
                <a16:creationId xmlns:a16="http://schemas.microsoft.com/office/drawing/2014/main" id="{FF5E1E12-ED82-A73C-D96B-316755AA47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3235" y="2804512"/>
            <a:ext cx="8354591" cy="2191056"/>
          </a:xfrm>
          <a:prstGeom prst="rect">
            <a:avLst/>
          </a:prstGeom>
        </p:spPr>
      </p:pic>
      <p:sp>
        <p:nvSpPr>
          <p:cNvPr id="2" name="CasellaDiTesto 1">
            <a:extLst>
              <a:ext uri="{FF2B5EF4-FFF2-40B4-BE49-F238E27FC236}">
                <a16:creationId xmlns:a16="http://schemas.microsoft.com/office/drawing/2014/main" id="{56198551-53C6-8E95-80D4-BE9EBB660E29}"/>
              </a:ext>
            </a:extLst>
          </p:cNvPr>
          <p:cNvSpPr txBox="1"/>
          <p:nvPr/>
        </p:nvSpPr>
        <p:spPr>
          <a:xfrm>
            <a:off x="1009146" y="2489114"/>
            <a:ext cx="1661455" cy="461665"/>
          </a:xfrm>
          <a:prstGeom prst="rect">
            <a:avLst/>
          </a:prstGeom>
          <a:noFill/>
          <a:ln>
            <a:solidFill>
              <a:srgbClr val="0070C0"/>
            </a:solidFill>
          </a:ln>
        </p:spPr>
        <p:txBody>
          <a:bodyPr wrap="square" rtlCol="0">
            <a:spAutoFit/>
          </a:bodyPr>
          <a:lstStyle/>
          <a:p>
            <a:r>
              <a:rPr lang="it-IT" sz="2400" b="1" err="1"/>
              <a:t>Messages</a:t>
            </a:r>
            <a:endParaRPr lang="it-IT" sz="2400" b="1"/>
          </a:p>
        </p:txBody>
      </p:sp>
      <p:sp>
        <p:nvSpPr>
          <p:cNvPr id="4" name="CasellaDiTesto 3">
            <a:extLst>
              <a:ext uri="{FF2B5EF4-FFF2-40B4-BE49-F238E27FC236}">
                <a16:creationId xmlns:a16="http://schemas.microsoft.com/office/drawing/2014/main" id="{B154E066-79B7-B1A6-B77B-3A0EB69530C0}"/>
              </a:ext>
            </a:extLst>
          </p:cNvPr>
          <p:cNvSpPr txBox="1"/>
          <p:nvPr/>
        </p:nvSpPr>
        <p:spPr>
          <a:xfrm>
            <a:off x="1009146" y="439595"/>
            <a:ext cx="1328210" cy="461665"/>
          </a:xfrm>
          <a:prstGeom prst="rect">
            <a:avLst/>
          </a:prstGeom>
          <a:noFill/>
          <a:ln>
            <a:solidFill>
              <a:srgbClr val="0070C0"/>
            </a:solidFill>
          </a:ln>
        </p:spPr>
        <p:txBody>
          <a:bodyPr wrap="square" rtlCol="0">
            <a:spAutoFit/>
          </a:bodyPr>
          <a:lstStyle/>
          <a:p>
            <a:r>
              <a:rPr lang="it-IT" sz="2400" b="1"/>
              <a:t>Maps</a:t>
            </a:r>
          </a:p>
        </p:txBody>
      </p:sp>
    </p:spTree>
    <p:extLst>
      <p:ext uri="{BB962C8B-B14F-4D97-AF65-F5344CB8AC3E}">
        <p14:creationId xmlns:p14="http://schemas.microsoft.com/office/powerpoint/2010/main" val="41731604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B0B678-CD10-4371-96E5-2706F4579F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A9270323-9616-4384-857D-E86B78272E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5" name="Rectangle 14">
              <a:extLst>
                <a:ext uri="{FF2B5EF4-FFF2-40B4-BE49-F238E27FC236}">
                  <a16:creationId xmlns:a16="http://schemas.microsoft.com/office/drawing/2014/main" id="{8A3838D5-9565-4601-BAC3-D1B5BDB803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349A4B8-3246-4579-922E-FE1155C7F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magine 6" descr="Immagine che contiene testo, Carattere, numero, software&#10;&#10;Descrizione generata automaticamente">
            <a:extLst>
              <a:ext uri="{FF2B5EF4-FFF2-40B4-BE49-F238E27FC236}">
                <a16:creationId xmlns:a16="http://schemas.microsoft.com/office/drawing/2014/main" id="{547EE276-1C6E-4ACF-5861-3C8E597E7A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3120" y="305622"/>
            <a:ext cx="7306695" cy="1790950"/>
          </a:xfrm>
          <a:prstGeom prst="rect">
            <a:avLst/>
          </a:prstGeom>
        </p:spPr>
      </p:pic>
      <p:sp>
        <p:nvSpPr>
          <p:cNvPr id="20" name="Rectangle 19">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57331" y="2188548"/>
            <a:ext cx="5041025"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magine 4" descr="Immagine che contiene testo, schermata, Carattere, linea&#10;&#10;Descrizione generata automaticamente">
            <a:extLst>
              <a:ext uri="{FF2B5EF4-FFF2-40B4-BE49-F238E27FC236}">
                <a16:creationId xmlns:a16="http://schemas.microsoft.com/office/drawing/2014/main" id="{55397F5C-9A57-3CB4-EF35-6A2FAE160C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3120" y="3612562"/>
            <a:ext cx="7053216" cy="971686"/>
          </a:xfrm>
          <a:prstGeom prst="rect">
            <a:avLst/>
          </a:prstGeom>
        </p:spPr>
      </p:pic>
      <p:sp>
        <p:nvSpPr>
          <p:cNvPr id="2" name="CasellaDiTesto 1">
            <a:extLst>
              <a:ext uri="{FF2B5EF4-FFF2-40B4-BE49-F238E27FC236}">
                <a16:creationId xmlns:a16="http://schemas.microsoft.com/office/drawing/2014/main" id="{8EC06A76-42EF-12A2-E3A1-578C8BEF8CBE}"/>
              </a:ext>
            </a:extLst>
          </p:cNvPr>
          <p:cNvSpPr txBox="1"/>
          <p:nvPr/>
        </p:nvSpPr>
        <p:spPr>
          <a:xfrm>
            <a:off x="8687207" y="305622"/>
            <a:ext cx="2197732" cy="461665"/>
          </a:xfrm>
          <a:prstGeom prst="rect">
            <a:avLst/>
          </a:prstGeom>
          <a:noFill/>
          <a:ln>
            <a:solidFill>
              <a:srgbClr val="0070C0"/>
            </a:solidFill>
          </a:ln>
        </p:spPr>
        <p:txBody>
          <a:bodyPr wrap="square" rtlCol="0">
            <a:spAutoFit/>
          </a:bodyPr>
          <a:lstStyle/>
          <a:p>
            <a:r>
              <a:rPr lang="it-IT" sz="2400" b="1" err="1"/>
              <a:t>MapBuildings</a:t>
            </a:r>
            <a:endParaRPr lang="it-IT" sz="2400" b="1"/>
          </a:p>
        </p:txBody>
      </p:sp>
      <p:sp>
        <p:nvSpPr>
          <p:cNvPr id="8" name="CasellaDiTesto 7">
            <a:extLst>
              <a:ext uri="{FF2B5EF4-FFF2-40B4-BE49-F238E27FC236}">
                <a16:creationId xmlns:a16="http://schemas.microsoft.com/office/drawing/2014/main" id="{231633FB-4381-5C19-2415-80B735E5B30E}"/>
              </a:ext>
            </a:extLst>
          </p:cNvPr>
          <p:cNvSpPr txBox="1"/>
          <p:nvPr/>
        </p:nvSpPr>
        <p:spPr>
          <a:xfrm>
            <a:off x="8687207" y="3612562"/>
            <a:ext cx="2060833" cy="461665"/>
          </a:xfrm>
          <a:prstGeom prst="rect">
            <a:avLst/>
          </a:prstGeom>
          <a:noFill/>
          <a:ln>
            <a:solidFill>
              <a:srgbClr val="0070C0"/>
            </a:solidFill>
          </a:ln>
        </p:spPr>
        <p:txBody>
          <a:bodyPr wrap="square" rtlCol="0">
            <a:spAutoFit/>
          </a:bodyPr>
          <a:lstStyle/>
          <a:p>
            <a:r>
              <a:rPr lang="it-IT" sz="2400" b="1" err="1"/>
              <a:t>MapClicks</a:t>
            </a:r>
            <a:endParaRPr lang="it-IT" sz="2400" b="1"/>
          </a:p>
        </p:txBody>
      </p:sp>
    </p:spTree>
    <p:extLst>
      <p:ext uri="{BB962C8B-B14F-4D97-AF65-F5344CB8AC3E}">
        <p14:creationId xmlns:p14="http://schemas.microsoft.com/office/powerpoint/2010/main" val="1056367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9151B4-BDF5-2FA1-971B-08FA36DD9320}"/>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B0B678-CD10-4371-96E5-2706F4579F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9270323-9616-4384-857D-E86B78272E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6" name="Rectangle 15">
              <a:extLst>
                <a:ext uri="{FF2B5EF4-FFF2-40B4-BE49-F238E27FC236}">
                  <a16:creationId xmlns:a16="http://schemas.microsoft.com/office/drawing/2014/main" id="{8A3838D5-9565-4601-BAC3-D1B5BDB803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349A4B8-3246-4579-922E-FE1155C7F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mmagine 7" descr="Immagine che contiene testo, schermata, Carattere, numero&#10;&#10;Descrizione generata automaticamente">
            <a:extLst>
              <a:ext uri="{FF2B5EF4-FFF2-40B4-BE49-F238E27FC236}">
                <a16:creationId xmlns:a16="http://schemas.microsoft.com/office/drawing/2014/main" id="{90D0D21F-9368-B31F-962A-7ED07A6561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6599" y="2976587"/>
            <a:ext cx="6640795" cy="2285407"/>
          </a:xfrm>
          <a:prstGeom prst="rect">
            <a:avLst/>
          </a:prstGeom>
        </p:spPr>
      </p:pic>
      <p:sp>
        <p:nvSpPr>
          <p:cNvPr id="21" name="Rectangle 20">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57331" y="2188548"/>
            <a:ext cx="5041025"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magine 3" descr="Immagine che contiene testo, schermata, Carattere, numero">
            <a:extLst>
              <a:ext uri="{FF2B5EF4-FFF2-40B4-BE49-F238E27FC236}">
                <a16:creationId xmlns:a16="http://schemas.microsoft.com/office/drawing/2014/main" id="{1EBEBB9F-9F70-4EA2-EC25-5E5AAF5BA6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6599" y="414914"/>
            <a:ext cx="6396998" cy="1514686"/>
          </a:xfrm>
          <a:prstGeom prst="rect">
            <a:avLst/>
          </a:prstGeom>
        </p:spPr>
      </p:pic>
      <p:sp>
        <p:nvSpPr>
          <p:cNvPr id="2" name="CasellaDiTesto 1">
            <a:extLst>
              <a:ext uri="{FF2B5EF4-FFF2-40B4-BE49-F238E27FC236}">
                <a16:creationId xmlns:a16="http://schemas.microsoft.com/office/drawing/2014/main" id="{A8649959-B37D-1F6E-1B60-DF042D64D414}"/>
              </a:ext>
            </a:extLst>
          </p:cNvPr>
          <p:cNvSpPr txBox="1"/>
          <p:nvPr/>
        </p:nvSpPr>
        <p:spPr>
          <a:xfrm>
            <a:off x="8326922" y="3521315"/>
            <a:ext cx="2137296" cy="461665"/>
          </a:xfrm>
          <a:prstGeom prst="rect">
            <a:avLst/>
          </a:prstGeom>
          <a:noFill/>
          <a:ln>
            <a:solidFill>
              <a:srgbClr val="0070C0"/>
            </a:solidFill>
          </a:ln>
        </p:spPr>
        <p:txBody>
          <a:bodyPr wrap="square" rtlCol="0">
            <a:spAutoFit/>
          </a:bodyPr>
          <a:lstStyle/>
          <a:p>
            <a:r>
              <a:rPr lang="it-IT" sz="2400" b="1"/>
              <a:t>Buildings</a:t>
            </a:r>
          </a:p>
        </p:txBody>
      </p:sp>
      <p:sp>
        <p:nvSpPr>
          <p:cNvPr id="7" name="CasellaDiTesto 6">
            <a:extLst>
              <a:ext uri="{FF2B5EF4-FFF2-40B4-BE49-F238E27FC236}">
                <a16:creationId xmlns:a16="http://schemas.microsoft.com/office/drawing/2014/main" id="{69BAB65E-1820-3A81-CC3B-F8EA64AA4D19}"/>
              </a:ext>
            </a:extLst>
          </p:cNvPr>
          <p:cNvSpPr txBox="1"/>
          <p:nvPr/>
        </p:nvSpPr>
        <p:spPr>
          <a:xfrm>
            <a:off x="8326922" y="830148"/>
            <a:ext cx="2055028" cy="461665"/>
          </a:xfrm>
          <a:prstGeom prst="rect">
            <a:avLst/>
          </a:prstGeom>
          <a:noFill/>
          <a:ln>
            <a:solidFill>
              <a:srgbClr val="0070C0"/>
            </a:solidFill>
          </a:ln>
        </p:spPr>
        <p:txBody>
          <a:bodyPr wrap="square" rtlCol="0">
            <a:spAutoFit/>
          </a:bodyPr>
          <a:lstStyle/>
          <a:p>
            <a:r>
              <a:rPr lang="it-IT" sz="2400" b="1" err="1"/>
              <a:t>Departments</a:t>
            </a:r>
            <a:endParaRPr lang="it-IT" sz="2400" b="1"/>
          </a:p>
        </p:txBody>
      </p:sp>
    </p:spTree>
    <p:extLst>
      <p:ext uri="{BB962C8B-B14F-4D97-AF65-F5344CB8AC3E}">
        <p14:creationId xmlns:p14="http://schemas.microsoft.com/office/powerpoint/2010/main" val="1237235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C57C703E-A1AA-2246-DC78-4407AFD5C615}"/>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kern="1200">
                <a:solidFill>
                  <a:schemeClr val="tx1"/>
                </a:solidFill>
                <a:latin typeface="+mj-lt"/>
                <a:ea typeface="+mj-ea"/>
                <a:cs typeface="+mj-cs"/>
              </a:rPr>
              <a:t>Database: diagramma delle classi</a:t>
            </a:r>
          </a:p>
        </p:txBody>
      </p:sp>
      <p:sp>
        <p:nvSpPr>
          <p:cNvPr id="12" name="Rectangle 11">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Segnaposto contenuto 4" descr="Immagine che contiene testo, schermata, diagramma, Parallelo&#10;&#10;Descrizione generata automaticamente">
            <a:extLst>
              <a:ext uri="{FF2B5EF4-FFF2-40B4-BE49-F238E27FC236}">
                <a16:creationId xmlns:a16="http://schemas.microsoft.com/office/drawing/2014/main" id="{FCC560DA-7FE2-C021-823F-7C7B88CADD3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6609" y="288758"/>
            <a:ext cx="7862717" cy="5904934"/>
          </a:xfrm>
          <a:prstGeom prst="rect">
            <a:avLst/>
          </a:prstGeom>
        </p:spPr>
      </p:pic>
      <p:sp>
        <p:nvSpPr>
          <p:cNvPr id="16" name="Rectangle 15">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4219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F4D9E8A7-9A57-A5A2-746B-A6541592E633}"/>
              </a:ext>
            </a:extLst>
          </p:cNvPr>
          <p:cNvSpPr>
            <a:spLocks noGrp="1"/>
          </p:cNvSpPr>
          <p:nvPr>
            <p:ph type="title"/>
          </p:nvPr>
        </p:nvSpPr>
        <p:spPr>
          <a:xfrm>
            <a:off x="-2" y="0"/>
            <a:ext cx="12192001" cy="1188950"/>
          </a:xfrm>
        </p:spPr>
        <p:txBody>
          <a:bodyPr anchor="b">
            <a:normAutofit/>
          </a:bodyPr>
          <a:lstStyle/>
          <a:p>
            <a:pPr algn="ctr"/>
            <a:r>
              <a:rPr lang="it-IT" sz="5400"/>
              <a:t>Database: interazioni e rotte</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F44D990E-89FB-8B5B-0FD0-7BE7C9D11CFD}"/>
              </a:ext>
            </a:extLst>
          </p:cNvPr>
          <p:cNvSpPr>
            <a:spLocks noGrp="1"/>
          </p:cNvSpPr>
          <p:nvPr>
            <p:ph idx="1"/>
          </p:nvPr>
        </p:nvSpPr>
        <p:spPr>
          <a:xfrm>
            <a:off x="128338" y="2203080"/>
            <a:ext cx="11255024" cy="2383668"/>
          </a:xfrm>
        </p:spPr>
        <p:txBody>
          <a:bodyPr anchor="ctr">
            <a:normAutofit/>
          </a:bodyPr>
          <a:lstStyle/>
          <a:p>
            <a:pPr marL="0" indent="0" algn="just">
              <a:buNone/>
            </a:pPr>
            <a:r>
              <a:rPr lang="it-IT" sz="1800"/>
              <a:t>Per garantire il corretto comportamento dell’applicazione di fronte alle interazioni dell’utente, abbiamo pensato allo sviluppo di una serie di script PHP (racchiusi nella cartella «</a:t>
            </a:r>
            <a:r>
              <a:rPr lang="it-IT" sz="1800" err="1"/>
              <a:t>Routes</a:t>
            </a:r>
            <a:r>
              <a:rPr lang="it-IT" sz="1800"/>
              <a:t>») per:</a:t>
            </a:r>
          </a:p>
          <a:p>
            <a:pPr algn="just"/>
            <a:r>
              <a:rPr lang="it-IT" sz="1800"/>
              <a:t>Gestire le richieste dell’utente;</a:t>
            </a:r>
          </a:p>
          <a:p>
            <a:pPr algn="just"/>
            <a:r>
              <a:rPr lang="it-IT" sz="1800"/>
              <a:t>Interagire con il database per la lettura/scrittura dei dati;</a:t>
            </a:r>
          </a:p>
          <a:p>
            <a:pPr algn="just"/>
            <a:r>
              <a:rPr lang="it-IT" sz="1800"/>
              <a:t>Restituire le eventuali risposte all’utente.</a:t>
            </a:r>
          </a:p>
        </p:txBody>
      </p:sp>
      <p:pic>
        <p:nvPicPr>
          <p:cNvPr id="5" name="Immagine 4" descr="Immagine che contiene testo, schermata, Carattere, linea&#10;&#10;Descrizione generata automaticamente">
            <a:extLst>
              <a:ext uri="{FF2B5EF4-FFF2-40B4-BE49-F238E27FC236}">
                <a16:creationId xmlns:a16="http://schemas.microsoft.com/office/drawing/2014/main" id="{6D302F30-D549-49DE-86F7-15B73E25AB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8123" y="4077457"/>
            <a:ext cx="4675239" cy="2273467"/>
          </a:xfrm>
          <a:prstGeom prst="rect">
            <a:avLst/>
          </a:prstGeom>
        </p:spPr>
      </p:pic>
    </p:spTree>
    <p:extLst>
      <p:ext uri="{BB962C8B-B14F-4D97-AF65-F5344CB8AC3E}">
        <p14:creationId xmlns:p14="http://schemas.microsoft.com/office/powerpoint/2010/main" val="13473697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3C08A5-EE45-A9A2-B53C-5CE815A6C29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A5E947-98F7-EF6D-71F7-CA999FADF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38134CB6-E51F-E106-D4E1-33AB162C53D6}"/>
              </a:ext>
            </a:extLst>
          </p:cNvPr>
          <p:cNvSpPr>
            <a:spLocks noGrp="1"/>
          </p:cNvSpPr>
          <p:nvPr>
            <p:ph type="title"/>
          </p:nvPr>
        </p:nvSpPr>
        <p:spPr>
          <a:xfrm>
            <a:off x="808638" y="386930"/>
            <a:ext cx="9236700" cy="1188950"/>
          </a:xfrm>
        </p:spPr>
        <p:txBody>
          <a:bodyPr anchor="b">
            <a:normAutofit/>
          </a:bodyPr>
          <a:lstStyle/>
          <a:p>
            <a:r>
              <a:rPr lang="it-IT" sz="5400"/>
              <a:t>Database: interazioni e rotte</a:t>
            </a:r>
          </a:p>
        </p:txBody>
      </p:sp>
      <p:grpSp>
        <p:nvGrpSpPr>
          <p:cNvPr id="10" name="Group 9">
            <a:extLst>
              <a:ext uri="{FF2B5EF4-FFF2-40B4-BE49-F238E27FC236}">
                <a16:creationId xmlns:a16="http://schemas.microsoft.com/office/drawing/2014/main" id="{55C449FB-283B-1B34-78B8-2FE59765F6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DD69A193-516D-D8FF-84A4-BABD196CA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19D3882-BCB4-0EAC-7DCD-B0923612B3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B6D784B2-DBCA-9A9A-CB81-D6A02D44F1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18E60DCF-EF16-1079-FD88-4364DCD4D26F}"/>
              </a:ext>
            </a:extLst>
          </p:cNvPr>
          <p:cNvSpPr>
            <a:spLocks noGrp="1"/>
          </p:cNvSpPr>
          <p:nvPr>
            <p:ph idx="1"/>
          </p:nvPr>
        </p:nvSpPr>
        <p:spPr>
          <a:xfrm>
            <a:off x="128338" y="2389218"/>
            <a:ext cx="11255024" cy="3754908"/>
          </a:xfrm>
        </p:spPr>
        <p:txBody>
          <a:bodyPr anchor="ctr">
            <a:normAutofit/>
          </a:bodyPr>
          <a:lstStyle/>
          <a:p>
            <a:pPr marL="0" indent="0" algn="just">
              <a:buNone/>
            </a:pPr>
            <a:r>
              <a:rPr lang="it-IT" sz="1800"/>
              <a:t>Un tipico file della directory «</a:t>
            </a:r>
            <a:r>
              <a:rPr lang="it-IT" sz="1800" err="1"/>
              <a:t>Routes</a:t>
            </a:r>
            <a:r>
              <a:rPr lang="it-IT" sz="1800"/>
              <a:t>», è suddiviso in quattro parti:</a:t>
            </a:r>
          </a:p>
          <a:p>
            <a:pPr algn="just"/>
            <a:r>
              <a:rPr lang="it-IT" sz="1800"/>
              <a:t>Controllo iniziale dell’utente; </a:t>
            </a:r>
          </a:p>
          <a:p>
            <a:pPr algn="just"/>
            <a:r>
              <a:rPr lang="it-IT" sz="1800"/>
              <a:t>Inclusione del proprio file </a:t>
            </a:r>
            <a:r>
              <a:rPr lang="it-IT" sz="1800" err="1"/>
              <a:t>Presenter</a:t>
            </a:r>
            <a:r>
              <a:rPr lang="it-IT" sz="1800"/>
              <a:t> (esempio in </a:t>
            </a:r>
            <a:r>
              <a:rPr lang="it-IT" sz="1800" err="1"/>
              <a:t>MessageRoutes</a:t>
            </a:r>
            <a:r>
              <a:rPr lang="it-IT" sz="1800"/>
              <a:t> includeremo </a:t>
            </a:r>
            <a:r>
              <a:rPr lang="it-IT" sz="1800" err="1"/>
              <a:t>MessagePresenter</a:t>
            </a:r>
            <a:r>
              <a:rPr lang="it-IT" sz="1800"/>
              <a:t>); </a:t>
            </a:r>
          </a:p>
          <a:p>
            <a:pPr algn="just"/>
            <a:r>
              <a:rPr lang="it-IT" sz="1800"/>
              <a:t>Scomposizione della REQUEST_URI; </a:t>
            </a:r>
          </a:p>
          <a:p>
            <a:pPr algn="just"/>
            <a:r>
              <a:rPr lang="it-IT" sz="1800"/>
              <a:t>Switch di ritrovamento della richiesta effettuata dall’utente.</a:t>
            </a:r>
          </a:p>
        </p:txBody>
      </p:sp>
    </p:spTree>
    <p:extLst>
      <p:ext uri="{BB962C8B-B14F-4D97-AF65-F5344CB8AC3E}">
        <p14:creationId xmlns:p14="http://schemas.microsoft.com/office/powerpoint/2010/main" val="2907174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D44710-2F8B-73C3-0A21-95CB5D31338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063DC40-66E2-E445-D017-3D9AE79A46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4D0A9A1D-78A9-D406-47D6-857065D5EF13}"/>
              </a:ext>
            </a:extLst>
          </p:cNvPr>
          <p:cNvSpPr>
            <a:spLocks noGrp="1"/>
          </p:cNvSpPr>
          <p:nvPr>
            <p:ph type="title"/>
          </p:nvPr>
        </p:nvSpPr>
        <p:spPr>
          <a:xfrm>
            <a:off x="0" y="0"/>
            <a:ext cx="12191999" cy="1188950"/>
          </a:xfrm>
        </p:spPr>
        <p:txBody>
          <a:bodyPr anchor="b">
            <a:normAutofit/>
          </a:bodyPr>
          <a:lstStyle/>
          <a:p>
            <a:pPr algn="ctr"/>
            <a:r>
              <a:rPr lang="it-IT" sz="5400" err="1"/>
              <a:t>Routes</a:t>
            </a:r>
            <a:r>
              <a:rPr lang="it-IT" sz="5400"/>
              <a:t>: controllo dell’utente</a:t>
            </a:r>
          </a:p>
        </p:txBody>
      </p:sp>
      <p:grpSp>
        <p:nvGrpSpPr>
          <p:cNvPr id="10" name="Group 9">
            <a:extLst>
              <a:ext uri="{FF2B5EF4-FFF2-40B4-BE49-F238E27FC236}">
                <a16:creationId xmlns:a16="http://schemas.microsoft.com/office/drawing/2014/main" id="{7376E224-E966-BD64-954D-FAF37AF3BC9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5B8C4139-6F73-30C9-6F04-FD41477A2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0BF70A6-6058-DB2F-CB39-8724678F3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A6204EE4-1254-B13B-60BE-B05BCE29AA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3F35627E-D4C3-F70D-C6E1-4EF705304C71}"/>
              </a:ext>
            </a:extLst>
          </p:cNvPr>
          <p:cNvSpPr>
            <a:spLocks noGrp="1"/>
          </p:cNvSpPr>
          <p:nvPr>
            <p:ph idx="1"/>
          </p:nvPr>
        </p:nvSpPr>
        <p:spPr>
          <a:xfrm>
            <a:off x="128338" y="3196132"/>
            <a:ext cx="11255024" cy="2947994"/>
          </a:xfrm>
        </p:spPr>
        <p:txBody>
          <a:bodyPr anchor="ctr">
            <a:normAutofit/>
          </a:bodyPr>
          <a:lstStyle/>
          <a:p>
            <a:pPr marL="0" indent="0">
              <a:buNone/>
            </a:pPr>
            <a:r>
              <a:rPr lang="it-IT" sz="1800"/>
              <a:t>In questa fase si verifica che l’utente sia correttamente autenticato all’applicazione, affidandoci ad un controllo sul valore della variabile di sessione «$_SESSION[‘id’]»; se il valore trova corrispondenze con una sessione autenticata, l’utente procede con la sua esperienza di gioco, altrimenti viene reindirizzato alla schermata di login.</a:t>
            </a:r>
          </a:p>
          <a:p>
            <a:pPr marL="0" indent="0">
              <a:buNone/>
            </a:pPr>
            <a:r>
              <a:rPr lang="it-IT" sz="1800"/>
              <a:t>Ciò ci permette di creare un meccanismo che garantisca che solo gli utenti autorizzati possano accedere a determinate risorse, garantendone l’integrità.</a:t>
            </a:r>
          </a:p>
        </p:txBody>
      </p:sp>
      <p:sp>
        <p:nvSpPr>
          <p:cNvPr id="4" name="CasellaDiTesto 3">
            <a:extLst>
              <a:ext uri="{FF2B5EF4-FFF2-40B4-BE49-F238E27FC236}">
                <a16:creationId xmlns:a16="http://schemas.microsoft.com/office/drawing/2014/main" id="{D752187D-33F0-B09F-3349-56EDB82F1FD1}"/>
              </a:ext>
            </a:extLst>
          </p:cNvPr>
          <p:cNvSpPr txBox="1"/>
          <p:nvPr/>
        </p:nvSpPr>
        <p:spPr>
          <a:xfrm>
            <a:off x="128338" y="2549801"/>
            <a:ext cx="11250627" cy="646331"/>
          </a:xfrm>
          <a:prstGeom prst="rect">
            <a:avLst/>
          </a:prstGeom>
          <a:noFill/>
        </p:spPr>
        <p:txBody>
          <a:bodyPr wrap="square" rtlCol="0">
            <a:spAutoFit/>
          </a:bodyPr>
          <a:lstStyle/>
          <a:p>
            <a:r>
              <a:rPr lang="it-IT" b="1"/>
              <a:t>Controllo sessione</a:t>
            </a:r>
            <a:r>
              <a:rPr lang="it-IT"/>
              <a:t> → Verifica autenticazione</a:t>
            </a:r>
          </a:p>
          <a:p>
            <a:endParaRPr lang="it-IT"/>
          </a:p>
        </p:txBody>
      </p:sp>
    </p:spTree>
    <p:extLst>
      <p:ext uri="{BB962C8B-B14F-4D97-AF65-F5344CB8AC3E}">
        <p14:creationId xmlns:p14="http://schemas.microsoft.com/office/powerpoint/2010/main" val="1303707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2E5822-DB9F-BBC1-3109-166105EC5AD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727A2A1-A3B2-1CDC-91DD-8E17EB8F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97ACD131-86F1-ACCD-98B5-BCB34B690220}"/>
              </a:ext>
            </a:extLst>
          </p:cNvPr>
          <p:cNvSpPr>
            <a:spLocks noGrp="1"/>
          </p:cNvSpPr>
          <p:nvPr>
            <p:ph type="title"/>
          </p:nvPr>
        </p:nvSpPr>
        <p:spPr>
          <a:xfrm>
            <a:off x="1" y="0"/>
            <a:ext cx="12191998" cy="973394"/>
          </a:xfrm>
        </p:spPr>
        <p:txBody>
          <a:bodyPr anchor="b">
            <a:normAutofit/>
          </a:bodyPr>
          <a:lstStyle/>
          <a:p>
            <a:pPr algn="ctr"/>
            <a:r>
              <a:rPr lang="it-IT" sz="5400"/>
              <a:t>Routes: inclusione del Presenter</a:t>
            </a:r>
          </a:p>
        </p:txBody>
      </p:sp>
      <p:grpSp>
        <p:nvGrpSpPr>
          <p:cNvPr id="10" name="Group 9">
            <a:extLst>
              <a:ext uri="{FF2B5EF4-FFF2-40B4-BE49-F238E27FC236}">
                <a16:creationId xmlns:a16="http://schemas.microsoft.com/office/drawing/2014/main" id="{5C5AB350-C572-97B6-5A1F-FF0BF27A63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E99ECF14-CC91-13E6-7BB8-FA7651ACE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E3CD639-31E9-D5DD-52C9-C813D60471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3B794BA5-1B27-8D98-8463-DBDBA55B5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140BD9BE-27BC-680C-6CC2-72F30CDDF563}"/>
              </a:ext>
            </a:extLst>
          </p:cNvPr>
          <p:cNvSpPr>
            <a:spLocks noGrp="1"/>
          </p:cNvSpPr>
          <p:nvPr>
            <p:ph idx="1"/>
          </p:nvPr>
        </p:nvSpPr>
        <p:spPr>
          <a:xfrm>
            <a:off x="128338" y="3033764"/>
            <a:ext cx="11255024" cy="3110361"/>
          </a:xfrm>
        </p:spPr>
        <p:txBody>
          <a:bodyPr anchor="ctr">
            <a:normAutofit/>
          </a:bodyPr>
          <a:lstStyle/>
          <a:p>
            <a:pPr marL="0" indent="0">
              <a:buNone/>
            </a:pPr>
            <a:r>
              <a:rPr lang="it-IT" sz="1800"/>
              <a:t>Ogni file di </a:t>
            </a:r>
            <a:r>
              <a:rPr lang="it-IT" sz="1800" err="1"/>
              <a:t>route</a:t>
            </a:r>
            <a:r>
              <a:rPr lang="it-IT" sz="1800"/>
              <a:t> ha il proprio Presenter, che elabora i dati e li passa al Model, fungendo da intermediario tra l’utente e il Model stesso; quest’ultimo si occuperà, quindi, di eseguire la query sul database per recuperare/modificare dati e restituire i risultati al Presenter, che li comunicherà a sua volta all’utente.</a:t>
            </a:r>
          </a:p>
        </p:txBody>
      </p:sp>
      <p:sp>
        <p:nvSpPr>
          <p:cNvPr id="4" name="CasellaDiTesto 3">
            <a:extLst>
              <a:ext uri="{FF2B5EF4-FFF2-40B4-BE49-F238E27FC236}">
                <a16:creationId xmlns:a16="http://schemas.microsoft.com/office/drawing/2014/main" id="{560C1A4D-6B35-E204-E0EB-3546F828E631}"/>
              </a:ext>
            </a:extLst>
          </p:cNvPr>
          <p:cNvSpPr txBox="1"/>
          <p:nvPr/>
        </p:nvSpPr>
        <p:spPr>
          <a:xfrm>
            <a:off x="138662" y="2387433"/>
            <a:ext cx="11265375" cy="646331"/>
          </a:xfrm>
          <a:prstGeom prst="rect">
            <a:avLst/>
          </a:prstGeom>
          <a:noFill/>
        </p:spPr>
        <p:txBody>
          <a:bodyPr wrap="square" rtlCol="0">
            <a:spAutoFit/>
          </a:bodyPr>
          <a:lstStyle/>
          <a:p>
            <a:r>
              <a:rPr lang="it-IT" b="1"/>
              <a:t>Caricamento </a:t>
            </a:r>
            <a:r>
              <a:rPr lang="it-IT" b="1" err="1"/>
              <a:t>Presenter</a:t>
            </a:r>
            <a:r>
              <a:rPr lang="it-IT"/>
              <a:t> → Definisce la logica delle funzionalità del sistema.</a:t>
            </a:r>
          </a:p>
          <a:p>
            <a:endParaRPr lang="it-IT"/>
          </a:p>
        </p:txBody>
      </p:sp>
    </p:spTree>
    <p:extLst>
      <p:ext uri="{BB962C8B-B14F-4D97-AF65-F5344CB8AC3E}">
        <p14:creationId xmlns:p14="http://schemas.microsoft.com/office/powerpoint/2010/main" val="36721770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643698-69BD-A7B1-45CA-961B7B2274F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F5DB3ED-9A97-430A-0C76-938F9E352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416F79A9-9CFF-A1D1-9FE2-3BA31746AC6F}"/>
              </a:ext>
            </a:extLst>
          </p:cNvPr>
          <p:cNvSpPr>
            <a:spLocks noGrp="1"/>
          </p:cNvSpPr>
          <p:nvPr>
            <p:ph type="title"/>
          </p:nvPr>
        </p:nvSpPr>
        <p:spPr>
          <a:xfrm>
            <a:off x="1" y="1"/>
            <a:ext cx="12191998" cy="932687"/>
          </a:xfrm>
        </p:spPr>
        <p:txBody>
          <a:bodyPr anchor="b">
            <a:normAutofit fontScale="90000"/>
          </a:bodyPr>
          <a:lstStyle/>
          <a:p>
            <a:pPr algn="ctr"/>
            <a:r>
              <a:rPr lang="it-IT" sz="5400"/>
              <a:t>Routes: scomposizione della REQUEST_URI</a:t>
            </a:r>
          </a:p>
        </p:txBody>
      </p:sp>
      <p:grpSp>
        <p:nvGrpSpPr>
          <p:cNvPr id="10" name="Group 9">
            <a:extLst>
              <a:ext uri="{FF2B5EF4-FFF2-40B4-BE49-F238E27FC236}">
                <a16:creationId xmlns:a16="http://schemas.microsoft.com/office/drawing/2014/main" id="{E95811B7-CB70-2BA3-1B92-9DCF6266DB1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31337060-50E2-874E-5BBE-4EFDEE5CFF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6C8B78F-BE74-1DA5-44A9-EE0EC1B8F2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4613B838-688F-86FD-8E1F-86CCBE7C1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E56C5C64-84E9-6403-D72C-890A71BCEBC7}"/>
              </a:ext>
            </a:extLst>
          </p:cNvPr>
          <p:cNvSpPr>
            <a:spLocks noGrp="1"/>
          </p:cNvSpPr>
          <p:nvPr>
            <p:ph idx="1"/>
          </p:nvPr>
        </p:nvSpPr>
        <p:spPr>
          <a:xfrm>
            <a:off x="128338" y="3203509"/>
            <a:ext cx="11255024" cy="2940617"/>
          </a:xfrm>
        </p:spPr>
        <p:txBody>
          <a:bodyPr anchor="ctr">
            <a:normAutofit/>
          </a:bodyPr>
          <a:lstStyle/>
          <a:p>
            <a:pPr marL="0" indent="0" algn="just">
              <a:buNone/>
            </a:pPr>
            <a:r>
              <a:rPr lang="it-IT" sz="1800"/>
              <a:t>In questa fase ci occupiamo della scomposizione della «REQUEST_URI», utile in quanto rappresentante l’URL della richiesta effettuata dall’utente;  il sistema si occupa quindi di analizzare la stringa citata (compresa di eventuali parametri) per elaborarne un risultato, contenente l’azione che si intende eseguire. Il risultato di questa scomposizione sarà poi fondamentale nell’istradamento delle richieste dell’utente (il quale avviene nella fase successiva)</a:t>
            </a:r>
          </a:p>
        </p:txBody>
      </p:sp>
      <p:sp>
        <p:nvSpPr>
          <p:cNvPr id="5" name="CasellaDiTesto 4">
            <a:extLst>
              <a:ext uri="{FF2B5EF4-FFF2-40B4-BE49-F238E27FC236}">
                <a16:creationId xmlns:a16="http://schemas.microsoft.com/office/drawing/2014/main" id="{5244F73B-6CFD-1D6F-0FE6-7E1E4C74EAAF}"/>
              </a:ext>
            </a:extLst>
          </p:cNvPr>
          <p:cNvSpPr txBox="1"/>
          <p:nvPr/>
        </p:nvSpPr>
        <p:spPr>
          <a:xfrm>
            <a:off x="128338" y="2557178"/>
            <a:ext cx="10913806" cy="646331"/>
          </a:xfrm>
          <a:prstGeom prst="rect">
            <a:avLst/>
          </a:prstGeom>
          <a:noFill/>
        </p:spPr>
        <p:txBody>
          <a:bodyPr wrap="square" rtlCol="0">
            <a:spAutoFit/>
          </a:bodyPr>
          <a:lstStyle/>
          <a:p>
            <a:pPr algn="just"/>
            <a:r>
              <a:rPr lang="it-IT" b="1"/>
              <a:t>Scomposizione URI</a:t>
            </a:r>
            <a:r>
              <a:rPr lang="it-IT"/>
              <a:t> → Determina l'azione e i parametri richiesti.</a:t>
            </a:r>
          </a:p>
          <a:p>
            <a:endParaRPr lang="it-IT"/>
          </a:p>
        </p:txBody>
      </p:sp>
    </p:spTree>
    <p:extLst>
      <p:ext uri="{BB962C8B-B14F-4D97-AF65-F5344CB8AC3E}">
        <p14:creationId xmlns:p14="http://schemas.microsoft.com/office/powerpoint/2010/main" val="12709982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BFBF8A-6100-A5FC-E369-51F26A23CF9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ACF889-1749-A38F-E50C-DECB9E91AE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BFEE66A7-CEC3-83A4-1E6F-A0322F598783}"/>
              </a:ext>
            </a:extLst>
          </p:cNvPr>
          <p:cNvSpPr>
            <a:spLocks noGrp="1"/>
          </p:cNvSpPr>
          <p:nvPr>
            <p:ph type="title"/>
          </p:nvPr>
        </p:nvSpPr>
        <p:spPr>
          <a:xfrm>
            <a:off x="0" y="0"/>
            <a:ext cx="12191998" cy="943897"/>
          </a:xfrm>
        </p:spPr>
        <p:txBody>
          <a:bodyPr anchor="b">
            <a:normAutofit/>
          </a:bodyPr>
          <a:lstStyle/>
          <a:p>
            <a:pPr algn="ctr"/>
            <a:r>
              <a:rPr lang="it-IT" sz="5400" err="1"/>
              <a:t>Routes</a:t>
            </a:r>
            <a:r>
              <a:rPr lang="it-IT" sz="5400"/>
              <a:t>: switch per la richiesta</a:t>
            </a:r>
          </a:p>
        </p:txBody>
      </p:sp>
      <p:grpSp>
        <p:nvGrpSpPr>
          <p:cNvPr id="10" name="Group 9">
            <a:extLst>
              <a:ext uri="{FF2B5EF4-FFF2-40B4-BE49-F238E27FC236}">
                <a16:creationId xmlns:a16="http://schemas.microsoft.com/office/drawing/2014/main" id="{2C872950-A27F-4540-E187-8CF0612E14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9E4742C1-48AA-CF14-8D2F-AF01A85F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04DFC18-8EB3-8ED9-A99C-646F375E95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B3C41754-1F6B-2C2E-CFF3-92EC2AF57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89426856-B91A-43CA-0B2B-C0DC66ACA833}"/>
              </a:ext>
            </a:extLst>
          </p:cNvPr>
          <p:cNvSpPr>
            <a:spLocks noGrp="1"/>
          </p:cNvSpPr>
          <p:nvPr>
            <p:ph idx="1"/>
          </p:nvPr>
        </p:nvSpPr>
        <p:spPr>
          <a:xfrm>
            <a:off x="128338" y="3203510"/>
            <a:ext cx="11255024" cy="2940616"/>
          </a:xfrm>
        </p:spPr>
        <p:txBody>
          <a:bodyPr anchor="ctr">
            <a:normAutofit/>
          </a:bodyPr>
          <a:lstStyle/>
          <a:p>
            <a:pPr marL="0" indent="0">
              <a:buNone/>
            </a:pPr>
            <a:r>
              <a:rPr lang="it-IT" sz="1800"/>
              <a:t>Una volta compiuta l’analisi e la scomposizione della «REQUEST_URI», abbiamo poi utilizzato un blocco switch per determinare la corrispondente azione da eseguire in risposta al risultato. Se il risultato della scomposizione è riscontrabile nelle opzioni previste, l’azione viene passata al </a:t>
            </a:r>
            <a:r>
              <a:rPr lang="it-IT" sz="1800" err="1"/>
              <a:t>Presenter</a:t>
            </a:r>
            <a:r>
              <a:rPr lang="it-IT" sz="1800"/>
              <a:t> che si occuperà poi di elaborarla; nel caso in cui invece l’azione non esista, la richiesta ritorna un messaggio di errore.</a:t>
            </a:r>
          </a:p>
        </p:txBody>
      </p:sp>
      <p:sp>
        <p:nvSpPr>
          <p:cNvPr id="4" name="CasellaDiTesto 3">
            <a:extLst>
              <a:ext uri="{FF2B5EF4-FFF2-40B4-BE49-F238E27FC236}">
                <a16:creationId xmlns:a16="http://schemas.microsoft.com/office/drawing/2014/main" id="{A46E8F07-1640-578B-710A-98433830EC60}"/>
              </a:ext>
            </a:extLst>
          </p:cNvPr>
          <p:cNvSpPr txBox="1"/>
          <p:nvPr/>
        </p:nvSpPr>
        <p:spPr>
          <a:xfrm>
            <a:off x="117987" y="2403987"/>
            <a:ext cx="11265375" cy="646331"/>
          </a:xfrm>
          <a:prstGeom prst="rect">
            <a:avLst/>
          </a:prstGeom>
          <a:noFill/>
        </p:spPr>
        <p:txBody>
          <a:bodyPr wrap="square" rtlCol="0">
            <a:spAutoFit/>
          </a:bodyPr>
          <a:lstStyle/>
          <a:p>
            <a:r>
              <a:rPr lang="it-IT" b="1"/>
              <a:t>Gestione richiesta con switch</a:t>
            </a:r>
            <a:r>
              <a:rPr lang="it-IT"/>
              <a:t> → Instrada l'azione al </a:t>
            </a:r>
            <a:r>
              <a:rPr lang="it-IT" err="1"/>
              <a:t>Presenter</a:t>
            </a:r>
            <a:r>
              <a:rPr lang="it-IT"/>
              <a:t> seguendo uno schema predefinito.</a:t>
            </a:r>
          </a:p>
          <a:p>
            <a:endParaRPr lang="it-IT"/>
          </a:p>
        </p:txBody>
      </p:sp>
    </p:spTree>
    <p:extLst>
      <p:ext uri="{BB962C8B-B14F-4D97-AF65-F5344CB8AC3E}">
        <p14:creationId xmlns:p14="http://schemas.microsoft.com/office/powerpoint/2010/main" val="3198956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5B05DB79-D4B9-C9CA-AEF1-37BF2979B454}"/>
              </a:ext>
            </a:extLst>
          </p:cNvPr>
          <p:cNvSpPr>
            <a:spLocks noGrp="1"/>
          </p:cNvSpPr>
          <p:nvPr>
            <p:ph type="title"/>
          </p:nvPr>
        </p:nvSpPr>
        <p:spPr>
          <a:xfrm>
            <a:off x="838200" y="365125"/>
            <a:ext cx="5558489" cy="1325563"/>
          </a:xfrm>
        </p:spPr>
        <p:txBody>
          <a:bodyPr>
            <a:normAutofit/>
          </a:bodyPr>
          <a:lstStyle/>
          <a:p>
            <a:r>
              <a:rPr lang="it-IT"/>
              <a:t>Funzionalità </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Segnaposto contenuto 2">
            <a:extLst>
              <a:ext uri="{FF2B5EF4-FFF2-40B4-BE49-F238E27FC236}">
                <a16:creationId xmlns:a16="http://schemas.microsoft.com/office/drawing/2014/main" id="{90AF3029-E2EE-C3D0-CDA0-1652AEFE4945}"/>
              </a:ext>
            </a:extLst>
          </p:cNvPr>
          <p:cNvSpPr>
            <a:spLocks noGrp="1"/>
          </p:cNvSpPr>
          <p:nvPr>
            <p:ph idx="1"/>
          </p:nvPr>
        </p:nvSpPr>
        <p:spPr>
          <a:xfrm>
            <a:off x="838200" y="1825625"/>
            <a:ext cx="5558489" cy="4351338"/>
          </a:xfrm>
        </p:spPr>
        <p:txBody>
          <a:bodyPr vert="horz" lIns="91440" tIns="45720" rIns="91440" bIns="45720" rtlCol="0">
            <a:normAutofit/>
          </a:bodyPr>
          <a:lstStyle/>
          <a:p>
            <a:pPr marL="0" indent="0">
              <a:buNone/>
            </a:pPr>
            <a:r>
              <a:rPr lang="it-IT" sz="2000"/>
              <a:t>Il progetto riguarda la gestione e la creazione di mappe</a:t>
            </a:r>
          </a:p>
          <a:p>
            <a:pPr marL="0" indent="0">
              <a:buNone/>
            </a:pPr>
            <a:endParaRPr lang="it-IT" sz="2000"/>
          </a:p>
          <a:p>
            <a:pPr marL="0" indent="0">
              <a:buNone/>
            </a:pPr>
            <a:r>
              <a:rPr lang="it-IT" sz="2000"/>
              <a:t>Gli utenti possono :</a:t>
            </a:r>
          </a:p>
          <a:p>
            <a:r>
              <a:rPr lang="it-IT" sz="2000"/>
              <a:t>Creare, visualizzare e interagire con le mappe </a:t>
            </a:r>
          </a:p>
          <a:p>
            <a:r>
              <a:rPr lang="it-IT" sz="2000"/>
              <a:t>Votare per l'eliminazione di mappe non attive</a:t>
            </a:r>
          </a:p>
          <a:p>
            <a:pPr marL="0" indent="0">
              <a:buNone/>
            </a:pPr>
            <a:r>
              <a:rPr lang="it-IT" sz="2000"/>
              <a:t>Funzionalità principali:</a:t>
            </a:r>
          </a:p>
          <a:p>
            <a:r>
              <a:rPr lang="it-IT" sz="2000"/>
              <a:t>Registrazione e login</a:t>
            </a:r>
          </a:p>
          <a:p>
            <a:r>
              <a:rPr lang="it-IT" sz="2000"/>
              <a:t>Visualizzazione delle mappe</a:t>
            </a:r>
          </a:p>
          <a:p>
            <a:r>
              <a:rPr lang="it-IT" sz="2000"/>
              <a:t>Creazione di mappe personalizzabili</a:t>
            </a:r>
          </a:p>
          <a:p>
            <a:r>
              <a:rPr lang="it-IT" sz="2000"/>
              <a:t>Votazione per l'eliminazione</a:t>
            </a:r>
          </a:p>
          <a:p>
            <a:pPr marL="0" indent="0">
              <a:buNone/>
            </a:pPr>
            <a:endParaRPr lang="it-IT" sz="2000"/>
          </a:p>
          <a:p>
            <a:pPr marL="0" indent="0">
              <a:buNone/>
            </a:pPr>
            <a:endParaRPr lang="it-IT" sz="2000"/>
          </a:p>
          <a:p>
            <a:pPr marL="0" indent="0">
              <a:buNone/>
            </a:pPr>
            <a:endParaRPr lang="it-IT" sz="2000"/>
          </a:p>
          <a:p>
            <a:pPr marL="0" indent="0">
              <a:buNone/>
            </a:pPr>
            <a:endParaRPr lang="it-IT" sz="2000"/>
          </a:p>
          <a:p>
            <a:endParaRPr lang="it-IT" sz="2000"/>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43823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6CAED0A-2A45-4C9C-BCDD-21A8A092C5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5794462D-39CB-DEDA-AB8E-93CF8CEB0EF4}"/>
              </a:ext>
            </a:extLst>
          </p:cNvPr>
          <p:cNvSpPr>
            <a:spLocks noGrp="1"/>
          </p:cNvSpPr>
          <p:nvPr>
            <p:ph type="title"/>
          </p:nvPr>
        </p:nvSpPr>
        <p:spPr>
          <a:xfrm>
            <a:off x="793662" y="386930"/>
            <a:ext cx="10066122" cy="1298448"/>
          </a:xfrm>
        </p:spPr>
        <p:txBody>
          <a:bodyPr anchor="b">
            <a:normAutofit/>
          </a:bodyPr>
          <a:lstStyle/>
          <a:p>
            <a:r>
              <a:rPr lang="it-IT" sz="4800"/>
              <a:t>Registrazione e login</a:t>
            </a:r>
          </a:p>
        </p:txBody>
      </p:sp>
      <p:sp>
        <p:nvSpPr>
          <p:cNvPr id="23" name="Rectangle 2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rgbClr val="ED7D3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1645236B-2A6A-9215-2EEE-403E35A3384C}"/>
              </a:ext>
            </a:extLst>
          </p:cNvPr>
          <p:cNvSpPr>
            <a:spLocks noGrp="1"/>
          </p:cNvSpPr>
          <p:nvPr>
            <p:ph idx="1"/>
          </p:nvPr>
        </p:nvSpPr>
        <p:spPr>
          <a:xfrm>
            <a:off x="793660" y="2599509"/>
            <a:ext cx="4160725" cy="3598989"/>
          </a:xfrm>
        </p:spPr>
        <p:txBody>
          <a:bodyPr vert="horz" lIns="91440" tIns="45720" rIns="91440" bIns="45720" rtlCol="0" anchor="ctr">
            <a:normAutofit/>
          </a:bodyPr>
          <a:lstStyle/>
          <a:p>
            <a:r>
              <a:rPr lang="it-IT" sz="2000"/>
              <a:t>Registrazione: Gli utenti creano un account con nome utente, password e avatar</a:t>
            </a:r>
          </a:p>
          <a:p>
            <a:r>
              <a:rPr lang="it-IT" sz="2000"/>
              <a:t>Login: Dopo la registrazione, gli utenti si autenticano per accedere alla piattaforma</a:t>
            </a:r>
          </a:p>
          <a:p>
            <a:r>
              <a:rPr lang="it-IT" sz="2000"/>
              <a:t>Logout: Gli utenti possono disconnettersi in qualsiasi momento</a:t>
            </a:r>
          </a:p>
        </p:txBody>
      </p:sp>
      <p:pic>
        <p:nvPicPr>
          <p:cNvPr id="5" name="Immagine 4" descr="Immagine che contiene testo, schermata, Carattere, numero&#10;&#10;Il contenuto generato dall&amp;#39;intelligenza artificiale potrebbe non essere corretto.">
            <a:extLst>
              <a:ext uri="{FF2B5EF4-FFF2-40B4-BE49-F238E27FC236}">
                <a16:creationId xmlns:a16="http://schemas.microsoft.com/office/drawing/2014/main" id="{1DF0E0C4-7C79-C052-7F80-0EEF6E980272}"/>
              </a:ext>
            </a:extLst>
          </p:cNvPr>
          <p:cNvPicPr>
            <a:picLocks noChangeAspect="1"/>
          </p:cNvPicPr>
          <p:nvPr/>
        </p:nvPicPr>
        <p:blipFill>
          <a:blip r:embed="rId2"/>
          <a:srcRect l="1989" r="2955" b="4"/>
          <a:stretch/>
        </p:blipFill>
        <p:spPr>
          <a:xfrm>
            <a:off x="8512940" y="2751471"/>
            <a:ext cx="2587866" cy="3439330"/>
          </a:xfrm>
          <a:prstGeom prst="rect">
            <a:avLst/>
          </a:prstGeom>
        </p:spPr>
      </p:pic>
      <p:sp>
        <p:nvSpPr>
          <p:cNvPr id="27" name="Rectangle 2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magine 5" descr="Immagine che contiene testo, schermata, Carattere, numero&#10;&#10;Il contenuto generato dall&amp;#39;intelligenza artificiale potrebbe non essere corretto.">
            <a:extLst>
              <a:ext uri="{FF2B5EF4-FFF2-40B4-BE49-F238E27FC236}">
                <a16:creationId xmlns:a16="http://schemas.microsoft.com/office/drawing/2014/main" id="{52B6372E-54F0-7F9E-9CA6-F262E73BBF45}"/>
              </a:ext>
            </a:extLst>
          </p:cNvPr>
          <p:cNvPicPr>
            <a:picLocks noChangeAspect="1"/>
          </p:cNvPicPr>
          <p:nvPr/>
        </p:nvPicPr>
        <p:blipFill>
          <a:blip r:embed="rId3"/>
          <a:stretch>
            <a:fillRect/>
          </a:stretch>
        </p:blipFill>
        <p:spPr>
          <a:xfrm>
            <a:off x="4956170" y="2749356"/>
            <a:ext cx="3380325" cy="3437468"/>
          </a:xfrm>
          <a:prstGeom prst="rect">
            <a:avLst/>
          </a:prstGeom>
        </p:spPr>
      </p:pic>
    </p:spTree>
    <p:extLst>
      <p:ext uri="{BB962C8B-B14F-4D97-AF65-F5344CB8AC3E}">
        <p14:creationId xmlns:p14="http://schemas.microsoft.com/office/powerpoint/2010/main" val="19654868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603C65CA-A8F6-A41A-C7CC-303A0EBC036C}"/>
              </a:ext>
            </a:extLst>
          </p:cNvPr>
          <p:cNvSpPr>
            <a:spLocks noGrp="1"/>
          </p:cNvSpPr>
          <p:nvPr>
            <p:ph type="title"/>
          </p:nvPr>
        </p:nvSpPr>
        <p:spPr>
          <a:xfrm>
            <a:off x="841248" y="256032"/>
            <a:ext cx="10506456" cy="1014984"/>
          </a:xfrm>
        </p:spPr>
        <p:txBody>
          <a:bodyPr anchor="b">
            <a:normAutofit/>
          </a:bodyPr>
          <a:lstStyle/>
          <a:p>
            <a:r>
              <a:rPr lang="it-IT"/>
              <a:t>Flusso di registrazione e login </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Segnaposto contenuto 2">
            <a:extLst>
              <a:ext uri="{FF2B5EF4-FFF2-40B4-BE49-F238E27FC236}">
                <a16:creationId xmlns:a16="http://schemas.microsoft.com/office/drawing/2014/main" id="{A8AEBEE3-7B70-2F3C-51B7-9024746763DB}"/>
              </a:ext>
            </a:extLst>
          </p:cNvPr>
          <p:cNvGraphicFramePr>
            <a:graphicFrameLocks noGrp="1"/>
          </p:cNvGraphicFramePr>
          <p:nvPr>
            <p:ph idx="1"/>
            <p:extLst>
              <p:ext uri="{D42A27DB-BD31-4B8C-83A1-F6EECF244321}">
                <p14:modId xmlns:p14="http://schemas.microsoft.com/office/powerpoint/2010/main" val="2473502791"/>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210474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47720F80-ABFC-8AA7-CA32-6F3866259B9D}"/>
              </a:ext>
            </a:extLst>
          </p:cNvPr>
          <p:cNvSpPr>
            <a:spLocks noGrp="1"/>
          </p:cNvSpPr>
          <p:nvPr>
            <p:ph type="title"/>
          </p:nvPr>
        </p:nvSpPr>
        <p:spPr>
          <a:xfrm>
            <a:off x="572493" y="238539"/>
            <a:ext cx="11018520" cy="1434415"/>
          </a:xfrm>
        </p:spPr>
        <p:txBody>
          <a:bodyPr anchor="b">
            <a:normAutofit/>
          </a:bodyPr>
          <a:lstStyle/>
          <a:p>
            <a:r>
              <a:rPr lang="it-IT" sz="5400"/>
              <a:t>Elenco delle Mappe</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D2789549-C0D7-3F57-874C-C10A022D30E2}"/>
              </a:ext>
            </a:extLst>
          </p:cNvPr>
          <p:cNvSpPr>
            <a:spLocks noGrp="1"/>
          </p:cNvSpPr>
          <p:nvPr>
            <p:ph idx="1"/>
          </p:nvPr>
        </p:nvSpPr>
        <p:spPr>
          <a:xfrm>
            <a:off x="572493" y="2071316"/>
            <a:ext cx="6713552" cy="4119172"/>
          </a:xfrm>
        </p:spPr>
        <p:txBody>
          <a:bodyPr vert="horz" lIns="91440" tIns="45720" rIns="91440" bIns="45720" rtlCol="0" anchor="t">
            <a:normAutofit/>
          </a:bodyPr>
          <a:lstStyle/>
          <a:p>
            <a:r>
              <a:rPr lang="it-IT" sz="2200"/>
              <a:t>Gli utenti possono visualizzare un elenco di mappe disponibili.</a:t>
            </a:r>
          </a:p>
          <a:p>
            <a:r>
              <a:rPr lang="it-IT" sz="2200"/>
              <a:t>Ogni mappa mostra dettagli come nome, descrizione e immagine.</a:t>
            </a:r>
          </a:p>
          <a:p>
            <a:r>
              <a:rPr lang="it-IT" sz="2200"/>
              <a:t>Le mappe sono esplorabili da tutti gli utenti per interagire con i contenuti</a:t>
            </a:r>
          </a:p>
          <a:p>
            <a:endParaRPr lang="it-IT" sz="2200"/>
          </a:p>
          <a:p>
            <a:r>
              <a:rPr lang="it-IT" sz="2200"/>
              <a:t>Le mappe vengono recuperate dal database. Una volta caricate, vengono visualizzate nell'interfaccia utente sotto forma di elenco.</a:t>
            </a:r>
          </a:p>
        </p:txBody>
      </p:sp>
      <p:pic>
        <p:nvPicPr>
          <p:cNvPr id="4" name="Immagine 3" descr="Immagine che contiene testo, schermata, Software multimediale, software&#10;&#10;Il contenuto generato dall&amp;#39;intelligenza artificiale potrebbe non essere corretto.">
            <a:extLst>
              <a:ext uri="{FF2B5EF4-FFF2-40B4-BE49-F238E27FC236}">
                <a16:creationId xmlns:a16="http://schemas.microsoft.com/office/drawing/2014/main" id="{5878051C-1E8F-5F2B-EF74-E6CA9B035D55}"/>
              </a:ext>
            </a:extLst>
          </p:cNvPr>
          <p:cNvPicPr>
            <a:picLocks noChangeAspect="1"/>
          </p:cNvPicPr>
          <p:nvPr/>
        </p:nvPicPr>
        <p:blipFill>
          <a:blip r:embed="rId2"/>
          <a:srcRect r="2" b="2035"/>
          <a:stretch/>
        </p:blipFill>
        <p:spPr>
          <a:xfrm>
            <a:off x="7675658" y="2093976"/>
            <a:ext cx="3941064" cy="4096512"/>
          </a:xfrm>
          <a:prstGeom prst="rect">
            <a:avLst/>
          </a:prstGeom>
        </p:spPr>
      </p:pic>
    </p:spTree>
    <p:extLst>
      <p:ext uri="{BB962C8B-B14F-4D97-AF65-F5344CB8AC3E}">
        <p14:creationId xmlns:p14="http://schemas.microsoft.com/office/powerpoint/2010/main" val="3081922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90F28B30-04BC-AE86-C685-8532287C9E76}"/>
              </a:ext>
            </a:extLst>
          </p:cNvPr>
          <p:cNvSpPr>
            <a:spLocks noGrp="1"/>
          </p:cNvSpPr>
          <p:nvPr>
            <p:ph type="title"/>
          </p:nvPr>
        </p:nvSpPr>
        <p:spPr>
          <a:xfrm>
            <a:off x="630936" y="640080"/>
            <a:ext cx="4818888" cy="1481328"/>
          </a:xfrm>
        </p:spPr>
        <p:txBody>
          <a:bodyPr anchor="b">
            <a:normAutofit/>
          </a:bodyPr>
          <a:lstStyle/>
          <a:p>
            <a:r>
              <a:rPr lang="it-IT" sz="3400"/>
              <a:t>Creazione di una mappa  </a:t>
            </a:r>
            <a:br>
              <a:rPr lang="it-IT" sz="3400"/>
            </a:br>
            <a:endParaRPr lang="it-IT" sz="3400"/>
          </a:p>
        </p:txBody>
      </p:sp>
      <p:sp>
        <p:nvSpPr>
          <p:cNvPr id="2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D05FA23D-5146-11A2-0915-294488056670}"/>
              </a:ext>
            </a:extLst>
          </p:cNvPr>
          <p:cNvSpPr>
            <a:spLocks noGrp="1"/>
          </p:cNvSpPr>
          <p:nvPr>
            <p:ph idx="1"/>
          </p:nvPr>
        </p:nvSpPr>
        <p:spPr>
          <a:xfrm>
            <a:off x="630936" y="2660904"/>
            <a:ext cx="4818888" cy="3547872"/>
          </a:xfrm>
        </p:spPr>
        <p:txBody>
          <a:bodyPr vert="horz" lIns="91440" tIns="45720" rIns="91440" bIns="45720" rtlCol="0" anchor="t">
            <a:normAutofit/>
          </a:bodyPr>
          <a:lstStyle/>
          <a:p>
            <a:r>
              <a:rPr lang="it-IT" sz="2200"/>
              <a:t>Gli utenti possono creare mappe personalizzabili.</a:t>
            </a:r>
          </a:p>
          <a:p>
            <a:pPr marL="0" indent="0">
              <a:buNone/>
            </a:pPr>
            <a:r>
              <a:rPr lang="it-IT" sz="2200"/>
              <a:t>Dettagli richiesti:</a:t>
            </a:r>
          </a:p>
          <a:p>
            <a:r>
              <a:rPr lang="it-IT" sz="2200"/>
              <a:t>Nome della mappa</a:t>
            </a:r>
          </a:p>
          <a:p>
            <a:r>
              <a:rPr lang="it-IT" sz="2200"/>
              <a:t>Descrizione delle città</a:t>
            </a:r>
          </a:p>
          <a:p>
            <a:r>
              <a:rPr lang="it-IT" sz="2200"/>
              <a:t>Immagine di copertina</a:t>
            </a:r>
          </a:p>
          <a:p>
            <a:pPr marL="0" indent="0">
              <a:buNone/>
            </a:pPr>
            <a:r>
              <a:rPr lang="it-IT" sz="2200"/>
              <a:t>La mappa creata diventa subito  visibile nell'elenco mappe.</a:t>
            </a:r>
          </a:p>
        </p:txBody>
      </p:sp>
      <p:pic>
        <p:nvPicPr>
          <p:cNvPr id="5" name="Immagine 4" descr="Immagine che contiene testo, schermata, Carattere, numero&#10;&#10;Il contenuto generato dall&amp;#39;intelligenza artificiale potrebbe non essere corretto.">
            <a:extLst>
              <a:ext uri="{FF2B5EF4-FFF2-40B4-BE49-F238E27FC236}">
                <a16:creationId xmlns:a16="http://schemas.microsoft.com/office/drawing/2014/main" id="{77DD6C52-CA23-FB87-ECA0-910AD7007CC7}"/>
              </a:ext>
            </a:extLst>
          </p:cNvPr>
          <p:cNvPicPr>
            <a:picLocks noChangeAspect="1"/>
          </p:cNvPicPr>
          <p:nvPr/>
        </p:nvPicPr>
        <p:blipFill>
          <a:blip r:embed="rId2"/>
          <a:srcRect l="4601" r="3539"/>
          <a:stretch/>
        </p:blipFill>
        <p:spPr>
          <a:xfrm>
            <a:off x="6798225" y="640080"/>
            <a:ext cx="4060614" cy="5577840"/>
          </a:xfrm>
          <a:prstGeom prst="rect">
            <a:avLst/>
          </a:prstGeom>
        </p:spPr>
      </p:pic>
    </p:spTree>
    <p:extLst>
      <p:ext uri="{BB962C8B-B14F-4D97-AF65-F5344CB8AC3E}">
        <p14:creationId xmlns:p14="http://schemas.microsoft.com/office/powerpoint/2010/main" val="10244912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5F6FF88F-5667-BC9B-8390-FBEDC4C12ADF}"/>
              </a:ext>
            </a:extLst>
          </p:cNvPr>
          <p:cNvSpPr>
            <a:spLocks noGrp="1"/>
          </p:cNvSpPr>
          <p:nvPr>
            <p:ph type="title"/>
          </p:nvPr>
        </p:nvSpPr>
        <p:spPr>
          <a:xfrm>
            <a:off x="838200" y="557188"/>
            <a:ext cx="10515600" cy="1133499"/>
          </a:xfrm>
        </p:spPr>
        <p:txBody>
          <a:bodyPr>
            <a:normAutofit/>
          </a:bodyPr>
          <a:lstStyle/>
          <a:p>
            <a:pPr algn="ctr"/>
            <a:r>
              <a:rPr lang="it-IT" sz="3600"/>
              <a:t>Flusso di Creazione</a:t>
            </a:r>
            <a:br>
              <a:rPr lang="it-IT" sz="3600"/>
            </a:br>
            <a:r>
              <a:rPr lang="it-IT" sz="3600"/>
              <a:t>della mappa </a:t>
            </a:r>
          </a:p>
        </p:txBody>
      </p:sp>
      <p:graphicFrame>
        <p:nvGraphicFramePr>
          <p:cNvPr id="5" name="Segnaposto contenuto 2">
            <a:extLst>
              <a:ext uri="{FF2B5EF4-FFF2-40B4-BE49-F238E27FC236}">
                <a16:creationId xmlns:a16="http://schemas.microsoft.com/office/drawing/2014/main" id="{E4D870C5-F2BF-C232-792A-F40C13003240}"/>
              </a:ext>
            </a:extLst>
          </p:cNvPr>
          <p:cNvGraphicFramePr>
            <a:graphicFrameLocks noGrp="1"/>
          </p:cNvGraphicFramePr>
          <p:nvPr>
            <p:ph idx="1"/>
            <p:extLst>
              <p:ext uri="{D42A27DB-BD31-4B8C-83A1-F6EECF244321}">
                <p14:modId xmlns:p14="http://schemas.microsoft.com/office/powerpoint/2010/main" val="1777708921"/>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98824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DBAC7732-88E6-8C8F-FF2E-E8DC1AE1706D}"/>
              </a:ext>
            </a:extLst>
          </p:cNvPr>
          <p:cNvSpPr>
            <a:spLocks noGrp="1"/>
          </p:cNvSpPr>
          <p:nvPr>
            <p:ph type="title"/>
          </p:nvPr>
        </p:nvSpPr>
        <p:spPr>
          <a:xfrm>
            <a:off x="572493" y="238539"/>
            <a:ext cx="11018520" cy="1434415"/>
          </a:xfrm>
        </p:spPr>
        <p:txBody>
          <a:bodyPr anchor="b">
            <a:normAutofit/>
          </a:bodyPr>
          <a:lstStyle/>
          <a:p>
            <a:r>
              <a:rPr lang="it-IT" sz="5000"/>
              <a:t>Votazione per l'eliminazione di una mappa </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44C5D7F8-7D9E-91ED-5932-B564AF1A623B}"/>
              </a:ext>
            </a:extLst>
          </p:cNvPr>
          <p:cNvSpPr>
            <a:spLocks noGrp="1"/>
          </p:cNvSpPr>
          <p:nvPr>
            <p:ph idx="1"/>
          </p:nvPr>
        </p:nvSpPr>
        <p:spPr>
          <a:xfrm>
            <a:off x="572493" y="2071316"/>
            <a:ext cx="6713552" cy="4119172"/>
          </a:xfrm>
        </p:spPr>
        <p:txBody>
          <a:bodyPr vert="horz" lIns="91440" tIns="45720" rIns="91440" bIns="45720" rtlCol="0" anchor="t">
            <a:normAutofit/>
          </a:bodyPr>
          <a:lstStyle/>
          <a:p>
            <a:r>
              <a:rPr lang="it-IT" sz="2200"/>
              <a:t>Gli utenti possono votare per l'eliminazione di una mappa.</a:t>
            </a:r>
          </a:p>
          <a:p>
            <a:r>
              <a:rPr lang="it-IT" sz="2200"/>
              <a:t>Se una mappa raggiunge l'unanimità per il consenso di eliminazione o di inattività(sette giorni), verrà rimossa in maniera automatica dal sistema.</a:t>
            </a:r>
          </a:p>
          <a:p>
            <a:endParaRPr lang="it-IT" sz="2200"/>
          </a:p>
          <a:p>
            <a:r>
              <a:rPr lang="it-IT" sz="2200"/>
              <a:t>Ogni utente esprime un voto sull'eliminazione di una mappa(voto negativo).</a:t>
            </a:r>
          </a:p>
          <a:p>
            <a:pPr marL="0" indent="0">
              <a:buNone/>
            </a:pPr>
            <a:endParaRPr lang="it-IT" sz="2200"/>
          </a:p>
        </p:txBody>
      </p:sp>
      <p:pic>
        <p:nvPicPr>
          <p:cNvPr id="4" name="Immagine 3" descr="Immagine che contiene testo, schermata, Software multimediale, software&#10;&#10;Il contenuto generato dall&amp;#39;intelligenza artificiale potrebbe non essere corretto.">
            <a:extLst>
              <a:ext uri="{FF2B5EF4-FFF2-40B4-BE49-F238E27FC236}">
                <a16:creationId xmlns:a16="http://schemas.microsoft.com/office/drawing/2014/main" id="{C6F4F16B-1990-8631-611B-38F62F371170}"/>
              </a:ext>
            </a:extLst>
          </p:cNvPr>
          <p:cNvPicPr>
            <a:picLocks noChangeAspect="1"/>
          </p:cNvPicPr>
          <p:nvPr/>
        </p:nvPicPr>
        <p:blipFill>
          <a:blip r:embed="rId2"/>
          <a:srcRect r="2" b="2035"/>
          <a:stretch/>
        </p:blipFill>
        <p:spPr>
          <a:xfrm>
            <a:off x="7675658" y="2093976"/>
            <a:ext cx="3941064" cy="4096512"/>
          </a:xfrm>
          <a:prstGeom prst="rect">
            <a:avLst/>
          </a:prstGeom>
        </p:spPr>
      </p:pic>
      <p:sp>
        <p:nvSpPr>
          <p:cNvPr id="5" name="Freccia in giù 4">
            <a:extLst>
              <a:ext uri="{FF2B5EF4-FFF2-40B4-BE49-F238E27FC236}">
                <a16:creationId xmlns:a16="http://schemas.microsoft.com/office/drawing/2014/main" id="{B70AC988-41A2-D3AD-9E0D-F189FE5C0D1D}"/>
              </a:ext>
            </a:extLst>
          </p:cNvPr>
          <p:cNvSpPr/>
          <p:nvPr/>
        </p:nvSpPr>
        <p:spPr>
          <a:xfrm>
            <a:off x="10714181" y="1385454"/>
            <a:ext cx="484631" cy="978407"/>
          </a:xfrm>
          <a:prstGeom prst="down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0223676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77616D9A-D878-5692-A2EF-1D1B2764577B}"/>
              </a:ext>
            </a:extLst>
          </p:cNvPr>
          <p:cNvSpPr>
            <a:spLocks noGrp="1"/>
          </p:cNvSpPr>
          <p:nvPr>
            <p:ph type="title"/>
          </p:nvPr>
        </p:nvSpPr>
        <p:spPr>
          <a:xfrm>
            <a:off x="838200" y="365125"/>
            <a:ext cx="5558489" cy="1325563"/>
          </a:xfrm>
        </p:spPr>
        <p:txBody>
          <a:bodyPr>
            <a:normAutofit/>
          </a:bodyPr>
          <a:lstStyle/>
          <a:p>
            <a:r>
              <a:rPr lang="it-IT"/>
              <a:t>Utilizzo della piattaforma</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Segnaposto contenuto 2">
            <a:extLst>
              <a:ext uri="{FF2B5EF4-FFF2-40B4-BE49-F238E27FC236}">
                <a16:creationId xmlns:a16="http://schemas.microsoft.com/office/drawing/2014/main" id="{A3098F21-68A9-8198-E4AB-B2BCBF1647A0}"/>
              </a:ext>
            </a:extLst>
          </p:cNvPr>
          <p:cNvSpPr>
            <a:spLocks noGrp="1"/>
          </p:cNvSpPr>
          <p:nvPr>
            <p:ph idx="1"/>
          </p:nvPr>
        </p:nvSpPr>
        <p:spPr>
          <a:xfrm>
            <a:off x="838200" y="1825625"/>
            <a:ext cx="5558489" cy="4351338"/>
          </a:xfrm>
        </p:spPr>
        <p:txBody>
          <a:bodyPr vert="horz" lIns="91440" tIns="45720" rIns="91440" bIns="45720" rtlCol="0">
            <a:normAutofit/>
          </a:bodyPr>
          <a:lstStyle/>
          <a:p>
            <a:r>
              <a:rPr lang="it-IT" sz="2000"/>
              <a:t>L'utente si registra e accede alla piattaforma.</a:t>
            </a:r>
          </a:p>
          <a:p>
            <a:r>
              <a:rPr lang="it-IT" sz="2000"/>
              <a:t>Può esplorare le mappe esistenti o crearne di nuove.</a:t>
            </a:r>
          </a:p>
          <a:p>
            <a:r>
              <a:rPr lang="it-IT" sz="2000"/>
              <a:t>Gli utenti possono interagire con le mappe o partecipare al sistema di votazione per l'eliminazione.</a:t>
            </a:r>
          </a:p>
          <a:p>
            <a:r>
              <a:rPr lang="it-IT" sz="2000"/>
              <a:t>L'utente può disconnettersi in qualsiasi momento.</a:t>
            </a:r>
          </a:p>
          <a:p>
            <a:r>
              <a:rPr lang="it-IT" sz="2000"/>
              <a:t>Gli utenti hanno il controllo sulla creazione, visualizzazione e votazione per eliminare mappe non più attive.</a:t>
            </a:r>
          </a:p>
          <a:p>
            <a:r>
              <a:rPr lang="it-IT" sz="2000"/>
              <a:t>La piattaforma promuove la partecipazione attiva degli utenti.</a:t>
            </a:r>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81251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83FBD2A-4D82-6DE4-C4A9-41EF56F48EA9}"/>
              </a:ext>
            </a:extLst>
          </p:cNvPr>
          <p:cNvSpPr>
            <a:spLocks noGrp="1"/>
          </p:cNvSpPr>
          <p:nvPr>
            <p:ph type="ctrTitle"/>
          </p:nvPr>
        </p:nvSpPr>
        <p:spPr>
          <a:xfrm>
            <a:off x="0" y="27432"/>
            <a:ext cx="12192000" cy="813816"/>
          </a:xfrm>
        </p:spPr>
        <p:txBody>
          <a:bodyPr>
            <a:normAutofit fontScale="90000"/>
          </a:bodyPr>
          <a:lstStyle/>
          <a:p>
            <a:r>
              <a:rPr lang="it-IT"/>
              <a:t>Selezione di un ruolo</a:t>
            </a:r>
          </a:p>
        </p:txBody>
      </p:sp>
      <p:sp>
        <p:nvSpPr>
          <p:cNvPr id="5" name="CasellaDiTesto 4">
            <a:extLst>
              <a:ext uri="{FF2B5EF4-FFF2-40B4-BE49-F238E27FC236}">
                <a16:creationId xmlns:a16="http://schemas.microsoft.com/office/drawing/2014/main" id="{CDAE1536-8791-7FAB-2B08-F2B81848CB3F}"/>
              </a:ext>
            </a:extLst>
          </p:cNvPr>
          <p:cNvSpPr txBox="1"/>
          <p:nvPr/>
        </p:nvSpPr>
        <p:spPr>
          <a:xfrm>
            <a:off x="210312" y="1927929"/>
            <a:ext cx="5885688" cy="3139321"/>
          </a:xfrm>
          <a:prstGeom prst="rect">
            <a:avLst/>
          </a:prstGeom>
          <a:noFill/>
        </p:spPr>
        <p:txBody>
          <a:bodyPr wrap="square" rtlCol="0">
            <a:spAutoFit/>
          </a:bodyPr>
          <a:lstStyle/>
          <a:p>
            <a:r>
              <a:rPr lang="it-IT">
                <a:latin typeface="Aptos (Corpo)"/>
              </a:rPr>
              <a:t>Per la gestione della casistica di un ruolo inesistente, è stata creata una schermata di assegnazione.</a:t>
            </a:r>
          </a:p>
          <a:p>
            <a:r>
              <a:rPr lang="it-IT">
                <a:latin typeface="Aptos (Corpo)"/>
              </a:rPr>
              <a:t>Al click di una mappa, dopo il controllo fallito, si subirà un redirect alla pagina di selezione, la </a:t>
            </a:r>
            <a:r>
              <a:rPr lang="it-IT" b="1" err="1">
                <a:latin typeface="Aptos (Corpo)"/>
              </a:rPr>
              <a:t>selectRoleView</a:t>
            </a:r>
            <a:r>
              <a:rPr lang="it-IT">
                <a:latin typeface="Aptos (Corpo)"/>
              </a:rPr>
              <a:t>.</a:t>
            </a:r>
          </a:p>
          <a:p>
            <a:r>
              <a:rPr lang="it-IT">
                <a:latin typeface="Aptos (Corpo)"/>
              </a:rPr>
              <a:t>Viene eseguita infatti una fetch </a:t>
            </a:r>
            <a:r>
              <a:rPr lang="it-IT" b="1" err="1">
                <a:latin typeface="Aptos (Corpo)"/>
              </a:rPr>
              <a:t>detailsUser</a:t>
            </a:r>
            <a:r>
              <a:rPr lang="it-IT" b="1">
                <a:latin typeface="Aptos (Corpo)"/>
              </a:rPr>
              <a:t>/${</a:t>
            </a:r>
            <a:r>
              <a:rPr lang="it-IT" b="1" err="1">
                <a:latin typeface="Aptos (Corpo)"/>
              </a:rPr>
              <a:t>mapId</a:t>
            </a:r>
            <a:r>
              <a:rPr lang="it-IT">
                <a:latin typeface="Aptos (Corpo)"/>
              </a:rPr>
              <a:t>}, che restituisce il </a:t>
            </a:r>
            <a:r>
              <a:rPr lang="it-IT" b="1">
                <a:latin typeface="Aptos (Corpo)"/>
              </a:rPr>
              <a:t>data</a:t>
            </a:r>
            <a:r>
              <a:rPr lang="it-IT">
                <a:latin typeface="Aptos (Corpo)"/>
              </a:rPr>
              <a:t>.</a:t>
            </a:r>
            <a:r>
              <a:rPr lang="it-IT" b="1">
                <a:latin typeface="Aptos (Corpo)"/>
              </a:rPr>
              <a:t> </a:t>
            </a:r>
            <a:r>
              <a:rPr lang="it-IT">
                <a:latin typeface="Aptos (Corpo)"/>
              </a:rPr>
              <a:t>In caso di </a:t>
            </a:r>
            <a:r>
              <a:rPr lang="it-IT" b="1" err="1">
                <a:latin typeface="Aptos (Corpo)"/>
              </a:rPr>
              <a:t>data.success</a:t>
            </a:r>
            <a:r>
              <a:rPr lang="it-IT" b="1">
                <a:latin typeface="Aptos (Corpo)"/>
              </a:rPr>
              <a:t> === false</a:t>
            </a:r>
            <a:r>
              <a:rPr lang="it-IT">
                <a:latin typeface="Aptos (Corpo)"/>
              </a:rPr>
              <a:t>, si subisce un </a:t>
            </a:r>
            <a:r>
              <a:rPr lang="it-IT" b="1" err="1">
                <a:latin typeface="Aptos (Corpo)"/>
              </a:rPr>
              <a:t>window.location.href</a:t>
            </a:r>
            <a:r>
              <a:rPr lang="it-IT" b="1">
                <a:latin typeface="Aptos (Corpo)"/>
              </a:rPr>
              <a:t> = </a:t>
            </a:r>
            <a:r>
              <a:rPr lang="it-IT" b="1" err="1">
                <a:latin typeface="Aptos (Corpo)"/>
              </a:rPr>
              <a:t>data.redirect</a:t>
            </a:r>
            <a:r>
              <a:rPr lang="it-IT">
                <a:latin typeface="Aptos (Corpo)"/>
              </a:rPr>
              <a:t>. I valori di success e redirect vengono presi dalla risposta dopo la comunicazione con il backend. Come redirect abbiamo la pagina di </a:t>
            </a:r>
            <a:r>
              <a:rPr lang="it-IT" b="1" err="1">
                <a:latin typeface="Aptos (Corpo)"/>
              </a:rPr>
              <a:t>selectRoleView</a:t>
            </a:r>
            <a:r>
              <a:rPr lang="it-IT">
                <a:latin typeface="Aptos (Corpo)"/>
              </a:rPr>
              <a:t> con i parametri dell’utente loggato e la mappa selezionata.</a:t>
            </a:r>
          </a:p>
        </p:txBody>
      </p:sp>
      <p:pic>
        <p:nvPicPr>
          <p:cNvPr id="29" name="Immagine 28" descr="Immagine che contiene diagramma, testo, linea, schermata&#10;&#10;Descrizione generata automaticamente">
            <a:extLst>
              <a:ext uri="{FF2B5EF4-FFF2-40B4-BE49-F238E27FC236}">
                <a16:creationId xmlns:a16="http://schemas.microsoft.com/office/drawing/2014/main" id="{86AAAFDF-7E70-582F-3B71-6F11444C2D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0690" y="1490472"/>
            <a:ext cx="5395341" cy="4014237"/>
          </a:xfrm>
          <a:prstGeom prst="rect">
            <a:avLst/>
          </a:prstGeom>
        </p:spPr>
      </p:pic>
    </p:spTree>
    <p:extLst>
      <p:ext uri="{BB962C8B-B14F-4D97-AF65-F5344CB8AC3E}">
        <p14:creationId xmlns:p14="http://schemas.microsoft.com/office/powerpoint/2010/main" val="37133030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sellaDiTesto 5">
            <a:extLst>
              <a:ext uri="{FF2B5EF4-FFF2-40B4-BE49-F238E27FC236}">
                <a16:creationId xmlns:a16="http://schemas.microsoft.com/office/drawing/2014/main" id="{FDFFAADA-E534-8C89-19D4-DF1B9FFDCEEC}"/>
              </a:ext>
            </a:extLst>
          </p:cNvPr>
          <p:cNvSpPr txBox="1"/>
          <p:nvPr/>
        </p:nvSpPr>
        <p:spPr>
          <a:xfrm>
            <a:off x="0" y="958102"/>
            <a:ext cx="6556248" cy="923330"/>
          </a:xfrm>
          <a:prstGeom prst="rect">
            <a:avLst/>
          </a:prstGeom>
          <a:noFill/>
        </p:spPr>
        <p:txBody>
          <a:bodyPr wrap="square" rtlCol="0">
            <a:spAutoFit/>
          </a:bodyPr>
          <a:lstStyle/>
          <a:p>
            <a:r>
              <a:rPr lang="it-IT">
                <a:latin typeface="Aptos (Corpo)"/>
              </a:rPr>
              <a:t>Nella </a:t>
            </a:r>
            <a:r>
              <a:rPr lang="it-IT" err="1">
                <a:latin typeface="Aptos (Corpo)"/>
              </a:rPr>
              <a:t>selectRoleView</a:t>
            </a:r>
            <a:r>
              <a:rPr lang="it-IT">
                <a:latin typeface="Aptos (Corpo)"/>
              </a:rPr>
              <a:t> abbiamo due scelte:</a:t>
            </a:r>
          </a:p>
          <a:p>
            <a:r>
              <a:rPr lang="it-IT" b="1">
                <a:solidFill>
                  <a:srgbClr val="0070C0"/>
                </a:solidFill>
                <a:latin typeface="Aptos (Corpo)"/>
              </a:rPr>
              <a:t>-</a:t>
            </a:r>
            <a:r>
              <a:rPr lang="it-IT" b="1" u="sng">
                <a:solidFill>
                  <a:srgbClr val="0070C0"/>
                </a:solidFill>
                <a:latin typeface="Aptos (Corpo)"/>
              </a:rPr>
              <a:t>Premere la freccia</a:t>
            </a:r>
            <a:endParaRPr lang="it-IT" b="1">
              <a:latin typeface="Aptos (Corpo)"/>
            </a:endParaRPr>
          </a:p>
          <a:p>
            <a:r>
              <a:rPr lang="it-IT" b="1">
                <a:solidFill>
                  <a:srgbClr val="92D050"/>
                </a:solidFill>
                <a:latin typeface="Aptos (Corpo)"/>
              </a:rPr>
              <a:t>-</a:t>
            </a:r>
            <a:r>
              <a:rPr lang="it-IT" b="1" u="sng">
                <a:solidFill>
                  <a:srgbClr val="92D050"/>
                </a:solidFill>
                <a:latin typeface="Aptos (Corpo)"/>
              </a:rPr>
              <a:t>Selezionare un ruolo</a:t>
            </a:r>
            <a:endParaRPr lang="it-IT" b="1">
              <a:latin typeface="Aptos (Corpo)"/>
            </a:endParaRPr>
          </a:p>
        </p:txBody>
      </p:sp>
      <p:sp>
        <p:nvSpPr>
          <p:cNvPr id="11" name="Titolo 1">
            <a:extLst>
              <a:ext uri="{FF2B5EF4-FFF2-40B4-BE49-F238E27FC236}">
                <a16:creationId xmlns:a16="http://schemas.microsoft.com/office/drawing/2014/main" id="{FB7241F6-3D87-5031-9366-7F15807CCEF1}"/>
              </a:ext>
            </a:extLst>
          </p:cNvPr>
          <p:cNvSpPr txBox="1">
            <a:spLocks/>
          </p:cNvSpPr>
          <p:nvPr/>
        </p:nvSpPr>
        <p:spPr>
          <a:xfrm>
            <a:off x="0" y="9144"/>
            <a:ext cx="12192000" cy="8138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5400"/>
              <a:t>Selezione di un ruolo</a:t>
            </a:r>
          </a:p>
        </p:txBody>
      </p:sp>
      <p:pic>
        <p:nvPicPr>
          <p:cNvPr id="12" name="Immagine 11">
            <a:extLst>
              <a:ext uri="{FF2B5EF4-FFF2-40B4-BE49-F238E27FC236}">
                <a16:creationId xmlns:a16="http://schemas.microsoft.com/office/drawing/2014/main" id="{EC1CF3BD-C7D0-CA3F-3BAC-FF2FE9163228}"/>
              </a:ext>
            </a:extLst>
          </p:cNvPr>
          <p:cNvPicPr>
            <a:picLocks noChangeAspect="1"/>
          </p:cNvPicPr>
          <p:nvPr/>
        </p:nvPicPr>
        <p:blipFill>
          <a:blip r:embed="rId2"/>
          <a:srcRect l="10210" t="7282"/>
          <a:stretch/>
        </p:blipFill>
        <p:spPr>
          <a:xfrm>
            <a:off x="8033004" y="886968"/>
            <a:ext cx="3940342" cy="2406622"/>
          </a:xfrm>
          <a:prstGeom prst="rect">
            <a:avLst/>
          </a:prstGeom>
        </p:spPr>
      </p:pic>
    </p:spTree>
    <p:extLst>
      <p:ext uri="{BB962C8B-B14F-4D97-AF65-F5344CB8AC3E}">
        <p14:creationId xmlns:p14="http://schemas.microsoft.com/office/powerpoint/2010/main" val="36808755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a:extLst>
              <a:ext uri="{FF2B5EF4-FFF2-40B4-BE49-F238E27FC236}">
                <a16:creationId xmlns:a16="http://schemas.microsoft.com/office/drawing/2014/main" id="{A7E10EFA-2A41-2A93-0E34-061FA834E184}"/>
              </a:ext>
            </a:extLst>
          </p:cNvPr>
          <p:cNvSpPr txBox="1">
            <a:spLocks/>
          </p:cNvSpPr>
          <p:nvPr/>
        </p:nvSpPr>
        <p:spPr>
          <a:xfrm>
            <a:off x="0" y="9144"/>
            <a:ext cx="12192000" cy="8138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5400"/>
              <a:t>Selezione di un ruolo</a:t>
            </a:r>
          </a:p>
        </p:txBody>
      </p:sp>
      <p:sp>
        <p:nvSpPr>
          <p:cNvPr id="5" name="CasellaDiTesto 4">
            <a:extLst>
              <a:ext uri="{FF2B5EF4-FFF2-40B4-BE49-F238E27FC236}">
                <a16:creationId xmlns:a16="http://schemas.microsoft.com/office/drawing/2014/main" id="{75C2893B-BAED-C5CD-68C4-607CB41E3E45}"/>
              </a:ext>
            </a:extLst>
          </p:cNvPr>
          <p:cNvSpPr txBox="1"/>
          <p:nvPr/>
        </p:nvSpPr>
        <p:spPr>
          <a:xfrm>
            <a:off x="0" y="958102"/>
            <a:ext cx="6786560" cy="923330"/>
          </a:xfrm>
          <a:prstGeom prst="rect">
            <a:avLst/>
          </a:prstGeom>
          <a:noFill/>
        </p:spPr>
        <p:txBody>
          <a:bodyPr wrap="square" rtlCol="0">
            <a:spAutoFit/>
          </a:bodyPr>
          <a:lstStyle/>
          <a:p>
            <a:r>
              <a:rPr lang="it-IT">
                <a:latin typeface="Aptos (Corpo)"/>
              </a:rPr>
              <a:t>Nella </a:t>
            </a:r>
            <a:r>
              <a:rPr lang="it-IT" err="1">
                <a:latin typeface="Aptos (Corpo)"/>
              </a:rPr>
              <a:t>selectRoleView</a:t>
            </a:r>
            <a:r>
              <a:rPr lang="it-IT">
                <a:latin typeface="Aptos (Corpo)"/>
              </a:rPr>
              <a:t> abbiamo due scelte:</a:t>
            </a:r>
          </a:p>
          <a:p>
            <a:r>
              <a:rPr lang="it-IT">
                <a:solidFill>
                  <a:srgbClr val="0070C0"/>
                </a:solidFill>
                <a:latin typeface="Aptos (Corpo)"/>
              </a:rPr>
              <a:t>-</a:t>
            </a:r>
            <a:r>
              <a:rPr lang="it-IT" u="sng">
                <a:solidFill>
                  <a:srgbClr val="0070C0"/>
                </a:solidFill>
                <a:latin typeface="Aptos (Corpo)"/>
              </a:rPr>
              <a:t>Premere la freccia</a:t>
            </a:r>
            <a:endParaRPr lang="it-IT">
              <a:latin typeface="Aptos (Corpo)"/>
            </a:endParaRPr>
          </a:p>
          <a:p>
            <a:r>
              <a:rPr lang="it-IT">
                <a:solidFill>
                  <a:srgbClr val="92D050"/>
                </a:solidFill>
                <a:latin typeface="Aptos (Corpo)"/>
              </a:rPr>
              <a:t>-</a:t>
            </a:r>
            <a:r>
              <a:rPr lang="it-IT" u="sng">
                <a:solidFill>
                  <a:srgbClr val="92D050"/>
                </a:solidFill>
                <a:latin typeface="Aptos (Corpo)"/>
              </a:rPr>
              <a:t>Selezionare un ruolo</a:t>
            </a:r>
            <a:endParaRPr lang="it-IT">
              <a:latin typeface="Aptos (Corpo)"/>
            </a:endParaRPr>
          </a:p>
        </p:txBody>
      </p:sp>
      <p:pic>
        <p:nvPicPr>
          <p:cNvPr id="6" name="Immagine 5">
            <a:extLst>
              <a:ext uri="{FF2B5EF4-FFF2-40B4-BE49-F238E27FC236}">
                <a16:creationId xmlns:a16="http://schemas.microsoft.com/office/drawing/2014/main" id="{8EECEBED-4C70-D17F-FB8A-6BDC9B335912}"/>
              </a:ext>
            </a:extLst>
          </p:cNvPr>
          <p:cNvPicPr>
            <a:picLocks noChangeAspect="1"/>
          </p:cNvPicPr>
          <p:nvPr/>
        </p:nvPicPr>
        <p:blipFill>
          <a:blip r:embed="rId2"/>
          <a:srcRect l="10210" t="7282"/>
          <a:stretch/>
        </p:blipFill>
        <p:spPr>
          <a:xfrm>
            <a:off x="8033004" y="886968"/>
            <a:ext cx="3940342" cy="2406622"/>
          </a:xfrm>
          <a:prstGeom prst="rect">
            <a:avLst/>
          </a:prstGeom>
        </p:spPr>
      </p:pic>
      <p:cxnSp>
        <p:nvCxnSpPr>
          <p:cNvPr id="7" name="Connettore 2 6">
            <a:extLst>
              <a:ext uri="{FF2B5EF4-FFF2-40B4-BE49-F238E27FC236}">
                <a16:creationId xmlns:a16="http://schemas.microsoft.com/office/drawing/2014/main" id="{4941ECA6-E504-DD3D-39AC-BB971DF6120E}"/>
              </a:ext>
            </a:extLst>
          </p:cNvPr>
          <p:cNvCxnSpPr>
            <a:cxnSpLocks/>
          </p:cNvCxnSpPr>
          <p:nvPr/>
        </p:nvCxnSpPr>
        <p:spPr>
          <a:xfrm flipH="1">
            <a:off x="8385048" y="985534"/>
            <a:ext cx="649224" cy="0"/>
          </a:xfrm>
          <a:prstGeom prst="straightConnector1">
            <a:avLst/>
          </a:prstGeom>
          <a:ln w="571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3" name="Immagine 2">
            <a:extLst>
              <a:ext uri="{FF2B5EF4-FFF2-40B4-BE49-F238E27FC236}">
                <a16:creationId xmlns:a16="http://schemas.microsoft.com/office/drawing/2014/main" id="{F5F7A61E-331B-F846-3278-8FF7765D1FB3}"/>
              </a:ext>
            </a:extLst>
          </p:cNvPr>
          <p:cNvPicPr>
            <a:picLocks noChangeAspect="1"/>
          </p:cNvPicPr>
          <p:nvPr/>
        </p:nvPicPr>
        <p:blipFill>
          <a:blip r:embed="rId3"/>
          <a:stretch>
            <a:fillRect/>
          </a:stretch>
        </p:blipFill>
        <p:spPr>
          <a:xfrm>
            <a:off x="647701" y="3014556"/>
            <a:ext cx="6876288" cy="3370027"/>
          </a:xfrm>
          <a:prstGeom prst="rect">
            <a:avLst/>
          </a:prstGeom>
        </p:spPr>
      </p:pic>
      <p:sp>
        <p:nvSpPr>
          <p:cNvPr id="8" name="CasellaDiTesto 7">
            <a:extLst>
              <a:ext uri="{FF2B5EF4-FFF2-40B4-BE49-F238E27FC236}">
                <a16:creationId xmlns:a16="http://schemas.microsoft.com/office/drawing/2014/main" id="{95A43DD9-F8A1-DE98-A4D9-4BA84F546CC8}"/>
              </a:ext>
            </a:extLst>
          </p:cNvPr>
          <p:cNvSpPr txBox="1"/>
          <p:nvPr/>
        </p:nvSpPr>
        <p:spPr>
          <a:xfrm>
            <a:off x="8709660" y="4562856"/>
            <a:ext cx="2880360" cy="923330"/>
          </a:xfrm>
          <a:prstGeom prst="rect">
            <a:avLst/>
          </a:prstGeom>
          <a:noFill/>
        </p:spPr>
        <p:txBody>
          <a:bodyPr wrap="square" rtlCol="0">
            <a:spAutoFit/>
          </a:bodyPr>
          <a:lstStyle/>
          <a:p>
            <a:r>
              <a:rPr lang="it-IT">
                <a:latin typeface="Aptos (Corpo)"/>
              </a:rPr>
              <a:t>La freccia reindirizza alla selezione delle mappe.</a:t>
            </a:r>
          </a:p>
          <a:p>
            <a:endParaRPr lang="it-IT"/>
          </a:p>
        </p:txBody>
      </p:sp>
    </p:spTree>
    <p:extLst>
      <p:ext uri="{BB962C8B-B14F-4D97-AF65-F5344CB8AC3E}">
        <p14:creationId xmlns:p14="http://schemas.microsoft.com/office/powerpoint/2010/main" val="34304425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a:extLst>
              <a:ext uri="{FF2B5EF4-FFF2-40B4-BE49-F238E27FC236}">
                <a16:creationId xmlns:a16="http://schemas.microsoft.com/office/drawing/2014/main" id="{301BDCE2-59BC-1479-017E-A1C7607D497C}"/>
              </a:ext>
            </a:extLst>
          </p:cNvPr>
          <p:cNvSpPr txBox="1">
            <a:spLocks/>
          </p:cNvSpPr>
          <p:nvPr/>
        </p:nvSpPr>
        <p:spPr>
          <a:xfrm>
            <a:off x="0" y="9144"/>
            <a:ext cx="12192000" cy="8138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5400"/>
              <a:t>Selezione di un ruolo</a:t>
            </a:r>
          </a:p>
        </p:txBody>
      </p:sp>
      <p:sp>
        <p:nvSpPr>
          <p:cNvPr id="5" name="CasellaDiTesto 4">
            <a:extLst>
              <a:ext uri="{FF2B5EF4-FFF2-40B4-BE49-F238E27FC236}">
                <a16:creationId xmlns:a16="http://schemas.microsoft.com/office/drawing/2014/main" id="{CEC3DB16-782A-C0DD-23F5-FE94534E2C32}"/>
              </a:ext>
            </a:extLst>
          </p:cNvPr>
          <p:cNvSpPr txBox="1"/>
          <p:nvPr/>
        </p:nvSpPr>
        <p:spPr>
          <a:xfrm>
            <a:off x="0" y="958102"/>
            <a:ext cx="4462272" cy="923330"/>
          </a:xfrm>
          <a:prstGeom prst="rect">
            <a:avLst/>
          </a:prstGeom>
          <a:noFill/>
        </p:spPr>
        <p:txBody>
          <a:bodyPr wrap="square" rtlCol="0">
            <a:spAutoFit/>
          </a:bodyPr>
          <a:lstStyle/>
          <a:p>
            <a:r>
              <a:rPr lang="it-IT">
                <a:latin typeface="Aptos (Corpo)"/>
              </a:rPr>
              <a:t>Nella </a:t>
            </a:r>
            <a:r>
              <a:rPr lang="it-IT" err="1">
                <a:latin typeface="Aptos (Corpo)"/>
              </a:rPr>
              <a:t>selectRoleView</a:t>
            </a:r>
            <a:r>
              <a:rPr lang="it-IT">
                <a:latin typeface="Aptos (Corpo)"/>
              </a:rPr>
              <a:t> abbiamo due scelte:</a:t>
            </a:r>
          </a:p>
          <a:p>
            <a:r>
              <a:rPr lang="it-IT">
                <a:solidFill>
                  <a:srgbClr val="0070C0"/>
                </a:solidFill>
                <a:latin typeface="Aptos (Corpo)"/>
              </a:rPr>
              <a:t>-</a:t>
            </a:r>
            <a:r>
              <a:rPr lang="it-IT" u="sng">
                <a:solidFill>
                  <a:srgbClr val="0070C0"/>
                </a:solidFill>
                <a:latin typeface="Aptos (Corpo)"/>
              </a:rPr>
              <a:t>Premere la freccia</a:t>
            </a:r>
            <a:endParaRPr lang="it-IT">
              <a:latin typeface="Aptos (Corpo)"/>
            </a:endParaRPr>
          </a:p>
          <a:p>
            <a:r>
              <a:rPr lang="it-IT">
                <a:solidFill>
                  <a:srgbClr val="92D050"/>
                </a:solidFill>
                <a:latin typeface="Aptos (Corpo)"/>
              </a:rPr>
              <a:t>-</a:t>
            </a:r>
            <a:r>
              <a:rPr lang="it-IT" u="sng">
                <a:solidFill>
                  <a:srgbClr val="92D050"/>
                </a:solidFill>
                <a:latin typeface="Aptos (Corpo)"/>
              </a:rPr>
              <a:t>Selezionare un ruolo</a:t>
            </a:r>
            <a:endParaRPr lang="it-IT">
              <a:latin typeface="Aptos (Corpo)"/>
            </a:endParaRPr>
          </a:p>
        </p:txBody>
      </p:sp>
      <p:pic>
        <p:nvPicPr>
          <p:cNvPr id="9" name="Immagine 8">
            <a:extLst>
              <a:ext uri="{FF2B5EF4-FFF2-40B4-BE49-F238E27FC236}">
                <a16:creationId xmlns:a16="http://schemas.microsoft.com/office/drawing/2014/main" id="{59AD3488-9CAB-6997-8CCF-252ED0555E8D}"/>
              </a:ext>
            </a:extLst>
          </p:cNvPr>
          <p:cNvPicPr>
            <a:picLocks noChangeAspect="1"/>
          </p:cNvPicPr>
          <p:nvPr/>
        </p:nvPicPr>
        <p:blipFill>
          <a:blip r:embed="rId2"/>
          <a:srcRect l="10210" t="7282"/>
          <a:stretch/>
        </p:blipFill>
        <p:spPr>
          <a:xfrm>
            <a:off x="8033004" y="886968"/>
            <a:ext cx="3940342" cy="2406622"/>
          </a:xfrm>
          <a:prstGeom prst="rect">
            <a:avLst/>
          </a:prstGeom>
        </p:spPr>
      </p:pic>
      <p:cxnSp>
        <p:nvCxnSpPr>
          <p:cNvPr id="8" name="Connettore 2 7">
            <a:extLst>
              <a:ext uri="{FF2B5EF4-FFF2-40B4-BE49-F238E27FC236}">
                <a16:creationId xmlns:a16="http://schemas.microsoft.com/office/drawing/2014/main" id="{6C598AAF-042C-F2D5-9563-572CD6EEBFE7}"/>
              </a:ext>
            </a:extLst>
          </p:cNvPr>
          <p:cNvCxnSpPr>
            <a:cxnSpLocks/>
          </p:cNvCxnSpPr>
          <p:nvPr/>
        </p:nvCxnSpPr>
        <p:spPr>
          <a:xfrm flipH="1">
            <a:off x="9539879" y="2358123"/>
            <a:ext cx="726146" cy="0"/>
          </a:xfrm>
          <a:prstGeom prst="straightConnector1">
            <a:avLst/>
          </a:prstGeom>
          <a:ln w="57150">
            <a:headEnd type="none" w="med" len="med"/>
            <a:tailEnd type="arrow" w="med" len="med"/>
          </a:ln>
        </p:spPr>
        <p:style>
          <a:lnRef idx="1">
            <a:schemeClr val="accent6"/>
          </a:lnRef>
          <a:fillRef idx="0">
            <a:schemeClr val="accent6"/>
          </a:fillRef>
          <a:effectRef idx="0">
            <a:schemeClr val="accent6"/>
          </a:effectRef>
          <a:fontRef idx="minor">
            <a:schemeClr val="tx1"/>
          </a:fontRef>
        </p:style>
      </p:cxnSp>
      <p:pic>
        <p:nvPicPr>
          <p:cNvPr id="11" name="Immagine 10">
            <a:extLst>
              <a:ext uri="{FF2B5EF4-FFF2-40B4-BE49-F238E27FC236}">
                <a16:creationId xmlns:a16="http://schemas.microsoft.com/office/drawing/2014/main" id="{FCD235D5-807C-6A56-5195-F4206EB47F72}"/>
              </a:ext>
            </a:extLst>
          </p:cNvPr>
          <p:cNvPicPr>
            <a:picLocks noChangeAspect="1"/>
          </p:cNvPicPr>
          <p:nvPr/>
        </p:nvPicPr>
        <p:blipFill>
          <a:blip r:embed="rId3"/>
          <a:stretch>
            <a:fillRect/>
          </a:stretch>
        </p:blipFill>
        <p:spPr>
          <a:xfrm>
            <a:off x="680871" y="3050703"/>
            <a:ext cx="3525369" cy="3617449"/>
          </a:xfrm>
          <a:prstGeom prst="rect">
            <a:avLst/>
          </a:prstGeom>
        </p:spPr>
      </p:pic>
      <p:sp>
        <p:nvSpPr>
          <p:cNvPr id="13" name="CasellaDiTesto 12">
            <a:extLst>
              <a:ext uri="{FF2B5EF4-FFF2-40B4-BE49-F238E27FC236}">
                <a16:creationId xmlns:a16="http://schemas.microsoft.com/office/drawing/2014/main" id="{AC0E7E1F-17A1-D1BF-9992-F963B2EC7FBF}"/>
              </a:ext>
            </a:extLst>
          </p:cNvPr>
          <p:cNvSpPr txBox="1"/>
          <p:nvPr/>
        </p:nvSpPr>
        <p:spPr>
          <a:xfrm>
            <a:off x="5696711" y="4143823"/>
            <a:ext cx="4901185" cy="1477328"/>
          </a:xfrm>
          <a:prstGeom prst="rect">
            <a:avLst/>
          </a:prstGeom>
          <a:noFill/>
        </p:spPr>
        <p:txBody>
          <a:bodyPr wrap="square">
            <a:spAutoFit/>
          </a:bodyPr>
          <a:lstStyle/>
          <a:p>
            <a:r>
              <a:rPr lang="it-IT">
                <a:latin typeface="Aptos (Corpo)"/>
              </a:rPr>
              <a:t>L’utente sceglierà un ruolo tra quelli disponibili, popolati grazie ad </a:t>
            </a:r>
            <a:r>
              <a:rPr lang="it-IT" b="1" err="1">
                <a:latin typeface="Aptos (Corpo)"/>
              </a:rPr>
              <a:t>availableRoles</a:t>
            </a:r>
            <a:r>
              <a:rPr lang="it-IT" b="1">
                <a:latin typeface="Aptos (Corpo)"/>
              </a:rPr>
              <a:t>/${</a:t>
            </a:r>
            <a:r>
              <a:rPr lang="it-IT" b="1" err="1">
                <a:latin typeface="Aptos (Corpo)"/>
              </a:rPr>
              <a:t>mapId</a:t>
            </a:r>
            <a:r>
              <a:rPr lang="it-IT" b="1">
                <a:latin typeface="Aptos (Corpo)"/>
              </a:rPr>
              <a:t>}.</a:t>
            </a:r>
          </a:p>
          <a:p>
            <a:r>
              <a:rPr lang="it-IT">
                <a:latin typeface="Aptos (Corpo)"/>
              </a:rPr>
              <a:t>Dopo la conferma, ci si registra con la chiamata </a:t>
            </a:r>
            <a:r>
              <a:rPr lang="it-IT" b="1" err="1">
                <a:latin typeface="Aptos (Corpo)"/>
              </a:rPr>
              <a:t>addRole</a:t>
            </a:r>
            <a:r>
              <a:rPr lang="it-IT" b="1">
                <a:latin typeface="Aptos (Corpo)"/>
              </a:rPr>
              <a:t>/${</a:t>
            </a:r>
            <a:r>
              <a:rPr lang="it-IT" b="1" err="1">
                <a:latin typeface="Aptos (Corpo)"/>
              </a:rPr>
              <a:t>mapId</a:t>
            </a:r>
            <a:r>
              <a:rPr lang="it-IT" b="1">
                <a:latin typeface="Aptos (Corpo)"/>
              </a:rPr>
              <a:t>} </a:t>
            </a:r>
            <a:r>
              <a:rPr lang="it-IT">
                <a:latin typeface="Aptos (Corpo)"/>
              </a:rPr>
              <a:t>e successivamente reindirizzati alla mappa di gioco.</a:t>
            </a:r>
          </a:p>
        </p:txBody>
      </p:sp>
    </p:spTree>
    <p:extLst>
      <p:ext uri="{BB962C8B-B14F-4D97-AF65-F5344CB8AC3E}">
        <p14:creationId xmlns:p14="http://schemas.microsoft.com/office/powerpoint/2010/main" val="21538639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5B7DC-526C-197B-0351-C25FAC0C82B3}"/>
            </a:ext>
          </a:extLst>
        </p:cNvPr>
        <p:cNvGrpSpPr/>
        <p:nvPr/>
      </p:nvGrpSpPr>
      <p:grpSpPr>
        <a:xfrm>
          <a:off x="0" y="0"/>
          <a:ext cx="0" cy="0"/>
          <a:chOff x="0" y="0"/>
          <a:chExt cx="0" cy="0"/>
        </a:xfrm>
      </p:grpSpPr>
      <p:sp>
        <p:nvSpPr>
          <p:cNvPr id="6" name="Titolo 1">
            <a:extLst>
              <a:ext uri="{FF2B5EF4-FFF2-40B4-BE49-F238E27FC236}">
                <a16:creationId xmlns:a16="http://schemas.microsoft.com/office/drawing/2014/main" id="{A3794763-7415-E7D0-856C-71F0442DFE37}"/>
              </a:ext>
            </a:extLst>
          </p:cNvPr>
          <p:cNvSpPr>
            <a:spLocks noGrp="1"/>
          </p:cNvSpPr>
          <p:nvPr>
            <p:ph type="ctrTitle"/>
          </p:nvPr>
        </p:nvSpPr>
        <p:spPr>
          <a:xfrm>
            <a:off x="0" y="-18472"/>
            <a:ext cx="12192000" cy="886968"/>
          </a:xfrm>
        </p:spPr>
        <p:txBody>
          <a:bodyPr>
            <a:normAutofit/>
          </a:bodyPr>
          <a:lstStyle/>
          <a:p>
            <a:r>
              <a:rPr lang="it-IT" sz="5400"/>
              <a:t>La mappa di gioco</a:t>
            </a:r>
          </a:p>
        </p:txBody>
      </p:sp>
      <p:sp>
        <p:nvSpPr>
          <p:cNvPr id="8" name="CasellaDiTesto 7">
            <a:extLst>
              <a:ext uri="{FF2B5EF4-FFF2-40B4-BE49-F238E27FC236}">
                <a16:creationId xmlns:a16="http://schemas.microsoft.com/office/drawing/2014/main" id="{EFC2118D-F8C0-792C-EBBB-27892BAE78F2}"/>
              </a:ext>
            </a:extLst>
          </p:cNvPr>
          <p:cNvSpPr txBox="1"/>
          <p:nvPr/>
        </p:nvSpPr>
        <p:spPr>
          <a:xfrm>
            <a:off x="0" y="1179576"/>
            <a:ext cx="12192000" cy="1200329"/>
          </a:xfrm>
          <a:prstGeom prst="rect">
            <a:avLst/>
          </a:prstGeom>
          <a:noFill/>
        </p:spPr>
        <p:txBody>
          <a:bodyPr wrap="square" rtlCol="0">
            <a:spAutoFit/>
          </a:bodyPr>
          <a:lstStyle/>
          <a:p>
            <a:pPr algn="ctr"/>
            <a:r>
              <a:rPr lang="it-IT"/>
              <a:t>All’interno della mappa di gioco possiamo trovare 3 componenti principali:</a:t>
            </a:r>
          </a:p>
          <a:p>
            <a:pPr marL="285750" indent="-285750" algn="ctr">
              <a:buFont typeface="Arial" panose="020B0604020202020204" pitchFamily="34" charset="0"/>
              <a:buChar char="•"/>
            </a:pPr>
            <a:r>
              <a:rPr lang="it-IT" u="sng"/>
              <a:t>La sidebar a sinistra;</a:t>
            </a:r>
          </a:p>
          <a:p>
            <a:pPr marL="285750" indent="-285750" algn="ctr">
              <a:buFont typeface="Arial" panose="020B0604020202020204" pitchFamily="34" charset="0"/>
              <a:buChar char="•"/>
            </a:pPr>
            <a:r>
              <a:rPr lang="it-IT" u="sng"/>
              <a:t>La schermata di gioco;</a:t>
            </a:r>
          </a:p>
          <a:p>
            <a:pPr marL="285750" indent="-285750" algn="ctr">
              <a:buFont typeface="Arial" panose="020B0604020202020204" pitchFamily="34" charset="0"/>
              <a:buChar char="•"/>
            </a:pPr>
            <a:r>
              <a:rPr lang="it-IT" u="sng"/>
              <a:t>La sidebar a destra.</a:t>
            </a:r>
          </a:p>
        </p:txBody>
      </p:sp>
    </p:spTree>
    <p:extLst>
      <p:ext uri="{BB962C8B-B14F-4D97-AF65-F5344CB8AC3E}">
        <p14:creationId xmlns:p14="http://schemas.microsoft.com/office/powerpoint/2010/main" val="31326768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F7F7F7"/>
            </a:gs>
            <a:gs pos="100000">
              <a:schemeClr val="bg2"/>
            </a:gs>
          </a:gsLst>
          <a:lin ang="21594000" scaled="0"/>
          <a:tileRect/>
        </a:gradFill>
        <a:effectLst/>
      </p:bgPr>
    </p:bg>
    <p:spTree>
      <p:nvGrpSpPr>
        <p:cNvPr id="1" name="">
          <a:extLst>
            <a:ext uri="{FF2B5EF4-FFF2-40B4-BE49-F238E27FC236}">
              <a16:creationId xmlns:a16="http://schemas.microsoft.com/office/drawing/2014/main" id="{08630638-6897-3C60-1C1C-988F8250C0C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A4800DA-6A88-C9DE-AB4E-E8005FDE8791}"/>
              </a:ext>
            </a:extLst>
          </p:cNvPr>
          <p:cNvSpPr>
            <a:spLocks noGrp="1"/>
          </p:cNvSpPr>
          <p:nvPr>
            <p:ph type="ctrTitle"/>
          </p:nvPr>
        </p:nvSpPr>
        <p:spPr>
          <a:xfrm>
            <a:off x="27708" y="-18472"/>
            <a:ext cx="12192000" cy="886968"/>
          </a:xfrm>
        </p:spPr>
        <p:txBody>
          <a:bodyPr>
            <a:normAutofit/>
          </a:bodyPr>
          <a:lstStyle/>
          <a:p>
            <a:r>
              <a:rPr lang="it-IT" sz="5400"/>
              <a:t>La mappa di gioco</a:t>
            </a:r>
          </a:p>
        </p:txBody>
      </p:sp>
      <p:pic>
        <p:nvPicPr>
          <p:cNvPr id="7" name="Immagine 6">
            <a:extLst>
              <a:ext uri="{FF2B5EF4-FFF2-40B4-BE49-F238E27FC236}">
                <a16:creationId xmlns:a16="http://schemas.microsoft.com/office/drawing/2014/main" id="{1A3CFF73-2B18-BDD6-086B-9F581DF33863}"/>
              </a:ext>
            </a:extLst>
          </p:cNvPr>
          <p:cNvPicPr>
            <a:picLocks noChangeAspect="1"/>
          </p:cNvPicPr>
          <p:nvPr/>
        </p:nvPicPr>
        <p:blipFill>
          <a:blip r:embed="rId2"/>
          <a:stretch>
            <a:fillRect/>
          </a:stretch>
        </p:blipFill>
        <p:spPr>
          <a:xfrm>
            <a:off x="0" y="0"/>
            <a:ext cx="1162750" cy="6858000"/>
          </a:xfrm>
          <a:prstGeom prst="rect">
            <a:avLst/>
          </a:prstGeom>
        </p:spPr>
      </p:pic>
      <p:sp>
        <p:nvSpPr>
          <p:cNvPr id="9" name="CasellaDiTesto 8">
            <a:extLst>
              <a:ext uri="{FF2B5EF4-FFF2-40B4-BE49-F238E27FC236}">
                <a16:creationId xmlns:a16="http://schemas.microsoft.com/office/drawing/2014/main" id="{1CE13F6C-EAD3-813A-1A14-0219A63D4629}"/>
              </a:ext>
            </a:extLst>
          </p:cNvPr>
          <p:cNvSpPr txBox="1"/>
          <p:nvPr/>
        </p:nvSpPr>
        <p:spPr>
          <a:xfrm>
            <a:off x="9236" y="1179576"/>
            <a:ext cx="12192000" cy="1200329"/>
          </a:xfrm>
          <a:prstGeom prst="rect">
            <a:avLst/>
          </a:prstGeom>
          <a:noFill/>
        </p:spPr>
        <p:txBody>
          <a:bodyPr wrap="square" rtlCol="0">
            <a:spAutoFit/>
          </a:bodyPr>
          <a:lstStyle/>
          <a:p>
            <a:pPr algn="ctr"/>
            <a:r>
              <a:rPr lang="it-IT"/>
              <a:t>All’interno della mappa di gioco possiamo trovare 3 componenti principali:</a:t>
            </a:r>
          </a:p>
          <a:p>
            <a:pPr marL="285750" indent="-285750" algn="ctr">
              <a:buFont typeface="Arial" panose="020B0604020202020204" pitchFamily="34" charset="0"/>
              <a:buChar char="•"/>
            </a:pPr>
            <a:r>
              <a:rPr lang="it-IT" u="sng"/>
              <a:t>La sidebar a sinistra;</a:t>
            </a:r>
          </a:p>
          <a:p>
            <a:pPr marL="285750" indent="-285750" algn="ctr">
              <a:buFont typeface="Arial" panose="020B0604020202020204" pitchFamily="34" charset="0"/>
              <a:buChar char="•"/>
            </a:pPr>
            <a:r>
              <a:rPr lang="it-IT" u="sng"/>
              <a:t>La schermata di gioco;</a:t>
            </a:r>
          </a:p>
          <a:p>
            <a:pPr marL="285750" indent="-285750" algn="ctr">
              <a:buFont typeface="Arial" panose="020B0604020202020204" pitchFamily="34" charset="0"/>
              <a:buChar char="•"/>
            </a:pPr>
            <a:r>
              <a:rPr lang="it-IT" u="sng"/>
              <a:t>La sidebar a destra.</a:t>
            </a:r>
          </a:p>
        </p:txBody>
      </p:sp>
      <p:sp>
        <p:nvSpPr>
          <p:cNvPr id="10" name="CasellaDiTesto 9">
            <a:extLst>
              <a:ext uri="{FF2B5EF4-FFF2-40B4-BE49-F238E27FC236}">
                <a16:creationId xmlns:a16="http://schemas.microsoft.com/office/drawing/2014/main" id="{29F6C4A8-7E99-8CAC-2759-EB672E98E83A}"/>
              </a:ext>
            </a:extLst>
          </p:cNvPr>
          <p:cNvSpPr txBox="1"/>
          <p:nvPr/>
        </p:nvSpPr>
        <p:spPr>
          <a:xfrm>
            <a:off x="2456873" y="2642616"/>
            <a:ext cx="7342910" cy="3139321"/>
          </a:xfrm>
          <a:prstGeom prst="rect">
            <a:avLst/>
          </a:prstGeom>
          <a:noFill/>
        </p:spPr>
        <p:txBody>
          <a:bodyPr wrap="square" rtlCol="0">
            <a:spAutoFit/>
          </a:bodyPr>
          <a:lstStyle/>
          <a:p>
            <a:pPr algn="ctr"/>
            <a:r>
              <a:rPr lang="it-IT"/>
              <a:t>Nella sidebar a sinistra troviamo:</a:t>
            </a:r>
          </a:p>
          <a:p>
            <a:pPr marL="285750" indent="-285750" algn="ctr">
              <a:buFont typeface="Arial" panose="020B0604020202020204" pitchFamily="34" charset="0"/>
              <a:buChar char="•"/>
            </a:pPr>
            <a:r>
              <a:rPr lang="it-IT" b="1"/>
              <a:t>Gli edifici disponibili</a:t>
            </a:r>
            <a:r>
              <a:rPr lang="it-IT"/>
              <a:t>;</a:t>
            </a:r>
          </a:p>
          <a:p>
            <a:pPr marL="285750" indent="-285750" algn="ctr">
              <a:buFont typeface="Arial" panose="020B0604020202020204" pitchFamily="34" charset="0"/>
              <a:buChar char="•"/>
            </a:pPr>
            <a:r>
              <a:rPr lang="it-IT" b="1"/>
              <a:t>La preview </a:t>
            </a:r>
            <a:r>
              <a:rPr lang="it-IT"/>
              <a:t>dell'edificio selezionato;</a:t>
            </a:r>
          </a:p>
          <a:p>
            <a:pPr marL="285750" indent="-285750" algn="ctr">
              <a:buFont typeface="Arial" panose="020B0604020202020204" pitchFamily="34" charset="0"/>
              <a:buChar char="•"/>
            </a:pPr>
            <a:r>
              <a:rPr lang="it-IT"/>
              <a:t>Un </a:t>
            </a:r>
            <a:r>
              <a:rPr lang="it-IT" b="1"/>
              <a:t>pulsante di rotazione </a:t>
            </a:r>
            <a:r>
              <a:rPr lang="it-IT"/>
              <a:t>dell'edificio.</a:t>
            </a:r>
          </a:p>
          <a:p>
            <a:pPr algn="ctr"/>
            <a:r>
              <a:rPr lang="it-IT"/>
              <a:t>Tutti gli utenti dispongono del pulsante ‘</a:t>
            </a:r>
            <a:r>
              <a:rPr lang="it-IT" b="1"/>
              <a:t>CANC</a:t>
            </a:r>
            <a:r>
              <a:rPr lang="it-IT"/>
              <a:t>’, limitato alla cancellazione degli edifici posseduti, valori ritrovati nella variabile </a:t>
            </a:r>
            <a:r>
              <a:rPr lang="it-IT" b="1" err="1"/>
              <a:t>userBuildings</a:t>
            </a:r>
            <a:r>
              <a:rPr lang="it-IT"/>
              <a:t> che viene ‘riempita’ dopo la chiamata </a:t>
            </a:r>
            <a:r>
              <a:rPr lang="it-IT" b="1" err="1"/>
              <a:t>selectUserBuildings</a:t>
            </a:r>
            <a:r>
              <a:rPr lang="it-IT" b="1"/>
              <a:t>/${</a:t>
            </a:r>
            <a:r>
              <a:rPr lang="it-IT" b="1" err="1"/>
              <a:t>mapId</a:t>
            </a:r>
            <a:r>
              <a:rPr lang="it-IT" b="1"/>
              <a:t>}.</a:t>
            </a:r>
          </a:p>
          <a:p>
            <a:pPr algn="ctr"/>
            <a:endParaRPr lang="it-IT"/>
          </a:p>
          <a:p>
            <a:pPr algn="ctr"/>
            <a:r>
              <a:rPr lang="it-IT"/>
              <a:t>L'utente incaricato della riscossione delle tasse è l'unico che dispone del pulsante ‘</a:t>
            </a:r>
            <a:r>
              <a:rPr lang="it-IT" b="1"/>
              <a:t>TAX’</a:t>
            </a:r>
            <a:r>
              <a:rPr lang="it-IT"/>
              <a:t>.</a:t>
            </a:r>
          </a:p>
        </p:txBody>
      </p:sp>
    </p:spTree>
    <p:extLst>
      <p:ext uri="{BB962C8B-B14F-4D97-AF65-F5344CB8AC3E}">
        <p14:creationId xmlns:p14="http://schemas.microsoft.com/office/powerpoint/2010/main" val="13362506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100000">
              <a:srgbClr val="F7F7F7"/>
            </a:gs>
            <a:gs pos="100000">
              <a:schemeClr val="bg2"/>
            </a:gs>
          </a:gsLst>
          <a:lin ang="21594000" scaled="0"/>
        </a:gradFill>
        <a:effectLst/>
      </p:bgPr>
    </p:bg>
    <p:spTree>
      <p:nvGrpSpPr>
        <p:cNvPr id="1" name="">
          <a:extLst>
            <a:ext uri="{FF2B5EF4-FFF2-40B4-BE49-F238E27FC236}">
              <a16:creationId xmlns:a16="http://schemas.microsoft.com/office/drawing/2014/main" id="{DC8A99E2-AC5B-ACA4-8329-487F034ECBB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DD8DFF0-04E9-5D40-D770-95910F53C708}"/>
              </a:ext>
            </a:extLst>
          </p:cNvPr>
          <p:cNvSpPr>
            <a:spLocks noGrp="1"/>
          </p:cNvSpPr>
          <p:nvPr>
            <p:ph type="ctrTitle"/>
          </p:nvPr>
        </p:nvSpPr>
        <p:spPr>
          <a:xfrm>
            <a:off x="0" y="-18472"/>
            <a:ext cx="12192000" cy="886968"/>
          </a:xfrm>
        </p:spPr>
        <p:txBody>
          <a:bodyPr>
            <a:normAutofit/>
          </a:bodyPr>
          <a:lstStyle/>
          <a:p>
            <a:r>
              <a:rPr lang="it-IT" sz="5400"/>
              <a:t>La mappa di gioco</a:t>
            </a:r>
          </a:p>
        </p:txBody>
      </p:sp>
      <p:sp>
        <p:nvSpPr>
          <p:cNvPr id="9" name="CasellaDiTesto 8">
            <a:extLst>
              <a:ext uri="{FF2B5EF4-FFF2-40B4-BE49-F238E27FC236}">
                <a16:creationId xmlns:a16="http://schemas.microsoft.com/office/drawing/2014/main" id="{FA73D8E2-5C6E-5654-594E-97072D9A8C22}"/>
              </a:ext>
            </a:extLst>
          </p:cNvPr>
          <p:cNvSpPr txBox="1"/>
          <p:nvPr/>
        </p:nvSpPr>
        <p:spPr>
          <a:xfrm>
            <a:off x="0" y="1179576"/>
            <a:ext cx="12192000" cy="1200329"/>
          </a:xfrm>
          <a:prstGeom prst="rect">
            <a:avLst/>
          </a:prstGeom>
          <a:noFill/>
        </p:spPr>
        <p:txBody>
          <a:bodyPr wrap="square" rtlCol="0">
            <a:spAutoFit/>
          </a:bodyPr>
          <a:lstStyle/>
          <a:p>
            <a:pPr algn="ctr"/>
            <a:r>
              <a:rPr lang="it-IT"/>
              <a:t>All’interno della mappa di gioco possiamo trovare 3 componenti principali:</a:t>
            </a:r>
          </a:p>
          <a:p>
            <a:pPr marL="285750" indent="-285750" algn="ctr">
              <a:buFont typeface="Arial" panose="020B0604020202020204" pitchFamily="34" charset="0"/>
              <a:buChar char="•"/>
            </a:pPr>
            <a:r>
              <a:rPr lang="it-IT" u="sng"/>
              <a:t>La sidebar a sinistra;</a:t>
            </a:r>
          </a:p>
          <a:p>
            <a:pPr marL="285750" indent="-285750" algn="ctr">
              <a:buFont typeface="Arial" panose="020B0604020202020204" pitchFamily="34" charset="0"/>
              <a:buChar char="•"/>
            </a:pPr>
            <a:r>
              <a:rPr lang="it-IT" u="sng"/>
              <a:t>La schermata di gioco;</a:t>
            </a:r>
          </a:p>
          <a:p>
            <a:pPr marL="285750" indent="-285750" algn="ctr">
              <a:buFont typeface="Arial" panose="020B0604020202020204" pitchFamily="34" charset="0"/>
              <a:buChar char="•"/>
            </a:pPr>
            <a:r>
              <a:rPr lang="it-IT" u="sng"/>
              <a:t>La sidebar a destra.</a:t>
            </a:r>
          </a:p>
        </p:txBody>
      </p:sp>
      <p:sp>
        <p:nvSpPr>
          <p:cNvPr id="10" name="CasellaDiTesto 9">
            <a:extLst>
              <a:ext uri="{FF2B5EF4-FFF2-40B4-BE49-F238E27FC236}">
                <a16:creationId xmlns:a16="http://schemas.microsoft.com/office/drawing/2014/main" id="{BEFA6F87-1542-F2B6-2DFA-26E7EB08B9CA}"/>
              </a:ext>
            </a:extLst>
          </p:cNvPr>
          <p:cNvSpPr txBox="1"/>
          <p:nvPr/>
        </p:nvSpPr>
        <p:spPr>
          <a:xfrm>
            <a:off x="1508760" y="2642616"/>
            <a:ext cx="4773168" cy="2585323"/>
          </a:xfrm>
          <a:prstGeom prst="rect">
            <a:avLst/>
          </a:prstGeom>
          <a:noFill/>
        </p:spPr>
        <p:txBody>
          <a:bodyPr wrap="square" rtlCol="0">
            <a:spAutoFit/>
          </a:bodyPr>
          <a:lstStyle/>
          <a:p>
            <a:r>
              <a:rPr lang="it-IT"/>
              <a:t>Il form di invio del denaro contiene:</a:t>
            </a:r>
          </a:p>
          <a:p>
            <a:pPr marL="285750" indent="-285750">
              <a:buFont typeface="Arial" panose="020B0604020202020204" pitchFamily="34" charset="0"/>
              <a:buChar char="•"/>
            </a:pPr>
            <a:r>
              <a:rPr lang="it-IT" b="1"/>
              <a:t>Una select </a:t>
            </a:r>
            <a:r>
              <a:rPr lang="it-IT"/>
              <a:t>con l’elenco degli utenti;</a:t>
            </a:r>
          </a:p>
          <a:p>
            <a:pPr marL="285750" indent="-285750">
              <a:buFont typeface="Arial" panose="020B0604020202020204" pitchFamily="34" charset="0"/>
              <a:buChar char="•"/>
            </a:pPr>
            <a:r>
              <a:rPr lang="it-IT" b="1"/>
              <a:t>Una input </a:t>
            </a:r>
            <a:r>
              <a:rPr lang="it-IT"/>
              <a:t>per il valore da inviare.</a:t>
            </a:r>
          </a:p>
          <a:p>
            <a:r>
              <a:rPr lang="it-IT"/>
              <a:t>La select degli utenti viene popolata dopo la chiamata di </a:t>
            </a:r>
            <a:r>
              <a:rPr lang="it-IT" b="1" err="1"/>
              <a:t>populateReceiverOptions</a:t>
            </a:r>
            <a:r>
              <a:rPr lang="it-IT"/>
              <a:t>.</a:t>
            </a:r>
          </a:p>
          <a:p>
            <a:r>
              <a:rPr lang="it-IT"/>
              <a:t>L’input è un campo libero dove l’utente scrive un valore intero.</a:t>
            </a:r>
          </a:p>
          <a:p>
            <a:r>
              <a:rPr lang="it-IT"/>
              <a:t>Dopo la conferma di invio, vengono aggiornati i budget e la modale si chiude.</a:t>
            </a:r>
          </a:p>
        </p:txBody>
      </p:sp>
      <p:pic>
        <p:nvPicPr>
          <p:cNvPr id="4" name="Immagine 3">
            <a:extLst>
              <a:ext uri="{FF2B5EF4-FFF2-40B4-BE49-F238E27FC236}">
                <a16:creationId xmlns:a16="http://schemas.microsoft.com/office/drawing/2014/main" id="{08695D5F-7483-B690-3289-404EFDF5CB69}"/>
              </a:ext>
            </a:extLst>
          </p:cNvPr>
          <p:cNvPicPr>
            <a:picLocks noChangeAspect="1"/>
          </p:cNvPicPr>
          <p:nvPr/>
        </p:nvPicPr>
        <p:blipFill>
          <a:blip r:embed="rId2"/>
          <a:stretch>
            <a:fillRect/>
          </a:stretch>
        </p:blipFill>
        <p:spPr>
          <a:xfrm>
            <a:off x="7575337" y="2842612"/>
            <a:ext cx="3411646" cy="2585324"/>
          </a:xfrm>
          <a:prstGeom prst="rect">
            <a:avLst/>
          </a:prstGeom>
        </p:spPr>
      </p:pic>
      <p:pic>
        <p:nvPicPr>
          <p:cNvPr id="3" name="Immagine 2">
            <a:extLst>
              <a:ext uri="{FF2B5EF4-FFF2-40B4-BE49-F238E27FC236}">
                <a16:creationId xmlns:a16="http://schemas.microsoft.com/office/drawing/2014/main" id="{E3A3A024-7224-2A7F-C766-2F6A53D2BD70}"/>
              </a:ext>
            </a:extLst>
          </p:cNvPr>
          <p:cNvPicPr>
            <a:picLocks noChangeAspect="1"/>
          </p:cNvPicPr>
          <p:nvPr/>
        </p:nvPicPr>
        <p:blipFill>
          <a:blip r:embed="rId3"/>
          <a:stretch>
            <a:fillRect/>
          </a:stretch>
        </p:blipFill>
        <p:spPr>
          <a:xfrm>
            <a:off x="0" y="0"/>
            <a:ext cx="1162750" cy="6858000"/>
          </a:xfrm>
          <a:prstGeom prst="rect">
            <a:avLst/>
          </a:prstGeom>
        </p:spPr>
      </p:pic>
    </p:spTree>
    <p:extLst>
      <p:ext uri="{BB962C8B-B14F-4D97-AF65-F5344CB8AC3E}">
        <p14:creationId xmlns:p14="http://schemas.microsoft.com/office/powerpoint/2010/main" val="9043824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a:extLst>
              <a:ext uri="{FF2B5EF4-FFF2-40B4-BE49-F238E27FC236}">
                <a16:creationId xmlns:a16="http://schemas.microsoft.com/office/drawing/2014/main" id="{FB5F983D-2F56-FBDF-51E7-B26260309B25}"/>
              </a:ext>
            </a:extLst>
          </p:cNvPr>
          <p:cNvSpPr txBox="1">
            <a:spLocks/>
          </p:cNvSpPr>
          <p:nvPr/>
        </p:nvSpPr>
        <p:spPr>
          <a:xfrm>
            <a:off x="0" y="0"/>
            <a:ext cx="12192000" cy="8869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5400"/>
              <a:t>La mappa di gioco</a:t>
            </a:r>
          </a:p>
        </p:txBody>
      </p:sp>
      <p:sp>
        <p:nvSpPr>
          <p:cNvPr id="10" name="CasellaDiTesto 9">
            <a:extLst>
              <a:ext uri="{FF2B5EF4-FFF2-40B4-BE49-F238E27FC236}">
                <a16:creationId xmlns:a16="http://schemas.microsoft.com/office/drawing/2014/main" id="{FC0DA68B-6282-C2DC-3935-D8167C0CEE97}"/>
              </a:ext>
            </a:extLst>
          </p:cNvPr>
          <p:cNvSpPr txBox="1"/>
          <p:nvPr/>
        </p:nvSpPr>
        <p:spPr>
          <a:xfrm>
            <a:off x="0" y="1179576"/>
            <a:ext cx="12192000" cy="1200329"/>
          </a:xfrm>
          <a:prstGeom prst="rect">
            <a:avLst/>
          </a:prstGeom>
          <a:noFill/>
        </p:spPr>
        <p:txBody>
          <a:bodyPr wrap="square" rtlCol="0">
            <a:spAutoFit/>
          </a:bodyPr>
          <a:lstStyle/>
          <a:p>
            <a:pPr algn="ctr"/>
            <a:r>
              <a:rPr lang="it-IT"/>
              <a:t>All’interno della mappa di gioco possiamo trovare 3 componenti principali:</a:t>
            </a:r>
          </a:p>
          <a:p>
            <a:pPr marL="285750" indent="-285750" algn="ctr">
              <a:buFont typeface="Arial" panose="020B0604020202020204" pitchFamily="34" charset="0"/>
              <a:buChar char="•"/>
            </a:pPr>
            <a:r>
              <a:rPr lang="it-IT" u="sng"/>
              <a:t>La sidebar a sinistra;</a:t>
            </a:r>
          </a:p>
          <a:p>
            <a:pPr marL="285750" indent="-285750" algn="ctr">
              <a:buFont typeface="Arial" panose="020B0604020202020204" pitchFamily="34" charset="0"/>
              <a:buChar char="•"/>
            </a:pPr>
            <a:r>
              <a:rPr lang="it-IT" u="sng"/>
              <a:t>La schermata di gioco;</a:t>
            </a:r>
          </a:p>
          <a:p>
            <a:pPr marL="285750" indent="-285750" algn="ctr">
              <a:buFont typeface="Arial" panose="020B0604020202020204" pitchFamily="34" charset="0"/>
              <a:buChar char="•"/>
            </a:pPr>
            <a:r>
              <a:rPr lang="it-IT" u="sng"/>
              <a:t>La sidebar a destra.</a:t>
            </a:r>
          </a:p>
        </p:txBody>
      </p:sp>
      <p:sp>
        <p:nvSpPr>
          <p:cNvPr id="11" name="CasellaDiTesto 10">
            <a:extLst>
              <a:ext uri="{FF2B5EF4-FFF2-40B4-BE49-F238E27FC236}">
                <a16:creationId xmlns:a16="http://schemas.microsoft.com/office/drawing/2014/main" id="{F6811B65-EE93-6D9B-3036-82E7063C6E18}"/>
              </a:ext>
            </a:extLst>
          </p:cNvPr>
          <p:cNvSpPr txBox="1"/>
          <p:nvPr/>
        </p:nvSpPr>
        <p:spPr>
          <a:xfrm>
            <a:off x="0" y="2566999"/>
            <a:ext cx="3639312" cy="3693319"/>
          </a:xfrm>
          <a:prstGeom prst="rect">
            <a:avLst/>
          </a:prstGeom>
          <a:noFill/>
        </p:spPr>
        <p:txBody>
          <a:bodyPr wrap="square" rtlCol="0">
            <a:spAutoFit/>
          </a:bodyPr>
          <a:lstStyle/>
          <a:p>
            <a:r>
              <a:rPr lang="it-IT"/>
              <a:t>La </a:t>
            </a:r>
            <a:r>
              <a:rPr lang="it-IT" sz="1800"/>
              <a:t>schermata di gioco contiene tutti gli edifici già piazzati o un ‘prato</a:t>
            </a:r>
            <a:r>
              <a:rPr lang="it-IT"/>
              <a:t>’</a:t>
            </a:r>
            <a:r>
              <a:rPr lang="it-IT" sz="1800"/>
              <a:t> dove piazzare i propri edifici.</a:t>
            </a:r>
          </a:p>
          <a:p>
            <a:r>
              <a:rPr lang="it-IT" sz="1800"/>
              <a:t>Gli edifici preesistenti vengono caricati dalla chiamata </a:t>
            </a:r>
            <a:r>
              <a:rPr lang="it-IT" sz="1800" b="1" err="1"/>
              <a:t>loadBuildings</a:t>
            </a:r>
            <a:r>
              <a:rPr lang="it-IT" b="1"/>
              <a:t>/${</a:t>
            </a:r>
            <a:r>
              <a:rPr lang="it-IT" b="1" err="1"/>
              <a:t>mapId</a:t>
            </a:r>
            <a:r>
              <a:rPr lang="it-IT" b="1"/>
              <a:t>}</a:t>
            </a:r>
            <a:r>
              <a:rPr lang="it-IT"/>
              <a:t> alla quale viene restituito un array di N elementi composti come: </a:t>
            </a:r>
          </a:p>
          <a:p>
            <a:pPr marL="285750" indent="-285750">
              <a:buFont typeface="Arial" panose="020B0604020202020204" pitchFamily="34" charset="0"/>
              <a:buChar char="•"/>
            </a:pPr>
            <a:r>
              <a:rPr lang="en-US" b="1" err="1"/>
              <a:t>building_type</a:t>
            </a:r>
            <a:r>
              <a:rPr lang="en-US"/>
              <a:t>;</a:t>
            </a:r>
          </a:p>
          <a:p>
            <a:pPr marL="285750" indent="-285750">
              <a:buFont typeface="Arial" panose="020B0604020202020204" pitchFamily="34" charset="0"/>
              <a:buChar char="•"/>
            </a:pPr>
            <a:r>
              <a:rPr lang="en-US" b="1" err="1"/>
              <a:t>x_coordinate</a:t>
            </a:r>
            <a:r>
              <a:rPr lang="en-US"/>
              <a:t>;</a:t>
            </a:r>
          </a:p>
          <a:p>
            <a:pPr marL="285750" indent="-285750">
              <a:buFont typeface="Arial" panose="020B0604020202020204" pitchFamily="34" charset="0"/>
              <a:buChar char="•"/>
            </a:pPr>
            <a:r>
              <a:rPr lang="en-US" b="1" err="1"/>
              <a:t>y_coordinate</a:t>
            </a:r>
            <a:r>
              <a:rPr lang="en-US"/>
              <a:t>;</a:t>
            </a:r>
          </a:p>
          <a:p>
            <a:pPr marL="285750" indent="-285750">
              <a:buFont typeface="Arial" panose="020B0604020202020204" pitchFamily="34" charset="0"/>
              <a:buChar char="•"/>
            </a:pPr>
            <a:r>
              <a:rPr lang="en-US" b="1"/>
              <a:t>Rotated</a:t>
            </a:r>
            <a:r>
              <a:rPr lang="en-US"/>
              <a:t>.</a:t>
            </a:r>
          </a:p>
        </p:txBody>
      </p:sp>
      <p:pic>
        <p:nvPicPr>
          <p:cNvPr id="3" name="Immagine 2">
            <a:extLst>
              <a:ext uri="{FF2B5EF4-FFF2-40B4-BE49-F238E27FC236}">
                <a16:creationId xmlns:a16="http://schemas.microsoft.com/office/drawing/2014/main" id="{382B7007-BAE1-084A-6623-A2C3F8BF9A2A}"/>
              </a:ext>
            </a:extLst>
          </p:cNvPr>
          <p:cNvPicPr>
            <a:picLocks noChangeAspect="1"/>
          </p:cNvPicPr>
          <p:nvPr/>
        </p:nvPicPr>
        <p:blipFill>
          <a:blip r:embed="rId2"/>
          <a:stretch>
            <a:fillRect/>
          </a:stretch>
        </p:blipFill>
        <p:spPr>
          <a:xfrm>
            <a:off x="3462821" y="2672513"/>
            <a:ext cx="5559344" cy="3244712"/>
          </a:xfrm>
          <a:prstGeom prst="rect">
            <a:avLst/>
          </a:prstGeom>
        </p:spPr>
      </p:pic>
      <p:sp>
        <p:nvSpPr>
          <p:cNvPr id="5" name="CasellaDiTesto 4">
            <a:extLst>
              <a:ext uri="{FF2B5EF4-FFF2-40B4-BE49-F238E27FC236}">
                <a16:creationId xmlns:a16="http://schemas.microsoft.com/office/drawing/2014/main" id="{1E8FC689-CEF9-78FD-7826-AE5DCF990CCD}"/>
              </a:ext>
            </a:extLst>
          </p:cNvPr>
          <p:cNvSpPr txBox="1"/>
          <p:nvPr/>
        </p:nvSpPr>
        <p:spPr>
          <a:xfrm>
            <a:off x="9040453" y="2569464"/>
            <a:ext cx="3241548" cy="3693319"/>
          </a:xfrm>
          <a:prstGeom prst="rect">
            <a:avLst/>
          </a:prstGeom>
          <a:noFill/>
        </p:spPr>
        <p:txBody>
          <a:bodyPr wrap="square">
            <a:spAutoFit/>
          </a:bodyPr>
          <a:lstStyle/>
          <a:p>
            <a:r>
              <a:rPr lang="en-US" sz="1800"/>
              <a:t>Una volta </a:t>
            </a:r>
            <a:r>
              <a:rPr lang="en-US" sz="1800" err="1"/>
              <a:t>selezionato</a:t>
            </a:r>
            <a:r>
              <a:rPr lang="en-US" sz="1800"/>
              <a:t> un </a:t>
            </a:r>
            <a:r>
              <a:rPr lang="en-US" sz="1800" err="1"/>
              <a:t>edificio</a:t>
            </a:r>
            <a:r>
              <a:rPr lang="en-US" sz="1800"/>
              <a:t>, </a:t>
            </a:r>
            <a:r>
              <a:rPr lang="en-US" sz="1800" err="1"/>
              <a:t>muovendoci</a:t>
            </a:r>
            <a:r>
              <a:rPr lang="en-US" sz="1800"/>
              <a:t> con il mouse </a:t>
            </a:r>
            <a:r>
              <a:rPr lang="en-US" sz="1800" err="1"/>
              <a:t>nella</a:t>
            </a:r>
            <a:r>
              <a:rPr lang="en-US" sz="1800"/>
              <a:t> </a:t>
            </a:r>
            <a:r>
              <a:rPr lang="en-US" sz="1800" err="1"/>
              <a:t>schermata</a:t>
            </a:r>
            <a:r>
              <a:rPr lang="en-US" sz="1800"/>
              <a:t> di </a:t>
            </a:r>
            <a:r>
              <a:rPr lang="en-US" sz="1800" err="1"/>
              <a:t>gioco</a:t>
            </a:r>
            <a:r>
              <a:rPr lang="en-US" sz="1800"/>
              <a:t>, </a:t>
            </a:r>
            <a:r>
              <a:rPr lang="en-US" sz="1800" err="1"/>
              <a:t>si</a:t>
            </a:r>
            <a:r>
              <a:rPr lang="en-US" sz="1800"/>
              <a:t> </a:t>
            </a:r>
            <a:r>
              <a:rPr lang="en-US" sz="1800" err="1"/>
              <a:t>può</a:t>
            </a:r>
            <a:r>
              <a:rPr lang="en-US" sz="1800"/>
              <a:t> </a:t>
            </a:r>
            <a:r>
              <a:rPr lang="en-US" sz="1800" err="1"/>
              <a:t>vedere</a:t>
            </a:r>
            <a:r>
              <a:rPr lang="en-US" sz="1800"/>
              <a:t> </a:t>
            </a:r>
            <a:r>
              <a:rPr lang="en-US" sz="1800" err="1"/>
              <a:t>una</a:t>
            </a:r>
            <a:r>
              <a:rPr lang="en-US" sz="1800"/>
              <a:t> preview </a:t>
            </a:r>
            <a:r>
              <a:rPr lang="en-US" sz="1800" err="1"/>
              <a:t>dell’edificio</a:t>
            </a:r>
            <a:r>
              <a:rPr lang="en-US" sz="1800"/>
              <a:t> prima del </a:t>
            </a:r>
            <a:r>
              <a:rPr lang="en-US" sz="1800" err="1"/>
              <a:t>suo</a:t>
            </a:r>
            <a:r>
              <a:rPr lang="en-US" sz="1800"/>
              <a:t> </a:t>
            </a:r>
            <a:r>
              <a:rPr lang="en-US" sz="1800" err="1"/>
              <a:t>posizionamento</a:t>
            </a:r>
            <a:r>
              <a:rPr lang="en-US"/>
              <a:t>.</a:t>
            </a:r>
          </a:p>
          <a:p>
            <a:r>
              <a:rPr lang="en-US"/>
              <a:t>Questa preview è </a:t>
            </a:r>
            <a:r>
              <a:rPr lang="en-US" err="1"/>
              <a:t>realizzabile</a:t>
            </a:r>
            <a:r>
              <a:rPr lang="en-US"/>
              <a:t> </a:t>
            </a:r>
            <a:r>
              <a:rPr lang="en-US" err="1"/>
              <a:t>grazie</a:t>
            </a:r>
            <a:r>
              <a:rPr lang="en-US"/>
              <a:t> </a:t>
            </a:r>
            <a:r>
              <a:rPr lang="en-US" err="1"/>
              <a:t>all’</a:t>
            </a:r>
            <a:r>
              <a:rPr lang="en-US" b="1" err="1"/>
              <a:t>addEventListener</a:t>
            </a:r>
            <a:r>
              <a:rPr lang="en-US" b="1"/>
              <a:t> </a:t>
            </a:r>
            <a:r>
              <a:rPr lang="en-US"/>
              <a:t>di </a:t>
            </a:r>
            <a:r>
              <a:rPr lang="en-US" b="1" err="1"/>
              <a:t>mousemove</a:t>
            </a:r>
            <a:r>
              <a:rPr lang="en-US"/>
              <a:t>, </a:t>
            </a:r>
            <a:r>
              <a:rPr lang="en-US" err="1"/>
              <a:t>che</a:t>
            </a:r>
            <a:r>
              <a:rPr lang="en-US"/>
              <a:t>, </a:t>
            </a:r>
            <a:r>
              <a:rPr lang="en-US" err="1"/>
              <a:t>preso</a:t>
            </a:r>
            <a:r>
              <a:rPr lang="en-US"/>
              <a:t> </a:t>
            </a:r>
            <a:r>
              <a:rPr lang="en-US" err="1"/>
              <a:t>l’edificio</a:t>
            </a:r>
            <a:r>
              <a:rPr lang="en-US"/>
              <a:t> </a:t>
            </a:r>
            <a:r>
              <a:rPr lang="en-US" err="1"/>
              <a:t>selezionato</a:t>
            </a:r>
            <a:r>
              <a:rPr lang="en-US"/>
              <a:t> e la coordinate </a:t>
            </a:r>
            <a:r>
              <a:rPr lang="en-US" err="1"/>
              <a:t>attuali</a:t>
            </a:r>
            <a:r>
              <a:rPr lang="en-US"/>
              <a:t> del mouse, ne </a:t>
            </a:r>
            <a:r>
              <a:rPr lang="en-US" err="1"/>
              <a:t>calcola</a:t>
            </a:r>
            <a:r>
              <a:rPr lang="en-US"/>
              <a:t> il </a:t>
            </a:r>
            <a:r>
              <a:rPr lang="en-US" err="1"/>
              <a:t>posizionamento</a:t>
            </a:r>
            <a:r>
              <a:rPr lang="en-US"/>
              <a:t> </a:t>
            </a:r>
            <a:r>
              <a:rPr lang="en-US" err="1"/>
              <a:t>ipotetico</a:t>
            </a:r>
            <a:r>
              <a:rPr lang="en-US"/>
              <a:t>.</a:t>
            </a:r>
            <a:endParaRPr lang="en-US" sz="1800"/>
          </a:p>
        </p:txBody>
      </p:sp>
    </p:spTree>
    <p:extLst>
      <p:ext uri="{BB962C8B-B14F-4D97-AF65-F5344CB8AC3E}">
        <p14:creationId xmlns:p14="http://schemas.microsoft.com/office/powerpoint/2010/main" val="24128554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507C4-CAA0-94D5-0FC9-36AF08E0ED31}"/>
            </a:ext>
          </a:extLst>
        </p:cNvPr>
        <p:cNvGrpSpPr/>
        <p:nvPr/>
      </p:nvGrpSpPr>
      <p:grpSpPr>
        <a:xfrm>
          <a:off x="0" y="0"/>
          <a:ext cx="0" cy="0"/>
          <a:chOff x="0" y="0"/>
          <a:chExt cx="0" cy="0"/>
        </a:xfrm>
      </p:grpSpPr>
      <p:sp>
        <p:nvSpPr>
          <p:cNvPr id="4" name="Titolo 1">
            <a:extLst>
              <a:ext uri="{FF2B5EF4-FFF2-40B4-BE49-F238E27FC236}">
                <a16:creationId xmlns:a16="http://schemas.microsoft.com/office/drawing/2014/main" id="{D25A886B-DC58-53D7-5D47-00AB7C452DE0}"/>
              </a:ext>
            </a:extLst>
          </p:cNvPr>
          <p:cNvSpPr txBox="1">
            <a:spLocks/>
          </p:cNvSpPr>
          <p:nvPr/>
        </p:nvSpPr>
        <p:spPr>
          <a:xfrm>
            <a:off x="0" y="0"/>
            <a:ext cx="12192000" cy="8869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5400"/>
              <a:t>La mappa di gioco</a:t>
            </a:r>
          </a:p>
        </p:txBody>
      </p:sp>
      <p:sp>
        <p:nvSpPr>
          <p:cNvPr id="10" name="CasellaDiTesto 9">
            <a:extLst>
              <a:ext uri="{FF2B5EF4-FFF2-40B4-BE49-F238E27FC236}">
                <a16:creationId xmlns:a16="http://schemas.microsoft.com/office/drawing/2014/main" id="{5B86D3D6-FB13-DDEA-5626-0A5CC36B46F9}"/>
              </a:ext>
            </a:extLst>
          </p:cNvPr>
          <p:cNvSpPr txBox="1"/>
          <p:nvPr/>
        </p:nvSpPr>
        <p:spPr>
          <a:xfrm>
            <a:off x="0" y="1179576"/>
            <a:ext cx="12192000" cy="1200329"/>
          </a:xfrm>
          <a:prstGeom prst="rect">
            <a:avLst/>
          </a:prstGeom>
          <a:noFill/>
        </p:spPr>
        <p:txBody>
          <a:bodyPr wrap="square" rtlCol="0">
            <a:spAutoFit/>
          </a:bodyPr>
          <a:lstStyle/>
          <a:p>
            <a:pPr algn="ctr"/>
            <a:r>
              <a:rPr lang="it-IT"/>
              <a:t>All’interno della mappa di gioco possiamo trovare 3 componenti principali:</a:t>
            </a:r>
          </a:p>
          <a:p>
            <a:pPr marL="285750" indent="-285750" algn="ctr">
              <a:buFont typeface="Arial" panose="020B0604020202020204" pitchFamily="34" charset="0"/>
              <a:buChar char="•"/>
            </a:pPr>
            <a:r>
              <a:rPr lang="it-IT" u="sng"/>
              <a:t>La sidebar a sinistra;</a:t>
            </a:r>
          </a:p>
          <a:p>
            <a:pPr marL="285750" indent="-285750" algn="ctr">
              <a:buFont typeface="Arial" panose="020B0604020202020204" pitchFamily="34" charset="0"/>
              <a:buChar char="•"/>
            </a:pPr>
            <a:r>
              <a:rPr lang="it-IT" u="sng"/>
              <a:t>La schermata di gioco;</a:t>
            </a:r>
          </a:p>
          <a:p>
            <a:pPr marL="285750" indent="-285750" algn="ctr">
              <a:buFont typeface="Arial" panose="020B0604020202020204" pitchFamily="34" charset="0"/>
              <a:buChar char="•"/>
            </a:pPr>
            <a:r>
              <a:rPr lang="it-IT" u="sng"/>
              <a:t>La sidebar a destra.</a:t>
            </a:r>
          </a:p>
        </p:txBody>
      </p:sp>
      <p:sp>
        <p:nvSpPr>
          <p:cNvPr id="11" name="CasellaDiTesto 10">
            <a:extLst>
              <a:ext uri="{FF2B5EF4-FFF2-40B4-BE49-F238E27FC236}">
                <a16:creationId xmlns:a16="http://schemas.microsoft.com/office/drawing/2014/main" id="{14EA0BCE-3230-8D34-0FD7-1709DB09BDAC}"/>
              </a:ext>
            </a:extLst>
          </p:cNvPr>
          <p:cNvSpPr txBox="1"/>
          <p:nvPr/>
        </p:nvSpPr>
        <p:spPr>
          <a:xfrm>
            <a:off x="0" y="2668299"/>
            <a:ext cx="3310128" cy="3416320"/>
          </a:xfrm>
          <a:prstGeom prst="rect">
            <a:avLst/>
          </a:prstGeom>
          <a:noFill/>
        </p:spPr>
        <p:txBody>
          <a:bodyPr wrap="square" rtlCol="0">
            <a:spAutoFit/>
          </a:bodyPr>
          <a:lstStyle/>
          <a:p>
            <a:r>
              <a:rPr lang="it-IT"/>
              <a:t>Al click, abbiamo l’</a:t>
            </a:r>
            <a:r>
              <a:rPr lang="it-IT" b="1" err="1"/>
              <a:t>addEventListener</a:t>
            </a:r>
            <a:r>
              <a:rPr lang="it-IT"/>
              <a:t> di </a:t>
            </a:r>
            <a:r>
              <a:rPr lang="it-IT" b="1" err="1"/>
              <a:t>mousedown</a:t>
            </a:r>
            <a:r>
              <a:rPr lang="it-IT" b="1"/>
              <a:t> </a:t>
            </a:r>
            <a:r>
              <a:rPr lang="it-IT"/>
              <a:t>che prende l’edificio selezionato, le coordinate del click e controlla se l’area è occupata. Se si ha selezionato il tasto di </a:t>
            </a:r>
            <a:r>
              <a:rPr lang="it-IT" b="1"/>
              <a:t>CANC </a:t>
            </a:r>
            <a:r>
              <a:rPr lang="it-IT"/>
              <a:t>e l’area è occupata, l’edificio verrà cancellato solo se posseduto dall’utente loggato, altrimenti si aprirà l’</a:t>
            </a:r>
            <a:r>
              <a:rPr lang="it-IT" err="1"/>
              <a:t>alert</a:t>
            </a:r>
            <a:r>
              <a:rPr lang="it-IT"/>
              <a:t> di errore. </a:t>
            </a:r>
            <a:endParaRPr lang="en-US" sz="1800"/>
          </a:p>
        </p:txBody>
      </p:sp>
      <p:pic>
        <p:nvPicPr>
          <p:cNvPr id="3" name="Immagine 2">
            <a:extLst>
              <a:ext uri="{FF2B5EF4-FFF2-40B4-BE49-F238E27FC236}">
                <a16:creationId xmlns:a16="http://schemas.microsoft.com/office/drawing/2014/main" id="{A05BC14F-C473-4976-9493-E9231BB0B6C2}"/>
              </a:ext>
            </a:extLst>
          </p:cNvPr>
          <p:cNvPicPr>
            <a:picLocks noChangeAspect="1"/>
          </p:cNvPicPr>
          <p:nvPr/>
        </p:nvPicPr>
        <p:blipFill>
          <a:blip r:embed="rId2"/>
          <a:stretch>
            <a:fillRect/>
          </a:stretch>
        </p:blipFill>
        <p:spPr>
          <a:xfrm>
            <a:off x="3462821" y="2668299"/>
            <a:ext cx="5559344" cy="3249699"/>
          </a:xfrm>
          <a:prstGeom prst="rect">
            <a:avLst/>
          </a:prstGeom>
        </p:spPr>
      </p:pic>
      <p:sp>
        <p:nvSpPr>
          <p:cNvPr id="6" name="CasellaDiTesto 5">
            <a:extLst>
              <a:ext uri="{FF2B5EF4-FFF2-40B4-BE49-F238E27FC236}">
                <a16:creationId xmlns:a16="http://schemas.microsoft.com/office/drawing/2014/main" id="{0C3C5F64-A1A5-94AA-C4FD-6EC226AFB360}"/>
              </a:ext>
            </a:extLst>
          </p:cNvPr>
          <p:cNvSpPr txBox="1"/>
          <p:nvPr/>
        </p:nvSpPr>
        <p:spPr>
          <a:xfrm>
            <a:off x="9022165" y="3143787"/>
            <a:ext cx="3169835" cy="2031325"/>
          </a:xfrm>
          <a:prstGeom prst="rect">
            <a:avLst/>
          </a:prstGeom>
          <a:noFill/>
        </p:spPr>
        <p:txBody>
          <a:bodyPr wrap="square">
            <a:spAutoFit/>
          </a:bodyPr>
          <a:lstStyle/>
          <a:p>
            <a:r>
              <a:rPr lang="it-IT"/>
              <a:t>Se l’area invece è libera, verranno effettuate 4 chiamate:</a:t>
            </a:r>
          </a:p>
          <a:p>
            <a:pPr marL="285750" indent="-285750">
              <a:buFont typeface="Arial" panose="020B0604020202020204" pitchFamily="34" charset="0"/>
              <a:buChar char="•"/>
            </a:pPr>
            <a:r>
              <a:rPr lang="it-IT" b="1" err="1"/>
              <a:t>saveBuildingDB</a:t>
            </a:r>
            <a:r>
              <a:rPr lang="it-IT"/>
              <a:t>;</a:t>
            </a:r>
          </a:p>
          <a:p>
            <a:pPr marL="285750" indent="-285750">
              <a:buFont typeface="Arial" panose="020B0604020202020204" pitchFamily="34" charset="0"/>
              <a:buChar char="•"/>
            </a:pPr>
            <a:r>
              <a:rPr lang="it-IT" b="1" err="1"/>
              <a:t>updateHappinessDB</a:t>
            </a:r>
            <a:r>
              <a:rPr lang="it-IT"/>
              <a:t>;</a:t>
            </a:r>
          </a:p>
          <a:p>
            <a:pPr marL="285750" indent="-285750">
              <a:buFont typeface="Arial" panose="020B0604020202020204" pitchFamily="34" charset="0"/>
              <a:buChar char="•"/>
            </a:pPr>
            <a:r>
              <a:rPr lang="it-IT" b="1" err="1"/>
              <a:t>updateBudgetDB</a:t>
            </a:r>
            <a:r>
              <a:rPr lang="it-IT"/>
              <a:t>;</a:t>
            </a:r>
          </a:p>
          <a:p>
            <a:pPr marL="285750" indent="-285750">
              <a:buFont typeface="Arial" panose="020B0604020202020204" pitchFamily="34" charset="0"/>
              <a:buChar char="•"/>
            </a:pPr>
            <a:r>
              <a:rPr lang="it-IT" b="1" err="1"/>
              <a:t>updateCitizensDB</a:t>
            </a:r>
            <a:r>
              <a:rPr lang="it-IT"/>
              <a:t>;</a:t>
            </a:r>
          </a:p>
        </p:txBody>
      </p:sp>
    </p:spTree>
    <p:extLst>
      <p:ext uri="{BB962C8B-B14F-4D97-AF65-F5344CB8AC3E}">
        <p14:creationId xmlns:p14="http://schemas.microsoft.com/office/powerpoint/2010/main" val="6298047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9CA30-4378-4E8C-64F8-92390EC997FE}"/>
            </a:ext>
          </a:extLst>
        </p:cNvPr>
        <p:cNvGrpSpPr/>
        <p:nvPr/>
      </p:nvGrpSpPr>
      <p:grpSpPr>
        <a:xfrm>
          <a:off x="0" y="0"/>
          <a:ext cx="0" cy="0"/>
          <a:chOff x="0" y="0"/>
          <a:chExt cx="0" cy="0"/>
        </a:xfrm>
      </p:grpSpPr>
      <p:sp>
        <p:nvSpPr>
          <p:cNvPr id="4" name="Titolo 1">
            <a:extLst>
              <a:ext uri="{FF2B5EF4-FFF2-40B4-BE49-F238E27FC236}">
                <a16:creationId xmlns:a16="http://schemas.microsoft.com/office/drawing/2014/main" id="{5C14087F-A1C6-C2D4-0CEA-64CB6BDDD35C}"/>
              </a:ext>
            </a:extLst>
          </p:cNvPr>
          <p:cNvSpPr txBox="1">
            <a:spLocks/>
          </p:cNvSpPr>
          <p:nvPr/>
        </p:nvSpPr>
        <p:spPr>
          <a:xfrm>
            <a:off x="0" y="0"/>
            <a:ext cx="12192000" cy="8869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5400"/>
              <a:t>La mappa di gioco</a:t>
            </a:r>
          </a:p>
        </p:txBody>
      </p:sp>
      <p:pic>
        <p:nvPicPr>
          <p:cNvPr id="3" name="Immagine 2">
            <a:extLst>
              <a:ext uri="{FF2B5EF4-FFF2-40B4-BE49-F238E27FC236}">
                <a16:creationId xmlns:a16="http://schemas.microsoft.com/office/drawing/2014/main" id="{425A0B46-43C6-5BEE-0499-99213A8F1C91}"/>
              </a:ext>
            </a:extLst>
          </p:cNvPr>
          <p:cNvPicPr>
            <a:picLocks noChangeAspect="1"/>
          </p:cNvPicPr>
          <p:nvPr/>
        </p:nvPicPr>
        <p:blipFill>
          <a:blip r:embed="rId2"/>
          <a:stretch>
            <a:fillRect/>
          </a:stretch>
        </p:blipFill>
        <p:spPr>
          <a:xfrm>
            <a:off x="10990924" y="0"/>
            <a:ext cx="1201076" cy="6858000"/>
          </a:xfrm>
          <a:prstGeom prst="rect">
            <a:avLst/>
          </a:prstGeom>
        </p:spPr>
      </p:pic>
      <p:sp>
        <p:nvSpPr>
          <p:cNvPr id="8" name="CasellaDiTesto 7">
            <a:extLst>
              <a:ext uri="{FF2B5EF4-FFF2-40B4-BE49-F238E27FC236}">
                <a16:creationId xmlns:a16="http://schemas.microsoft.com/office/drawing/2014/main" id="{86F15C1C-649A-A39C-49BA-86E4993A7278}"/>
              </a:ext>
            </a:extLst>
          </p:cNvPr>
          <p:cNvSpPr txBox="1"/>
          <p:nvPr/>
        </p:nvSpPr>
        <p:spPr>
          <a:xfrm>
            <a:off x="0" y="1179576"/>
            <a:ext cx="12192000" cy="1200329"/>
          </a:xfrm>
          <a:prstGeom prst="rect">
            <a:avLst/>
          </a:prstGeom>
          <a:noFill/>
        </p:spPr>
        <p:txBody>
          <a:bodyPr wrap="square" rtlCol="0">
            <a:spAutoFit/>
          </a:bodyPr>
          <a:lstStyle/>
          <a:p>
            <a:pPr algn="ctr"/>
            <a:r>
              <a:rPr lang="it-IT"/>
              <a:t>All’interno della mappa di gioco possiamo trovare 3 componenti principali:</a:t>
            </a:r>
          </a:p>
          <a:p>
            <a:pPr marL="285750" indent="-285750" algn="ctr">
              <a:buFont typeface="Arial" panose="020B0604020202020204" pitchFamily="34" charset="0"/>
              <a:buChar char="•"/>
            </a:pPr>
            <a:r>
              <a:rPr lang="it-IT" u="sng"/>
              <a:t>La sidebar a sinistra;</a:t>
            </a:r>
          </a:p>
          <a:p>
            <a:pPr marL="285750" indent="-285750" algn="ctr">
              <a:buFont typeface="Arial" panose="020B0604020202020204" pitchFamily="34" charset="0"/>
              <a:buChar char="•"/>
            </a:pPr>
            <a:r>
              <a:rPr lang="it-IT" u="sng"/>
              <a:t>La schermata di gioco;</a:t>
            </a:r>
          </a:p>
          <a:p>
            <a:pPr marL="285750" indent="-285750" algn="ctr">
              <a:buFont typeface="Arial" panose="020B0604020202020204" pitchFamily="34" charset="0"/>
              <a:buChar char="•"/>
            </a:pPr>
            <a:r>
              <a:rPr lang="it-IT" u="sng"/>
              <a:t>La sidebar a destra.</a:t>
            </a:r>
          </a:p>
        </p:txBody>
      </p:sp>
      <p:sp>
        <p:nvSpPr>
          <p:cNvPr id="6" name="CasellaDiTesto 5">
            <a:extLst>
              <a:ext uri="{FF2B5EF4-FFF2-40B4-BE49-F238E27FC236}">
                <a16:creationId xmlns:a16="http://schemas.microsoft.com/office/drawing/2014/main" id="{AD1C07DE-B1AF-2495-2ED3-9B6728A21581}"/>
              </a:ext>
            </a:extLst>
          </p:cNvPr>
          <p:cNvSpPr txBox="1"/>
          <p:nvPr/>
        </p:nvSpPr>
        <p:spPr>
          <a:xfrm>
            <a:off x="2430288" y="2672513"/>
            <a:ext cx="7331423" cy="2031325"/>
          </a:xfrm>
          <a:prstGeom prst="rect">
            <a:avLst/>
          </a:prstGeom>
          <a:noFill/>
        </p:spPr>
        <p:txBody>
          <a:bodyPr wrap="square">
            <a:spAutoFit/>
          </a:bodyPr>
          <a:lstStyle/>
          <a:p>
            <a:pPr algn="ctr"/>
            <a:r>
              <a:rPr lang="it-IT" sz="1800" u="sng"/>
              <a:t>Nella sidebar a destra </a:t>
            </a:r>
            <a:r>
              <a:rPr lang="it-IT" sz="1800"/>
              <a:t>abbiamo:</a:t>
            </a:r>
          </a:p>
          <a:p>
            <a:pPr marL="482850" indent="-285750" algn="ctr">
              <a:buFont typeface="Arial" panose="020B0604020202020204" pitchFamily="34" charset="0"/>
              <a:buChar char="•"/>
            </a:pPr>
            <a:r>
              <a:rPr lang="it-IT" sz="1800" b="1"/>
              <a:t>LOGOUT</a:t>
            </a:r>
            <a:r>
              <a:rPr lang="it-IT" sz="1800"/>
              <a:t>;</a:t>
            </a:r>
          </a:p>
          <a:p>
            <a:pPr marL="482850" indent="-285750" algn="ctr">
              <a:buFont typeface="Arial" panose="020B0604020202020204" pitchFamily="34" charset="0"/>
              <a:buChar char="•"/>
            </a:pPr>
            <a:r>
              <a:rPr lang="it-IT" sz="1800" b="1"/>
              <a:t>MAPPE</a:t>
            </a:r>
            <a:r>
              <a:rPr lang="it-IT" sz="1800"/>
              <a:t>;</a:t>
            </a:r>
          </a:p>
          <a:p>
            <a:pPr marL="482850" indent="-285750" algn="ctr">
              <a:buFont typeface="Arial" panose="020B0604020202020204" pitchFamily="34" charset="0"/>
              <a:buChar char="•"/>
            </a:pPr>
            <a:r>
              <a:rPr lang="it-IT" sz="1800" b="1"/>
              <a:t>I dettagli dell’utente </a:t>
            </a:r>
            <a:r>
              <a:rPr lang="it-IT" sz="1800"/>
              <a:t>loggato;</a:t>
            </a:r>
          </a:p>
          <a:p>
            <a:pPr marL="482850" indent="-285750" algn="ctr">
              <a:buFont typeface="Arial" panose="020B0604020202020204" pitchFamily="34" charset="0"/>
              <a:buChar char="•"/>
            </a:pPr>
            <a:r>
              <a:rPr lang="it-IT" sz="1800" b="1"/>
              <a:t>I dettagli della mappa;</a:t>
            </a:r>
          </a:p>
          <a:p>
            <a:pPr marL="482850" indent="-285750" algn="ctr">
              <a:buFont typeface="Arial" panose="020B0604020202020204" pitchFamily="34" charset="0"/>
              <a:buChar char="•"/>
            </a:pPr>
            <a:r>
              <a:rPr lang="it-IT" b="1"/>
              <a:t>La casella dei messaggi;</a:t>
            </a:r>
            <a:endParaRPr lang="it-IT" sz="1800" b="1"/>
          </a:p>
          <a:p>
            <a:pPr marL="482850" indent="-285750" algn="ctr">
              <a:buFont typeface="Arial" panose="020B0604020202020204" pitchFamily="34" charset="0"/>
              <a:buChar char="•"/>
            </a:pPr>
            <a:r>
              <a:rPr lang="it-IT" sz="1800" b="1"/>
              <a:t>L’orologio con l’orario attuale.</a:t>
            </a:r>
            <a:endParaRPr lang="it-IT" b="1"/>
          </a:p>
        </p:txBody>
      </p:sp>
      <p:sp>
        <p:nvSpPr>
          <p:cNvPr id="7" name="CasellaDiTesto 6">
            <a:extLst>
              <a:ext uri="{FF2B5EF4-FFF2-40B4-BE49-F238E27FC236}">
                <a16:creationId xmlns:a16="http://schemas.microsoft.com/office/drawing/2014/main" id="{C538523E-6BBA-2214-451C-7372B714025C}"/>
              </a:ext>
            </a:extLst>
          </p:cNvPr>
          <p:cNvSpPr txBox="1"/>
          <p:nvPr/>
        </p:nvSpPr>
        <p:spPr>
          <a:xfrm>
            <a:off x="2430287" y="4996446"/>
            <a:ext cx="7331423" cy="923330"/>
          </a:xfrm>
          <a:prstGeom prst="rect">
            <a:avLst/>
          </a:prstGeom>
          <a:noFill/>
        </p:spPr>
        <p:txBody>
          <a:bodyPr wrap="square" rtlCol="0">
            <a:spAutoFit/>
          </a:bodyPr>
          <a:lstStyle/>
          <a:p>
            <a:pPr algn="ctr"/>
            <a:r>
              <a:rPr lang="it-IT"/>
              <a:t>Tutti i dettagli sono caricati all’apertura della pagina dopo le chiamate di </a:t>
            </a:r>
            <a:r>
              <a:rPr lang="it-IT" b="1" err="1"/>
              <a:t>detailsUser</a:t>
            </a:r>
            <a:r>
              <a:rPr lang="it-IT"/>
              <a:t> e </a:t>
            </a:r>
            <a:r>
              <a:rPr lang="it-IT" b="1" err="1"/>
              <a:t>mapDetails</a:t>
            </a:r>
            <a:r>
              <a:rPr lang="it-IT"/>
              <a:t>, passando l’id della mappa, ed infine </a:t>
            </a:r>
            <a:r>
              <a:rPr lang="it-IT" b="1" err="1"/>
              <a:t>getMessages</a:t>
            </a:r>
            <a:r>
              <a:rPr lang="it-IT"/>
              <a:t>.</a:t>
            </a:r>
          </a:p>
        </p:txBody>
      </p:sp>
    </p:spTree>
    <p:extLst>
      <p:ext uri="{BB962C8B-B14F-4D97-AF65-F5344CB8AC3E}">
        <p14:creationId xmlns:p14="http://schemas.microsoft.com/office/powerpoint/2010/main" val="17059586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240A9-5AA8-CBBB-3650-F8394D5F719D}"/>
            </a:ext>
          </a:extLst>
        </p:cNvPr>
        <p:cNvGrpSpPr/>
        <p:nvPr/>
      </p:nvGrpSpPr>
      <p:grpSpPr>
        <a:xfrm>
          <a:off x="0" y="0"/>
          <a:ext cx="0" cy="0"/>
          <a:chOff x="0" y="0"/>
          <a:chExt cx="0" cy="0"/>
        </a:xfrm>
      </p:grpSpPr>
      <p:sp>
        <p:nvSpPr>
          <p:cNvPr id="4" name="Titolo 1">
            <a:extLst>
              <a:ext uri="{FF2B5EF4-FFF2-40B4-BE49-F238E27FC236}">
                <a16:creationId xmlns:a16="http://schemas.microsoft.com/office/drawing/2014/main" id="{1CED186A-62AD-7BE6-5868-875A103F7B43}"/>
              </a:ext>
            </a:extLst>
          </p:cNvPr>
          <p:cNvSpPr txBox="1">
            <a:spLocks/>
          </p:cNvSpPr>
          <p:nvPr/>
        </p:nvSpPr>
        <p:spPr>
          <a:xfrm>
            <a:off x="0" y="0"/>
            <a:ext cx="12192000" cy="8869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5400"/>
              <a:t>La mappa di gioco </a:t>
            </a:r>
          </a:p>
        </p:txBody>
      </p:sp>
      <p:sp>
        <p:nvSpPr>
          <p:cNvPr id="8" name="CasellaDiTesto 7">
            <a:extLst>
              <a:ext uri="{FF2B5EF4-FFF2-40B4-BE49-F238E27FC236}">
                <a16:creationId xmlns:a16="http://schemas.microsoft.com/office/drawing/2014/main" id="{B07C3BF4-95D6-EDFA-BAD6-0C92097B53A9}"/>
              </a:ext>
            </a:extLst>
          </p:cNvPr>
          <p:cNvSpPr txBox="1"/>
          <p:nvPr/>
        </p:nvSpPr>
        <p:spPr>
          <a:xfrm>
            <a:off x="0" y="1179576"/>
            <a:ext cx="12192000" cy="1200329"/>
          </a:xfrm>
          <a:prstGeom prst="rect">
            <a:avLst/>
          </a:prstGeom>
          <a:noFill/>
        </p:spPr>
        <p:txBody>
          <a:bodyPr wrap="square" rtlCol="0">
            <a:spAutoFit/>
          </a:bodyPr>
          <a:lstStyle/>
          <a:p>
            <a:pPr algn="ctr"/>
            <a:r>
              <a:rPr lang="it-IT"/>
              <a:t>All’interno della mappa di gioco possiamo trovare 3 componenti principali:</a:t>
            </a:r>
          </a:p>
          <a:p>
            <a:pPr marL="285750" indent="-285750" algn="ctr">
              <a:buFont typeface="Arial" panose="020B0604020202020204" pitchFamily="34" charset="0"/>
              <a:buChar char="•"/>
            </a:pPr>
            <a:r>
              <a:rPr lang="it-IT" u="sng"/>
              <a:t>La sidebar a sinistra;</a:t>
            </a:r>
          </a:p>
          <a:p>
            <a:pPr marL="285750" indent="-285750" algn="ctr">
              <a:buFont typeface="Arial" panose="020B0604020202020204" pitchFamily="34" charset="0"/>
              <a:buChar char="•"/>
            </a:pPr>
            <a:r>
              <a:rPr lang="it-IT" u="sng"/>
              <a:t>La schermata di gioco;</a:t>
            </a:r>
          </a:p>
          <a:p>
            <a:pPr marL="285750" indent="-285750" algn="ctr">
              <a:buFont typeface="Arial" panose="020B0604020202020204" pitchFamily="34" charset="0"/>
              <a:buChar char="•"/>
            </a:pPr>
            <a:r>
              <a:rPr lang="it-IT" u="sng"/>
              <a:t>La sidebar a destra.</a:t>
            </a:r>
          </a:p>
        </p:txBody>
      </p:sp>
      <p:pic>
        <p:nvPicPr>
          <p:cNvPr id="2" name="Immagine 1">
            <a:extLst>
              <a:ext uri="{FF2B5EF4-FFF2-40B4-BE49-F238E27FC236}">
                <a16:creationId xmlns:a16="http://schemas.microsoft.com/office/drawing/2014/main" id="{5A14D756-7308-5960-DD87-2E8F3D9983AF}"/>
              </a:ext>
            </a:extLst>
          </p:cNvPr>
          <p:cNvPicPr>
            <a:picLocks noChangeAspect="1"/>
          </p:cNvPicPr>
          <p:nvPr/>
        </p:nvPicPr>
        <p:blipFill>
          <a:blip r:embed="rId2"/>
          <a:stretch>
            <a:fillRect/>
          </a:stretch>
        </p:blipFill>
        <p:spPr>
          <a:xfrm>
            <a:off x="10990924" y="0"/>
            <a:ext cx="1201076" cy="6858000"/>
          </a:xfrm>
          <a:prstGeom prst="rect">
            <a:avLst/>
          </a:prstGeom>
        </p:spPr>
      </p:pic>
      <p:pic>
        <p:nvPicPr>
          <p:cNvPr id="5" name="Immagine 4">
            <a:extLst>
              <a:ext uri="{FF2B5EF4-FFF2-40B4-BE49-F238E27FC236}">
                <a16:creationId xmlns:a16="http://schemas.microsoft.com/office/drawing/2014/main" id="{B77DEB38-36D6-CF08-D363-9CD105BF20A1}"/>
              </a:ext>
            </a:extLst>
          </p:cNvPr>
          <p:cNvPicPr>
            <a:picLocks noChangeAspect="1"/>
          </p:cNvPicPr>
          <p:nvPr/>
        </p:nvPicPr>
        <p:blipFill>
          <a:blip r:embed="rId3"/>
          <a:srcRect t="38969" b="23733"/>
          <a:stretch/>
        </p:blipFill>
        <p:spPr>
          <a:xfrm>
            <a:off x="9256836" y="2672513"/>
            <a:ext cx="2916876" cy="2557856"/>
          </a:xfrm>
          <a:prstGeom prst="rect">
            <a:avLst/>
          </a:prstGeom>
        </p:spPr>
      </p:pic>
      <p:sp>
        <p:nvSpPr>
          <p:cNvPr id="3" name="CasellaDiTesto 2">
            <a:extLst>
              <a:ext uri="{FF2B5EF4-FFF2-40B4-BE49-F238E27FC236}">
                <a16:creationId xmlns:a16="http://schemas.microsoft.com/office/drawing/2014/main" id="{18AA9456-C39B-912B-411C-FB52A3A7D832}"/>
              </a:ext>
            </a:extLst>
          </p:cNvPr>
          <p:cNvSpPr txBox="1"/>
          <p:nvPr/>
        </p:nvSpPr>
        <p:spPr>
          <a:xfrm>
            <a:off x="3485388" y="3074278"/>
            <a:ext cx="5221224" cy="1754326"/>
          </a:xfrm>
          <a:prstGeom prst="rect">
            <a:avLst/>
          </a:prstGeom>
          <a:noFill/>
        </p:spPr>
        <p:txBody>
          <a:bodyPr wrap="square">
            <a:spAutoFit/>
          </a:bodyPr>
          <a:lstStyle/>
          <a:p>
            <a:r>
              <a:rPr lang="it-IT" sz="1800"/>
              <a:t>La casella dei messaggi apre un elenco contenente tutti i messaggi ricevuti dall’utente, con la possibilità di rifiutare o accettare le richieste di invito o cambio ruolo.</a:t>
            </a:r>
          </a:p>
          <a:p>
            <a:r>
              <a:rPr lang="it-IT"/>
              <a:t>In questo elenco vi è la presenza del bottone </a:t>
            </a:r>
            <a:r>
              <a:rPr lang="it-IT" b="1"/>
              <a:t>Crea nuovo messaggio</a:t>
            </a:r>
            <a:r>
              <a:rPr lang="it-IT"/>
              <a:t>.</a:t>
            </a:r>
            <a:endParaRPr lang="it-IT" sz="1800"/>
          </a:p>
        </p:txBody>
      </p:sp>
    </p:spTree>
    <p:extLst>
      <p:ext uri="{BB962C8B-B14F-4D97-AF65-F5344CB8AC3E}">
        <p14:creationId xmlns:p14="http://schemas.microsoft.com/office/powerpoint/2010/main" val="7982885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09ECA-5681-BB7F-E48F-3C20EED1BCDF}"/>
            </a:ext>
          </a:extLst>
        </p:cNvPr>
        <p:cNvGrpSpPr/>
        <p:nvPr/>
      </p:nvGrpSpPr>
      <p:grpSpPr>
        <a:xfrm>
          <a:off x="0" y="0"/>
          <a:ext cx="0" cy="0"/>
          <a:chOff x="0" y="0"/>
          <a:chExt cx="0" cy="0"/>
        </a:xfrm>
      </p:grpSpPr>
      <p:sp>
        <p:nvSpPr>
          <p:cNvPr id="4" name="Titolo 1">
            <a:extLst>
              <a:ext uri="{FF2B5EF4-FFF2-40B4-BE49-F238E27FC236}">
                <a16:creationId xmlns:a16="http://schemas.microsoft.com/office/drawing/2014/main" id="{625D26A5-C350-835A-836C-DC3B0936D583}"/>
              </a:ext>
            </a:extLst>
          </p:cNvPr>
          <p:cNvSpPr txBox="1">
            <a:spLocks/>
          </p:cNvSpPr>
          <p:nvPr/>
        </p:nvSpPr>
        <p:spPr>
          <a:xfrm>
            <a:off x="0" y="0"/>
            <a:ext cx="12192000" cy="8869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5400"/>
              <a:t>La mappa di gioco</a:t>
            </a:r>
          </a:p>
        </p:txBody>
      </p:sp>
      <p:pic>
        <p:nvPicPr>
          <p:cNvPr id="3" name="Immagine 2">
            <a:extLst>
              <a:ext uri="{FF2B5EF4-FFF2-40B4-BE49-F238E27FC236}">
                <a16:creationId xmlns:a16="http://schemas.microsoft.com/office/drawing/2014/main" id="{A11D672C-12ED-867A-3D0A-A5D118EDF4F2}"/>
              </a:ext>
            </a:extLst>
          </p:cNvPr>
          <p:cNvPicPr>
            <a:picLocks noChangeAspect="1"/>
          </p:cNvPicPr>
          <p:nvPr/>
        </p:nvPicPr>
        <p:blipFill>
          <a:blip r:embed="rId2"/>
          <a:srcRect t="22946" r="64244" b="23200"/>
          <a:stretch/>
        </p:blipFill>
        <p:spPr>
          <a:xfrm>
            <a:off x="4368744" y="2379905"/>
            <a:ext cx="3070464" cy="3693320"/>
          </a:xfrm>
          <a:prstGeom prst="rect">
            <a:avLst/>
          </a:prstGeom>
        </p:spPr>
      </p:pic>
      <p:sp>
        <p:nvSpPr>
          <p:cNvPr id="8" name="CasellaDiTesto 7">
            <a:extLst>
              <a:ext uri="{FF2B5EF4-FFF2-40B4-BE49-F238E27FC236}">
                <a16:creationId xmlns:a16="http://schemas.microsoft.com/office/drawing/2014/main" id="{7345D772-8C78-9444-9A27-8D8B565701A3}"/>
              </a:ext>
            </a:extLst>
          </p:cNvPr>
          <p:cNvSpPr txBox="1"/>
          <p:nvPr/>
        </p:nvSpPr>
        <p:spPr>
          <a:xfrm>
            <a:off x="0" y="1179576"/>
            <a:ext cx="12192000" cy="1200329"/>
          </a:xfrm>
          <a:prstGeom prst="rect">
            <a:avLst/>
          </a:prstGeom>
          <a:noFill/>
        </p:spPr>
        <p:txBody>
          <a:bodyPr wrap="square" rtlCol="0">
            <a:spAutoFit/>
          </a:bodyPr>
          <a:lstStyle/>
          <a:p>
            <a:pPr algn="ctr"/>
            <a:r>
              <a:rPr lang="it-IT"/>
              <a:t>All’interno della mappa di gioco possiamo trovare 3 componenti principali:</a:t>
            </a:r>
          </a:p>
          <a:p>
            <a:pPr marL="285750" indent="-285750" algn="ctr">
              <a:buFont typeface="Arial" panose="020B0604020202020204" pitchFamily="34" charset="0"/>
              <a:buChar char="•"/>
            </a:pPr>
            <a:r>
              <a:rPr lang="it-IT" u="sng"/>
              <a:t>La sidebar a sinistra;</a:t>
            </a:r>
          </a:p>
          <a:p>
            <a:pPr marL="285750" indent="-285750" algn="ctr">
              <a:buFont typeface="Arial" panose="020B0604020202020204" pitchFamily="34" charset="0"/>
              <a:buChar char="•"/>
            </a:pPr>
            <a:r>
              <a:rPr lang="it-IT" u="sng"/>
              <a:t>La schermata di gioco;</a:t>
            </a:r>
          </a:p>
          <a:p>
            <a:pPr marL="285750" indent="-285750" algn="ctr">
              <a:buFont typeface="Arial" panose="020B0604020202020204" pitchFamily="34" charset="0"/>
              <a:buChar char="•"/>
            </a:pPr>
            <a:r>
              <a:rPr lang="it-IT" u="sng"/>
              <a:t>La sidebar a destra.</a:t>
            </a:r>
          </a:p>
        </p:txBody>
      </p:sp>
      <p:sp>
        <p:nvSpPr>
          <p:cNvPr id="2" name="CasellaDiTesto 1">
            <a:extLst>
              <a:ext uri="{FF2B5EF4-FFF2-40B4-BE49-F238E27FC236}">
                <a16:creationId xmlns:a16="http://schemas.microsoft.com/office/drawing/2014/main" id="{D9778FC5-2725-34C1-3E2D-0F6E6A7D7713}"/>
              </a:ext>
            </a:extLst>
          </p:cNvPr>
          <p:cNvSpPr txBox="1"/>
          <p:nvPr/>
        </p:nvSpPr>
        <p:spPr>
          <a:xfrm>
            <a:off x="229842" y="2379905"/>
            <a:ext cx="3909060" cy="2862322"/>
          </a:xfrm>
          <a:prstGeom prst="rect">
            <a:avLst/>
          </a:prstGeom>
          <a:noFill/>
        </p:spPr>
        <p:txBody>
          <a:bodyPr wrap="square">
            <a:spAutoFit/>
          </a:bodyPr>
          <a:lstStyle/>
          <a:p>
            <a:r>
              <a:rPr lang="it-IT" sz="1800"/>
              <a:t>Al click del bottone di creazione, verrà aperta una modale, con 4 sezioni:</a:t>
            </a:r>
          </a:p>
          <a:p>
            <a:pPr marL="285750" indent="-285750">
              <a:buFont typeface="Arial" panose="020B0604020202020204" pitchFamily="34" charset="0"/>
              <a:buChar char="•"/>
            </a:pPr>
            <a:r>
              <a:rPr lang="it-IT"/>
              <a:t>Select per il tipo di messaggio;</a:t>
            </a:r>
          </a:p>
          <a:p>
            <a:pPr marL="285750" indent="-285750">
              <a:buFont typeface="Arial" panose="020B0604020202020204" pitchFamily="34" charset="0"/>
              <a:buChar char="•"/>
            </a:pPr>
            <a:r>
              <a:rPr lang="it-IT" sz="1800"/>
              <a:t>Select per il destinatario (popolata con la chiamata di </a:t>
            </a:r>
            <a:r>
              <a:rPr lang="it-IT" sz="1800" b="1" err="1"/>
              <a:t>getUsers</a:t>
            </a:r>
            <a:r>
              <a:rPr lang="it-IT"/>
              <a:t>)</a:t>
            </a:r>
            <a:r>
              <a:rPr lang="it-IT" sz="1800"/>
              <a:t>;</a:t>
            </a:r>
          </a:p>
          <a:p>
            <a:pPr marL="285750" indent="-285750">
              <a:buFont typeface="Arial" panose="020B0604020202020204" pitchFamily="34" charset="0"/>
              <a:buChar char="•"/>
            </a:pPr>
            <a:r>
              <a:rPr lang="it-IT" sz="1800"/>
              <a:t>Una label per il titolo;</a:t>
            </a:r>
          </a:p>
          <a:p>
            <a:pPr marL="285750" indent="-285750">
              <a:buFont typeface="Arial" panose="020B0604020202020204" pitchFamily="34" charset="0"/>
              <a:buChar char="•"/>
            </a:pPr>
            <a:r>
              <a:rPr lang="it-IT"/>
              <a:t>Una </a:t>
            </a:r>
            <a:r>
              <a:rPr lang="it-IT" err="1"/>
              <a:t>textarea</a:t>
            </a:r>
            <a:r>
              <a:rPr lang="it-IT"/>
              <a:t> per il testo.</a:t>
            </a:r>
          </a:p>
          <a:p>
            <a:r>
              <a:rPr lang="it-IT" sz="1800"/>
              <a:t>All’invio del messaggio, la modale </a:t>
            </a:r>
            <a:r>
              <a:rPr lang="it-IT"/>
              <a:t>verrà chiusa e il messaggio inviato all’utente selezionato.</a:t>
            </a:r>
            <a:endParaRPr lang="it-IT" sz="1800"/>
          </a:p>
        </p:txBody>
      </p:sp>
      <p:pic>
        <p:nvPicPr>
          <p:cNvPr id="5" name="Immagine 4">
            <a:extLst>
              <a:ext uri="{FF2B5EF4-FFF2-40B4-BE49-F238E27FC236}">
                <a16:creationId xmlns:a16="http://schemas.microsoft.com/office/drawing/2014/main" id="{3FFB6BE8-4425-3059-F25E-567E46714A70}"/>
              </a:ext>
            </a:extLst>
          </p:cNvPr>
          <p:cNvPicPr>
            <a:picLocks noChangeAspect="1"/>
          </p:cNvPicPr>
          <p:nvPr/>
        </p:nvPicPr>
        <p:blipFill>
          <a:blip r:embed="rId3"/>
          <a:stretch>
            <a:fillRect/>
          </a:stretch>
        </p:blipFill>
        <p:spPr>
          <a:xfrm>
            <a:off x="10990924" y="0"/>
            <a:ext cx="1201076" cy="6858000"/>
          </a:xfrm>
          <a:prstGeom prst="rect">
            <a:avLst/>
          </a:prstGeom>
        </p:spPr>
      </p:pic>
      <p:pic>
        <p:nvPicPr>
          <p:cNvPr id="6" name="Immagine 5">
            <a:extLst>
              <a:ext uri="{FF2B5EF4-FFF2-40B4-BE49-F238E27FC236}">
                <a16:creationId xmlns:a16="http://schemas.microsoft.com/office/drawing/2014/main" id="{92AFD943-DFC7-23F9-6612-E185F60EDF28}"/>
              </a:ext>
            </a:extLst>
          </p:cNvPr>
          <p:cNvPicPr>
            <a:picLocks noChangeAspect="1"/>
          </p:cNvPicPr>
          <p:nvPr/>
        </p:nvPicPr>
        <p:blipFill>
          <a:blip r:embed="rId4"/>
          <a:srcRect t="38969" b="23733"/>
          <a:stretch/>
        </p:blipFill>
        <p:spPr>
          <a:xfrm>
            <a:off x="9256836" y="2672513"/>
            <a:ext cx="2916876" cy="2557856"/>
          </a:xfrm>
          <a:prstGeom prst="rect">
            <a:avLst/>
          </a:prstGeom>
        </p:spPr>
      </p:pic>
    </p:spTree>
    <p:extLst>
      <p:ext uri="{BB962C8B-B14F-4D97-AF65-F5344CB8AC3E}">
        <p14:creationId xmlns:p14="http://schemas.microsoft.com/office/powerpoint/2010/main" val="39147433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51" name="Rectangle 5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355AB9C2-117A-7C79-2AAA-38B605F9E62C}"/>
              </a:ext>
            </a:extLst>
          </p:cNvPr>
          <p:cNvSpPr>
            <a:spLocks noGrp="1"/>
          </p:cNvSpPr>
          <p:nvPr>
            <p:ph type="title"/>
          </p:nvPr>
        </p:nvSpPr>
        <p:spPr>
          <a:xfrm>
            <a:off x="761803" y="350196"/>
            <a:ext cx="4646904" cy="1624520"/>
          </a:xfrm>
        </p:spPr>
        <p:txBody>
          <a:bodyPr anchor="ctr">
            <a:normAutofit/>
          </a:bodyPr>
          <a:lstStyle/>
          <a:p>
            <a:r>
              <a:rPr lang="it-IT" sz="4000" b="1">
                <a:latin typeface="Aptos"/>
                <a:cs typeface="Times New Roman"/>
              </a:rPr>
              <a:t>TESTING</a:t>
            </a:r>
            <a:endParaRPr lang="it-IT" sz="4000">
              <a:latin typeface="Aptos"/>
            </a:endParaRPr>
          </a:p>
        </p:txBody>
      </p:sp>
      <p:sp>
        <p:nvSpPr>
          <p:cNvPr id="26" name="Content Placeholder 25">
            <a:extLst>
              <a:ext uri="{FF2B5EF4-FFF2-40B4-BE49-F238E27FC236}">
                <a16:creationId xmlns:a16="http://schemas.microsoft.com/office/drawing/2014/main" id="{40BDF460-738D-89C7-C16D-46BE5F224426}"/>
              </a:ext>
            </a:extLst>
          </p:cNvPr>
          <p:cNvSpPr>
            <a:spLocks noGrp="1"/>
          </p:cNvSpPr>
          <p:nvPr>
            <p:ph idx="1"/>
          </p:nvPr>
        </p:nvSpPr>
        <p:spPr>
          <a:xfrm>
            <a:off x="761802" y="2743200"/>
            <a:ext cx="4646905" cy="3613149"/>
          </a:xfrm>
        </p:spPr>
        <p:txBody>
          <a:bodyPr vert="horz" lIns="91440" tIns="45720" rIns="91440" bIns="45720" rtlCol="0" anchor="ctr">
            <a:normAutofit/>
          </a:bodyPr>
          <a:lstStyle/>
          <a:p>
            <a:pPr marL="0" indent="0">
              <a:buNone/>
            </a:pPr>
            <a:r>
              <a:rPr lang="en-US" sz="2000" err="1"/>
              <a:t>Obiettivo</a:t>
            </a:r>
            <a:r>
              <a:rPr lang="en-US" sz="2000"/>
              <a:t>:</a:t>
            </a:r>
            <a:r>
              <a:rPr lang="en-US" sz="2000">
                <a:ea typeface="+mn-lt"/>
                <a:cs typeface="+mn-lt"/>
              </a:rPr>
              <a:t> </a:t>
            </a:r>
            <a:r>
              <a:rPr lang="en-US" sz="2000" err="1">
                <a:ea typeface="+mn-lt"/>
                <a:cs typeface="+mn-lt"/>
              </a:rPr>
              <a:t>garantire</a:t>
            </a:r>
            <a:r>
              <a:rPr lang="en-US" sz="2000">
                <a:ea typeface="+mn-lt"/>
                <a:cs typeface="+mn-lt"/>
              </a:rPr>
              <a:t> </a:t>
            </a:r>
            <a:r>
              <a:rPr lang="en-US" sz="2000" err="1">
                <a:ea typeface="+mn-lt"/>
                <a:cs typeface="+mn-lt"/>
              </a:rPr>
              <a:t>che</a:t>
            </a:r>
            <a:r>
              <a:rPr lang="en-US" sz="2000">
                <a:ea typeface="+mn-lt"/>
                <a:cs typeface="+mn-lt"/>
              </a:rPr>
              <a:t> il software </a:t>
            </a:r>
            <a:r>
              <a:rPr lang="en-US" sz="2000" err="1">
                <a:ea typeface="+mn-lt"/>
                <a:cs typeface="+mn-lt"/>
              </a:rPr>
              <a:t>soddisfi</a:t>
            </a:r>
            <a:r>
              <a:rPr lang="en-US" sz="2000">
                <a:ea typeface="+mn-lt"/>
                <a:cs typeface="+mn-lt"/>
              </a:rPr>
              <a:t> </a:t>
            </a:r>
            <a:r>
              <a:rPr lang="en-US" sz="2000" err="1">
                <a:ea typeface="+mn-lt"/>
                <a:cs typeface="+mn-lt"/>
              </a:rPr>
              <a:t>i</a:t>
            </a:r>
            <a:r>
              <a:rPr lang="en-US" sz="2000">
                <a:ea typeface="+mn-lt"/>
                <a:cs typeface="+mn-lt"/>
              </a:rPr>
              <a:t> </a:t>
            </a:r>
            <a:r>
              <a:rPr lang="en-US" sz="2000" err="1">
                <a:ea typeface="+mn-lt"/>
                <a:cs typeface="+mn-lt"/>
              </a:rPr>
              <a:t>requisiti</a:t>
            </a:r>
            <a:r>
              <a:rPr lang="en-US" sz="2000">
                <a:ea typeface="+mn-lt"/>
                <a:cs typeface="+mn-lt"/>
              </a:rPr>
              <a:t> </a:t>
            </a:r>
            <a:r>
              <a:rPr lang="en-US" sz="2000" err="1">
                <a:ea typeface="+mn-lt"/>
                <a:cs typeface="+mn-lt"/>
              </a:rPr>
              <a:t>funzionali</a:t>
            </a:r>
            <a:r>
              <a:rPr lang="en-US" sz="2000">
                <a:ea typeface="+mn-lt"/>
                <a:cs typeface="+mn-lt"/>
              </a:rPr>
              <a:t> e non </a:t>
            </a:r>
            <a:r>
              <a:rPr lang="en-US" sz="2000" err="1">
                <a:ea typeface="+mn-lt"/>
                <a:cs typeface="+mn-lt"/>
              </a:rPr>
              <a:t>funzionali</a:t>
            </a:r>
            <a:endParaRPr lang="en-US" sz="2000">
              <a:ea typeface="+mn-lt"/>
              <a:cs typeface="+mn-lt"/>
            </a:endParaRPr>
          </a:p>
          <a:p>
            <a:pPr marL="0" indent="0">
              <a:buNone/>
            </a:pPr>
            <a:endParaRPr lang="en-US" sz="2000"/>
          </a:p>
          <a:p>
            <a:pPr marL="0" indent="0" algn="ctr">
              <a:buNone/>
            </a:pPr>
            <a:r>
              <a:rPr lang="en-US" sz="2000" u="sng" err="1"/>
              <a:t>Ambiente</a:t>
            </a:r>
            <a:r>
              <a:rPr lang="en-US" sz="2000" u="sng"/>
              <a:t> di test</a:t>
            </a:r>
          </a:p>
          <a:p>
            <a:pPr marL="0" indent="0" algn="ctr">
              <a:buNone/>
            </a:pPr>
            <a:r>
              <a:rPr lang="en-US" sz="2000"/>
              <a:t>Server: Docker</a:t>
            </a:r>
          </a:p>
          <a:p>
            <a:pPr marL="0" indent="0" algn="ctr">
              <a:buNone/>
            </a:pPr>
            <a:r>
              <a:rPr lang="en-US" sz="2000"/>
              <a:t>Browser: Chrome</a:t>
            </a:r>
          </a:p>
          <a:p>
            <a:pPr marL="0" indent="0" algn="ctr">
              <a:buNone/>
            </a:pPr>
            <a:r>
              <a:rPr lang="en-US" sz="2000"/>
              <a:t>Database: MySQL</a:t>
            </a:r>
          </a:p>
          <a:p>
            <a:pPr marL="0" indent="0" algn="ctr">
              <a:buNone/>
            </a:pPr>
            <a:r>
              <a:rPr lang="en-US" sz="2000" err="1">
                <a:latin typeface="Aptos"/>
                <a:ea typeface="Calibri"/>
                <a:cs typeface="Calibri"/>
              </a:rPr>
              <a:t>Tipologia</a:t>
            </a:r>
            <a:r>
              <a:rPr lang="en-US" sz="2000">
                <a:latin typeface="Aptos"/>
                <a:ea typeface="Calibri"/>
                <a:cs typeface="Calibri"/>
              </a:rPr>
              <a:t> di test: </a:t>
            </a:r>
            <a:r>
              <a:rPr lang="en-US" sz="2000" err="1">
                <a:latin typeface="Aptos"/>
                <a:ea typeface="Calibri"/>
                <a:cs typeface="Calibri"/>
              </a:rPr>
              <a:t>Manuale</a:t>
            </a:r>
            <a:r>
              <a:rPr lang="en-US" sz="2000">
                <a:latin typeface="Aptos"/>
                <a:ea typeface="Calibri"/>
                <a:cs typeface="Calibri"/>
              </a:rPr>
              <a:t> con </a:t>
            </a:r>
            <a:r>
              <a:rPr lang="en-US" sz="2000" err="1">
                <a:latin typeface="Aptos"/>
                <a:ea typeface="Calibri"/>
                <a:cs typeface="Calibri"/>
              </a:rPr>
              <a:t>verifica</a:t>
            </a:r>
            <a:r>
              <a:rPr lang="en-US" sz="2000">
                <a:latin typeface="Aptos"/>
                <a:ea typeface="Calibri"/>
                <a:cs typeface="Calibri"/>
              </a:rPr>
              <a:t> </a:t>
            </a:r>
            <a:r>
              <a:rPr lang="en-US" sz="2000" err="1">
                <a:latin typeface="Aptos"/>
                <a:ea typeface="Calibri"/>
                <a:cs typeface="Calibri"/>
              </a:rPr>
              <a:t>diretta</a:t>
            </a:r>
            <a:r>
              <a:rPr lang="en-US" sz="2000">
                <a:latin typeface="Aptos"/>
                <a:ea typeface="Calibri"/>
                <a:cs typeface="Calibri"/>
              </a:rPr>
              <a:t> </a:t>
            </a:r>
            <a:endParaRPr lang="en-US" sz="2000">
              <a:ea typeface="Calibri"/>
              <a:cs typeface="Calibri"/>
            </a:endParaRPr>
          </a:p>
          <a:p>
            <a:pPr marL="0" indent="0">
              <a:buNone/>
            </a:pPr>
            <a:endParaRPr lang="en-US" sz="2000"/>
          </a:p>
        </p:txBody>
      </p:sp>
      <p:pic>
        <p:nvPicPr>
          <p:cNvPr id="5" name="Segnaposto contenuto 4" descr="Unlocking Continuous Testing: The Four Best Practices Necessary for Success  - InfoQ">
            <a:extLst>
              <a:ext uri="{FF2B5EF4-FFF2-40B4-BE49-F238E27FC236}">
                <a16:creationId xmlns:a16="http://schemas.microsoft.com/office/drawing/2014/main" id="{42E290F8-D0DC-298B-5F36-8E636349F034}"/>
              </a:ext>
            </a:extLst>
          </p:cNvPr>
          <p:cNvPicPr>
            <a:picLocks noChangeAspect="1"/>
          </p:cNvPicPr>
          <p:nvPr/>
        </p:nvPicPr>
        <p:blipFill>
          <a:blip r:embed="rId2"/>
          <a:srcRect l="11157" r="16093" b="-2"/>
          <a:stretch/>
        </p:blipFill>
        <p:spPr>
          <a:xfrm>
            <a:off x="6096000" y="1"/>
            <a:ext cx="6102825" cy="6858000"/>
          </a:xfrm>
          <a:prstGeom prst="rect">
            <a:avLst/>
          </a:prstGeom>
        </p:spPr>
      </p:pic>
    </p:spTree>
    <p:extLst>
      <p:ext uri="{BB962C8B-B14F-4D97-AF65-F5344CB8AC3E}">
        <p14:creationId xmlns:p14="http://schemas.microsoft.com/office/powerpoint/2010/main" val="28799113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olo 1">
            <a:extLst>
              <a:ext uri="{FF2B5EF4-FFF2-40B4-BE49-F238E27FC236}">
                <a16:creationId xmlns:a16="http://schemas.microsoft.com/office/drawing/2014/main" id="{123E90A4-4F0B-12CE-29B6-5AB53B2C31D7}"/>
              </a:ext>
            </a:extLst>
          </p:cNvPr>
          <p:cNvSpPr>
            <a:spLocks noGrp="1"/>
          </p:cNvSpPr>
          <p:nvPr>
            <p:ph type="title"/>
          </p:nvPr>
        </p:nvSpPr>
        <p:spPr>
          <a:xfrm>
            <a:off x="621792" y="1161288"/>
            <a:ext cx="3602736" cy="4526280"/>
          </a:xfrm>
        </p:spPr>
        <p:txBody>
          <a:bodyPr>
            <a:normAutofit/>
          </a:bodyPr>
          <a:lstStyle/>
          <a:p>
            <a:r>
              <a:rPr lang="it-IT" sz="4000">
                <a:ea typeface="+mj-lt"/>
                <a:cs typeface="+mj-lt"/>
              </a:rPr>
              <a:t>TEST DI BASE </a:t>
            </a:r>
            <a:endParaRPr lang="it-IT" sz="4000"/>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Segnaposto contenuto 2">
            <a:extLst>
              <a:ext uri="{FF2B5EF4-FFF2-40B4-BE49-F238E27FC236}">
                <a16:creationId xmlns:a16="http://schemas.microsoft.com/office/drawing/2014/main" id="{A04870C3-A8F7-86F9-A5A6-265940660C3B}"/>
              </a:ext>
            </a:extLst>
          </p:cNvPr>
          <p:cNvSpPr>
            <a:spLocks noGrp="1"/>
          </p:cNvSpPr>
          <p:nvPr>
            <p:ph idx="1"/>
          </p:nvPr>
        </p:nvSpPr>
        <p:spPr>
          <a:xfrm>
            <a:off x="5434149" y="932688"/>
            <a:ext cx="5916603" cy="4992624"/>
          </a:xfrm>
        </p:spPr>
        <p:txBody>
          <a:bodyPr vert="horz" lIns="91440" tIns="45720" rIns="91440" bIns="45720" rtlCol="0" anchor="ctr">
            <a:normAutofit/>
          </a:bodyPr>
          <a:lstStyle/>
          <a:p>
            <a:pPr marL="0" indent="0">
              <a:buNone/>
            </a:pPr>
            <a:r>
              <a:rPr lang="it-IT" sz="2000"/>
              <a:t>La registrazione e il login sono le prime esperienze di un giocatore.</a:t>
            </a:r>
          </a:p>
          <a:p>
            <a:pPr marL="0" indent="0">
              <a:buNone/>
            </a:pPr>
            <a:r>
              <a:rPr lang="it-IT" sz="2000"/>
              <a:t>Abbiamo testato diversi scenari:</a:t>
            </a:r>
          </a:p>
          <a:p>
            <a:r>
              <a:rPr lang="it-IT" sz="2000">
                <a:ea typeface="+mn-lt"/>
                <a:cs typeface="+mn-lt"/>
              </a:rPr>
              <a:t>Test di registrazione/login </a:t>
            </a:r>
            <a:r>
              <a:rPr lang="it-IT">
                <a:solidFill>
                  <a:srgbClr val="00B050"/>
                </a:solidFill>
                <a:latin typeface="Algerian"/>
                <a:ea typeface="+mn-lt"/>
                <a:cs typeface="+mn-lt"/>
              </a:rPr>
              <a:t>v</a:t>
            </a:r>
          </a:p>
          <a:p>
            <a:r>
              <a:rPr lang="it-IT" sz="2000">
                <a:ea typeface="+mn-lt"/>
                <a:cs typeface="+mn-lt"/>
              </a:rPr>
              <a:t>Test di Gestione degli errori per la foto profilo </a:t>
            </a:r>
            <a:r>
              <a:rPr lang="it-IT">
                <a:solidFill>
                  <a:srgbClr val="00B050"/>
                </a:solidFill>
                <a:latin typeface="Algerian"/>
                <a:ea typeface="+mn-lt"/>
                <a:cs typeface="+mn-lt"/>
              </a:rPr>
              <a:t>v</a:t>
            </a:r>
          </a:p>
          <a:p>
            <a:r>
              <a:rPr lang="it-IT" sz="2000">
                <a:ea typeface="+mn-lt"/>
                <a:cs typeface="+mn-lt"/>
              </a:rPr>
              <a:t>Test di login con Credenziali Errate </a:t>
            </a:r>
            <a:r>
              <a:rPr lang="it-IT">
                <a:solidFill>
                  <a:srgbClr val="00B050"/>
                </a:solidFill>
                <a:latin typeface="Algerian"/>
                <a:ea typeface="+mn-lt"/>
                <a:cs typeface="+mn-lt"/>
              </a:rPr>
              <a:t>v</a:t>
            </a:r>
          </a:p>
          <a:p>
            <a:r>
              <a:rPr lang="it-IT" sz="2000">
                <a:ea typeface="+mn-lt"/>
                <a:cs typeface="+mn-lt"/>
              </a:rPr>
              <a:t>Test di Logout </a:t>
            </a:r>
            <a:r>
              <a:rPr lang="it-IT">
                <a:solidFill>
                  <a:srgbClr val="00B050"/>
                </a:solidFill>
                <a:latin typeface="Algerian"/>
                <a:ea typeface="+mn-lt"/>
                <a:cs typeface="+mn-lt"/>
              </a:rPr>
              <a:t>v</a:t>
            </a:r>
          </a:p>
        </p:txBody>
      </p:sp>
    </p:spTree>
    <p:extLst>
      <p:ext uri="{BB962C8B-B14F-4D97-AF65-F5344CB8AC3E}">
        <p14:creationId xmlns:p14="http://schemas.microsoft.com/office/powerpoint/2010/main" val="41394382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8">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olo 1">
            <a:extLst>
              <a:ext uri="{FF2B5EF4-FFF2-40B4-BE49-F238E27FC236}">
                <a16:creationId xmlns:a16="http://schemas.microsoft.com/office/drawing/2014/main" id="{8A1EDE2C-2533-F580-A46B-18F02A737EE5}"/>
              </a:ext>
            </a:extLst>
          </p:cNvPr>
          <p:cNvSpPr>
            <a:spLocks noGrp="1"/>
          </p:cNvSpPr>
          <p:nvPr>
            <p:ph type="title"/>
          </p:nvPr>
        </p:nvSpPr>
        <p:spPr>
          <a:xfrm>
            <a:off x="838201" y="3998018"/>
            <a:ext cx="3981854" cy="2216513"/>
          </a:xfrm>
        </p:spPr>
        <p:txBody>
          <a:bodyPr>
            <a:normAutofit/>
          </a:bodyPr>
          <a:lstStyle/>
          <a:p>
            <a:r>
              <a:rPr lang="it-IT"/>
              <a:t>Esempio test superato</a:t>
            </a:r>
          </a:p>
        </p:txBody>
      </p:sp>
      <p:sp>
        <p:nvSpPr>
          <p:cNvPr id="38" name="Arc 10">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4" name="Immagine 3" descr="Immagine che contiene testo, schermata, Carattere, numero&#10;&#10;Il contenuto generato dall&amp;#39;intelligenza artificiale potrebbe non essere corretto.">
            <a:extLst>
              <a:ext uri="{FF2B5EF4-FFF2-40B4-BE49-F238E27FC236}">
                <a16:creationId xmlns:a16="http://schemas.microsoft.com/office/drawing/2014/main" id="{0713EF9A-F73B-70B1-2874-EAF9DA7D7241}"/>
              </a:ext>
            </a:extLst>
          </p:cNvPr>
          <p:cNvPicPr>
            <a:picLocks noChangeAspect="1"/>
          </p:cNvPicPr>
          <p:nvPr/>
        </p:nvPicPr>
        <p:blipFill>
          <a:blip r:embed="rId2"/>
          <a:stretch>
            <a:fillRect/>
          </a:stretch>
        </p:blipFill>
        <p:spPr>
          <a:xfrm>
            <a:off x="659914" y="1340647"/>
            <a:ext cx="10872172" cy="1685185"/>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3" name="Segnaposto contenuto 2">
            <a:extLst>
              <a:ext uri="{FF2B5EF4-FFF2-40B4-BE49-F238E27FC236}">
                <a16:creationId xmlns:a16="http://schemas.microsoft.com/office/drawing/2014/main" id="{C4017AA4-7D33-B72C-7890-C6B8266222C6}"/>
              </a:ext>
            </a:extLst>
          </p:cNvPr>
          <p:cNvSpPr>
            <a:spLocks noGrp="1"/>
          </p:cNvSpPr>
          <p:nvPr>
            <p:ph idx="1"/>
          </p:nvPr>
        </p:nvSpPr>
        <p:spPr>
          <a:xfrm>
            <a:off x="4530822" y="3432659"/>
            <a:ext cx="6372669" cy="2463647"/>
          </a:xfrm>
        </p:spPr>
        <p:txBody>
          <a:bodyPr vert="horz" lIns="91440" tIns="45720" rIns="91440" bIns="45720" rtlCol="0" anchor="t">
            <a:noAutofit/>
          </a:bodyPr>
          <a:lstStyle/>
          <a:p>
            <a:pPr marL="0" indent="0">
              <a:buNone/>
            </a:pPr>
            <a:r>
              <a:rPr lang="it-IT" sz="1400" b="1" dirty="0">
                <a:ea typeface="+mn-lt"/>
                <a:cs typeface="+mn-lt"/>
              </a:rPr>
              <a:t>Obiettivo: verificare che il sistema di login/registrazione funzioni correttamente</a:t>
            </a:r>
          </a:p>
          <a:p>
            <a:pPr marL="457200" indent="-457200"/>
            <a:r>
              <a:rPr lang="it-IT" sz="1400" dirty="0">
                <a:ea typeface="+mn-lt"/>
                <a:cs typeface="+mn-lt"/>
              </a:rPr>
              <a:t>Vai alla schermata di login Clicca su “registrati” </a:t>
            </a:r>
          </a:p>
          <a:p>
            <a:r>
              <a:rPr lang="it-IT" sz="1400" dirty="0">
                <a:ea typeface="+mn-lt"/>
                <a:cs typeface="+mn-lt"/>
              </a:rPr>
              <a:t>Inserisci un Nome utente e password + foto profilo valida</a:t>
            </a:r>
          </a:p>
          <a:p>
            <a:r>
              <a:rPr lang="it-IT" sz="1400" dirty="0">
                <a:ea typeface="+mn-lt"/>
                <a:cs typeface="+mn-lt"/>
              </a:rPr>
              <a:t> Conferma la registrazione</a:t>
            </a:r>
          </a:p>
          <a:p>
            <a:pPr marL="0" indent="0">
              <a:buNone/>
            </a:pPr>
            <a:r>
              <a:rPr lang="it-IT" sz="1400" b="1" dirty="0">
                <a:ea typeface="+mn-lt"/>
                <a:cs typeface="+mn-lt"/>
              </a:rPr>
              <a:t>Risultato atteso: dovrebbe apparire nella pagina un messaggio che dice: “utente registrato con successo!”</a:t>
            </a:r>
          </a:p>
          <a:p>
            <a:r>
              <a:rPr lang="it-IT" sz="1400" dirty="0">
                <a:ea typeface="+mn-lt"/>
                <a:cs typeface="+mn-lt"/>
              </a:rPr>
              <a:t>Dopo aver completato la registrazione, accedi all’account appena creato con le credenziali immesse precedentemente nella registrazione.</a:t>
            </a:r>
          </a:p>
          <a:p>
            <a:r>
              <a:rPr lang="it-IT" sz="1400" dirty="0">
                <a:ea typeface="+mn-lt"/>
                <a:cs typeface="+mn-lt"/>
              </a:rPr>
              <a:t>Dopo aver cliccato su “accedi”, dovresti essere reindirizzato alla schermata principale del gioco </a:t>
            </a:r>
          </a:p>
          <a:p>
            <a:pPr marL="0" indent="0">
              <a:buNone/>
            </a:pPr>
            <a:endParaRPr lang="it-IT" sz="1200" dirty="0">
              <a:ea typeface="+mn-lt"/>
              <a:cs typeface="+mn-lt"/>
            </a:endParaRPr>
          </a:p>
          <a:p>
            <a:endParaRPr lang="it-IT" sz="900" dirty="0">
              <a:ea typeface="+mn-lt"/>
              <a:cs typeface="+mn-lt"/>
            </a:endParaRPr>
          </a:p>
        </p:txBody>
      </p:sp>
    </p:spTree>
    <p:extLst>
      <p:ext uri="{BB962C8B-B14F-4D97-AF65-F5344CB8AC3E}">
        <p14:creationId xmlns:p14="http://schemas.microsoft.com/office/powerpoint/2010/main" val="38797246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olo 1">
            <a:extLst>
              <a:ext uri="{FF2B5EF4-FFF2-40B4-BE49-F238E27FC236}">
                <a16:creationId xmlns:a16="http://schemas.microsoft.com/office/drawing/2014/main" id="{7B38F0BE-A7E6-182D-3504-5800C5B1C673}"/>
              </a:ext>
            </a:extLst>
          </p:cNvPr>
          <p:cNvSpPr>
            <a:spLocks noGrp="1"/>
          </p:cNvSpPr>
          <p:nvPr>
            <p:ph type="title"/>
          </p:nvPr>
        </p:nvSpPr>
        <p:spPr>
          <a:xfrm>
            <a:off x="621792" y="1161288"/>
            <a:ext cx="3602736" cy="4526280"/>
          </a:xfrm>
        </p:spPr>
        <p:txBody>
          <a:bodyPr>
            <a:normAutofit/>
          </a:bodyPr>
          <a:lstStyle/>
          <a:p>
            <a:r>
              <a:rPr lang="it-IT" sz="3400">
                <a:ea typeface="+mj-lt"/>
                <a:cs typeface="+mj-lt"/>
              </a:rPr>
              <a:t>TEST SELEZIONE, CREAZIONE E CANCELLAZIONE DELLE MAPPE</a:t>
            </a:r>
            <a:endParaRPr lang="it-IT" sz="3400"/>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Segnaposto contenuto 2">
            <a:extLst>
              <a:ext uri="{FF2B5EF4-FFF2-40B4-BE49-F238E27FC236}">
                <a16:creationId xmlns:a16="http://schemas.microsoft.com/office/drawing/2014/main" id="{8B619556-6A04-4E3A-3C19-5BB1CD06994D}"/>
              </a:ext>
            </a:extLst>
          </p:cNvPr>
          <p:cNvSpPr>
            <a:spLocks noGrp="1"/>
          </p:cNvSpPr>
          <p:nvPr>
            <p:ph idx="1"/>
          </p:nvPr>
        </p:nvSpPr>
        <p:spPr>
          <a:xfrm>
            <a:off x="5434149" y="932688"/>
            <a:ext cx="5916603" cy="4992624"/>
          </a:xfrm>
        </p:spPr>
        <p:txBody>
          <a:bodyPr vert="horz" lIns="91440" tIns="45720" rIns="91440" bIns="45720" rtlCol="0" anchor="ctr">
            <a:normAutofit/>
          </a:bodyPr>
          <a:lstStyle/>
          <a:p>
            <a:pPr marL="0" indent="0">
              <a:buNone/>
            </a:pPr>
            <a:endParaRPr lang="it-IT" sz="2000">
              <a:ea typeface="+mn-lt"/>
              <a:cs typeface="+mn-lt"/>
            </a:endParaRPr>
          </a:p>
          <a:p>
            <a:pPr marL="457200" indent="-457200"/>
            <a:r>
              <a:rPr lang="it-IT" sz="2000">
                <a:ea typeface="+mn-lt"/>
                <a:cs typeface="+mn-lt"/>
              </a:rPr>
              <a:t>Test di accesso a una mappa già esistente </a:t>
            </a:r>
            <a:r>
              <a:rPr lang="it-IT">
                <a:solidFill>
                  <a:srgbClr val="00B050"/>
                </a:solidFill>
                <a:latin typeface="Algerian"/>
                <a:ea typeface="+mn-lt"/>
                <a:cs typeface="+mn-lt"/>
              </a:rPr>
              <a:t>v</a:t>
            </a:r>
          </a:p>
          <a:p>
            <a:pPr marL="457200" indent="-457200"/>
            <a:r>
              <a:rPr lang="it-IT" sz="2000">
                <a:ea typeface="+mn-lt"/>
                <a:cs typeface="+mn-lt"/>
              </a:rPr>
              <a:t>Test di uscita da una Mappa </a:t>
            </a:r>
            <a:r>
              <a:rPr lang="it-IT">
                <a:solidFill>
                  <a:srgbClr val="00B050"/>
                </a:solidFill>
                <a:latin typeface="Algerian"/>
                <a:ea typeface="+mn-lt"/>
                <a:cs typeface="+mn-lt"/>
              </a:rPr>
              <a:t>v</a:t>
            </a:r>
          </a:p>
          <a:p>
            <a:pPr marL="457200" indent="-457200"/>
            <a:r>
              <a:rPr lang="it-IT" sz="2000">
                <a:ea typeface="+mn-lt"/>
                <a:cs typeface="+mn-lt"/>
              </a:rPr>
              <a:t>Test di Creazione di Una Mappa </a:t>
            </a:r>
            <a:r>
              <a:rPr lang="it-IT">
                <a:solidFill>
                  <a:srgbClr val="00B050"/>
                </a:solidFill>
                <a:latin typeface="Algerian"/>
                <a:ea typeface="+mn-lt"/>
                <a:cs typeface="+mn-lt"/>
              </a:rPr>
              <a:t>v</a:t>
            </a:r>
          </a:p>
          <a:p>
            <a:pPr marL="457200" indent="-457200"/>
            <a:r>
              <a:rPr lang="it-IT" sz="2000">
                <a:ea typeface="+mn-lt"/>
                <a:cs typeface="+mn-lt"/>
              </a:rPr>
              <a:t>Test di cancellazione di una mappa</a:t>
            </a:r>
            <a:r>
              <a:rPr lang="it-IT">
                <a:solidFill>
                  <a:srgbClr val="00B050"/>
                </a:solidFill>
                <a:latin typeface="Algerian"/>
                <a:ea typeface="+mn-lt"/>
                <a:cs typeface="+mn-lt"/>
              </a:rPr>
              <a:t> v</a:t>
            </a:r>
          </a:p>
        </p:txBody>
      </p:sp>
    </p:spTree>
    <p:extLst>
      <p:ext uri="{BB962C8B-B14F-4D97-AF65-F5344CB8AC3E}">
        <p14:creationId xmlns:p14="http://schemas.microsoft.com/office/powerpoint/2010/main" val="41473227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Arc 28">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Segnaposto contenuto 4" descr="Immagine che contiene testo, schermata, Carattere, linea&#10;&#10;Il contenuto generato dall&amp;#39;intelligenza artificiale potrebbe non essere corretto.">
            <a:extLst>
              <a:ext uri="{FF2B5EF4-FFF2-40B4-BE49-F238E27FC236}">
                <a16:creationId xmlns:a16="http://schemas.microsoft.com/office/drawing/2014/main" id="{9E6A83CC-C719-8A82-C91E-288005ED78FD}"/>
              </a:ext>
            </a:extLst>
          </p:cNvPr>
          <p:cNvPicPr>
            <a:picLocks noChangeAspect="1"/>
          </p:cNvPicPr>
          <p:nvPr/>
        </p:nvPicPr>
        <p:blipFill>
          <a:blip r:embed="rId2"/>
          <a:stretch>
            <a:fillRect/>
          </a:stretch>
        </p:blipFill>
        <p:spPr>
          <a:xfrm>
            <a:off x="1314335" y="838422"/>
            <a:ext cx="9564448" cy="1759836"/>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17" name="Content Placeholder 16">
            <a:extLst>
              <a:ext uri="{FF2B5EF4-FFF2-40B4-BE49-F238E27FC236}">
                <a16:creationId xmlns:a16="http://schemas.microsoft.com/office/drawing/2014/main" id="{F10DBB07-027C-3443-C8FB-DB6F19DCF0F1}"/>
              </a:ext>
            </a:extLst>
          </p:cNvPr>
          <p:cNvSpPr>
            <a:spLocks noGrp="1"/>
          </p:cNvSpPr>
          <p:nvPr>
            <p:ph idx="1"/>
          </p:nvPr>
        </p:nvSpPr>
        <p:spPr>
          <a:xfrm>
            <a:off x="4175089" y="2807195"/>
            <a:ext cx="7082506" cy="2216512"/>
          </a:xfrm>
        </p:spPr>
        <p:txBody>
          <a:bodyPr vert="horz" lIns="91440" tIns="45720" rIns="91440" bIns="45720" rtlCol="0" anchor="t">
            <a:noAutofit/>
          </a:bodyPr>
          <a:lstStyle/>
          <a:p>
            <a:pPr marL="0" indent="0">
              <a:buNone/>
            </a:pPr>
            <a:r>
              <a:rPr lang="en-US" sz="1500" b="1" err="1">
                <a:ea typeface="+mn-lt"/>
                <a:cs typeface="+mn-lt"/>
              </a:rPr>
              <a:t>Obiettivo</a:t>
            </a:r>
            <a:r>
              <a:rPr lang="en-US" sz="1500" b="1">
                <a:ea typeface="+mn-lt"/>
                <a:cs typeface="+mn-lt"/>
              </a:rPr>
              <a:t>: la </a:t>
            </a:r>
            <a:r>
              <a:rPr lang="en-US" sz="1500" b="1" err="1">
                <a:ea typeface="+mn-lt"/>
                <a:cs typeface="+mn-lt"/>
              </a:rPr>
              <a:t>mappa</a:t>
            </a:r>
            <a:r>
              <a:rPr lang="en-US" sz="1500" b="1">
                <a:ea typeface="+mn-lt"/>
                <a:cs typeface="+mn-lt"/>
              </a:rPr>
              <a:t> </a:t>
            </a:r>
            <a:r>
              <a:rPr lang="en-US" sz="1500" b="1" err="1">
                <a:ea typeface="+mn-lt"/>
                <a:cs typeface="+mn-lt"/>
              </a:rPr>
              <a:t>viene</a:t>
            </a:r>
            <a:r>
              <a:rPr lang="en-US" sz="1500" b="1">
                <a:ea typeface="+mn-lt"/>
                <a:cs typeface="+mn-lt"/>
              </a:rPr>
              <a:t> </a:t>
            </a:r>
            <a:r>
              <a:rPr lang="en-US" sz="1500" b="1" err="1">
                <a:ea typeface="+mn-lt"/>
                <a:cs typeface="+mn-lt"/>
              </a:rPr>
              <a:t>cancellata</a:t>
            </a:r>
            <a:r>
              <a:rPr lang="en-US" sz="1500" b="1">
                <a:ea typeface="+mn-lt"/>
                <a:cs typeface="+mn-lt"/>
              </a:rPr>
              <a:t> </a:t>
            </a:r>
            <a:r>
              <a:rPr lang="en-US" sz="1500" b="1" err="1">
                <a:ea typeface="+mn-lt"/>
                <a:cs typeface="+mn-lt"/>
              </a:rPr>
              <a:t>quando</a:t>
            </a:r>
            <a:r>
              <a:rPr lang="en-US" sz="1500" b="1">
                <a:ea typeface="+mn-lt"/>
                <a:cs typeface="+mn-lt"/>
              </a:rPr>
              <a:t> tutti </a:t>
            </a:r>
            <a:r>
              <a:rPr lang="en-US" sz="1500" b="1" err="1">
                <a:ea typeface="+mn-lt"/>
                <a:cs typeface="+mn-lt"/>
              </a:rPr>
              <a:t>i</a:t>
            </a:r>
            <a:r>
              <a:rPr lang="en-US" sz="1500" b="1">
                <a:ea typeface="+mn-lt"/>
                <a:cs typeface="+mn-lt"/>
              </a:rPr>
              <a:t> </a:t>
            </a:r>
            <a:r>
              <a:rPr lang="en-US" sz="1500" b="1" err="1">
                <a:ea typeface="+mn-lt"/>
                <a:cs typeface="+mn-lt"/>
              </a:rPr>
              <a:t>giocatori</a:t>
            </a:r>
            <a:r>
              <a:rPr lang="en-US" sz="1500" b="1">
                <a:ea typeface="+mn-lt"/>
                <a:cs typeface="+mn-lt"/>
              </a:rPr>
              <a:t> </a:t>
            </a:r>
            <a:r>
              <a:rPr lang="en-US" sz="1500" b="1" err="1">
                <a:ea typeface="+mn-lt"/>
                <a:cs typeface="+mn-lt"/>
              </a:rPr>
              <a:t>hanno</a:t>
            </a:r>
            <a:r>
              <a:rPr lang="en-US" sz="1500" b="1">
                <a:ea typeface="+mn-lt"/>
                <a:cs typeface="+mn-lt"/>
              </a:rPr>
              <a:t> </a:t>
            </a:r>
            <a:r>
              <a:rPr lang="en-US" sz="1500" b="1" err="1">
                <a:ea typeface="+mn-lt"/>
                <a:cs typeface="+mn-lt"/>
              </a:rPr>
              <a:t>votato</a:t>
            </a:r>
            <a:r>
              <a:rPr lang="en-US" sz="1500" b="1">
                <a:ea typeface="+mn-lt"/>
                <a:cs typeface="+mn-lt"/>
              </a:rPr>
              <a:t> per la </a:t>
            </a:r>
            <a:r>
              <a:rPr lang="en-US" sz="1500" b="1" err="1">
                <a:ea typeface="+mn-lt"/>
                <a:cs typeface="+mn-lt"/>
              </a:rPr>
              <a:t>sua</a:t>
            </a:r>
            <a:r>
              <a:rPr lang="en-US" sz="1500" b="1">
                <a:ea typeface="+mn-lt"/>
                <a:cs typeface="+mn-lt"/>
              </a:rPr>
              <a:t> </a:t>
            </a:r>
            <a:r>
              <a:rPr lang="en-US" sz="1500" b="1" err="1">
                <a:ea typeface="+mn-lt"/>
                <a:cs typeface="+mn-lt"/>
              </a:rPr>
              <a:t>eliminazione</a:t>
            </a:r>
            <a:endParaRPr lang="it-IT" sz="1500" b="1"/>
          </a:p>
          <a:p>
            <a:r>
              <a:rPr lang="en-US" sz="1500">
                <a:ea typeface="+mn-lt"/>
                <a:cs typeface="+mn-lt"/>
              </a:rPr>
              <a:t> </a:t>
            </a:r>
            <a:r>
              <a:rPr lang="en-US" sz="1500" err="1">
                <a:ea typeface="+mn-lt"/>
                <a:cs typeface="+mn-lt"/>
              </a:rPr>
              <a:t>L’utente</a:t>
            </a:r>
            <a:r>
              <a:rPr lang="en-US" sz="1500">
                <a:ea typeface="+mn-lt"/>
                <a:cs typeface="+mn-lt"/>
              </a:rPr>
              <a:t> </a:t>
            </a:r>
            <a:r>
              <a:rPr lang="en-US" sz="1500" err="1">
                <a:ea typeface="+mn-lt"/>
                <a:cs typeface="+mn-lt"/>
              </a:rPr>
              <a:t>deve</a:t>
            </a:r>
            <a:r>
              <a:rPr lang="en-US" sz="1500">
                <a:ea typeface="+mn-lt"/>
                <a:cs typeface="+mn-lt"/>
              </a:rPr>
              <a:t> </a:t>
            </a:r>
            <a:r>
              <a:rPr lang="en-US" sz="1500" err="1">
                <a:ea typeface="+mn-lt"/>
                <a:cs typeface="+mn-lt"/>
              </a:rPr>
              <a:t>cliccare</a:t>
            </a:r>
            <a:r>
              <a:rPr lang="en-US" sz="1500">
                <a:ea typeface="+mn-lt"/>
                <a:cs typeface="+mn-lt"/>
              </a:rPr>
              <a:t> </a:t>
            </a:r>
            <a:r>
              <a:rPr lang="en-US" sz="1500" err="1">
                <a:ea typeface="+mn-lt"/>
                <a:cs typeface="+mn-lt"/>
              </a:rPr>
              <a:t>sul</a:t>
            </a:r>
            <a:r>
              <a:rPr lang="en-US" sz="1500">
                <a:ea typeface="+mn-lt"/>
                <a:cs typeface="+mn-lt"/>
              </a:rPr>
              <a:t> </a:t>
            </a:r>
            <a:r>
              <a:rPr lang="en-US" sz="1500" err="1">
                <a:ea typeface="+mn-lt"/>
                <a:cs typeface="+mn-lt"/>
              </a:rPr>
              <a:t>simbolo</a:t>
            </a:r>
            <a:r>
              <a:rPr lang="en-US" sz="1500">
                <a:ea typeface="+mn-lt"/>
                <a:cs typeface="+mn-lt"/>
              </a:rPr>
              <a:t> rosso </a:t>
            </a:r>
            <a:r>
              <a:rPr lang="en-US" sz="1500" err="1">
                <a:ea typeface="+mn-lt"/>
                <a:cs typeface="+mn-lt"/>
              </a:rPr>
              <a:t>della</a:t>
            </a:r>
            <a:r>
              <a:rPr lang="en-US" sz="1500">
                <a:ea typeface="+mn-lt"/>
                <a:cs typeface="+mn-lt"/>
              </a:rPr>
              <a:t> </a:t>
            </a:r>
            <a:r>
              <a:rPr lang="en-US" sz="1500" err="1">
                <a:ea typeface="+mn-lt"/>
                <a:cs typeface="+mn-lt"/>
              </a:rPr>
              <a:t>mappa</a:t>
            </a:r>
            <a:r>
              <a:rPr lang="en-US" sz="1500">
                <a:ea typeface="+mn-lt"/>
                <a:cs typeface="+mn-lt"/>
              </a:rPr>
              <a:t> </a:t>
            </a:r>
            <a:r>
              <a:rPr lang="en-US" sz="1500" err="1">
                <a:ea typeface="+mn-lt"/>
                <a:cs typeface="+mn-lt"/>
              </a:rPr>
              <a:t>che</a:t>
            </a:r>
            <a:r>
              <a:rPr lang="en-US" sz="1500">
                <a:ea typeface="+mn-lt"/>
                <a:cs typeface="+mn-lt"/>
              </a:rPr>
              <a:t> </a:t>
            </a:r>
            <a:r>
              <a:rPr lang="en-US" sz="1500" err="1">
                <a:ea typeface="+mn-lt"/>
                <a:cs typeface="+mn-lt"/>
              </a:rPr>
              <a:t>si</a:t>
            </a:r>
            <a:r>
              <a:rPr lang="en-US" sz="1500">
                <a:ea typeface="+mn-lt"/>
                <a:cs typeface="+mn-lt"/>
              </a:rPr>
              <a:t> </a:t>
            </a:r>
            <a:r>
              <a:rPr lang="en-US" sz="1500" err="1">
                <a:ea typeface="+mn-lt"/>
                <a:cs typeface="+mn-lt"/>
              </a:rPr>
              <a:t>vuole</a:t>
            </a:r>
            <a:r>
              <a:rPr lang="en-US" sz="1500">
                <a:ea typeface="+mn-lt"/>
                <a:cs typeface="+mn-lt"/>
              </a:rPr>
              <a:t> </a:t>
            </a:r>
            <a:r>
              <a:rPr lang="en-US" sz="1500" err="1">
                <a:ea typeface="+mn-lt"/>
                <a:cs typeface="+mn-lt"/>
              </a:rPr>
              <a:t>cancellare</a:t>
            </a:r>
            <a:endParaRPr lang="en-US" sz="1500">
              <a:ea typeface="+mn-lt"/>
              <a:cs typeface="+mn-lt"/>
            </a:endParaRPr>
          </a:p>
          <a:p>
            <a:r>
              <a:rPr lang="en-US" sz="1500">
                <a:ea typeface="+mn-lt"/>
                <a:cs typeface="+mn-lt"/>
              </a:rPr>
              <a:t> Se </a:t>
            </a:r>
            <a:r>
              <a:rPr lang="en-US" sz="1500" err="1">
                <a:ea typeface="+mn-lt"/>
                <a:cs typeface="+mn-lt"/>
              </a:rPr>
              <a:t>l’utente</a:t>
            </a:r>
            <a:r>
              <a:rPr lang="en-US" sz="1500">
                <a:ea typeface="+mn-lt"/>
                <a:cs typeface="+mn-lt"/>
              </a:rPr>
              <a:t> </a:t>
            </a:r>
            <a:r>
              <a:rPr lang="en-US" sz="1500" err="1">
                <a:ea typeface="+mn-lt"/>
                <a:cs typeface="+mn-lt"/>
              </a:rPr>
              <a:t>vuole</a:t>
            </a:r>
            <a:r>
              <a:rPr lang="en-US" sz="1500">
                <a:ea typeface="+mn-lt"/>
                <a:cs typeface="+mn-lt"/>
              </a:rPr>
              <a:t> </a:t>
            </a:r>
            <a:r>
              <a:rPr lang="en-US" sz="1500" err="1">
                <a:ea typeface="+mn-lt"/>
                <a:cs typeface="+mn-lt"/>
              </a:rPr>
              <a:t>rimuovere</a:t>
            </a:r>
            <a:r>
              <a:rPr lang="en-US" sz="1500">
                <a:ea typeface="+mn-lt"/>
                <a:cs typeface="+mn-lt"/>
              </a:rPr>
              <a:t> il </a:t>
            </a:r>
            <a:r>
              <a:rPr lang="en-US" sz="1500" err="1">
                <a:ea typeface="+mn-lt"/>
                <a:cs typeface="+mn-lt"/>
              </a:rPr>
              <a:t>voto</a:t>
            </a:r>
            <a:r>
              <a:rPr lang="en-US" sz="1500">
                <a:ea typeface="+mn-lt"/>
                <a:cs typeface="+mn-lt"/>
              </a:rPr>
              <a:t>, </a:t>
            </a:r>
            <a:r>
              <a:rPr lang="en-US" sz="1500" err="1">
                <a:ea typeface="+mn-lt"/>
                <a:cs typeface="+mn-lt"/>
              </a:rPr>
              <a:t>deve</a:t>
            </a:r>
            <a:r>
              <a:rPr lang="en-US" sz="1500">
                <a:ea typeface="+mn-lt"/>
                <a:cs typeface="+mn-lt"/>
              </a:rPr>
              <a:t> </a:t>
            </a:r>
            <a:r>
              <a:rPr lang="en-US" sz="1500" err="1">
                <a:ea typeface="+mn-lt"/>
                <a:cs typeface="+mn-lt"/>
              </a:rPr>
              <a:t>cliccare</a:t>
            </a:r>
            <a:r>
              <a:rPr lang="en-US" sz="1500">
                <a:ea typeface="+mn-lt"/>
                <a:cs typeface="+mn-lt"/>
              </a:rPr>
              <a:t> </a:t>
            </a:r>
            <a:r>
              <a:rPr lang="en-US" sz="1500" err="1">
                <a:ea typeface="+mn-lt"/>
                <a:cs typeface="+mn-lt"/>
              </a:rPr>
              <a:t>sul</a:t>
            </a:r>
            <a:r>
              <a:rPr lang="en-US" sz="1500">
                <a:ea typeface="+mn-lt"/>
                <a:cs typeface="+mn-lt"/>
              </a:rPr>
              <a:t> </a:t>
            </a:r>
            <a:r>
              <a:rPr lang="en-US" sz="1500" err="1">
                <a:ea typeface="+mn-lt"/>
                <a:cs typeface="+mn-lt"/>
              </a:rPr>
              <a:t>pulsante</a:t>
            </a:r>
            <a:r>
              <a:rPr lang="en-US" sz="1500">
                <a:ea typeface="+mn-lt"/>
                <a:cs typeface="+mn-lt"/>
              </a:rPr>
              <a:t> </a:t>
            </a:r>
            <a:r>
              <a:rPr lang="en-US" sz="1500" err="1">
                <a:ea typeface="+mn-lt"/>
                <a:cs typeface="+mn-lt"/>
              </a:rPr>
              <a:t>verde</a:t>
            </a:r>
            <a:r>
              <a:rPr lang="en-US" sz="1500">
                <a:ea typeface="+mn-lt"/>
                <a:cs typeface="+mn-lt"/>
              </a:rPr>
              <a:t> </a:t>
            </a:r>
            <a:r>
              <a:rPr lang="en-US" sz="1500" err="1">
                <a:ea typeface="+mn-lt"/>
                <a:cs typeface="+mn-lt"/>
              </a:rPr>
              <a:t>che</a:t>
            </a:r>
            <a:r>
              <a:rPr lang="en-US" sz="1500">
                <a:ea typeface="+mn-lt"/>
                <a:cs typeface="+mn-lt"/>
              </a:rPr>
              <a:t> trova sopra la </a:t>
            </a:r>
            <a:r>
              <a:rPr lang="en-US" sz="1500" err="1">
                <a:ea typeface="+mn-lt"/>
                <a:cs typeface="+mn-lt"/>
              </a:rPr>
              <a:t>mappa</a:t>
            </a:r>
            <a:r>
              <a:rPr lang="en-US" sz="1500">
                <a:ea typeface="+mn-lt"/>
                <a:cs typeface="+mn-lt"/>
              </a:rPr>
              <a:t> per </a:t>
            </a:r>
            <a:r>
              <a:rPr lang="en-US" sz="1500" err="1">
                <a:ea typeface="+mn-lt"/>
                <a:cs typeface="+mn-lt"/>
              </a:rPr>
              <a:t>annullare</a:t>
            </a:r>
            <a:r>
              <a:rPr lang="en-US" sz="1500">
                <a:ea typeface="+mn-lt"/>
                <a:cs typeface="+mn-lt"/>
              </a:rPr>
              <a:t> il </a:t>
            </a:r>
            <a:r>
              <a:rPr lang="en-US" sz="1500" err="1">
                <a:ea typeface="+mn-lt"/>
                <a:cs typeface="+mn-lt"/>
              </a:rPr>
              <a:t>voto</a:t>
            </a:r>
            <a:r>
              <a:rPr lang="en-US" sz="1500">
                <a:ea typeface="+mn-lt"/>
                <a:cs typeface="+mn-lt"/>
              </a:rPr>
              <a:t> di </a:t>
            </a:r>
            <a:r>
              <a:rPr lang="en-US" sz="1500" err="1">
                <a:ea typeface="+mn-lt"/>
                <a:cs typeface="+mn-lt"/>
              </a:rPr>
              <a:t>cancellazione</a:t>
            </a:r>
            <a:r>
              <a:rPr lang="en-US" sz="1500">
                <a:ea typeface="+mn-lt"/>
                <a:cs typeface="+mn-lt"/>
              </a:rPr>
              <a:t> </a:t>
            </a:r>
          </a:p>
          <a:p>
            <a:r>
              <a:rPr lang="en-US" sz="1500">
                <a:ea typeface="+mn-lt"/>
                <a:cs typeface="+mn-lt"/>
              </a:rPr>
              <a:t>La </a:t>
            </a:r>
            <a:r>
              <a:rPr lang="en-US" sz="1500" err="1">
                <a:ea typeface="+mn-lt"/>
                <a:cs typeface="+mn-lt"/>
              </a:rPr>
              <a:t>mappa</a:t>
            </a:r>
            <a:r>
              <a:rPr lang="en-US" sz="1500">
                <a:ea typeface="+mn-lt"/>
                <a:cs typeface="+mn-lt"/>
              </a:rPr>
              <a:t> </a:t>
            </a:r>
            <a:r>
              <a:rPr lang="en-US" sz="1500" err="1">
                <a:ea typeface="+mn-lt"/>
                <a:cs typeface="+mn-lt"/>
              </a:rPr>
              <a:t>viene</a:t>
            </a:r>
            <a:r>
              <a:rPr lang="en-US" sz="1500">
                <a:ea typeface="+mn-lt"/>
                <a:cs typeface="+mn-lt"/>
              </a:rPr>
              <a:t> </a:t>
            </a:r>
            <a:r>
              <a:rPr lang="en-US" sz="1500" err="1">
                <a:ea typeface="+mn-lt"/>
                <a:cs typeface="+mn-lt"/>
              </a:rPr>
              <a:t>cancellata</a:t>
            </a:r>
            <a:r>
              <a:rPr lang="en-US" sz="1500">
                <a:ea typeface="+mn-lt"/>
                <a:cs typeface="+mn-lt"/>
              </a:rPr>
              <a:t> </a:t>
            </a:r>
            <a:r>
              <a:rPr lang="en-US" sz="1500" err="1">
                <a:ea typeface="+mn-lt"/>
                <a:cs typeface="+mn-lt"/>
              </a:rPr>
              <a:t>quando</a:t>
            </a:r>
            <a:r>
              <a:rPr lang="en-US" sz="1500">
                <a:ea typeface="+mn-lt"/>
                <a:cs typeface="+mn-lt"/>
              </a:rPr>
              <a:t> tutti </a:t>
            </a:r>
            <a:r>
              <a:rPr lang="en-US" sz="1500" err="1">
                <a:ea typeface="+mn-lt"/>
                <a:cs typeface="+mn-lt"/>
              </a:rPr>
              <a:t>i</a:t>
            </a:r>
            <a:r>
              <a:rPr lang="en-US" sz="1500">
                <a:ea typeface="+mn-lt"/>
                <a:cs typeface="+mn-lt"/>
              </a:rPr>
              <a:t> </a:t>
            </a:r>
            <a:r>
              <a:rPr lang="en-US" sz="1500" err="1">
                <a:ea typeface="+mn-lt"/>
                <a:cs typeface="+mn-lt"/>
              </a:rPr>
              <a:t>giocatori</a:t>
            </a:r>
            <a:r>
              <a:rPr lang="en-US" sz="1500">
                <a:ea typeface="+mn-lt"/>
                <a:cs typeface="+mn-lt"/>
              </a:rPr>
              <a:t> </a:t>
            </a:r>
            <a:r>
              <a:rPr lang="en-US" sz="1500" err="1">
                <a:ea typeface="+mn-lt"/>
                <a:cs typeface="+mn-lt"/>
              </a:rPr>
              <a:t>hanno</a:t>
            </a:r>
            <a:r>
              <a:rPr lang="en-US" sz="1500">
                <a:ea typeface="+mn-lt"/>
                <a:cs typeface="+mn-lt"/>
              </a:rPr>
              <a:t> </a:t>
            </a:r>
            <a:r>
              <a:rPr lang="en-US" sz="1500" err="1">
                <a:ea typeface="+mn-lt"/>
                <a:cs typeface="+mn-lt"/>
              </a:rPr>
              <a:t>votato</a:t>
            </a:r>
            <a:r>
              <a:rPr lang="en-US" sz="1500">
                <a:ea typeface="+mn-lt"/>
                <a:cs typeface="+mn-lt"/>
              </a:rPr>
              <a:t> per </a:t>
            </a:r>
            <a:r>
              <a:rPr lang="en-US" sz="1500" err="1">
                <a:ea typeface="+mn-lt"/>
                <a:cs typeface="+mn-lt"/>
              </a:rPr>
              <a:t>eliminarla</a:t>
            </a:r>
            <a:r>
              <a:rPr lang="en-US" sz="1500">
                <a:ea typeface="+mn-lt"/>
                <a:cs typeface="+mn-lt"/>
              </a:rPr>
              <a:t>, il </a:t>
            </a:r>
            <a:r>
              <a:rPr lang="en-US" sz="1500" err="1">
                <a:ea typeface="+mn-lt"/>
                <a:cs typeface="+mn-lt"/>
              </a:rPr>
              <a:t>sistema</a:t>
            </a:r>
            <a:r>
              <a:rPr lang="en-US" sz="1500">
                <a:ea typeface="+mn-lt"/>
                <a:cs typeface="+mn-lt"/>
              </a:rPr>
              <a:t> </a:t>
            </a:r>
            <a:r>
              <a:rPr lang="en-US" sz="1500" err="1">
                <a:ea typeface="+mn-lt"/>
                <a:cs typeface="+mn-lt"/>
              </a:rPr>
              <a:t>mostrerà</a:t>
            </a:r>
            <a:r>
              <a:rPr lang="en-US" sz="1500">
                <a:ea typeface="+mn-lt"/>
                <a:cs typeface="+mn-lt"/>
              </a:rPr>
              <a:t> il </a:t>
            </a:r>
            <a:r>
              <a:rPr lang="en-US" sz="1500" err="1">
                <a:ea typeface="+mn-lt"/>
                <a:cs typeface="+mn-lt"/>
              </a:rPr>
              <a:t>messaggio</a:t>
            </a:r>
            <a:r>
              <a:rPr lang="en-US" sz="1500">
                <a:ea typeface="+mn-lt"/>
                <a:cs typeface="+mn-lt"/>
              </a:rPr>
              <a:t> di </a:t>
            </a:r>
            <a:r>
              <a:rPr lang="en-US" sz="1500" err="1">
                <a:ea typeface="+mn-lt"/>
                <a:cs typeface="+mn-lt"/>
              </a:rPr>
              <a:t>conferma</a:t>
            </a:r>
            <a:r>
              <a:rPr lang="en-US" sz="1500">
                <a:ea typeface="+mn-lt"/>
                <a:cs typeface="+mn-lt"/>
              </a:rPr>
              <a:t>: “TUTTI HANNO VOTATO PER ELIMINARE LA MAPPA, ORA VERRÀ CANCELLATA!”</a:t>
            </a:r>
          </a:p>
          <a:p>
            <a:r>
              <a:rPr lang="en-US" sz="1500">
                <a:ea typeface="+mn-lt"/>
                <a:cs typeface="+mn-lt"/>
              </a:rPr>
              <a:t> La </a:t>
            </a:r>
            <a:r>
              <a:rPr lang="en-US" sz="1500" err="1">
                <a:ea typeface="+mn-lt"/>
                <a:cs typeface="+mn-lt"/>
              </a:rPr>
              <a:t>mappa</a:t>
            </a:r>
            <a:r>
              <a:rPr lang="en-US" sz="1500">
                <a:ea typeface="+mn-lt"/>
                <a:cs typeface="+mn-lt"/>
              </a:rPr>
              <a:t> </a:t>
            </a:r>
            <a:r>
              <a:rPr lang="en-US" sz="1500" err="1">
                <a:ea typeface="+mn-lt"/>
                <a:cs typeface="+mn-lt"/>
              </a:rPr>
              <a:t>selezionata</a:t>
            </a:r>
            <a:r>
              <a:rPr lang="en-US" sz="1500">
                <a:ea typeface="+mn-lt"/>
                <a:cs typeface="+mn-lt"/>
              </a:rPr>
              <a:t> non </a:t>
            </a:r>
            <a:r>
              <a:rPr lang="en-US" sz="1500" err="1">
                <a:ea typeface="+mn-lt"/>
                <a:cs typeface="+mn-lt"/>
              </a:rPr>
              <a:t>appare</a:t>
            </a:r>
            <a:r>
              <a:rPr lang="en-US" sz="1500">
                <a:ea typeface="+mn-lt"/>
                <a:cs typeface="+mn-lt"/>
              </a:rPr>
              <a:t> </a:t>
            </a:r>
            <a:r>
              <a:rPr lang="en-US" sz="1500" err="1">
                <a:ea typeface="+mn-lt"/>
                <a:cs typeface="+mn-lt"/>
              </a:rPr>
              <a:t>più</a:t>
            </a:r>
            <a:r>
              <a:rPr lang="en-US" sz="1500">
                <a:ea typeface="+mn-lt"/>
                <a:cs typeface="+mn-lt"/>
              </a:rPr>
              <a:t> </a:t>
            </a:r>
            <a:r>
              <a:rPr lang="en-US" sz="1500" err="1">
                <a:ea typeface="+mn-lt"/>
                <a:cs typeface="+mn-lt"/>
              </a:rPr>
              <a:t>nell’elenco</a:t>
            </a:r>
            <a:r>
              <a:rPr lang="en-US" sz="1500">
                <a:ea typeface="+mn-lt"/>
                <a:cs typeface="+mn-lt"/>
              </a:rPr>
              <a:t> </a:t>
            </a:r>
            <a:r>
              <a:rPr lang="en-US" sz="1500" err="1">
                <a:ea typeface="+mn-lt"/>
                <a:cs typeface="+mn-lt"/>
              </a:rPr>
              <a:t>delle</a:t>
            </a:r>
            <a:r>
              <a:rPr lang="en-US" sz="1500">
                <a:ea typeface="+mn-lt"/>
                <a:cs typeface="+mn-lt"/>
              </a:rPr>
              <a:t> </a:t>
            </a:r>
            <a:r>
              <a:rPr lang="en-US" sz="1500" err="1">
                <a:ea typeface="+mn-lt"/>
                <a:cs typeface="+mn-lt"/>
              </a:rPr>
              <a:t>mappe</a:t>
            </a:r>
            <a:r>
              <a:rPr lang="en-US" sz="1500">
                <a:ea typeface="+mn-lt"/>
                <a:cs typeface="+mn-lt"/>
              </a:rPr>
              <a:t> </a:t>
            </a:r>
            <a:r>
              <a:rPr lang="en-US" sz="1500" err="1">
                <a:ea typeface="+mn-lt"/>
                <a:cs typeface="+mn-lt"/>
              </a:rPr>
              <a:t>disponibili</a:t>
            </a:r>
            <a:r>
              <a:rPr lang="en-US" sz="1500">
                <a:ea typeface="+mn-lt"/>
                <a:cs typeface="+mn-lt"/>
              </a:rPr>
              <a:t> </a:t>
            </a:r>
            <a:r>
              <a:rPr lang="en-US" sz="1500" err="1">
                <a:ea typeface="+mn-lt"/>
                <a:cs typeface="+mn-lt"/>
              </a:rPr>
              <a:t>Importante</a:t>
            </a:r>
            <a:endParaRPr lang="en-US" sz="1500">
              <a:ea typeface="+mn-lt"/>
              <a:cs typeface="+mn-lt"/>
            </a:endParaRPr>
          </a:p>
          <a:p>
            <a:pPr marL="0" indent="0">
              <a:buNone/>
            </a:pPr>
            <a:r>
              <a:rPr lang="en-US" sz="1500" b="1">
                <a:ea typeface="+mn-lt"/>
                <a:cs typeface="+mn-lt"/>
              </a:rPr>
              <a:t> </a:t>
            </a:r>
            <a:r>
              <a:rPr lang="en-US" sz="1500" b="1" err="1">
                <a:ea typeface="+mn-lt"/>
                <a:cs typeface="+mn-lt"/>
              </a:rPr>
              <a:t>Risultato</a:t>
            </a:r>
            <a:r>
              <a:rPr lang="en-US" sz="1500" b="1">
                <a:ea typeface="+mn-lt"/>
                <a:cs typeface="+mn-lt"/>
              </a:rPr>
              <a:t> </a:t>
            </a:r>
            <a:r>
              <a:rPr lang="en-US" sz="1500" b="1" err="1">
                <a:ea typeface="+mn-lt"/>
                <a:cs typeface="+mn-lt"/>
              </a:rPr>
              <a:t>Atteso</a:t>
            </a:r>
            <a:r>
              <a:rPr lang="en-US" sz="1500" b="1">
                <a:ea typeface="+mn-lt"/>
                <a:cs typeface="+mn-lt"/>
              </a:rPr>
              <a:t>: La </a:t>
            </a:r>
            <a:r>
              <a:rPr lang="en-US" sz="1500" b="1" err="1">
                <a:ea typeface="+mn-lt"/>
                <a:cs typeface="+mn-lt"/>
              </a:rPr>
              <a:t>mappa</a:t>
            </a:r>
            <a:r>
              <a:rPr lang="en-US" sz="1500" b="1">
                <a:ea typeface="+mn-lt"/>
                <a:cs typeface="+mn-lt"/>
              </a:rPr>
              <a:t> </a:t>
            </a:r>
            <a:r>
              <a:rPr lang="en-US" sz="1500" b="1" err="1">
                <a:ea typeface="+mn-lt"/>
                <a:cs typeface="+mn-lt"/>
              </a:rPr>
              <a:t>viene</a:t>
            </a:r>
            <a:r>
              <a:rPr lang="en-US" sz="1500" b="1">
                <a:ea typeface="+mn-lt"/>
                <a:cs typeface="+mn-lt"/>
              </a:rPr>
              <a:t> </a:t>
            </a:r>
            <a:r>
              <a:rPr lang="en-US" sz="1500" b="1" err="1">
                <a:ea typeface="+mn-lt"/>
                <a:cs typeface="+mn-lt"/>
              </a:rPr>
              <a:t>cancellata</a:t>
            </a:r>
            <a:r>
              <a:rPr lang="en-US" sz="1500" b="1">
                <a:ea typeface="+mn-lt"/>
                <a:cs typeface="+mn-lt"/>
              </a:rPr>
              <a:t> </a:t>
            </a:r>
            <a:r>
              <a:rPr lang="en-US" sz="1500" b="1" err="1">
                <a:ea typeface="+mn-lt"/>
                <a:cs typeface="+mn-lt"/>
              </a:rPr>
              <a:t>correttamente</a:t>
            </a:r>
            <a:r>
              <a:rPr lang="en-US" sz="1500" b="1">
                <a:ea typeface="+mn-lt"/>
                <a:cs typeface="+mn-lt"/>
              </a:rPr>
              <a:t> solo dopo </a:t>
            </a:r>
            <a:r>
              <a:rPr lang="en-US" sz="1500" b="1" err="1">
                <a:ea typeface="+mn-lt"/>
                <a:cs typeface="+mn-lt"/>
              </a:rPr>
              <a:t>che</a:t>
            </a:r>
            <a:r>
              <a:rPr lang="en-US" sz="1500" b="1">
                <a:ea typeface="+mn-lt"/>
                <a:cs typeface="+mn-lt"/>
              </a:rPr>
              <a:t> tutti </a:t>
            </a:r>
            <a:r>
              <a:rPr lang="en-US" sz="1500" b="1" err="1">
                <a:ea typeface="+mn-lt"/>
                <a:cs typeface="+mn-lt"/>
              </a:rPr>
              <a:t>i</a:t>
            </a:r>
            <a:r>
              <a:rPr lang="en-US" sz="1500" b="1">
                <a:ea typeface="+mn-lt"/>
                <a:cs typeface="+mn-lt"/>
              </a:rPr>
              <a:t> </a:t>
            </a:r>
            <a:r>
              <a:rPr lang="en-US" sz="1500" b="1" err="1">
                <a:ea typeface="+mn-lt"/>
                <a:cs typeface="+mn-lt"/>
              </a:rPr>
              <a:t>giocatori</a:t>
            </a:r>
            <a:r>
              <a:rPr lang="en-US" sz="1500" b="1">
                <a:ea typeface="+mn-lt"/>
                <a:cs typeface="+mn-lt"/>
              </a:rPr>
              <a:t> </a:t>
            </a:r>
            <a:r>
              <a:rPr lang="en-US" sz="1500" b="1" err="1">
                <a:ea typeface="+mn-lt"/>
                <a:cs typeface="+mn-lt"/>
              </a:rPr>
              <a:t>hanno</a:t>
            </a:r>
            <a:r>
              <a:rPr lang="en-US" sz="1500" b="1">
                <a:ea typeface="+mn-lt"/>
                <a:cs typeface="+mn-lt"/>
              </a:rPr>
              <a:t> </a:t>
            </a:r>
            <a:r>
              <a:rPr lang="en-US" sz="1500" b="1" err="1">
                <a:ea typeface="+mn-lt"/>
                <a:cs typeface="+mn-lt"/>
              </a:rPr>
              <a:t>votato</a:t>
            </a:r>
            <a:r>
              <a:rPr lang="en-US" sz="1500" b="1">
                <a:ea typeface="+mn-lt"/>
                <a:cs typeface="+mn-lt"/>
              </a:rPr>
              <a:t> per </a:t>
            </a:r>
            <a:r>
              <a:rPr lang="en-US" sz="1500" b="1" err="1">
                <a:ea typeface="+mn-lt"/>
                <a:cs typeface="+mn-lt"/>
              </a:rPr>
              <a:t>eliminarla</a:t>
            </a:r>
            <a:r>
              <a:rPr lang="en-US" sz="1500" b="1">
                <a:ea typeface="+mn-lt"/>
                <a:cs typeface="+mn-lt"/>
              </a:rPr>
              <a:t>, e il </a:t>
            </a:r>
            <a:r>
              <a:rPr lang="en-US" sz="1500" b="1" err="1">
                <a:ea typeface="+mn-lt"/>
                <a:cs typeface="+mn-lt"/>
              </a:rPr>
              <a:t>messaggio</a:t>
            </a:r>
            <a:r>
              <a:rPr lang="en-US" sz="1500" b="1">
                <a:ea typeface="+mn-lt"/>
                <a:cs typeface="+mn-lt"/>
              </a:rPr>
              <a:t> di </a:t>
            </a:r>
            <a:r>
              <a:rPr lang="en-US" sz="1500" b="1" err="1">
                <a:ea typeface="+mn-lt"/>
                <a:cs typeface="+mn-lt"/>
              </a:rPr>
              <a:t>conferma</a:t>
            </a:r>
            <a:r>
              <a:rPr lang="en-US" sz="1500" b="1">
                <a:ea typeface="+mn-lt"/>
                <a:cs typeface="+mn-lt"/>
              </a:rPr>
              <a:t> </a:t>
            </a:r>
            <a:r>
              <a:rPr lang="en-US" sz="1500" b="1" err="1">
                <a:ea typeface="+mn-lt"/>
                <a:cs typeface="+mn-lt"/>
              </a:rPr>
              <a:t>appare</a:t>
            </a:r>
            <a:r>
              <a:rPr lang="en-US" sz="1500" b="1">
                <a:ea typeface="+mn-lt"/>
                <a:cs typeface="+mn-lt"/>
              </a:rPr>
              <a:t>. </a:t>
            </a:r>
            <a:endParaRPr lang="en-US" sz="1500" b="1"/>
          </a:p>
        </p:txBody>
      </p:sp>
      <p:sp>
        <p:nvSpPr>
          <p:cNvPr id="6" name="CasellaDiTesto 5">
            <a:extLst>
              <a:ext uri="{FF2B5EF4-FFF2-40B4-BE49-F238E27FC236}">
                <a16:creationId xmlns:a16="http://schemas.microsoft.com/office/drawing/2014/main" id="{FC712C57-EF61-C81B-A88E-87D37D7ABA60}"/>
              </a:ext>
            </a:extLst>
          </p:cNvPr>
          <p:cNvSpPr txBox="1"/>
          <p:nvPr/>
        </p:nvSpPr>
        <p:spPr>
          <a:xfrm>
            <a:off x="281186" y="3426744"/>
            <a:ext cx="4478749"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4400">
                <a:latin typeface="+mj-lt"/>
                <a:ea typeface="+mj-ea"/>
                <a:cs typeface="+mj-cs"/>
              </a:rPr>
              <a:t>Esempio test cancellazione delle mappe</a:t>
            </a:r>
          </a:p>
        </p:txBody>
      </p:sp>
    </p:spTree>
    <p:extLst>
      <p:ext uri="{BB962C8B-B14F-4D97-AF65-F5344CB8AC3E}">
        <p14:creationId xmlns:p14="http://schemas.microsoft.com/office/powerpoint/2010/main" val="2456891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1AA54C-0D60-0063-19EA-2A82DB58969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66C96D5-1B52-240E-629E-8633CF24AF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6C2E9349-56E9-A5CB-C175-6DC8E15E17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03CADFD-C3D6-9595-BF5D-6A65CA42C5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olo 1">
            <a:extLst>
              <a:ext uri="{FF2B5EF4-FFF2-40B4-BE49-F238E27FC236}">
                <a16:creationId xmlns:a16="http://schemas.microsoft.com/office/drawing/2014/main" id="{A005AB2E-19FE-1A9A-8FA7-34593EF8E05F}"/>
              </a:ext>
            </a:extLst>
          </p:cNvPr>
          <p:cNvSpPr>
            <a:spLocks noGrp="1"/>
          </p:cNvSpPr>
          <p:nvPr>
            <p:ph type="title"/>
          </p:nvPr>
        </p:nvSpPr>
        <p:spPr>
          <a:xfrm>
            <a:off x="621792" y="1161288"/>
            <a:ext cx="3602736" cy="4526280"/>
          </a:xfrm>
        </p:spPr>
        <p:txBody>
          <a:bodyPr>
            <a:normAutofit/>
          </a:bodyPr>
          <a:lstStyle/>
          <a:p>
            <a:r>
              <a:rPr lang="it-IT" sz="3400">
                <a:ea typeface="+mj-lt"/>
                <a:cs typeface="+mj-lt"/>
              </a:rPr>
              <a:t>TEST SELEZIONE RUOLO </a:t>
            </a:r>
            <a:endParaRPr lang="it-IT"/>
          </a:p>
        </p:txBody>
      </p:sp>
      <p:sp>
        <p:nvSpPr>
          <p:cNvPr id="14" name="Rectangle 13">
            <a:extLst>
              <a:ext uri="{FF2B5EF4-FFF2-40B4-BE49-F238E27FC236}">
                <a16:creationId xmlns:a16="http://schemas.microsoft.com/office/drawing/2014/main" id="{A136E137-85CB-5675-5121-90ED658E04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Segnaposto contenuto 2">
            <a:extLst>
              <a:ext uri="{FF2B5EF4-FFF2-40B4-BE49-F238E27FC236}">
                <a16:creationId xmlns:a16="http://schemas.microsoft.com/office/drawing/2014/main" id="{F8F81EA1-002F-0DAA-42D8-29A50CAC1268}"/>
              </a:ext>
            </a:extLst>
          </p:cNvPr>
          <p:cNvSpPr>
            <a:spLocks noGrp="1"/>
          </p:cNvSpPr>
          <p:nvPr>
            <p:ph idx="1"/>
          </p:nvPr>
        </p:nvSpPr>
        <p:spPr>
          <a:xfrm>
            <a:off x="5434149" y="932688"/>
            <a:ext cx="5916603" cy="4992624"/>
          </a:xfrm>
        </p:spPr>
        <p:txBody>
          <a:bodyPr vert="horz" lIns="91440" tIns="45720" rIns="91440" bIns="45720" rtlCol="0" anchor="ctr">
            <a:normAutofit/>
          </a:bodyPr>
          <a:lstStyle/>
          <a:p>
            <a:pPr marL="0" indent="0">
              <a:buNone/>
            </a:pPr>
            <a:endParaRPr lang="it-IT" sz="2000">
              <a:ea typeface="+mn-lt"/>
              <a:cs typeface="+mn-lt"/>
            </a:endParaRPr>
          </a:p>
          <a:p>
            <a:pPr marL="457200" indent="-457200"/>
            <a:r>
              <a:rPr lang="it-IT" sz="2000">
                <a:ea typeface="+mn-lt"/>
                <a:cs typeface="+mn-lt"/>
              </a:rPr>
              <a:t>Selezione del Ruolo</a:t>
            </a:r>
            <a:r>
              <a:rPr lang="it-IT">
                <a:solidFill>
                  <a:srgbClr val="00B050"/>
                </a:solidFill>
                <a:ea typeface="+mn-lt"/>
                <a:cs typeface="+mn-lt"/>
              </a:rPr>
              <a:t> </a:t>
            </a:r>
            <a:r>
              <a:rPr lang="it-IT">
                <a:solidFill>
                  <a:srgbClr val="00B050"/>
                </a:solidFill>
                <a:latin typeface="Algerian"/>
                <a:ea typeface="+mn-lt"/>
                <a:cs typeface="+mn-lt"/>
              </a:rPr>
              <a:t>v</a:t>
            </a:r>
          </a:p>
          <a:p>
            <a:pPr marL="457200" indent="-457200"/>
            <a:r>
              <a:rPr lang="it-IT" sz="2000">
                <a:ea typeface="+mn-lt"/>
                <a:cs typeface="+mn-lt"/>
              </a:rPr>
              <a:t>Piazzamento edifici da parte dei ruoli</a:t>
            </a:r>
            <a:r>
              <a:rPr lang="it-IT">
                <a:ea typeface="+mn-lt"/>
                <a:cs typeface="+mn-lt"/>
              </a:rPr>
              <a:t> </a:t>
            </a:r>
            <a:r>
              <a:rPr lang="it-IT" sz="3600">
                <a:solidFill>
                  <a:srgbClr val="FF0000"/>
                </a:solidFill>
                <a:latin typeface="Matura MT Script Capitals"/>
                <a:ea typeface="+mn-lt"/>
                <a:cs typeface="+mn-lt"/>
              </a:rPr>
              <a:t>x</a:t>
            </a:r>
            <a:endParaRPr lang="it-IT" sz="3200">
              <a:solidFill>
                <a:srgbClr val="FF0000"/>
              </a:solidFill>
              <a:latin typeface="Matura MT Script Capitals"/>
            </a:endParaRPr>
          </a:p>
          <a:p>
            <a:pPr marL="0" indent="0">
              <a:buNone/>
            </a:pPr>
            <a:endParaRPr lang="it-IT" sz="2000">
              <a:solidFill>
                <a:srgbClr val="00B050"/>
              </a:solidFill>
              <a:latin typeface="Algerian"/>
            </a:endParaRPr>
          </a:p>
        </p:txBody>
      </p:sp>
    </p:spTree>
    <p:extLst>
      <p:ext uri="{BB962C8B-B14F-4D97-AF65-F5344CB8AC3E}">
        <p14:creationId xmlns:p14="http://schemas.microsoft.com/office/powerpoint/2010/main" val="18476748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olo 1">
            <a:extLst>
              <a:ext uri="{FF2B5EF4-FFF2-40B4-BE49-F238E27FC236}">
                <a16:creationId xmlns:a16="http://schemas.microsoft.com/office/drawing/2014/main" id="{306E8037-0CB4-43DE-19F4-7101AF9DE387}"/>
              </a:ext>
            </a:extLst>
          </p:cNvPr>
          <p:cNvSpPr>
            <a:spLocks noGrp="1"/>
          </p:cNvSpPr>
          <p:nvPr>
            <p:ph type="title"/>
          </p:nvPr>
        </p:nvSpPr>
        <p:spPr>
          <a:xfrm>
            <a:off x="475939" y="3998018"/>
            <a:ext cx="3981854" cy="2216513"/>
          </a:xfrm>
        </p:spPr>
        <p:txBody>
          <a:bodyPr>
            <a:normAutofit/>
          </a:bodyPr>
          <a:lstStyle/>
          <a:p>
            <a:r>
              <a:rPr lang="it-IT"/>
              <a:t>Esempio test fallito</a:t>
            </a:r>
          </a:p>
        </p:txBody>
      </p:sp>
      <p:sp>
        <p:nvSpPr>
          <p:cNvPr id="13" name="Arc 12">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4" name="Segnaposto contenuto 3" descr="Immagine che contiene testo, Carattere, schermata, numero&#10;&#10;Il contenuto generato dall&amp;#39;intelligenza artificiale potrebbe non essere corretto.">
            <a:extLst>
              <a:ext uri="{FF2B5EF4-FFF2-40B4-BE49-F238E27FC236}">
                <a16:creationId xmlns:a16="http://schemas.microsoft.com/office/drawing/2014/main" id="{86270DF3-7E17-C0AF-105C-25DC84E96310}"/>
              </a:ext>
            </a:extLst>
          </p:cNvPr>
          <p:cNvPicPr>
            <a:picLocks noChangeAspect="1"/>
          </p:cNvPicPr>
          <p:nvPr/>
        </p:nvPicPr>
        <p:blipFill>
          <a:blip r:embed="rId2"/>
          <a:stretch>
            <a:fillRect/>
          </a:stretch>
        </p:blipFill>
        <p:spPr>
          <a:xfrm>
            <a:off x="659914" y="1354237"/>
            <a:ext cx="10872172" cy="1658005"/>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8" name="Content Placeholder 7">
            <a:extLst>
              <a:ext uri="{FF2B5EF4-FFF2-40B4-BE49-F238E27FC236}">
                <a16:creationId xmlns:a16="http://schemas.microsoft.com/office/drawing/2014/main" id="{4DAE34DF-6729-5D73-7B85-56763921972E}"/>
              </a:ext>
            </a:extLst>
          </p:cNvPr>
          <p:cNvSpPr>
            <a:spLocks noGrp="1"/>
          </p:cNvSpPr>
          <p:nvPr>
            <p:ph idx="1"/>
          </p:nvPr>
        </p:nvSpPr>
        <p:spPr>
          <a:xfrm>
            <a:off x="3784113" y="3248511"/>
            <a:ext cx="6807688" cy="2966020"/>
          </a:xfrm>
        </p:spPr>
        <p:txBody>
          <a:bodyPr vert="horz" lIns="91440" tIns="45720" rIns="91440" bIns="45720" rtlCol="0" anchor="t">
            <a:noAutofit/>
          </a:bodyPr>
          <a:lstStyle/>
          <a:p>
            <a:pPr marL="0" indent="0">
              <a:buNone/>
            </a:pPr>
            <a:r>
              <a:rPr lang="en-US" sz="1500" b="1" err="1">
                <a:ea typeface="+mn-lt"/>
                <a:cs typeface="+mn-lt"/>
              </a:rPr>
              <a:t>Obiettivo</a:t>
            </a:r>
            <a:r>
              <a:rPr lang="en-US" sz="1500" b="1">
                <a:ea typeface="+mn-lt"/>
                <a:cs typeface="+mn-lt"/>
              </a:rPr>
              <a:t>: </a:t>
            </a:r>
            <a:r>
              <a:rPr lang="en-US" sz="1500" b="1" err="1">
                <a:ea typeface="+mn-lt"/>
                <a:cs typeface="+mn-lt"/>
              </a:rPr>
              <a:t>verificare</a:t>
            </a:r>
            <a:r>
              <a:rPr lang="en-US" sz="1500" b="1">
                <a:ea typeface="+mn-lt"/>
                <a:cs typeface="+mn-lt"/>
              </a:rPr>
              <a:t> </a:t>
            </a:r>
            <a:r>
              <a:rPr lang="en-US" sz="1500" b="1" err="1">
                <a:ea typeface="+mn-lt"/>
                <a:cs typeface="+mn-lt"/>
              </a:rPr>
              <a:t>che</a:t>
            </a:r>
            <a:r>
              <a:rPr lang="en-US" sz="1500" b="1">
                <a:ea typeface="+mn-lt"/>
                <a:cs typeface="+mn-lt"/>
              </a:rPr>
              <a:t> </a:t>
            </a:r>
            <a:r>
              <a:rPr lang="en-US" sz="1500" b="1" err="1">
                <a:ea typeface="+mn-lt"/>
                <a:cs typeface="+mn-lt"/>
              </a:rPr>
              <a:t>i</a:t>
            </a:r>
            <a:r>
              <a:rPr lang="en-US" sz="1500" b="1">
                <a:ea typeface="+mn-lt"/>
                <a:cs typeface="+mn-lt"/>
              </a:rPr>
              <a:t> </a:t>
            </a:r>
            <a:r>
              <a:rPr lang="en-US" sz="1500" b="1" err="1">
                <a:ea typeface="+mn-lt"/>
                <a:cs typeface="+mn-lt"/>
              </a:rPr>
              <a:t>giocatori</a:t>
            </a:r>
            <a:r>
              <a:rPr lang="en-US" sz="1500" b="1">
                <a:ea typeface="+mn-lt"/>
                <a:cs typeface="+mn-lt"/>
              </a:rPr>
              <a:t> </a:t>
            </a:r>
            <a:r>
              <a:rPr lang="en-US" sz="1500" b="1" err="1">
                <a:ea typeface="+mn-lt"/>
                <a:cs typeface="+mn-lt"/>
              </a:rPr>
              <a:t>possano</a:t>
            </a:r>
            <a:r>
              <a:rPr lang="en-US" sz="1500" b="1">
                <a:ea typeface="+mn-lt"/>
                <a:cs typeface="+mn-lt"/>
              </a:rPr>
              <a:t> </a:t>
            </a:r>
            <a:r>
              <a:rPr lang="en-US" sz="1500" b="1" err="1">
                <a:ea typeface="+mn-lt"/>
                <a:cs typeface="+mn-lt"/>
              </a:rPr>
              <a:t>piazzare</a:t>
            </a:r>
            <a:r>
              <a:rPr lang="en-US" sz="1500" b="1">
                <a:ea typeface="+mn-lt"/>
                <a:cs typeface="+mn-lt"/>
              </a:rPr>
              <a:t> </a:t>
            </a:r>
            <a:r>
              <a:rPr lang="en-US" sz="1500" b="1" err="1">
                <a:ea typeface="+mn-lt"/>
                <a:cs typeface="+mn-lt"/>
              </a:rPr>
              <a:t>gli</a:t>
            </a:r>
            <a:r>
              <a:rPr lang="en-US" sz="1500" b="1">
                <a:ea typeface="+mn-lt"/>
                <a:cs typeface="+mn-lt"/>
              </a:rPr>
              <a:t> </a:t>
            </a:r>
            <a:r>
              <a:rPr lang="en-US" sz="1500" b="1" err="1">
                <a:ea typeface="+mn-lt"/>
                <a:cs typeface="+mn-lt"/>
              </a:rPr>
              <a:t>edifici</a:t>
            </a:r>
            <a:r>
              <a:rPr lang="en-US" sz="1500" b="1">
                <a:ea typeface="+mn-lt"/>
                <a:cs typeface="+mn-lt"/>
              </a:rPr>
              <a:t> </a:t>
            </a:r>
            <a:r>
              <a:rPr lang="en-US" sz="1500" b="1" err="1">
                <a:ea typeface="+mn-lt"/>
                <a:cs typeface="+mn-lt"/>
              </a:rPr>
              <a:t>correttamente</a:t>
            </a:r>
            <a:r>
              <a:rPr lang="en-US" sz="1500" b="1">
                <a:ea typeface="+mn-lt"/>
                <a:cs typeface="+mn-lt"/>
              </a:rPr>
              <a:t> </a:t>
            </a:r>
            <a:r>
              <a:rPr lang="en-US" sz="1500" b="1" err="1">
                <a:ea typeface="+mn-lt"/>
                <a:cs typeface="+mn-lt"/>
              </a:rPr>
              <a:t>nella</a:t>
            </a:r>
            <a:r>
              <a:rPr lang="en-US" sz="1500" b="1">
                <a:ea typeface="+mn-lt"/>
                <a:cs typeface="+mn-lt"/>
              </a:rPr>
              <a:t> </a:t>
            </a:r>
            <a:r>
              <a:rPr lang="en-US" sz="1500" b="1" err="1">
                <a:ea typeface="+mn-lt"/>
                <a:cs typeface="+mn-lt"/>
              </a:rPr>
              <a:t>mappa</a:t>
            </a:r>
            <a:r>
              <a:rPr lang="en-US" sz="1500" b="1">
                <a:ea typeface="+mn-lt"/>
                <a:cs typeface="+mn-lt"/>
              </a:rPr>
              <a:t>, in base al loro </a:t>
            </a:r>
            <a:r>
              <a:rPr lang="en-US" sz="1500" b="1" err="1">
                <a:ea typeface="+mn-lt"/>
                <a:cs typeface="+mn-lt"/>
              </a:rPr>
              <a:t>ruolo</a:t>
            </a:r>
            <a:r>
              <a:rPr lang="en-US" sz="1500" b="1">
                <a:ea typeface="+mn-lt"/>
                <a:cs typeface="+mn-lt"/>
              </a:rPr>
              <a:t>, </a:t>
            </a:r>
            <a:r>
              <a:rPr lang="en-US" sz="1500" b="1" err="1">
                <a:ea typeface="+mn-lt"/>
                <a:cs typeface="+mn-lt"/>
              </a:rPr>
              <a:t>durante</a:t>
            </a:r>
            <a:r>
              <a:rPr lang="en-US" sz="1500" b="1">
                <a:ea typeface="+mn-lt"/>
                <a:cs typeface="+mn-lt"/>
              </a:rPr>
              <a:t> il </a:t>
            </a:r>
            <a:r>
              <a:rPr lang="en-US" sz="1500" b="1" err="1">
                <a:ea typeface="+mn-lt"/>
                <a:cs typeface="+mn-lt"/>
              </a:rPr>
              <a:t>gioco</a:t>
            </a:r>
            <a:r>
              <a:rPr lang="en-US" sz="1500" b="1">
                <a:ea typeface="+mn-lt"/>
                <a:cs typeface="+mn-lt"/>
              </a:rPr>
              <a:t>.</a:t>
            </a:r>
            <a:endParaRPr lang="it-IT" sz="1500" b="1"/>
          </a:p>
          <a:p>
            <a:pPr marL="0" indent="0">
              <a:buNone/>
            </a:pPr>
            <a:r>
              <a:rPr lang="en-US" sz="1500">
                <a:ea typeface="+mn-lt"/>
                <a:cs typeface="+mn-lt"/>
              </a:rPr>
              <a:t>Durante il </a:t>
            </a:r>
            <a:r>
              <a:rPr lang="en-US" sz="1500" err="1">
                <a:ea typeface="+mn-lt"/>
                <a:cs typeface="+mn-lt"/>
              </a:rPr>
              <a:t>gioco</a:t>
            </a:r>
            <a:r>
              <a:rPr lang="en-US" sz="1500">
                <a:ea typeface="+mn-lt"/>
                <a:cs typeface="+mn-lt"/>
              </a:rPr>
              <a:t>, </a:t>
            </a:r>
            <a:r>
              <a:rPr lang="en-US" sz="1500" err="1">
                <a:ea typeface="+mn-lt"/>
                <a:cs typeface="+mn-lt"/>
              </a:rPr>
              <a:t>l’utente</a:t>
            </a:r>
            <a:r>
              <a:rPr lang="en-US" sz="1500">
                <a:ea typeface="+mn-lt"/>
                <a:cs typeface="+mn-lt"/>
              </a:rPr>
              <a:t> ha la </a:t>
            </a:r>
            <a:r>
              <a:rPr lang="en-US" sz="1500" err="1">
                <a:ea typeface="+mn-lt"/>
                <a:cs typeface="+mn-lt"/>
              </a:rPr>
              <a:t>possibilità</a:t>
            </a:r>
            <a:r>
              <a:rPr lang="en-US" sz="1500">
                <a:ea typeface="+mn-lt"/>
                <a:cs typeface="+mn-lt"/>
              </a:rPr>
              <a:t> di </a:t>
            </a:r>
            <a:r>
              <a:rPr lang="en-US" sz="1500" err="1">
                <a:ea typeface="+mn-lt"/>
                <a:cs typeface="+mn-lt"/>
              </a:rPr>
              <a:t>piazzare</a:t>
            </a:r>
            <a:r>
              <a:rPr lang="en-US" sz="1500">
                <a:ea typeface="+mn-lt"/>
                <a:cs typeface="+mn-lt"/>
              </a:rPr>
              <a:t> </a:t>
            </a:r>
            <a:r>
              <a:rPr lang="en-US" sz="1500" err="1">
                <a:ea typeface="+mn-lt"/>
                <a:cs typeface="+mn-lt"/>
              </a:rPr>
              <a:t>vari</a:t>
            </a:r>
            <a:r>
              <a:rPr lang="en-US" sz="1500">
                <a:ea typeface="+mn-lt"/>
                <a:cs typeface="+mn-lt"/>
              </a:rPr>
              <a:t> </a:t>
            </a:r>
            <a:r>
              <a:rPr lang="en-US" sz="1500" err="1">
                <a:ea typeface="+mn-lt"/>
                <a:cs typeface="+mn-lt"/>
              </a:rPr>
              <a:t>edifici</a:t>
            </a:r>
            <a:r>
              <a:rPr lang="en-US" sz="1500">
                <a:ea typeface="+mn-lt"/>
                <a:cs typeface="+mn-lt"/>
              </a:rPr>
              <a:t> </a:t>
            </a:r>
            <a:r>
              <a:rPr lang="en-US" sz="1500" err="1">
                <a:ea typeface="+mn-lt"/>
                <a:cs typeface="+mn-lt"/>
              </a:rPr>
              <a:t>sulla</a:t>
            </a:r>
            <a:r>
              <a:rPr lang="en-US" sz="1500">
                <a:ea typeface="+mn-lt"/>
                <a:cs typeface="+mn-lt"/>
              </a:rPr>
              <a:t> </a:t>
            </a:r>
            <a:r>
              <a:rPr lang="en-US" sz="1500" err="1">
                <a:ea typeface="+mn-lt"/>
                <a:cs typeface="+mn-lt"/>
              </a:rPr>
              <a:t>mappa</a:t>
            </a:r>
            <a:r>
              <a:rPr lang="en-US" sz="1500">
                <a:ea typeface="+mn-lt"/>
                <a:cs typeface="+mn-lt"/>
              </a:rPr>
              <a:t>:</a:t>
            </a:r>
            <a:endParaRPr lang="en-US" sz="1500"/>
          </a:p>
          <a:p>
            <a:pPr marL="457200" indent="-457200"/>
            <a:r>
              <a:rPr lang="en-US" sz="1500" err="1">
                <a:ea typeface="+mn-lt"/>
                <a:cs typeface="+mn-lt"/>
              </a:rPr>
              <a:t>Seleziono</a:t>
            </a:r>
            <a:r>
              <a:rPr lang="en-US" sz="1500">
                <a:ea typeface="+mn-lt"/>
                <a:cs typeface="+mn-lt"/>
              </a:rPr>
              <a:t> il </a:t>
            </a:r>
            <a:r>
              <a:rPr lang="en-US" sz="1500" err="1">
                <a:ea typeface="+mn-lt"/>
                <a:cs typeface="+mn-lt"/>
              </a:rPr>
              <a:t>tipo</a:t>
            </a:r>
            <a:r>
              <a:rPr lang="en-US" sz="1500">
                <a:ea typeface="+mn-lt"/>
                <a:cs typeface="+mn-lt"/>
              </a:rPr>
              <a:t> di </a:t>
            </a:r>
            <a:r>
              <a:rPr lang="en-US" sz="1500" err="1">
                <a:ea typeface="+mn-lt"/>
                <a:cs typeface="+mn-lt"/>
              </a:rPr>
              <a:t>edificio</a:t>
            </a:r>
            <a:r>
              <a:rPr lang="en-US" sz="1500">
                <a:ea typeface="+mn-lt"/>
                <a:cs typeface="+mn-lt"/>
              </a:rPr>
              <a:t> </a:t>
            </a:r>
            <a:r>
              <a:rPr lang="en-US" sz="1500" err="1">
                <a:ea typeface="+mn-lt"/>
                <a:cs typeface="+mn-lt"/>
              </a:rPr>
              <a:t>desiderato</a:t>
            </a:r>
            <a:endParaRPr lang="en-US" sz="1500">
              <a:ea typeface="+mn-lt"/>
              <a:cs typeface="+mn-lt"/>
            </a:endParaRPr>
          </a:p>
          <a:p>
            <a:pPr marL="457200" indent="-457200"/>
            <a:r>
              <a:rPr lang="en-US" sz="1500">
                <a:ea typeface="+mn-lt"/>
                <a:cs typeface="+mn-lt"/>
              </a:rPr>
              <a:t> </a:t>
            </a:r>
            <a:r>
              <a:rPr lang="en-US" sz="1500" err="1">
                <a:ea typeface="+mn-lt"/>
                <a:cs typeface="+mn-lt"/>
              </a:rPr>
              <a:t>Clicco</a:t>
            </a:r>
            <a:r>
              <a:rPr lang="en-US" sz="1500">
                <a:ea typeface="+mn-lt"/>
                <a:cs typeface="+mn-lt"/>
              </a:rPr>
              <a:t> </a:t>
            </a:r>
            <a:r>
              <a:rPr lang="en-US" sz="1500" err="1">
                <a:ea typeface="+mn-lt"/>
                <a:cs typeface="+mn-lt"/>
              </a:rPr>
              <a:t>sul</a:t>
            </a:r>
            <a:r>
              <a:rPr lang="en-US" sz="1500">
                <a:ea typeface="+mn-lt"/>
                <a:cs typeface="+mn-lt"/>
              </a:rPr>
              <a:t> punto </a:t>
            </a:r>
            <a:r>
              <a:rPr lang="en-US" sz="1500" err="1">
                <a:ea typeface="+mn-lt"/>
                <a:cs typeface="+mn-lt"/>
              </a:rPr>
              <a:t>della</a:t>
            </a:r>
            <a:r>
              <a:rPr lang="en-US" sz="1500">
                <a:ea typeface="+mn-lt"/>
                <a:cs typeface="+mn-lt"/>
              </a:rPr>
              <a:t> </a:t>
            </a:r>
            <a:r>
              <a:rPr lang="en-US" sz="1500" err="1">
                <a:ea typeface="+mn-lt"/>
                <a:cs typeface="+mn-lt"/>
              </a:rPr>
              <a:t>mappa</a:t>
            </a:r>
            <a:r>
              <a:rPr lang="en-US" sz="1500">
                <a:ea typeface="+mn-lt"/>
                <a:cs typeface="+mn-lt"/>
              </a:rPr>
              <a:t> dove </a:t>
            </a:r>
            <a:r>
              <a:rPr lang="en-US" sz="1500" err="1">
                <a:ea typeface="+mn-lt"/>
                <a:cs typeface="+mn-lt"/>
              </a:rPr>
              <a:t>si</a:t>
            </a:r>
            <a:r>
              <a:rPr lang="en-US" sz="1500">
                <a:ea typeface="+mn-lt"/>
                <a:cs typeface="+mn-lt"/>
              </a:rPr>
              <a:t> </a:t>
            </a:r>
            <a:r>
              <a:rPr lang="en-US" sz="1500" err="1">
                <a:ea typeface="+mn-lt"/>
                <a:cs typeface="+mn-lt"/>
              </a:rPr>
              <a:t>vuole</a:t>
            </a:r>
            <a:r>
              <a:rPr lang="en-US" sz="1500">
                <a:ea typeface="+mn-lt"/>
                <a:cs typeface="+mn-lt"/>
              </a:rPr>
              <a:t> </a:t>
            </a:r>
            <a:r>
              <a:rPr lang="en-US" sz="1500" err="1">
                <a:ea typeface="+mn-lt"/>
                <a:cs typeface="+mn-lt"/>
              </a:rPr>
              <a:t>piazzare</a:t>
            </a:r>
            <a:r>
              <a:rPr lang="en-US" sz="1500">
                <a:ea typeface="+mn-lt"/>
                <a:cs typeface="+mn-lt"/>
              </a:rPr>
              <a:t> </a:t>
            </a:r>
            <a:r>
              <a:rPr lang="en-US" sz="1500" err="1">
                <a:ea typeface="+mn-lt"/>
                <a:cs typeface="+mn-lt"/>
              </a:rPr>
              <a:t>l’edificio</a:t>
            </a:r>
            <a:endParaRPr lang="en-US" sz="1500">
              <a:ea typeface="+mn-lt"/>
              <a:cs typeface="+mn-lt"/>
            </a:endParaRPr>
          </a:p>
          <a:p>
            <a:pPr marL="457200" indent="-457200"/>
            <a:r>
              <a:rPr lang="en-US" sz="1500">
                <a:ea typeface="+mn-lt"/>
                <a:cs typeface="+mn-lt"/>
              </a:rPr>
              <a:t> </a:t>
            </a:r>
            <a:r>
              <a:rPr lang="en-US" sz="1500" err="1">
                <a:ea typeface="+mn-lt"/>
                <a:cs typeface="+mn-lt"/>
              </a:rPr>
              <a:t>Verifico</a:t>
            </a:r>
            <a:r>
              <a:rPr lang="en-US" sz="1500">
                <a:ea typeface="+mn-lt"/>
                <a:cs typeface="+mn-lt"/>
              </a:rPr>
              <a:t> </a:t>
            </a:r>
            <a:r>
              <a:rPr lang="en-US" sz="1500" err="1">
                <a:ea typeface="+mn-lt"/>
                <a:cs typeface="+mn-lt"/>
              </a:rPr>
              <a:t>che</a:t>
            </a:r>
            <a:r>
              <a:rPr lang="en-US" sz="1500">
                <a:ea typeface="+mn-lt"/>
                <a:cs typeface="+mn-lt"/>
              </a:rPr>
              <a:t> </a:t>
            </a:r>
            <a:r>
              <a:rPr lang="en-US" sz="1500" err="1">
                <a:ea typeface="+mn-lt"/>
                <a:cs typeface="+mn-lt"/>
              </a:rPr>
              <a:t>l’edificio</a:t>
            </a:r>
            <a:r>
              <a:rPr lang="en-US" sz="1500">
                <a:ea typeface="+mn-lt"/>
                <a:cs typeface="+mn-lt"/>
              </a:rPr>
              <a:t> </a:t>
            </a:r>
            <a:r>
              <a:rPr lang="en-US" sz="1500" err="1">
                <a:ea typeface="+mn-lt"/>
                <a:cs typeface="+mn-lt"/>
              </a:rPr>
              <a:t>venga</a:t>
            </a:r>
            <a:r>
              <a:rPr lang="en-US" sz="1500">
                <a:ea typeface="+mn-lt"/>
                <a:cs typeface="+mn-lt"/>
              </a:rPr>
              <a:t> </a:t>
            </a:r>
            <a:r>
              <a:rPr lang="en-US" sz="1500" err="1">
                <a:ea typeface="+mn-lt"/>
                <a:cs typeface="+mn-lt"/>
              </a:rPr>
              <a:t>correttamente</a:t>
            </a:r>
            <a:r>
              <a:rPr lang="en-US" sz="1500">
                <a:ea typeface="+mn-lt"/>
                <a:cs typeface="+mn-lt"/>
              </a:rPr>
              <a:t> </a:t>
            </a:r>
            <a:r>
              <a:rPr lang="en-US" sz="1500" err="1">
                <a:ea typeface="+mn-lt"/>
                <a:cs typeface="+mn-lt"/>
              </a:rPr>
              <a:t>piazzato</a:t>
            </a:r>
            <a:r>
              <a:rPr lang="en-US" sz="1500">
                <a:ea typeface="+mn-lt"/>
                <a:cs typeface="+mn-lt"/>
              </a:rPr>
              <a:t> </a:t>
            </a:r>
            <a:r>
              <a:rPr lang="en-US" sz="1500" err="1">
                <a:ea typeface="+mn-lt"/>
                <a:cs typeface="+mn-lt"/>
              </a:rPr>
              <a:t>nella</a:t>
            </a:r>
            <a:r>
              <a:rPr lang="en-US" sz="1500">
                <a:ea typeface="+mn-lt"/>
                <a:cs typeface="+mn-lt"/>
              </a:rPr>
              <a:t> </a:t>
            </a:r>
            <a:r>
              <a:rPr lang="en-US" sz="1500" err="1">
                <a:ea typeface="+mn-lt"/>
                <a:cs typeface="+mn-lt"/>
              </a:rPr>
              <a:t>posizione</a:t>
            </a:r>
            <a:r>
              <a:rPr lang="en-US" sz="1500">
                <a:ea typeface="+mn-lt"/>
                <a:cs typeface="+mn-lt"/>
              </a:rPr>
              <a:t> </a:t>
            </a:r>
            <a:r>
              <a:rPr lang="en-US" sz="1500" err="1">
                <a:ea typeface="+mn-lt"/>
                <a:cs typeface="+mn-lt"/>
              </a:rPr>
              <a:t>scelta</a:t>
            </a:r>
            <a:endParaRPr lang="en-US" sz="1500">
              <a:ea typeface="+mn-lt"/>
              <a:cs typeface="+mn-lt"/>
            </a:endParaRPr>
          </a:p>
          <a:p>
            <a:pPr marL="457200" indent="-457200"/>
            <a:r>
              <a:rPr lang="en-US" sz="1500">
                <a:ea typeface="+mn-lt"/>
                <a:cs typeface="+mn-lt"/>
              </a:rPr>
              <a:t> Un </a:t>
            </a:r>
            <a:r>
              <a:rPr lang="en-US" sz="1500" err="1">
                <a:ea typeface="+mn-lt"/>
                <a:cs typeface="+mn-lt"/>
              </a:rPr>
              <a:t>edificio</a:t>
            </a:r>
            <a:r>
              <a:rPr lang="en-US" sz="1500">
                <a:ea typeface="+mn-lt"/>
                <a:cs typeface="+mn-lt"/>
              </a:rPr>
              <a:t> non </a:t>
            </a:r>
            <a:r>
              <a:rPr lang="en-US" sz="1500" err="1">
                <a:ea typeface="+mn-lt"/>
                <a:cs typeface="+mn-lt"/>
              </a:rPr>
              <a:t>si</a:t>
            </a:r>
            <a:r>
              <a:rPr lang="en-US" sz="1500">
                <a:ea typeface="+mn-lt"/>
                <a:cs typeface="+mn-lt"/>
              </a:rPr>
              <a:t> </a:t>
            </a:r>
            <a:r>
              <a:rPr lang="en-US" sz="1500" err="1">
                <a:ea typeface="+mn-lt"/>
                <a:cs typeface="+mn-lt"/>
              </a:rPr>
              <a:t>può</a:t>
            </a:r>
            <a:r>
              <a:rPr lang="en-US" sz="1500">
                <a:ea typeface="+mn-lt"/>
                <a:cs typeface="+mn-lt"/>
              </a:rPr>
              <a:t> </a:t>
            </a:r>
            <a:r>
              <a:rPr lang="en-US" sz="1500" err="1">
                <a:ea typeface="+mn-lt"/>
                <a:cs typeface="+mn-lt"/>
              </a:rPr>
              <a:t>piazzare</a:t>
            </a:r>
            <a:r>
              <a:rPr lang="en-US" sz="1500">
                <a:ea typeface="+mn-lt"/>
                <a:cs typeface="+mn-lt"/>
              </a:rPr>
              <a:t> sopra un </a:t>
            </a:r>
            <a:r>
              <a:rPr lang="en-US" sz="1500" err="1">
                <a:ea typeface="+mn-lt"/>
                <a:cs typeface="+mn-lt"/>
              </a:rPr>
              <a:t>altro</a:t>
            </a:r>
            <a:r>
              <a:rPr lang="en-US" sz="1500">
                <a:ea typeface="+mn-lt"/>
                <a:cs typeface="+mn-lt"/>
              </a:rPr>
              <a:t> </a:t>
            </a:r>
            <a:r>
              <a:rPr lang="en-US" sz="1500" err="1">
                <a:ea typeface="+mn-lt"/>
                <a:cs typeface="+mn-lt"/>
              </a:rPr>
              <a:t>edificio</a:t>
            </a:r>
            <a:r>
              <a:rPr lang="en-US" sz="1500">
                <a:ea typeface="+mn-lt"/>
                <a:cs typeface="+mn-lt"/>
              </a:rPr>
              <a:t> </a:t>
            </a:r>
            <a:endParaRPr lang="en-US" sz="1500"/>
          </a:p>
          <a:p>
            <a:pPr marL="457200" indent="-457200"/>
            <a:r>
              <a:rPr lang="en-US" sz="1500" err="1">
                <a:ea typeface="+mn-lt"/>
                <a:cs typeface="+mn-lt"/>
              </a:rPr>
              <a:t>L’edificio</a:t>
            </a:r>
            <a:r>
              <a:rPr lang="en-US" sz="1500">
                <a:ea typeface="+mn-lt"/>
                <a:cs typeface="+mn-lt"/>
              </a:rPr>
              <a:t> </a:t>
            </a:r>
            <a:r>
              <a:rPr lang="en-US" sz="1500" err="1">
                <a:ea typeface="+mn-lt"/>
                <a:cs typeface="+mn-lt"/>
              </a:rPr>
              <a:t>deve</a:t>
            </a:r>
            <a:r>
              <a:rPr lang="en-US" sz="1500">
                <a:ea typeface="+mn-lt"/>
                <a:cs typeface="+mn-lt"/>
              </a:rPr>
              <a:t> </a:t>
            </a:r>
            <a:r>
              <a:rPr lang="en-US" sz="1500" err="1">
                <a:ea typeface="+mn-lt"/>
                <a:cs typeface="+mn-lt"/>
              </a:rPr>
              <a:t>essere</a:t>
            </a:r>
            <a:r>
              <a:rPr lang="en-US" sz="1500">
                <a:ea typeface="+mn-lt"/>
                <a:cs typeface="+mn-lt"/>
              </a:rPr>
              <a:t> </a:t>
            </a:r>
            <a:r>
              <a:rPr lang="en-US" sz="1500" err="1">
                <a:ea typeface="+mn-lt"/>
                <a:cs typeface="+mn-lt"/>
              </a:rPr>
              <a:t>visibile</a:t>
            </a:r>
            <a:r>
              <a:rPr lang="en-US" sz="1500">
                <a:ea typeface="+mn-lt"/>
                <a:cs typeface="+mn-lt"/>
              </a:rPr>
              <a:t> </a:t>
            </a:r>
            <a:r>
              <a:rPr lang="en-US" sz="1500" err="1">
                <a:ea typeface="+mn-lt"/>
                <a:cs typeface="+mn-lt"/>
              </a:rPr>
              <a:t>sulla</a:t>
            </a:r>
            <a:r>
              <a:rPr lang="en-US" sz="1500">
                <a:ea typeface="+mn-lt"/>
                <a:cs typeface="+mn-lt"/>
              </a:rPr>
              <a:t> </a:t>
            </a:r>
            <a:r>
              <a:rPr lang="en-US" sz="1500" err="1">
                <a:ea typeface="+mn-lt"/>
                <a:cs typeface="+mn-lt"/>
              </a:rPr>
              <a:t>mappa</a:t>
            </a:r>
            <a:r>
              <a:rPr lang="en-US" sz="1500">
                <a:ea typeface="+mn-lt"/>
                <a:cs typeface="+mn-lt"/>
              </a:rPr>
              <a:t> da </a:t>
            </a:r>
            <a:r>
              <a:rPr lang="en-US" sz="1500" err="1">
                <a:ea typeface="+mn-lt"/>
                <a:cs typeface="+mn-lt"/>
              </a:rPr>
              <a:t>parte</a:t>
            </a:r>
            <a:r>
              <a:rPr lang="en-US" sz="1500">
                <a:ea typeface="+mn-lt"/>
                <a:cs typeface="+mn-lt"/>
              </a:rPr>
              <a:t> di tutti </a:t>
            </a:r>
            <a:r>
              <a:rPr lang="en-US" sz="1500" err="1">
                <a:ea typeface="+mn-lt"/>
                <a:cs typeface="+mn-lt"/>
              </a:rPr>
              <a:t>i</a:t>
            </a:r>
            <a:r>
              <a:rPr lang="en-US" sz="1500">
                <a:ea typeface="+mn-lt"/>
                <a:cs typeface="+mn-lt"/>
              </a:rPr>
              <a:t> </a:t>
            </a:r>
            <a:r>
              <a:rPr lang="en-US" sz="1500" err="1">
                <a:ea typeface="+mn-lt"/>
                <a:cs typeface="+mn-lt"/>
              </a:rPr>
              <a:t>giocatori</a:t>
            </a:r>
            <a:endParaRPr lang="en-US" sz="1500">
              <a:ea typeface="+mn-lt"/>
              <a:cs typeface="+mn-lt"/>
            </a:endParaRPr>
          </a:p>
          <a:p>
            <a:pPr marL="0" indent="0">
              <a:buNone/>
            </a:pPr>
            <a:r>
              <a:rPr lang="en-US" sz="1500" b="1" err="1">
                <a:ea typeface="+mn-lt"/>
                <a:cs typeface="+mn-lt"/>
              </a:rPr>
              <a:t>Risultato</a:t>
            </a:r>
            <a:r>
              <a:rPr lang="en-US" sz="1500" b="1">
                <a:ea typeface="+mn-lt"/>
                <a:cs typeface="+mn-lt"/>
              </a:rPr>
              <a:t> </a:t>
            </a:r>
            <a:r>
              <a:rPr lang="en-US" sz="1500" b="1" err="1">
                <a:ea typeface="+mn-lt"/>
                <a:cs typeface="+mn-lt"/>
              </a:rPr>
              <a:t>atteso:L'edificio</a:t>
            </a:r>
            <a:r>
              <a:rPr lang="en-US" sz="1500" b="1">
                <a:ea typeface="+mn-lt"/>
                <a:cs typeface="+mn-lt"/>
              </a:rPr>
              <a:t> </a:t>
            </a:r>
            <a:r>
              <a:rPr lang="en-US" sz="1500" b="1" err="1">
                <a:ea typeface="+mn-lt"/>
                <a:cs typeface="+mn-lt"/>
              </a:rPr>
              <a:t>viene</a:t>
            </a:r>
            <a:r>
              <a:rPr lang="en-US" sz="1500" b="1">
                <a:ea typeface="+mn-lt"/>
                <a:cs typeface="+mn-lt"/>
              </a:rPr>
              <a:t> </a:t>
            </a:r>
            <a:r>
              <a:rPr lang="en-US" sz="1500" b="1" err="1">
                <a:ea typeface="+mn-lt"/>
                <a:cs typeface="+mn-lt"/>
              </a:rPr>
              <a:t>piazzato</a:t>
            </a:r>
            <a:r>
              <a:rPr lang="en-US" sz="1500" b="1">
                <a:ea typeface="+mn-lt"/>
                <a:cs typeface="+mn-lt"/>
              </a:rPr>
              <a:t> </a:t>
            </a:r>
            <a:r>
              <a:rPr lang="en-US" sz="1500" b="1" err="1">
                <a:ea typeface="+mn-lt"/>
                <a:cs typeface="+mn-lt"/>
              </a:rPr>
              <a:t>correttamente</a:t>
            </a:r>
            <a:r>
              <a:rPr lang="en-US" sz="1500" b="1">
                <a:ea typeface="+mn-lt"/>
                <a:cs typeface="+mn-lt"/>
              </a:rPr>
              <a:t> </a:t>
            </a:r>
            <a:r>
              <a:rPr lang="en-US" sz="1500" b="1" err="1">
                <a:ea typeface="+mn-lt"/>
                <a:cs typeface="+mn-lt"/>
              </a:rPr>
              <a:t>nella</a:t>
            </a:r>
            <a:r>
              <a:rPr lang="en-US" sz="1500" b="1">
                <a:ea typeface="+mn-lt"/>
                <a:cs typeface="+mn-lt"/>
              </a:rPr>
              <a:t> </a:t>
            </a:r>
            <a:r>
              <a:rPr lang="en-US" sz="1500" b="1" err="1">
                <a:ea typeface="+mn-lt"/>
                <a:cs typeface="+mn-lt"/>
              </a:rPr>
              <a:t>posizione</a:t>
            </a:r>
            <a:r>
              <a:rPr lang="en-US" sz="1500" b="1">
                <a:ea typeface="+mn-lt"/>
                <a:cs typeface="+mn-lt"/>
              </a:rPr>
              <a:t> </a:t>
            </a:r>
            <a:r>
              <a:rPr lang="en-US" sz="1500" b="1" err="1">
                <a:ea typeface="+mn-lt"/>
                <a:cs typeface="+mn-lt"/>
              </a:rPr>
              <a:t>scelta</a:t>
            </a:r>
            <a:r>
              <a:rPr lang="en-US" sz="1500" b="1">
                <a:ea typeface="+mn-lt"/>
                <a:cs typeface="+mn-lt"/>
              </a:rPr>
              <a:t> </a:t>
            </a:r>
            <a:r>
              <a:rPr lang="en-US" sz="1500" b="1" err="1">
                <a:ea typeface="+mn-lt"/>
                <a:cs typeface="+mn-lt"/>
              </a:rPr>
              <a:t>sulla</a:t>
            </a:r>
            <a:r>
              <a:rPr lang="en-US" sz="1500" b="1">
                <a:ea typeface="+mn-lt"/>
                <a:cs typeface="+mn-lt"/>
              </a:rPr>
              <a:t> </a:t>
            </a:r>
            <a:r>
              <a:rPr lang="en-US" sz="1500" b="1" err="1">
                <a:ea typeface="+mn-lt"/>
                <a:cs typeface="+mn-lt"/>
              </a:rPr>
              <a:t>mappa</a:t>
            </a:r>
            <a:r>
              <a:rPr lang="en-US" sz="1500" b="1">
                <a:ea typeface="+mn-lt"/>
                <a:cs typeface="+mn-lt"/>
              </a:rPr>
              <a:t> e </a:t>
            </a:r>
            <a:r>
              <a:rPr lang="en-US" sz="1500" b="1" err="1">
                <a:ea typeface="+mn-lt"/>
                <a:cs typeface="+mn-lt"/>
              </a:rPr>
              <a:t>sarà</a:t>
            </a:r>
            <a:r>
              <a:rPr lang="en-US" sz="1500" b="1">
                <a:ea typeface="+mn-lt"/>
                <a:cs typeface="+mn-lt"/>
              </a:rPr>
              <a:t> </a:t>
            </a:r>
            <a:r>
              <a:rPr lang="en-US" sz="1500" b="1" err="1">
                <a:ea typeface="+mn-lt"/>
                <a:cs typeface="+mn-lt"/>
              </a:rPr>
              <a:t>visibile</a:t>
            </a:r>
            <a:r>
              <a:rPr lang="en-US" sz="1500" b="1">
                <a:ea typeface="+mn-lt"/>
                <a:cs typeface="+mn-lt"/>
              </a:rPr>
              <a:t> a tutti </a:t>
            </a:r>
            <a:r>
              <a:rPr lang="en-US" sz="1500" b="1" err="1">
                <a:ea typeface="+mn-lt"/>
                <a:cs typeface="+mn-lt"/>
              </a:rPr>
              <a:t>i</a:t>
            </a:r>
            <a:r>
              <a:rPr lang="en-US" sz="1500" b="1">
                <a:ea typeface="+mn-lt"/>
                <a:cs typeface="+mn-lt"/>
              </a:rPr>
              <a:t> </a:t>
            </a:r>
            <a:r>
              <a:rPr lang="en-US" sz="1500" b="1" err="1">
                <a:ea typeface="+mn-lt"/>
                <a:cs typeface="+mn-lt"/>
              </a:rPr>
              <a:t>giocatori</a:t>
            </a:r>
            <a:r>
              <a:rPr lang="en-US" sz="1500" b="1">
                <a:ea typeface="+mn-lt"/>
                <a:cs typeface="+mn-lt"/>
              </a:rPr>
              <a:t>.  Se </a:t>
            </a:r>
            <a:r>
              <a:rPr lang="en-US" sz="1500" b="1" err="1">
                <a:ea typeface="+mn-lt"/>
                <a:cs typeface="+mn-lt"/>
              </a:rPr>
              <a:t>c'è</a:t>
            </a:r>
            <a:r>
              <a:rPr lang="en-US" sz="1500" b="1">
                <a:ea typeface="+mn-lt"/>
                <a:cs typeface="+mn-lt"/>
              </a:rPr>
              <a:t> un </a:t>
            </a:r>
            <a:r>
              <a:rPr lang="en-US" sz="1500" b="1" err="1">
                <a:ea typeface="+mn-lt"/>
                <a:cs typeface="+mn-lt"/>
              </a:rPr>
              <a:t>altro</a:t>
            </a:r>
            <a:r>
              <a:rPr lang="en-US" sz="1500" b="1">
                <a:ea typeface="+mn-lt"/>
                <a:cs typeface="+mn-lt"/>
              </a:rPr>
              <a:t> </a:t>
            </a:r>
            <a:r>
              <a:rPr lang="en-US" sz="1500" b="1" err="1">
                <a:ea typeface="+mn-lt"/>
                <a:cs typeface="+mn-lt"/>
              </a:rPr>
              <a:t>edificio</a:t>
            </a:r>
            <a:r>
              <a:rPr lang="en-US" sz="1500" b="1">
                <a:ea typeface="+mn-lt"/>
                <a:cs typeface="+mn-lt"/>
              </a:rPr>
              <a:t> </a:t>
            </a:r>
            <a:r>
              <a:rPr lang="en-US" sz="1500" b="1" err="1">
                <a:ea typeface="+mn-lt"/>
                <a:cs typeface="+mn-lt"/>
              </a:rPr>
              <a:t>nella</a:t>
            </a:r>
            <a:r>
              <a:rPr lang="en-US" sz="1500" b="1">
                <a:ea typeface="+mn-lt"/>
                <a:cs typeface="+mn-lt"/>
              </a:rPr>
              <a:t> </a:t>
            </a:r>
            <a:r>
              <a:rPr lang="en-US" sz="1500" b="1" err="1">
                <a:ea typeface="+mn-lt"/>
                <a:cs typeface="+mn-lt"/>
              </a:rPr>
              <a:t>posizione</a:t>
            </a:r>
            <a:r>
              <a:rPr lang="en-US" sz="1500" b="1">
                <a:ea typeface="+mn-lt"/>
                <a:cs typeface="+mn-lt"/>
              </a:rPr>
              <a:t> </a:t>
            </a:r>
            <a:r>
              <a:rPr lang="en-US" sz="1500" b="1" err="1">
                <a:ea typeface="+mn-lt"/>
                <a:cs typeface="+mn-lt"/>
              </a:rPr>
              <a:t>scelta</a:t>
            </a:r>
            <a:r>
              <a:rPr lang="en-US" sz="1500" b="1">
                <a:ea typeface="+mn-lt"/>
                <a:cs typeface="+mn-lt"/>
              </a:rPr>
              <a:t>, il </a:t>
            </a:r>
            <a:r>
              <a:rPr lang="en-US" sz="1500" b="1" err="1">
                <a:ea typeface="+mn-lt"/>
                <a:cs typeface="+mn-lt"/>
              </a:rPr>
              <a:t>piazzamento</a:t>
            </a:r>
            <a:r>
              <a:rPr lang="en-US" sz="1500" b="1">
                <a:ea typeface="+mn-lt"/>
                <a:cs typeface="+mn-lt"/>
              </a:rPr>
              <a:t> </a:t>
            </a:r>
            <a:r>
              <a:rPr lang="en-US" sz="1500" b="1" err="1">
                <a:ea typeface="+mn-lt"/>
                <a:cs typeface="+mn-lt"/>
              </a:rPr>
              <a:t>viene</a:t>
            </a:r>
            <a:r>
              <a:rPr lang="en-US" sz="1500" b="1">
                <a:ea typeface="+mn-lt"/>
                <a:cs typeface="+mn-lt"/>
              </a:rPr>
              <a:t> </a:t>
            </a:r>
            <a:r>
              <a:rPr lang="en-US" sz="1500" b="1" err="1">
                <a:ea typeface="+mn-lt"/>
                <a:cs typeface="+mn-lt"/>
              </a:rPr>
              <a:t>impedito</a:t>
            </a:r>
            <a:r>
              <a:rPr lang="en-US" sz="1500" b="1">
                <a:ea typeface="+mn-lt"/>
                <a:cs typeface="+mn-lt"/>
              </a:rPr>
              <a:t> </a:t>
            </a:r>
            <a:endParaRPr lang="en-US" sz="1500" b="1"/>
          </a:p>
        </p:txBody>
      </p:sp>
    </p:spTree>
    <p:extLst>
      <p:ext uri="{BB962C8B-B14F-4D97-AF65-F5344CB8AC3E}">
        <p14:creationId xmlns:p14="http://schemas.microsoft.com/office/powerpoint/2010/main" val="20636695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75A489-EA49-B2AC-6B63-59ED6CA94FF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FAFB831-0834-B735-54E4-20DEF58856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7424ABBC-F613-BA4E-E961-8418399AA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F295DBB-C3E2-7E30-AF5D-9E8C807867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olo 1">
            <a:extLst>
              <a:ext uri="{FF2B5EF4-FFF2-40B4-BE49-F238E27FC236}">
                <a16:creationId xmlns:a16="http://schemas.microsoft.com/office/drawing/2014/main" id="{0CD06CF7-0B3E-8E4A-D681-6923E8F509FA}"/>
              </a:ext>
            </a:extLst>
          </p:cNvPr>
          <p:cNvSpPr>
            <a:spLocks noGrp="1"/>
          </p:cNvSpPr>
          <p:nvPr>
            <p:ph type="title"/>
          </p:nvPr>
        </p:nvSpPr>
        <p:spPr>
          <a:xfrm>
            <a:off x="621792" y="1161288"/>
            <a:ext cx="3602736" cy="4526280"/>
          </a:xfrm>
        </p:spPr>
        <p:txBody>
          <a:bodyPr>
            <a:normAutofit/>
          </a:bodyPr>
          <a:lstStyle/>
          <a:p>
            <a:r>
              <a:rPr lang="it-IT" sz="3400">
                <a:ea typeface="+mj-lt"/>
                <a:cs typeface="+mj-lt"/>
              </a:rPr>
              <a:t>TEST SU MESSAGGI, INVITI E CAMBIO RUOLO</a:t>
            </a:r>
            <a:endParaRPr lang="it-IT">
              <a:ea typeface="+mj-lt"/>
              <a:cs typeface="+mj-lt"/>
            </a:endParaRPr>
          </a:p>
        </p:txBody>
      </p:sp>
      <p:sp>
        <p:nvSpPr>
          <p:cNvPr id="14" name="Rectangle 13">
            <a:extLst>
              <a:ext uri="{FF2B5EF4-FFF2-40B4-BE49-F238E27FC236}">
                <a16:creationId xmlns:a16="http://schemas.microsoft.com/office/drawing/2014/main" id="{CD6D9992-B65E-6BBE-B874-35FEE6E088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Segnaposto contenuto 2">
            <a:extLst>
              <a:ext uri="{FF2B5EF4-FFF2-40B4-BE49-F238E27FC236}">
                <a16:creationId xmlns:a16="http://schemas.microsoft.com/office/drawing/2014/main" id="{DD9D75D8-0D52-4314-2C56-564FAA76EE7A}"/>
              </a:ext>
            </a:extLst>
          </p:cNvPr>
          <p:cNvSpPr>
            <a:spLocks noGrp="1"/>
          </p:cNvSpPr>
          <p:nvPr>
            <p:ph idx="1"/>
          </p:nvPr>
        </p:nvSpPr>
        <p:spPr>
          <a:xfrm>
            <a:off x="5434149" y="932688"/>
            <a:ext cx="5916603" cy="4992624"/>
          </a:xfrm>
        </p:spPr>
        <p:txBody>
          <a:bodyPr vert="horz" lIns="91440" tIns="45720" rIns="91440" bIns="45720" rtlCol="0" anchor="ctr">
            <a:normAutofit/>
          </a:bodyPr>
          <a:lstStyle/>
          <a:p>
            <a:pPr marL="0" indent="0">
              <a:buNone/>
            </a:pPr>
            <a:endParaRPr lang="it-IT" sz="2000">
              <a:ea typeface="+mn-lt"/>
              <a:cs typeface="+mn-lt"/>
            </a:endParaRPr>
          </a:p>
          <a:p>
            <a:pPr marL="342900" indent="-342900"/>
            <a:r>
              <a:rPr lang="it-IT" sz="2000">
                <a:ea typeface="+mn-lt"/>
                <a:cs typeface="+mn-lt"/>
              </a:rPr>
              <a:t>Creazione Messaggi  </a:t>
            </a:r>
            <a:r>
              <a:rPr lang="it-IT" sz="3600">
                <a:solidFill>
                  <a:srgbClr val="FF0000"/>
                </a:solidFill>
                <a:latin typeface="Matura MT Script Capitals"/>
                <a:ea typeface="+mn-lt"/>
                <a:cs typeface="+mn-lt"/>
              </a:rPr>
              <a:t>x</a:t>
            </a:r>
            <a:endParaRPr lang="it-IT" sz="3600">
              <a:latin typeface="Algerian"/>
            </a:endParaRPr>
          </a:p>
          <a:p>
            <a:pPr marL="342900" indent="-342900"/>
            <a:r>
              <a:rPr lang="it-IT" sz="2000">
                <a:ea typeface="+mn-lt"/>
                <a:cs typeface="+mn-lt"/>
              </a:rPr>
              <a:t>Gestione inviti </a:t>
            </a:r>
            <a:r>
              <a:rPr lang="it-IT">
                <a:solidFill>
                  <a:srgbClr val="00B050"/>
                </a:solidFill>
                <a:latin typeface="Algerian"/>
                <a:ea typeface="+mn-lt"/>
                <a:cs typeface="+mn-lt"/>
              </a:rPr>
              <a:t>v</a:t>
            </a:r>
            <a:endParaRPr lang="it-IT">
              <a:solidFill>
                <a:srgbClr val="00B050"/>
              </a:solidFill>
              <a:latin typeface="Algerian"/>
            </a:endParaRPr>
          </a:p>
          <a:p>
            <a:pPr marL="342900" indent="-342900"/>
            <a:r>
              <a:rPr lang="it-IT" sz="2000">
                <a:ea typeface="+mn-lt"/>
                <a:cs typeface="+mn-lt"/>
              </a:rPr>
              <a:t>Gestione cambio </a:t>
            </a:r>
            <a:r>
              <a:rPr lang="it-IT" sz="2000" err="1">
                <a:ea typeface="+mn-lt"/>
                <a:cs typeface="+mn-lt"/>
              </a:rPr>
              <a:t>ruolo</a:t>
            </a:r>
            <a:r>
              <a:rPr lang="it-IT" sz="3600" err="1">
                <a:solidFill>
                  <a:srgbClr val="FF0000"/>
                </a:solidFill>
                <a:latin typeface="Matura MT Script Capitals"/>
                <a:ea typeface="+mn-lt"/>
                <a:cs typeface="+mn-lt"/>
              </a:rPr>
              <a:t>x</a:t>
            </a:r>
            <a:endParaRPr lang="it-IT" sz="3600" err="1">
              <a:ea typeface="+mn-lt"/>
              <a:cs typeface="+mn-lt"/>
            </a:endParaRPr>
          </a:p>
          <a:p>
            <a:pPr marL="342900" indent="-342900"/>
            <a:r>
              <a:rPr lang="it-IT" sz="2000">
                <a:ea typeface="+mn-lt"/>
                <a:cs typeface="+mn-lt"/>
              </a:rPr>
              <a:t>Test Gestione campi non compilati correttamente </a:t>
            </a:r>
            <a:r>
              <a:rPr lang="it-IT">
                <a:solidFill>
                  <a:srgbClr val="00B050"/>
                </a:solidFill>
                <a:latin typeface="Algerian"/>
                <a:ea typeface="+mn-lt"/>
                <a:cs typeface="+mn-lt"/>
              </a:rPr>
              <a:t>v</a:t>
            </a:r>
            <a:endParaRPr lang="it-IT"/>
          </a:p>
        </p:txBody>
      </p:sp>
    </p:spTree>
    <p:extLst>
      <p:ext uri="{BB962C8B-B14F-4D97-AF65-F5344CB8AC3E}">
        <p14:creationId xmlns:p14="http://schemas.microsoft.com/office/powerpoint/2010/main" val="19962936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olo 1">
            <a:extLst>
              <a:ext uri="{FF2B5EF4-FFF2-40B4-BE49-F238E27FC236}">
                <a16:creationId xmlns:a16="http://schemas.microsoft.com/office/drawing/2014/main" id="{86BE618C-21CD-39C8-CA15-D32D622B6330}"/>
              </a:ext>
            </a:extLst>
          </p:cNvPr>
          <p:cNvSpPr>
            <a:spLocks noGrp="1"/>
          </p:cNvSpPr>
          <p:nvPr>
            <p:ph type="title"/>
          </p:nvPr>
        </p:nvSpPr>
        <p:spPr>
          <a:xfrm>
            <a:off x="525906" y="3423395"/>
            <a:ext cx="3981854" cy="2216513"/>
          </a:xfrm>
        </p:spPr>
        <p:txBody>
          <a:bodyPr>
            <a:normAutofit/>
          </a:bodyPr>
          <a:lstStyle/>
          <a:p>
            <a:r>
              <a:rPr lang="it-IT"/>
              <a:t>Test creazione di messaggi</a:t>
            </a:r>
          </a:p>
        </p:txBody>
      </p:sp>
      <p:sp>
        <p:nvSpPr>
          <p:cNvPr id="13" name="Arc 12">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4" name="Segnaposto contenuto 3" descr="Immagine che contiene testo, Carattere, schermata, bianco&#10;&#10;Il contenuto generato dall&amp;#39;intelligenza artificiale potrebbe non essere corretto.">
            <a:extLst>
              <a:ext uri="{FF2B5EF4-FFF2-40B4-BE49-F238E27FC236}">
                <a16:creationId xmlns:a16="http://schemas.microsoft.com/office/drawing/2014/main" id="{24BE7A27-09C0-2D0E-C7BB-FA976F0F5431}"/>
              </a:ext>
            </a:extLst>
          </p:cNvPr>
          <p:cNvPicPr>
            <a:picLocks noChangeAspect="1"/>
          </p:cNvPicPr>
          <p:nvPr/>
        </p:nvPicPr>
        <p:blipFill>
          <a:blip r:embed="rId2"/>
          <a:stretch>
            <a:fillRect/>
          </a:stretch>
        </p:blipFill>
        <p:spPr>
          <a:xfrm>
            <a:off x="659914" y="1585271"/>
            <a:ext cx="10872172" cy="1195937"/>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8" name="Content Placeholder 7">
            <a:extLst>
              <a:ext uri="{FF2B5EF4-FFF2-40B4-BE49-F238E27FC236}">
                <a16:creationId xmlns:a16="http://schemas.microsoft.com/office/drawing/2014/main" id="{23CD9A4E-8B69-51DE-1F33-10B6AF8FEED9}"/>
              </a:ext>
            </a:extLst>
          </p:cNvPr>
          <p:cNvSpPr>
            <a:spLocks noGrp="1"/>
          </p:cNvSpPr>
          <p:nvPr>
            <p:ph idx="1"/>
          </p:nvPr>
        </p:nvSpPr>
        <p:spPr>
          <a:xfrm>
            <a:off x="4745982" y="3223528"/>
            <a:ext cx="6382966" cy="2216512"/>
          </a:xfrm>
        </p:spPr>
        <p:txBody>
          <a:bodyPr vert="horz" lIns="91440" tIns="45720" rIns="91440" bIns="45720" rtlCol="0" anchor="t">
            <a:noAutofit/>
          </a:bodyPr>
          <a:lstStyle/>
          <a:p>
            <a:pPr marL="0" indent="0">
              <a:buNone/>
            </a:pPr>
            <a:r>
              <a:rPr lang="en-US" sz="1500" b="1" err="1">
                <a:ea typeface="+mn-lt"/>
                <a:cs typeface="+mn-lt"/>
              </a:rPr>
              <a:t>Obiettivo</a:t>
            </a:r>
            <a:r>
              <a:rPr lang="en-US" sz="1500" b="1">
                <a:ea typeface="+mn-lt"/>
                <a:cs typeface="+mn-lt"/>
              </a:rPr>
              <a:t>: </a:t>
            </a:r>
            <a:r>
              <a:rPr lang="en-US" sz="1500" b="1" err="1">
                <a:ea typeface="+mn-lt"/>
                <a:cs typeface="+mn-lt"/>
              </a:rPr>
              <a:t>Verificare</a:t>
            </a:r>
            <a:r>
              <a:rPr lang="en-US" sz="1500" b="1">
                <a:ea typeface="+mn-lt"/>
                <a:cs typeface="+mn-lt"/>
              </a:rPr>
              <a:t> il </a:t>
            </a:r>
            <a:r>
              <a:rPr lang="en-US" sz="1500" b="1" err="1">
                <a:ea typeface="+mn-lt"/>
                <a:cs typeface="+mn-lt"/>
              </a:rPr>
              <a:t>corretto</a:t>
            </a:r>
            <a:r>
              <a:rPr lang="en-US" sz="1500" b="1">
                <a:ea typeface="+mn-lt"/>
                <a:cs typeface="+mn-lt"/>
              </a:rPr>
              <a:t> </a:t>
            </a:r>
            <a:r>
              <a:rPr lang="en-US" sz="1500" b="1" err="1">
                <a:ea typeface="+mn-lt"/>
                <a:cs typeface="+mn-lt"/>
              </a:rPr>
              <a:t>funzionamento</a:t>
            </a:r>
            <a:r>
              <a:rPr lang="en-US" sz="1500" b="1">
                <a:ea typeface="+mn-lt"/>
                <a:cs typeface="+mn-lt"/>
              </a:rPr>
              <a:t> </a:t>
            </a:r>
            <a:r>
              <a:rPr lang="en-US" sz="1500" b="1" err="1">
                <a:ea typeface="+mn-lt"/>
                <a:cs typeface="+mn-lt"/>
              </a:rPr>
              <a:t>dei</a:t>
            </a:r>
            <a:r>
              <a:rPr lang="en-US" sz="1500" b="1">
                <a:ea typeface="+mn-lt"/>
                <a:cs typeface="+mn-lt"/>
              </a:rPr>
              <a:t> </a:t>
            </a:r>
            <a:r>
              <a:rPr lang="en-US" sz="1500" b="1" err="1">
                <a:ea typeface="+mn-lt"/>
                <a:cs typeface="+mn-lt"/>
              </a:rPr>
              <a:t>messaggi</a:t>
            </a:r>
            <a:r>
              <a:rPr lang="en-US" sz="1500" b="1">
                <a:ea typeface="+mn-lt"/>
                <a:cs typeface="+mn-lt"/>
              </a:rPr>
              <a:t> </a:t>
            </a:r>
            <a:r>
              <a:rPr lang="en-US" sz="1500" b="1" err="1">
                <a:ea typeface="+mn-lt"/>
                <a:cs typeface="+mn-lt"/>
              </a:rPr>
              <a:t>tra</a:t>
            </a:r>
            <a:r>
              <a:rPr lang="en-US" sz="1500" b="1">
                <a:ea typeface="+mn-lt"/>
                <a:cs typeface="+mn-lt"/>
              </a:rPr>
              <a:t> </a:t>
            </a:r>
            <a:r>
              <a:rPr lang="en-US" sz="1500" b="1" err="1">
                <a:ea typeface="+mn-lt"/>
                <a:cs typeface="+mn-lt"/>
              </a:rPr>
              <a:t>utenti</a:t>
            </a:r>
            <a:r>
              <a:rPr lang="en-US" sz="1500" b="1">
                <a:ea typeface="+mn-lt"/>
                <a:cs typeface="+mn-lt"/>
              </a:rPr>
              <a:t> </a:t>
            </a:r>
            <a:endParaRPr lang="it-IT" sz="1500" b="1">
              <a:ea typeface="+mn-lt"/>
              <a:cs typeface="+mn-lt"/>
            </a:endParaRPr>
          </a:p>
          <a:p>
            <a:r>
              <a:rPr lang="en-US" sz="1500" err="1">
                <a:ea typeface="+mn-lt"/>
                <a:cs typeface="+mn-lt"/>
              </a:rPr>
              <a:t>Accedo</a:t>
            </a:r>
            <a:r>
              <a:rPr lang="en-US" sz="1500">
                <a:ea typeface="+mn-lt"/>
                <a:cs typeface="+mn-lt"/>
              </a:rPr>
              <a:t> </a:t>
            </a:r>
            <a:r>
              <a:rPr lang="en-US" sz="1500" err="1">
                <a:ea typeface="+mn-lt"/>
                <a:cs typeface="+mn-lt"/>
              </a:rPr>
              <a:t>all’account</a:t>
            </a:r>
            <a:r>
              <a:rPr lang="en-US" sz="1500">
                <a:ea typeface="+mn-lt"/>
                <a:cs typeface="+mn-lt"/>
              </a:rPr>
              <a:t> con “account_1” </a:t>
            </a:r>
            <a:endParaRPr lang="it-IT" sz="1500">
              <a:ea typeface="+mn-lt"/>
              <a:cs typeface="+mn-lt"/>
            </a:endParaRPr>
          </a:p>
          <a:p>
            <a:r>
              <a:rPr lang="en-US" sz="1500">
                <a:ea typeface="+mn-lt"/>
                <a:cs typeface="+mn-lt"/>
              </a:rPr>
              <a:t>Clicco </a:t>
            </a:r>
            <a:r>
              <a:rPr lang="en-US" sz="1500" err="1">
                <a:ea typeface="+mn-lt"/>
                <a:cs typeface="+mn-lt"/>
              </a:rPr>
              <a:t>su</a:t>
            </a:r>
            <a:r>
              <a:rPr lang="en-US" sz="1500">
                <a:ea typeface="+mn-lt"/>
                <a:cs typeface="+mn-lt"/>
              </a:rPr>
              <a:t> </a:t>
            </a:r>
            <a:r>
              <a:rPr lang="en-US" sz="1500" err="1">
                <a:ea typeface="+mn-lt"/>
                <a:cs typeface="+mn-lt"/>
              </a:rPr>
              <a:t>una</a:t>
            </a:r>
            <a:r>
              <a:rPr lang="en-US" sz="1500">
                <a:ea typeface="+mn-lt"/>
                <a:cs typeface="+mn-lt"/>
              </a:rPr>
              <a:t> </a:t>
            </a:r>
            <a:r>
              <a:rPr lang="en-US" sz="1500" err="1">
                <a:ea typeface="+mn-lt"/>
                <a:cs typeface="+mn-lt"/>
              </a:rPr>
              <a:t>Mappa</a:t>
            </a:r>
            <a:r>
              <a:rPr lang="en-US" sz="1500">
                <a:ea typeface="+mn-lt"/>
                <a:cs typeface="+mn-lt"/>
              </a:rPr>
              <a:t> </a:t>
            </a:r>
            <a:endParaRPr lang="it-IT" sz="1500" err="1">
              <a:ea typeface="+mn-lt"/>
              <a:cs typeface="+mn-lt"/>
            </a:endParaRPr>
          </a:p>
          <a:p>
            <a:r>
              <a:rPr lang="en-US" sz="1500" err="1">
                <a:ea typeface="+mn-lt"/>
                <a:cs typeface="+mn-lt"/>
              </a:rPr>
              <a:t>Clicco</a:t>
            </a:r>
            <a:r>
              <a:rPr lang="en-US" sz="1500">
                <a:ea typeface="+mn-lt"/>
                <a:cs typeface="+mn-lt"/>
              </a:rPr>
              <a:t> </a:t>
            </a:r>
            <a:r>
              <a:rPr lang="en-US" sz="1500" err="1">
                <a:ea typeface="+mn-lt"/>
                <a:cs typeface="+mn-lt"/>
              </a:rPr>
              <a:t>sull’icona</a:t>
            </a:r>
            <a:r>
              <a:rPr lang="en-US" sz="1500">
                <a:ea typeface="+mn-lt"/>
                <a:cs typeface="+mn-lt"/>
              </a:rPr>
              <a:t> </a:t>
            </a:r>
            <a:r>
              <a:rPr lang="en-US" sz="1500" err="1">
                <a:ea typeface="+mn-lt"/>
                <a:cs typeface="+mn-lt"/>
              </a:rPr>
              <a:t>Messaggio</a:t>
            </a:r>
            <a:endParaRPr lang="it-IT" sz="1500">
              <a:ea typeface="+mn-lt"/>
              <a:cs typeface="+mn-lt"/>
            </a:endParaRPr>
          </a:p>
          <a:p>
            <a:r>
              <a:rPr lang="en-US" sz="1500" err="1">
                <a:ea typeface="+mn-lt"/>
                <a:cs typeface="+mn-lt"/>
              </a:rPr>
              <a:t>Seleziono</a:t>
            </a:r>
            <a:r>
              <a:rPr lang="en-US" sz="1500">
                <a:ea typeface="+mn-lt"/>
                <a:cs typeface="+mn-lt"/>
              </a:rPr>
              <a:t> come </a:t>
            </a:r>
            <a:r>
              <a:rPr lang="en-US" sz="1500" err="1">
                <a:ea typeface="+mn-lt"/>
                <a:cs typeface="+mn-lt"/>
              </a:rPr>
              <a:t>tipo</a:t>
            </a:r>
            <a:r>
              <a:rPr lang="en-US" sz="1500">
                <a:ea typeface="+mn-lt"/>
                <a:cs typeface="+mn-lt"/>
              </a:rPr>
              <a:t> di </a:t>
            </a:r>
            <a:r>
              <a:rPr lang="en-US" sz="1500" err="1">
                <a:ea typeface="+mn-lt"/>
                <a:cs typeface="+mn-lt"/>
              </a:rPr>
              <a:t>messaggio</a:t>
            </a:r>
            <a:r>
              <a:rPr lang="en-US" sz="1500">
                <a:ea typeface="+mn-lt"/>
                <a:cs typeface="+mn-lt"/>
              </a:rPr>
              <a:t> “MESSAGE” </a:t>
            </a:r>
            <a:endParaRPr lang="it-IT" sz="1500">
              <a:ea typeface="+mn-lt"/>
              <a:cs typeface="+mn-lt"/>
            </a:endParaRPr>
          </a:p>
          <a:p>
            <a:r>
              <a:rPr lang="en-US" sz="1500" err="1">
                <a:ea typeface="+mn-lt"/>
                <a:cs typeface="+mn-lt"/>
              </a:rPr>
              <a:t>Scelgo</a:t>
            </a:r>
            <a:r>
              <a:rPr lang="en-US" sz="1500">
                <a:ea typeface="+mn-lt"/>
                <a:cs typeface="+mn-lt"/>
              </a:rPr>
              <a:t> il </a:t>
            </a:r>
            <a:r>
              <a:rPr lang="en-US" sz="1500" err="1">
                <a:ea typeface="+mn-lt"/>
                <a:cs typeface="+mn-lt"/>
              </a:rPr>
              <a:t>Destinatario</a:t>
            </a:r>
            <a:r>
              <a:rPr lang="en-US" sz="1500">
                <a:ea typeface="+mn-lt"/>
                <a:cs typeface="+mn-lt"/>
              </a:rPr>
              <a:t> </a:t>
            </a:r>
            <a:endParaRPr lang="it-IT" sz="1500">
              <a:ea typeface="+mn-lt"/>
              <a:cs typeface="+mn-lt"/>
            </a:endParaRPr>
          </a:p>
          <a:p>
            <a:r>
              <a:rPr lang="en-US" sz="1500">
                <a:ea typeface="+mn-lt"/>
                <a:cs typeface="+mn-lt"/>
              </a:rPr>
              <a:t>Scrivo il </a:t>
            </a:r>
            <a:r>
              <a:rPr lang="en-US" sz="1500" err="1">
                <a:ea typeface="+mn-lt"/>
                <a:cs typeface="+mn-lt"/>
              </a:rPr>
              <a:t>titolo</a:t>
            </a:r>
            <a:r>
              <a:rPr lang="en-US" sz="1500">
                <a:ea typeface="+mn-lt"/>
                <a:cs typeface="+mn-lt"/>
              </a:rPr>
              <a:t> del </a:t>
            </a:r>
            <a:r>
              <a:rPr lang="en-US" sz="1500" err="1">
                <a:ea typeface="+mn-lt"/>
                <a:cs typeface="+mn-lt"/>
              </a:rPr>
              <a:t>messaggio</a:t>
            </a:r>
            <a:r>
              <a:rPr lang="en-US" sz="1500">
                <a:ea typeface="+mn-lt"/>
                <a:cs typeface="+mn-lt"/>
              </a:rPr>
              <a:t> </a:t>
            </a:r>
            <a:endParaRPr lang="it-IT" sz="1500">
              <a:ea typeface="+mn-lt"/>
              <a:cs typeface="+mn-lt"/>
            </a:endParaRPr>
          </a:p>
          <a:p>
            <a:r>
              <a:rPr lang="en-US" sz="1500">
                <a:ea typeface="+mn-lt"/>
                <a:cs typeface="+mn-lt"/>
              </a:rPr>
              <a:t>Scrivo il testo Clicco “</a:t>
            </a:r>
            <a:r>
              <a:rPr lang="en-US" sz="1500" err="1">
                <a:ea typeface="+mn-lt"/>
                <a:cs typeface="+mn-lt"/>
              </a:rPr>
              <a:t>Invia</a:t>
            </a:r>
            <a:r>
              <a:rPr lang="en-US" sz="1500">
                <a:ea typeface="+mn-lt"/>
                <a:cs typeface="+mn-lt"/>
              </a:rPr>
              <a:t>” </a:t>
            </a:r>
            <a:endParaRPr lang="it-IT" sz="1500">
              <a:ea typeface="+mn-lt"/>
              <a:cs typeface="+mn-lt"/>
            </a:endParaRPr>
          </a:p>
          <a:p>
            <a:pPr marL="0" indent="0">
              <a:buNone/>
            </a:pPr>
            <a:r>
              <a:rPr lang="en-US" sz="1500" b="1" err="1">
                <a:ea typeface="+mn-lt"/>
                <a:cs typeface="+mn-lt"/>
              </a:rPr>
              <a:t>Risultato</a:t>
            </a:r>
            <a:r>
              <a:rPr lang="en-US" sz="1500" b="1">
                <a:ea typeface="+mn-lt"/>
                <a:cs typeface="+mn-lt"/>
              </a:rPr>
              <a:t> </a:t>
            </a:r>
            <a:r>
              <a:rPr lang="en-US" sz="1500" b="1" err="1">
                <a:ea typeface="+mn-lt"/>
                <a:cs typeface="+mn-lt"/>
              </a:rPr>
              <a:t>atteso</a:t>
            </a:r>
            <a:r>
              <a:rPr lang="en-US" sz="1500" b="1">
                <a:ea typeface="+mn-lt"/>
                <a:cs typeface="+mn-lt"/>
              </a:rPr>
              <a:t>: </a:t>
            </a:r>
            <a:r>
              <a:rPr lang="en-US" sz="1500" b="1" err="1">
                <a:ea typeface="+mn-lt"/>
                <a:cs typeface="+mn-lt"/>
              </a:rPr>
              <a:t>l’utente</a:t>
            </a:r>
            <a:r>
              <a:rPr lang="en-US" sz="1500" b="1">
                <a:ea typeface="+mn-lt"/>
                <a:cs typeface="+mn-lt"/>
              </a:rPr>
              <a:t> </a:t>
            </a:r>
            <a:r>
              <a:rPr lang="en-US" sz="1500" b="1" err="1">
                <a:ea typeface="+mn-lt"/>
                <a:cs typeface="+mn-lt"/>
              </a:rPr>
              <a:t>destinatario</a:t>
            </a:r>
            <a:r>
              <a:rPr lang="en-US" sz="1500" b="1">
                <a:ea typeface="+mn-lt"/>
                <a:cs typeface="+mn-lt"/>
              </a:rPr>
              <a:t> </a:t>
            </a:r>
            <a:r>
              <a:rPr lang="en-US" sz="1500" b="1" err="1">
                <a:ea typeface="+mn-lt"/>
                <a:cs typeface="+mn-lt"/>
              </a:rPr>
              <a:t>riceve</a:t>
            </a:r>
            <a:r>
              <a:rPr lang="en-US" sz="1500" b="1">
                <a:ea typeface="+mn-lt"/>
                <a:cs typeface="+mn-lt"/>
              </a:rPr>
              <a:t> il </a:t>
            </a:r>
            <a:r>
              <a:rPr lang="en-US" sz="1500" b="1" err="1">
                <a:ea typeface="+mn-lt"/>
                <a:cs typeface="+mn-lt"/>
              </a:rPr>
              <a:t>messaggio</a:t>
            </a:r>
            <a:r>
              <a:rPr lang="en-US" sz="1500" b="1">
                <a:ea typeface="+mn-lt"/>
                <a:cs typeface="+mn-lt"/>
              </a:rPr>
              <a:t> </a:t>
            </a:r>
            <a:r>
              <a:rPr lang="en-US" sz="1500" b="1" err="1">
                <a:ea typeface="+mn-lt"/>
                <a:cs typeface="+mn-lt"/>
              </a:rPr>
              <a:t>nella</a:t>
            </a:r>
            <a:r>
              <a:rPr lang="en-US" sz="1500" b="1">
                <a:ea typeface="+mn-lt"/>
                <a:cs typeface="+mn-lt"/>
              </a:rPr>
              <a:t> </a:t>
            </a:r>
            <a:r>
              <a:rPr lang="en-US" sz="1500" b="1" err="1">
                <a:ea typeface="+mn-lt"/>
                <a:cs typeface="+mn-lt"/>
              </a:rPr>
              <a:t>sezione</a:t>
            </a:r>
            <a:r>
              <a:rPr lang="en-US" sz="1500" b="1">
                <a:ea typeface="+mn-lt"/>
                <a:cs typeface="+mn-lt"/>
              </a:rPr>
              <a:t> </a:t>
            </a:r>
            <a:r>
              <a:rPr lang="en-US" sz="1500" b="1" err="1">
                <a:ea typeface="+mn-lt"/>
                <a:cs typeface="+mn-lt"/>
              </a:rPr>
              <a:t>dedicata</a:t>
            </a:r>
            <a:r>
              <a:rPr lang="en-US" sz="1500" b="1">
                <a:ea typeface="+mn-lt"/>
                <a:cs typeface="+mn-lt"/>
              </a:rPr>
              <a:t>(</a:t>
            </a:r>
            <a:r>
              <a:rPr lang="en-US" sz="1500" b="1" err="1">
                <a:ea typeface="+mn-lt"/>
                <a:cs typeface="+mn-lt"/>
              </a:rPr>
              <a:t>l’icona</a:t>
            </a:r>
            <a:r>
              <a:rPr lang="en-US" sz="1500" b="1">
                <a:ea typeface="+mn-lt"/>
                <a:cs typeface="+mn-lt"/>
              </a:rPr>
              <a:t> </a:t>
            </a:r>
            <a:r>
              <a:rPr lang="en-US" sz="1500" b="1" err="1">
                <a:ea typeface="+mn-lt"/>
                <a:cs typeface="+mn-lt"/>
              </a:rPr>
              <a:t>messaggio</a:t>
            </a:r>
            <a:r>
              <a:rPr lang="en-US" sz="1500" b="1">
                <a:ea typeface="+mn-lt"/>
                <a:cs typeface="+mn-lt"/>
              </a:rPr>
              <a:t>)</a:t>
            </a:r>
            <a:endParaRPr lang="it-IT" sz="1500" b="1"/>
          </a:p>
        </p:txBody>
      </p:sp>
    </p:spTree>
    <p:extLst>
      <p:ext uri="{BB962C8B-B14F-4D97-AF65-F5344CB8AC3E}">
        <p14:creationId xmlns:p14="http://schemas.microsoft.com/office/powerpoint/2010/main" val="31697146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Arc 12">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4" name="Segnaposto contenuto 3" descr="Immagine che contiene testo, Carattere, schermata, numero&#10;&#10;Il contenuto generato dall&amp;#39;intelligenza artificiale potrebbe non essere corretto.">
            <a:extLst>
              <a:ext uri="{FF2B5EF4-FFF2-40B4-BE49-F238E27FC236}">
                <a16:creationId xmlns:a16="http://schemas.microsoft.com/office/drawing/2014/main" id="{858A83E0-AEDB-6086-5A71-5EA6ACB625EC}"/>
              </a:ext>
            </a:extLst>
          </p:cNvPr>
          <p:cNvPicPr>
            <a:picLocks noChangeAspect="1"/>
          </p:cNvPicPr>
          <p:nvPr/>
        </p:nvPicPr>
        <p:blipFill>
          <a:blip r:embed="rId2"/>
          <a:stretch>
            <a:fillRect/>
          </a:stretch>
        </p:blipFill>
        <p:spPr>
          <a:xfrm>
            <a:off x="680583" y="517795"/>
            <a:ext cx="9762105" cy="2275784"/>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8" name="Content Placeholder 7">
            <a:extLst>
              <a:ext uri="{FF2B5EF4-FFF2-40B4-BE49-F238E27FC236}">
                <a16:creationId xmlns:a16="http://schemas.microsoft.com/office/drawing/2014/main" id="{546CC6B8-84F0-5E64-9F87-F3E78F06E13A}"/>
              </a:ext>
            </a:extLst>
          </p:cNvPr>
          <p:cNvSpPr>
            <a:spLocks noGrp="1"/>
          </p:cNvSpPr>
          <p:nvPr>
            <p:ph idx="1"/>
          </p:nvPr>
        </p:nvSpPr>
        <p:spPr>
          <a:xfrm>
            <a:off x="288305" y="3130463"/>
            <a:ext cx="4450271" cy="3020075"/>
          </a:xfrm>
        </p:spPr>
        <p:txBody>
          <a:bodyPr vert="horz" lIns="91440" tIns="45720" rIns="91440" bIns="45720" rtlCol="0" anchor="t">
            <a:noAutofit/>
          </a:bodyPr>
          <a:lstStyle/>
          <a:p>
            <a:pPr marL="0" indent="0">
              <a:buNone/>
            </a:pPr>
            <a:r>
              <a:rPr lang="en-US" sz="1400" b="1" err="1">
                <a:ea typeface="+mn-lt"/>
                <a:cs typeface="+mn-lt"/>
              </a:rPr>
              <a:t>Obiettivo</a:t>
            </a:r>
            <a:r>
              <a:rPr lang="en-US" sz="1400" b="1">
                <a:ea typeface="+mn-lt"/>
                <a:cs typeface="+mn-lt"/>
              </a:rPr>
              <a:t>: </a:t>
            </a:r>
            <a:r>
              <a:rPr lang="en-US" sz="1400" b="1" err="1">
                <a:ea typeface="+mn-lt"/>
                <a:cs typeface="+mn-lt"/>
              </a:rPr>
              <a:t>Verificare</a:t>
            </a:r>
            <a:r>
              <a:rPr lang="en-US" sz="1400" b="1">
                <a:ea typeface="+mn-lt"/>
                <a:cs typeface="+mn-lt"/>
              </a:rPr>
              <a:t> il </a:t>
            </a:r>
            <a:r>
              <a:rPr lang="en-US" sz="1400" b="1" err="1">
                <a:ea typeface="+mn-lt"/>
                <a:cs typeface="+mn-lt"/>
              </a:rPr>
              <a:t>corretto</a:t>
            </a:r>
            <a:r>
              <a:rPr lang="en-US" sz="1400" b="1">
                <a:ea typeface="+mn-lt"/>
                <a:cs typeface="+mn-lt"/>
              </a:rPr>
              <a:t> </a:t>
            </a:r>
            <a:r>
              <a:rPr lang="en-US" sz="1400" b="1" err="1">
                <a:ea typeface="+mn-lt"/>
                <a:cs typeface="+mn-lt"/>
              </a:rPr>
              <a:t>funzionamento</a:t>
            </a:r>
            <a:r>
              <a:rPr lang="en-US" sz="1400" b="1">
                <a:ea typeface="+mn-lt"/>
                <a:cs typeface="+mn-lt"/>
              </a:rPr>
              <a:t> </a:t>
            </a:r>
            <a:r>
              <a:rPr lang="en-US" sz="1400" b="1" err="1">
                <a:ea typeface="+mn-lt"/>
                <a:cs typeface="+mn-lt"/>
              </a:rPr>
              <a:t>della</a:t>
            </a:r>
            <a:r>
              <a:rPr lang="en-US" sz="1400" b="1">
                <a:ea typeface="+mn-lt"/>
                <a:cs typeface="+mn-lt"/>
              </a:rPr>
              <a:t> </a:t>
            </a:r>
            <a:r>
              <a:rPr lang="en-US" sz="1400" b="1" err="1">
                <a:ea typeface="+mn-lt"/>
                <a:cs typeface="+mn-lt"/>
              </a:rPr>
              <a:t>modifica</a:t>
            </a:r>
            <a:r>
              <a:rPr lang="en-US" sz="1400" b="1">
                <a:ea typeface="+mn-lt"/>
                <a:cs typeface="+mn-lt"/>
              </a:rPr>
              <a:t> del </a:t>
            </a:r>
            <a:r>
              <a:rPr lang="en-US" sz="1400" b="1" err="1">
                <a:ea typeface="+mn-lt"/>
                <a:cs typeface="+mn-lt"/>
              </a:rPr>
              <a:t>ruolo</a:t>
            </a:r>
            <a:r>
              <a:rPr lang="en-US" sz="1400" b="1">
                <a:ea typeface="+mn-lt"/>
                <a:cs typeface="+mn-lt"/>
              </a:rPr>
              <a:t> di un </a:t>
            </a:r>
            <a:r>
              <a:rPr lang="en-US" sz="1400" b="1" err="1">
                <a:ea typeface="+mn-lt"/>
                <a:cs typeface="+mn-lt"/>
              </a:rPr>
              <a:t>utente</a:t>
            </a:r>
            <a:r>
              <a:rPr lang="en-US" sz="1400" b="1">
                <a:ea typeface="+mn-lt"/>
                <a:cs typeface="+mn-lt"/>
              </a:rPr>
              <a:t> </a:t>
            </a:r>
            <a:r>
              <a:rPr lang="en-US" sz="1400" b="1" err="1">
                <a:ea typeface="+mn-lt"/>
                <a:cs typeface="+mn-lt"/>
              </a:rPr>
              <a:t>all'interno</a:t>
            </a:r>
            <a:r>
              <a:rPr lang="en-US" sz="1400" b="1">
                <a:ea typeface="+mn-lt"/>
                <a:cs typeface="+mn-lt"/>
              </a:rPr>
              <a:t> </a:t>
            </a:r>
            <a:r>
              <a:rPr lang="en-US" sz="1400" b="1" err="1">
                <a:ea typeface="+mn-lt"/>
                <a:cs typeface="+mn-lt"/>
              </a:rPr>
              <a:t>della</a:t>
            </a:r>
            <a:r>
              <a:rPr lang="en-US" sz="1400" b="1">
                <a:ea typeface="+mn-lt"/>
                <a:cs typeface="+mn-lt"/>
              </a:rPr>
              <a:t> </a:t>
            </a:r>
            <a:r>
              <a:rPr lang="en-US" sz="1400" b="1" err="1">
                <a:ea typeface="+mn-lt"/>
                <a:cs typeface="+mn-lt"/>
              </a:rPr>
              <a:t>mappa</a:t>
            </a:r>
            <a:r>
              <a:rPr lang="en-US" sz="1400" b="1">
                <a:ea typeface="+mn-lt"/>
                <a:cs typeface="+mn-lt"/>
              </a:rPr>
              <a:t>.</a:t>
            </a:r>
          </a:p>
          <a:p>
            <a:r>
              <a:rPr lang="en-US" sz="1400" err="1">
                <a:ea typeface="+mn-lt"/>
                <a:cs typeface="+mn-lt"/>
              </a:rPr>
              <a:t>Accedo</a:t>
            </a:r>
            <a:r>
              <a:rPr lang="en-US" sz="1400">
                <a:ea typeface="+mn-lt"/>
                <a:cs typeface="+mn-lt"/>
              </a:rPr>
              <a:t> </a:t>
            </a:r>
            <a:r>
              <a:rPr lang="en-US" sz="1400" err="1">
                <a:ea typeface="+mn-lt"/>
                <a:cs typeface="+mn-lt"/>
              </a:rPr>
              <a:t>all’account</a:t>
            </a:r>
            <a:r>
              <a:rPr lang="en-US" sz="1400">
                <a:ea typeface="+mn-lt"/>
                <a:cs typeface="+mn-lt"/>
              </a:rPr>
              <a:t> con “account_1” </a:t>
            </a:r>
          </a:p>
          <a:p>
            <a:r>
              <a:rPr lang="en-US" sz="1400">
                <a:ea typeface="+mn-lt"/>
                <a:cs typeface="+mn-lt"/>
              </a:rPr>
              <a:t>Clicco </a:t>
            </a:r>
            <a:r>
              <a:rPr lang="en-US" sz="1400" err="1">
                <a:ea typeface="+mn-lt"/>
                <a:cs typeface="+mn-lt"/>
              </a:rPr>
              <a:t>su</a:t>
            </a:r>
            <a:r>
              <a:rPr lang="en-US" sz="1400">
                <a:ea typeface="+mn-lt"/>
                <a:cs typeface="+mn-lt"/>
              </a:rPr>
              <a:t> </a:t>
            </a:r>
            <a:r>
              <a:rPr lang="en-US" sz="1400" err="1">
                <a:ea typeface="+mn-lt"/>
                <a:cs typeface="+mn-lt"/>
              </a:rPr>
              <a:t>una</a:t>
            </a:r>
            <a:r>
              <a:rPr lang="en-US" sz="1400">
                <a:ea typeface="+mn-lt"/>
                <a:cs typeface="+mn-lt"/>
              </a:rPr>
              <a:t> </a:t>
            </a:r>
            <a:r>
              <a:rPr lang="en-US" sz="1400" err="1">
                <a:ea typeface="+mn-lt"/>
                <a:cs typeface="+mn-lt"/>
              </a:rPr>
              <a:t>Mappa</a:t>
            </a:r>
            <a:endParaRPr lang="en-US" sz="1400">
              <a:ea typeface="+mn-lt"/>
              <a:cs typeface="+mn-lt"/>
            </a:endParaRPr>
          </a:p>
          <a:p>
            <a:r>
              <a:rPr lang="en-US" sz="1400">
                <a:ea typeface="+mn-lt"/>
                <a:cs typeface="+mn-lt"/>
              </a:rPr>
              <a:t>Clicco </a:t>
            </a:r>
            <a:r>
              <a:rPr lang="en-US" sz="1400" err="1">
                <a:ea typeface="+mn-lt"/>
                <a:cs typeface="+mn-lt"/>
              </a:rPr>
              <a:t>sull’icona</a:t>
            </a:r>
            <a:r>
              <a:rPr lang="en-US" sz="1400">
                <a:ea typeface="+mn-lt"/>
                <a:cs typeface="+mn-lt"/>
              </a:rPr>
              <a:t> </a:t>
            </a:r>
            <a:r>
              <a:rPr lang="en-US" sz="1400" err="1">
                <a:ea typeface="+mn-lt"/>
                <a:cs typeface="+mn-lt"/>
              </a:rPr>
              <a:t>Messaggio</a:t>
            </a:r>
            <a:endParaRPr lang="en-US" err="1">
              <a:ea typeface="+mn-lt"/>
              <a:cs typeface="+mn-lt"/>
            </a:endParaRPr>
          </a:p>
          <a:p>
            <a:r>
              <a:rPr lang="en-US" sz="1400" err="1">
                <a:ea typeface="+mn-lt"/>
                <a:cs typeface="+mn-lt"/>
              </a:rPr>
              <a:t>Seleziono</a:t>
            </a:r>
            <a:r>
              <a:rPr lang="en-US" sz="1400">
                <a:ea typeface="+mn-lt"/>
                <a:cs typeface="+mn-lt"/>
              </a:rPr>
              <a:t> come </a:t>
            </a:r>
            <a:r>
              <a:rPr lang="en-US" sz="1400" err="1">
                <a:ea typeface="+mn-lt"/>
                <a:cs typeface="+mn-lt"/>
              </a:rPr>
              <a:t>tipo</a:t>
            </a:r>
            <a:r>
              <a:rPr lang="en-US" sz="1400">
                <a:ea typeface="+mn-lt"/>
                <a:cs typeface="+mn-lt"/>
              </a:rPr>
              <a:t> di </a:t>
            </a:r>
            <a:r>
              <a:rPr lang="en-US" sz="1400" err="1">
                <a:ea typeface="+mn-lt"/>
                <a:cs typeface="+mn-lt"/>
              </a:rPr>
              <a:t>messaggio</a:t>
            </a:r>
            <a:r>
              <a:rPr lang="en-US" sz="1400">
                <a:ea typeface="+mn-lt"/>
                <a:cs typeface="+mn-lt"/>
              </a:rPr>
              <a:t> “CHANGE ROLE”</a:t>
            </a:r>
            <a:endParaRPr lang="en-US"/>
          </a:p>
          <a:p>
            <a:r>
              <a:rPr lang="en-US" sz="1400" err="1">
                <a:ea typeface="+mn-lt"/>
                <a:cs typeface="+mn-lt"/>
              </a:rPr>
              <a:t>Scelgo</a:t>
            </a:r>
            <a:r>
              <a:rPr lang="en-US" sz="1400">
                <a:ea typeface="+mn-lt"/>
                <a:cs typeface="+mn-lt"/>
              </a:rPr>
              <a:t> il </a:t>
            </a:r>
            <a:r>
              <a:rPr lang="en-US" sz="1400" err="1">
                <a:ea typeface="+mn-lt"/>
                <a:cs typeface="+mn-lt"/>
              </a:rPr>
              <a:t>Destinatario</a:t>
            </a:r>
            <a:r>
              <a:rPr lang="en-US" sz="1400">
                <a:ea typeface="+mn-lt"/>
                <a:cs typeface="+mn-lt"/>
              </a:rPr>
              <a:t> </a:t>
            </a:r>
            <a:endParaRPr lang="en-US" sz="1400"/>
          </a:p>
          <a:p>
            <a:r>
              <a:rPr lang="en-US" sz="1400">
                <a:ea typeface="+mn-lt"/>
                <a:cs typeface="+mn-lt"/>
              </a:rPr>
              <a:t>Scrivo il </a:t>
            </a:r>
            <a:r>
              <a:rPr lang="en-US" sz="1400" err="1">
                <a:ea typeface="+mn-lt"/>
                <a:cs typeface="+mn-lt"/>
              </a:rPr>
              <a:t>titolo</a:t>
            </a:r>
            <a:r>
              <a:rPr lang="en-US" sz="1400">
                <a:ea typeface="+mn-lt"/>
                <a:cs typeface="+mn-lt"/>
              </a:rPr>
              <a:t> del </a:t>
            </a:r>
            <a:r>
              <a:rPr lang="en-US" sz="1400" err="1">
                <a:ea typeface="+mn-lt"/>
                <a:cs typeface="+mn-lt"/>
              </a:rPr>
              <a:t>messaggio</a:t>
            </a:r>
            <a:r>
              <a:rPr lang="en-US" sz="1400">
                <a:ea typeface="+mn-lt"/>
                <a:cs typeface="+mn-lt"/>
              </a:rPr>
              <a:t> </a:t>
            </a:r>
          </a:p>
          <a:p>
            <a:r>
              <a:rPr lang="en-US" sz="1400">
                <a:ea typeface="+mn-lt"/>
                <a:cs typeface="+mn-lt"/>
              </a:rPr>
              <a:t>Scrivo il testo </a:t>
            </a:r>
            <a:r>
              <a:rPr lang="en-US" sz="1400" err="1">
                <a:ea typeface="+mn-lt"/>
                <a:cs typeface="+mn-lt"/>
              </a:rPr>
              <a:t>dell’invito</a:t>
            </a:r>
            <a:r>
              <a:rPr lang="en-US" sz="1400">
                <a:ea typeface="+mn-lt"/>
                <a:cs typeface="+mn-lt"/>
              </a:rPr>
              <a:t> </a:t>
            </a:r>
            <a:endParaRPr lang="en-US"/>
          </a:p>
          <a:p>
            <a:r>
              <a:rPr lang="en-US" sz="1400">
                <a:ea typeface="+mn-lt"/>
                <a:cs typeface="+mn-lt"/>
              </a:rPr>
              <a:t>Clicco “</a:t>
            </a:r>
            <a:r>
              <a:rPr lang="en-US" sz="1400" err="1">
                <a:ea typeface="+mn-lt"/>
                <a:cs typeface="+mn-lt"/>
              </a:rPr>
              <a:t>Invia</a:t>
            </a:r>
            <a:r>
              <a:rPr lang="en-US" sz="1400">
                <a:ea typeface="+mn-lt"/>
                <a:cs typeface="+mn-lt"/>
              </a:rPr>
              <a:t>” </a:t>
            </a:r>
          </a:p>
          <a:p>
            <a:pPr marL="0" indent="0">
              <a:buNone/>
            </a:pPr>
            <a:r>
              <a:rPr lang="en-US" sz="1400" b="1" err="1">
                <a:ea typeface="+mn-lt"/>
                <a:cs typeface="+mn-lt"/>
              </a:rPr>
              <a:t>Risultato</a:t>
            </a:r>
            <a:r>
              <a:rPr lang="en-US" sz="1400" b="1">
                <a:ea typeface="+mn-lt"/>
                <a:cs typeface="+mn-lt"/>
              </a:rPr>
              <a:t> </a:t>
            </a:r>
            <a:r>
              <a:rPr lang="en-US" sz="1400" b="1" err="1">
                <a:ea typeface="+mn-lt"/>
                <a:cs typeface="+mn-lt"/>
              </a:rPr>
              <a:t>atteso</a:t>
            </a:r>
            <a:r>
              <a:rPr lang="en-US" sz="1400" b="1">
                <a:ea typeface="+mn-lt"/>
                <a:cs typeface="+mn-lt"/>
              </a:rPr>
              <a:t>: </a:t>
            </a:r>
            <a:r>
              <a:rPr lang="en-US" sz="1400" b="1" err="1">
                <a:ea typeface="+mn-lt"/>
                <a:cs typeface="+mn-lt"/>
              </a:rPr>
              <a:t>l’utente</a:t>
            </a:r>
            <a:r>
              <a:rPr lang="en-US" sz="1400" b="1">
                <a:ea typeface="+mn-lt"/>
                <a:cs typeface="+mn-lt"/>
              </a:rPr>
              <a:t> </a:t>
            </a:r>
            <a:r>
              <a:rPr lang="en-US" sz="1400" b="1" err="1">
                <a:ea typeface="+mn-lt"/>
                <a:cs typeface="+mn-lt"/>
              </a:rPr>
              <a:t>destinatario</a:t>
            </a:r>
            <a:r>
              <a:rPr lang="en-US" sz="1400" b="1">
                <a:ea typeface="+mn-lt"/>
                <a:cs typeface="+mn-lt"/>
              </a:rPr>
              <a:t> </a:t>
            </a:r>
            <a:r>
              <a:rPr lang="en-US" sz="1400" b="1" err="1">
                <a:ea typeface="+mn-lt"/>
                <a:cs typeface="+mn-lt"/>
              </a:rPr>
              <a:t>riceve</a:t>
            </a:r>
            <a:r>
              <a:rPr lang="en-US" sz="1400" b="1">
                <a:ea typeface="+mn-lt"/>
                <a:cs typeface="+mn-lt"/>
              </a:rPr>
              <a:t> il </a:t>
            </a:r>
            <a:r>
              <a:rPr lang="en-US" sz="1400" b="1" err="1">
                <a:ea typeface="+mn-lt"/>
                <a:cs typeface="+mn-lt"/>
              </a:rPr>
              <a:t>messaggio</a:t>
            </a:r>
            <a:r>
              <a:rPr lang="en-US" sz="1400" b="1">
                <a:ea typeface="+mn-lt"/>
                <a:cs typeface="+mn-lt"/>
              </a:rPr>
              <a:t> di </a:t>
            </a:r>
            <a:r>
              <a:rPr lang="en-US" sz="1400" b="1" err="1">
                <a:ea typeface="+mn-lt"/>
                <a:cs typeface="+mn-lt"/>
              </a:rPr>
              <a:t>cambio</a:t>
            </a:r>
            <a:r>
              <a:rPr lang="en-US" sz="1400" b="1">
                <a:ea typeface="+mn-lt"/>
                <a:cs typeface="+mn-lt"/>
              </a:rPr>
              <a:t> </a:t>
            </a:r>
            <a:r>
              <a:rPr lang="en-US" sz="1400" b="1" err="1">
                <a:ea typeface="+mn-lt"/>
                <a:cs typeface="+mn-lt"/>
              </a:rPr>
              <a:t>ruolo</a:t>
            </a:r>
            <a:r>
              <a:rPr lang="en-US" sz="1400" b="1">
                <a:ea typeface="+mn-lt"/>
                <a:cs typeface="+mn-lt"/>
              </a:rPr>
              <a:t> </a:t>
            </a:r>
            <a:r>
              <a:rPr lang="en-US" sz="1400" b="1" err="1">
                <a:ea typeface="+mn-lt"/>
                <a:cs typeface="+mn-lt"/>
              </a:rPr>
              <a:t>nella</a:t>
            </a:r>
            <a:r>
              <a:rPr lang="en-US" sz="1400" b="1">
                <a:ea typeface="+mn-lt"/>
                <a:cs typeface="+mn-lt"/>
              </a:rPr>
              <a:t> </a:t>
            </a:r>
            <a:r>
              <a:rPr lang="en-US" sz="1400" b="1" err="1">
                <a:ea typeface="+mn-lt"/>
                <a:cs typeface="+mn-lt"/>
              </a:rPr>
              <a:t>sezione</a:t>
            </a:r>
            <a:r>
              <a:rPr lang="en-US" sz="1400" b="1">
                <a:ea typeface="+mn-lt"/>
                <a:cs typeface="+mn-lt"/>
              </a:rPr>
              <a:t> </a:t>
            </a:r>
            <a:r>
              <a:rPr lang="en-US" sz="1400" b="1" err="1">
                <a:ea typeface="+mn-lt"/>
                <a:cs typeface="+mn-lt"/>
              </a:rPr>
              <a:t>dedicata</a:t>
            </a:r>
            <a:r>
              <a:rPr lang="en-US" sz="1400" b="1">
                <a:ea typeface="+mn-lt"/>
                <a:cs typeface="+mn-lt"/>
              </a:rPr>
              <a:t>.</a:t>
            </a:r>
            <a:endParaRPr lang="en-US" sz="1400"/>
          </a:p>
        </p:txBody>
      </p:sp>
      <p:sp>
        <p:nvSpPr>
          <p:cNvPr id="2" name="CasellaDiTesto 1">
            <a:extLst>
              <a:ext uri="{FF2B5EF4-FFF2-40B4-BE49-F238E27FC236}">
                <a16:creationId xmlns:a16="http://schemas.microsoft.com/office/drawing/2014/main" id="{984E557F-E89A-A3B8-57B9-BF03DBF4AF86}"/>
              </a:ext>
            </a:extLst>
          </p:cNvPr>
          <p:cNvSpPr txBox="1"/>
          <p:nvPr/>
        </p:nvSpPr>
        <p:spPr>
          <a:xfrm>
            <a:off x="10764950" y="515418"/>
            <a:ext cx="1419409"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2800"/>
              <a:t>Test cambio ruolo</a:t>
            </a:r>
          </a:p>
        </p:txBody>
      </p:sp>
      <p:sp>
        <p:nvSpPr>
          <p:cNvPr id="3" name="CasellaDiTesto 2">
            <a:extLst>
              <a:ext uri="{FF2B5EF4-FFF2-40B4-BE49-F238E27FC236}">
                <a16:creationId xmlns:a16="http://schemas.microsoft.com/office/drawing/2014/main" id="{7A6740F7-A008-BC7D-60E3-07AB820FED88}"/>
              </a:ext>
            </a:extLst>
          </p:cNvPr>
          <p:cNvSpPr txBox="1"/>
          <p:nvPr/>
        </p:nvSpPr>
        <p:spPr>
          <a:xfrm>
            <a:off x="5213537" y="3126717"/>
            <a:ext cx="5231994" cy="33999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90000"/>
              </a:lnSpc>
              <a:spcBef>
                <a:spcPts val="1000"/>
              </a:spcBef>
              <a:buFont typeface="Arial"/>
              <a:buChar char="•"/>
            </a:pPr>
            <a:r>
              <a:rPr lang="en-US" sz="1400" err="1"/>
              <a:t>Accedo</a:t>
            </a:r>
            <a:r>
              <a:rPr lang="en-US" sz="1400"/>
              <a:t> </a:t>
            </a:r>
            <a:r>
              <a:rPr lang="en-US" sz="1400" err="1"/>
              <a:t>all’account</a:t>
            </a:r>
            <a:r>
              <a:rPr lang="en-US" sz="1400"/>
              <a:t> “con account_2” </a:t>
            </a:r>
          </a:p>
          <a:p>
            <a:pPr marL="285750" indent="-285750">
              <a:lnSpc>
                <a:spcPct val="90000"/>
              </a:lnSpc>
              <a:spcBef>
                <a:spcPts val="1000"/>
              </a:spcBef>
              <a:buFont typeface="Arial"/>
              <a:buChar char="•"/>
            </a:pPr>
            <a:r>
              <a:rPr lang="en-US" sz="1400"/>
              <a:t>Clicco </a:t>
            </a:r>
            <a:r>
              <a:rPr lang="en-US" sz="1400" err="1"/>
              <a:t>su</a:t>
            </a:r>
            <a:r>
              <a:rPr lang="en-US" sz="1400"/>
              <a:t> </a:t>
            </a:r>
            <a:r>
              <a:rPr lang="en-US" sz="1400" err="1"/>
              <a:t>una</a:t>
            </a:r>
            <a:r>
              <a:rPr lang="en-US" sz="1400"/>
              <a:t> </a:t>
            </a:r>
            <a:r>
              <a:rPr lang="en-US" sz="1400" err="1"/>
              <a:t>Mappa</a:t>
            </a:r>
            <a:r>
              <a:rPr lang="en-US" sz="1400"/>
              <a:t> </a:t>
            </a:r>
          </a:p>
          <a:p>
            <a:pPr marL="285750" indent="-285750">
              <a:lnSpc>
                <a:spcPct val="90000"/>
              </a:lnSpc>
              <a:spcBef>
                <a:spcPts val="1000"/>
              </a:spcBef>
              <a:buFont typeface="Arial"/>
              <a:buChar char="•"/>
            </a:pPr>
            <a:r>
              <a:rPr lang="en-US" sz="1400"/>
              <a:t>Clicco </a:t>
            </a:r>
            <a:r>
              <a:rPr lang="en-US" sz="1400" err="1"/>
              <a:t>sull’icona</a:t>
            </a:r>
            <a:r>
              <a:rPr lang="en-US" sz="1400"/>
              <a:t> </a:t>
            </a:r>
            <a:r>
              <a:rPr lang="en-US" sz="1400" err="1"/>
              <a:t>Messaggio</a:t>
            </a:r>
            <a:endParaRPr lang="en-US" sz="1400"/>
          </a:p>
          <a:p>
            <a:pPr marL="285750" indent="-285750">
              <a:lnSpc>
                <a:spcPct val="90000"/>
              </a:lnSpc>
              <a:spcBef>
                <a:spcPts val="1000"/>
              </a:spcBef>
              <a:buFont typeface="Arial"/>
              <a:buChar char="•"/>
            </a:pPr>
            <a:r>
              <a:rPr lang="en-US" sz="1400" err="1"/>
              <a:t>Visualizzo</a:t>
            </a:r>
            <a:r>
              <a:rPr lang="en-US" sz="1400"/>
              <a:t> il </a:t>
            </a:r>
            <a:r>
              <a:rPr lang="en-US" sz="1400" err="1"/>
              <a:t>messaggio</a:t>
            </a:r>
            <a:r>
              <a:rPr lang="en-US" sz="1400"/>
              <a:t> di Cambio </a:t>
            </a:r>
            <a:r>
              <a:rPr lang="en-US" sz="1400" err="1"/>
              <a:t>Ruolo</a:t>
            </a:r>
            <a:r>
              <a:rPr lang="en-US" sz="1400"/>
              <a:t> </a:t>
            </a:r>
            <a:r>
              <a:rPr lang="en-US" sz="1400" err="1"/>
              <a:t>ricevuto</a:t>
            </a:r>
            <a:endParaRPr lang="en-US" sz="1400"/>
          </a:p>
          <a:p>
            <a:pPr marL="285750" indent="-285750">
              <a:lnSpc>
                <a:spcPct val="90000"/>
              </a:lnSpc>
              <a:spcBef>
                <a:spcPts val="1000"/>
              </a:spcBef>
              <a:buFont typeface="Arial"/>
              <a:buChar char="•"/>
            </a:pPr>
            <a:r>
              <a:rPr lang="en-US" sz="1400"/>
              <a:t>Si </a:t>
            </a:r>
            <a:r>
              <a:rPr lang="en-US" sz="1400" err="1"/>
              <a:t>può</a:t>
            </a:r>
            <a:r>
              <a:rPr lang="en-US" sz="1400"/>
              <a:t> </a:t>
            </a:r>
            <a:r>
              <a:rPr lang="en-US" sz="1400" err="1"/>
              <a:t>rifiutare</a:t>
            </a:r>
            <a:r>
              <a:rPr lang="en-US" sz="1400"/>
              <a:t> o </a:t>
            </a:r>
            <a:r>
              <a:rPr lang="en-US" sz="1400" err="1"/>
              <a:t>Accettare</a:t>
            </a:r>
            <a:endParaRPr lang="en-US" sz="1400"/>
          </a:p>
          <a:p>
            <a:pPr marL="285750" indent="-285750">
              <a:lnSpc>
                <a:spcPct val="90000"/>
              </a:lnSpc>
              <a:spcBef>
                <a:spcPts val="1000"/>
              </a:spcBef>
              <a:buFont typeface="Arial"/>
              <a:buChar char="•"/>
            </a:pPr>
            <a:r>
              <a:rPr lang="en-US" sz="1400"/>
              <a:t>Se </a:t>
            </a:r>
            <a:r>
              <a:rPr lang="en-US" sz="1400" err="1"/>
              <a:t>si</a:t>
            </a:r>
            <a:r>
              <a:rPr lang="en-US" sz="1400"/>
              <a:t> </a:t>
            </a:r>
            <a:r>
              <a:rPr lang="en-US" sz="1400" err="1"/>
              <a:t>rifiuta</a:t>
            </a:r>
            <a:r>
              <a:rPr lang="en-US" sz="1400"/>
              <a:t>: il </a:t>
            </a:r>
            <a:r>
              <a:rPr lang="en-US" sz="1400" err="1"/>
              <a:t>messaggio</a:t>
            </a:r>
            <a:r>
              <a:rPr lang="en-US" sz="1400"/>
              <a:t> di </a:t>
            </a:r>
            <a:r>
              <a:rPr lang="en-US" sz="1400" err="1"/>
              <a:t>cambio</a:t>
            </a:r>
            <a:r>
              <a:rPr lang="en-US" sz="1400"/>
              <a:t> </a:t>
            </a:r>
            <a:r>
              <a:rPr lang="en-US" sz="1400" err="1"/>
              <a:t>ruolo</a:t>
            </a:r>
            <a:r>
              <a:rPr lang="en-US" sz="1400"/>
              <a:t> </a:t>
            </a:r>
            <a:r>
              <a:rPr lang="en-US" sz="1400" err="1"/>
              <a:t>viene</a:t>
            </a:r>
            <a:r>
              <a:rPr lang="en-US" sz="1400"/>
              <a:t> </a:t>
            </a:r>
            <a:r>
              <a:rPr lang="en-US" sz="1400" err="1"/>
              <a:t>cancellato</a:t>
            </a:r>
            <a:endParaRPr lang="en-US" sz="1400"/>
          </a:p>
          <a:p>
            <a:pPr marL="285750" indent="-285750">
              <a:lnSpc>
                <a:spcPct val="90000"/>
              </a:lnSpc>
              <a:spcBef>
                <a:spcPts val="1000"/>
              </a:spcBef>
              <a:buFont typeface="Arial"/>
              <a:buChar char="•"/>
            </a:pPr>
            <a:r>
              <a:rPr lang="en-US" sz="1400"/>
              <a:t>Se </a:t>
            </a:r>
            <a:r>
              <a:rPr lang="en-US" sz="1400" err="1"/>
              <a:t>si</a:t>
            </a:r>
            <a:r>
              <a:rPr lang="en-US" sz="1400"/>
              <a:t> </a:t>
            </a:r>
            <a:r>
              <a:rPr lang="en-US" sz="1400" err="1"/>
              <a:t>accetta</a:t>
            </a:r>
            <a:r>
              <a:rPr lang="en-US" sz="1400"/>
              <a:t>: il </a:t>
            </a:r>
            <a:r>
              <a:rPr lang="en-US" sz="1400" err="1"/>
              <a:t>sistema</a:t>
            </a:r>
            <a:r>
              <a:rPr lang="en-US" sz="1400"/>
              <a:t> </a:t>
            </a:r>
            <a:r>
              <a:rPr lang="en-US" sz="1400" err="1"/>
              <a:t>mostra</a:t>
            </a:r>
            <a:r>
              <a:rPr lang="en-US" sz="1400"/>
              <a:t> un </a:t>
            </a:r>
            <a:r>
              <a:rPr lang="en-US" sz="1400" err="1"/>
              <a:t>messaggio</a:t>
            </a:r>
            <a:r>
              <a:rPr lang="en-US" sz="1400"/>
              <a:t> “ </a:t>
            </a:r>
            <a:r>
              <a:rPr lang="en-US" sz="1400" err="1"/>
              <a:t>Ruoli</a:t>
            </a:r>
            <a:r>
              <a:rPr lang="en-US" sz="1400"/>
              <a:t> </a:t>
            </a:r>
            <a:r>
              <a:rPr lang="en-US" sz="1400" err="1"/>
              <a:t>cambiati</a:t>
            </a:r>
            <a:r>
              <a:rPr lang="en-US" sz="1400"/>
              <a:t> con </a:t>
            </a:r>
            <a:r>
              <a:rPr lang="en-US" sz="1400" err="1"/>
              <a:t>successo</a:t>
            </a:r>
            <a:r>
              <a:rPr lang="en-US" sz="1400"/>
              <a:t>” e il </a:t>
            </a:r>
            <a:r>
              <a:rPr lang="en-US" sz="1400" err="1"/>
              <a:t>ruolo</a:t>
            </a:r>
            <a:r>
              <a:rPr lang="en-US" sz="1400"/>
              <a:t> </a:t>
            </a:r>
            <a:r>
              <a:rPr lang="en-US" sz="1400" err="1"/>
              <a:t>viene</a:t>
            </a:r>
            <a:r>
              <a:rPr lang="en-US" sz="1400"/>
              <a:t> </a:t>
            </a:r>
            <a:r>
              <a:rPr lang="en-US" sz="1400" err="1"/>
              <a:t>aggiornato</a:t>
            </a:r>
            <a:r>
              <a:rPr lang="en-US" sz="1400"/>
              <a:t> </a:t>
            </a:r>
            <a:r>
              <a:rPr lang="en-US" sz="1400" err="1"/>
              <a:t>automaticamente</a:t>
            </a:r>
            <a:endParaRPr lang="en-US" sz="1400"/>
          </a:p>
          <a:p>
            <a:pPr>
              <a:lnSpc>
                <a:spcPct val="90000"/>
              </a:lnSpc>
              <a:spcBef>
                <a:spcPts val="1000"/>
              </a:spcBef>
            </a:pPr>
            <a:r>
              <a:rPr lang="en-US" sz="1400"/>
              <a:t> </a:t>
            </a:r>
            <a:r>
              <a:rPr lang="en-US" sz="1400" b="1" err="1"/>
              <a:t>Risultato</a:t>
            </a:r>
            <a:r>
              <a:rPr lang="en-US" sz="1400" b="1"/>
              <a:t> </a:t>
            </a:r>
            <a:r>
              <a:rPr lang="en-US" sz="1400" b="1" err="1"/>
              <a:t>atteso</a:t>
            </a:r>
            <a:r>
              <a:rPr lang="en-US" sz="1400" b="1"/>
              <a:t>: se </a:t>
            </a:r>
            <a:r>
              <a:rPr lang="en-US" sz="1400" b="1" err="1"/>
              <a:t>l'utente</a:t>
            </a:r>
            <a:r>
              <a:rPr lang="en-US" sz="1400" b="1"/>
              <a:t> </a:t>
            </a:r>
            <a:r>
              <a:rPr lang="en-US" sz="1400" b="1" err="1"/>
              <a:t>rifiuta</a:t>
            </a:r>
            <a:r>
              <a:rPr lang="en-US" sz="1400" b="1"/>
              <a:t>, il </a:t>
            </a:r>
            <a:r>
              <a:rPr lang="en-US" sz="1400" b="1" err="1"/>
              <a:t>messaggio</a:t>
            </a:r>
            <a:r>
              <a:rPr lang="en-US" sz="1400" b="1"/>
              <a:t> di </a:t>
            </a:r>
            <a:r>
              <a:rPr lang="en-US" sz="1400" b="1" err="1"/>
              <a:t>cambio</a:t>
            </a:r>
            <a:r>
              <a:rPr lang="en-US" sz="1400" b="1"/>
              <a:t> </a:t>
            </a:r>
            <a:r>
              <a:rPr lang="en-US" sz="1400" b="1" err="1"/>
              <a:t>ruolo</a:t>
            </a:r>
            <a:r>
              <a:rPr lang="en-US" sz="1400" b="1"/>
              <a:t> </a:t>
            </a:r>
            <a:r>
              <a:rPr lang="en-US" sz="1400" b="1" err="1"/>
              <a:t>viene</a:t>
            </a:r>
            <a:r>
              <a:rPr lang="en-US" sz="1400" b="1"/>
              <a:t> </a:t>
            </a:r>
            <a:r>
              <a:rPr lang="en-US" sz="1400" b="1" err="1"/>
              <a:t>eliminato</a:t>
            </a:r>
            <a:r>
              <a:rPr lang="en-US" sz="1400" b="1"/>
              <a:t>/se </a:t>
            </a:r>
            <a:r>
              <a:rPr lang="en-US" sz="1400" b="1" err="1"/>
              <a:t>l'utente</a:t>
            </a:r>
            <a:r>
              <a:rPr lang="en-US" sz="1400" b="1"/>
              <a:t> </a:t>
            </a:r>
            <a:r>
              <a:rPr lang="en-US" sz="1400" b="1" err="1"/>
              <a:t>accetta</a:t>
            </a:r>
            <a:r>
              <a:rPr lang="en-US" sz="1400" b="1"/>
              <a:t>, il </a:t>
            </a:r>
            <a:r>
              <a:rPr lang="en-US" sz="1400" b="1" err="1"/>
              <a:t>ruolo</a:t>
            </a:r>
            <a:r>
              <a:rPr lang="en-US" sz="1400" b="1"/>
              <a:t> </a:t>
            </a:r>
            <a:r>
              <a:rPr lang="en-US" sz="1400" b="1" err="1"/>
              <a:t>viene</a:t>
            </a:r>
            <a:r>
              <a:rPr lang="en-US" sz="1400" b="1"/>
              <a:t> </a:t>
            </a:r>
            <a:r>
              <a:rPr lang="en-US" sz="1400" b="1" err="1"/>
              <a:t>aggiornato</a:t>
            </a:r>
            <a:r>
              <a:rPr lang="en-US" sz="1400" b="1"/>
              <a:t> </a:t>
            </a:r>
            <a:r>
              <a:rPr lang="en-US" sz="1400" b="1" err="1"/>
              <a:t>immediatamente</a:t>
            </a:r>
            <a:r>
              <a:rPr lang="en-US" sz="1400" b="1"/>
              <a:t> e il </a:t>
            </a:r>
            <a:r>
              <a:rPr lang="en-US" sz="1400" b="1" err="1"/>
              <a:t>sistema</a:t>
            </a:r>
            <a:r>
              <a:rPr lang="en-US" sz="1400" b="1"/>
              <a:t> </a:t>
            </a:r>
            <a:r>
              <a:rPr lang="en-US" sz="1400" b="1" err="1"/>
              <a:t>mostra</a:t>
            </a:r>
            <a:r>
              <a:rPr lang="en-US" sz="1400" b="1"/>
              <a:t> la </a:t>
            </a:r>
            <a:r>
              <a:rPr lang="en-US" sz="1400" b="1" err="1"/>
              <a:t>conferma</a:t>
            </a:r>
            <a:r>
              <a:rPr lang="en-US" sz="1400" b="1"/>
              <a:t>.</a:t>
            </a:r>
          </a:p>
          <a:p>
            <a:pPr algn="l"/>
            <a:endParaRPr lang="it-IT" b="1"/>
          </a:p>
        </p:txBody>
      </p:sp>
    </p:spTree>
    <p:extLst>
      <p:ext uri="{BB962C8B-B14F-4D97-AF65-F5344CB8AC3E}">
        <p14:creationId xmlns:p14="http://schemas.microsoft.com/office/powerpoint/2010/main" val="42780432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CB773C-82EC-D2A6-66C0-E7C2A62C39B0}"/>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2417680-3E61-C53C-1B64-04AEA10BC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4525729-EB01-6FEE-4FA7-75FDDC043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914B689-B740-8E03-03A9-A403582C3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D3079615-0CD8-CA0D-3977-677908774EF3}"/>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r>
              <a:rPr lang="en-US" sz="7200" b="1" kern="1200" err="1">
                <a:latin typeface="+mj-lt"/>
                <a:ea typeface="+mj-ea"/>
                <a:cs typeface="+mj-cs"/>
              </a:rPr>
              <a:t>DreamCity</a:t>
            </a:r>
            <a:br>
              <a:rPr lang="en-US" sz="7200" b="1"/>
            </a:br>
            <a:r>
              <a:rPr lang="en-US" sz="7200" b="1"/>
              <a:t>THE END</a:t>
            </a:r>
            <a:endParaRPr lang="en-US" sz="7200" b="1" kern="1200">
              <a:latin typeface="+mj-lt"/>
            </a:endParaRPr>
          </a:p>
        </p:txBody>
      </p:sp>
      <p:cxnSp>
        <p:nvCxnSpPr>
          <p:cNvPr id="13" name="Straight Connector 12">
            <a:extLst>
              <a:ext uri="{FF2B5EF4-FFF2-40B4-BE49-F238E27FC236}">
                <a16:creationId xmlns:a16="http://schemas.microsoft.com/office/drawing/2014/main" id="{C0C526BA-67A8-8938-4ECA-F9F392870D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06747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9757D2A1AA27C04DB6A0165CB37C0564" ma:contentTypeVersion="11" ma:contentTypeDescription="Creare un nuovo documento." ma:contentTypeScope="" ma:versionID="eab54bf5525a3be1aaf2c8571d26234a">
  <xsd:schema xmlns:xsd="http://www.w3.org/2001/XMLSchema" xmlns:xs="http://www.w3.org/2001/XMLSchema" xmlns:p="http://schemas.microsoft.com/office/2006/metadata/properties" xmlns:ns3="8898591d-9690-4421-8a12-f94e617f77b2" xmlns:ns4="923b60d2-f50c-4c27-b92f-a5c0730254df" targetNamespace="http://schemas.microsoft.com/office/2006/metadata/properties" ma:root="true" ma:fieldsID="722780580c1c08a396c84957815478cc" ns3:_="" ns4:_="">
    <xsd:import namespace="8898591d-9690-4421-8a12-f94e617f77b2"/>
    <xsd:import namespace="923b60d2-f50c-4c27-b92f-a5c0730254df"/>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_activity" minOccurs="0"/>
                <xsd:element ref="ns4:SharedWithUsers" minOccurs="0"/>
                <xsd:element ref="ns4:SharedWithDetails" minOccurs="0"/>
                <xsd:element ref="ns4:SharingHintHash" minOccurs="0"/>
                <xsd:element ref="ns3:MediaServiceObjectDetectorVersions" minOccurs="0"/>
                <xsd:element ref="ns3:MediaServiceDateTake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98591d-9690-4421-8a12-f94e617f77b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2" nillable="true" ma:displayName="_activity" ma:hidden="true" ma:internalName="_activity">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23b60d2-f50c-4c27-b92f-a5c0730254df" elementFormDefault="qualified">
    <xsd:import namespace="http://schemas.microsoft.com/office/2006/documentManagement/types"/>
    <xsd:import namespace="http://schemas.microsoft.com/office/infopath/2007/PartnerControls"/>
    <xsd:element name="SharedWithUsers" ma:index="13"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Condiviso con dettagli" ma:internalName="SharedWithDetails" ma:readOnly="true">
      <xsd:simpleType>
        <xsd:restriction base="dms:Note">
          <xsd:maxLength value="255"/>
        </xsd:restriction>
      </xsd:simpleType>
    </xsd:element>
    <xsd:element name="SharingHintHash" ma:index="15" nillable="true" ma:displayName="Hash suggerimento condivisione"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8898591d-9690-4421-8a12-f94e617f77b2" xsi:nil="true"/>
  </documentManagement>
</p:properties>
</file>

<file path=customXml/itemProps1.xml><?xml version="1.0" encoding="utf-8"?>
<ds:datastoreItem xmlns:ds="http://schemas.openxmlformats.org/officeDocument/2006/customXml" ds:itemID="{D87CAC78-1373-4CCE-AFAD-A72EFC4317C1}">
  <ds:schemaRefs>
    <ds:schemaRef ds:uri="http://schemas.microsoft.com/sharepoint/v3/contenttype/forms"/>
  </ds:schemaRefs>
</ds:datastoreItem>
</file>

<file path=customXml/itemProps2.xml><?xml version="1.0" encoding="utf-8"?>
<ds:datastoreItem xmlns:ds="http://schemas.openxmlformats.org/officeDocument/2006/customXml" ds:itemID="{51E5CF93-1A90-4F16-8BF3-385DA844A4B2}">
  <ds:schemaRefs>
    <ds:schemaRef ds:uri="8898591d-9690-4421-8a12-f94e617f77b2"/>
    <ds:schemaRef ds:uri="923b60d2-f50c-4c27-b92f-a5c0730254d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9095DB3-20AC-41E5-B830-8EBDD3DFBCDC}">
  <ds:schemaRefs>
    <ds:schemaRef ds:uri="8898591d-9690-4421-8a12-f94e617f77b2"/>
    <ds:schemaRef ds:uri="http://schemas.microsoft.com/office/2006/metadata/properties"/>
    <ds:schemaRef ds:uri="http://purl.org/dc/terms/"/>
    <ds:schemaRef ds:uri="http://purl.org/dc/elements/1.1/"/>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923b60d2-f50c-4c27-b92f-a5c0730254df"/>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2948</Words>
  <Application>Microsoft Macintosh PowerPoint</Application>
  <PresentationFormat>Widescreen</PresentationFormat>
  <Paragraphs>331</Paragraphs>
  <Slides>50</Slides>
  <Notes>0</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50</vt:i4>
      </vt:variant>
    </vt:vector>
  </HeadingPairs>
  <TitlesOfParts>
    <vt:vector size="58" baseType="lpstr">
      <vt:lpstr>Algerian</vt:lpstr>
      <vt:lpstr>Aptos</vt:lpstr>
      <vt:lpstr>Aptos (Corpo)</vt:lpstr>
      <vt:lpstr>Aptos Display</vt:lpstr>
      <vt:lpstr>Arial</vt:lpstr>
      <vt:lpstr>Calibri</vt:lpstr>
      <vt:lpstr>Matura MT Script Capitals</vt:lpstr>
      <vt:lpstr>Tema di Office</vt:lpstr>
      <vt:lpstr>DreamCity</vt:lpstr>
      <vt:lpstr>DOCKER </vt:lpstr>
      <vt:lpstr>Docker: container</vt:lpstr>
      <vt:lpstr>Contenitore per l'applicazione PHP</vt:lpstr>
      <vt:lpstr>Contenitore per il Database</vt:lpstr>
      <vt:lpstr>Dockerfile Crea immagine docker</vt:lpstr>
      <vt:lpstr>AVVIO GIOCO</vt:lpstr>
      <vt:lpstr>Database: analisi</vt:lpstr>
      <vt:lpstr>Database: struttura e funzionamento</vt:lpstr>
      <vt:lpstr>Presentazione standard di PowerPoint</vt:lpstr>
      <vt:lpstr>Presentazione standard di PowerPoint</vt:lpstr>
      <vt:lpstr>Presentazione standard di PowerPoint</vt:lpstr>
      <vt:lpstr>Database: diagramma delle classi</vt:lpstr>
      <vt:lpstr>Database: interazioni e rotte</vt:lpstr>
      <vt:lpstr>Database: interazioni e rotte</vt:lpstr>
      <vt:lpstr>Routes: controllo dell’utente</vt:lpstr>
      <vt:lpstr>Routes: inclusione del Presenter</vt:lpstr>
      <vt:lpstr>Routes: scomposizione della REQUEST_URI</vt:lpstr>
      <vt:lpstr>Routes: switch per la richiesta</vt:lpstr>
      <vt:lpstr>Funzionalità </vt:lpstr>
      <vt:lpstr>Registrazione e login</vt:lpstr>
      <vt:lpstr>Flusso di registrazione e login </vt:lpstr>
      <vt:lpstr>Elenco delle Mappe</vt:lpstr>
      <vt:lpstr>Creazione di una mappa   </vt:lpstr>
      <vt:lpstr>Flusso di Creazione della mappa </vt:lpstr>
      <vt:lpstr>Votazione per l'eliminazione di una mappa </vt:lpstr>
      <vt:lpstr>Utilizzo della piattaforma</vt:lpstr>
      <vt:lpstr>Selezione di un ruolo</vt:lpstr>
      <vt:lpstr>Presentazione standard di PowerPoint</vt:lpstr>
      <vt:lpstr>Presentazione standard di PowerPoint</vt:lpstr>
      <vt:lpstr>Presentazione standard di PowerPoint</vt:lpstr>
      <vt:lpstr>La mappa di gioco</vt:lpstr>
      <vt:lpstr>La mappa di gioco</vt:lpstr>
      <vt:lpstr>La mappa di gioco</vt:lpstr>
      <vt:lpstr>Presentazione standard di PowerPoint</vt:lpstr>
      <vt:lpstr>Presentazione standard di PowerPoint</vt:lpstr>
      <vt:lpstr>Presentazione standard di PowerPoint</vt:lpstr>
      <vt:lpstr>Presentazione standard di PowerPoint</vt:lpstr>
      <vt:lpstr>Presentazione standard di PowerPoint</vt:lpstr>
      <vt:lpstr>TESTING</vt:lpstr>
      <vt:lpstr>TEST DI BASE </vt:lpstr>
      <vt:lpstr>Esempio test superato</vt:lpstr>
      <vt:lpstr>TEST SELEZIONE, CREAZIONE E CANCELLAZIONE DELLE MAPPE</vt:lpstr>
      <vt:lpstr>Presentazione standard di PowerPoint</vt:lpstr>
      <vt:lpstr>TEST SELEZIONE RUOLO </vt:lpstr>
      <vt:lpstr>Esempio test fallito</vt:lpstr>
      <vt:lpstr>TEST SU MESSAGGI, INVITI E CAMBIO RUOLO</vt:lpstr>
      <vt:lpstr>Test creazione di messaggi</vt:lpstr>
      <vt:lpstr>Presentazione standard di PowerPoint</vt:lpstr>
      <vt:lpstr>DreamCity 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Martin TRAJKOVSKI</dc:creator>
  <cp:lastModifiedBy>Martin TRAJKOVSKI</cp:lastModifiedBy>
  <cp:revision>2</cp:revision>
  <dcterms:created xsi:type="dcterms:W3CDTF">2025-02-01T16:32:26Z</dcterms:created>
  <dcterms:modified xsi:type="dcterms:W3CDTF">2025-02-04T21:21:18Z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0x0101009757D2A1AA27C04DB6A0165CB37C0564</vt:lpwstr>
  </property>
</Properties>
</file>