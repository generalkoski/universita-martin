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4" r:id="rId2"/>
    <p:sldId id="282" r:id="rId3"/>
    <p:sldId id="279" r:id="rId4"/>
    <p:sldId id="280" r:id="rId5"/>
    <p:sldId id="281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8" r:id="rId18"/>
    <p:sldId id="294" r:id="rId19"/>
    <p:sldId id="297" r:id="rId20"/>
    <p:sldId id="295" r:id="rId21"/>
    <p:sldId id="29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59595"/>
    <a:srgbClr val="CCCCCC"/>
    <a:srgbClr val="DEDEE0"/>
    <a:srgbClr val="607A62"/>
    <a:srgbClr val="9F859D"/>
    <a:srgbClr val="D0AECE"/>
    <a:srgbClr val="232355"/>
    <a:srgbClr val="DCDCAA"/>
    <a:srgbClr val="9A77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7" autoAdjust="0"/>
  </p:normalViewPr>
  <p:slideViewPr>
    <p:cSldViewPr snapToGrid="0" snapToObjects="1">
      <p:cViewPr>
        <p:scale>
          <a:sx n="100" d="100"/>
          <a:sy n="100" d="100"/>
        </p:scale>
        <p:origin x="954" y="3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F3CC94-C576-4765-8C72-954C1695ADB8}" type="datetimeFigureOut">
              <a:rPr lang="it-IT" smtClean="0"/>
              <a:t>16/03/2025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D2F52-0D31-4C6D-9EE4-C867535071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187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D2F52-0D31-4C6D-9EE4-C8675350710A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9150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D2F52-0D31-4C6D-9EE4-C8675350710A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9661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D2F52-0D31-4C6D-9EE4-C8675350710A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4132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D2F52-0D31-4C6D-9EE4-C8675350710A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3058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2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microsoft.com/office/2007/relationships/hdphoto" Target="../media/hdphoto2.wdp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5.png"/><Relationship Id="rId1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microsoft.com/office/2007/relationships/hdphoto" Target="../media/hdphoto1.wdp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3.png"/><Relationship Id="rId10" Type="http://schemas.microsoft.com/office/2007/relationships/hdphoto" Target="../media/hdphoto1.wdp"/><Relationship Id="rId4" Type="http://schemas.microsoft.com/office/2007/relationships/hdphoto" Target="../media/hdphoto2.wdp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microsoft.com/office/2007/relationships/hdphoto" Target="../media/hdphoto1.wdp"/><Relationship Id="rId5" Type="http://schemas.openxmlformats.org/officeDocument/2006/relationships/image" Target="../media/image12.png"/><Relationship Id="rId10" Type="http://schemas.openxmlformats.org/officeDocument/2006/relationships/image" Target="../media/image2.png"/><Relationship Id="rId4" Type="http://schemas.microsoft.com/office/2007/relationships/hdphoto" Target="../media/hdphoto2.wdp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10" Type="http://schemas.microsoft.com/office/2007/relationships/hdphoto" Target="../media/hdphoto1.wdp"/><Relationship Id="rId4" Type="http://schemas.microsoft.com/office/2007/relationships/hdphoto" Target="../media/hdphoto2.wdp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0.png"/><Relationship Id="rId5" Type="http://schemas.openxmlformats.org/officeDocument/2006/relationships/image" Target="../media/image16.png"/><Relationship Id="rId10" Type="http://schemas.openxmlformats.org/officeDocument/2006/relationships/image" Target="../media/image19.png"/><Relationship Id="rId4" Type="http://schemas.microsoft.com/office/2007/relationships/hdphoto" Target="../media/hdphoto2.wdp"/><Relationship Id="rId9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19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microsoft.com/office/2007/relationships/hdphoto" Target="../media/hdphoto1.wdp"/><Relationship Id="rId5" Type="http://schemas.microsoft.com/office/2007/relationships/hdphoto" Target="../media/hdphoto2.wdp"/><Relationship Id="rId10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8.png"/><Relationship Id="rId7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10" Type="http://schemas.openxmlformats.org/officeDocument/2006/relationships/image" Target="../media/image20.png"/><Relationship Id="rId4" Type="http://schemas.openxmlformats.org/officeDocument/2006/relationships/image" Target="../media/image21.png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1.png"/><Relationship Id="rId4" Type="http://schemas.microsoft.com/office/2007/relationships/hdphoto" Target="../media/hdphoto2.wdp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21.pn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2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microsoft.com/office/2007/relationships/hdphoto" Target="../media/hdphoto1.wdp"/><Relationship Id="rId9" Type="http://schemas.microsoft.com/office/2007/relationships/hdphoto" Target="../media/hdphoto2.wdp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22.jpg"/><Relationship Id="rId5" Type="http://schemas.openxmlformats.org/officeDocument/2006/relationships/image" Target="../media/image9.png"/><Relationship Id="rId10" Type="http://schemas.openxmlformats.org/officeDocument/2006/relationships/image" Target="../media/image24.png"/><Relationship Id="rId4" Type="http://schemas.microsoft.com/office/2007/relationships/hdphoto" Target="../media/hdphoto2.wdp"/><Relationship Id="rId9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0.png"/><Relationship Id="rId5" Type="http://schemas.openxmlformats.org/officeDocument/2006/relationships/image" Target="../media/image23.png"/><Relationship Id="rId10" Type="http://schemas.openxmlformats.org/officeDocument/2006/relationships/image" Target="../media/image9.png"/><Relationship Id="rId4" Type="http://schemas.microsoft.com/office/2007/relationships/hdphoto" Target="../media/hdphoto2.wdp"/><Relationship Id="rId9" Type="http://schemas.openxmlformats.org/officeDocument/2006/relationships/image" Target="../media/image25.jpg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28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12" Type="http://schemas.openxmlformats.org/officeDocument/2006/relationships/hyperlink" Target="https://overwatch.gamepedia.com/WIP" TargetMode="External"/><Relationship Id="rId2" Type="http://schemas.openxmlformats.org/officeDocument/2006/relationships/image" Target="../media/image1.jpe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7.png"/><Relationship Id="rId5" Type="http://schemas.openxmlformats.org/officeDocument/2006/relationships/image" Target="../media/image23.png"/><Relationship Id="rId15" Type="http://schemas.openxmlformats.org/officeDocument/2006/relationships/image" Target="../media/image30.png"/><Relationship Id="rId10" Type="http://schemas.openxmlformats.org/officeDocument/2006/relationships/hyperlink" Target="https://www.wallpaperflare.com/human-brain-in-a-jar-clipart-glass-brown-blue-black-bank-wallpaper-shtx/download/1920x1080" TargetMode="External"/><Relationship Id="rId4" Type="http://schemas.microsoft.com/office/2007/relationships/hdphoto" Target="../media/hdphoto2.wdp"/><Relationship Id="rId9" Type="http://schemas.openxmlformats.org/officeDocument/2006/relationships/image" Target="../media/image26.jpg"/><Relationship Id="rId1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32.png"/><Relationship Id="rId4" Type="http://schemas.microsoft.com/office/2007/relationships/hdphoto" Target="../media/hdphoto2.wdp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 descr="Immagine che contiene neve&#10;&#10;Il contenuto generato dall'IA potrebbe non essere corretto.">
            <a:extLst>
              <a:ext uri="{FF2B5EF4-FFF2-40B4-BE49-F238E27FC236}">
                <a16:creationId xmlns:a16="http://schemas.microsoft.com/office/drawing/2014/main" id="{DEC4C20F-9B3C-070C-B8FA-7C73ACF7C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" y="0"/>
            <a:ext cx="12185904" cy="6858000"/>
          </a:xfrm>
          <a:prstGeom prst="rect">
            <a:avLst/>
          </a:prstGeom>
        </p:spPr>
      </p:pic>
      <p:sp>
        <p:nvSpPr>
          <p:cNvPr id="28" name="Freeform 7">
            <a:extLst>
              <a:ext uri="{FF2B5EF4-FFF2-40B4-BE49-F238E27FC236}">
                <a16:creationId xmlns:a16="http://schemas.microsoft.com/office/drawing/2014/main" id="{85986ACD-D60D-869D-FA0B-00FD107F1FE1}"/>
              </a:ext>
            </a:extLst>
          </p:cNvPr>
          <p:cNvSpPr/>
          <p:nvPr/>
        </p:nvSpPr>
        <p:spPr>
          <a:xfrm>
            <a:off x="4845340" y="307291"/>
            <a:ext cx="2501320" cy="2263099"/>
          </a:xfrm>
          <a:custGeom>
            <a:avLst/>
            <a:gdLst/>
            <a:ahLst/>
            <a:cxnLst/>
            <a:rect l="l" t="t" r="r" b="b"/>
            <a:pathLst>
              <a:path w="3573314" h="3232998">
                <a:moveTo>
                  <a:pt x="0" y="0"/>
                </a:moveTo>
                <a:lnTo>
                  <a:pt x="3573314" y="0"/>
                </a:lnTo>
                <a:lnTo>
                  <a:pt x="3573314" y="3232998"/>
                </a:lnTo>
                <a:lnTo>
                  <a:pt x="0" y="32329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ED8B67DF-A087-14B9-D909-D1EDC98F3278}"/>
              </a:ext>
            </a:extLst>
          </p:cNvPr>
          <p:cNvSpPr txBox="1"/>
          <p:nvPr/>
        </p:nvSpPr>
        <p:spPr>
          <a:xfrm>
            <a:off x="1303230" y="2855437"/>
            <a:ext cx="958554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it-IT" sz="4000" b="1" dirty="0">
                <a:solidFill>
                  <a:srgbClr val="30303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Progettazione e sviluppo di un gestionale interno per l’ottimizzazione dei processi aziendali </a:t>
            </a:r>
            <a:endParaRPr lang="en-US" sz="4000" b="1" dirty="0">
              <a:solidFill>
                <a:srgbClr val="303030"/>
              </a:solidFill>
              <a:latin typeface="Dubai" panose="020B0503030403030204" pitchFamily="34" charset="-78"/>
              <a:ea typeface="Glacial Indifference Bold"/>
              <a:cs typeface="Dubai" panose="020B0503030403030204" pitchFamily="34" charset="-78"/>
              <a:sym typeface="Glacial Indifference Bold"/>
            </a:endParaRP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4F538699-6DD2-1786-FAF4-492737706CC8}"/>
              </a:ext>
            </a:extLst>
          </p:cNvPr>
          <p:cNvSpPr txBox="1"/>
          <p:nvPr/>
        </p:nvSpPr>
        <p:spPr>
          <a:xfrm>
            <a:off x="524800" y="5017654"/>
            <a:ext cx="4320540" cy="86177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2800" b="1" dirty="0" err="1">
                <a:solidFill>
                  <a:srgbClr val="28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Candidato</a:t>
            </a:r>
            <a:r>
              <a:rPr lang="en-US" sz="2800" b="1" dirty="0">
                <a:solidFill>
                  <a:srgbClr val="28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:</a:t>
            </a:r>
          </a:p>
          <a:p>
            <a:pPr algn="l">
              <a:spcBef>
                <a:spcPct val="0"/>
              </a:spcBef>
            </a:pPr>
            <a:r>
              <a:rPr lang="en-US" sz="2800" b="1" dirty="0">
                <a:solidFill>
                  <a:srgbClr val="28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Martin Trajkovski 335566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F9CE417C-3AEF-FFBA-5665-845D66F1F9EB}"/>
              </a:ext>
            </a:extLst>
          </p:cNvPr>
          <p:cNvSpPr txBox="1"/>
          <p:nvPr/>
        </p:nvSpPr>
        <p:spPr>
          <a:xfrm>
            <a:off x="7346660" y="5013991"/>
            <a:ext cx="4320540" cy="86177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en-US" sz="2800" b="1" dirty="0" err="1">
                <a:solidFill>
                  <a:srgbClr val="28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Relatore</a:t>
            </a:r>
            <a:r>
              <a:rPr lang="en-US" sz="2800" b="1" dirty="0">
                <a:solidFill>
                  <a:srgbClr val="28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:</a:t>
            </a:r>
          </a:p>
          <a:p>
            <a:pPr algn="r">
              <a:spcBef>
                <a:spcPct val="0"/>
              </a:spcBef>
            </a:pPr>
            <a:r>
              <a:rPr lang="en-US" sz="2800" b="1" dirty="0">
                <a:solidFill>
                  <a:srgbClr val="28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Prof. Arceri Vincenzo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2796C9C-7B0E-AD1A-897B-F21D2992F067}"/>
              </a:ext>
            </a:extLst>
          </p:cNvPr>
          <p:cNvGrpSpPr/>
          <p:nvPr/>
        </p:nvGrpSpPr>
        <p:grpSpPr>
          <a:xfrm>
            <a:off x="-1" y="6247106"/>
            <a:ext cx="12188953" cy="610894"/>
            <a:chOff x="0" y="0"/>
            <a:chExt cx="4800628" cy="24458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8E7989E-94C7-103F-0BC5-F1F4A222A3DF}"/>
                </a:ext>
              </a:extLst>
            </p:cNvPr>
            <p:cNvSpPr/>
            <p:nvPr/>
          </p:nvSpPr>
          <p:spPr>
            <a:xfrm>
              <a:off x="0" y="0"/>
              <a:ext cx="4800628" cy="244580"/>
            </a:xfrm>
            <a:custGeom>
              <a:avLst/>
              <a:gdLst/>
              <a:ahLst/>
              <a:cxnLst/>
              <a:rect l="l" t="t" r="r" b="b"/>
              <a:pathLst>
                <a:path w="4800628" h="244580">
                  <a:moveTo>
                    <a:pt x="0" y="0"/>
                  </a:moveTo>
                  <a:lnTo>
                    <a:pt x="4800628" y="0"/>
                  </a:lnTo>
                  <a:lnTo>
                    <a:pt x="4800628" y="244580"/>
                  </a:lnTo>
                  <a:lnTo>
                    <a:pt x="0" y="244580"/>
                  </a:lnTo>
                  <a:close/>
                </a:path>
              </a:pathLst>
            </a:custGeom>
            <a:solidFill>
              <a:srgbClr val="283030"/>
            </a:solidFill>
          </p:spPr>
          <p:txBody>
            <a:bodyPr/>
            <a:lstStyle/>
            <a:p>
              <a:endParaRPr lang="it-IT">
                <a:solidFill>
                  <a:srgbClr val="283030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A8E2779-D409-51C2-9902-232E1CAC3D54}"/>
                </a:ext>
              </a:extLst>
            </p:cNvPr>
            <p:cNvSpPr txBox="1"/>
            <p:nvPr/>
          </p:nvSpPr>
          <p:spPr>
            <a:xfrm>
              <a:off x="0" y="-38100"/>
              <a:ext cx="4800628" cy="282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BFB875E-47A0-A582-EB52-596FEEBECFE0}"/>
              </a:ext>
            </a:extLst>
          </p:cNvPr>
          <p:cNvSpPr txBox="1"/>
          <p:nvPr/>
        </p:nvSpPr>
        <p:spPr>
          <a:xfrm>
            <a:off x="9134856" y="6091068"/>
            <a:ext cx="2788920" cy="704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179"/>
              </a:lnSpc>
              <a:spcBef>
                <a:spcPct val="0"/>
              </a:spcBef>
            </a:pPr>
            <a:r>
              <a:rPr lang="en-US" sz="2800" b="1" dirty="0" err="1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a.a.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2023/2024</a:t>
            </a:r>
          </a:p>
        </p:txBody>
      </p:sp>
    </p:spTree>
    <p:extLst>
      <p:ext uri="{BB962C8B-B14F-4D97-AF65-F5344CB8AC3E}">
        <p14:creationId xmlns:p14="http://schemas.microsoft.com/office/powerpoint/2010/main" val="2987023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6461C-CEAF-9935-F64D-E717E8963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 descr="Immagine che contiene neve&#10;&#10;Il contenuto generato dall'IA potrebbe non essere corretto.">
            <a:extLst>
              <a:ext uri="{FF2B5EF4-FFF2-40B4-BE49-F238E27FC236}">
                <a16:creationId xmlns:a16="http://schemas.microsoft.com/office/drawing/2014/main" id="{F0D79ED3-A6F5-172A-DB79-ACA33AD6A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" y="0"/>
            <a:ext cx="12185904" cy="6858000"/>
          </a:xfrm>
          <a:prstGeom prst="rect">
            <a:avLst/>
          </a:prstGeom>
        </p:spPr>
      </p:pic>
      <p:sp>
        <p:nvSpPr>
          <p:cNvPr id="35" name="Ovale 34">
            <a:extLst>
              <a:ext uri="{FF2B5EF4-FFF2-40B4-BE49-F238E27FC236}">
                <a16:creationId xmlns:a16="http://schemas.microsoft.com/office/drawing/2014/main" id="{45B041E6-E49C-EB41-96BC-C920BE553F5A}"/>
              </a:ext>
            </a:extLst>
          </p:cNvPr>
          <p:cNvSpPr/>
          <p:nvPr/>
        </p:nvSpPr>
        <p:spPr>
          <a:xfrm>
            <a:off x="10178796" y="3530248"/>
            <a:ext cx="1225296" cy="113157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903B7220-5781-1206-C9A2-F01585CE0796}"/>
              </a:ext>
            </a:extLst>
          </p:cNvPr>
          <p:cNvSpPr/>
          <p:nvPr/>
        </p:nvSpPr>
        <p:spPr>
          <a:xfrm>
            <a:off x="3918204" y="3540311"/>
            <a:ext cx="1225296" cy="113157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C22FF1AD-1CFE-D810-1D48-B1F60173EEDA}"/>
              </a:ext>
            </a:extLst>
          </p:cNvPr>
          <p:cNvSpPr/>
          <p:nvPr/>
        </p:nvSpPr>
        <p:spPr>
          <a:xfrm>
            <a:off x="7048500" y="3537868"/>
            <a:ext cx="1225296" cy="113157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it-IT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DABC99D9-3A19-2E81-58E3-5386DABD5711}"/>
              </a:ext>
            </a:extLst>
          </p:cNvPr>
          <p:cNvGrpSpPr/>
          <p:nvPr/>
        </p:nvGrpSpPr>
        <p:grpSpPr>
          <a:xfrm>
            <a:off x="-1" y="6247106"/>
            <a:ext cx="12188953" cy="610894"/>
            <a:chOff x="0" y="0"/>
            <a:chExt cx="4800628" cy="244580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4A61AA15-A4C9-8ED5-95E9-31F506448DA5}"/>
                </a:ext>
              </a:extLst>
            </p:cNvPr>
            <p:cNvSpPr/>
            <p:nvPr/>
          </p:nvSpPr>
          <p:spPr>
            <a:xfrm>
              <a:off x="0" y="0"/>
              <a:ext cx="4800628" cy="244580"/>
            </a:xfrm>
            <a:custGeom>
              <a:avLst/>
              <a:gdLst/>
              <a:ahLst/>
              <a:cxnLst/>
              <a:rect l="l" t="t" r="r" b="b"/>
              <a:pathLst>
                <a:path w="4800628" h="244580">
                  <a:moveTo>
                    <a:pt x="0" y="0"/>
                  </a:moveTo>
                  <a:lnTo>
                    <a:pt x="4800628" y="0"/>
                  </a:lnTo>
                  <a:lnTo>
                    <a:pt x="4800628" y="244580"/>
                  </a:lnTo>
                  <a:lnTo>
                    <a:pt x="0" y="244580"/>
                  </a:lnTo>
                  <a:close/>
                </a:path>
              </a:pathLst>
            </a:custGeom>
            <a:solidFill>
              <a:srgbClr val="283030"/>
            </a:solidFill>
          </p:spPr>
          <p:txBody>
            <a:bodyPr/>
            <a:lstStyle/>
            <a:p>
              <a:endParaRPr lang="it-IT">
                <a:solidFill>
                  <a:srgbClr val="283030"/>
                </a:solidFill>
              </a:endParaRPr>
            </a:p>
          </p:txBody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67E28466-C058-7CD9-184E-6B496E25D0CE}"/>
                </a:ext>
              </a:extLst>
            </p:cNvPr>
            <p:cNvSpPr txBox="1"/>
            <p:nvPr/>
          </p:nvSpPr>
          <p:spPr>
            <a:xfrm>
              <a:off x="0" y="-38100"/>
              <a:ext cx="4800628" cy="282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7" name="Picture 34">
            <a:extLst>
              <a:ext uri="{FF2B5EF4-FFF2-40B4-BE49-F238E27FC236}">
                <a16:creationId xmlns:a16="http://schemas.microsoft.com/office/drawing/2014/main" id="{008D7ADE-5673-044E-7DF6-2928E070EF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9593" y="6247106"/>
            <a:ext cx="1989763" cy="630092"/>
          </a:xfrm>
          <a:prstGeom prst="rect">
            <a:avLst/>
          </a:prstGeom>
        </p:spPr>
      </p:pic>
      <p:sp>
        <p:nvSpPr>
          <p:cNvPr id="8" name="TextBox 40">
            <a:extLst>
              <a:ext uri="{FF2B5EF4-FFF2-40B4-BE49-F238E27FC236}">
                <a16:creationId xmlns:a16="http://schemas.microsoft.com/office/drawing/2014/main" id="{553CA24F-66D5-6BF3-ADBC-7C3FAA536514}"/>
              </a:ext>
            </a:extLst>
          </p:cNvPr>
          <p:cNvSpPr txBox="1"/>
          <p:nvPr/>
        </p:nvSpPr>
        <p:spPr>
          <a:xfrm>
            <a:off x="5890161" y="6078583"/>
            <a:ext cx="408626" cy="6775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3434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CAACFC55-E4B8-CA59-4F4C-113D9EA20B92}"/>
              </a:ext>
            </a:extLst>
          </p:cNvPr>
          <p:cNvSpPr txBox="1"/>
          <p:nvPr/>
        </p:nvSpPr>
        <p:spPr>
          <a:xfrm>
            <a:off x="9134856" y="6091068"/>
            <a:ext cx="2788920" cy="704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179"/>
              </a:lnSpc>
              <a:spcBef>
                <a:spcPct val="0"/>
              </a:spcBef>
            </a:pPr>
            <a:r>
              <a:rPr lang="en-US" sz="2800" b="1" dirty="0" err="1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a.a.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2023/2024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ED34210E-365D-6183-DC9C-A1A1B960F196}"/>
              </a:ext>
            </a:extLst>
          </p:cNvPr>
          <p:cNvSpPr txBox="1"/>
          <p:nvPr/>
        </p:nvSpPr>
        <p:spPr>
          <a:xfrm>
            <a:off x="268224" y="6338252"/>
            <a:ext cx="4320540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Martin Trajkovski 335566</a:t>
            </a:r>
          </a:p>
        </p:txBody>
      </p:sp>
      <p:pic>
        <p:nvPicPr>
          <p:cNvPr id="12" name="Immagine 11" descr="Immagine che contiene Elementi grafici, simbolo, grafica&#10;&#10;Il contenuto generato dall'IA potrebbe non essere corretto.">
            <a:extLst>
              <a:ext uri="{FF2B5EF4-FFF2-40B4-BE49-F238E27FC236}">
                <a16:creationId xmlns:a16="http://schemas.microsoft.com/office/drawing/2014/main" id="{39B341A0-97A8-CE6A-67AD-DB5DAB170E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0" y="870710"/>
            <a:ext cx="1905000" cy="1905000"/>
          </a:xfrm>
          <a:prstGeom prst="rect">
            <a:avLst/>
          </a:prstGeom>
        </p:spPr>
      </p:pic>
      <p:pic>
        <p:nvPicPr>
          <p:cNvPr id="23" name="Immagine 22" descr="Immagine che contiene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22A439A0-B986-42B6-6CB6-36D86BCCEE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5491" y="3827709"/>
            <a:ext cx="750722" cy="536649"/>
          </a:xfrm>
          <a:prstGeom prst="rect">
            <a:avLst/>
          </a:prstGeom>
        </p:spPr>
      </p:pic>
      <p:pic>
        <p:nvPicPr>
          <p:cNvPr id="28" name="Immagine 27" descr="Immagine che contiene schermata, nero, design&#10;&#10;Il contenuto generato dall'IA potrebbe non essere corretto.">
            <a:extLst>
              <a:ext uri="{FF2B5EF4-FFF2-40B4-BE49-F238E27FC236}">
                <a16:creationId xmlns:a16="http://schemas.microsoft.com/office/drawing/2014/main" id="{EEFC6D92-7ADF-1D0B-F6EF-17DBD73C3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1342" y="3767435"/>
            <a:ext cx="679612" cy="679612"/>
          </a:xfrm>
          <a:prstGeom prst="rect">
            <a:avLst/>
          </a:prstGeom>
        </p:spPr>
      </p:pic>
      <p:pic>
        <p:nvPicPr>
          <p:cNvPr id="32" name="Immagine 31">
            <a:extLst>
              <a:ext uri="{FF2B5EF4-FFF2-40B4-BE49-F238E27FC236}">
                <a16:creationId xmlns:a16="http://schemas.microsoft.com/office/drawing/2014/main" id="{75099E37-15F0-905D-560C-E8986E5EBCB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26793" b="24221"/>
          <a:stretch/>
        </p:blipFill>
        <p:spPr>
          <a:xfrm>
            <a:off x="10314871" y="3862577"/>
            <a:ext cx="953145" cy="466911"/>
          </a:xfrm>
          <a:prstGeom prst="rect">
            <a:avLst/>
          </a:prstGeom>
        </p:spPr>
      </p:pic>
      <p:sp>
        <p:nvSpPr>
          <p:cNvPr id="36" name="Ovale 35">
            <a:extLst>
              <a:ext uri="{FF2B5EF4-FFF2-40B4-BE49-F238E27FC236}">
                <a16:creationId xmlns:a16="http://schemas.microsoft.com/office/drawing/2014/main" id="{41FEEA17-6EB9-1686-9866-A7034872B7E2}"/>
              </a:ext>
            </a:extLst>
          </p:cNvPr>
          <p:cNvSpPr/>
          <p:nvPr/>
        </p:nvSpPr>
        <p:spPr>
          <a:xfrm>
            <a:off x="787908" y="3530248"/>
            <a:ext cx="1225296" cy="113157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25" name="Immagine 24" descr="Immagine che contiene cerchio, schermata, ingranaggio, design&#10;&#10;Il contenuto generato dall'IA potrebbe non essere corretto.">
            <a:extLst>
              <a:ext uri="{FF2B5EF4-FFF2-40B4-BE49-F238E27FC236}">
                <a16:creationId xmlns:a16="http://schemas.microsoft.com/office/drawing/2014/main" id="{A9D0DF42-A531-3AD2-7392-943681FCD1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8637" y="3784652"/>
            <a:ext cx="641737" cy="641737"/>
          </a:xfrm>
          <a:prstGeom prst="rect">
            <a:avLst/>
          </a:prstGeom>
        </p:spPr>
      </p:pic>
      <p:sp>
        <p:nvSpPr>
          <p:cNvPr id="42" name="TextBox 11">
            <a:extLst>
              <a:ext uri="{FF2B5EF4-FFF2-40B4-BE49-F238E27FC236}">
                <a16:creationId xmlns:a16="http://schemas.microsoft.com/office/drawing/2014/main" id="{DEBCE80C-32D9-C8A1-4C28-079EE06FA2ED}"/>
              </a:ext>
            </a:extLst>
          </p:cNvPr>
          <p:cNvSpPr txBox="1"/>
          <p:nvPr/>
        </p:nvSpPr>
        <p:spPr>
          <a:xfrm>
            <a:off x="3048" y="258284"/>
            <a:ext cx="1218895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it-IT" sz="40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DIEFFETECH</a:t>
            </a:r>
            <a:endParaRPr lang="en-US" sz="4000" b="1" dirty="0">
              <a:solidFill>
                <a:srgbClr val="303030"/>
              </a:solidFill>
              <a:latin typeface="Dubai" panose="020B0503030403030204" pitchFamily="34" charset="-78"/>
              <a:ea typeface="Glacial Indifference Bold"/>
              <a:cs typeface="Dubai" panose="020B0503030403030204" pitchFamily="34" charset="-78"/>
              <a:sym typeface="Glacial Indifference Bold"/>
            </a:endParaRPr>
          </a:p>
        </p:txBody>
      </p:sp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602B2574-FD00-D21F-BB84-8C3FF2BFC598}"/>
              </a:ext>
            </a:extLst>
          </p:cNvPr>
          <p:cNvCxnSpPr>
            <a:stCxn id="12" idx="2"/>
          </p:cNvCxnSpPr>
          <p:nvPr/>
        </p:nvCxnSpPr>
        <p:spPr>
          <a:xfrm flipH="1">
            <a:off x="6094474" y="2775710"/>
            <a:ext cx="1526" cy="2783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diritto 46">
            <a:extLst>
              <a:ext uri="{FF2B5EF4-FFF2-40B4-BE49-F238E27FC236}">
                <a16:creationId xmlns:a16="http://schemas.microsoft.com/office/drawing/2014/main" id="{BE13E8F8-7990-C600-E337-F6681AE78D2E}"/>
              </a:ext>
            </a:extLst>
          </p:cNvPr>
          <p:cNvCxnSpPr>
            <a:cxnSpLocks/>
          </p:cNvCxnSpPr>
          <p:nvPr/>
        </p:nvCxnSpPr>
        <p:spPr>
          <a:xfrm>
            <a:off x="1400556" y="3054096"/>
            <a:ext cx="93908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diritto 49">
            <a:extLst>
              <a:ext uri="{FF2B5EF4-FFF2-40B4-BE49-F238E27FC236}">
                <a16:creationId xmlns:a16="http://schemas.microsoft.com/office/drawing/2014/main" id="{410D94B4-6F18-D799-8B97-E01E73963060}"/>
              </a:ext>
            </a:extLst>
          </p:cNvPr>
          <p:cNvCxnSpPr/>
          <p:nvPr/>
        </p:nvCxnSpPr>
        <p:spPr>
          <a:xfrm flipH="1">
            <a:off x="1399030" y="3044952"/>
            <a:ext cx="1526" cy="2783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diritto 50">
            <a:extLst>
              <a:ext uri="{FF2B5EF4-FFF2-40B4-BE49-F238E27FC236}">
                <a16:creationId xmlns:a16="http://schemas.microsoft.com/office/drawing/2014/main" id="{FA8A1C78-2379-B104-AE27-AB45F9BD0271}"/>
              </a:ext>
            </a:extLst>
          </p:cNvPr>
          <p:cNvCxnSpPr/>
          <p:nvPr/>
        </p:nvCxnSpPr>
        <p:spPr>
          <a:xfrm flipH="1">
            <a:off x="4529326" y="3057362"/>
            <a:ext cx="1526" cy="2783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diritto 51">
            <a:extLst>
              <a:ext uri="{FF2B5EF4-FFF2-40B4-BE49-F238E27FC236}">
                <a16:creationId xmlns:a16="http://schemas.microsoft.com/office/drawing/2014/main" id="{2544E597-6EF1-724A-DEEB-8EA9A2A75287}"/>
              </a:ext>
            </a:extLst>
          </p:cNvPr>
          <p:cNvCxnSpPr/>
          <p:nvPr/>
        </p:nvCxnSpPr>
        <p:spPr>
          <a:xfrm flipH="1">
            <a:off x="7656574" y="3057362"/>
            <a:ext cx="1526" cy="2783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diritto 52">
            <a:extLst>
              <a:ext uri="{FF2B5EF4-FFF2-40B4-BE49-F238E27FC236}">
                <a16:creationId xmlns:a16="http://schemas.microsoft.com/office/drawing/2014/main" id="{E980966F-D70B-E3C7-5ACC-1C3F13CDE177}"/>
              </a:ext>
            </a:extLst>
          </p:cNvPr>
          <p:cNvCxnSpPr/>
          <p:nvPr/>
        </p:nvCxnSpPr>
        <p:spPr>
          <a:xfrm flipH="1">
            <a:off x="10782296" y="3057362"/>
            <a:ext cx="1526" cy="2783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Immagine 55" descr="Immagine che contiene Carattere, Elementi grafici, cerchio, simbolo&#10;&#10;Il contenuto generato dall'IA potrebbe non essere corretto.">
            <a:extLst>
              <a:ext uri="{FF2B5EF4-FFF2-40B4-BE49-F238E27FC236}">
                <a16:creationId xmlns:a16="http://schemas.microsoft.com/office/drawing/2014/main" id="{1888915D-4893-5F94-0CF0-10184E8FC95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3874" y="7301777"/>
            <a:ext cx="1201811" cy="1465064"/>
          </a:xfrm>
          <a:prstGeom prst="rect">
            <a:avLst/>
          </a:prstGeom>
        </p:spPr>
      </p:pic>
      <p:pic>
        <p:nvPicPr>
          <p:cNvPr id="57" name="Immagine 56" descr="Immagine che contiene Elementi grafici, Carattere, design, logo">
            <a:extLst>
              <a:ext uri="{FF2B5EF4-FFF2-40B4-BE49-F238E27FC236}">
                <a16:creationId xmlns:a16="http://schemas.microsoft.com/office/drawing/2014/main" id="{4C823EB5-E604-BC11-BDA5-800A84BC5E53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29933" b="34545"/>
          <a:stretch/>
        </p:blipFill>
        <p:spPr>
          <a:xfrm>
            <a:off x="846448" y="7705819"/>
            <a:ext cx="3971678" cy="1058741"/>
          </a:xfrm>
          <a:prstGeom prst="rect">
            <a:avLst/>
          </a:prstGeom>
        </p:spPr>
      </p:pic>
      <p:sp>
        <p:nvSpPr>
          <p:cNvPr id="5" name="Freeform 7">
            <a:extLst>
              <a:ext uri="{FF2B5EF4-FFF2-40B4-BE49-F238E27FC236}">
                <a16:creationId xmlns:a16="http://schemas.microsoft.com/office/drawing/2014/main" id="{D98483A1-9E2E-940C-9CCD-1F7468C0EFDF}"/>
              </a:ext>
            </a:extLst>
          </p:cNvPr>
          <p:cNvSpPr/>
          <p:nvPr/>
        </p:nvSpPr>
        <p:spPr>
          <a:xfrm>
            <a:off x="11500808" y="80"/>
            <a:ext cx="691192" cy="593848"/>
          </a:xfrm>
          <a:custGeom>
            <a:avLst/>
            <a:gdLst/>
            <a:ahLst/>
            <a:cxnLst/>
            <a:rect l="l" t="t" r="r" b="b"/>
            <a:pathLst>
              <a:path w="3573314" h="3232998">
                <a:moveTo>
                  <a:pt x="0" y="0"/>
                </a:moveTo>
                <a:lnTo>
                  <a:pt x="3573314" y="0"/>
                </a:lnTo>
                <a:lnTo>
                  <a:pt x="3573314" y="3232998"/>
                </a:lnTo>
                <a:lnTo>
                  <a:pt x="0" y="32329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/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21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78A4D-64EA-3652-E1CA-38A6327EE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 descr="Immagine che contiene neve&#10;&#10;Il contenuto generato dall'IA potrebbe non essere corretto.">
            <a:extLst>
              <a:ext uri="{FF2B5EF4-FFF2-40B4-BE49-F238E27FC236}">
                <a16:creationId xmlns:a16="http://schemas.microsoft.com/office/drawing/2014/main" id="{98750A88-E5CE-130E-0038-CD02986BC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" y="0"/>
            <a:ext cx="12185904" cy="6858000"/>
          </a:xfrm>
          <a:prstGeom prst="rect">
            <a:avLst/>
          </a:prstGeom>
        </p:spPr>
      </p:pic>
      <p:pic>
        <p:nvPicPr>
          <p:cNvPr id="2" name="Immagine 1" descr="Immagine che contiene Carattere, Elementi grafici, cerchio, simbolo&#10;&#10;Il contenuto generato dall'IA potrebbe non essere corretto.">
            <a:extLst>
              <a:ext uri="{FF2B5EF4-FFF2-40B4-BE49-F238E27FC236}">
                <a16:creationId xmlns:a16="http://schemas.microsoft.com/office/drawing/2014/main" id="{742F6471-5151-C55D-68C7-B2511D8046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3874" y="2920277"/>
            <a:ext cx="1201811" cy="1465064"/>
          </a:xfrm>
          <a:prstGeom prst="rect">
            <a:avLst/>
          </a:prstGeom>
        </p:spPr>
      </p:pic>
      <p:grpSp>
        <p:nvGrpSpPr>
          <p:cNvPr id="4" name="Group 4">
            <a:extLst>
              <a:ext uri="{FF2B5EF4-FFF2-40B4-BE49-F238E27FC236}">
                <a16:creationId xmlns:a16="http://schemas.microsoft.com/office/drawing/2014/main" id="{C5F0BC06-C0F6-2DF7-E476-2223BC4A6B68}"/>
              </a:ext>
            </a:extLst>
          </p:cNvPr>
          <p:cNvGrpSpPr/>
          <p:nvPr/>
        </p:nvGrpSpPr>
        <p:grpSpPr>
          <a:xfrm>
            <a:off x="-1" y="6247106"/>
            <a:ext cx="12188953" cy="610894"/>
            <a:chOff x="0" y="0"/>
            <a:chExt cx="4800628" cy="24458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F44A3D3-67DF-CC7D-CD8F-5A46E3FE2939}"/>
                </a:ext>
              </a:extLst>
            </p:cNvPr>
            <p:cNvSpPr/>
            <p:nvPr/>
          </p:nvSpPr>
          <p:spPr>
            <a:xfrm>
              <a:off x="0" y="0"/>
              <a:ext cx="4800628" cy="244580"/>
            </a:xfrm>
            <a:custGeom>
              <a:avLst/>
              <a:gdLst/>
              <a:ahLst/>
              <a:cxnLst/>
              <a:rect l="l" t="t" r="r" b="b"/>
              <a:pathLst>
                <a:path w="4800628" h="244580">
                  <a:moveTo>
                    <a:pt x="0" y="0"/>
                  </a:moveTo>
                  <a:lnTo>
                    <a:pt x="4800628" y="0"/>
                  </a:lnTo>
                  <a:lnTo>
                    <a:pt x="4800628" y="244580"/>
                  </a:lnTo>
                  <a:lnTo>
                    <a:pt x="0" y="244580"/>
                  </a:lnTo>
                  <a:close/>
                </a:path>
              </a:pathLst>
            </a:custGeom>
            <a:solidFill>
              <a:srgbClr val="283030"/>
            </a:solidFill>
          </p:spPr>
          <p:txBody>
            <a:bodyPr/>
            <a:lstStyle/>
            <a:p>
              <a:endParaRPr lang="it-IT">
                <a:solidFill>
                  <a:srgbClr val="283030"/>
                </a:solidFill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544DDAF-409C-7E3A-59A9-31EF4D76CB92}"/>
                </a:ext>
              </a:extLst>
            </p:cNvPr>
            <p:cNvSpPr txBox="1"/>
            <p:nvPr/>
          </p:nvSpPr>
          <p:spPr>
            <a:xfrm>
              <a:off x="0" y="-38100"/>
              <a:ext cx="4800628" cy="282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10">
            <a:extLst>
              <a:ext uri="{FF2B5EF4-FFF2-40B4-BE49-F238E27FC236}">
                <a16:creationId xmlns:a16="http://schemas.microsoft.com/office/drawing/2014/main" id="{2387ED99-B6B4-8676-663A-49E34643B4F8}"/>
              </a:ext>
            </a:extLst>
          </p:cNvPr>
          <p:cNvSpPr txBox="1"/>
          <p:nvPr/>
        </p:nvSpPr>
        <p:spPr>
          <a:xfrm>
            <a:off x="9134856" y="6091068"/>
            <a:ext cx="2788920" cy="704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179"/>
              </a:lnSpc>
              <a:spcBef>
                <a:spcPct val="0"/>
              </a:spcBef>
            </a:pPr>
            <a:r>
              <a:rPr lang="en-US" sz="2800" b="1" dirty="0" err="1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a.a.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2023/2024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2FD12BB-650F-B6D1-D3F7-858EA395C2D5}"/>
              </a:ext>
            </a:extLst>
          </p:cNvPr>
          <p:cNvSpPr txBox="1"/>
          <p:nvPr/>
        </p:nvSpPr>
        <p:spPr>
          <a:xfrm>
            <a:off x="268224" y="6338252"/>
            <a:ext cx="4320540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Martin Trajkovski 335566</a:t>
            </a:r>
          </a:p>
        </p:txBody>
      </p:sp>
      <p:pic>
        <p:nvPicPr>
          <p:cNvPr id="9" name="Picture 34">
            <a:extLst>
              <a:ext uri="{FF2B5EF4-FFF2-40B4-BE49-F238E27FC236}">
                <a16:creationId xmlns:a16="http://schemas.microsoft.com/office/drawing/2014/main" id="{E160CD72-F1EC-4341-B787-D4ADD143D8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9593" y="6247106"/>
            <a:ext cx="1989763" cy="630092"/>
          </a:xfrm>
          <a:prstGeom prst="rect">
            <a:avLst/>
          </a:prstGeom>
        </p:spPr>
      </p:pic>
      <p:sp>
        <p:nvSpPr>
          <p:cNvPr id="10" name="TextBox 40">
            <a:extLst>
              <a:ext uri="{FF2B5EF4-FFF2-40B4-BE49-F238E27FC236}">
                <a16:creationId xmlns:a16="http://schemas.microsoft.com/office/drawing/2014/main" id="{CBAFE73B-29F9-5A6A-7A41-176C4DFA5FB1}"/>
              </a:ext>
            </a:extLst>
          </p:cNvPr>
          <p:cNvSpPr txBox="1"/>
          <p:nvPr/>
        </p:nvSpPr>
        <p:spPr>
          <a:xfrm>
            <a:off x="5890161" y="6078583"/>
            <a:ext cx="408626" cy="6775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34343"/>
                </a:solidFill>
                <a:latin typeface="Glacial Indifference Bold"/>
                <a:ea typeface="Glacial Indifference Bold"/>
                <a:cs typeface="Dubai" panose="020B0503030403030204" pitchFamily="34" charset="-78"/>
                <a:sym typeface="Glacial Indifference Bold"/>
              </a:rPr>
              <a:t>2</a:t>
            </a:r>
          </a:p>
        </p:txBody>
      </p:sp>
      <p:pic>
        <p:nvPicPr>
          <p:cNvPr id="14" name="Immagine 13" descr="Immagine che contiene Elementi grafici, Carattere, design, logo">
            <a:extLst>
              <a:ext uri="{FF2B5EF4-FFF2-40B4-BE49-F238E27FC236}">
                <a16:creationId xmlns:a16="http://schemas.microsoft.com/office/drawing/2014/main" id="{827CCB71-F289-88B4-FE47-0E273387543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9933" b="34545"/>
          <a:stretch/>
        </p:blipFill>
        <p:spPr>
          <a:xfrm>
            <a:off x="846448" y="3324319"/>
            <a:ext cx="3971678" cy="1058741"/>
          </a:xfrm>
          <a:prstGeom prst="rect">
            <a:avLst/>
          </a:prstGeom>
        </p:spPr>
      </p:pic>
      <p:pic>
        <p:nvPicPr>
          <p:cNvPr id="17" name="Immagine 16" descr="Immagine che contiene Elementi grafici, simbolo, grafica&#10;&#10;Il contenuto generato dall'IA potrebbe non essere corretto.">
            <a:extLst>
              <a:ext uri="{FF2B5EF4-FFF2-40B4-BE49-F238E27FC236}">
                <a16:creationId xmlns:a16="http://schemas.microsoft.com/office/drawing/2014/main" id="{486C0CB1-9B92-37F6-840D-171BFCAB44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126" y="131790"/>
            <a:ext cx="2555748" cy="2555748"/>
          </a:xfrm>
          <a:prstGeom prst="rect">
            <a:avLst/>
          </a:prstGeom>
        </p:spPr>
      </p:pic>
      <p:sp>
        <p:nvSpPr>
          <p:cNvPr id="19" name="Ovale 18">
            <a:extLst>
              <a:ext uri="{FF2B5EF4-FFF2-40B4-BE49-F238E27FC236}">
                <a16:creationId xmlns:a16="http://schemas.microsoft.com/office/drawing/2014/main" id="{7902440B-23D6-3DEF-D678-9E6C472E2010}"/>
              </a:ext>
            </a:extLst>
          </p:cNvPr>
          <p:cNvSpPr/>
          <p:nvPr/>
        </p:nvSpPr>
        <p:spPr>
          <a:xfrm>
            <a:off x="16162648" y="3512564"/>
            <a:ext cx="1225296" cy="113157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9DF3758A-B229-ACD5-BC16-D24CFC0296BE}"/>
              </a:ext>
            </a:extLst>
          </p:cNvPr>
          <p:cNvSpPr/>
          <p:nvPr/>
        </p:nvSpPr>
        <p:spPr>
          <a:xfrm>
            <a:off x="-2501646" y="3530247"/>
            <a:ext cx="1225296" cy="113157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86927E47-D607-A3D2-9E5C-81857CD2B126}"/>
              </a:ext>
            </a:extLst>
          </p:cNvPr>
          <p:cNvSpPr/>
          <p:nvPr/>
        </p:nvSpPr>
        <p:spPr>
          <a:xfrm>
            <a:off x="13032352" y="3520184"/>
            <a:ext cx="1225296" cy="113157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22" name="Immagine 21" descr="Immagine che contiene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4F69DF08-F9E0-C0C7-9CE8-D08BF725A2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264359" y="3817645"/>
            <a:ext cx="750722" cy="536649"/>
          </a:xfrm>
          <a:prstGeom prst="rect">
            <a:avLst/>
          </a:prstGeom>
        </p:spPr>
      </p:pic>
      <p:pic>
        <p:nvPicPr>
          <p:cNvPr id="23" name="Immagine 22" descr="Immagine che contiene schermata, nero, design&#10;&#10;Il contenuto generato dall'IA potrebbe non essere corretto.">
            <a:extLst>
              <a:ext uri="{FF2B5EF4-FFF2-40B4-BE49-F238E27FC236}">
                <a16:creationId xmlns:a16="http://schemas.microsoft.com/office/drawing/2014/main" id="{69AB765C-CCB5-87DA-74C0-27E5B33ADF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05194" y="3749751"/>
            <a:ext cx="679612" cy="679612"/>
          </a:xfrm>
          <a:prstGeom prst="rect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99090C89-F285-FB54-FE63-974DA10EC88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6793" b="24221"/>
          <a:stretch/>
        </p:blipFill>
        <p:spPr>
          <a:xfrm>
            <a:off x="16298723" y="3844893"/>
            <a:ext cx="953145" cy="466911"/>
          </a:xfrm>
          <a:prstGeom prst="rect">
            <a:avLst/>
          </a:prstGeom>
        </p:spPr>
      </p:pic>
      <p:sp>
        <p:nvSpPr>
          <p:cNvPr id="25" name="Ovale 24">
            <a:extLst>
              <a:ext uri="{FF2B5EF4-FFF2-40B4-BE49-F238E27FC236}">
                <a16:creationId xmlns:a16="http://schemas.microsoft.com/office/drawing/2014/main" id="{C20ECAAA-21BE-604D-C662-8D584D1BFA56}"/>
              </a:ext>
            </a:extLst>
          </p:cNvPr>
          <p:cNvSpPr/>
          <p:nvPr/>
        </p:nvSpPr>
        <p:spPr>
          <a:xfrm>
            <a:off x="-5631942" y="3520184"/>
            <a:ext cx="1225296" cy="113157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26" name="Immagine 25" descr="Immagine che contiene cerchio, schermata, ingranaggio, design&#10;&#10;Il contenuto generato dall'IA potrebbe non essere corretto.">
            <a:extLst>
              <a:ext uri="{FF2B5EF4-FFF2-40B4-BE49-F238E27FC236}">
                <a16:creationId xmlns:a16="http://schemas.microsoft.com/office/drawing/2014/main" id="{0B0CCA62-4AC5-4B4C-9BA0-4031EA60D9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5301213" y="3774588"/>
            <a:ext cx="641737" cy="641737"/>
          </a:xfrm>
          <a:prstGeom prst="rect">
            <a:avLst/>
          </a:prstGeom>
        </p:spPr>
      </p:pic>
      <p:sp>
        <p:nvSpPr>
          <p:cNvPr id="28" name="TextBox 11">
            <a:extLst>
              <a:ext uri="{FF2B5EF4-FFF2-40B4-BE49-F238E27FC236}">
                <a16:creationId xmlns:a16="http://schemas.microsoft.com/office/drawing/2014/main" id="{42797122-61A6-D94A-DB07-EFAC7EA2F255}"/>
              </a:ext>
            </a:extLst>
          </p:cNvPr>
          <p:cNvSpPr txBox="1"/>
          <p:nvPr/>
        </p:nvSpPr>
        <p:spPr>
          <a:xfrm>
            <a:off x="13370842" y="1139833"/>
            <a:ext cx="7106384" cy="4201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sz="2800" dirty="0" err="1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Eloquent</a:t>
            </a:r>
            <a:r>
              <a:rPr lang="it-IT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ORM </a:t>
            </a:r>
            <a:r>
              <a:rPr lang="it-IT" sz="2800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(</a:t>
            </a:r>
            <a:r>
              <a:rPr lang="it-IT" sz="2800" i="0" dirty="0" err="1">
                <a:solidFill>
                  <a:srgbClr val="040C2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object</a:t>
            </a:r>
            <a:r>
              <a:rPr lang="it-IT" sz="2800" i="0" dirty="0">
                <a:solidFill>
                  <a:srgbClr val="040C2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2800" i="0" dirty="0" err="1">
                <a:solidFill>
                  <a:srgbClr val="040C2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relational</a:t>
            </a:r>
            <a:r>
              <a:rPr lang="it-IT" sz="2800" i="0" dirty="0">
                <a:solidFill>
                  <a:srgbClr val="040C2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mapper)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sz="2800" dirty="0" err="1">
                <a:solidFill>
                  <a:srgbClr val="040C28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Laravel</a:t>
            </a:r>
            <a:r>
              <a:rPr lang="it-IT" sz="2800" b="1" dirty="0">
                <a:solidFill>
                  <a:srgbClr val="040C28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</a:t>
            </a:r>
            <a:r>
              <a:rPr lang="it-IT" sz="2800" b="1" dirty="0" err="1">
                <a:solidFill>
                  <a:srgbClr val="040C28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Sail</a:t>
            </a:r>
            <a:endParaRPr lang="it-IT" sz="2800" b="1" dirty="0">
              <a:solidFill>
                <a:srgbClr val="040C28"/>
              </a:solidFill>
              <a:latin typeface="Dubai" panose="020B0503030403030204" pitchFamily="34" charset="-78"/>
              <a:ea typeface="Glacial Indifference Bold"/>
              <a:cs typeface="Dubai" panose="020B0503030403030204" pitchFamily="34" charset="-78"/>
              <a:sym typeface="Glacial Indifference Bold"/>
            </a:endParaRP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sz="2800" dirty="0" err="1">
                <a:solidFill>
                  <a:srgbClr val="040C28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Laravel</a:t>
            </a:r>
            <a:r>
              <a:rPr lang="it-IT" sz="2800" b="1" dirty="0">
                <a:solidFill>
                  <a:srgbClr val="040C28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</a:t>
            </a:r>
            <a:r>
              <a:rPr lang="it-IT" sz="2800" b="1" dirty="0" err="1">
                <a:solidFill>
                  <a:srgbClr val="040C28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Sanctum</a:t>
            </a:r>
            <a:endParaRPr lang="it-IT" sz="2800" b="1" dirty="0">
              <a:solidFill>
                <a:srgbClr val="040C28"/>
              </a:solidFill>
              <a:latin typeface="Dubai" panose="020B0503030403030204" pitchFamily="34" charset="-78"/>
              <a:ea typeface="Glacial Indifference Bold"/>
              <a:cs typeface="Dubai" panose="020B0503030403030204" pitchFamily="34" charset="-78"/>
              <a:sym typeface="Glacial Indifference Bold"/>
            </a:endParaRP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sz="2800" b="1" dirty="0" err="1">
                <a:solidFill>
                  <a:srgbClr val="040C28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Telescope</a:t>
            </a:r>
            <a:endParaRPr lang="it-IT" sz="2800" b="1" dirty="0">
              <a:solidFill>
                <a:srgbClr val="040C28"/>
              </a:solidFill>
              <a:latin typeface="Dubai" panose="020B0503030403030204" pitchFamily="34" charset="-78"/>
              <a:ea typeface="Glacial Indifference Bold"/>
              <a:cs typeface="Dubai" panose="020B0503030403030204" pitchFamily="34" charset="-78"/>
              <a:sym typeface="Glacial Indifference Bold"/>
            </a:endParaRP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Comandi</a:t>
            </a:r>
            <a:r>
              <a:rPr lang="en-US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CRUD</a:t>
            </a: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7B933156-39A5-F64B-B382-265C7FEAFACB}"/>
              </a:ext>
            </a:extLst>
          </p:cNvPr>
          <p:cNvSpPr/>
          <p:nvPr/>
        </p:nvSpPr>
        <p:spPr>
          <a:xfrm>
            <a:off x="11500808" y="80"/>
            <a:ext cx="691192" cy="593848"/>
          </a:xfrm>
          <a:custGeom>
            <a:avLst/>
            <a:gdLst/>
            <a:ahLst/>
            <a:cxnLst/>
            <a:rect l="l" t="t" r="r" b="b"/>
            <a:pathLst>
              <a:path w="3573314" h="3232998">
                <a:moveTo>
                  <a:pt x="0" y="0"/>
                </a:moveTo>
                <a:lnTo>
                  <a:pt x="3573314" y="0"/>
                </a:lnTo>
                <a:lnTo>
                  <a:pt x="3573314" y="3232998"/>
                </a:lnTo>
                <a:lnTo>
                  <a:pt x="0" y="32329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/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464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78D1F-FCA2-FEC5-4796-EDD7C8D52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 descr="Immagine che contiene neve&#10;&#10;Il contenuto generato dall'IA potrebbe non essere corretto.">
            <a:extLst>
              <a:ext uri="{FF2B5EF4-FFF2-40B4-BE49-F238E27FC236}">
                <a16:creationId xmlns:a16="http://schemas.microsoft.com/office/drawing/2014/main" id="{BDA45A77-61A0-EFEA-434C-8478AEF50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" y="0"/>
            <a:ext cx="12185904" cy="6858000"/>
          </a:xfrm>
          <a:prstGeom prst="rect">
            <a:avLst/>
          </a:prstGeom>
        </p:spPr>
      </p:pic>
      <p:pic>
        <p:nvPicPr>
          <p:cNvPr id="2" name="Immagine 1" descr="Immagine che contiene Carattere, Elementi grafici, cerchio, simbolo&#10;&#10;Il contenuto generato dall'IA potrebbe non essere corretto.">
            <a:extLst>
              <a:ext uri="{FF2B5EF4-FFF2-40B4-BE49-F238E27FC236}">
                <a16:creationId xmlns:a16="http://schemas.microsoft.com/office/drawing/2014/main" id="{AC0917EA-2DF8-5233-01FE-97821F4793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1836" y="2583953"/>
            <a:ext cx="1201811" cy="1465064"/>
          </a:xfrm>
          <a:prstGeom prst="rect">
            <a:avLst/>
          </a:prstGeom>
        </p:spPr>
      </p:pic>
      <p:grpSp>
        <p:nvGrpSpPr>
          <p:cNvPr id="4" name="Group 4">
            <a:extLst>
              <a:ext uri="{FF2B5EF4-FFF2-40B4-BE49-F238E27FC236}">
                <a16:creationId xmlns:a16="http://schemas.microsoft.com/office/drawing/2014/main" id="{7FFB0788-31DB-1B2A-EA10-EAA2E94813E1}"/>
              </a:ext>
            </a:extLst>
          </p:cNvPr>
          <p:cNvGrpSpPr/>
          <p:nvPr/>
        </p:nvGrpSpPr>
        <p:grpSpPr>
          <a:xfrm>
            <a:off x="-1" y="6247106"/>
            <a:ext cx="12188953" cy="610894"/>
            <a:chOff x="0" y="0"/>
            <a:chExt cx="4800628" cy="24458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789650C-A7DA-35D3-5E50-19982F16A170}"/>
                </a:ext>
              </a:extLst>
            </p:cNvPr>
            <p:cNvSpPr/>
            <p:nvPr/>
          </p:nvSpPr>
          <p:spPr>
            <a:xfrm>
              <a:off x="0" y="0"/>
              <a:ext cx="4800628" cy="244580"/>
            </a:xfrm>
            <a:custGeom>
              <a:avLst/>
              <a:gdLst/>
              <a:ahLst/>
              <a:cxnLst/>
              <a:rect l="l" t="t" r="r" b="b"/>
              <a:pathLst>
                <a:path w="4800628" h="244580">
                  <a:moveTo>
                    <a:pt x="0" y="0"/>
                  </a:moveTo>
                  <a:lnTo>
                    <a:pt x="4800628" y="0"/>
                  </a:lnTo>
                  <a:lnTo>
                    <a:pt x="4800628" y="244580"/>
                  </a:lnTo>
                  <a:lnTo>
                    <a:pt x="0" y="244580"/>
                  </a:lnTo>
                  <a:close/>
                </a:path>
              </a:pathLst>
            </a:custGeom>
            <a:solidFill>
              <a:srgbClr val="283030"/>
            </a:solidFill>
          </p:spPr>
          <p:txBody>
            <a:bodyPr/>
            <a:lstStyle/>
            <a:p>
              <a:endParaRPr lang="it-IT">
                <a:solidFill>
                  <a:srgbClr val="283030"/>
                </a:solidFill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6A4784A-0350-63A0-0A7A-D91C4F108686}"/>
                </a:ext>
              </a:extLst>
            </p:cNvPr>
            <p:cNvSpPr txBox="1"/>
            <p:nvPr/>
          </p:nvSpPr>
          <p:spPr>
            <a:xfrm>
              <a:off x="0" y="-38100"/>
              <a:ext cx="4800628" cy="282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9" name="Picture 34">
            <a:extLst>
              <a:ext uri="{FF2B5EF4-FFF2-40B4-BE49-F238E27FC236}">
                <a16:creationId xmlns:a16="http://schemas.microsoft.com/office/drawing/2014/main" id="{AC6B85A4-D2AE-22CD-B4F3-E772D116FE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9593" y="6247106"/>
            <a:ext cx="1989763" cy="630092"/>
          </a:xfrm>
          <a:prstGeom prst="rect">
            <a:avLst/>
          </a:prstGeom>
        </p:spPr>
      </p:pic>
      <p:sp>
        <p:nvSpPr>
          <p:cNvPr id="10" name="TextBox 40">
            <a:extLst>
              <a:ext uri="{FF2B5EF4-FFF2-40B4-BE49-F238E27FC236}">
                <a16:creationId xmlns:a16="http://schemas.microsoft.com/office/drawing/2014/main" id="{4C4877D1-74FE-447C-7FEB-4B9646186059}"/>
              </a:ext>
            </a:extLst>
          </p:cNvPr>
          <p:cNvSpPr txBox="1"/>
          <p:nvPr/>
        </p:nvSpPr>
        <p:spPr>
          <a:xfrm>
            <a:off x="5890161" y="6078583"/>
            <a:ext cx="408626" cy="6775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3434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B6CE52-9FC3-4603-E11C-1F5835BF69F0}"/>
              </a:ext>
            </a:extLst>
          </p:cNvPr>
          <p:cNvSpPr txBox="1"/>
          <p:nvPr/>
        </p:nvSpPr>
        <p:spPr>
          <a:xfrm>
            <a:off x="9134856" y="6091068"/>
            <a:ext cx="2788920" cy="704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179"/>
              </a:lnSpc>
              <a:spcBef>
                <a:spcPct val="0"/>
              </a:spcBef>
            </a:pPr>
            <a:r>
              <a:rPr lang="en-US" sz="2800" b="1" dirty="0" err="1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a.a.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2023/2024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F9DB1627-0D27-676D-928D-6A2518866F98}"/>
              </a:ext>
            </a:extLst>
          </p:cNvPr>
          <p:cNvSpPr txBox="1"/>
          <p:nvPr/>
        </p:nvSpPr>
        <p:spPr>
          <a:xfrm>
            <a:off x="268224" y="6338252"/>
            <a:ext cx="4320540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Martin Trajkovski 335566</a:t>
            </a:r>
          </a:p>
        </p:txBody>
      </p:sp>
      <p:pic>
        <p:nvPicPr>
          <p:cNvPr id="13" name="Immagine 12" descr="Immagine che contiene Elementi grafici, Carattere, design, logo">
            <a:extLst>
              <a:ext uri="{FF2B5EF4-FFF2-40B4-BE49-F238E27FC236}">
                <a16:creationId xmlns:a16="http://schemas.microsoft.com/office/drawing/2014/main" id="{2634B092-DAEE-437A-CBAE-3666DB5A8D6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9933" b="34545"/>
          <a:stretch/>
        </p:blipFill>
        <p:spPr>
          <a:xfrm>
            <a:off x="-13977" y="2583953"/>
            <a:ext cx="4925148" cy="1312910"/>
          </a:xfrm>
          <a:prstGeom prst="rect">
            <a:avLst/>
          </a:prstGeom>
        </p:spPr>
      </p:pic>
      <p:sp>
        <p:nvSpPr>
          <p:cNvPr id="15" name="TextBox 11">
            <a:extLst>
              <a:ext uri="{FF2B5EF4-FFF2-40B4-BE49-F238E27FC236}">
                <a16:creationId xmlns:a16="http://schemas.microsoft.com/office/drawing/2014/main" id="{D7BEEF3B-E0F0-B7A0-3903-663C0EF3BCA6}"/>
              </a:ext>
            </a:extLst>
          </p:cNvPr>
          <p:cNvSpPr txBox="1"/>
          <p:nvPr/>
        </p:nvSpPr>
        <p:spPr>
          <a:xfrm>
            <a:off x="4817392" y="1139833"/>
            <a:ext cx="7106384" cy="4201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sz="2800" dirty="0" err="1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Eloquent</a:t>
            </a:r>
            <a:r>
              <a:rPr lang="it-IT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ORM </a:t>
            </a:r>
            <a:r>
              <a:rPr lang="it-IT" sz="2000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(</a:t>
            </a:r>
            <a:r>
              <a:rPr lang="it-IT" sz="2000" dirty="0">
                <a:solidFill>
                  <a:srgbClr val="040C28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O</a:t>
            </a:r>
            <a:r>
              <a:rPr lang="it-IT" sz="2000" i="0" dirty="0">
                <a:solidFill>
                  <a:srgbClr val="040C2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bject </a:t>
            </a:r>
            <a:r>
              <a:rPr lang="it-IT" sz="2000" dirty="0" err="1">
                <a:solidFill>
                  <a:srgbClr val="040C28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</a:t>
            </a:r>
            <a:r>
              <a:rPr lang="it-IT" sz="2000" i="0" dirty="0" err="1">
                <a:solidFill>
                  <a:srgbClr val="040C2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elational</a:t>
            </a:r>
            <a:r>
              <a:rPr lang="it-IT" sz="2000" i="0" dirty="0">
                <a:solidFill>
                  <a:srgbClr val="040C2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2000" dirty="0">
                <a:solidFill>
                  <a:srgbClr val="040C28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M</a:t>
            </a:r>
            <a:r>
              <a:rPr lang="it-IT" sz="2000" i="0" dirty="0">
                <a:solidFill>
                  <a:srgbClr val="040C2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apper)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sz="2800" dirty="0" err="1">
                <a:solidFill>
                  <a:srgbClr val="040C28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Laravel</a:t>
            </a:r>
            <a:r>
              <a:rPr lang="it-IT" sz="2800" b="1" dirty="0">
                <a:solidFill>
                  <a:srgbClr val="040C28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</a:t>
            </a:r>
            <a:r>
              <a:rPr lang="it-IT" sz="2800" b="1" dirty="0" err="1">
                <a:solidFill>
                  <a:srgbClr val="040C28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Sail</a:t>
            </a:r>
            <a:endParaRPr lang="it-IT" sz="2800" b="1" dirty="0">
              <a:solidFill>
                <a:srgbClr val="040C28"/>
              </a:solidFill>
              <a:latin typeface="Dubai" panose="020B0503030403030204" pitchFamily="34" charset="-78"/>
              <a:ea typeface="Glacial Indifference Bold"/>
              <a:cs typeface="Dubai" panose="020B0503030403030204" pitchFamily="34" charset="-78"/>
              <a:sym typeface="Glacial Indifference Bold"/>
            </a:endParaRP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sz="2800" dirty="0" err="1">
                <a:solidFill>
                  <a:srgbClr val="040C28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Laravel</a:t>
            </a:r>
            <a:r>
              <a:rPr lang="it-IT" sz="2800" b="1" dirty="0">
                <a:solidFill>
                  <a:srgbClr val="040C28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</a:t>
            </a:r>
            <a:r>
              <a:rPr lang="it-IT" sz="2800" b="1" dirty="0" err="1">
                <a:solidFill>
                  <a:srgbClr val="040C28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Sanctum</a:t>
            </a:r>
            <a:endParaRPr lang="it-IT" sz="2800" b="1" dirty="0">
              <a:solidFill>
                <a:srgbClr val="040C28"/>
              </a:solidFill>
              <a:latin typeface="Dubai" panose="020B0503030403030204" pitchFamily="34" charset="-78"/>
              <a:ea typeface="Glacial Indifference Bold"/>
              <a:cs typeface="Dubai" panose="020B0503030403030204" pitchFamily="34" charset="-78"/>
              <a:sym typeface="Glacial Indifference Bold"/>
            </a:endParaRP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sz="2800" b="1" dirty="0" err="1">
                <a:solidFill>
                  <a:srgbClr val="040C28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Telescope</a:t>
            </a:r>
            <a:endParaRPr lang="it-IT" sz="2800" b="1" dirty="0">
              <a:solidFill>
                <a:srgbClr val="040C28"/>
              </a:solidFill>
              <a:latin typeface="Dubai" panose="020B0503030403030204" pitchFamily="34" charset="-78"/>
              <a:ea typeface="Glacial Indifference Bold"/>
              <a:cs typeface="Dubai" panose="020B0503030403030204" pitchFamily="34" charset="-78"/>
              <a:sym typeface="Glacial Indifference Bold"/>
            </a:endParaRP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Comandi</a:t>
            </a:r>
            <a:r>
              <a:rPr lang="en-US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CRUD </a:t>
            </a:r>
            <a:r>
              <a:rPr lang="en-US" sz="2000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(“sail artisan </a:t>
            </a:r>
            <a:r>
              <a:rPr lang="en-US" sz="2000" dirty="0" err="1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make:model</a:t>
            </a:r>
            <a:r>
              <a:rPr lang="en-US" sz="2000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name”)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773C949E-14C3-C03E-D6F2-C4EFBB17094F}"/>
              </a:ext>
            </a:extLst>
          </p:cNvPr>
          <p:cNvSpPr txBox="1"/>
          <p:nvPr/>
        </p:nvSpPr>
        <p:spPr>
          <a:xfrm>
            <a:off x="3048" y="258284"/>
            <a:ext cx="1218895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it-IT" sz="40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LARAVEL</a:t>
            </a:r>
            <a:endParaRPr lang="en-US" sz="4000" b="1" dirty="0">
              <a:solidFill>
                <a:srgbClr val="303030"/>
              </a:solidFill>
              <a:latin typeface="Dubai" panose="020B0503030403030204" pitchFamily="34" charset="-78"/>
              <a:ea typeface="Glacial Indifference Bold"/>
              <a:cs typeface="Dubai" panose="020B0503030403030204" pitchFamily="34" charset="-78"/>
              <a:sym typeface="Glacial Indifference Bold"/>
            </a:endParaRP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14FEA722-7668-10BF-4F57-8157B161914F}"/>
              </a:ext>
            </a:extLst>
          </p:cNvPr>
          <p:cNvSpPr txBox="1"/>
          <p:nvPr/>
        </p:nvSpPr>
        <p:spPr>
          <a:xfrm>
            <a:off x="12825443" y="2432494"/>
            <a:ext cx="7106384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Componenti</a:t>
            </a:r>
          </a:p>
          <a:p>
            <a:pPr marL="571500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Virtual DOM </a:t>
            </a:r>
            <a:r>
              <a:rPr lang="it-IT" sz="2800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(</a:t>
            </a:r>
            <a:r>
              <a:rPr lang="it-IT" sz="2800" dirty="0" err="1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Document</a:t>
            </a:r>
            <a:r>
              <a:rPr lang="it-IT" sz="2800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Object Model)</a:t>
            </a:r>
            <a:endParaRPr lang="it-IT" sz="2800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0CC60EE-08C9-BF36-C637-B2CCF2F7E175}"/>
              </a:ext>
            </a:extLst>
          </p:cNvPr>
          <p:cNvSpPr/>
          <p:nvPr/>
        </p:nvSpPr>
        <p:spPr>
          <a:xfrm>
            <a:off x="11500808" y="80"/>
            <a:ext cx="691192" cy="593848"/>
          </a:xfrm>
          <a:custGeom>
            <a:avLst/>
            <a:gdLst/>
            <a:ahLst/>
            <a:cxnLst/>
            <a:rect l="l" t="t" r="r" b="b"/>
            <a:pathLst>
              <a:path w="3573314" h="3232998">
                <a:moveTo>
                  <a:pt x="0" y="0"/>
                </a:moveTo>
                <a:lnTo>
                  <a:pt x="3573314" y="0"/>
                </a:lnTo>
                <a:lnTo>
                  <a:pt x="3573314" y="3232998"/>
                </a:lnTo>
                <a:lnTo>
                  <a:pt x="0" y="32329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215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A1B0E-AD7A-E9C1-DABD-8F4E4567D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 descr="Immagine che contiene neve&#10;&#10;Il contenuto generato dall'IA potrebbe non essere corretto.">
            <a:extLst>
              <a:ext uri="{FF2B5EF4-FFF2-40B4-BE49-F238E27FC236}">
                <a16:creationId xmlns:a16="http://schemas.microsoft.com/office/drawing/2014/main" id="{A3719CCD-D12A-D431-ADE1-C17BEAE96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" y="0"/>
            <a:ext cx="12185904" cy="6858000"/>
          </a:xfrm>
          <a:prstGeom prst="rect">
            <a:avLst/>
          </a:prstGeom>
        </p:spPr>
      </p:pic>
      <p:grpSp>
        <p:nvGrpSpPr>
          <p:cNvPr id="4" name="Group 4">
            <a:extLst>
              <a:ext uri="{FF2B5EF4-FFF2-40B4-BE49-F238E27FC236}">
                <a16:creationId xmlns:a16="http://schemas.microsoft.com/office/drawing/2014/main" id="{32F23F2C-BBC6-D2C3-7998-85420D2DED93}"/>
              </a:ext>
            </a:extLst>
          </p:cNvPr>
          <p:cNvGrpSpPr/>
          <p:nvPr/>
        </p:nvGrpSpPr>
        <p:grpSpPr>
          <a:xfrm>
            <a:off x="-1" y="6247106"/>
            <a:ext cx="12188953" cy="610894"/>
            <a:chOff x="0" y="0"/>
            <a:chExt cx="4800628" cy="24458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F889E54-0C88-52ED-03AF-ABFB275B4CEA}"/>
                </a:ext>
              </a:extLst>
            </p:cNvPr>
            <p:cNvSpPr/>
            <p:nvPr/>
          </p:nvSpPr>
          <p:spPr>
            <a:xfrm>
              <a:off x="0" y="0"/>
              <a:ext cx="4800628" cy="244580"/>
            </a:xfrm>
            <a:custGeom>
              <a:avLst/>
              <a:gdLst/>
              <a:ahLst/>
              <a:cxnLst/>
              <a:rect l="l" t="t" r="r" b="b"/>
              <a:pathLst>
                <a:path w="4800628" h="244580">
                  <a:moveTo>
                    <a:pt x="0" y="0"/>
                  </a:moveTo>
                  <a:lnTo>
                    <a:pt x="4800628" y="0"/>
                  </a:lnTo>
                  <a:lnTo>
                    <a:pt x="4800628" y="244580"/>
                  </a:lnTo>
                  <a:lnTo>
                    <a:pt x="0" y="244580"/>
                  </a:lnTo>
                  <a:close/>
                </a:path>
              </a:pathLst>
            </a:custGeom>
            <a:solidFill>
              <a:srgbClr val="283030"/>
            </a:solidFill>
          </p:spPr>
          <p:txBody>
            <a:bodyPr/>
            <a:lstStyle/>
            <a:p>
              <a:endParaRPr lang="it-IT">
                <a:solidFill>
                  <a:srgbClr val="283030"/>
                </a:solidFill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52C262C-DCDA-683E-6C39-741727E4842D}"/>
                </a:ext>
              </a:extLst>
            </p:cNvPr>
            <p:cNvSpPr txBox="1"/>
            <p:nvPr/>
          </p:nvSpPr>
          <p:spPr>
            <a:xfrm>
              <a:off x="0" y="-38100"/>
              <a:ext cx="4800628" cy="282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9" name="Picture 34">
            <a:extLst>
              <a:ext uri="{FF2B5EF4-FFF2-40B4-BE49-F238E27FC236}">
                <a16:creationId xmlns:a16="http://schemas.microsoft.com/office/drawing/2014/main" id="{BB53FA24-D1F6-0C5C-36BF-8CB5F22210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9593" y="6247106"/>
            <a:ext cx="1989763" cy="630092"/>
          </a:xfrm>
          <a:prstGeom prst="rect">
            <a:avLst/>
          </a:prstGeom>
        </p:spPr>
      </p:pic>
      <p:sp>
        <p:nvSpPr>
          <p:cNvPr id="10" name="TextBox 40">
            <a:extLst>
              <a:ext uri="{FF2B5EF4-FFF2-40B4-BE49-F238E27FC236}">
                <a16:creationId xmlns:a16="http://schemas.microsoft.com/office/drawing/2014/main" id="{1C60077A-98AE-1A33-B6A8-C7B921081662}"/>
              </a:ext>
            </a:extLst>
          </p:cNvPr>
          <p:cNvSpPr txBox="1"/>
          <p:nvPr/>
        </p:nvSpPr>
        <p:spPr>
          <a:xfrm>
            <a:off x="5890161" y="6078583"/>
            <a:ext cx="408626" cy="6775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3434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4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2EDF1FF5-93E6-C266-30F8-B41A71A2FDC1}"/>
              </a:ext>
            </a:extLst>
          </p:cNvPr>
          <p:cNvSpPr txBox="1"/>
          <p:nvPr/>
        </p:nvSpPr>
        <p:spPr>
          <a:xfrm>
            <a:off x="9134856" y="6091068"/>
            <a:ext cx="2788920" cy="704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179"/>
              </a:lnSpc>
              <a:spcBef>
                <a:spcPct val="0"/>
              </a:spcBef>
            </a:pPr>
            <a:r>
              <a:rPr lang="en-US" sz="2800" b="1" dirty="0" err="1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a.a.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2023/2024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253117A-F3C5-450F-82CA-B3AD5F47CD01}"/>
              </a:ext>
            </a:extLst>
          </p:cNvPr>
          <p:cNvSpPr txBox="1"/>
          <p:nvPr/>
        </p:nvSpPr>
        <p:spPr>
          <a:xfrm>
            <a:off x="268224" y="6338252"/>
            <a:ext cx="4320540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Martin Trajkovski 335566</a:t>
            </a:r>
          </a:p>
        </p:txBody>
      </p:sp>
      <p:pic>
        <p:nvPicPr>
          <p:cNvPr id="16" name="Immagine 15" descr="Immagine che contiene Elementi grafici, Carattere, design, logo">
            <a:extLst>
              <a:ext uri="{FF2B5EF4-FFF2-40B4-BE49-F238E27FC236}">
                <a16:creationId xmlns:a16="http://schemas.microsoft.com/office/drawing/2014/main" id="{97EA8F70-77F6-39CB-0706-06C96461B4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9933" b="34545"/>
          <a:stretch/>
        </p:blipFill>
        <p:spPr>
          <a:xfrm>
            <a:off x="-12150776" y="2711037"/>
            <a:ext cx="3971678" cy="1058741"/>
          </a:xfrm>
          <a:prstGeom prst="rect">
            <a:avLst/>
          </a:prstGeom>
        </p:spPr>
      </p:pic>
      <p:pic>
        <p:nvPicPr>
          <p:cNvPr id="17" name="Immagine 16" descr="Immagine che contiene Carattere, Elementi grafici, cerchio, simbolo&#10;&#10;Il contenuto generato dall'IA potrebbe non essere corretto.">
            <a:extLst>
              <a:ext uri="{FF2B5EF4-FFF2-40B4-BE49-F238E27FC236}">
                <a16:creationId xmlns:a16="http://schemas.microsoft.com/office/drawing/2014/main" id="{37FF2D39-9278-F16A-9DE5-8570ADCC5F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150" y="2158014"/>
            <a:ext cx="2085213" cy="2541972"/>
          </a:xfrm>
          <a:prstGeom prst="rect">
            <a:avLst/>
          </a:prstGeom>
        </p:spPr>
      </p:pic>
      <p:sp>
        <p:nvSpPr>
          <p:cNvPr id="18" name="TextBox 11">
            <a:extLst>
              <a:ext uri="{FF2B5EF4-FFF2-40B4-BE49-F238E27FC236}">
                <a16:creationId xmlns:a16="http://schemas.microsoft.com/office/drawing/2014/main" id="{FE5B8EF0-66C1-CC1E-427C-B6A472C20DD9}"/>
              </a:ext>
            </a:extLst>
          </p:cNvPr>
          <p:cNvSpPr txBox="1"/>
          <p:nvPr/>
        </p:nvSpPr>
        <p:spPr>
          <a:xfrm>
            <a:off x="268224" y="2621087"/>
            <a:ext cx="7106384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Componenti</a:t>
            </a:r>
          </a:p>
          <a:p>
            <a:pPr marL="571500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Virtual DOM </a:t>
            </a:r>
            <a:r>
              <a:rPr lang="it-IT" sz="2800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(</a:t>
            </a:r>
            <a:r>
              <a:rPr lang="it-IT" sz="2800" dirty="0" err="1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Document</a:t>
            </a:r>
            <a:r>
              <a:rPr lang="it-IT" sz="2800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Object Model)</a:t>
            </a:r>
            <a:endParaRPr lang="it-IT" sz="2800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F69BBC11-3BE0-1D59-F8CE-DEC2E31635BE}"/>
              </a:ext>
            </a:extLst>
          </p:cNvPr>
          <p:cNvSpPr txBox="1"/>
          <p:nvPr/>
        </p:nvSpPr>
        <p:spPr>
          <a:xfrm>
            <a:off x="3048" y="258284"/>
            <a:ext cx="1218895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it-IT" sz="40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REACT</a:t>
            </a:r>
            <a:endParaRPr lang="en-US" sz="4000" b="1" dirty="0">
              <a:solidFill>
                <a:srgbClr val="303030"/>
              </a:solidFill>
              <a:latin typeface="Dubai" panose="020B0503030403030204" pitchFamily="34" charset="-78"/>
              <a:ea typeface="Glacial Indifference Bold"/>
              <a:cs typeface="Dubai" panose="020B0503030403030204" pitchFamily="34" charset="-78"/>
              <a:sym typeface="Glacial Indifference Bold"/>
            </a:endParaRP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750524C4-74AB-A33D-8015-3E865DE5CFF7}"/>
              </a:ext>
            </a:extLst>
          </p:cNvPr>
          <p:cNvSpPr txBox="1"/>
          <p:nvPr/>
        </p:nvSpPr>
        <p:spPr>
          <a:xfrm>
            <a:off x="13705703" y="1541551"/>
            <a:ext cx="8775699" cy="754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it-IT" sz="2800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Back-end da </a:t>
            </a:r>
            <a:r>
              <a:rPr lang="it-IT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YII </a:t>
            </a:r>
            <a:r>
              <a:rPr lang="it-IT" sz="2800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</a:t>
            </a:r>
            <a:r>
              <a:rPr lang="it-IT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</a:t>
            </a:r>
            <a:r>
              <a:rPr lang="it-IT" sz="2800" b="1" dirty="0" err="1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Laravel</a:t>
            </a:r>
            <a:endParaRPr lang="it-IT" sz="2800" b="1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31" name="TextBox 11">
            <a:extLst>
              <a:ext uri="{FF2B5EF4-FFF2-40B4-BE49-F238E27FC236}">
                <a16:creationId xmlns:a16="http://schemas.microsoft.com/office/drawing/2014/main" id="{E9D6646E-98CF-6A16-F3D3-C89E791883AD}"/>
              </a:ext>
            </a:extLst>
          </p:cNvPr>
          <p:cNvSpPr txBox="1"/>
          <p:nvPr/>
        </p:nvSpPr>
        <p:spPr>
          <a:xfrm>
            <a:off x="13705702" y="2804964"/>
            <a:ext cx="8775699" cy="754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it-IT" sz="2800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Front-end da</a:t>
            </a:r>
            <a:r>
              <a:rPr lang="it-IT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HTML, CSS, JavaScript </a:t>
            </a:r>
            <a:r>
              <a:rPr lang="it-IT" sz="2800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</a:t>
            </a:r>
            <a:r>
              <a:rPr lang="it-IT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React</a:t>
            </a:r>
            <a:endParaRPr lang="it-IT" sz="2800" b="1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228D97B4-1742-8F95-C7A0-810B00DEA0B5}"/>
              </a:ext>
            </a:extLst>
          </p:cNvPr>
          <p:cNvSpPr txBox="1"/>
          <p:nvPr/>
        </p:nvSpPr>
        <p:spPr>
          <a:xfrm>
            <a:off x="13718402" y="4037949"/>
            <a:ext cx="8775699" cy="754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it-IT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Sezioni non sviluppate</a:t>
            </a:r>
            <a:endParaRPr lang="it-IT" sz="2800" b="1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7853DD90-61AD-CD4D-E70E-F94F78586A74}"/>
              </a:ext>
            </a:extLst>
          </p:cNvPr>
          <p:cNvSpPr/>
          <p:nvPr/>
        </p:nvSpPr>
        <p:spPr>
          <a:xfrm>
            <a:off x="-1862839" y="1690508"/>
            <a:ext cx="918000" cy="8424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1.</a:t>
            </a:r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C45CE267-45A5-D11D-34D3-BA86A2E65D54}"/>
              </a:ext>
            </a:extLst>
          </p:cNvPr>
          <p:cNvSpPr/>
          <p:nvPr/>
        </p:nvSpPr>
        <p:spPr>
          <a:xfrm>
            <a:off x="-1861315" y="2953921"/>
            <a:ext cx="918000" cy="8478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2.</a:t>
            </a:r>
          </a:p>
        </p:txBody>
      </p:sp>
      <p:sp>
        <p:nvSpPr>
          <p:cNvPr id="35" name="Ovale 34">
            <a:extLst>
              <a:ext uri="{FF2B5EF4-FFF2-40B4-BE49-F238E27FC236}">
                <a16:creationId xmlns:a16="http://schemas.microsoft.com/office/drawing/2014/main" id="{356410F3-019F-0DDB-31D4-FAF7C6DCB328}"/>
              </a:ext>
            </a:extLst>
          </p:cNvPr>
          <p:cNvSpPr/>
          <p:nvPr/>
        </p:nvSpPr>
        <p:spPr>
          <a:xfrm>
            <a:off x="-1850140" y="4186906"/>
            <a:ext cx="918000" cy="8478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3.</a:t>
            </a:r>
          </a:p>
        </p:txBody>
      </p:sp>
      <p:sp>
        <p:nvSpPr>
          <p:cNvPr id="36" name="TextBox 11">
            <a:extLst>
              <a:ext uri="{FF2B5EF4-FFF2-40B4-BE49-F238E27FC236}">
                <a16:creationId xmlns:a16="http://schemas.microsoft.com/office/drawing/2014/main" id="{CA6880D9-3922-ED70-AD66-1DD224B9F609}"/>
              </a:ext>
            </a:extLst>
          </p:cNvPr>
          <p:cNvSpPr txBox="1"/>
          <p:nvPr/>
        </p:nvSpPr>
        <p:spPr>
          <a:xfrm>
            <a:off x="-7420723" y="1139833"/>
            <a:ext cx="7074494" cy="4201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sz="2800" dirty="0" err="1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Eloquent</a:t>
            </a:r>
            <a:r>
              <a:rPr lang="it-IT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ORM </a:t>
            </a:r>
            <a:r>
              <a:rPr lang="it-IT" sz="2800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(</a:t>
            </a:r>
            <a:r>
              <a:rPr lang="it-IT" sz="2800" i="0" dirty="0" err="1">
                <a:solidFill>
                  <a:srgbClr val="040C2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object</a:t>
            </a:r>
            <a:r>
              <a:rPr lang="it-IT" sz="2800" i="0" dirty="0">
                <a:solidFill>
                  <a:srgbClr val="040C2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2800" i="0" dirty="0" err="1">
                <a:solidFill>
                  <a:srgbClr val="040C2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relational</a:t>
            </a:r>
            <a:r>
              <a:rPr lang="it-IT" sz="2800" i="0" dirty="0">
                <a:solidFill>
                  <a:srgbClr val="040C2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mapper)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sz="2800" dirty="0" err="1">
                <a:solidFill>
                  <a:srgbClr val="040C28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Laravel</a:t>
            </a:r>
            <a:r>
              <a:rPr lang="it-IT" sz="2800" b="1" dirty="0">
                <a:solidFill>
                  <a:srgbClr val="040C28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</a:t>
            </a:r>
            <a:r>
              <a:rPr lang="it-IT" sz="2800" b="1" dirty="0" err="1">
                <a:solidFill>
                  <a:srgbClr val="040C28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Sail</a:t>
            </a:r>
            <a:endParaRPr lang="it-IT" sz="2800" b="1" dirty="0">
              <a:solidFill>
                <a:srgbClr val="040C28"/>
              </a:solidFill>
              <a:latin typeface="Dubai" panose="020B0503030403030204" pitchFamily="34" charset="-78"/>
              <a:ea typeface="Glacial Indifference Bold"/>
              <a:cs typeface="Dubai" panose="020B0503030403030204" pitchFamily="34" charset="-78"/>
              <a:sym typeface="Glacial Indifference Bold"/>
            </a:endParaRP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sz="2800" dirty="0" err="1">
                <a:solidFill>
                  <a:srgbClr val="040C28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Laravel</a:t>
            </a:r>
            <a:r>
              <a:rPr lang="it-IT" sz="2800" b="1" dirty="0">
                <a:solidFill>
                  <a:srgbClr val="040C28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</a:t>
            </a:r>
            <a:r>
              <a:rPr lang="it-IT" sz="2800" b="1" dirty="0" err="1">
                <a:solidFill>
                  <a:srgbClr val="040C28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Sanctum</a:t>
            </a:r>
            <a:endParaRPr lang="it-IT" sz="2800" b="1" dirty="0">
              <a:solidFill>
                <a:srgbClr val="040C28"/>
              </a:solidFill>
              <a:latin typeface="Dubai" panose="020B0503030403030204" pitchFamily="34" charset="-78"/>
              <a:ea typeface="Glacial Indifference Bold"/>
              <a:cs typeface="Dubai" panose="020B0503030403030204" pitchFamily="34" charset="-78"/>
              <a:sym typeface="Glacial Indifference Bold"/>
            </a:endParaRP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sz="2800" b="1" dirty="0" err="1">
                <a:solidFill>
                  <a:srgbClr val="040C28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Telescope</a:t>
            </a:r>
            <a:endParaRPr lang="it-IT" sz="2800" b="1" dirty="0">
              <a:solidFill>
                <a:srgbClr val="040C28"/>
              </a:solidFill>
              <a:latin typeface="Dubai" panose="020B0503030403030204" pitchFamily="34" charset="-78"/>
              <a:ea typeface="Glacial Indifference Bold"/>
              <a:cs typeface="Dubai" panose="020B0503030403030204" pitchFamily="34" charset="-78"/>
              <a:sym typeface="Glacial Indifference Bold"/>
            </a:endParaRP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Comandi</a:t>
            </a:r>
            <a:r>
              <a:rPr lang="en-US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CRUD</a:t>
            </a:r>
          </a:p>
        </p:txBody>
      </p:sp>
      <p:sp>
        <p:nvSpPr>
          <p:cNvPr id="2" name="Freeform 7">
            <a:extLst>
              <a:ext uri="{FF2B5EF4-FFF2-40B4-BE49-F238E27FC236}">
                <a16:creationId xmlns:a16="http://schemas.microsoft.com/office/drawing/2014/main" id="{CCD04607-8576-07A5-5B5E-69D7398DD16F}"/>
              </a:ext>
            </a:extLst>
          </p:cNvPr>
          <p:cNvSpPr/>
          <p:nvPr/>
        </p:nvSpPr>
        <p:spPr>
          <a:xfrm>
            <a:off x="11500808" y="80"/>
            <a:ext cx="691192" cy="593848"/>
          </a:xfrm>
          <a:custGeom>
            <a:avLst/>
            <a:gdLst/>
            <a:ahLst/>
            <a:cxnLst/>
            <a:rect l="l" t="t" r="r" b="b"/>
            <a:pathLst>
              <a:path w="3573314" h="3232998">
                <a:moveTo>
                  <a:pt x="0" y="0"/>
                </a:moveTo>
                <a:lnTo>
                  <a:pt x="3573314" y="0"/>
                </a:lnTo>
                <a:lnTo>
                  <a:pt x="3573314" y="3232998"/>
                </a:lnTo>
                <a:lnTo>
                  <a:pt x="0" y="3232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111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D9475-6BDF-C5D3-A19A-FCBBB833A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 descr="Immagine che contiene neve&#10;&#10;Il contenuto generato dall'IA potrebbe non essere corretto.">
            <a:extLst>
              <a:ext uri="{FF2B5EF4-FFF2-40B4-BE49-F238E27FC236}">
                <a16:creationId xmlns:a16="http://schemas.microsoft.com/office/drawing/2014/main" id="{5433E63B-7EA9-F286-227C-4A593F104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" y="0"/>
            <a:ext cx="12185904" cy="6858000"/>
          </a:xfrm>
          <a:prstGeom prst="rect">
            <a:avLst/>
          </a:prstGeom>
        </p:spPr>
      </p:pic>
      <p:grpSp>
        <p:nvGrpSpPr>
          <p:cNvPr id="2" name="Group 4">
            <a:extLst>
              <a:ext uri="{FF2B5EF4-FFF2-40B4-BE49-F238E27FC236}">
                <a16:creationId xmlns:a16="http://schemas.microsoft.com/office/drawing/2014/main" id="{E00E6C08-36F4-10FC-D7DF-E20615C7B054}"/>
              </a:ext>
            </a:extLst>
          </p:cNvPr>
          <p:cNvGrpSpPr/>
          <p:nvPr/>
        </p:nvGrpSpPr>
        <p:grpSpPr>
          <a:xfrm>
            <a:off x="-1" y="6247106"/>
            <a:ext cx="12188953" cy="610894"/>
            <a:chOff x="0" y="0"/>
            <a:chExt cx="4800628" cy="244580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0A5A23EE-C0DA-352E-D771-9E089CA0CB7C}"/>
                </a:ext>
              </a:extLst>
            </p:cNvPr>
            <p:cNvSpPr/>
            <p:nvPr/>
          </p:nvSpPr>
          <p:spPr>
            <a:xfrm>
              <a:off x="0" y="0"/>
              <a:ext cx="4800628" cy="244580"/>
            </a:xfrm>
            <a:custGeom>
              <a:avLst/>
              <a:gdLst/>
              <a:ahLst/>
              <a:cxnLst/>
              <a:rect l="l" t="t" r="r" b="b"/>
              <a:pathLst>
                <a:path w="4800628" h="244580">
                  <a:moveTo>
                    <a:pt x="0" y="0"/>
                  </a:moveTo>
                  <a:lnTo>
                    <a:pt x="4800628" y="0"/>
                  </a:lnTo>
                  <a:lnTo>
                    <a:pt x="4800628" y="244580"/>
                  </a:lnTo>
                  <a:lnTo>
                    <a:pt x="0" y="244580"/>
                  </a:lnTo>
                  <a:close/>
                </a:path>
              </a:pathLst>
            </a:custGeom>
            <a:solidFill>
              <a:srgbClr val="283030"/>
            </a:solidFill>
          </p:spPr>
          <p:txBody>
            <a:bodyPr/>
            <a:lstStyle/>
            <a:p>
              <a:endParaRPr lang="it-IT">
                <a:solidFill>
                  <a:srgbClr val="283030"/>
                </a:solidFill>
              </a:endParaRPr>
            </a:p>
          </p:txBody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AC530B6C-4223-34EA-A2AD-93F07D20FA38}"/>
                </a:ext>
              </a:extLst>
            </p:cNvPr>
            <p:cNvSpPr txBox="1"/>
            <p:nvPr/>
          </p:nvSpPr>
          <p:spPr>
            <a:xfrm>
              <a:off x="0" y="-38100"/>
              <a:ext cx="4800628" cy="282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7" name="Picture 34">
            <a:extLst>
              <a:ext uri="{FF2B5EF4-FFF2-40B4-BE49-F238E27FC236}">
                <a16:creationId xmlns:a16="http://schemas.microsoft.com/office/drawing/2014/main" id="{CE2C3F39-647E-B7A8-9527-FC991245B8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9593" y="6247106"/>
            <a:ext cx="1989763" cy="630092"/>
          </a:xfrm>
          <a:prstGeom prst="rect">
            <a:avLst/>
          </a:prstGeom>
        </p:spPr>
      </p:pic>
      <p:sp>
        <p:nvSpPr>
          <p:cNvPr id="8" name="TextBox 40">
            <a:extLst>
              <a:ext uri="{FF2B5EF4-FFF2-40B4-BE49-F238E27FC236}">
                <a16:creationId xmlns:a16="http://schemas.microsoft.com/office/drawing/2014/main" id="{CFAEA345-E515-AC89-0066-EE893CC64A1B}"/>
              </a:ext>
            </a:extLst>
          </p:cNvPr>
          <p:cNvSpPr txBox="1"/>
          <p:nvPr/>
        </p:nvSpPr>
        <p:spPr>
          <a:xfrm>
            <a:off x="5890161" y="6078583"/>
            <a:ext cx="408626" cy="666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3434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5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8764744-4B7B-CEC7-B3EF-13976289F0CC}"/>
              </a:ext>
            </a:extLst>
          </p:cNvPr>
          <p:cNvSpPr txBox="1"/>
          <p:nvPr/>
        </p:nvSpPr>
        <p:spPr>
          <a:xfrm>
            <a:off x="9134856" y="6091068"/>
            <a:ext cx="2788920" cy="704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179"/>
              </a:lnSpc>
              <a:spcBef>
                <a:spcPct val="0"/>
              </a:spcBef>
            </a:pPr>
            <a:r>
              <a:rPr lang="en-US" sz="2800" b="1" dirty="0" err="1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a.a.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2023/2024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E025BEA-33D9-FC69-60A3-8F7648E47EB9}"/>
              </a:ext>
            </a:extLst>
          </p:cNvPr>
          <p:cNvSpPr txBox="1"/>
          <p:nvPr/>
        </p:nvSpPr>
        <p:spPr>
          <a:xfrm>
            <a:off x="268224" y="6338252"/>
            <a:ext cx="4320540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Martin Trajkovski 335566</a:t>
            </a:r>
          </a:p>
        </p:txBody>
      </p:sp>
      <p:pic>
        <p:nvPicPr>
          <p:cNvPr id="11" name="Immagine 10" descr="Immagine che contiene Carattere, Elementi grafici, cerchio, simbolo&#10;&#10;Il contenuto generato dall'IA potrebbe non essere corretto.">
            <a:extLst>
              <a:ext uri="{FF2B5EF4-FFF2-40B4-BE49-F238E27FC236}">
                <a16:creationId xmlns:a16="http://schemas.microsoft.com/office/drawing/2014/main" id="{7FDE8568-FF6C-4D17-CAC0-6453A92AA0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8772" y="2592978"/>
            <a:ext cx="1371600" cy="16720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0274FB-CA92-4FCF-63D0-1108BC8270D4}"/>
              </a:ext>
            </a:extLst>
          </p:cNvPr>
          <p:cNvSpPr txBox="1"/>
          <p:nvPr/>
        </p:nvSpPr>
        <p:spPr>
          <a:xfrm>
            <a:off x="3400554" y="1541551"/>
            <a:ext cx="8775699" cy="754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it-IT" sz="2800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Back-end da </a:t>
            </a:r>
            <a:r>
              <a:rPr lang="it-IT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YII </a:t>
            </a:r>
            <a:r>
              <a:rPr lang="it-IT" sz="2800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</a:t>
            </a:r>
            <a:r>
              <a:rPr lang="it-IT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</a:t>
            </a:r>
            <a:r>
              <a:rPr lang="it-IT" sz="2800" b="1" dirty="0" err="1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Laravel</a:t>
            </a:r>
            <a:endParaRPr lang="it-IT" sz="2800" b="1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D68E5D1A-3C24-2B5C-4887-6F1F8061EFFC}"/>
              </a:ext>
            </a:extLst>
          </p:cNvPr>
          <p:cNvSpPr txBox="1"/>
          <p:nvPr/>
        </p:nvSpPr>
        <p:spPr>
          <a:xfrm>
            <a:off x="3048" y="258284"/>
            <a:ext cx="1218895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it-IT" sz="40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CAUSE DELLA RISTRUTTURAZIONE</a:t>
            </a:r>
            <a:endParaRPr lang="en-US" sz="4000" b="1" dirty="0">
              <a:solidFill>
                <a:srgbClr val="303030"/>
              </a:solidFill>
              <a:latin typeface="Dubai" panose="020B0503030403030204" pitchFamily="34" charset="-78"/>
              <a:ea typeface="Glacial Indifference Bold"/>
              <a:cs typeface="Dubai" panose="020B0503030403030204" pitchFamily="34" charset="-78"/>
              <a:sym typeface="Glacial Indifference Bold"/>
            </a:endParaRP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1DEAD1D1-C703-8744-5B45-AD213EDA6C73}"/>
              </a:ext>
            </a:extLst>
          </p:cNvPr>
          <p:cNvSpPr/>
          <p:nvPr/>
        </p:nvSpPr>
        <p:spPr>
          <a:xfrm>
            <a:off x="1925390" y="1690508"/>
            <a:ext cx="918000" cy="8424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1.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08508D0B-131F-B814-9FA2-AFCD9AB81985}"/>
              </a:ext>
            </a:extLst>
          </p:cNvPr>
          <p:cNvSpPr txBox="1"/>
          <p:nvPr/>
        </p:nvSpPr>
        <p:spPr>
          <a:xfrm>
            <a:off x="3400553" y="2804964"/>
            <a:ext cx="8775699" cy="754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it-IT" sz="2800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Front-end da</a:t>
            </a:r>
            <a:r>
              <a:rPr lang="it-IT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HTML, CSS, JavaScript </a:t>
            </a:r>
            <a:r>
              <a:rPr lang="it-IT" sz="2800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</a:t>
            </a:r>
            <a:r>
              <a:rPr lang="it-IT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React</a:t>
            </a:r>
            <a:endParaRPr lang="it-IT" sz="2800" b="1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42DD841A-BEBE-44B2-5CC0-1EF4E7400194}"/>
              </a:ext>
            </a:extLst>
          </p:cNvPr>
          <p:cNvSpPr/>
          <p:nvPr/>
        </p:nvSpPr>
        <p:spPr>
          <a:xfrm>
            <a:off x="1926914" y="2953921"/>
            <a:ext cx="918000" cy="8478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2.</a:t>
            </a: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4EFB6871-8841-8577-7E07-2D97708F716A}"/>
              </a:ext>
            </a:extLst>
          </p:cNvPr>
          <p:cNvSpPr txBox="1"/>
          <p:nvPr/>
        </p:nvSpPr>
        <p:spPr>
          <a:xfrm>
            <a:off x="3413253" y="4037949"/>
            <a:ext cx="8775699" cy="754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it-IT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Sezioni non sviluppate</a:t>
            </a:r>
            <a:endParaRPr lang="it-IT" sz="2800" b="1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8609D532-032C-BA9C-83F4-7E321AD7C97A}"/>
              </a:ext>
            </a:extLst>
          </p:cNvPr>
          <p:cNvSpPr/>
          <p:nvPr/>
        </p:nvSpPr>
        <p:spPr>
          <a:xfrm>
            <a:off x="1938089" y="4186906"/>
            <a:ext cx="918000" cy="8478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3.</a:t>
            </a:r>
          </a:p>
        </p:txBody>
      </p:sp>
      <p:sp>
        <p:nvSpPr>
          <p:cNvPr id="43" name="Rettangolo con angoli arrotondati 42">
            <a:extLst>
              <a:ext uri="{FF2B5EF4-FFF2-40B4-BE49-F238E27FC236}">
                <a16:creationId xmlns:a16="http://schemas.microsoft.com/office/drawing/2014/main" id="{034AA95D-BC6D-6FBA-D453-59B10DD7D394}"/>
              </a:ext>
            </a:extLst>
          </p:cNvPr>
          <p:cNvSpPr/>
          <p:nvPr/>
        </p:nvSpPr>
        <p:spPr>
          <a:xfrm>
            <a:off x="2293935" y="-3380171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Referenti</a:t>
            </a:r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51E479CD-4250-05B4-36D0-CC53B0B4FC6A}"/>
              </a:ext>
            </a:extLst>
          </p:cNvPr>
          <p:cNvSpPr/>
          <p:nvPr/>
        </p:nvSpPr>
        <p:spPr>
          <a:xfrm>
            <a:off x="7242968" y="-3380171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Appuntamenti</a:t>
            </a:r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02D0C7DB-C022-1D18-2D50-59B8AA66415D}"/>
              </a:ext>
            </a:extLst>
          </p:cNvPr>
          <p:cNvSpPr/>
          <p:nvPr/>
        </p:nvSpPr>
        <p:spPr>
          <a:xfrm>
            <a:off x="2293935" y="-1475171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Task</a:t>
            </a:r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C9E563FA-D543-F35E-BE19-DA709CAE0CDB}"/>
              </a:ext>
            </a:extLst>
          </p:cNvPr>
          <p:cNvSpPr/>
          <p:nvPr/>
        </p:nvSpPr>
        <p:spPr>
          <a:xfrm>
            <a:off x="7242968" y="-1475171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Offerte</a:t>
            </a:r>
          </a:p>
        </p:txBody>
      </p:sp>
      <p:sp>
        <p:nvSpPr>
          <p:cNvPr id="47" name="TextBox 11">
            <a:extLst>
              <a:ext uri="{FF2B5EF4-FFF2-40B4-BE49-F238E27FC236}">
                <a16:creationId xmlns:a16="http://schemas.microsoft.com/office/drawing/2014/main" id="{9683FC96-B6F0-5D55-77D9-50A6139DE8A6}"/>
              </a:ext>
            </a:extLst>
          </p:cNvPr>
          <p:cNvSpPr txBox="1"/>
          <p:nvPr/>
        </p:nvSpPr>
        <p:spPr>
          <a:xfrm>
            <a:off x="12999431" y="2621087"/>
            <a:ext cx="7106384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Componenti</a:t>
            </a:r>
          </a:p>
          <a:p>
            <a:pPr marL="571500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Virtual DOM </a:t>
            </a:r>
            <a:r>
              <a:rPr lang="it-IT" sz="2800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(</a:t>
            </a:r>
            <a:r>
              <a:rPr lang="it-IT" sz="2800" dirty="0" err="1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Document</a:t>
            </a:r>
            <a:r>
              <a:rPr lang="it-IT" sz="2800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Object Model)</a:t>
            </a:r>
            <a:endParaRPr lang="it-IT" sz="2800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FD15099A-63DF-CA12-002E-A538840F850C}"/>
              </a:ext>
            </a:extLst>
          </p:cNvPr>
          <p:cNvSpPr/>
          <p:nvPr/>
        </p:nvSpPr>
        <p:spPr>
          <a:xfrm>
            <a:off x="11500808" y="80"/>
            <a:ext cx="691192" cy="593848"/>
          </a:xfrm>
          <a:custGeom>
            <a:avLst/>
            <a:gdLst/>
            <a:ahLst/>
            <a:cxnLst/>
            <a:rect l="l" t="t" r="r" b="b"/>
            <a:pathLst>
              <a:path w="3573314" h="3232998">
                <a:moveTo>
                  <a:pt x="0" y="0"/>
                </a:moveTo>
                <a:lnTo>
                  <a:pt x="3573314" y="0"/>
                </a:lnTo>
                <a:lnTo>
                  <a:pt x="3573314" y="3232998"/>
                </a:lnTo>
                <a:lnTo>
                  <a:pt x="0" y="32329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348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07EEA-7507-A383-75C2-6ACBCEE56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 descr="Immagine che contiene neve&#10;&#10;Il contenuto generato dall'IA potrebbe non essere corretto.">
            <a:extLst>
              <a:ext uri="{FF2B5EF4-FFF2-40B4-BE49-F238E27FC236}">
                <a16:creationId xmlns:a16="http://schemas.microsoft.com/office/drawing/2014/main" id="{5E070D0E-3420-C0FF-6BF8-915EDC9AD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" y="0"/>
            <a:ext cx="12185904" cy="6858000"/>
          </a:xfrm>
          <a:prstGeom prst="rect">
            <a:avLst/>
          </a:prstGeom>
        </p:spPr>
      </p:pic>
      <p:grpSp>
        <p:nvGrpSpPr>
          <p:cNvPr id="2" name="Group 4">
            <a:extLst>
              <a:ext uri="{FF2B5EF4-FFF2-40B4-BE49-F238E27FC236}">
                <a16:creationId xmlns:a16="http://schemas.microsoft.com/office/drawing/2014/main" id="{2096B306-DC38-B9C9-C08E-0805BB891260}"/>
              </a:ext>
            </a:extLst>
          </p:cNvPr>
          <p:cNvGrpSpPr/>
          <p:nvPr/>
        </p:nvGrpSpPr>
        <p:grpSpPr>
          <a:xfrm>
            <a:off x="-1" y="6247106"/>
            <a:ext cx="12188953" cy="610894"/>
            <a:chOff x="0" y="0"/>
            <a:chExt cx="4800628" cy="244580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D34AE608-9CDA-868B-B504-488A0A801D3A}"/>
                </a:ext>
              </a:extLst>
            </p:cNvPr>
            <p:cNvSpPr/>
            <p:nvPr/>
          </p:nvSpPr>
          <p:spPr>
            <a:xfrm>
              <a:off x="0" y="0"/>
              <a:ext cx="4800628" cy="244580"/>
            </a:xfrm>
            <a:custGeom>
              <a:avLst/>
              <a:gdLst/>
              <a:ahLst/>
              <a:cxnLst/>
              <a:rect l="l" t="t" r="r" b="b"/>
              <a:pathLst>
                <a:path w="4800628" h="244580">
                  <a:moveTo>
                    <a:pt x="0" y="0"/>
                  </a:moveTo>
                  <a:lnTo>
                    <a:pt x="4800628" y="0"/>
                  </a:lnTo>
                  <a:lnTo>
                    <a:pt x="4800628" y="244580"/>
                  </a:lnTo>
                  <a:lnTo>
                    <a:pt x="0" y="244580"/>
                  </a:lnTo>
                  <a:close/>
                </a:path>
              </a:pathLst>
            </a:custGeom>
            <a:solidFill>
              <a:srgbClr val="283030"/>
            </a:solidFill>
          </p:spPr>
          <p:txBody>
            <a:bodyPr/>
            <a:lstStyle/>
            <a:p>
              <a:endParaRPr lang="it-IT">
                <a:solidFill>
                  <a:srgbClr val="283030"/>
                </a:solidFill>
              </a:endParaRPr>
            </a:p>
          </p:txBody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A1D9169F-9294-B1A4-6E57-60A692709CC5}"/>
                </a:ext>
              </a:extLst>
            </p:cNvPr>
            <p:cNvSpPr txBox="1"/>
            <p:nvPr/>
          </p:nvSpPr>
          <p:spPr>
            <a:xfrm>
              <a:off x="0" y="-38100"/>
              <a:ext cx="4800628" cy="282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7" name="Picture 34">
            <a:extLst>
              <a:ext uri="{FF2B5EF4-FFF2-40B4-BE49-F238E27FC236}">
                <a16:creationId xmlns:a16="http://schemas.microsoft.com/office/drawing/2014/main" id="{4870D048-59E8-1161-ED0D-68D9ED87C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9593" y="6247106"/>
            <a:ext cx="1989763" cy="630092"/>
          </a:xfrm>
          <a:prstGeom prst="rect">
            <a:avLst/>
          </a:prstGeom>
        </p:spPr>
      </p:pic>
      <p:sp>
        <p:nvSpPr>
          <p:cNvPr id="8" name="TextBox 40">
            <a:extLst>
              <a:ext uri="{FF2B5EF4-FFF2-40B4-BE49-F238E27FC236}">
                <a16:creationId xmlns:a16="http://schemas.microsoft.com/office/drawing/2014/main" id="{133B3DB6-9DF3-D975-DF39-26CC0FE9714F}"/>
              </a:ext>
            </a:extLst>
          </p:cNvPr>
          <p:cNvSpPr txBox="1"/>
          <p:nvPr/>
        </p:nvSpPr>
        <p:spPr>
          <a:xfrm>
            <a:off x="5890161" y="6078583"/>
            <a:ext cx="408626" cy="666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3434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6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71875F61-0BEB-BDD2-D72B-6805CC7B1BA2}"/>
              </a:ext>
            </a:extLst>
          </p:cNvPr>
          <p:cNvSpPr txBox="1"/>
          <p:nvPr/>
        </p:nvSpPr>
        <p:spPr>
          <a:xfrm>
            <a:off x="9134856" y="6091068"/>
            <a:ext cx="2788920" cy="704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179"/>
              </a:lnSpc>
              <a:spcBef>
                <a:spcPct val="0"/>
              </a:spcBef>
            </a:pPr>
            <a:r>
              <a:rPr lang="en-US" sz="2800" b="1" dirty="0" err="1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a.a.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2023/2024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C320FF47-3289-C375-F06D-40C977B7E614}"/>
              </a:ext>
            </a:extLst>
          </p:cNvPr>
          <p:cNvSpPr txBox="1"/>
          <p:nvPr/>
        </p:nvSpPr>
        <p:spPr>
          <a:xfrm>
            <a:off x="268224" y="6338252"/>
            <a:ext cx="4320540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Martin Trajkovski 335566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0BB2237E-DD2F-C272-B767-00BD519A95DD}"/>
              </a:ext>
            </a:extLst>
          </p:cNvPr>
          <p:cNvSpPr txBox="1"/>
          <p:nvPr/>
        </p:nvSpPr>
        <p:spPr>
          <a:xfrm>
            <a:off x="1" y="134898"/>
            <a:ext cx="1218895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it-IT" sz="40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LE NUOVE SEZIONI</a:t>
            </a:r>
            <a:endParaRPr lang="it-IT" sz="4000" b="1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35" name="TextBox 11">
            <a:extLst>
              <a:ext uri="{FF2B5EF4-FFF2-40B4-BE49-F238E27FC236}">
                <a16:creationId xmlns:a16="http://schemas.microsoft.com/office/drawing/2014/main" id="{E493843F-8BE5-E5E0-91E9-C383AD95DC8C}"/>
              </a:ext>
            </a:extLst>
          </p:cNvPr>
          <p:cNvSpPr txBox="1"/>
          <p:nvPr/>
        </p:nvSpPr>
        <p:spPr>
          <a:xfrm>
            <a:off x="13705703" y="1541551"/>
            <a:ext cx="8775699" cy="754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it-IT" sz="2800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Back-end da </a:t>
            </a:r>
            <a:r>
              <a:rPr lang="it-IT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YII </a:t>
            </a:r>
            <a:r>
              <a:rPr lang="it-IT" sz="2800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</a:t>
            </a:r>
            <a:r>
              <a:rPr lang="it-IT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</a:t>
            </a:r>
            <a:r>
              <a:rPr lang="it-IT" sz="2800" b="1" dirty="0" err="1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Laravel</a:t>
            </a:r>
            <a:endParaRPr lang="it-IT" sz="2800" b="1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36" name="TextBox 11">
            <a:extLst>
              <a:ext uri="{FF2B5EF4-FFF2-40B4-BE49-F238E27FC236}">
                <a16:creationId xmlns:a16="http://schemas.microsoft.com/office/drawing/2014/main" id="{32037516-0814-F767-66AA-AF39DEB65C4B}"/>
              </a:ext>
            </a:extLst>
          </p:cNvPr>
          <p:cNvSpPr txBox="1"/>
          <p:nvPr/>
        </p:nvSpPr>
        <p:spPr>
          <a:xfrm>
            <a:off x="13705702" y="2804964"/>
            <a:ext cx="8775699" cy="754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it-IT" sz="2800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Front-end da</a:t>
            </a:r>
            <a:r>
              <a:rPr lang="it-IT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HTML, CSS, JavaScript </a:t>
            </a:r>
            <a:r>
              <a:rPr lang="it-IT" sz="2800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</a:t>
            </a:r>
            <a:r>
              <a:rPr lang="it-IT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React</a:t>
            </a:r>
            <a:endParaRPr lang="it-IT" sz="2800" b="1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37" name="TextBox 11">
            <a:extLst>
              <a:ext uri="{FF2B5EF4-FFF2-40B4-BE49-F238E27FC236}">
                <a16:creationId xmlns:a16="http://schemas.microsoft.com/office/drawing/2014/main" id="{480FDFC4-429C-4A81-0D8B-3F8B4A9ACB99}"/>
              </a:ext>
            </a:extLst>
          </p:cNvPr>
          <p:cNvSpPr txBox="1"/>
          <p:nvPr/>
        </p:nvSpPr>
        <p:spPr>
          <a:xfrm>
            <a:off x="13718402" y="4037949"/>
            <a:ext cx="8775699" cy="754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it-IT" sz="28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Sezioni non sviluppate</a:t>
            </a:r>
            <a:endParaRPr lang="it-IT" sz="2800" b="1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49" name="Ovale 48">
            <a:extLst>
              <a:ext uri="{FF2B5EF4-FFF2-40B4-BE49-F238E27FC236}">
                <a16:creationId xmlns:a16="http://schemas.microsoft.com/office/drawing/2014/main" id="{A2B84A88-393E-DDC5-124D-33AC481F3C5A}"/>
              </a:ext>
            </a:extLst>
          </p:cNvPr>
          <p:cNvSpPr/>
          <p:nvPr/>
        </p:nvSpPr>
        <p:spPr>
          <a:xfrm>
            <a:off x="-1862839" y="1690508"/>
            <a:ext cx="918000" cy="8424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1.</a:t>
            </a:r>
          </a:p>
        </p:txBody>
      </p:sp>
      <p:sp>
        <p:nvSpPr>
          <p:cNvPr id="50" name="Ovale 49">
            <a:extLst>
              <a:ext uri="{FF2B5EF4-FFF2-40B4-BE49-F238E27FC236}">
                <a16:creationId xmlns:a16="http://schemas.microsoft.com/office/drawing/2014/main" id="{506519D0-DF5A-710F-02C3-3A33CE060E35}"/>
              </a:ext>
            </a:extLst>
          </p:cNvPr>
          <p:cNvSpPr/>
          <p:nvPr/>
        </p:nvSpPr>
        <p:spPr>
          <a:xfrm>
            <a:off x="-1861315" y="2953921"/>
            <a:ext cx="918000" cy="8478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2.</a:t>
            </a:r>
          </a:p>
        </p:txBody>
      </p:sp>
      <p:sp>
        <p:nvSpPr>
          <p:cNvPr id="51" name="Ovale 50">
            <a:extLst>
              <a:ext uri="{FF2B5EF4-FFF2-40B4-BE49-F238E27FC236}">
                <a16:creationId xmlns:a16="http://schemas.microsoft.com/office/drawing/2014/main" id="{ABCBBC8E-1C64-9FA3-4BBB-39B6DC860E8B}"/>
              </a:ext>
            </a:extLst>
          </p:cNvPr>
          <p:cNvSpPr/>
          <p:nvPr/>
        </p:nvSpPr>
        <p:spPr>
          <a:xfrm>
            <a:off x="-1850140" y="4186906"/>
            <a:ext cx="918000" cy="8478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3.</a:t>
            </a:r>
          </a:p>
        </p:txBody>
      </p:sp>
      <p:sp>
        <p:nvSpPr>
          <p:cNvPr id="54" name="Rettangolo con angoli arrotondati 53">
            <a:extLst>
              <a:ext uri="{FF2B5EF4-FFF2-40B4-BE49-F238E27FC236}">
                <a16:creationId xmlns:a16="http://schemas.microsoft.com/office/drawing/2014/main" id="{85812A44-0707-D72C-E47B-1FBC80614260}"/>
              </a:ext>
            </a:extLst>
          </p:cNvPr>
          <p:cNvSpPr/>
          <p:nvPr/>
        </p:nvSpPr>
        <p:spPr>
          <a:xfrm>
            <a:off x="2293935" y="1915729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Referenti</a:t>
            </a:r>
          </a:p>
        </p:txBody>
      </p:sp>
      <p:sp>
        <p:nvSpPr>
          <p:cNvPr id="55" name="Rettangolo con angoli arrotondati 54">
            <a:extLst>
              <a:ext uri="{FF2B5EF4-FFF2-40B4-BE49-F238E27FC236}">
                <a16:creationId xmlns:a16="http://schemas.microsoft.com/office/drawing/2014/main" id="{CD12F2E1-6802-D8CA-67A5-AA307E3209FF}"/>
              </a:ext>
            </a:extLst>
          </p:cNvPr>
          <p:cNvSpPr/>
          <p:nvPr/>
        </p:nvSpPr>
        <p:spPr>
          <a:xfrm>
            <a:off x="7242968" y="1915729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Appuntamenti</a:t>
            </a:r>
          </a:p>
        </p:txBody>
      </p:sp>
      <p:sp>
        <p:nvSpPr>
          <p:cNvPr id="56" name="Rettangolo con angoli arrotondati 55">
            <a:extLst>
              <a:ext uri="{FF2B5EF4-FFF2-40B4-BE49-F238E27FC236}">
                <a16:creationId xmlns:a16="http://schemas.microsoft.com/office/drawing/2014/main" id="{AB5A13F5-C14C-EA0E-F7E3-87A60933A25A}"/>
              </a:ext>
            </a:extLst>
          </p:cNvPr>
          <p:cNvSpPr/>
          <p:nvPr/>
        </p:nvSpPr>
        <p:spPr>
          <a:xfrm>
            <a:off x="2293935" y="3820729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Task</a:t>
            </a:r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079D0C56-5E85-D653-1E70-0C9EA795AEFD}"/>
              </a:ext>
            </a:extLst>
          </p:cNvPr>
          <p:cNvSpPr/>
          <p:nvPr/>
        </p:nvSpPr>
        <p:spPr>
          <a:xfrm>
            <a:off x="7242968" y="3820729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Offerte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0298B710-AC2B-4EBD-A3B7-A42B262817DE}"/>
              </a:ext>
            </a:extLst>
          </p:cNvPr>
          <p:cNvSpPr/>
          <p:nvPr/>
        </p:nvSpPr>
        <p:spPr>
          <a:xfrm>
            <a:off x="13173912" y="1471230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 err="1">
                <a:solidFill>
                  <a:schemeClr val="tx1"/>
                </a:solidFill>
              </a:rPr>
              <a:t>url</a:t>
            </a:r>
            <a:endParaRPr lang="it-IT" sz="2800" b="1" dirty="0">
              <a:solidFill>
                <a:schemeClr val="tx1"/>
              </a:solidFill>
            </a:endParaRPr>
          </a:p>
          <a:p>
            <a:pPr algn="ctr"/>
            <a:r>
              <a:rPr lang="it-IT" dirty="0">
                <a:solidFill>
                  <a:schemeClr val="tx1"/>
                </a:solidFill>
              </a:rPr>
              <a:t>Fetch al database</a:t>
            </a:r>
            <a:endParaRPr lang="it-IT" sz="2800" dirty="0">
              <a:solidFill>
                <a:schemeClr val="tx1"/>
              </a:solidFill>
            </a:endParaRP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B4DF85DA-3BBB-5255-69E6-19F85324D037}"/>
              </a:ext>
            </a:extLst>
          </p:cNvPr>
          <p:cNvSpPr/>
          <p:nvPr/>
        </p:nvSpPr>
        <p:spPr>
          <a:xfrm>
            <a:off x="16708727" y="1471230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chemeClr val="tx1"/>
                </a:solidFill>
              </a:rPr>
              <a:t>form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Modulo di creazione</a:t>
            </a:r>
            <a:endParaRPr lang="it-IT" sz="2800" dirty="0">
              <a:solidFill>
                <a:schemeClr val="tx1"/>
              </a:solidFill>
            </a:endParaRP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E94B4B00-74DB-5F12-2026-CB5A219A8442}"/>
              </a:ext>
            </a:extLst>
          </p:cNvPr>
          <p:cNvSpPr/>
          <p:nvPr/>
        </p:nvSpPr>
        <p:spPr>
          <a:xfrm>
            <a:off x="13173912" y="3028374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 err="1">
                <a:solidFill>
                  <a:schemeClr val="tx1"/>
                </a:solidFill>
              </a:rPr>
              <a:t>params</a:t>
            </a:r>
            <a:endParaRPr lang="it-IT" sz="2800" b="1" dirty="0">
              <a:solidFill>
                <a:schemeClr val="tx1"/>
              </a:solidFill>
            </a:endParaRPr>
          </a:p>
          <a:p>
            <a:pPr algn="ctr"/>
            <a:r>
              <a:rPr lang="it-IT" dirty="0">
                <a:solidFill>
                  <a:schemeClr val="tx1"/>
                </a:solidFill>
              </a:rPr>
              <a:t>Parametri per i filtri</a:t>
            </a:r>
            <a:endParaRPr lang="it-IT" sz="2800" dirty="0">
              <a:solidFill>
                <a:schemeClr val="tx1"/>
              </a:solidFill>
            </a:endParaRP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3BF32970-BAAB-C2BE-313D-FFD8975B56F9}"/>
              </a:ext>
            </a:extLst>
          </p:cNvPr>
          <p:cNvSpPr/>
          <p:nvPr/>
        </p:nvSpPr>
        <p:spPr>
          <a:xfrm>
            <a:off x="14966564" y="4538629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 err="1">
                <a:solidFill>
                  <a:schemeClr val="tx1"/>
                </a:solidFill>
              </a:rPr>
              <a:t>columns</a:t>
            </a:r>
            <a:endParaRPr lang="it-IT" sz="2800" b="1" dirty="0">
              <a:solidFill>
                <a:schemeClr val="tx1"/>
              </a:solidFill>
            </a:endParaRPr>
          </a:p>
          <a:p>
            <a:pPr algn="ctr"/>
            <a:r>
              <a:rPr lang="it-IT" dirty="0">
                <a:solidFill>
                  <a:schemeClr val="tx1"/>
                </a:solidFill>
              </a:rPr>
              <a:t>Colonne da visualizzare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4F4C282F-CC8C-B50E-231E-25A9F2072DAC}"/>
              </a:ext>
            </a:extLst>
          </p:cNvPr>
          <p:cNvSpPr/>
          <p:nvPr/>
        </p:nvSpPr>
        <p:spPr>
          <a:xfrm>
            <a:off x="16708728" y="3030144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 err="1">
                <a:solidFill>
                  <a:schemeClr val="tx1"/>
                </a:solidFill>
              </a:rPr>
              <a:t>tabs</a:t>
            </a:r>
            <a:endParaRPr lang="it-IT" sz="2800" b="1" dirty="0">
              <a:solidFill>
                <a:schemeClr val="tx1"/>
              </a:solidFill>
            </a:endParaRPr>
          </a:p>
          <a:p>
            <a:pPr algn="ctr"/>
            <a:r>
              <a:rPr lang="it-IT" dirty="0">
                <a:solidFill>
                  <a:schemeClr val="tx1"/>
                </a:solidFill>
              </a:rPr>
              <a:t>Sottosezioni nel dettaglio di un elemento</a:t>
            </a:r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873F6BAF-1BBC-3597-33CF-14E3E553111C}"/>
              </a:ext>
            </a:extLst>
          </p:cNvPr>
          <p:cNvSpPr/>
          <p:nvPr/>
        </p:nvSpPr>
        <p:spPr>
          <a:xfrm>
            <a:off x="11500808" y="80"/>
            <a:ext cx="691192" cy="593848"/>
          </a:xfrm>
          <a:custGeom>
            <a:avLst/>
            <a:gdLst/>
            <a:ahLst/>
            <a:cxnLst/>
            <a:rect l="l" t="t" r="r" b="b"/>
            <a:pathLst>
              <a:path w="3573314" h="3232998">
                <a:moveTo>
                  <a:pt x="0" y="0"/>
                </a:moveTo>
                <a:lnTo>
                  <a:pt x="3573314" y="0"/>
                </a:lnTo>
                <a:lnTo>
                  <a:pt x="3573314" y="3232998"/>
                </a:lnTo>
                <a:lnTo>
                  <a:pt x="0" y="32329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709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DE7B-1D67-3B5E-F0AB-02ED0915D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 descr="Immagine che contiene neve&#10;&#10;Il contenuto generato dall'IA potrebbe non essere corretto.">
            <a:extLst>
              <a:ext uri="{FF2B5EF4-FFF2-40B4-BE49-F238E27FC236}">
                <a16:creationId xmlns:a16="http://schemas.microsoft.com/office/drawing/2014/main" id="{4886476C-6908-E38B-E208-910C29863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" y="0"/>
            <a:ext cx="12185904" cy="6858000"/>
          </a:xfrm>
          <a:prstGeom prst="rect">
            <a:avLst/>
          </a:prstGeom>
        </p:spPr>
      </p:pic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E8ABC1DC-14B5-4312-5799-A6339FBC33B8}"/>
              </a:ext>
            </a:extLst>
          </p:cNvPr>
          <p:cNvSpPr/>
          <p:nvPr/>
        </p:nvSpPr>
        <p:spPr>
          <a:xfrm>
            <a:off x="2293935" y="-3380171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Referenti</a:t>
            </a:r>
          </a:p>
        </p:txBody>
      </p:sp>
      <p:sp>
        <p:nvSpPr>
          <p:cNvPr id="34" name="Rettangolo con angoli arrotondati 33">
            <a:extLst>
              <a:ext uri="{FF2B5EF4-FFF2-40B4-BE49-F238E27FC236}">
                <a16:creationId xmlns:a16="http://schemas.microsoft.com/office/drawing/2014/main" id="{88D4EE71-49B7-A113-12DE-1D02C50A7462}"/>
              </a:ext>
            </a:extLst>
          </p:cNvPr>
          <p:cNvSpPr/>
          <p:nvPr/>
        </p:nvSpPr>
        <p:spPr>
          <a:xfrm>
            <a:off x="7242968" y="-3380171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Appuntamenti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1FA1B776-8C75-35A3-0F33-2EA28304EAEF}"/>
              </a:ext>
            </a:extLst>
          </p:cNvPr>
          <p:cNvSpPr/>
          <p:nvPr/>
        </p:nvSpPr>
        <p:spPr>
          <a:xfrm>
            <a:off x="2293935" y="-1475171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Task</a:t>
            </a:r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88ABFDA8-611E-6D17-C197-CFFE50E75EA3}"/>
              </a:ext>
            </a:extLst>
          </p:cNvPr>
          <p:cNvSpPr/>
          <p:nvPr/>
        </p:nvSpPr>
        <p:spPr>
          <a:xfrm>
            <a:off x="7242968" y="-1475171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Offerte</a:t>
            </a:r>
          </a:p>
        </p:txBody>
      </p:sp>
      <p:sp>
        <p:nvSpPr>
          <p:cNvPr id="46" name="TextBox 11">
            <a:extLst>
              <a:ext uri="{FF2B5EF4-FFF2-40B4-BE49-F238E27FC236}">
                <a16:creationId xmlns:a16="http://schemas.microsoft.com/office/drawing/2014/main" id="{49E327BC-5B2C-E6AC-495C-E869FF4540D5}"/>
              </a:ext>
            </a:extLst>
          </p:cNvPr>
          <p:cNvSpPr txBox="1"/>
          <p:nvPr/>
        </p:nvSpPr>
        <p:spPr>
          <a:xfrm>
            <a:off x="5450316" y="134898"/>
            <a:ext cx="618991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it-IT" sz="4000" b="1" dirty="0" err="1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CrudDataTable</a:t>
            </a:r>
            <a:endParaRPr lang="it-IT" sz="4000" b="1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pic>
        <p:nvPicPr>
          <p:cNvPr id="5" name="Immagine 4" descr="Immagine che contiene testo, schermata, software, Carattere&#10;&#10;Il contenuto generato dall'IA potrebbe non essere corretto.">
            <a:extLst>
              <a:ext uri="{FF2B5EF4-FFF2-40B4-BE49-F238E27FC236}">
                <a16:creationId xmlns:a16="http://schemas.microsoft.com/office/drawing/2014/main" id="{80C7BC77-CE4A-C7AB-518F-92A0F01260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715"/>
          <a:stretch/>
        </p:blipFill>
        <p:spPr>
          <a:xfrm>
            <a:off x="-7296150" y="3416252"/>
            <a:ext cx="6109200" cy="1687837"/>
          </a:xfrm>
          <a:prstGeom prst="rect">
            <a:avLst/>
          </a:prstGeom>
        </p:spPr>
      </p:pic>
      <p:pic>
        <p:nvPicPr>
          <p:cNvPr id="6" name="Immagine 5" descr="Immagine che contiene testo, schermata, software, schermo&#10;&#10;Il contenuto generato dall'IA potrebbe non essere corretto.">
            <a:extLst>
              <a:ext uri="{FF2B5EF4-FFF2-40B4-BE49-F238E27FC236}">
                <a16:creationId xmlns:a16="http://schemas.microsoft.com/office/drawing/2014/main" id="{759E2595-2399-BBA8-C94F-F8AFC94C1C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94" b="58794"/>
          <a:stretch/>
        </p:blipFill>
        <p:spPr>
          <a:xfrm>
            <a:off x="-7296151" y="1096875"/>
            <a:ext cx="6109200" cy="1684801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B5D336D-0986-526D-721F-709FFAF0CE99}"/>
              </a:ext>
            </a:extLst>
          </p:cNvPr>
          <p:cNvSpPr txBox="1"/>
          <p:nvPr/>
        </p:nvSpPr>
        <p:spPr>
          <a:xfrm>
            <a:off x="-4856204" y="2782153"/>
            <a:ext cx="12293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latin typeface="Dubai" panose="020B0503030403030204" pitchFamily="34" charset="-78"/>
                <a:cs typeface="Dubai" panose="020B0503030403030204" pitchFamily="34" charset="-78"/>
              </a:rPr>
              <a:t>Tabella dei referenti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61F4B2F-438B-10C8-838E-9BC1DFE230AB}"/>
              </a:ext>
            </a:extLst>
          </p:cNvPr>
          <p:cNvSpPr txBox="1"/>
          <p:nvPr/>
        </p:nvSpPr>
        <p:spPr>
          <a:xfrm>
            <a:off x="-4783704" y="5164963"/>
            <a:ext cx="10843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latin typeface="Dubai" panose="020B0503030403030204" pitchFamily="34" charset="-78"/>
                <a:cs typeface="Dubai" panose="020B0503030403030204" pitchFamily="34" charset="-78"/>
              </a:rPr>
              <a:t>Tabella delle task</a:t>
            </a:r>
          </a:p>
        </p:txBody>
      </p:sp>
      <p:pic>
        <p:nvPicPr>
          <p:cNvPr id="13" name="Immagine 12" descr="Immagine che contiene testo, schermata, software, Carattere&#10;&#10;Il contenuto generato dall'IA potrebbe non essere corretto.">
            <a:extLst>
              <a:ext uri="{FF2B5EF4-FFF2-40B4-BE49-F238E27FC236}">
                <a16:creationId xmlns:a16="http://schemas.microsoft.com/office/drawing/2014/main" id="{883132F8-BCA8-BC28-B791-8ABAEEFA29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9915"/>
          <a:stretch/>
        </p:blipFill>
        <p:spPr>
          <a:xfrm>
            <a:off x="13204452" y="3419289"/>
            <a:ext cx="6107983" cy="1684800"/>
          </a:xfrm>
          <a:prstGeom prst="rect">
            <a:avLst/>
          </a:prstGeom>
        </p:spPr>
      </p:pic>
      <p:pic>
        <p:nvPicPr>
          <p:cNvPr id="14" name="Immagine 13" descr="Immagine che contiene testo, schermata, Carattere, software&#10;&#10;Il contenuto generato dall'IA potrebbe non essere corretto.">
            <a:extLst>
              <a:ext uri="{FF2B5EF4-FFF2-40B4-BE49-F238E27FC236}">
                <a16:creationId xmlns:a16="http://schemas.microsoft.com/office/drawing/2014/main" id="{3F029842-332D-FCFA-A762-F5E9DBFC458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37" b="58917"/>
          <a:stretch/>
        </p:blipFill>
        <p:spPr>
          <a:xfrm>
            <a:off x="13204452" y="1106475"/>
            <a:ext cx="6109200" cy="1684800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C1FEFE9-FC37-DA9B-89F0-DA68BC5BE730}"/>
              </a:ext>
            </a:extLst>
          </p:cNvPr>
          <p:cNvSpPr txBox="1"/>
          <p:nvPr/>
        </p:nvSpPr>
        <p:spPr>
          <a:xfrm>
            <a:off x="15620192" y="5164964"/>
            <a:ext cx="12787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latin typeface="Dubai" panose="020B0503030403030204" pitchFamily="34" charset="-78"/>
                <a:cs typeface="Dubai" panose="020B0503030403030204" pitchFamily="34" charset="-78"/>
              </a:rPr>
              <a:t>Tabella delle offerte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8A1CB39-57BF-917F-E94A-1487B3FABD00}"/>
              </a:ext>
            </a:extLst>
          </p:cNvPr>
          <p:cNvSpPr txBox="1"/>
          <p:nvPr/>
        </p:nvSpPr>
        <p:spPr>
          <a:xfrm>
            <a:off x="15448970" y="2782153"/>
            <a:ext cx="16211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latin typeface="Dubai" panose="020B0503030403030204" pitchFamily="34" charset="-78"/>
                <a:cs typeface="Dubai" panose="020B0503030403030204" pitchFamily="34" charset="-78"/>
              </a:rPr>
              <a:t>Tabella degli appuntamenti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B507E06-4D18-EE77-68CC-978A2BA6135E}"/>
              </a:ext>
            </a:extLst>
          </p:cNvPr>
          <p:cNvSpPr txBox="1"/>
          <p:nvPr/>
        </p:nvSpPr>
        <p:spPr>
          <a:xfrm>
            <a:off x="-8438" y="-7977"/>
            <a:ext cx="4902708" cy="635815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586C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export</a:t>
            </a: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const</a:t>
            </a: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CustomersTable</a:t>
            </a: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=</a:t>
            </a: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()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=&gt;</a:t>
            </a: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const</a:t>
            </a: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{ </a:t>
            </a:r>
            <a:r>
              <a:rPr lang="it-IT" sz="1050" b="0" dirty="0">
                <a:solidFill>
                  <a:srgbClr val="4FC1FF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t</a:t>
            </a: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} 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=</a:t>
            </a: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useTranslation</a:t>
            </a: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();</a:t>
            </a:r>
          </a:p>
          <a:p>
            <a:pPr>
              <a:lnSpc>
                <a:spcPts val="1425"/>
              </a:lnSpc>
              <a:buNone/>
            </a:pPr>
            <a:b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</a:t>
            </a:r>
            <a:r>
              <a:rPr lang="it-IT" sz="1050" b="0" dirty="0" err="1">
                <a:solidFill>
                  <a:srgbClr val="C586C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return</a:t>
            </a: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(</a:t>
            </a: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&lt;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CrudDataTable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url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=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"/customers"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form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=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CustomerForm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params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=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is_customer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: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true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}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tabs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=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item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=&gt;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{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</a:t>
            </a:r>
            <a:r>
              <a:rPr lang="it-IT" sz="1050" b="0" dirty="0" err="1">
                <a:solidFill>
                  <a:srgbClr val="C586C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return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[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{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label: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"Referenti"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),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key: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"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referents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"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children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: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(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  </a:t>
            </a:r>
            <a:r>
              <a:rPr lang="it-IT" sz="1050" b="0" dirty="0">
                <a:solidFill>
                  <a:srgbClr val="80808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&lt;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ReferentTable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url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=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`/customers/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${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item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?.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id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/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referents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`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/&gt;</a:t>
            </a: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),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}, …</a:t>
            </a: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dirty="0">
                <a:latin typeface="Dubai" panose="020B0503030403030204" pitchFamily="34" charset="-78"/>
                <a:cs typeface="Dubai" panose="020B0503030403030204" pitchFamily="34" charset="-78"/>
              </a:rPr>
              <a:t>…</a:t>
            </a: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       ];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}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columns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=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[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 {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  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title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: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"Ragione sociale"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),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  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dataIndex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: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"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business_name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"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  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detail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: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true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  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sorter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: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true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  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search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: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true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  }, …</a:t>
            </a:r>
            <a:endParaRPr lang="it-IT" sz="105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dirty="0">
                <a:solidFill>
                  <a:srgbClr val="D4D4D4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     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]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/&gt;</a:t>
            </a: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);</a:t>
            </a:r>
          </a:p>
          <a:p>
            <a:pPr>
              <a:lnSpc>
                <a:spcPts val="1425"/>
              </a:lnSpc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};</a:t>
            </a:r>
          </a:p>
          <a:p>
            <a:endParaRPr lang="it-IT" sz="105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486418C2-5F31-5DCE-34C6-DC8C616E57F7}"/>
              </a:ext>
            </a:extLst>
          </p:cNvPr>
          <p:cNvSpPr/>
          <p:nvPr/>
        </p:nvSpPr>
        <p:spPr>
          <a:xfrm>
            <a:off x="5450316" y="1471230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 err="1">
                <a:solidFill>
                  <a:schemeClr val="tx1"/>
                </a:solidFill>
              </a:rPr>
              <a:t>url</a:t>
            </a:r>
            <a:endParaRPr lang="it-IT" sz="2800" b="1" dirty="0">
              <a:solidFill>
                <a:schemeClr val="tx1"/>
              </a:solidFill>
            </a:endParaRPr>
          </a:p>
          <a:p>
            <a:pPr algn="ctr"/>
            <a:r>
              <a:rPr lang="it-IT" dirty="0">
                <a:solidFill>
                  <a:schemeClr val="tx1"/>
                </a:solidFill>
              </a:rPr>
              <a:t>Fetch al database</a:t>
            </a:r>
            <a:endParaRPr lang="it-IT" sz="2800" dirty="0">
              <a:solidFill>
                <a:schemeClr val="tx1"/>
              </a:solidFill>
            </a:endParaRP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CD3ADCC6-0EF4-12AE-246B-A454C2900A47}"/>
              </a:ext>
            </a:extLst>
          </p:cNvPr>
          <p:cNvSpPr/>
          <p:nvPr/>
        </p:nvSpPr>
        <p:spPr>
          <a:xfrm>
            <a:off x="8985131" y="1471230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chemeClr val="tx1"/>
                </a:solidFill>
              </a:rPr>
              <a:t>form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Modulo di creazione</a:t>
            </a:r>
            <a:endParaRPr lang="it-IT" sz="2800" dirty="0">
              <a:solidFill>
                <a:schemeClr val="tx1"/>
              </a:solidFill>
            </a:endParaRP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336D38F1-3F4C-D2BE-2877-22330E7B2FE0}"/>
              </a:ext>
            </a:extLst>
          </p:cNvPr>
          <p:cNvSpPr/>
          <p:nvPr/>
        </p:nvSpPr>
        <p:spPr>
          <a:xfrm>
            <a:off x="5450316" y="3028374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 err="1">
                <a:solidFill>
                  <a:schemeClr val="tx1"/>
                </a:solidFill>
              </a:rPr>
              <a:t>params</a:t>
            </a:r>
            <a:endParaRPr lang="it-IT" sz="2800" b="1" dirty="0">
              <a:solidFill>
                <a:schemeClr val="tx1"/>
              </a:solidFill>
            </a:endParaRPr>
          </a:p>
          <a:p>
            <a:pPr algn="ctr"/>
            <a:r>
              <a:rPr lang="it-IT" dirty="0">
                <a:solidFill>
                  <a:schemeClr val="tx1"/>
                </a:solidFill>
              </a:rPr>
              <a:t>Parametri per i filtri</a:t>
            </a:r>
            <a:endParaRPr lang="it-IT" sz="2800" dirty="0">
              <a:solidFill>
                <a:schemeClr val="tx1"/>
              </a:solidFill>
            </a:endParaRP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480B526E-57B6-7E9F-29A0-A494F9A700E4}"/>
              </a:ext>
            </a:extLst>
          </p:cNvPr>
          <p:cNvSpPr/>
          <p:nvPr/>
        </p:nvSpPr>
        <p:spPr>
          <a:xfrm>
            <a:off x="7242968" y="4538629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 err="1">
                <a:solidFill>
                  <a:schemeClr val="tx1"/>
                </a:solidFill>
              </a:rPr>
              <a:t>columns</a:t>
            </a:r>
            <a:endParaRPr lang="it-IT" sz="2800" b="1" dirty="0">
              <a:solidFill>
                <a:schemeClr val="tx1"/>
              </a:solidFill>
            </a:endParaRPr>
          </a:p>
          <a:p>
            <a:pPr algn="ctr"/>
            <a:r>
              <a:rPr lang="it-IT" dirty="0">
                <a:solidFill>
                  <a:schemeClr val="tx1"/>
                </a:solidFill>
              </a:rPr>
              <a:t>Colonne da visualizzare</a:t>
            </a: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EEF6D19C-C966-0163-C1A2-4B13948A5133}"/>
              </a:ext>
            </a:extLst>
          </p:cNvPr>
          <p:cNvSpPr/>
          <p:nvPr/>
        </p:nvSpPr>
        <p:spPr>
          <a:xfrm>
            <a:off x="8985132" y="3030144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 err="1">
                <a:solidFill>
                  <a:schemeClr val="tx1"/>
                </a:solidFill>
              </a:rPr>
              <a:t>tabs</a:t>
            </a:r>
            <a:endParaRPr lang="it-IT" sz="2800" b="1" dirty="0">
              <a:solidFill>
                <a:schemeClr val="tx1"/>
              </a:solidFill>
            </a:endParaRPr>
          </a:p>
          <a:p>
            <a:pPr algn="ctr"/>
            <a:r>
              <a:rPr lang="it-IT" dirty="0">
                <a:solidFill>
                  <a:schemeClr val="tx1"/>
                </a:solidFill>
              </a:rPr>
              <a:t>Sottosezioni nel dettaglio di un elemento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FD6B1864-CCA8-3BF6-657F-BC3491E94629}"/>
              </a:ext>
            </a:extLst>
          </p:cNvPr>
          <p:cNvGrpSpPr/>
          <p:nvPr/>
        </p:nvGrpSpPr>
        <p:grpSpPr>
          <a:xfrm>
            <a:off x="-1" y="6247106"/>
            <a:ext cx="12188953" cy="610894"/>
            <a:chOff x="0" y="0"/>
            <a:chExt cx="4800628" cy="244580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949C06F8-DC95-D311-472E-9EEA0FFB0F88}"/>
                </a:ext>
              </a:extLst>
            </p:cNvPr>
            <p:cNvSpPr/>
            <p:nvPr/>
          </p:nvSpPr>
          <p:spPr>
            <a:xfrm>
              <a:off x="0" y="0"/>
              <a:ext cx="4800628" cy="244580"/>
            </a:xfrm>
            <a:custGeom>
              <a:avLst/>
              <a:gdLst/>
              <a:ahLst/>
              <a:cxnLst/>
              <a:rect l="l" t="t" r="r" b="b"/>
              <a:pathLst>
                <a:path w="4800628" h="244580">
                  <a:moveTo>
                    <a:pt x="0" y="0"/>
                  </a:moveTo>
                  <a:lnTo>
                    <a:pt x="4800628" y="0"/>
                  </a:lnTo>
                  <a:lnTo>
                    <a:pt x="4800628" y="244580"/>
                  </a:lnTo>
                  <a:lnTo>
                    <a:pt x="0" y="244580"/>
                  </a:lnTo>
                  <a:close/>
                </a:path>
              </a:pathLst>
            </a:custGeom>
            <a:solidFill>
              <a:srgbClr val="283030"/>
            </a:solidFill>
          </p:spPr>
          <p:txBody>
            <a:bodyPr/>
            <a:lstStyle/>
            <a:p>
              <a:endParaRPr lang="it-IT">
                <a:solidFill>
                  <a:srgbClr val="283030"/>
                </a:solidFill>
              </a:endParaRPr>
            </a:p>
          </p:txBody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AE88CDA4-139B-2794-C9B1-27809E67C1DC}"/>
                </a:ext>
              </a:extLst>
            </p:cNvPr>
            <p:cNvSpPr txBox="1"/>
            <p:nvPr/>
          </p:nvSpPr>
          <p:spPr>
            <a:xfrm>
              <a:off x="0" y="-38100"/>
              <a:ext cx="4800628" cy="282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7" name="Picture 34">
            <a:extLst>
              <a:ext uri="{FF2B5EF4-FFF2-40B4-BE49-F238E27FC236}">
                <a16:creationId xmlns:a16="http://schemas.microsoft.com/office/drawing/2014/main" id="{9DC4415E-8624-63A8-E2B8-7B61D8953F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9593" y="6247106"/>
            <a:ext cx="1989763" cy="630092"/>
          </a:xfrm>
          <a:prstGeom prst="rect">
            <a:avLst/>
          </a:prstGeom>
        </p:spPr>
      </p:pic>
      <p:sp>
        <p:nvSpPr>
          <p:cNvPr id="8" name="TextBox 40">
            <a:extLst>
              <a:ext uri="{FF2B5EF4-FFF2-40B4-BE49-F238E27FC236}">
                <a16:creationId xmlns:a16="http://schemas.microsoft.com/office/drawing/2014/main" id="{102E8358-0CDC-DB87-E585-88991C7C65F9}"/>
              </a:ext>
            </a:extLst>
          </p:cNvPr>
          <p:cNvSpPr txBox="1"/>
          <p:nvPr/>
        </p:nvSpPr>
        <p:spPr>
          <a:xfrm>
            <a:off x="5890161" y="6078583"/>
            <a:ext cx="408626" cy="666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3434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7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4F3E5214-66C2-0820-5956-820E483513BB}"/>
              </a:ext>
            </a:extLst>
          </p:cNvPr>
          <p:cNvSpPr txBox="1"/>
          <p:nvPr/>
        </p:nvSpPr>
        <p:spPr>
          <a:xfrm>
            <a:off x="9134856" y="6091068"/>
            <a:ext cx="2788920" cy="704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179"/>
              </a:lnSpc>
              <a:spcBef>
                <a:spcPct val="0"/>
              </a:spcBef>
            </a:pPr>
            <a:r>
              <a:rPr lang="en-US" sz="2800" b="1" dirty="0" err="1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a.a.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2023/2024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B2A9C22D-1053-44BF-9265-75ED58441326}"/>
              </a:ext>
            </a:extLst>
          </p:cNvPr>
          <p:cNvSpPr txBox="1"/>
          <p:nvPr/>
        </p:nvSpPr>
        <p:spPr>
          <a:xfrm>
            <a:off x="268224" y="6338252"/>
            <a:ext cx="4320540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Martin Trajkovski 335566</a:t>
            </a: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5378EBA6-CA89-6AE2-8C6C-949D8F402201}"/>
              </a:ext>
            </a:extLst>
          </p:cNvPr>
          <p:cNvSpPr/>
          <p:nvPr/>
        </p:nvSpPr>
        <p:spPr>
          <a:xfrm>
            <a:off x="11500808" y="80"/>
            <a:ext cx="691192" cy="593848"/>
          </a:xfrm>
          <a:custGeom>
            <a:avLst/>
            <a:gdLst/>
            <a:ahLst/>
            <a:cxnLst/>
            <a:rect l="l" t="t" r="r" b="b"/>
            <a:pathLst>
              <a:path w="3573314" h="3232998">
                <a:moveTo>
                  <a:pt x="0" y="0"/>
                </a:moveTo>
                <a:lnTo>
                  <a:pt x="3573314" y="0"/>
                </a:lnTo>
                <a:lnTo>
                  <a:pt x="3573314" y="3232998"/>
                </a:lnTo>
                <a:lnTo>
                  <a:pt x="0" y="32329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/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916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D1945-8B52-1638-ED59-B5F71DDF3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 descr="Immagine che contiene neve&#10;&#10;Il contenuto generato dall'IA potrebbe non essere corretto.">
            <a:extLst>
              <a:ext uri="{FF2B5EF4-FFF2-40B4-BE49-F238E27FC236}">
                <a16:creationId xmlns:a16="http://schemas.microsoft.com/office/drawing/2014/main" id="{F13DEEA8-798C-98FB-3727-6E5309B08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" y="0"/>
            <a:ext cx="12185904" cy="6858000"/>
          </a:xfrm>
          <a:prstGeom prst="rect">
            <a:avLst/>
          </a:prstGeom>
        </p:spPr>
      </p:pic>
      <p:grpSp>
        <p:nvGrpSpPr>
          <p:cNvPr id="2" name="Group 4">
            <a:extLst>
              <a:ext uri="{FF2B5EF4-FFF2-40B4-BE49-F238E27FC236}">
                <a16:creationId xmlns:a16="http://schemas.microsoft.com/office/drawing/2014/main" id="{8DE94E72-01AA-AF3A-22B8-73E95E4F1A89}"/>
              </a:ext>
            </a:extLst>
          </p:cNvPr>
          <p:cNvGrpSpPr/>
          <p:nvPr/>
        </p:nvGrpSpPr>
        <p:grpSpPr>
          <a:xfrm>
            <a:off x="-1" y="6247106"/>
            <a:ext cx="12188953" cy="610894"/>
            <a:chOff x="0" y="0"/>
            <a:chExt cx="4800628" cy="244580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3AEA7F7D-340D-DDCD-B6AB-944589CC5AA3}"/>
                </a:ext>
              </a:extLst>
            </p:cNvPr>
            <p:cNvSpPr/>
            <p:nvPr/>
          </p:nvSpPr>
          <p:spPr>
            <a:xfrm>
              <a:off x="0" y="0"/>
              <a:ext cx="4800628" cy="244580"/>
            </a:xfrm>
            <a:custGeom>
              <a:avLst/>
              <a:gdLst/>
              <a:ahLst/>
              <a:cxnLst/>
              <a:rect l="l" t="t" r="r" b="b"/>
              <a:pathLst>
                <a:path w="4800628" h="244580">
                  <a:moveTo>
                    <a:pt x="0" y="0"/>
                  </a:moveTo>
                  <a:lnTo>
                    <a:pt x="4800628" y="0"/>
                  </a:lnTo>
                  <a:lnTo>
                    <a:pt x="4800628" y="244580"/>
                  </a:lnTo>
                  <a:lnTo>
                    <a:pt x="0" y="244580"/>
                  </a:lnTo>
                  <a:close/>
                </a:path>
              </a:pathLst>
            </a:custGeom>
            <a:solidFill>
              <a:srgbClr val="283030"/>
            </a:solidFill>
          </p:spPr>
          <p:txBody>
            <a:bodyPr/>
            <a:lstStyle/>
            <a:p>
              <a:endParaRPr lang="it-IT">
                <a:solidFill>
                  <a:srgbClr val="283030"/>
                </a:solidFill>
              </a:endParaRPr>
            </a:p>
          </p:txBody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FE0A712D-4904-0785-51BA-9E7D2A26A546}"/>
                </a:ext>
              </a:extLst>
            </p:cNvPr>
            <p:cNvSpPr txBox="1"/>
            <p:nvPr/>
          </p:nvSpPr>
          <p:spPr>
            <a:xfrm>
              <a:off x="0" y="-38100"/>
              <a:ext cx="4800628" cy="282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7" name="Picture 34">
            <a:extLst>
              <a:ext uri="{FF2B5EF4-FFF2-40B4-BE49-F238E27FC236}">
                <a16:creationId xmlns:a16="http://schemas.microsoft.com/office/drawing/2014/main" id="{66F12CDD-8BA7-2177-6A31-A5C2DFBC6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9593" y="6247106"/>
            <a:ext cx="1989763" cy="630092"/>
          </a:xfrm>
          <a:prstGeom prst="rect">
            <a:avLst/>
          </a:prstGeom>
        </p:spPr>
      </p:pic>
      <p:sp>
        <p:nvSpPr>
          <p:cNvPr id="8" name="TextBox 40">
            <a:extLst>
              <a:ext uri="{FF2B5EF4-FFF2-40B4-BE49-F238E27FC236}">
                <a16:creationId xmlns:a16="http://schemas.microsoft.com/office/drawing/2014/main" id="{1E6AC365-2B5B-78FB-0843-CD951663EFF2}"/>
              </a:ext>
            </a:extLst>
          </p:cNvPr>
          <p:cNvSpPr txBox="1"/>
          <p:nvPr/>
        </p:nvSpPr>
        <p:spPr>
          <a:xfrm>
            <a:off x="5890161" y="6078583"/>
            <a:ext cx="408626" cy="666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3434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8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BAC0F995-1CAF-EC32-1131-F2C4F88BA9A4}"/>
              </a:ext>
            </a:extLst>
          </p:cNvPr>
          <p:cNvSpPr txBox="1"/>
          <p:nvPr/>
        </p:nvSpPr>
        <p:spPr>
          <a:xfrm>
            <a:off x="9134856" y="6091068"/>
            <a:ext cx="2788920" cy="704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179"/>
              </a:lnSpc>
              <a:spcBef>
                <a:spcPct val="0"/>
              </a:spcBef>
            </a:pPr>
            <a:r>
              <a:rPr lang="en-US" sz="2800" b="1" dirty="0" err="1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a.a.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2023/2024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3C889A61-F83C-4F45-E48C-BE1ADF4BD38A}"/>
              </a:ext>
            </a:extLst>
          </p:cNvPr>
          <p:cNvSpPr txBox="1"/>
          <p:nvPr/>
        </p:nvSpPr>
        <p:spPr>
          <a:xfrm>
            <a:off x="268224" y="6338252"/>
            <a:ext cx="4320540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Martin Trajkovski 335566</a:t>
            </a:r>
          </a:p>
        </p:txBody>
      </p:sp>
      <p:pic>
        <p:nvPicPr>
          <p:cNvPr id="11" name="Immagine 10" descr="Immagine che contiene testo, schermata, software, Carattere&#10;&#10;Il contenuto generato dall'IA potrebbe non essere corretto.">
            <a:extLst>
              <a:ext uri="{FF2B5EF4-FFF2-40B4-BE49-F238E27FC236}">
                <a16:creationId xmlns:a16="http://schemas.microsoft.com/office/drawing/2014/main" id="{93755FC5-9FD5-296D-F4A8-27E57901C0E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9915"/>
          <a:stretch/>
        </p:blipFill>
        <p:spPr>
          <a:xfrm>
            <a:off x="6079752" y="3419289"/>
            <a:ext cx="6107983" cy="1684800"/>
          </a:xfrm>
          <a:prstGeom prst="rect">
            <a:avLst/>
          </a:prstGeom>
        </p:spPr>
      </p:pic>
      <p:pic>
        <p:nvPicPr>
          <p:cNvPr id="12" name="Immagine 11" descr="Immagine che contiene testo, schermata, software, Carattere&#10;&#10;Il contenuto generato dall'IA potrebbe non essere corretto.">
            <a:extLst>
              <a:ext uri="{FF2B5EF4-FFF2-40B4-BE49-F238E27FC236}">
                <a16:creationId xmlns:a16="http://schemas.microsoft.com/office/drawing/2014/main" id="{7CD77E01-3131-B8FC-6F3D-DDBEBCC0130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9715"/>
          <a:stretch/>
        </p:blipFill>
        <p:spPr>
          <a:xfrm>
            <a:off x="0" y="3416252"/>
            <a:ext cx="6109200" cy="1687837"/>
          </a:xfrm>
          <a:prstGeom prst="rect">
            <a:avLst/>
          </a:prstGeom>
        </p:spPr>
      </p:pic>
      <p:pic>
        <p:nvPicPr>
          <p:cNvPr id="13" name="Immagine 12" descr="Immagine che contiene testo, schermata, software, schermo&#10;&#10;Il contenuto generato dall'IA potrebbe non essere corretto.">
            <a:extLst>
              <a:ext uri="{FF2B5EF4-FFF2-40B4-BE49-F238E27FC236}">
                <a16:creationId xmlns:a16="http://schemas.microsoft.com/office/drawing/2014/main" id="{0EF19955-444F-3D1C-C648-722B8AAF532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994" b="58794"/>
          <a:stretch/>
        </p:blipFill>
        <p:spPr>
          <a:xfrm>
            <a:off x="-1" y="1096875"/>
            <a:ext cx="6109200" cy="1684801"/>
          </a:xfrm>
          <a:prstGeom prst="rect">
            <a:avLst/>
          </a:prstGeom>
        </p:spPr>
      </p:pic>
      <p:pic>
        <p:nvPicPr>
          <p:cNvPr id="14" name="Immagine 13" descr="Immagine che contiene testo, schermata, Carattere, software&#10;&#10;Il contenuto generato dall'IA potrebbe non essere corretto.">
            <a:extLst>
              <a:ext uri="{FF2B5EF4-FFF2-40B4-BE49-F238E27FC236}">
                <a16:creationId xmlns:a16="http://schemas.microsoft.com/office/drawing/2014/main" id="{BDE9FAA4-465C-4119-E4BB-F83098502CC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937" b="58917"/>
          <a:stretch/>
        </p:blipFill>
        <p:spPr>
          <a:xfrm>
            <a:off x="6079752" y="1106475"/>
            <a:ext cx="6109200" cy="16848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EA30E-0EF4-ACF1-FBC4-C6624BD784A9}"/>
              </a:ext>
            </a:extLst>
          </p:cNvPr>
          <p:cNvSpPr txBox="1"/>
          <p:nvPr/>
        </p:nvSpPr>
        <p:spPr>
          <a:xfrm>
            <a:off x="8495492" y="5164964"/>
            <a:ext cx="12787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latin typeface="Dubai" panose="020B0503030403030204" pitchFamily="34" charset="-78"/>
                <a:cs typeface="Dubai" panose="020B0503030403030204" pitchFamily="34" charset="-78"/>
              </a:rPr>
              <a:t>Tabella delle offerte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903C103-7906-03CC-9869-8DC2C2903BA8}"/>
              </a:ext>
            </a:extLst>
          </p:cNvPr>
          <p:cNvSpPr txBox="1"/>
          <p:nvPr/>
        </p:nvSpPr>
        <p:spPr>
          <a:xfrm>
            <a:off x="8324270" y="2782153"/>
            <a:ext cx="16211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latin typeface="Dubai" panose="020B0503030403030204" pitchFamily="34" charset="-78"/>
                <a:cs typeface="Dubai" panose="020B0503030403030204" pitchFamily="34" charset="-78"/>
              </a:rPr>
              <a:t>Tabella degli appuntamenti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2C72A09-6A58-7835-3675-33D0DF70C8EC}"/>
              </a:ext>
            </a:extLst>
          </p:cNvPr>
          <p:cNvSpPr txBox="1"/>
          <p:nvPr/>
        </p:nvSpPr>
        <p:spPr>
          <a:xfrm>
            <a:off x="2439946" y="2782153"/>
            <a:ext cx="12293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latin typeface="Dubai" panose="020B0503030403030204" pitchFamily="34" charset="-78"/>
                <a:cs typeface="Dubai" panose="020B0503030403030204" pitchFamily="34" charset="-78"/>
              </a:rPr>
              <a:t>Tabella dei referenti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C570723-E948-ABD8-BCC2-FFC2D7BE2333}"/>
              </a:ext>
            </a:extLst>
          </p:cNvPr>
          <p:cNvSpPr txBox="1"/>
          <p:nvPr/>
        </p:nvSpPr>
        <p:spPr>
          <a:xfrm>
            <a:off x="2512446" y="5164963"/>
            <a:ext cx="10843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latin typeface="Dubai" panose="020B0503030403030204" pitchFamily="34" charset="-78"/>
                <a:cs typeface="Dubai" panose="020B0503030403030204" pitchFamily="34" charset="-78"/>
              </a:rPr>
              <a:t>Tabella delle task</a:t>
            </a: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0AC59EA1-F8E2-D0C3-2052-5E081561F376}"/>
              </a:ext>
            </a:extLst>
          </p:cNvPr>
          <p:cNvSpPr/>
          <p:nvPr/>
        </p:nvSpPr>
        <p:spPr>
          <a:xfrm>
            <a:off x="13173912" y="1471230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 err="1">
                <a:solidFill>
                  <a:schemeClr val="tx1"/>
                </a:solidFill>
              </a:rPr>
              <a:t>url</a:t>
            </a:r>
            <a:endParaRPr lang="it-IT" sz="2800" b="1" dirty="0">
              <a:solidFill>
                <a:schemeClr val="tx1"/>
              </a:solidFill>
            </a:endParaRPr>
          </a:p>
          <a:p>
            <a:pPr algn="ctr"/>
            <a:r>
              <a:rPr lang="it-IT" dirty="0">
                <a:solidFill>
                  <a:schemeClr val="tx1"/>
                </a:solidFill>
              </a:rPr>
              <a:t>Fetch al database</a:t>
            </a:r>
            <a:endParaRPr lang="it-IT" sz="2800" dirty="0">
              <a:solidFill>
                <a:schemeClr val="tx1"/>
              </a:solidFill>
            </a:endParaRP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E1E23C68-CA91-C115-8DB4-B09E6B447B59}"/>
              </a:ext>
            </a:extLst>
          </p:cNvPr>
          <p:cNvSpPr/>
          <p:nvPr/>
        </p:nvSpPr>
        <p:spPr>
          <a:xfrm>
            <a:off x="16708727" y="1471230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chemeClr val="tx1"/>
                </a:solidFill>
              </a:rPr>
              <a:t>form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Modulo di creazione</a:t>
            </a:r>
            <a:endParaRPr lang="it-IT" sz="2800" dirty="0">
              <a:solidFill>
                <a:schemeClr val="tx1"/>
              </a:solidFill>
            </a:endParaRP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A0F03041-1255-5DBB-FA07-1FB0FFAA01DB}"/>
              </a:ext>
            </a:extLst>
          </p:cNvPr>
          <p:cNvSpPr/>
          <p:nvPr/>
        </p:nvSpPr>
        <p:spPr>
          <a:xfrm>
            <a:off x="13173912" y="3028374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 err="1">
                <a:solidFill>
                  <a:schemeClr val="tx1"/>
                </a:solidFill>
              </a:rPr>
              <a:t>params</a:t>
            </a:r>
            <a:endParaRPr lang="it-IT" sz="2800" b="1" dirty="0">
              <a:solidFill>
                <a:schemeClr val="tx1"/>
              </a:solidFill>
            </a:endParaRPr>
          </a:p>
          <a:p>
            <a:pPr algn="ctr"/>
            <a:r>
              <a:rPr lang="it-IT" dirty="0">
                <a:solidFill>
                  <a:schemeClr val="tx1"/>
                </a:solidFill>
              </a:rPr>
              <a:t>Parametri per i filtri</a:t>
            </a:r>
            <a:endParaRPr lang="it-IT" sz="2800" dirty="0">
              <a:solidFill>
                <a:schemeClr val="tx1"/>
              </a:solidFill>
            </a:endParaRP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FB27FC24-2890-3900-0FCD-9BBB84342927}"/>
              </a:ext>
            </a:extLst>
          </p:cNvPr>
          <p:cNvSpPr/>
          <p:nvPr/>
        </p:nvSpPr>
        <p:spPr>
          <a:xfrm>
            <a:off x="14966564" y="4538629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 err="1">
                <a:solidFill>
                  <a:schemeClr val="tx1"/>
                </a:solidFill>
              </a:rPr>
              <a:t>columns</a:t>
            </a:r>
            <a:endParaRPr lang="it-IT" sz="2800" b="1" dirty="0">
              <a:solidFill>
                <a:schemeClr val="tx1"/>
              </a:solidFill>
            </a:endParaRPr>
          </a:p>
          <a:p>
            <a:pPr algn="ctr"/>
            <a:r>
              <a:rPr lang="it-IT" dirty="0">
                <a:solidFill>
                  <a:schemeClr val="tx1"/>
                </a:solidFill>
              </a:rPr>
              <a:t>Colonne da visualizzare</a:t>
            </a: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DBECDCD3-4CC3-E5B7-3A40-8F1E639862F7}"/>
              </a:ext>
            </a:extLst>
          </p:cNvPr>
          <p:cNvSpPr/>
          <p:nvPr/>
        </p:nvSpPr>
        <p:spPr>
          <a:xfrm>
            <a:off x="16708728" y="3030144"/>
            <a:ext cx="2655098" cy="931043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 err="1">
                <a:solidFill>
                  <a:schemeClr val="tx1"/>
                </a:solidFill>
              </a:rPr>
              <a:t>tabs</a:t>
            </a:r>
            <a:endParaRPr lang="it-IT" sz="2800" b="1" dirty="0">
              <a:solidFill>
                <a:schemeClr val="tx1"/>
              </a:solidFill>
            </a:endParaRPr>
          </a:p>
          <a:p>
            <a:pPr algn="ctr"/>
            <a:r>
              <a:rPr lang="it-IT" dirty="0">
                <a:solidFill>
                  <a:schemeClr val="tx1"/>
                </a:solidFill>
              </a:rPr>
              <a:t>Sottosezioni nel dettaglio di un elemento</a:t>
            </a:r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E5CEF351-FF36-4A12-2ACE-2D46039F4690}"/>
              </a:ext>
            </a:extLst>
          </p:cNvPr>
          <p:cNvSpPr/>
          <p:nvPr/>
        </p:nvSpPr>
        <p:spPr>
          <a:xfrm>
            <a:off x="11500808" y="80"/>
            <a:ext cx="691192" cy="593848"/>
          </a:xfrm>
          <a:custGeom>
            <a:avLst/>
            <a:gdLst/>
            <a:ahLst/>
            <a:cxnLst/>
            <a:rect l="l" t="t" r="r" b="b"/>
            <a:pathLst>
              <a:path w="3573314" h="3232998">
                <a:moveTo>
                  <a:pt x="0" y="0"/>
                </a:moveTo>
                <a:lnTo>
                  <a:pt x="3573314" y="0"/>
                </a:lnTo>
                <a:lnTo>
                  <a:pt x="3573314" y="3232998"/>
                </a:lnTo>
                <a:lnTo>
                  <a:pt x="0" y="32329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/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014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B520C-A3F0-53A5-A018-383A6FEB4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 descr="Immagine che contiene neve&#10;&#10;Il contenuto generato dall'IA potrebbe non essere corretto.">
            <a:extLst>
              <a:ext uri="{FF2B5EF4-FFF2-40B4-BE49-F238E27FC236}">
                <a16:creationId xmlns:a16="http://schemas.microsoft.com/office/drawing/2014/main" id="{B5A720CA-0130-19AE-EA0A-BA332025D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" y="0"/>
            <a:ext cx="12185904" cy="6858000"/>
          </a:xfrm>
          <a:prstGeom prst="rect">
            <a:avLst/>
          </a:prstGeom>
        </p:spPr>
      </p:pic>
      <p:grpSp>
        <p:nvGrpSpPr>
          <p:cNvPr id="2" name="Group 4">
            <a:extLst>
              <a:ext uri="{FF2B5EF4-FFF2-40B4-BE49-F238E27FC236}">
                <a16:creationId xmlns:a16="http://schemas.microsoft.com/office/drawing/2014/main" id="{2A811413-6BD4-6F39-CCBF-59456B056E46}"/>
              </a:ext>
            </a:extLst>
          </p:cNvPr>
          <p:cNvGrpSpPr/>
          <p:nvPr/>
        </p:nvGrpSpPr>
        <p:grpSpPr>
          <a:xfrm>
            <a:off x="-1" y="6247106"/>
            <a:ext cx="12188953" cy="610894"/>
            <a:chOff x="0" y="0"/>
            <a:chExt cx="4800628" cy="244580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809227B0-57F0-3E55-53E8-C09707AB1782}"/>
                </a:ext>
              </a:extLst>
            </p:cNvPr>
            <p:cNvSpPr/>
            <p:nvPr/>
          </p:nvSpPr>
          <p:spPr>
            <a:xfrm>
              <a:off x="0" y="0"/>
              <a:ext cx="4800628" cy="244580"/>
            </a:xfrm>
            <a:custGeom>
              <a:avLst/>
              <a:gdLst/>
              <a:ahLst/>
              <a:cxnLst/>
              <a:rect l="l" t="t" r="r" b="b"/>
              <a:pathLst>
                <a:path w="4800628" h="244580">
                  <a:moveTo>
                    <a:pt x="0" y="0"/>
                  </a:moveTo>
                  <a:lnTo>
                    <a:pt x="4800628" y="0"/>
                  </a:lnTo>
                  <a:lnTo>
                    <a:pt x="4800628" y="244580"/>
                  </a:lnTo>
                  <a:lnTo>
                    <a:pt x="0" y="244580"/>
                  </a:lnTo>
                  <a:close/>
                </a:path>
              </a:pathLst>
            </a:custGeom>
            <a:solidFill>
              <a:srgbClr val="283030"/>
            </a:solidFill>
          </p:spPr>
          <p:txBody>
            <a:bodyPr/>
            <a:lstStyle/>
            <a:p>
              <a:endParaRPr lang="it-IT">
                <a:solidFill>
                  <a:srgbClr val="283030"/>
                </a:solidFill>
              </a:endParaRPr>
            </a:p>
          </p:txBody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CB06FA40-2953-F2E5-2CD9-178C37557952}"/>
                </a:ext>
              </a:extLst>
            </p:cNvPr>
            <p:cNvSpPr txBox="1"/>
            <p:nvPr/>
          </p:nvSpPr>
          <p:spPr>
            <a:xfrm>
              <a:off x="0" y="-38100"/>
              <a:ext cx="4800628" cy="282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7" name="Picture 34">
            <a:extLst>
              <a:ext uri="{FF2B5EF4-FFF2-40B4-BE49-F238E27FC236}">
                <a16:creationId xmlns:a16="http://schemas.microsoft.com/office/drawing/2014/main" id="{5440CB0E-B285-BB16-90A3-996E10068F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9593" y="6247106"/>
            <a:ext cx="1989763" cy="630092"/>
          </a:xfrm>
          <a:prstGeom prst="rect">
            <a:avLst/>
          </a:prstGeom>
        </p:spPr>
      </p:pic>
      <p:sp>
        <p:nvSpPr>
          <p:cNvPr id="8" name="TextBox 40">
            <a:extLst>
              <a:ext uri="{FF2B5EF4-FFF2-40B4-BE49-F238E27FC236}">
                <a16:creationId xmlns:a16="http://schemas.microsoft.com/office/drawing/2014/main" id="{DBACADE1-BA8C-1819-1A31-488881EA60E5}"/>
              </a:ext>
            </a:extLst>
          </p:cNvPr>
          <p:cNvSpPr txBox="1"/>
          <p:nvPr/>
        </p:nvSpPr>
        <p:spPr>
          <a:xfrm>
            <a:off x="5890161" y="6078583"/>
            <a:ext cx="408626" cy="666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3434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9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E9E972BD-A21C-EB62-1CAA-1602893B2D66}"/>
              </a:ext>
            </a:extLst>
          </p:cNvPr>
          <p:cNvSpPr txBox="1"/>
          <p:nvPr/>
        </p:nvSpPr>
        <p:spPr>
          <a:xfrm>
            <a:off x="9134856" y="6091068"/>
            <a:ext cx="2788920" cy="704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179"/>
              </a:lnSpc>
              <a:spcBef>
                <a:spcPct val="0"/>
              </a:spcBef>
            </a:pPr>
            <a:r>
              <a:rPr lang="en-US" sz="2800" b="1" dirty="0" err="1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a.a.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2023/2024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F02F35F9-4659-F5F8-26FB-086AEBA92DDC}"/>
              </a:ext>
            </a:extLst>
          </p:cNvPr>
          <p:cNvSpPr txBox="1"/>
          <p:nvPr/>
        </p:nvSpPr>
        <p:spPr>
          <a:xfrm>
            <a:off x="268224" y="6338252"/>
            <a:ext cx="4320540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Martin Trajkovski 335566</a:t>
            </a:r>
          </a:p>
        </p:txBody>
      </p:sp>
      <p:pic>
        <p:nvPicPr>
          <p:cNvPr id="13" name="Immagine 12" descr="Immagine che contiene testo, schermata, software, schermo&#10;&#10;Il contenuto generato dall'IA potrebbe non essere corretto.">
            <a:extLst>
              <a:ext uri="{FF2B5EF4-FFF2-40B4-BE49-F238E27FC236}">
                <a16:creationId xmlns:a16="http://schemas.microsoft.com/office/drawing/2014/main" id="{78D29577-86C4-0A93-6C63-99BB55F7C9D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94" b="58794"/>
          <a:stretch/>
        </p:blipFill>
        <p:spPr>
          <a:xfrm>
            <a:off x="2128484" y="1351412"/>
            <a:ext cx="8340605" cy="2300180"/>
          </a:xfrm>
          <a:prstGeom prst="rect">
            <a:avLst/>
          </a:prstGeom>
        </p:spPr>
      </p:pic>
      <p:sp>
        <p:nvSpPr>
          <p:cNvPr id="15" name="TextBox 11">
            <a:extLst>
              <a:ext uri="{FF2B5EF4-FFF2-40B4-BE49-F238E27FC236}">
                <a16:creationId xmlns:a16="http://schemas.microsoft.com/office/drawing/2014/main" id="{E055A261-075F-7439-05C6-B24C04BEAEAA}"/>
              </a:ext>
            </a:extLst>
          </p:cNvPr>
          <p:cNvSpPr txBox="1"/>
          <p:nvPr/>
        </p:nvSpPr>
        <p:spPr>
          <a:xfrm>
            <a:off x="1" y="134898"/>
            <a:ext cx="1218895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it-IT" sz="40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I REFERENTI</a:t>
            </a:r>
            <a:endParaRPr lang="it-IT" sz="4000" b="1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4E877EB-5BAD-11AA-ADA8-019D04097FE9}"/>
              </a:ext>
            </a:extLst>
          </p:cNvPr>
          <p:cNvSpPr txBox="1"/>
          <p:nvPr/>
        </p:nvSpPr>
        <p:spPr>
          <a:xfrm>
            <a:off x="5455110" y="3666315"/>
            <a:ext cx="12787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latin typeface="Dubai" panose="020B0503030403030204" pitchFamily="34" charset="-78"/>
                <a:cs typeface="Dubai" panose="020B0503030403030204" pitchFamily="34" charset="-78"/>
              </a:rPr>
              <a:t>Tabella dei referenti</a:t>
            </a:r>
          </a:p>
        </p:txBody>
      </p:sp>
      <p:pic>
        <p:nvPicPr>
          <p:cNvPr id="6" name="Immagine 5" descr="Immagine che contiene testo, schermata, software, Carattere&#10;&#10;Il contenuto generato dall'IA potrebbe non essere corretto.">
            <a:extLst>
              <a:ext uri="{FF2B5EF4-FFF2-40B4-BE49-F238E27FC236}">
                <a16:creationId xmlns:a16="http://schemas.microsoft.com/office/drawing/2014/main" id="{08C9D990-C635-845E-B08B-C7109719D70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9915"/>
          <a:stretch/>
        </p:blipFill>
        <p:spPr>
          <a:xfrm>
            <a:off x="13204452" y="3419289"/>
            <a:ext cx="6107983" cy="1684800"/>
          </a:xfrm>
          <a:prstGeom prst="rect">
            <a:avLst/>
          </a:prstGeom>
        </p:spPr>
      </p:pic>
      <p:pic>
        <p:nvPicPr>
          <p:cNvPr id="16" name="Immagine 15" descr="Immagine che contiene testo, schermata, Carattere, software&#10;&#10;Il contenuto generato dall'IA potrebbe non essere corretto.">
            <a:extLst>
              <a:ext uri="{FF2B5EF4-FFF2-40B4-BE49-F238E27FC236}">
                <a16:creationId xmlns:a16="http://schemas.microsoft.com/office/drawing/2014/main" id="{2342EED7-BA71-8EE3-00BF-0544C63F3F3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937" b="58917"/>
          <a:stretch/>
        </p:blipFill>
        <p:spPr>
          <a:xfrm>
            <a:off x="13204452" y="1106475"/>
            <a:ext cx="6109200" cy="1684800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A9B3DF4-B257-FFD3-86A0-87131CB790AE}"/>
              </a:ext>
            </a:extLst>
          </p:cNvPr>
          <p:cNvSpPr txBox="1"/>
          <p:nvPr/>
        </p:nvSpPr>
        <p:spPr>
          <a:xfrm>
            <a:off x="15620192" y="5164964"/>
            <a:ext cx="12787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latin typeface="Dubai" panose="020B0503030403030204" pitchFamily="34" charset="-78"/>
                <a:cs typeface="Dubai" panose="020B0503030403030204" pitchFamily="34" charset="-78"/>
              </a:rPr>
              <a:t>Tabella delle offerte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B05D327F-3665-EF90-EA13-4F512B976292}"/>
              </a:ext>
            </a:extLst>
          </p:cNvPr>
          <p:cNvSpPr txBox="1"/>
          <p:nvPr/>
        </p:nvSpPr>
        <p:spPr>
          <a:xfrm>
            <a:off x="15448970" y="2782153"/>
            <a:ext cx="16211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latin typeface="Dubai" panose="020B0503030403030204" pitchFamily="34" charset="-78"/>
                <a:cs typeface="Dubai" panose="020B0503030403030204" pitchFamily="34" charset="-78"/>
              </a:rPr>
              <a:t>Tabella degli appuntamenti</a:t>
            </a:r>
          </a:p>
        </p:txBody>
      </p:sp>
      <p:pic>
        <p:nvPicPr>
          <p:cNvPr id="19" name="Immagine 18" descr="Immagine che contiene testo, schermata, software, Carattere&#10;&#10;Il contenuto generato dall'IA potrebbe non essere corretto.">
            <a:extLst>
              <a:ext uri="{FF2B5EF4-FFF2-40B4-BE49-F238E27FC236}">
                <a16:creationId xmlns:a16="http://schemas.microsoft.com/office/drawing/2014/main" id="{8C518EF4-F230-C6D5-4594-4CBEFFE0C77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59715"/>
          <a:stretch/>
        </p:blipFill>
        <p:spPr>
          <a:xfrm>
            <a:off x="-7296150" y="3416252"/>
            <a:ext cx="6109200" cy="1687837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565EB3A8-94D7-6240-2F1D-A3320054FF8F}"/>
              </a:ext>
            </a:extLst>
          </p:cNvPr>
          <p:cNvSpPr txBox="1"/>
          <p:nvPr/>
        </p:nvSpPr>
        <p:spPr>
          <a:xfrm>
            <a:off x="-4783704" y="5164963"/>
            <a:ext cx="10843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latin typeface="Dubai" panose="020B0503030403030204" pitchFamily="34" charset="-78"/>
                <a:cs typeface="Dubai" panose="020B0503030403030204" pitchFamily="34" charset="-78"/>
              </a:rPr>
              <a:t>Tabella delle task</a:t>
            </a:r>
          </a:p>
        </p:txBody>
      </p:sp>
      <p:pic>
        <p:nvPicPr>
          <p:cNvPr id="23" name="Immagine 22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8CA7E153-27C3-650B-C9D4-977DEF7E3B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9297" y="4486343"/>
            <a:ext cx="3990351" cy="1037040"/>
          </a:xfrm>
          <a:prstGeom prst="rect">
            <a:avLst/>
          </a:prstGeom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C4ECAB34-A5AB-DDDF-6437-00E7E449A35F}"/>
              </a:ext>
            </a:extLst>
          </p:cNvPr>
          <p:cNvSpPr txBox="1"/>
          <p:nvPr/>
        </p:nvSpPr>
        <p:spPr>
          <a:xfrm>
            <a:off x="5559217" y="5531224"/>
            <a:ext cx="10705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latin typeface="Dubai" panose="020B0503030403030204" pitchFamily="34" charset="-78"/>
                <a:cs typeface="Dubai" panose="020B0503030403030204" pitchFamily="34" charset="-78"/>
              </a:rPr>
              <a:t>Dati in database</a:t>
            </a:r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692FC79B-0782-3710-BB3B-199047AE86B6}"/>
              </a:ext>
            </a:extLst>
          </p:cNvPr>
          <p:cNvSpPr/>
          <p:nvPr/>
        </p:nvSpPr>
        <p:spPr>
          <a:xfrm>
            <a:off x="13215137" y="3569946"/>
            <a:ext cx="1225296" cy="113157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Clienti</a:t>
            </a:r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2E365216-785E-78A1-2D3E-0AA3BD428AC9}"/>
              </a:ext>
            </a:extLst>
          </p:cNvPr>
          <p:cNvSpPr/>
          <p:nvPr/>
        </p:nvSpPr>
        <p:spPr>
          <a:xfrm>
            <a:off x="16268863" y="3569946"/>
            <a:ext cx="1225296" cy="113157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Lead</a:t>
            </a: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8F6ED896-0005-ACF8-6CE1-B0DFA483673C}"/>
              </a:ext>
            </a:extLst>
          </p:cNvPr>
          <p:cNvSpPr/>
          <p:nvPr/>
        </p:nvSpPr>
        <p:spPr>
          <a:xfrm>
            <a:off x="14742000" y="1699788"/>
            <a:ext cx="1225296" cy="113157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Referenti</a:t>
            </a:r>
          </a:p>
        </p:txBody>
      </p:sp>
      <p:sp>
        <p:nvSpPr>
          <p:cNvPr id="29" name="Freccia bidirezionale verticale 28">
            <a:extLst>
              <a:ext uri="{FF2B5EF4-FFF2-40B4-BE49-F238E27FC236}">
                <a16:creationId xmlns:a16="http://schemas.microsoft.com/office/drawing/2014/main" id="{2354591A-6CCF-213F-BCD4-8A0830140364}"/>
              </a:ext>
            </a:extLst>
          </p:cNvPr>
          <p:cNvSpPr/>
          <p:nvPr/>
        </p:nvSpPr>
        <p:spPr>
          <a:xfrm rot="8656893">
            <a:off x="15943496" y="2689511"/>
            <a:ext cx="374267" cy="998956"/>
          </a:xfrm>
          <a:prstGeom prst="upDownArrow">
            <a:avLst>
              <a:gd name="adj1" fmla="val 29781"/>
              <a:gd name="adj2" fmla="val 62740"/>
            </a:avLst>
          </a:prstGeom>
          <a:solidFill>
            <a:srgbClr val="9595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Freccia bidirezionale verticale 29">
            <a:extLst>
              <a:ext uri="{FF2B5EF4-FFF2-40B4-BE49-F238E27FC236}">
                <a16:creationId xmlns:a16="http://schemas.microsoft.com/office/drawing/2014/main" id="{DD32AB17-3E6D-9163-5ED8-92E3F21A79DE}"/>
              </a:ext>
            </a:extLst>
          </p:cNvPr>
          <p:cNvSpPr/>
          <p:nvPr/>
        </p:nvSpPr>
        <p:spPr>
          <a:xfrm rot="12943107" flipH="1">
            <a:off x="14391533" y="2689511"/>
            <a:ext cx="374267" cy="998956"/>
          </a:xfrm>
          <a:prstGeom prst="upDownArrow">
            <a:avLst>
              <a:gd name="adj1" fmla="val 29781"/>
              <a:gd name="adj2" fmla="val 62740"/>
            </a:avLst>
          </a:prstGeom>
          <a:solidFill>
            <a:srgbClr val="9595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F4E82140-EF32-FDD8-55B0-9289567549AC}"/>
              </a:ext>
            </a:extLst>
          </p:cNvPr>
          <p:cNvSpPr/>
          <p:nvPr/>
        </p:nvSpPr>
        <p:spPr>
          <a:xfrm>
            <a:off x="11500808" y="80"/>
            <a:ext cx="691192" cy="593848"/>
          </a:xfrm>
          <a:custGeom>
            <a:avLst/>
            <a:gdLst/>
            <a:ahLst/>
            <a:cxnLst/>
            <a:rect l="l" t="t" r="r" b="b"/>
            <a:pathLst>
              <a:path w="3573314" h="3232998">
                <a:moveTo>
                  <a:pt x="0" y="0"/>
                </a:moveTo>
                <a:lnTo>
                  <a:pt x="3573314" y="0"/>
                </a:lnTo>
                <a:lnTo>
                  <a:pt x="3573314" y="3232998"/>
                </a:lnTo>
                <a:lnTo>
                  <a:pt x="0" y="32329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999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F06A7-3A5B-3954-9CEE-892644DAD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 descr="Immagine che contiene neve&#10;&#10;Il contenuto generato dall'IA potrebbe non essere corretto.">
            <a:extLst>
              <a:ext uri="{FF2B5EF4-FFF2-40B4-BE49-F238E27FC236}">
                <a16:creationId xmlns:a16="http://schemas.microsoft.com/office/drawing/2014/main" id="{52EC964D-92FF-2277-3A69-F7D6C70F3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" y="0"/>
            <a:ext cx="12185904" cy="6858000"/>
          </a:xfrm>
          <a:prstGeom prst="rect">
            <a:avLst/>
          </a:prstGeom>
        </p:spPr>
      </p:pic>
      <p:grpSp>
        <p:nvGrpSpPr>
          <p:cNvPr id="2" name="Group 4">
            <a:extLst>
              <a:ext uri="{FF2B5EF4-FFF2-40B4-BE49-F238E27FC236}">
                <a16:creationId xmlns:a16="http://schemas.microsoft.com/office/drawing/2014/main" id="{29CBE828-94DD-AFD2-BC64-FEFE0B88B027}"/>
              </a:ext>
            </a:extLst>
          </p:cNvPr>
          <p:cNvGrpSpPr/>
          <p:nvPr/>
        </p:nvGrpSpPr>
        <p:grpSpPr>
          <a:xfrm>
            <a:off x="-1" y="6247106"/>
            <a:ext cx="12188953" cy="610894"/>
            <a:chOff x="0" y="0"/>
            <a:chExt cx="4800628" cy="244580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3373E414-2552-320E-6E63-35B18050DAAE}"/>
                </a:ext>
              </a:extLst>
            </p:cNvPr>
            <p:cNvSpPr/>
            <p:nvPr/>
          </p:nvSpPr>
          <p:spPr>
            <a:xfrm>
              <a:off x="0" y="0"/>
              <a:ext cx="4800628" cy="244580"/>
            </a:xfrm>
            <a:custGeom>
              <a:avLst/>
              <a:gdLst/>
              <a:ahLst/>
              <a:cxnLst/>
              <a:rect l="l" t="t" r="r" b="b"/>
              <a:pathLst>
                <a:path w="4800628" h="244580">
                  <a:moveTo>
                    <a:pt x="0" y="0"/>
                  </a:moveTo>
                  <a:lnTo>
                    <a:pt x="4800628" y="0"/>
                  </a:lnTo>
                  <a:lnTo>
                    <a:pt x="4800628" y="244580"/>
                  </a:lnTo>
                  <a:lnTo>
                    <a:pt x="0" y="244580"/>
                  </a:lnTo>
                  <a:close/>
                </a:path>
              </a:pathLst>
            </a:custGeom>
            <a:solidFill>
              <a:srgbClr val="283030"/>
            </a:solidFill>
          </p:spPr>
          <p:txBody>
            <a:bodyPr/>
            <a:lstStyle/>
            <a:p>
              <a:endParaRPr lang="it-IT">
                <a:solidFill>
                  <a:srgbClr val="283030"/>
                </a:solidFill>
              </a:endParaRPr>
            </a:p>
          </p:txBody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E0549D92-D41A-9DF7-B7EC-A6BF65B52B40}"/>
                </a:ext>
              </a:extLst>
            </p:cNvPr>
            <p:cNvSpPr txBox="1"/>
            <p:nvPr/>
          </p:nvSpPr>
          <p:spPr>
            <a:xfrm>
              <a:off x="0" y="-38100"/>
              <a:ext cx="4800628" cy="282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7" name="Picture 34">
            <a:extLst>
              <a:ext uri="{FF2B5EF4-FFF2-40B4-BE49-F238E27FC236}">
                <a16:creationId xmlns:a16="http://schemas.microsoft.com/office/drawing/2014/main" id="{0CE3405D-48B4-2484-96BE-59EB06B216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9593" y="6247106"/>
            <a:ext cx="1989763" cy="630092"/>
          </a:xfrm>
          <a:prstGeom prst="rect">
            <a:avLst/>
          </a:prstGeom>
        </p:spPr>
      </p:pic>
      <p:sp>
        <p:nvSpPr>
          <p:cNvPr id="8" name="TextBox 40">
            <a:extLst>
              <a:ext uri="{FF2B5EF4-FFF2-40B4-BE49-F238E27FC236}">
                <a16:creationId xmlns:a16="http://schemas.microsoft.com/office/drawing/2014/main" id="{07F670D2-C898-E4B6-1BEA-92A6DAFD3C1F}"/>
              </a:ext>
            </a:extLst>
          </p:cNvPr>
          <p:cNvSpPr txBox="1"/>
          <p:nvPr/>
        </p:nvSpPr>
        <p:spPr>
          <a:xfrm>
            <a:off x="5890161" y="6078583"/>
            <a:ext cx="408626" cy="666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3434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10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1116EF5E-3202-28EE-4959-3F3F197F4599}"/>
              </a:ext>
            </a:extLst>
          </p:cNvPr>
          <p:cNvSpPr txBox="1"/>
          <p:nvPr/>
        </p:nvSpPr>
        <p:spPr>
          <a:xfrm>
            <a:off x="9134856" y="6091068"/>
            <a:ext cx="2788920" cy="704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179"/>
              </a:lnSpc>
              <a:spcBef>
                <a:spcPct val="0"/>
              </a:spcBef>
            </a:pPr>
            <a:r>
              <a:rPr lang="en-US" sz="2800" b="1" dirty="0" err="1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a.a.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2023/2024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0E9E6679-5C4D-9BFE-5725-3AD1B3AF3116}"/>
              </a:ext>
            </a:extLst>
          </p:cNvPr>
          <p:cNvSpPr txBox="1"/>
          <p:nvPr/>
        </p:nvSpPr>
        <p:spPr>
          <a:xfrm>
            <a:off x="268224" y="6338252"/>
            <a:ext cx="4320540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Martin Trajkovski 335566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91F26A-9E37-D094-18CE-2C2488342AA8}"/>
              </a:ext>
            </a:extLst>
          </p:cNvPr>
          <p:cNvSpPr txBox="1"/>
          <p:nvPr/>
        </p:nvSpPr>
        <p:spPr>
          <a:xfrm>
            <a:off x="1" y="134898"/>
            <a:ext cx="1218895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it-IT" sz="40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LE RELAZIONI MORPH</a:t>
            </a:r>
            <a:endParaRPr lang="it-IT" sz="4000" b="1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pic>
        <p:nvPicPr>
          <p:cNvPr id="21" name="Immagine 20" descr="Immagine che contiene testo, schermata, software, schermo&#10;&#10;Il contenuto generato dall'IA potrebbe non essere corretto.">
            <a:extLst>
              <a:ext uri="{FF2B5EF4-FFF2-40B4-BE49-F238E27FC236}">
                <a16:creationId xmlns:a16="http://schemas.microsoft.com/office/drawing/2014/main" id="{F88FE494-42B5-F9FE-365F-6A1C668D44A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94" b="58794"/>
          <a:stretch/>
        </p:blipFill>
        <p:spPr>
          <a:xfrm>
            <a:off x="2128484" y="-2953888"/>
            <a:ext cx="8340605" cy="2300180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A0F424C9-DF9A-D056-0DBE-1BF39E00B4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93624" y="1359753"/>
            <a:ext cx="5624724" cy="3846249"/>
          </a:xfrm>
          <a:prstGeom prst="rect">
            <a:avLst/>
          </a:prstGeom>
        </p:spPr>
      </p:pic>
      <p:pic>
        <p:nvPicPr>
          <p:cNvPr id="14" name="Immagine 13" descr="Immagine che contiene testo, schermata, software, schermo&#10;&#10;Il contenuto generato dall'IA potrebbe non essere corretto.">
            <a:extLst>
              <a:ext uri="{FF2B5EF4-FFF2-40B4-BE49-F238E27FC236}">
                <a16:creationId xmlns:a16="http://schemas.microsoft.com/office/drawing/2014/main" id="{2E728400-51F7-8300-3EAA-B85E239EFF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24187" y="1347014"/>
            <a:ext cx="5624724" cy="3858988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D2CB1FF-5464-F7D6-B947-6F823615075F}"/>
              </a:ext>
            </a:extLst>
          </p:cNvPr>
          <p:cNvSpPr txBox="1"/>
          <p:nvPr/>
        </p:nvSpPr>
        <p:spPr>
          <a:xfrm>
            <a:off x="5455110" y="-677085"/>
            <a:ext cx="12787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latin typeface="Dubai" panose="020B0503030403030204" pitchFamily="34" charset="-78"/>
                <a:cs typeface="Dubai" panose="020B0503030403030204" pitchFamily="34" charset="-78"/>
              </a:rPr>
              <a:t>Tabella dei referenti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A5D2277-547D-1221-DB50-1F4E5DC29323}"/>
              </a:ext>
            </a:extLst>
          </p:cNvPr>
          <p:cNvSpPr txBox="1"/>
          <p:nvPr/>
        </p:nvSpPr>
        <p:spPr>
          <a:xfrm>
            <a:off x="15166622" y="5206002"/>
            <a:ext cx="12787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latin typeface="Dubai" panose="020B0503030403030204" pitchFamily="34" charset="-78"/>
                <a:cs typeface="Dubai" panose="020B0503030403030204" pitchFamily="34" charset="-78"/>
              </a:rPr>
              <a:t>Modifica dell’offerta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32FB9F2-E179-77E3-DFEA-AF1309C7DA91}"/>
              </a:ext>
            </a:extLst>
          </p:cNvPr>
          <p:cNvSpPr txBox="1"/>
          <p:nvPr/>
        </p:nvSpPr>
        <p:spPr>
          <a:xfrm>
            <a:off x="21197185" y="5206002"/>
            <a:ext cx="12787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latin typeface="Dubai" panose="020B0503030403030204" pitchFamily="34" charset="-78"/>
                <a:cs typeface="Dubai" panose="020B0503030403030204" pitchFamily="34" charset="-78"/>
              </a:rPr>
              <a:t>Modale di revisione</a:t>
            </a:r>
          </a:p>
        </p:txBody>
      </p:sp>
      <p:pic>
        <p:nvPicPr>
          <p:cNvPr id="19" name="Immagine 18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7BE1E1CA-7411-245F-3700-BAA211379D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5132" y="4117287"/>
            <a:ext cx="4496031" cy="1168460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122836D-4FD9-CBCC-F746-DB17819E8D27}"/>
              </a:ext>
            </a:extLst>
          </p:cNvPr>
          <p:cNvSpPr txBox="1"/>
          <p:nvPr/>
        </p:nvSpPr>
        <p:spPr>
          <a:xfrm>
            <a:off x="1441608" y="2220731"/>
            <a:ext cx="50319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Dubai" panose="020B0503030403030204" pitchFamily="34" charset="-78"/>
                <a:cs typeface="Dubai" panose="020B0503030403030204" pitchFamily="34" charset="-78"/>
              </a:rPr>
              <a:t>Le relazioni </a:t>
            </a:r>
            <a:r>
              <a:rPr lang="it-IT" dirty="0" err="1">
                <a:latin typeface="Dubai" panose="020B0503030403030204" pitchFamily="34" charset="-78"/>
                <a:cs typeface="Dubai" panose="020B0503030403030204" pitchFamily="34" charset="-78"/>
              </a:rPr>
              <a:t>morph</a:t>
            </a:r>
            <a:r>
              <a:rPr lang="it-IT" dirty="0">
                <a:latin typeface="Dubai" panose="020B0503030403030204" pitchFamily="34" charset="-78"/>
                <a:cs typeface="Dubai" panose="020B0503030403030204" pitchFamily="34" charset="-78"/>
              </a:rPr>
              <a:t> permettono a un modello di appartenere a più modelli su un'unica associazione, rendendo il database flessibile e riducendo la duplicazione di codice.</a:t>
            </a: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3EA90B6C-B7F8-0363-D6BF-FAC19C8712A6}"/>
              </a:ext>
            </a:extLst>
          </p:cNvPr>
          <p:cNvSpPr/>
          <p:nvPr/>
        </p:nvSpPr>
        <p:spPr>
          <a:xfrm>
            <a:off x="7391370" y="3569946"/>
            <a:ext cx="1225296" cy="113157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Clienti</a:t>
            </a:r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52D58D46-EC41-040C-CBDE-5C81D8A2FC9A}"/>
              </a:ext>
            </a:extLst>
          </p:cNvPr>
          <p:cNvSpPr/>
          <p:nvPr/>
        </p:nvSpPr>
        <p:spPr>
          <a:xfrm>
            <a:off x="10445096" y="3569946"/>
            <a:ext cx="1225296" cy="113157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Lead</a:t>
            </a:r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CA226BCA-BE0C-DDB7-A3B3-2F94C4E14CA3}"/>
              </a:ext>
            </a:extLst>
          </p:cNvPr>
          <p:cNvSpPr/>
          <p:nvPr/>
        </p:nvSpPr>
        <p:spPr>
          <a:xfrm>
            <a:off x="8918233" y="1699788"/>
            <a:ext cx="1225296" cy="113157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Referenti</a:t>
            </a:r>
          </a:p>
        </p:txBody>
      </p:sp>
      <p:sp>
        <p:nvSpPr>
          <p:cNvPr id="28" name="Freccia bidirezionale verticale 27">
            <a:extLst>
              <a:ext uri="{FF2B5EF4-FFF2-40B4-BE49-F238E27FC236}">
                <a16:creationId xmlns:a16="http://schemas.microsoft.com/office/drawing/2014/main" id="{EBB349BC-5038-47B5-848A-416968CD4356}"/>
              </a:ext>
            </a:extLst>
          </p:cNvPr>
          <p:cNvSpPr/>
          <p:nvPr/>
        </p:nvSpPr>
        <p:spPr>
          <a:xfrm rot="8656893">
            <a:off x="10119729" y="2689511"/>
            <a:ext cx="374267" cy="998956"/>
          </a:xfrm>
          <a:prstGeom prst="upDownArrow">
            <a:avLst>
              <a:gd name="adj1" fmla="val 29781"/>
              <a:gd name="adj2" fmla="val 62740"/>
            </a:avLst>
          </a:prstGeom>
          <a:solidFill>
            <a:srgbClr val="9595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Freccia bidirezionale verticale 29">
            <a:extLst>
              <a:ext uri="{FF2B5EF4-FFF2-40B4-BE49-F238E27FC236}">
                <a16:creationId xmlns:a16="http://schemas.microsoft.com/office/drawing/2014/main" id="{CE3689F5-4DAB-7B2D-9D16-BD3FC9ACDDE4}"/>
              </a:ext>
            </a:extLst>
          </p:cNvPr>
          <p:cNvSpPr/>
          <p:nvPr/>
        </p:nvSpPr>
        <p:spPr>
          <a:xfrm rot="12943107" flipH="1">
            <a:off x="8567766" y="2689511"/>
            <a:ext cx="374267" cy="998956"/>
          </a:xfrm>
          <a:prstGeom prst="upDownArrow">
            <a:avLst>
              <a:gd name="adj1" fmla="val 29781"/>
              <a:gd name="adj2" fmla="val 62740"/>
            </a:avLst>
          </a:prstGeom>
          <a:solidFill>
            <a:srgbClr val="9595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6E8FC67C-9702-F10B-9793-8D5E02F83046}"/>
              </a:ext>
            </a:extLst>
          </p:cNvPr>
          <p:cNvSpPr/>
          <p:nvPr/>
        </p:nvSpPr>
        <p:spPr>
          <a:xfrm>
            <a:off x="11500808" y="80"/>
            <a:ext cx="691192" cy="593848"/>
          </a:xfrm>
          <a:custGeom>
            <a:avLst/>
            <a:gdLst/>
            <a:ahLst/>
            <a:cxnLst/>
            <a:rect l="l" t="t" r="r" b="b"/>
            <a:pathLst>
              <a:path w="3573314" h="3232998">
                <a:moveTo>
                  <a:pt x="0" y="0"/>
                </a:moveTo>
                <a:lnTo>
                  <a:pt x="3573314" y="0"/>
                </a:lnTo>
                <a:lnTo>
                  <a:pt x="3573314" y="3232998"/>
                </a:lnTo>
                <a:lnTo>
                  <a:pt x="0" y="32329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/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4AA117A1-097D-51F0-0D22-93E0DEA5EBE4}"/>
              </a:ext>
            </a:extLst>
          </p:cNvPr>
          <p:cNvSpPr txBox="1"/>
          <p:nvPr/>
        </p:nvSpPr>
        <p:spPr>
          <a:xfrm>
            <a:off x="3037892" y="5312072"/>
            <a:ext cx="10705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latin typeface="Dubai" panose="020B0503030403030204" pitchFamily="34" charset="-78"/>
                <a:cs typeface="Dubai" panose="020B0503030403030204" pitchFamily="34" charset="-78"/>
              </a:rPr>
              <a:t>Dati in database</a:t>
            </a:r>
          </a:p>
        </p:txBody>
      </p:sp>
    </p:spTree>
    <p:extLst>
      <p:ext uri="{BB962C8B-B14F-4D97-AF65-F5344CB8AC3E}">
        <p14:creationId xmlns:p14="http://schemas.microsoft.com/office/powerpoint/2010/main" val="574498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3585D-211F-4E65-C319-4B44C9842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 descr="Immagine che contiene neve&#10;&#10;Il contenuto generato dall'IA potrebbe non essere corretto.">
            <a:extLst>
              <a:ext uri="{FF2B5EF4-FFF2-40B4-BE49-F238E27FC236}">
                <a16:creationId xmlns:a16="http://schemas.microsoft.com/office/drawing/2014/main" id="{D6DF22A8-2FC9-E34E-95A3-1E04BE149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" y="0"/>
            <a:ext cx="12185904" cy="6858000"/>
          </a:xfrm>
          <a:prstGeom prst="rect">
            <a:avLst/>
          </a:prstGeom>
        </p:spPr>
      </p:pic>
      <p:grpSp>
        <p:nvGrpSpPr>
          <p:cNvPr id="2" name="Group 4">
            <a:extLst>
              <a:ext uri="{FF2B5EF4-FFF2-40B4-BE49-F238E27FC236}">
                <a16:creationId xmlns:a16="http://schemas.microsoft.com/office/drawing/2014/main" id="{8FBEEF1F-93E0-A122-1CF9-A9EAA1B98642}"/>
              </a:ext>
            </a:extLst>
          </p:cNvPr>
          <p:cNvGrpSpPr/>
          <p:nvPr/>
        </p:nvGrpSpPr>
        <p:grpSpPr>
          <a:xfrm>
            <a:off x="-1" y="6247106"/>
            <a:ext cx="12188953" cy="610894"/>
            <a:chOff x="0" y="0"/>
            <a:chExt cx="4800628" cy="244580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D03C6C59-5C9A-74F5-497D-E7D85DD85C32}"/>
                </a:ext>
              </a:extLst>
            </p:cNvPr>
            <p:cNvSpPr/>
            <p:nvPr/>
          </p:nvSpPr>
          <p:spPr>
            <a:xfrm>
              <a:off x="0" y="0"/>
              <a:ext cx="4800628" cy="244580"/>
            </a:xfrm>
            <a:custGeom>
              <a:avLst/>
              <a:gdLst/>
              <a:ahLst/>
              <a:cxnLst/>
              <a:rect l="l" t="t" r="r" b="b"/>
              <a:pathLst>
                <a:path w="4800628" h="244580">
                  <a:moveTo>
                    <a:pt x="0" y="0"/>
                  </a:moveTo>
                  <a:lnTo>
                    <a:pt x="4800628" y="0"/>
                  </a:lnTo>
                  <a:lnTo>
                    <a:pt x="4800628" y="244580"/>
                  </a:lnTo>
                  <a:lnTo>
                    <a:pt x="0" y="244580"/>
                  </a:lnTo>
                  <a:close/>
                </a:path>
              </a:pathLst>
            </a:custGeom>
            <a:solidFill>
              <a:srgbClr val="283030"/>
            </a:solidFill>
          </p:spPr>
          <p:txBody>
            <a:bodyPr/>
            <a:lstStyle/>
            <a:p>
              <a:endParaRPr lang="it-IT">
                <a:solidFill>
                  <a:srgbClr val="283030"/>
                </a:solidFill>
              </a:endParaRPr>
            </a:p>
          </p:txBody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F77F04EF-F910-683E-B1DE-9BC3C9D75446}"/>
                </a:ext>
              </a:extLst>
            </p:cNvPr>
            <p:cNvSpPr txBox="1"/>
            <p:nvPr/>
          </p:nvSpPr>
          <p:spPr>
            <a:xfrm>
              <a:off x="0" y="-38100"/>
              <a:ext cx="4800628" cy="282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7" name="Picture 34">
            <a:extLst>
              <a:ext uri="{FF2B5EF4-FFF2-40B4-BE49-F238E27FC236}">
                <a16:creationId xmlns:a16="http://schemas.microsoft.com/office/drawing/2014/main" id="{E61208C4-150F-B330-5A4E-10C1EDF5E1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9593" y="6247106"/>
            <a:ext cx="1989763" cy="630092"/>
          </a:xfrm>
          <a:prstGeom prst="rect">
            <a:avLst/>
          </a:prstGeom>
        </p:spPr>
      </p:pic>
      <p:sp>
        <p:nvSpPr>
          <p:cNvPr id="8" name="TextBox 40">
            <a:extLst>
              <a:ext uri="{FF2B5EF4-FFF2-40B4-BE49-F238E27FC236}">
                <a16:creationId xmlns:a16="http://schemas.microsoft.com/office/drawing/2014/main" id="{C4C38755-BE1D-5D91-C08F-CDE2BEA4623C}"/>
              </a:ext>
            </a:extLst>
          </p:cNvPr>
          <p:cNvSpPr txBox="1"/>
          <p:nvPr/>
        </p:nvSpPr>
        <p:spPr>
          <a:xfrm>
            <a:off x="5890161" y="6078583"/>
            <a:ext cx="408626" cy="666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3434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11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C9F5F790-C9E1-C32C-5515-D68C74BC737A}"/>
              </a:ext>
            </a:extLst>
          </p:cNvPr>
          <p:cNvSpPr txBox="1"/>
          <p:nvPr/>
        </p:nvSpPr>
        <p:spPr>
          <a:xfrm>
            <a:off x="9134856" y="6091068"/>
            <a:ext cx="2788920" cy="704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179"/>
              </a:lnSpc>
              <a:spcBef>
                <a:spcPct val="0"/>
              </a:spcBef>
            </a:pPr>
            <a:r>
              <a:rPr lang="en-US" sz="2800" b="1" dirty="0" err="1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a.a.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2023/2024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ED00EDFB-816A-B921-4742-5A538F5AE716}"/>
              </a:ext>
            </a:extLst>
          </p:cNvPr>
          <p:cNvSpPr txBox="1"/>
          <p:nvPr/>
        </p:nvSpPr>
        <p:spPr>
          <a:xfrm>
            <a:off x="268224" y="6338252"/>
            <a:ext cx="4320540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Martin Trajkovski 335566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19B96C0E-6FF5-8550-D620-1ECEE3B01D1E}"/>
              </a:ext>
            </a:extLst>
          </p:cNvPr>
          <p:cNvSpPr txBox="1"/>
          <p:nvPr/>
        </p:nvSpPr>
        <p:spPr>
          <a:xfrm>
            <a:off x="1" y="134898"/>
            <a:ext cx="1218895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it-IT" sz="40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LE OFFERTE</a:t>
            </a:r>
            <a:endParaRPr lang="it-IT" sz="4000" b="1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E8600F83-7272-6903-1D18-C4BEEB8784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224" y="1359753"/>
            <a:ext cx="5624724" cy="3846249"/>
          </a:xfrm>
          <a:prstGeom prst="rect">
            <a:avLst/>
          </a:prstGeom>
        </p:spPr>
      </p:pic>
      <p:pic>
        <p:nvPicPr>
          <p:cNvPr id="16" name="Immagine 15" descr="Immagine che contiene testo, schermata, software, schermo&#10;&#10;Il contenuto generato dall'IA potrebbe non essere corretto.">
            <a:extLst>
              <a:ext uri="{FF2B5EF4-FFF2-40B4-BE49-F238E27FC236}">
                <a16:creationId xmlns:a16="http://schemas.microsoft.com/office/drawing/2014/main" id="{A1DE723C-1497-3285-A094-E82FC8C955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8787" y="1347014"/>
            <a:ext cx="5624724" cy="3858988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28360F76-F16F-6ADF-E8EB-A62CF23A3E76}"/>
              </a:ext>
            </a:extLst>
          </p:cNvPr>
          <p:cNvSpPr txBox="1"/>
          <p:nvPr/>
        </p:nvSpPr>
        <p:spPr>
          <a:xfrm>
            <a:off x="2441222" y="5230528"/>
            <a:ext cx="12787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latin typeface="Dubai" panose="020B0503030403030204" pitchFamily="34" charset="-78"/>
                <a:cs typeface="Dubai" panose="020B0503030403030204" pitchFamily="34" charset="-78"/>
              </a:rPr>
              <a:t>Modifica dell’offerta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590A8678-AA7B-D63F-E986-4C5D422814A5}"/>
              </a:ext>
            </a:extLst>
          </p:cNvPr>
          <p:cNvSpPr txBox="1"/>
          <p:nvPr/>
        </p:nvSpPr>
        <p:spPr>
          <a:xfrm>
            <a:off x="8471785" y="5230528"/>
            <a:ext cx="12787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latin typeface="Dubai" panose="020B0503030403030204" pitchFamily="34" charset="-78"/>
                <a:cs typeface="Dubai" panose="020B0503030403030204" pitchFamily="34" charset="-78"/>
              </a:rPr>
              <a:t>Modale di revisione</a:t>
            </a:r>
          </a:p>
        </p:txBody>
      </p:sp>
      <p:pic>
        <p:nvPicPr>
          <p:cNvPr id="24" name="Immagine 23" descr="Immagine che contiene testo, schermata, schermo, numero&#10;&#10;Il contenuto generato dall'IA potrebbe non essere corretto.">
            <a:extLst>
              <a:ext uri="{FF2B5EF4-FFF2-40B4-BE49-F238E27FC236}">
                <a16:creationId xmlns:a16="http://schemas.microsoft.com/office/drawing/2014/main" id="{C4635F98-6758-476B-68AA-34AD33611D5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125" b="56389"/>
          <a:stretch/>
        </p:blipFill>
        <p:spPr>
          <a:xfrm>
            <a:off x="15707144" y="-3010927"/>
            <a:ext cx="8092440" cy="2368868"/>
          </a:xfrm>
          <a:prstGeom prst="rect">
            <a:avLst/>
          </a:prstGeom>
        </p:spPr>
      </p:pic>
      <p:sp>
        <p:nvSpPr>
          <p:cNvPr id="31" name="Ovale 30">
            <a:extLst>
              <a:ext uri="{FF2B5EF4-FFF2-40B4-BE49-F238E27FC236}">
                <a16:creationId xmlns:a16="http://schemas.microsoft.com/office/drawing/2014/main" id="{07B64C69-0F98-41BC-4286-09FB14541561}"/>
              </a:ext>
            </a:extLst>
          </p:cNvPr>
          <p:cNvSpPr/>
          <p:nvPr/>
        </p:nvSpPr>
        <p:spPr>
          <a:xfrm>
            <a:off x="13215137" y="3569946"/>
            <a:ext cx="1225296" cy="113157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Clienti</a:t>
            </a:r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1F2A9780-B4F3-5A4E-79D9-65B347E3C262}"/>
              </a:ext>
            </a:extLst>
          </p:cNvPr>
          <p:cNvSpPr/>
          <p:nvPr/>
        </p:nvSpPr>
        <p:spPr>
          <a:xfrm>
            <a:off x="16268863" y="3569946"/>
            <a:ext cx="1225296" cy="113157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Lead</a:t>
            </a:r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A9ADB9FE-66C8-80D3-EDA9-18E2F67315C4}"/>
              </a:ext>
            </a:extLst>
          </p:cNvPr>
          <p:cNvSpPr/>
          <p:nvPr/>
        </p:nvSpPr>
        <p:spPr>
          <a:xfrm>
            <a:off x="14742000" y="1699788"/>
            <a:ext cx="1225296" cy="113157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Referenti</a:t>
            </a:r>
          </a:p>
        </p:txBody>
      </p:sp>
      <p:sp>
        <p:nvSpPr>
          <p:cNvPr id="34" name="Freccia bidirezionale verticale 33">
            <a:extLst>
              <a:ext uri="{FF2B5EF4-FFF2-40B4-BE49-F238E27FC236}">
                <a16:creationId xmlns:a16="http://schemas.microsoft.com/office/drawing/2014/main" id="{68AA401B-6E99-DBF7-446C-00C0248D92A9}"/>
              </a:ext>
            </a:extLst>
          </p:cNvPr>
          <p:cNvSpPr/>
          <p:nvPr/>
        </p:nvSpPr>
        <p:spPr>
          <a:xfrm rot="8656893">
            <a:off x="15943496" y="2689511"/>
            <a:ext cx="374267" cy="998956"/>
          </a:xfrm>
          <a:prstGeom prst="upDownArrow">
            <a:avLst>
              <a:gd name="adj1" fmla="val 29781"/>
              <a:gd name="adj2" fmla="val 62740"/>
            </a:avLst>
          </a:prstGeom>
          <a:solidFill>
            <a:srgbClr val="9595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Freccia bidirezionale verticale 34">
            <a:extLst>
              <a:ext uri="{FF2B5EF4-FFF2-40B4-BE49-F238E27FC236}">
                <a16:creationId xmlns:a16="http://schemas.microsoft.com/office/drawing/2014/main" id="{4854CD32-F60D-3EE2-4CA8-450C5A8CBC5B}"/>
              </a:ext>
            </a:extLst>
          </p:cNvPr>
          <p:cNvSpPr/>
          <p:nvPr/>
        </p:nvSpPr>
        <p:spPr>
          <a:xfrm rot="12943107" flipH="1">
            <a:off x="14391533" y="2689511"/>
            <a:ext cx="374267" cy="998956"/>
          </a:xfrm>
          <a:prstGeom prst="upDownArrow">
            <a:avLst>
              <a:gd name="adj1" fmla="val 29781"/>
              <a:gd name="adj2" fmla="val 62740"/>
            </a:avLst>
          </a:prstGeom>
          <a:solidFill>
            <a:srgbClr val="9595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86E8113C-CF1E-BA55-047A-B1C011A1BD27}"/>
              </a:ext>
            </a:extLst>
          </p:cNvPr>
          <p:cNvSpPr/>
          <p:nvPr/>
        </p:nvSpPr>
        <p:spPr>
          <a:xfrm>
            <a:off x="11500808" y="80"/>
            <a:ext cx="691192" cy="593848"/>
          </a:xfrm>
          <a:custGeom>
            <a:avLst/>
            <a:gdLst/>
            <a:ahLst/>
            <a:cxnLst/>
            <a:rect l="l" t="t" r="r" b="b"/>
            <a:pathLst>
              <a:path w="3573314" h="3232998">
                <a:moveTo>
                  <a:pt x="0" y="0"/>
                </a:moveTo>
                <a:lnTo>
                  <a:pt x="3573314" y="0"/>
                </a:lnTo>
                <a:lnTo>
                  <a:pt x="3573314" y="3232998"/>
                </a:lnTo>
                <a:lnTo>
                  <a:pt x="0" y="32329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5" name="Immagine 4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92572DBC-E206-E538-17BD-EF374704BEA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-1" b="57955"/>
          <a:stretch/>
        </p:blipFill>
        <p:spPr>
          <a:xfrm>
            <a:off x="15687100" y="-5909041"/>
            <a:ext cx="8120289" cy="2341528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1B007332-50CF-FC7F-DDFB-2B25F246EB8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1218" t="34798" r="2097" b="24282"/>
          <a:stretch/>
        </p:blipFill>
        <p:spPr>
          <a:xfrm>
            <a:off x="16026145" y="-4835538"/>
            <a:ext cx="590549" cy="8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816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F4497-0014-DA94-6C38-4EAE4E2C2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 descr="Immagine che contiene neve&#10;&#10;Il contenuto generato dall'IA potrebbe non essere corretto.">
            <a:extLst>
              <a:ext uri="{FF2B5EF4-FFF2-40B4-BE49-F238E27FC236}">
                <a16:creationId xmlns:a16="http://schemas.microsoft.com/office/drawing/2014/main" id="{1E20E2C2-B1CE-90D2-04FD-EAA7F4F4F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" y="0"/>
            <a:ext cx="12185904" cy="6858000"/>
          </a:xfrm>
          <a:prstGeom prst="rect">
            <a:avLst/>
          </a:prstGeom>
        </p:spPr>
      </p:pic>
      <p:grpSp>
        <p:nvGrpSpPr>
          <p:cNvPr id="2" name="Group 4">
            <a:extLst>
              <a:ext uri="{FF2B5EF4-FFF2-40B4-BE49-F238E27FC236}">
                <a16:creationId xmlns:a16="http://schemas.microsoft.com/office/drawing/2014/main" id="{A913D3EE-FE5B-136D-30D8-FC49D098B489}"/>
              </a:ext>
            </a:extLst>
          </p:cNvPr>
          <p:cNvGrpSpPr/>
          <p:nvPr/>
        </p:nvGrpSpPr>
        <p:grpSpPr>
          <a:xfrm>
            <a:off x="-1" y="6247106"/>
            <a:ext cx="12188953" cy="610894"/>
            <a:chOff x="0" y="0"/>
            <a:chExt cx="4800628" cy="244580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2021C23-2659-2925-E879-384333CEB52F}"/>
                </a:ext>
              </a:extLst>
            </p:cNvPr>
            <p:cNvSpPr/>
            <p:nvPr/>
          </p:nvSpPr>
          <p:spPr>
            <a:xfrm>
              <a:off x="0" y="0"/>
              <a:ext cx="4800628" cy="244580"/>
            </a:xfrm>
            <a:custGeom>
              <a:avLst/>
              <a:gdLst/>
              <a:ahLst/>
              <a:cxnLst/>
              <a:rect l="l" t="t" r="r" b="b"/>
              <a:pathLst>
                <a:path w="4800628" h="244580">
                  <a:moveTo>
                    <a:pt x="0" y="0"/>
                  </a:moveTo>
                  <a:lnTo>
                    <a:pt x="4800628" y="0"/>
                  </a:lnTo>
                  <a:lnTo>
                    <a:pt x="4800628" y="244580"/>
                  </a:lnTo>
                  <a:lnTo>
                    <a:pt x="0" y="244580"/>
                  </a:lnTo>
                  <a:close/>
                </a:path>
              </a:pathLst>
            </a:custGeom>
            <a:solidFill>
              <a:srgbClr val="283030"/>
            </a:solidFill>
          </p:spPr>
          <p:txBody>
            <a:bodyPr/>
            <a:lstStyle/>
            <a:p>
              <a:endParaRPr lang="it-IT">
                <a:solidFill>
                  <a:srgbClr val="283030"/>
                </a:solidFill>
              </a:endParaRPr>
            </a:p>
          </p:txBody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461384A7-163D-8084-3E3E-04E846C52FF1}"/>
                </a:ext>
              </a:extLst>
            </p:cNvPr>
            <p:cNvSpPr txBox="1"/>
            <p:nvPr/>
          </p:nvSpPr>
          <p:spPr>
            <a:xfrm>
              <a:off x="0" y="-38100"/>
              <a:ext cx="4800628" cy="282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7" name="Picture 34">
            <a:extLst>
              <a:ext uri="{FF2B5EF4-FFF2-40B4-BE49-F238E27FC236}">
                <a16:creationId xmlns:a16="http://schemas.microsoft.com/office/drawing/2014/main" id="{26EF2C67-CAB2-6494-D2FD-9FAB773E76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9593" y="6247106"/>
            <a:ext cx="1989763" cy="630092"/>
          </a:xfrm>
          <a:prstGeom prst="rect">
            <a:avLst/>
          </a:prstGeom>
        </p:spPr>
      </p:pic>
      <p:sp>
        <p:nvSpPr>
          <p:cNvPr id="8" name="TextBox 40">
            <a:extLst>
              <a:ext uri="{FF2B5EF4-FFF2-40B4-BE49-F238E27FC236}">
                <a16:creationId xmlns:a16="http://schemas.microsoft.com/office/drawing/2014/main" id="{A7164D4D-2648-BA31-08DD-08B09291E259}"/>
              </a:ext>
            </a:extLst>
          </p:cNvPr>
          <p:cNvSpPr txBox="1"/>
          <p:nvPr/>
        </p:nvSpPr>
        <p:spPr>
          <a:xfrm>
            <a:off x="5890161" y="6078583"/>
            <a:ext cx="408626" cy="666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3434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12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3988DF50-6CB0-1631-BA09-328348B38F58}"/>
              </a:ext>
            </a:extLst>
          </p:cNvPr>
          <p:cNvSpPr txBox="1"/>
          <p:nvPr/>
        </p:nvSpPr>
        <p:spPr>
          <a:xfrm>
            <a:off x="9134856" y="6091068"/>
            <a:ext cx="2788920" cy="704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179"/>
              </a:lnSpc>
              <a:spcBef>
                <a:spcPct val="0"/>
              </a:spcBef>
            </a:pPr>
            <a:r>
              <a:rPr lang="en-US" sz="2800" b="1" dirty="0" err="1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a.a.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2023/2024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AD0770D5-9D4A-A64C-4711-8B75E554520F}"/>
              </a:ext>
            </a:extLst>
          </p:cNvPr>
          <p:cNvSpPr txBox="1"/>
          <p:nvPr/>
        </p:nvSpPr>
        <p:spPr>
          <a:xfrm>
            <a:off x="268224" y="6338252"/>
            <a:ext cx="4320540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Martin Trajkovski 335566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2BB94C-C950-F8ED-0F17-F741235AD84C}"/>
              </a:ext>
            </a:extLst>
          </p:cNvPr>
          <p:cNvSpPr txBox="1"/>
          <p:nvPr/>
        </p:nvSpPr>
        <p:spPr>
          <a:xfrm>
            <a:off x="1" y="134898"/>
            <a:ext cx="1218895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it-IT" sz="40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DETTAGLIO DI UN’OFFERTA</a:t>
            </a:r>
            <a:endParaRPr lang="it-IT" sz="4000" b="1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pic>
        <p:nvPicPr>
          <p:cNvPr id="15" name="Immagine 14" descr="Immagine che contiene testo, schermata, schermo, numero&#10;&#10;Il contenuto generato dall'IA potrebbe non essere corretto.">
            <a:extLst>
              <a:ext uri="{FF2B5EF4-FFF2-40B4-BE49-F238E27FC236}">
                <a16:creationId xmlns:a16="http://schemas.microsoft.com/office/drawing/2014/main" id="{09E8A8DD-1885-E354-8042-2DC73D9CFA3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25" b="56389"/>
          <a:stretch/>
        </p:blipFill>
        <p:spPr>
          <a:xfrm>
            <a:off x="2049780" y="3737009"/>
            <a:ext cx="8092440" cy="2368868"/>
          </a:xfrm>
          <a:prstGeom prst="rect">
            <a:avLst/>
          </a:prstGeom>
        </p:spPr>
      </p:pic>
      <p:pic>
        <p:nvPicPr>
          <p:cNvPr id="17" name="Immagine 16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B0C64587-040C-6993-79A1-27E0E007BF8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" b="57955"/>
          <a:stretch/>
        </p:blipFill>
        <p:spPr>
          <a:xfrm>
            <a:off x="2035856" y="1256947"/>
            <a:ext cx="8120289" cy="2341528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9CA1FFF3-2BAD-E479-A59F-005123B0B0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2781026" y="1359753"/>
            <a:ext cx="5624724" cy="3846249"/>
          </a:xfrm>
          <a:prstGeom prst="rect">
            <a:avLst/>
          </a:prstGeom>
        </p:spPr>
      </p:pic>
      <p:pic>
        <p:nvPicPr>
          <p:cNvPr id="11" name="Immagine 10" descr="Immagine che contiene testo, schermata, software, schermo&#10;&#10;Il contenuto generato dall'IA potrebbe non essere corretto.">
            <a:extLst>
              <a:ext uri="{FF2B5EF4-FFF2-40B4-BE49-F238E27FC236}">
                <a16:creationId xmlns:a16="http://schemas.microsoft.com/office/drawing/2014/main" id="{E5A6A675-C8C1-6B93-C037-C5FC8689B5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750463" y="1347014"/>
            <a:ext cx="5624724" cy="3858988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6BB4C07-AE93-FDCE-B3C7-7216568516AF}"/>
              </a:ext>
            </a:extLst>
          </p:cNvPr>
          <p:cNvSpPr txBox="1"/>
          <p:nvPr/>
        </p:nvSpPr>
        <p:spPr>
          <a:xfrm>
            <a:off x="-10636603" y="5230528"/>
            <a:ext cx="12787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latin typeface="Dubai" panose="020B0503030403030204" pitchFamily="34" charset="-78"/>
                <a:cs typeface="Dubai" panose="020B0503030403030204" pitchFamily="34" charset="-78"/>
              </a:rPr>
              <a:t>Modifica dell’offerta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08A85CB8-676D-CA7F-EC04-4ED0234AC882}"/>
              </a:ext>
            </a:extLst>
          </p:cNvPr>
          <p:cNvSpPr txBox="1"/>
          <p:nvPr/>
        </p:nvSpPr>
        <p:spPr>
          <a:xfrm>
            <a:off x="-4606040" y="5230528"/>
            <a:ext cx="12787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latin typeface="Dubai" panose="020B0503030403030204" pitchFamily="34" charset="-78"/>
                <a:cs typeface="Dubai" panose="020B0503030403030204" pitchFamily="34" charset="-78"/>
              </a:rPr>
              <a:t>Modale di revisione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BC1FFDC8-2ACF-656E-C04B-8B576984E8C0}"/>
              </a:ext>
            </a:extLst>
          </p:cNvPr>
          <p:cNvSpPr/>
          <p:nvPr/>
        </p:nvSpPr>
        <p:spPr>
          <a:xfrm>
            <a:off x="13750962" y="1639905"/>
            <a:ext cx="3132000" cy="1188000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Caratteristiche</a:t>
            </a:r>
          </a:p>
          <a:p>
            <a:pPr algn="ctr"/>
            <a:r>
              <a:rPr lang="it-IT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Dati filtrabili, compilabili e ordinabili</a:t>
            </a:r>
            <a:endParaRPr lang="it-IT" sz="2800" dirty="0">
              <a:solidFill>
                <a:schemeClr val="tx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93E51E74-89CD-4E05-572F-E71A7E5E5122}"/>
              </a:ext>
            </a:extLst>
          </p:cNvPr>
          <p:cNvSpPr/>
          <p:nvPr/>
        </p:nvSpPr>
        <p:spPr>
          <a:xfrm>
            <a:off x="17285777" y="1639905"/>
            <a:ext cx="3132000" cy="1188000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Relazioni</a:t>
            </a:r>
          </a:p>
          <a:p>
            <a:pPr algn="ctr"/>
            <a:r>
              <a:rPr lang="it-IT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customer, </a:t>
            </a:r>
            <a:r>
              <a:rPr lang="it-IT" dirty="0" err="1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userAdmin</a:t>
            </a:r>
            <a:r>
              <a:rPr lang="it-IT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it-IT" dirty="0" err="1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referent</a:t>
            </a:r>
            <a:r>
              <a:rPr lang="it-IT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e </a:t>
            </a:r>
            <a:r>
              <a:rPr lang="it-IT" dirty="0" err="1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parent</a:t>
            </a:r>
            <a:r>
              <a:rPr lang="it-IT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/</a:t>
            </a:r>
            <a:r>
              <a:rPr lang="it-IT" dirty="0" err="1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childrenOffer</a:t>
            </a:r>
            <a:endParaRPr lang="it-IT" sz="2800" dirty="0">
              <a:solidFill>
                <a:schemeClr val="tx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9F43CCA5-9589-EB18-B445-6728CE7C53B3}"/>
              </a:ext>
            </a:extLst>
          </p:cNvPr>
          <p:cNvSpPr/>
          <p:nvPr/>
        </p:nvSpPr>
        <p:spPr>
          <a:xfrm>
            <a:off x="13750962" y="3658688"/>
            <a:ext cx="3132000" cy="1188000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Funzioni di scope</a:t>
            </a:r>
          </a:p>
          <a:p>
            <a:pPr algn="ctr"/>
            <a:r>
              <a:rPr lang="it-IT" sz="2800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scopeHasNoChildren</a:t>
            </a:r>
            <a:endParaRPr lang="it-IT" sz="2800" dirty="0">
              <a:solidFill>
                <a:schemeClr val="tx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2E8D9FD6-CD05-9B9B-9F32-B8ECE3E0D1BA}"/>
              </a:ext>
            </a:extLst>
          </p:cNvPr>
          <p:cNvSpPr/>
          <p:nvPr/>
        </p:nvSpPr>
        <p:spPr>
          <a:xfrm>
            <a:off x="17285777" y="3653867"/>
            <a:ext cx="3132000" cy="1188000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Funzioni personalizzate</a:t>
            </a:r>
          </a:p>
          <a:p>
            <a:pPr algn="ctr"/>
            <a:r>
              <a:rPr lang="it-IT" dirty="0" err="1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generateCode</a:t>
            </a:r>
            <a:endParaRPr lang="it-IT" dirty="0">
              <a:solidFill>
                <a:schemeClr val="tx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58D61E81-2703-38DE-DC50-3F3EE1FAB030}"/>
              </a:ext>
            </a:extLst>
          </p:cNvPr>
          <p:cNvSpPr/>
          <p:nvPr/>
        </p:nvSpPr>
        <p:spPr>
          <a:xfrm>
            <a:off x="11500808" y="80"/>
            <a:ext cx="691192" cy="593848"/>
          </a:xfrm>
          <a:custGeom>
            <a:avLst/>
            <a:gdLst/>
            <a:ahLst/>
            <a:cxnLst/>
            <a:rect l="l" t="t" r="r" b="b"/>
            <a:pathLst>
              <a:path w="3573314" h="3232998">
                <a:moveTo>
                  <a:pt x="0" y="0"/>
                </a:moveTo>
                <a:lnTo>
                  <a:pt x="3573314" y="0"/>
                </a:lnTo>
                <a:lnTo>
                  <a:pt x="3573314" y="3232998"/>
                </a:lnTo>
                <a:lnTo>
                  <a:pt x="0" y="32329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75BC9677-432D-C5B2-F4AB-B72F8C776BB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1218" t="34798" r="2097" b="24282"/>
          <a:stretch/>
        </p:blipFill>
        <p:spPr>
          <a:xfrm>
            <a:off x="2374901" y="2330450"/>
            <a:ext cx="590549" cy="8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533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1B5FA-2410-5F9D-7604-709B82157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 descr="Immagine che contiene neve&#10;&#10;Il contenuto generato dall'IA potrebbe non essere corretto.">
            <a:extLst>
              <a:ext uri="{FF2B5EF4-FFF2-40B4-BE49-F238E27FC236}">
                <a16:creationId xmlns:a16="http://schemas.microsoft.com/office/drawing/2014/main" id="{35EB0ED2-8E0E-1573-1E69-CB4B6386D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" y="0"/>
            <a:ext cx="12185904" cy="6858000"/>
          </a:xfrm>
          <a:prstGeom prst="rect">
            <a:avLst/>
          </a:prstGeom>
        </p:spPr>
      </p:pic>
      <p:pic>
        <p:nvPicPr>
          <p:cNvPr id="11" name="Immagine 10" descr="Immagine che contiene testo, schermata, schermo, numero&#10;&#10;Il contenuto generato dall'IA potrebbe non essere corretto.">
            <a:extLst>
              <a:ext uri="{FF2B5EF4-FFF2-40B4-BE49-F238E27FC236}">
                <a16:creationId xmlns:a16="http://schemas.microsoft.com/office/drawing/2014/main" id="{E2E88946-FDAC-49C0-2830-C5CF0478A0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6389"/>
          <a:stretch/>
        </p:blipFill>
        <p:spPr>
          <a:xfrm>
            <a:off x="-9735831" y="3702897"/>
            <a:ext cx="8092440" cy="2431555"/>
          </a:xfrm>
          <a:prstGeom prst="rect">
            <a:avLst/>
          </a:prstGeom>
        </p:spPr>
      </p:pic>
      <p:sp>
        <p:nvSpPr>
          <p:cNvPr id="13" name="TextBox 11">
            <a:extLst>
              <a:ext uri="{FF2B5EF4-FFF2-40B4-BE49-F238E27FC236}">
                <a16:creationId xmlns:a16="http://schemas.microsoft.com/office/drawing/2014/main" id="{B802D693-8BE3-E1AB-26CE-65CE6D91C07B}"/>
              </a:ext>
            </a:extLst>
          </p:cNvPr>
          <p:cNvSpPr txBox="1"/>
          <p:nvPr/>
        </p:nvSpPr>
        <p:spPr>
          <a:xfrm>
            <a:off x="5086331" y="134898"/>
            <a:ext cx="6666815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it-IT" sz="40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OFFER MODEL</a:t>
            </a:r>
            <a:endParaRPr lang="it-IT" sz="4000" b="1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pic>
        <p:nvPicPr>
          <p:cNvPr id="15" name="Immagine 14" descr="Immagine che contiene testo, schermata, software, Icona del computer&#10;&#10;Il contenuto generato dall'IA potrebbe non essere corretto.">
            <a:extLst>
              <a:ext uri="{FF2B5EF4-FFF2-40B4-BE49-F238E27FC236}">
                <a16:creationId xmlns:a16="http://schemas.microsoft.com/office/drawing/2014/main" id="{9294A82F-2355-1B1E-0999-230B6150D6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56"/>
          <a:stretch/>
        </p:blipFill>
        <p:spPr>
          <a:xfrm>
            <a:off x="-7324667" y="1519517"/>
            <a:ext cx="5658741" cy="3818965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E9CAE2A-04B3-B496-3B56-D3C76A1D5080}"/>
              </a:ext>
            </a:extLst>
          </p:cNvPr>
          <p:cNvSpPr txBox="1"/>
          <p:nvPr/>
        </p:nvSpPr>
        <p:spPr>
          <a:xfrm>
            <a:off x="-6024" y="-3898"/>
            <a:ext cx="4092742" cy="691471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class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extends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BaseModel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</a:t>
            </a:r>
          </a:p>
          <a:p>
            <a:pPr>
              <a:lnSpc>
                <a:spcPts val="1425"/>
              </a:lnSpc>
            </a:pPr>
            <a:r>
              <a:rPr lang="it-IT" sz="1050" b="0" dirty="0">
                <a:solidFill>
                  <a:srgbClr val="6A9955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// Compilabili</a:t>
            </a:r>
            <a:endParaRPr lang="it-IT" sz="1050" b="0" dirty="0">
              <a:solidFill>
                <a:srgbClr val="00B050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protected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1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1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fillable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= [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'code’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</a:t>
            </a:r>
            <a:r>
              <a:rPr lang="it-IT" sz="1050" dirty="0">
                <a:solidFill>
                  <a:srgbClr val="CCCCCC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…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];</a:t>
            </a:r>
            <a:b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protected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1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1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fillableMedia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= [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'attachments’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… ];</a:t>
            </a:r>
            <a:b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it-IT" sz="1050" b="0" dirty="0">
                <a:solidFill>
                  <a:srgbClr val="6A9955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// Ordinamento di base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protected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1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1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defaultSort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= 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'name’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;</a:t>
            </a:r>
            <a:b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it-IT" sz="1050" b="0" dirty="0">
                <a:solidFill>
                  <a:srgbClr val="6A9955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// Ordinabili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public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1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sortable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():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array</a:t>
            </a:r>
            <a:r>
              <a:rPr lang="it-IT" sz="1050" dirty="0">
                <a:solidFill>
                  <a:srgbClr val="CCCCCC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 </a:t>
            </a:r>
            <a:r>
              <a:rPr lang="it-IT" sz="1050" b="0" dirty="0" err="1">
                <a:solidFill>
                  <a:srgbClr val="C586C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return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[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'name’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</a:t>
            </a:r>
            <a:r>
              <a:rPr lang="it-IT" sz="1050" dirty="0">
                <a:solidFill>
                  <a:srgbClr val="CCCCCC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…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]; }</a:t>
            </a:r>
            <a:b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it-IT" sz="1050" b="0" dirty="0">
                <a:solidFill>
                  <a:srgbClr val="6A9955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// Filtrabi</a:t>
            </a:r>
            <a:r>
              <a:rPr lang="it-IT" sz="1050" dirty="0">
                <a:solidFill>
                  <a:srgbClr val="6A9955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li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public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1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filterable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():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array 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 </a:t>
            </a:r>
            <a:r>
              <a:rPr lang="it-IT" sz="1050" b="0" dirty="0" err="1">
                <a:solidFill>
                  <a:srgbClr val="C586C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return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[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'name'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    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AllowedFilter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::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callback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has_no_children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(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$query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 {…}), ...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];</a:t>
            </a:r>
            <a:r>
              <a:rPr lang="it-IT" sz="1050" dirty="0">
                <a:solidFill>
                  <a:srgbClr val="CCCCCC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  <a:b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it-IT" sz="1050" b="0" dirty="0">
                <a:solidFill>
                  <a:srgbClr val="6A9955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// Ricercabili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protected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1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1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searchable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= [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'name’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</a:t>
            </a:r>
            <a:r>
              <a:rPr lang="it-IT" sz="1050" dirty="0">
                <a:solidFill>
                  <a:srgbClr val="CCCCCC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...];</a:t>
            </a: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6A9955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// Relazioni</a:t>
            </a:r>
            <a:endParaRPr lang="it-IT" sz="1050" b="0" dirty="0">
              <a:solidFill>
                <a:srgbClr val="D4D4D4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 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public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1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():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BelongsTo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{ </a:t>
            </a:r>
            <a:r>
              <a:rPr lang="it-IT" sz="1050" b="0" dirty="0" err="1">
                <a:solidFill>
                  <a:srgbClr val="C586C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return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this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belongsTo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::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class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);</a:t>
            </a:r>
            <a:r>
              <a:rPr lang="it-IT" sz="1050" dirty="0">
                <a:solidFill>
                  <a:srgbClr val="CCCCCC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   </a:t>
            </a:r>
            <a:r>
              <a:rPr lang="en-US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public</a:t>
            </a: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1050" b="1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userAdmin</a:t>
            </a: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(): </a:t>
            </a:r>
            <a:r>
              <a:rPr lang="en-US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BelongsTo</a:t>
            </a:r>
            <a:endParaRPr lang="en-US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{ </a:t>
            </a:r>
            <a:r>
              <a:rPr lang="en-US" sz="1050" b="0" dirty="0">
                <a:solidFill>
                  <a:srgbClr val="C586C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return</a:t>
            </a: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$this</a:t>
            </a: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en-US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belongsTo</a:t>
            </a: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en-US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UserAdmin</a:t>
            </a: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::</a:t>
            </a:r>
            <a:r>
              <a:rPr lang="en-US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class</a:t>
            </a: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);}</a:t>
            </a:r>
            <a:endParaRPr lang="it-IT" sz="1050" b="0" dirty="0">
              <a:solidFill>
                <a:srgbClr val="D4D4D4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   public</a:t>
            </a: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1050" b="1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referent</a:t>
            </a: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(): </a:t>
            </a:r>
            <a:r>
              <a:rPr lang="en-US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BelongsTo</a:t>
            </a:r>
            <a:endParaRPr lang="en-US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{ </a:t>
            </a:r>
            <a:r>
              <a:rPr lang="en-US" sz="1050" b="0" dirty="0">
                <a:solidFill>
                  <a:srgbClr val="C586C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return</a:t>
            </a: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$this</a:t>
            </a: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en-US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belongsTo</a:t>
            </a: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en-US" sz="1050" b="0" dirty="0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Referent</a:t>
            </a: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::</a:t>
            </a:r>
            <a:r>
              <a:rPr lang="en-US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class</a:t>
            </a: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);}</a:t>
            </a:r>
            <a:endParaRPr lang="it-IT" sz="1050" b="0" dirty="0">
              <a:solidFill>
                <a:srgbClr val="D4D4D4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public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1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parentOffer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():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BelongsTo</a:t>
            </a:r>
            <a:endParaRPr lang="it-IT" sz="1050" b="0" dirty="0">
              <a:solidFill>
                <a:srgbClr val="D4D4D4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{</a:t>
            </a:r>
            <a:r>
              <a:rPr lang="it-IT" sz="1050" dirty="0">
                <a:solidFill>
                  <a:srgbClr val="CCCCCC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C586C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return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this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belongsTo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::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class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offer_parent_id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);}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public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1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childrenOffer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():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HasMany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{ </a:t>
            </a:r>
            <a:r>
              <a:rPr lang="it-IT" sz="1050" b="0" dirty="0" err="1">
                <a:solidFill>
                  <a:srgbClr val="C586C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return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this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hasMany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::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class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offer_parent_id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’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);}</a:t>
            </a: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6A9955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// Funzioni di scope</a:t>
            </a:r>
            <a:b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public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1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scopeHasNoChildren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Builder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$query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{</a:t>
            </a:r>
            <a:r>
              <a:rPr lang="it-IT" sz="1050" b="0" dirty="0" err="1">
                <a:solidFill>
                  <a:srgbClr val="C586C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return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$query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whereNotIn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'id'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(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subQuery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 {</a:t>
            </a: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…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};}</a:t>
            </a: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6A9955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// Funzioni personalizzate</a:t>
            </a:r>
          </a:p>
          <a:p>
            <a:pPr>
              <a:lnSpc>
                <a:spcPts val="1425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    </a:t>
            </a:r>
            <a:r>
              <a:rPr lang="en-US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public</a:t>
            </a: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static</a:t>
            </a: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1050" b="1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generateCode</a:t>
            </a: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en-US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customerId</a:t>
            </a: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en-US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parentId</a:t>
            </a: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</a:t>
            </a:r>
            <a:endParaRPr lang="en-US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</a:pP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{</a:t>
            </a:r>
            <a:r>
              <a:rPr lang="it-IT" sz="1050" b="0" dirty="0" err="1">
                <a:solidFill>
                  <a:srgbClr val="C586C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return</a:t>
            </a:r>
            <a:r>
              <a:rPr lang="it-IT" sz="1050" b="0" dirty="0">
                <a:solidFill>
                  <a:srgbClr val="C586C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::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where</a:t>
            </a:r>
            <a:r>
              <a:rPr lang="it-IT" sz="1050" b="0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() </a:t>
            </a:r>
            <a:r>
              <a:rPr lang="it-IT" sz="1050" dirty="0">
                <a:solidFill>
                  <a:srgbClr val="D4D4D4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…</a:t>
            </a:r>
            <a:r>
              <a:rPr lang="en-US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</a:p>
          <a:p>
            <a:pPr>
              <a:lnSpc>
                <a:spcPts val="1425"/>
              </a:lnSpc>
            </a:pPr>
            <a:endParaRPr lang="it-IT" sz="1050" dirty="0">
              <a:solidFill>
                <a:srgbClr val="D4D4D4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</a:pPr>
            <a:endParaRPr lang="it-IT" sz="1050" b="0" dirty="0">
              <a:solidFill>
                <a:srgbClr val="D4D4D4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</a:pPr>
            <a:endParaRPr lang="it-IT" sz="1050" dirty="0">
              <a:solidFill>
                <a:srgbClr val="D4D4D4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</a:pP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85033039-8A72-BE11-24F4-9437BAAB607C}"/>
              </a:ext>
            </a:extLst>
          </p:cNvPr>
          <p:cNvGrpSpPr/>
          <p:nvPr/>
        </p:nvGrpSpPr>
        <p:grpSpPr>
          <a:xfrm>
            <a:off x="-1" y="6247106"/>
            <a:ext cx="12188953" cy="610894"/>
            <a:chOff x="0" y="0"/>
            <a:chExt cx="4800628" cy="244580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D215428C-D160-68AD-B690-EAF9C44D29B3}"/>
                </a:ext>
              </a:extLst>
            </p:cNvPr>
            <p:cNvSpPr/>
            <p:nvPr/>
          </p:nvSpPr>
          <p:spPr>
            <a:xfrm>
              <a:off x="0" y="0"/>
              <a:ext cx="4800628" cy="244580"/>
            </a:xfrm>
            <a:custGeom>
              <a:avLst/>
              <a:gdLst/>
              <a:ahLst/>
              <a:cxnLst/>
              <a:rect l="l" t="t" r="r" b="b"/>
              <a:pathLst>
                <a:path w="4800628" h="244580">
                  <a:moveTo>
                    <a:pt x="0" y="0"/>
                  </a:moveTo>
                  <a:lnTo>
                    <a:pt x="4800628" y="0"/>
                  </a:lnTo>
                  <a:lnTo>
                    <a:pt x="4800628" y="244580"/>
                  </a:lnTo>
                  <a:lnTo>
                    <a:pt x="0" y="244580"/>
                  </a:lnTo>
                  <a:close/>
                </a:path>
              </a:pathLst>
            </a:custGeom>
            <a:solidFill>
              <a:srgbClr val="283030"/>
            </a:solidFill>
          </p:spPr>
          <p:txBody>
            <a:bodyPr/>
            <a:lstStyle/>
            <a:p>
              <a:endParaRPr lang="it-IT">
                <a:solidFill>
                  <a:srgbClr val="283030"/>
                </a:solidFill>
              </a:endParaRPr>
            </a:p>
          </p:txBody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3094EAC5-5D93-55F8-7AE0-4C979BA511F1}"/>
                </a:ext>
              </a:extLst>
            </p:cNvPr>
            <p:cNvSpPr txBox="1"/>
            <p:nvPr/>
          </p:nvSpPr>
          <p:spPr>
            <a:xfrm>
              <a:off x="0" y="-38100"/>
              <a:ext cx="4800628" cy="282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7" name="Picture 34">
            <a:extLst>
              <a:ext uri="{FF2B5EF4-FFF2-40B4-BE49-F238E27FC236}">
                <a16:creationId xmlns:a16="http://schemas.microsoft.com/office/drawing/2014/main" id="{62392367-AE04-D2AA-8E4B-45B3EB3388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9593" y="6247106"/>
            <a:ext cx="1989763" cy="630092"/>
          </a:xfrm>
          <a:prstGeom prst="rect">
            <a:avLst/>
          </a:prstGeom>
        </p:spPr>
      </p:pic>
      <p:sp>
        <p:nvSpPr>
          <p:cNvPr id="8" name="TextBox 40">
            <a:extLst>
              <a:ext uri="{FF2B5EF4-FFF2-40B4-BE49-F238E27FC236}">
                <a16:creationId xmlns:a16="http://schemas.microsoft.com/office/drawing/2014/main" id="{22F89949-73FF-887B-3408-08207CF3610C}"/>
              </a:ext>
            </a:extLst>
          </p:cNvPr>
          <p:cNvSpPr txBox="1"/>
          <p:nvPr/>
        </p:nvSpPr>
        <p:spPr>
          <a:xfrm>
            <a:off x="5890161" y="6078583"/>
            <a:ext cx="408626" cy="666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3434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13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F65AF228-0DE6-4AAA-CD84-01AA023C5546}"/>
              </a:ext>
            </a:extLst>
          </p:cNvPr>
          <p:cNvSpPr txBox="1"/>
          <p:nvPr/>
        </p:nvSpPr>
        <p:spPr>
          <a:xfrm>
            <a:off x="9134856" y="6091068"/>
            <a:ext cx="2788920" cy="704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179"/>
              </a:lnSpc>
              <a:spcBef>
                <a:spcPct val="0"/>
              </a:spcBef>
            </a:pPr>
            <a:r>
              <a:rPr lang="en-US" sz="2800" b="1" dirty="0" err="1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a.a.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2023/2024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A7394A87-A64E-C0D0-E8CD-9E2845822B65}"/>
              </a:ext>
            </a:extLst>
          </p:cNvPr>
          <p:cNvSpPr txBox="1"/>
          <p:nvPr/>
        </p:nvSpPr>
        <p:spPr>
          <a:xfrm>
            <a:off x="268224" y="6338252"/>
            <a:ext cx="4320540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Martin Trajkovski 335566</a:t>
            </a: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2F7328F7-FB0E-07B0-FF7D-4A0F49656486}"/>
              </a:ext>
            </a:extLst>
          </p:cNvPr>
          <p:cNvSpPr/>
          <p:nvPr/>
        </p:nvSpPr>
        <p:spPr>
          <a:xfrm>
            <a:off x="4871662" y="1639905"/>
            <a:ext cx="3132000" cy="1188000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Caratteristiche</a:t>
            </a:r>
          </a:p>
          <a:p>
            <a:pPr algn="ctr"/>
            <a:r>
              <a:rPr lang="it-IT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Dati filtrabili, compilabili e ordinabili</a:t>
            </a:r>
            <a:endParaRPr lang="it-IT" sz="2800" dirty="0">
              <a:solidFill>
                <a:schemeClr val="tx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DEBBAFD9-2E58-B556-364D-536C8C2544D5}"/>
              </a:ext>
            </a:extLst>
          </p:cNvPr>
          <p:cNvSpPr/>
          <p:nvPr/>
        </p:nvSpPr>
        <p:spPr>
          <a:xfrm>
            <a:off x="8406477" y="1639905"/>
            <a:ext cx="3132000" cy="1188000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Relazioni</a:t>
            </a:r>
          </a:p>
          <a:p>
            <a:pPr algn="ctr"/>
            <a:r>
              <a:rPr lang="it-IT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customer, </a:t>
            </a:r>
            <a:r>
              <a:rPr lang="it-IT" dirty="0" err="1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userAdmin</a:t>
            </a:r>
            <a:r>
              <a:rPr lang="it-IT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it-IT" dirty="0" err="1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referent</a:t>
            </a:r>
            <a:r>
              <a:rPr lang="it-IT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e </a:t>
            </a:r>
            <a:r>
              <a:rPr lang="it-IT" dirty="0" err="1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parent</a:t>
            </a:r>
            <a:r>
              <a:rPr lang="it-IT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/</a:t>
            </a:r>
            <a:r>
              <a:rPr lang="it-IT" dirty="0" err="1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childrenOffer</a:t>
            </a:r>
            <a:endParaRPr lang="it-IT" sz="2800" dirty="0">
              <a:solidFill>
                <a:schemeClr val="tx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A3BBF2A1-611A-67EB-5A81-103CE63D1126}"/>
              </a:ext>
            </a:extLst>
          </p:cNvPr>
          <p:cNvSpPr/>
          <p:nvPr/>
        </p:nvSpPr>
        <p:spPr>
          <a:xfrm>
            <a:off x="4871662" y="3658688"/>
            <a:ext cx="3132000" cy="1188000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Funzioni di scope</a:t>
            </a:r>
          </a:p>
          <a:p>
            <a:pPr algn="ctr"/>
            <a:r>
              <a:rPr lang="it-IT" sz="2800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scopeHasNoChildren</a:t>
            </a:r>
            <a:endParaRPr lang="it-IT" sz="2800" dirty="0">
              <a:solidFill>
                <a:schemeClr val="tx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2652F804-0388-AD3F-8C0D-6FBF6CE4D1C0}"/>
              </a:ext>
            </a:extLst>
          </p:cNvPr>
          <p:cNvSpPr/>
          <p:nvPr/>
        </p:nvSpPr>
        <p:spPr>
          <a:xfrm>
            <a:off x="8406477" y="3653867"/>
            <a:ext cx="3132000" cy="1188000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Funzioni personalizzate</a:t>
            </a:r>
          </a:p>
          <a:p>
            <a:pPr algn="ctr"/>
            <a:r>
              <a:rPr lang="it-IT" dirty="0" err="1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generateCode</a:t>
            </a:r>
            <a:endParaRPr lang="it-IT" dirty="0">
              <a:solidFill>
                <a:schemeClr val="tx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81BCBC51-3425-F190-71A6-2DFA8D2F2789}"/>
              </a:ext>
            </a:extLst>
          </p:cNvPr>
          <p:cNvSpPr/>
          <p:nvPr/>
        </p:nvSpPr>
        <p:spPr>
          <a:xfrm>
            <a:off x="11500808" y="80"/>
            <a:ext cx="691192" cy="593848"/>
          </a:xfrm>
          <a:custGeom>
            <a:avLst/>
            <a:gdLst/>
            <a:ahLst/>
            <a:cxnLst/>
            <a:rect l="l" t="t" r="r" b="b"/>
            <a:pathLst>
              <a:path w="3573314" h="3232998">
                <a:moveTo>
                  <a:pt x="0" y="0"/>
                </a:moveTo>
                <a:lnTo>
                  <a:pt x="3573314" y="0"/>
                </a:lnTo>
                <a:lnTo>
                  <a:pt x="3573314" y="3232998"/>
                </a:lnTo>
                <a:lnTo>
                  <a:pt x="0" y="3232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35" name="Immagine 34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27CA9C2B-62FB-1EC4-57B8-E0A337DED2C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1" b="57955"/>
          <a:stretch/>
        </p:blipFill>
        <p:spPr>
          <a:xfrm>
            <a:off x="-9763680" y="813575"/>
            <a:ext cx="8120289" cy="2341528"/>
          </a:xfrm>
          <a:prstGeom prst="rect">
            <a:avLst/>
          </a:prstGeom>
        </p:spPr>
      </p:pic>
      <p:pic>
        <p:nvPicPr>
          <p:cNvPr id="36" name="Immagine 35">
            <a:extLst>
              <a:ext uri="{FF2B5EF4-FFF2-40B4-BE49-F238E27FC236}">
                <a16:creationId xmlns:a16="http://schemas.microsoft.com/office/drawing/2014/main" id="{3437C37E-688C-EBBF-BC09-714002B50A1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1218" t="34798" r="2097" b="24282"/>
          <a:stretch/>
        </p:blipFill>
        <p:spPr>
          <a:xfrm>
            <a:off x="-9424635" y="1887078"/>
            <a:ext cx="590549" cy="83372"/>
          </a:xfrm>
          <a:prstGeom prst="rect">
            <a:avLst/>
          </a:prstGeom>
        </p:spPr>
      </p:pic>
      <p:cxnSp>
        <p:nvCxnSpPr>
          <p:cNvPr id="41" name="Connettore diritto 40">
            <a:extLst>
              <a:ext uri="{FF2B5EF4-FFF2-40B4-BE49-F238E27FC236}">
                <a16:creationId xmlns:a16="http://schemas.microsoft.com/office/drawing/2014/main" id="{15E7EE36-1DDC-BCE4-0A24-117498E7C0FA}"/>
              </a:ext>
            </a:extLst>
          </p:cNvPr>
          <p:cNvCxnSpPr>
            <a:cxnSpLocks/>
          </p:cNvCxnSpPr>
          <p:nvPr/>
        </p:nvCxnSpPr>
        <p:spPr>
          <a:xfrm flipH="1">
            <a:off x="16621498" y="3622869"/>
            <a:ext cx="1526" cy="2783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diritto 41">
            <a:extLst>
              <a:ext uri="{FF2B5EF4-FFF2-40B4-BE49-F238E27FC236}">
                <a16:creationId xmlns:a16="http://schemas.microsoft.com/office/drawing/2014/main" id="{B82C5061-8851-DF4A-1442-2C1388335ABB}"/>
              </a:ext>
            </a:extLst>
          </p:cNvPr>
          <p:cNvCxnSpPr>
            <a:cxnSpLocks/>
            <a:stCxn id="46" idx="0"/>
          </p:cNvCxnSpPr>
          <p:nvPr/>
        </p:nvCxnSpPr>
        <p:spPr>
          <a:xfrm>
            <a:off x="17181010" y="2283346"/>
            <a:ext cx="10746" cy="13281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diritto 42">
            <a:extLst>
              <a:ext uri="{FF2B5EF4-FFF2-40B4-BE49-F238E27FC236}">
                <a16:creationId xmlns:a16="http://schemas.microsoft.com/office/drawing/2014/main" id="{A39FAF5E-DFED-FC67-F95A-8BDE6FCCD441}"/>
              </a:ext>
            </a:extLst>
          </p:cNvPr>
          <p:cNvCxnSpPr>
            <a:cxnSpLocks/>
          </p:cNvCxnSpPr>
          <p:nvPr/>
        </p:nvCxnSpPr>
        <p:spPr>
          <a:xfrm flipH="1">
            <a:off x="17190230" y="3329890"/>
            <a:ext cx="1526" cy="2783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444AB829-DD6C-1A85-96F5-EBC92CE0D312}"/>
              </a:ext>
            </a:extLst>
          </p:cNvPr>
          <p:cNvSpPr/>
          <p:nvPr/>
        </p:nvSpPr>
        <p:spPr>
          <a:xfrm>
            <a:off x="14384786" y="2283346"/>
            <a:ext cx="1119023" cy="219114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Prevendita</a:t>
            </a:r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0FBAE2D4-D304-9176-F671-C08ED68D486B}"/>
              </a:ext>
            </a:extLst>
          </p:cNvPr>
          <p:cNvSpPr/>
          <p:nvPr/>
        </p:nvSpPr>
        <p:spPr>
          <a:xfrm>
            <a:off x="15502474" y="2283346"/>
            <a:ext cx="1119023" cy="219114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Inviata</a:t>
            </a:r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4490208D-A059-1920-CEFA-F75E966BD3EC}"/>
              </a:ext>
            </a:extLst>
          </p:cNvPr>
          <p:cNvSpPr/>
          <p:nvPr/>
        </p:nvSpPr>
        <p:spPr>
          <a:xfrm>
            <a:off x="16621498" y="2283346"/>
            <a:ext cx="1119023" cy="219114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Accettata</a:t>
            </a:r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E8A69019-9321-2646-66D1-96AD3C81D65F}"/>
              </a:ext>
            </a:extLst>
          </p:cNvPr>
          <p:cNvSpPr/>
          <p:nvPr/>
        </p:nvSpPr>
        <p:spPr>
          <a:xfrm>
            <a:off x="17740521" y="2278152"/>
            <a:ext cx="1119023" cy="224308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Rifiutata</a:t>
            </a:r>
          </a:p>
        </p:txBody>
      </p: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3ED16524-4C91-11B8-01A9-5B8B8F195B85}"/>
              </a:ext>
            </a:extLst>
          </p:cNvPr>
          <p:cNvSpPr/>
          <p:nvPr/>
        </p:nvSpPr>
        <p:spPr>
          <a:xfrm>
            <a:off x="16621498" y="3124671"/>
            <a:ext cx="1119023" cy="219114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Conferma</a:t>
            </a:r>
          </a:p>
        </p:txBody>
      </p:sp>
      <p:cxnSp>
        <p:nvCxnSpPr>
          <p:cNvPr id="49" name="Connettore diritto 48">
            <a:extLst>
              <a:ext uri="{FF2B5EF4-FFF2-40B4-BE49-F238E27FC236}">
                <a16:creationId xmlns:a16="http://schemas.microsoft.com/office/drawing/2014/main" id="{4C2D5FC8-054F-F34C-1970-9E7B4BEB038A}"/>
              </a:ext>
            </a:extLst>
          </p:cNvPr>
          <p:cNvCxnSpPr>
            <a:cxnSpLocks/>
          </p:cNvCxnSpPr>
          <p:nvPr/>
        </p:nvCxnSpPr>
        <p:spPr>
          <a:xfrm>
            <a:off x="14457780" y="3608276"/>
            <a:ext cx="4221876" cy="32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diritto 49">
            <a:extLst>
              <a:ext uri="{FF2B5EF4-FFF2-40B4-BE49-F238E27FC236}">
                <a16:creationId xmlns:a16="http://schemas.microsoft.com/office/drawing/2014/main" id="{ADEBB4D2-FBB6-B07A-9BCC-660939AB6695}"/>
              </a:ext>
            </a:extLst>
          </p:cNvPr>
          <p:cNvCxnSpPr>
            <a:cxnSpLocks/>
          </p:cNvCxnSpPr>
          <p:nvPr/>
        </p:nvCxnSpPr>
        <p:spPr>
          <a:xfrm flipH="1">
            <a:off x="14464365" y="3602948"/>
            <a:ext cx="1526" cy="2783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diritto 50">
            <a:extLst>
              <a:ext uri="{FF2B5EF4-FFF2-40B4-BE49-F238E27FC236}">
                <a16:creationId xmlns:a16="http://schemas.microsoft.com/office/drawing/2014/main" id="{315D70D7-51AF-C015-E3CE-AF8D5DDA330A}"/>
              </a:ext>
            </a:extLst>
          </p:cNvPr>
          <p:cNvCxnSpPr>
            <a:cxnSpLocks/>
          </p:cNvCxnSpPr>
          <p:nvPr/>
        </p:nvCxnSpPr>
        <p:spPr>
          <a:xfrm>
            <a:off x="18679656" y="3600799"/>
            <a:ext cx="0" cy="33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1D313AC5-9FD9-3783-68EE-62E95637FF45}"/>
              </a:ext>
            </a:extLst>
          </p:cNvPr>
          <p:cNvSpPr/>
          <p:nvPr/>
        </p:nvSpPr>
        <p:spPr>
          <a:xfrm>
            <a:off x="13906379" y="3886662"/>
            <a:ext cx="1119023" cy="501848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it-IT" sz="12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Campi non modificabili</a:t>
            </a: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AC45264D-0F75-6501-4F63-3C62F025709D}"/>
              </a:ext>
            </a:extLst>
          </p:cNvPr>
          <p:cNvSpPr/>
          <p:nvPr/>
        </p:nvSpPr>
        <p:spPr>
          <a:xfrm>
            <a:off x="16064966" y="3887572"/>
            <a:ext cx="1119023" cy="301109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it-IT" sz="12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Crea progetto</a:t>
            </a:r>
          </a:p>
        </p:txBody>
      </p:sp>
      <p:sp>
        <p:nvSpPr>
          <p:cNvPr id="54" name="Rettangolo con angoli arrotondati 53">
            <a:extLst>
              <a:ext uri="{FF2B5EF4-FFF2-40B4-BE49-F238E27FC236}">
                <a16:creationId xmlns:a16="http://schemas.microsoft.com/office/drawing/2014/main" id="{970A98E8-F7F6-5392-DFD1-FB9386779708}"/>
              </a:ext>
            </a:extLst>
          </p:cNvPr>
          <p:cNvSpPr/>
          <p:nvPr/>
        </p:nvSpPr>
        <p:spPr>
          <a:xfrm>
            <a:off x="18080416" y="3887572"/>
            <a:ext cx="1119023" cy="702588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it-IT" sz="12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Se lead, diventa cliente</a:t>
            </a:r>
          </a:p>
        </p:txBody>
      </p:sp>
    </p:spTree>
    <p:extLst>
      <p:ext uri="{BB962C8B-B14F-4D97-AF65-F5344CB8AC3E}">
        <p14:creationId xmlns:p14="http://schemas.microsoft.com/office/powerpoint/2010/main" val="2705240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753E1-AEA4-909D-1920-FF3F1EC82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 descr="Immagine che contiene neve&#10;&#10;Il contenuto generato dall'IA potrebbe non essere corretto.">
            <a:extLst>
              <a:ext uri="{FF2B5EF4-FFF2-40B4-BE49-F238E27FC236}">
                <a16:creationId xmlns:a16="http://schemas.microsoft.com/office/drawing/2014/main" id="{2D050492-B89D-190B-CDC9-32E768A12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" y="0"/>
            <a:ext cx="12185904" cy="6858000"/>
          </a:xfrm>
          <a:prstGeom prst="rect">
            <a:avLst/>
          </a:prstGeom>
        </p:spPr>
      </p:pic>
      <p:cxnSp>
        <p:nvCxnSpPr>
          <p:cNvPr id="50" name="Connettore diritto 49">
            <a:extLst>
              <a:ext uri="{FF2B5EF4-FFF2-40B4-BE49-F238E27FC236}">
                <a16:creationId xmlns:a16="http://schemas.microsoft.com/office/drawing/2014/main" id="{02D99A44-60AF-5E6D-CD4A-42605FAAB121}"/>
              </a:ext>
            </a:extLst>
          </p:cNvPr>
          <p:cNvCxnSpPr>
            <a:cxnSpLocks/>
          </p:cNvCxnSpPr>
          <p:nvPr/>
        </p:nvCxnSpPr>
        <p:spPr>
          <a:xfrm flipH="1">
            <a:off x="9454058" y="3622869"/>
            <a:ext cx="1526" cy="2783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diritto 38">
            <a:extLst>
              <a:ext uri="{FF2B5EF4-FFF2-40B4-BE49-F238E27FC236}">
                <a16:creationId xmlns:a16="http://schemas.microsoft.com/office/drawing/2014/main" id="{D310BA4B-A757-CD08-675B-408599EF26CE}"/>
              </a:ext>
            </a:extLst>
          </p:cNvPr>
          <p:cNvCxnSpPr>
            <a:cxnSpLocks/>
            <a:stCxn id="13" idx="0"/>
          </p:cNvCxnSpPr>
          <p:nvPr/>
        </p:nvCxnSpPr>
        <p:spPr>
          <a:xfrm>
            <a:off x="10013570" y="2283346"/>
            <a:ext cx="10746" cy="13281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0633DF90-F06A-34AC-0FBB-414211D32CCF}"/>
              </a:ext>
            </a:extLst>
          </p:cNvPr>
          <p:cNvCxnSpPr>
            <a:cxnSpLocks/>
          </p:cNvCxnSpPr>
          <p:nvPr/>
        </p:nvCxnSpPr>
        <p:spPr>
          <a:xfrm flipH="1">
            <a:off x="10022790" y="3329890"/>
            <a:ext cx="1526" cy="2783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4">
            <a:extLst>
              <a:ext uri="{FF2B5EF4-FFF2-40B4-BE49-F238E27FC236}">
                <a16:creationId xmlns:a16="http://schemas.microsoft.com/office/drawing/2014/main" id="{36B96081-65B3-7E39-B0FF-7AF87E1A10DB}"/>
              </a:ext>
            </a:extLst>
          </p:cNvPr>
          <p:cNvGrpSpPr/>
          <p:nvPr/>
        </p:nvGrpSpPr>
        <p:grpSpPr>
          <a:xfrm>
            <a:off x="-1" y="6247106"/>
            <a:ext cx="12188953" cy="610894"/>
            <a:chOff x="0" y="0"/>
            <a:chExt cx="4800628" cy="244580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A4138C2F-6A90-AF54-0CAB-CD78AB7B2E98}"/>
                </a:ext>
              </a:extLst>
            </p:cNvPr>
            <p:cNvSpPr/>
            <p:nvPr/>
          </p:nvSpPr>
          <p:spPr>
            <a:xfrm>
              <a:off x="0" y="0"/>
              <a:ext cx="4800628" cy="244580"/>
            </a:xfrm>
            <a:custGeom>
              <a:avLst/>
              <a:gdLst/>
              <a:ahLst/>
              <a:cxnLst/>
              <a:rect l="l" t="t" r="r" b="b"/>
              <a:pathLst>
                <a:path w="4800628" h="244580">
                  <a:moveTo>
                    <a:pt x="0" y="0"/>
                  </a:moveTo>
                  <a:lnTo>
                    <a:pt x="4800628" y="0"/>
                  </a:lnTo>
                  <a:lnTo>
                    <a:pt x="4800628" y="244580"/>
                  </a:lnTo>
                  <a:lnTo>
                    <a:pt x="0" y="244580"/>
                  </a:lnTo>
                  <a:close/>
                </a:path>
              </a:pathLst>
            </a:custGeom>
            <a:solidFill>
              <a:srgbClr val="283030"/>
            </a:solidFill>
          </p:spPr>
          <p:txBody>
            <a:bodyPr/>
            <a:lstStyle/>
            <a:p>
              <a:endParaRPr lang="it-IT">
                <a:solidFill>
                  <a:srgbClr val="283030"/>
                </a:solidFill>
              </a:endParaRPr>
            </a:p>
          </p:txBody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E0315ECE-B0E7-1A9B-2C3B-26975CBE4D3E}"/>
                </a:ext>
              </a:extLst>
            </p:cNvPr>
            <p:cNvSpPr txBox="1"/>
            <p:nvPr/>
          </p:nvSpPr>
          <p:spPr>
            <a:xfrm>
              <a:off x="0" y="-38100"/>
              <a:ext cx="4800628" cy="282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7" name="Picture 34">
            <a:extLst>
              <a:ext uri="{FF2B5EF4-FFF2-40B4-BE49-F238E27FC236}">
                <a16:creationId xmlns:a16="http://schemas.microsoft.com/office/drawing/2014/main" id="{1E21F0F8-510E-0DD4-C509-039BD64F5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9593" y="6247106"/>
            <a:ext cx="1989763" cy="630092"/>
          </a:xfrm>
          <a:prstGeom prst="rect">
            <a:avLst/>
          </a:prstGeom>
        </p:spPr>
      </p:pic>
      <p:sp>
        <p:nvSpPr>
          <p:cNvPr id="8" name="TextBox 40">
            <a:extLst>
              <a:ext uri="{FF2B5EF4-FFF2-40B4-BE49-F238E27FC236}">
                <a16:creationId xmlns:a16="http://schemas.microsoft.com/office/drawing/2014/main" id="{0A9AB0D4-C14C-9E58-6446-18D3D6CCBA40}"/>
              </a:ext>
            </a:extLst>
          </p:cNvPr>
          <p:cNvSpPr txBox="1"/>
          <p:nvPr/>
        </p:nvSpPr>
        <p:spPr>
          <a:xfrm>
            <a:off x="5890161" y="6078583"/>
            <a:ext cx="408626" cy="666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3434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14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EF42AEC5-A362-55A0-2C61-F1B759D59A98}"/>
              </a:ext>
            </a:extLst>
          </p:cNvPr>
          <p:cNvSpPr txBox="1"/>
          <p:nvPr/>
        </p:nvSpPr>
        <p:spPr>
          <a:xfrm>
            <a:off x="9134856" y="6091068"/>
            <a:ext cx="2788920" cy="704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179"/>
              </a:lnSpc>
              <a:spcBef>
                <a:spcPct val="0"/>
              </a:spcBef>
            </a:pPr>
            <a:r>
              <a:rPr lang="en-US" sz="2800" b="1" dirty="0" err="1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a.a.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2023/2024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EB464025-7B8F-4A0B-53B0-BC3A4DAA2474}"/>
              </a:ext>
            </a:extLst>
          </p:cNvPr>
          <p:cNvSpPr txBox="1"/>
          <p:nvPr/>
        </p:nvSpPr>
        <p:spPr>
          <a:xfrm>
            <a:off x="268224" y="6338252"/>
            <a:ext cx="4320540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Martin Trajkovski 335566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9E7C128-B38F-9AE2-43BC-CBD9E4636D9F}"/>
              </a:ext>
            </a:extLst>
          </p:cNvPr>
          <p:cNvSpPr txBox="1"/>
          <p:nvPr/>
        </p:nvSpPr>
        <p:spPr>
          <a:xfrm>
            <a:off x="1" y="134898"/>
            <a:ext cx="1218895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it-IT" sz="40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OFFERTA ACCETTATA</a:t>
            </a:r>
            <a:endParaRPr lang="it-IT" sz="4000" b="1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pic>
        <p:nvPicPr>
          <p:cNvPr id="6" name="Immagine 5" descr="Immagine che contiene testo, schermata, software, Icona del computer&#10;&#10;Il contenuto generato dall'IA potrebbe non essere corretto.">
            <a:extLst>
              <a:ext uri="{FF2B5EF4-FFF2-40B4-BE49-F238E27FC236}">
                <a16:creationId xmlns:a16="http://schemas.microsoft.com/office/drawing/2014/main" id="{B03B45A2-4E41-5773-0582-583265012F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56"/>
          <a:stretch/>
        </p:blipFill>
        <p:spPr>
          <a:xfrm>
            <a:off x="499896" y="1519517"/>
            <a:ext cx="5658741" cy="3818965"/>
          </a:xfrm>
          <a:prstGeom prst="rect">
            <a:avLst/>
          </a:prstGeom>
        </p:spPr>
      </p:pic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23E631B3-4806-C01D-1180-474FD4D1EA40}"/>
              </a:ext>
            </a:extLst>
          </p:cNvPr>
          <p:cNvSpPr/>
          <p:nvPr/>
        </p:nvSpPr>
        <p:spPr>
          <a:xfrm>
            <a:off x="13248946" y="1806118"/>
            <a:ext cx="3132000" cy="1188000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Store</a:t>
            </a:r>
          </a:p>
          <a:p>
            <a:pPr algn="ctr"/>
            <a:r>
              <a:rPr lang="it-IT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Recupera i dati e aggiunge un record in DB</a:t>
            </a:r>
            <a:endParaRPr lang="it-IT" sz="2800" dirty="0">
              <a:solidFill>
                <a:schemeClr val="tx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C3316D18-732A-75B8-E5B8-5EA553A98E9B}"/>
              </a:ext>
            </a:extLst>
          </p:cNvPr>
          <p:cNvSpPr/>
          <p:nvPr/>
        </p:nvSpPr>
        <p:spPr>
          <a:xfrm>
            <a:off x="13248946" y="3824901"/>
            <a:ext cx="3132000" cy="1188000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Update</a:t>
            </a:r>
          </a:p>
          <a:p>
            <a:pPr algn="ctr"/>
            <a:r>
              <a:rPr lang="it-IT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Recupera i dati e aggiorna un record esistente in DB</a:t>
            </a:r>
            <a:endParaRPr lang="it-IT" sz="2800" dirty="0">
              <a:solidFill>
                <a:schemeClr val="tx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42A21CF6-773E-299E-8398-E443E499D3E2}"/>
              </a:ext>
            </a:extLst>
          </p:cNvPr>
          <p:cNvSpPr/>
          <p:nvPr/>
        </p:nvSpPr>
        <p:spPr>
          <a:xfrm>
            <a:off x="13750962" y="1639905"/>
            <a:ext cx="3132000" cy="1188000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Caratteristiche</a:t>
            </a:r>
          </a:p>
          <a:p>
            <a:pPr algn="ctr"/>
            <a:r>
              <a:rPr lang="it-IT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Dati filtrabili, compilabili e ordinabili</a:t>
            </a:r>
            <a:endParaRPr lang="it-IT" sz="2800" dirty="0">
              <a:solidFill>
                <a:schemeClr val="tx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D044CB3D-73B2-83DA-67AB-4E315E397521}"/>
              </a:ext>
            </a:extLst>
          </p:cNvPr>
          <p:cNvSpPr/>
          <p:nvPr/>
        </p:nvSpPr>
        <p:spPr>
          <a:xfrm>
            <a:off x="17285777" y="1639905"/>
            <a:ext cx="3132000" cy="1188000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Relazioni</a:t>
            </a:r>
          </a:p>
          <a:p>
            <a:pPr algn="ctr"/>
            <a:r>
              <a:rPr lang="it-IT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customer, </a:t>
            </a:r>
            <a:r>
              <a:rPr lang="it-IT" dirty="0" err="1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userAdmin</a:t>
            </a:r>
            <a:r>
              <a:rPr lang="it-IT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it-IT" dirty="0" err="1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referent</a:t>
            </a:r>
            <a:r>
              <a:rPr lang="it-IT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e </a:t>
            </a:r>
            <a:r>
              <a:rPr lang="it-IT" dirty="0" err="1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parent</a:t>
            </a:r>
            <a:r>
              <a:rPr lang="it-IT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/</a:t>
            </a:r>
            <a:r>
              <a:rPr lang="it-IT" dirty="0" err="1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childrenOffer</a:t>
            </a:r>
            <a:endParaRPr lang="it-IT" sz="2800" dirty="0">
              <a:solidFill>
                <a:schemeClr val="tx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0C582F63-3FF7-3069-88B7-3BBD50000007}"/>
              </a:ext>
            </a:extLst>
          </p:cNvPr>
          <p:cNvSpPr/>
          <p:nvPr/>
        </p:nvSpPr>
        <p:spPr>
          <a:xfrm>
            <a:off x="13750962" y="3658688"/>
            <a:ext cx="3132000" cy="1188000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Funzioni di scope</a:t>
            </a:r>
          </a:p>
          <a:p>
            <a:pPr algn="ctr"/>
            <a:r>
              <a:rPr lang="it-IT" sz="2800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scopeHasNoChildren</a:t>
            </a:r>
            <a:endParaRPr lang="it-IT" sz="2800" dirty="0">
              <a:solidFill>
                <a:schemeClr val="tx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F3684248-004B-6E44-93D5-E1FDC74A3077}"/>
              </a:ext>
            </a:extLst>
          </p:cNvPr>
          <p:cNvSpPr/>
          <p:nvPr/>
        </p:nvSpPr>
        <p:spPr>
          <a:xfrm>
            <a:off x="17285777" y="3653867"/>
            <a:ext cx="3132000" cy="1188000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Funzioni personalizzate</a:t>
            </a:r>
          </a:p>
          <a:p>
            <a:pPr algn="ctr"/>
            <a:r>
              <a:rPr lang="it-IT" dirty="0" err="1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generateCode</a:t>
            </a:r>
            <a:endParaRPr lang="it-IT" dirty="0">
              <a:solidFill>
                <a:schemeClr val="tx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158F3565-9F3C-CA6B-3A3D-B593288310B9}"/>
              </a:ext>
            </a:extLst>
          </p:cNvPr>
          <p:cNvSpPr/>
          <p:nvPr/>
        </p:nvSpPr>
        <p:spPr>
          <a:xfrm>
            <a:off x="11500808" y="80"/>
            <a:ext cx="691192" cy="593848"/>
          </a:xfrm>
          <a:custGeom>
            <a:avLst/>
            <a:gdLst/>
            <a:ahLst/>
            <a:cxnLst/>
            <a:rect l="l" t="t" r="r" b="b"/>
            <a:pathLst>
              <a:path w="3573314" h="3232998">
                <a:moveTo>
                  <a:pt x="0" y="0"/>
                </a:moveTo>
                <a:lnTo>
                  <a:pt x="3573314" y="0"/>
                </a:lnTo>
                <a:lnTo>
                  <a:pt x="3573314" y="3232998"/>
                </a:lnTo>
                <a:lnTo>
                  <a:pt x="0" y="32329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482C3BCC-1639-29F5-B742-CEA0B28A1ABF}"/>
              </a:ext>
            </a:extLst>
          </p:cNvPr>
          <p:cNvSpPr/>
          <p:nvPr/>
        </p:nvSpPr>
        <p:spPr>
          <a:xfrm>
            <a:off x="7217346" y="2283346"/>
            <a:ext cx="1119023" cy="219114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Prevendita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32D52228-374D-D9F9-EA18-331CB255B81C}"/>
              </a:ext>
            </a:extLst>
          </p:cNvPr>
          <p:cNvSpPr/>
          <p:nvPr/>
        </p:nvSpPr>
        <p:spPr>
          <a:xfrm>
            <a:off x="8335034" y="2283346"/>
            <a:ext cx="1119023" cy="219114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Inviata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41F0DB70-348B-9586-2D86-08A01248A86E}"/>
              </a:ext>
            </a:extLst>
          </p:cNvPr>
          <p:cNvSpPr/>
          <p:nvPr/>
        </p:nvSpPr>
        <p:spPr>
          <a:xfrm>
            <a:off x="9454058" y="2283346"/>
            <a:ext cx="1119023" cy="219114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Accettata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5A419E97-42E4-D457-25F8-3400CC62177E}"/>
              </a:ext>
            </a:extLst>
          </p:cNvPr>
          <p:cNvSpPr/>
          <p:nvPr/>
        </p:nvSpPr>
        <p:spPr>
          <a:xfrm>
            <a:off x="10573081" y="2278152"/>
            <a:ext cx="1119023" cy="224308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Rifiutata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D107B6AB-F483-B138-CB67-D393EF707B7A}"/>
              </a:ext>
            </a:extLst>
          </p:cNvPr>
          <p:cNvSpPr/>
          <p:nvPr/>
        </p:nvSpPr>
        <p:spPr>
          <a:xfrm>
            <a:off x="9454058" y="3124671"/>
            <a:ext cx="1119023" cy="219114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Conferma</a:t>
            </a:r>
          </a:p>
        </p:txBody>
      </p: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476EDF1E-9B67-16BD-5BA8-53919615AC63}"/>
              </a:ext>
            </a:extLst>
          </p:cNvPr>
          <p:cNvCxnSpPr>
            <a:cxnSpLocks/>
          </p:cNvCxnSpPr>
          <p:nvPr/>
        </p:nvCxnSpPr>
        <p:spPr>
          <a:xfrm>
            <a:off x="7290340" y="3608276"/>
            <a:ext cx="4221876" cy="32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diritto 28">
            <a:extLst>
              <a:ext uri="{FF2B5EF4-FFF2-40B4-BE49-F238E27FC236}">
                <a16:creationId xmlns:a16="http://schemas.microsoft.com/office/drawing/2014/main" id="{F33FFF49-D3DB-CD1A-26BA-F5445A8C2C08}"/>
              </a:ext>
            </a:extLst>
          </p:cNvPr>
          <p:cNvCxnSpPr>
            <a:cxnSpLocks/>
          </p:cNvCxnSpPr>
          <p:nvPr/>
        </p:nvCxnSpPr>
        <p:spPr>
          <a:xfrm flipH="1">
            <a:off x="7296925" y="3602948"/>
            <a:ext cx="1526" cy="2783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diritto 29">
            <a:extLst>
              <a:ext uri="{FF2B5EF4-FFF2-40B4-BE49-F238E27FC236}">
                <a16:creationId xmlns:a16="http://schemas.microsoft.com/office/drawing/2014/main" id="{ED7757F2-0656-ECB3-D55D-D21968E8B690}"/>
              </a:ext>
            </a:extLst>
          </p:cNvPr>
          <p:cNvCxnSpPr>
            <a:cxnSpLocks/>
          </p:cNvCxnSpPr>
          <p:nvPr/>
        </p:nvCxnSpPr>
        <p:spPr>
          <a:xfrm>
            <a:off x="11512216" y="3600799"/>
            <a:ext cx="0" cy="33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CF4CEF5B-AA9A-BDB9-77DE-37FB0CA87DF2}"/>
              </a:ext>
            </a:extLst>
          </p:cNvPr>
          <p:cNvSpPr/>
          <p:nvPr/>
        </p:nvSpPr>
        <p:spPr>
          <a:xfrm>
            <a:off x="6738939" y="3886662"/>
            <a:ext cx="1119023" cy="501848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it-IT" sz="12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Campi non modificabili</a:t>
            </a:r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66815E07-30EB-C5FF-36CC-37A67DACF6C0}"/>
              </a:ext>
            </a:extLst>
          </p:cNvPr>
          <p:cNvSpPr/>
          <p:nvPr/>
        </p:nvSpPr>
        <p:spPr>
          <a:xfrm>
            <a:off x="8897526" y="3887572"/>
            <a:ext cx="1119023" cy="301109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it-IT" sz="12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Crea progetto</a:t>
            </a:r>
          </a:p>
        </p:txBody>
      </p: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E2F0AB21-BCCC-6ED6-96B2-ECAE573352FC}"/>
              </a:ext>
            </a:extLst>
          </p:cNvPr>
          <p:cNvSpPr/>
          <p:nvPr/>
        </p:nvSpPr>
        <p:spPr>
          <a:xfrm>
            <a:off x="11122652" y="3887572"/>
            <a:ext cx="779128" cy="702588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it-IT" sz="12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Se lead, diventa cliente</a:t>
            </a:r>
          </a:p>
        </p:txBody>
      </p:sp>
    </p:spTree>
    <p:extLst>
      <p:ext uri="{BB962C8B-B14F-4D97-AF65-F5344CB8AC3E}">
        <p14:creationId xmlns:p14="http://schemas.microsoft.com/office/powerpoint/2010/main" val="2619265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36BE8-1846-0A7E-24B5-65F940FAF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 descr="Immagine che contiene neve&#10;&#10;Il contenuto generato dall'IA potrebbe non essere corretto.">
            <a:extLst>
              <a:ext uri="{FF2B5EF4-FFF2-40B4-BE49-F238E27FC236}">
                <a16:creationId xmlns:a16="http://schemas.microsoft.com/office/drawing/2014/main" id="{2D155F50-59A1-5A88-8196-C19D0C34B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" y="0"/>
            <a:ext cx="12185904" cy="68580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58B244E3-7F0D-491D-5B09-FE69635A1AAF}"/>
              </a:ext>
            </a:extLst>
          </p:cNvPr>
          <p:cNvSpPr txBox="1"/>
          <p:nvPr/>
        </p:nvSpPr>
        <p:spPr>
          <a:xfrm>
            <a:off x="5459767" y="236073"/>
            <a:ext cx="6729185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it-IT" sz="40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OFFER CONTROLLER</a:t>
            </a:r>
            <a:endParaRPr lang="it-IT" sz="4000" b="1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pic>
        <p:nvPicPr>
          <p:cNvPr id="6" name="Immagine 5" descr="Immagine che contiene testo, schermata, software, Icona del computer&#10;&#10;Il contenuto generato dall'IA potrebbe non essere corretto.">
            <a:extLst>
              <a:ext uri="{FF2B5EF4-FFF2-40B4-BE49-F238E27FC236}">
                <a16:creationId xmlns:a16="http://schemas.microsoft.com/office/drawing/2014/main" id="{2E202132-B38F-C437-A773-D8F9ACC2DF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56"/>
          <a:stretch/>
        </p:blipFill>
        <p:spPr>
          <a:xfrm>
            <a:off x="-6835535" y="1519517"/>
            <a:ext cx="5658741" cy="3818965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191CF4A-F4AA-C4A7-7BB7-A6F7DF57D005}"/>
              </a:ext>
            </a:extLst>
          </p:cNvPr>
          <p:cNvSpPr txBox="1"/>
          <p:nvPr/>
        </p:nvSpPr>
        <p:spPr>
          <a:xfrm>
            <a:off x="-2" y="0"/>
            <a:ext cx="5459769" cy="637610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class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OfferController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extends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BaseController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public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__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construct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()</a:t>
            </a:r>
            <a:r>
              <a:rPr lang="it-IT" sz="1050" dirty="0">
                <a:solidFill>
                  <a:srgbClr val="CCCCCC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this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authorizeResource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::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class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);}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public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all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</a:t>
            </a:r>
            <a:r>
              <a:rPr lang="it-IT" sz="1050" dirty="0">
                <a:solidFill>
                  <a:srgbClr val="CCCCCC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{...}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public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index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?</a:t>
            </a:r>
            <a:r>
              <a:rPr lang="it-IT" sz="1050" b="0" dirty="0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=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null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</a:t>
            </a:r>
            <a:r>
              <a:rPr lang="it-IT" sz="1050" dirty="0">
                <a:solidFill>
                  <a:srgbClr val="CCCCCC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{...}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public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show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</a:t>
            </a:r>
            <a:r>
              <a:rPr lang="it-IT" sz="1050" dirty="0">
                <a:solidFill>
                  <a:srgbClr val="CCCCCC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{...}</a:t>
            </a:r>
          </a:p>
          <a:p>
            <a:pPr>
              <a:lnSpc>
                <a:spcPts val="1425"/>
              </a:lnSpc>
              <a:buNone/>
            </a:pP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public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1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store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it-IT" sz="1050" b="0" dirty="0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{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$data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=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it-IT" sz="1050" b="0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safe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()-&gt;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all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();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</a:t>
            </a:r>
            <a:r>
              <a:rPr lang="it-IT" sz="1050" b="0" dirty="0" err="1">
                <a:solidFill>
                  <a:srgbClr val="C586C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if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(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$data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[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'status'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] === 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accepted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&amp;&amp;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getAttributes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()[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is_customer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] === </a:t>
            </a:r>
            <a:r>
              <a:rPr lang="it-IT" sz="1050" b="0" dirty="0">
                <a:solidFill>
                  <a:srgbClr val="B5CEA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0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 {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[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is_customer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] = </a:t>
            </a:r>
            <a:r>
              <a:rPr lang="it-IT" sz="1050" b="0" dirty="0">
                <a:solidFill>
                  <a:srgbClr val="B5CEA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1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;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it-IT" sz="1050" b="0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update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([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]);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}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$data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[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'code'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] =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::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generateCode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id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$data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[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offer_parent_id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] ??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null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);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=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()-&gt;</a:t>
            </a:r>
            <a:r>
              <a:rPr lang="it-IT" sz="1050" b="0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create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$data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);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attachMediaFromRequest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'attachments'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);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</a:t>
            </a:r>
            <a:r>
              <a:rPr lang="it-IT" sz="1050" b="0" dirty="0" err="1">
                <a:solidFill>
                  <a:srgbClr val="C586C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return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new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OfferResource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);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public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1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update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?</a:t>
            </a:r>
            <a:r>
              <a:rPr lang="it-IT" sz="1050" b="0" dirty="0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{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$data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=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it-IT" sz="1050" b="0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safe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()-&gt;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all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();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it-IT" sz="1050" b="0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update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$data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);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</a:t>
            </a:r>
            <a:r>
              <a:rPr lang="it-IT" sz="1050" b="0" dirty="0" err="1">
                <a:solidFill>
                  <a:srgbClr val="C586C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if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(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$data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[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'status'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] === 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accepted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&amp;&amp;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getAttributes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()[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is_customer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] === </a:t>
            </a:r>
            <a:r>
              <a:rPr lang="it-IT" sz="1050" b="0" dirty="0">
                <a:solidFill>
                  <a:srgbClr val="B5CEA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0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 {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[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is_customer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] = </a:t>
            </a:r>
            <a:r>
              <a:rPr lang="it-IT" sz="1050" b="0" dirty="0">
                <a:solidFill>
                  <a:srgbClr val="B5CEA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1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;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it-IT" sz="1050" b="0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update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([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]);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       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attachMediaFromRequest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'attachments'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);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</a:t>
            </a:r>
            <a:r>
              <a:rPr lang="it-IT" sz="1050" b="0" dirty="0" err="1">
                <a:solidFill>
                  <a:srgbClr val="C586C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return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new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OfferResource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);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public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destroy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</a:t>
            </a:r>
            <a:r>
              <a:rPr lang="it-IT" sz="1050" dirty="0">
                <a:solidFill>
                  <a:srgbClr val="CCCCCC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{...}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573D3A7-A3BE-570A-10F9-36C3B366F0C8}"/>
              </a:ext>
            </a:extLst>
          </p:cNvPr>
          <p:cNvGrpSpPr/>
          <p:nvPr/>
        </p:nvGrpSpPr>
        <p:grpSpPr>
          <a:xfrm>
            <a:off x="-1" y="6247106"/>
            <a:ext cx="12188953" cy="610894"/>
            <a:chOff x="0" y="0"/>
            <a:chExt cx="4800628" cy="244580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72E77411-64C4-D196-27A6-3D9B56502715}"/>
                </a:ext>
              </a:extLst>
            </p:cNvPr>
            <p:cNvSpPr/>
            <p:nvPr/>
          </p:nvSpPr>
          <p:spPr>
            <a:xfrm>
              <a:off x="0" y="0"/>
              <a:ext cx="4800628" cy="244580"/>
            </a:xfrm>
            <a:custGeom>
              <a:avLst/>
              <a:gdLst/>
              <a:ahLst/>
              <a:cxnLst/>
              <a:rect l="l" t="t" r="r" b="b"/>
              <a:pathLst>
                <a:path w="4800628" h="244580">
                  <a:moveTo>
                    <a:pt x="0" y="0"/>
                  </a:moveTo>
                  <a:lnTo>
                    <a:pt x="4800628" y="0"/>
                  </a:lnTo>
                  <a:lnTo>
                    <a:pt x="4800628" y="244580"/>
                  </a:lnTo>
                  <a:lnTo>
                    <a:pt x="0" y="244580"/>
                  </a:lnTo>
                  <a:close/>
                </a:path>
              </a:pathLst>
            </a:custGeom>
            <a:solidFill>
              <a:srgbClr val="283030"/>
            </a:solidFill>
          </p:spPr>
          <p:txBody>
            <a:bodyPr/>
            <a:lstStyle/>
            <a:p>
              <a:endParaRPr lang="it-IT">
                <a:solidFill>
                  <a:srgbClr val="283030"/>
                </a:solidFill>
              </a:endParaRPr>
            </a:p>
          </p:txBody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812DE5F8-69CB-4934-CEE5-CEDFB89B61E0}"/>
                </a:ext>
              </a:extLst>
            </p:cNvPr>
            <p:cNvSpPr txBox="1"/>
            <p:nvPr/>
          </p:nvSpPr>
          <p:spPr>
            <a:xfrm>
              <a:off x="0" y="-38100"/>
              <a:ext cx="4800628" cy="282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7" name="Picture 34">
            <a:extLst>
              <a:ext uri="{FF2B5EF4-FFF2-40B4-BE49-F238E27FC236}">
                <a16:creationId xmlns:a16="http://schemas.microsoft.com/office/drawing/2014/main" id="{A3F75F19-F932-A8B9-0465-7642722AB2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9593" y="6247106"/>
            <a:ext cx="1989763" cy="630092"/>
          </a:xfrm>
          <a:prstGeom prst="rect">
            <a:avLst/>
          </a:prstGeom>
        </p:spPr>
      </p:pic>
      <p:sp>
        <p:nvSpPr>
          <p:cNvPr id="8" name="TextBox 40">
            <a:extLst>
              <a:ext uri="{FF2B5EF4-FFF2-40B4-BE49-F238E27FC236}">
                <a16:creationId xmlns:a16="http://schemas.microsoft.com/office/drawing/2014/main" id="{BFD90FF8-36B0-F847-EFD3-FF4DD5AA1DE4}"/>
              </a:ext>
            </a:extLst>
          </p:cNvPr>
          <p:cNvSpPr txBox="1"/>
          <p:nvPr/>
        </p:nvSpPr>
        <p:spPr>
          <a:xfrm>
            <a:off x="5890161" y="6078583"/>
            <a:ext cx="408626" cy="666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3434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15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37235D02-1602-7E13-AEC5-43CE8742EA5E}"/>
              </a:ext>
            </a:extLst>
          </p:cNvPr>
          <p:cNvSpPr txBox="1"/>
          <p:nvPr/>
        </p:nvSpPr>
        <p:spPr>
          <a:xfrm>
            <a:off x="9134856" y="6091068"/>
            <a:ext cx="2788920" cy="704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179"/>
              </a:lnSpc>
              <a:spcBef>
                <a:spcPct val="0"/>
              </a:spcBef>
            </a:pPr>
            <a:r>
              <a:rPr lang="en-US" sz="2800" b="1" dirty="0" err="1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a.a.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2023/2024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C1CC4B62-8E98-EBEA-4F01-0D4026937B8D}"/>
              </a:ext>
            </a:extLst>
          </p:cNvPr>
          <p:cNvSpPr txBox="1"/>
          <p:nvPr/>
        </p:nvSpPr>
        <p:spPr>
          <a:xfrm>
            <a:off x="268224" y="6338252"/>
            <a:ext cx="4320540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Martin Trajkovski 335566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243DA057-37BC-41C3-8475-8B526493FFE9}"/>
              </a:ext>
            </a:extLst>
          </p:cNvPr>
          <p:cNvSpPr/>
          <p:nvPr/>
        </p:nvSpPr>
        <p:spPr>
          <a:xfrm>
            <a:off x="7258359" y="1806118"/>
            <a:ext cx="3132000" cy="1188000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Store</a:t>
            </a:r>
          </a:p>
          <a:p>
            <a:pPr algn="ctr"/>
            <a:r>
              <a:rPr lang="it-IT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Recupera i dati e aggiunge un record in DB</a:t>
            </a:r>
            <a:endParaRPr lang="it-IT" sz="2800" dirty="0">
              <a:solidFill>
                <a:schemeClr val="tx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1BCD8C3E-F4BB-77A5-79F1-1B76C20CB924}"/>
              </a:ext>
            </a:extLst>
          </p:cNvPr>
          <p:cNvSpPr/>
          <p:nvPr/>
        </p:nvSpPr>
        <p:spPr>
          <a:xfrm>
            <a:off x="7258359" y="3824901"/>
            <a:ext cx="3132000" cy="1188000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Update</a:t>
            </a:r>
          </a:p>
          <a:p>
            <a:pPr algn="ctr"/>
            <a:r>
              <a:rPr lang="it-IT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Recupera i dati e aggiorna un record esistente in DB</a:t>
            </a:r>
            <a:endParaRPr lang="it-IT" sz="2800" dirty="0">
              <a:solidFill>
                <a:schemeClr val="tx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0BA4A8D7-0A1D-B28E-55E2-F4BCD263148D}"/>
              </a:ext>
            </a:extLst>
          </p:cNvPr>
          <p:cNvSpPr/>
          <p:nvPr/>
        </p:nvSpPr>
        <p:spPr>
          <a:xfrm>
            <a:off x="11500808" y="80"/>
            <a:ext cx="691192" cy="593848"/>
          </a:xfrm>
          <a:custGeom>
            <a:avLst/>
            <a:gdLst/>
            <a:ahLst/>
            <a:cxnLst/>
            <a:rect l="l" t="t" r="r" b="b"/>
            <a:pathLst>
              <a:path w="3573314" h="3232998">
                <a:moveTo>
                  <a:pt x="0" y="0"/>
                </a:moveTo>
                <a:lnTo>
                  <a:pt x="3573314" y="0"/>
                </a:lnTo>
                <a:lnTo>
                  <a:pt x="3573314" y="3232998"/>
                </a:lnTo>
                <a:lnTo>
                  <a:pt x="0" y="32329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dirty="0">
              <a:solidFill>
                <a:srgbClr val="FF0000"/>
              </a:solidFill>
            </a:endParaRP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9E125806-09EE-6905-A1D2-55CA90A2CE7D}"/>
              </a:ext>
            </a:extLst>
          </p:cNvPr>
          <p:cNvCxnSpPr>
            <a:cxnSpLocks/>
          </p:cNvCxnSpPr>
          <p:nvPr/>
        </p:nvCxnSpPr>
        <p:spPr>
          <a:xfrm flipH="1">
            <a:off x="15882586" y="3622869"/>
            <a:ext cx="1526" cy="2783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E1DA9DDD-1FD4-B7AD-CBB5-0BC835B1363F}"/>
              </a:ext>
            </a:extLst>
          </p:cNvPr>
          <p:cNvCxnSpPr>
            <a:cxnSpLocks/>
          </p:cNvCxnSpPr>
          <p:nvPr/>
        </p:nvCxnSpPr>
        <p:spPr>
          <a:xfrm flipH="1">
            <a:off x="16451318" y="3329890"/>
            <a:ext cx="1526" cy="2783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diritto 38">
            <a:extLst>
              <a:ext uri="{FF2B5EF4-FFF2-40B4-BE49-F238E27FC236}">
                <a16:creationId xmlns:a16="http://schemas.microsoft.com/office/drawing/2014/main" id="{8B4A3FE0-2A49-173E-A05C-E355D8CF2726}"/>
              </a:ext>
            </a:extLst>
          </p:cNvPr>
          <p:cNvCxnSpPr>
            <a:cxnSpLocks/>
          </p:cNvCxnSpPr>
          <p:nvPr/>
        </p:nvCxnSpPr>
        <p:spPr>
          <a:xfrm flipH="1">
            <a:off x="16621498" y="3622869"/>
            <a:ext cx="1526" cy="2783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diritto 39">
            <a:extLst>
              <a:ext uri="{FF2B5EF4-FFF2-40B4-BE49-F238E27FC236}">
                <a16:creationId xmlns:a16="http://schemas.microsoft.com/office/drawing/2014/main" id="{DF8B8068-FB45-A3F6-E4FF-EA9560A78A2F}"/>
              </a:ext>
            </a:extLst>
          </p:cNvPr>
          <p:cNvCxnSpPr>
            <a:cxnSpLocks/>
            <a:stCxn id="44" idx="0"/>
          </p:cNvCxnSpPr>
          <p:nvPr/>
        </p:nvCxnSpPr>
        <p:spPr>
          <a:xfrm>
            <a:off x="17181010" y="2283346"/>
            <a:ext cx="10746" cy="13281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diritto 40">
            <a:extLst>
              <a:ext uri="{FF2B5EF4-FFF2-40B4-BE49-F238E27FC236}">
                <a16:creationId xmlns:a16="http://schemas.microsoft.com/office/drawing/2014/main" id="{E3A8A630-C2AC-821F-186A-EFE0AEEACE3D}"/>
              </a:ext>
            </a:extLst>
          </p:cNvPr>
          <p:cNvCxnSpPr>
            <a:cxnSpLocks/>
          </p:cNvCxnSpPr>
          <p:nvPr/>
        </p:nvCxnSpPr>
        <p:spPr>
          <a:xfrm flipH="1">
            <a:off x="17190230" y="3329890"/>
            <a:ext cx="1526" cy="2783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D7206E04-4F02-FF45-4876-376095323CFB}"/>
              </a:ext>
            </a:extLst>
          </p:cNvPr>
          <p:cNvSpPr/>
          <p:nvPr/>
        </p:nvSpPr>
        <p:spPr>
          <a:xfrm>
            <a:off x="14384786" y="2283346"/>
            <a:ext cx="1119023" cy="219114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Prevendita</a:t>
            </a:r>
          </a:p>
        </p:txBody>
      </p:sp>
      <p:sp>
        <p:nvSpPr>
          <p:cNvPr id="43" name="Rettangolo con angoli arrotondati 42">
            <a:extLst>
              <a:ext uri="{FF2B5EF4-FFF2-40B4-BE49-F238E27FC236}">
                <a16:creationId xmlns:a16="http://schemas.microsoft.com/office/drawing/2014/main" id="{B9086044-DD1D-0F60-4EBC-4A76AED6902B}"/>
              </a:ext>
            </a:extLst>
          </p:cNvPr>
          <p:cNvSpPr/>
          <p:nvPr/>
        </p:nvSpPr>
        <p:spPr>
          <a:xfrm>
            <a:off x="15502474" y="2283346"/>
            <a:ext cx="1119023" cy="219114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Inviata</a:t>
            </a:r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F50CD164-D860-FBA3-4DA2-66FDA81089D9}"/>
              </a:ext>
            </a:extLst>
          </p:cNvPr>
          <p:cNvSpPr/>
          <p:nvPr/>
        </p:nvSpPr>
        <p:spPr>
          <a:xfrm>
            <a:off x="16621498" y="2283346"/>
            <a:ext cx="1119023" cy="219114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Accettata</a:t>
            </a:r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77BA4F4F-ADC2-0D19-1F55-1DB24C73F5A9}"/>
              </a:ext>
            </a:extLst>
          </p:cNvPr>
          <p:cNvSpPr/>
          <p:nvPr/>
        </p:nvSpPr>
        <p:spPr>
          <a:xfrm>
            <a:off x="17740521" y="2278152"/>
            <a:ext cx="1119023" cy="224308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Rifiutata</a:t>
            </a:r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4FE0E6FD-0A21-7673-5E27-22AA34D22B20}"/>
              </a:ext>
            </a:extLst>
          </p:cNvPr>
          <p:cNvSpPr/>
          <p:nvPr/>
        </p:nvSpPr>
        <p:spPr>
          <a:xfrm>
            <a:off x="16621498" y="3124671"/>
            <a:ext cx="1119023" cy="219114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Conferma</a:t>
            </a:r>
          </a:p>
        </p:txBody>
      </p:sp>
      <p:cxnSp>
        <p:nvCxnSpPr>
          <p:cNvPr id="47" name="Connettore diritto 46">
            <a:extLst>
              <a:ext uri="{FF2B5EF4-FFF2-40B4-BE49-F238E27FC236}">
                <a16:creationId xmlns:a16="http://schemas.microsoft.com/office/drawing/2014/main" id="{AF2FEDB1-E75C-FE93-E032-DAD661522962}"/>
              </a:ext>
            </a:extLst>
          </p:cNvPr>
          <p:cNvCxnSpPr>
            <a:cxnSpLocks/>
          </p:cNvCxnSpPr>
          <p:nvPr/>
        </p:nvCxnSpPr>
        <p:spPr>
          <a:xfrm>
            <a:off x="14457780" y="3608276"/>
            <a:ext cx="4221876" cy="32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diritto 47">
            <a:extLst>
              <a:ext uri="{FF2B5EF4-FFF2-40B4-BE49-F238E27FC236}">
                <a16:creationId xmlns:a16="http://schemas.microsoft.com/office/drawing/2014/main" id="{F828B52D-1CAD-F4E8-016E-C48B398D09FE}"/>
              </a:ext>
            </a:extLst>
          </p:cNvPr>
          <p:cNvCxnSpPr>
            <a:cxnSpLocks/>
          </p:cNvCxnSpPr>
          <p:nvPr/>
        </p:nvCxnSpPr>
        <p:spPr>
          <a:xfrm flipH="1">
            <a:off x="14464365" y="3602948"/>
            <a:ext cx="1526" cy="2783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diritto 48">
            <a:extLst>
              <a:ext uri="{FF2B5EF4-FFF2-40B4-BE49-F238E27FC236}">
                <a16:creationId xmlns:a16="http://schemas.microsoft.com/office/drawing/2014/main" id="{3FD41F35-2B00-A661-2A4E-65BA2C04A767}"/>
              </a:ext>
            </a:extLst>
          </p:cNvPr>
          <p:cNvCxnSpPr>
            <a:cxnSpLocks/>
          </p:cNvCxnSpPr>
          <p:nvPr/>
        </p:nvCxnSpPr>
        <p:spPr>
          <a:xfrm>
            <a:off x="18679656" y="3600799"/>
            <a:ext cx="0" cy="33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ttangolo con angoli arrotondati 49">
            <a:extLst>
              <a:ext uri="{FF2B5EF4-FFF2-40B4-BE49-F238E27FC236}">
                <a16:creationId xmlns:a16="http://schemas.microsoft.com/office/drawing/2014/main" id="{60D65A28-AED7-488A-AE92-81993EF8445C}"/>
              </a:ext>
            </a:extLst>
          </p:cNvPr>
          <p:cNvSpPr/>
          <p:nvPr/>
        </p:nvSpPr>
        <p:spPr>
          <a:xfrm>
            <a:off x="13906379" y="3886662"/>
            <a:ext cx="1119023" cy="501848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it-IT" sz="12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Campi non modificabili</a:t>
            </a:r>
          </a:p>
        </p:txBody>
      </p:sp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EAF472DD-A3E5-D988-FFD0-DA663E6B100B}"/>
              </a:ext>
            </a:extLst>
          </p:cNvPr>
          <p:cNvSpPr/>
          <p:nvPr/>
        </p:nvSpPr>
        <p:spPr>
          <a:xfrm>
            <a:off x="16064966" y="3887572"/>
            <a:ext cx="1119023" cy="301109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it-IT" sz="12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Crea progetto</a:t>
            </a: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5C951CA6-0ABD-02A9-2016-AA98E2486508}"/>
              </a:ext>
            </a:extLst>
          </p:cNvPr>
          <p:cNvSpPr/>
          <p:nvPr/>
        </p:nvSpPr>
        <p:spPr>
          <a:xfrm>
            <a:off x="18080416" y="3887572"/>
            <a:ext cx="1119023" cy="702588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it-IT" sz="12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Se lead, diventa cliente</a:t>
            </a:r>
          </a:p>
        </p:txBody>
      </p:sp>
      <p:pic>
        <p:nvPicPr>
          <p:cNvPr id="12" name="Immagine 11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5DBD3B30-D589-DF99-7FC7-7F31B05E76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37606" y="1424110"/>
            <a:ext cx="6088397" cy="400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2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BBC13-3E70-3FFB-A18C-56B0CDA2B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 descr="Immagine che contiene neve&#10;&#10;Il contenuto generato dall'IA potrebbe non essere corretto.">
            <a:extLst>
              <a:ext uri="{FF2B5EF4-FFF2-40B4-BE49-F238E27FC236}">
                <a16:creationId xmlns:a16="http://schemas.microsoft.com/office/drawing/2014/main" id="{D9E339F1-EA43-0683-5E4B-55FACCDFE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" y="0"/>
            <a:ext cx="12185904" cy="6858000"/>
          </a:xfrm>
          <a:prstGeom prst="rect">
            <a:avLst/>
          </a:prstGeom>
        </p:spPr>
      </p:pic>
      <p:sp>
        <p:nvSpPr>
          <p:cNvPr id="25" name="Freeform 7">
            <a:extLst>
              <a:ext uri="{FF2B5EF4-FFF2-40B4-BE49-F238E27FC236}">
                <a16:creationId xmlns:a16="http://schemas.microsoft.com/office/drawing/2014/main" id="{DF508587-BD0C-68D8-CF5F-3A6C6A4BBD3E}"/>
              </a:ext>
            </a:extLst>
          </p:cNvPr>
          <p:cNvSpPr/>
          <p:nvPr/>
        </p:nvSpPr>
        <p:spPr>
          <a:xfrm>
            <a:off x="11500808" y="80"/>
            <a:ext cx="691192" cy="593848"/>
          </a:xfrm>
          <a:custGeom>
            <a:avLst/>
            <a:gdLst/>
            <a:ahLst/>
            <a:cxnLst/>
            <a:rect l="l" t="t" r="r" b="b"/>
            <a:pathLst>
              <a:path w="3573314" h="3232998">
                <a:moveTo>
                  <a:pt x="0" y="0"/>
                </a:moveTo>
                <a:lnTo>
                  <a:pt x="3573314" y="0"/>
                </a:lnTo>
                <a:lnTo>
                  <a:pt x="3573314" y="3232998"/>
                </a:lnTo>
                <a:lnTo>
                  <a:pt x="0" y="32329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12E41C57-B395-5B08-A1F2-90E391D5F43C}"/>
              </a:ext>
            </a:extLst>
          </p:cNvPr>
          <p:cNvSpPr txBox="1"/>
          <p:nvPr/>
        </p:nvSpPr>
        <p:spPr>
          <a:xfrm>
            <a:off x="-3665523" y="2073407"/>
            <a:ext cx="2663301" cy="15286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80808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&lt;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FilesUploader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storage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=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"private"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label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=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</a:t>
            </a:r>
            <a:r>
              <a:rPr lang="it-IT" sz="1050" b="0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"Allegati"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name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=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"attachments"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 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uploadProps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=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 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listType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: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"picture-card"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}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multiple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 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draggable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</a:pPr>
            <a:r>
              <a:rPr lang="it-IT" sz="1050" b="0" dirty="0">
                <a:solidFill>
                  <a:srgbClr val="80808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/&gt;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pic>
        <p:nvPicPr>
          <p:cNvPr id="54" name="Immagine 53" descr="Immagine che contiene Carattere, Elementi grafici, cerchio, simbolo&#10;&#10;Il contenuto generato dall'IA potrebbe non essere corretto.">
            <a:extLst>
              <a:ext uri="{FF2B5EF4-FFF2-40B4-BE49-F238E27FC236}">
                <a16:creationId xmlns:a16="http://schemas.microsoft.com/office/drawing/2014/main" id="{2EC6BE89-8A4F-91EF-B950-419C899C04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0341" y="559634"/>
            <a:ext cx="1112938" cy="1356723"/>
          </a:xfrm>
          <a:prstGeom prst="rect">
            <a:avLst/>
          </a:prstGeom>
        </p:spPr>
      </p:pic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8E7A5EA3-D387-DE5B-12F5-4EADACB7D91D}"/>
              </a:ext>
            </a:extLst>
          </p:cNvPr>
          <p:cNvSpPr txBox="1"/>
          <p:nvPr/>
        </p:nvSpPr>
        <p:spPr>
          <a:xfrm>
            <a:off x="13021201" y="2711716"/>
            <a:ext cx="4909352" cy="314445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class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extends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BaseModel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 …</a:t>
            </a:r>
            <a:b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protected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1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1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fillableMedia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= [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'attachments’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… ];</a:t>
            </a:r>
          </a:p>
          <a:p>
            <a:pPr>
              <a:lnSpc>
                <a:spcPts val="1425"/>
              </a:lnSpc>
            </a:pPr>
            <a:r>
              <a:rPr lang="it-IT" sz="1050" dirty="0">
                <a:solidFill>
                  <a:srgbClr val="D4D4D4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… }</a:t>
            </a:r>
          </a:p>
          <a:p>
            <a:pPr>
              <a:lnSpc>
                <a:spcPts val="1425"/>
              </a:lnSpc>
            </a:pPr>
            <a:endParaRPr lang="it-IT" sz="1050" dirty="0">
              <a:solidFill>
                <a:srgbClr val="D4D4D4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class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OfferController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extends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BaseController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public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1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store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it-IT" sz="1050" b="0" dirty="0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{ …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attachMediaFromRequest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'attachments’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it-IT" sz="1050" dirty="0">
                <a:solidFill>
                  <a:srgbClr val="D4D4D4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    … 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it-IT" sz="1050" b="0" dirty="0">
              <a:solidFill>
                <a:srgbClr val="569CD6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public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1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update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?</a:t>
            </a:r>
            <a:r>
              <a:rPr lang="it-IT" sz="1050" b="0" dirty="0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{ …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attachMediaFromRequest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'attachments’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);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dirty="0">
                <a:solidFill>
                  <a:srgbClr val="D4D4D4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    … }</a:t>
            </a:r>
          </a:p>
          <a:p>
            <a:pPr>
              <a:lnSpc>
                <a:spcPts val="1425"/>
              </a:lnSpc>
              <a:buNone/>
            </a:pPr>
            <a:r>
              <a:rPr lang="it-IT" sz="1050" dirty="0">
                <a:solidFill>
                  <a:srgbClr val="D4D4D4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</a:p>
        </p:txBody>
      </p:sp>
      <p:pic>
        <p:nvPicPr>
          <p:cNvPr id="56" name="Immagine 55" descr="Immagine che contiene Elementi grafici, Carattere, design, logo">
            <a:extLst>
              <a:ext uri="{FF2B5EF4-FFF2-40B4-BE49-F238E27FC236}">
                <a16:creationId xmlns:a16="http://schemas.microsoft.com/office/drawing/2014/main" id="{3582019B-0648-B048-91C1-A77BC191B1B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9933" b="34545"/>
          <a:stretch/>
        </p:blipFill>
        <p:spPr>
          <a:xfrm>
            <a:off x="13871306" y="1346934"/>
            <a:ext cx="3971678" cy="1058741"/>
          </a:xfrm>
          <a:prstGeom prst="rect">
            <a:avLst/>
          </a:prstGeom>
        </p:spPr>
      </p:pic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A13B9D22-2CEF-3A57-769B-97CFE4FB54E0}"/>
              </a:ext>
            </a:extLst>
          </p:cNvPr>
          <p:cNvSpPr txBox="1"/>
          <p:nvPr/>
        </p:nvSpPr>
        <p:spPr>
          <a:xfrm>
            <a:off x="-5143237" y="4026953"/>
            <a:ext cx="39092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L’associazione degli allegati viene gestita attraverso il componente del </a:t>
            </a:r>
            <a:r>
              <a:rPr lang="it-IT" b="1" dirty="0" err="1"/>
              <a:t>FilesUploader</a:t>
            </a:r>
            <a:r>
              <a:rPr lang="it-IT" dirty="0"/>
              <a:t> con una relazione </a:t>
            </a:r>
            <a:r>
              <a:rPr lang="it-IT" dirty="0" err="1"/>
              <a:t>morph</a:t>
            </a:r>
            <a:r>
              <a:rPr lang="it-IT" dirty="0"/>
              <a:t>, rendendo il componente versatile e riutilizzabile in tutte le sezioni.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CA48D65-8EE2-6770-0B6C-E97CA4C8FDAA}"/>
              </a:ext>
            </a:extLst>
          </p:cNvPr>
          <p:cNvSpPr txBox="1"/>
          <p:nvPr/>
        </p:nvSpPr>
        <p:spPr>
          <a:xfrm>
            <a:off x="-37356" y="-12787"/>
            <a:ext cx="3859523" cy="67351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class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extends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FormRequest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public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rules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():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array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{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</a:t>
            </a:r>
            <a:r>
              <a:rPr lang="it-IT" sz="1050" b="0" dirty="0" err="1">
                <a:solidFill>
                  <a:srgbClr val="C586C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return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[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'name'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=&gt; [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    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required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    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string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],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referent_id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=&gt; [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    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required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    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integer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    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exists:referents,id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],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sending_date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=&gt; [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    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nullable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    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'date'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    </a:t>
            </a:r>
            <a:r>
              <a:rPr lang="it-IT" sz="1050" b="0" dirty="0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Rule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::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requiredIf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() {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        </a:t>
            </a:r>
            <a:r>
              <a:rPr lang="it-IT" sz="1050" b="0" dirty="0" err="1">
                <a:solidFill>
                  <a:srgbClr val="C586C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return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this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it-IT" sz="1050" b="0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input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user_admin_id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 !==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null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;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    }),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],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offer_parent_id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=&gt; [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    </a:t>
            </a:r>
            <a:r>
              <a:rPr lang="it-IT" sz="1050" dirty="0">
                <a:solidFill>
                  <a:srgbClr val="CE9178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dirty="0" err="1">
                <a:solidFill>
                  <a:srgbClr val="CE9178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nullable</a:t>
            </a:r>
            <a:r>
              <a:rPr lang="it-IT" sz="1050" dirty="0">
                <a:solidFill>
                  <a:srgbClr val="CE9178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',</a:t>
            </a:r>
          </a:p>
          <a:p>
            <a:pPr>
              <a:lnSpc>
                <a:spcPts val="1425"/>
              </a:lnSpc>
              <a:buNone/>
            </a:pPr>
            <a:r>
              <a:rPr lang="it-IT" sz="1050" dirty="0">
                <a:solidFill>
                  <a:srgbClr val="CE9178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                 '</a:t>
            </a:r>
            <a:r>
              <a:rPr lang="it-IT" sz="1050" dirty="0" err="1">
                <a:solidFill>
                  <a:srgbClr val="CE9178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integer</a:t>
            </a:r>
            <a:r>
              <a:rPr lang="it-IT" sz="1050" dirty="0">
                <a:solidFill>
                  <a:srgbClr val="CE9178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',</a:t>
            </a: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	  </a:t>
            </a:r>
            <a:r>
              <a:rPr lang="it-IT" sz="1050" dirty="0">
                <a:solidFill>
                  <a:srgbClr val="CE9178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exists:offers,id</a:t>
            </a:r>
            <a:r>
              <a:rPr lang="it-IT" sz="1050" dirty="0">
                <a:solidFill>
                  <a:srgbClr val="CE9178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    ],</a:t>
            </a:r>
          </a:p>
          <a:p>
            <a:pPr>
              <a:lnSpc>
                <a:spcPts val="1425"/>
              </a:lnSpc>
              <a:buNone/>
            </a:pPr>
            <a:r>
              <a:rPr lang="it-IT" sz="1050" dirty="0">
                <a:solidFill>
                  <a:srgbClr val="D4D4D4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           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…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];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it-IT" sz="1050" b="0" dirty="0">
              <a:solidFill>
                <a:srgbClr val="D4D4D4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   public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messages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():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array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{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</a:t>
            </a:r>
            <a:r>
              <a:rPr lang="it-IT" sz="1050" b="0" dirty="0" err="1">
                <a:solidFill>
                  <a:srgbClr val="C586C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return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[</a:t>
            </a:r>
            <a:r>
              <a:rPr lang="it-IT" sz="1050" dirty="0">
                <a:solidFill>
                  <a:srgbClr val="CCCCCC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</a:t>
            </a:r>
            <a:r>
              <a:rPr lang="it-IT" sz="1050" b="0" dirty="0" err="1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name.required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’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=&gt; 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‘Il campo Nome è obbligatorio’ </a:t>
            </a:r>
            <a:r>
              <a:rPr lang="it-IT" sz="1050" b="0" dirty="0">
                <a:solidFill>
                  <a:schemeClr val="bg1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… ]</a:t>
            </a:r>
          </a:p>
          <a:p>
            <a:pPr>
              <a:lnSpc>
                <a:spcPts val="1425"/>
              </a:lnSpc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    }</a:t>
            </a:r>
          </a:p>
          <a:p>
            <a:pPr>
              <a:lnSpc>
                <a:spcPts val="1425"/>
              </a:lnSpc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</a:p>
          <a:p>
            <a:pPr>
              <a:lnSpc>
                <a:spcPts val="1425"/>
              </a:lnSpc>
            </a:pPr>
            <a:endParaRPr lang="it-IT" sz="1050" dirty="0">
              <a:solidFill>
                <a:srgbClr val="D4D4D4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</a:pPr>
            <a:endParaRPr lang="it-IT" sz="105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BC2EC1CE-9A6F-F4D9-5BDA-455A51DEAE31}"/>
              </a:ext>
            </a:extLst>
          </p:cNvPr>
          <p:cNvSpPr/>
          <p:nvPr/>
        </p:nvSpPr>
        <p:spPr>
          <a:xfrm>
            <a:off x="13248946" y="1806118"/>
            <a:ext cx="3132000" cy="1188000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Store</a:t>
            </a:r>
          </a:p>
          <a:p>
            <a:pPr algn="ctr"/>
            <a:r>
              <a:rPr lang="it-IT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Recupera i dati e aggiunge un record in DB</a:t>
            </a:r>
            <a:endParaRPr lang="it-IT" sz="2800" dirty="0">
              <a:solidFill>
                <a:schemeClr val="tx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4B6C4032-C5CA-D2EB-C45F-FE0DF2F05975}"/>
              </a:ext>
            </a:extLst>
          </p:cNvPr>
          <p:cNvSpPr/>
          <p:nvPr/>
        </p:nvSpPr>
        <p:spPr>
          <a:xfrm>
            <a:off x="13248946" y="3824901"/>
            <a:ext cx="3132000" cy="1188000"/>
          </a:xfrm>
          <a:prstGeom prst="roundRect">
            <a:avLst>
              <a:gd name="adj" fmla="val 1510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Update</a:t>
            </a:r>
          </a:p>
          <a:p>
            <a:pPr algn="ctr"/>
            <a:r>
              <a:rPr lang="it-IT" dirty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Recupera i dati e aggiorna un record esistente in DB</a:t>
            </a:r>
            <a:endParaRPr lang="it-IT" sz="2800" dirty="0">
              <a:solidFill>
                <a:schemeClr val="tx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9F4DEC91-84C0-D057-1A03-55425205C6AB}"/>
              </a:ext>
            </a:extLst>
          </p:cNvPr>
          <p:cNvSpPr txBox="1"/>
          <p:nvPr/>
        </p:nvSpPr>
        <p:spPr>
          <a:xfrm>
            <a:off x="1" y="134898"/>
            <a:ext cx="1218895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it-IT" sz="40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OFFER REQUEST</a:t>
            </a:r>
            <a:endParaRPr lang="it-IT" sz="4000" b="1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pic>
        <p:nvPicPr>
          <p:cNvPr id="24" name="Immagine 23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2B037D20-FA96-0786-0A23-DABB43EA5B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6860" y="1424110"/>
            <a:ext cx="6088397" cy="4009780"/>
          </a:xfrm>
          <a:prstGeom prst="rect">
            <a:avLst/>
          </a:prstGeom>
        </p:spPr>
      </p:pic>
      <p:grpSp>
        <p:nvGrpSpPr>
          <p:cNvPr id="2" name="Group 4">
            <a:extLst>
              <a:ext uri="{FF2B5EF4-FFF2-40B4-BE49-F238E27FC236}">
                <a16:creationId xmlns:a16="http://schemas.microsoft.com/office/drawing/2014/main" id="{B4CC07F5-FC1A-1AB8-A1FC-BC70A0FCCE65}"/>
              </a:ext>
            </a:extLst>
          </p:cNvPr>
          <p:cNvGrpSpPr/>
          <p:nvPr/>
        </p:nvGrpSpPr>
        <p:grpSpPr>
          <a:xfrm>
            <a:off x="-1" y="6247106"/>
            <a:ext cx="12188953" cy="610894"/>
            <a:chOff x="0" y="0"/>
            <a:chExt cx="4800628" cy="244580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B4E1C8AE-087E-16C9-6332-4D2FCA051007}"/>
                </a:ext>
              </a:extLst>
            </p:cNvPr>
            <p:cNvSpPr/>
            <p:nvPr/>
          </p:nvSpPr>
          <p:spPr>
            <a:xfrm>
              <a:off x="0" y="0"/>
              <a:ext cx="4800628" cy="244580"/>
            </a:xfrm>
            <a:custGeom>
              <a:avLst/>
              <a:gdLst/>
              <a:ahLst/>
              <a:cxnLst/>
              <a:rect l="l" t="t" r="r" b="b"/>
              <a:pathLst>
                <a:path w="4800628" h="244580">
                  <a:moveTo>
                    <a:pt x="0" y="0"/>
                  </a:moveTo>
                  <a:lnTo>
                    <a:pt x="4800628" y="0"/>
                  </a:lnTo>
                  <a:lnTo>
                    <a:pt x="4800628" y="244580"/>
                  </a:lnTo>
                  <a:lnTo>
                    <a:pt x="0" y="244580"/>
                  </a:lnTo>
                  <a:close/>
                </a:path>
              </a:pathLst>
            </a:custGeom>
            <a:solidFill>
              <a:srgbClr val="283030"/>
            </a:solidFill>
          </p:spPr>
          <p:txBody>
            <a:bodyPr/>
            <a:lstStyle/>
            <a:p>
              <a:endParaRPr lang="it-IT">
                <a:solidFill>
                  <a:srgbClr val="283030"/>
                </a:solidFill>
              </a:endParaRPr>
            </a:p>
          </p:txBody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64AEDB97-EC90-430F-806F-0EE48253E08B}"/>
                </a:ext>
              </a:extLst>
            </p:cNvPr>
            <p:cNvSpPr txBox="1"/>
            <p:nvPr/>
          </p:nvSpPr>
          <p:spPr>
            <a:xfrm>
              <a:off x="0" y="-38100"/>
              <a:ext cx="4800628" cy="282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7" name="Picture 34">
            <a:extLst>
              <a:ext uri="{FF2B5EF4-FFF2-40B4-BE49-F238E27FC236}">
                <a16:creationId xmlns:a16="http://schemas.microsoft.com/office/drawing/2014/main" id="{678ED748-39D8-4C9C-E9F7-E03B822075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9593" y="6247106"/>
            <a:ext cx="1989763" cy="630092"/>
          </a:xfrm>
          <a:prstGeom prst="rect">
            <a:avLst/>
          </a:prstGeom>
        </p:spPr>
      </p:pic>
      <p:sp>
        <p:nvSpPr>
          <p:cNvPr id="8" name="TextBox 40">
            <a:extLst>
              <a:ext uri="{FF2B5EF4-FFF2-40B4-BE49-F238E27FC236}">
                <a16:creationId xmlns:a16="http://schemas.microsoft.com/office/drawing/2014/main" id="{E041F5B5-51A5-09CF-FAF8-74702620AE01}"/>
              </a:ext>
            </a:extLst>
          </p:cNvPr>
          <p:cNvSpPr txBox="1"/>
          <p:nvPr/>
        </p:nvSpPr>
        <p:spPr>
          <a:xfrm>
            <a:off x="5890161" y="6078583"/>
            <a:ext cx="408626" cy="6775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3434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16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C86BF6D9-9B30-06CC-1619-B4F916722CCB}"/>
              </a:ext>
            </a:extLst>
          </p:cNvPr>
          <p:cNvSpPr txBox="1"/>
          <p:nvPr/>
        </p:nvSpPr>
        <p:spPr>
          <a:xfrm>
            <a:off x="9134856" y="6091068"/>
            <a:ext cx="2788920" cy="704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179"/>
              </a:lnSpc>
              <a:spcBef>
                <a:spcPct val="0"/>
              </a:spcBef>
            </a:pPr>
            <a:r>
              <a:rPr lang="en-US" sz="2800" b="1" dirty="0" err="1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a.a.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2023/2024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212DAF76-54E3-7C71-E77E-B297C8E9FDAF}"/>
              </a:ext>
            </a:extLst>
          </p:cNvPr>
          <p:cNvSpPr txBox="1"/>
          <p:nvPr/>
        </p:nvSpPr>
        <p:spPr>
          <a:xfrm>
            <a:off x="268224" y="6338252"/>
            <a:ext cx="4320540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Martin Trajkovski 335566</a:t>
            </a:r>
          </a:p>
        </p:txBody>
      </p:sp>
    </p:spTree>
    <p:extLst>
      <p:ext uri="{BB962C8B-B14F-4D97-AF65-F5344CB8AC3E}">
        <p14:creationId xmlns:p14="http://schemas.microsoft.com/office/powerpoint/2010/main" val="42896482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893D-273F-63BA-94DA-B79F39719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 descr="Immagine che contiene neve&#10;&#10;Il contenuto generato dall'IA potrebbe non essere corretto.">
            <a:extLst>
              <a:ext uri="{FF2B5EF4-FFF2-40B4-BE49-F238E27FC236}">
                <a16:creationId xmlns:a16="http://schemas.microsoft.com/office/drawing/2014/main" id="{51FC034C-DAE4-401A-0F38-C5E752920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" y="0"/>
            <a:ext cx="12185904" cy="6858000"/>
          </a:xfrm>
          <a:prstGeom prst="rect">
            <a:avLst/>
          </a:prstGeom>
        </p:spPr>
      </p:pic>
      <p:grpSp>
        <p:nvGrpSpPr>
          <p:cNvPr id="2" name="Group 4">
            <a:extLst>
              <a:ext uri="{FF2B5EF4-FFF2-40B4-BE49-F238E27FC236}">
                <a16:creationId xmlns:a16="http://schemas.microsoft.com/office/drawing/2014/main" id="{60EA3257-8F44-4485-0F30-521425280824}"/>
              </a:ext>
            </a:extLst>
          </p:cNvPr>
          <p:cNvGrpSpPr/>
          <p:nvPr/>
        </p:nvGrpSpPr>
        <p:grpSpPr>
          <a:xfrm>
            <a:off x="-1" y="6247106"/>
            <a:ext cx="12188953" cy="610894"/>
            <a:chOff x="0" y="0"/>
            <a:chExt cx="4800628" cy="244580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32F85244-8C4F-E0E8-9251-A61EFC9B959B}"/>
                </a:ext>
              </a:extLst>
            </p:cNvPr>
            <p:cNvSpPr/>
            <p:nvPr/>
          </p:nvSpPr>
          <p:spPr>
            <a:xfrm>
              <a:off x="0" y="0"/>
              <a:ext cx="4800628" cy="244580"/>
            </a:xfrm>
            <a:custGeom>
              <a:avLst/>
              <a:gdLst/>
              <a:ahLst/>
              <a:cxnLst/>
              <a:rect l="l" t="t" r="r" b="b"/>
              <a:pathLst>
                <a:path w="4800628" h="244580">
                  <a:moveTo>
                    <a:pt x="0" y="0"/>
                  </a:moveTo>
                  <a:lnTo>
                    <a:pt x="4800628" y="0"/>
                  </a:lnTo>
                  <a:lnTo>
                    <a:pt x="4800628" y="244580"/>
                  </a:lnTo>
                  <a:lnTo>
                    <a:pt x="0" y="244580"/>
                  </a:lnTo>
                  <a:close/>
                </a:path>
              </a:pathLst>
            </a:custGeom>
            <a:solidFill>
              <a:srgbClr val="283030"/>
            </a:solidFill>
          </p:spPr>
          <p:txBody>
            <a:bodyPr/>
            <a:lstStyle/>
            <a:p>
              <a:endParaRPr lang="it-IT">
                <a:solidFill>
                  <a:srgbClr val="283030"/>
                </a:solidFill>
              </a:endParaRPr>
            </a:p>
          </p:txBody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B9DEBE28-4782-D24B-AA0B-DF5CD68A3ADA}"/>
                </a:ext>
              </a:extLst>
            </p:cNvPr>
            <p:cNvSpPr txBox="1"/>
            <p:nvPr/>
          </p:nvSpPr>
          <p:spPr>
            <a:xfrm>
              <a:off x="0" y="-38100"/>
              <a:ext cx="4800628" cy="282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7" name="Picture 34">
            <a:extLst>
              <a:ext uri="{FF2B5EF4-FFF2-40B4-BE49-F238E27FC236}">
                <a16:creationId xmlns:a16="http://schemas.microsoft.com/office/drawing/2014/main" id="{AC0C40D7-F4C6-DCEA-9A3B-8D8266485A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9593" y="6247106"/>
            <a:ext cx="1989763" cy="630092"/>
          </a:xfrm>
          <a:prstGeom prst="rect">
            <a:avLst/>
          </a:prstGeom>
        </p:spPr>
      </p:pic>
      <p:sp>
        <p:nvSpPr>
          <p:cNvPr id="8" name="TextBox 40">
            <a:extLst>
              <a:ext uri="{FF2B5EF4-FFF2-40B4-BE49-F238E27FC236}">
                <a16:creationId xmlns:a16="http://schemas.microsoft.com/office/drawing/2014/main" id="{FAB93113-B593-FE05-5776-C739F7AAAA3C}"/>
              </a:ext>
            </a:extLst>
          </p:cNvPr>
          <p:cNvSpPr txBox="1"/>
          <p:nvPr/>
        </p:nvSpPr>
        <p:spPr>
          <a:xfrm>
            <a:off x="5890161" y="6078583"/>
            <a:ext cx="408626" cy="6775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3434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17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CE62010F-73DF-6D0E-A784-8106961A5ADB}"/>
              </a:ext>
            </a:extLst>
          </p:cNvPr>
          <p:cNvSpPr txBox="1"/>
          <p:nvPr/>
        </p:nvSpPr>
        <p:spPr>
          <a:xfrm>
            <a:off x="9134856" y="6091068"/>
            <a:ext cx="2788920" cy="704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179"/>
              </a:lnSpc>
              <a:spcBef>
                <a:spcPct val="0"/>
              </a:spcBef>
            </a:pPr>
            <a:r>
              <a:rPr lang="en-US" sz="2800" b="1" dirty="0" err="1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a.a.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2023/2024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4CBBC3DB-1E50-B8B5-32A2-4BCFF380E876}"/>
              </a:ext>
            </a:extLst>
          </p:cNvPr>
          <p:cNvSpPr txBox="1"/>
          <p:nvPr/>
        </p:nvSpPr>
        <p:spPr>
          <a:xfrm>
            <a:off x="268224" y="6338252"/>
            <a:ext cx="4320540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Martin Trajkovski 335566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5ACAAFA-5EE4-0917-F83F-95C74B6FDBF1}"/>
              </a:ext>
            </a:extLst>
          </p:cNvPr>
          <p:cNvSpPr txBox="1"/>
          <p:nvPr/>
        </p:nvSpPr>
        <p:spPr>
          <a:xfrm>
            <a:off x="1" y="134898"/>
            <a:ext cx="1218895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it-IT" sz="40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ATTACHMENTS</a:t>
            </a:r>
            <a:endParaRPr lang="it-IT" sz="4000" b="1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74B662A-F89F-DD34-49A4-EA44D5B16D5F}"/>
              </a:ext>
            </a:extLst>
          </p:cNvPr>
          <p:cNvSpPr txBox="1"/>
          <p:nvPr/>
        </p:nvSpPr>
        <p:spPr>
          <a:xfrm>
            <a:off x="823471" y="4026953"/>
            <a:ext cx="39092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L’associazione degli allegati viene gestita attraverso il componente del </a:t>
            </a:r>
            <a:r>
              <a:rPr lang="it-IT" b="1" dirty="0" err="1"/>
              <a:t>FilesUploader</a:t>
            </a:r>
            <a:r>
              <a:rPr lang="it-IT" dirty="0"/>
              <a:t> con una relazione </a:t>
            </a:r>
            <a:r>
              <a:rPr lang="it-IT" dirty="0" err="1"/>
              <a:t>morph</a:t>
            </a:r>
            <a:r>
              <a:rPr lang="it-IT" dirty="0"/>
              <a:t>, rendendo il componente versatile e riutilizzabile in tutte le sezioni.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773DD2F0-2E6C-2A95-DBAA-55498DFB35C7}"/>
              </a:ext>
            </a:extLst>
          </p:cNvPr>
          <p:cNvSpPr txBox="1"/>
          <p:nvPr/>
        </p:nvSpPr>
        <p:spPr>
          <a:xfrm>
            <a:off x="6336563" y="2711716"/>
            <a:ext cx="4909352" cy="314445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class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extends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BaseModel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 …</a:t>
            </a:r>
            <a:b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protected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1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1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fillableMedia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= [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'attachments’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… ];</a:t>
            </a:r>
          </a:p>
          <a:p>
            <a:pPr>
              <a:lnSpc>
                <a:spcPts val="1425"/>
              </a:lnSpc>
            </a:pPr>
            <a:r>
              <a:rPr lang="it-IT" sz="1050" dirty="0">
                <a:solidFill>
                  <a:srgbClr val="D4D4D4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… }</a:t>
            </a:r>
          </a:p>
          <a:p>
            <a:pPr>
              <a:lnSpc>
                <a:spcPts val="1425"/>
              </a:lnSpc>
            </a:pPr>
            <a:endParaRPr lang="it-IT" sz="1050" dirty="0">
              <a:solidFill>
                <a:srgbClr val="D4D4D4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class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OfferController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extends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BaseController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public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1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store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it-IT" sz="1050" b="0" dirty="0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{ …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attachMediaFromRequest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'attachments’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it-IT" sz="1050" dirty="0">
                <a:solidFill>
                  <a:srgbClr val="D4D4D4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    … 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it-IT" sz="1050" b="0" dirty="0">
              <a:solidFill>
                <a:srgbClr val="569CD6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public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1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update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?</a:t>
            </a:r>
            <a:r>
              <a:rPr lang="it-IT" sz="1050" b="0" dirty="0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{ …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attachMediaFromRequest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'attachments’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);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dirty="0">
                <a:solidFill>
                  <a:srgbClr val="D4D4D4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    … }</a:t>
            </a:r>
          </a:p>
          <a:p>
            <a:pPr>
              <a:lnSpc>
                <a:spcPts val="1425"/>
              </a:lnSpc>
              <a:buNone/>
            </a:pPr>
            <a:r>
              <a:rPr lang="it-IT" sz="1050" dirty="0">
                <a:solidFill>
                  <a:srgbClr val="D4D4D4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CF18C1BD-3A3E-4E31-EA49-11A0392CD319}"/>
              </a:ext>
            </a:extLst>
          </p:cNvPr>
          <p:cNvSpPr txBox="1"/>
          <p:nvPr/>
        </p:nvSpPr>
        <p:spPr>
          <a:xfrm>
            <a:off x="1654637" y="2073407"/>
            <a:ext cx="2663301" cy="15286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80808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&lt;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FilesUploader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storage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=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"private"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label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=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</a:t>
            </a:r>
            <a:r>
              <a:rPr lang="it-IT" sz="1050" b="0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"Allegati"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name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=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"attachments"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 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uploadProps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=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 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listType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: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"picture-card"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}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multiple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 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draggable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</a:pPr>
            <a:r>
              <a:rPr lang="it-IT" sz="1050" b="0" dirty="0">
                <a:solidFill>
                  <a:srgbClr val="80808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/&gt;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pic>
        <p:nvPicPr>
          <p:cNvPr id="29" name="Immagine 28" descr="Immagine che contiene Carattere, Elementi grafici, cerchio, simbolo&#10;&#10;Il contenuto generato dall'IA potrebbe non essere corretto.">
            <a:extLst>
              <a:ext uri="{FF2B5EF4-FFF2-40B4-BE49-F238E27FC236}">
                <a16:creationId xmlns:a16="http://schemas.microsoft.com/office/drawing/2014/main" id="{B6C017D1-6124-EB24-CC8F-BD496A4CA2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819" y="559634"/>
            <a:ext cx="1112938" cy="1356723"/>
          </a:xfrm>
          <a:prstGeom prst="rect">
            <a:avLst/>
          </a:prstGeom>
        </p:spPr>
      </p:pic>
      <p:pic>
        <p:nvPicPr>
          <p:cNvPr id="30" name="Immagine 29" descr="Immagine che contiene Elementi grafici, Carattere, design, logo">
            <a:extLst>
              <a:ext uri="{FF2B5EF4-FFF2-40B4-BE49-F238E27FC236}">
                <a16:creationId xmlns:a16="http://schemas.microsoft.com/office/drawing/2014/main" id="{0522FBC3-4195-E6CF-7F89-A0B4F60DD47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9933" b="34545"/>
          <a:stretch/>
        </p:blipFill>
        <p:spPr>
          <a:xfrm>
            <a:off x="6334410" y="1346934"/>
            <a:ext cx="3971678" cy="1058741"/>
          </a:xfrm>
          <a:prstGeom prst="rect">
            <a:avLst/>
          </a:prstGeom>
        </p:spPr>
      </p:pic>
      <p:sp>
        <p:nvSpPr>
          <p:cNvPr id="37" name="Freeform 7">
            <a:extLst>
              <a:ext uri="{FF2B5EF4-FFF2-40B4-BE49-F238E27FC236}">
                <a16:creationId xmlns:a16="http://schemas.microsoft.com/office/drawing/2014/main" id="{CFA1E072-9AEB-A6DA-1684-2EE47FB6639C}"/>
              </a:ext>
            </a:extLst>
          </p:cNvPr>
          <p:cNvSpPr/>
          <p:nvPr/>
        </p:nvSpPr>
        <p:spPr>
          <a:xfrm>
            <a:off x="11500808" y="80"/>
            <a:ext cx="691192" cy="593848"/>
          </a:xfrm>
          <a:custGeom>
            <a:avLst/>
            <a:gdLst/>
            <a:ahLst/>
            <a:cxnLst/>
            <a:rect l="l" t="t" r="r" b="b"/>
            <a:pathLst>
              <a:path w="3573314" h="3232998">
                <a:moveTo>
                  <a:pt x="0" y="0"/>
                </a:moveTo>
                <a:lnTo>
                  <a:pt x="3573314" y="0"/>
                </a:lnTo>
                <a:lnTo>
                  <a:pt x="3573314" y="3232998"/>
                </a:lnTo>
                <a:lnTo>
                  <a:pt x="0" y="3232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13" name="Immagine 12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F525392D-D205-62C9-2F63-CBF781A217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033" y="-1474953"/>
            <a:ext cx="4762745" cy="647733"/>
          </a:xfrm>
          <a:prstGeom prst="rect">
            <a:avLst/>
          </a:prstGeom>
        </p:spPr>
      </p:pic>
      <p:pic>
        <p:nvPicPr>
          <p:cNvPr id="14" name="Immagine 13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F700D5D8-0F6C-61C2-5191-B043D49A35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001" y="-1474953"/>
            <a:ext cx="4711942" cy="647733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6E0B587-713D-B65D-35CE-E10B2C674C6A}"/>
              </a:ext>
            </a:extLst>
          </p:cNvPr>
          <p:cNvSpPr txBox="1"/>
          <p:nvPr/>
        </p:nvSpPr>
        <p:spPr>
          <a:xfrm>
            <a:off x="2414219" y="-849123"/>
            <a:ext cx="11935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 dirty="0">
                <a:latin typeface="Dubai" panose="020B0503030403030204" pitchFamily="34" charset="-78"/>
                <a:cs typeface="Dubai" panose="020B0503030403030204" pitchFamily="34" charset="-78"/>
              </a:rPr>
              <a:t>Immagine caricata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70100D3-ECB1-0903-8BA4-0362BD7A3514}"/>
              </a:ext>
            </a:extLst>
          </p:cNvPr>
          <p:cNvSpPr txBox="1"/>
          <p:nvPr/>
        </p:nvSpPr>
        <p:spPr>
          <a:xfrm>
            <a:off x="8459652" y="-848890"/>
            <a:ext cx="11935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 dirty="0">
                <a:latin typeface="Dubai" panose="020B0503030403030204" pitchFamily="34" charset="-78"/>
                <a:cs typeface="Dubai" panose="020B0503030403030204" pitchFamily="34" charset="-78"/>
              </a:rPr>
              <a:t>Immagine salvata</a:t>
            </a:r>
          </a:p>
        </p:txBody>
      </p:sp>
      <p:pic>
        <p:nvPicPr>
          <p:cNvPr id="6" name="Immagine 5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523E02EF-C5E7-BCA3-4D74-B3F1876CA0E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37606" y="1424110"/>
            <a:ext cx="6088397" cy="400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249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FAB61-BFC1-DA33-7F11-76C0B2B64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 descr="Immagine che contiene neve&#10;&#10;Il contenuto generato dall'IA potrebbe non essere corretto.">
            <a:extLst>
              <a:ext uri="{FF2B5EF4-FFF2-40B4-BE49-F238E27FC236}">
                <a16:creationId xmlns:a16="http://schemas.microsoft.com/office/drawing/2014/main" id="{9868C5C5-7C1F-7160-3256-DB232CCBC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" y="0"/>
            <a:ext cx="12185904" cy="6858000"/>
          </a:xfrm>
          <a:prstGeom prst="rect">
            <a:avLst/>
          </a:prstGeom>
        </p:spPr>
      </p:pic>
      <p:grpSp>
        <p:nvGrpSpPr>
          <p:cNvPr id="2" name="Group 4">
            <a:extLst>
              <a:ext uri="{FF2B5EF4-FFF2-40B4-BE49-F238E27FC236}">
                <a16:creationId xmlns:a16="http://schemas.microsoft.com/office/drawing/2014/main" id="{7B474DA0-6F12-0128-0026-28F6693DC524}"/>
              </a:ext>
            </a:extLst>
          </p:cNvPr>
          <p:cNvGrpSpPr/>
          <p:nvPr/>
        </p:nvGrpSpPr>
        <p:grpSpPr>
          <a:xfrm>
            <a:off x="-1" y="6247106"/>
            <a:ext cx="12188953" cy="610894"/>
            <a:chOff x="0" y="0"/>
            <a:chExt cx="4800628" cy="244580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5A4F3C2C-8618-BC81-054E-7B7563000017}"/>
                </a:ext>
              </a:extLst>
            </p:cNvPr>
            <p:cNvSpPr/>
            <p:nvPr/>
          </p:nvSpPr>
          <p:spPr>
            <a:xfrm>
              <a:off x="0" y="0"/>
              <a:ext cx="4800628" cy="244580"/>
            </a:xfrm>
            <a:custGeom>
              <a:avLst/>
              <a:gdLst/>
              <a:ahLst/>
              <a:cxnLst/>
              <a:rect l="l" t="t" r="r" b="b"/>
              <a:pathLst>
                <a:path w="4800628" h="244580">
                  <a:moveTo>
                    <a:pt x="0" y="0"/>
                  </a:moveTo>
                  <a:lnTo>
                    <a:pt x="4800628" y="0"/>
                  </a:lnTo>
                  <a:lnTo>
                    <a:pt x="4800628" y="244580"/>
                  </a:lnTo>
                  <a:lnTo>
                    <a:pt x="0" y="244580"/>
                  </a:lnTo>
                  <a:close/>
                </a:path>
              </a:pathLst>
            </a:custGeom>
            <a:solidFill>
              <a:srgbClr val="283030"/>
            </a:solidFill>
          </p:spPr>
          <p:txBody>
            <a:bodyPr/>
            <a:lstStyle/>
            <a:p>
              <a:endParaRPr lang="it-IT">
                <a:solidFill>
                  <a:srgbClr val="283030"/>
                </a:solidFill>
              </a:endParaRPr>
            </a:p>
          </p:txBody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85701416-CB22-F52D-6C9A-530E6E5869A9}"/>
                </a:ext>
              </a:extLst>
            </p:cNvPr>
            <p:cNvSpPr txBox="1"/>
            <p:nvPr/>
          </p:nvSpPr>
          <p:spPr>
            <a:xfrm>
              <a:off x="0" y="-38100"/>
              <a:ext cx="4800628" cy="282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7" name="Picture 34">
            <a:extLst>
              <a:ext uri="{FF2B5EF4-FFF2-40B4-BE49-F238E27FC236}">
                <a16:creationId xmlns:a16="http://schemas.microsoft.com/office/drawing/2014/main" id="{72B79534-E75A-B84D-72C0-2638BE6B74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9593" y="6247106"/>
            <a:ext cx="1989763" cy="630092"/>
          </a:xfrm>
          <a:prstGeom prst="rect">
            <a:avLst/>
          </a:prstGeom>
        </p:spPr>
      </p:pic>
      <p:sp>
        <p:nvSpPr>
          <p:cNvPr id="8" name="TextBox 40">
            <a:extLst>
              <a:ext uri="{FF2B5EF4-FFF2-40B4-BE49-F238E27FC236}">
                <a16:creationId xmlns:a16="http://schemas.microsoft.com/office/drawing/2014/main" id="{6499038F-7C40-A102-1C8E-005CB61F2BD8}"/>
              </a:ext>
            </a:extLst>
          </p:cNvPr>
          <p:cNvSpPr txBox="1"/>
          <p:nvPr/>
        </p:nvSpPr>
        <p:spPr>
          <a:xfrm>
            <a:off x="5890161" y="6078583"/>
            <a:ext cx="408626" cy="6775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3434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18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FCD0C3B7-FC3A-69E1-E853-B52C845F1428}"/>
              </a:ext>
            </a:extLst>
          </p:cNvPr>
          <p:cNvSpPr txBox="1"/>
          <p:nvPr/>
        </p:nvSpPr>
        <p:spPr>
          <a:xfrm>
            <a:off x="9134856" y="6091068"/>
            <a:ext cx="2788920" cy="704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179"/>
              </a:lnSpc>
              <a:spcBef>
                <a:spcPct val="0"/>
              </a:spcBef>
            </a:pPr>
            <a:r>
              <a:rPr lang="en-US" sz="2800" b="1" dirty="0" err="1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a.a.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2023/2024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423EA9EC-2787-16ED-2F1E-C423794B5763}"/>
              </a:ext>
            </a:extLst>
          </p:cNvPr>
          <p:cNvSpPr txBox="1"/>
          <p:nvPr/>
        </p:nvSpPr>
        <p:spPr>
          <a:xfrm>
            <a:off x="268224" y="6338252"/>
            <a:ext cx="4320540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Martin Trajkovski 335566</a:t>
            </a:r>
          </a:p>
        </p:txBody>
      </p:sp>
      <p:pic>
        <p:nvPicPr>
          <p:cNvPr id="12" name="Immagine 11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6894DB4F-8CB6-AE9A-8B98-7C87410CF3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033" y="4676483"/>
            <a:ext cx="4762745" cy="647733"/>
          </a:xfrm>
          <a:prstGeom prst="rect">
            <a:avLst/>
          </a:prstGeom>
        </p:spPr>
      </p:pic>
      <p:pic>
        <p:nvPicPr>
          <p:cNvPr id="14" name="Immagine 13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F6AE3318-47FA-0966-ADAE-B7E31CDDEC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001" y="4676483"/>
            <a:ext cx="4711942" cy="647733"/>
          </a:xfrm>
          <a:prstGeom prst="rect">
            <a:avLst/>
          </a:prstGeom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D871E048-082A-05E1-F0C2-22C758E26C0B}"/>
              </a:ext>
            </a:extLst>
          </p:cNvPr>
          <p:cNvSpPr txBox="1"/>
          <p:nvPr/>
        </p:nvSpPr>
        <p:spPr>
          <a:xfrm>
            <a:off x="1" y="134898"/>
            <a:ext cx="1218895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it-IT" sz="4000" b="1" dirty="0">
                <a:solidFill>
                  <a:srgbClr val="30303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ATTACHMENTS</a:t>
            </a:r>
            <a:endParaRPr lang="it-IT" sz="4000" b="1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0184652F-2B6D-7016-B95A-F6A5B79FC3A7}"/>
              </a:ext>
            </a:extLst>
          </p:cNvPr>
          <p:cNvSpPr/>
          <p:nvPr/>
        </p:nvSpPr>
        <p:spPr>
          <a:xfrm>
            <a:off x="11500808" y="80"/>
            <a:ext cx="691192" cy="593848"/>
          </a:xfrm>
          <a:custGeom>
            <a:avLst/>
            <a:gdLst/>
            <a:ahLst/>
            <a:cxnLst/>
            <a:rect l="l" t="t" r="r" b="b"/>
            <a:pathLst>
              <a:path w="3573314" h="3232998">
                <a:moveTo>
                  <a:pt x="0" y="0"/>
                </a:moveTo>
                <a:lnTo>
                  <a:pt x="3573314" y="0"/>
                </a:lnTo>
                <a:lnTo>
                  <a:pt x="3573314" y="3232998"/>
                </a:lnTo>
                <a:lnTo>
                  <a:pt x="0" y="3232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5" name="Immagine 4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D04C9EAE-85D6-83B5-AF3D-BE07CF279C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53537" y="1212116"/>
            <a:ext cx="6673248" cy="2570243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18DE539-F066-02D7-6941-1270C4E3266E}"/>
              </a:ext>
            </a:extLst>
          </p:cNvPr>
          <p:cNvSpPr txBox="1"/>
          <p:nvPr/>
        </p:nvSpPr>
        <p:spPr>
          <a:xfrm>
            <a:off x="2414219" y="5302313"/>
            <a:ext cx="11935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 dirty="0">
                <a:latin typeface="Dubai" panose="020B0503030403030204" pitchFamily="34" charset="-78"/>
                <a:cs typeface="Dubai" panose="020B0503030403030204" pitchFamily="34" charset="-78"/>
              </a:rPr>
              <a:t>Immagine caricata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E693F40E-61C4-C6D1-F0F6-185CECB5E385}"/>
              </a:ext>
            </a:extLst>
          </p:cNvPr>
          <p:cNvSpPr txBox="1"/>
          <p:nvPr/>
        </p:nvSpPr>
        <p:spPr>
          <a:xfrm>
            <a:off x="8459652" y="5302546"/>
            <a:ext cx="11935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 dirty="0">
                <a:latin typeface="Dubai" panose="020B0503030403030204" pitchFamily="34" charset="-78"/>
                <a:cs typeface="Dubai" panose="020B0503030403030204" pitchFamily="34" charset="-78"/>
              </a:rPr>
              <a:t>Immagine salvata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2DDAF508-DACA-ECF6-F403-2DE36DEBB295}"/>
              </a:ext>
            </a:extLst>
          </p:cNvPr>
          <p:cNvSpPr txBox="1"/>
          <p:nvPr/>
        </p:nvSpPr>
        <p:spPr>
          <a:xfrm>
            <a:off x="-3665523" y="2073407"/>
            <a:ext cx="2663301" cy="15286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80808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&lt;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FilesUploader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storage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=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"private"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label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=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</a:t>
            </a:r>
            <a:r>
              <a:rPr lang="it-IT" sz="1050" b="0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"Allegati"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name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=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"attachments"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 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uploadProps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=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 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listType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: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"picture-card"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}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multiple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 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draggable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</a:pPr>
            <a:r>
              <a:rPr lang="it-IT" sz="1050" b="0" dirty="0">
                <a:solidFill>
                  <a:srgbClr val="80808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/&gt;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pic>
        <p:nvPicPr>
          <p:cNvPr id="23" name="Immagine 22" descr="Immagine che contiene Carattere, Elementi grafici, cerchio, simbolo&#10;&#10;Il contenuto generato dall'IA potrebbe non essere corretto.">
            <a:extLst>
              <a:ext uri="{FF2B5EF4-FFF2-40B4-BE49-F238E27FC236}">
                <a16:creationId xmlns:a16="http://schemas.microsoft.com/office/drawing/2014/main" id="{FF5C2B5D-663D-4926-C425-6F2736E0780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0341" y="559634"/>
            <a:ext cx="1112938" cy="1356723"/>
          </a:xfrm>
          <a:prstGeom prst="rect">
            <a:avLst/>
          </a:prstGeom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9DAAA37F-EA4D-70AF-FC50-97FC8926E2B9}"/>
              </a:ext>
            </a:extLst>
          </p:cNvPr>
          <p:cNvSpPr txBox="1"/>
          <p:nvPr/>
        </p:nvSpPr>
        <p:spPr>
          <a:xfrm>
            <a:off x="13864223" y="2711716"/>
            <a:ext cx="4909352" cy="314445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class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extends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BaseModel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 …</a:t>
            </a:r>
            <a:br>
              <a:rPr lang="it-IT" sz="1050" b="0" dirty="0">
                <a:solidFill>
                  <a:srgbClr val="CCCCCC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protected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1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1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fillableMedia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= [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'attachments’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… ];</a:t>
            </a:r>
          </a:p>
          <a:p>
            <a:pPr>
              <a:lnSpc>
                <a:spcPts val="1425"/>
              </a:lnSpc>
            </a:pPr>
            <a:r>
              <a:rPr lang="it-IT" sz="1050" dirty="0">
                <a:solidFill>
                  <a:srgbClr val="D4D4D4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… }</a:t>
            </a:r>
          </a:p>
          <a:p>
            <a:pPr>
              <a:lnSpc>
                <a:spcPts val="1425"/>
              </a:lnSpc>
            </a:pPr>
            <a:endParaRPr lang="it-IT" sz="1050" dirty="0">
              <a:solidFill>
                <a:srgbClr val="D4D4D4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class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OfferController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extends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BaseController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{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</a:t>
            </a: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public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1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store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it-IT" sz="1050" b="0" dirty="0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{ …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attachMediaFromRequest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'attachments’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it-IT" sz="1050" dirty="0">
                <a:solidFill>
                  <a:srgbClr val="D4D4D4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    … 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it-IT" sz="1050" b="0" dirty="0">
              <a:solidFill>
                <a:srgbClr val="569CD6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public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 err="1">
                <a:solidFill>
                  <a:srgbClr val="569CD6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function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1" dirty="0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update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?</a:t>
            </a:r>
            <a:r>
              <a:rPr lang="it-IT" sz="1050" b="0" dirty="0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$customer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, </a:t>
            </a:r>
            <a:r>
              <a:rPr lang="it-IT" sz="1050" b="0" dirty="0" err="1">
                <a:solidFill>
                  <a:srgbClr val="4EC9B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{ …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        </a:t>
            </a:r>
            <a:r>
              <a:rPr lang="it-IT" sz="1050" b="0" dirty="0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$</a:t>
            </a:r>
            <a:r>
              <a:rPr lang="it-IT" sz="1050" b="0" dirty="0" err="1">
                <a:solidFill>
                  <a:srgbClr val="9CDCFE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offer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-&gt;</a:t>
            </a:r>
            <a:r>
              <a:rPr lang="it-IT" sz="1050" b="0" dirty="0" err="1">
                <a:solidFill>
                  <a:srgbClr val="DCDCAA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attachMediaFromRequest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(</a:t>
            </a:r>
            <a:r>
              <a:rPr lang="it-IT" sz="1050" b="0" dirty="0">
                <a:solidFill>
                  <a:srgbClr val="CE9178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'attachments’</a:t>
            </a:r>
            <a:r>
              <a:rPr lang="it-IT" sz="1050" b="0" dirty="0">
                <a:solidFill>
                  <a:srgbClr val="D4D4D4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</a:rPr>
              <a:t>);</a:t>
            </a:r>
            <a:endParaRPr lang="it-IT" sz="1050" b="0" dirty="0">
              <a:solidFill>
                <a:srgbClr val="CCCCCC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ts val="1425"/>
              </a:lnSpc>
              <a:buNone/>
            </a:pPr>
            <a:r>
              <a:rPr lang="it-IT" sz="1050" dirty="0">
                <a:solidFill>
                  <a:srgbClr val="D4D4D4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    … }</a:t>
            </a:r>
          </a:p>
          <a:p>
            <a:pPr>
              <a:lnSpc>
                <a:spcPts val="1425"/>
              </a:lnSpc>
              <a:buNone/>
            </a:pPr>
            <a:r>
              <a:rPr lang="it-IT" sz="1050" dirty="0">
                <a:solidFill>
                  <a:srgbClr val="D4D4D4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}</a:t>
            </a:r>
          </a:p>
        </p:txBody>
      </p:sp>
      <p:pic>
        <p:nvPicPr>
          <p:cNvPr id="25" name="Immagine 24" descr="Immagine che contiene Elementi grafici, Carattere, design, logo">
            <a:extLst>
              <a:ext uri="{FF2B5EF4-FFF2-40B4-BE49-F238E27FC236}">
                <a16:creationId xmlns:a16="http://schemas.microsoft.com/office/drawing/2014/main" id="{C5588DDC-8CD2-E62E-7436-9AA660BC4A4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9933" b="34545"/>
          <a:stretch/>
        </p:blipFill>
        <p:spPr>
          <a:xfrm>
            <a:off x="13862070" y="1346934"/>
            <a:ext cx="3971678" cy="1058741"/>
          </a:xfrm>
          <a:prstGeom prst="rect">
            <a:avLst/>
          </a:prstGeom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ACDEBD54-1095-5BC4-3896-18DA0421A387}"/>
              </a:ext>
            </a:extLst>
          </p:cNvPr>
          <p:cNvSpPr txBox="1"/>
          <p:nvPr/>
        </p:nvSpPr>
        <p:spPr>
          <a:xfrm>
            <a:off x="-5143237" y="4026953"/>
            <a:ext cx="39092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L’associazione degli allegati viene gestita attraverso il componente del </a:t>
            </a:r>
            <a:r>
              <a:rPr lang="it-IT" b="1" dirty="0" err="1"/>
              <a:t>FilesUploader</a:t>
            </a:r>
            <a:r>
              <a:rPr lang="it-IT" dirty="0"/>
              <a:t> con una relazione </a:t>
            </a:r>
            <a:r>
              <a:rPr lang="it-IT" dirty="0" err="1"/>
              <a:t>morph</a:t>
            </a:r>
            <a:r>
              <a:rPr lang="it-IT" dirty="0"/>
              <a:t>, rendendo il componente versatile e riutilizzabile in tutte le sezioni.</a:t>
            </a:r>
          </a:p>
        </p:txBody>
      </p:sp>
    </p:spTree>
    <p:extLst>
      <p:ext uri="{BB962C8B-B14F-4D97-AF65-F5344CB8AC3E}">
        <p14:creationId xmlns:p14="http://schemas.microsoft.com/office/powerpoint/2010/main" val="1700811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DFA02-5B29-C42E-822D-DBC47A819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 descr="Immagine che contiene neve&#10;&#10;Il contenuto generato dall'IA potrebbe non essere corretto.">
            <a:extLst>
              <a:ext uri="{FF2B5EF4-FFF2-40B4-BE49-F238E27FC236}">
                <a16:creationId xmlns:a16="http://schemas.microsoft.com/office/drawing/2014/main" id="{07FC51E3-9A7D-891B-F9D0-69070749A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" y="0"/>
            <a:ext cx="12185904" cy="6858000"/>
          </a:xfrm>
          <a:prstGeom prst="rect">
            <a:avLst/>
          </a:prstGeom>
        </p:spPr>
      </p:pic>
      <p:grpSp>
        <p:nvGrpSpPr>
          <p:cNvPr id="2" name="Group 4">
            <a:extLst>
              <a:ext uri="{FF2B5EF4-FFF2-40B4-BE49-F238E27FC236}">
                <a16:creationId xmlns:a16="http://schemas.microsoft.com/office/drawing/2014/main" id="{FE8B1B96-BC51-2E2A-B1FE-3786B411264C}"/>
              </a:ext>
            </a:extLst>
          </p:cNvPr>
          <p:cNvGrpSpPr/>
          <p:nvPr/>
        </p:nvGrpSpPr>
        <p:grpSpPr>
          <a:xfrm>
            <a:off x="-1" y="6247106"/>
            <a:ext cx="12188953" cy="610894"/>
            <a:chOff x="0" y="0"/>
            <a:chExt cx="4800628" cy="244580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3AD389D6-C47D-581D-2BC0-F056166FA082}"/>
                </a:ext>
              </a:extLst>
            </p:cNvPr>
            <p:cNvSpPr/>
            <p:nvPr/>
          </p:nvSpPr>
          <p:spPr>
            <a:xfrm>
              <a:off x="0" y="0"/>
              <a:ext cx="4800628" cy="244580"/>
            </a:xfrm>
            <a:custGeom>
              <a:avLst/>
              <a:gdLst/>
              <a:ahLst/>
              <a:cxnLst/>
              <a:rect l="l" t="t" r="r" b="b"/>
              <a:pathLst>
                <a:path w="4800628" h="244580">
                  <a:moveTo>
                    <a:pt x="0" y="0"/>
                  </a:moveTo>
                  <a:lnTo>
                    <a:pt x="4800628" y="0"/>
                  </a:lnTo>
                  <a:lnTo>
                    <a:pt x="4800628" y="244580"/>
                  </a:lnTo>
                  <a:lnTo>
                    <a:pt x="0" y="244580"/>
                  </a:lnTo>
                  <a:close/>
                </a:path>
              </a:pathLst>
            </a:custGeom>
            <a:solidFill>
              <a:srgbClr val="283030"/>
            </a:solidFill>
          </p:spPr>
          <p:txBody>
            <a:bodyPr/>
            <a:lstStyle/>
            <a:p>
              <a:endParaRPr lang="it-IT">
                <a:solidFill>
                  <a:srgbClr val="283030"/>
                </a:solidFill>
              </a:endParaRPr>
            </a:p>
          </p:txBody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1BEFAD25-6940-E20B-5B2E-81F25C5E230E}"/>
                </a:ext>
              </a:extLst>
            </p:cNvPr>
            <p:cNvSpPr txBox="1"/>
            <p:nvPr/>
          </p:nvSpPr>
          <p:spPr>
            <a:xfrm>
              <a:off x="0" y="-38100"/>
              <a:ext cx="4800628" cy="282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7" name="Picture 34">
            <a:extLst>
              <a:ext uri="{FF2B5EF4-FFF2-40B4-BE49-F238E27FC236}">
                <a16:creationId xmlns:a16="http://schemas.microsoft.com/office/drawing/2014/main" id="{EC4C8FE1-A823-A27A-57FB-B6FBBAC310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9593" y="6247106"/>
            <a:ext cx="1989763" cy="630092"/>
          </a:xfrm>
          <a:prstGeom prst="rect">
            <a:avLst/>
          </a:prstGeom>
        </p:spPr>
      </p:pic>
      <p:sp>
        <p:nvSpPr>
          <p:cNvPr id="8" name="TextBox 40">
            <a:extLst>
              <a:ext uri="{FF2B5EF4-FFF2-40B4-BE49-F238E27FC236}">
                <a16:creationId xmlns:a16="http://schemas.microsoft.com/office/drawing/2014/main" id="{FFAB7905-1F58-2F81-3B05-FFB74EE15E46}"/>
              </a:ext>
            </a:extLst>
          </p:cNvPr>
          <p:cNvSpPr txBox="1"/>
          <p:nvPr/>
        </p:nvSpPr>
        <p:spPr>
          <a:xfrm>
            <a:off x="5890161" y="6078583"/>
            <a:ext cx="408626" cy="6775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3434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19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3EB944FD-ADB8-55C8-116B-C6E51D847558}"/>
              </a:ext>
            </a:extLst>
          </p:cNvPr>
          <p:cNvSpPr txBox="1"/>
          <p:nvPr/>
        </p:nvSpPr>
        <p:spPr>
          <a:xfrm>
            <a:off x="9134856" y="6091068"/>
            <a:ext cx="2788920" cy="704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179"/>
              </a:lnSpc>
              <a:spcBef>
                <a:spcPct val="0"/>
              </a:spcBef>
            </a:pPr>
            <a:r>
              <a:rPr lang="en-US" sz="2800" b="1" dirty="0" err="1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a.a.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2023/2024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9C2CE50B-F33A-DE88-D48F-23B3AF16FF1D}"/>
              </a:ext>
            </a:extLst>
          </p:cNvPr>
          <p:cNvSpPr txBox="1"/>
          <p:nvPr/>
        </p:nvSpPr>
        <p:spPr>
          <a:xfrm>
            <a:off x="268224" y="6338252"/>
            <a:ext cx="4320540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Martin Trajkovski 335566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F99B707-6F28-AFB6-4878-7637CF9A4EDF}"/>
              </a:ext>
            </a:extLst>
          </p:cNvPr>
          <p:cNvSpPr txBox="1"/>
          <p:nvPr/>
        </p:nvSpPr>
        <p:spPr>
          <a:xfrm>
            <a:off x="1" y="134898"/>
            <a:ext cx="1218895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it-IT" sz="4000" b="1" i="0" dirty="0">
                <a:solidFill>
                  <a:srgbClr val="303030"/>
                </a:solidFill>
                <a:effectLst/>
                <a:latin typeface="Dubai" panose="020B0503030403030204" pitchFamily="34" charset="-78"/>
                <a:cs typeface="Dubai" panose="020B0503030403030204" pitchFamily="34" charset="-78"/>
                <a:sym typeface="Glacial Indifference Bold"/>
              </a:rPr>
              <a:t>POSSIBILI MIGLIORAMENTI</a:t>
            </a:r>
            <a:endParaRPr lang="it-IT" sz="4000" b="1" i="0" dirty="0">
              <a:solidFill>
                <a:srgbClr val="040C28"/>
              </a:solidFill>
              <a:effectLst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pic>
        <p:nvPicPr>
          <p:cNvPr id="13" name="Immagine 12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4CF91CB4-45FF-5AA4-E8B3-98345EEA33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87878" y="3834894"/>
            <a:ext cx="4762745" cy="647733"/>
          </a:xfrm>
          <a:prstGeom prst="rect">
            <a:avLst/>
          </a:prstGeom>
        </p:spPr>
      </p:pic>
      <p:pic>
        <p:nvPicPr>
          <p:cNvPr id="14" name="Immagine 13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AFC46312-BF90-A539-63B4-294D8F3FEC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106622" y="3834894"/>
            <a:ext cx="4711942" cy="647733"/>
          </a:xfrm>
          <a:prstGeom prst="rect">
            <a:avLst/>
          </a:prstGeom>
        </p:spPr>
      </p:pic>
      <p:sp>
        <p:nvSpPr>
          <p:cNvPr id="15" name="Freeform 7">
            <a:extLst>
              <a:ext uri="{FF2B5EF4-FFF2-40B4-BE49-F238E27FC236}">
                <a16:creationId xmlns:a16="http://schemas.microsoft.com/office/drawing/2014/main" id="{AF0D18C6-90A6-8E50-3680-8F1C5498EB2C}"/>
              </a:ext>
            </a:extLst>
          </p:cNvPr>
          <p:cNvSpPr/>
          <p:nvPr/>
        </p:nvSpPr>
        <p:spPr>
          <a:xfrm>
            <a:off x="11500808" y="80"/>
            <a:ext cx="691192" cy="593848"/>
          </a:xfrm>
          <a:custGeom>
            <a:avLst/>
            <a:gdLst/>
            <a:ahLst/>
            <a:cxnLst/>
            <a:rect l="l" t="t" r="r" b="b"/>
            <a:pathLst>
              <a:path w="3573314" h="3232998">
                <a:moveTo>
                  <a:pt x="0" y="0"/>
                </a:moveTo>
                <a:lnTo>
                  <a:pt x="3573314" y="0"/>
                </a:lnTo>
                <a:lnTo>
                  <a:pt x="3573314" y="3232998"/>
                </a:lnTo>
                <a:lnTo>
                  <a:pt x="0" y="3232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20" name="Immagine 19" descr="Immagine che contiene Blu intenso, oscurità, luce, arte&#10;&#10;Il contenuto generato dall'IA potrebbe non essere corretto.">
            <a:extLst>
              <a:ext uri="{FF2B5EF4-FFF2-40B4-BE49-F238E27FC236}">
                <a16:creationId xmlns:a16="http://schemas.microsoft.com/office/drawing/2014/main" id="{B9915800-B337-CE38-39C6-63A9ACC2C9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4373563" y="2485315"/>
            <a:ext cx="3019792" cy="1887370"/>
          </a:xfrm>
          <a:prstGeom prst="rect">
            <a:avLst/>
          </a:prstGeom>
        </p:spPr>
      </p:pic>
      <p:pic>
        <p:nvPicPr>
          <p:cNvPr id="22" name="Immagine 21" descr="Immagine che contiene testo, Segnale stradale, Carattere, segnaletica&#10;&#10;Il contenuto generato dall'IA potrebbe non essere corretto.">
            <a:extLst>
              <a:ext uri="{FF2B5EF4-FFF2-40B4-BE49-F238E27FC236}">
                <a16:creationId xmlns:a16="http://schemas.microsoft.com/office/drawing/2014/main" id="{B77E40FF-417F-F76A-391E-7116BD0941A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686926" y="2298789"/>
            <a:ext cx="2731826" cy="2449538"/>
          </a:xfrm>
          <a:prstGeom prst="rect">
            <a:avLst/>
          </a:prstGeom>
        </p:spPr>
      </p:pic>
      <p:grpSp>
        <p:nvGrpSpPr>
          <p:cNvPr id="19" name="Gruppo 18">
            <a:extLst>
              <a:ext uri="{FF2B5EF4-FFF2-40B4-BE49-F238E27FC236}">
                <a16:creationId xmlns:a16="http://schemas.microsoft.com/office/drawing/2014/main" id="{FBEF198A-02AA-A67E-442A-9182416A0FA0}"/>
              </a:ext>
            </a:extLst>
          </p:cNvPr>
          <p:cNvGrpSpPr/>
          <p:nvPr/>
        </p:nvGrpSpPr>
        <p:grpSpPr>
          <a:xfrm>
            <a:off x="8476253" y="2029029"/>
            <a:ext cx="2808108" cy="2799942"/>
            <a:chOff x="7408145" y="2504519"/>
            <a:chExt cx="2808108" cy="2799942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261D1EEB-EB49-76D3-CB62-6EA59739C5E7}"/>
                </a:ext>
              </a:extLst>
            </p:cNvPr>
            <p:cNvSpPr/>
            <p:nvPr/>
          </p:nvSpPr>
          <p:spPr>
            <a:xfrm>
              <a:off x="7408145" y="2504519"/>
              <a:ext cx="1762935" cy="1780985"/>
            </a:xfrm>
            <a:custGeom>
              <a:avLst/>
              <a:gdLst/>
              <a:ahLst/>
              <a:cxnLst/>
              <a:rect l="l" t="t" r="r" b="b"/>
              <a:pathLst>
                <a:path w="4701159" h="4749293">
                  <a:moveTo>
                    <a:pt x="0" y="0"/>
                  </a:moveTo>
                  <a:lnTo>
                    <a:pt x="4701159" y="0"/>
                  </a:lnTo>
                  <a:lnTo>
                    <a:pt x="4701159" y="4749293"/>
                  </a:lnTo>
                  <a:lnTo>
                    <a:pt x="0" y="474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biLevel thresh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Freeform 10">
              <a:extLst>
                <a:ext uri="{FF2B5EF4-FFF2-40B4-BE49-F238E27FC236}">
                  <a16:creationId xmlns:a16="http://schemas.microsoft.com/office/drawing/2014/main" id="{25C2DF4D-DBB8-BD02-6420-729C7781D1B5}"/>
                </a:ext>
              </a:extLst>
            </p:cNvPr>
            <p:cNvSpPr/>
            <p:nvPr/>
          </p:nvSpPr>
          <p:spPr>
            <a:xfrm>
              <a:off x="8773010" y="2513023"/>
              <a:ext cx="1432813" cy="1432813"/>
            </a:xfrm>
            <a:custGeom>
              <a:avLst/>
              <a:gdLst/>
              <a:ahLst/>
              <a:cxnLst/>
              <a:rect l="l" t="t" r="r" b="b"/>
              <a:pathLst>
                <a:path w="3820835" h="3820835">
                  <a:moveTo>
                    <a:pt x="0" y="0"/>
                  </a:moveTo>
                  <a:lnTo>
                    <a:pt x="3820835" y="0"/>
                  </a:lnTo>
                  <a:lnTo>
                    <a:pt x="3820835" y="3820835"/>
                  </a:lnTo>
                  <a:lnTo>
                    <a:pt x="0" y="3820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biLevel thresh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7E183DA-DA41-6DB4-0C5F-5BE1D9EE5B12}"/>
                </a:ext>
              </a:extLst>
            </p:cNvPr>
            <p:cNvSpPr/>
            <p:nvPr/>
          </p:nvSpPr>
          <p:spPr>
            <a:xfrm>
              <a:off x="7416213" y="3861442"/>
              <a:ext cx="1756981" cy="1443019"/>
            </a:xfrm>
            <a:custGeom>
              <a:avLst/>
              <a:gdLst/>
              <a:ahLst/>
              <a:cxnLst/>
              <a:rect l="l" t="t" r="r" b="b"/>
              <a:pathLst>
                <a:path w="4685282" h="3848050">
                  <a:moveTo>
                    <a:pt x="0" y="0"/>
                  </a:moveTo>
                  <a:lnTo>
                    <a:pt x="4685283" y="0"/>
                  </a:lnTo>
                  <a:lnTo>
                    <a:pt x="4685283" y="3848050"/>
                  </a:lnTo>
                  <a:lnTo>
                    <a:pt x="0" y="3848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biLevel thresh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76F6D22D-362E-17FA-BAB1-A432BA86B5DC}"/>
                </a:ext>
              </a:extLst>
            </p:cNvPr>
            <p:cNvSpPr/>
            <p:nvPr/>
          </p:nvSpPr>
          <p:spPr>
            <a:xfrm>
              <a:off x="8772109" y="3557832"/>
              <a:ext cx="1444144" cy="1746266"/>
            </a:xfrm>
            <a:custGeom>
              <a:avLst/>
              <a:gdLst/>
              <a:ahLst/>
              <a:cxnLst/>
              <a:rect l="l" t="t" r="r" b="b"/>
              <a:pathLst>
                <a:path w="3851049" h="4656708">
                  <a:moveTo>
                    <a:pt x="0" y="0"/>
                  </a:moveTo>
                  <a:lnTo>
                    <a:pt x="3851049" y="0"/>
                  </a:lnTo>
                  <a:lnTo>
                    <a:pt x="3851049" y="4656708"/>
                  </a:lnTo>
                  <a:lnTo>
                    <a:pt x="0" y="4656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biLevel thresh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1005BBCE-C027-E7D7-F3A2-073EACD65C42}"/>
              </a:ext>
            </a:extLst>
          </p:cNvPr>
          <p:cNvSpPr txBox="1"/>
          <p:nvPr/>
        </p:nvSpPr>
        <p:spPr>
          <a:xfrm>
            <a:off x="-3347404" y="4482627"/>
            <a:ext cx="11935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 dirty="0">
                <a:latin typeface="Dubai" panose="020B0503030403030204" pitchFamily="34" charset="-78"/>
                <a:cs typeface="Dubai" panose="020B0503030403030204" pitchFamily="34" charset="-78"/>
              </a:rPr>
              <a:t>Immagine caricata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C7CCB460-48FE-FD83-384B-FD51B6F65962}"/>
              </a:ext>
            </a:extLst>
          </p:cNvPr>
          <p:cNvSpPr txBox="1"/>
          <p:nvPr/>
        </p:nvSpPr>
        <p:spPr>
          <a:xfrm>
            <a:off x="14972497" y="4482627"/>
            <a:ext cx="11935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 dirty="0">
                <a:latin typeface="Dubai" panose="020B0503030403030204" pitchFamily="34" charset="-78"/>
                <a:cs typeface="Dubai" panose="020B0503030403030204" pitchFamily="34" charset="-78"/>
              </a:rPr>
              <a:t>Immagine salvata</a:t>
            </a:r>
          </a:p>
        </p:txBody>
      </p:sp>
    </p:spTree>
    <p:extLst>
      <p:ext uri="{BB962C8B-B14F-4D97-AF65-F5344CB8AC3E}">
        <p14:creationId xmlns:p14="http://schemas.microsoft.com/office/powerpoint/2010/main" val="2397687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DFAAE-D68D-2163-9D2C-CCC8D4AEE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 descr="Immagine che contiene neve&#10;&#10;Il contenuto generato dall'IA potrebbe non essere corretto.">
            <a:extLst>
              <a:ext uri="{FF2B5EF4-FFF2-40B4-BE49-F238E27FC236}">
                <a16:creationId xmlns:a16="http://schemas.microsoft.com/office/drawing/2014/main" id="{A509C16D-452C-0734-7AB7-3E93424C4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" y="0"/>
            <a:ext cx="12185904" cy="6858000"/>
          </a:xfrm>
          <a:prstGeom prst="rect">
            <a:avLst/>
          </a:prstGeom>
        </p:spPr>
      </p:pic>
      <p:grpSp>
        <p:nvGrpSpPr>
          <p:cNvPr id="2" name="Group 4">
            <a:extLst>
              <a:ext uri="{FF2B5EF4-FFF2-40B4-BE49-F238E27FC236}">
                <a16:creationId xmlns:a16="http://schemas.microsoft.com/office/drawing/2014/main" id="{52A07ABC-E456-4728-36A4-76014D222E71}"/>
              </a:ext>
            </a:extLst>
          </p:cNvPr>
          <p:cNvGrpSpPr/>
          <p:nvPr/>
        </p:nvGrpSpPr>
        <p:grpSpPr>
          <a:xfrm>
            <a:off x="-1" y="6247106"/>
            <a:ext cx="12188953" cy="610894"/>
            <a:chOff x="0" y="0"/>
            <a:chExt cx="4800628" cy="244580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0F097AEE-CF6B-AB43-2083-454BA79A9202}"/>
                </a:ext>
              </a:extLst>
            </p:cNvPr>
            <p:cNvSpPr/>
            <p:nvPr/>
          </p:nvSpPr>
          <p:spPr>
            <a:xfrm>
              <a:off x="0" y="0"/>
              <a:ext cx="4800628" cy="244580"/>
            </a:xfrm>
            <a:custGeom>
              <a:avLst/>
              <a:gdLst/>
              <a:ahLst/>
              <a:cxnLst/>
              <a:rect l="l" t="t" r="r" b="b"/>
              <a:pathLst>
                <a:path w="4800628" h="244580">
                  <a:moveTo>
                    <a:pt x="0" y="0"/>
                  </a:moveTo>
                  <a:lnTo>
                    <a:pt x="4800628" y="0"/>
                  </a:lnTo>
                  <a:lnTo>
                    <a:pt x="4800628" y="244580"/>
                  </a:lnTo>
                  <a:lnTo>
                    <a:pt x="0" y="244580"/>
                  </a:lnTo>
                  <a:close/>
                </a:path>
              </a:pathLst>
            </a:custGeom>
            <a:solidFill>
              <a:srgbClr val="283030"/>
            </a:solidFill>
          </p:spPr>
          <p:txBody>
            <a:bodyPr/>
            <a:lstStyle/>
            <a:p>
              <a:endParaRPr lang="it-IT">
                <a:solidFill>
                  <a:srgbClr val="283030"/>
                </a:solidFill>
              </a:endParaRPr>
            </a:p>
          </p:txBody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3B75D005-E66E-0A9F-23DE-4682871B7996}"/>
                </a:ext>
              </a:extLst>
            </p:cNvPr>
            <p:cNvSpPr txBox="1"/>
            <p:nvPr/>
          </p:nvSpPr>
          <p:spPr>
            <a:xfrm>
              <a:off x="0" y="-38100"/>
              <a:ext cx="4800628" cy="282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7" name="Picture 34">
            <a:extLst>
              <a:ext uri="{FF2B5EF4-FFF2-40B4-BE49-F238E27FC236}">
                <a16:creationId xmlns:a16="http://schemas.microsoft.com/office/drawing/2014/main" id="{07F7D3FA-6B5C-80BD-2653-087749BF26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9593" y="6247106"/>
            <a:ext cx="1989763" cy="630092"/>
          </a:xfrm>
          <a:prstGeom prst="rect">
            <a:avLst/>
          </a:prstGeom>
        </p:spPr>
      </p:pic>
      <p:sp>
        <p:nvSpPr>
          <p:cNvPr id="8" name="TextBox 40">
            <a:extLst>
              <a:ext uri="{FF2B5EF4-FFF2-40B4-BE49-F238E27FC236}">
                <a16:creationId xmlns:a16="http://schemas.microsoft.com/office/drawing/2014/main" id="{D295BE45-0AED-8FC9-E08A-29220A1C1C06}"/>
              </a:ext>
            </a:extLst>
          </p:cNvPr>
          <p:cNvSpPr txBox="1"/>
          <p:nvPr/>
        </p:nvSpPr>
        <p:spPr>
          <a:xfrm>
            <a:off x="5890161" y="6078583"/>
            <a:ext cx="408626" cy="6775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43434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20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11377B6E-67F8-AC60-4FEA-F7DCCEEC4BC4}"/>
              </a:ext>
            </a:extLst>
          </p:cNvPr>
          <p:cNvSpPr txBox="1"/>
          <p:nvPr/>
        </p:nvSpPr>
        <p:spPr>
          <a:xfrm>
            <a:off x="9134856" y="6091068"/>
            <a:ext cx="2788920" cy="704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179"/>
              </a:lnSpc>
              <a:spcBef>
                <a:spcPct val="0"/>
              </a:spcBef>
            </a:pPr>
            <a:r>
              <a:rPr lang="en-US" sz="2800" b="1" dirty="0" err="1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a.a.</a:t>
            </a: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 2023/2024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F0215CF3-5A39-B20A-030C-46580C7C44FD}"/>
              </a:ext>
            </a:extLst>
          </p:cNvPr>
          <p:cNvSpPr txBox="1"/>
          <p:nvPr/>
        </p:nvSpPr>
        <p:spPr>
          <a:xfrm>
            <a:off x="268224" y="6338252"/>
            <a:ext cx="4320540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Martin Trajkovski 335566</a:t>
            </a:r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4D0647EB-094F-860C-71B5-2B0C5A0CF0DA}"/>
              </a:ext>
            </a:extLst>
          </p:cNvPr>
          <p:cNvSpPr/>
          <p:nvPr/>
        </p:nvSpPr>
        <p:spPr>
          <a:xfrm>
            <a:off x="6546766" y="1345399"/>
            <a:ext cx="3594197" cy="3088007"/>
          </a:xfrm>
          <a:custGeom>
            <a:avLst/>
            <a:gdLst/>
            <a:ahLst/>
            <a:cxnLst/>
            <a:rect l="l" t="t" r="r" b="b"/>
            <a:pathLst>
              <a:path w="5778062" h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2C53E4C8-4387-17F1-9483-29E4A4501B37}"/>
              </a:ext>
            </a:extLst>
          </p:cNvPr>
          <p:cNvSpPr/>
          <p:nvPr/>
        </p:nvSpPr>
        <p:spPr>
          <a:xfrm>
            <a:off x="11500808" y="80"/>
            <a:ext cx="691192" cy="593848"/>
          </a:xfrm>
          <a:custGeom>
            <a:avLst/>
            <a:gdLst/>
            <a:ahLst/>
            <a:cxnLst/>
            <a:rect l="l" t="t" r="r" b="b"/>
            <a:pathLst>
              <a:path w="3573314" h="3232998">
                <a:moveTo>
                  <a:pt x="0" y="0"/>
                </a:moveTo>
                <a:lnTo>
                  <a:pt x="3573314" y="0"/>
                </a:lnTo>
                <a:lnTo>
                  <a:pt x="3573314" y="3232998"/>
                </a:lnTo>
                <a:lnTo>
                  <a:pt x="0" y="3232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13" name="Immagine 12" descr="Immagine che contiene Elementi grafici, simbolo, grafica&#10;&#10;Il contenuto generato dall'IA potrebbe non essere corretto.">
            <a:extLst>
              <a:ext uri="{FF2B5EF4-FFF2-40B4-BE49-F238E27FC236}">
                <a16:creationId xmlns:a16="http://schemas.microsoft.com/office/drawing/2014/main" id="{8CD3A0EB-72C6-3DBB-D178-E50261DC60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51037" y="1345399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002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1416</TotalTime>
  <Words>2049</Words>
  <Application>Microsoft Office PowerPoint</Application>
  <PresentationFormat>Widescreen</PresentationFormat>
  <Paragraphs>470</Paragraphs>
  <Slides>21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Dubai</vt:lpstr>
      <vt:lpstr>Glacial Indifference Bold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TRAJKOVSKI</cp:lastModifiedBy>
  <cp:revision>19</cp:revision>
  <dcterms:created xsi:type="dcterms:W3CDTF">2013-01-27T09:14:16Z</dcterms:created>
  <dcterms:modified xsi:type="dcterms:W3CDTF">2025-03-16T22:34:56Z</dcterms:modified>
  <cp:category/>
</cp:coreProperties>
</file>