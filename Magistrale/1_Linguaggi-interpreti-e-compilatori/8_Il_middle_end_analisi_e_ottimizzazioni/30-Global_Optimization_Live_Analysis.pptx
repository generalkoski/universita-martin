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6" r:id="rId3"/>
    <p:sldId id="306" r:id="rId4"/>
    <p:sldId id="307" r:id="rId5"/>
    <p:sldId id="308" r:id="rId6"/>
    <p:sldId id="309" r:id="rId7"/>
    <p:sldId id="310" r:id="rId8"/>
    <p:sldId id="311" r:id="rId9"/>
    <p:sldId id="31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8" autoAdjust="0"/>
    <p:restoredTop sz="90909" autoAdjust="0"/>
  </p:normalViewPr>
  <p:slideViewPr>
    <p:cSldViewPr>
      <p:cViewPr>
        <p:scale>
          <a:sx n="100" d="100"/>
          <a:sy n="100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9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5DBD07-9F67-4718-B07D-E8A2E03FD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A4FC9B-5B84-4B08-A924-A272507EEA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8304E38F-FDD4-4AA2-902C-86C0FA82DA28}" type="datetimeFigureOut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1B865-D4E5-4D63-92BB-85096A326C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5FCE5-29CA-4C66-BDB0-311DCEF9AF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58D8A5E-69A5-4C37-8B0E-44D6E27B8B28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5FBB373-4888-4135-861D-63626DFE01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DE1F5CD-9C55-4E51-A2C7-8B6AB47518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80F4FCB-C6D7-4F4E-A740-00B8F0E4CE9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E17C956-DBD3-4777-8774-C708D67BF82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89292D9-6C6A-4221-83FA-E283F9233A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73FC45F-0076-4892-9C66-BE46D3EBAA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E3217DD-913C-43B5-A34B-A525EC38088C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3519CB9C-7609-4B27-A599-B267035E0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3AFC157-7BD6-421B-B852-C32423433DBF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BDBE872-45EE-40F8-8997-5195934BE3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27FF97C-BC6B-4099-942D-CB51B4304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3B0189-340D-4DC9-BB5C-B0955DBFD4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BE48482-41DD-419C-92A3-EF95FBB2E4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E60EF9-08F4-448A-BB1D-07B9D5DA08C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2512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F5E276-B15F-43CA-9565-0A9002CDA5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30AA09-E2D5-41C7-B574-167A77CAEF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88052C-CA03-4E40-8C81-0C7BFBA5CB2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5289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74E172-10F2-493E-A1D0-E022DAB395A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130D50-2633-437D-AB66-E88840DF74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B709C6-3003-48C1-B687-B27C12A05F1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6199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3EB1DC-3C84-4D33-93A4-639CD72D0C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67D182-D90C-47E1-8384-516FC6AED9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D0465D-785C-4E6E-A50B-8680131A686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9593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A267675-617B-4A45-8967-4B8EE8A482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025DACC-0C02-4238-ADAE-36B8BD9DC3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6C33EC-6204-4962-AA66-EBBFBF669C7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1624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E3D44A-A854-403C-8270-56849B8D54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7DDA869-020B-4E4A-8DBF-7ED05E8787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B529A1-327D-4264-9384-14879AF9CA7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6458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429ABDC-7D23-4BB0-9656-145E8E2B22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F76B923-6E89-40E2-B053-1E49A52A92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FBABD5-735C-49DF-B96F-69EB4E32239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6472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9D2462-B247-4E91-A404-30325EBB3E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79881D-B732-4F06-90CA-9F918325074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5C40E7-07B0-4482-A07B-0E7B883FE3F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0869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E12A5F-DFE9-4EDC-9600-616E1657B20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59FF09-21BE-43DB-917D-5F76155303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FB1735-D8DA-418D-931B-B86EA350515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6184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5F8083-7DC4-45E4-B231-6B7E99B544C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56EDAA-1D4A-41CC-8F8A-EF01AED58FD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057A4-3DF7-4D35-A323-BF8076192E4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7717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572420-7F7A-4CEE-A486-51A3ABCF7BF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30C96B-2A3E-44C8-B7FE-4E5BD8782D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51E803-F5B7-4933-B156-9D7904B6248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6715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E539C6-8360-4212-9A93-74D99FC5C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A3EF84-A009-4AFC-BCA6-89FEBDE3C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528676-7253-490E-A4EC-C291E83685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A8BDF9-BAAB-4FB3-BBBD-D30A43A1CD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817E64-9E66-4741-9A8E-E259787BE66A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8F4B0E5D-DA6E-4463-B39F-F9317A1266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ECC43703-A584-446E-A141-695813064AA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3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3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6E2995C-262A-4E5D-A47E-8ECA22E61D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Code Optimization, Part III</a:t>
            </a:r>
            <a:br>
              <a:rPr lang="en-US" altLang="it-IT" sz="3200" i="1"/>
            </a:br>
            <a:r>
              <a:rPr lang="en-US" altLang="it-IT" sz="3200" i="1"/>
              <a:t>Global Methods</a:t>
            </a:r>
            <a:br>
              <a:rPr lang="en-US" altLang="it-IT" sz="3200" i="1"/>
            </a:br>
            <a:br>
              <a:rPr lang="en-US" altLang="it-IT" sz="20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842D3408-6009-4743-963E-99E10F20C4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76DDDE4C-8A75-4846-B960-0D9EA2C48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 Box 8">
            <a:extLst>
              <a:ext uri="{FF2B5EF4-FFF2-40B4-BE49-F238E27FC236}">
                <a16:creationId xmlns:a16="http://schemas.microsoft.com/office/drawing/2014/main" id="{C600AA65-B6B9-44A4-9069-A2937453F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"/>
              </a:spcBef>
              <a:defRPr/>
            </a:pPr>
            <a:r>
              <a:rPr lang="en-US" sz="24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COMP 412</a:t>
            </a:r>
          </a:p>
          <a:p>
            <a:pPr algn="r" eaLnBrk="0" hangingPunct="0">
              <a:spcBef>
                <a:spcPct val="5000"/>
              </a:spcBef>
              <a:defRPr/>
            </a:pPr>
            <a:r>
              <a:rPr lang="en-US" sz="2400" dirty="0">
                <a:solidFill>
                  <a:srgbClr val="003C75"/>
                </a:solidFill>
                <a:latin typeface="+mn-lt"/>
                <a:ea typeface="ヒラギノ角ゴ Pro W3" charset="-128"/>
                <a:cs typeface="ヒラギノ角ゴ Pro W3" charset="-128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A4B2013-6024-43A9-A211-3B575643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Story So Far …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A11F8BB5-5FED-4FA4-87BE-37FB1CBA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Introduced scope of optimization</a:t>
            </a:r>
          </a:p>
          <a:p>
            <a:pPr eaLnBrk="1" hangingPunct="1"/>
            <a:r>
              <a:rPr lang="en-US" altLang="it-IT"/>
              <a:t>Local — a single basic block</a:t>
            </a:r>
          </a:p>
          <a:p>
            <a:pPr eaLnBrk="1" hangingPunct="1"/>
            <a:r>
              <a:rPr lang="en-US" altLang="it-IT"/>
              <a:t>Regional — a subset of the blocks in a procedure</a:t>
            </a:r>
          </a:p>
          <a:p>
            <a:pPr eaLnBrk="1" hangingPunct="1"/>
            <a:r>
              <a:rPr lang="en-US" altLang="it-IT"/>
              <a:t>Global — an entire procedure </a:t>
            </a:r>
          </a:p>
          <a:p>
            <a:pPr eaLnBrk="1" hangingPunct="1"/>
            <a:r>
              <a:rPr lang="en-US" altLang="it-IT"/>
              <a:t>Whole Program — multiple procedures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333399"/>
                </a:solidFill>
              </a:rPr>
              <a:t>Some example optimizations</a:t>
            </a:r>
          </a:p>
          <a:p>
            <a:pPr eaLnBrk="1" hangingPunct="1"/>
            <a:r>
              <a:rPr lang="en-US" altLang="it-IT"/>
              <a:t>Local Value Numbering</a:t>
            </a:r>
          </a:p>
          <a:p>
            <a:pPr eaLnBrk="1" hangingPunct="1"/>
            <a:r>
              <a:rPr lang="en-US" altLang="it-IT"/>
              <a:t>Superlocal Value Numbering</a:t>
            </a:r>
          </a:p>
          <a:p>
            <a:pPr eaLnBrk="1" hangingPunct="1"/>
            <a:r>
              <a:rPr lang="en-US" altLang="it-IT"/>
              <a:t>Loop Unrolling</a:t>
            </a:r>
          </a:p>
          <a:p>
            <a:pPr eaLnBrk="1" hangingPunct="1"/>
            <a:r>
              <a:rPr lang="en-US" altLang="it-IT"/>
              <a:t>Data-analysis &amp; an application</a:t>
            </a:r>
          </a:p>
          <a:p>
            <a:pPr eaLnBrk="1" hangingPunct="1"/>
            <a:r>
              <a:rPr lang="en-US" altLang="it-IT"/>
              <a:t>Procedure Placement</a:t>
            </a:r>
          </a:p>
          <a:p>
            <a:pPr eaLnBrk="1" hangingPunct="1"/>
            <a:endParaRPr lang="en-US" altLang="it-IT"/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B8F35F93-AE4E-4098-97B8-162CF59967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6B5C923B-CC71-4CCD-988C-91BF4BE85B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60696E3-92B7-4479-AF65-3F8999A4704F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C3973-1900-4D81-B6D2-D93D69110769}"/>
              </a:ext>
            </a:extLst>
          </p:cNvPr>
          <p:cNvSpPr txBox="1"/>
          <p:nvPr/>
        </p:nvSpPr>
        <p:spPr>
          <a:xfrm>
            <a:off x="6477000" y="2740025"/>
            <a:ext cx="1981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Interprocedural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B506B-44E3-4367-898F-974669692A6E}"/>
              </a:ext>
            </a:extLst>
          </p:cNvPr>
          <p:cNvSpPr txBox="1"/>
          <p:nvPr/>
        </p:nvSpPr>
        <p:spPr>
          <a:xfrm>
            <a:off x="6477000" y="2362200"/>
            <a:ext cx="1981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0" hangingPunct="0">
              <a:defRPr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Intraprocedural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80A61987-E170-4805-A8F0-844D3F30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Finding Uninitialized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E3893-639C-487E-A122-BA6F3F453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333399"/>
                </a:solidFill>
              </a:rPr>
              <a:t>We can use global data-flow analysis to find variables that might be used before they are ever defined</a:t>
            </a:r>
          </a:p>
          <a:p>
            <a:pPr algn="ctr" eaLnBrk="1" hangingPunct="1">
              <a:spcBef>
                <a:spcPts val="1200"/>
              </a:spcBef>
              <a:buFont typeface="Times" charset="0"/>
              <a:buNone/>
              <a:defRPr/>
            </a:pPr>
            <a:r>
              <a:rPr lang="en-US" i="1" dirty="0"/>
              <a:t>A variable </a:t>
            </a:r>
            <a:r>
              <a:rPr lang="en-US" i="1" dirty="0" err="1"/>
              <a:t>v</a:t>
            </a:r>
            <a:r>
              <a:rPr lang="en-US" i="1" dirty="0"/>
              <a:t> is live at point </a:t>
            </a:r>
            <a:r>
              <a:rPr lang="en-US" i="1" dirty="0" err="1"/>
              <a:t>p</a:t>
            </a:r>
            <a:r>
              <a:rPr lang="en-US" i="1" dirty="0"/>
              <a:t> </a:t>
            </a:r>
            <a:r>
              <a:rPr lang="en-US" i="1" dirty="0" err="1"/>
              <a:t>iff</a:t>
            </a:r>
            <a:r>
              <a:rPr lang="en-US" i="1" dirty="0"/>
              <a:t> ∃ a path in the CFG </a:t>
            </a:r>
          </a:p>
          <a:p>
            <a:pPr algn="ctr" eaLnBrk="1" hangingPunct="1">
              <a:spcBef>
                <a:spcPts val="0"/>
              </a:spcBef>
              <a:buFont typeface="Times" charset="0"/>
              <a:buNone/>
              <a:defRPr/>
            </a:pPr>
            <a:r>
              <a:rPr lang="en-US" i="1" dirty="0"/>
              <a:t>from </a:t>
            </a:r>
            <a:r>
              <a:rPr lang="en-US" i="1" dirty="0" err="1"/>
              <a:t>p</a:t>
            </a:r>
            <a:r>
              <a:rPr lang="en-US" i="1" dirty="0"/>
              <a:t> to a use of </a:t>
            </a:r>
            <a:r>
              <a:rPr lang="en-US" i="1" dirty="0" err="1"/>
              <a:t>v</a:t>
            </a:r>
            <a:r>
              <a:rPr lang="en-US" i="1" dirty="0"/>
              <a:t> along which </a:t>
            </a:r>
            <a:r>
              <a:rPr lang="en-US" i="1" dirty="0" err="1"/>
              <a:t>v</a:t>
            </a:r>
            <a:r>
              <a:rPr lang="en-US" i="1" dirty="0"/>
              <a:t> is not redefined</a:t>
            </a:r>
            <a:r>
              <a:rPr lang="en-US" dirty="0"/>
              <a:t>.</a:t>
            </a:r>
          </a:p>
          <a:p>
            <a:pPr marL="0" indent="0"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Any variable that is live in the entry block of a procedure may be used before it is defined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Represents a potential logic error in the code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Compiler should discover and report this condition</a:t>
            </a:r>
          </a:p>
          <a:p>
            <a:pPr marL="0" indent="0"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/>
              <a:t>We are looking at this issue because it gives us an opportunity to introduce the computation of </a:t>
            </a:r>
            <a:r>
              <a:rPr lang="en-US" i="1" dirty="0" err="1"/>
              <a:t>liveness</a:t>
            </a:r>
            <a:endParaRPr lang="en-US" i="1" dirty="0"/>
          </a:p>
          <a:p>
            <a:pPr eaLnBrk="1" hangingPunct="1">
              <a:buFont typeface="Times" charset="0"/>
              <a:buChar char="•"/>
              <a:defRPr/>
            </a:pPr>
            <a:r>
              <a:rPr lang="en-US" cap="small" dirty="0"/>
              <a:t> </a:t>
            </a:r>
            <a:r>
              <a:rPr lang="en-US" dirty="0"/>
              <a:t>Compiler builds a CFG and computes </a:t>
            </a:r>
            <a:r>
              <a:rPr lang="en-US" cap="small" dirty="0" err="1"/>
              <a:t>LiveOut</a:t>
            </a:r>
            <a:r>
              <a:rPr lang="en-US" dirty="0" err="1"/>
              <a:t>(</a:t>
            </a:r>
            <a:r>
              <a:rPr lang="en-US" i="1" dirty="0" err="1"/>
              <a:t>n</a:t>
            </a:r>
            <a:r>
              <a:rPr lang="en-US" dirty="0"/>
              <a:t>) ∀ node </a:t>
            </a:r>
            <a:r>
              <a:rPr lang="en-US" i="1" dirty="0" err="1"/>
              <a:t>n</a:t>
            </a:r>
            <a:endParaRPr lang="en-US" dirty="0"/>
          </a:p>
          <a:p>
            <a:pPr eaLnBrk="1" hangingPunct="1">
              <a:buFont typeface="Times" charset="0"/>
              <a:buChar char="•"/>
              <a:defRPr/>
            </a:pPr>
            <a:r>
              <a:rPr lang="en-US" cap="small" dirty="0" err="1"/>
              <a:t>LiveOut</a:t>
            </a:r>
            <a:r>
              <a:rPr lang="en-US" dirty="0"/>
              <a:t> is a classic problem in data-flow analysis</a:t>
            </a:r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F9101968-53E9-459F-8FC8-7D644E044E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6A9570BC-F151-4BF6-917D-CFCA96534F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980EB48-2483-40D2-ACEB-2F0D176DAD95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9D581-54F6-4638-8959-38F2D8C0E629}"/>
              </a:ext>
            </a:extLst>
          </p:cNvPr>
          <p:cNvSpPr txBox="1"/>
          <p:nvPr/>
        </p:nvSpPr>
        <p:spPr>
          <a:xfrm>
            <a:off x="685800" y="190500"/>
            <a:ext cx="2438400" cy="36988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Global Technique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801AF-0846-4FDF-8626-F5C238AF8925}"/>
              </a:ext>
            </a:extLst>
          </p:cNvPr>
          <p:cNvSpPr txBox="1"/>
          <p:nvPr/>
        </p:nvSpPr>
        <p:spPr>
          <a:xfrm>
            <a:off x="4305300" y="6121400"/>
            <a:ext cx="38862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Data-flow analysis is a form of compile-time reasoning about the runtime flow of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6EF13F59-19E7-4AFD-AF61-6FDD39B7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Live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50DC-BA2E-4A2F-BB80-14B7232D2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Data-flow problems are expressed with a set of simultaneous equations over sets associated with nodes in a graph</a:t>
            </a:r>
          </a:p>
          <a:p>
            <a:pPr algn="ctr" eaLnBrk="1" hangingPunct="1">
              <a:spcBef>
                <a:spcPts val="3000"/>
              </a:spcBef>
              <a:buFont typeface="Times" charset="0"/>
              <a:buNone/>
              <a:defRPr/>
            </a:pPr>
            <a:r>
              <a:rPr lang="en-US" cap="small" dirty="0" err="1"/>
              <a:t>LiveOut</a:t>
            </a:r>
            <a:r>
              <a:rPr lang="en-US" dirty="0" err="1"/>
              <a:t>(</a:t>
            </a:r>
            <a:r>
              <a:rPr lang="en-US" i="1" dirty="0" err="1"/>
              <a:t>n</a:t>
            </a:r>
            <a:r>
              <a:rPr lang="en-US" i="1" baseline="-25000" dirty="0" err="1"/>
              <a:t>f</a:t>
            </a:r>
            <a:r>
              <a:rPr lang="en-US" sz="1200" i="1" baseline="-25000" dirty="0"/>
              <a:t> </a:t>
            </a:r>
            <a:r>
              <a:rPr lang="en-US" dirty="0"/>
              <a:t>) = ∅</a:t>
            </a:r>
          </a:p>
          <a:p>
            <a:pPr algn="ctr" eaLnBrk="1" hangingPunct="1">
              <a:spcBef>
                <a:spcPts val="1200"/>
              </a:spcBef>
              <a:buFont typeface="Times" charset="0"/>
              <a:buNone/>
              <a:defRPr/>
            </a:pPr>
            <a:r>
              <a:rPr lang="en-US" cap="small" dirty="0" err="1"/>
              <a:t>LiveOut</a:t>
            </a:r>
            <a:r>
              <a:rPr lang="en-US" dirty="0" err="1"/>
              <a:t>(n</a:t>
            </a:r>
            <a:r>
              <a:rPr lang="en-US" dirty="0"/>
              <a:t>) = </a:t>
            </a:r>
            <a:r>
              <a:rPr lang="en-US" sz="3200" dirty="0"/>
              <a:t>∪</a:t>
            </a:r>
            <a:r>
              <a:rPr lang="en-US" sz="1800" baseline="-25000" dirty="0" err="1"/>
              <a:t>m</a:t>
            </a:r>
            <a:r>
              <a:rPr lang="en-US" sz="1050" baseline="-25000" dirty="0"/>
              <a:t> </a:t>
            </a:r>
            <a:r>
              <a:rPr lang="en-US" sz="1800" baseline="-25000" dirty="0"/>
              <a:t>∈</a:t>
            </a:r>
            <a:r>
              <a:rPr lang="en-US" sz="1000" baseline="-25000" dirty="0"/>
              <a:t> </a:t>
            </a:r>
            <a:r>
              <a:rPr lang="en-US" sz="1800" i="1" baseline="-25000" dirty="0" err="1"/>
              <a:t>succ</a:t>
            </a:r>
            <a:r>
              <a:rPr lang="en-US" sz="1800" baseline="-25000" dirty="0" err="1"/>
              <a:t>(n</a:t>
            </a:r>
            <a:r>
              <a:rPr lang="en-US" sz="1800" baseline="-25000" dirty="0"/>
              <a:t>)</a:t>
            </a:r>
            <a:r>
              <a:rPr lang="en-US" dirty="0"/>
              <a:t> (</a:t>
            </a:r>
            <a:r>
              <a:rPr lang="en-US" cap="small" dirty="0" err="1"/>
              <a:t>UEVar</a:t>
            </a:r>
            <a:r>
              <a:rPr lang="en-US" dirty="0" err="1"/>
              <a:t>(m</a:t>
            </a:r>
            <a:r>
              <a:rPr lang="en-US" dirty="0"/>
              <a:t>) ∪ (</a:t>
            </a:r>
            <a:r>
              <a:rPr lang="en-US" cap="small" dirty="0" err="1"/>
              <a:t>LiveOut</a:t>
            </a:r>
            <a:r>
              <a:rPr lang="en-US" dirty="0" err="1"/>
              <a:t>(m</a:t>
            </a:r>
            <a:r>
              <a:rPr lang="en-US" dirty="0"/>
              <a:t>)</a:t>
            </a:r>
            <a:r>
              <a:rPr lang="en-US" sz="1600" dirty="0"/>
              <a:t> </a:t>
            </a:r>
            <a:r>
              <a:rPr lang="en-US" dirty="0"/>
              <a:t>∩</a:t>
            </a:r>
            <a:r>
              <a:rPr lang="en-US" sz="1600" dirty="0"/>
              <a:t> </a:t>
            </a:r>
            <a:r>
              <a:rPr lang="en-US" cap="small" dirty="0" err="1"/>
              <a:t>VarKill</a:t>
            </a:r>
            <a:r>
              <a:rPr lang="en-US" dirty="0" err="1"/>
              <a:t>(m</a:t>
            </a:r>
            <a:r>
              <a:rPr lang="en-US" dirty="0"/>
              <a:t>)))</a:t>
            </a:r>
          </a:p>
          <a:p>
            <a:pPr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/>
              <a:t>Where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cap="small" dirty="0" err="1"/>
              <a:t>UEVar</a:t>
            </a:r>
            <a:r>
              <a:rPr lang="en-US" dirty="0" err="1"/>
              <a:t>(</a:t>
            </a:r>
            <a:r>
              <a:rPr lang="en-US" i="1" dirty="0" err="1"/>
              <a:t>n</a:t>
            </a:r>
            <a:r>
              <a:rPr lang="en-US" dirty="0"/>
              <a:t>) is the set of names used before being defined in the block that corresponds to node </a:t>
            </a:r>
            <a:r>
              <a:rPr lang="en-US" i="1" dirty="0" err="1"/>
              <a:t>n</a:t>
            </a:r>
            <a:r>
              <a:rPr lang="en-US" dirty="0"/>
              <a:t> in the CFG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cap="small" dirty="0" err="1"/>
              <a:t>VarKill</a:t>
            </a:r>
            <a:r>
              <a:rPr lang="en-US" dirty="0" err="1"/>
              <a:t>(</a:t>
            </a:r>
            <a:r>
              <a:rPr lang="en-US" i="1" dirty="0" err="1"/>
              <a:t>n</a:t>
            </a:r>
            <a:r>
              <a:rPr lang="en-US" dirty="0"/>
              <a:t>) is the set of names defined in the block that corresponds to node </a:t>
            </a:r>
            <a:r>
              <a:rPr lang="en-US" i="1" dirty="0" err="1"/>
              <a:t>n</a:t>
            </a:r>
            <a:r>
              <a:rPr lang="en-US" dirty="0"/>
              <a:t> in the CFG</a:t>
            </a:r>
          </a:p>
          <a:p>
            <a:pPr eaLnBrk="1" hangingPunct="1"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/>
              <a:t>These equations annotate each CFG node </a:t>
            </a:r>
            <a:r>
              <a:rPr lang="en-US" i="1" dirty="0" err="1"/>
              <a:t>n</a:t>
            </a:r>
            <a:r>
              <a:rPr lang="en-US" dirty="0"/>
              <a:t> with a </a:t>
            </a:r>
            <a:r>
              <a:rPr lang="en-US" cap="small" dirty="0" err="1"/>
              <a:t>LiveOut</a:t>
            </a:r>
            <a:r>
              <a:rPr lang="en-US" dirty="0"/>
              <a:t> set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CB6C1D89-8BB9-4E45-8684-D81EABF51F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40DF550C-1C23-46BC-B5E1-0C948FBD7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1A37378-2DD1-4E17-AD0A-3154EA28B4AF}" type="slidenum">
              <a:rPr lang="en-US" altLang="it-IT"/>
              <a:pPr/>
              <a:t>3</a:t>
            </a:fld>
            <a:endParaRPr lang="en-US" altLang="it-IT"/>
          </a:p>
        </p:txBody>
      </p:sp>
      <p:cxnSp>
        <p:nvCxnSpPr>
          <p:cNvPr id="19461" name="Straight Connector 6">
            <a:extLst>
              <a:ext uri="{FF2B5EF4-FFF2-40B4-BE49-F238E27FC236}">
                <a16:creationId xmlns:a16="http://schemas.microsoft.com/office/drawing/2014/main" id="{5F3018C7-F79F-4AD2-AD2C-78065196A4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000" y="2779713"/>
            <a:ext cx="1295400" cy="158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FAD74865-4541-4EA5-BEB7-2EEE5CC0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Live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9440B-4C83-41C6-BCDA-2B07817E5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To compute live information for a procedure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Build the CFG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Compute </a:t>
            </a:r>
            <a:r>
              <a:rPr lang="en-US" cap="small" dirty="0" err="1"/>
              <a:t>UEVar</a:t>
            </a:r>
            <a:r>
              <a:rPr lang="en-US" dirty="0"/>
              <a:t> and </a:t>
            </a:r>
            <a:r>
              <a:rPr lang="en-US" cap="small" dirty="0" err="1"/>
              <a:t>VarKill</a:t>
            </a:r>
            <a:r>
              <a:rPr lang="en-US" dirty="0"/>
              <a:t> sets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Use an iterative fixed-point solver to compute </a:t>
            </a:r>
            <a:r>
              <a:rPr lang="en-US" dirty="0" err="1"/>
              <a:t>LiveOut</a:t>
            </a:r>
            <a:r>
              <a:rPr lang="en-US" dirty="0"/>
              <a:t> sets</a:t>
            </a:r>
          </a:p>
        </p:txBody>
      </p:sp>
      <p:sp>
        <p:nvSpPr>
          <p:cNvPr id="20483" name="Footer Placeholder 3">
            <a:extLst>
              <a:ext uri="{FF2B5EF4-FFF2-40B4-BE49-F238E27FC236}">
                <a16:creationId xmlns:a16="http://schemas.microsoft.com/office/drawing/2014/main" id="{D8986DD0-3A1B-4147-8AF5-7E050FE8BB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903FAA7B-EF5B-462B-AAC5-CC44EA293E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93A4D41-2570-45B7-898A-4F2BC3F3CAFF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581DF-89AA-4C63-B4C1-76F7DD8BDC42}"/>
              </a:ext>
            </a:extLst>
          </p:cNvPr>
          <p:cNvSpPr txBox="1"/>
          <p:nvPr/>
        </p:nvSpPr>
        <p:spPr>
          <a:xfrm>
            <a:off x="762000" y="2984500"/>
            <a:ext cx="3581400" cy="30924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 i="1">
                <a:latin typeface="Geneva"/>
                <a:ea typeface="Geneva"/>
                <a:cs typeface="Geneva"/>
              </a:rPr>
              <a:t>N ← number of blocks</a:t>
            </a:r>
          </a:p>
          <a:p>
            <a:pPr>
              <a:spcBef>
                <a:spcPts val="600"/>
              </a:spcBef>
            </a:pPr>
            <a:r>
              <a:rPr lang="en-US" altLang="it-IT" sz="1600" i="1">
                <a:latin typeface="Geneva"/>
                <a:ea typeface="Geneva"/>
                <a:cs typeface="Geneva"/>
              </a:rPr>
              <a:t>for i = 0 to N-1</a:t>
            </a:r>
          </a:p>
          <a:p>
            <a:r>
              <a:rPr lang="en-US" altLang="it-IT" sz="1600" i="1">
                <a:latin typeface="Geneva"/>
                <a:ea typeface="Geneva"/>
                <a:cs typeface="Geneva"/>
              </a:rPr>
              <a:t>    LIVEOUT(i) ← ∅ </a:t>
            </a:r>
          </a:p>
          <a:p>
            <a:pPr>
              <a:spcBef>
                <a:spcPts val="600"/>
              </a:spcBef>
            </a:pPr>
            <a:r>
              <a:rPr lang="en-US" altLang="it-IT" sz="1600" i="1">
                <a:latin typeface="Geneva"/>
                <a:ea typeface="Geneva"/>
                <a:cs typeface="Geneva"/>
              </a:rPr>
              <a:t>changed ← true</a:t>
            </a:r>
          </a:p>
          <a:p>
            <a:pPr>
              <a:spcBef>
                <a:spcPts val="600"/>
              </a:spcBef>
            </a:pPr>
            <a:r>
              <a:rPr lang="en-US" altLang="it-IT" sz="1600" i="1">
                <a:latin typeface="Geneva"/>
                <a:ea typeface="Geneva"/>
                <a:cs typeface="Geneva"/>
              </a:rPr>
              <a:t>while(changed)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it-IT" sz="1600" i="1">
                <a:latin typeface="Geneva"/>
                <a:ea typeface="Geneva"/>
                <a:cs typeface="Geneva"/>
              </a:rPr>
              <a:t>    changed ← false</a:t>
            </a:r>
          </a:p>
          <a:p>
            <a:r>
              <a:rPr lang="en-US" altLang="it-IT" sz="1600" i="1">
                <a:latin typeface="Geneva"/>
                <a:ea typeface="Geneva"/>
                <a:cs typeface="Geneva"/>
              </a:rPr>
              <a:t>    for i ← 0 to N-1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it-IT" sz="1600" i="1">
                <a:latin typeface="Geneva"/>
                <a:ea typeface="Geneva"/>
                <a:cs typeface="Geneva"/>
              </a:rPr>
              <a:t>         recompute LIVEOUT(i)</a:t>
            </a:r>
          </a:p>
          <a:p>
            <a:r>
              <a:rPr lang="en-US" altLang="it-IT" sz="1600" i="1">
                <a:latin typeface="Geneva"/>
                <a:ea typeface="Geneva"/>
                <a:cs typeface="Geneva"/>
              </a:rPr>
              <a:t>         if LIVEOUT(i) changed</a:t>
            </a:r>
          </a:p>
          <a:p>
            <a:r>
              <a:rPr lang="en-US" altLang="it-IT" sz="1600" i="1">
                <a:latin typeface="Geneva"/>
                <a:ea typeface="Geneva"/>
                <a:cs typeface="Geneva"/>
              </a:rPr>
              <a:t>            then changed ←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5B8A0-1E91-4E4D-B463-FB839D3B3942}"/>
              </a:ext>
            </a:extLst>
          </p:cNvPr>
          <p:cNvSpPr txBox="1"/>
          <p:nvPr/>
        </p:nvSpPr>
        <p:spPr>
          <a:xfrm>
            <a:off x="4572000" y="2984500"/>
            <a:ext cx="3886200" cy="3111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Iterative fixed-point solver</a:t>
            </a:r>
          </a:p>
          <a:p>
            <a:pPr marL="228600" indent="-2286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cap="small" dirty="0" err="1">
                <a:latin typeface="Comic Sans MS" charset="0"/>
                <a:ea typeface="ヒラギノ角ゴ Pro W3" charset="-128"/>
                <a:cs typeface="ヒラギノ角ゴ Pro W3" charset="-128"/>
              </a:rPr>
              <a:t>LiveOut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⊆ 2</a:t>
            </a:r>
            <a:r>
              <a:rPr lang="en-US" baseline="30000" dirty="0">
                <a:latin typeface="Comic Sans MS" charset="0"/>
                <a:ea typeface="ヒラギノ角ゴ Pro W3" charset="-128"/>
                <a:cs typeface="ヒラギノ角ゴ Pro W3" charset="-128"/>
              </a:rPr>
              <a:t>Names</a:t>
            </a:r>
          </a:p>
          <a:p>
            <a:pPr marL="228600" indent="-228600" eaLnBrk="0" hangingPunct="0"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cap="small" dirty="0" err="1">
                <a:latin typeface="Comic Sans MS" charset="0"/>
                <a:ea typeface="ヒラギノ角ゴ Pro W3" charset="-128"/>
                <a:cs typeface="ヒラギノ角ゴ Pro W3" charset="-128"/>
              </a:rPr>
              <a:t>UEVar</a:t>
            </a:r>
            <a:r>
              <a:rPr lang="en-US" cap="small" dirty="0">
                <a:latin typeface="Comic Sans MS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cap="small" dirty="0" err="1">
                <a:latin typeface="Comic Sans MS" charset="0"/>
                <a:ea typeface="ヒラギノ角ゴ Pro W3" charset="-128"/>
                <a:cs typeface="ヒラギノ角ゴ Pro W3" charset="-128"/>
              </a:rPr>
              <a:t>VarKill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are constants</a:t>
            </a:r>
          </a:p>
          <a:p>
            <a:pPr marL="228600" indent="-2286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Equation is monotone increasing</a:t>
            </a:r>
          </a:p>
          <a:p>
            <a:pPr marL="228600" indent="-2286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Finite sets + monotone equations ⇒ algorithm must halt</a:t>
            </a:r>
          </a:p>
          <a:p>
            <a:pPr eaLnBrk="0" hangingPunct="0">
              <a:spcBef>
                <a:spcPts val="1800"/>
              </a:spcBef>
              <a:buClr>
                <a:srgbClr val="003C75"/>
              </a:buClr>
              <a:buSzPct val="120000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Theory of data-flow analysis assures us that this equation has a unique fixed point solution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CA6C8-8A7D-418F-8389-245A9A8CD3F6}"/>
              </a:ext>
            </a:extLst>
          </p:cNvPr>
          <p:cNvSpPr txBox="1"/>
          <p:nvPr/>
        </p:nvSpPr>
        <p:spPr>
          <a:xfrm>
            <a:off x="4419600" y="6248400"/>
            <a:ext cx="38100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 EaC1e, see § 9.2.1; in EaC2e, see § 8.6.1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9EC6C0E2-2124-4E4B-8FCA-2E812AAF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Live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71C0-A308-4122-9F2E-F86EDC439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 couple more points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Can use </a:t>
            </a:r>
            <a:r>
              <a:rPr lang="en-US" cap="small" dirty="0" err="1"/>
              <a:t>LiveOut</a:t>
            </a:r>
            <a:r>
              <a:rPr lang="en-US" cap="small" dirty="0"/>
              <a:t> </a:t>
            </a:r>
            <a:r>
              <a:rPr lang="en-US" dirty="0"/>
              <a:t>sets to find uninitialized variables</a:t>
            </a:r>
          </a:p>
          <a:p>
            <a:pPr lvl="1" eaLnBrk="1" hangingPunct="1">
              <a:defRPr/>
            </a:pPr>
            <a:r>
              <a:rPr lang="en-US" i="1" dirty="0" err="1"/>
              <a:t>x</a:t>
            </a:r>
            <a:r>
              <a:rPr lang="en-US" i="1" dirty="0"/>
              <a:t> </a:t>
            </a:r>
            <a:r>
              <a:rPr lang="en-US" dirty="0"/>
              <a:t>∈ </a:t>
            </a:r>
            <a:r>
              <a:rPr lang="en-US" cap="small" dirty="0"/>
              <a:t>LiveOut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i="1" baseline="-25000" dirty="0"/>
              <a:t>0 </a:t>
            </a:r>
            <a:r>
              <a:rPr lang="en-US" dirty="0"/>
              <a:t>) means </a:t>
            </a:r>
            <a:r>
              <a:rPr lang="en-US" i="1" dirty="0" err="1"/>
              <a:t>x</a:t>
            </a:r>
            <a:r>
              <a:rPr lang="en-US" dirty="0"/>
              <a:t> is uninitialized at some use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Can use </a:t>
            </a:r>
            <a:r>
              <a:rPr lang="en-US" cap="small" dirty="0" err="1"/>
              <a:t>LiveOut</a:t>
            </a:r>
            <a:r>
              <a:rPr lang="en-US" dirty="0"/>
              <a:t> sets to eliminate unnecessary stores</a:t>
            </a:r>
          </a:p>
          <a:p>
            <a:pPr lvl="1" eaLnBrk="1" hangingPunct="1">
              <a:defRPr/>
            </a:pPr>
            <a:r>
              <a:rPr lang="en-US" dirty="0"/>
              <a:t>Build </a:t>
            </a:r>
            <a:r>
              <a:rPr lang="en-US" cap="small" dirty="0"/>
              <a:t>Live </a:t>
            </a:r>
            <a:r>
              <a:rPr lang="en-US" dirty="0"/>
              <a:t>at each operation</a:t>
            </a:r>
          </a:p>
          <a:p>
            <a:pPr lvl="1" eaLnBrk="1" hangingPunct="1">
              <a:defRPr/>
            </a:pPr>
            <a:r>
              <a:rPr lang="en-US" i="1" dirty="0" err="1"/>
              <a:t>x</a:t>
            </a:r>
            <a:r>
              <a:rPr lang="en-US" dirty="0"/>
              <a:t> </a:t>
            </a:r>
            <a:r>
              <a:rPr lang="en-US" i="1" dirty="0"/>
              <a:t>∉</a:t>
            </a:r>
            <a:r>
              <a:rPr lang="en-US" dirty="0"/>
              <a:t> Live at a store means that the value is never reloaded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The </a:t>
            </a:r>
            <a:r>
              <a:rPr lang="en-US" cap="small" dirty="0" err="1"/>
              <a:t>LiveOut</a:t>
            </a:r>
            <a:r>
              <a:rPr lang="en-US" dirty="0"/>
              <a:t> equations have a unique fixed-point solution</a:t>
            </a:r>
          </a:p>
          <a:p>
            <a:pPr lvl="1" eaLnBrk="1" hangingPunct="1">
              <a:buFont typeface="Lucida Grande"/>
              <a:buChar char="⇒"/>
              <a:defRPr/>
            </a:pPr>
            <a:r>
              <a:rPr lang="en-US" i="1" dirty="0"/>
              <a:t>The algorithm finds a fixed-point solution; since the fixed-point solution is unique, it finds the correct solution</a:t>
            </a: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Order of computation determines speed of convergence</a:t>
            </a:r>
          </a:p>
          <a:p>
            <a:pPr lvl="1" eaLnBrk="1" hangingPunct="1">
              <a:buFont typeface="Lucida Grande"/>
              <a:buChar char="⇒"/>
              <a:defRPr/>
            </a:pPr>
            <a:r>
              <a:rPr lang="en-US" i="1" dirty="0"/>
              <a:t>Choose an order that reaches fixed point quickly</a:t>
            </a:r>
          </a:p>
          <a:p>
            <a:pPr eaLnBrk="1" hangingPunct="1">
              <a:buFont typeface="Times" charset="0"/>
              <a:buNone/>
              <a:defRPr/>
            </a:pPr>
            <a:endParaRPr lang="en-US" dirty="0"/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686CCBB4-759F-44FD-8F84-8162614F10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FA734410-9F14-4DA0-B824-DC1A47710D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703D58E-7523-4324-B4A7-22C217D59F82}" type="slidenum">
              <a:rPr lang="en-US" altLang="it-IT"/>
              <a:pPr/>
              <a:t>5</a:t>
            </a:fld>
            <a:endParaRPr lang="en-US" alt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30919B0A-EB42-45A8-AA47-7C7A53D7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Data-Flow Analysis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4E1DEB3D-BDFF-487E-B712-97069F03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13716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order of computation affects speed of convergence</a:t>
            </a:r>
          </a:p>
          <a:p>
            <a:pPr eaLnBrk="1" hangingPunct="1"/>
            <a:r>
              <a:rPr lang="en-US" altLang="it-IT"/>
              <a:t>Live is a backward data-flow problem</a:t>
            </a:r>
          </a:p>
          <a:p>
            <a:pPr lvl="1" eaLnBrk="1" hangingPunct="1"/>
            <a:r>
              <a:rPr lang="en-US" altLang="it-IT"/>
              <a:t>Sets for node </a:t>
            </a:r>
            <a:r>
              <a:rPr lang="en-US" altLang="it-IT" i="1"/>
              <a:t>n</a:t>
            </a:r>
            <a:r>
              <a:rPr lang="en-US" altLang="it-IT" sz="1000"/>
              <a:t> </a:t>
            </a:r>
            <a:r>
              <a:rPr lang="en-US" altLang="it-IT"/>
              <a:t> are computed from sets at </a:t>
            </a:r>
            <a:r>
              <a:rPr lang="en-US" altLang="it-IT" i="1"/>
              <a:t>n’s</a:t>
            </a:r>
            <a:r>
              <a:rPr lang="en-US" altLang="it-IT" sz="1000" i="1"/>
              <a:t> </a:t>
            </a:r>
            <a:r>
              <a:rPr lang="en-US" altLang="it-IT" i="1"/>
              <a:t> </a:t>
            </a:r>
            <a:r>
              <a:rPr lang="en-US" altLang="it-IT"/>
              <a:t>CFG </a:t>
            </a:r>
            <a:r>
              <a:rPr lang="en-US" altLang="it-IT" i="1"/>
              <a:t>successors</a:t>
            </a:r>
            <a:endParaRPr lang="en-US" altLang="it-IT"/>
          </a:p>
        </p:txBody>
      </p:sp>
      <p:sp>
        <p:nvSpPr>
          <p:cNvPr id="22531" name="Footer Placeholder 3">
            <a:extLst>
              <a:ext uri="{FF2B5EF4-FFF2-40B4-BE49-F238E27FC236}">
                <a16:creationId xmlns:a16="http://schemas.microsoft.com/office/drawing/2014/main" id="{63028826-AE74-4763-A9D4-EEBCFD00F3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BE381FB8-82FA-4151-B1BF-633950C695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CCD450E-4291-4ABB-9603-DCC00A11E54D}" type="slidenum">
              <a:rPr lang="en-US" altLang="it-IT"/>
              <a:pPr/>
              <a:t>6</a:t>
            </a:fld>
            <a:endParaRPr lang="en-US" altLang="it-IT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B18CB0-8B43-47BD-95CD-6965914E15D2}"/>
              </a:ext>
            </a:extLst>
          </p:cNvPr>
          <p:cNvGrpSpPr/>
          <p:nvPr/>
        </p:nvGrpSpPr>
        <p:grpSpPr>
          <a:xfrm>
            <a:off x="838200" y="2514600"/>
            <a:ext cx="1752600" cy="2743194"/>
            <a:chOff x="6553200" y="2628903"/>
            <a:chExt cx="1752600" cy="2743194"/>
          </a:xfrm>
          <a:solidFill>
            <a:schemeClr val="bg1">
              <a:lumMod val="75000"/>
            </a:schemeClr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2904F48-6BFE-44F1-AB24-636A371CC998}"/>
                </a:ext>
              </a:extLst>
            </p:cNvPr>
            <p:cNvSpPr/>
            <p:nvPr/>
          </p:nvSpPr>
          <p:spPr bwMode="auto">
            <a:xfrm>
              <a:off x="7162800" y="44196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D59CB7-AA09-4530-B907-0146CA9CF0F3}"/>
                </a:ext>
              </a:extLst>
            </p:cNvPr>
            <p:cNvSpPr/>
            <p:nvPr/>
          </p:nvSpPr>
          <p:spPr bwMode="auto">
            <a:xfrm>
              <a:off x="7772400" y="37338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06A912A-21B9-414B-9608-7C60D8E5B863}"/>
                </a:ext>
              </a:extLst>
            </p:cNvPr>
            <p:cNvSpPr/>
            <p:nvPr/>
          </p:nvSpPr>
          <p:spPr bwMode="auto">
            <a:xfrm>
              <a:off x="6553200" y="37338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7EED3C2-F632-46F1-A0A0-9730C0CEB7AB}"/>
                </a:ext>
              </a:extLst>
            </p:cNvPr>
            <p:cNvSpPr/>
            <p:nvPr/>
          </p:nvSpPr>
          <p:spPr bwMode="auto">
            <a:xfrm>
              <a:off x="7162800" y="30480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2AB59AD-7D2A-4D0B-82F2-042892C6AEE0}"/>
                </a:ext>
              </a:extLst>
            </p:cNvPr>
            <p:cNvCxnSpPr>
              <a:stCxn id="9" idx="3"/>
              <a:endCxn id="8" idx="7"/>
            </p:cNvCxnSpPr>
            <p:nvPr/>
          </p:nvCxnSpPr>
          <p:spPr bwMode="auto">
            <a:xfrm rot="5400000">
              <a:off x="6970385" y="35413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D6EB1DD-7D45-453C-8DAA-437790E69612}"/>
                </a:ext>
              </a:extLst>
            </p:cNvPr>
            <p:cNvCxnSpPr>
              <a:stCxn id="9" idx="5"/>
              <a:endCxn id="7" idx="1"/>
            </p:cNvCxnSpPr>
            <p:nvPr/>
          </p:nvCxnSpPr>
          <p:spPr bwMode="auto">
            <a:xfrm rot="16200000" flipH="1">
              <a:off x="7579985" y="35413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2962F74-2125-4317-A5E9-923A94509E6B}"/>
                </a:ext>
              </a:extLst>
            </p:cNvPr>
            <p:cNvCxnSpPr>
              <a:stCxn id="7" idx="3"/>
              <a:endCxn id="6" idx="7"/>
            </p:cNvCxnSpPr>
            <p:nvPr/>
          </p:nvCxnSpPr>
          <p:spPr bwMode="auto">
            <a:xfrm rot="5400000">
              <a:off x="7579985" y="42271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8687E65-BA9D-4C5A-AB26-894FC5A87864}"/>
                </a:ext>
              </a:extLst>
            </p:cNvPr>
            <p:cNvCxnSpPr>
              <a:stCxn id="8" idx="5"/>
              <a:endCxn id="6" idx="1"/>
            </p:cNvCxnSpPr>
            <p:nvPr/>
          </p:nvCxnSpPr>
          <p:spPr bwMode="auto">
            <a:xfrm rot="16200000" flipH="1">
              <a:off x="6970385" y="42271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9EBE8B4-8437-4F17-AAD6-98CA152C740C}"/>
                </a:ext>
              </a:extLst>
            </p:cNvPr>
            <p:cNvCxnSpPr>
              <a:endCxn id="9" idx="0"/>
            </p:cNvCxnSpPr>
            <p:nvPr/>
          </p:nvCxnSpPr>
          <p:spPr bwMode="auto">
            <a:xfrm rot="5400000">
              <a:off x="7219954" y="2838450"/>
              <a:ext cx="419097" cy="3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766CF83-6B29-439D-85EE-1B90A987915C}"/>
                </a:ext>
              </a:extLst>
            </p:cNvPr>
            <p:cNvCxnSpPr/>
            <p:nvPr/>
          </p:nvCxnSpPr>
          <p:spPr bwMode="auto">
            <a:xfrm rot="5400000">
              <a:off x="7219953" y="5162547"/>
              <a:ext cx="419097" cy="3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2534" name="TextBox 34">
            <a:extLst>
              <a:ext uri="{FF2B5EF4-FFF2-40B4-BE49-F238E27FC236}">
                <a16:creationId xmlns:a16="http://schemas.microsoft.com/office/drawing/2014/main" id="{B6ABF364-4BB3-4FA0-8C6B-ACEAC52E6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257800"/>
            <a:ext cx="1905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003C75"/>
                </a:solidFill>
              </a:rPr>
              <a:t>Example CFG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13235168-677C-404B-99B2-C44F5AC42579}"/>
              </a:ext>
            </a:extLst>
          </p:cNvPr>
          <p:cNvSpPr txBox="1">
            <a:spLocks/>
          </p:cNvSpPr>
          <p:nvPr/>
        </p:nvSpPr>
        <p:spPr bwMode="auto">
          <a:xfrm>
            <a:off x="3352800" y="2362200"/>
            <a:ext cx="5105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kern="0" cap="small" dirty="0">
                <a:latin typeface="+mn-lt"/>
                <a:ea typeface="+mn-ea"/>
                <a:cs typeface="+mn-cs"/>
              </a:rPr>
              <a:t>LiveOut</a:t>
            </a:r>
            <a:r>
              <a:rPr lang="en-US" kern="0" dirty="0">
                <a:latin typeface="+mn-lt"/>
                <a:ea typeface="+mn-ea"/>
                <a:cs typeface="+mn-cs"/>
              </a:rPr>
              <a:t>(1) is computed from </a:t>
            </a:r>
            <a:r>
              <a:rPr lang="en-US" kern="0" cap="small" dirty="0">
                <a:latin typeface="+mn-lt"/>
                <a:ea typeface="+mn-ea"/>
                <a:cs typeface="+mn-cs"/>
              </a:rPr>
              <a:t>LiveOut</a:t>
            </a:r>
            <a:r>
              <a:rPr lang="en-US" kern="0" dirty="0">
                <a:latin typeface="+mn-lt"/>
                <a:ea typeface="+mn-ea"/>
                <a:cs typeface="+mn-cs"/>
              </a:rPr>
              <a:t>(2) and </a:t>
            </a:r>
            <a:r>
              <a:rPr lang="en-US" kern="0" cap="small" dirty="0">
                <a:latin typeface="+mn-lt"/>
                <a:ea typeface="+mn-ea"/>
                <a:cs typeface="+mn-cs"/>
              </a:rPr>
              <a:t>LiveOut</a:t>
            </a:r>
            <a:r>
              <a:rPr lang="en-US" kern="0" dirty="0">
                <a:latin typeface="+mn-lt"/>
                <a:ea typeface="+mn-ea"/>
                <a:cs typeface="+mn-cs"/>
              </a:rPr>
              <a:t>(3), which depend on </a:t>
            </a:r>
            <a:r>
              <a:rPr lang="en-US" kern="0" cap="small" dirty="0">
                <a:latin typeface="+mn-lt"/>
                <a:ea typeface="+mn-ea"/>
                <a:cs typeface="+mn-cs"/>
              </a:rPr>
              <a:t>LiveOut</a:t>
            </a:r>
            <a:r>
              <a:rPr lang="en-US" kern="0" dirty="0">
                <a:latin typeface="+mn-lt"/>
                <a:ea typeface="+mn-ea"/>
                <a:cs typeface="+mn-cs"/>
              </a:rPr>
              <a:t>(4)</a:t>
            </a:r>
          </a:p>
          <a:p>
            <a:pPr marL="292100" indent="-292100">
              <a:spcBef>
                <a:spcPts val="12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Solver should visit 2 &amp; 3 before 1</a:t>
            </a:r>
          </a:p>
          <a:p>
            <a:pPr marL="292100" indent="-29210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Solver should visit 4 before 2 &amp; 3</a:t>
            </a:r>
          </a:p>
          <a:p>
            <a:pPr marL="292100" indent="-29210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Update as many “sources” as possible before visiting a given node</a:t>
            </a:r>
          </a:p>
          <a:p>
            <a:pPr>
              <a:spcBef>
                <a:spcPts val="1800"/>
              </a:spcBef>
              <a:buClr>
                <a:srgbClr val="003C75"/>
              </a:buClr>
              <a:buSzPct val="120000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General idea is to let a change in the </a:t>
            </a:r>
            <a:r>
              <a:rPr lang="en-US" kern="0" dirty="0" err="1">
                <a:latin typeface="+mn-lt"/>
                <a:ea typeface="+mn-ea"/>
                <a:cs typeface="+mn-cs"/>
              </a:rPr>
              <a:t>LiveOut</a:t>
            </a:r>
            <a:r>
              <a:rPr lang="en-US" kern="0" dirty="0">
                <a:latin typeface="+mn-lt"/>
                <a:ea typeface="+mn-ea"/>
                <a:cs typeface="+mn-cs"/>
              </a:rPr>
              <a:t> set flow as far in the CFG as it can in a single “pass” of the while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5083C3DF-635A-4E35-B743-300A2BA5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Data-Flow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E474-2EE1-4B78-B48F-E386A78F1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1371600"/>
          </a:xfrm>
        </p:spPr>
        <p:txBody>
          <a:bodyPr/>
          <a:lstStyle/>
          <a:p>
            <a:pPr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Code optimization is intimately tied to graph theory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cap="small" dirty="0" err="1"/>
              <a:t>LiveOut</a:t>
            </a:r>
            <a:r>
              <a:rPr lang="en-US" dirty="0"/>
              <a:t> is computed, conceptually, on the reverse CFG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Order for solver is defined by the reverse CFG</a:t>
            </a: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8ACFA5CE-C2EE-4BD0-BECE-F06BD7BDF0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0B56918A-BA97-4D8A-8E00-DACE57670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E2A4A27-9CB0-4554-A4D7-D0BC9BE0121D}" type="slidenum">
              <a:rPr lang="en-US" altLang="it-IT"/>
              <a:pPr/>
              <a:t>7</a:t>
            </a:fld>
            <a:endParaRPr lang="en-US" altLang="it-IT"/>
          </a:p>
        </p:txBody>
      </p:sp>
      <p:grpSp>
        <p:nvGrpSpPr>
          <p:cNvPr id="10" name="Group 33">
            <a:extLst>
              <a:ext uri="{FF2B5EF4-FFF2-40B4-BE49-F238E27FC236}">
                <a16:creationId xmlns:a16="http://schemas.microsoft.com/office/drawing/2014/main" id="{D3A3A12E-9633-43C4-B417-58A5A4597728}"/>
              </a:ext>
            </a:extLst>
          </p:cNvPr>
          <p:cNvGrpSpPr/>
          <p:nvPr/>
        </p:nvGrpSpPr>
        <p:grpSpPr>
          <a:xfrm>
            <a:off x="838200" y="2514600"/>
            <a:ext cx="1752600" cy="2743194"/>
            <a:chOff x="6553200" y="2628903"/>
            <a:chExt cx="1752600" cy="2743194"/>
          </a:xfrm>
          <a:solidFill>
            <a:schemeClr val="bg1">
              <a:lumMod val="75000"/>
            </a:schemeClr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7C54E2-5507-4684-AA76-2470F9E5C9D7}"/>
                </a:ext>
              </a:extLst>
            </p:cNvPr>
            <p:cNvSpPr/>
            <p:nvPr/>
          </p:nvSpPr>
          <p:spPr bwMode="auto">
            <a:xfrm>
              <a:off x="7162800" y="44196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2B9A4AA-6E34-4BCE-8019-6FDBB306E62F}"/>
                </a:ext>
              </a:extLst>
            </p:cNvPr>
            <p:cNvSpPr/>
            <p:nvPr/>
          </p:nvSpPr>
          <p:spPr bwMode="auto">
            <a:xfrm>
              <a:off x="7772400" y="37338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893588-7DBE-4878-961E-CD8EBD64C64C}"/>
                </a:ext>
              </a:extLst>
            </p:cNvPr>
            <p:cNvSpPr/>
            <p:nvPr/>
          </p:nvSpPr>
          <p:spPr bwMode="auto">
            <a:xfrm>
              <a:off x="6553200" y="37338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3C7811-BB5C-43A8-A3FB-03E3E0383738}"/>
                </a:ext>
              </a:extLst>
            </p:cNvPr>
            <p:cNvSpPr/>
            <p:nvPr/>
          </p:nvSpPr>
          <p:spPr bwMode="auto">
            <a:xfrm>
              <a:off x="7162800" y="3048000"/>
              <a:ext cx="533400" cy="533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r>
                <a:rPr lang="en-US" sz="1600" b="1" dirty="0">
                  <a:latin typeface="Geneva"/>
                  <a:ea typeface="ヒラギノ角ゴ Pro W3" charset="-128"/>
                  <a:cs typeface="Geneva"/>
                </a:rPr>
                <a:t>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6FC14B2-B1B0-4633-8E52-B65D578B9C4C}"/>
                </a:ext>
              </a:extLst>
            </p:cNvPr>
            <p:cNvCxnSpPr>
              <a:stCxn id="9" idx="3"/>
              <a:endCxn id="8" idx="7"/>
            </p:cNvCxnSpPr>
            <p:nvPr/>
          </p:nvCxnSpPr>
          <p:spPr bwMode="auto">
            <a:xfrm rot="5400000">
              <a:off x="6970385" y="35413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8DAFE50-3E52-43A9-A090-E2369447B69D}"/>
                </a:ext>
              </a:extLst>
            </p:cNvPr>
            <p:cNvCxnSpPr>
              <a:stCxn id="9" idx="5"/>
              <a:endCxn id="7" idx="1"/>
            </p:cNvCxnSpPr>
            <p:nvPr/>
          </p:nvCxnSpPr>
          <p:spPr bwMode="auto">
            <a:xfrm rot="16200000" flipH="1">
              <a:off x="7579985" y="35413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8AC59AE-201E-45A0-9197-F62DFE1E7E61}"/>
                </a:ext>
              </a:extLst>
            </p:cNvPr>
            <p:cNvCxnSpPr>
              <a:stCxn id="7" idx="3"/>
              <a:endCxn id="6" idx="7"/>
            </p:cNvCxnSpPr>
            <p:nvPr/>
          </p:nvCxnSpPr>
          <p:spPr bwMode="auto">
            <a:xfrm rot="5400000">
              <a:off x="7579985" y="42271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C189D76-551D-421A-AC4A-7AB430588867}"/>
                </a:ext>
              </a:extLst>
            </p:cNvPr>
            <p:cNvCxnSpPr>
              <a:stCxn id="8" idx="5"/>
              <a:endCxn id="6" idx="1"/>
            </p:cNvCxnSpPr>
            <p:nvPr/>
          </p:nvCxnSpPr>
          <p:spPr bwMode="auto">
            <a:xfrm rot="16200000" flipH="1">
              <a:off x="6970385" y="4227185"/>
              <a:ext cx="308630" cy="232430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BC30617-118C-4642-8AB0-C18E43C12847}"/>
                </a:ext>
              </a:extLst>
            </p:cNvPr>
            <p:cNvCxnSpPr>
              <a:endCxn id="9" idx="0"/>
            </p:cNvCxnSpPr>
            <p:nvPr/>
          </p:nvCxnSpPr>
          <p:spPr bwMode="auto">
            <a:xfrm rot="5400000">
              <a:off x="7219954" y="2838450"/>
              <a:ext cx="419097" cy="3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64A1D01-556E-49C1-9226-F7D790F7CA66}"/>
                </a:ext>
              </a:extLst>
            </p:cNvPr>
            <p:cNvCxnSpPr/>
            <p:nvPr/>
          </p:nvCxnSpPr>
          <p:spPr bwMode="auto">
            <a:xfrm rot="5400000">
              <a:off x="7219953" y="5162547"/>
              <a:ext cx="419097" cy="3"/>
            </a:xfrm>
            <a:prstGeom prst="straightConnector1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</p:grpSp>
      <p:sp>
        <p:nvSpPr>
          <p:cNvPr id="23558" name="TextBox 34">
            <a:extLst>
              <a:ext uri="{FF2B5EF4-FFF2-40B4-BE49-F238E27FC236}">
                <a16:creationId xmlns:a16="http://schemas.microsoft.com/office/drawing/2014/main" id="{9F460CA3-A6DE-4577-B374-B418D2DAA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257800"/>
            <a:ext cx="1905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>
                <a:solidFill>
                  <a:srgbClr val="003C75"/>
                </a:solidFill>
              </a:rPr>
              <a:t>Reverse CFG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F14B8C4-2AD7-4C0F-AA3C-22FBAC613B40}"/>
              </a:ext>
            </a:extLst>
          </p:cNvPr>
          <p:cNvSpPr txBox="1">
            <a:spLocks/>
          </p:cNvSpPr>
          <p:nvPr/>
        </p:nvSpPr>
        <p:spPr bwMode="auto">
          <a:xfrm>
            <a:off x="3352800" y="2438400"/>
            <a:ext cx="51054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solidFill>
                  <a:srgbClr val="003C75"/>
                </a:solidFill>
                <a:latin typeface="+mn-lt"/>
                <a:ea typeface="+mn-ea"/>
                <a:cs typeface="+mn-cs"/>
              </a:rPr>
              <a:t>Propagation Order for Backward Problem</a:t>
            </a:r>
          </a:p>
          <a:p>
            <a:pPr marL="228600" indent="-22860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Want to visit 4, then {2,3}, then 1</a:t>
            </a:r>
          </a:p>
          <a:p>
            <a:pPr marL="228600" indent="-22860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 err="1">
                <a:latin typeface="+mn-lt"/>
                <a:ea typeface="+mn-ea"/>
                <a:cs typeface="+mn-cs"/>
              </a:rPr>
              <a:t>PostOrder</a:t>
            </a:r>
            <a:r>
              <a:rPr lang="en-US" kern="0" dirty="0">
                <a:latin typeface="+mn-lt"/>
                <a:ea typeface="+mn-ea"/>
                <a:cs typeface="+mn-cs"/>
              </a:rPr>
              <a:t> of RCFG would be 1, {2, 3}, 4</a:t>
            </a:r>
          </a:p>
          <a:p>
            <a:pPr marL="228600" indent="-22860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Desired order is reverse of postorder</a:t>
            </a:r>
          </a:p>
          <a:p>
            <a:pPr marL="749300" lvl="1" indent="-292100">
              <a:spcBef>
                <a:spcPts val="600"/>
              </a:spcBef>
              <a:buClr>
                <a:srgbClr val="003C75"/>
              </a:buClr>
              <a:buSzPct val="90000"/>
              <a:buFont typeface="Lucida Grande"/>
              <a:buChar char="→"/>
              <a:defRPr/>
            </a:pP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RPO(i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) = |</a:t>
            </a:r>
            <a:r>
              <a:rPr lang="en-US" i="1" dirty="0">
                <a:latin typeface="Comic Sans MS" charset="0"/>
                <a:ea typeface="ヒラギノ角ゴ Pro W3" charset="-128"/>
                <a:cs typeface="ヒラギノ角ゴ Pro W3" charset="-128"/>
              </a:rPr>
              <a:t>N</a:t>
            </a:r>
            <a:r>
              <a:rPr lang="en-US" sz="1050" i="1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| + 1 - 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PO(i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)</a:t>
            </a:r>
            <a:endParaRPr lang="en-US" kern="0" dirty="0">
              <a:latin typeface="+mn-lt"/>
              <a:ea typeface="+mn-ea"/>
              <a:cs typeface="+mn-cs"/>
            </a:endParaRPr>
          </a:p>
          <a:p>
            <a:pPr marL="228600" indent="-228600">
              <a:spcBef>
                <a:spcPts val="600"/>
              </a:spcBef>
              <a:buClr>
                <a:srgbClr val="003C75"/>
              </a:buClr>
              <a:buSzPct val="120000"/>
              <a:buFont typeface="Arial"/>
              <a:buChar char="•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Reverse </a:t>
            </a:r>
            <a:r>
              <a:rPr lang="en-US" kern="0" dirty="0" err="1">
                <a:latin typeface="+mn-lt"/>
                <a:ea typeface="+mn-ea"/>
                <a:cs typeface="+mn-cs"/>
              </a:rPr>
              <a:t>PostOrder</a:t>
            </a:r>
            <a:r>
              <a:rPr lang="en-US" kern="0" dirty="0">
                <a:latin typeface="+mn-lt"/>
                <a:ea typeface="+mn-ea"/>
                <a:cs typeface="+mn-cs"/>
              </a:rPr>
              <a:t> would be 4, {3, 2}, 1</a:t>
            </a:r>
          </a:p>
          <a:p>
            <a:pPr marL="749300" lvl="1" indent="-292100">
              <a:spcBef>
                <a:spcPts val="600"/>
              </a:spcBef>
              <a:buClr>
                <a:srgbClr val="003C75"/>
              </a:buClr>
              <a:buSzPct val="90000"/>
              <a:buFont typeface="Lucida Grande"/>
              <a:buChar char="→"/>
              <a:defRPr/>
            </a:pPr>
            <a:r>
              <a:rPr lang="en-US" kern="0" dirty="0">
                <a:latin typeface="+mn-lt"/>
                <a:ea typeface="+mn-ea"/>
                <a:cs typeface="+mn-cs"/>
              </a:rPr>
              <a:t>We don’t care about order of 2 &amp;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A509FD-051D-4ABD-BBF8-40FD72FD8EC4}"/>
              </a:ext>
            </a:extLst>
          </p:cNvPr>
          <p:cNvSpPr txBox="1"/>
          <p:nvPr/>
        </p:nvSpPr>
        <p:spPr>
          <a:xfrm>
            <a:off x="3352800" y="5553075"/>
            <a:ext cx="5105400" cy="100012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Forward problem   ⇒ RPO on the CFG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Backward problem ⇒ RPO on the reverse CFG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RPO on RFG is not reverse preorder on CFG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71335A9A-B06E-44E0-B129-1981DAAD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Recap of Live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5AEA-A5E2-4716-8AC7-2E167BBC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Define the problem</a:t>
            </a:r>
          </a:p>
          <a:p>
            <a:pPr algn="ctr" eaLnBrk="1" hangingPunct="1">
              <a:buFont typeface="Times" charset="0"/>
              <a:buNone/>
              <a:defRPr/>
            </a:pPr>
            <a:r>
              <a:rPr lang="en-US" i="1" dirty="0"/>
              <a:t>A variable </a:t>
            </a:r>
            <a:r>
              <a:rPr lang="en-US" i="1" dirty="0" err="1"/>
              <a:t>v</a:t>
            </a:r>
            <a:r>
              <a:rPr lang="en-US" i="1" dirty="0"/>
              <a:t> is live at point </a:t>
            </a:r>
            <a:r>
              <a:rPr lang="en-US" i="1" dirty="0" err="1"/>
              <a:t>p</a:t>
            </a:r>
            <a:r>
              <a:rPr lang="en-US" i="1" dirty="0"/>
              <a:t> </a:t>
            </a:r>
            <a:r>
              <a:rPr lang="en-US" i="1" dirty="0" err="1"/>
              <a:t>iff</a:t>
            </a:r>
            <a:r>
              <a:rPr lang="en-US" i="1" dirty="0"/>
              <a:t> ∃ a path in the CFG </a:t>
            </a:r>
          </a:p>
          <a:p>
            <a:pPr algn="ctr" eaLnBrk="1" hangingPunct="1">
              <a:spcBef>
                <a:spcPts val="0"/>
              </a:spcBef>
              <a:buFont typeface="Times" charset="0"/>
              <a:buNone/>
              <a:defRPr/>
            </a:pPr>
            <a:r>
              <a:rPr lang="en-US" i="1" dirty="0"/>
              <a:t>from </a:t>
            </a:r>
            <a:r>
              <a:rPr lang="en-US" i="1" dirty="0" err="1"/>
              <a:t>p</a:t>
            </a:r>
            <a:r>
              <a:rPr lang="en-US" i="1" dirty="0"/>
              <a:t> to a use of </a:t>
            </a:r>
            <a:r>
              <a:rPr lang="en-US" i="1" dirty="0" err="1"/>
              <a:t>v</a:t>
            </a:r>
            <a:r>
              <a:rPr lang="en-US" i="1" dirty="0"/>
              <a:t> along which </a:t>
            </a:r>
            <a:r>
              <a:rPr lang="en-US" i="1" dirty="0" err="1"/>
              <a:t>v</a:t>
            </a:r>
            <a:r>
              <a:rPr lang="en-US" i="1" dirty="0"/>
              <a:t> is not redefined</a:t>
            </a:r>
            <a:r>
              <a:rPr lang="en-US" dirty="0"/>
              <a:t>.</a:t>
            </a:r>
          </a:p>
          <a:p>
            <a:pPr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Solve the equations for </a:t>
            </a:r>
            <a:r>
              <a:rPr lang="en-US" cap="small" dirty="0" err="1">
                <a:solidFill>
                  <a:srgbClr val="003C75"/>
                </a:solidFill>
              </a:rPr>
              <a:t>LiveOut</a:t>
            </a:r>
            <a:r>
              <a:rPr lang="en-US" dirty="0"/>
              <a:t> </a:t>
            </a:r>
          </a:p>
          <a:p>
            <a:pPr algn="ctr" eaLnBrk="1" hangingPunct="1">
              <a:spcBef>
                <a:spcPts val="1200"/>
              </a:spcBef>
              <a:buFont typeface="Times" charset="0"/>
              <a:buNone/>
              <a:defRPr/>
            </a:pPr>
            <a:r>
              <a:rPr lang="en-US" sz="1800" cap="small" dirty="0" err="1"/>
              <a:t>LiveOut</a:t>
            </a:r>
            <a:r>
              <a:rPr lang="en-US" sz="1800" dirty="0" err="1"/>
              <a:t>(</a:t>
            </a:r>
            <a:r>
              <a:rPr lang="en-US" sz="1800" i="1" dirty="0" err="1"/>
              <a:t>n</a:t>
            </a:r>
            <a:r>
              <a:rPr lang="en-US" sz="1800" i="1" baseline="-25000" dirty="0" err="1"/>
              <a:t>f</a:t>
            </a:r>
            <a:r>
              <a:rPr lang="en-US" sz="1100" i="1" baseline="-25000" dirty="0"/>
              <a:t> </a:t>
            </a:r>
            <a:r>
              <a:rPr lang="en-US" sz="1800" dirty="0"/>
              <a:t>) = ∅</a:t>
            </a:r>
          </a:p>
          <a:p>
            <a:pPr algn="ctr" eaLnBrk="1" hangingPunct="1">
              <a:buFont typeface="Times" charset="0"/>
              <a:buNone/>
              <a:defRPr/>
            </a:pPr>
            <a:r>
              <a:rPr lang="en-US" sz="1800" cap="small" dirty="0" err="1"/>
              <a:t>LiveOut</a:t>
            </a:r>
            <a:r>
              <a:rPr lang="en-US" sz="1800" dirty="0" err="1"/>
              <a:t>(n</a:t>
            </a:r>
            <a:r>
              <a:rPr lang="en-US" sz="1800" dirty="0"/>
              <a:t>) = </a:t>
            </a:r>
            <a:r>
              <a:rPr lang="en-US" sz="2800" dirty="0"/>
              <a:t>∪</a:t>
            </a:r>
            <a:r>
              <a:rPr lang="en-US" sz="1600" baseline="-25000" dirty="0" err="1"/>
              <a:t>m</a:t>
            </a:r>
            <a:r>
              <a:rPr lang="en-US" sz="1000" baseline="-25000" dirty="0"/>
              <a:t> </a:t>
            </a:r>
            <a:r>
              <a:rPr lang="en-US" sz="1600" baseline="-25000" dirty="0"/>
              <a:t>∈</a:t>
            </a:r>
            <a:r>
              <a:rPr lang="en-US" sz="900" baseline="-25000" dirty="0"/>
              <a:t> </a:t>
            </a:r>
            <a:r>
              <a:rPr lang="en-US" sz="1600" i="1" baseline="-25000" dirty="0" err="1"/>
              <a:t>succ</a:t>
            </a:r>
            <a:r>
              <a:rPr lang="en-US" sz="1600" baseline="-25000" dirty="0" err="1"/>
              <a:t>(n</a:t>
            </a:r>
            <a:r>
              <a:rPr lang="en-US" sz="1600" baseline="-25000" dirty="0"/>
              <a:t>)</a:t>
            </a:r>
            <a:r>
              <a:rPr lang="en-US" sz="1800" dirty="0"/>
              <a:t> (</a:t>
            </a:r>
            <a:r>
              <a:rPr lang="en-US" sz="1800" cap="small" dirty="0" err="1"/>
              <a:t>UEVar</a:t>
            </a:r>
            <a:r>
              <a:rPr lang="en-US" sz="1800" dirty="0" err="1"/>
              <a:t>(m</a:t>
            </a:r>
            <a:r>
              <a:rPr lang="en-US" sz="1800" dirty="0"/>
              <a:t>) ∪ (</a:t>
            </a:r>
            <a:r>
              <a:rPr lang="en-US" sz="1800" cap="small" dirty="0" err="1"/>
              <a:t>LiveOut</a:t>
            </a:r>
            <a:r>
              <a:rPr lang="en-US" sz="1800" dirty="0" err="1"/>
              <a:t>(m</a:t>
            </a:r>
            <a:r>
              <a:rPr lang="en-US" sz="1800" dirty="0"/>
              <a:t>)</a:t>
            </a:r>
            <a:r>
              <a:rPr lang="en-US" sz="1400" dirty="0"/>
              <a:t> </a:t>
            </a:r>
            <a:r>
              <a:rPr lang="en-US" sz="1800" dirty="0"/>
              <a:t>∩</a:t>
            </a:r>
            <a:r>
              <a:rPr lang="en-US" sz="1400" dirty="0"/>
              <a:t> </a:t>
            </a:r>
            <a:r>
              <a:rPr lang="en-US" sz="1800" cap="small" dirty="0" err="1"/>
              <a:t>VarKill</a:t>
            </a:r>
            <a:r>
              <a:rPr lang="en-US" sz="1800" dirty="0" err="1"/>
              <a:t>(m</a:t>
            </a:r>
            <a:r>
              <a:rPr lang="en-US" sz="1800" dirty="0"/>
              <a:t>)))</a:t>
            </a:r>
          </a:p>
          <a:p>
            <a:pPr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Use an iterative fixed-point solver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Theory guarantees unique solution to this problem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/>
              <a:t>Choose an order that produces efficient solution</a:t>
            </a:r>
          </a:p>
          <a:p>
            <a:pPr marL="0" indent="0" eaLnBrk="1" hangingPunct="1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Use the sets to identify uninitialized variables, or to eliminate useless stores, or to find live ranges, or to …</a:t>
            </a:r>
            <a:r>
              <a:rPr lang="en-US" dirty="0"/>
              <a:t> </a:t>
            </a:r>
          </a:p>
          <a:p>
            <a:pPr eaLnBrk="1" hangingPunct="1">
              <a:buFont typeface="Times" charset="0"/>
              <a:buChar char="•"/>
              <a:defRPr/>
            </a:pPr>
            <a:endParaRPr lang="en-US" dirty="0"/>
          </a:p>
          <a:p>
            <a:pPr eaLnBrk="1" hangingPunct="1">
              <a:spcBef>
                <a:spcPts val="0"/>
              </a:spcBef>
              <a:buFont typeface="Times" charset="0"/>
              <a:buNone/>
              <a:defRPr/>
            </a:pPr>
            <a:endParaRPr lang="en-US" dirty="0"/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255426E6-5631-42AE-80F8-A1983E0CC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891C0B2A-C64F-48B3-BB88-426FA0A9A1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77577D3-56A9-498D-AA19-75B88750BF5E}" type="slidenum">
              <a:rPr lang="en-US" altLang="it-IT"/>
              <a:pPr/>
              <a:t>8</a:t>
            </a:fld>
            <a:endParaRPr lang="en-US" altLang="it-IT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05EBEA-7041-44A6-9E1E-B9FDA9159613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6130925"/>
            <a:ext cx="7378700" cy="523875"/>
            <a:chOff x="698500" y="6131580"/>
            <a:chExt cx="737870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9D5531-D289-4E1D-9C23-F53A06807519}"/>
                </a:ext>
              </a:extLst>
            </p:cNvPr>
            <p:cNvSpPr txBox="1"/>
            <p:nvPr/>
          </p:nvSpPr>
          <p:spPr>
            <a:xfrm>
              <a:off x="5181600" y="6131580"/>
              <a:ext cx="2895600" cy="52322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Chapter 9 of EaC contains more examples of data-flow problems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936942-3A8D-4278-9176-601F658FDB04}"/>
                </a:ext>
              </a:extLst>
            </p:cNvPr>
            <p:cNvSpPr txBox="1"/>
            <p:nvPr/>
          </p:nvSpPr>
          <p:spPr>
            <a:xfrm>
              <a:off x="698500" y="6131580"/>
              <a:ext cx="1739900" cy="523220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EaC1e has material on Live in § 9.2</a:t>
              </a:r>
            </a:p>
          </p:txBody>
        </p:sp>
      </p:grpSp>
      <p:cxnSp>
        <p:nvCxnSpPr>
          <p:cNvPr id="24582" name="Straight Connector 9">
            <a:extLst>
              <a:ext uri="{FF2B5EF4-FFF2-40B4-BE49-F238E27FC236}">
                <a16:creationId xmlns:a16="http://schemas.microsoft.com/office/drawing/2014/main" id="{A16E1F7F-527B-409E-92BB-6B2A33617D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29400" y="3427413"/>
            <a:ext cx="1219200" cy="158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842</Words>
  <Application>Microsoft Office PowerPoint</Application>
  <PresentationFormat>Presentazione su schermo (4:3)</PresentationFormat>
  <Paragraphs>128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Blank Presentation</vt:lpstr>
      <vt:lpstr>Code Optimization, Part III Global Methods  Comp 412</vt:lpstr>
      <vt:lpstr>The Story So Far …</vt:lpstr>
      <vt:lpstr>Finding Uninitialized Variables</vt:lpstr>
      <vt:lpstr>Live Variables</vt:lpstr>
      <vt:lpstr>Live Variables</vt:lpstr>
      <vt:lpstr>Live Variables</vt:lpstr>
      <vt:lpstr>Data-Flow Analysis</vt:lpstr>
      <vt:lpstr>Data-Flow Analysis</vt:lpstr>
      <vt:lpstr>Recap of Live Variables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38</cp:revision>
  <cp:lastPrinted>2010-11-08T15:11:20Z</cp:lastPrinted>
  <dcterms:created xsi:type="dcterms:W3CDTF">2011-01-19T22:00:20Z</dcterms:created>
  <dcterms:modified xsi:type="dcterms:W3CDTF">2020-10-20T11:48:02Z</dcterms:modified>
</cp:coreProperties>
</file>