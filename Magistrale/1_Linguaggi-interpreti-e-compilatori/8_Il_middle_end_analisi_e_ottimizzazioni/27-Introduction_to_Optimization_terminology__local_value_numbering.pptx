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trictFirstAndLastChars="0" saveSubsetFonts="1" autoCompressPictures="0">
  <p:sldMasterIdLst>
    <p:sldMasterId id="2147483648" r:id="rId1"/>
  </p:sldMasterIdLst>
  <p:notesMasterIdLst>
    <p:notesMasterId r:id="rId14"/>
  </p:notesMasterIdLst>
  <p:handoutMasterIdLst>
    <p:handoutMasterId r:id="rId15"/>
  </p:handout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omic Sans MS" panose="030F0702030302020204" pitchFamily="66" charset="0"/>
        <a:ea typeface="ヒラギノ角ゴ Pro W3"/>
        <a:cs typeface="ヒラギノ角ゴ Pro W3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omic Sans MS" panose="030F0702030302020204" pitchFamily="66" charset="0"/>
        <a:ea typeface="ヒラギノ角ゴ Pro W3"/>
        <a:cs typeface="ヒラギノ角ゴ Pro W3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omic Sans MS" panose="030F0702030302020204" pitchFamily="66" charset="0"/>
        <a:ea typeface="ヒラギノ角ゴ Pro W3"/>
        <a:cs typeface="ヒラギノ角ゴ Pro W3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omic Sans MS" panose="030F0702030302020204" pitchFamily="66" charset="0"/>
        <a:ea typeface="ヒラギノ角ゴ Pro W3"/>
        <a:cs typeface="ヒラギノ角ゴ Pro W3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omic Sans MS" panose="030F0702030302020204" pitchFamily="66" charset="0"/>
        <a:ea typeface="ヒラギノ角ゴ Pro W3"/>
        <a:cs typeface="ヒラギノ角ゴ Pro W3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omic Sans MS" panose="030F0702030302020204" pitchFamily="66" charset="0"/>
        <a:ea typeface="ヒラギノ角ゴ Pro W3"/>
        <a:cs typeface="ヒラギノ角ゴ Pro W3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omic Sans MS" panose="030F0702030302020204" pitchFamily="66" charset="0"/>
        <a:ea typeface="ヒラギノ角ゴ Pro W3"/>
        <a:cs typeface="ヒラギノ角ゴ Pro W3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omic Sans MS" panose="030F0702030302020204" pitchFamily="66" charset="0"/>
        <a:ea typeface="ヒラギノ角ゴ Pro W3"/>
        <a:cs typeface="ヒラギノ角ゴ Pro W3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omic Sans MS" panose="030F0702030302020204" pitchFamily="66" charset="0"/>
        <a:ea typeface="ヒラギノ角ゴ Pro W3"/>
        <a:cs typeface="ヒラギノ角ゴ Pro W3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clrMru>
    <a:srgbClr val="B025A6"/>
    <a:srgbClr val="FF0065"/>
    <a:srgbClr val="003C7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1199" autoAdjust="0"/>
    <p:restoredTop sz="90929"/>
  </p:normalViewPr>
  <p:slideViewPr>
    <p:cSldViewPr>
      <p:cViewPr varScale="1">
        <p:scale>
          <a:sx n="97" d="100"/>
          <a:sy n="97" d="100"/>
        </p:scale>
        <p:origin x="-90" y="-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140D56C-9519-43AC-BEA5-DAE4F3833E6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0" hangingPunct="0">
              <a:defRPr sz="1200">
                <a:latin typeface="Comic Sans MS" charset="0"/>
                <a:ea typeface="ヒラギノ角ゴ Pro W3" charset="-128"/>
                <a:cs typeface="ヒラギノ角ゴ Pro W3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FAA7834-F0AC-40A5-ACD6-868F443D428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0" hangingPunct="0">
              <a:defRPr sz="1200" smtClean="0">
                <a:latin typeface="Comic Sans MS" charset="0"/>
                <a:ea typeface="ヒラギノ角ゴ Pro W3" charset="-128"/>
                <a:cs typeface="ヒラギノ角ゴ Pro W3" charset="-128"/>
              </a:defRPr>
            </a:lvl1pPr>
          </a:lstStyle>
          <a:p>
            <a:pPr>
              <a:defRPr/>
            </a:pPr>
            <a:fld id="{93A1903B-00BD-40C6-B0D2-7D2A48C30246}" type="datetimeFigureOut">
              <a:rPr lang="en-US"/>
              <a:pPr>
                <a:defRPr/>
              </a:pPr>
              <a:t>10/20/2020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A14A5C-7EC2-4B13-8AD5-67766907B45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0" hangingPunct="0">
              <a:defRPr sz="1200">
                <a:latin typeface="Comic Sans MS" charset="0"/>
                <a:ea typeface="ヒラギノ角ゴ Pro W3" charset="-128"/>
                <a:cs typeface="ヒラギノ角ゴ Pro W3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374FBDB-BE08-49E7-893A-A2DA05B7BAD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0" hangingPunct="0">
              <a:defRPr sz="1200"/>
            </a:lvl1pPr>
          </a:lstStyle>
          <a:p>
            <a:fld id="{352C6C69-C26B-4933-A783-23D9442BC9DC}" type="slidenum">
              <a:rPr lang="en-US" altLang="it-IT"/>
              <a:pPr/>
              <a:t>‹N›</a:t>
            </a:fld>
            <a:endParaRPr lang="en-US" altLang="it-IT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425E8A7B-F8EE-4F9A-9BE1-1D52D6945D82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0" hangingPunct="0">
              <a:defRPr sz="1200">
                <a:latin typeface="Comic Sans MS" charset="0"/>
                <a:ea typeface="ヒラギノ角ゴ Pro W3" charset="-128"/>
                <a:cs typeface="ヒラギノ角ゴ Pro W3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099" name="Rectangle 3">
            <a:extLst>
              <a:ext uri="{FF2B5EF4-FFF2-40B4-BE49-F238E27FC236}">
                <a16:creationId xmlns:a16="http://schemas.microsoft.com/office/drawing/2014/main" id="{D4C4E2A2-5B48-4E8F-80EE-8729A07B5467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sz="1200">
                <a:latin typeface="Comic Sans MS" charset="0"/>
                <a:ea typeface="ヒラギノ角ゴ Pro W3" charset="-128"/>
                <a:cs typeface="ヒラギノ角ゴ Pro W3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3316" name="Rectangle 4">
            <a:extLst>
              <a:ext uri="{FF2B5EF4-FFF2-40B4-BE49-F238E27FC236}">
                <a16:creationId xmlns:a16="http://schemas.microsoft.com/office/drawing/2014/main" id="{2E2B7F0B-33C4-45AF-9F01-FF5B7303D634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101" name="Rectangle 5">
            <a:extLst>
              <a:ext uri="{FF2B5EF4-FFF2-40B4-BE49-F238E27FC236}">
                <a16:creationId xmlns:a16="http://schemas.microsoft.com/office/drawing/2014/main" id="{033E48DF-C502-43CC-8469-AD6924563804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102" name="Rectangle 6">
            <a:extLst>
              <a:ext uri="{FF2B5EF4-FFF2-40B4-BE49-F238E27FC236}">
                <a16:creationId xmlns:a16="http://schemas.microsoft.com/office/drawing/2014/main" id="{758A1F5F-1A86-435E-A190-0B6EDFD353D5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0" hangingPunct="0">
              <a:defRPr sz="1200">
                <a:latin typeface="Comic Sans MS" charset="0"/>
                <a:ea typeface="ヒラギノ角ゴ Pro W3" charset="-128"/>
                <a:cs typeface="ヒラギノ角ゴ Pro W3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103" name="Rectangle 7">
            <a:extLst>
              <a:ext uri="{FF2B5EF4-FFF2-40B4-BE49-F238E27FC236}">
                <a16:creationId xmlns:a16="http://schemas.microsoft.com/office/drawing/2014/main" id="{41E1B4D9-3F0B-4EC4-9D57-CB980B6F8AA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0" hangingPunct="0">
              <a:defRPr sz="1200"/>
            </a:lvl1pPr>
          </a:lstStyle>
          <a:p>
            <a:fld id="{BFCEEB73-17EA-4EFA-AFD3-2480083D737F}" type="slidenum">
              <a:rPr lang="en-US" altLang="it-IT"/>
              <a:pPr/>
              <a:t>‹N›</a:t>
            </a:fld>
            <a:endParaRPr lang="en-US" altLang="it-IT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ヒラギノ角ゴ Pro W3" charset="-128"/>
        <a:cs typeface="ヒラギノ角ゴ Pro W3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ヒラギノ角ゴ Pro W3" charset="-128"/>
        <a:cs typeface="ヒラギノ角ゴ Pro W3" charset="-128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ヒラギノ角ゴ Pro W3" charset="-128"/>
        <a:cs typeface="ヒラギノ角ゴ Pro W3" charset="-128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ヒラギノ角ゴ Pro W3" charset="-128"/>
        <a:cs typeface="ヒラギノ角ゴ Pro W3" charset="-128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ヒラギノ角ゴ Pro W3" charset="-128"/>
        <a:cs typeface="ヒラギノ角ゴ Pro W3" charset="-128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7">
            <a:extLst>
              <a:ext uri="{FF2B5EF4-FFF2-40B4-BE49-F238E27FC236}">
                <a16:creationId xmlns:a16="http://schemas.microsoft.com/office/drawing/2014/main" id="{1D3FFE36-176E-4D4A-B6BB-09E034E1A9B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C17D8866-A84E-4930-849C-19D61C8855C2}" type="slidenum">
              <a:rPr lang="en-US" altLang="it-IT"/>
              <a:pPr/>
              <a:t>0</a:t>
            </a:fld>
            <a:endParaRPr lang="en-US" altLang="it-IT"/>
          </a:p>
        </p:txBody>
      </p:sp>
      <p:sp>
        <p:nvSpPr>
          <p:cNvPr id="16386" name="Rectangle 2">
            <a:extLst>
              <a:ext uri="{FF2B5EF4-FFF2-40B4-BE49-F238E27FC236}">
                <a16:creationId xmlns:a16="http://schemas.microsoft.com/office/drawing/2014/main" id="{555F1302-9325-42E2-97F1-B73F6A81CCD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387" name="Rectangle 3">
            <a:extLst>
              <a:ext uri="{FF2B5EF4-FFF2-40B4-BE49-F238E27FC236}">
                <a16:creationId xmlns:a16="http://schemas.microsoft.com/office/drawing/2014/main" id="{380891EF-40B4-4165-9110-A5335DDEEFB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GB" altLang="it-IT">
              <a:latin typeface="Arial" panose="020B0604020202020204" pitchFamily="34" charset="0"/>
              <a:ea typeface="ヒラギノ角ゴ Pro W3"/>
              <a:cs typeface="ヒラギノ角ゴ Pro W3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Rectangle 7">
            <a:extLst>
              <a:ext uri="{FF2B5EF4-FFF2-40B4-BE49-F238E27FC236}">
                <a16:creationId xmlns:a16="http://schemas.microsoft.com/office/drawing/2014/main" id="{6B8FEDBA-6A54-4E3D-8422-6474998F316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B38E5B27-8CAD-4387-820C-3B40D67F28AC}" type="slidenum">
              <a:rPr lang="en-US" altLang="it-IT"/>
              <a:pPr/>
              <a:t>1</a:t>
            </a:fld>
            <a:endParaRPr lang="en-US" altLang="it-IT"/>
          </a:p>
        </p:txBody>
      </p:sp>
      <p:sp>
        <p:nvSpPr>
          <p:cNvPr id="18434" name="Rectangle 2">
            <a:extLst>
              <a:ext uri="{FF2B5EF4-FFF2-40B4-BE49-F238E27FC236}">
                <a16:creationId xmlns:a16="http://schemas.microsoft.com/office/drawing/2014/main" id="{5ABFA76A-4AD6-4D88-959E-B6E928240EFC}"/>
              </a:ext>
            </a:extLst>
          </p:cNvPr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18435" name="Rectangle 3">
            <a:extLst>
              <a:ext uri="{FF2B5EF4-FFF2-40B4-BE49-F238E27FC236}">
                <a16:creationId xmlns:a16="http://schemas.microsoft.com/office/drawing/2014/main" id="{BF388DFD-5C46-4EA5-B038-6389E744124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GB" altLang="it-IT">
              <a:latin typeface="Arial" panose="020B0604020202020204" pitchFamily="34" charset="0"/>
              <a:ea typeface="ヒラギノ角ゴ Pro W3"/>
              <a:cs typeface="ヒラギノ角ゴ Pro W3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Rectangle 7">
            <a:extLst>
              <a:ext uri="{FF2B5EF4-FFF2-40B4-BE49-F238E27FC236}">
                <a16:creationId xmlns:a16="http://schemas.microsoft.com/office/drawing/2014/main" id="{FDB76404-EA5F-41DD-8EF8-7A1AD11699D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490C4B53-BDD1-4EB1-9148-D067D5DE1F64}" type="slidenum">
              <a:rPr lang="en-US" altLang="it-IT"/>
              <a:pPr/>
              <a:t>2</a:t>
            </a:fld>
            <a:endParaRPr lang="en-US" altLang="it-IT"/>
          </a:p>
        </p:txBody>
      </p:sp>
      <p:sp>
        <p:nvSpPr>
          <p:cNvPr id="20482" name="Rectangle 2">
            <a:extLst>
              <a:ext uri="{FF2B5EF4-FFF2-40B4-BE49-F238E27FC236}">
                <a16:creationId xmlns:a16="http://schemas.microsoft.com/office/drawing/2014/main" id="{D65CD587-BDAC-4ACC-8918-0389151D5340}"/>
              </a:ext>
            </a:extLst>
          </p:cNvPr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20483" name="Rectangle 3">
            <a:extLst>
              <a:ext uri="{FF2B5EF4-FFF2-40B4-BE49-F238E27FC236}">
                <a16:creationId xmlns:a16="http://schemas.microsoft.com/office/drawing/2014/main" id="{6A4AA1D8-00FA-4F5C-983A-DD08F4C80C1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GB" altLang="it-IT">
              <a:latin typeface="Arial" panose="020B0604020202020204" pitchFamily="34" charset="0"/>
              <a:ea typeface="ヒラギノ角ゴ Pro W3"/>
              <a:cs typeface="ヒラギノ角ゴ Pro W3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7">
            <a:extLst>
              <a:ext uri="{FF2B5EF4-FFF2-40B4-BE49-F238E27FC236}">
                <a16:creationId xmlns:a16="http://schemas.microsoft.com/office/drawing/2014/main" id="{255EB2ED-2D70-4A0D-87CB-1954BA43119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87FB38D4-708B-46A3-87DA-6EDC13BBDC5F}" type="slidenum">
              <a:rPr lang="en-US" altLang="it-IT"/>
              <a:pPr/>
              <a:t>3</a:t>
            </a:fld>
            <a:endParaRPr lang="en-US" altLang="it-IT"/>
          </a:p>
        </p:txBody>
      </p:sp>
      <p:sp>
        <p:nvSpPr>
          <p:cNvPr id="22530" name="Rectangle 2">
            <a:extLst>
              <a:ext uri="{FF2B5EF4-FFF2-40B4-BE49-F238E27FC236}">
                <a16:creationId xmlns:a16="http://schemas.microsoft.com/office/drawing/2014/main" id="{E3634E92-89B4-4645-AE09-048C657A8680}"/>
              </a:ext>
            </a:extLst>
          </p:cNvPr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22531" name="Rectangle 3">
            <a:extLst>
              <a:ext uri="{FF2B5EF4-FFF2-40B4-BE49-F238E27FC236}">
                <a16:creationId xmlns:a16="http://schemas.microsoft.com/office/drawing/2014/main" id="{BE040A78-9208-4D27-BDFB-449ABB35CA9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GB" altLang="it-IT">
              <a:latin typeface="Arial" panose="020B0604020202020204" pitchFamily="34" charset="0"/>
              <a:ea typeface="ヒラギノ角ゴ Pro W3"/>
              <a:cs typeface="ヒラギノ角ゴ Pro W3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Rectangle 7">
            <a:extLst>
              <a:ext uri="{FF2B5EF4-FFF2-40B4-BE49-F238E27FC236}">
                <a16:creationId xmlns:a16="http://schemas.microsoft.com/office/drawing/2014/main" id="{CB9E59B5-A209-45A5-A359-42B39603AC0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65A040AD-615F-4B58-A959-7745FE1AC14E}" type="slidenum">
              <a:rPr lang="en-US" altLang="it-IT"/>
              <a:pPr/>
              <a:t>4</a:t>
            </a:fld>
            <a:endParaRPr lang="en-US" altLang="it-IT"/>
          </a:p>
        </p:txBody>
      </p:sp>
      <p:sp>
        <p:nvSpPr>
          <p:cNvPr id="24578" name="Rectangle 2">
            <a:extLst>
              <a:ext uri="{FF2B5EF4-FFF2-40B4-BE49-F238E27FC236}">
                <a16:creationId xmlns:a16="http://schemas.microsoft.com/office/drawing/2014/main" id="{8D483385-C5AE-4710-A432-3AA02EEDB52D}"/>
              </a:ext>
            </a:extLst>
          </p:cNvPr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24579" name="Rectangle 3">
            <a:extLst>
              <a:ext uri="{FF2B5EF4-FFF2-40B4-BE49-F238E27FC236}">
                <a16:creationId xmlns:a16="http://schemas.microsoft.com/office/drawing/2014/main" id="{A53046EF-2885-4EA4-AB55-1CEABA5E6A9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GB" altLang="it-IT">
              <a:latin typeface="Arial" panose="020B0604020202020204" pitchFamily="34" charset="0"/>
              <a:ea typeface="ヒラギノ角ゴ Pro W3"/>
              <a:cs typeface="ヒラギノ角ゴ Pro W3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Rectangle 7">
            <a:extLst>
              <a:ext uri="{FF2B5EF4-FFF2-40B4-BE49-F238E27FC236}">
                <a16:creationId xmlns:a16="http://schemas.microsoft.com/office/drawing/2014/main" id="{0FF22483-D2EF-42E3-9FD5-2549B711A38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B7DF516F-1D82-413D-BD0B-292F1FF63A0B}" type="slidenum">
              <a:rPr lang="en-US" altLang="it-IT"/>
              <a:pPr/>
              <a:t>5</a:t>
            </a:fld>
            <a:endParaRPr lang="en-US" altLang="it-IT"/>
          </a:p>
        </p:txBody>
      </p:sp>
      <p:sp>
        <p:nvSpPr>
          <p:cNvPr id="26626" name="Rectangle 2">
            <a:extLst>
              <a:ext uri="{FF2B5EF4-FFF2-40B4-BE49-F238E27FC236}">
                <a16:creationId xmlns:a16="http://schemas.microsoft.com/office/drawing/2014/main" id="{35178625-239F-4198-91AA-33247508AD70}"/>
              </a:ext>
            </a:extLst>
          </p:cNvPr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26627" name="Rectangle 3">
            <a:extLst>
              <a:ext uri="{FF2B5EF4-FFF2-40B4-BE49-F238E27FC236}">
                <a16:creationId xmlns:a16="http://schemas.microsoft.com/office/drawing/2014/main" id="{1B265C14-C90E-41CA-94F0-EEF86B8E658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GB" altLang="it-IT">
              <a:latin typeface="Arial" panose="020B0604020202020204" pitchFamily="34" charset="0"/>
              <a:ea typeface="ヒラギノ角ゴ Pro W3"/>
              <a:cs typeface="ヒラギノ角ゴ Pro W3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Rectangle 7">
            <a:extLst>
              <a:ext uri="{FF2B5EF4-FFF2-40B4-BE49-F238E27FC236}">
                <a16:creationId xmlns:a16="http://schemas.microsoft.com/office/drawing/2014/main" id="{07421643-7FA3-4D5C-82C1-957F8B376F3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9F6A4B4C-4203-484B-BEE9-814DC1A47BE9}" type="slidenum">
              <a:rPr lang="en-US" altLang="it-IT"/>
              <a:pPr/>
              <a:t>6</a:t>
            </a:fld>
            <a:endParaRPr lang="en-US" altLang="it-IT"/>
          </a:p>
        </p:txBody>
      </p:sp>
      <p:sp>
        <p:nvSpPr>
          <p:cNvPr id="28674" name="Rectangle 2">
            <a:extLst>
              <a:ext uri="{FF2B5EF4-FFF2-40B4-BE49-F238E27FC236}">
                <a16:creationId xmlns:a16="http://schemas.microsoft.com/office/drawing/2014/main" id="{22CA6850-9BC6-4734-A855-32D77E932844}"/>
              </a:ext>
            </a:extLst>
          </p:cNvPr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28675" name="Rectangle 3">
            <a:extLst>
              <a:ext uri="{FF2B5EF4-FFF2-40B4-BE49-F238E27FC236}">
                <a16:creationId xmlns:a16="http://schemas.microsoft.com/office/drawing/2014/main" id="{F0F908AB-8186-4D52-9316-9A739CE8A25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GB" altLang="it-IT">
              <a:latin typeface="Arial" panose="020B0604020202020204" pitchFamily="34" charset="0"/>
              <a:ea typeface="ヒラギノ角ゴ Pro W3"/>
              <a:cs typeface="ヒラギノ角ゴ Pro W3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1" name="Rectangle 7">
            <a:extLst>
              <a:ext uri="{FF2B5EF4-FFF2-40B4-BE49-F238E27FC236}">
                <a16:creationId xmlns:a16="http://schemas.microsoft.com/office/drawing/2014/main" id="{D4131114-C1D8-4FE8-8093-A534571BF99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69D4CD48-3F3D-4553-B6BF-81EA8BFAD562}" type="slidenum">
              <a:rPr lang="en-US" altLang="it-IT"/>
              <a:pPr/>
              <a:t>7</a:t>
            </a:fld>
            <a:endParaRPr lang="en-US" altLang="it-IT"/>
          </a:p>
        </p:txBody>
      </p:sp>
      <p:sp>
        <p:nvSpPr>
          <p:cNvPr id="30722" name="Rectangle 2">
            <a:extLst>
              <a:ext uri="{FF2B5EF4-FFF2-40B4-BE49-F238E27FC236}">
                <a16:creationId xmlns:a16="http://schemas.microsoft.com/office/drawing/2014/main" id="{EC4DC257-114A-4514-A953-4DC95E072E1D}"/>
              </a:ext>
            </a:extLst>
          </p:cNvPr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30723" name="Rectangle 3">
            <a:extLst>
              <a:ext uri="{FF2B5EF4-FFF2-40B4-BE49-F238E27FC236}">
                <a16:creationId xmlns:a16="http://schemas.microsoft.com/office/drawing/2014/main" id="{86ECF68C-959C-4C19-B327-EC37AD0BCB0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GB" altLang="it-IT">
              <a:latin typeface="Arial" panose="020B0604020202020204" pitchFamily="34" charset="0"/>
              <a:ea typeface="ヒラギノ角ゴ Pro W3"/>
              <a:cs typeface="ヒラギノ角ゴ Pro W3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9" name="Rectangle 7">
            <a:extLst>
              <a:ext uri="{FF2B5EF4-FFF2-40B4-BE49-F238E27FC236}">
                <a16:creationId xmlns:a16="http://schemas.microsoft.com/office/drawing/2014/main" id="{7A755F9E-E867-4A2D-BC51-29B0C131E06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EB047FA0-6186-483E-8C29-03B175FE42E9}" type="slidenum">
              <a:rPr lang="en-US" altLang="it-IT"/>
              <a:pPr/>
              <a:t>8</a:t>
            </a:fld>
            <a:endParaRPr lang="en-US" altLang="it-IT"/>
          </a:p>
        </p:txBody>
      </p:sp>
      <p:sp>
        <p:nvSpPr>
          <p:cNvPr id="32770" name="Rectangle 2">
            <a:extLst>
              <a:ext uri="{FF2B5EF4-FFF2-40B4-BE49-F238E27FC236}">
                <a16:creationId xmlns:a16="http://schemas.microsoft.com/office/drawing/2014/main" id="{5AB319EA-0B5A-423F-93CD-91E5614BE6C6}"/>
              </a:ext>
            </a:extLst>
          </p:cNvPr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32771" name="Rectangle 3">
            <a:extLst>
              <a:ext uri="{FF2B5EF4-FFF2-40B4-BE49-F238E27FC236}">
                <a16:creationId xmlns:a16="http://schemas.microsoft.com/office/drawing/2014/main" id="{BECF0D36-BEB6-4E32-94D9-173E888B28A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GB" altLang="it-IT">
              <a:latin typeface="Arial" panose="020B0604020202020204" pitchFamily="34" charset="0"/>
              <a:ea typeface="ヒラギノ角ゴ Pro W3"/>
              <a:cs typeface="ヒラギノ角ゴ Pro W3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7" name="Rectangle 7">
            <a:extLst>
              <a:ext uri="{FF2B5EF4-FFF2-40B4-BE49-F238E27FC236}">
                <a16:creationId xmlns:a16="http://schemas.microsoft.com/office/drawing/2014/main" id="{D2D08B6E-8867-4779-AE59-AC95FCDCA65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687FB02A-EC92-4A5B-AAC9-9EF943F42E03}" type="slidenum">
              <a:rPr lang="en-US" altLang="it-IT"/>
              <a:pPr/>
              <a:t>9</a:t>
            </a:fld>
            <a:endParaRPr lang="en-US" altLang="it-IT"/>
          </a:p>
        </p:txBody>
      </p:sp>
      <p:sp>
        <p:nvSpPr>
          <p:cNvPr id="34818" name="Rectangle 2">
            <a:extLst>
              <a:ext uri="{FF2B5EF4-FFF2-40B4-BE49-F238E27FC236}">
                <a16:creationId xmlns:a16="http://schemas.microsoft.com/office/drawing/2014/main" id="{08B9C5CF-E11F-4D93-9439-DC1D0F5F1FAB}"/>
              </a:ext>
            </a:extLst>
          </p:cNvPr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34819" name="Rectangle 3">
            <a:extLst>
              <a:ext uri="{FF2B5EF4-FFF2-40B4-BE49-F238E27FC236}">
                <a16:creationId xmlns:a16="http://schemas.microsoft.com/office/drawing/2014/main" id="{B44DDE63-21AD-4263-BD2A-B1E58D73DF3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GB" altLang="it-IT">
              <a:latin typeface="Arial" panose="020B0604020202020204" pitchFamily="34" charset="0"/>
              <a:ea typeface="ヒラギノ角ゴ Pro W3"/>
              <a:cs typeface="ヒラギノ角ゴ Pro W3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5" name="Rectangle 7">
            <a:extLst>
              <a:ext uri="{FF2B5EF4-FFF2-40B4-BE49-F238E27FC236}">
                <a16:creationId xmlns:a16="http://schemas.microsoft.com/office/drawing/2014/main" id="{CD6455A3-34A8-42BB-9AB4-765011F2185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8C7106BE-FC9C-43E4-8A8C-8EC1038A88BF}" type="slidenum">
              <a:rPr lang="en-US" altLang="it-IT"/>
              <a:pPr/>
              <a:t>10</a:t>
            </a:fld>
            <a:endParaRPr lang="en-US" altLang="it-IT"/>
          </a:p>
        </p:txBody>
      </p:sp>
      <p:sp>
        <p:nvSpPr>
          <p:cNvPr id="36866" name="Rectangle 2">
            <a:extLst>
              <a:ext uri="{FF2B5EF4-FFF2-40B4-BE49-F238E27FC236}">
                <a16:creationId xmlns:a16="http://schemas.microsoft.com/office/drawing/2014/main" id="{7639E51C-302D-431E-BC36-7CE440AB004B}"/>
              </a:ext>
            </a:extLst>
          </p:cNvPr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36867" name="Rectangle 3">
            <a:extLst>
              <a:ext uri="{FF2B5EF4-FFF2-40B4-BE49-F238E27FC236}">
                <a16:creationId xmlns:a16="http://schemas.microsoft.com/office/drawing/2014/main" id="{A048FE5B-A834-4920-91DF-A52C3414328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GB" altLang="it-IT">
              <a:latin typeface="Arial" panose="020B0604020202020204" pitchFamily="34" charset="0"/>
              <a:ea typeface="ヒラギノ角ゴ Pro W3"/>
              <a:cs typeface="ヒラギノ角ゴ Pro W3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3" name="Rectangle 7">
            <a:extLst>
              <a:ext uri="{FF2B5EF4-FFF2-40B4-BE49-F238E27FC236}">
                <a16:creationId xmlns:a16="http://schemas.microsoft.com/office/drawing/2014/main" id="{C91EB830-2650-4EE8-9E34-88D8C81A60E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751E8FED-5DBF-43C8-8580-45780A9E2DE0}" type="slidenum">
              <a:rPr lang="en-US" altLang="it-IT"/>
              <a:pPr/>
              <a:t>11</a:t>
            </a:fld>
            <a:endParaRPr lang="en-US" altLang="it-IT"/>
          </a:p>
        </p:txBody>
      </p:sp>
      <p:sp>
        <p:nvSpPr>
          <p:cNvPr id="38914" name="Rectangle 2">
            <a:extLst>
              <a:ext uri="{FF2B5EF4-FFF2-40B4-BE49-F238E27FC236}">
                <a16:creationId xmlns:a16="http://schemas.microsoft.com/office/drawing/2014/main" id="{B76138BD-923F-4F9F-81C5-509F815F74F7}"/>
              </a:ext>
            </a:extLst>
          </p:cNvPr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38915" name="Rectangle 3">
            <a:extLst>
              <a:ext uri="{FF2B5EF4-FFF2-40B4-BE49-F238E27FC236}">
                <a16:creationId xmlns:a16="http://schemas.microsoft.com/office/drawing/2014/main" id="{B584CD5C-7D1E-449D-ABE2-FF07FE119E4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GB" altLang="it-IT">
              <a:latin typeface="Arial" panose="020B0604020202020204" pitchFamily="34" charset="0"/>
              <a:ea typeface="ヒラギノ角ゴ Pro W3"/>
              <a:cs typeface="ヒラギノ角ゴ Pro W3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8EC0CE98-DD1B-488C-A304-502B45DCC12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Comp 412, Fall 2010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C067CAB5-7B82-4184-82E4-63FEDB7B7C84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F41BAD1-0550-4F4B-8DB5-FDBF5CEB6273}" type="slidenum">
              <a:rPr lang="en-US" altLang="it-IT"/>
              <a:pPr/>
              <a:t>‹N›</a:t>
            </a:fld>
            <a:endParaRPr lang="en-US" altLang="it-IT"/>
          </a:p>
        </p:txBody>
      </p:sp>
    </p:spTree>
    <p:extLst>
      <p:ext uri="{BB962C8B-B14F-4D97-AF65-F5344CB8AC3E}">
        <p14:creationId xmlns:p14="http://schemas.microsoft.com/office/powerpoint/2010/main" val="35356544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4C14C8E6-BDCB-4520-81AC-B55A085B632E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Comp 412, Fall 2010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668D197D-E3BE-4302-B71F-1F9D0CB7BDFB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5C1ED6A-85D1-4908-92F7-9F825F25B532}" type="slidenum">
              <a:rPr lang="en-US" altLang="it-IT"/>
              <a:pPr/>
              <a:t>‹N›</a:t>
            </a:fld>
            <a:endParaRPr lang="en-US" altLang="it-IT"/>
          </a:p>
        </p:txBody>
      </p:sp>
    </p:spTree>
    <p:extLst>
      <p:ext uri="{BB962C8B-B14F-4D97-AF65-F5344CB8AC3E}">
        <p14:creationId xmlns:p14="http://schemas.microsoft.com/office/powerpoint/2010/main" val="3655817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CF2C4B1A-F4F9-4A37-BFC4-51C8EE8556F2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Comp 412, Fall 2010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5DE5A11F-7934-4786-9857-A49F67E88C70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47FBBC5-1DB7-4337-8260-C80289FAD17F}" type="slidenum">
              <a:rPr lang="en-US" altLang="it-IT"/>
              <a:pPr/>
              <a:t>‹N›</a:t>
            </a:fld>
            <a:endParaRPr lang="en-US" altLang="it-IT"/>
          </a:p>
        </p:txBody>
      </p:sp>
    </p:spTree>
    <p:extLst>
      <p:ext uri="{BB962C8B-B14F-4D97-AF65-F5344CB8AC3E}">
        <p14:creationId xmlns:p14="http://schemas.microsoft.com/office/powerpoint/2010/main" val="20661906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143000"/>
            <a:ext cx="3810000" cy="4953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143000"/>
            <a:ext cx="3810000" cy="4953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78B2AF3B-0C57-4CF8-B061-E6CD0065A8A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Comp 412, Fall 2010</a:t>
            </a: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CA1688BA-AACF-4311-BFBB-B583963B1F8F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EC665CA-05A0-4E56-837E-F09C9B6976E8}" type="slidenum">
              <a:rPr lang="en-US" altLang="it-IT"/>
              <a:pPr/>
              <a:t>‹N›</a:t>
            </a:fld>
            <a:endParaRPr lang="en-US" altLang="it-IT"/>
          </a:p>
        </p:txBody>
      </p:sp>
    </p:spTree>
    <p:extLst>
      <p:ext uri="{BB962C8B-B14F-4D97-AF65-F5344CB8AC3E}">
        <p14:creationId xmlns:p14="http://schemas.microsoft.com/office/powerpoint/2010/main" val="27556062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E4847880-1527-4124-B757-00BDFFD3DC39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Comp 412, Fall 2010</a:t>
            </a:r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id="{53940BD3-0983-4504-BD4F-01A14144403E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3CA4C05-49BA-44BC-9DAD-4345BFA92587}" type="slidenum">
              <a:rPr lang="en-US" altLang="it-IT"/>
              <a:pPr/>
              <a:t>‹N›</a:t>
            </a:fld>
            <a:endParaRPr lang="en-US" altLang="it-IT"/>
          </a:p>
        </p:txBody>
      </p:sp>
    </p:spTree>
    <p:extLst>
      <p:ext uri="{BB962C8B-B14F-4D97-AF65-F5344CB8AC3E}">
        <p14:creationId xmlns:p14="http://schemas.microsoft.com/office/powerpoint/2010/main" val="22744962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ED235D63-68F4-4571-9E3F-B963E3BA29B7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Comp 412, Fall 2010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B2440CC4-A4A6-4679-A481-17B24C45414C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AD31D20-95B6-4BC6-B2DE-CD5304CA5D35}" type="slidenum">
              <a:rPr lang="en-US" altLang="it-IT"/>
              <a:pPr/>
              <a:t>‹N›</a:t>
            </a:fld>
            <a:endParaRPr lang="en-US" altLang="it-IT"/>
          </a:p>
        </p:txBody>
      </p:sp>
    </p:spTree>
    <p:extLst>
      <p:ext uri="{BB962C8B-B14F-4D97-AF65-F5344CB8AC3E}">
        <p14:creationId xmlns:p14="http://schemas.microsoft.com/office/powerpoint/2010/main" val="33078662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>
            <a:extLst>
              <a:ext uri="{FF2B5EF4-FFF2-40B4-BE49-F238E27FC236}">
                <a16:creationId xmlns:a16="http://schemas.microsoft.com/office/drawing/2014/main" id="{07547BDB-B8C1-4AD1-8B79-8831286F500D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Comp 412, Fall 2010</a:t>
            </a:r>
          </a:p>
        </p:txBody>
      </p:sp>
      <p:sp>
        <p:nvSpPr>
          <p:cNvPr id="3" name="Rectangle 6">
            <a:extLst>
              <a:ext uri="{FF2B5EF4-FFF2-40B4-BE49-F238E27FC236}">
                <a16:creationId xmlns:a16="http://schemas.microsoft.com/office/drawing/2014/main" id="{85640CB9-62C5-4E4C-A7ED-02518CB0C7CD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7CB526C-96C9-49FB-9C09-6035FDE06A1D}" type="slidenum">
              <a:rPr lang="en-US" altLang="it-IT"/>
              <a:pPr/>
              <a:t>‹N›</a:t>
            </a:fld>
            <a:endParaRPr lang="en-US" altLang="it-IT"/>
          </a:p>
        </p:txBody>
      </p:sp>
    </p:spTree>
    <p:extLst>
      <p:ext uri="{BB962C8B-B14F-4D97-AF65-F5344CB8AC3E}">
        <p14:creationId xmlns:p14="http://schemas.microsoft.com/office/powerpoint/2010/main" val="36370573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C14CE5BB-C6FE-4A23-A0CC-D9340F395571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Comp 412, Fall 2010</a:t>
            </a: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6CBA3E39-A860-44F6-B106-E40F3BC759FF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8B333D2-9447-4D54-B14E-6A693842A938}" type="slidenum">
              <a:rPr lang="en-US" altLang="it-IT"/>
              <a:pPr/>
              <a:t>‹N›</a:t>
            </a:fld>
            <a:endParaRPr lang="en-US" altLang="it-IT"/>
          </a:p>
        </p:txBody>
      </p:sp>
    </p:spTree>
    <p:extLst>
      <p:ext uri="{BB962C8B-B14F-4D97-AF65-F5344CB8AC3E}">
        <p14:creationId xmlns:p14="http://schemas.microsoft.com/office/powerpoint/2010/main" val="13996233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8E1F573D-A81E-4C49-90EE-16D7AE287D6B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Comp 412, Fall 2010</a:t>
            </a: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3099787F-BE3A-4C68-8D36-57D26D2634D7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7E82506-C2B9-44BE-ABD7-2CC0EC0C86EE}" type="slidenum">
              <a:rPr lang="en-US" altLang="it-IT"/>
              <a:pPr/>
              <a:t>‹N›</a:t>
            </a:fld>
            <a:endParaRPr lang="en-US" altLang="it-IT"/>
          </a:p>
        </p:txBody>
      </p:sp>
    </p:spTree>
    <p:extLst>
      <p:ext uri="{BB962C8B-B14F-4D97-AF65-F5344CB8AC3E}">
        <p14:creationId xmlns:p14="http://schemas.microsoft.com/office/powerpoint/2010/main" val="11791254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E046B44D-619B-49E6-8D16-D701F294C0FB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Comp 412, Fall 2010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E26C514A-CF6B-4B34-BDEC-248D742A4BB2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1EEB495-054F-4467-B20E-CE8E0991E4B8}" type="slidenum">
              <a:rPr lang="en-US" altLang="it-IT"/>
              <a:pPr/>
              <a:t>‹N›</a:t>
            </a:fld>
            <a:endParaRPr lang="en-US" altLang="it-IT"/>
          </a:p>
        </p:txBody>
      </p:sp>
    </p:spTree>
    <p:extLst>
      <p:ext uri="{BB962C8B-B14F-4D97-AF65-F5344CB8AC3E}">
        <p14:creationId xmlns:p14="http://schemas.microsoft.com/office/powerpoint/2010/main" val="12323313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533400"/>
            <a:ext cx="1943100" cy="55626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533400"/>
            <a:ext cx="5676900" cy="55626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305C68DC-51DF-4E3F-98DE-20754A50589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Comp 412, Fall 2010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EFA21208-AF70-4E9F-A61C-734006EEB43A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C10B3D6-A1DD-489A-836B-2CDDE06E19F4}" type="slidenum">
              <a:rPr lang="en-US" altLang="it-IT"/>
              <a:pPr/>
              <a:t>‹N›</a:t>
            </a:fld>
            <a:endParaRPr lang="en-US" altLang="it-IT"/>
          </a:p>
        </p:txBody>
      </p:sp>
    </p:spTree>
    <p:extLst>
      <p:ext uri="{BB962C8B-B14F-4D97-AF65-F5344CB8AC3E}">
        <p14:creationId xmlns:p14="http://schemas.microsoft.com/office/powerpoint/2010/main" val="4034817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3692FFC7-1D3D-4424-8FF1-829E4644CE5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533400"/>
            <a:ext cx="77724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it-IT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D9F5F99B-3CE4-4662-AAF0-92140EA2EE2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143000"/>
            <a:ext cx="7772400" cy="495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it-IT"/>
              <a:t>Click to edit Master text styles</a:t>
            </a:r>
          </a:p>
          <a:p>
            <a:pPr lvl="1"/>
            <a:r>
              <a:rPr lang="en-US" altLang="it-IT"/>
              <a:t>Second level</a:t>
            </a:r>
          </a:p>
          <a:p>
            <a:pPr lvl="2"/>
            <a:r>
              <a:rPr lang="en-US" altLang="it-IT"/>
              <a:t>Third level</a:t>
            </a:r>
          </a:p>
          <a:p>
            <a:pPr lvl="3"/>
            <a:r>
              <a:rPr lang="en-US" altLang="it-IT"/>
              <a:t>Fourth level</a:t>
            </a:r>
          </a:p>
          <a:p>
            <a:pPr lvl="4"/>
            <a:r>
              <a:rPr lang="en-US" altLang="it-IT"/>
              <a:t>Fifth level</a:t>
            </a:r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1263C325-FD8E-4095-A950-3CB6D1020B4B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6858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0" hangingPunct="0">
              <a:defRPr sz="1200" smtClean="0">
                <a:latin typeface="Comic Sans MS" charset="0"/>
                <a:ea typeface="ヒラギノ角ゴ Pro W3" charset="-128"/>
                <a:cs typeface="ヒラギノ角ゴ Pro W3" charset="-128"/>
              </a:defRPr>
            </a:lvl1pPr>
          </a:lstStyle>
          <a:p>
            <a:pPr>
              <a:defRPr/>
            </a:pPr>
            <a:r>
              <a:rPr lang="en-US"/>
              <a:t>Comp 412, Fall 2010</a:t>
            </a:r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81387B7C-E0D0-42AF-B5F7-9FD94D65AC8F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sz="1200"/>
            </a:lvl1pPr>
          </a:lstStyle>
          <a:p>
            <a:fld id="{D6EE82ED-C85C-4EF7-B606-041B5A942609}" type="slidenum">
              <a:rPr lang="en-US" altLang="it-IT"/>
              <a:pPr/>
              <a:t>‹N›</a:t>
            </a:fld>
            <a:endParaRPr lang="en-US" altLang="it-IT"/>
          </a:p>
        </p:txBody>
      </p:sp>
      <p:pic>
        <p:nvPicPr>
          <p:cNvPr id="2" name="Picture 7" descr="2007Shield">
            <a:extLst>
              <a:ext uri="{FF2B5EF4-FFF2-40B4-BE49-F238E27FC236}">
                <a16:creationId xmlns:a16="http://schemas.microsoft.com/office/drawing/2014/main" id="{DF99E27B-0650-49DB-BAB1-95D5B5222E5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43800" y="228600"/>
            <a:ext cx="958850" cy="1120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32" name="Line 8">
            <a:extLst>
              <a:ext uri="{FF2B5EF4-FFF2-40B4-BE49-F238E27FC236}">
                <a16:creationId xmlns:a16="http://schemas.microsoft.com/office/drawing/2014/main" id="{DF02D019-9D3B-41BB-B361-56BA43A87914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685800" y="1066800"/>
            <a:ext cx="6858000" cy="0"/>
          </a:xfrm>
          <a:prstGeom prst="line">
            <a:avLst/>
          </a:prstGeom>
          <a:noFill/>
          <a:ln w="57150">
            <a:solidFill>
              <a:srgbClr val="003C75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>
              <a:defRPr/>
            </a:pPr>
            <a:endParaRPr lang="en-US">
              <a:latin typeface="Comic Sans MS" charset="0"/>
              <a:ea typeface="ヒラギノ角ゴ Pro W3" charset="-128"/>
              <a:cs typeface="ヒラギノ角ゴ Pro W3" charset="-128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  <p:sldLayoutId id="2147483658" r:id="rId2"/>
    <p:sldLayoutId id="2147483657" r:id="rId3"/>
    <p:sldLayoutId id="2147483656" r:id="rId4"/>
    <p:sldLayoutId id="2147483655" r:id="rId5"/>
    <p:sldLayoutId id="2147483654" r:id="rId6"/>
    <p:sldLayoutId id="2147483653" r:id="rId7"/>
    <p:sldLayoutId id="2147483652" r:id="rId8"/>
    <p:sldLayoutId id="2147483651" r:id="rId9"/>
    <p:sldLayoutId id="2147483650" r:id="rId10"/>
    <p:sldLayoutId id="2147483649" r:id="rId11"/>
  </p:sldLayoutIdLst>
  <p:hf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Comic Sans MS" charset="0"/>
          <a:ea typeface="ヒラギノ角ゴ Pro W3" charset="-128"/>
          <a:cs typeface="ヒラギノ角ゴ Pro W3" charset="-128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Comic Sans MS" charset="0"/>
          <a:ea typeface="ヒラギノ角ゴ Pro W3" charset="-128"/>
          <a:cs typeface="ヒラギノ角ゴ Pro W3" charset="-128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Comic Sans MS" charset="0"/>
          <a:ea typeface="ヒラギノ角ゴ Pro W3" charset="-128"/>
          <a:cs typeface="ヒラギノ角ゴ Pro W3" charset="-128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Comic Sans MS" charset="0"/>
          <a:ea typeface="ヒラギノ角ゴ Pro W3" charset="-128"/>
          <a:cs typeface="ヒラギノ角ゴ Pro W3" charset="-128"/>
        </a:defRPr>
      </a:lvl5pPr>
      <a:lvl6pPr marL="457200" algn="l" rtl="0" fontAlgn="base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Comic Sans MS" charset="0"/>
          <a:ea typeface="ヒラギノ角ゴ Pro W3" charset="-128"/>
          <a:cs typeface="ヒラギノ角ゴ Pro W3" charset="-128"/>
        </a:defRPr>
      </a:lvl6pPr>
      <a:lvl7pPr marL="914400" algn="l" rtl="0" fontAlgn="base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Comic Sans MS" charset="0"/>
          <a:ea typeface="ヒラギノ角ゴ Pro W3" charset="-128"/>
          <a:cs typeface="ヒラギノ角ゴ Pro W3" charset="-128"/>
        </a:defRPr>
      </a:lvl7pPr>
      <a:lvl8pPr marL="1371600" algn="l" rtl="0" fontAlgn="base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Comic Sans MS" charset="0"/>
          <a:ea typeface="ヒラギノ角ゴ Pro W3" charset="-128"/>
          <a:cs typeface="ヒラギノ角ゴ Pro W3" charset="-128"/>
        </a:defRPr>
      </a:lvl8pPr>
      <a:lvl9pPr marL="1828800" algn="l" rtl="0" fontAlgn="base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Comic Sans MS" charset="0"/>
          <a:ea typeface="ヒラギノ角ゴ Pro W3" charset="-128"/>
          <a:cs typeface="ヒラギノ角ゴ Pro W3" charset="-128"/>
        </a:defRPr>
      </a:lvl9pPr>
    </p:titleStyle>
    <p:bodyStyle>
      <a:lvl1pPr marL="342900" indent="-342900" algn="l" rtl="0" eaLnBrk="0" fontAlgn="base" hangingPunct="0">
        <a:spcBef>
          <a:spcPts val="600"/>
        </a:spcBef>
        <a:spcAft>
          <a:spcPct val="0"/>
        </a:spcAft>
        <a:buClr>
          <a:srgbClr val="003C75"/>
        </a:buClr>
        <a:buSzPct val="120000"/>
        <a:buFont typeface="Times" panose="02020603050405020304" pitchFamily="18" charset="0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ts val="600"/>
        </a:spcBef>
        <a:spcAft>
          <a:spcPct val="0"/>
        </a:spcAft>
        <a:buClr>
          <a:srgbClr val="003C75"/>
        </a:buClr>
        <a:buChar char="—"/>
        <a:defRPr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ts val="600"/>
        </a:spcBef>
        <a:spcAft>
          <a:spcPct val="0"/>
        </a:spcAft>
        <a:buClr>
          <a:srgbClr val="003C75"/>
        </a:buClr>
        <a:buSzPct val="90000"/>
        <a:buFont typeface="Symbol" panose="05050102010706020507" pitchFamily="18" charset="2"/>
        <a:buChar char=""/>
        <a:defRPr sz="16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ts val="300"/>
        </a:spcBef>
        <a:spcAft>
          <a:spcPct val="0"/>
        </a:spcAft>
        <a:buClr>
          <a:srgbClr val="003C75"/>
        </a:buClr>
        <a:buChar char="–"/>
        <a:defRPr sz="16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ts val="300"/>
        </a:spcBef>
        <a:spcAft>
          <a:spcPct val="0"/>
        </a:spcAft>
        <a:buClr>
          <a:srgbClr val="003C75"/>
        </a:buClr>
        <a:buChar char="»"/>
        <a:defRPr sz="16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rgbClr val="003C75"/>
        </a:buClr>
        <a:buChar char="»"/>
        <a:defRPr sz="16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rgbClr val="003C75"/>
        </a:buClr>
        <a:buChar char="»"/>
        <a:defRPr sz="16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rgbClr val="003C75"/>
        </a:buClr>
        <a:buChar char="»"/>
        <a:defRPr sz="16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rgbClr val="003C75"/>
        </a:buClr>
        <a:buChar char="»"/>
        <a:defRPr sz="16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Rectangle 2">
            <a:extLst>
              <a:ext uri="{FF2B5EF4-FFF2-40B4-BE49-F238E27FC236}">
                <a16:creationId xmlns:a16="http://schemas.microsoft.com/office/drawing/2014/main" id="{D66F493E-5CDA-4585-9F14-50FDB5D67D3F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1447800"/>
            <a:ext cx="7772400" cy="1752600"/>
          </a:xfrm>
        </p:spPr>
        <p:txBody>
          <a:bodyPr/>
          <a:lstStyle/>
          <a:p>
            <a:pPr algn="ctr" eaLnBrk="1" hangingPunct="1"/>
            <a:r>
              <a:rPr lang="en-US" altLang="it-IT" sz="3200" i="1"/>
              <a:t>Introduction to Code Optimization</a:t>
            </a:r>
            <a:br>
              <a:rPr lang="en-US" altLang="it-IT" sz="3200" i="1"/>
            </a:br>
            <a:br>
              <a:rPr lang="en-US" altLang="it-IT" sz="2000" i="1"/>
            </a:br>
            <a:r>
              <a:rPr lang="en-US" altLang="it-IT" sz="3200" i="1"/>
              <a:t>Comp 412</a:t>
            </a:r>
          </a:p>
        </p:txBody>
      </p:sp>
      <p:sp>
        <p:nvSpPr>
          <p:cNvPr id="15362" name="Rectangle 3">
            <a:extLst>
              <a:ext uri="{FF2B5EF4-FFF2-40B4-BE49-F238E27FC236}">
                <a16:creationId xmlns:a16="http://schemas.microsoft.com/office/drawing/2014/main" id="{DDEDAABD-ACDC-4676-965A-EE498CBF7E29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762000" y="4953000"/>
            <a:ext cx="7772400" cy="1295400"/>
          </a:xfrm>
          <a:ln w="12700">
            <a:solidFill>
              <a:srgbClr val="003C75"/>
            </a:solidFill>
            <a:miter lim="800000"/>
            <a:headEnd/>
            <a:tailEnd/>
          </a:ln>
        </p:spPr>
        <p:txBody>
          <a:bodyPr/>
          <a:lstStyle/>
          <a:p>
            <a:pPr algn="l" eaLnBrk="1" hangingPunct="1"/>
            <a:r>
              <a:rPr lang="en-US" altLang="it-IT" sz="1400">
                <a:solidFill>
                  <a:srgbClr val="003C75"/>
                </a:solidFill>
              </a:rPr>
              <a:t>Copyright 2010, Keith D. Cooper &amp; Linda Torczon, all rights reserved.</a:t>
            </a:r>
          </a:p>
          <a:p>
            <a:pPr algn="l" eaLnBrk="1" hangingPunct="1"/>
            <a:r>
              <a:rPr lang="en-US" altLang="it-IT" sz="1400">
                <a:solidFill>
                  <a:srgbClr val="003C75"/>
                </a:solidFill>
              </a:rPr>
              <a:t>Students enrolled in Comp 412 at Rice University have explicit permission to make copies of these materials for their personal use.  </a:t>
            </a:r>
          </a:p>
          <a:p>
            <a:pPr algn="l" eaLnBrk="1" hangingPunct="1"/>
            <a:r>
              <a:rPr lang="en-US" altLang="it-IT" sz="1400">
                <a:solidFill>
                  <a:srgbClr val="003C75"/>
                </a:solidFill>
              </a:rPr>
              <a:t>Faculty from other educational institutions may use these materials for nonprofit educational purposes, provided this copyright notice is preserved.</a:t>
            </a:r>
            <a:endParaRPr lang="en-US" altLang="it-IT">
              <a:solidFill>
                <a:srgbClr val="003C75"/>
              </a:solidFill>
            </a:endParaRPr>
          </a:p>
        </p:txBody>
      </p:sp>
      <p:pic>
        <p:nvPicPr>
          <p:cNvPr id="15363" name="Picture 4" descr="2007Logo">
            <a:extLst>
              <a:ext uri="{FF2B5EF4-FFF2-40B4-BE49-F238E27FC236}">
                <a16:creationId xmlns:a16="http://schemas.microsoft.com/office/drawing/2014/main" id="{89224489-2140-4AC5-ACCB-FEAF014436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304800"/>
            <a:ext cx="2330450" cy="949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56" name="Text Box 8">
            <a:extLst>
              <a:ext uri="{FF2B5EF4-FFF2-40B4-BE49-F238E27FC236}">
                <a16:creationId xmlns:a16="http://schemas.microsoft.com/office/drawing/2014/main" id="{2961DE05-5971-45EB-BFCF-3AD9EB08C28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91200" y="381000"/>
            <a:ext cx="2667000" cy="841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r" eaLnBrk="0" hangingPunct="0">
              <a:spcBef>
                <a:spcPct val="5000"/>
              </a:spcBef>
              <a:defRPr/>
            </a:pPr>
            <a:r>
              <a:rPr lang="en-US" sz="2400" dirty="0">
                <a:solidFill>
                  <a:srgbClr val="003C75"/>
                </a:solidFill>
                <a:latin typeface="+mn-lt"/>
                <a:ea typeface="ヒラギノ角ゴ Pro W3" charset="-128"/>
                <a:cs typeface="ヒラギノ角ゴ Pro W3" charset="-128"/>
              </a:rPr>
              <a:t>COMP 412</a:t>
            </a:r>
          </a:p>
          <a:p>
            <a:pPr algn="r" eaLnBrk="0" hangingPunct="0">
              <a:spcBef>
                <a:spcPct val="5000"/>
              </a:spcBef>
              <a:defRPr/>
            </a:pPr>
            <a:r>
              <a:rPr lang="en-US" sz="2400" dirty="0">
                <a:solidFill>
                  <a:srgbClr val="003C75"/>
                </a:solidFill>
                <a:latin typeface="+mn-lt"/>
                <a:ea typeface="ヒラギノ角ゴ Pro W3" charset="-128"/>
                <a:cs typeface="ヒラギノ角ゴ Pro W3" charset="-128"/>
              </a:rPr>
              <a:t>FALL 2010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9F9ED48-A484-43DB-A95B-90ACD0A2C83E}"/>
              </a:ext>
            </a:extLst>
          </p:cNvPr>
          <p:cNvSpPr txBox="1"/>
          <p:nvPr/>
        </p:nvSpPr>
        <p:spPr>
          <a:xfrm>
            <a:off x="6705600" y="4062413"/>
            <a:ext cx="1828800" cy="738187"/>
          </a:xfrm>
          <a:prstGeom prst="rect">
            <a:avLst/>
          </a:prstGeom>
          <a:solidFill>
            <a:schemeClr val="bg1">
              <a:lumMod val="75000"/>
            </a:schemeClr>
          </a:solidFill>
          <a:ln w="19050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>
              <a:srgbClr val="000000">
                <a:alpha val="43000"/>
              </a:srgbClr>
            </a:outerShdw>
          </a:effectLst>
        </p:spPr>
        <p:txBody>
          <a:bodyPr>
            <a:spAutoFit/>
          </a:bodyPr>
          <a:lstStyle/>
          <a:p>
            <a:pPr eaLnBrk="0" hangingPunct="0">
              <a:defRPr/>
            </a:pPr>
            <a:r>
              <a:rPr lang="en-US" sz="1400" dirty="0">
                <a:solidFill>
                  <a:srgbClr val="003C75"/>
                </a:solidFill>
                <a:latin typeface="Comic Sans MS" charset="0"/>
                <a:ea typeface="ヒラギノ角ゴ Pro W3" charset="-128"/>
                <a:cs typeface="ヒラギノ角ゴ Pro W3" charset="-128"/>
              </a:rPr>
              <a:t>This lecture begins the material from Chapter 8 of EaC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Footer Placeholder 1">
            <a:extLst>
              <a:ext uri="{FF2B5EF4-FFF2-40B4-BE49-F238E27FC236}">
                <a16:creationId xmlns:a16="http://schemas.microsoft.com/office/drawing/2014/main" id="{63963002-CB9E-4B47-95BB-2AB59515D23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r>
              <a:rPr lang="en-US" altLang="it-IT"/>
              <a:t>Comp 412, Fall 2010</a:t>
            </a:r>
          </a:p>
        </p:txBody>
      </p:sp>
      <p:sp>
        <p:nvSpPr>
          <p:cNvPr id="17410" name="Slide Number Placeholder 2">
            <a:extLst>
              <a:ext uri="{FF2B5EF4-FFF2-40B4-BE49-F238E27FC236}">
                <a16:creationId xmlns:a16="http://schemas.microsoft.com/office/drawing/2014/main" id="{2E8267BC-678B-489F-8243-C36A59EC54D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386F9800-D890-43F0-8780-DDC47B247F36}" type="slidenum">
              <a:rPr lang="en-US" altLang="it-IT"/>
              <a:pPr/>
              <a:t>1</a:t>
            </a:fld>
            <a:endParaRPr lang="en-US" altLang="it-IT"/>
          </a:p>
        </p:txBody>
      </p:sp>
      <p:sp>
        <p:nvSpPr>
          <p:cNvPr id="17411" name="Rectangle 2">
            <a:extLst>
              <a:ext uri="{FF2B5EF4-FFF2-40B4-BE49-F238E27FC236}">
                <a16:creationId xmlns:a16="http://schemas.microsoft.com/office/drawing/2014/main" id="{7BF6F19B-AF7A-49CB-B7AD-2B8798A3B8F8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>
              <a:spcBef>
                <a:spcPct val="100000"/>
              </a:spcBef>
            </a:pPr>
            <a:r>
              <a:rPr lang="en-US" altLang="it-IT"/>
              <a:t>Traditional Three-Phase Compiler</a:t>
            </a:r>
          </a:p>
        </p:txBody>
      </p:sp>
      <p:sp>
        <p:nvSpPr>
          <p:cNvPr id="17412" name="Rectangle 3">
            <a:extLst>
              <a:ext uri="{FF2B5EF4-FFF2-40B4-BE49-F238E27FC236}">
                <a16:creationId xmlns:a16="http://schemas.microsoft.com/office/drawing/2014/main" id="{E4F07676-C20F-4AB9-B4AF-74EB43403F9A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>
              <a:spcBef>
                <a:spcPct val="100000"/>
              </a:spcBef>
              <a:buFont typeface="Times" panose="02020603050405020304" pitchFamily="18" charset="0"/>
              <a:buNone/>
            </a:pPr>
            <a:endParaRPr lang="en-US" altLang="it-IT"/>
          </a:p>
          <a:p>
            <a:pPr eaLnBrk="1" hangingPunct="1">
              <a:spcBef>
                <a:spcPct val="100000"/>
              </a:spcBef>
              <a:buFont typeface="Times" panose="02020603050405020304" pitchFamily="18" charset="0"/>
              <a:buNone/>
            </a:pPr>
            <a:endParaRPr lang="en-US" altLang="it-IT"/>
          </a:p>
          <a:p>
            <a:pPr eaLnBrk="1" hangingPunct="1">
              <a:spcBef>
                <a:spcPct val="100000"/>
              </a:spcBef>
              <a:buFont typeface="Times" panose="02020603050405020304" pitchFamily="18" charset="0"/>
              <a:buNone/>
            </a:pPr>
            <a:endParaRPr lang="en-US" altLang="it-IT"/>
          </a:p>
          <a:p>
            <a:pPr eaLnBrk="1" hangingPunct="1">
              <a:spcBef>
                <a:spcPct val="100000"/>
              </a:spcBef>
              <a:buFont typeface="Times" panose="02020603050405020304" pitchFamily="18" charset="0"/>
              <a:buNone/>
            </a:pPr>
            <a:r>
              <a:rPr lang="en-US" altLang="it-IT">
                <a:solidFill>
                  <a:srgbClr val="003C75"/>
                </a:solidFill>
              </a:rPr>
              <a:t>Optimization (or Code Improvement)</a:t>
            </a:r>
          </a:p>
          <a:p>
            <a:pPr eaLnBrk="1" hangingPunct="1"/>
            <a:r>
              <a:rPr lang="en-US" altLang="it-IT"/>
              <a:t>Analyzes </a:t>
            </a:r>
            <a:r>
              <a:rPr lang="en-US" altLang="it-IT" sz="1800"/>
              <a:t>IR</a:t>
            </a:r>
            <a:r>
              <a:rPr lang="en-US" altLang="it-IT"/>
              <a:t> and rewrites (or </a:t>
            </a:r>
            <a:r>
              <a:rPr lang="en-US" altLang="it-IT" i="1"/>
              <a:t>transforms</a:t>
            </a:r>
            <a:r>
              <a:rPr lang="en-US" altLang="it-IT" sz="800" i="1"/>
              <a:t> </a:t>
            </a:r>
            <a:r>
              <a:rPr lang="en-US" altLang="it-IT"/>
              <a:t>) </a:t>
            </a:r>
            <a:r>
              <a:rPr lang="en-US" altLang="it-IT" sz="1800"/>
              <a:t>IR</a:t>
            </a:r>
            <a:endParaRPr lang="en-US" altLang="it-IT"/>
          </a:p>
          <a:p>
            <a:pPr eaLnBrk="1" hangingPunct="1"/>
            <a:r>
              <a:rPr lang="en-US" altLang="it-IT"/>
              <a:t>Primary goal is to reduce running time of the compiled code</a:t>
            </a:r>
          </a:p>
          <a:p>
            <a:pPr lvl="1" eaLnBrk="1" hangingPunct="1"/>
            <a:r>
              <a:rPr lang="en-US" altLang="it-IT"/>
              <a:t>May also improve space, power consumption, …</a:t>
            </a:r>
          </a:p>
          <a:p>
            <a:pPr eaLnBrk="1" hangingPunct="1"/>
            <a:r>
              <a:rPr lang="en-US" altLang="it-IT"/>
              <a:t>Must preserve “meaning” of the code</a:t>
            </a:r>
          </a:p>
          <a:p>
            <a:pPr lvl="1" eaLnBrk="1" hangingPunct="1"/>
            <a:r>
              <a:rPr lang="en-US" altLang="it-IT"/>
              <a:t>Measured by values of named variables</a:t>
            </a:r>
          </a:p>
          <a:p>
            <a:pPr lvl="1" eaLnBrk="1" hangingPunct="1"/>
            <a:r>
              <a:rPr lang="en-US" altLang="it-IT"/>
              <a:t>A course (or two) unto itself</a:t>
            </a:r>
            <a:endParaRPr lang="en-US" altLang="it-IT" i="1"/>
          </a:p>
        </p:txBody>
      </p:sp>
      <p:grpSp>
        <p:nvGrpSpPr>
          <p:cNvPr id="17413" name="Group 28">
            <a:extLst>
              <a:ext uri="{FF2B5EF4-FFF2-40B4-BE49-F238E27FC236}">
                <a16:creationId xmlns:a16="http://schemas.microsoft.com/office/drawing/2014/main" id="{BA43D852-D2B4-4133-AAA2-E1219287CC87}"/>
              </a:ext>
            </a:extLst>
          </p:cNvPr>
          <p:cNvGrpSpPr>
            <a:grpSpLocks/>
          </p:cNvGrpSpPr>
          <p:nvPr/>
        </p:nvGrpSpPr>
        <p:grpSpPr bwMode="auto">
          <a:xfrm>
            <a:off x="784225" y="1371600"/>
            <a:ext cx="7445375" cy="1452563"/>
            <a:chOff x="494" y="864"/>
            <a:chExt cx="4690" cy="915"/>
          </a:xfrm>
        </p:grpSpPr>
        <p:sp>
          <p:nvSpPr>
            <p:cNvPr id="17414" name="Line 5">
              <a:extLst>
                <a:ext uri="{FF2B5EF4-FFF2-40B4-BE49-F238E27FC236}">
                  <a16:creationId xmlns:a16="http://schemas.microsoft.com/office/drawing/2014/main" id="{65C7AAA4-AF30-413F-B699-741C04474D5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536" y="1392"/>
              <a:ext cx="0" cy="27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it-IT"/>
            </a:p>
          </p:txBody>
        </p:sp>
        <p:sp>
          <p:nvSpPr>
            <p:cNvPr id="17415" name="Line 6">
              <a:extLst>
                <a:ext uri="{FF2B5EF4-FFF2-40B4-BE49-F238E27FC236}">
                  <a16:creationId xmlns:a16="http://schemas.microsoft.com/office/drawing/2014/main" id="{A9917699-CC99-42D4-8879-D1F744C490E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36" y="1680"/>
              <a:ext cx="265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it-IT"/>
            </a:p>
          </p:txBody>
        </p:sp>
        <p:sp>
          <p:nvSpPr>
            <p:cNvPr id="17416" name="Text Box 7">
              <a:extLst>
                <a:ext uri="{FF2B5EF4-FFF2-40B4-BE49-F238E27FC236}">
                  <a16:creationId xmlns:a16="http://schemas.microsoft.com/office/drawing/2014/main" id="{2991EBEB-B358-416A-8B0A-08C14725B3F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70" y="1587"/>
              <a:ext cx="494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r>
                <a:rPr lang="en-US" altLang="it-IT" sz="1400" i="1"/>
                <a:t>Errors</a:t>
              </a:r>
              <a:r>
                <a:rPr lang="en-US" altLang="it-IT" sz="1400"/>
                <a:t> </a:t>
              </a:r>
              <a:endParaRPr lang="en-US" altLang="it-IT" sz="1600"/>
            </a:p>
          </p:txBody>
        </p:sp>
        <p:sp>
          <p:nvSpPr>
            <p:cNvPr id="17417" name="Line 8">
              <a:extLst>
                <a:ext uri="{FF2B5EF4-FFF2-40B4-BE49-F238E27FC236}">
                  <a16:creationId xmlns:a16="http://schemas.microsoft.com/office/drawing/2014/main" id="{F4784935-2667-4C2F-B259-1B9DED27452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40" y="1392"/>
              <a:ext cx="2" cy="28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it-IT"/>
            </a:p>
          </p:txBody>
        </p:sp>
        <p:sp>
          <p:nvSpPr>
            <p:cNvPr id="17418" name="Line 9">
              <a:extLst>
                <a:ext uri="{FF2B5EF4-FFF2-40B4-BE49-F238E27FC236}">
                  <a16:creationId xmlns:a16="http://schemas.microsoft.com/office/drawing/2014/main" id="{9E25578A-E5CB-4DC2-A6E1-9D5AADD689A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688" y="1392"/>
              <a:ext cx="2" cy="28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it-IT"/>
            </a:p>
          </p:txBody>
        </p:sp>
        <p:sp>
          <p:nvSpPr>
            <p:cNvPr id="17419" name="Text Box 10">
              <a:extLst>
                <a:ext uri="{FF2B5EF4-FFF2-40B4-BE49-F238E27FC236}">
                  <a16:creationId xmlns:a16="http://schemas.microsoft.com/office/drawing/2014/main" id="{2D3C1BEE-62AC-425A-A8F5-8A1784049B0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4" y="963"/>
              <a:ext cx="483" cy="3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 algn="ctr"/>
              <a:r>
                <a:rPr lang="en-US" altLang="it-IT" sz="1400" i="1"/>
                <a:t>Source</a:t>
              </a:r>
            </a:p>
            <a:p>
              <a:pPr algn="ctr"/>
              <a:r>
                <a:rPr lang="en-US" altLang="it-IT" sz="1400" i="1"/>
                <a:t>Code</a:t>
              </a:r>
              <a:endParaRPr lang="en-US" altLang="it-IT" sz="1600"/>
            </a:p>
          </p:txBody>
        </p:sp>
        <p:sp>
          <p:nvSpPr>
            <p:cNvPr id="17420" name="Rectangle 11">
              <a:extLst>
                <a:ext uri="{FF2B5EF4-FFF2-40B4-BE49-F238E27FC236}">
                  <a16:creationId xmlns:a16="http://schemas.microsoft.com/office/drawing/2014/main" id="{A563B5DA-6874-438C-A7B4-2DF00B36F12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04" y="864"/>
              <a:ext cx="816" cy="528"/>
            </a:xfrm>
            <a:prstGeom prst="rect">
              <a:avLst/>
            </a:prstGeom>
            <a:noFill/>
            <a:ln w="28575">
              <a:solidFill>
                <a:srgbClr val="FF0065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endParaRPr lang="en-GB" altLang="it-IT"/>
            </a:p>
          </p:txBody>
        </p:sp>
        <p:sp>
          <p:nvSpPr>
            <p:cNvPr id="17421" name="Text Box 12">
              <a:extLst>
                <a:ext uri="{FF2B5EF4-FFF2-40B4-BE49-F238E27FC236}">
                  <a16:creationId xmlns:a16="http://schemas.microsoft.com/office/drawing/2014/main" id="{6D23C04D-35EF-4B15-92F1-85803BCB3F1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60" y="979"/>
              <a:ext cx="719" cy="28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 algn="ctr">
                <a:lnSpc>
                  <a:spcPct val="145000"/>
                </a:lnSpc>
              </a:pPr>
              <a:r>
                <a:rPr lang="en-US" altLang="it-IT" sz="1600">
                  <a:solidFill>
                    <a:srgbClr val="FF0065"/>
                  </a:solidFill>
                </a:rPr>
                <a:t>Optimizer</a:t>
              </a:r>
            </a:p>
          </p:txBody>
        </p:sp>
        <p:grpSp>
          <p:nvGrpSpPr>
            <p:cNvPr id="17422" name="Group 13">
              <a:extLst>
                <a:ext uri="{FF2B5EF4-FFF2-40B4-BE49-F238E27FC236}">
                  <a16:creationId xmlns:a16="http://schemas.microsoft.com/office/drawing/2014/main" id="{085428A3-A303-444A-84A4-12322AB6428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28" y="864"/>
              <a:ext cx="4656" cy="528"/>
              <a:chOff x="528" y="1104"/>
              <a:chExt cx="4656" cy="528"/>
            </a:xfrm>
          </p:grpSpPr>
          <p:sp>
            <p:nvSpPr>
              <p:cNvPr id="17427" name="Line 14">
                <a:extLst>
                  <a:ext uri="{FF2B5EF4-FFF2-40B4-BE49-F238E27FC236}">
                    <a16:creationId xmlns:a16="http://schemas.microsoft.com/office/drawing/2014/main" id="{4EF16FE6-5233-4C8B-BA19-C9A162C4B40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28" y="1368"/>
                <a:ext cx="624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it-IT"/>
              </a:p>
            </p:txBody>
          </p:sp>
          <p:grpSp>
            <p:nvGrpSpPr>
              <p:cNvPr id="17428" name="Group 15">
                <a:extLst>
                  <a:ext uri="{FF2B5EF4-FFF2-40B4-BE49-F238E27FC236}">
                    <a16:creationId xmlns:a16="http://schemas.microsoft.com/office/drawing/2014/main" id="{81CBFF46-4F96-4D18-91F9-89BFE3FAD87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152" y="1104"/>
                <a:ext cx="816" cy="528"/>
                <a:chOff x="1536" y="1176"/>
                <a:chExt cx="912" cy="528"/>
              </a:xfrm>
            </p:grpSpPr>
            <p:sp>
              <p:nvSpPr>
                <p:cNvPr id="17435" name="Rectangle 16">
                  <a:extLst>
                    <a:ext uri="{FF2B5EF4-FFF2-40B4-BE49-F238E27FC236}">
                      <a16:creationId xmlns:a16="http://schemas.microsoft.com/office/drawing/2014/main" id="{AA2C9BF3-1D25-4B41-A2B1-1E8C23485F4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536" y="1176"/>
                  <a:ext cx="912" cy="528"/>
                </a:xfrm>
                <a:prstGeom prst="rect">
                  <a:avLst/>
                </a:prstGeom>
                <a:noFill/>
                <a:ln w="2857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9pPr>
                </a:lstStyle>
                <a:p>
                  <a:endParaRPr lang="en-GB" altLang="it-IT"/>
                </a:p>
              </p:txBody>
            </p:sp>
            <p:sp>
              <p:nvSpPr>
                <p:cNvPr id="17436" name="Text Box 17">
                  <a:extLst>
                    <a:ext uri="{FF2B5EF4-FFF2-40B4-BE49-F238E27FC236}">
                      <a16:creationId xmlns:a16="http://schemas.microsoft.com/office/drawing/2014/main" id="{9E78D4EF-5D6C-45CF-9612-F65ABCEE6C6C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746" y="1261"/>
                  <a:ext cx="503" cy="36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9pPr>
                </a:lstStyle>
                <a:p>
                  <a:pPr algn="ctr"/>
                  <a:r>
                    <a:rPr lang="en-US" altLang="it-IT" sz="1600"/>
                    <a:t>Front</a:t>
                  </a:r>
                </a:p>
                <a:p>
                  <a:pPr algn="ctr"/>
                  <a:r>
                    <a:rPr lang="en-US" altLang="it-IT" sz="1600"/>
                    <a:t>End</a:t>
                  </a:r>
                </a:p>
              </p:txBody>
            </p:sp>
          </p:grpSp>
          <p:grpSp>
            <p:nvGrpSpPr>
              <p:cNvPr id="17429" name="Group 18">
                <a:extLst>
                  <a:ext uri="{FF2B5EF4-FFF2-40B4-BE49-F238E27FC236}">
                    <a16:creationId xmlns:a16="http://schemas.microsoft.com/office/drawing/2014/main" id="{FDBAA254-64BB-4FFE-B19D-470BEC9BA3B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216" y="1185"/>
                <a:ext cx="968" cy="366"/>
                <a:chOff x="4168" y="1233"/>
                <a:chExt cx="968" cy="366"/>
              </a:xfrm>
            </p:grpSpPr>
            <p:sp>
              <p:nvSpPr>
                <p:cNvPr id="17433" name="Line 19">
                  <a:extLst>
                    <a:ext uri="{FF2B5EF4-FFF2-40B4-BE49-F238E27FC236}">
                      <a16:creationId xmlns:a16="http://schemas.microsoft.com/office/drawing/2014/main" id="{22065B86-94AF-494B-A265-A1B9383831E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168" y="1416"/>
                  <a:ext cx="968" cy="0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it-IT"/>
                </a:p>
              </p:txBody>
            </p:sp>
            <p:sp>
              <p:nvSpPr>
                <p:cNvPr id="17434" name="Text Box 20">
                  <a:extLst>
                    <a:ext uri="{FF2B5EF4-FFF2-40B4-BE49-F238E27FC236}">
                      <a16:creationId xmlns:a16="http://schemas.microsoft.com/office/drawing/2014/main" id="{713A15BA-537E-449F-9F9C-0B18E4E0D5C9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4368" y="1233"/>
                  <a:ext cx="768" cy="36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9pPr>
                </a:lstStyle>
                <a:p>
                  <a:pPr algn="ctr"/>
                  <a:r>
                    <a:rPr lang="en-US" altLang="it-IT" sz="1600" i="1"/>
                    <a:t>Machine</a:t>
                  </a:r>
                </a:p>
                <a:p>
                  <a:pPr algn="ctr"/>
                  <a:r>
                    <a:rPr lang="en-US" altLang="it-IT" sz="1600" i="1"/>
                    <a:t>code</a:t>
                  </a:r>
                  <a:endParaRPr lang="en-US" altLang="it-IT" sz="1600"/>
                </a:p>
              </p:txBody>
            </p:sp>
          </p:grpSp>
          <p:grpSp>
            <p:nvGrpSpPr>
              <p:cNvPr id="17430" name="Group 21">
                <a:extLst>
                  <a:ext uri="{FF2B5EF4-FFF2-40B4-BE49-F238E27FC236}">
                    <a16:creationId xmlns:a16="http://schemas.microsoft.com/office/drawing/2014/main" id="{98C9BC1C-1A76-472D-AB6B-3B312CDA4FC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408" y="1104"/>
                <a:ext cx="816" cy="528"/>
                <a:chOff x="1536" y="1176"/>
                <a:chExt cx="912" cy="528"/>
              </a:xfrm>
            </p:grpSpPr>
            <p:sp>
              <p:nvSpPr>
                <p:cNvPr id="17431" name="Rectangle 22">
                  <a:extLst>
                    <a:ext uri="{FF2B5EF4-FFF2-40B4-BE49-F238E27FC236}">
                      <a16:creationId xmlns:a16="http://schemas.microsoft.com/office/drawing/2014/main" id="{4A7D5AD2-AC58-41F9-AFF7-E98644D40FD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536" y="1176"/>
                  <a:ext cx="912" cy="528"/>
                </a:xfrm>
                <a:prstGeom prst="rect">
                  <a:avLst/>
                </a:prstGeom>
                <a:noFill/>
                <a:ln w="2857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9pPr>
                </a:lstStyle>
                <a:p>
                  <a:endParaRPr lang="en-GB" altLang="it-IT"/>
                </a:p>
              </p:txBody>
            </p:sp>
            <p:sp>
              <p:nvSpPr>
                <p:cNvPr id="17432" name="Text Box 23">
                  <a:extLst>
                    <a:ext uri="{FF2B5EF4-FFF2-40B4-BE49-F238E27FC236}">
                      <a16:creationId xmlns:a16="http://schemas.microsoft.com/office/drawing/2014/main" id="{35BCA6E1-F5E7-4BE1-B962-D362AAFA559A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777" y="1261"/>
                  <a:ext cx="444" cy="36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9pPr>
                </a:lstStyle>
                <a:p>
                  <a:pPr algn="ctr"/>
                  <a:r>
                    <a:rPr lang="en-US" altLang="it-IT" sz="1600"/>
                    <a:t>Back</a:t>
                  </a:r>
                </a:p>
                <a:p>
                  <a:pPr algn="ctr"/>
                  <a:r>
                    <a:rPr lang="en-US" altLang="it-IT" sz="1600"/>
                    <a:t>End</a:t>
                  </a:r>
                </a:p>
              </p:txBody>
            </p:sp>
          </p:grpSp>
        </p:grpSp>
        <p:sp>
          <p:nvSpPr>
            <p:cNvPr id="17423" name="Line 24">
              <a:extLst>
                <a:ext uri="{FF2B5EF4-FFF2-40B4-BE49-F238E27FC236}">
                  <a16:creationId xmlns:a16="http://schemas.microsoft.com/office/drawing/2014/main" id="{B2D1B454-81A7-432D-BF13-F1888F84A80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68" y="1128"/>
              <a:ext cx="3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it-IT"/>
            </a:p>
          </p:txBody>
        </p:sp>
        <p:sp>
          <p:nvSpPr>
            <p:cNvPr id="17424" name="Line 25">
              <a:extLst>
                <a:ext uri="{FF2B5EF4-FFF2-40B4-BE49-F238E27FC236}">
                  <a16:creationId xmlns:a16="http://schemas.microsoft.com/office/drawing/2014/main" id="{9AAD667D-02D6-465F-A9C6-A755377C1B8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20" y="1128"/>
              <a:ext cx="28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it-IT"/>
            </a:p>
          </p:txBody>
        </p:sp>
        <p:sp>
          <p:nvSpPr>
            <p:cNvPr id="17425" name="Text Box 26">
              <a:extLst>
                <a:ext uri="{FF2B5EF4-FFF2-40B4-BE49-F238E27FC236}">
                  <a16:creationId xmlns:a16="http://schemas.microsoft.com/office/drawing/2014/main" id="{D205DAB4-84A8-4CE4-B818-8AF183C8500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08" y="915"/>
              <a:ext cx="24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 algn="ctr"/>
              <a:r>
                <a:rPr lang="en-US" altLang="it-IT" sz="1400" i="1">
                  <a:solidFill>
                    <a:srgbClr val="FF0065"/>
                  </a:solidFill>
                </a:rPr>
                <a:t>IR</a:t>
              </a:r>
              <a:endParaRPr lang="en-US" altLang="it-IT" sz="1600" i="1"/>
            </a:p>
          </p:txBody>
        </p:sp>
        <p:sp>
          <p:nvSpPr>
            <p:cNvPr id="17426" name="Text Box 27">
              <a:extLst>
                <a:ext uri="{FF2B5EF4-FFF2-40B4-BE49-F238E27FC236}">
                  <a16:creationId xmlns:a16="http://schemas.microsoft.com/office/drawing/2014/main" id="{92F845BD-C313-4755-AD6F-5B8B012133F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28" y="939"/>
              <a:ext cx="24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 algn="ctr"/>
              <a:r>
                <a:rPr lang="en-US" altLang="it-IT" sz="1400" i="1">
                  <a:solidFill>
                    <a:srgbClr val="FF0065"/>
                  </a:solidFill>
                </a:rPr>
                <a:t>IR</a:t>
              </a:r>
              <a:endParaRPr lang="en-US" altLang="it-IT" sz="1600" i="1"/>
            </a:p>
          </p:txBody>
        </p:sp>
      </p:grpSp>
    </p:spTree>
  </p:cSld>
  <p:clrMapOvr>
    <a:masterClrMapping/>
  </p:clrMapOvr>
  <p:transition>
    <p:wipe dir="r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Footer Placeholder 1">
            <a:extLst>
              <a:ext uri="{FF2B5EF4-FFF2-40B4-BE49-F238E27FC236}">
                <a16:creationId xmlns:a16="http://schemas.microsoft.com/office/drawing/2014/main" id="{20FF4A60-9F18-4BC1-A1AB-6A0CD06BF72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r>
              <a:rPr lang="en-US" altLang="it-IT"/>
              <a:t>Comp 412, Fall 2010</a:t>
            </a:r>
          </a:p>
        </p:txBody>
      </p:sp>
      <p:sp>
        <p:nvSpPr>
          <p:cNvPr id="19458" name="Slide Number Placeholder 2">
            <a:extLst>
              <a:ext uri="{FF2B5EF4-FFF2-40B4-BE49-F238E27FC236}">
                <a16:creationId xmlns:a16="http://schemas.microsoft.com/office/drawing/2014/main" id="{B5C4AB2E-0F60-493B-AB1B-293826E670A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9A1F2990-BDA8-46C2-96B7-7D85C8BED582}" type="slidenum">
              <a:rPr lang="en-US" altLang="it-IT"/>
              <a:pPr/>
              <a:t>2</a:t>
            </a:fld>
            <a:endParaRPr lang="en-US" altLang="it-IT"/>
          </a:p>
        </p:txBody>
      </p:sp>
      <p:sp>
        <p:nvSpPr>
          <p:cNvPr id="19459" name="Rectangle 2">
            <a:extLst>
              <a:ext uri="{FF2B5EF4-FFF2-40B4-BE49-F238E27FC236}">
                <a16:creationId xmlns:a16="http://schemas.microsoft.com/office/drawing/2014/main" id="{EE6A2911-EBD6-400E-BB7C-66CE9C8DEACE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>
              <a:spcBef>
                <a:spcPct val="100000"/>
              </a:spcBef>
            </a:pPr>
            <a:r>
              <a:rPr lang="en-US" altLang="it-IT"/>
              <a:t>The Optimizer</a:t>
            </a:r>
          </a:p>
        </p:txBody>
      </p:sp>
      <p:sp>
        <p:nvSpPr>
          <p:cNvPr id="19460" name="Rectangle 3">
            <a:extLst>
              <a:ext uri="{FF2B5EF4-FFF2-40B4-BE49-F238E27FC236}">
                <a16:creationId xmlns:a16="http://schemas.microsoft.com/office/drawing/2014/main" id="{5B19919C-6AE8-449F-83CF-26E8E1E2CFA9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685800" y="1079500"/>
            <a:ext cx="7772400" cy="5184775"/>
          </a:xfrm>
        </p:spPr>
        <p:txBody>
          <a:bodyPr/>
          <a:lstStyle/>
          <a:p>
            <a:pPr eaLnBrk="1" hangingPunct="1">
              <a:buFont typeface="Times" panose="02020603050405020304" pitchFamily="18" charset="0"/>
              <a:buNone/>
            </a:pPr>
            <a:endParaRPr lang="en-US" altLang="it-IT"/>
          </a:p>
          <a:p>
            <a:pPr eaLnBrk="1" hangingPunct="1">
              <a:buFont typeface="Times" panose="02020603050405020304" pitchFamily="18" charset="0"/>
              <a:buNone/>
            </a:pPr>
            <a:endParaRPr lang="en-US" altLang="it-IT"/>
          </a:p>
          <a:p>
            <a:pPr eaLnBrk="1" hangingPunct="1">
              <a:buFont typeface="Times" panose="02020603050405020304" pitchFamily="18" charset="0"/>
              <a:buNone/>
            </a:pPr>
            <a:endParaRPr lang="en-US" altLang="it-IT"/>
          </a:p>
          <a:p>
            <a:pPr eaLnBrk="1" hangingPunct="1">
              <a:buFont typeface="Times" panose="02020603050405020304" pitchFamily="18" charset="0"/>
              <a:buNone/>
            </a:pPr>
            <a:endParaRPr lang="en-US" altLang="it-IT"/>
          </a:p>
          <a:p>
            <a:pPr eaLnBrk="1" hangingPunct="1">
              <a:buFont typeface="Times" panose="02020603050405020304" pitchFamily="18" charset="0"/>
              <a:buNone/>
            </a:pPr>
            <a:endParaRPr lang="en-US" altLang="it-IT"/>
          </a:p>
          <a:p>
            <a:pPr eaLnBrk="1" hangingPunct="1">
              <a:buFont typeface="Times" panose="02020603050405020304" pitchFamily="18" charset="0"/>
              <a:buNone/>
            </a:pPr>
            <a:endParaRPr lang="en-US" altLang="it-IT"/>
          </a:p>
          <a:p>
            <a:pPr eaLnBrk="1" hangingPunct="1">
              <a:spcBef>
                <a:spcPct val="50000"/>
              </a:spcBef>
              <a:buFont typeface="Times" panose="02020603050405020304" pitchFamily="18" charset="0"/>
              <a:buNone/>
            </a:pPr>
            <a:r>
              <a:rPr lang="en-US" altLang="it-IT">
                <a:solidFill>
                  <a:srgbClr val="003C75"/>
                </a:solidFill>
              </a:rPr>
              <a:t>Typical Transformations</a:t>
            </a:r>
            <a:endParaRPr lang="en-US" altLang="it-IT"/>
          </a:p>
          <a:p>
            <a:pPr eaLnBrk="1" hangingPunct="1"/>
            <a:r>
              <a:rPr lang="en-US" altLang="it-IT"/>
              <a:t>Discover &amp; propagate some constant value</a:t>
            </a:r>
          </a:p>
          <a:p>
            <a:pPr eaLnBrk="1" hangingPunct="1"/>
            <a:r>
              <a:rPr lang="en-US" altLang="it-IT"/>
              <a:t>Move a computation to a less frequently executed place</a:t>
            </a:r>
          </a:p>
          <a:p>
            <a:pPr eaLnBrk="1" hangingPunct="1"/>
            <a:r>
              <a:rPr lang="en-US" altLang="it-IT"/>
              <a:t>Specialize some computation based on context</a:t>
            </a:r>
          </a:p>
          <a:p>
            <a:pPr eaLnBrk="1" hangingPunct="1"/>
            <a:r>
              <a:rPr lang="en-US" altLang="it-IT"/>
              <a:t>Discover a redundant computation &amp; remove it</a:t>
            </a:r>
          </a:p>
          <a:p>
            <a:pPr eaLnBrk="1" hangingPunct="1"/>
            <a:r>
              <a:rPr lang="en-US" altLang="it-IT"/>
              <a:t>Remove useless or unreachable code</a:t>
            </a:r>
          </a:p>
          <a:p>
            <a:pPr eaLnBrk="1" hangingPunct="1"/>
            <a:r>
              <a:rPr lang="en-US" altLang="it-IT"/>
              <a:t>Encode an idiom in some particularly efficient form</a:t>
            </a:r>
          </a:p>
        </p:txBody>
      </p:sp>
      <p:grpSp>
        <p:nvGrpSpPr>
          <p:cNvPr id="19461" name="Group 37">
            <a:extLst>
              <a:ext uri="{FF2B5EF4-FFF2-40B4-BE49-F238E27FC236}">
                <a16:creationId xmlns:a16="http://schemas.microsoft.com/office/drawing/2014/main" id="{2D0BCBAF-AF50-4A47-8652-DBC98D24946E}"/>
              </a:ext>
            </a:extLst>
          </p:cNvPr>
          <p:cNvGrpSpPr>
            <a:grpSpLocks/>
          </p:cNvGrpSpPr>
          <p:nvPr/>
        </p:nvGrpSpPr>
        <p:grpSpPr bwMode="auto">
          <a:xfrm>
            <a:off x="990600" y="1143000"/>
            <a:ext cx="6553200" cy="2089150"/>
            <a:chOff x="624" y="720"/>
            <a:chExt cx="4128" cy="1316"/>
          </a:xfrm>
        </p:grpSpPr>
        <p:sp>
          <p:nvSpPr>
            <p:cNvPr id="19462" name="Line 5">
              <a:extLst>
                <a:ext uri="{FF2B5EF4-FFF2-40B4-BE49-F238E27FC236}">
                  <a16:creationId xmlns:a16="http://schemas.microsoft.com/office/drawing/2014/main" id="{EFF0C524-0E50-4150-8127-D2533B45CE1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392" y="1392"/>
              <a:ext cx="2" cy="27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it-IT"/>
            </a:p>
          </p:txBody>
        </p:sp>
        <p:sp>
          <p:nvSpPr>
            <p:cNvPr id="19463" name="Line 6">
              <a:extLst>
                <a:ext uri="{FF2B5EF4-FFF2-40B4-BE49-F238E27FC236}">
                  <a16:creationId xmlns:a16="http://schemas.microsoft.com/office/drawing/2014/main" id="{3B543BBC-70BE-46E8-BD43-10A0AB18DC5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92" y="1680"/>
              <a:ext cx="2796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it-IT"/>
            </a:p>
          </p:txBody>
        </p:sp>
        <p:sp>
          <p:nvSpPr>
            <p:cNvPr id="19464" name="Text Box 7">
              <a:extLst>
                <a:ext uri="{FF2B5EF4-FFF2-40B4-BE49-F238E27FC236}">
                  <a16:creationId xmlns:a16="http://schemas.microsoft.com/office/drawing/2014/main" id="{F7F2AFA0-BCBE-4DF3-A987-D253221CB06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70" y="1587"/>
              <a:ext cx="494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r>
                <a:rPr lang="en-US" altLang="it-IT" sz="1400" i="1"/>
                <a:t>Errors</a:t>
              </a:r>
              <a:r>
                <a:rPr lang="en-US" altLang="it-IT" sz="1400"/>
                <a:t> </a:t>
              </a:r>
              <a:endParaRPr lang="en-US" altLang="it-IT" sz="1600"/>
            </a:p>
          </p:txBody>
        </p:sp>
        <p:sp>
          <p:nvSpPr>
            <p:cNvPr id="19465" name="Line 8">
              <a:extLst>
                <a:ext uri="{FF2B5EF4-FFF2-40B4-BE49-F238E27FC236}">
                  <a16:creationId xmlns:a16="http://schemas.microsoft.com/office/drawing/2014/main" id="{15E8F595-56AE-46A3-9214-10D35494108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736" y="1392"/>
              <a:ext cx="0" cy="28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it-IT"/>
            </a:p>
          </p:txBody>
        </p:sp>
        <p:sp>
          <p:nvSpPr>
            <p:cNvPr id="19466" name="Rectangle 9">
              <a:extLst>
                <a:ext uri="{FF2B5EF4-FFF2-40B4-BE49-F238E27FC236}">
                  <a16:creationId xmlns:a16="http://schemas.microsoft.com/office/drawing/2014/main" id="{FDD0DD85-1F07-46D2-863D-7C982D1517F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52" y="864"/>
              <a:ext cx="432" cy="528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endParaRPr lang="en-GB" altLang="it-IT"/>
            </a:p>
          </p:txBody>
        </p:sp>
        <p:sp>
          <p:nvSpPr>
            <p:cNvPr id="19467" name="Text Box 10">
              <a:extLst>
                <a:ext uri="{FF2B5EF4-FFF2-40B4-BE49-F238E27FC236}">
                  <a16:creationId xmlns:a16="http://schemas.microsoft.com/office/drawing/2014/main" id="{B04DB4A1-795A-42C5-848B-102E22866AF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76" y="953"/>
              <a:ext cx="384" cy="3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 algn="ctr">
                <a:lnSpc>
                  <a:spcPct val="95000"/>
                </a:lnSpc>
              </a:pPr>
              <a:r>
                <a:rPr lang="en-US" altLang="it-IT" sz="1600"/>
                <a:t>O</a:t>
              </a:r>
              <a:r>
                <a:rPr lang="en-US" altLang="it-IT" sz="1400"/>
                <a:t>p</a:t>
              </a:r>
              <a:r>
                <a:rPr lang="en-US" altLang="it-IT" sz="1600"/>
                <a:t>t</a:t>
              </a:r>
            </a:p>
            <a:p>
              <a:pPr algn="ctr">
                <a:lnSpc>
                  <a:spcPct val="95000"/>
                </a:lnSpc>
              </a:pPr>
              <a:r>
                <a:rPr lang="en-US" altLang="it-IT" sz="1600"/>
                <a:t>1</a:t>
              </a:r>
            </a:p>
          </p:txBody>
        </p:sp>
        <p:sp>
          <p:nvSpPr>
            <p:cNvPr id="19468" name="Rectangle 11">
              <a:extLst>
                <a:ext uri="{FF2B5EF4-FFF2-40B4-BE49-F238E27FC236}">
                  <a16:creationId xmlns:a16="http://schemas.microsoft.com/office/drawing/2014/main" id="{A30A3D63-8DBD-45E2-A521-907EF106CC8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96" y="864"/>
              <a:ext cx="432" cy="528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endParaRPr lang="en-GB" altLang="it-IT"/>
            </a:p>
          </p:txBody>
        </p:sp>
        <p:sp>
          <p:nvSpPr>
            <p:cNvPr id="19469" name="Text Box 12">
              <a:extLst>
                <a:ext uri="{FF2B5EF4-FFF2-40B4-BE49-F238E27FC236}">
                  <a16:creationId xmlns:a16="http://schemas.microsoft.com/office/drawing/2014/main" id="{75222252-ED39-457F-A8CA-0116FA22D5C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20" y="953"/>
              <a:ext cx="384" cy="3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 algn="ctr">
                <a:lnSpc>
                  <a:spcPct val="95000"/>
                </a:lnSpc>
              </a:pPr>
              <a:r>
                <a:rPr lang="en-US" altLang="it-IT" sz="1600"/>
                <a:t>O</a:t>
              </a:r>
              <a:r>
                <a:rPr lang="en-US" altLang="it-IT" sz="1400"/>
                <a:t>p</a:t>
              </a:r>
              <a:r>
                <a:rPr lang="en-US" altLang="it-IT" sz="1600"/>
                <a:t>t</a:t>
              </a:r>
            </a:p>
            <a:p>
              <a:pPr algn="ctr">
                <a:lnSpc>
                  <a:spcPct val="95000"/>
                </a:lnSpc>
              </a:pPr>
              <a:r>
                <a:rPr lang="en-US" altLang="it-IT" sz="1600"/>
                <a:t>3</a:t>
              </a:r>
            </a:p>
          </p:txBody>
        </p:sp>
        <p:sp>
          <p:nvSpPr>
            <p:cNvPr id="19470" name="Rectangle 13">
              <a:extLst>
                <a:ext uri="{FF2B5EF4-FFF2-40B4-BE49-F238E27FC236}">
                  <a16:creationId xmlns:a16="http://schemas.microsoft.com/office/drawing/2014/main" id="{A2A158BF-82DE-482A-9A8A-1FCAACF1A3F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24" y="864"/>
              <a:ext cx="432" cy="528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endParaRPr lang="en-GB" altLang="it-IT"/>
            </a:p>
          </p:txBody>
        </p:sp>
        <p:sp>
          <p:nvSpPr>
            <p:cNvPr id="19471" name="Text Box 14">
              <a:extLst>
                <a:ext uri="{FF2B5EF4-FFF2-40B4-BE49-F238E27FC236}">
                  <a16:creationId xmlns:a16="http://schemas.microsoft.com/office/drawing/2014/main" id="{9C103042-BF17-49FA-A366-1F5320E6A5C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48" y="953"/>
              <a:ext cx="384" cy="3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 algn="ctr">
                <a:lnSpc>
                  <a:spcPct val="95000"/>
                </a:lnSpc>
              </a:pPr>
              <a:r>
                <a:rPr lang="en-US" altLang="it-IT" sz="1600"/>
                <a:t>O</a:t>
              </a:r>
              <a:r>
                <a:rPr lang="en-US" altLang="it-IT" sz="1400"/>
                <a:t>p</a:t>
              </a:r>
              <a:r>
                <a:rPr lang="en-US" altLang="it-IT" sz="1600"/>
                <a:t>t</a:t>
              </a:r>
            </a:p>
            <a:p>
              <a:pPr algn="ctr">
                <a:lnSpc>
                  <a:spcPct val="95000"/>
                </a:lnSpc>
              </a:pPr>
              <a:r>
                <a:rPr lang="en-US" altLang="it-IT" sz="1600"/>
                <a:t>2</a:t>
              </a:r>
            </a:p>
          </p:txBody>
        </p:sp>
        <p:sp>
          <p:nvSpPr>
            <p:cNvPr id="19472" name="Rectangle 15">
              <a:extLst>
                <a:ext uri="{FF2B5EF4-FFF2-40B4-BE49-F238E27FC236}">
                  <a16:creationId xmlns:a16="http://schemas.microsoft.com/office/drawing/2014/main" id="{61C7EEAC-94CD-43CD-AD85-B491856B200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00" y="864"/>
              <a:ext cx="432" cy="528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endParaRPr lang="en-GB" altLang="it-IT"/>
            </a:p>
          </p:txBody>
        </p:sp>
        <p:sp>
          <p:nvSpPr>
            <p:cNvPr id="19473" name="Text Box 16">
              <a:extLst>
                <a:ext uri="{FF2B5EF4-FFF2-40B4-BE49-F238E27FC236}">
                  <a16:creationId xmlns:a16="http://schemas.microsoft.com/office/drawing/2014/main" id="{AB5B320D-221E-40EA-AD3E-32B61DE070C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24" y="953"/>
              <a:ext cx="384" cy="3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 algn="ctr">
                <a:lnSpc>
                  <a:spcPct val="95000"/>
                </a:lnSpc>
              </a:pPr>
              <a:r>
                <a:rPr lang="en-US" altLang="it-IT" sz="1600"/>
                <a:t>O</a:t>
              </a:r>
              <a:r>
                <a:rPr lang="en-US" altLang="it-IT" sz="1400"/>
                <a:t>p</a:t>
              </a:r>
              <a:r>
                <a:rPr lang="en-US" altLang="it-IT" sz="1600"/>
                <a:t>t</a:t>
              </a:r>
            </a:p>
            <a:p>
              <a:pPr algn="ctr">
                <a:lnSpc>
                  <a:spcPct val="95000"/>
                </a:lnSpc>
              </a:pPr>
              <a:r>
                <a:rPr lang="en-US" altLang="it-IT" sz="1600"/>
                <a:t>n</a:t>
              </a:r>
            </a:p>
          </p:txBody>
        </p:sp>
        <p:sp>
          <p:nvSpPr>
            <p:cNvPr id="19474" name="Line 17">
              <a:extLst>
                <a:ext uri="{FF2B5EF4-FFF2-40B4-BE49-F238E27FC236}">
                  <a16:creationId xmlns:a16="http://schemas.microsoft.com/office/drawing/2014/main" id="{50C03E0A-92DF-4C47-83AD-105B63DA4D4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84" y="1128"/>
              <a:ext cx="24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it-IT"/>
            </a:p>
          </p:txBody>
        </p:sp>
        <p:sp>
          <p:nvSpPr>
            <p:cNvPr id="19475" name="Line 18">
              <a:extLst>
                <a:ext uri="{FF2B5EF4-FFF2-40B4-BE49-F238E27FC236}">
                  <a16:creationId xmlns:a16="http://schemas.microsoft.com/office/drawing/2014/main" id="{BB721773-063D-499A-8E7F-B20C56FFE5F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56" y="1128"/>
              <a:ext cx="24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it-IT"/>
            </a:p>
          </p:txBody>
        </p:sp>
        <p:sp>
          <p:nvSpPr>
            <p:cNvPr id="19476" name="Line 19">
              <a:extLst>
                <a:ext uri="{FF2B5EF4-FFF2-40B4-BE49-F238E27FC236}">
                  <a16:creationId xmlns:a16="http://schemas.microsoft.com/office/drawing/2014/main" id="{17D117A4-A9B5-46FC-917D-00B2A20F47B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016" y="1392"/>
              <a:ext cx="2" cy="28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it-IT"/>
            </a:p>
          </p:txBody>
        </p:sp>
        <p:sp>
          <p:nvSpPr>
            <p:cNvPr id="19477" name="Line 20">
              <a:extLst>
                <a:ext uri="{FF2B5EF4-FFF2-40B4-BE49-F238E27FC236}">
                  <a16:creationId xmlns:a16="http://schemas.microsoft.com/office/drawing/2014/main" id="{A5CCC35C-950C-4F1E-AF70-D35E3684E47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840" y="1392"/>
              <a:ext cx="2" cy="28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it-IT"/>
            </a:p>
          </p:txBody>
        </p:sp>
        <p:sp>
          <p:nvSpPr>
            <p:cNvPr id="19478" name="Line 21">
              <a:extLst>
                <a:ext uri="{FF2B5EF4-FFF2-40B4-BE49-F238E27FC236}">
                  <a16:creationId xmlns:a16="http://schemas.microsoft.com/office/drawing/2014/main" id="{62841C89-E0DC-4F58-B847-D434427C08A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32" y="1128"/>
              <a:ext cx="24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it-IT"/>
            </a:p>
          </p:txBody>
        </p:sp>
        <p:sp>
          <p:nvSpPr>
            <p:cNvPr id="19479" name="Line 22">
              <a:extLst>
                <a:ext uri="{FF2B5EF4-FFF2-40B4-BE49-F238E27FC236}">
                  <a16:creationId xmlns:a16="http://schemas.microsoft.com/office/drawing/2014/main" id="{6E9E2F29-7874-4188-93C0-42694FC4CBD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36" y="1128"/>
              <a:ext cx="26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it-IT"/>
            </a:p>
          </p:txBody>
        </p:sp>
        <p:sp>
          <p:nvSpPr>
            <p:cNvPr id="19480" name="Text Box 23">
              <a:extLst>
                <a:ext uri="{FF2B5EF4-FFF2-40B4-BE49-F238E27FC236}">
                  <a16:creationId xmlns:a16="http://schemas.microsoft.com/office/drawing/2014/main" id="{213209FB-CE8F-46AA-82CD-1C57B855FB0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36" y="984"/>
              <a:ext cx="240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it-IT" sz="1600" i="1"/>
                <a:t>...</a:t>
              </a:r>
            </a:p>
          </p:txBody>
        </p:sp>
        <p:sp>
          <p:nvSpPr>
            <p:cNvPr id="19481" name="Line 24">
              <a:extLst>
                <a:ext uri="{FF2B5EF4-FFF2-40B4-BE49-F238E27FC236}">
                  <a16:creationId xmlns:a16="http://schemas.microsoft.com/office/drawing/2014/main" id="{C662FB55-ED62-4A46-887E-55D8D2C648F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32" y="1128"/>
              <a:ext cx="52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it-IT"/>
            </a:p>
          </p:txBody>
        </p:sp>
        <p:sp>
          <p:nvSpPr>
            <p:cNvPr id="19482" name="Line 25">
              <a:extLst>
                <a:ext uri="{FF2B5EF4-FFF2-40B4-BE49-F238E27FC236}">
                  <a16:creationId xmlns:a16="http://schemas.microsoft.com/office/drawing/2014/main" id="{CC17A229-7756-46AB-BCE5-8224441985A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24" y="1128"/>
              <a:ext cx="52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it-IT"/>
            </a:p>
          </p:txBody>
        </p:sp>
        <p:sp>
          <p:nvSpPr>
            <p:cNvPr id="19483" name="Line 26">
              <a:extLst>
                <a:ext uri="{FF2B5EF4-FFF2-40B4-BE49-F238E27FC236}">
                  <a16:creationId xmlns:a16="http://schemas.microsoft.com/office/drawing/2014/main" id="{CA1A4A5E-6B09-4F57-A936-116C82E383C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32" y="960"/>
              <a:ext cx="19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it-IT"/>
            </a:p>
          </p:txBody>
        </p:sp>
        <p:sp>
          <p:nvSpPr>
            <p:cNvPr id="19484" name="Line 27">
              <a:extLst>
                <a:ext uri="{FF2B5EF4-FFF2-40B4-BE49-F238E27FC236}">
                  <a16:creationId xmlns:a16="http://schemas.microsoft.com/office/drawing/2014/main" id="{CA638EB0-C388-4575-91EA-88F648FBCAE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224" y="720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it-IT"/>
            </a:p>
          </p:txBody>
        </p:sp>
        <p:sp>
          <p:nvSpPr>
            <p:cNvPr id="19485" name="Line 28">
              <a:extLst>
                <a:ext uri="{FF2B5EF4-FFF2-40B4-BE49-F238E27FC236}">
                  <a16:creationId xmlns:a16="http://schemas.microsoft.com/office/drawing/2014/main" id="{D3991142-BAE9-45B0-8049-E15A97C4A5B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960" y="720"/>
              <a:ext cx="326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it-IT"/>
            </a:p>
          </p:txBody>
        </p:sp>
        <p:sp>
          <p:nvSpPr>
            <p:cNvPr id="19486" name="Line 29">
              <a:extLst>
                <a:ext uri="{FF2B5EF4-FFF2-40B4-BE49-F238E27FC236}">
                  <a16:creationId xmlns:a16="http://schemas.microsoft.com/office/drawing/2014/main" id="{D1CE51DE-851F-44DE-A54C-AE8255B4C28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60" y="960"/>
              <a:ext cx="19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it-IT"/>
            </a:p>
          </p:txBody>
        </p:sp>
        <p:sp>
          <p:nvSpPr>
            <p:cNvPr id="19487" name="Line 30">
              <a:extLst>
                <a:ext uri="{FF2B5EF4-FFF2-40B4-BE49-F238E27FC236}">
                  <a16:creationId xmlns:a16="http://schemas.microsoft.com/office/drawing/2014/main" id="{C8311ABE-C393-4BFB-91B1-4D8C8E8760D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960" y="720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it-IT"/>
            </a:p>
          </p:txBody>
        </p:sp>
        <p:sp>
          <p:nvSpPr>
            <p:cNvPr id="19488" name="Text Box 31">
              <a:extLst>
                <a:ext uri="{FF2B5EF4-FFF2-40B4-BE49-F238E27FC236}">
                  <a16:creationId xmlns:a16="http://schemas.microsoft.com/office/drawing/2014/main" id="{995CB72C-E416-4EA7-866E-8450D3EF571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46" y="949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it-IT" sz="1400" i="1"/>
                <a:t>IR</a:t>
              </a:r>
              <a:endParaRPr lang="en-US" altLang="it-IT" sz="1600" i="1"/>
            </a:p>
          </p:txBody>
        </p:sp>
        <p:sp>
          <p:nvSpPr>
            <p:cNvPr id="19489" name="Text Box 32">
              <a:extLst>
                <a:ext uri="{FF2B5EF4-FFF2-40B4-BE49-F238E27FC236}">
                  <a16:creationId xmlns:a16="http://schemas.microsoft.com/office/drawing/2014/main" id="{DD6225AF-AC9D-4241-995C-D031B3C71D3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16" y="949"/>
              <a:ext cx="336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it-IT" sz="1400" i="1"/>
                <a:t>IR</a:t>
              </a:r>
              <a:endParaRPr lang="en-US" altLang="it-IT" sz="1600" i="1"/>
            </a:p>
          </p:txBody>
        </p:sp>
        <p:sp>
          <p:nvSpPr>
            <p:cNvPr id="19490" name="Text Box 33">
              <a:extLst>
                <a:ext uri="{FF2B5EF4-FFF2-40B4-BE49-F238E27FC236}">
                  <a16:creationId xmlns:a16="http://schemas.microsoft.com/office/drawing/2014/main" id="{987BDD56-8D6D-4341-AEAD-1042A15B8BC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28" y="949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it-IT" sz="1400" i="1"/>
                <a:t>IR</a:t>
              </a:r>
              <a:endParaRPr lang="en-US" altLang="it-IT" sz="1600" i="1"/>
            </a:p>
          </p:txBody>
        </p:sp>
        <p:sp>
          <p:nvSpPr>
            <p:cNvPr id="19491" name="Text Box 34">
              <a:extLst>
                <a:ext uri="{FF2B5EF4-FFF2-40B4-BE49-F238E27FC236}">
                  <a16:creationId xmlns:a16="http://schemas.microsoft.com/office/drawing/2014/main" id="{D2299CC9-86F7-450E-9ECE-56DBF08016A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77" y="949"/>
              <a:ext cx="320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it-IT" sz="1400" i="1"/>
                <a:t>IR</a:t>
              </a:r>
              <a:endParaRPr lang="en-US" altLang="it-IT" sz="1600" i="1"/>
            </a:p>
          </p:txBody>
        </p:sp>
        <p:sp>
          <p:nvSpPr>
            <p:cNvPr id="19492" name="Text Box 35">
              <a:extLst>
                <a:ext uri="{FF2B5EF4-FFF2-40B4-BE49-F238E27FC236}">
                  <a16:creationId xmlns:a16="http://schemas.microsoft.com/office/drawing/2014/main" id="{3B52FFDC-FAF9-4212-8310-FAF87E0D65D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54" y="949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it-IT" sz="1400" i="1"/>
                <a:t>IR</a:t>
              </a:r>
              <a:endParaRPr lang="en-US" altLang="it-IT" sz="1600" i="1"/>
            </a:p>
          </p:txBody>
        </p:sp>
        <p:sp>
          <p:nvSpPr>
            <p:cNvPr id="19493" name="Text Box 36">
              <a:extLst>
                <a:ext uri="{FF2B5EF4-FFF2-40B4-BE49-F238E27FC236}">
                  <a16:creationId xmlns:a16="http://schemas.microsoft.com/office/drawing/2014/main" id="{B678FA5E-700D-4172-B6FC-0B85701E26E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16" y="1824"/>
              <a:ext cx="3936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it-IT" sz="1600" i="1">
                  <a:solidFill>
                    <a:srgbClr val="003C75"/>
                  </a:solidFill>
                </a:rPr>
                <a:t>Modern optimizers are structured as a series of passes</a:t>
              </a:r>
              <a:endParaRPr lang="en-US" altLang="it-IT" sz="1600">
                <a:solidFill>
                  <a:srgbClr val="003C75"/>
                </a:solidFill>
              </a:endParaRPr>
            </a:p>
          </p:txBody>
        </p:sp>
      </p:grpSp>
    </p:spTree>
  </p:cSld>
  <p:clrMapOvr>
    <a:masterClrMapping/>
  </p:clrMapOvr>
  <p:transition>
    <p:wipe dir="r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Footer Placeholder 3">
            <a:extLst>
              <a:ext uri="{FF2B5EF4-FFF2-40B4-BE49-F238E27FC236}">
                <a16:creationId xmlns:a16="http://schemas.microsoft.com/office/drawing/2014/main" id="{A0745CA4-866F-405C-801E-7E95A81FD28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r>
              <a:rPr lang="en-US" altLang="it-IT"/>
              <a:t>Comp 412, Fall 2010</a:t>
            </a:r>
          </a:p>
        </p:txBody>
      </p:sp>
      <p:sp>
        <p:nvSpPr>
          <p:cNvPr id="21506" name="Slide Number Placeholder 4">
            <a:extLst>
              <a:ext uri="{FF2B5EF4-FFF2-40B4-BE49-F238E27FC236}">
                <a16:creationId xmlns:a16="http://schemas.microsoft.com/office/drawing/2014/main" id="{A7FBAC3A-785D-4A30-B7E3-72A6240235D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87773741-EB86-4AE9-AADB-669614BB5BDA}" type="slidenum">
              <a:rPr lang="en-US" altLang="it-IT"/>
              <a:pPr/>
              <a:t>3</a:t>
            </a:fld>
            <a:endParaRPr lang="en-US" altLang="it-IT"/>
          </a:p>
        </p:txBody>
      </p:sp>
      <p:sp>
        <p:nvSpPr>
          <p:cNvPr id="21507" name="Rectangle 2">
            <a:extLst>
              <a:ext uri="{FF2B5EF4-FFF2-40B4-BE49-F238E27FC236}">
                <a16:creationId xmlns:a16="http://schemas.microsoft.com/office/drawing/2014/main" id="{BF8704F4-38E5-4763-A5DE-7F481C3E828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it-IT"/>
              <a:t>The Role of the Optimizer</a:t>
            </a:r>
          </a:p>
        </p:txBody>
      </p:sp>
      <p:sp>
        <p:nvSpPr>
          <p:cNvPr id="21508" name="Rectangle 3">
            <a:extLst>
              <a:ext uri="{FF2B5EF4-FFF2-40B4-BE49-F238E27FC236}">
                <a16:creationId xmlns:a16="http://schemas.microsoft.com/office/drawing/2014/main" id="{ED2C971F-558D-4094-BEB1-199D8A003BD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1066800"/>
            <a:ext cx="8077200" cy="5184775"/>
          </a:xfrm>
        </p:spPr>
        <p:txBody>
          <a:bodyPr/>
          <a:lstStyle/>
          <a:p>
            <a:pPr eaLnBrk="1" hangingPunct="1">
              <a:spcBef>
                <a:spcPct val="15000"/>
              </a:spcBef>
            </a:pPr>
            <a:r>
              <a:rPr lang="en-US" altLang="it-IT"/>
              <a:t>The compiler can implement a procedure in many ways</a:t>
            </a:r>
          </a:p>
          <a:p>
            <a:pPr eaLnBrk="1" hangingPunct="1">
              <a:spcBef>
                <a:spcPct val="15000"/>
              </a:spcBef>
            </a:pPr>
            <a:r>
              <a:rPr lang="en-US" altLang="it-IT"/>
              <a:t>The optimizer tries to find an implementation that is “better”</a:t>
            </a:r>
          </a:p>
          <a:p>
            <a:pPr lvl="1" eaLnBrk="1" hangingPunct="1">
              <a:spcBef>
                <a:spcPct val="15000"/>
              </a:spcBef>
            </a:pPr>
            <a:r>
              <a:rPr lang="en-US" altLang="it-IT" i="1"/>
              <a:t>Speed, code size, data space, …</a:t>
            </a:r>
            <a:endParaRPr lang="en-US" altLang="it-IT"/>
          </a:p>
          <a:p>
            <a:pPr eaLnBrk="1" hangingPunct="1">
              <a:spcBef>
                <a:spcPct val="75000"/>
              </a:spcBef>
              <a:buFont typeface="Times" panose="02020603050405020304" pitchFamily="18" charset="0"/>
              <a:buNone/>
            </a:pPr>
            <a:r>
              <a:rPr lang="en-US" altLang="it-IT">
                <a:solidFill>
                  <a:srgbClr val="003C75"/>
                </a:solidFill>
              </a:rPr>
              <a:t>To accomplish this, it</a:t>
            </a:r>
          </a:p>
          <a:p>
            <a:pPr eaLnBrk="1" hangingPunct="1">
              <a:spcBef>
                <a:spcPct val="15000"/>
              </a:spcBef>
            </a:pPr>
            <a:r>
              <a:rPr lang="en-US" altLang="it-IT"/>
              <a:t>Analyzes the code to derive knowledge about run-time behavior</a:t>
            </a:r>
          </a:p>
          <a:p>
            <a:pPr lvl="1" eaLnBrk="1" hangingPunct="1">
              <a:spcBef>
                <a:spcPct val="15000"/>
              </a:spcBef>
            </a:pPr>
            <a:r>
              <a:rPr lang="en-US" altLang="it-IT"/>
              <a:t>Data-flow analysis, pointer disambiguation, …</a:t>
            </a:r>
          </a:p>
          <a:p>
            <a:pPr lvl="1" eaLnBrk="1" hangingPunct="1">
              <a:spcBef>
                <a:spcPct val="15000"/>
              </a:spcBef>
            </a:pPr>
            <a:r>
              <a:rPr lang="en-US" altLang="it-IT"/>
              <a:t>General term is “static analysis”</a:t>
            </a:r>
          </a:p>
          <a:p>
            <a:pPr eaLnBrk="1" hangingPunct="1">
              <a:spcBef>
                <a:spcPct val="15000"/>
              </a:spcBef>
            </a:pPr>
            <a:r>
              <a:rPr lang="en-US" altLang="it-IT"/>
              <a:t>Uses that knowledge in an attempt to improve the code</a:t>
            </a:r>
          </a:p>
          <a:p>
            <a:pPr lvl="1" eaLnBrk="1" hangingPunct="1">
              <a:spcBef>
                <a:spcPct val="15000"/>
              </a:spcBef>
            </a:pPr>
            <a:r>
              <a:rPr lang="en-US" altLang="it-IT"/>
              <a:t>Literally hundreds of transformations have been proposed</a:t>
            </a:r>
          </a:p>
          <a:p>
            <a:pPr lvl="1" eaLnBrk="1" hangingPunct="1">
              <a:spcBef>
                <a:spcPct val="15000"/>
              </a:spcBef>
            </a:pPr>
            <a:r>
              <a:rPr lang="en-US" altLang="it-IT"/>
              <a:t>Large amount of overlap between them</a:t>
            </a:r>
          </a:p>
          <a:p>
            <a:pPr eaLnBrk="1" hangingPunct="1">
              <a:spcBef>
                <a:spcPct val="75000"/>
              </a:spcBef>
              <a:buFont typeface="Times" panose="02020603050405020304" pitchFamily="18" charset="0"/>
              <a:buNone/>
            </a:pPr>
            <a:r>
              <a:rPr lang="en-US" altLang="it-IT">
                <a:solidFill>
                  <a:srgbClr val="003C75"/>
                </a:solidFill>
              </a:rPr>
              <a:t>Nothing “optimal” about optimization</a:t>
            </a:r>
          </a:p>
          <a:p>
            <a:pPr eaLnBrk="1" hangingPunct="1">
              <a:spcBef>
                <a:spcPct val="15000"/>
              </a:spcBef>
            </a:pPr>
            <a:r>
              <a:rPr lang="en-US" altLang="it-IT"/>
              <a:t>Proofs of optimality assume restrictive &amp; unrealistic conditions</a:t>
            </a:r>
          </a:p>
        </p:txBody>
      </p:sp>
    </p:spTree>
  </p:cSld>
  <p:clrMapOvr>
    <a:masterClrMapping/>
  </p:clrMapOvr>
  <p:transition>
    <p:wipe dir="r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Footer Placeholder 3">
            <a:extLst>
              <a:ext uri="{FF2B5EF4-FFF2-40B4-BE49-F238E27FC236}">
                <a16:creationId xmlns:a16="http://schemas.microsoft.com/office/drawing/2014/main" id="{915A1E3D-B667-4817-9E44-3A59F3360DF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r>
              <a:rPr lang="en-US" altLang="it-IT"/>
              <a:t>Comp 412, Fall 2010</a:t>
            </a:r>
          </a:p>
        </p:txBody>
      </p:sp>
      <p:sp>
        <p:nvSpPr>
          <p:cNvPr id="23554" name="Slide Number Placeholder 4">
            <a:extLst>
              <a:ext uri="{FF2B5EF4-FFF2-40B4-BE49-F238E27FC236}">
                <a16:creationId xmlns:a16="http://schemas.microsoft.com/office/drawing/2014/main" id="{32F13BE6-A8D5-42D4-AFAD-F56064EE213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4A3D1367-6CA4-4103-8E94-3500A2EFB845}" type="slidenum">
              <a:rPr lang="en-US" altLang="it-IT"/>
              <a:pPr/>
              <a:t>4</a:t>
            </a:fld>
            <a:endParaRPr lang="en-US" altLang="it-IT"/>
          </a:p>
        </p:txBody>
      </p:sp>
      <p:sp>
        <p:nvSpPr>
          <p:cNvPr id="23555" name="Rectangle 2">
            <a:extLst>
              <a:ext uri="{FF2B5EF4-FFF2-40B4-BE49-F238E27FC236}">
                <a16:creationId xmlns:a16="http://schemas.microsoft.com/office/drawing/2014/main" id="{2CBCC5CC-6D8F-4AB8-9845-D0A4B4F370A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it-IT"/>
              <a:t>Redundancy Elimination as an Example</a:t>
            </a:r>
          </a:p>
        </p:txBody>
      </p:sp>
      <p:sp>
        <p:nvSpPr>
          <p:cNvPr id="23556" name="Rectangle 3">
            <a:extLst>
              <a:ext uri="{FF2B5EF4-FFF2-40B4-BE49-F238E27FC236}">
                <a16:creationId xmlns:a16="http://schemas.microsoft.com/office/drawing/2014/main" id="{53F5AC1F-0128-41E5-A725-900F726A115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  <a:spcBef>
                <a:spcPct val="0"/>
              </a:spcBef>
              <a:buFont typeface="Times" panose="02020603050405020304" pitchFamily="18" charset="0"/>
              <a:buNone/>
            </a:pPr>
            <a:r>
              <a:rPr lang="en-US" altLang="it-IT"/>
              <a:t>An expression </a:t>
            </a:r>
            <a:r>
              <a:rPr lang="en-US" altLang="it-IT">
                <a:latin typeface="Arial" panose="020B0604020202020204" pitchFamily="34" charset="0"/>
              </a:rPr>
              <a:t>x+y</a:t>
            </a:r>
            <a:r>
              <a:rPr lang="en-US" altLang="it-IT"/>
              <a:t> is </a:t>
            </a:r>
            <a:r>
              <a:rPr lang="en-US" altLang="it-IT">
                <a:solidFill>
                  <a:srgbClr val="003C75"/>
                </a:solidFill>
              </a:rPr>
              <a:t>redundant </a:t>
            </a:r>
            <a:r>
              <a:rPr lang="en-US" altLang="it-IT"/>
              <a:t>if and only if, along every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 typeface="Times" panose="02020603050405020304" pitchFamily="18" charset="0"/>
              <a:buNone/>
            </a:pPr>
            <a:r>
              <a:rPr lang="en-US" altLang="it-IT"/>
              <a:t>path from the procedure’s entry, it has been evaluated, and its 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 typeface="Times" panose="02020603050405020304" pitchFamily="18" charset="0"/>
              <a:buNone/>
            </a:pPr>
            <a:r>
              <a:rPr lang="en-US" altLang="it-IT"/>
              <a:t>constituent subexpressions (</a:t>
            </a:r>
            <a:r>
              <a:rPr lang="en-US" altLang="it-IT">
                <a:latin typeface="Arial" panose="020B0604020202020204" pitchFamily="34" charset="0"/>
              </a:rPr>
              <a:t>x</a:t>
            </a:r>
            <a:r>
              <a:rPr lang="en-US" altLang="it-IT"/>
              <a:t> &amp; </a:t>
            </a:r>
            <a:r>
              <a:rPr lang="en-US" altLang="it-IT">
                <a:latin typeface="Arial" panose="020B0604020202020204" pitchFamily="34" charset="0"/>
              </a:rPr>
              <a:t>y</a:t>
            </a:r>
            <a:r>
              <a:rPr lang="en-US" altLang="it-IT"/>
              <a:t>) have </a:t>
            </a:r>
            <a:r>
              <a:rPr lang="en-US" altLang="it-IT" u="sng"/>
              <a:t>not</a:t>
            </a:r>
            <a:r>
              <a:rPr lang="en-US" altLang="it-IT"/>
              <a:t> been re-defined.</a:t>
            </a:r>
          </a:p>
          <a:p>
            <a:pPr eaLnBrk="1" hangingPunct="1">
              <a:spcBef>
                <a:spcPct val="100000"/>
              </a:spcBef>
              <a:buFont typeface="Times" panose="02020603050405020304" pitchFamily="18" charset="0"/>
              <a:buNone/>
            </a:pPr>
            <a:r>
              <a:rPr lang="en-US" altLang="it-IT"/>
              <a:t>If the compiler can prove that an expression is redundant</a:t>
            </a:r>
          </a:p>
          <a:p>
            <a:pPr eaLnBrk="1" hangingPunct="1"/>
            <a:r>
              <a:rPr lang="en-US" altLang="it-IT"/>
              <a:t>It can preserve the results of earlier evaluations</a:t>
            </a:r>
          </a:p>
          <a:p>
            <a:pPr eaLnBrk="1" hangingPunct="1"/>
            <a:r>
              <a:rPr lang="en-US" altLang="it-IT"/>
              <a:t>It can replace the current evaluation with a reference</a:t>
            </a:r>
          </a:p>
          <a:p>
            <a:pPr eaLnBrk="1" hangingPunct="1">
              <a:spcBef>
                <a:spcPct val="100000"/>
              </a:spcBef>
              <a:buFont typeface="Times" panose="02020603050405020304" pitchFamily="18" charset="0"/>
              <a:buNone/>
            </a:pPr>
            <a:r>
              <a:rPr lang="en-US" altLang="it-IT"/>
              <a:t>Two pieces to the problem</a:t>
            </a:r>
          </a:p>
          <a:p>
            <a:pPr eaLnBrk="1" hangingPunct="1"/>
            <a:r>
              <a:rPr lang="en-US" altLang="it-IT"/>
              <a:t>Proving that </a:t>
            </a:r>
            <a:r>
              <a:rPr lang="en-US" altLang="it-IT">
                <a:latin typeface="Arial" panose="020B0604020202020204" pitchFamily="34" charset="0"/>
              </a:rPr>
              <a:t>x+y</a:t>
            </a:r>
            <a:r>
              <a:rPr lang="en-US" altLang="it-IT"/>
              <a:t> is redundant, or </a:t>
            </a:r>
            <a:r>
              <a:rPr lang="en-US" altLang="it-IT" i="1" u="sng">
                <a:solidFill>
                  <a:srgbClr val="003C75"/>
                </a:solidFill>
              </a:rPr>
              <a:t>available</a:t>
            </a:r>
            <a:endParaRPr lang="en-US" altLang="it-IT">
              <a:solidFill>
                <a:srgbClr val="003C75"/>
              </a:solidFill>
            </a:endParaRPr>
          </a:p>
          <a:p>
            <a:pPr eaLnBrk="1" hangingPunct="1"/>
            <a:r>
              <a:rPr lang="en-US" altLang="it-IT"/>
              <a:t>Rewriting the code to eliminate the redundant evaluation</a:t>
            </a:r>
          </a:p>
          <a:p>
            <a:pPr eaLnBrk="1" hangingPunct="1">
              <a:spcBef>
                <a:spcPct val="100000"/>
              </a:spcBef>
              <a:buFont typeface="Times" panose="02020603050405020304" pitchFamily="18" charset="0"/>
              <a:buNone/>
            </a:pPr>
            <a:r>
              <a:rPr lang="en-US" altLang="it-IT"/>
              <a:t>One technique for accomplishing both is called </a:t>
            </a:r>
            <a:r>
              <a:rPr lang="en-US" altLang="it-IT" i="1" u="sng"/>
              <a:t>value numbering</a:t>
            </a:r>
            <a:endParaRPr lang="en-US" altLang="it-IT" u="sng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7A6835A-7097-4D41-BB11-D0634939BFE5}"/>
              </a:ext>
            </a:extLst>
          </p:cNvPr>
          <p:cNvSpPr txBox="1"/>
          <p:nvPr/>
        </p:nvSpPr>
        <p:spPr>
          <a:xfrm>
            <a:off x="4567238" y="6248400"/>
            <a:ext cx="3621087" cy="307975"/>
          </a:xfrm>
          <a:prstGeom prst="rect">
            <a:avLst/>
          </a:prstGeom>
          <a:solidFill>
            <a:schemeClr val="bg1">
              <a:lumMod val="75000"/>
            </a:schemeClr>
          </a:solidFill>
          <a:ln w="19050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>
              <a:srgbClr val="000000">
                <a:alpha val="43000"/>
              </a:srgbClr>
            </a:outerShdw>
          </a:effectLst>
        </p:spPr>
        <p:txBody>
          <a:bodyPr>
            <a:spAutoFit/>
          </a:bodyPr>
          <a:lstStyle/>
          <a:p>
            <a:pPr eaLnBrk="0" hangingPunct="0">
              <a:defRPr/>
            </a:pPr>
            <a:r>
              <a:rPr lang="en-US" sz="1400" dirty="0">
                <a:solidFill>
                  <a:srgbClr val="003C75"/>
                </a:solidFill>
                <a:latin typeface="Comic Sans MS" charset="0"/>
                <a:ea typeface="ヒラギノ角ゴ Pro W3" charset="-128"/>
                <a:cs typeface="ヒラギノ角ゴ Pro W3" charset="-128"/>
              </a:rPr>
              <a:t>Assume a low-level, linear </a:t>
            </a:r>
            <a:r>
              <a:rPr lang="en-US" sz="1200" dirty="0">
                <a:solidFill>
                  <a:srgbClr val="003C75"/>
                </a:solidFill>
                <a:latin typeface="Comic Sans MS" charset="0"/>
                <a:ea typeface="ヒラギノ角ゴ Pro W3" charset="-128"/>
                <a:cs typeface="ヒラギノ角ゴ Pro W3" charset="-128"/>
              </a:rPr>
              <a:t>IR</a:t>
            </a:r>
            <a:r>
              <a:rPr lang="en-US" sz="1400" dirty="0">
                <a:solidFill>
                  <a:srgbClr val="003C75"/>
                </a:solidFill>
                <a:latin typeface="Comic Sans MS" charset="0"/>
                <a:ea typeface="ヒラギノ角ゴ Pro W3" charset="-128"/>
                <a:cs typeface="ヒラギノ角ゴ Pro W3" charset="-128"/>
              </a:rPr>
              <a:t> such as </a:t>
            </a:r>
            <a:r>
              <a:rPr lang="en-US" sz="1200" dirty="0">
                <a:solidFill>
                  <a:srgbClr val="003C75"/>
                </a:solidFill>
                <a:latin typeface="Comic Sans MS" charset="0"/>
                <a:ea typeface="ヒラギノ角ゴ Pro W3" charset="-128"/>
                <a:cs typeface="ヒラギノ角ゴ Pro W3" charset="-128"/>
              </a:rPr>
              <a:t>ILOC</a:t>
            </a:r>
          </a:p>
        </p:txBody>
      </p:sp>
    </p:spTree>
  </p:cSld>
  <p:clrMapOvr>
    <a:masterClrMapping/>
  </p:clrMapOvr>
  <p:transition>
    <p:wipe dir="r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Footer Placeholder 3">
            <a:extLst>
              <a:ext uri="{FF2B5EF4-FFF2-40B4-BE49-F238E27FC236}">
                <a16:creationId xmlns:a16="http://schemas.microsoft.com/office/drawing/2014/main" id="{80B87C43-753E-4EA5-819C-53662CF9D1D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r>
              <a:rPr lang="en-US" altLang="it-IT"/>
              <a:t>Comp 412, Fall 2010</a:t>
            </a:r>
          </a:p>
        </p:txBody>
      </p:sp>
      <p:sp>
        <p:nvSpPr>
          <p:cNvPr id="25602" name="Slide Number Placeholder 4">
            <a:extLst>
              <a:ext uri="{FF2B5EF4-FFF2-40B4-BE49-F238E27FC236}">
                <a16:creationId xmlns:a16="http://schemas.microsoft.com/office/drawing/2014/main" id="{A8A929D5-E1A3-42C6-A438-D0716438F8A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C4078354-54EF-4EA4-8041-0875B12DF518}" type="slidenum">
              <a:rPr lang="en-US" altLang="it-IT"/>
              <a:pPr/>
              <a:t>5</a:t>
            </a:fld>
            <a:endParaRPr lang="en-US" altLang="it-IT"/>
          </a:p>
        </p:txBody>
      </p:sp>
      <p:sp>
        <p:nvSpPr>
          <p:cNvPr id="25603" name="Rectangle 2">
            <a:extLst>
              <a:ext uri="{FF2B5EF4-FFF2-40B4-BE49-F238E27FC236}">
                <a16:creationId xmlns:a16="http://schemas.microsoft.com/office/drawing/2014/main" id="{8456DFE1-C680-4369-AA01-62681BB8D19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spcBef>
                <a:spcPct val="150000"/>
              </a:spcBef>
            </a:pPr>
            <a:r>
              <a:rPr lang="en-US" altLang="it-IT"/>
              <a:t>Value Numbering                        </a:t>
            </a:r>
          </a:p>
        </p:txBody>
      </p:sp>
      <p:sp>
        <p:nvSpPr>
          <p:cNvPr id="25604" name="Rectangle 3">
            <a:extLst>
              <a:ext uri="{FF2B5EF4-FFF2-40B4-BE49-F238E27FC236}">
                <a16:creationId xmlns:a16="http://schemas.microsoft.com/office/drawing/2014/main" id="{04D08B4F-9CCD-41D7-9A4A-A05E7600BAB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1066800"/>
            <a:ext cx="7924800" cy="5118100"/>
          </a:xfrm>
        </p:spPr>
        <p:txBody>
          <a:bodyPr/>
          <a:lstStyle/>
          <a:p>
            <a:pPr eaLnBrk="1" hangingPunct="1">
              <a:spcBef>
                <a:spcPct val="40000"/>
              </a:spcBef>
              <a:buFont typeface="Times" panose="02020603050405020304" pitchFamily="18" charset="0"/>
              <a:buNone/>
            </a:pPr>
            <a:r>
              <a:rPr lang="en-US" altLang="it-IT"/>
              <a:t>The key notion</a:t>
            </a:r>
          </a:p>
          <a:p>
            <a:pPr eaLnBrk="1" hangingPunct="1">
              <a:spcBef>
                <a:spcPct val="15000"/>
              </a:spcBef>
            </a:pPr>
            <a:r>
              <a:rPr lang="en-US" altLang="it-IT"/>
              <a:t>Assign an identifying number, V(</a:t>
            </a:r>
            <a:r>
              <a:rPr lang="en-US" altLang="it-IT">
                <a:latin typeface="Arial" panose="020B0604020202020204" pitchFamily="34" charset="0"/>
              </a:rPr>
              <a:t>n</a:t>
            </a:r>
            <a:r>
              <a:rPr lang="en-US" altLang="it-IT"/>
              <a:t>), to each expression</a:t>
            </a:r>
          </a:p>
          <a:p>
            <a:pPr lvl="1" eaLnBrk="1" hangingPunct="1">
              <a:spcBef>
                <a:spcPct val="10000"/>
              </a:spcBef>
            </a:pPr>
            <a:r>
              <a:rPr lang="en-US" altLang="it-IT"/>
              <a:t>V(x+y) = V(j) iff x+y and j always have the same value</a:t>
            </a:r>
            <a:endParaRPr lang="en-US" altLang="it-IT">
              <a:sym typeface="Symbol" panose="05050102010706020507" pitchFamily="18" charset="2"/>
            </a:endParaRPr>
          </a:p>
          <a:p>
            <a:pPr lvl="1" eaLnBrk="1" hangingPunct="1">
              <a:spcBef>
                <a:spcPct val="10000"/>
              </a:spcBef>
            </a:pPr>
            <a:r>
              <a:rPr lang="en-US" altLang="it-IT">
                <a:sym typeface="Symbol" panose="05050102010706020507" pitchFamily="18" charset="2"/>
              </a:rPr>
              <a:t>Use hashing over the value numbers to make it efficient</a:t>
            </a:r>
          </a:p>
          <a:p>
            <a:pPr eaLnBrk="1" hangingPunct="1">
              <a:spcBef>
                <a:spcPct val="15000"/>
              </a:spcBef>
            </a:pPr>
            <a:r>
              <a:rPr lang="en-US" altLang="it-IT"/>
              <a:t>Use these numbers to improve the code</a:t>
            </a:r>
          </a:p>
          <a:p>
            <a:pPr eaLnBrk="1" hangingPunct="1">
              <a:spcBef>
                <a:spcPct val="75000"/>
              </a:spcBef>
              <a:buFont typeface="Times" panose="02020603050405020304" pitchFamily="18" charset="0"/>
              <a:buNone/>
            </a:pPr>
            <a:r>
              <a:rPr lang="en-US" altLang="it-IT"/>
              <a:t>Improving the code</a:t>
            </a:r>
          </a:p>
          <a:p>
            <a:pPr eaLnBrk="1" hangingPunct="1">
              <a:spcBef>
                <a:spcPct val="15000"/>
              </a:spcBef>
            </a:pPr>
            <a:r>
              <a:rPr lang="en-US" altLang="it-IT"/>
              <a:t>Replace redundant expressions</a:t>
            </a:r>
          </a:p>
          <a:p>
            <a:pPr lvl="1" eaLnBrk="1" hangingPunct="1">
              <a:spcBef>
                <a:spcPct val="10000"/>
              </a:spcBef>
            </a:pPr>
            <a:r>
              <a:rPr lang="en-US" altLang="it-IT"/>
              <a:t>Same VN </a:t>
            </a:r>
            <a:r>
              <a:rPr lang="en-US" altLang="it-IT">
                <a:sym typeface="Symbol" panose="05050102010706020507" pitchFamily="18" charset="2"/>
              </a:rPr>
              <a:t> refer rather than recompute</a:t>
            </a:r>
            <a:endParaRPr lang="en-US" altLang="it-IT"/>
          </a:p>
          <a:p>
            <a:pPr eaLnBrk="1" hangingPunct="1">
              <a:spcBef>
                <a:spcPct val="15000"/>
              </a:spcBef>
            </a:pPr>
            <a:r>
              <a:rPr lang="en-US" altLang="it-IT"/>
              <a:t>Simplify algebraic identities</a:t>
            </a:r>
          </a:p>
          <a:p>
            <a:pPr eaLnBrk="1" hangingPunct="1">
              <a:spcBef>
                <a:spcPct val="15000"/>
              </a:spcBef>
            </a:pPr>
            <a:r>
              <a:rPr lang="en-US" altLang="it-IT"/>
              <a:t>Discover constant-valued expressions, fold &amp; propagate them</a:t>
            </a:r>
          </a:p>
          <a:p>
            <a:pPr eaLnBrk="1" hangingPunct="1">
              <a:spcBef>
                <a:spcPct val="15000"/>
              </a:spcBef>
            </a:pPr>
            <a:r>
              <a:rPr lang="en-US" altLang="it-IT"/>
              <a:t>Technique designed for low-level, linear </a:t>
            </a:r>
            <a:r>
              <a:rPr lang="en-US" altLang="it-IT" sz="1800"/>
              <a:t>IR</a:t>
            </a:r>
            <a:r>
              <a:rPr lang="en-US" altLang="it-IT"/>
              <a:t>s, similar methods exist for trees (e.g., build a DAG)</a:t>
            </a:r>
          </a:p>
        </p:txBody>
      </p:sp>
      <p:sp>
        <p:nvSpPr>
          <p:cNvPr id="25605" name="Text Box 4">
            <a:extLst>
              <a:ext uri="{FF2B5EF4-FFF2-40B4-BE49-F238E27FC236}">
                <a16:creationId xmlns:a16="http://schemas.microsoft.com/office/drawing/2014/main" id="{A8D465E8-1F19-411B-9C61-3FEB10536C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84700" y="249238"/>
            <a:ext cx="3003550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it-IT" sz="1600">
                <a:solidFill>
                  <a:srgbClr val="FF0065"/>
                </a:solidFill>
              </a:rPr>
              <a:t>Local algorithm due to Balke (1968) or Ershov (1954)</a:t>
            </a:r>
          </a:p>
        </p:txBody>
      </p:sp>
      <p:grpSp>
        <p:nvGrpSpPr>
          <p:cNvPr id="25606" name="Group 5">
            <a:extLst>
              <a:ext uri="{FF2B5EF4-FFF2-40B4-BE49-F238E27FC236}">
                <a16:creationId xmlns:a16="http://schemas.microsoft.com/office/drawing/2014/main" id="{629B368D-2722-4DFA-851F-280101C76D14}"/>
              </a:ext>
            </a:extLst>
          </p:cNvPr>
          <p:cNvGrpSpPr>
            <a:grpSpLocks/>
          </p:cNvGrpSpPr>
          <p:nvPr/>
        </p:nvGrpSpPr>
        <p:grpSpPr bwMode="auto">
          <a:xfrm>
            <a:off x="6219825" y="1981200"/>
            <a:ext cx="2614613" cy="1585913"/>
            <a:chOff x="3918" y="1264"/>
            <a:chExt cx="1647" cy="999"/>
          </a:xfrm>
        </p:grpSpPr>
        <p:sp>
          <p:nvSpPr>
            <p:cNvPr id="13318" name="Text Box 6">
              <a:extLst>
                <a:ext uri="{FF2B5EF4-FFF2-40B4-BE49-F238E27FC236}">
                  <a16:creationId xmlns:a16="http://schemas.microsoft.com/office/drawing/2014/main" id="{D66BA690-D05F-4E86-87C7-8E2830C6081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18" y="1737"/>
              <a:ext cx="1647" cy="526"/>
            </a:xfrm>
            <a:prstGeom prst="rect">
              <a:avLst/>
            </a:prstGeom>
            <a:solidFill>
              <a:srgbClr val="BFBFBF"/>
            </a:solidFill>
            <a:ln w="19050" cap="flat" cmpd="sng" algn="ctr">
              <a:solidFill>
                <a:srgbClr val="7F7F7F"/>
              </a:solidFill>
              <a:prstDash val="solid"/>
              <a:miter lim="800000"/>
              <a:headEnd type="none" w="med" len="med"/>
              <a:tailEnd type="none" w="med" len="med"/>
            </a:ln>
            <a:effectLst>
              <a:outerShdw blurRad="50800" dist="38100" dir="2700000">
                <a:srgbClr val="000000">
                  <a:alpha val="43000"/>
                </a:srgbClr>
              </a:outerShdw>
            </a:effectLst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  <a:defRPr/>
              </a:pPr>
              <a:r>
                <a:rPr lang="en-US" sz="1600">
                  <a:solidFill>
                    <a:srgbClr val="003C75"/>
                  </a:solidFill>
                  <a:latin typeface="Comic Sans MS" charset="0"/>
                  <a:ea typeface="ヒラギノ角ゴ Pro W3" charset="-128"/>
                  <a:cs typeface="ヒラギノ角ゴ Pro W3" charset="-128"/>
                </a:rPr>
                <a:t>Within a basic block; definition becomes more complex across blocks</a:t>
              </a:r>
            </a:p>
          </p:txBody>
        </p:sp>
        <p:sp>
          <p:nvSpPr>
            <p:cNvPr id="25608" name="Freeform 7">
              <a:extLst>
                <a:ext uri="{FF2B5EF4-FFF2-40B4-BE49-F238E27FC236}">
                  <a16:creationId xmlns:a16="http://schemas.microsoft.com/office/drawing/2014/main" id="{EBC32F63-02FB-43C2-999A-6F262B2FB02D}"/>
                </a:ext>
              </a:extLst>
            </p:cNvPr>
            <p:cNvSpPr>
              <a:spLocks/>
            </p:cNvSpPr>
            <p:nvPr/>
          </p:nvSpPr>
          <p:spPr bwMode="auto">
            <a:xfrm>
              <a:off x="4679" y="1264"/>
              <a:ext cx="391" cy="473"/>
            </a:xfrm>
            <a:custGeom>
              <a:avLst/>
              <a:gdLst>
                <a:gd name="T0" fmla="*/ 0 w 391"/>
                <a:gd name="T1" fmla="*/ 0 h 473"/>
                <a:gd name="T2" fmla="*/ 336 w 391"/>
                <a:gd name="T3" fmla="*/ 52 h 473"/>
                <a:gd name="T4" fmla="*/ 327 w 391"/>
                <a:gd name="T5" fmla="*/ 267 h 473"/>
                <a:gd name="T6" fmla="*/ 61 w 391"/>
                <a:gd name="T7" fmla="*/ 473 h 473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391"/>
                <a:gd name="T13" fmla="*/ 0 h 473"/>
                <a:gd name="T14" fmla="*/ 391 w 391"/>
                <a:gd name="T15" fmla="*/ 473 h 473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391" h="473">
                  <a:moveTo>
                    <a:pt x="0" y="0"/>
                  </a:moveTo>
                  <a:cubicBezTo>
                    <a:pt x="140" y="4"/>
                    <a:pt x="281" y="8"/>
                    <a:pt x="336" y="52"/>
                  </a:cubicBezTo>
                  <a:cubicBezTo>
                    <a:pt x="391" y="96"/>
                    <a:pt x="373" y="197"/>
                    <a:pt x="327" y="267"/>
                  </a:cubicBezTo>
                  <a:cubicBezTo>
                    <a:pt x="281" y="337"/>
                    <a:pt x="171" y="405"/>
                    <a:pt x="61" y="473"/>
                  </a:cubicBezTo>
                </a:path>
              </a:pathLst>
            </a:custGeom>
            <a:noFill/>
            <a:ln w="19050" algn="ctr">
              <a:solidFill>
                <a:srgbClr val="7F7F7F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endParaRPr lang="en-GB" altLang="it-IT">
                <a:solidFill>
                  <a:srgbClr val="003C75"/>
                </a:solidFill>
              </a:endParaRPr>
            </a:p>
          </p:txBody>
        </p:sp>
      </p:grpSp>
    </p:spTree>
  </p:cSld>
  <p:clrMapOvr>
    <a:masterClrMapping/>
  </p:clrMapOvr>
  <p:transition>
    <p:wipe dir="r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Footer Placeholder 3">
            <a:extLst>
              <a:ext uri="{FF2B5EF4-FFF2-40B4-BE49-F238E27FC236}">
                <a16:creationId xmlns:a16="http://schemas.microsoft.com/office/drawing/2014/main" id="{403C1C40-E6FE-4983-A16D-86FADF25DA7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r>
              <a:rPr lang="en-US" altLang="it-IT"/>
              <a:t>Comp 412, Fall 2010</a:t>
            </a:r>
          </a:p>
        </p:txBody>
      </p:sp>
      <p:sp>
        <p:nvSpPr>
          <p:cNvPr id="27650" name="Slide Number Placeholder 4">
            <a:extLst>
              <a:ext uri="{FF2B5EF4-FFF2-40B4-BE49-F238E27FC236}">
                <a16:creationId xmlns:a16="http://schemas.microsoft.com/office/drawing/2014/main" id="{B4D822E6-51A0-41B9-8F63-F4BF2E513C6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83615510-8B91-48F8-91CB-08A10AD09C45}" type="slidenum">
              <a:rPr lang="en-US" altLang="it-IT"/>
              <a:pPr/>
              <a:t>6</a:t>
            </a:fld>
            <a:endParaRPr lang="en-US" altLang="it-IT"/>
          </a:p>
        </p:txBody>
      </p:sp>
      <p:sp>
        <p:nvSpPr>
          <p:cNvPr id="27651" name="Rectangle 2">
            <a:extLst>
              <a:ext uri="{FF2B5EF4-FFF2-40B4-BE49-F238E27FC236}">
                <a16:creationId xmlns:a16="http://schemas.microsoft.com/office/drawing/2014/main" id="{CB88965A-8FA7-44EB-AE45-6F7E2B55D85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it-IT"/>
              <a:t>Local Value Numbering</a:t>
            </a:r>
          </a:p>
        </p:txBody>
      </p:sp>
      <p:sp>
        <p:nvSpPr>
          <p:cNvPr id="27652" name="Rectangle 3">
            <a:extLst>
              <a:ext uri="{FF2B5EF4-FFF2-40B4-BE49-F238E27FC236}">
                <a16:creationId xmlns:a16="http://schemas.microsoft.com/office/drawing/2014/main" id="{47BF5ECC-8618-4B14-B7CC-31B08BE58D1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 typeface="Times" panose="02020603050405020304" pitchFamily="18" charset="0"/>
              <a:buNone/>
            </a:pPr>
            <a:r>
              <a:rPr lang="en-US" altLang="it-IT">
                <a:solidFill>
                  <a:srgbClr val="003C75"/>
                </a:solidFill>
              </a:rPr>
              <a:t>The Algorithm</a:t>
            </a:r>
            <a:endParaRPr lang="en-US" altLang="it-IT"/>
          </a:p>
          <a:p>
            <a:pPr eaLnBrk="1" hangingPunct="1">
              <a:buFont typeface="Times" panose="02020603050405020304" pitchFamily="18" charset="0"/>
              <a:buNone/>
            </a:pPr>
            <a:r>
              <a:rPr lang="en-US" altLang="it-IT"/>
              <a:t>For each operation </a:t>
            </a:r>
            <a:r>
              <a:rPr lang="en-US" altLang="it-IT" i="1">
                <a:solidFill>
                  <a:srgbClr val="FF0065"/>
                </a:solidFill>
              </a:rPr>
              <a:t>o = </a:t>
            </a:r>
            <a:r>
              <a:rPr lang="en-US" altLang="it-IT" sz="1800">
                <a:solidFill>
                  <a:srgbClr val="FF0065"/>
                </a:solidFill>
              </a:rPr>
              <a:t>&lt;</a:t>
            </a:r>
            <a:r>
              <a:rPr lang="en-US" altLang="it-IT" sz="1800">
                <a:solidFill>
                  <a:srgbClr val="FF0065"/>
                </a:solidFill>
                <a:latin typeface="Monaco"/>
              </a:rPr>
              <a:t>operator</a:t>
            </a:r>
            <a:r>
              <a:rPr lang="en-US" altLang="it-IT">
                <a:solidFill>
                  <a:srgbClr val="FF0065"/>
                </a:solidFill>
              </a:rPr>
              <a:t>, </a:t>
            </a:r>
            <a:r>
              <a:rPr lang="en-US" altLang="it-IT" sz="1800">
                <a:solidFill>
                  <a:srgbClr val="FF0065"/>
                </a:solidFill>
                <a:latin typeface="Monaco"/>
              </a:rPr>
              <a:t>o</a:t>
            </a:r>
            <a:r>
              <a:rPr lang="en-US" altLang="it-IT" sz="1800" baseline="-25000">
                <a:solidFill>
                  <a:srgbClr val="FF0065"/>
                </a:solidFill>
                <a:latin typeface="Monaco"/>
              </a:rPr>
              <a:t>1</a:t>
            </a:r>
            <a:r>
              <a:rPr lang="en-US" altLang="it-IT">
                <a:solidFill>
                  <a:srgbClr val="FF0065"/>
                </a:solidFill>
              </a:rPr>
              <a:t>, </a:t>
            </a:r>
            <a:r>
              <a:rPr lang="en-US" altLang="it-IT" sz="1800">
                <a:solidFill>
                  <a:srgbClr val="FF0065"/>
                </a:solidFill>
                <a:latin typeface="Monaco"/>
              </a:rPr>
              <a:t>o</a:t>
            </a:r>
            <a:r>
              <a:rPr lang="en-US" altLang="it-IT" sz="1800" baseline="-25000">
                <a:solidFill>
                  <a:srgbClr val="FF0065"/>
                </a:solidFill>
                <a:latin typeface="Monaco"/>
              </a:rPr>
              <a:t>2</a:t>
            </a:r>
            <a:r>
              <a:rPr lang="en-US" altLang="it-IT" sz="1800">
                <a:solidFill>
                  <a:srgbClr val="FF0065"/>
                </a:solidFill>
              </a:rPr>
              <a:t>&gt;</a:t>
            </a:r>
            <a:r>
              <a:rPr lang="en-US" altLang="it-IT"/>
              <a:t> in the block, in order</a:t>
            </a:r>
          </a:p>
          <a:p>
            <a:pPr eaLnBrk="1" hangingPunct="1">
              <a:spcBef>
                <a:spcPct val="15000"/>
              </a:spcBef>
              <a:buSzPct val="90000"/>
              <a:buFontTx/>
              <a:buChar char="1"/>
            </a:pPr>
            <a:r>
              <a:rPr lang="en-US" altLang="it-IT"/>
              <a:t>Get value numbers for operands from hash lookup</a:t>
            </a:r>
          </a:p>
          <a:p>
            <a:pPr eaLnBrk="1" hangingPunct="1">
              <a:spcBef>
                <a:spcPct val="15000"/>
              </a:spcBef>
              <a:buSzPct val="90000"/>
              <a:buFontTx/>
              <a:buChar char="2"/>
            </a:pPr>
            <a:r>
              <a:rPr lang="en-US" altLang="it-IT"/>
              <a:t>Hash </a:t>
            </a:r>
            <a:r>
              <a:rPr lang="en-US" altLang="it-IT" sz="1800">
                <a:solidFill>
                  <a:srgbClr val="FF0065"/>
                </a:solidFill>
              </a:rPr>
              <a:t>&lt;</a:t>
            </a:r>
            <a:r>
              <a:rPr lang="en-US" altLang="it-IT" sz="1800">
                <a:solidFill>
                  <a:srgbClr val="FF0065"/>
                </a:solidFill>
                <a:latin typeface="Monaco"/>
              </a:rPr>
              <a:t>operator</a:t>
            </a:r>
            <a:r>
              <a:rPr lang="en-US" altLang="it-IT">
                <a:solidFill>
                  <a:srgbClr val="FF0065"/>
                </a:solidFill>
              </a:rPr>
              <a:t>,</a:t>
            </a:r>
            <a:r>
              <a:rPr lang="en-US" altLang="it-IT" sz="1800">
                <a:solidFill>
                  <a:srgbClr val="FF0065"/>
                </a:solidFill>
                <a:latin typeface="Monaco"/>
              </a:rPr>
              <a:t>VN(o</a:t>
            </a:r>
            <a:r>
              <a:rPr lang="en-US" altLang="it-IT" sz="1800" baseline="-25000">
                <a:solidFill>
                  <a:srgbClr val="FF0065"/>
                </a:solidFill>
                <a:latin typeface="Monaco"/>
              </a:rPr>
              <a:t>1</a:t>
            </a:r>
            <a:r>
              <a:rPr lang="en-US" altLang="it-IT" sz="1800">
                <a:solidFill>
                  <a:srgbClr val="FF0065"/>
                </a:solidFill>
                <a:latin typeface="Monaco"/>
              </a:rPr>
              <a:t>)</a:t>
            </a:r>
            <a:r>
              <a:rPr lang="en-US" altLang="it-IT">
                <a:solidFill>
                  <a:srgbClr val="FF0065"/>
                </a:solidFill>
              </a:rPr>
              <a:t>,</a:t>
            </a:r>
            <a:r>
              <a:rPr lang="en-US" altLang="it-IT" sz="1800">
                <a:solidFill>
                  <a:srgbClr val="FF0065"/>
                </a:solidFill>
                <a:latin typeface="Monaco"/>
              </a:rPr>
              <a:t>VN(o</a:t>
            </a:r>
            <a:r>
              <a:rPr lang="en-US" altLang="it-IT" sz="1800" baseline="-25000">
                <a:solidFill>
                  <a:srgbClr val="FF0065"/>
                </a:solidFill>
                <a:latin typeface="Monaco"/>
              </a:rPr>
              <a:t>2</a:t>
            </a:r>
            <a:r>
              <a:rPr lang="en-US" altLang="it-IT" sz="1800">
                <a:solidFill>
                  <a:srgbClr val="FF0065"/>
                </a:solidFill>
                <a:latin typeface="Monaco"/>
              </a:rPr>
              <a:t>)</a:t>
            </a:r>
            <a:r>
              <a:rPr lang="en-US" altLang="it-IT" sz="1800">
                <a:solidFill>
                  <a:srgbClr val="FF0065"/>
                </a:solidFill>
              </a:rPr>
              <a:t>&gt;</a:t>
            </a:r>
            <a:r>
              <a:rPr lang="en-US" altLang="it-IT"/>
              <a:t> to get a value number for </a:t>
            </a:r>
            <a:r>
              <a:rPr lang="en-US" altLang="it-IT" i="1"/>
              <a:t>o</a:t>
            </a:r>
          </a:p>
          <a:p>
            <a:pPr eaLnBrk="1" hangingPunct="1">
              <a:spcBef>
                <a:spcPct val="15000"/>
              </a:spcBef>
              <a:buSzPct val="90000"/>
              <a:buFontTx/>
              <a:buChar char="3"/>
            </a:pPr>
            <a:r>
              <a:rPr lang="en-US" altLang="it-IT"/>
              <a:t>If </a:t>
            </a:r>
            <a:r>
              <a:rPr lang="en-US" altLang="it-IT" i="1"/>
              <a:t>o</a:t>
            </a:r>
            <a:r>
              <a:rPr lang="en-US" altLang="it-IT"/>
              <a:t> already had a value number, replace </a:t>
            </a:r>
            <a:r>
              <a:rPr lang="en-US" altLang="it-IT" i="1"/>
              <a:t>o</a:t>
            </a:r>
            <a:r>
              <a:rPr lang="en-US" altLang="it-IT"/>
              <a:t> with a reference</a:t>
            </a:r>
          </a:p>
          <a:p>
            <a:pPr eaLnBrk="1" hangingPunct="1">
              <a:spcBef>
                <a:spcPct val="15000"/>
              </a:spcBef>
              <a:buSzPct val="90000"/>
              <a:buFontTx/>
              <a:buChar char="4"/>
            </a:pPr>
            <a:r>
              <a:rPr lang="en-US" altLang="it-IT"/>
              <a:t>If </a:t>
            </a:r>
            <a:r>
              <a:rPr lang="en-US" altLang="it-IT" sz="1800">
                <a:latin typeface="Monaco"/>
              </a:rPr>
              <a:t>o</a:t>
            </a:r>
            <a:r>
              <a:rPr lang="en-US" altLang="it-IT" sz="1800" baseline="-25000">
                <a:latin typeface="Monaco"/>
              </a:rPr>
              <a:t>1</a:t>
            </a:r>
            <a:r>
              <a:rPr lang="en-US" altLang="it-IT"/>
              <a:t> &amp; </a:t>
            </a:r>
            <a:r>
              <a:rPr lang="en-US" altLang="it-IT" sz="1800">
                <a:latin typeface="Monaco"/>
              </a:rPr>
              <a:t>o</a:t>
            </a:r>
            <a:r>
              <a:rPr lang="en-US" altLang="it-IT" sz="1800" baseline="-25000">
                <a:latin typeface="Monaco"/>
              </a:rPr>
              <a:t>2</a:t>
            </a:r>
            <a:r>
              <a:rPr lang="en-US" altLang="it-IT"/>
              <a:t> are constant, evaluate it &amp; replace with a </a:t>
            </a:r>
            <a:r>
              <a:rPr lang="en-US" altLang="it-IT" sz="1800">
                <a:latin typeface="Monaco"/>
              </a:rPr>
              <a:t>loadI</a:t>
            </a:r>
            <a:endParaRPr lang="en-US" altLang="it-IT"/>
          </a:p>
          <a:p>
            <a:pPr eaLnBrk="1" hangingPunct="1">
              <a:spcBef>
                <a:spcPct val="75000"/>
              </a:spcBef>
              <a:buFont typeface="Times" panose="02020603050405020304" pitchFamily="18" charset="0"/>
              <a:buNone/>
            </a:pPr>
            <a:r>
              <a:rPr lang="en-US" altLang="it-IT"/>
              <a:t>If hashing behaves, the algorithm runs in linear time</a:t>
            </a:r>
          </a:p>
          <a:p>
            <a:pPr lvl="1" eaLnBrk="1" hangingPunct="1">
              <a:spcBef>
                <a:spcPct val="15000"/>
              </a:spcBef>
            </a:pPr>
            <a:r>
              <a:rPr lang="en-US" altLang="it-IT"/>
              <a:t>If not, use multi-set discrimination</a:t>
            </a:r>
            <a:r>
              <a:rPr lang="en-US" altLang="it-IT" baseline="30000"/>
              <a:t>t</a:t>
            </a:r>
            <a:r>
              <a:rPr lang="en-US" altLang="it-IT"/>
              <a:t> or acyclic DFAs</a:t>
            </a:r>
            <a:r>
              <a:rPr lang="en-US" altLang="it-IT" baseline="30000"/>
              <a:t>tt</a:t>
            </a:r>
            <a:endParaRPr lang="en-US" altLang="it-IT"/>
          </a:p>
          <a:p>
            <a:pPr eaLnBrk="1" hangingPunct="1">
              <a:spcBef>
                <a:spcPct val="75000"/>
              </a:spcBef>
              <a:buFont typeface="Times" panose="02020603050405020304" pitchFamily="18" charset="0"/>
              <a:buNone/>
            </a:pPr>
            <a:r>
              <a:rPr lang="en-US" altLang="it-IT"/>
              <a:t>Handling algebraic identities</a:t>
            </a:r>
          </a:p>
          <a:p>
            <a:pPr eaLnBrk="1" hangingPunct="1"/>
            <a:r>
              <a:rPr lang="en-US" altLang="it-IT"/>
              <a:t>Case statement on operator type</a:t>
            </a:r>
          </a:p>
          <a:p>
            <a:pPr eaLnBrk="1" hangingPunct="1"/>
            <a:r>
              <a:rPr lang="en-US" altLang="it-IT"/>
              <a:t>Handle special cases within each operator</a:t>
            </a:r>
          </a:p>
        </p:txBody>
      </p:sp>
      <p:sp>
        <p:nvSpPr>
          <p:cNvPr id="27653" name="Text Box 4">
            <a:extLst>
              <a:ext uri="{FF2B5EF4-FFF2-40B4-BE49-F238E27FC236}">
                <a16:creationId xmlns:a16="http://schemas.microsoft.com/office/drawing/2014/main" id="{2FE80CCF-2BFE-4173-A074-33AAFCADDD9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29400" y="5715000"/>
            <a:ext cx="1752600" cy="338138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pPr eaLnBrk="1" hangingPunct="1">
              <a:spcBef>
                <a:spcPct val="15000"/>
              </a:spcBef>
              <a:buClr>
                <a:srgbClr val="003C75"/>
              </a:buClr>
            </a:pPr>
            <a:r>
              <a:rPr lang="en-US" altLang="it-IT" sz="2000" baseline="30000">
                <a:solidFill>
                  <a:srgbClr val="003C75"/>
                </a:solidFill>
              </a:rPr>
              <a:t>t</a:t>
            </a:r>
            <a:r>
              <a:rPr lang="en-US" altLang="it-IT" sz="1400" i="1">
                <a:solidFill>
                  <a:srgbClr val="003C75"/>
                </a:solidFill>
              </a:rPr>
              <a:t>see p. 251 in EaC</a:t>
            </a:r>
            <a:r>
              <a:rPr lang="en-US" altLang="it-IT" sz="1600" i="1">
                <a:solidFill>
                  <a:srgbClr val="003C75"/>
                </a:solidFill>
              </a:rPr>
              <a:t> </a:t>
            </a:r>
            <a:endParaRPr lang="en-US" altLang="it-IT">
              <a:solidFill>
                <a:srgbClr val="003C75"/>
              </a:solidFill>
            </a:endParaRPr>
          </a:p>
        </p:txBody>
      </p:sp>
      <p:sp>
        <p:nvSpPr>
          <p:cNvPr id="27654" name="Text Box 5">
            <a:extLst>
              <a:ext uri="{FF2B5EF4-FFF2-40B4-BE49-F238E27FC236}">
                <a16:creationId xmlns:a16="http://schemas.microsoft.com/office/drawing/2014/main" id="{6A4E67C2-306E-4B22-BED3-65C4F5E73A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29200" y="6096000"/>
            <a:ext cx="3581400" cy="52387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it-IT" baseline="30000">
                <a:solidFill>
                  <a:srgbClr val="003C75"/>
                </a:solidFill>
              </a:rPr>
              <a:t>tt</a:t>
            </a:r>
            <a:r>
              <a:rPr lang="en-US" altLang="it-IT" sz="1400">
                <a:solidFill>
                  <a:srgbClr val="003C75"/>
                </a:solidFill>
              </a:rPr>
              <a:t>DFAs for REs without closure can be built online to provide a “perfect hash”</a:t>
            </a:r>
            <a:endParaRPr lang="en-US" altLang="it-IT" sz="2000" baseline="30000">
              <a:solidFill>
                <a:srgbClr val="003C75"/>
              </a:solidFill>
            </a:endParaRPr>
          </a:p>
        </p:txBody>
      </p:sp>
    </p:spTree>
  </p:cSld>
  <p:clrMapOvr>
    <a:masterClrMapping/>
  </p:clrMapOvr>
  <p:transition>
    <p:wipe dir="r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Footer Placeholder 3">
            <a:extLst>
              <a:ext uri="{FF2B5EF4-FFF2-40B4-BE49-F238E27FC236}">
                <a16:creationId xmlns:a16="http://schemas.microsoft.com/office/drawing/2014/main" id="{8E1B1E5B-ABC3-42FD-8F67-9E265A3CCCA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r>
              <a:rPr lang="en-US" altLang="it-IT"/>
              <a:t>Comp 412, Fall 2010</a:t>
            </a:r>
          </a:p>
        </p:txBody>
      </p:sp>
      <p:sp>
        <p:nvSpPr>
          <p:cNvPr id="29698" name="Slide Number Placeholder 4">
            <a:extLst>
              <a:ext uri="{FF2B5EF4-FFF2-40B4-BE49-F238E27FC236}">
                <a16:creationId xmlns:a16="http://schemas.microsoft.com/office/drawing/2014/main" id="{E0E318C5-D742-4D24-8A93-41B26D81E66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2CA35AC3-1936-4CB6-BAF1-18AE2FA93D7D}" type="slidenum">
              <a:rPr lang="en-US" altLang="it-IT"/>
              <a:pPr/>
              <a:t>7</a:t>
            </a:fld>
            <a:endParaRPr lang="en-US" altLang="it-IT"/>
          </a:p>
        </p:txBody>
      </p:sp>
      <p:sp>
        <p:nvSpPr>
          <p:cNvPr id="29699" name="Rectangle 2">
            <a:extLst>
              <a:ext uri="{FF2B5EF4-FFF2-40B4-BE49-F238E27FC236}">
                <a16:creationId xmlns:a16="http://schemas.microsoft.com/office/drawing/2014/main" id="{2A5DA794-B3FA-4B9D-BF30-D480D9EC549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spcBef>
                <a:spcPct val="40000"/>
              </a:spcBef>
            </a:pPr>
            <a:r>
              <a:rPr lang="en-US" altLang="it-IT"/>
              <a:t>Local Value Numbering</a:t>
            </a:r>
          </a:p>
        </p:txBody>
      </p:sp>
      <p:sp>
        <p:nvSpPr>
          <p:cNvPr id="29700" name="Rectangle 3">
            <a:extLst>
              <a:ext uri="{FF2B5EF4-FFF2-40B4-BE49-F238E27FC236}">
                <a16:creationId xmlns:a16="http://schemas.microsoft.com/office/drawing/2014/main" id="{D8B10155-8C6C-4F52-96F8-D083DD19D82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spcBef>
                <a:spcPct val="40000"/>
              </a:spcBef>
              <a:buFont typeface="Times" panose="02020603050405020304" pitchFamily="18" charset="0"/>
              <a:buNone/>
            </a:pPr>
            <a:r>
              <a:rPr lang="en-US" altLang="it-IT"/>
              <a:t>An example</a:t>
            </a:r>
          </a:p>
        </p:txBody>
      </p:sp>
      <p:sp>
        <p:nvSpPr>
          <p:cNvPr id="17412" name="Text Box 4">
            <a:extLst>
              <a:ext uri="{FF2B5EF4-FFF2-40B4-BE49-F238E27FC236}">
                <a16:creationId xmlns:a16="http://schemas.microsoft.com/office/drawing/2014/main" id="{6B9104EA-B541-4513-A6CE-2785454A5A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29000" y="1905000"/>
            <a:ext cx="1828800" cy="1628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pPr algn="ctr">
              <a:spcBef>
                <a:spcPct val="10000"/>
              </a:spcBef>
              <a:spcAft>
                <a:spcPct val="20000"/>
              </a:spcAft>
            </a:pPr>
            <a:r>
              <a:rPr lang="en-US" altLang="it-IT" u="sng">
                <a:latin typeface="Arial Rounded MT Bold" panose="020F0704030504030204" pitchFamily="34" charset="0"/>
              </a:rPr>
              <a:t>With VNs</a:t>
            </a:r>
            <a:endParaRPr lang="en-US" altLang="it-IT">
              <a:latin typeface="Arial" panose="020B0604020202020204" pitchFamily="34" charset="0"/>
            </a:endParaRPr>
          </a:p>
          <a:p>
            <a:pPr>
              <a:spcBef>
                <a:spcPct val="10000"/>
              </a:spcBef>
            </a:pPr>
            <a:r>
              <a:rPr lang="en-US" altLang="it-IT">
                <a:latin typeface="Arial" panose="020B0604020202020204" pitchFamily="34" charset="0"/>
              </a:rPr>
              <a:t>    </a:t>
            </a:r>
            <a:r>
              <a:rPr lang="en-US" altLang="it-IT"/>
              <a:t>a</a:t>
            </a:r>
            <a:r>
              <a:rPr lang="en-US" altLang="it-IT" baseline="30000"/>
              <a:t>3</a:t>
            </a:r>
            <a:r>
              <a:rPr lang="en-US" altLang="it-IT"/>
              <a:t> </a:t>
            </a:r>
            <a:r>
              <a:rPr lang="en-US" altLang="it-IT">
                <a:sym typeface="Symbol" panose="05050102010706020507" pitchFamily="18" charset="2"/>
              </a:rPr>
              <a:t> x</a:t>
            </a:r>
            <a:r>
              <a:rPr lang="en-US" altLang="it-IT" baseline="30000">
                <a:sym typeface="Symbol" panose="05050102010706020507" pitchFamily="18" charset="2"/>
              </a:rPr>
              <a:t>1</a:t>
            </a:r>
            <a:r>
              <a:rPr lang="en-US" altLang="it-IT">
                <a:sym typeface="Symbol" panose="05050102010706020507" pitchFamily="18" charset="2"/>
              </a:rPr>
              <a:t> + y</a:t>
            </a:r>
            <a:r>
              <a:rPr lang="en-US" altLang="it-IT" baseline="30000">
                <a:sym typeface="Symbol" panose="05050102010706020507" pitchFamily="18" charset="2"/>
              </a:rPr>
              <a:t>2</a:t>
            </a:r>
            <a:endParaRPr lang="en-US" altLang="it-IT">
              <a:sym typeface="Symbol" panose="05050102010706020507" pitchFamily="18" charset="2"/>
            </a:endParaRPr>
          </a:p>
          <a:p>
            <a:pPr>
              <a:spcBef>
                <a:spcPct val="10000"/>
              </a:spcBef>
            </a:pPr>
            <a:r>
              <a:rPr lang="en-US" altLang="it-IT">
                <a:solidFill>
                  <a:srgbClr val="FF0065"/>
                </a:solidFill>
                <a:sym typeface="Symbol" panose="05050102010706020507" pitchFamily="18" charset="2"/>
              </a:rPr>
              <a:t></a:t>
            </a:r>
            <a:r>
              <a:rPr lang="en-US" altLang="it-IT">
                <a:sym typeface="Symbol" panose="05050102010706020507" pitchFamily="18" charset="2"/>
              </a:rPr>
              <a:t>  b</a:t>
            </a:r>
            <a:r>
              <a:rPr lang="en-US" altLang="it-IT" baseline="30000">
                <a:sym typeface="Symbol" panose="05050102010706020507" pitchFamily="18" charset="2"/>
              </a:rPr>
              <a:t>3</a:t>
            </a:r>
            <a:r>
              <a:rPr lang="en-US" altLang="it-IT">
                <a:sym typeface="Symbol" panose="05050102010706020507" pitchFamily="18" charset="2"/>
              </a:rPr>
              <a:t>  x</a:t>
            </a:r>
            <a:r>
              <a:rPr lang="en-US" altLang="it-IT" baseline="30000">
                <a:sym typeface="Symbol" panose="05050102010706020507" pitchFamily="18" charset="2"/>
              </a:rPr>
              <a:t>1</a:t>
            </a:r>
            <a:r>
              <a:rPr lang="en-US" altLang="it-IT">
                <a:sym typeface="Symbol" panose="05050102010706020507" pitchFamily="18" charset="2"/>
              </a:rPr>
              <a:t> + y</a:t>
            </a:r>
            <a:r>
              <a:rPr lang="en-US" altLang="it-IT" baseline="30000">
                <a:sym typeface="Symbol" panose="05050102010706020507" pitchFamily="18" charset="2"/>
              </a:rPr>
              <a:t>2</a:t>
            </a:r>
            <a:endParaRPr lang="en-US" altLang="it-IT">
              <a:sym typeface="Symbol" panose="05050102010706020507" pitchFamily="18" charset="2"/>
            </a:endParaRPr>
          </a:p>
          <a:p>
            <a:pPr>
              <a:spcBef>
                <a:spcPct val="10000"/>
              </a:spcBef>
            </a:pPr>
            <a:r>
              <a:rPr lang="en-US" altLang="it-IT">
                <a:sym typeface="Symbol" panose="05050102010706020507" pitchFamily="18" charset="2"/>
              </a:rPr>
              <a:t>    a</a:t>
            </a:r>
            <a:r>
              <a:rPr lang="en-US" altLang="it-IT" baseline="30000">
                <a:sym typeface="Symbol" panose="05050102010706020507" pitchFamily="18" charset="2"/>
              </a:rPr>
              <a:t>4</a:t>
            </a:r>
            <a:r>
              <a:rPr lang="en-US" altLang="it-IT">
                <a:sym typeface="Symbol" panose="05050102010706020507" pitchFamily="18" charset="2"/>
              </a:rPr>
              <a:t>  17</a:t>
            </a:r>
          </a:p>
          <a:p>
            <a:pPr>
              <a:spcBef>
                <a:spcPct val="10000"/>
              </a:spcBef>
            </a:pPr>
            <a:r>
              <a:rPr lang="en-US" altLang="it-IT">
                <a:solidFill>
                  <a:srgbClr val="FF0065"/>
                </a:solidFill>
                <a:sym typeface="Symbol" panose="05050102010706020507" pitchFamily="18" charset="2"/>
              </a:rPr>
              <a:t></a:t>
            </a:r>
            <a:r>
              <a:rPr lang="en-US" altLang="it-IT">
                <a:sym typeface="Symbol" panose="05050102010706020507" pitchFamily="18" charset="2"/>
              </a:rPr>
              <a:t>  c</a:t>
            </a:r>
            <a:r>
              <a:rPr lang="en-US" altLang="it-IT" baseline="30000">
                <a:sym typeface="Symbol" panose="05050102010706020507" pitchFamily="18" charset="2"/>
              </a:rPr>
              <a:t>3</a:t>
            </a:r>
            <a:r>
              <a:rPr lang="en-US" altLang="it-IT">
                <a:sym typeface="Symbol" panose="05050102010706020507" pitchFamily="18" charset="2"/>
              </a:rPr>
              <a:t>  x</a:t>
            </a:r>
            <a:r>
              <a:rPr lang="en-US" altLang="it-IT" baseline="30000">
                <a:sym typeface="Symbol" panose="05050102010706020507" pitchFamily="18" charset="2"/>
              </a:rPr>
              <a:t>1</a:t>
            </a:r>
            <a:r>
              <a:rPr lang="en-US" altLang="it-IT">
                <a:sym typeface="Symbol" panose="05050102010706020507" pitchFamily="18" charset="2"/>
              </a:rPr>
              <a:t> + y</a:t>
            </a:r>
            <a:r>
              <a:rPr lang="en-US" altLang="it-IT" baseline="30000">
                <a:sym typeface="Symbol" panose="05050102010706020507" pitchFamily="18" charset="2"/>
              </a:rPr>
              <a:t>2</a:t>
            </a:r>
            <a:endParaRPr lang="en-US" altLang="it-IT">
              <a:sym typeface="Symbol" panose="05050102010706020507" pitchFamily="18" charset="2"/>
            </a:endParaRPr>
          </a:p>
        </p:txBody>
      </p:sp>
      <p:sp>
        <p:nvSpPr>
          <p:cNvPr id="17413" name="Text Box 5">
            <a:extLst>
              <a:ext uri="{FF2B5EF4-FFF2-40B4-BE49-F238E27FC236}">
                <a16:creationId xmlns:a16="http://schemas.microsoft.com/office/drawing/2014/main" id="{D8DE3A58-E457-49AC-9DA8-4E2B50BBCB5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67400" y="1905000"/>
            <a:ext cx="2057400" cy="1628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pPr algn="ctr">
              <a:spcBef>
                <a:spcPct val="10000"/>
              </a:spcBef>
              <a:spcAft>
                <a:spcPct val="20000"/>
              </a:spcAft>
            </a:pPr>
            <a:r>
              <a:rPr lang="en-US" altLang="it-IT" u="sng">
                <a:latin typeface="Arial Rounded MT Bold" panose="020F0704030504030204" pitchFamily="34" charset="0"/>
              </a:rPr>
              <a:t>Rewritten</a:t>
            </a:r>
            <a:endParaRPr lang="en-US" altLang="it-IT">
              <a:latin typeface="Arial" panose="020B0604020202020204" pitchFamily="34" charset="0"/>
            </a:endParaRPr>
          </a:p>
          <a:p>
            <a:pPr>
              <a:spcBef>
                <a:spcPct val="10000"/>
              </a:spcBef>
            </a:pPr>
            <a:r>
              <a:rPr lang="en-US" altLang="it-IT">
                <a:latin typeface="Arial" panose="020B0604020202020204" pitchFamily="34" charset="0"/>
              </a:rPr>
              <a:t>    </a:t>
            </a:r>
            <a:r>
              <a:rPr lang="en-US" altLang="it-IT"/>
              <a:t>a</a:t>
            </a:r>
            <a:r>
              <a:rPr lang="en-US" altLang="it-IT" baseline="30000"/>
              <a:t>3</a:t>
            </a:r>
            <a:r>
              <a:rPr lang="en-US" altLang="it-IT"/>
              <a:t> </a:t>
            </a:r>
            <a:r>
              <a:rPr lang="en-US" altLang="it-IT">
                <a:sym typeface="Symbol" panose="05050102010706020507" pitchFamily="18" charset="2"/>
              </a:rPr>
              <a:t> x</a:t>
            </a:r>
            <a:r>
              <a:rPr lang="en-US" altLang="it-IT" baseline="30000">
                <a:sym typeface="Symbol" panose="05050102010706020507" pitchFamily="18" charset="2"/>
              </a:rPr>
              <a:t>1</a:t>
            </a:r>
            <a:r>
              <a:rPr lang="en-US" altLang="it-IT">
                <a:sym typeface="Symbol" panose="05050102010706020507" pitchFamily="18" charset="2"/>
              </a:rPr>
              <a:t> + y</a:t>
            </a:r>
            <a:r>
              <a:rPr lang="en-US" altLang="it-IT" baseline="30000">
                <a:sym typeface="Symbol" panose="05050102010706020507" pitchFamily="18" charset="2"/>
              </a:rPr>
              <a:t>2</a:t>
            </a:r>
            <a:endParaRPr lang="en-US" altLang="it-IT">
              <a:sym typeface="Symbol" panose="05050102010706020507" pitchFamily="18" charset="2"/>
            </a:endParaRPr>
          </a:p>
          <a:p>
            <a:pPr>
              <a:spcBef>
                <a:spcPct val="10000"/>
              </a:spcBef>
            </a:pPr>
            <a:r>
              <a:rPr lang="en-US" altLang="it-IT">
                <a:solidFill>
                  <a:srgbClr val="FF0065"/>
                </a:solidFill>
                <a:sym typeface="Symbol" panose="05050102010706020507" pitchFamily="18" charset="2"/>
              </a:rPr>
              <a:t></a:t>
            </a:r>
            <a:r>
              <a:rPr lang="en-US" altLang="it-IT">
                <a:sym typeface="Symbol" panose="05050102010706020507" pitchFamily="18" charset="2"/>
              </a:rPr>
              <a:t>  b</a:t>
            </a:r>
            <a:r>
              <a:rPr lang="en-US" altLang="it-IT" baseline="30000">
                <a:sym typeface="Symbol" panose="05050102010706020507" pitchFamily="18" charset="2"/>
              </a:rPr>
              <a:t>3</a:t>
            </a:r>
            <a:r>
              <a:rPr lang="en-US" altLang="it-IT">
                <a:sym typeface="Symbol" panose="05050102010706020507" pitchFamily="18" charset="2"/>
              </a:rPr>
              <a:t>  a</a:t>
            </a:r>
            <a:r>
              <a:rPr lang="en-US" altLang="it-IT" baseline="30000">
                <a:sym typeface="Symbol" panose="05050102010706020507" pitchFamily="18" charset="2"/>
              </a:rPr>
              <a:t>3</a:t>
            </a:r>
            <a:endParaRPr lang="en-US" altLang="it-IT">
              <a:sym typeface="Symbol" panose="05050102010706020507" pitchFamily="18" charset="2"/>
            </a:endParaRPr>
          </a:p>
          <a:p>
            <a:pPr>
              <a:spcBef>
                <a:spcPct val="10000"/>
              </a:spcBef>
            </a:pPr>
            <a:r>
              <a:rPr lang="en-US" altLang="it-IT">
                <a:sym typeface="Symbol" panose="05050102010706020507" pitchFamily="18" charset="2"/>
              </a:rPr>
              <a:t>    a</a:t>
            </a:r>
            <a:r>
              <a:rPr lang="en-US" altLang="it-IT" baseline="30000">
                <a:sym typeface="Symbol" panose="05050102010706020507" pitchFamily="18" charset="2"/>
              </a:rPr>
              <a:t>4</a:t>
            </a:r>
            <a:r>
              <a:rPr lang="en-US" altLang="it-IT">
                <a:sym typeface="Symbol" panose="05050102010706020507" pitchFamily="18" charset="2"/>
              </a:rPr>
              <a:t>  17</a:t>
            </a:r>
          </a:p>
          <a:p>
            <a:pPr>
              <a:spcBef>
                <a:spcPct val="10000"/>
              </a:spcBef>
            </a:pPr>
            <a:r>
              <a:rPr lang="en-US" altLang="it-IT">
                <a:solidFill>
                  <a:srgbClr val="FF0065"/>
                </a:solidFill>
                <a:sym typeface="Symbol" panose="05050102010706020507" pitchFamily="18" charset="2"/>
              </a:rPr>
              <a:t></a:t>
            </a:r>
            <a:r>
              <a:rPr lang="en-US" altLang="it-IT">
                <a:sym typeface="Symbol" panose="05050102010706020507" pitchFamily="18" charset="2"/>
              </a:rPr>
              <a:t>  c</a:t>
            </a:r>
            <a:r>
              <a:rPr lang="en-US" altLang="it-IT" baseline="30000">
                <a:sym typeface="Symbol" panose="05050102010706020507" pitchFamily="18" charset="2"/>
              </a:rPr>
              <a:t>3</a:t>
            </a:r>
            <a:r>
              <a:rPr lang="en-US" altLang="it-IT">
                <a:sym typeface="Symbol" panose="05050102010706020507" pitchFamily="18" charset="2"/>
              </a:rPr>
              <a:t>  </a:t>
            </a:r>
            <a:r>
              <a:rPr lang="en-US" altLang="it-IT">
                <a:solidFill>
                  <a:srgbClr val="FF0065"/>
                </a:solidFill>
                <a:sym typeface="Symbol" panose="05050102010706020507" pitchFamily="18" charset="2"/>
              </a:rPr>
              <a:t>a</a:t>
            </a:r>
            <a:r>
              <a:rPr lang="en-US" altLang="it-IT" baseline="30000">
                <a:solidFill>
                  <a:srgbClr val="FF0065"/>
                </a:solidFill>
                <a:sym typeface="Symbol" panose="05050102010706020507" pitchFamily="18" charset="2"/>
              </a:rPr>
              <a:t>3</a:t>
            </a:r>
            <a:r>
              <a:rPr lang="en-US" altLang="it-IT">
                <a:solidFill>
                  <a:srgbClr val="FF0065"/>
                </a:solidFill>
                <a:sym typeface="Symbol" panose="05050102010706020507" pitchFamily="18" charset="2"/>
              </a:rPr>
              <a:t>   </a:t>
            </a:r>
            <a:r>
              <a:rPr lang="en-US" altLang="it-IT" sz="1600">
                <a:solidFill>
                  <a:srgbClr val="FF0065"/>
                </a:solidFill>
                <a:sym typeface="Symbol" panose="05050102010706020507" pitchFamily="18" charset="2"/>
              </a:rPr>
              <a:t>(oops!)</a:t>
            </a:r>
            <a:endParaRPr lang="en-US" altLang="it-IT">
              <a:solidFill>
                <a:srgbClr val="FF0065"/>
              </a:solidFill>
              <a:sym typeface="Symbol" panose="05050102010706020507" pitchFamily="18" charset="2"/>
            </a:endParaRPr>
          </a:p>
        </p:txBody>
      </p:sp>
      <p:sp>
        <p:nvSpPr>
          <p:cNvPr id="17414" name="Text Box 6">
            <a:extLst>
              <a:ext uri="{FF2B5EF4-FFF2-40B4-BE49-F238E27FC236}">
                <a16:creationId xmlns:a16="http://schemas.microsoft.com/office/drawing/2014/main" id="{2E9C6785-FF92-4D54-B072-C365296542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15000" y="3886200"/>
            <a:ext cx="2438400" cy="1452563"/>
          </a:xfrm>
          <a:prstGeom prst="rect">
            <a:avLst/>
          </a:prstGeom>
          <a:solidFill>
            <a:schemeClr val="bg1"/>
          </a:solidFill>
          <a:ln w="19050">
            <a:solidFill>
              <a:srgbClr val="7F7F7F"/>
            </a:solidFill>
            <a:miter lim="800000"/>
            <a:headEnd/>
            <a:tailEnd/>
          </a:ln>
          <a:effectLst>
            <a:outerShdw blurRad="50800" dist="38100" dir="2700000">
              <a:srgbClr val="000000">
                <a:alpha val="43000"/>
              </a:srgbClr>
            </a:outerShdw>
          </a:effectLst>
        </p:spPr>
        <p:txBody>
          <a:bodyPr>
            <a:spAutoFit/>
          </a:bodyPr>
          <a:lstStyle/>
          <a:p>
            <a:pPr eaLnBrk="0" hangingPunct="0">
              <a:spcBef>
                <a:spcPct val="25000"/>
              </a:spcBef>
              <a:defRPr/>
            </a:pPr>
            <a:r>
              <a:rPr lang="en-US" i="1">
                <a:solidFill>
                  <a:srgbClr val="003C75"/>
                </a:solidFill>
                <a:latin typeface="Comic Sans MS" charset="0"/>
                <a:ea typeface="ヒラギノ角ゴ Pro W3" charset="-128"/>
                <a:cs typeface="ヒラギノ角ゴ Pro W3" charset="-128"/>
              </a:rPr>
              <a:t>Options</a:t>
            </a:r>
            <a:endParaRPr lang="en-US">
              <a:latin typeface="Comic Sans MS" charset="0"/>
              <a:ea typeface="ヒラギノ角ゴ Pro W3" charset="-128"/>
              <a:cs typeface="ヒラギノ角ゴ Pro W3" charset="-128"/>
            </a:endParaRPr>
          </a:p>
          <a:p>
            <a:pPr eaLnBrk="0" hangingPunct="0">
              <a:spcBef>
                <a:spcPct val="25000"/>
              </a:spcBef>
              <a:buClr>
                <a:srgbClr val="003C75"/>
              </a:buClr>
              <a:buSzPct val="120000"/>
              <a:buFont typeface="Times" charset="0"/>
              <a:buChar char="•"/>
              <a:defRPr/>
            </a:pPr>
            <a:r>
              <a:rPr lang="en-US">
                <a:latin typeface="Comic Sans MS" charset="0"/>
                <a:ea typeface="ヒラギノ角ゴ Pro W3" charset="-128"/>
                <a:cs typeface="ヒラギノ角ゴ Pro W3" charset="-128"/>
              </a:rPr>
              <a:t> Use c</a:t>
            </a:r>
            <a:r>
              <a:rPr lang="en-US" baseline="30000">
                <a:latin typeface="Comic Sans MS" charset="0"/>
                <a:ea typeface="ヒラギノ角ゴ Pro W3" charset="-128"/>
                <a:cs typeface="ヒラギノ角ゴ Pro W3" charset="-128"/>
              </a:rPr>
              <a:t>3</a:t>
            </a:r>
            <a:r>
              <a:rPr lang="en-US" baseline="-25000">
                <a:latin typeface="Comic Sans MS" charset="0"/>
                <a:ea typeface="ヒラギノ角ゴ Pro W3" charset="-128"/>
                <a:cs typeface="ヒラギノ角ゴ Pro W3" charset="-128"/>
              </a:rPr>
              <a:t> </a:t>
            </a:r>
            <a:r>
              <a:rPr lang="en-US" sz="2000">
                <a:latin typeface="Comic Sans MS" charset="0"/>
                <a:ea typeface="ヒラギノ角ゴ Pro W3" charset="-128"/>
                <a:cs typeface="ヒラギノ角ゴ Pro W3" charset="-128"/>
                <a:sym typeface="Symbol" charset="2"/>
              </a:rPr>
              <a:t> b</a:t>
            </a:r>
            <a:r>
              <a:rPr lang="en-US" sz="2000" baseline="30000">
                <a:latin typeface="Comic Sans MS" charset="0"/>
                <a:ea typeface="ヒラギノ角ゴ Pro W3" charset="-128"/>
                <a:cs typeface="ヒラギノ角ゴ Pro W3" charset="-128"/>
                <a:sym typeface="Symbol" charset="2"/>
              </a:rPr>
              <a:t>3</a:t>
            </a:r>
            <a:endParaRPr lang="en-US">
              <a:latin typeface="Comic Sans MS" charset="0"/>
              <a:ea typeface="ヒラギノ角ゴ Pro W3" charset="-128"/>
              <a:cs typeface="ヒラギノ角ゴ Pro W3" charset="-128"/>
            </a:endParaRPr>
          </a:p>
          <a:p>
            <a:pPr eaLnBrk="0" hangingPunct="0">
              <a:spcBef>
                <a:spcPct val="25000"/>
              </a:spcBef>
              <a:buClr>
                <a:srgbClr val="003C75"/>
              </a:buClr>
              <a:buSzPct val="120000"/>
              <a:buFont typeface="Times" charset="0"/>
              <a:buChar char="•"/>
              <a:defRPr/>
            </a:pPr>
            <a:r>
              <a:rPr lang="en-US">
                <a:latin typeface="Comic Sans MS" charset="0"/>
                <a:ea typeface="ヒラギノ角ゴ Pro W3" charset="-128"/>
                <a:cs typeface="ヒラギノ角ゴ Pro W3" charset="-128"/>
              </a:rPr>
              <a:t> Save a</a:t>
            </a:r>
            <a:r>
              <a:rPr lang="en-US" baseline="30000">
                <a:latin typeface="Comic Sans MS" charset="0"/>
                <a:ea typeface="ヒラギノ角ゴ Pro W3" charset="-128"/>
                <a:cs typeface="ヒラギノ角ゴ Pro W3" charset="-128"/>
              </a:rPr>
              <a:t>3</a:t>
            </a:r>
            <a:r>
              <a:rPr lang="en-US">
                <a:latin typeface="Comic Sans MS" charset="0"/>
                <a:ea typeface="ヒラギノ角ゴ Pro W3" charset="-128"/>
                <a:cs typeface="ヒラギノ角ゴ Pro W3" charset="-128"/>
              </a:rPr>
              <a:t> in t</a:t>
            </a:r>
            <a:r>
              <a:rPr lang="en-US" baseline="30000">
                <a:latin typeface="Comic Sans MS" charset="0"/>
                <a:ea typeface="ヒラギノ角ゴ Pro W3" charset="-128"/>
                <a:cs typeface="ヒラギノ角ゴ Pro W3" charset="-128"/>
              </a:rPr>
              <a:t>3</a:t>
            </a:r>
            <a:endParaRPr lang="en-US">
              <a:latin typeface="Comic Sans MS" charset="0"/>
              <a:ea typeface="ヒラギノ角ゴ Pro W3" charset="-128"/>
              <a:cs typeface="ヒラギノ角ゴ Pro W3" charset="-128"/>
            </a:endParaRPr>
          </a:p>
          <a:p>
            <a:pPr eaLnBrk="0" hangingPunct="0">
              <a:spcBef>
                <a:spcPct val="25000"/>
              </a:spcBef>
              <a:buClr>
                <a:srgbClr val="003C75"/>
              </a:buClr>
              <a:buSzPct val="120000"/>
              <a:buFont typeface="Times" charset="0"/>
              <a:buChar char="•"/>
              <a:defRPr/>
            </a:pPr>
            <a:r>
              <a:rPr lang="en-US">
                <a:latin typeface="Comic Sans MS" charset="0"/>
                <a:ea typeface="ヒラギノ角ゴ Pro W3" charset="-128"/>
                <a:cs typeface="ヒラギノ角ゴ Pro W3" charset="-128"/>
              </a:rPr>
              <a:t> Rename around it</a:t>
            </a:r>
            <a:endParaRPr lang="en-US" baseline="-25000">
              <a:latin typeface="Comic Sans MS" charset="0"/>
              <a:ea typeface="ヒラギノ角ゴ Pro W3" charset="-128"/>
              <a:cs typeface="ヒラギノ角ゴ Pro W3" charset="-128"/>
            </a:endParaRPr>
          </a:p>
        </p:txBody>
      </p:sp>
      <p:sp>
        <p:nvSpPr>
          <p:cNvPr id="29704" name="Text Box 7">
            <a:extLst>
              <a:ext uri="{FF2B5EF4-FFF2-40B4-BE49-F238E27FC236}">
                <a16:creationId xmlns:a16="http://schemas.microsoft.com/office/drawing/2014/main" id="{50785842-B6AC-4B62-A941-93751B0426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0600" y="1905000"/>
            <a:ext cx="1828800" cy="1573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pPr algn="ctr">
              <a:spcBef>
                <a:spcPct val="10000"/>
              </a:spcBef>
              <a:spcAft>
                <a:spcPct val="20000"/>
              </a:spcAft>
            </a:pPr>
            <a:r>
              <a:rPr lang="en-US" altLang="it-IT" u="sng"/>
              <a:t>Original Code</a:t>
            </a:r>
          </a:p>
          <a:p>
            <a:pPr>
              <a:lnSpc>
                <a:spcPct val="80000"/>
              </a:lnSpc>
              <a:spcBef>
                <a:spcPct val="10000"/>
              </a:spcBef>
            </a:pPr>
            <a:r>
              <a:rPr lang="en-US" altLang="it-IT"/>
              <a:t>    a </a:t>
            </a:r>
            <a:r>
              <a:rPr lang="en-US" altLang="it-IT">
                <a:sym typeface="Symbol" panose="05050102010706020507" pitchFamily="18" charset="2"/>
              </a:rPr>
              <a:t> x + y</a:t>
            </a:r>
          </a:p>
          <a:p>
            <a:pPr>
              <a:spcBef>
                <a:spcPct val="10000"/>
              </a:spcBef>
            </a:pPr>
            <a:r>
              <a:rPr lang="en-US" altLang="it-IT">
                <a:solidFill>
                  <a:srgbClr val="FF0065"/>
                </a:solidFill>
                <a:sym typeface="Symbol" panose="05050102010706020507" pitchFamily="18" charset="2"/>
              </a:rPr>
              <a:t></a:t>
            </a:r>
            <a:r>
              <a:rPr lang="en-US" altLang="it-IT">
                <a:sym typeface="Symbol" panose="05050102010706020507" pitchFamily="18" charset="2"/>
              </a:rPr>
              <a:t>  b  x + y</a:t>
            </a:r>
          </a:p>
          <a:p>
            <a:pPr>
              <a:spcBef>
                <a:spcPct val="10000"/>
              </a:spcBef>
            </a:pPr>
            <a:r>
              <a:rPr lang="en-US" altLang="it-IT">
                <a:sym typeface="Symbol" panose="05050102010706020507" pitchFamily="18" charset="2"/>
              </a:rPr>
              <a:t>    a  17</a:t>
            </a:r>
          </a:p>
          <a:p>
            <a:pPr>
              <a:spcBef>
                <a:spcPct val="10000"/>
              </a:spcBef>
            </a:pPr>
            <a:r>
              <a:rPr lang="en-US" altLang="it-IT">
                <a:solidFill>
                  <a:srgbClr val="FF0065"/>
                </a:solidFill>
                <a:sym typeface="Symbol" panose="05050102010706020507" pitchFamily="18" charset="2"/>
              </a:rPr>
              <a:t></a:t>
            </a:r>
            <a:r>
              <a:rPr lang="en-US" altLang="it-IT">
                <a:sym typeface="Symbol" panose="05050102010706020507" pitchFamily="18" charset="2"/>
              </a:rPr>
              <a:t>  c  x + y</a:t>
            </a:r>
          </a:p>
        </p:txBody>
      </p:sp>
      <p:sp>
        <p:nvSpPr>
          <p:cNvPr id="17416" name="Text Box 8">
            <a:extLst>
              <a:ext uri="{FF2B5EF4-FFF2-40B4-BE49-F238E27FC236}">
                <a16:creationId xmlns:a16="http://schemas.microsoft.com/office/drawing/2014/main" id="{8F9612F0-3435-46FA-89B9-3CDFF1242B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3886200"/>
            <a:ext cx="2438400" cy="1346200"/>
          </a:xfrm>
          <a:prstGeom prst="rect">
            <a:avLst/>
          </a:prstGeom>
          <a:solidFill>
            <a:schemeClr val="bg1"/>
          </a:solidFill>
          <a:ln w="19050">
            <a:solidFill>
              <a:srgbClr val="7F7F7F"/>
            </a:solidFill>
            <a:miter lim="800000"/>
            <a:headEnd/>
            <a:tailEnd/>
          </a:ln>
          <a:effectLst>
            <a:outerShdw blurRad="50800" dist="38100" dir="2700000">
              <a:srgbClr val="000000">
                <a:alpha val="43000"/>
              </a:srgbClr>
            </a:outerShdw>
          </a:effectLst>
        </p:spPr>
        <p:txBody>
          <a:bodyPr>
            <a:spAutoFit/>
          </a:bodyPr>
          <a:lstStyle/>
          <a:p>
            <a:pPr marL="166688" indent="-166688" eaLnBrk="0" hangingPunct="0">
              <a:spcBef>
                <a:spcPct val="25000"/>
              </a:spcBef>
              <a:defRPr/>
            </a:pPr>
            <a:r>
              <a:rPr lang="en-US" i="1">
                <a:solidFill>
                  <a:srgbClr val="003C75"/>
                </a:solidFill>
                <a:latin typeface="Comic Sans MS" charset="0"/>
                <a:ea typeface="ヒラギノ角ゴ Pro W3" charset="-128"/>
                <a:cs typeface="ヒラギノ角ゴ Pro W3" charset="-128"/>
              </a:rPr>
              <a:t>Two redundancies</a:t>
            </a:r>
            <a:endParaRPr lang="en-US">
              <a:latin typeface="Comic Sans MS" charset="0"/>
              <a:ea typeface="ヒラギノ角ゴ Pro W3" charset="-128"/>
              <a:cs typeface="ヒラギノ角ゴ Pro W3" charset="-128"/>
            </a:endParaRPr>
          </a:p>
          <a:p>
            <a:pPr marL="166688" indent="-166688" eaLnBrk="0" hangingPunct="0">
              <a:spcBef>
                <a:spcPct val="25000"/>
              </a:spcBef>
              <a:buClr>
                <a:srgbClr val="003C75"/>
              </a:buClr>
              <a:buSzPct val="120000"/>
              <a:buFont typeface="Times" charset="0"/>
              <a:buChar char="•"/>
              <a:defRPr/>
            </a:pPr>
            <a:r>
              <a:rPr lang="en-US">
                <a:latin typeface="Comic Sans MS" charset="0"/>
                <a:ea typeface="ヒラギノ角ゴ Pro W3" charset="-128"/>
                <a:cs typeface="ヒラギノ角ゴ Pro W3" charset="-128"/>
              </a:rPr>
              <a:t>Eliminate stmts with a </a:t>
            </a:r>
            <a:r>
              <a:rPr lang="en-US">
                <a:solidFill>
                  <a:srgbClr val="FF0065"/>
                </a:solidFill>
                <a:latin typeface="Comic Sans MS" charset="0"/>
                <a:ea typeface="ヒラギノ角ゴ Pro W3" charset="-128"/>
                <a:cs typeface="ヒラギノ角ゴ Pro W3" charset="-128"/>
                <a:sym typeface="Symbol" charset="2"/>
              </a:rPr>
              <a:t></a:t>
            </a:r>
            <a:endParaRPr lang="en-US">
              <a:latin typeface="Comic Sans MS" charset="0"/>
              <a:ea typeface="ヒラギノ角ゴ Pro W3" charset="-128"/>
              <a:cs typeface="ヒラギノ角ゴ Pro W3" charset="-128"/>
            </a:endParaRPr>
          </a:p>
          <a:p>
            <a:pPr marL="166688" indent="-166688" eaLnBrk="0" hangingPunct="0">
              <a:spcBef>
                <a:spcPct val="25000"/>
              </a:spcBef>
              <a:buClr>
                <a:srgbClr val="003C75"/>
              </a:buClr>
              <a:buSzPct val="120000"/>
              <a:buFont typeface="Times" charset="0"/>
              <a:buChar char="•"/>
              <a:defRPr/>
            </a:pPr>
            <a:r>
              <a:rPr lang="en-US">
                <a:latin typeface="Comic Sans MS" charset="0"/>
                <a:ea typeface="ヒラギノ角ゴ Pro W3" charset="-128"/>
                <a:cs typeface="ヒラギノ角ゴ Pro W3" charset="-128"/>
              </a:rPr>
              <a:t>Coalesce results ?</a:t>
            </a:r>
            <a:endParaRPr lang="en-US" baseline="-25000">
              <a:latin typeface="Comic Sans MS" charset="0"/>
              <a:ea typeface="ヒラギノ角ゴ Pro W3" charset="-128"/>
              <a:cs typeface="ヒラギノ角ゴ Pro W3" charset="-128"/>
            </a:endParaRPr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74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74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174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412" grpId="0" autoUpdateAnimBg="0"/>
      <p:bldP spid="17413" grpId="0" autoUpdateAnimBg="0"/>
      <p:bldP spid="17414" grpId="0" animBg="1" autoUpdateAnimBg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Footer Placeholder 3">
            <a:extLst>
              <a:ext uri="{FF2B5EF4-FFF2-40B4-BE49-F238E27FC236}">
                <a16:creationId xmlns:a16="http://schemas.microsoft.com/office/drawing/2014/main" id="{491C1776-2750-4307-BB73-E119095A0C7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r>
              <a:rPr lang="en-US" altLang="it-IT"/>
              <a:t>Comp 412, Fall 2010</a:t>
            </a:r>
          </a:p>
        </p:txBody>
      </p:sp>
      <p:sp>
        <p:nvSpPr>
          <p:cNvPr id="31746" name="Slide Number Placeholder 4">
            <a:extLst>
              <a:ext uri="{FF2B5EF4-FFF2-40B4-BE49-F238E27FC236}">
                <a16:creationId xmlns:a16="http://schemas.microsoft.com/office/drawing/2014/main" id="{EA77C7DF-ACDE-45C9-B76C-E6777A1917F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3500C54A-DB61-415D-B68D-D7C75CB6FB80}" type="slidenum">
              <a:rPr lang="en-US" altLang="it-IT"/>
              <a:pPr/>
              <a:t>8</a:t>
            </a:fld>
            <a:endParaRPr lang="en-US" altLang="it-IT"/>
          </a:p>
        </p:txBody>
      </p:sp>
      <p:sp>
        <p:nvSpPr>
          <p:cNvPr id="31747" name="Rectangle 2">
            <a:extLst>
              <a:ext uri="{FF2B5EF4-FFF2-40B4-BE49-F238E27FC236}">
                <a16:creationId xmlns:a16="http://schemas.microsoft.com/office/drawing/2014/main" id="{86AF4026-378A-4FAE-9AEF-A3699A94DEA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spcBef>
                <a:spcPct val="40000"/>
              </a:spcBef>
            </a:pPr>
            <a:r>
              <a:rPr lang="en-US" altLang="it-IT"/>
              <a:t>Local Value Numbering</a:t>
            </a:r>
          </a:p>
        </p:txBody>
      </p:sp>
      <p:sp>
        <p:nvSpPr>
          <p:cNvPr id="31748" name="Rectangle 3">
            <a:extLst>
              <a:ext uri="{FF2B5EF4-FFF2-40B4-BE49-F238E27FC236}">
                <a16:creationId xmlns:a16="http://schemas.microsoft.com/office/drawing/2014/main" id="{B8580EB4-CD12-4F42-9789-21496046FCA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spcBef>
                <a:spcPct val="40000"/>
              </a:spcBef>
              <a:buFont typeface="Times" panose="02020603050405020304" pitchFamily="18" charset="0"/>
              <a:buNone/>
            </a:pPr>
            <a:r>
              <a:rPr lang="en-US" altLang="it-IT"/>
              <a:t>Example (</a:t>
            </a:r>
            <a:r>
              <a:rPr lang="en-US" altLang="it-IT" sz="1800"/>
              <a:t>continued</a:t>
            </a:r>
            <a:r>
              <a:rPr lang="en-US" altLang="it-IT"/>
              <a:t>):</a:t>
            </a:r>
          </a:p>
        </p:txBody>
      </p:sp>
      <p:sp>
        <p:nvSpPr>
          <p:cNvPr id="19460" name="Text Box 4">
            <a:extLst>
              <a:ext uri="{FF2B5EF4-FFF2-40B4-BE49-F238E27FC236}">
                <a16:creationId xmlns:a16="http://schemas.microsoft.com/office/drawing/2014/main" id="{AE19FC36-E2ED-489E-97E0-81179FE34D7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29000" y="1905000"/>
            <a:ext cx="2057400" cy="1628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pPr algn="ctr">
              <a:spcBef>
                <a:spcPct val="10000"/>
              </a:spcBef>
              <a:spcAft>
                <a:spcPct val="20000"/>
              </a:spcAft>
            </a:pPr>
            <a:r>
              <a:rPr lang="en-US" altLang="it-IT" u="sng">
                <a:latin typeface="Arial Rounded MT Bold" panose="020F0704030504030204" pitchFamily="34" charset="0"/>
              </a:rPr>
              <a:t>With VNs</a:t>
            </a:r>
            <a:endParaRPr lang="en-US" altLang="it-IT">
              <a:latin typeface="Arial" panose="020B0604020202020204" pitchFamily="34" charset="0"/>
            </a:endParaRPr>
          </a:p>
          <a:p>
            <a:pPr>
              <a:spcBef>
                <a:spcPct val="10000"/>
              </a:spcBef>
            </a:pPr>
            <a:r>
              <a:rPr lang="en-US" altLang="it-IT">
                <a:latin typeface="Arial" panose="020B0604020202020204" pitchFamily="34" charset="0"/>
              </a:rPr>
              <a:t>    a</a:t>
            </a:r>
            <a:r>
              <a:rPr lang="en-US" altLang="it-IT" baseline="-25000">
                <a:latin typeface="Arial" panose="020B0604020202020204" pitchFamily="34" charset="0"/>
              </a:rPr>
              <a:t>0</a:t>
            </a:r>
            <a:r>
              <a:rPr lang="en-US" altLang="it-IT" baseline="30000">
                <a:latin typeface="Arial" panose="020B0604020202020204" pitchFamily="34" charset="0"/>
              </a:rPr>
              <a:t>3</a:t>
            </a:r>
            <a:r>
              <a:rPr lang="en-US" altLang="it-IT">
                <a:latin typeface="Arial" panose="020B0604020202020204" pitchFamily="34" charset="0"/>
              </a:rPr>
              <a:t> </a:t>
            </a:r>
            <a:r>
              <a:rPr lang="en-US" altLang="it-IT">
                <a:latin typeface="Arial" panose="020B0604020202020204" pitchFamily="34" charset="0"/>
                <a:sym typeface="Symbol" panose="05050102010706020507" pitchFamily="18" charset="2"/>
              </a:rPr>
              <a:t> x</a:t>
            </a:r>
            <a:r>
              <a:rPr lang="en-US" altLang="it-IT" baseline="-25000">
                <a:latin typeface="Arial" panose="020B0604020202020204" pitchFamily="34" charset="0"/>
                <a:sym typeface="Symbol" panose="05050102010706020507" pitchFamily="18" charset="2"/>
              </a:rPr>
              <a:t>0</a:t>
            </a:r>
            <a:r>
              <a:rPr lang="en-US" altLang="it-IT" baseline="30000">
                <a:latin typeface="Arial" panose="020B0604020202020204" pitchFamily="34" charset="0"/>
                <a:sym typeface="Symbol" panose="05050102010706020507" pitchFamily="18" charset="2"/>
              </a:rPr>
              <a:t>1 </a:t>
            </a:r>
            <a:r>
              <a:rPr lang="en-US" altLang="it-IT">
                <a:latin typeface="Arial" panose="020B0604020202020204" pitchFamily="34" charset="0"/>
                <a:sym typeface="Symbol" panose="05050102010706020507" pitchFamily="18" charset="2"/>
              </a:rPr>
              <a:t>+ y</a:t>
            </a:r>
            <a:r>
              <a:rPr lang="en-US" altLang="it-IT" baseline="-25000">
                <a:latin typeface="Arial" panose="020B0604020202020204" pitchFamily="34" charset="0"/>
                <a:sym typeface="Symbol" panose="05050102010706020507" pitchFamily="18" charset="2"/>
              </a:rPr>
              <a:t>0</a:t>
            </a:r>
            <a:r>
              <a:rPr lang="en-US" altLang="it-IT" baseline="30000">
                <a:latin typeface="Arial" panose="020B0604020202020204" pitchFamily="34" charset="0"/>
                <a:sym typeface="Symbol" panose="05050102010706020507" pitchFamily="18" charset="2"/>
              </a:rPr>
              <a:t>2</a:t>
            </a:r>
            <a:endParaRPr lang="en-US" altLang="it-IT">
              <a:latin typeface="Arial" panose="020B0604020202020204" pitchFamily="34" charset="0"/>
              <a:sym typeface="Symbol" panose="05050102010706020507" pitchFamily="18" charset="2"/>
            </a:endParaRPr>
          </a:p>
          <a:p>
            <a:pPr>
              <a:spcBef>
                <a:spcPct val="10000"/>
              </a:spcBef>
            </a:pPr>
            <a:r>
              <a:rPr lang="en-US" altLang="it-IT">
                <a:latin typeface="Arial" panose="020B0604020202020204" pitchFamily="34" charset="0"/>
                <a:sym typeface="Symbol" panose="05050102010706020507" pitchFamily="18" charset="2"/>
              </a:rPr>
              <a:t>  b</a:t>
            </a:r>
            <a:r>
              <a:rPr lang="en-US" altLang="it-IT" baseline="-25000">
                <a:latin typeface="Arial" panose="020B0604020202020204" pitchFamily="34" charset="0"/>
                <a:sym typeface="Symbol" panose="05050102010706020507" pitchFamily="18" charset="2"/>
              </a:rPr>
              <a:t>0</a:t>
            </a:r>
            <a:r>
              <a:rPr lang="en-US" altLang="it-IT" baseline="30000">
                <a:latin typeface="Arial" panose="020B0604020202020204" pitchFamily="34" charset="0"/>
                <a:sym typeface="Symbol" panose="05050102010706020507" pitchFamily="18" charset="2"/>
              </a:rPr>
              <a:t>3</a:t>
            </a:r>
            <a:r>
              <a:rPr lang="en-US" altLang="it-IT">
                <a:latin typeface="Arial" panose="020B0604020202020204" pitchFamily="34" charset="0"/>
                <a:sym typeface="Symbol" panose="05050102010706020507" pitchFamily="18" charset="2"/>
              </a:rPr>
              <a:t>  x</a:t>
            </a:r>
            <a:r>
              <a:rPr lang="en-US" altLang="it-IT" baseline="-25000">
                <a:latin typeface="Arial" panose="020B0604020202020204" pitchFamily="34" charset="0"/>
                <a:sym typeface="Symbol" panose="05050102010706020507" pitchFamily="18" charset="2"/>
              </a:rPr>
              <a:t>0</a:t>
            </a:r>
            <a:r>
              <a:rPr lang="en-US" altLang="it-IT" baseline="30000">
                <a:latin typeface="Arial" panose="020B0604020202020204" pitchFamily="34" charset="0"/>
                <a:sym typeface="Symbol" panose="05050102010706020507" pitchFamily="18" charset="2"/>
              </a:rPr>
              <a:t>1</a:t>
            </a:r>
            <a:r>
              <a:rPr lang="en-US" altLang="it-IT">
                <a:latin typeface="Arial" panose="020B0604020202020204" pitchFamily="34" charset="0"/>
                <a:sym typeface="Symbol" panose="05050102010706020507" pitchFamily="18" charset="2"/>
              </a:rPr>
              <a:t> + y</a:t>
            </a:r>
            <a:r>
              <a:rPr lang="en-US" altLang="it-IT" baseline="-25000">
                <a:latin typeface="Arial" panose="020B0604020202020204" pitchFamily="34" charset="0"/>
                <a:sym typeface="Symbol" panose="05050102010706020507" pitchFamily="18" charset="2"/>
              </a:rPr>
              <a:t>0</a:t>
            </a:r>
            <a:r>
              <a:rPr lang="en-US" altLang="it-IT" baseline="30000">
                <a:latin typeface="Arial" panose="020B0604020202020204" pitchFamily="34" charset="0"/>
                <a:sym typeface="Symbol" panose="05050102010706020507" pitchFamily="18" charset="2"/>
              </a:rPr>
              <a:t>2</a:t>
            </a:r>
            <a:endParaRPr lang="en-US" altLang="it-IT">
              <a:latin typeface="Arial" panose="020B0604020202020204" pitchFamily="34" charset="0"/>
              <a:sym typeface="Symbol" panose="05050102010706020507" pitchFamily="18" charset="2"/>
            </a:endParaRPr>
          </a:p>
          <a:p>
            <a:pPr>
              <a:spcBef>
                <a:spcPct val="10000"/>
              </a:spcBef>
            </a:pPr>
            <a:r>
              <a:rPr lang="en-US" altLang="it-IT">
                <a:latin typeface="Arial" panose="020B0604020202020204" pitchFamily="34" charset="0"/>
                <a:sym typeface="Symbol" panose="05050102010706020507" pitchFamily="18" charset="2"/>
              </a:rPr>
              <a:t>    a</a:t>
            </a:r>
            <a:r>
              <a:rPr lang="en-US" altLang="it-IT" baseline="-25000">
                <a:latin typeface="Arial" panose="020B0604020202020204" pitchFamily="34" charset="0"/>
                <a:sym typeface="Symbol" panose="05050102010706020507" pitchFamily="18" charset="2"/>
              </a:rPr>
              <a:t>1</a:t>
            </a:r>
            <a:r>
              <a:rPr lang="en-US" altLang="it-IT" baseline="30000">
                <a:latin typeface="Arial" panose="020B0604020202020204" pitchFamily="34" charset="0"/>
                <a:sym typeface="Symbol" panose="05050102010706020507" pitchFamily="18" charset="2"/>
              </a:rPr>
              <a:t>4</a:t>
            </a:r>
            <a:r>
              <a:rPr lang="en-US" altLang="it-IT">
                <a:latin typeface="Arial" panose="020B0604020202020204" pitchFamily="34" charset="0"/>
                <a:sym typeface="Symbol" panose="05050102010706020507" pitchFamily="18" charset="2"/>
              </a:rPr>
              <a:t>  17</a:t>
            </a:r>
          </a:p>
          <a:p>
            <a:pPr>
              <a:spcBef>
                <a:spcPct val="10000"/>
              </a:spcBef>
            </a:pPr>
            <a:r>
              <a:rPr lang="en-US" altLang="it-IT">
                <a:latin typeface="Arial" panose="020B0604020202020204" pitchFamily="34" charset="0"/>
                <a:sym typeface="Symbol" panose="05050102010706020507" pitchFamily="18" charset="2"/>
              </a:rPr>
              <a:t>  c</a:t>
            </a:r>
            <a:r>
              <a:rPr lang="en-US" altLang="it-IT" baseline="-25000">
                <a:latin typeface="Arial" panose="020B0604020202020204" pitchFamily="34" charset="0"/>
                <a:sym typeface="Symbol" panose="05050102010706020507" pitchFamily="18" charset="2"/>
              </a:rPr>
              <a:t>0</a:t>
            </a:r>
            <a:r>
              <a:rPr lang="en-US" altLang="it-IT" baseline="30000">
                <a:latin typeface="Arial" panose="020B0604020202020204" pitchFamily="34" charset="0"/>
                <a:sym typeface="Symbol" panose="05050102010706020507" pitchFamily="18" charset="2"/>
              </a:rPr>
              <a:t>3</a:t>
            </a:r>
            <a:r>
              <a:rPr lang="en-US" altLang="it-IT">
                <a:latin typeface="Arial" panose="020B0604020202020204" pitchFamily="34" charset="0"/>
                <a:sym typeface="Symbol" panose="05050102010706020507" pitchFamily="18" charset="2"/>
              </a:rPr>
              <a:t>  x</a:t>
            </a:r>
            <a:r>
              <a:rPr lang="en-US" altLang="it-IT" baseline="-25000">
                <a:latin typeface="Arial" panose="020B0604020202020204" pitchFamily="34" charset="0"/>
                <a:sym typeface="Symbol" panose="05050102010706020507" pitchFamily="18" charset="2"/>
              </a:rPr>
              <a:t>0</a:t>
            </a:r>
            <a:r>
              <a:rPr lang="en-US" altLang="it-IT" baseline="30000">
                <a:latin typeface="Arial" panose="020B0604020202020204" pitchFamily="34" charset="0"/>
                <a:sym typeface="Symbol" panose="05050102010706020507" pitchFamily="18" charset="2"/>
              </a:rPr>
              <a:t>1</a:t>
            </a:r>
            <a:r>
              <a:rPr lang="en-US" altLang="it-IT">
                <a:latin typeface="Arial" panose="020B0604020202020204" pitchFamily="34" charset="0"/>
                <a:sym typeface="Symbol" panose="05050102010706020507" pitchFamily="18" charset="2"/>
              </a:rPr>
              <a:t> + y</a:t>
            </a:r>
            <a:r>
              <a:rPr lang="en-US" altLang="it-IT" baseline="-25000">
                <a:latin typeface="Arial" panose="020B0604020202020204" pitchFamily="34" charset="0"/>
                <a:sym typeface="Symbol" panose="05050102010706020507" pitchFamily="18" charset="2"/>
              </a:rPr>
              <a:t>0</a:t>
            </a:r>
            <a:r>
              <a:rPr lang="en-US" altLang="it-IT" baseline="30000">
                <a:latin typeface="Arial" panose="020B0604020202020204" pitchFamily="34" charset="0"/>
                <a:sym typeface="Symbol" panose="05050102010706020507" pitchFamily="18" charset="2"/>
              </a:rPr>
              <a:t>2</a:t>
            </a:r>
            <a:endParaRPr lang="en-US" altLang="it-IT">
              <a:latin typeface="Arial" panose="020B0604020202020204" pitchFamily="34" charset="0"/>
              <a:sym typeface="Symbol" panose="05050102010706020507" pitchFamily="18" charset="2"/>
            </a:endParaRPr>
          </a:p>
        </p:txBody>
      </p:sp>
      <p:sp>
        <p:nvSpPr>
          <p:cNvPr id="19461" name="Text Box 5">
            <a:extLst>
              <a:ext uri="{FF2B5EF4-FFF2-40B4-BE49-F238E27FC236}">
                <a16:creationId xmlns:a16="http://schemas.microsoft.com/office/drawing/2014/main" id="{7596EEEE-8207-478A-AF6D-EA0B2C54AE5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14725" y="3886200"/>
            <a:ext cx="2057400" cy="1277938"/>
          </a:xfrm>
          <a:prstGeom prst="rect">
            <a:avLst/>
          </a:prstGeom>
          <a:solidFill>
            <a:srgbClr val="FFFFFF"/>
          </a:solidFill>
          <a:ln w="19050">
            <a:solidFill>
              <a:srgbClr val="7F7F7F"/>
            </a:solidFill>
            <a:miter lim="800000"/>
            <a:headEnd/>
            <a:tailEnd/>
          </a:ln>
          <a:effectLst>
            <a:outerShdw blurRad="50800" dist="38100" dir="2700000">
              <a:srgbClr val="000000">
                <a:alpha val="43000"/>
              </a:srgbClr>
            </a:outerShdw>
          </a:effectLst>
        </p:spPr>
        <p:txBody>
          <a:bodyPr>
            <a:spAutoFit/>
          </a:bodyPr>
          <a:lstStyle/>
          <a:p>
            <a:pPr marL="166688" indent="-166688" eaLnBrk="0" hangingPunct="0">
              <a:spcBef>
                <a:spcPct val="25000"/>
              </a:spcBef>
              <a:defRPr/>
            </a:pPr>
            <a:r>
              <a:rPr lang="en-US">
                <a:latin typeface="Comic Sans MS" charset="0"/>
                <a:ea typeface="ヒラギノ角ゴ Pro W3" charset="-128"/>
                <a:cs typeface="ヒラギノ角ゴ Pro W3" charset="-128"/>
              </a:rPr>
              <a:t>Notation:</a:t>
            </a:r>
          </a:p>
          <a:p>
            <a:pPr marL="166688" indent="-166688" eaLnBrk="0" hangingPunct="0">
              <a:spcBef>
                <a:spcPct val="25000"/>
              </a:spcBef>
              <a:buClr>
                <a:srgbClr val="003C75"/>
              </a:buClr>
              <a:buSzPct val="120000"/>
              <a:buFont typeface="Times" charset="0"/>
              <a:buChar char="•"/>
              <a:defRPr/>
            </a:pPr>
            <a:r>
              <a:rPr lang="en-US">
                <a:latin typeface="Comic Sans MS" charset="0"/>
                <a:ea typeface="ヒラギノ角ゴ Pro W3" charset="-128"/>
                <a:cs typeface="ヒラギノ角ゴ Pro W3" charset="-128"/>
              </a:rPr>
              <a:t>While complex, the meaning is clear</a:t>
            </a:r>
            <a:endParaRPr lang="en-US" baseline="-25000">
              <a:latin typeface="Comic Sans MS" charset="0"/>
              <a:ea typeface="ヒラギノ角ゴ Pro W3" charset="-128"/>
              <a:cs typeface="ヒラギノ角ゴ Pro W3" charset="-128"/>
            </a:endParaRPr>
          </a:p>
        </p:txBody>
      </p:sp>
      <p:sp>
        <p:nvSpPr>
          <p:cNvPr id="31751" name="Text Box 6">
            <a:extLst>
              <a:ext uri="{FF2B5EF4-FFF2-40B4-BE49-F238E27FC236}">
                <a16:creationId xmlns:a16="http://schemas.microsoft.com/office/drawing/2014/main" id="{609347AE-A8D3-4CB8-841D-95CB2F644A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0600" y="1905000"/>
            <a:ext cx="1828800" cy="1628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pPr algn="ctr">
              <a:spcBef>
                <a:spcPct val="10000"/>
              </a:spcBef>
              <a:spcAft>
                <a:spcPct val="20000"/>
              </a:spcAft>
            </a:pPr>
            <a:r>
              <a:rPr lang="en-US" altLang="it-IT" u="sng">
                <a:latin typeface="Arial Rounded MT Bold" panose="020F0704030504030204" pitchFamily="34" charset="0"/>
              </a:rPr>
              <a:t>Original Code</a:t>
            </a:r>
          </a:p>
          <a:p>
            <a:pPr>
              <a:spcBef>
                <a:spcPct val="10000"/>
              </a:spcBef>
            </a:pPr>
            <a:r>
              <a:rPr lang="en-US" altLang="it-IT">
                <a:latin typeface="Arial" panose="020B0604020202020204" pitchFamily="34" charset="0"/>
              </a:rPr>
              <a:t>    a</a:t>
            </a:r>
            <a:r>
              <a:rPr lang="en-US" altLang="it-IT" baseline="-25000">
                <a:latin typeface="Arial" panose="020B0604020202020204" pitchFamily="34" charset="0"/>
              </a:rPr>
              <a:t>0</a:t>
            </a:r>
            <a:r>
              <a:rPr lang="en-US" altLang="it-IT">
                <a:latin typeface="Arial" panose="020B0604020202020204" pitchFamily="34" charset="0"/>
              </a:rPr>
              <a:t> </a:t>
            </a:r>
            <a:r>
              <a:rPr lang="en-US" altLang="it-IT">
                <a:latin typeface="Arial" panose="020B0604020202020204" pitchFamily="34" charset="0"/>
                <a:sym typeface="Symbol" panose="05050102010706020507" pitchFamily="18" charset="2"/>
              </a:rPr>
              <a:t> x</a:t>
            </a:r>
            <a:r>
              <a:rPr lang="en-US" altLang="it-IT" baseline="-25000">
                <a:latin typeface="Arial" panose="020B0604020202020204" pitchFamily="34" charset="0"/>
                <a:sym typeface="Symbol" panose="05050102010706020507" pitchFamily="18" charset="2"/>
              </a:rPr>
              <a:t>0</a:t>
            </a:r>
            <a:r>
              <a:rPr lang="en-US" altLang="it-IT">
                <a:latin typeface="Arial" panose="020B0604020202020204" pitchFamily="34" charset="0"/>
                <a:sym typeface="Symbol" panose="05050102010706020507" pitchFamily="18" charset="2"/>
              </a:rPr>
              <a:t> + y</a:t>
            </a:r>
            <a:r>
              <a:rPr lang="en-US" altLang="it-IT" baseline="-25000">
                <a:latin typeface="Arial" panose="020B0604020202020204" pitchFamily="34" charset="0"/>
                <a:sym typeface="Symbol" panose="05050102010706020507" pitchFamily="18" charset="2"/>
              </a:rPr>
              <a:t>0</a:t>
            </a:r>
            <a:endParaRPr lang="en-US" altLang="it-IT">
              <a:latin typeface="Arial" panose="020B0604020202020204" pitchFamily="34" charset="0"/>
              <a:sym typeface="Symbol" panose="05050102010706020507" pitchFamily="18" charset="2"/>
            </a:endParaRPr>
          </a:p>
          <a:p>
            <a:pPr>
              <a:spcBef>
                <a:spcPct val="10000"/>
              </a:spcBef>
            </a:pPr>
            <a:r>
              <a:rPr lang="en-US" altLang="it-IT">
                <a:latin typeface="Arial" panose="020B0604020202020204" pitchFamily="34" charset="0"/>
                <a:sym typeface="Symbol" panose="05050102010706020507" pitchFamily="18" charset="2"/>
              </a:rPr>
              <a:t>  b</a:t>
            </a:r>
            <a:r>
              <a:rPr lang="en-US" altLang="it-IT" baseline="-25000">
                <a:latin typeface="Arial" panose="020B0604020202020204" pitchFamily="34" charset="0"/>
                <a:sym typeface="Symbol" panose="05050102010706020507" pitchFamily="18" charset="2"/>
              </a:rPr>
              <a:t>0</a:t>
            </a:r>
            <a:r>
              <a:rPr lang="en-US" altLang="it-IT">
                <a:latin typeface="Arial" panose="020B0604020202020204" pitchFamily="34" charset="0"/>
                <a:sym typeface="Symbol" panose="05050102010706020507" pitchFamily="18" charset="2"/>
              </a:rPr>
              <a:t>  x</a:t>
            </a:r>
            <a:r>
              <a:rPr lang="en-US" altLang="it-IT" baseline="-25000">
                <a:latin typeface="Arial" panose="020B0604020202020204" pitchFamily="34" charset="0"/>
                <a:sym typeface="Symbol" panose="05050102010706020507" pitchFamily="18" charset="2"/>
              </a:rPr>
              <a:t>0</a:t>
            </a:r>
            <a:r>
              <a:rPr lang="en-US" altLang="it-IT">
                <a:latin typeface="Arial" panose="020B0604020202020204" pitchFamily="34" charset="0"/>
                <a:sym typeface="Symbol" panose="05050102010706020507" pitchFamily="18" charset="2"/>
              </a:rPr>
              <a:t> + y</a:t>
            </a:r>
            <a:r>
              <a:rPr lang="en-US" altLang="it-IT" baseline="-25000">
                <a:latin typeface="Arial" panose="020B0604020202020204" pitchFamily="34" charset="0"/>
                <a:sym typeface="Symbol" panose="05050102010706020507" pitchFamily="18" charset="2"/>
              </a:rPr>
              <a:t>0</a:t>
            </a:r>
            <a:endParaRPr lang="en-US" altLang="it-IT">
              <a:latin typeface="Arial" panose="020B0604020202020204" pitchFamily="34" charset="0"/>
              <a:sym typeface="Symbol" panose="05050102010706020507" pitchFamily="18" charset="2"/>
            </a:endParaRPr>
          </a:p>
          <a:p>
            <a:pPr>
              <a:spcBef>
                <a:spcPct val="10000"/>
              </a:spcBef>
            </a:pPr>
            <a:r>
              <a:rPr lang="en-US" altLang="it-IT">
                <a:latin typeface="Arial" panose="020B0604020202020204" pitchFamily="34" charset="0"/>
                <a:sym typeface="Symbol" panose="05050102010706020507" pitchFamily="18" charset="2"/>
              </a:rPr>
              <a:t>    a</a:t>
            </a:r>
            <a:r>
              <a:rPr lang="en-US" altLang="it-IT" baseline="-25000">
                <a:latin typeface="Arial" panose="020B0604020202020204" pitchFamily="34" charset="0"/>
                <a:sym typeface="Symbol" panose="05050102010706020507" pitchFamily="18" charset="2"/>
              </a:rPr>
              <a:t>1</a:t>
            </a:r>
            <a:r>
              <a:rPr lang="en-US" altLang="it-IT">
                <a:latin typeface="Arial" panose="020B0604020202020204" pitchFamily="34" charset="0"/>
                <a:sym typeface="Symbol" panose="05050102010706020507" pitchFamily="18" charset="2"/>
              </a:rPr>
              <a:t>  17</a:t>
            </a:r>
          </a:p>
          <a:p>
            <a:pPr>
              <a:spcBef>
                <a:spcPct val="10000"/>
              </a:spcBef>
            </a:pPr>
            <a:r>
              <a:rPr lang="en-US" altLang="it-IT">
                <a:latin typeface="Arial" panose="020B0604020202020204" pitchFamily="34" charset="0"/>
                <a:sym typeface="Symbol" panose="05050102010706020507" pitchFamily="18" charset="2"/>
              </a:rPr>
              <a:t>  c</a:t>
            </a:r>
            <a:r>
              <a:rPr lang="en-US" altLang="it-IT" baseline="-25000">
                <a:latin typeface="Arial" panose="020B0604020202020204" pitchFamily="34" charset="0"/>
                <a:sym typeface="Symbol" panose="05050102010706020507" pitchFamily="18" charset="2"/>
              </a:rPr>
              <a:t>0</a:t>
            </a:r>
            <a:r>
              <a:rPr lang="en-US" altLang="it-IT">
                <a:latin typeface="Arial" panose="020B0604020202020204" pitchFamily="34" charset="0"/>
                <a:sym typeface="Symbol" panose="05050102010706020507" pitchFamily="18" charset="2"/>
              </a:rPr>
              <a:t>  x</a:t>
            </a:r>
            <a:r>
              <a:rPr lang="en-US" altLang="it-IT" baseline="-25000">
                <a:latin typeface="Arial" panose="020B0604020202020204" pitchFamily="34" charset="0"/>
                <a:sym typeface="Symbol" panose="05050102010706020507" pitchFamily="18" charset="2"/>
              </a:rPr>
              <a:t>0</a:t>
            </a:r>
            <a:r>
              <a:rPr lang="en-US" altLang="it-IT">
                <a:latin typeface="Arial" panose="020B0604020202020204" pitchFamily="34" charset="0"/>
                <a:sym typeface="Symbol" panose="05050102010706020507" pitchFamily="18" charset="2"/>
              </a:rPr>
              <a:t> + y</a:t>
            </a:r>
            <a:r>
              <a:rPr lang="en-US" altLang="it-IT" baseline="-25000">
                <a:latin typeface="Arial" panose="020B0604020202020204" pitchFamily="34" charset="0"/>
                <a:sym typeface="Symbol" panose="05050102010706020507" pitchFamily="18" charset="2"/>
              </a:rPr>
              <a:t>0</a:t>
            </a:r>
            <a:endParaRPr lang="en-US" altLang="it-IT">
              <a:latin typeface="Arial" panose="020B0604020202020204" pitchFamily="34" charset="0"/>
              <a:sym typeface="Symbol" panose="05050102010706020507" pitchFamily="18" charset="2"/>
            </a:endParaRPr>
          </a:p>
        </p:txBody>
      </p:sp>
      <p:sp>
        <p:nvSpPr>
          <p:cNvPr id="19463" name="Text Box 7">
            <a:extLst>
              <a:ext uri="{FF2B5EF4-FFF2-40B4-BE49-F238E27FC236}">
                <a16:creationId xmlns:a16="http://schemas.microsoft.com/office/drawing/2014/main" id="{F8A05F8D-D7A5-49B6-9A2B-E5DFC0B65FA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3886200"/>
            <a:ext cx="2438400" cy="1346200"/>
          </a:xfrm>
          <a:prstGeom prst="rect">
            <a:avLst/>
          </a:prstGeom>
          <a:solidFill>
            <a:srgbClr val="FFFFFF"/>
          </a:solidFill>
          <a:ln w="19050">
            <a:solidFill>
              <a:srgbClr val="7F7F7F"/>
            </a:solidFill>
            <a:miter lim="800000"/>
            <a:headEnd/>
            <a:tailEnd/>
          </a:ln>
          <a:effectLst>
            <a:outerShdw blurRad="50800" dist="38100" dir="2700000">
              <a:srgbClr val="000000">
                <a:alpha val="43000"/>
              </a:srgbClr>
            </a:outerShdw>
          </a:effectLst>
        </p:spPr>
        <p:txBody>
          <a:bodyPr>
            <a:spAutoFit/>
          </a:bodyPr>
          <a:lstStyle/>
          <a:p>
            <a:pPr marL="166688" indent="-166688" eaLnBrk="0" hangingPunct="0">
              <a:spcBef>
                <a:spcPct val="25000"/>
              </a:spcBef>
              <a:defRPr/>
            </a:pPr>
            <a:r>
              <a:rPr lang="en-US">
                <a:latin typeface="Comic Sans MS" charset="0"/>
                <a:ea typeface="ヒラギノ角ゴ Pro W3" charset="-128"/>
                <a:cs typeface="ヒラギノ角ゴ Pro W3" charset="-128"/>
              </a:rPr>
              <a:t>Renaming:</a:t>
            </a:r>
          </a:p>
          <a:p>
            <a:pPr marL="166688" indent="-166688" eaLnBrk="0" hangingPunct="0">
              <a:spcBef>
                <a:spcPct val="25000"/>
              </a:spcBef>
              <a:buClr>
                <a:srgbClr val="003C75"/>
              </a:buClr>
              <a:buSzPct val="120000"/>
              <a:buFont typeface="Times" charset="0"/>
              <a:buChar char="•"/>
              <a:defRPr/>
            </a:pPr>
            <a:r>
              <a:rPr lang="en-US">
                <a:latin typeface="Comic Sans MS" charset="0"/>
                <a:ea typeface="ヒラギノ角ゴ Pro W3" charset="-128"/>
                <a:cs typeface="ヒラギノ角ゴ Pro W3" charset="-128"/>
              </a:rPr>
              <a:t>Give each value a unique name</a:t>
            </a:r>
          </a:p>
          <a:p>
            <a:pPr marL="166688" indent="-166688" eaLnBrk="0" hangingPunct="0">
              <a:spcBef>
                <a:spcPct val="25000"/>
              </a:spcBef>
              <a:buClr>
                <a:srgbClr val="003C75"/>
              </a:buClr>
              <a:buSzPct val="120000"/>
              <a:buFont typeface="Times" charset="0"/>
              <a:buChar char="•"/>
              <a:defRPr/>
            </a:pPr>
            <a:r>
              <a:rPr lang="en-US">
                <a:latin typeface="Comic Sans MS" charset="0"/>
                <a:ea typeface="ヒラギノ角ゴ Pro W3" charset="-128"/>
                <a:cs typeface="ヒラギノ角ゴ Pro W3" charset="-128"/>
              </a:rPr>
              <a:t>Makes it clear</a:t>
            </a:r>
            <a:endParaRPr lang="en-US" baseline="-25000">
              <a:latin typeface="Comic Sans MS" charset="0"/>
              <a:ea typeface="ヒラギノ角ゴ Pro W3" charset="-128"/>
              <a:cs typeface="ヒラギノ角ゴ Pro W3" charset="-128"/>
            </a:endParaRPr>
          </a:p>
        </p:txBody>
      </p:sp>
      <p:sp>
        <p:nvSpPr>
          <p:cNvPr id="19464" name="Text Box 8">
            <a:extLst>
              <a:ext uri="{FF2B5EF4-FFF2-40B4-BE49-F238E27FC236}">
                <a16:creationId xmlns:a16="http://schemas.microsoft.com/office/drawing/2014/main" id="{5F5BF4F9-0AAB-4E3D-892A-F850293BA1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67400" y="1905000"/>
            <a:ext cx="2057400" cy="1628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pPr algn="ctr">
              <a:spcBef>
                <a:spcPct val="10000"/>
              </a:spcBef>
              <a:spcAft>
                <a:spcPct val="20000"/>
              </a:spcAft>
            </a:pPr>
            <a:r>
              <a:rPr lang="en-US" altLang="it-IT" u="sng">
                <a:latin typeface="Arial Rounded MT Bold" panose="020F0704030504030204" pitchFamily="34" charset="0"/>
              </a:rPr>
              <a:t>Rewritten</a:t>
            </a:r>
            <a:endParaRPr lang="en-US" altLang="it-IT">
              <a:latin typeface="Arial" panose="020B0604020202020204" pitchFamily="34" charset="0"/>
            </a:endParaRPr>
          </a:p>
          <a:p>
            <a:pPr>
              <a:spcBef>
                <a:spcPct val="10000"/>
              </a:spcBef>
            </a:pPr>
            <a:r>
              <a:rPr lang="en-US" altLang="it-IT">
                <a:latin typeface="Arial" panose="020B0604020202020204" pitchFamily="34" charset="0"/>
              </a:rPr>
              <a:t>    a</a:t>
            </a:r>
            <a:r>
              <a:rPr lang="en-US" altLang="it-IT" baseline="-25000">
                <a:latin typeface="Arial" panose="020B0604020202020204" pitchFamily="34" charset="0"/>
              </a:rPr>
              <a:t>0</a:t>
            </a:r>
            <a:r>
              <a:rPr lang="en-US" altLang="it-IT" baseline="30000">
                <a:latin typeface="Arial" panose="020B0604020202020204" pitchFamily="34" charset="0"/>
              </a:rPr>
              <a:t>3</a:t>
            </a:r>
            <a:r>
              <a:rPr lang="en-US" altLang="it-IT">
                <a:latin typeface="Arial" panose="020B0604020202020204" pitchFamily="34" charset="0"/>
              </a:rPr>
              <a:t> </a:t>
            </a:r>
            <a:r>
              <a:rPr lang="en-US" altLang="it-IT">
                <a:latin typeface="Arial" panose="020B0604020202020204" pitchFamily="34" charset="0"/>
                <a:sym typeface="Symbol" panose="05050102010706020507" pitchFamily="18" charset="2"/>
              </a:rPr>
              <a:t> x</a:t>
            </a:r>
            <a:r>
              <a:rPr lang="en-US" altLang="it-IT" baseline="-25000">
                <a:latin typeface="Arial" panose="020B0604020202020204" pitchFamily="34" charset="0"/>
                <a:sym typeface="Symbol" panose="05050102010706020507" pitchFamily="18" charset="2"/>
              </a:rPr>
              <a:t>0</a:t>
            </a:r>
            <a:r>
              <a:rPr lang="en-US" altLang="it-IT" baseline="30000">
                <a:latin typeface="Arial" panose="020B0604020202020204" pitchFamily="34" charset="0"/>
                <a:sym typeface="Symbol" panose="05050102010706020507" pitchFamily="18" charset="2"/>
              </a:rPr>
              <a:t>1 </a:t>
            </a:r>
            <a:r>
              <a:rPr lang="en-US" altLang="it-IT">
                <a:latin typeface="Arial" panose="020B0604020202020204" pitchFamily="34" charset="0"/>
                <a:sym typeface="Symbol" panose="05050102010706020507" pitchFamily="18" charset="2"/>
              </a:rPr>
              <a:t>+ y</a:t>
            </a:r>
            <a:r>
              <a:rPr lang="en-US" altLang="it-IT" baseline="-25000">
                <a:latin typeface="Arial" panose="020B0604020202020204" pitchFamily="34" charset="0"/>
                <a:sym typeface="Symbol" panose="05050102010706020507" pitchFamily="18" charset="2"/>
              </a:rPr>
              <a:t>0</a:t>
            </a:r>
            <a:r>
              <a:rPr lang="en-US" altLang="it-IT" baseline="30000">
                <a:latin typeface="Arial" panose="020B0604020202020204" pitchFamily="34" charset="0"/>
                <a:sym typeface="Symbol" panose="05050102010706020507" pitchFamily="18" charset="2"/>
              </a:rPr>
              <a:t>2</a:t>
            </a:r>
            <a:endParaRPr lang="en-US" altLang="it-IT">
              <a:latin typeface="Arial" panose="020B0604020202020204" pitchFamily="34" charset="0"/>
              <a:sym typeface="Symbol" panose="05050102010706020507" pitchFamily="18" charset="2"/>
            </a:endParaRPr>
          </a:p>
          <a:p>
            <a:pPr>
              <a:spcBef>
                <a:spcPct val="10000"/>
              </a:spcBef>
            </a:pPr>
            <a:r>
              <a:rPr lang="en-US" altLang="it-IT">
                <a:latin typeface="Arial" panose="020B0604020202020204" pitchFamily="34" charset="0"/>
                <a:sym typeface="Symbol" panose="05050102010706020507" pitchFamily="18" charset="2"/>
              </a:rPr>
              <a:t>  b</a:t>
            </a:r>
            <a:r>
              <a:rPr lang="en-US" altLang="it-IT" baseline="-25000">
                <a:latin typeface="Arial" panose="020B0604020202020204" pitchFamily="34" charset="0"/>
                <a:sym typeface="Symbol" panose="05050102010706020507" pitchFamily="18" charset="2"/>
              </a:rPr>
              <a:t>0</a:t>
            </a:r>
            <a:r>
              <a:rPr lang="en-US" altLang="it-IT" baseline="30000">
                <a:latin typeface="Arial" panose="020B0604020202020204" pitchFamily="34" charset="0"/>
                <a:sym typeface="Symbol" panose="05050102010706020507" pitchFamily="18" charset="2"/>
              </a:rPr>
              <a:t>3</a:t>
            </a:r>
            <a:r>
              <a:rPr lang="en-US" altLang="it-IT">
                <a:latin typeface="Arial" panose="020B0604020202020204" pitchFamily="34" charset="0"/>
                <a:sym typeface="Symbol" panose="05050102010706020507" pitchFamily="18" charset="2"/>
              </a:rPr>
              <a:t>  </a:t>
            </a:r>
            <a:r>
              <a:rPr lang="en-US" altLang="it-IT">
                <a:latin typeface="Arial" panose="020B0604020202020204" pitchFamily="34" charset="0"/>
              </a:rPr>
              <a:t>a</a:t>
            </a:r>
            <a:r>
              <a:rPr lang="en-US" altLang="it-IT" baseline="-25000">
                <a:latin typeface="Arial" panose="020B0604020202020204" pitchFamily="34" charset="0"/>
              </a:rPr>
              <a:t>0</a:t>
            </a:r>
            <a:r>
              <a:rPr lang="en-US" altLang="it-IT" baseline="30000">
                <a:latin typeface="Arial" panose="020B0604020202020204" pitchFamily="34" charset="0"/>
              </a:rPr>
              <a:t>3</a:t>
            </a:r>
            <a:endParaRPr lang="en-US" altLang="it-IT">
              <a:latin typeface="Arial" panose="020B0604020202020204" pitchFamily="34" charset="0"/>
              <a:sym typeface="Symbol" panose="05050102010706020507" pitchFamily="18" charset="2"/>
            </a:endParaRPr>
          </a:p>
          <a:p>
            <a:pPr>
              <a:spcBef>
                <a:spcPct val="10000"/>
              </a:spcBef>
            </a:pPr>
            <a:r>
              <a:rPr lang="en-US" altLang="it-IT">
                <a:latin typeface="Arial" panose="020B0604020202020204" pitchFamily="34" charset="0"/>
                <a:sym typeface="Symbol" panose="05050102010706020507" pitchFamily="18" charset="2"/>
              </a:rPr>
              <a:t>    a</a:t>
            </a:r>
            <a:r>
              <a:rPr lang="en-US" altLang="it-IT" baseline="-25000">
                <a:latin typeface="Arial" panose="020B0604020202020204" pitchFamily="34" charset="0"/>
                <a:sym typeface="Symbol" panose="05050102010706020507" pitchFamily="18" charset="2"/>
              </a:rPr>
              <a:t>1</a:t>
            </a:r>
            <a:r>
              <a:rPr lang="en-US" altLang="it-IT" baseline="30000">
                <a:latin typeface="Arial" panose="020B0604020202020204" pitchFamily="34" charset="0"/>
                <a:sym typeface="Symbol" panose="05050102010706020507" pitchFamily="18" charset="2"/>
              </a:rPr>
              <a:t>4</a:t>
            </a:r>
            <a:r>
              <a:rPr lang="en-US" altLang="it-IT">
                <a:latin typeface="Arial" panose="020B0604020202020204" pitchFamily="34" charset="0"/>
                <a:sym typeface="Symbol" panose="05050102010706020507" pitchFamily="18" charset="2"/>
              </a:rPr>
              <a:t>  17</a:t>
            </a:r>
          </a:p>
          <a:p>
            <a:pPr>
              <a:spcBef>
                <a:spcPct val="10000"/>
              </a:spcBef>
            </a:pPr>
            <a:r>
              <a:rPr lang="en-US" altLang="it-IT">
                <a:latin typeface="Arial" panose="020B0604020202020204" pitchFamily="34" charset="0"/>
                <a:sym typeface="Symbol" panose="05050102010706020507" pitchFamily="18" charset="2"/>
              </a:rPr>
              <a:t>  c</a:t>
            </a:r>
            <a:r>
              <a:rPr lang="en-US" altLang="it-IT" baseline="-25000">
                <a:latin typeface="Arial" panose="020B0604020202020204" pitchFamily="34" charset="0"/>
                <a:sym typeface="Symbol" panose="05050102010706020507" pitchFamily="18" charset="2"/>
              </a:rPr>
              <a:t>0</a:t>
            </a:r>
            <a:r>
              <a:rPr lang="en-US" altLang="it-IT" baseline="30000">
                <a:latin typeface="Arial" panose="020B0604020202020204" pitchFamily="34" charset="0"/>
                <a:sym typeface="Symbol" panose="05050102010706020507" pitchFamily="18" charset="2"/>
              </a:rPr>
              <a:t>3</a:t>
            </a:r>
            <a:r>
              <a:rPr lang="en-US" altLang="it-IT">
                <a:latin typeface="Arial" panose="020B0604020202020204" pitchFamily="34" charset="0"/>
                <a:sym typeface="Symbol" panose="05050102010706020507" pitchFamily="18" charset="2"/>
              </a:rPr>
              <a:t>  </a:t>
            </a:r>
            <a:r>
              <a:rPr lang="en-US" altLang="it-IT">
                <a:latin typeface="Arial" panose="020B0604020202020204" pitchFamily="34" charset="0"/>
              </a:rPr>
              <a:t>a</a:t>
            </a:r>
            <a:r>
              <a:rPr lang="en-US" altLang="it-IT" baseline="-25000">
                <a:latin typeface="Arial" panose="020B0604020202020204" pitchFamily="34" charset="0"/>
              </a:rPr>
              <a:t>0</a:t>
            </a:r>
            <a:r>
              <a:rPr lang="en-US" altLang="it-IT" baseline="30000">
                <a:latin typeface="Arial" panose="020B0604020202020204" pitchFamily="34" charset="0"/>
              </a:rPr>
              <a:t>3</a:t>
            </a:r>
          </a:p>
        </p:txBody>
      </p:sp>
      <p:sp>
        <p:nvSpPr>
          <p:cNvPr id="19465" name="Text Box 9">
            <a:extLst>
              <a:ext uri="{FF2B5EF4-FFF2-40B4-BE49-F238E27FC236}">
                <a16:creationId xmlns:a16="http://schemas.microsoft.com/office/drawing/2014/main" id="{266BE272-DD5D-4E08-8DC1-39D713923B7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38850" y="3886200"/>
            <a:ext cx="2057400" cy="1346200"/>
          </a:xfrm>
          <a:prstGeom prst="rect">
            <a:avLst/>
          </a:prstGeom>
          <a:solidFill>
            <a:srgbClr val="FFFFFF"/>
          </a:solidFill>
          <a:ln w="19050">
            <a:solidFill>
              <a:srgbClr val="7F7F7F"/>
            </a:solidFill>
            <a:miter lim="800000"/>
            <a:headEnd/>
            <a:tailEnd/>
          </a:ln>
          <a:effectLst>
            <a:outerShdw blurRad="50800" dist="38100" dir="2700000">
              <a:srgbClr val="000000">
                <a:alpha val="43000"/>
              </a:srgbClr>
            </a:outerShdw>
          </a:effectLst>
        </p:spPr>
        <p:txBody>
          <a:bodyPr>
            <a:spAutoFit/>
          </a:bodyPr>
          <a:lstStyle/>
          <a:p>
            <a:pPr marL="166688" indent="-166688" eaLnBrk="0" hangingPunct="0">
              <a:spcBef>
                <a:spcPct val="25000"/>
              </a:spcBef>
              <a:defRPr/>
            </a:pPr>
            <a:r>
              <a:rPr lang="en-US">
                <a:latin typeface="Comic Sans MS" charset="0"/>
                <a:ea typeface="ヒラギノ角ゴ Pro W3" charset="-128"/>
                <a:cs typeface="ヒラギノ角ゴ Pro W3" charset="-128"/>
              </a:rPr>
              <a:t>Result:</a:t>
            </a:r>
          </a:p>
          <a:p>
            <a:pPr marL="166688" indent="-166688" eaLnBrk="0" hangingPunct="0">
              <a:spcBef>
                <a:spcPct val="25000"/>
              </a:spcBef>
              <a:buClr>
                <a:srgbClr val="003C75"/>
              </a:buClr>
              <a:buSzPct val="120000"/>
              <a:buFont typeface="Times" charset="0"/>
              <a:buChar char="•"/>
              <a:defRPr/>
            </a:pPr>
            <a:r>
              <a:rPr lang="en-US">
                <a:latin typeface="Comic Sans MS" charset="0"/>
                <a:ea typeface="ヒラギノ角ゴ Pro W3" charset="-128"/>
                <a:cs typeface="ヒラギノ角ゴ Pro W3" charset="-128"/>
              </a:rPr>
              <a:t> a</a:t>
            </a:r>
            <a:r>
              <a:rPr lang="en-US" baseline="-25000">
                <a:latin typeface="Comic Sans MS" charset="0"/>
                <a:ea typeface="ヒラギノ角ゴ Pro W3" charset="-128"/>
                <a:cs typeface="ヒラギノ角ゴ Pro W3" charset="-128"/>
              </a:rPr>
              <a:t>0</a:t>
            </a:r>
            <a:r>
              <a:rPr lang="en-US" baseline="30000">
                <a:latin typeface="Comic Sans MS" charset="0"/>
                <a:ea typeface="ヒラギノ角ゴ Pro W3" charset="-128"/>
                <a:cs typeface="ヒラギノ角ゴ Pro W3" charset="-128"/>
              </a:rPr>
              <a:t>3</a:t>
            </a:r>
            <a:r>
              <a:rPr lang="en-US">
                <a:latin typeface="Comic Sans MS" charset="0"/>
                <a:ea typeface="ヒラギノ角ゴ Pro W3" charset="-128"/>
                <a:cs typeface="ヒラギノ角ゴ Pro W3" charset="-128"/>
              </a:rPr>
              <a:t> is available</a:t>
            </a:r>
          </a:p>
          <a:p>
            <a:pPr marL="166688" indent="-166688" eaLnBrk="0" hangingPunct="0">
              <a:spcBef>
                <a:spcPct val="25000"/>
              </a:spcBef>
              <a:buClr>
                <a:srgbClr val="003C75"/>
              </a:buClr>
              <a:buSzPct val="120000"/>
              <a:buFont typeface="Times" charset="0"/>
              <a:buChar char="•"/>
              <a:defRPr/>
            </a:pPr>
            <a:r>
              <a:rPr lang="en-US">
                <a:latin typeface="Comic Sans MS" charset="0"/>
                <a:ea typeface="ヒラギノ角ゴ Pro W3" charset="-128"/>
                <a:cs typeface="ヒラギノ角ゴ Pro W3" charset="-128"/>
              </a:rPr>
              <a:t> Rewriting now works </a:t>
            </a:r>
            <a:endParaRPr lang="en-US" baseline="-25000">
              <a:latin typeface="Comic Sans MS" charset="0"/>
              <a:ea typeface="ヒラギノ角ゴ Pro W3" charset="-128"/>
              <a:cs typeface="ヒラギノ角ゴ Pro W3" charset="-128"/>
            </a:endParaRPr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94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94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194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194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460" grpId="0" autoUpdateAnimBg="0"/>
      <p:bldP spid="19461" grpId="0" animBg="1" autoUpdateAnimBg="0"/>
      <p:bldP spid="19464" grpId="0" autoUpdateAnimBg="0"/>
      <p:bldP spid="19465" grpId="0" animBg="1" autoUpdateAnimBg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Footer Placeholder 3">
            <a:extLst>
              <a:ext uri="{FF2B5EF4-FFF2-40B4-BE49-F238E27FC236}">
                <a16:creationId xmlns:a16="http://schemas.microsoft.com/office/drawing/2014/main" id="{EB38AADB-717A-4466-B960-6DFB140C84F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r>
              <a:rPr lang="en-US" altLang="it-IT"/>
              <a:t>Comp 412, Fall 2010</a:t>
            </a:r>
          </a:p>
        </p:txBody>
      </p:sp>
      <p:sp>
        <p:nvSpPr>
          <p:cNvPr id="33794" name="Slide Number Placeholder 4">
            <a:extLst>
              <a:ext uri="{FF2B5EF4-FFF2-40B4-BE49-F238E27FC236}">
                <a16:creationId xmlns:a16="http://schemas.microsoft.com/office/drawing/2014/main" id="{B52BC3DD-79F4-4BE4-8233-AFBAECF8DC4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55FF31D0-3DAC-4C86-B1BF-2AC214D6A637}" type="slidenum">
              <a:rPr lang="en-US" altLang="it-IT"/>
              <a:pPr/>
              <a:t>9</a:t>
            </a:fld>
            <a:endParaRPr lang="en-US" altLang="it-IT"/>
          </a:p>
        </p:txBody>
      </p:sp>
      <p:sp>
        <p:nvSpPr>
          <p:cNvPr id="33795" name="Rectangle 2">
            <a:extLst>
              <a:ext uri="{FF2B5EF4-FFF2-40B4-BE49-F238E27FC236}">
                <a16:creationId xmlns:a16="http://schemas.microsoft.com/office/drawing/2014/main" id="{8ED1F7C7-D43B-41EE-B9C3-9367AADBC37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it-IT"/>
              <a:t>Local Value Numbering</a:t>
            </a:r>
          </a:p>
        </p:txBody>
      </p:sp>
      <p:sp>
        <p:nvSpPr>
          <p:cNvPr id="33796" name="Rectangle 3">
            <a:extLst>
              <a:ext uri="{FF2B5EF4-FFF2-40B4-BE49-F238E27FC236}">
                <a16:creationId xmlns:a16="http://schemas.microsoft.com/office/drawing/2014/main" id="{5F08784A-D6AF-4CB9-895F-F5C70F87AD8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 typeface="Times" panose="02020603050405020304" pitchFamily="18" charset="0"/>
              <a:buNone/>
            </a:pPr>
            <a:r>
              <a:rPr lang="en-US" altLang="it-IT">
                <a:solidFill>
                  <a:srgbClr val="003C75"/>
                </a:solidFill>
              </a:rPr>
              <a:t>The Algorithm</a:t>
            </a:r>
            <a:endParaRPr lang="en-US" altLang="it-IT"/>
          </a:p>
          <a:p>
            <a:pPr eaLnBrk="1" hangingPunct="1">
              <a:buFont typeface="Times" panose="02020603050405020304" pitchFamily="18" charset="0"/>
              <a:buNone/>
            </a:pPr>
            <a:r>
              <a:rPr lang="en-US" altLang="it-IT"/>
              <a:t>For each operation </a:t>
            </a:r>
            <a:r>
              <a:rPr lang="en-US" altLang="it-IT" i="1">
                <a:solidFill>
                  <a:srgbClr val="FF0065"/>
                </a:solidFill>
              </a:rPr>
              <a:t>o = </a:t>
            </a:r>
            <a:r>
              <a:rPr lang="en-US" altLang="it-IT" sz="1800">
                <a:solidFill>
                  <a:srgbClr val="FF0065"/>
                </a:solidFill>
              </a:rPr>
              <a:t>&lt;</a:t>
            </a:r>
            <a:r>
              <a:rPr lang="en-US" altLang="it-IT" sz="1800">
                <a:solidFill>
                  <a:srgbClr val="FF0065"/>
                </a:solidFill>
                <a:latin typeface="Monaco"/>
              </a:rPr>
              <a:t>operator</a:t>
            </a:r>
            <a:r>
              <a:rPr lang="en-US" altLang="it-IT">
                <a:solidFill>
                  <a:srgbClr val="FF0065"/>
                </a:solidFill>
              </a:rPr>
              <a:t>, </a:t>
            </a:r>
            <a:r>
              <a:rPr lang="en-US" altLang="it-IT" sz="1800">
                <a:solidFill>
                  <a:srgbClr val="FF0065"/>
                </a:solidFill>
                <a:latin typeface="Monaco"/>
              </a:rPr>
              <a:t>o</a:t>
            </a:r>
            <a:r>
              <a:rPr lang="en-US" altLang="it-IT" sz="1800" baseline="-25000">
                <a:solidFill>
                  <a:srgbClr val="FF0065"/>
                </a:solidFill>
                <a:latin typeface="Monaco"/>
              </a:rPr>
              <a:t>1</a:t>
            </a:r>
            <a:r>
              <a:rPr lang="en-US" altLang="it-IT">
                <a:solidFill>
                  <a:srgbClr val="FF0065"/>
                </a:solidFill>
              </a:rPr>
              <a:t>, </a:t>
            </a:r>
            <a:r>
              <a:rPr lang="en-US" altLang="it-IT" sz="1800">
                <a:solidFill>
                  <a:srgbClr val="FF0065"/>
                </a:solidFill>
                <a:latin typeface="Monaco"/>
              </a:rPr>
              <a:t>o</a:t>
            </a:r>
            <a:r>
              <a:rPr lang="en-US" altLang="it-IT" sz="1800" baseline="-25000">
                <a:solidFill>
                  <a:srgbClr val="FF0065"/>
                </a:solidFill>
                <a:latin typeface="Monaco"/>
              </a:rPr>
              <a:t>2</a:t>
            </a:r>
            <a:r>
              <a:rPr lang="en-US" altLang="it-IT" sz="1800">
                <a:solidFill>
                  <a:srgbClr val="FF0065"/>
                </a:solidFill>
              </a:rPr>
              <a:t>&gt;</a:t>
            </a:r>
            <a:r>
              <a:rPr lang="en-US" altLang="it-IT"/>
              <a:t> in the block, in order</a:t>
            </a:r>
          </a:p>
          <a:p>
            <a:pPr eaLnBrk="1" hangingPunct="1">
              <a:spcBef>
                <a:spcPct val="15000"/>
              </a:spcBef>
              <a:buSzPct val="90000"/>
              <a:buFontTx/>
              <a:buChar char="1"/>
            </a:pPr>
            <a:r>
              <a:rPr lang="en-US" altLang="it-IT"/>
              <a:t>Get value numbers for operands from hash lookup</a:t>
            </a:r>
          </a:p>
          <a:p>
            <a:pPr eaLnBrk="1" hangingPunct="1">
              <a:spcBef>
                <a:spcPct val="15000"/>
              </a:spcBef>
              <a:buSzPct val="90000"/>
              <a:buFontTx/>
              <a:buChar char="2"/>
            </a:pPr>
            <a:r>
              <a:rPr lang="en-US" altLang="it-IT"/>
              <a:t>Hash </a:t>
            </a:r>
            <a:r>
              <a:rPr lang="en-US" altLang="it-IT" sz="1800">
                <a:solidFill>
                  <a:srgbClr val="FF0065"/>
                </a:solidFill>
              </a:rPr>
              <a:t>&lt;</a:t>
            </a:r>
            <a:r>
              <a:rPr lang="en-US" altLang="it-IT" sz="1800">
                <a:solidFill>
                  <a:srgbClr val="FF0065"/>
                </a:solidFill>
                <a:latin typeface="Monaco"/>
              </a:rPr>
              <a:t>operator</a:t>
            </a:r>
            <a:r>
              <a:rPr lang="en-US" altLang="it-IT">
                <a:solidFill>
                  <a:srgbClr val="FF0065"/>
                </a:solidFill>
              </a:rPr>
              <a:t>,</a:t>
            </a:r>
            <a:r>
              <a:rPr lang="en-US" altLang="it-IT" sz="1800">
                <a:solidFill>
                  <a:srgbClr val="FF0065"/>
                </a:solidFill>
                <a:latin typeface="Monaco"/>
              </a:rPr>
              <a:t>VN(o</a:t>
            </a:r>
            <a:r>
              <a:rPr lang="en-US" altLang="it-IT" sz="1800" baseline="-25000">
                <a:solidFill>
                  <a:srgbClr val="FF0065"/>
                </a:solidFill>
                <a:latin typeface="Monaco"/>
              </a:rPr>
              <a:t>1</a:t>
            </a:r>
            <a:r>
              <a:rPr lang="en-US" altLang="it-IT" sz="1800">
                <a:solidFill>
                  <a:srgbClr val="FF0065"/>
                </a:solidFill>
                <a:latin typeface="Monaco"/>
              </a:rPr>
              <a:t>)</a:t>
            </a:r>
            <a:r>
              <a:rPr lang="en-US" altLang="it-IT">
                <a:solidFill>
                  <a:srgbClr val="FF0065"/>
                </a:solidFill>
              </a:rPr>
              <a:t>,</a:t>
            </a:r>
            <a:r>
              <a:rPr lang="en-US" altLang="it-IT" sz="1800">
                <a:solidFill>
                  <a:srgbClr val="FF0065"/>
                </a:solidFill>
                <a:latin typeface="Monaco"/>
              </a:rPr>
              <a:t>VN(o</a:t>
            </a:r>
            <a:r>
              <a:rPr lang="en-US" altLang="it-IT" sz="1800" baseline="-25000">
                <a:solidFill>
                  <a:srgbClr val="FF0065"/>
                </a:solidFill>
                <a:latin typeface="Monaco"/>
              </a:rPr>
              <a:t>2</a:t>
            </a:r>
            <a:r>
              <a:rPr lang="en-US" altLang="it-IT" sz="1800">
                <a:solidFill>
                  <a:srgbClr val="FF0065"/>
                </a:solidFill>
                <a:latin typeface="Monaco"/>
              </a:rPr>
              <a:t>)</a:t>
            </a:r>
            <a:r>
              <a:rPr lang="en-US" altLang="it-IT" sz="1800">
                <a:solidFill>
                  <a:srgbClr val="FF0065"/>
                </a:solidFill>
              </a:rPr>
              <a:t>&gt;</a:t>
            </a:r>
            <a:r>
              <a:rPr lang="en-US" altLang="it-IT"/>
              <a:t> to get a value number for </a:t>
            </a:r>
            <a:r>
              <a:rPr lang="en-US" altLang="it-IT" i="1"/>
              <a:t>o</a:t>
            </a:r>
          </a:p>
          <a:p>
            <a:pPr eaLnBrk="1" hangingPunct="1">
              <a:spcBef>
                <a:spcPct val="15000"/>
              </a:spcBef>
              <a:buSzPct val="90000"/>
              <a:buFontTx/>
              <a:buChar char="3"/>
            </a:pPr>
            <a:r>
              <a:rPr lang="en-US" altLang="it-IT"/>
              <a:t>If </a:t>
            </a:r>
            <a:r>
              <a:rPr lang="en-US" altLang="it-IT" i="1"/>
              <a:t>o</a:t>
            </a:r>
            <a:r>
              <a:rPr lang="en-US" altLang="it-IT"/>
              <a:t> already had a value number, replace </a:t>
            </a:r>
            <a:r>
              <a:rPr lang="en-US" altLang="it-IT" i="1"/>
              <a:t>o</a:t>
            </a:r>
            <a:r>
              <a:rPr lang="en-US" altLang="it-IT"/>
              <a:t> with a reference</a:t>
            </a:r>
          </a:p>
          <a:p>
            <a:pPr eaLnBrk="1" hangingPunct="1">
              <a:spcBef>
                <a:spcPct val="15000"/>
              </a:spcBef>
              <a:buSzPct val="90000"/>
              <a:buFontTx/>
              <a:buChar char="4"/>
            </a:pPr>
            <a:r>
              <a:rPr lang="en-US" altLang="it-IT"/>
              <a:t>If </a:t>
            </a:r>
            <a:r>
              <a:rPr lang="en-US" altLang="it-IT" sz="1800">
                <a:latin typeface="Monaco"/>
              </a:rPr>
              <a:t>o</a:t>
            </a:r>
            <a:r>
              <a:rPr lang="en-US" altLang="it-IT" sz="1800" baseline="-25000">
                <a:latin typeface="Monaco"/>
              </a:rPr>
              <a:t>1</a:t>
            </a:r>
            <a:r>
              <a:rPr lang="en-US" altLang="it-IT"/>
              <a:t> &amp; </a:t>
            </a:r>
            <a:r>
              <a:rPr lang="en-US" altLang="it-IT" sz="1800">
                <a:latin typeface="Monaco"/>
              </a:rPr>
              <a:t>o</a:t>
            </a:r>
            <a:r>
              <a:rPr lang="en-US" altLang="it-IT" sz="1800" baseline="-25000">
                <a:latin typeface="Monaco"/>
              </a:rPr>
              <a:t>2</a:t>
            </a:r>
            <a:r>
              <a:rPr lang="en-US" altLang="it-IT"/>
              <a:t> are constant, evaluate it &amp; replace with a </a:t>
            </a:r>
            <a:r>
              <a:rPr lang="en-US" altLang="it-IT" sz="1800">
                <a:latin typeface="Monaco"/>
              </a:rPr>
              <a:t>loadI</a:t>
            </a:r>
          </a:p>
          <a:p>
            <a:pPr eaLnBrk="1" hangingPunct="1">
              <a:spcBef>
                <a:spcPct val="25000"/>
              </a:spcBef>
              <a:buSzPct val="90000"/>
              <a:buFontTx/>
              <a:buNone/>
            </a:pPr>
            <a:endParaRPr lang="en-US" altLang="it-IT"/>
          </a:p>
          <a:p>
            <a:pPr eaLnBrk="1" hangingPunct="1">
              <a:spcBef>
                <a:spcPct val="25000"/>
              </a:spcBef>
              <a:buSzPct val="90000"/>
              <a:buFontTx/>
              <a:buNone/>
            </a:pPr>
            <a:r>
              <a:rPr lang="en-US" altLang="it-IT"/>
              <a:t>Complexity &amp; Speed Issues</a:t>
            </a:r>
          </a:p>
          <a:p>
            <a:pPr eaLnBrk="1" hangingPunct="1">
              <a:spcBef>
                <a:spcPct val="25000"/>
              </a:spcBef>
              <a:buSzPct val="110000"/>
              <a:buFont typeface="Symbol" panose="05050102010706020507" pitchFamily="18" charset="2"/>
              <a:buChar char=""/>
            </a:pPr>
            <a:r>
              <a:rPr lang="en-US" altLang="it-IT"/>
              <a:t>“Get value numbers” — linear search versus hash</a:t>
            </a:r>
          </a:p>
          <a:p>
            <a:pPr eaLnBrk="1" hangingPunct="1">
              <a:spcBef>
                <a:spcPct val="25000"/>
              </a:spcBef>
              <a:buSzPct val="110000"/>
              <a:buFont typeface="Symbol" panose="05050102010706020507" pitchFamily="18" charset="2"/>
              <a:buChar char=""/>
            </a:pPr>
            <a:r>
              <a:rPr lang="en-US" altLang="it-IT"/>
              <a:t>“</a:t>
            </a:r>
            <a:r>
              <a:rPr lang="en-US" altLang="it-IT">
                <a:solidFill>
                  <a:srgbClr val="FF0065"/>
                </a:solidFill>
              </a:rPr>
              <a:t>Hash &lt;</a:t>
            </a:r>
            <a:r>
              <a:rPr lang="en-US" altLang="it-IT" sz="1800">
                <a:solidFill>
                  <a:srgbClr val="FF0065"/>
                </a:solidFill>
                <a:latin typeface="Monaco"/>
              </a:rPr>
              <a:t>op,VN(o</a:t>
            </a:r>
            <a:r>
              <a:rPr lang="en-US" altLang="it-IT" sz="1800" baseline="-25000">
                <a:solidFill>
                  <a:srgbClr val="FF0065"/>
                </a:solidFill>
                <a:latin typeface="Monaco"/>
              </a:rPr>
              <a:t>1</a:t>
            </a:r>
            <a:r>
              <a:rPr lang="en-US" altLang="it-IT" sz="1800">
                <a:solidFill>
                  <a:srgbClr val="FF0065"/>
                </a:solidFill>
                <a:latin typeface="Monaco"/>
              </a:rPr>
              <a:t>),VN(o</a:t>
            </a:r>
            <a:r>
              <a:rPr lang="en-US" altLang="it-IT" sz="1800" baseline="-25000">
                <a:solidFill>
                  <a:srgbClr val="FF0065"/>
                </a:solidFill>
                <a:latin typeface="Monaco"/>
              </a:rPr>
              <a:t>2</a:t>
            </a:r>
            <a:r>
              <a:rPr lang="en-US" altLang="it-IT" sz="1800">
                <a:solidFill>
                  <a:srgbClr val="FF0065"/>
                </a:solidFill>
                <a:latin typeface="Monaco"/>
              </a:rPr>
              <a:t>)</a:t>
            </a:r>
            <a:r>
              <a:rPr lang="en-US" altLang="it-IT">
                <a:solidFill>
                  <a:srgbClr val="FF0065"/>
                </a:solidFill>
              </a:rPr>
              <a:t>&gt;</a:t>
            </a:r>
            <a:r>
              <a:rPr lang="en-US" altLang="it-IT"/>
              <a:t>” — linear search versus hash</a:t>
            </a:r>
          </a:p>
          <a:p>
            <a:pPr eaLnBrk="1" hangingPunct="1">
              <a:spcBef>
                <a:spcPct val="25000"/>
              </a:spcBef>
              <a:buSzPct val="110000"/>
              <a:buFont typeface="Symbol" panose="05050102010706020507" pitchFamily="18" charset="2"/>
              <a:buChar char=""/>
            </a:pPr>
            <a:r>
              <a:rPr lang="en-US" altLang="it-IT"/>
              <a:t>Copy folding — set value number of result</a:t>
            </a:r>
          </a:p>
          <a:p>
            <a:pPr eaLnBrk="1" hangingPunct="1">
              <a:spcBef>
                <a:spcPct val="25000"/>
              </a:spcBef>
              <a:buSzPct val="110000"/>
              <a:buFont typeface="Symbol" panose="05050102010706020507" pitchFamily="18" charset="2"/>
              <a:buChar char=""/>
            </a:pPr>
            <a:r>
              <a:rPr lang="en-US" altLang="it-IT"/>
              <a:t>Commutative ops — double hash versus sorting the operands</a:t>
            </a:r>
          </a:p>
        </p:txBody>
      </p:sp>
      <p:grpSp>
        <p:nvGrpSpPr>
          <p:cNvPr id="33797" name="Group 14">
            <a:extLst>
              <a:ext uri="{FF2B5EF4-FFF2-40B4-BE49-F238E27FC236}">
                <a16:creationId xmlns:a16="http://schemas.microsoft.com/office/drawing/2014/main" id="{97D33463-26E2-47E4-AA24-D35774835218}"/>
              </a:ext>
            </a:extLst>
          </p:cNvPr>
          <p:cNvGrpSpPr>
            <a:grpSpLocks/>
          </p:cNvGrpSpPr>
          <p:nvPr/>
        </p:nvGrpSpPr>
        <p:grpSpPr bwMode="auto">
          <a:xfrm>
            <a:off x="1524000" y="3352800"/>
            <a:ext cx="1482725" cy="404813"/>
            <a:chOff x="1025" y="2069"/>
            <a:chExt cx="957" cy="255"/>
          </a:xfrm>
        </p:grpSpPr>
        <p:sp>
          <p:nvSpPr>
            <p:cNvPr id="21510" name="Text Box 6">
              <a:extLst>
                <a:ext uri="{FF2B5EF4-FFF2-40B4-BE49-F238E27FC236}">
                  <a16:creationId xmlns:a16="http://schemas.microsoft.com/office/drawing/2014/main" id="{FC1C86E9-FBE3-4829-9110-1CD90FB3BE0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73" y="2069"/>
              <a:ext cx="709" cy="194"/>
            </a:xfrm>
            <a:prstGeom prst="rect">
              <a:avLst/>
            </a:prstGeom>
            <a:solidFill>
              <a:srgbClr val="BFBFBF"/>
            </a:solidFill>
            <a:ln w="19050" cap="flat" cmpd="sng" algn="ctr">
              <a:solidFill>
                <a:srgbClr val="7F7F7F"/>
              </a:solidFill>
              <a:prstDash val="solid"/>
              <a:miter lim="800000"/>
              <a:headEnd type="none" w="med" len="med"/>
              <a:tailEnd type="none" w="med" len="med"/>
            </a:ln>
            <a:effectLst>
              <a:outerShdw blurRad="50800" dist="38100" dir="2700000">
                <a:srgbClr val="000000">
                  <a:alpha val="43000"/>
                </a:srgbClr>
              </a:outerShdw>
            </a:effectLst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  <a:defRPr/>
              </a:pPr>
              <a:r>
                <a:rPr lang="en-US" sz="1400" dirty="0">
                  <a:solidFill>
                    <a:srgbClr val="003C75"/>
                  </a:solidFill>
                  <a:latin typeface="Comic Sans MS" charset="0"/>
                  <a:ea typeface="ヒラギノ角ゴ Pro W3" charset="-128"/>
                  <a:cs typeface="ヒラギノ角ゴ Pro W3" charset="-128"/>
                </a:rPr>
                <a:t>asymptotic</a:t>
              </a:r>
            </a:p>
          </p:txBody>
        </p:sp>
        <p:sp>
          <p:nvSpPr>
            <p:cNvPr id="33802" name="Freeform 8">
              <a:extLst>
                <a:ext uri="{FF2B5EF4-FFF2-40B4-BE49-F238E27FC236}">
                  <a16:creationId xmlns:a16="http://schemas.microsoft.com/office/drawing/2014/main" id="{970E6129-8BFA-4A2D-BA84-8CF24114B157}"/>
                </a:ext>
              </a:extLst>
            </p:cNvPr>
            <p:cNvSpPr>
              <a:spLocks/>
            </p:cNvSpPr>
            <p:nvPr/>
          </p:nvSpPr>
          <p:spPr bwMode="auto">
            <a:xfrm>
              <a:off x="1025" y="2120"/>
              <a:ext cx="246" cy="204"/>
            </a:xfrm>
            <a:custGeom>
              <a:avLst/>
              <a:gdLst>
                <a:gd name="T0" fmla="*/ 246 w 246"/>
                <a:gd name="T1" fmla="*/ 0 h 204"/>
                <a:gd name="T2" fmla="*/ 82 w 246"/>
                <a:gd name="T3" fmla="*/ 87 h 204"/>
                <a:gd name="T4" fmla="*/ 129 w 246"/>
                <a:gd name="T5" fmla="*/ 105 h 204"/>
                <a:gd name="T6" fmla="*/ 0 w 246"/>
                <a:gd name="T7" fmla="*/ 204 h 204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46"/>
                <a:gd name="T13" fmla="*/ 0 h 204"/>
                <a:gd name="T14" fmla="*/ 246 w 246"/>
                <a:gd name="T15" fmla="*/ 204 h 204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46" h="204">
                  <a:moveTo>
                    <a:pt x="246" y="0"/>
                  </a:moveTo>
                  <a:cubicBezTo>
                    <a:pt x="174" y="35"/>
                    <a:pt x="102" y="70"/>
                    <a:pt x="82" y="87"/>
                  </a:cubicBezTo>
                  <a:cubicBezTo>
                    <a:pt x="62" y="104"/>
                    <a:pt x="143" y="86"/>
                    <a:pt x="129" y="105"/>
                  </a:cubicBezTo>
                  <a:cubicBezTo>
                    <a:pt x="115" y="124"/>
                    <a:pt x="57" y="164"/>
                    <a:pt x="0" y="204"/>
                  </a:cubicBezTo>
                </a:path>
              </a:pathLst>
            </a:custGeom>
            <a:noFill/>
            <a:ln w="9525">
              <a:solidFill>
                <a:srgbClr val="7F7F7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endParaRPr lang="en-GB" altLang="it-IT"/>
            </a:p>
          </p:txBody>
        </p:sp>
      </p:grpSp>
      <p:grpSp>
        <p:nvGrpSpPr>
          <p:cNvPr id="33798" name="Group 15">
            <a:extLst>
              <a:ext uri="{FF2B5EF4-FFF2-40B4-BE49-F238E27FC236}">
                <a16:creationId xmlns:a16="http://schemas.microsoft.com/office/drawing/2014/main" id="{A455C5A1-128A-44E9-89B4-A8F87E38EABB}"/>
              </a:ext>
            </a:extLst>
          </p:cNvPr>
          <p:cNvGrpSpPr>
            <a:grpSpLocks/>
          </p:cNvGrpSpPr>
          <p:nvPr/>
        </p:nvGrpSpPr>
        <p:grpSpPr bwMode="auto">
          <a:xfrm>
            <a:off x="3159125" y="3352800"/>
            <a:ext cx="1412875" cy="395288"/>
            <a:chOff x="1942" y="2069"/>
            <a:chExt cx="890" cy="249"/>
          </a:xfrm>
        </p:grpSpPr>
        <p:sp>
          <p:nvSpPr>
            <p:cNvPr id="21515" name="Text Box 11">
              <a:extLst>
                <a:ext uri="{FF2B5EF4-FFF2-40B4-BE49-F238E27FC236}">
                  <a16:creationId xmlns:a16="http://schemas.microsoft.com/office/drawing/2014/main" id="{7563935C-3AAF-405F-9A35-9BC6D728B29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93" y="2069"/>
              <a:ext cx="639" cy="194"/>
            </a:xfrm>
            <a:prstGeom prst="rect">
              <a:avLst/>
            </a:prstGeom>
            <a:solidFill>
              <a:srgbClr val="BFBFBF"/>
            </a:solidFill>
            <a:ln w="19050" cap="flat" cmpd="sng" algn="ctr">
              <a:solidFill>
                <a:schemeClr val="bg1">
                  <a:lumMod val="50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  <a:effectLst>
              <a:outerShdw blurRad="50800" dist="38100" dir="2700000">
                <a:srgbClr val="000000">
                  <a:alpha val="43000"/>
                </a:srgbClr>
              </a:outerShdw>
            </a:effectLst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  <a:defRPr/>
              </a:pPr>
              <a:r>
                <a:rPr lang="en-US" sz="1400" dirty="0">
                  <a:solidFill>
                    <a:srgbClr val="003C75"/>
                  </a:solidFill>
                  <a:latin typeface="Comic Sans MS" charset="0"/>
                  <a:ea typeface="ヒラギノ角ゴ Pro W3" charset="-128"/>
                  <a:cs typeface="ヒラギノ角ゴ Pro W3" charset="-128"/>
                </a:rPr>
                <a:t>constants</a:t>
              </a:r>
            </a:p>
          </p:txBody>
        </p:sp>
        <p:sp>
          <p:nvSpPr>
            <p:cNvPr id="33800" name="Freeform 13">
              <a:extLst>
                <a:ext uri="{FF2B5EF4-FFF2-40B4-BE49-F238E27FC236}">
                  <a16:creationId xmlns:a16="http://schemas.microsoft.com/office/drawing/2014/main" id="{9F567B3F-7113-4934-922D-F47A89DE76CE}"/>
                </a:ext>
              </a:extLst>
            </p:cNvPr>
            <p:cNvSpPr>
              <a:spLocks/>
            </p:cNvSpPr>
            <p:nvPr/>
          </p:nvSpPr>
          <p:spPr bwMode="auto">
            <a:xfrm>
              <a:off x="1942" y="2114"/>
              <a:ext cx="246" cy="204"/>
            </a:xfrm>
            <a:custGeom>
              <a:avLst/>
              <a:gdLst>
                <a:gd name="T0" fmla="*/ 246 w 246"/>
                <a:gd name="T1" fmla="*/ 0 h 204"/>
                <a:gd name="T2" fmla="*/ 82 w 246"/>
                <a:gd name="T3" fmla="*/ 87 h 204"/>
                <a:gd name="T4" fmla="*/ 129 w 246"/>
                <a:gd name="T5" fmla="*/ 105 h 204"/>
                <a:gd name="T6" fmla="*/ 0 w 246"/>
                <a:gd name="T7" fmla="*/ 204 h 204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46"/>
                <a:gd name="T13" fmla="*/ 0 h 204"/>
                <a:gd name="T14" fmla="*/ 246 w 246"/>
                <a:gd name="T15" fmla="*/ 204 h 204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46" h="204">
                  <a:moveTo>
                    <a:pt x="246" y="0"/>
                  </a:moveTo>
                  <a:cubicBezTo>
                    <a:pt x="174" y="35"/>
                    <a:pt x="102" y="70"/>
                    <a:pt x="82" y="87"/>
                  </a:cubicBezTo>
                  <a:cubicBezTo>
                    <a:pt x="62" y="104"/>
                    <a:pt x="143" y="86"/>
                    <a:pt x="129" y="105"/>
                  </a:cubicBezTo>
                  <a:cubicBezTo>
                    <a:pt x="115" y="124"/>
                    <a:pt x="57" y="164"/>
                    <a:pt x="0" y="204"/>
                  </a:cubicBezTo>
                </a:path>
              </a:pathLst>
            </a:custGeom>
            <a:noFill/>
            <a:ln w="9525">
              <a:solidFill>
                <a:srgbClr val="7F7F7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endParaRPr lang="en-GB" altLang="it-IT"/>
            </a:p>
          </p:txBody>
        </p:sp>
      </p:grpSp>
    </p:spTree>
  </p:cSld>
  <p:clrMapOvr>
    <a:masterClrMapping/>
  </p:clrMapOvr>
  <p:transition>
    <p:wipe dir="r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Footer Placeholder 3">
            <a:extLst>
              <a:ext uri="{FF2B5EF4-FFF2-40B4-BE49-F238E27FC236}">
                <a16:creationId xmlns:a16="http://schemas.microsoft.com/office/drawing/2014/main" id="{665CEB35-0506-4049-9EB3-3480BFEEC89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r>
              <a:rPr lang="en-US" altLang="it-IT"/>
              <a:t>Comp 412, Fall 2010</a:t>
            </a:r>
          </a:p>
        </p:txBody>
      </p:sp>
      <p:sp>
        <p:nvSpPr>
          <p:cNvPr id="35842" name="Slide Number Placeholder 4">
            <a:extLst>
              <a:ext uri="{FF2B5EF4-FFF2-40B4-BE49-F238E27FC236}">
                <a16:creationId xmlns:a16="http://schemas.microsoft.com/office/drawing/2014/main" id="{1E2426DA-FAB9-4E6E-90EF-90E95226F91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B0FBDE02-0456-4D1A-8938-EC2943B9CB8B}" type="slidenum">
              <a:rPr lang="en-US" altLang="it-IT"/>
              <a:pPr/>
              <a:t>10</a:t>
            </a:fld>
            <a:endParaRPr lang="en-US" altLang="it-IT"/>
          </a:p>
        </p:txBody>
      </p:sp>
      <p:sp>
        <p:nvSpPr>
          <p:cNvPr id="35843" name="Rectangle 2">
            <a:extLst>
              <a:ext uri="{FF2B5EF4-FFF2-40B4-BE49-F238E27FC236}">
                <a16:creationId xmlns:a16="http://schemas.microsoft.com/office/drawing/2014/main" id="{9E0C4D01-D411-4357-B9E0-DD2059BB61D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spcBef>
                <a:spcPct val="40000"/>
              </a:spcBef>
            </a:pPr>
            <a:r>
              <a:rPr lang="en-US" altLang="it-IT"/>
              <a:t>Simple Extensions to Value Numbering</a:t>
            </a:r>
          </a:p>
        </p:txBody>
      </p:sp>
      <p:sp>
        <p:nvSpPr>
          <p:cNvPr id="35844" name="Rectangle 3">
            <a:extLst>
              <a:ext uri="{FF2B5EF4-FFF2-40B4-BE49-F238E27FC236}">
                <a16:creationId xmlns:a16="http://schemas.microsoft.com/office/drawing/2014/main" id="{CD576A7A-ADF5-45AE-BA04-DA3F3C4A734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spcBef>
                <a:spcPct val="40000"/>
              </a:spcBef>
              <a:buFont typeface="Times" panose="02020603050405020304" pitchFamily="18" charset="0"/>
              <a:buNone/>
            </a:pPr>
            <a:r>
              <a:rPr lang="en-US" altLang="it-IT">
                <a:solidFill>
                  <a:srgbClr val="003C75"/>
                </a:solidFill>
              </a:rPr>
              <a:t>Constant folding</a:t>
            </a:r>
          </a:p>
          <a:p>
            <a:pPr eaLnBrk="1" hangingPunct="1">
              <a:spcBef>
                <a:spcPct val="40000"/>
              </a:spcBef>
            </a:pPr>
            <a:r>
              <a:rPr lang="en-US" altLang="it-IT"/>
              <a:t>Add a bit that records when a value is constant</a:t>
            </a:r>
          </a:p>
          <a:p>
            <a:pPr eaLnBrk="1" hangingPunct="1">
              <a:spcBef>
                <a:spcPct val="40000"/>
              </a:spcBef>
            </a:pPr>
            <a:r>
              <a:rPr lang="en-US" altLang="it-IT"/>
              <a:t>Evaluate constant values at compile-time</a:t>
            </a:r>
          </a:p>
          <a:p>
            <a:pPr eaLnBrk="1" hangingPunct="1">
              <a:spcBef>
                <a:spcPct val="40000"/>
              </a:spcBef>
            </a:pPr>
            <a:r>
              <a:rPr lang="en-US" altLang="it-IT"/>
              <a:t>Replace with load immediate or immediate operand</a:t>
            </a:r>
          </a:p>
          <a:p>
            <a:pPr eaLnBrk="1" hangingPunct="1">
              <a:spcBef>
                <a:spcPct val="40000"/>
              </a:spcBef>
            </a:pPr>
            <a:r>
              <a:rPr lang="en-US" altLang="it-IT"/>
              <a:t>No stronger local algorithm</a:t>
            </a:r>
          </a:p>
          <a:p>
            <a:pPr eaLnBrk="1" hangingPunct="1">
              <a:spcBef>
                <a:spcPct val="200000"/>
              </a:spcBef>
              <a:buFont typeface="Times" panose="02020603050405020304" pitchFamily="18" charset="0"/>
              <a:buNone/>
            </a:pPr>
            <a:r>
              <a:rPr lang="en-US" altLang="it-IT">
                <a:solidFill>
                  <a:srgbClr val="003C75"/>
                </a:solidFill>
              </a:rPr>
              <a:t>Algebraic identities</a:t>
            </a:r>
          </a:p>
          <a:p>
            <a:pPr eaLnBrk="1" hangingPunct="1">
              <a:spcBef>
                <a:spcPct val="40000"/>
              </a:spcBef>
            </a:pPr>
            <a:r>
              <a:rPr lang="en-US" altLang="it-IT"/>
              <a:t>Must check (many) special cases</a:t>
            </a:r>
          </a:p>
          <a:p>
            <a:pPr eaLnBrk="1" hangingPunct="1">
              <a:spcBef>
                <a:spcPct val="40000"/>
              </a:spcBef>
            </a:pPr>
            <a:r>
              <a:rPr lang="en-US" altLang="it-IT"/>
              <a:t>Replace result with input VN</a:t>
            </a:r>
            <a:endParaRPr lang="en-US" altLang="it-IT">
              <a:latin typeface="Arial" panose="020B0604020202020204" pitchFamily="34" charset="0"/>
            </a:endParaRPr>
          </a:p>
          <a:p>
            <a:pPr eaLnBrk="1" hangingPunct="1">
              <a:spcBef>
                <a:spcPct val="40000"/>
              </a:spcBef>
            </a:pPr>
            <a:r>
              <a:rPr lang="en-US" altLang="it-IT"/>
              <a:t>Build a decision tree on operation</a:t>
            </a:r>
          </a:p>
        </p:txBody>
      </p:sp>
      <p:sp>
        <p:nvSpPr>
          <p:cNvPr id="23556" name="Text Box 4">
            <a:extLst>
              <a:ext uri="{FF2B5EF4-FFF2-40B4-BE49-F238E27FC236}">
                <a16:creationId xmlns:a16="http://schemas.microsoft.com/office/drawing/2014/main" id="{3822E49B-3B86-4030-8A70-274953E6A44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0" y="3165475"/>
            <a:ext cx="3505200" cy="1397000"/>
          </a:xfrm>
          <a:prstGeom prst="rect">
            <a:avLst/>
          </a:prstGeom>
          <a:solidFill>
            <a:srgbClr val="BFBFBF"/>
          </a:solidFill>
          <a:ln w="19050" cap="flat" cmpd="sng" algn="ctr">
            <a:solidFill>
              <a:srgbClr val="7F7F7F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blurRad="50800" dist="38100" dir="2700000">
              <a:srgbClr val="000000">
                <a:alpha val="43000"/>
              </a:srgbClr>
            </a:outerShdw>
          </a:effec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  <a:defRPr/>
            </a:pPr>
            <a:r>
              <a:rPr lang="en-US" sz="1600" dirty="0">
                <a:solidFill>
                  <a:srgbClr val="003C75"/>
                </a:solidFill>
                <a:latin typeface="Comic Sans MS" charset="0"/>
                <a:ea typeface="ヒラギノ角ゴ Pro W3" charset="-128"/>
                <a:cs typeface="ヒラギノ角ゴ Pro W3" charset="-128"/>
              </a:rPr>
              <a:t>Identities (on </a:t>
            </a:r>
            <a:r>
              <a:rPr lang="en-US" sz="1600" dirty="0" err="1">
                <a:solidFill>
                  <a:srgbClr val="003C75"/>
                </a:solidFill>
                <a:latin typeface="Comic Sans MS" charset="0"/>
                <a:ea typeface="ヒラギノ角ゴ Pro W3" charset="-128"/>
                <a:cs typeface="ヒラギノ角ゴ Pro W3" charset="-128"/>
              </a:rPr>
              <a:t>VNs</a:t>
            </a:r>
            <a:r>
              <a:rPr lang="en-US" sz="1600" dirty="0">
                <a:solidFill>
                  <a:srgbClr val="003C75"/>
                </a:solidFill>
                <a:latin typeface="Comic Sans MS" charset="0"/>
                <a:ea typeface="ヒラギノ角ゴ Pro W3" charset="-128"/>
                <a:cs typeface="ヒラギノ角ゴ Pro W3" charset="-128"/>
              </a:rPr>
              <a:t>)</a:t>
            </a:r>
          </a:p>
          <a:p>
            <a:pPr eaLnBrk="0" hangingPunct="0">
              <a:spcBef>
                <a:spcPct val="30000"/>
              </a:spcBef>
              <a:defRPr/>
            </a:pPr>
            <a:r>
              <a:rPr lang="en-US" sz="1600" dirty="0" err="1">
                <a:solidFill>
                  <a:srgbClr val="003C75"/>
                </a:solidFill>
                <a:latin typeface="Comic Sans MS" charset="0"/>
                <a:ea typeface="ヒラギノ角ゴ Pro W3" charset="-128"/>
                <a:cs typeface="ヒラギノ角ゴ Pro W3" charset="-128"/>
              </a:rPr>
              <a:t>x</a:t>
            </a:r>
            <a:r>
              <a:rPr lang="en-US" sz="1600" dirty="0" err="1">
                <a:solidFill>
                  <a:srgbClr val="003C75"/>
                </a:solidFill>
                <a:latin typeface="Comic Sans MS" charset="0"/>
                <a:ea typeface="ヒラギノ角ゴ Pro W3" charset="-128"/>
                <a:cs typeface="ヒラギノ角ゴ Pro W3" charset="-128"/>
                <a:sym typeface="Symbol" charset="2"/>
              </a:rPr>
              <a:t>y</a:t>
            </a:r>
            <a:r>
              <a:rPr lang="en-US" sz="1600" dirty="0">
                <a:solidFill>
                  <a:srgbClr val="003C75"/>
                </a:solidFill>
                <a:latin typeface="Comic Sans MS" charset="0"/>
                <a:ea typeface="ヒラギノ角ゴ Pro W3" charset="-128"/>
                <a:cs typeface="ヒラギノ角ゴ Pro W3" charset="-128"/>
                <a:sym typeface="Symbol" charset="2"/>
              </a:rPr>
              <a:t>, x+0, x-0, x1, x÷1, </a:t>
            </a:r>
            <a:r>
              <a:rPr lang="en-US" sz="1600" dirty="0" err="1">
                <a:solidFill>
                  <a:srgbClr val="003C75"/>
                </a:solidFill>
                <a:latin typeface="Comic Sans MS" charset="0"/>
                <a:ea typeface="ヒラギノ角ゴ Pro W3" charset="-128"/>
                <a:cs typeface="ヒラギノ角ゴ Pro W3" charset="-128"/>
                <a:sym typeface="Symbol" charset="2"/>
              </a:rPr>
              <a:t>x-x</a:t>
            </a:r>
            <a:r>
              <a:rPr lang="en-US" sz="1600" dirty="0">
                <a:solidFill>
                  <a:srgbClr val="003C75"/>
                </a:solidFill>
                <a:latin typeface="Comic Sans MS" charset="0"/>
                <a:ea typeface="ヒラギノ角ゴ Pro W3" charset="-128"/>
                <a:cs typeface="ヒラギノ角ゴ Pro W3" charset="-128"/>
                <a:sym typeface="Symbol" charset="2"/>
              </a:rPr>
              <a:t>, x0, </a:t>
            </a:r>
            <a:r>
              <a:rPr lang="en-US" sz="1600" dirty="0" err="1">
                <a:solidFill>
                  <a:srgbClr val="003C75"/>
                </a:solidFill>
                <a:latin typeface="Comic Sans MS" charset="0"/>
                <a:ea typeface="ヒラギノ角ゴ Pro W3" charset="-128"/>
                <a:cs typeface="ヒラギノ角ゴ Pro W3" charset="-128"/>
                <a:sym typeface="Symbol" charset="2"/>
              </a:rPr>
              <a:t>xx</a:t>
            </a:r>
            <a:r>
              <a:rPr lang="en-US" sz="1600" dirty="0">
                <a:solidFill>
                  <a:srgbClr val="003C75"/>
                </a:solidFill>
                <a:latin typeface="Comic Sans MS" charset="0"/>
                <a:ea typeface="ヒラギノ角ゴ Pro W3" charset="-128"/>
                <a:cs typeface="ヒラギノ角ゴ Pro W3" charset="-128"/>
                <a:sym typeface="Symbol" charset="2"/>
              </a:rPr>
              <a:t>, x0, </a:t>
            </a:r>
            <a:r>
              <a:rPr lang="en-US" sz="1600" dirty="0" err="1">
                <a:solidFill>
                  <a:srgbClr val="003C75"/>
                </a:solidFill>
                <a:latin typeface="Comic Sans MS" charset="0"/>
                <a:ea typeface="ヒラギノ角ゴ Pro W3" charset="-128"/>
                <a:cs typeface="ヒラギノ角ゴ Pro W3" charset="-128"/>
                <a:sym typeface="Symbol" charset="2"/>
              </a:rPr>
              <a:t>x</a:t>
            </a:r>
            <a:r>
              <a:rPr lang="en-US" sz="1600" dirty="0">
                <a:solidFill>
                  <a:srgbClr val="003C75"/>
                </a:solidFill>
                <a:latin typeface="Comic Sans MS" charset="0"/>
                <a:ea typeface="ヒラギノ角ゴ Pro W3" charset="-128"/>
                <a:cs typeface="ヒラギノ角ゴ Pro W3" charset="-128"/>
                <a:sym typeface="Symbol" charset="2"/>
              </a:rPr>
              <a:t> </a:t>
            </a:r>
            <a:r>
              <a:rPr lang="en-US" sz="1600" dirty="0" err="1">
                <a:solidFill>
                  <a:srgbClr val="003C75"/>
                </a:solidFill>
                <a:latin typeface="Comic Sans MS" charset="0"/>
                <a:ea typeface="ヒラギノ角ゴ Pro W3" charset="-128"/>
                <a:cs typeface="ヒラギノ角ゴ Pro W3" charset="-128"/>
                <a:sym typeface="Symbol" charset="2"/>
              </a:rPr>
              <a:t></a:t>
            </a:r>
            <a:r>
              <a:rPr lang="en-US" sz="1600" dirty="0">
                <a:solidFill>
                  <a:srgbClr val="003C75"/>
                </a:solidFill>
                <a:latin typeface="Comic Sans MS" charset="0"/>
                <a:ea typeface="ヒラギノ角ゴ Pro W3" charset="-128"/>
                <a:cs typeface="ヒラギノ角ゴ Pro W3" charset="-128"/>
                <a:sym typeface="Symbol" charset="2"/>
              </a:rPr>
              <a:t> 0x</a:t>
            </a:r>
            <a:r>
              <a:rPr lang="en-US" sz="1400" dirty="0">
                <a:solidFill>
                  <a:srgbClr val="003C75"/>
                </a:solidFill>
                <a:latin typeface="Comic Sans MS" charset="0"/>
                <a:ea typeface="ヒラギノ角ゴ Pro W3" charset="-128"/>
                <a:cs typeface="ヒラギノ角ゴ Pro W3" charset="-128"/>
                <a:sym typeface="Symbol" charset="2"/>
              </a:rPr>
              <a:t>FF</a:t>
            </a:r>
            <a:r>
              <a:rPr lang="en-US" sz="1600" dirty="0">
                <a:solidFill>
                  <a:srgbClr val="003C75"/>
                </a:solidFill>
                <a:latin typeface="Comic Sans MS" charset="0"/>
                <a:ea typeface="ヒラギノ角ゴ Pro W3" charset="-128"/>
                <a:cs typeface="ヒラギノ角ゴ Pro W3" charset="-128"/>
                <a:sym typeface="Symbol" charset="2"/>
              </a:rPr>
              <a:t>…</a:t>
            </a:r>
            <a:r>
              <a:rPr lang="en-US" sz="1400" dirty="0">
                <a:solidFill>
                  <a:srgbClr val="003C75"/>
                </a:solidFill>
                <a:latin typeface="Comic Sans MS" charset="0"/>
                <a:ea typeface="ヒラギノ角ゴ Pro W3" charset="-128"/>
                <a:cs typeface="ヒラギノ角ゴ Pro W3" charset="-128"/>
                <a:sym typeface="Symbol" charset="2"/>
              </a:rPr>
              <a:t>FF</a:t>
            </a:r>
            <a:r>
              <a:rPr lang="en-US" sz="1600" dirty="0">
                <a:solidFill>
                  <a:srgbClr val="003C75"/>
                </a:solidFill>
                <a:latin typeface="Comic Sans MS" charset="0"/>
                <a:ea typeface="ヒラギノ角ゴ Pro W3" charset="-128"/>
                <a:cs typeface="ヒラギノ角ゴ Pro W3" charset="-128"/>
                <a:sym typeface="Symbol" charset="2"/>
              </a:rPr>
              <a:t>, </a:t>
            </a:r>
          </a:p>
          <a:p>
            <a:pPr eaLnBrk="0" hangingPunct="0">
              <a:spcBef>
                <a:spcPts val="0"/>
              </a:spcBef>
              <a:defRPr/>
            </a:pPr>
            <a:r>
              <a:rPr lang="en-US" sz="1600" dirty="0" err="1">
                <a:solidFill>
                  <a:srgbClr val="003C75"/>
                </a:solidFill>
                <a:latin typeface="Comic Sans MS" charset="0"/>
                <a:ea typeface="ヒラギノ角ゴ Pro W3" charset="-128"/>
                <a:cs typeface="ヒラギノ角ゴ Pro W3" charset="-128"/>
                <a:sym typeface="Symbol" charset="2"/>
              </a:rPr>
              <a:t>max(x,</a:t>
            </a:r>
            <a:r>
              <a:rPr lang="en-US" sz="1400" dirty="0" err="1">
                <a:solidFill>
                  <a:srgbClr val="003C75"/>
                </a:solidFill>
                <a:latin typeface="Comic Sans MS" charset="0"/>
                <a:ea typeface="ヒラギノ角ゴ Pro W3" charset="-128"/>
                <a:cs typeface="ヒラギノ角ゴ Pro W3" charset="-128"/>
                <a:sym typeface="Symbol" charset="2"/>
              </a:rPr>
              <a:t>MAXINT</a:t>
            </a:r>
            <a:r>
              <a:rPr lang="en-US" sz="1600" dirty="0">
                <a:solidFill>
                  <a:srgbClr val="003C75"/>
                </a:solidFill>
                <a:latin typeface="Comic Sans MS" charset="0"/>
                <a:ea typeface="ヒラギノ角ゴ Pro W3" charset="-128"/>
                <a:cs typeface="ヒラギノ角ゴ Pro W3" charset="-128"/>
                <a:sym typeface="Symbol" charset="2"/>
              </a:rPr>
              <a:t>), </a:t>
            </a:r>
            <a:r>
              <a:rPr lang="en-US" sz="1600" dirty="0" err="1">
                <a:solidFill>
                  <a:srgbClr val="003C75"/>
                </a:solidFill>
                <a:latin typeface="Comic Sans MS" charset="0"/>
                <a:ea typeface="ヒラギノ角ゴ Pro W3" charset="-128"/>
                <a:cs typeface="ヒラギノ角ゴ Pro W3" charset="-128"/>
                <a:sym typeface="Symbol" charset="2"/>
              </a:rPr>
              <a:t>min(x,</a:t>
            </a:r>
            <a:r>
              <a:rPr lang="en-US" sz="1400" dirty="0" err="1">
                <a:solidFill>
                  <a:srgbClr val="003C75"/>
                </a:solidFill>
                <a:latin typeface="Comic Sans MS" charset="0"/>
                <a:ea typeface="ヒラギノ角ゴ Pro W3" charset="-128"/>
                <a:cs typeface="ヒラギノ角ゴ Pro W3" charset="-128"/>
                <a:sym typeface="Symbol" charset="2"/>
              </a:rPr>
              <a:t>MININT</a:t>
            </a:r>
            <a:r>
              <a:rPr lang="en-US" sz="1600" dirty="0">
                <a:solidFill>
                  <a:srgbClr val="003C75"/>
                </a:solidFill>
                <a:latin typeface="Comic Sans MS" charset="0"/>
                <a:ea typeface="ヒラギノ角ゴ Pro W3" charset="-128"/>
                <a:cs typeface="ヒラギノ角ゴ Pro W3" charset="-128"/>
                <a:sym typeface="Symbol" charset="2"/>
              </a:rPr>
              <a:t>), </a:t>
            </a:r>
            <a:r>
              <a:rPr lang="en-US" sz="1600" dirty="0" err="1">
                <a:solidFill>
                  <a:srgbClr val="003C75"/>
                </a:solidFill>
                <a:latin typeface="Comic Sans MS" charset="0"/>
                <a:ea typeface="ヒラギノ角ゴ Pro W3" charset="-128"/>
                <a:cs typeface="ヒラギノ角ゴ Pro W3" charset="-128"/>
                <a:sym typeface="Symbol" charset="2"/>
              </a:rPr>
              <a:t>max(x,x</a:t>
            </a:r>
            <a:r>
              <a:rPr lang="en-US" sz="1600" dirty="0">
                <a:solidFill>
                  <a:srgbClr val="003C75"/>
                </a:solidFill>
                <a:latin typeface="Comic Sans MS" charset="0"/>
                <a:ea typeface="ヒラギノ角ゴ Pro W3" charset="-128"/>
                <a:cs typeface="ヒラギノ角ゴ Pro W3" charset="-128"/>
                <a:sym typeface="Symbol" charset="2"/>
              </a:rPr>
              <a:t>), </a:t>
            </a:r>
            <a:r>
              <a:rPr lang="en-US" sz="1600" dirty="0" err="1">
                <a:solidFill>
                  <a:srgbClr val="003C75"/>
                </a:solidFill>
                <a:latin typeface="Comic Sans MS" charset="0"/>
                <a:ea typeface="ヒラギノ角ゴ Pro W3" charset="-128"/>
                <a:cs typeface="ヒラギノ角ゴ Pro W3" charset="-128"/>
                <a:sym typeface="Symbol" charset="2"/>
              </a:rPr>
              <a:t>min(y,y</a:t>
            </a:r>
            <a:r>
              <a:rPr lang="en-US" sz="1600" dirty="0">
                <a:solidFill>
                  <a:srgbClr val="003C75"/>
                </a:solidFill>
                <a:latin typeface="Comic Sans MS" charset="0"/>
                <a:ea typeface="ヒラギノ角ゴ Pro W3" charset="-128"/>
                <a:cs typeface="ヒラギノ角ゴ Pro W3" charset="-128"/>
                <a:sym typeface="Symbol" charset="2"/>
              </a:rPr>
              <a:t>), and so on ...</a:t>
            </a:r>
            <a:endParaRPr lang="en-US" sz="1600" dirty="0">
              <a:solidFill>
                <a:srgbClr val="003C75"/>
              </a:solidFill>
              <a:latin typeface="Comic Sans MS" charset="0"/>
              <a:ea typeface="ヒラギノ角ゴ Pro W3" charset="-128"/>
              <a:cs typeface="ヒラギノ角ゴ Pro W3" charset="-128"/>
            </a:endParaRPr>
          </a:p>
        </p:txBody>
      </p:sp>
    </p:spTree>
  </p:cSld>
  <p:clrMapOvr>
    <a:masterClrMapping/>
  </p:clrMapOvr>
  <p:transition>
    <p:wipe dir="r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89" name="Footer Placeholder 3">
            <a:extLst>
              <a:ext uri="{FF2B5EF4-FFF2-40B4-BE49-F238E27FC236}">
                <a16:creationId xmlns:a16="http://schemas.microsoft.com/office/drawing/2014/main" id="{0A9579F5-963B-4CF7-838B-178456092EB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r>
              <a:rPr lang="en-US" altLang="it-IT"/>
              <a:t>Comp 412, Fall 2010</a:t>
            </a:r>
          </a:p>
        </p:txBody>
      </p:sp>
      <p:sp>
        <p:nvSpPr>
          <p:cNvPr id="37890" name="Slide Number Placeholder 4">
            <a:extLst>
              <a:ext uri="{FF2B5EF4-FFF2-40B4-BE49-F238E27FC236}">
                <a16:creationId xmlns:a16="http://schemas.microsoft.com/office/drawing/2014/main" id="{1B2FBFBF-3BE2-4B81-BA36-593DA29F891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3429000" y="6629400"/>
            <a:ext cx="1905000" cy="4572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1AE0C7DF-B84F-405F-962A-72524D4DA6EF}" type="slidenum">
              <a:rPr lang="en-US" altLang="it-IT"/>
              <a:pPr/>
              <a:t>11</a:t>
            </a:fld>
            <a:endParaRPr lang="en-US" altLang="it-IT"/>
          </a:p>
        </p:txBody>
      </p:sp>
      <p:grpSp>
        <p:nvGrpSpPr>
          <p:cNvPr id="25602" name="Group 2">
            <a:extLst>
              <a:ext uri="{FF2B5EF4-FFF2-40B4-BE49-F238E27FC236}">
                <a16:creationId xmlns:a16="http://schemas.microsoft.com/office/drawing/2014/main" id="{DC0A2CAB-4913-4F76-8F3E-C28CCFD9D8C6}"/>
              </a:ext>
            </a:extLst>
          </p:cNvPr>
          <p:cNvGrpSpPr>
            <a:grpSpLocks/>
          </p:cNvGrpSpPr>
          <p:nvPr/>
        </p:nvGrpSpPr>
        <p:grpSpPr bwMode="auto">
          <a:xfrm>
            <a:off x="2209800" y="1447800"/>
            <a:ext cx="5638800" cy="3886200"/>
            <a:chOff x="1392" y="912"/>
            <a:chExt cx="3552" cy="2448"/>
          </a:xfrm>
        </p:grpSpPr>
        <p:sp>
          <p:nvSpPr>
            <p:cNvPr id="37924" name="Text Box 3">
              <a:extLst>
                <a:ext uri="{FF2B5EF4-FFF2-40B4-BE49-F238E27FC236}">
                  <a16:creationId xmlns:a16="http://schemas.microsoft.com/office/drawing/2014/main" id="{5818EC46-9004-4E58-BAF2-3A5D643D44F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08" y="912"/>
              <a:ext cx="1536" cy="392"/>
            </a:xfrm>
            <a:prstGeom prst="rect">
              <a:avLst/>
            </a:prstGeom>
            <a:solidFill>
              <a:srgbClr val="FFFF99">
                <a:alpha val="50195"/>
              </a:srgbClr>
            </a:solidFill>
            <a:ln w="19050">
              <a:solidFill>
                <a:srgbClr val="FF0000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it-IT" sz="1600"/>
                <a:t>Missed opportunities</a:t>
              </a:r>
            </a:p>
            <a:p>
              <a:pPr algn="ctr">
                <a:spcBef>
                  <a:spcPct val="25000"/>
                </a:spcBef>
              </a:pPr>
              <a:r>
                <a:rPr lang="en-US" altLang="it-IT" sz="1400"/>
                <a:t>(need stronger methods)</a:t>
              </a:r>
              <a:endParaRPr lang="en-US" altLang="it-IT" sz="1600">
                <a:latin typeface="Arial Rounded MT Bold" panose="020F0704030504030204" pitchFamily="34" charset="0"/>
              </a:endParaRPr>
            </a:p>
          </p:txBody>
        </p:sp>
        <p:grpSp>
          <p:nvGrpSpPr>
            <p:cNvPr id="37925" name="Group 4">
              <a:extLst>
                <a:ext uri="{FF2B5EF4-FFF2-40B4-BE49-F238E27FC236}">
                  <a16:creationId xmlns:a16="http://schemas.microsoft.com/office/drawing/2014/main" id="{0E110AB6-0762-44BC-A0BE-24CBF430165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392" y="1344"/>
              <a:ext cx="2304" cy="2016"/>
              <a:chOff x="1392" y="1344"/>
              <a:chExt cx="2304" cy="2016"/>
            </a:xfrm>
          </p:grpSpPr>
          <p:sp>
            <p:nvSpPr>
              <p:cNvPr id="37926" name="Rectangle 5">
                <a:extLst>
                  <a:ext uri="{FF2B5EF4-FFF2-40B4-BE49-F238E27FC236}">
                    <a16:creationId xmlns:a16="http://schemas.microsoft.com/office/drawing/2014/main" id="{C975EB1E-8D65-4900-A0D5-45A38842B36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60" y="1344"/>
                <a:ext cx="768" cy="192"/>
              </a:xfrm>
              <a:prstGeom prst="rect">
                <a:avLst/>
              </a:prstGeom>
              <a:solidFill>
                <a:srgbClr val="FFFF99">
                  <a:alpha val="50195"/>
                </a:srgb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9pPr>
              </a:lstStyle>
              <a:p>
                <a:endParaRPr lang="en-GB" altLang="it-IT"/>
              </a:p>
            </p:txBody>
          </p:sp>
          <p:sp>
            <p:nvSpPr>
              <p:cNvPr id="37927" name="Rectangle 6">
                <a:extLst>
                  <a:ext uri="{FF2B5EF4-FFF2-40B4-BE49-F238E27FC236}">
                    <a16:creationId xmlns:a16="http://schemas.microsoft.com/office/drawing/2014/main" id="{C179E563-AF0D-479A-92CD-21CC4C5EF62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28" y="1968"/>
                <a:ext cx="768" cy="192"/>
              </a:xfrm>
              <a:prstGeom prst="rect">
                <a:avLst/>
              </a:prstGeom>
              <a:solidFill>
                <a:srgbClr val="FFFF99">
                  <a:alpha val="50195"/>
                </a:srgb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9pPr>
              </a:lstStyle>
              <a:p>
                <a:endParaRPr lang="en-GB" altLang="it-IT"/>
              </a:p>
            </p:txBody>
          </p:sp>
          <p:sp>
            <p:nvSpPr>
              <p:cNvPr id="37928" name="Rectangle 7">
                <a:extLst>
                  <a:ext uri="{FF2B5EF4-FFF2-40B4-BE49-F238E27FC236}">
                    <a16:creationId xmlns:a16="http://schemas.microsoft.com/office/drawing/2014/main" id="{CF341867-7512-4BBD-BBE3-D0D00A6A482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40" y="1968"/>
                <a:ext cx="768" cy="192"/>
              </a:xfrm>
              <a:prstGeom prst="rect">
                <a:avLst/>
              </a:prstGeom>
              <a:solidFill>
                <a:srgbClr val="FFFF99">
                  <a:alpha val="50195"/>
                </a:srgb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9pPr>
              </a:lstStyle>
              <a:p>
                <a:endParaRPr lang="en-GB" altLang="it-IT"/>
              </a:p>
            </p:txBody>
          </p:sp>
          <p:sp>
            <p:nvSpPr>
              <p:cNvPr id="37929" name="Rectangle 8">
                <a:extLst>
                  <a:ext uri="{FF2B5EF4-FFF2-40B4-BE49-F238E27FC236}">
                    <a16:creationId xmlns:a16="http://schemas.microsoft.com/office/drawing/2014/main" id="{488D8530-1959-4BCC-82A0-9135D5E354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56" y="2400"/>
                <a:ext cx="768" cy="480"/>
              </a:xfrm>
              <a:prstGeom prst="rect">
                <a:avLst/>
              </a:prstGeom>
              <a:solidFill>
                <a:srgbClr val="FFFF99">
                  <a:alpha val="50195"/>
                </a:srgb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9pPr>
              </a:lstStyle>
              <a:p>
                <a:endParaRPr lang="en-GB" altLang="it-IT"/>
              </a:p>
            </p:txBody>
          </p:sp>
          <p:sp>
            <p:nvSpPr>
              <p:cNvPr id="37930" name="Rectangle 9">
                <a:extLst>
                  <a:ext uri="{FF2B5EF4-FFF2-40B4-BE49-F238E27FC236}">
                    <a16:creationId xmlns:a16="http://schemas.microsoft.com/office/drawing/2014/main" id="{01A25C40-9865-4579-B916-664FFD9311A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92" y="3024"/>
                <a:ext cx="768" cy="336"/>
              </a:xfrm>
              <a:prstGeom prst="rect">
                <a:avLst/>
              </a:prstGeom>
              <a:solidFill>
                <a:srgbClr val="FFFF99">
                  <a:alpha val="50195"/>
                </a:srgb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9pPr>
              </a:lstStyle>
              <a:p>
                <a:endParaRPr lang="en-GB" altLang="it-IT"/>
              </a:p>
            </p:txBody>
          </p:sp>
        </p:grpSp>
      </p:grpSp>
      <p:grpSp>
        <p:nvGrpSpPr>
          <p:cNvPr id="37892" name="Group 10">
            <a:extLst>
              <a:ext uri="{FF2B5EF4-FFF2-40B4-BE49-F238E27FC236}">
                <a16:creationId xmlns:a16="http://schemas.microsoft.com/office/drawing/2014/main" id="{429AE114-AF67-4334-AD47-9AFA33252471}"/>
              </a:ext>
            </a:extLst>
          </p:cNvPr>
          <p:cNvGrpSpPr>
            <a:grpSpLocks/>
          </p:cNvGrpSpPr>
          <p:nvPr/>
        </p:nvGrpSpPr>
        <p:grpSpPr bwMode="auto">
          <a:xfrm>
            <a:off x="304800" y="1219200"/>
            <a:ext cx="5715000" cy="4117975"/>
            <a:chOff x="480" y="768"/>
            <a:chExt cx="3600" cy="2594"/>
          </a:xfrm>
        </p:grpSpPr>
        <p:sp>
          <p:nvSpPr>
            <p:cNvPr id="37896" name="Text Box 11">
              <a:extLst>
                <a:ext uri="{FF2B5EF4-FFF2-40B4-BE49-F238E27FC236}">
                  <a16:creationId xmlns:a16="http://schemas.microsoft.com/office/drawing/2014/main" id="{277B9666-92A7-4807-BB31-5B51F6A9C48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40" y="816"/>
              <a:ext cx="864" cy="338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 algn="ctr"/>
              <a:r>
                <a:rPr lang="en-US" altLang="it-IT" sz="1400">
                  <a:latin typeface="Courier"/>
                </a:rPr>
                <a:t>m </a:t>
              </a:r>
              <a:r>
                <a:rPr lang="en-US" altLang="it-IT" sz="1400">
                  <a:latin typeface="Courier"/>
                  <a:sym typeface="Symbol" panose="05050102010706020507" pitchFamily="18" charset="2"/>
                </a:rPr>
                <a:t> a + b</a:t>
              </a:r>
            </a:p>
            <a:p>
              <a:pPr algn="ctr"/>
              <a:r>
                <a:rPr lang="en-US" altLang="it-IT" sz="1400" b="1">
                  <a:solidFill>
                    <a:srgbClr val="FF0065"/>
                  </a:solidFill>
                  <a:latin typeface="Courier"/>
                  <a:sym typeface="Symbol" panose="05050102010706020507" pitchFamily="18" charset="2"/>
                </a:rPr>
                <a:t>n  a + b</a:t>
              </a:r>
              <a:endParaRPr lang="en-US" altLang="it-IT" sz="1600" b="1">
                <a:latin typeface="Monaco"/>
                <a:sym typeface="Symbol" panose="05050102010706020507" pitchFamily="18" charset="2"/>
              </a:endParaRPr>
            </a:p>
          </p:txBody>
        </p:sp>
        <p:sp>
          <p:nvSpPr>
            <p:cNvPr id="37897" name="Text Box 12">
              <a:extLst>
                <a:ext uri="{FF2B5EF4-FFF2-40B4-BE49-F238E27FC236}">
                  <a16:creationId xmlns:a16="http://schemas.microsoft.com/office/drawing/2014/main" id="{2C8F5EBC-5BD4-46A9-AF68-0C49A39CCFA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48" y="768"/>
              <a:ext cx="240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it-IT" sz="1600">
                  <a:latin typeface="Arial Rounded MT Bold" panose="020F0704030504030204" pitchFamily="34" charset="0"/>
                </a:rPr>
                <a:t>A</a:t>
              </a:r>
            </a:p>
          </p:txBody>
        </p:sp>
        <p:grpSp>
          <p:nvGrpSpPr>
            <p:cNvPr id="37898" name="Group 13">
              <a:extLst>
                <a:ext uri="{FF2B5EF4-FFF2-40B4-BE49-F238E27FC236}">
                  <a16:creationId xmlns:a16="http://schemas.microsoft.com/office/drawing/2014/main" id="{31BBC173-4B23-4255-8594-D6765B7A857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80" y="1296"/>
              <a:ext cx="1056" cy="386"/>
              <a:chOff x="480" y="1401"/>
              <a:chExt cx="1056" cy="386"/>
            </a:xfrm>
          </p:grpSpPr>
          <p:sp>
            <p:nvSpPr>
              <p:cNvPr id="37922" name="Text Box 14">
                <a:extLst>
                  <a:ext uri="{FF2B5EF4-FFF2-40B4-BE49-F238E27FC236}">
                    <a16:creationId xmlns:a16="http://schemas.microsoft.com/office/drawing/2014/main" id="{11A5A1F2-523A-471C-BADE-9216B1E9919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72" y="1449"/>
                <a:ext cx="864" cy="338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9pPr>
              </a:lstStyle>
              <a:p>
                <a:pPr algn="ctr"/>
                <a:r>
                  <a:rPr lang="en-US" altLang="it-IT" sz="1400">
                    <a:latin typeface="Courier"/>
                  </a:rPr>
                  <a:t>p </a:t>
                </a:r>
                <a:r>
                  <a:rPr lang="en-US" altLang="it-IT" sz="1400">
                    <a:latin typeface="Courier"/>
                    <a:sym typeface="Symbol" panose="05050102010706020507" pitchFamily="18" charset="2"/>
                  </a:rPr>
                  <a:t> c + d</a:t>
                </a:r>
              </a:p>
              <a:p>
                <a:pPr algn="ctr"/>
                <a:r>
                  <a:rPr lang="en-US" altLang="it-IT" sz="1400" b="1">
                    <a:solidFill>
                      <a:srgbClr val="FF0065"/>
                    </a:solidFill>
                    <a:latin typeface="Courier"/>
                    <a:sym typeface="Symbol" panose="05050102010706020507" pitchFamily="18" charset="2"/>
                  </a:rPr>
                  <a:t>r  c + d</a:t>
                </a:r>
                <a:endParaRPr lang="en-US" altLang="it-IT" sz="1600" b="1">
                  <a:latin typeface="Monaco"/>
                  <a:sym typeface="Symbol" panose="05050102010706020507" pitchFamily="18" charset="2"/>
                </a:endParaRPr>
              </a:p>
            </p:txBody>
          </p:sp>
          <p:sp>
            <p:nvSpPr>
              <p:cNvPr id="37923" name="Text Box 15">
                <a:extLst>
                  <a:ext uri="{FF2B5EF4-FFF2-40B4-BE49-F238E27FC236}">
                    <a16:creationId xmlns:a16="http://schemas.microsoft.com/office/drawing/2014/main" id="{BAADE996-B5E4-4DE6-954D-E5BC56180A8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80" y="1401"/>
                <a:ext cx="240" cy="2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9pPr>
              </a:lstStyle>
              <a:p>
                <a:pPr algn="ctr">
                  <a:spcBef>
                    <a:spcPct val="50000"/>
                  </a:spcBef>
                </a:pPr>
                <a:r>
                  <a:rPr lang="en-US" altLang="it-IT" sz="1600">
                    <a:latin typeface="Arial Rounded MT Bold" panose="020F0704030504030204" pitchFamily="34" charset="0"/>
                  </a:rPr>
                  <a:t>B</a:t>
                </a:r>
              </a:p>
            </p:txBody>
          </p:sp>
        </p:grpSp>
        <p:grpSp>
          <p:nvGrpSpPr>
            <p:cNvPr id="37899" name="Group 16">
              <a:extLst>
                <a:ext uri="{FF2B5EF4-FFF2-40B4-BE49-F238E27FC236}">
                  <a16:creationId xmlns:a16="http://schemas.microsoft.com/office/drawing/2014/main" id="{5784439A-D63D-4815-B591-2128BBBD923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344" y="2976"/>
              <a:ext cx="1296" cy="386"/>
              <a:chOff x="1344" y="3312"/>
              <a:chExt cx="1296" cy="386"/>
            </a:xfrm>
          </p:grpSpPr>
          <p:sp>
            <p:nvSpPr>
              <p:cNvPr id="37920" name="Text Box 17">
                <a:extLst>
                  <a:ext uri="{FF2B5EF4-FFF2-40B4-BE49-F238E27FC236}">
                    <a16:creationId xmlns:a16="http://schemas.microsoft.com/office/drawing/2014/main" id="{1F8031E5-7919-4F76-96CF-1CE388B3DB4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536" y="3360"/>
                <a:ext cx="1104" cy="338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9pPr>
              </a:lstStyle>
              <a:p>
                <a:pPr algn="ctr"/>
                <a:r>
                  <a:rPr lang="en-US" altLang="it-IT" sz="1400">
                    <a:latin typeface="Courier"/>
                  </a:rPr>
                  <a:t>y </a:t>
                </a:r>
                <a:r>
                  <a:rPr lang="en-US" altLang="it-IT" sz="1400">
                    <a:latin typeface="Courier"/>
                    <a:sym typeface="Symbol" panose="05050102010706020507" pitchFamily="18" charset="2"/>
                  </a:rPr>
                  <a:t> a + b</a:t>
                </a:r>
              </a:p>
              <a:p>
                <a:pPr algn="ctr"/>
                <a:r>
                  <a:rPr lang="en-US" altLang="it-IT" sz="1400">
                    <a:latin typeface="Courier"/>
                    <a:sym typeface="Symbol" panose="05050102010706020507" pitchFamily="18" charset="2"/>
                  </a:rPr>
                  <a:t>z  c + d</a:t>
                </a:r>
              </a:p>
            </p:txBody>
          </p:sp>
          <p:sp>
            <p:nvSpPr>
              <p:cNvPr id="37921" name="Text Box 18">
                <a:extLst>
                  <a:ext uri="{FF2B5EF4-FFF2-40B4-BE49-F238E27FC236}">
                    <a16:creationId xmlns:a16="http://schemas.microsoft.com/office/drawing/2014/main" id="{0926C714-4952-4510-AF24-0B751D301B4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344" y="3312"/>
                <a:ext cx="240" cy="2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9pPr>
              </a:lstStyle>
              <a:p>
                <a:pPr algn="ctr">
                  <a:spcBef>
                    <a:spcPct val="50000"/>
                  </a:spcBef>
                </a:pPr>
                <a:r>
                  <a:rPr lang="en-US" altLang="it-IT" sz="1600">
                    <a:latin typeface="Arial Rounded MT Bold" panose="020F0704030504030204" pitchFamily="34" charset="0"/>
                  </a:rPr>
                  <a:t>G</a:t>
                </a:r>
              </a:p>
            </p:txBody>
          </p:sp>
        </p:grpSp>
        <p:sp>
          <p:nvSpPr>
            <p:cNvPr id="37900" name="Line 19">
              <a:extLst>
                <a:ext uri="{FF2B5EF4-FFF2-40B4-BE49-F238E27FC236}">
                  <a16:creationId xmlns:a16="http://schemas.microsoft.com/office/drawing/2014/main" id="{9B727ADA-AB15-404A-B419-44D247C3418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488" y="1152"/>
              <a:ext cx="138" cy="18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it-IT"/>
            </a:p>
          </p:txBody>
        </p:sp>
        <p:grpSp>
          <p:nvGrpSpPr>
            <p:cNvPr id="37901" name="Group 20">
              <a:extLst>
                <a:ext uri="{FF2B5EF4-FFF2-40B4-BE49-F238E27FC236}">
                  <a16:creationId xmlns:a16="http://schemas.microsoft.com/office/drawing/2014/main" id="{274CD07E-CE63-4870-BC1D-2184E6B9DF6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208" y="1296"/>
              <a:ext cx="1056" cy="386"/>
              <a:chOff x="1248" y="864"/>
              <a:chExt cx="1056" cy="386"/>
            </a:xfrm>
          </p:grpSpPr>
          <p:sp>
            <p:nvSpPr>
              <p:cNvPr id="37918" name="Text Box 21">
                <a:extLst>
                  <a:ext uri="{FF2B5EF4-FFF2-40B4-BE49-F238E27FC236}">
                    <a16:creationId xmlns:a16="http://schemas.microsoft.com/office/drawing/2014/main" id="{2408BBEF-79D4-4326-B393-EA07DF758E0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440" y="912"/>
                <a:ext cx="864" cy="338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9pPr>
              </a:lstStyle>
              <a:p>
                <a:pPr algn="ctr"/>
                <a:r>
                  <a:rPr lang="en-US" altLang="it-IT" sz="1400">
                    <a:latin typeface="Courier"/>
                  </a:rPr>
                  <a:t>q </a:t>
                </a:r>
                <a:r>
                  <a:rPr lang="en-US" altLang="it-IT" sz="1400">
                    <a:latin typeface="Courier"/>
                    <a:sym typeface="Symbol" panose="05050102010706020507" pitchFamily="18" charset="2"/>
                  </a:rPr>
                  <a:t> a + b</a:t>
                </a:r>
              </a:p>
              <a:p>
                <a:pPr algn="ctr"/>
                <a:r>
                  <a:rPr lang="en-US" altLang="it-IT" sz="1400">
                    <a:latin typeface="Courier"/>
                    <a:sym typeface="Symbol" panose="05050102010706020507" pitchFamily="18" charset="2"/>
                  </a:rPr>
                  <a:t>r  c + d</a:t>
                </a:r>
                <a:endParaRPr lang="en-US" altLang="it-IT" sz="1600" b="1">
                  <a:latin typeface="Monaco"/>
                  <a:sym typeface="Symbol" panose="05050102010706020507" pitchFamily="18" charset="2"/>
                </a:endParaRPr>
              </a:p>
            </p:txBody>
          </p:sp>
          <p:sp>
            <p:nvSpPr>
              <p:cNvPr id="37919" name="Text Box 22">
                <a:extLst>
                  <a:ext uri="{FF2B5EF4-FFF2-40B4-BE49-F238E27FC236}">
                    <a16:creationId xmlns:a16="http://schemas.microsoft.com/office/drawing/2014/main" id="{7082AEA9-2468-4F05-94C8-A5BDB97001E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248" y="864"/>
                <a:ext cx="240" cy="2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9pPr>
              </a:lstStyle>
              <a:p>
                <a:pPr algn="ctr">
                  <a:spcBef>
                    <a:spcPct val="50000"/>
                  </a:spcBef>
                </a:pPr>
                <a:r>
                  <a:rPr lang="en-US" altLang="it-IT" sz="1600">
                    <a:latin typeface="Arial Rounded MT Bold" panose="020F0704030504030204" pitchFamily="34" charset="0"/>
                  </a:rPr>
                  <a:t>C</a:t>
                </a:r>
              </a:p>
            </p:txBody>
          </p:sp>
        </p:grpSp>
        <p:grpSp>
          <p:nvGrpSpPr>
            <p:cNvPr id="37902" name="Group 23">
              <a:extLst>
                <a:ext uri="{FF2B5EF4-FFF2-40B4-BE49-F238E27FC236}">
                  <a16:creationId xmlns:a16="http://schemas.microsoft.com/office/drawing/2014/main" id="{97260B0A-D2C0-4833-B628-3A3AE7DD218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88" y="1776"/>
              <a:ext cx="1104" cy="520"/>
              <a:chOff x="1680" y="1873"/>
              <a:chExt cx="1104" cy="520"/>
            </a:xfrm>
          </p:grpSpPr>
          <p:sp>
            <p:nvSpPr>
              <p:cNvPr id="37916" name="Text Box 24">
                <a:extLst>
                  <a:ext uri="{FF2B5EF4-FFF2-40B4-BE49-F238E27FC236}">
                    <a16:creationId xmlns:a16="http://schemas.microsoft.com/office/drawing/2014/main" id="{5773BA02-01C6-4F3A-A4F2-CB0D3C3F6EE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872" y="1921"/>
                <a:ext cx="912" cy="472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9pPr>
              </a:lstStyle>
              <a:p>
                <a:pPr algn="ctr"/>
                <a:r>
                  <a:rPr lang="en-US" altLang="it-IT" sz="1400">
                    <a:latin typeface="Courier"/>
                  </a:rPr>
                  <a:t>e </a:t>
                </a:r>
                <a:r>
                  <a:rPr lang="en-US" altLang="it-IT" sz="1400">
                    <a:latin typeface="Courier"/>
                    <a:sym typeface="Symbol" panose="05050102010706020507" pitchFamily="18" charset="2"/>
                  </a:rPr>
                  <a:t> b + 18</a:t>
                </a:r>
              </a:p>
              <a:p>
                <a:pPr algn="ctr"/>
                <a:r>
                  <a:rPr lang="en-US" altLang="it-IT" sz="1400">
                    <a:latin typeface="Courier"/>
                    <a:sym typeface="Symbol" panose="05050102010706020507" pitchFamily="18" charset="2"/>
                  </a:rPr>
                  <a:t>s  a + b</a:t>
                </a:r>
              </a:p>
              <a:p>
                <a:pPr algn="ctr"/>
                <a:r>
                  <a:rPr lang="en-US" altLang="it-IT" sz="1400">
                    <a:latin typeface="Courier"/>
                    <a:sym typeface="Symbol" panose="05050102010706020507" pitchFamily="18" charset="2"/>
                  </a:rPr>
                  <a:t>u  e + f</a:t>
                </a:r>
              </a:p>
            </p:txBody>
          </p:sp>
          <p:sp>
            <p:nvSpPr>
              <p:cNvPr id="37917" name="Text Box 25">
                <a:extLst>
                  <a:ext uri="{FF2B5EF4-FFF2-40B4-BE49-F238E27FC236}">
                    <a16:creationId xmlns:a16="http://schemas.microsoft.com/office/drawing/2014/main" id="{98A3C082-287B-4851-9A1F-9B949BE6730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80" y="1873"/>
                <a:ext cx="240" cy="2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9pPr>
              </a:lstStyle>
              <a:p>
                <a:pPr algn="ctr">
                  <a:spcBef>
                    <a:spcPct val="50000"/>
                  </a:spcBef>
                </a:pPr>
                <a:r>
                  <a:rPr lang="en-US" altLang="it-IT" sz="1600">
                    <a:latin typeface="Arial Rounded MT Bold" panose="020F0704030504030204" pitchFamily="34" charset="0"/>
                  </a:rPr>
                  <a:t>D</a:t>
                </a:r>
              </a:p>
            </p:txBody>
          </p:sp>
        </p:grpSp>
        <p:grpSp>
          <p:nvGrpSpPr>
            <p:cNvPr id="37903" name="Group 26">
              <a:extLst>
                <a:ext uri="{FF2B5EF4-FFF2-40B4-BE49-F238E27FC236}">
                  <a16:creationId xmlns:a16="http://schemas.microsoft.com/office/drawing/2014/main" id="{2B25A264-F6C9-460A-813D-4D85136274C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976" y="1776"/>
              <a:ext cx="1104" cy="520"/>
              <a:chOff x="1680" y="2024"/>
              <a:chExt cx="1104" cy="520"/>
            </a:xfrm>
          </p:grpSpPr>
          <p:sp>
            <p:nvSpPr>
              <p:cNvPr id="37914" name="Text Box 27">
                <a:extLst>
                  <a:ext uri="{FF2B5EF4-FFF2-40B4-BE49-F238E27FC236}">
                    <a16:creationId xmlns:a16="http://schemas.microsoft.com/office/drawing/2014/main" id="{F3EEC3E5-5883-4097-8B06-E2FF5EF5F8A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872" y="2072"/>
                <a:ext cx="912" cy="472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9pPr>
              </a:lstStyle>
              <a:p>
                <a:pPr algn="ctr"/>
                <a:r>
                  <a:rPr lang="en-US" altLang="it-IT" sz="1400">
                    <a:latin typeface="Courier"/>
                  </a:rPr>
                  <a:t>e </a:t>
                </a:r>
                <a:r>
                  <a:rPr lang="en-US" altLang="it-IT" sz="1400">
                    <a:latin typeface="Courier"/>
                    <a:sym typeface="Symbol" panose="05050102010706020507" pitchFamily="18" charset="2"/>
                  </a:rPr>
                  <a:t> a + 17</a:t>
                </a:r>
              </a:p>
              <a:p>
                <a:pPr algn="ctr"/>
                <a:r>
                  <a:rPr lang="en-US" altLang="it-IT" sz="1400">
                    <a:latin typeface="Courier"/>
                    <a:sym typeface="Symbol" panose="05050102010706020507" pitchFamily="18" charset="2"/>
                  </a:rPr>
                  <a:t>t  c + d</a:t>
                </a:r>
              </a:p>
              <a:p>
                <a:pPr algn="ctr"/>
                <a:r>
                  <a:rPr lang="en-US" altLang="it-IT" sz="1400">
                    <a:latin typeface="Courier"/>
                    <a:sym typeface="Symbol" panose="05050102010706020507" pitchFamily="18" charset="2"/>
                  </a:rPr>
                  <a:t>u  e + f</a:t>
                </a:r>
                <a:endParaRPr lang="en-US" altLang="it-IT" sz="1600">
                  <a:latin typeface="Courier"/>
                  <a:sym typeface="Symbol" panose="05050102010706020507" pitchFamily="18" charset="2"/>
                </a:endParaRPr>
              </a:p>
            </p:txBody>
          </p:sp>
          <p:sp>
            <p:nvSpPr>
              <p:cNvPr id="37915" name="Text Box 28">
                <a:extLst>
                  <a:ext uri="{FF2B5EF4-FFF2-40B4-BE49-F238E27FC236}">
                    <a16:creationId xmlns:a16="http://schemas.microsoft.com/office/drawing/2014/main" id="{8E7DFCB7-D217-428E-917D-07616E56C7C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80" y="2024"/>
                <a:ext cx="240" cy="2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9pPr>
              </a:lstStyle>
              <a:p>
                <a:pPr algn="ctr">
                  <a:spcBef>
                    <a:spcPct val="50000"/>
                  </a:spcBef>
                </a:pPr>
                <a:r>
                  <a:rPr lang="en-US" altLang="it-IT" sz="1600">
                    <a:latin typeface="Arial Rounded MT Bold" panose="020F0704030504030204" pitchFamily="34" charset="0"/>
                  </a:rPr>
                  <a:t>E</a:t>
                </a:r>
              </a:p>
            </p:txBody>
          </p:sp>
        </p:grpSp>
        <p:sp>
          <p:nvSpPr>
            <p:cNvPr id="37904" name="Line 29">
              <a:extLst>
                <a:ext uri="{FF2B5EF4-FFF2-40B4-BE49-F238E27FC236}">
                  <a16:creationId xmlns:a16="http://schemas.microsoft.com/office/drawing/2014/main" id="{70440671-30B9-4953-97E4-0E0D3658BB0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496" y="1680"/>
              <a:ext cx="144" cy="14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it-IT"/>
            </a:p>
          </p:txBody>
        </p:sp>
        <p:sp>
          <p:nvSpPr>
            <p:cNvPr id="37905" name="Line 30">
              <a:extLst>
                <a:ext uri="{FF2B5EF4-FFF2-40B4-BE49-F238E27FC236}">
                  <a16:creationId xmlns:a16="http://schemas.microsoft.com/office/drawing/2014/main" id="{8E8A5741-B89E-46BF-ADF6-AF15643C79A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68" y="1680"/>
              <a:ext cx="144" cy="14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it-IT"/>
            </a:p>
          </p:txBody>
        </p:sp>
        <p:sp>
          <p:nvSpPr>
            <p:cNvPr id="37906" name="Line 31">
              <a:extLst>
                <a:ext uri="{FF2B5EF4-FFF2-40B4-BE49-F238E27FC236}">
                  <a16:creationId xmlns:a16="http://schemas.microsoft.com/office/drawing/2014/main" id="{B885E4E9-3630-4CAE-8818-F5761E2B17A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56" y="1152"/>
              <a:ext cx="336" cy="19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it-IT"/>
            </a:p>
          </p:txBody>
        </p:sp>
        <p:sp>
          <p:nvSpPr>
            <p:cNvPr id="37907" name="Line 32">
              <a:extLst>
                <a:ext uri="{FF2B5EF4-FFF2-40B4-BE49-F238E27FC236}">
                  <a16:creationId xmlns:a16="http://schemas.microsoft.com/office/drawing/2014/main" id="{6180F08A-B882-4143-9140-658FC71BE4C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92" y="1680"/>
              <a:ext cx="336" cy="134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it-IT"/>
            </a:p>
          </p:txBody>
        </p:sp>
        <p:grpSp>
          <p:nvGrpSpPr>
            <p:cNvPr id="37908" name="Group 33">
              <a:extLst>
                <a:ext uri="{FF2B5EF4-FFF2-40B4-BE49-F238E27FC236}">
                  <a16:creationId xmlns:a16="http://schemas.microsoft.com/office/drawing/2014/main" id="{94870360-21F2-46DE-8459-BE95CFF1B9F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208" y="2360"/>
              <a:ext cx="1248" cy="520"/>
              <a:chOff x="2208" y="2360"/>
              <a:chExt cx="1248" cy="520"/>
            </a:xfrm>
          </p:grpSpPr>
          <p:sp>
            <p:nvSpPr>
              <p:cNvPr id="37912" name="Text Box 34">
                <a:extLst>
                  <a:ext uri="{FF2B5EF4-FFF2-40B4-BE49-F238E27FC236}">
                    <a16:creationId xmlns:a16="http://schemas.microsoft.com/office/drawing/2014/main" id="{E8B177AE-E4FB-46F4-87EA-FB07D605EAB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00" y="2408"/>
                <a:ext cx="1056" cy="472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9pPr>
              </a:lstStyle>
              <a:p>
                <a:pPr algn="ctr"/>
                <a:r>
                  <a:rPr lang="en-US" altLang="it-IT" sz="1400">
                    <a:latin typeface="Courier"/>
                  </a:rPr>
                  <a:t>v </a:t>
                </a:r>
                <a:r>
                  <a:rPr lang="en-US" altLang="it-IT" sz="1400">
                    <a:latin typeface="Courier"/>
                    <a:sym typeface="Symbol" panose="05050102010706020507" pitchFamily="18" charset="2"/>
                  </a:rPr>
                  <a:t> a + b</a:t>
                </a:r>
              </a:p>
              <a:p>
                <a:pPr algn="ctr"/>
                <a:r>
                  <a:rPr lang="en-US" altLang="it-IT" sz="1400">
                    <a:latin typeface="Courier"/>
                    <a:sym typeface="Symbol" panose="05050102010706020507" pitchFamily="18" charset="2"/>
                  </a:rPr>
                  <a:t>w  c + d</a:t>
                </a:r>
              </a:p>
              <a:p>
                <a:pPr algn="ctr"/>
                <a:r>
                  <a:rPr lang="en-US" altLang="it-IT" sz="1400">
                    <a:latin typeface="Courier"/>
                    <a:sym typeface="Symbol" panose="05050102010706020507" pitchFamily="18" charset="2"/>
                  </a:rPr>
                  <a:t>x  e + f</a:t>
                </a:r>
              </a:p>
            </p:txBody>
          </p:sp>
          <p:sp>
            <p:nvSpPr>
              <p:cNvPr id="37913" name="Text Box 35">
                <a:extLst>
                  <a:ext uri="{FF2B5EF4-FFF2-40B4-BE49-F238E27FC236}">
                    <a16:creationId xmlns:a16="http://schemas.microsoft.com/office/drawing/2014/main" id="{59676A85-14D4-40DD-8E23-A0A6AF4E0BD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208" y="2360"/>
                <a:ext cx="240" cy="2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9pPr>
              </a:lstStyle>
              <a:p>
                <a:pPr algn="ctr">
                  <a:spcBef>
                    <a:spcPct val="50000"/>
                  </a:spcBef>
                </a:pPr>
                <a:r>
                  <a:rPr lang="en-US" altLang="it-IT" sz="1600">
                    <a:latin typeface="Arial Rounded MT Bold" panose="020F0704030504030204" pitchFamily="34" charset="0"/>
                  </a:rPr>
                  <a:t>F</a:t>
                </a:r>
              </a:p>
            </p:txBody>
          </p:sp>
        </p:grpSp>
        <p:sp>
          <p:nvSpPr>
            <p:cNvPr id="37909" name="Line 36">
              <a:extLst>
                <a:ext uri="{FF2B5EF4-FFF2-40B4-BE49-F238E27FC236}">
                  <a16:creationId xmlns:a16="http://schemas.microsoft.com/office/drawing/2014/main" id="{601A833A-441D-46FD-83C0-AACC3543530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48" y="2304"/>
              <a:ext cx="48" cy="9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it-IT"/>
            </a:p>
          </p:txBody>
        </p:sp>
        <p:sp>
          <p:nvSpPr>
            <p:cNvPr id="37910" name="Line 37">
              <a:extLst>
                <a:ext uri="{FF2B5EF4-FFF2-40B4-BE49-F238E27FC236}">
                  <a16:creationId xmlns:a16="http://schemas.microsoft.com/office/drawing/2014/main" id="{07CF92E5-2E20-42C0-A63C-7E554B8E466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168" y="2304"/>
              <a:ext cx="192" cy="9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it-IT"/>
            </a:p>
          </p:txBody>
        </p:sp>
        <p:sp>
          <p:nvSpPr>
            <p:cNvPr id="37911" name="Line 38">
              <a:extLst>
                <a:ext uri="{FF2B5EF4-FFF2-40B4-BE49-F238E27FC236}">
                  <a16:creationId xmlns:a16="http://schemas.microsoft.com/office/drawing/2014/main" id="{10EBEE06-49C0-4F50-8D67-5217A4AFB2D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544" y="2880"/>
              <a:ext cx="96" cy="14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it-IT"/>
            </a:p>
          </p:txBody>
        </p:sp>
      </p:grpSp>
      <p:sp>
        <p:nvSpPr>
          <p:cNvPr id="37893" name="Rectangle 39">
            <a:extLst>
              <a:ext uri="{FF2B5EF4-FFF2-40B4-BE49-F238E27FC236}">
                <a16:creationId xmlns:a16="http://schemas.microsoft.com/office/drawing/2014/main" id="{D5921757-510B-4DBC-A834-A094ECDAE59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it-IT"/>
              <a:t>Value Numbering</a:t>
            </a:r>
          </a:p>
        </p:txBody>
      </p:sp>
      <p:sp>
        <p:nvSpPr>
          <p:cNvPr id="37894" name="Text Box 41">
            <a:extLst>
              <a:ext uri="{FF2B5EF4-FFF2-40B4-BE49-F238E27FC236}">
                <a16:creationId xmlns:a16="http://schemas.microsoft.com/office/drawing/2014/main" id="{88658B71-D6A6-4733-86FD-3B5FABCAFD5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62600" y="4278313"/>
            <a:ext cx="2987675" cy="143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pPr>
              <a:spcBef>
                <a:spcPct val="30000"/>
              </a:spcBef>
            </a:pPr>
            <a:r>
              <a:rPr lang="en-US" altLang="it-IT">
                <a:solidFill>
                  <a:srgbClr val="003C75"/>
                </a:solidFill>
              </a:rPr>
              <a:t>Local Value Numbering</a:t>
            </a:r>
            <a:endParaRPr lang="en-US" altLang="it-IT"/>
          </a:p>
          <a:p>
            <a:pPr>
              <a:spcBef>
                <a:spcPct val="30000"/>
              </a:spcBef>
              <a:buClr>
                <a:srgbClr val="003C75"/>
              </a:buClr>
              <a:buSzPct val="120000"/>
              <a:buFont typeface="Symbol" panose="05050102010706020507" pitchFamily="18" charset="2"/>
              <a:buChar char=""/>
            </a:pPr>
            <a:r>
              <a:rPr lang="en-US" altLang="it-IT"/>
              <a:t> 1 block at a time</a:t>
            </a:r>
          </a:p>
          <a:p>
            <a:pPr>
              <a:spcBef>
                <a:spcPct val="30000"/>
              </a:spcBef>
              <a:buClr>
                <a:srgbClr val="003C75"/>
              </a:buClr>
              <a:buSzPct val="120000"/>
              <a:buFont typeface="Symbol" panose="05050102010706020507" pitchFamily="18" charset="2"/>
              <a:buChar char=""/>
            </a:pPr>
            <a:r>
              <a:rPr lang="en-US" altLang="it-IT"/>
              <a:t> Strong local results</a:t>
            </a:r>
          </a:p>
          <a:p>
            <a:pPr>
              <a:spcBef>
                <a:spcPct val="30000"/>
              </a:spcBef>
              <a:buClr>
                <a:srgbClr val="003C75"/>
              </a:buClr>
              <a:buSzPct val="120000"/>
              <a:buFont typeface="Symbol" panose="05050102010706020507" pitchFamily="18" charset="2"/>
              <a:buChar char=""/>
            </a:pPr>
            <a:r>
              <a:rPr lang="en-US" altLang="it-IT"/>
              <a:t> No cross-block effects</a:t>
            </a:r>
            <a:endParaRPr lang="en-US" altLang="it-IT">
              <a:latin typeface="Arial Rounded MT Bold" panose="020F0704030504030204" pitchFamily="34" charset="0"/>
            </a:endParaRPr>
          </a:p>
        </p:txBody>
      </p:sp>
      <p:sp>
        <p:nvSpPr>
          <p:cNvPr id="37895" name="Text Box 43">
            <a:extLst>
              <a:ext uri="{FF2B5EF4-FFF2-40B4-BE49-F238E27FC236}">
                <a16:creationId xmlns:a16="http://schemas.microsoft.com/office/drawing/2014/main" id="{381F321D-7E6E-4CB5-B807-BB9DB9A609A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0" y="2209800"/>
            <a:ext cx="32766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it-IT" sz="1600">
                <a:solidFill>
                  <a:srgbClr val="FF0065"/>
                </a:solidFill>
              </a:rPr>
              <a:t>LVN finds these redundant ops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56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Blank Presentation">
  <a:themeElements>
    <a:clrScheme name="Blank Presentatio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Blank Presentation">
      <a:majorFont>
        <a:latin typeface="Comic Sans MS"/>
        <a:ea typeface="ヒラギノ角ゴ Pro W3"/>
        <a:cs typeface="ヒラギノ角ゴ Pro W3"/>
      </a:majorFont>
      <a:minorFont>
        <a:latin typeface="Comic Sans MS"/>
        <a:ea typeface="ヒラギノ角ゴ Pro W3"/>
        <a:cs typeface="ヒラギノ角ゴ Pro W3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Comic Sans MS" charset="0"/>
            <a:ea typeface="ヒラギノ角ゴ Pro W3" charset="-128"/>
            <a:cs typeface="ヒラギノ角ゴ Pro W3" charset="-128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Comic Sans MS" charset="0"/>
            <a:ea typeface="ヒラギノ角ゴ Pro W3" charset="-128"/>
            <a:cs typeface="ヒラギノ角ゴ Pro W3" charset="-128"/>
          </a:defRPr>
        </a:defPPr>
      </a:lstStyle>
    </a:lnDef>
  </a:objectDefaults>
  <a:extraClrSchemeLst>
    <a:extraClrScheme>
      <a:clrScheme name="Blank Presentatio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783</TotalTime>
  <Words>1031</Words>
  <Application>Microsoft Office PowerPoint</Application>
  <PresentationFormat>Presentazione su schermo (4:3)</PresentationFormat>
  <Paragraphs>256</Paragraphs>
  <Slides>12</Slides>
  <Notes>12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Titoli diapositive</vt:lpstr>
      </vt:variant>
      <vt:variant>
        <vt:i4>12</vt:i4>
      </vt:variant>
    </vt:vector>
  </HeadingPairs>
  <TitlesOfParts>
    <vt:vector size="13" baseType="lpstr">
      <vt:lpstr>Blank Presentation</vt:lpstr>
      <vt:lpstr>Introduction to Code Optimization  Comp 412</vt:lpstr>
      <vt:lpstr>Traditional Three-Phase Compiler</vt:lpstr>
      <vt:lpstr>The Optimizer</vt:lpstr>
      <vt:lpstr>The Role of the Optimizer</vt:lpstr>
      <vt:lpstr>Redundancy Elimination as an Example</vt:lpstr>
      <vt:lpstr>Value Numbering                        </vt:lpstr>
      <vt:lpstr>Local Value Numbering</vt:lpstr>
      <vt:lpstr>Local Value Numbering</vt:lpstr>
      <vt:lpstr>Local Value Numbering</vt:lpstr>
      <vt:lpstr>Local Value Numbering</vt:lpstr>
      <vt:lpstr>Simple Extensions to Value Numbering</vt:lpstr>
      <vt:lpstr>Value Numbering</vt:lpstr>
    </vt:vector>
  </TitlesOfParts>
  <Company>Rice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Keith Cooper</dc:creator>
  <cp:lastModifiedBy>Elsevier</cp:lastModifiedBy>
  <cp:revision>25</cp:revision>
  <cp:lastPrinted>2010-11-03T13:46:54Z</cp:lastPrinted>
  <dcterms:created xsi:type="dcterms:W3CDTF">2010-11-08T13:18:55Z</dcterms:created>
  <dcterms:modified xsi:type="dcterms:W3CDTF">2020-10-20T11:44:15Z</dcterms:modified>
</cp:coreProperties>
</file>