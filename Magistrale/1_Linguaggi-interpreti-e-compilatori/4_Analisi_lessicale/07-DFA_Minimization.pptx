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20.xml" ContentType="application/vnd.openxmlformats-officedocument.presentationml.slide+xml"/>
  <Override PartName="/ppt/slides/slide15.xml" ContentType="application/vnd.openxmlformats-officedocument.presentationml.slide+xml"/>
  <Override PartName="/ppt/slides/slide13.xml" ContentType="application/vnd.openxmlformats-officedocument.presentationml.slide+xml"/>
  <Override PartName="/ppt/slides/slide21.xml" ContentType="application/vnd.openxmlformats-officedocument.presentationml.slide+xml"/>
  <Override PartName="/ppt/slides/slide14.xml" ContentType="application/vnd.openxmlformats-officedocument.presentationml.slide+xml"/>
  <Override PartName="/ppt/slides/slide4.xml" ContentType="application/vnd.openxmlformats-officedocument.presentationml.slide+xml"/>
  <Override PartName="/ppt/slides/slide27.xml" ContentType="application/vnd.openxmlformats-officedocument.presentationml.slide+xml"/>
  <Override PartName="/ppt/slides/slide35.xml" ContentType="application/vnd.openxmlformats-officedocument.presentationml.slide+xml"/>
  <Override PartName="/ppt/slides/slide22.xml" ContentType="application/vnd.openxmlformats-officedocument.presentationml.slide+xml"/>
  <Override PartName="/ppt/slides/slide18.xml" ContentType="application/vnd.openxmlformats-officedocument.presentationml.slide+xml"/>
  <Override PartName="/ppt/slides/slide1.xml" ContentType="application/vnd.openxmlformats-officedocument.presentationml.slide+xml"/>
  <Override PartName="/ppt/slides/slide23.xml" ContentType="application/vnd.openxmlformats-officedocument.presentationml.slide+xml"/>
  <Override PartName="/ppt/slides/slide28.xml" ContentType="application/vnd.openxmlformats-officedocument.presentationml.slide+xml"/>
  <Override PartName="/ppt/slides/slide38.xml" ContentType="application/vnd.openxmlformats-officedocument.presentationml.slide+xml"/>
  <Override PartName="/ppt/slides/slide29.xml" ContentType="application/vnd.openxmlformats-officedocument.presentationml.slide+xml"/>
  <Override PartName="/ppt/slides/slide3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11.xml" ContentType="application/vnd.openxmlformats-officedocument.presentationml.slide+xml"/>
  <Override PartName="/ppt/slides/slide19.xml" ContentType="application/vnd.openxmlformats-officedocument.presentationml.slide+xml"/>
  <Override PartName="/ppt/slides/slide12.xml" ContentType="application/vnd.openxmlformats-officedocument.presentationml.slide+xml"/>
  <Override PartName="/ppt/slides/slide37.xml" ContentType="application/vnd.openxmlformats-officedocument.presentationml.slide+xml"/>
  <Override PartName="/ppt/slides/slide24.xml" ContentType="application/vnd.openxmlformats-officedocument.presentationml.slide+xml"/>
  <Override PartName="/ppt/slides/slide32.xml" ContentType="application/vnd.openxmlformats-officedocument.presentationml.slide+xml"/>
  <Override PartName="/ppt/slides/slide25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10.xml" ContentType="application/vnd.openxmlformats-officedocument.presentationml.slide+xml"/>
  <Override PartName="/ppt/slides/slide36.xml" ContentType="application/vnd.openxmlformats-officedocument.presentationml.slide+xml"/>
  <Override PartName="/ppt/slides/slide26.xml" ContentType="application/vnd.openxmlformats-officedocument.presentationml.slide+xml"/>
  <Override PartName="/ppt/slides/slide40.xml" ContentType="application/vnd.openxmlformats-officedocument.presentationml.slide+xml"/>
  <Override PartName="/ppt/notesMasters/notesMaster1.xml" ContentType="application/vnd.openxmlformats-officedocument.presentationml.notesMaster+xml"/>
  <Override PartName="/ppt/notesSlides/notesSlide11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1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36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  <p:sldId id="285" r:id="rId33"/>
    <p:sldId id="286" r:id="rId34"/>
    <p:sldId id="287" r:id="rId35"/>
    <p:sldId id="288" r:id="rId36"/>
    <p:sldId id="289" r:id="rId37"/>
    <p:sldId id="290" r:id="rId38"/>
    <p:sldId id="291" r:id="rId39"/>
    <p:sldId id="292" r:id="rId40"/>
    <p:sldId id="293" r:id="rId41"/>
    <p:sldId id="294" r:id="rId42"/>
    <p:sldId id="295" r:id="rId43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slide" Target="slides/slide22.xml"/><Relationship Id="rId26" Type="http://schemas.openxmlformats.org/officeDocument/2006/relationships/slide" Target="slides/slide23.xml"/><Relationship Id="rId27" Type="http://schemas.openxmlformats.org/officeDocument/2006/relationships/slide" Target="slides/slide24.xml"/><Relationship Id="rId28" Type="http://schemas.openxmlformats.org/officeDocument/2006/relationships/slide" Target="slides/slide25.xml"/><Relationship Id="rId29" Type="http://schemas.openxmlformats.org/officeDocument/2006/relationships/slide" Target="slides/slide26.xml"/><Relationship Id="rId30" Type="http://schemas.openxmlformats.org/officeDocument/2006/relationships/slide" Target="slides/slide27.xml"/><Relationship Id="rId31" Type="http://schemas.openxmlformats.org/officeDocument/2006/relationships/slide" Target="slides/slide28.xml"/><Relationship Id="rId32" Type="http://schemas.openxmlformats.org/officeDocument/2006/relationships/slide" Target="slides/slide29.xml"/><Relationship Id="rId33" Type="http://schemas.openxmlformats.org/officeDocument/2006/relationships/slide" Target="slides/slide30.xml"/><Relationship Id="rId34" Type="http://schemas.openxmlformats.org/officeDocument/2006/relationships/slide" Target="slides/slide31.xml"/><Relationship Id="rId35" Type="http://schemas.openxmlformats.org/officeDocument/2006/relationships/slide" Target="slides/slide32.xml"/><Relationship Id="rId36" Type="http://schemas.openxmlformats.org/officeDocument/2006/relationships/slide" Target="slides/slide33.xml"/><Relationship Id="rId37" Type="http://schemas.openxmlformats.org/officeDocument/2006/relationships/slide" Target="slides/slide34.xml"/><Relationship Id="rId38" Type="http://schemas.openxmlformats.org/officeDocument/2006/relationships/slide" Target="slides/slide35.xml"/><Relationship Id="rId39" Type="http://schemas.openxmlformats.org/officeDocument/2006/relationships/slide" Target="slides/slide36.xml"/><Relationship Id="rId40" Type="http://schemas.openxmlformats.org/officeDocument/2006/relationships/slide" Target="slides/slide37.xml"/><Relationship Id="rId41" Type="http://schemas.openxmlformats.org/officeDocument/2006/relationships/slide" Target="slides/slide38.xml"/><Relationship Id="rId42" Type="http://schemas.openxmlformats.org/officeDocument/2006/relationships/slide" Target="slides/slide39.xml"/><Relationship Id="rId43" Type="http://schemas.openxmlformats.org/officeDocument/2006/relationships/slide" Target="slides/slide40.xml"/><Relationship Id="rId44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"/>
          <p:cNvSpPr/>
          <p:nvPr/>
        </p:nvSpPr>
        <p:spPr>
          <a:xfrm>
            <a:off x="0" y="0"/>
            <a:ext cx="6858000" cy="91440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 lIns="90000" tIns="45000" rIns="90000" bIns="45000" anchor="ctr" anchorCtr="1">
            <a:noAutofit/>
          </a:bodyPr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9" name="PlaceHolder 1"/>
          <p:cNvSpPr>
            <a:spLocks noGrp="1"/>
          </p:cNvSpPr>
          <p:nvPr>
            <p:ph type="hdr"/>
          </p:nvPr>
        </p:nvSpPr>
        <p:spPr>
          <a:xfrm>
            <a:off x="-360" y="0"/>
            <a:ext cx="2971800" cy="45720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t">
            <a:noAutofit/>
          </a:bodyPr>
          <a:p>
            <a:pPr indent="0" algn="l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it-IT" sz="18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dt" idx="3"/>
          </p:nvPr>
        </p:nvSpPr>
        <p:spPr>
          <a:xfrm>
            <a:off x="3885840" y="0"/>
            <a:ext cx="2971800" cy="45720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t">
            <a:noAutofit/>
          </a:bodyPr>
          <a:p>
            <a:pPr indent="0" algn="l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it-IT" sz="18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 type="sldImg"/>
          </p:nvPr>
        </p:nvSpPr>
        <p:spPr>
          <a:xfrm>
            <a:off x="1143000" y="685440"/>
            <a:ext cx="4572000" cy="3429000"/>
          </a:xfrm>
          <a:prstGeom prst="rect">
            <a:avLst/>
          </a:prstGeom>
          <a:noFill/>
          <a:ln w="9360">
            <a:solidFill>
              <a:srgbClr val="000000"/>
            </a:solidFill>
            <a:miter/>
          </a:ln>
        </p:spPr>
        <p:txBody>
          <a:bodyPr lIns="90000" tIns="46800" rIns="90000" bIns="46800" anchor="t">
            <a:noAutofit/>
          </a:bodyPr>
          <a:p>
            <a:pPr indent="0" algn="l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it-IT" sz="24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Click to move the slide</a:t>
            </a:r>
            <a:endParaRPr lang="it-IT" sz="24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12" name="PlaceHolder 4"/>
          <p:cNvSpPr>
            <a:spLocks noGrp="1"/>
          </p:cNvSpPr>
          <p:nvPr>
            <p:ph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t">
            <a:noAutofit/>
          </a:bodyPr>
          <a:p>
            <a:pPr indent="0" algn="l">
              <a:spcBef>
                <a:spcPts val="451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it-IT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  <a:endParaRPr lang="it-IT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" name="PlaceHolder 5"/>
          <p:cNvSpPr>
            <a:spLocks noGrp="1"/>
          </p:cNvSpPr>
          <p:nvPr>
            <p:ph type="ftr" idx="4"/>
          </p:nvPr>
        </p:nvSpPr>
        <p:spPr>
          <a:xfrm>
            <a:off x="-360" y="8686800"/>
            <a:ext cx="2971800" cy="45720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b">
            <a:noAutofit/>
          </a:bodyPr>
          <a:p>
            <a:pPr indent="0" algn="l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it-IT" sz="18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14" name="PlaceHolder 6"/>
          <p:cNvSpPr>
            <a:spLocks noGrp="1"/>
          </p:cNvSpPr>
          <p:nvPr>
            <p:ph type="sldNum" idx="5"/>
          </p:nvPr>
        </p:nvSpPr>
        <p:spPr>
          <a:xfrm>
            <a:off x="3885840" y="8686800"/>
            <a:ext cx="2971800" cy="45720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b">
            <a:noAutofit/>
          </a:bodyPr>
          <a:lstStyle>
            <a:lvl1pPr indent="0" algn="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Comic Sans MS"/>
              </a:defRPr>
            </a:lvl1pPr>
          </a:lstStyle>
          <a:p>
            <a:pPr indent="0" algn="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F53FC9EA-8A8A-4AC9-A50F-5396DF3821F0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&lt;number&gt;</a:t>
            </a:fld>
            <a:endParaRPr lang="it-IT" sz="12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_rels/notesSlide13.xml.rels><?xml version="1.0" encoding="UTF-8"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
</Relationships>
</file>

<file path=ppt/notesSlides/_rels/notesSlide14.xml.rels><?xml version="1.0" encoding="UTF-8"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
</Relationships>
</file>

<file path=ppt/notesSlides/_rels/notesSlide15.xml.rels><?xml version="1.0" encoding="UTF-8"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
</Relationships>
</file>

<file path=ppt/notesSlides/_rels/notesSlide16.xml.rels><?xml version="1.0" encoding="UTF-8"?>
<Relationships xmlns="http://schemas.openxmlformats.org/package/2006/relationships"><Relationship Id="rId1" Type="http://schemas.openxmlformats.org/officeDocument/2006/relationships/slide" Target="../slides/slide16.xml"/><Relationship Id="rId2" Type="http://schemas.openxmlformats.org/officeDocument/2006/relationships/notesMaster" Target="../notesMasters/notesMaster1.xml"/>
</Relationships>
</file>

<file path=ppt/notesSlides/_rels/notesSlide17.xml.rels><?xml version="1.0" encoding="UTF-8"?>
<Relationships xmlns="http://schemas.openxmlformats.org/package/2006/relationships"><Relationship Id="rId1" Type="http://schemas.openxmlformats.org/officeDocument/2006/relationships/slide" Target="../slides/slide17.xml"/><Relationship Id="rId2" Type="http://schemas.openxmlformats.org/officeDocument/2006/relationships/notesMaster" Target="../notesMasters/notesMaster1.xml"/>
</Relationships>
</file>

<file path=ppt/notesSlides/_rels/notesSlide18.xml.rels><?xml version="1.0" encoding="UTF-8"?>
<Relationships xmlns="http://schemas.openxmlformats.org/package/2006/relationships"><Relationship Id="rId1" Type="http://schemas.openxmlformats.org/officeDocument/2006/relationships/slide" Target="../slides/slide18.xml"/><Relationship Id="rId2" Type="http://schemas.openxmlformats.org/officeDocument/2006/relationships/notesMaster" Target="../notesMasters/notesMaster1.xml"/>
</Relationships>
</file>

<file path=ppt/notesSlides/_rels/notesSlide19.xml.rels><?xml version="1.0" encoding="UTF-8"?>
<Relationships xmlns="http://schemas.openxmlformats.org/package/2006/relationships"><Relationship Id="rId1" Type="http://schemas.openxmlformats.org/officeDocument/2006/relationships/slide" Target="../slides/slide19.xml"/><Relationship Id="rId2" Type="http://schemas.openxmlformats.org/officeDocument/2006/relationships/notesMaster" Target="../notesMasters/notesMaster1.xml"/>
</Relationships>
</file>

<file path=ppt/notesSlides/_rels/notesSlide20.xml.rels><?xml version="1.0" encoding="UTF-8"?>
<Relationships xmlns="http://schemas.openxmlformats.org/package/2006/relationships"><Relationship Id="rId1" Type="http://schemas.openxmlformats.org/officeDocument/2006/relationships/slide" Target="../slides/slide20.xml"/><Relationship Id="rId2" Type="http://schemas.openxmlformats.org/officeDocument/2006/relationships/notesMaster" Target="../notesMasters/notesMaster1.xml"/>
</Relationships>
</file>

<file path=ppt/notesSlides/_rels/notesSlide21.xml.rels><?xml version="1.0" encoding="UTF-8"?>
<Relationships xmlns="http://schemas.openxmlformats.org/package/2006/relationships"><Relationship Id="rId1" Type="http://schemas.openxmlformats.org/officeDocument/2006/relationships/slide" Target="../slides/slide21.xml"/><Relationship Id="rId2" Type="http://schemas.openxmlformats.org/officeDocument/2006/relationships/notesMaster" Target="../notesMasters/notesMaster1.xml"/>
</Relationships>
</file>

<file path=ppt/notesSlides/_rels/notesSlide22.xml.rels><?xml version="1.0" encoding="UTF-8"?>
<Relationships xmlns="http://schemas.openxmlformats.org/package/2006/relationships"><Relationship Id="rId1" Type="http://schemas.openxmlformats.org/officeDocument/2006/relationships/slide" Target="../slides/slide22.xml"/><Relationship Id="rId2" Type="http://schemas.openxmlformats.org/officeDocument/2006/relationships/notesMaster" Target="../notesMasters/notesMaster1.xml"/>
</Relationships>
</file>

<file path=ppt/notesSlides/_rels/notesSlide23.xml.rels><?xml version="1.0" encoding="UTF-8"?>
<Relationships xmlns="http://schemas.openxmlformats.org/package/2006/relationships"><Relationship Id="rId1" Type="http://schemas.openxmlformats.org/officeDocument/2006/relationships/slide" Target="../slides/slide23.xml"/><Relationship Id="rId2" Type="http://schemas.openxmlformats.org/officeDocument/2006/relationships/notesMaster" Target="../notesMasters/notesMaster1.xml"/>
</Relationships>
</file>

<file path=ppt/notesSlides/_rels/notesSlide24.xml.rels><?xml version="1.0" encoding="UTF-8"?>
<Relationships xmlns="http://schemas.openxmlformats.org/package/2006/relationships"><Relationship Id="rId1" Type="http://schemas.openxmlformats.org/officeDocument/2006/relationships/slide" Target="../slides/slide24.xml"/><Relationship Id="rId2" Type="http://schemas.openxmlformats.org/officeDocument/2006/relationships/notesMaster" Target="../notesMasters/notesMaster1.xml"/>
</Relationships>
</file>

<file path=ppt/notesSlides/_rels/notesSlide25.xml.rels><?xml version="1.0" encoding="UTF-8"?>
<Relationships xmlns="http://schemas.openxmlformats.org/package/2006/relationships"><Relationship Id="rId1" Type="http://schemas.openxmlformats.org/officeDocument/2006/relationships/slide" Target="../slides/slide25.xml"/><Relationship Id="rId2" Type="http://schemas.openxmlformats.org/officeDocument/2006/relationships/notesMaster" Target="../notesMasters/notesMaster1.xml"/>
</Relationships>
</file>

<file path=ppt/notesSlides/_rels/notesSlide26.xml.rels><?xml version="1.0" encoding="UTF-8"?>
<Relationships xmlns="http://schemas.openxmlformats.org/package/2006/relationships"><Relationship Id="rId1" Type="http://schemas.openxmlformats.org/officeDocument/2006/relationships/slide" Target="../slides/slide26.xml"/><Relationship Id="rId2" Type="http://schemas.openxmlformats.org/officeDocument/2006/relationships/notesMaster" Target="../notesMasters/notesMaster1.xml"/>
</Relationships>
</file>

<file path=ppt/notesSlides/_rels/notesSlide27.xml.rels><?xml version="1.0" encoding="UTF-8"?>
<Relationships xmlns="http://schemas.openxmlformats.org/package/2006/relationships"><Relationship Id="rId1" Type="http://schemas.openxmlformats.org/officeDocument/2006/relationships/slide" Target="../slides/slide27.xml"/><Relationship Id="rId2" Type="http://schemas.openxmlformats.org/officeDocument/2006/relationships/notesMaster" Target="../notesMasters/notesMaster1.xml"/>
</Relationships>
</file>

<file path=ppt/notesSlides/_rels/notesSlide28.xml.rels><?xml version="1.0" encoding="UTF-8"?>
<Relationships xmlns="http://schemas.openxmlformats.org/package/2006/relationships"><Relationship Id="rId1" Type="http://schemas.openxmlformats.org/officeDocument/2006/relationships/slide" Target="../slides/slide28.xml"/><Relationship Id="rId2" Type="http://schemas.openxmlformats.org/officeDocument/2006/relationships/notesMaster" Target="../notesMasters/notesMaster1.xml"/>
</Relationships>
</file>

<file path=ppt/notesSlides/_rels/notesSlide29.xml.rels><?xml version="1.0" encoding="UTF-8"?>
<Relationships xmlns="http://schemas.openxmlformats.org/package/2006/relationships"><Relationship Id="rId1" Type="http://schemas.openxmlformats.org/officeDocument/2006/relationships/slide" Target="../slides/slide29.xml"/><Relationship Id="rId2" Type="http://schemas.openxmlformats.org/officeDocument/2006/relationships/notesMaster" Target="../notesMasters/notesMaster1.xml"/>
</Relationships>
</file>

<file path=ppt/notesSlides/_rels/notesSlide30.xml.rels><?xml version="1.0" encoding="UTF-8"?>
<Relationships xmlns="http://schemas.openxmlformats.org/package/2006/relationships"><Relationship Id="rId1" Type="http://schemas.openxmlformats.org/officeDocument/2006/relationships/slide" Target="../slides/slide30.xml"/><Relationship Id="rId2" Type="http://schemas.openxmlformats.org/officeDocument/2006/relationships/notesMaster" Target="../notesMasters/notesMaster1.xml"/>
</Relationships>
</file>

<file path=ppt/notesSlides/_rels/notesSlide32.xml.rels><?xml version="1.0" encoding="UTF-8"?>
<Relationships xmlns="http://schemas.openxmlformats.org/package/2006/relationships"><Relationship Id="rId1" Type="http://schemas.openxmlformats.org/officeDocument/2006/relationships/slide" Target="../slides/slide32.xml"/><Relationship Id="rId2" Type="http://schemas.openxmlformats.org/officeDocument/2006/relationships/notesMaster" Target="../notesMasters/notesMaster1.xml"/>
</Relationships>
</file>

<file path=ppt/notesSlides/_rels/notesSlide33.xml.rels><?xml version="1.0" encoding="UTF-8"?>
<Relationships xmlns="http://schemas.openxmlformats.org/package/2006/relationships"><Relationship Id="rId1" Type="http://schemas.openxmlformats.org/officeDocument/2006/relationships/slide" Target="../slides/slide33.xml"/><Relationship Id="rId2" Type="http://schemas.openxmlformats.org/officeDocument/2006/relationships/notesMaster" Target="../notesMasters/notesMaster1.xml"/>
</Relationships>
</file>

<file path=ppt/notesSlides/_rels/notesSlide35.xml.rels><?xml version="1.0" encoding="UTF-8"?>
<Relationships xmlns="http://schemas.openxmlformats.org/package/2006/relationships"><Relationship Id="rId1" Type="http://schemas.openxmlformats.org/officeDocument/2006/relationships/slide" Target="../slides/slide35.xml"/><Relationship Id="rId2" Type="http://schemas.openxmlformats.org/officeDocument/2006/relationships/notesMaster" Target="../notesMasters/notesMaster1.xml"/>
</Relationships>
</file>

<file path=ppt/notesSlides/_rels/notesSlide36.xml.rels><?xml version="1.0" encoding="UTF-8"?>
<Relationships xmlns="http://schemas.openxmlformats.org/package/2006/relationships"><Relationship Id="rId1" Type="http://schemas.openxmlformats.org/officeDocument/2006/relationships/slide" Target="../slides/slide36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9" name="Rectangle 7"/>
          <p:cNvSpPr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b">
            <a:noAutofit/>
          </a:bodyPr>
          <a:p>
            <a:pPr algn="r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297E1E3E-B3AB-4D1E-B8D1-A45D41AF311A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&lt;number&gt;</a:t>
            </a:fld>
            <a:endParaRPr lang="it-IT" sz="12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1110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ln w="0">
            <a:noFill/>
          </a:ln>
        </p:spPr>
      </p:sp>
      <p:sp>
        <p:nvSpPr>
          <p:cNvPr id="1111" name="PlaceHolder 2"/>
          <p:cNvSpPr>
            <a:spLocks noGrp="1"/>
          </p:cNvSpPr>
          <p:nvPr>
            <p:ph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spcBef>
                <a:spcPts val="451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GB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2" name="Rectangle 7"/>
          <p:cNvSpPr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b">
            <a:noAutofit/>
          </a:bodyPr>
          <a:p>
            <a:pPr algn="r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D081BE51-B26F-4C4E-AB89-C030DD648E61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&lt;number&gt;</a:t>
            </a:fld>
            <a:endParaRPr lang="it-IT" sz="12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1113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ln w="0">
            <a:noFill/>
          </a:ln>
        </p:spPr>
      </p:sp>
      <p:sp>
        <p:nvSpPr>
          <p:cNvPr id="1114" name="PlaceHolder 2"/>
          <p:cNvSpPr>
            <a:spLocks noGrp="1"/>
          </p:cNvSpPr>
          <p:nvPr>
            <p:ph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/>
          </a:ln>
        </p:spPr>
        <p:txBody>
          <a:bodyPr lIns="4680" tIns="4680" rIns="4680" bIns="4680" anchor="t">
            <a:noAutofit/>
          </a:bodyPr>
          <a:p>
            <a:pPr indent="0" algn="l">
              <a:spcBef>
                <a:spcPts val="451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GB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5" name="Rectangle 7"/>
          <p:cNvSpPr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b">
            <a:noAutofit/>
          </a:bodyPr>
          <a:p>
            <a:pPr algn="r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48EDB3AE-96C8-4527-87CC-3D5E420F37A1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&lt;number&gt;</a:t>
            </a:fld>
            <a:endParaRPr lang="it-IT" sz="12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1116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ln w="0">
            <a:noFill/>
          </a:ln>
        </p:spPr>
      </p:sp>
      <p:sp>
        <p:nvSpPr>
          <p:cNvPr id="1117" name="PlaceHolder 2"/>
          <p:cNvSpPr>
            <a:spLocks noGrp="1"/>
          </p:cNvSpPr>
          <p:nvPr>
            <p:ph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/>
          </a:ln>
        </p:spPr>
        <p:txBody>
          <a:bodyPr lIns="4680" tIns="4680" rIns="4680" bIns="4680" anchor="t">
            <a:noAutofit/>
          </a:bodyPr>
          <a:p>
            <a:pPr indent="0" algn="l">
              <a:spcBef>
                <a:spcPts val="451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GB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8" name="Rectangle 7"/>
          <p:cNvSpPr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b">
            <a:noAutofit/>
          </a:bodyPr>
          <a:p>
            <a:pPr algn="r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39333C7F-FA15-4DDF-9BA5-476CADE1558E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&lt;number&gt;</a:t>
            </a:fld>
            <a:endParaRPr lang="it-IT" sz="12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1119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ln w="0">
            <a:noFill/>
          </a:ln>
        </p:spPr>
      </p:sp>
      <p:sp>
        <p:nvSpPr>
          <p:cNvPr id="1120" name="PlaceHolder 2"/>
          <p:cNvSpPr>
            <a:spLocks noGrp="1"/>
          </p:cNvSpPr>
          <p:nvPr>
            <p:ph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/>
          </a:ln>
        </p:spPr>
        <p:txBody>
          <a:bodyPr lIns="4680" tIns="4680" rIns="4680" bIns="4680" anchor="t">
            <a:noAutofit/>
          </a:bodyPr>
          <a:p>
            <a:pPr indent="0" algn="l">
              <a:spcBef>
                <a:spcPts val="451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GB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1" name="Rectangle 7"/>
          <p:cNvSpPr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b">
            <a:noAutofit/>
          </a:bodyPr>
          <a:p>
            <a:pPr algn="r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D4A6CB71-5D07-4C99-8C65-E91414DF9181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&lt;number&gt;</a:t>
            </a:fld>
            <a:endParaRPr lang="it-IT" sz="12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1122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ln w="0">
            <a:noFill/>
          </a:ln>
        </p:spPr>
      </p:sp>
      <p:sp>
        <p:nvSpPr>
          <p:cNvPr id="1123" name="PlaceHolder 2"/>
          <p:cNvSpPr>
            <a:spLocks noGrp="1"/>
          </p:cNvSpPr>
          <p:nvPr>
            <p:ph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/>
          </a:ln>
        </p:spPr>
        <p:txBody>
          <a:bodyPr lIns="4680" tIns="4680" rIns="4680" bIns="4680" anchor="t">
            <a:noAutofit/>
          </a:bodyPr>
          <a:p>
            <a:pPr indent="0" algn="l">
              <a:spcBef>
                <a:spcPts val="451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GB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4" name="Rectangle 7"/>
          <p:cNvSpPr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b">
            <a:noAutofit/>
          </a:bodyPr>
          <a:p>
            <a:pPr algn="r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9D5F935A-AA13-4879-8E7A-676F9352705E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&lt;number&gt;</a:t>
            </a:fld>
            <a:endParaRPr lang="it-IT" sz="12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1125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ln w="0">
            <a:noFill/>
          </a:ln>
        </p:spPr>
      </p:sp>
      <p:sp>
        <p:nvSpPr>
          <p:cNvPr id="1126" name="PlaceHolder 2"/>
          <p:cNvSpPr>
            <a:spLocks noGrp="1"/>
          </p:cNvSpPr>
          <p:nvPr>
            <p:ph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/>
          </a:ln>
        </p:spPr>
        <p:txBody>
          <a:bodyPr lIns="91440" tIns="45720" rIns="91440" bIns="45720" anchor="t">
            <a:noAutofit/>
          </a:bodyPr>
          <a:p>
            <a:pPr indent="0" algn="l">
              <a:spcBef>
                <a:spcPts val="451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Digress for a moment on the meaning of “optimistic”</a:t>
            </a:r>
            <a:endParaRPr lang="it-IT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spcBef>
                <a:spcPts val="451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Optimistic, in this case, means the assumption that would lead to the smallest DFA</a:t>
            </a:r>
            <a:endParaRPr lang="it-IT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spcBef>
                <a:spcPts val="451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— that is, grouping together as many states as possible.  </a:t>
            </a:r>
            <a:endParaRPr lang="it-IT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spcBef>
                <a:spcPts val="451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The algoriithm assumes, optimistically, that is has final and non-final states and then refines that partition — splits sets so that each set holds a smaller number of states— based on the principle that the set must have a single transition on each letter alpha in the alphabet.  This latter point is equivalent to saying the minimal DFA must be a DFA!</a:t>
            </a:r>
            <a:endParaRPr lang="it-IT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7" name="Rectangle 7"/>
          <p:cNvSpPr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b">
            <a:noAutofit/>
          </a:bodyPr>
          <a:p>
            <a:pPr algn="r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E642786C-9FFC-40F6-892C-1263AD0E9EFB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&lt;number&gt;</a:t>
            </a:fld>
            <a:endParaRPr lang="it-IT" sz="12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1128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ln w="0">
            <a:noFill/>
          </a:ln>
        </p:spPr>
      </p:sp>
      <p:sp>
        <p:nvSpPr>
          <p:cNvPr id="1129" name="PlaceHolder 2"/>
          <p:cNvSpPr>
            <a:spLocks noGrp="1"/>
          </p:cNvSpPr>
          <p:nvPr>
            <p:ph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/>
          </a:ln>
        </p:spPr>
        <p:txBody>
          <a:bodyPr lIns="4680" tIns="4680" rIns="4680" bIns="4680" anchor="t">
            <a:noAutofit/>
          </a:bodyPr>
          <a:p>
            <a:pPr indent="0" algn="l">
              <a:spcBef>
                <a:spcPts val="451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GB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0" name="Rectangle 7"/>
          <p:cNvSpPr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b">
            <a:noAutofit/>
          </a:bodyPr>
          <a:p>
            <a:pPr algn="r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799FB581-8A5D-406A-84FB-E6220154CC96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&lt;number&gt;</a:t>
            </a:fld>
            <a:endParaRPr lang="it-IT" sz="12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1131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ln w="0">
            <a:noFill/>
          </a:ln>
        </p:spPr>
      </p:sp>
      <p:sp>
        <p:nvSpPr>
          <p:cNvPr id="1132" name="PlaceHolder 2"/>
          <p:cNvSpPr>
            <a:spLocks noGrp="1"/>
          </p:cNvSpPr>
          <p:nvPr>
            <p:ph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/>
          </a:ln>
        </p:spPr>
        <p:txBody>
          <a:bodyPr lIns="4680" tIns="4680" rIns="4680" bIns="4680" anchor="t">
            <a:noAutofit/>
          </a:bodyPr>
          <a:p>
            <a:pPr indent="0" algn="l">
              <a:spcBef>
                <a:spcPts val="451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GB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3" name="Rectangle 7"/>
          <p:cNvSpPr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b">
            <a:noAutofit/>
          </a:bodyPr>
          <a:p>
            <a:pPr algn="r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67234B93-E722-4ED7-8428-4CEA7A8D5DC7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&lt;number&gt;</a:t>
            </a:fld>
            <a:endParaRPr lang="it-IT" sz="12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1134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ln w="0">
            <a:noFill/>
          </a:ln>
        </p:spPr>
      </p:sp>
      <p:sp>
        <p:nvSpPr>
          <p:cNvPr id="1135" name="PlaceHolder 2"/>
          <p:cNvSpPr>
            <a:spLocks noGrp="1"/>
          </p:cNvSpPr>
          <p:nvPr>
            <p:ph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/>
          </a:ln>
        </p:spPr>
        <p:txBody>
          <a:bodyPr lIns="4680" tIns="4680" rIns="4680" bIns="4680" anchor="t">
            <a:noAutofit/>
          </a:bodyPr>
          <a:p>
            <a:pPr indent="0" algn="l">
              <a:spcBef>
                <a:spcPts val="451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GB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" name="Rectangle 7"/>
          <p:cNvSpPr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b">
            <a:noAutofit/>
          </a:bodyPr>
          <a:p>
            <a:pPr algn="r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7796A303-8E0B-419D-8E43-014B9A9C1D61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&lt;number&gt;</a:t>
            </a:fld>
            <a:endParaRPr lang="it-IT" sz="12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1137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ln w="0">
            <a:noFill/>
          </a:ln>
        </p:spPr>
      </p:sp>
      <p:sp>
        <p:nvSpPr>
          <p:cNvPr id="1138" name="PlaceHolder 2"/>
          <p:cNvSpPr>
            <a:spLocks noGrp="1"/>
          </p:cNvSpPr>
          <p:nvPr>
            <p:ph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/>
          </a:ln>
        </p:spPr>
        <p:txBody>
          <a:bodyPr lIns="4680" tIns="4680" rIns="4680" bIns="4680" anchor="t">
            <a:noAutofit/>
          </a:bodyPr>
          <a:p>
            <a:pPr indent="0" algn="l">
              <a:spcBef>
                <a:spcPts val="451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GB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9" name="Rectangle 7"/>
          <p:cNvSpPr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b">
            <a:noAutofit/>
          </a:bodyPr>
          <a:p>
            <a:pPr algn="r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084DAF19-0D15-46D6-A658-4BC5FFED5261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&lt;number&gt;</a:t>
            </a:fld>
            <a:endParaRPr lang="it-IT" sz="12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1140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ln w="0">
            <a:noFill/>
          </a:ln>
        </p:spPr>
      </p:sp>
      <p:sp>
        <p:nvSpPr>
          <p:cNvPr id="1141" name="PlaceHolder 2"/>
          <p:cNvSpPr>
            <a:spLocks noGrp="1"/>
          </p:cNvSpPr>
          <p:nvPr>
            <p:ph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/>
          </a:ln>
        </p:spPr>
        <p:txBody>
          <a:bodyPr lIns="4680" tIns="4680" rIns="4680" bIns="4680" anchor="t">
            <a:noAutofit/>
          </a:bodyPr>
          <a:p>
            <a:pPr indent="0" algn="l">
              <a:spcBef>
                <a:spcPts val="451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GB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2" name="Rectangle 7"/>
          <p:cNvSpPr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b">
            <a:noAutofit/>
          </a:bodyPr>
          <a:p>
            <a:pPr algn="r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0CFDEACF-617A-4153-B846-1DD7564BD3B1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&lt;number&gt;</a:t>
            </a:fld>
            <a:endParaRPr lang="it-IT" sz="12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1143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ln w="0">
            <a:noFill/>
          </a:ln>
        </p:spPr>
      </p:sp>
      <p:sp>
        <p:nvSpPr>
          <p:cNvPr id="1144" name="PlaceHolder 2"/>
          <p:cNvSpPr>
            <a:spLocks noGrp="1"/>
          </p:cNvSpPr>
          <p:nvPr>
            <p:ph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/>
          </a:ln>
        </p:spPr>
        <p:txBody>
          <a:bodyPr lIns="4680" tIns="4680" rIns="4680" bIns="4680" anchor="t">
            <a:noAutofit/>
          </a:bodyPr>
          <a:p>
            <a:pPr indent="0" algn="l">
              <a:spcBef>
                <a:spcPts val="451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GB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5" name="Rectangle 7"/>
          <p:cNvSpPr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b">
            <a:noAutofit/>
          </a:bodyPr>
          <a:p>
            <a:pPr algn="r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95B5D485-597D-4B80-A347-8DF38F0FC0C9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&lt;number&gt;</a:t>
            </a:fld>
            <a:endParaRPr lang="it-IT" sz="12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1146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ln w="0">
            <a:noFill/>
          </a:ln>
        </p:spPr>
      </p:sp>
      <p:sp>
        <p:nvSpPr>
          <p:cNvPr id="1147" name="PlaceHolder 2"/>
          <p:cNvSpPr>
            <a:spLocks noGrp="1"/>
          </p:cNvSpPr>
          <p:nvPr>
            <p:ph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/>
          </a:ln>
        </p:spPr>
        <p:txBody>
          <a:bodyPr lIns="4680" tIns="4680" rIns="4680" bIns="4680" anchor="t">
            <a:noAutofit/>
          </a:bodyPr>
          <a:p>
            <a:pPr indent="0" algn="l">
              <a:spcBef>
                <a:spcPts val="451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GB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8" name="Rectangle 7"/>
          <p:cNvSpPr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b">
            <a:noAutofit/>
          </a:bodyPr>
          <a:p>
            <a:pPr algn="r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E0EC3EBE-78A3-4F76-A5B9-F7D5387572C0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&lt;number&gt;</a:t>
            </a:fld>
            <a:endParaRPr lang="it-IT" sz="12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1149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ln w="0">
            <a:noFill/>
          </a:ln>
        </p:spPr>
      </p:sp>
      <p:sp>
        <p:nvSpPr>
          <p:cNvPr id="1150" name="PlaceHolder 2"/>
          <p:cNvSpPr>
            <a:spLocks noGrp="1"/>
          </p:cNvSpPr>
          <p:nvPr>
            <p:ph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/>
          </a:ln>
        </p:spPr>
        <p:txBody>
          <a:bodyPr lIns="4680" tIns="4680" rIns="4680" bIns="4680" anchor="t">
            <a:noAutofit/>
          </a:bodyPr>
          <a:p>
            <a:pPr indent="0" algn="l">
              <a:spcBef>
                <a:spcPts val="451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GB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1" name="Rectangle 7"/>
          <p:cNvSpPr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b">
            <a:noAutofit/>
          </a:bodyPr>
          <a:p>
            <a:pPr algn="r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23C13DFC-659A-4046-9F49-503BD23B3E06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&lt;number&gt;</a:t>
            </a:fld>
            <a:endParaRPr lang="it-IT" sz="12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1152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ln w="0">
            <a:noFill/>
          </a:ln>
        </p:spPr>
      </p:sp>
      <p:sp>
        <p:nvSpPr>
          <p:cNvPr id="1153" name="PlaceHolder 2"/>
          <p:cNvSpPr>
            <a:spLocks noGrp="1"/>
          </p:cNvSpPr>
          <p:nvPr>
            <p:ph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/>
          </a:ln>
        </p:spPr>
        <p:txBody>
          <a:bodyPr lIns="4680" tIns="4680" rIns="4680" bIns="4680" anchor="t">
            <a:noAutofit/>
          </a:bodyPr>
          <a:p>
            <a:pPr indent="0" algn="l">
              <a:spcBef>
                <a:spcPts val="451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GB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4" name="Rectangle 7"/>
          <p:cNvSpPr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b">
            <a:noAutofit/>
          </a:bodyPr>
          <a:p>
            <a:pPr algn="r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2F6C2DE3-86B5-41A3-839F-9DE4B8D82B38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&lt;number&gt;</a:t>
            </a:fld>
            <a:endParaRPr lang="it-IT" sz="12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1155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ln w="0">
            <a:noFill/>
          </a:ln>
        </p:spPr>
      </p:sp>
      <p:sp>
        <p:nvSpPr>
          <p:cNvPr id="1156" name="PlaceHolder 2"/>
          <p:cNvSpPr>
            <a:spLocks noGrp="1"/>
          </p:cNvSpPr>
          <p:nvPr>
            <p:ph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/>
          </a:ln>
        </p:spPr>
        <p:txBody>
          <a:bodyPr lIns="4680" tIns="4680" rIns="4680" bIns="4680" anchor="t">
            <a:noAutofit/>
          </a:bodyPr>
          <a:p>
            <a:pPr indent="0" algn="l">
              <a:spcBef>
                <a:spcPts val="451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GB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" name="Rectangle 7"/>
          <p:cNvSpPr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b">
            <a:noAutofit/>
          </a:bodyPr>
          <a:p>
            <a:pPr algn="r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49B7DB98-8DE7-459F-9626-634BE7675805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&lt;number&gt;</a:t>
            </a:fld>
            <a:endParaRPr lang="it-IT" sz="12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1158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ln w="0">
            <a:noFill/>
          </a:ln>
        </p:spPr>
      </p:sp>
      <p:sp>
        <p:nvSpPr>
          <p:cNvPr id="1159" name="PlaceHolder 2"/>
          <p:cNvSpPr>
            <a:spLocks noGrp="1"/>
          </p:cNvSpPr>
          <p:nvPr>
            <p:ph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/>
          </a:ln>
        </p:spPr>
        <p:txBody>
          <a:bodyPr lIns="4680" tIns="4680" rIns="4680" bIns="4680" anchor="t">
            <a:noAutofit/>
          </a:bodyPr>
          <a:p>
            <a:pPr indent="0" algn="l">
              <a:spcBef>
                <a:spcPts val="451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GB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0" name="Rectangle 7"/>
          <p:cNvSpPr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b">
            <a:noAutofit/>
          </a:bodyPr>
          <a:p>
            <a:pPr algn="r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3006CA55-C681-43E5-9326-7E2F27B9D979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&lt;number&gt;</a:t>
            </a:fld>
            <a:endParaRPr lang="it-IT" sz="12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1161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ln w="0">
            <a:noFill/>
          </a:ln>
        </p:spPr>
      </p:sp>
      <p:sp>
        <p:nvSpPr>
          <p:cNvPr id="1162" name="PlaceHolder 2"/>
          <p:cNvSpPr>
            <a:spLocks noGrp="1"/>
          </p:cNvSpPr>
          <p:nvPr>
            <p:ph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/>
          </a:ln>
        </p:spPr>
        <p:txBody>
          <a:bodyPr lIns="4680" tIns="4680" rIns="4680" bIns="4680" anchor="t">
            <a:noAutofit/>
          </a:bodyPr>
          <a:p>
            <a:pPr indent="0" algn="l">
              <a:spcBef>
                <a:spcPts val="451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GB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3" name="Rectangle 7"/>
          <p:cNvSpPr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b">
            <a:noAutofit/>
          </a:bodyPr>
          <a:p>
            <a:pPr algn="r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D79E1A58-FBAC-41AF-9895-F6224C87500C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&lt;number&gt;</a:t>
            </a:fld>
            <a:endParaRPr lang="it-IT" sz="12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1164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ln w="0">
            <a:noFill/>
          </a:ln>
        </p:spPr>
      </p:sp>
      <p:sp>
        <p:nvSpPr>
          <p:cNvPr id="1165" name="PlaceHolder 2"/>
          <p:cNvSpPr>
            <a:spLocks noGrp="1"/>
          </p:cNvSpPr>
          <p:nvPr>
            <p:ph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/>
          </a:ln>
        </p:spPr>
        <p:txBody>
          <a:bodyPr lIns="4680" tIns="4680" rIns="4680" bIns="4680" anchor="t">
            <a:noAutofit/>
          </a:bodyPr>
          <a:p>
            <a:pPr indent="0" algn="l">
              <a:spcBef>
                <a:spcPts val="451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GB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6" name="Rectangle 7"/>
          <p:cNvSpPr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b">
            <a:noAutofit/>
          </a:bodyPr>
          <a:p>
            <a:pPr algn="r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EDB32B54-68A7-498F-860A-4E2B97483C9A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&lt;number&gt;</a:t>
            </a:fld>
            <a:endParaRPr lang="it-IT" sz="12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1167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ln w="0">
            <a:noFill/>
          </a:ln>
        </p:spPr>
      </p:sp>
      <p:sp>
        <p:nvSpPr>
          <p:cNvPr id="1168" name="PlaceHolder 2"/>
          <p:cNvSpPr>
            <a:spLocks noGrp="1"/>
          </p:cNvSpPr>
          <p:nvPr>
            <p:ph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/>
          </a:ln>
        </p:spPr>
        <p:txBody>
          <a:bodyPr lIns="4680" tIns="4680" rIns="4680" bIns="4680" anchor="t">
            <a:noAutofit/>
          </a:bodyPr>
          <a:p>
            <a:pPr indent="0" algn="l">
              <a:spcBef>
                <a:spcPts val="451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GB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9" name="Rectangle 7"/>
          <p:cNvSpPr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b">
            <a:noAutofit/>
          </a:bodyPr>
          <a:p>
            <a:pPr algn="r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2EABE66E-AEE3-4742-95D8-E6C288177A85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&lt;number&gt;</a:t>
            </a:fld>
            <a:endParaRPr lang="it-IT" sz="12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1170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ln w="0">
            <a:noFill/>
          </a:ln>
        </p:spPr>
      </p:sp>
      <p:sp>
        <p:nvSpPr>
          <p:cNvPr id="1171" name="PlaceHolder 2"/>
          <p:cNvSpPr>
            <a:spLocks noGrp="1"/>
          </p:cNvSpPr>
          <p:nvPr>
            <p:ph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/>
          </a:ln>
        </p:spPr>
        <p:txBody>
          <a:bodyPr lIns="4680" tIns="4680" rIns="4680" bIns="4680" anchor="t">
            <a:noAutofit/>
          </a:bodyPr>
          <a:p>
            <a:pPr indent="0" algn="l">
              <a:spcBef>
                <a:spcPts val="451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GB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2" name="Rectangle 7"/>
          <p:cNvSpPr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b">
            <a:noAutofit/>
          </a:bodyPr>
          <a:p>
            <a:pPr algn="r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676EB71B-ACD4-43F1-A508-FA9C8BC11A58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&lt;number&gt;</a:t>
            </a:fld>
            <a:endParaRPr lang="it-IT" sz="12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1173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ln w="0">
            <a:noFill/>
          </a:ln>
        </p:spPr>
      </p:sp>
      <p:sp>
        <p:nvSpPr>
          <p:cNvPr id="1174" name="PlaceHolder 2"/>
          <p:cNvSpPr>
            <a:spLocks noGrp="1"/>
          </p:cNvSpPr>
          <p:nvPr>
            <p:ph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/>
          </a:ln>
        </p:spPr>
        <p:txBody>
          <a:bodyPr lIns="4680" tIns="4680" rIns="4680" bIns="4680" anchor="t">
            <a:noAutofit/>
          </a:bodyPr>
          <a:p>
            <a:pPr indent="0" algn="l">
              <a:spcBef>
                <a:spcPts val="451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GB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5" name="Rectangle 7"/>
          <p:cNvSpPr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b">
            <a:noAutofit/>
          </a:bodyPr>
          <a:p>
            <a:pPr algn="r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BEBE2B92-CAB3-40B1-B2A1-2432F662BDBD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&lt;number&gt;</a:t>
            </a:fld>
            <a:endParaRPr lang="it-IT" sz="12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1176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ln w="0">
            <a:noFill/>
          </a:ln>
        </p:spPr>
      </p:sp>
      <p:sp>
        <p:nvSpPr>
          <p:cNvPr id="1177" name="PlaceHolder 2"/>
          <p:cNvSpPr>
            <a:spLocks noGrp="1"/>
          </p:cNvSpPr>
          <p:nvPr>
            <p:ph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/>
          </a:ln>
        </p:spPr>
        <p:txBody>
          <a:bodyPr lIns="4680" tIns="4680" rIns="4680" bIns="4680" anchor="t">
            <a:noAutofit/>
          </a:bodyPr>
          <a:p>
            <a:pPr indent="0" algn="l">
              <a:spcBef>
                <a:spcPts val="451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GB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8" name="Rectangle 7"/>
          <p:cNvSpPr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b">
            <a:noAutofit/>
          </a:bodyPr>
          <a:p>
            <a:pPr algn="r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C23F5072-5CFC-4416-8FCA-815F3025EFCE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&lt;number&gt;</a:t>
            </a:fld>
            <a:endParaRPr lang="it-IT" sz="12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1179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ln w="0">
            <a:noFill/>
          </a:ln>
        </p:spPr>
      </p:sp>
      <p:sp>
        <p:nvSpPr>
          <p:cNvPr id="1180" name="PlaceHolder 2"/>
          <p:cNvSpPr>
            <a:spLocks noGrp="1"/>
          </p:cNvSpPr>
          <p:nvPr>
            <p:ph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/>
          </a:ln>
        </p:spPr>
        <p:txBody>
          <a:bodyPr lIns="4680" tIns="4680" rIns="4680" bIns="4680" anchor="t">
            <a:noAutofit/>
          </a:bodyPr>
          <a:p>
            <a:pPr indent="0" algn="l">
              <a:spcBef>
                <a:spcPts val="451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GB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1" name="Rectangle 7"/>
          <p:cNvSpPr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b">
            <a:noAutofit/>
          </a:bodyPr>
          <a:p>
            <a:pPr algn="r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E799DFDB-30D9-4E82-A256-F2B73AEAA6B4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&lt;number&gt;</a:t>
            </a:fld>
            <a:endParaRPr lang="it-IT" sz="12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1182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ln w="0">
            <a:noFill/>
          </a:ln>
        </p:spPr>
      </p:sp>
      <p:sp>
        <p:nvSpPr>
          <p:cNvPr id="1183" name="PlaceHolder 2"/>
          <p:cNvSpPr>
            <a:spLocks noGrp="1"/>
          </p:cNvSpPr>
          <p:nvPr>
            <p:ph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/>
          </a:ln>
        </p:spPr>
        <p:txBody>
          <a:bodyPr lIns="4680" tIns="4680" rIns="4680" bIns="4680" anchor="t">
            <a:noAutofit/>
          </a:bodyPr>
          <a:p>
            <a:pPr indent="0" algn="l">
              <a:spcBef>
                <a:spcPts val="451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GB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4" name="Rectangle 7"/>
          <p:cNvSpPr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b">
            <a:noAutofit/>
          </a:bodyPr>
          <a:p>
            <a:pPr algn="r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D671DCD9-B1D3-4C0D-B7FA-A9610C4AD149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&lt;number&gt;</a:t>
            </a:fld>
            <a:endParaRPr lang="it-IT" sz="12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1185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ln w="0">
            <a:noFill/>
          </a:ln>
        </p:spPr>
      </p:sp>
      <p:sp>
        <p:nvSpPr>
          <p:cNvPr id="1186" name="PlaceHolder 2"/>
          <p:cNvSpPr>
            <a:spLocks noGrp="1"/>
          </p:cNvSpPr>
          <p:nvPr>
            <p:ph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/>
          </a:ln>
        </p:spPr>
        <p:txBody>
          <a:bodyPr lIns="4680" tIns="4680" rIns="4680" bIns="4680" anchor="t">
            <a:noAutofit/>
          </a:bodyPr>
          <a:p>
            <a:pPr indent="0" algn="l">
              <a:spcBef>
                <a:spcPts val="451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GB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" name="Rectangle 7"/>
          <p:cNvSpPr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b">
            <a:noAutofit/>
          </a:bodyPr>
          <a:p>
            <a:pPr algn="r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AF0612E6-B8F1-4EDD-8EE5-6E80B5F2450F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&lt;number&gt;</a:t>
            </a:fld>
            <a:endParaRPr lang="it-IT" sz="12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1188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ln w="0">
            <a:noFill/>
          </a:ln>
        </p:spPr>
      </p:sp>
      <p:sp>
        <p:nvSpPr>
          <p:cNvPr id="1189" name="PlaceHolder 2"/>
          <p:cNvSpPr>
            <a:spLocks noGrp="1"/>
          </p:cNvSpPr>
          <p:nvPr>
            <p:ph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/>
          </a:ln>
        </p:spPr>
        <p:txBody>
          <a:bodyPr lIns="4680" tIns="4680" rIns="4680" bIns="4680" anchor="t">
            <a:noAutofit/>
          </a:bodyPr>
          <a:p>
            <a:pPr indent="0" algn="l">
              <a:spcBef>
                <a:spcPts val="451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GB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0" name="Rectangle 7"/>
          <p:cNvSpPr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b">
            <a:noAutofit/>
          </a:bodyPr>
          <a:p>
            <a:pPr algn="r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7ABB6A69-2FF7-4CE7-B972-10C4E6A4531B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&lt;number&gt;</a:t>
            </a:fld>
            <a:endParaRPr lang="it-IT" sz="12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1191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ln w="0">
            <a:noFill/>
          </a:ln>
        </p:spPr>
      </p:sp>
      <p:sp>
        <p:nvSpPr>
          <p:cNvPr id="1192" name="PlaceHolder 2"/>
          <p:cNvSpPr>
            <a:spLocks noGrp="1"/>
          </p:cNvSpPr>
          <p:nvPr>
            <p:ph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/>
          </a:ln>
        </p:spPr>
        <p:txBody>
          <a:bodyPr lIns="4680" tIns="4680" rIns="4680" bIns="4680" anchor="t">
            <a:noAutofit/>
          </a:bodyPr>
          <a:p>
            <a:pPr indent="0" algn="l">
              <a:spcBef>
                <a:spcPts val="451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GB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3" name="Rectangle 7"/>
          <p:cNvSpPr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b">
            <a:noAutofit/>
          </a:bodyPr>
          <a:p>
            <a:pPr algn="r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8EEBCDA1-9FD1-4401-BEB8-D2AFF9F29F8B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&lt;number&gt;</a:t>
            </a:fld>
            <a:endParaRPr lang="it-IT" sz="12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1194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ln w="0">
            <a:noFill/>
          </a:ln>
        </p:spPr>
      </p:sp>
      <p:sp>
        <p:nvSpPr>
          <p:cNvPr id="1195" name="PlaceHolder 2"/>
          <p:cNvSpPr>
            <a:spLocks noGrp="1"/>
          </p:cNvSpPr>
          <p:nvPr>
            <p:ph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/>
          </a:ln>
        </p:spPr>
        <p:txBody>
          <a:bodyPr lIns="4680" tIns="4680" rIns="4680" bIns="4680" anchor="t">
            <a:noAutofit/>
          </a:bodyPr>
          <a:p>
            <a:pPr indent="0" algn="l">
              <a:spcBef>
                <a:spcPts val="451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GB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6" name="Rectangle 7"/>
          <p:cNvSpPr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b">
            <a:noAutofit/>
          </a:bodyPr>
          <a:p>
            <a:pPr algn="r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C3C99CBA-65DB-40C7-8AB5-AE54B546A726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&lt;number&gt;</a:t>
            </a:fld>
            <a:endParaRPr lang="it-IT" sz="12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1197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ln w="0">
            <a:noFill/>
          </a:ln>
        </p:spPr>
      </p:sp>
      <p:sp>
        <p:nvSpPr>
          <p:cNvPr id="1198" name="PlaceHolder 2"/>
          <p:cNvSpPr>
            <a:spLocks noGrp="1"/>
          </p:cNvSpPr>
          <p:nvPr>
            <p:ph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/>
          </a:ln>
        </p:spPr>
        <p:txBody>
          <a:bodyPr lIns="4680" tIns="4680" rIns="4680" bIns="4680" anchor="t">
            <a:noAutofit/>
          </a:bodyPr>
          <a:p>
            <a:pPr indent="0" algn="l">
              <a:spcBef>
                <a:spcPts val="451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GB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9" name="Rectangle 7"/>
          <p:cNvSpPr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b">
            <a:noAutofit/>
          </a:bodyPr>
          <a:p>
            <a:pPr algn="r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E86A99EF-B981-4A5F-8911-87C02277A534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&lt;number&gt;</a:t>
            </a:fld>
            <a:endParaRPr lang="it-IT" sz="12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1200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ln w="0">
            <a:noFill/>
          </a:ln>
        </p:spPr>
      </p:sp>
      <p:sp>
        <p:nvSpPr>
          <p:cNvPr id="1201" name="PlaceHolder 2"/>
          <p:cNvSpPr>
            <a:spLocks noGrp="1"/>
          </p:cNvSpPr>
          <p:nvPr>
            <p:ph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/>
          </a:ln>
        </p:spPr>
        <p:txBody>
          <a:bodyPr lIns="4680" tIns="4680" rIns="4680" bIns="4680" anchor="t">
            <a:noAutofit/>
          </a:bodyPr>
          <a:p>
            <a:pPr indent="0" algn="l">
              <a:spcBef>
                <a:spcPts val="451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GB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2" name="Rectangle 7"/>
          <p:cNvSpPr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b">
            <a:noAutofit/>
          </a:bodyPr>
          <a:p>
            <a:pPr algn="r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E0D97154-FFC5-4FB3-85CF-19F1049439C0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&lt;number&gt;</a:t>
            </a:fld>
            <a:endParaRPr lang="it-IT" sz="12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1203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ln w="0">
            <a:noFill/>
          </a:ln>
        </p:spPr>
      </p:sp>
      <p:sp>
        <p:nvSpPr>
          <p:cNvPr id="1204" name="PlaceHolder 2"/>
          <p:cNvSpPr>
            <a:spLocks noGrp="1"/>
          </p:cNvSpPr>
          <p:nvPr>
            <p:ph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/>
          </a:ln>
        </p:spPr>
        <p:txBody>
          <a:bodyPr lIns="4680" tIns="4680" rIns="4680" bIns="4680" anchor="t">
            <a:noAutofit/>
          </a:bodyPr>
          <a:p>
            <a:pPr indent="0" algn="l">
              <a:spcBef>
                <a:spcPts val="451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GB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5" name="Rectangle 7"/>
          <p:cNvSpPr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b">
            <a:noAutofit/>
          </a:bodyPr>
          <a:p>
            <a:pPr algn="r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80ABDE90-77A7-4849-8CB7-03ACFF8AB902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&lt;number&gt;</a:t>
            </a:fld>
            <a:endParaRPr lang="it-IT" sz="12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1206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ln w="0">
            <a:noFill/>
          </a:ln>
        </p:spPr>
      </p:sp>
      <p:sp>
        <p:nvSpPr>
          <p:cNvPr id="1207" name="PlaceHolder 2"/>
          <p:cNvSpPr>
            <a:spLocks noGrp="1"/>
          </p:cNvSpPr>
          <p:nvPr>
            <p:ph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/>
          </a:ln>
        </p:spPr>
        <p:txBody>
          <a:bodyPr lIns="4680" tIns="4680" rIns="4680" bIns="4680" anchor="t">
            <a:noAutofit/>
          </a:bodyPr>
          <a:p>
            <a:pPr indent="0" algn="l">
              <a:spcBef>
                <a:spcPts val="451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GB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" name="Rectangle 7"/>
          <p:cNvSpPr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b">
            <a:noAutofit/>
          </a:bodyPr>
          <a:p>
            <a:pPr algn="r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8DE04FA8-52BB-486E-802F-953B9D6E331A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&lt;number&gt;</a:t>
            </a:fld>
            <a:endParaRPr lang="it-IT" sz="12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1209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ln w="0">
            <a:noFill/>
          </a:ln>
        </p:spPr>
      </p:sp>
      <p:sp>
        <p:nvSpPr>
          <p:cNvPr id="1210" name="PlaceHolder 2"/>
          <p:cNvSpPr>
            <a:spLocks noGrp="1"/>
          </p:cNvSpPr>
          <p:nvPr>
            <p:ph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/>
          </a:ln>
        </p:spPr>
        <p:txBody>
          <a:bodyPr lIns="4680" tIns="4680" rIns="4680" bIns="4680" anchor="t">
            <a:noAutofit/>
          </a:bodyPr>
          <a:p>
            <a:pPr indent="0" algn="l">
              <a:spcBef>
                <a:spcPts val="451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GB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F9F27302-2060-43F9-9015-1FFF99958078}" type="slidenum">
              <a:t>&lt;#&gt;</a:t>
            </a:fld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jpeg"/><Relationship Id="rId3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85800" y="533160"/>
            <a:ext cx="7772400" cy="53316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ctr">
            <a:noAutofit/>
          </a:bodyPr>
          <a:lstStyle>
            <a:lvl1pPr indent="0" algn="l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it-IT" sz="2400" b="0" u="none" strike="noStrike">
                <a:solidFill>
                  <a:srgbClr val="000000"/>
                </a:solidFill>
                <a:effectLst/>
                <a:uFillTx/>
                <a:latin typeface="Comic Sans MS"/>
              </a:defRPr>
            </a:lvl1pPr>
          </a:lstStyle>
          <a:p>
            <a:pPr indent="0" algn="l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it-IT" sz="24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Click to edit the title text format</a:t>
            </a:r>
            <a:endParaRPr lang="it-IT" sz="24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685800" y="1143000"/>
            <a:ext cx="7772400" cy="495288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t">
            <a:normAutofit/>
          </a:bodyPr>
          <a:lstStyle>
            <a:lvl1pPr algn="l">
              <a:spcBef>
                <a:spcPts val="499"/>
              </a:spcBef>
              <a:buClr>
                <a:srgbClr val="003C75"/>
              </a:buClr>
              <a:buSzPct val="120000"/>
              <a:buFont typeface="Times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it-IT" sz="2000" b="0" u="none" strike="noStrike">
                <a:solidFill>
                  <a:srgbClr val="000000"/>
                </a:solidFill>
                <a:effectLst/>
                <a:uFillTx/>
                <a:latin typeface="Comic Sans MS"/>
              </a:defRPr>
            </a:lvl1pPr>
            <a:lvl2pPr lvl="1" algn="l">
              <a:spcBef>
                <a:spcPts val="499"/>
              </a:spcBef>
              <a:buClr>
                <a:srgbClr val="003C75"/>
              </a:buClr>
              <a:buFont typeface="Comic Sans MS"/>
              <a:buChar char="—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it-IT" sz="2000" b="0" u="none" strike="noStrike">
                <a:solidFill>
                  <a:srgbClr val="000000"/>
                </a:solidFill>
                <a:effectLst/>
                <a:uFillTx/>
                <a:latin typeface="Comic Sans MS"/>
              </a:defRPr>
            </a:lvl2pPr>
            <a:lvl3pPr lvl="2" algn="l">
              <a:spcBef>
                <a:spcPts val="499"/>
              </a:spcBef>
              <a:buClr>
                <a:srgbClr val="003C75"/>
              </a:buClr>
              <a:buSzPct val="90000"/>
              <a:buFont typeface="Symbol" charset="2"/>
              <a:buChar char="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it-IT" sz="2000" b="0" u="none" strike="noStrike">
                <a:solidFill>
                  <a:srgbClr val="000000"/>
                </a:solidFill>
                <a:effectLst/>
                <a:uFillTx/>
                <a:latin typeface="Comic Sans MS"/>
              </a:defRPr>
            </a:lvl3pPr>
            <a:lvl4pPr lvl="3" algn="l">
              <a:spcBef>
                <a:spcPts val="499"/>
              </a:spcBef>
              <a:buClr>
                <a:srgbClr val="003C75"/>
              </a:buClr>
              <a:buFont typeface="Comic Sans MS"/>
              <a:buChar char="–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it-IT" sz="2000" b="0" u="none" strike="noStrike">
                <a:solidFill>
                  <a:srgbClr val="000000"/>
                </a:solidFill>
                <a:effectLst/>
                <a:uFillTx/>
                <a:latin typeface="Comic Sans MS"/>
              </a:defRPr>
            </a:lvl4pPr>
            <a:lvl5pPr lvl="4" algn="l">
              <a:spcBef>
                <a:spcPts val="499"/>
              </a:spcBef>
              <a:buClr>
                <a:srgbClr val="003C75"/>
              </a:buClr>
              <a:buFont typeface="Comic Sans MS"/>
              <a:buChar char="»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it-IT" sz="2000" b="0" u="none" strike="noStrike">
                <a:solidFill>
                  <a:srgbClr val="000000"/>
                </a:solidFill>
                <a:effectLst/>
                <a:uFillTx/>
                <a:latin typeface="Comic Sans MS"/>
              </a:defRPr>
            </a:lvl5pPr>
            <a:lvl6pPr lvl="5" algn="l">
              <a:spcBef>
                <a:spcPts val="499"/>
              </a:spcBef>
              <a:buClr>
                <a:srgbClr val="000000"/>
              </a:buClr>
              <a:buFont typeface="Comic Sans MS"/>
              <a:buChar char="»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it-IT" sz="2000" b="0" u="none" strike="noStrike">
                <a:solidFill>
                  <a:srgbClr val="000000"/>
                </a:solidFill>
                <a:effectLst/>
                <a:uFillTx/>
                <a:latin typeface="Comic Sans MS"/>
              </a:defRPr>
            </a:lvl6pPr>
            <a:lvl7pPr lvl="6" algn="l">
              <a:spcBef>
                <a:spcPts val="499"/>
              </a:spcBef>
              <a:buClr>
                <a:srgbClr val="000000"/>
              </a:buClr>
              <a:buFont typeface="Comic Sans MS"/>
              <a:buChar char="»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it-IT" sz="2000" b="0" u="none" strike="noStrike">
                <a:solidFill>
                  <a:srgbClr val="000000"/>
                </a:solidFill>
                <a:effectLst/>
                <a:uFillTx/>
                <a:latin typeface="Comic Sans MS"/>
              </a:defRPr>
            </a:lvl7pPr>
          </a:lstStyle>
          <a:p>
            <a:pPr marL="343080" indent="-343080" algn="l">
              <a:spcBef>
                <a:spcPts val="499"/>
              </a:spcBef>
              <a:buClr>
                <a:srgbClr val="003C75"/>
              </a:buClr>
              <a:buSzPct val="120000"/>
              <a:buFont typeface="Times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it-IT" sz="20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Click to edit the outline text format</a:t>
            </a:r>
            <a:endParaRPr lang="it-IT" sz="20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  <a:p>
            <a:pPr marL="743040" lvl="1" indent="-285840" algn="l">
              <a:spcBef>
                <a:spcPts val="499"/>
              </a:spcBef>
              <a:buClr>
                <a:srgbClr val="003C75"/>
              </a:buClr>
              <a:buFont typeface="Comic Sans MS"/>
              <a:buChar char="—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it-IT" sz="20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Second Outline Level</a:t>
            </a:r>
            <a:endParaRPr lang="it-IT" sz="20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  <a:p>
            <a:pPr marL="1143000" lvl="2" indent="-228600" algn="l">
              <a:spcBef>
                <a:spcPts val="499"/>
              </a:spcBef>
              <a:buClr>
                <a:srgbClr val="003C75"/>
              </a:buClr>
              <a:buSzPct val="90000"/>
              <a:buFont typeface="Symbol" charset="2"/>
              <a:buChar char="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it-IT" sz="20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Third Outline Level</a:t>
            </a:r>
            <a:endParaRPr lang="it-IT" sz="20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  <a:p>
            <a:pPr marL="1600200" lvl="3" indent="-228600" algn="l">
              <a:spcBef>
                <a:spcPts val="499"/>
              </a:spcBef>
              <a:buClr>
                <a:srgbClr val="003C75"/>
              </a:buClr>
              <a:buFont typeface="Comic Sans MS"/>
              <a:buChar char="–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it-IT" sz="20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Fourth Outline Level</a:t>
            </a:r>
            <a:endParaRPr lang="it-IT" sz="20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  <a:p>
            <a:pPr marL="2057400" lvl="4" indent="-228600" algn="l">
              <a:spcBef>
                <a:spcPts val="499"/>
              </a:spcBef>
              <a:buClr>
                <a:srgbClr val="003C75"/>
              </a:buClr>
              <a:buFont typeface="Comic Sans MS"/>
              <a:buChar char="»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it-IT" sz="20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Fifth Outline Level</a:t>
            </a:r>
            <a:endParaRPr lang="it-IT" sz="20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  <a:p>
            <a:pPr marL="2057400" lvl="5" indent="-228600" algn="l">
              <a:spcBef>
                <a:spcPts val="499"/>
              </a:spcBef>
              <a:buClr>
                <a:srgbClr val="000000"/>
              </a:buClr>
              <a:buFont typeface="Comic Sans MS"/>
              <a:buChar char="»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it-IT" sz="20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Sixth Outline Level</a:t>
            </a:r>
            <a:endParaRPr lang="it-IT" sz="20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  <a:p>
            <a:pPr marL="2057400" lvl="6" indent="-228600" algn="l">
              <a:spcBef>
                <a:spcPts val="499"/>
              </a:spcBef>
              <a:buClr>
                <a:srgbClr val="000000"/>
              </a:buClr>
              <a:buFont typeface="Comic Sans MS"/>
              <a:buChar char="»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it-IT" sz="20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Seventh Outline Level</a:t>
            </a:r>
            <a:endParaRPr lang="it-IT" sz="20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>
          <a:xfrm>
            <a:off x="685440" y="6248520"/>
            <a:ext cx="2895480" cy="45720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t">
            <a:noAutofit/>
          </a:bodyPr>
          <a:lstStyle>
            <a:lvl1pPr indent="0" algn="l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Comic Sans MS"/>
              </a:defRPr>
            </a:lvl1pPr>
          </a:lstStyle>
          <a:p>
            <a:pPr indent="0" algn="l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Comp 412, Fall 2010</a:t>
            </a:r>
            <a:endParaRPr lang="it-IT" sz="12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>
          <a:xfrm>
            <a:off x="6553080" y="6248520"/>
            <a:ext cx="1905120" cy="45720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t">
            <a:noAutofit/>
          </a:bodyPr>
          <a:lstStyle>
            <a:lvl1pPr indent="0" algn="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Comic Sans MS"/>
              </a:defRPr>
            </a:lvl1pPr>
          </a:lstStyle>
          <a:p>
            <a:pPr indent="0" algn="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AB004E28-7954-42B5-8D78-9113F3E82F77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&lt;number&gt;</a:t>
            </a:fld>
            <a:endParaRPr lang="it-IT" sz="12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pic>
        <p:nvPicPr>
          <p:cNvPr id="6" name="Picture 7" descr="2007Shield"/>
          <p:cNvPicPr/>
          <p:nvPr/>
        </p:nvPicPr>
        <p:blipFill>
          <a:blip r:embed="rId2"/>
          <a:stretch/>
        </p:blipFill>
        <p:spPr>
          <a:xfrm>
            <a:off x="7543800" y="228600"/>
            <a:ext cx="958680" cy="1120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" name="Line 8"/>
          <p:cNvSpPr/>
          <p:nvPr/>
        </p:nvSpPr>
        <p:spPr>
          <a:xfrm>
            <a:off x="685800" y="1066680"/>
            <a:ext cx="6858000" cy="0"/>
          </a:xfrm>
          <a:prstGeom prst="line">
            <a:avLst/>
          </a:prstGeom>
          <a:ln w="57240">
            <a:solidFill>
              <a:srgbClr val="003C75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tIns="-46800" rIns="90000" bIns="-46800" anchor="ctr">
            <a:noAutofit/>
          </a:bodyPr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2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
</Relationships>
</file>

<file path=ppt/slides/_rels/slide2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
</Relationships>
</file>

<file path=ppt/slides/_rels/slide2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
</Relationships>
</file>

<file path=ppt/slides/_rels/slide2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
</Relationships>
</file>

<file path=ppt/slides/_rels/slide2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
</Relationships>
</file>

<file path=ppt/slides/_rels/slide2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
</Relationships>
</file>

<file path=ppt/slides/_rels/slide3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
</Relationships>
</file>

<file path=ppt/slides/_rels/slide3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
</Relationships>
</file>

<file path=ppt/slides/_rels/slide3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
</Relationships>
</file>

<file path=ppt/slides/_rels/slide3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
</Relationships>
</file>

<file path=ppt/slides/_rels/slide3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
</Relationships>
</file>

<file path=ppt/slides/_rels/slide3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685800" y="1447920"/>
            <a:ext cx="7772400" cy="1752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200" b="0" i="1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Lexical Analysis:</a:t>
            </a:r>
            <a:br>
              <a:rPr sz="3200"/>
            </a:br>
            <a:r>
              <a:rPr lang="en-US" sz="3200" b="0" i="1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DFA Minimization</a:t>
            </a:r>
            <a:br>
              <a:rPr sz="3200"/>
            </a:br>
            <a:br>
              <a:rPr sz="1200"/>
            </a:br>
            <a:r>
              <a:rPr lang="en-US" sz="3200" b="0" i="1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Comp 412</a:t>
            </a:r>
            <a:endParaRPr lang="it-IT" sz="32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 type="subTitle"/>
          </p:nvPr>
        </p:nvSpPr>
        <p:spPr>
          <a:xfrm>
            <a:off x="762120" y="4952520"/>
            <a:ext cx="7772400" cy="1295640"/>
          </a:xfrm>
          <a:prstGeom prst="rect">
            <a:avLst/>
          </a:prstGeom>
          <a:noFill/>
          <a:ln w="12600">
            <a:solidFill>
              <a:srgbClr val="003C75"/>
            </a:solidFill>
            <a:miter/>
          </a:ln>
        </p:spPr>
        <p:txBody>
          <a:bodyPr lIns="91440" tIns="45720" rIns="91440" bIns="45720" anchor="t">
            <a:noAutofit/>
          </a:bodyPr>
          <a:p>
            <a:pPr indent="0" algn="l">
              <a:spcBef>
                <a:spcPts val="349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400" b="0" u="none" strike="noStrike">
                <a:solidFill>
                  <a:srgbClr val="003C75"/>
                </a:solidFill>
                <a:effectLst/>
                <a:uFillTx/>
                <a:latin typeface="Comic Sans MS"/>
              </a:rPr>
              <a:t>Copyright 2010, Keith D. Cooper &amp; Linda Torczon, all rights reserved.</a:t>
            </a:r>
            <a:endParaRPr lang="it-IT" sz="14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  <a:p>
            <a:pPr indent="0" algn="l">
              <a:spcBef>
                <a:spcPts val="349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400" b="0" u="none" strike="noStrike">
                <a:solidFill>
                  <a:srgbClr val="003C75"/>
                </a:solidFill>
                <a:effectLst/>
                <a:uFillTx/>
                <a:latin typeface="Comic Sans MS"/>
              </a:rPr>
              <a:t>Students enrolled in Comp 412 at Rice University have explicit permission to make copies of these materials for their personal use.  </a:t>
            </a:r>
            <a:endParaRPr lang="it-IT" sz="14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  <a:p>
            <a:pPr indent="0" algn="l">
              <a:spcBef>
                <a:spcPts val="349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400" b="0" u="none" strike="noStrike">
                <a:solidFill>
                  <a:srgbClr val="003C75"/>
                </a:solidFill>
                <a:effectLst/>
                <a:uFillTx/>
                <a:latin typeface="Comic Sans MS"/>
              </a:rPr>
              <a:t>Faculty from other educational institutions may use these materials for nonprofit educational purposes, provided this copyright notice is preserved.</a:t>
            </a:r>
            <a:endParaRPr lang="it-IT" sz="14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pic>
        <p:nvPicPr>
          <p:cNvPr id="17" name="Picture 4" descr="2007Logo"/>
          <p:cNvPicPr/>
          <p:nvPr/>
        </p:nvPicPr>
        <p:blipFill>
          <a:blip r:embed="rId1"/>
          <a:stretch/>
        </p:blipFill>
        <p:spPr>
          <a:xfrm>
            <a:off x="609480" y="304920"/>
            <a:ext cx="2330640" cy="949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8" name="Text Box 8"/>
          <p:cNvSpPr/>
          <p:nvPr/>
        </p:nvSpPr>
        <p:spPr>
          <a:xfrm>
            <a:off x="5791320" y="380880"/>
            <a:ext cx="2666880" cy="84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spAutoFit/>
          </a:bodyPr>
          <a:p>
            <a:pPr algn="r">
              <a:lnSpc>
                <a:spcPct val="100000"/>
              </a:lnSpc>
              <a:spcBef>
                <a:spcPts val="15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400" b="0" u="none" strike="noStrike">
                <a:solidFill>
                  <a:srgbClr val="003C75"/>
                </a:solidFill>
                <a:effectLst/>
                <a:uFillTx/>
                <a:latin typeface="Utopia Std"/>
              </a:rPr>
              <a:t>COMP 412</a:t>
            </a:r>
            <a:endParaRPr lang="it-IT" sz="24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  <a:p>
            <a:pPr algn="r">
              <a:lnSpc>
                <a:spcPct val="100000"/>
              </a:lnSpc>
              <a:spcBef>
                <a:spcPts val="15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400" b="0" u="none" strike="noStrike">
                <a:solidFill>
                  <a:srgbClr val="003C75"/>
                </a:solidFill>
                <a:effectLst/>
                <a:uFillTx/>
                <a:latin typeface="Utopia Std"/>
              </a:rPr>
              <a:t>FALL 2010</a:t>
            </a:r>
            <a:endParaRPr lang="it-IT" sz="24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Footer Placeholder 3"/>
          <p:cNvSpPr/>
          <p:nvPr/>
        </p:nvSpPr>
        <p:spPr>
          <a:xfrm>
            <a:off x="685800" y="6248520"/>
            <a:ext cx="289548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Autofit/>
          </a:bodyPr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Comp 412, Fall 2010</a:t>
            </a:r>
            <a:endParaRPr lang="it-IT" sz="12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20" name="Slide Number Placeholder 4"/>
          <p:cNvSpPr/>
          <p:nvPr/>
        </p:nvSpPr>
        <p:spPr>
          <a:xfrm>
            <a:off x="6553080" y="6248520"/>
            <a:ext cx="190512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Autofit/>
          </a:bodyPr>
          <a:p>
            <a:pPr algn="r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5D3A39C7-DCEF-4553-8467-AE377D96FE84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&lt;number&gt;</a:t>
            </a:fld>
            <a:endParaRPr lang="it-IT" sz="12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685800" y="533160"/>
            <a:ext cx="7772400" cy="533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l">
              <a:spcBef>
                <a:spcPts val="901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Automating Scanner Construction</a:t>
            </a:r>
            <a:endParaRPr lang="it-IT" sz="24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/>
          </p:nvPr>
        </p:nvSpPr>
        <p:spPr>
          <a:xfrm>
            <a:off x="685800" y="1143000"/>
            <a:ext cx="7772400" cy="495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p>
            <a:pPr marL="343080" indent="-343080" algn="l">
              <a:lnSpc>
                <a:spcPct val="10000"/>
              </a:lnSpc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it-IT" sz="20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  <a:p>
            <a:pPr marL="343080" indent="-343080" algn="l">
              <a:lnSpc>
                <a:spcPct val="90000"/>
              </a:lnSpc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RE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Symbol"/>
                <a:ea typeface="Symbol"/>
              </a:rPr>
              <a:t>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NFA  </a:t>
            </a:r>
            <a:r>
              <a:rPr lang="en-US" sz="2000" b="0" i="1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(</a:t>
            </a:r>
            <a:r>
              <a:rPr lang="en-US" sz="1800" b="0" i="1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Thompson’s construction</a:t>
            </a:r>
            <a:r>
              <a:rPr lang="en-US" sz="2000" b="0" i="1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) </a:t>
            </a:r>
            <a:r>
              <a:rPr lang="en-US" sz="2000" b="0" i="1" u="none" strike="noStrike">
                <a:solidFill>
                  <a:srgbClr val="FF0065"/>
                </a:solidFill>
                <a:effectLst/>
                <a:uFillTx/>
                <a:latin typeface="Wingdings"/>
                <a:ea typeface="Wingdings"/>
              </a:rPr>
              <a:t></a:t>
            </a:r>
            <a:endParaRPr lang="it-IT" sz="20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  <a:p>
            <a:pPr marL="343080" indent="-343080" algn="l">
              <a:lnSpc>
                <a:spcPct val="90000"/>
              </a:lnSpc>
              <a:spcBef>
                <a:spcPts val="624"/>
              </a:spcBef>
              <a:buClr>
                <a:srgbClr val="003C75"/>
              </a:buClr>
              <a:buSzPct val="120000"/>
              <a:buFont typeface="Times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Build an NFA for each term</a:t>
            </a:r>
            <a:endParaRPr lang="it-IT" sz="20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  <a:p>
            <a:pPr marL="343080" indent="-343080" algn="l">
              <a:lnSpc>
                <a:spcPct val="90000"/>
              </a:lnSpc>
              <a:spcBef>
                <a:spcPts val="624"/>
              </a:spcBef>
              <a:buClr>
                <a:srgbClr val="003C75"/>
              </a:buClr>
              <a:buSzPct val="120000"/>
              <a:buFont typeface="Times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Combine them with 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Symbol"/>
                <a:ea typeface="Symbol"/>
              </a:rPr>
              <a:t>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-moves</a:t>
            </a:r>
            <a:endParaRPr lang="it-IT" sz="20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  <a:p>
            <a:pPr marL="343080" indent="-343080" algn="l">
              <a:lnSpc>
                <a:spcPct val="90000"/>
              </a:lnSpc>
              <a:spcBef>
                <a:spcPts val="2251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NFA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Symbol"/>
                <a:ea typeface="Symbol"/>
              </a:rPr>
              <a:t>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DFA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 </a:t>
            </a:r>
            <a:r>
              <a:rPr lang="en-US" sz="2000" b="0" i="1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(</a:t>
            </a:r>
            <a:r>
              <a:rPr lang="en-US" sz="1800" b="0" i="1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subset construction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) </a:t>
            </a:r>
            <a:r>
              <a:rPr lang="en-US" sz="2400" b="0" i="1" u="none" strike="noStrike">
                <a:solidFill>
                  <a:srgbClr val="FF0065"/>
                </a:solidFill>
                <a:effectLst/>
                <a:uFillTx/>
                <a:latin typeface="Wingdings"/>
                <a:ea typeface="Wingdings"/>
              </a:rPr>
              <a:t></a:t>
            </a:r>
            <a:endParaRPr lang="it-IT" sz="24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  <a:p>
            <a:pPr marL="343080" indent="-343080" algn="l">
              <a:lnSpc>
                <a:spcPct val="90000"/>
              </a:lnSpc>
              <a:spcBef>
                <a:spcPts val="624"/>
              </a:spcBef>
              <a:buClr>
                <a:srgbClr val="003C75"/>
              </a:buClr>
              <a:buSzPct val="120000"/>
              <a:buFont typeface="Times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Build the simulation</a:t>
            </a:r>
            <a:endParaRPr lang="it-IT" sz="20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  <a:p>
            <a:pPr marL="343080" indent="-343080" algn="l">
              <a:lnSpc>
                <a:spcPct val="90000"/>
              </a:lnSpc>
              <a:spcBef>
                <a:spcPts val="1687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DFA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Symbol"/>
                <a:ea typeface="Symbol"/>
              </a:rPr>
              <a:t>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Minimal 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DFA</a:t>
            </a:r>
            <a:endParaRPr lang="it-IT" sz="18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  <a:p>
            <a:pPr marL="343080" indent="-343080" algn="l">
              <a:lnSpc>
                <a:spcPct val="90000"/>
              </a:lnSpc>
              <a:spcBef>
                <a:spcPts val="624"/>
              </a:spcBef>
              <a:buClr>
                <a:srgbClr val="003C75"/>
              </a:buClr>
              <a:buSzPct val="120000"/>
              <a:buFont typeface="Times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Brzozowski’s Algorithm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	</a:t>
            </a:r>
            <a:r>
              <a:rPr lang="en-US" sz="2000" b="0" i="1" u="none" strike="noStrike">
                <a:solidFill>
                  <a:srgbClr val="FF0065"/>
                </a:solidFill>
                <a:effectLst/>
                <a:uFillTx/>
                <a:latin typeface="Wingdings"/>
                <a:ea typeface="Wingdings"/>
              </a:rPr>
              <a:t></a:t>
            </a:r>
            <a:endParaRPr lang="it-IT" sz="20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  <a:p>
            <a:pPr marL="343080" indent="-343080" algn="l">
              <a:lnSpc>
                <a:spcPct val="90000"/>
              </a:lnSpc>
              <a:spcBef>
                <a:spcPts val="624"/>
              </a:spcBef>
              <a:buClr>
                <a:srgbClr val="003C75"/>
              </a:buClr>
              <a:buSzPct val="120000"/>
              <a:buFont typeface="Times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Hopcroft’s algorithm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	</a:t>
            </a:r>
            <a:r>
              <a:rPr lang="en-US" sz="2000" b="0" i="1" u="none" strike="noStrike">
                <a:solidFill>
                  <a:srgbClr val="FF0065"/>
                </a:solidFill>
                <a:effectLst/>
                <a:uFillTx/>
                <a:latin typeface="Comic Sans MS"/>
              </a:rPr>
              <a:t>(today)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                 </a:t>
            </a:r>
            <a:endParaRPr lang="it-IT" sz="20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  <a:p>
            <a:pPr marL="343080" indent="-343080" algn="l">
              <a:lnSpc>
                <a:spcPct val="90000"/>
              </a:lnSpc>
              <a:spcBef>
                <a:spcPts val="1687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DFA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Symbol"/>
                <a:ea typeface="Symbol"/>
              </a:rPr>
              <a:t>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RE   </a:t>
            </a:r>
            <a:r>
              <a:rPr lang="en-US" sz="1800" b="0" u="none" strike="noStrike">
                <a:solidFill>
                  <a:srgbClr val="B025A6"/>
                </a:solidFill>
                <a:effectLst/>
                <a:uFillTx/>
                <a:latin typeface="Comic Sans MS"/>
              </a:rPr>
              <a:t>(</a:t>
            </a:r>
            <a:r>
              <a:rPr lang="en-US" sz="1800" b="0" i="1" u="none" strike="noStrike">
                <a:solidFill>
                  <a:srgbClr val="B025A6"/>
                </a:solidFill>
                <a:effectLst/>
                <a:uFillTx/>
                <a:latin typeface="Comic Sans MS"/>
              </a:rPr>
              <a:t>not really part of scanner construction</a:t>
            </a:r>
            <a:r>
              <a:rPr lang="en-US" sz="1800" b="0" u="none" strike="noStrike">
                <a:solidFill>
                  <a:srgbClr val="B025A6"/>
                </a:solidFill>
                <a:effectLst/>
                <a:uFillTx/>
                <a:latin typeface="Comic Sans MS"/>
              </a:rPr>
              <a:t>)</a:t>
            </a:r>
            <a:endParaRPr lang="it-IT" sz="18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  <a:p>
            <a:pPr marL="343080" indent="-343080" algn="l">
              <a:lnSpc>
                <a:spcPct val="90000"/>
              </a:lnSpc>
              <a:spcBef>
                <a:spcPts val="624"/>
              </a:spcBef>
              <a:buClr>
                <a:srgbClr val="003C75"/>
              </a:buClr>
              <a:buSzPct val="120000"/>
              <a:buFont typeface="Times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All pairs, all paths problem</a:t>
            </a:r>
            <a:endParaRPr lang="it-IT" sz="20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  <a:p>
            <a:pPr marL="343080" indent="-343080" algn="l">
              <a:lnSpc>
                <a:spcPct val="90000"/>
              </a:lnSpc>
              <a:spcBef>
                <a:spcPts val="624"/>
              </a:spcBef>
              <a:buClr>
                <a:srgbClr val="003C75"/>
              </a:buClr>
              <a:buSzPct val="120000"/>
              <a:buFont typeface="Times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Union together paths from </a:t>
            </a:r>
            <a:r>
              <a:rPr lang="en-US" sz="2000" b="0" i="1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s</a:t>
            </a:r>
            <a:r>
              <a:rPr lang="en-US" sz="2000" b="0" i="1" u="none" strike="noStrike" baseline="-25000">
                <a:solidFill>
                  <a:srgbClr val="000000"/>
                </a:solidFill>
                <a:effectLst/>
                <a:uFillTx/>
                <a:latin typeface="Comic Sans MS"/>
              </a:rPr>
              <a:t>0</a:t>
            </a:r>
            <a:r>
              <a:rPr lang="en-US" sz="2000" b="0" i="1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to a final state</a:t>
            </a:r>
            <a:endParaRPr lang="it-IT" sz="20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23" name="Text Box 4"/>
          <p:cNvSpPr/>
          <p:nvPr/>
        </p:nvSpPr>
        <p:spPr>
          <a:xfrm>
            <a:off x="98280" y="4030560"/>
            <a:ext cx="184320" cy="33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1001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it-IT" sz="18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grpSp>
        <p:nvGrpSpPr>
          <p:cNvPr id="24" name="Group 22"/>
          <p:cNvGrpSpPr/>
          <p:nvPr/>
        </p:nvGrpSpPr>
        <p:grpSpPr>
          <a:xfrm>
            <a:off x="5064120" y="1295280"/>
            <a:ext cx="3765600" cy="1504440"/>
            <a:chOff x="5064120" y="1295280"/>
            <a:chExt cx="3765600" cy="1504440"/>
          </a:xfrm>
        </p:grpSpPr>
        <p:sp>
          <p:nvSpPr>
            <p:cNvPr id="25" name="Text Box 7"/>
            <p:cNvSpPr/>
            <p:nvPr/>
          </p:nvSpPr>
          <p:spPr>
            <a:xfrm>
              <a:off x="7467480" y="2193840"/>
              <a:ext cx="990720" cy="6058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spAutoFit/>
            </a:bodyPr>
            <a:p>
              <a:pPr algn="ctr">
                <a:lnSpc>
                  <a:spcPct val="120000"/>
                </a:lnSpc>
                <a:spcBef>
                  <a:spcPts val="876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400" b="0" i="1" u="none" strike="noStrike">
                  <a:solidFill>
                    <a:srgbClr val="B025A6"/>
                  </a:solidFill>
                  <a:effectLst/>
                  <a:uFillTx/>
                  <a:latin typeface="Arial Rounded MT Bold"/>
                </a:rPr>
                <a:t>minimal </a:t>
              </a:r>
              <a:r>
                <a:rPr lang="en-US" sz="1400" b="0" u="none" strike="noStrike">
                  <a:solidFill>
                    <a:srgbClr val="B025A6"/>
                  </a:solidFill>
                  <a:effectLst/>
                  <a:uFillTx/>
                  <a:latin typeface="Arial Rounded MT Bold"/>
                </a:rPr>
                <a:t>DFA</a:t>
              </a:r>
              <a:endParaRPr lang="it-IT" sz="14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26" name="Text Box 8"/>
            <p:cNvSpPr/>
            <p:nvPr/>
          </p:nvSpPr>
          <p:spPr>
            <a:xfrm>
              <a:off x="5486400" y="2359080"/>
              <a:ext cx="533520" cy="3074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spAutoFit/>
            </a:bodyPr>
            <a:p>
              <a:pPr>
                <a:lnSpc>
                  <a:spcPct val="100000"/>
                </a:lnSpc>
                <a:spcBef>
                  <a:spcPts val="876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400" b="0" u="none" strike="noStrike">
                  <a:solidFill>
                    <a:srgbClr val="B025A6"/>
                  </a:solidFill>
                  <a:effectLst/>
                  <a:uFillTx/>
                  <a:latin typeface="Arial Rounded MT Bold"/>
                </a:rPr>
                <a:t>RE</a:t>
              </a:r>
              <a:endParaRPr lang="it-IT" sz="14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27" name="Text Box 9"/>
            <p:cNvSpPr/>
            <p:nvPr/>
          </p:nvSpPr>
          <p:spPr>
            <a:xfrm>
              <a:off x="6095880" y="2359080"/>
              <a:ext cx="685800" cy="3074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spAutoFit/>
            </a:bodyPr>
            <a:p>
              <a:pPr>
                <a:lnSpc>
                  <a:spcPct val="100000"/>
                </a:lnSpc>
                <a:spcBef>
                  <a:spcPts val="876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400" b="0" u="none" strike="noStrike">
                  <a:solidFill>
                    <a:srgbClr val="B025A6"/>
                  </a:solidFill>
                  <a:effectLst/>
                  <a:uFillTx/>
                  <a:latin typeface="Arial Rounded MT Bold"/>
                </a:rPr>
                <a:t>NFA</a:t>
              </a:r>
              <a:endParaRPr lang="it-IT" sz="14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28" name="Text Box 10"/>
            <p:cNvSpPr/>
            <p:nvPr/>
          </p:nvSpPr>
          <p:spPr>
            <a:xfrm>
              <a:off x="6858000" y="2359080"/>
              <a:ext cx="685800" cy="3074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spAutoFit/>
            </a:bodyPr>
            <a:p>
              <a:pPr>
                <a:lnSpc>
                  <a:spcPct val="100000"/>
                </a:lnSpc>
                <a:spcBef>
                  <a:spcPts val="876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400" b="0" u="none" strike="noStrike">
                  <a:solidFill>
                    <a:srgbClr val="B025A6"/>
                  </a:solidFill>
                  <a:effectLst/>
                  <a:uFillTx/>
                  <a:latin typeface="Arial Rounded MT Bold"/>
                </a:rPr>
                <a:t>DFA</a:t>
              </a:r>
              <a:endParaRPr lang="it-IT" sz="14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29" name="Line 11"/>
            <p:cNvSpPr/>
            <p:nvPr/>
          </p:nvSpPr>
          <p:spPr>
            <a:xfrm>
              <a:off x="5867280" y="2511360"/>
              <a:ext cx="304920" cy="0"/>
            </a:xfrm>
            <a:prstGeom prst="line">
              <a:avLst/>
            </a:prstGeom>
            <a:ln w="9360">
              <a:solidFill>
                <a:srgbClr val="B025A6"/>
              </a:solidFill>
              <a:miter/>
              <a:tailEnd len="med" type="triangle" w="med"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46800" rIns="90000" bIns="-46800" anchor="ctr">
              <a:noAutofit/>
            </a:bodyPr>
            <a:p>
              <a:endParaRPr lang="it-IT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30" name="Line 12"/>
            <p:cNvSpPr/>
            <p:nvPr/>
          </p:nvSpPr>
          <p:spPr>
            <a:xfrm>
              <a:off x="6629400" y="2511360"/>
              <a:ext cx="304920" cy="0"/>
            </a:xfrm>
            <a:prstGeom prst="line">
              <a:avLst/>
            </a:prstGeom>
            <a:ln w="9360">
              <a:solidFill>
                <a:srgbClr val="B025A6"/>
              </a:solidFill>
              <a:miter/>
              <a:tailEnd len="med" type="triangle" w="med"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46800" rIns="90000" bIns="-46800" anchor="ctr">
              <a:noAutofit/>
            </a:bodyPr>
            <a:p>
              <a:endParaRPr lang="it-IT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31" name="Line 13"/>
            <p:cNvSpPr/>
            <p:nvPr/>
          </p:nvSpPr>
          <p:spPr>
            <a:xfrm>
              <a:off x="7391520" y="2511360"/>
              <a:ext cx="304560" cy="0"/>
            </a:xfrm>
            <a:prstGeom prst="line">
              <a:avLst/>
            </a:prstGeom>
            <a:ln w="9360">
              <a:solidFill>
                <a:srgbClr val="B025A6"/>
              </a:solidFill>
              <a:miter/>
              <a:tailEnd len="med" type="triangle" w="med"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46800" rIns="90000" bIns="-46800" anchor="ctr">
              <a:noAutofit/>
            </a:bodyPr>
            <a:p>
              <a:endParaRPr lang="it-IT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32" name="Line 14"/>
            <p:cNvSpPr/>
            <p:nvPr/>
          </p:nvSpPr>
          <p:spPr>
            <a:xfrm>
              <a:off x="8153280" y="2514600"/>
              <a:ext cx="304920" cy="0"/>
            </a:xfrm>
            <a:prstGeom prst="line">
              <a:avLst/>
            </a:prstGeom>
            <a:ln w="9360">
              <a:solidFill>
                <a:srgbClr val="B025A6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46800" rIns="90000" bIns="-46800" anchor="ctr">
              <a:noAutofit/>
            </a:bodyPr>
            <a:p>
              <a:endParaRPr lang="it-IT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33" name="Arc 15"/>
            <p:cNvSpPr/>
            <p:nvPr/>
          </p:nvSpPr>
          <p:spPr>
            <a:xfrm>
              <a:off x="8372520" y="1752480"/>
              <a:ext cx="457200" cy="382680"/>
            </a:xfrm>
            <a:custGeom>
              <a:avLst/>
              <a:gdLst>
                <a:gd name="textAreaLeft" fmla="*/ 0 w 457200"/>
                <a:gd name="textAreaRight" fmla="*/ 457560 w 457200"/>
                <a:gd name="textAreaTop" fmla="*/ 0 h 382680"/>
                <a:gd name="textAreaBottom" fmla="*/ 383040 h 382680"/>
                <a:gd name="GluePoint1X" fmla="*/ 0 w 21600"/>
                <a:gd name="GluePoint1Y" fmla="*/ 0 h 21573"/>
                <a:gd name="GluePoint2X" fmla="*/ 0 w 21600"/>
                <a:gd name="GluePoint2Y" fmla="*/ 0 h 21573"/>
                <a:gd name="GluePoint3X" fmla="*/ 0 w 21600"/>
                <a:gd name="GluePoint3Y" fmla="*/ 0 h 21573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</a:cxnLst>
              <a:rect l="textAreaLeft" t="textAreaTop" r="textAreaRight" b="textAreaBottom"/>
              <a:pathLst>
                <a:path fill="none" w="21600" h="21573">
                  <a:moveTo>
                    <a:pt x="1078" y="-1"/>
                  </a:moveTo>
                  <a:cubicBezTo>
                    <a:pt x="12573" y="574"/>
                    <a:pt x="21600" y="10062"/>
                    <a:pt x="21600" y="21573"/>
                  </a:cubicBezTo>
                </a:path>
                <a:path stroke="0" w="21600" h="21573">
                  <a:moveTo>
                    <a:pt x="1078" y="-1"/>
                  </a:moveTo>
                  <a:cubicBezTo>
                    <a:pt x="12573" y="574"/>
                    <a:pt x="21600" y="10062"/>
                    <a:pt x="21600" y="21573"/>
                  </a:cubicBezTo>
                  <a:lnTo>
                    <a:pt x="0" y="21573"/>
                  </a:lnTo>
                  <a:close/>
                </a:path>
              </a:pathLst>
            </a:custGeom>
            <a:noFill/>
            <a:ln w="9360">
              <a:solidFill>
                <a:srgbClr val="B025A6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ctr">
              <a:noAutofit/>
            </a:bodyPr>
            <a:p>
              <a:endParaRPr lang="it-IT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34" name="Arc 16"/>
            <p:cNvSpPr/>
            <p:nvPr/>
          </p:nvSpPr>
          <p:spPr>
            <a:xfrm flipV="1">
              <a:off x="8372520" y="2133720"/>
              <a:ext cx="457200" cy="380880"/>
            </a:xfrm>
            <a:custGeom>
              <a:avLst/>
              <a:gdLst>
                <a:gd name="textAreaLeft" fmla="*/ 0 w 457200"/>
                <a:gd name="textAreaRight" fmla="*/ 457560 w 457200"/>
                <a:gd name="textAreaTop" fmla="*/ 360 h 380880"/>
                <a:gd name="textAreaBottom" fmla="*/ 381600 h 380880"/>
                <a:gd name="GluePoint1X" fmla="*/ 0 w 21600"/>
                <a:gd name="GluePoint1Y" fmla="*/ 0 h 21573"/>
                <a:gd name="GluePoint2X" fmla="*/ 0 w 21600"/>
                <a:gd name="GluePoint2Y" fmla="*/ 0 h 21573"/>
                <a:gd name="GluePoint3X" fmla="*/ 0 w 21600"/>
                <a:gd name="GluePoint3Y" fmla="*/ 0 h 21573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</a:cxnLst>
              <a:rect l="textAreaLeft" t="textAreaTop" r="textAreaRight" b="textAreaBottom"/>
              <a:pathLst>
                <a:path fill="none" w="21600" h="21573">
                  <a:moveTo>
                    <a:pt x="1078" y="-1"/>
                  </a:moveTo>
                  <a:cubicBezTo>
                    <a:pt x="12573" y="574"/>
                    <a:pt x="21600" y="10062"/>
                    <a:pt x="21600" y="21573"/>
                  </a:cubicBezTo>
                </a:path>
                <a:path stroke="0" w="21600" h="21573">
                  <a:moveTo>
                    <a:pt x="1078" y="-1"/>
                  </a:moveTo>
                  <a:cubicBezTo>
                    <a:pt x="12573" y="574"/>
                    <a:pt x="21600" y="10062"/>
                    <a:pt x="21600" y="21573"/>
                  </a:cubicBezTo>
                  <a:lnTo>
                    <a:pt x="0" y="21573"/>
                  </a:lnTo>
                  <a:close/>
                </a:path>
              </a:pathLst>
            </a:custGeom>
            <a:noFill/>
            <a:ln w="9360">
              <a:solidFill>
                <a:srgbClr val="B025A6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ctr">
              <a:noAutofit/>
            </a:bodyPr>
            <a:p>
              <a:endParaRPr lang="it-IT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35" name="Arc 17"/>
            <p:cNvSpPr/>
            <p:nvPr/>
          </p:nvSpPr>
          <p:spPr>
            <a:xfrm flipH="1">
              <a:off x="5064120" y="1749600"/>
              <a:ext cx="457200" cy="382320"/>
            </a:xfrm>
            <a:custGeom>
              <a:avLst/>
              <a:gdLst>
                <a:gd name="textAreaLeft" fmla="*/ 360 w 457200"/>
                <a:gd name="textAreaRight" fmla="*/ 457920 w 457200"/>
                <a:gd name="textAreaTop" fmla="*/ 0 h 382320"/>
                <a:gd name="textAreaBottom" fmla="*/ 382680 h 382320"/>
                <a:gd name="GluePoint1X" fmla="*/ 0 w 21600"/>
                <a:gd name="GluePoint1Y" fmla="*/ 0 h 21573"/>
                <a:gd name="GluePoint2X" fmla="*/ 0 w 21600"/>
                <a:gd name="GluePoint2Y" fmla="*/ 0 h 21573"/>
                <a:gd name="GluePoint3X" fmla="*/ 0 w 21600"/>
                <a:gd name="GluePoint3Y" fmla="*/ 0 h 21573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</a:cxnLst>
              <a:rect l="textAreaLeft" t="textAreaTop" r="textAreaRight" b="textAreaBottom"/>
              <a:pathLst>
                <a:path fill="none" w="21600" h="21573">
                  <a:moveTo>
                    <a:pt x="1078" y="-1"/>
                  </a:moveTo>
                  <a:cubicBezTo>
                    <a:pt x="12573" y="574"/>
                    <a:pt x="21600" y="10062"/>
                    <a:pt x="21600" y="21573"/>
                  </a:cubicBezTo>
                </a:path>
                <a:path stroke="0" w="21600" h="21573">
                  <a:moveTo>
                    <a:pt x="1078" y="-1"/>
                  </a:moveTo>
                  <a:cubicBezTo>
                    <a:pt x="12573" y="574"/>
                    <a:pt x="21600" y="10062"/>
                    <a:pt x="21600" y="21573"/>
                  </a:cubicBezTo>
                  <a:lnTo>
                    <a:pt x="0" y="21573"/>
                  </a:lnTo>
                  <a:close/>
                </a:path>
              </a:pathLst>
            </a:custGeom>
            <a:noFill/>
            <a:ln w="9360">
              <a:solidFill>
                <a:srgbClr val="B025A6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ctr">
              <a:noAutofit/>
            </a:bodyPr>
            <a:p>
              <a:endParaRPr lang="it-IT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36" name="Arc 18"/>
            <p:cNvSpPr/>
            <p:nvPr/>
          </p:nvSpPr>
          <p:spPr>
            <a:xfrm flipH="1" flipV="1">
              <a:off x="5064120" y="2141640"/>
              <a:ext cx="457200" cy="380880"/>
            </a:xfrm>
            <a:custGeom>
              <a:avLst/>
              <a:gdLst>
                <a:gd name="textAreaLeft" fmla="*/ 360 w 457200"/>
                <a:gd name="textAreaRight" fmla="*/ 457920 w 457200"/>
                <a:gd name="textAreaTop" fmla="*/ 360 h 380880"/>
                <a:gd name="textAreaBottom" fmla="*/ 381600 h 380880"/>
                <a:gd name="GluePoint1X" fmla="*/ 0 w 21600"/>
                <a:gd name="GluePoint1Y" fmla="*/ 0 h 21573"/>
                <a:gd name="GluePoint2X" fmla="*/ 0 w 21600"/>
                <a:gd name="GluePoint2Y" fmla="*/ 0 h 21573"/>
                <a:gd name="GluePoint3X" fmla="*/ 0 w 21600"/>
                <a:gd name="GluePoint3Y" fmla="*/ 0 h 21573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</a:cxnLst>
              <a:rect l="textAreaLeft" t="textAreaTop" r="textAreaRight" b="textAreaBottom"/>
              <a:pathLst>
                <a:path fill="none" w="21600" h="21573">
                  <a:moveTo>
                    <a:pt x="1078" y="-1"/>
                  </a:moveTo>
                  <a:cubicBezTo>
                    <a:pt x="12573" y="574"/>
                    <a:pt x="21600" y="10062"/>
                    <a:pt x="21600" y="21573"/>
                  </a:cubicBezTo>
                </a:path>
                <a:path stroke="0" w="21600" h="21573">
                  <a:moveTo>
                    <a:pt x="1078" y="-1"/>
                  </a:moveTo>
                  <a:cubicBezTo>
                    <a:pt x="12573" y="574"/>
                    <a:pt x="21600" y="10062"/>
                    <a:pt x="21600" y="21573"/>
                  </a:cubicBezTo>
                  <a:lnTo>
                    <a:pt x="0" y="21573"/>
                  </a:lnTo>
                  <a:close/>
                </a:path>
              </a:pathLst>
            </a:custGeom>
            <a:noFill/>
            <a:ln w="9360">
              <a:solidFill>
                <a:srgbClr val="B025A6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ctr">
              <a:noAutofit/>
            </a:bodyPr>
            <a:p>
              <a:endParaRPr lang="it-IT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37" name="Line 19"/>
            <p:cNvSpPr/>
            <p:nvPr/>
          </p:nvSpPr>
          <p:spPr>
            <a:xfrm>
              <a:off x="5486400" y="1752480"/>
              <a:ext cx="2895480" cy="0"/>
            </a:xfrm>
            <a:prstGeom prst="line">
              <a:avLst/>
            </a:prstGeom>
            <a:ln w="9360">
              <a:solidFill>
                <a:srgbClr val="B025A6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46800" rIns="90000" bIns="-46800" anchor="ctr">
              <a:noAutofit/>
            </a:bodyPr>
            <a:p>
              <a:endParaRPr lang="it-IT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38" name="Line 20"/>
            <p:cNvSpPr/>
            <p:nvPr/>
          </p:nvSpPr>
          <p:spPr>
            <a:xfrm>
              <a:off x="5410080" y="2514600"/>
              <a:ext cx="152640" cy="0"/>
            </a:xfrm>
            <a:prstGeom prst="line">
              <a:avLst/>
            </a:prstGeom>
            <a:ln w="9360">
              <a:solidFill>
                <a:srgbClr val="B025A6"/>
              </a:solidFill>
              <a:miter/>
              <a:tailEnd len="med" type="triangle" w="med"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46800" rIns="90000" bIns="-46800" anchor="ctr">
              <a:noAutofit/>
            </a:bodyPr>
            <a:p>
              <a:endParaRPr lang="it-IT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39" name="Text Box 21"/>
            <p:cNvSpPr/>
            <p:nvPr/>
          </p:nvSpPr>
          <p:spPr>
            <a:xfrm>
              <a:off x="5504040" y="1295280"/>
              <a:ext cx="2895480" cy="337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spAutoFit/>
            </a:bodyPr>
            <a:p>
              <a:pPr>
                <a:lnSpc>
                  <a:spcPct val="100000"/>
                </a:lnSpc>
                <a:spcBef>
                  <a:spcPts val="1001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600" b="0" i="1" u="sng" strike="noStrike">
                  <a:solidFill>
                    <a:srgbClr val="B025A6"/>
                  </a:solidFill>
                  <a:effectLst/>
                  <a:uFillTx/>
                  <a:latin typeface="Arial Rounded MT Bold"/>
                </a:rPr>
                <a:t>The Cycle of Constructions</a:t>
              </a:r>
              <a:endParaRPr lang="it-IT" sz="16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</p:grpSp>
    </p:spTree>
  </p:cSld>
  <p:transition>
    <p:wipe dir="r"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Footer Placeholder 3"/>
          <p:cNvSpPr/>
          <p:nvPr/>
        </p:nvSpPr>
        <p:spPr>
          <a:xfrm>
            <a:off x="685800" y="6248520"/>
            <a:ext cx="289548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Autofit/>
          </a:bodyPr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Comp 412, Fall 2010</a:t>
            </a:r>
            <a:endParaRPr lang="it-IT" sz="12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41" name="Slide Number Placeholder 4"/>
          <p:cNvSpPr/>
          <p:nvPr/>
        </p:nvSpPr>
        <p:spPr>
          <a:xfrm>
            <a:off x="6553080" y="6248520"/>
            <a:ext cx="190512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Autofit/>
          </a:bodyPr>
          <a:p>
            <a:pPr algn="r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E0CAF27A-DD88-4457-A8E0-42C1BFF1786B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&lt;number&gt;</a:t>
            </a:fld>
            <a:endParaRPr lang="it-IT" sz="12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42" name="PlaceHolder 1"/>
          <p:cNvSpPr>
            <a:spLocks noGrp="1"/>
          </p:cNvSpPr>
          <p:nvPr>
            <p:ph type="title"/>
          </p:nvPr>
        </p:nvSpPr>
        <p:spPr>
          <a:xfrm>
            <a:off x="685800" y="533160"/>
            <a:ext cx="7772400" cy="533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l">
              <a:spcBef>
                <a:spcPts val="901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DFA Minimization</a:t>
            </a:r>
            <a:endParaRPr lang="it-IT" sz="24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43" name="PlaceHolder 2"/>
          <p:cNvSpPr>
            <a:spLocks noGrp="1"/>
          </p:cNvSpPr>
          <p:nvPr>
            <p:ph/>
          </p:nvPr>
        </p:nvSpPr>
        <p:spPr>
          <a:xfrm>
            <a:off x="685800" y="1066320"/>
            <a:ext cx="8153280" cy="495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p>
            <a:pPr marL="343080" indent="-343080" algn="l">
              <a:spcBef>
                <a:spcPts val="624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The Big Picture</a:t>
            </a:r>
            <a:endParaRPr lang="it-IT" sz="20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  <a:p>
            <a:pPr marL="343080" indent="-343080" algn="l">
              <a:spcBef>
                <a:spcPts val="624"/>
              </a:spcBef>
              <a:buClr>
                <a:srgbClr val="003C75"/>
              </a:buClr>
              <a:buSzPct val="120000"/>
              <a:buFont typeface="Times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Discover sets of equivalent states in the DFA</a:t>
            </a:r>
            <a:endParaRPr lang="it-IT" sz="20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  <a:p>
            <a:pPr marL="343080" indent="-343080" algn="l">
              <a:spcBef>
                <a:spcPts val="624"/>
              </a:spcBef>
              <a:buClr>
                <a:srgbClr val="003C75"/>
              </a:buClr>
              <a:buSzPct val="120000"/>
              <a:buFont typeface="Times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Represent each such set with a single state</a:t>
            </a:r>
            <a:endParaRPr lang="it-IT" sz="20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  <a:p>
            <a:pPr marL="343080" indent="-343080" algn="l">
              <a:spcBef>
                <a:spcPts val="1749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it-IT" sz="20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</p:spTree>
  </p:cSld>
  <p:transition>
    <p:wipe dir="r"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Footer Placeholder 3"/>
          <p:cNvSpPr/>
          <p:nvPr/>
        </p:nvSpPr>
        <p:spPr>
          <a:xfrm>
            <a:off x="685800" y="6248520"/>
            <a:ext cx="289548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Autofit/>
          </a:bodyPr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Comp 412, Fall 2010</a:t>
            </a:r>
            <a:endParaRPr lang="it-IT" sz="12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45" name="Slide Number Placeholder 4"/>
          <p:cNvSpPr/>
          <p:nvPr/>
        </p:nvSpPr>
        <p:spPr>
          <a:xfrm>
            <a:off x="6553080" y="6248520"/>
            <a:ext cx="190512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Autofit/>
          </a:bodyPr>
          <a:p>
            <a:pPr algn="r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4E272E10-E46A-4DFC-9F8A-BEA40ADDD66A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&lt;number&gt;</a:t>
            </a:fld>
            <a:endParaRPr lang="it-IT" sz="12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685800" y="533160"/>
            <a:ext cx="7772400" cy="533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l">
              <a:spcBef>
                <a:spcPts val="901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DFA Minimization</a:t>
            </a:r>
            <a:endParaRPr lang="it-IT" sz="24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/>
          </p:nvPr>
        </p:nvSpPr>
        <p:spPr>
          <a:xfrm>
            <a:off x="685800" y="1066320"/>
            <a:ext cx="8153280" cy="495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p>
            <a:pPr marL="343080" indent="-343080" algn="l">
              <a:spcBef>
                <a:spcPts val="624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The Big Picture</a:t>
            </a:r>
            <a:endParaRPr lang="it-IT" sz="20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  <a:p>
            <a:pPr marL="343080" indent="-343080" algn="l">
              <a:spcBef>
                <a:spcPts val="624"/>
              </a:spcBef>
              <a:buClr>
                <a:srgbClr val="003C75"/>
              </a:buClr>
              <a:buSzPct val="120000"/>
              <a:buFont typeface="Times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Discover sets of equivalent states in the DFA</a:t>
            </a:r>
            <a:endParaRPr lang="it-IT" sz="20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  <a:p>
            <a:pPr marL="343080" indent="-343080" algn="l">
              <a:spcBef>
                <a:spcPts val="624"/>
              </a:spcBef>
              <a:buClr>
                <a:srgbClr val="003C75"/>
              </a:buClr>
              <a:buSzPct val="120000"/>
              <a:buFont typeface="Times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Represent each such set with a single state</a:t>
            </a:r>
            <a:endParaRPr lang="it-IT" sz="20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  <a:p>
            <a:pPr marL="343080" indent="-343080" algn="l">
              <a:spcBef>
                <a:spcPts val="1749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Two states are equivalent if and only if:</a:t>
            </a:r>
            <a:endParaRPr lang="it-IT" sz="20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  <a:p>
            <a:pPr marL="343080" indent="-343080" algn="l">
              <a:spcBef>
                <a:spcPts val="624"/>
              </a:spcBef>
              <a:buClr>
                <a:srgbClr val="003C75"/>
              </a:buClr>
              <a:buSzPct val="120000"/>
              <a:buFont typeface="Times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The set of paths leading to them are equivalent, </a:t>
            </a:r>
            <a:r>
              <a:rPr lang="en-US" sz="2000" b="0" i="1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and</a:t>
            </a:r>
            <a:endParaRPr lang="it-IT" sz="20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  <a:p>
            <a:pPr marL="343080" indent="-343080" algn="l">
              <a:lnSpc>
                <a:spcPct val="100000"/>
              </a:lnSpc>
              <a:spcBef>
                <a:spcPts val="561"/>
              </a:spcBef>
              <a:buClr>
                <a:srgbClr val="003C75"/>
              </a:buClr>
              <a:buSzPct val="120000"/>
              <a:buFont typeface="Times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Symbol"/>
                <a:ea typeface="Symbol"/>
              </a:rPr>
              <a:t>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Symbol"/>
                <a:ea typeface="Symbol"/>
              </a:rPr>
              <a:t>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 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Symbol"/>
                <a:ea typeface="Symbol"/>
              </a:rPr>
              <a:t>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 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Symbol"/>
                <a:ea typeface="Symbol"/>
              </a:rPr>
              <a:t>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, transitions on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Symbol"/>
                <a:ea typeface="Symbol"/>
              </a:rPr>
              <a:t>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 lead to equivalent states       </a:t>
            </a:r>
            <a:r>
              <a:rPr lang="en-US" sz="1800" b="0" u="none" strike="noStrike">
                <a:solidFill>
                  <a:srgbClr val="B025A6"/>
                </a:solidFill>
                <a:effectLst/>
                <a:uFillTx/>
                <a:latin typeface="Comic Sans MS"/>
              </a:rPr>
              <a:t>(DFA)</a:t>
            </a:r>
            <a:endParaRPr lang="it-IT" sz="18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  <a:p>
            <a:pPr marL="343080" indent="-343080" algn="l">
              <a:spcBef>
                <a:spcPts val="624"/>
              </a:spcBef>
              <a:buClr>
                <a:srgbClr val="003C75"/>
              </a:buClr>
              <a:buSzPct val="120000"/>
              <a:buFont typeface="Lucida Grande"/>
              <a:buChar char="⇒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Must split a state that has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Symbol"/>
                <a:ea typeface="Symbol"/>
              </a:rPr>
              <a:t>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-transitions to distinct sets</a:t>
            </a:r>
            <a:endParaRPr lang="it-IT" sz="20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</p:spTree>
  </p:cSld>
  <p:transition>
    <p:wipe dir="r"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Footer Placeholder 3"/>
          <p:cNvSpPr/>
          <p:nvPr/>
        </p:nvSpPr>
        <p:spPr>
          <a:xfrm>
            <a:off x="685800" y="6248520"/>
            <a:ext cx="289548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Autofit/>
          </a:bodyPr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Comp 412, Fall 2010</a:t>
            </a:r>
            <a:endParaRPr lang="it-IT" sz="12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49" name="Slide Number Placeholder 4"/>
          <p:cNvSpPr/>
          <p:nvPr/>
        </p:nvSpPr>
        <p:spPr>
          <a:xfrm>
            <a:off x="6553080" y="6248520"/>
            <a:ext cx="190512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Autofit/>
          </a:bodyPr>
          <a:p>
            <a:pPr algn="r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4806692E-7896-4A84-9F59-B22109687678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&lt;number&gt;</a:t>
            </a:fld>
            <a:endParaRPr lang="it-IT" sz="12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685800" y="533160"/>
            <a:ext cx="7772400" cy="533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l">
              <a:spcBef>
                <a:spcPts val="901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DFA Minimization</a:t>
            </a:r>
            <a:endParaRPr lang="it-IT" sz="24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/>
          </p:nvPr>
        </p:nvSpPr>
        <p:spPr>
          <a:xfrm>
            <a:off x="685800" y="1066320"/>
            <a:ext cx="8153280" cy="495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p>
            <a:pPr marL="343080" indent="-343080" algn="l">
              <a:spcBef>
                <a:spcPts val="624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The Big Picture</a:t>
            </a:r>
            <a:endParaRPr lang="it-IT" sz="20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  <a:p>
            <a:pPr marL="343080" indent="-343080" algn="l">
              <a:spcBef>
                <a:spcPts val="624"/>
              </a:spcBef>
              <a:buClr>
                <a:srgbClr val="003C75"/>
              </a:buClr>
              <a:buSzPct val="120000"/>
              <a:buFont typeface="Times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Discover sets of equivalent states in the DFA</a:t>
            </a:r>
            <a:endParaRPr lang="it-IT" sz="20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  <a:p>
            <a:pPr marL="343080" indent="-343080" algn="l">
              <a:spcBef>
                <a:spcPts val="624"/>
              </a:spcBef>
              <a:buClr>
                <a:srgbClr val="003C75"/>
              </a:buClr>
              <a:buSzPct val="120000"/>
              <a:buFont typeface="Times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Represent each such set with a single state</a:t>
            </a:r>
            <a:endParaRPr lang="it-IT" sz="20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  <a:p>
            <a:pPr marL="343080" indent="-343080" algn="l">
              <a:spcBef>
                <a:spcPts val="1749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Two states are equivalent if and only if:</a:t>
            </a:r>
            <a:endParaRPr lang="it-IT" sz="20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  <a:p>
            <a:pPr marL="343080" indent="-343080" algn="l">
              <a:spcBef>
                <a:spcPts val="624"/>
              </a:spcBef>
              <a:buClr>
                <a:srgbClr val="003C75"/>
              </a:buClr>
              <a:buSzPct val="120000"/>
              <a:buFont typeface="Times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The set of paths leading to them are equivalent, </a:t>
            </a:r>
            <a:r>
              <a:rPr lang="en-US" sz="2000" b="0" i="1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and</a:t>
            </a:r>
            <a:endParaRPr lang="it-IT" sz="20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  <a:p>
            <a:pPr marL="343080" indent="-343080" algn="l">
              <a:lnSpc>
                <a:spcPct val="100000"/>
              </a:lnSpc>
              <a:spcBef>
                <a:spcPts val="561"/>
              </a:spcBef>
              <a:buClr>
                <a:srgbClr val="003C75"/>
              </a:buClr>
              <a:buSzPct val="120000"/>
              <a:buFont typeface="Times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Symbol"/>
                <a:ea typeface="Symbol"/>
              </a:rPr>
              <a:t>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Symbol"/>
                <a:ea typeface="Symbol"/>
              </a:rPr>
              <a:t>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 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Symbol"/>
                <a:ea typeface="Symbol"/>
              </a:rPr>
              <a:t>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 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Symbol"/>
                <a:ea typeface="Symbol"/>
              </a:rPr>
              <a:t>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, transitions on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Symbol"/>
                <a:ea typeface="Symbol"/>
              </a:rPr>
              <a:t>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 lead to equivalent states       </a:t>
            </a:r>
            <a:r>
              <a:rPr lang="en-US" sz="1800" b="0" u="none" strike="noStrike">
                <a:solidFill>
                  <a:srgbClr val="B025A6"/>
                </a:solidFill>
                <a:effectLst/>
                <a:uFillTx/>
                <a:latin typeface="Comic Sans MS"/>
              </a:rPr>
              <a:t>(DFA)</a:t>
            </a:r>
            <a:endParaRPr lang="it-IT" sz="18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  <a:p>
            <a:pPr marL="343080" indent="-343080" algn="l">
              <a:spcBef>
                <a:spcPts val="624"/>
              </a:spcBef>
              <a:buClr>
                <a:srgbClr val="003C75"/>
              </a:buClr>
              <a:buSzPct val="120000"/>
              <a:buFont typeface="Lucida Grande"/>
              <a:buChar char="⇒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Must split a state that has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Symbol"/>
                <a:ea typeface="Symbol"/>
              </a:rPr>
              <a:t>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-transitions to distinct sets</a:t>
            </a:r>
            <a:endParaRPr lang="it-IT" sz="20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  <a:p>
            <a:pPr marL="343080" indent="-343080" algn="l">
              <a:spcBef>
                <a:spcPts val="1749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A partition </a:t>
            </a:r>
            <a:r>
              <a:rPr lang="en-US" sz="2000" b="0" i="1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P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of </a:t>
            </a:r>
            <a:r>
              <a:rPr lang="en-US" sz="2000" b="0" i="1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S</a:t>
            </a:r>
            <a:endParaRPr lang="it-IT" sz="20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  <a:p>
            <a:pPr marL="343080" indent="-343080" algn="l">
              <a:spcBef>
                <a:spcPts val="624"/>
              </a:spcBef>
              <a:buClr>
                <a:srgbClr val="003C75"/>
              </a:buClr>
              <a:buSzPct val="120000"/>
              <a:buFont typeface="Times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A collection of sets </a:t>
            </a:r>
            <a:r>
              <a:rPr lang="en-US" sz="2000" b="0" i="1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P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 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s.t. each </a:t>
            </a:r>
            <a:r>
              <a:rPr lang="en-US" sz="2000" b="0" i="1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s </a:t>
            </a:r>
            <a:r>
              <a:rPr lang="en-US" sz="1800" b="0" i="1" u="none" strike="noStrike">
                <a:solidFill>
                  <a:srgbClr val="000000"/>
                </a:solidFill>
                <a:effectLst/>
                <a:uFillTx/>
                <a:latin typeface="Symbol"/>
                <a:ea typeface="Symbol"/>
              </a:rPr>
              <a:t></a:t>
            </a:r>
            <a:r>
              <a:rPr lang="en-US" sz="2000" b="0" i="1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 S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 is in exactly one </a:t>
            </a:r>
            <a:r>
              <a:rPr lang="en-US" sz="2000" b="0" i="1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p</a:t>
            </a:r>
            <a:r>
              <a:rPr lang="en-US" sz="2000" b="0" i="1" u="none" strike="noStrike" baseline="-25000">
                <a:solidFill>
                  <a:srgbClr val="000000"/>
                </a:solidFill>
                <a:effectLst/>
                <a:uFillTx/>
                <a:latin typeface="Comic Sans MS"/>
              </a:rPr>
              <a:t>i</a:t>
            </a:r>
            <a:r>
              <a:rPr lang="en-US" sz="2000" b="0" i="1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 </a:t>
            </a:r>
            <a:r>
              <a:rPr lang="en-US" sz="1800" b="0" i="1" u="none" strike="noStrike">
                <a:solidFill>
                  <a:srgbClr val="000000"/>
                </a:solidFill>
                <a:effectLst/>
                <a:uFillTx/>
                <a:latin typeface="Symbol"/>
                <a:ea typeface="Symbol"/>
              </a:rPr>
              <a:t></a:t>
            </a:r>
            <a:r>
              <a:rPr lang="en-US" sz="2000" b="0" i="1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 P</a:t>
            </a:r>
            <a:endParaRPr lang="it-IT" sz="20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  <a:p>
            <a:pPr marL="343080" indent="-343080" algn="l">
              <a:spcBef>
                <a:spcPts val="624"/>
              </a:spcBef>
              <a:buClr>
                <a:srgbClr val="003C75"/>
              </a:buClr>
              <a:buSzPct val="120000"/>
              <a:buFont typeface="Times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The algorithm iteratively constructs partitions of the 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DFA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’s states </a:t>
            </a:r>
            <a:endParaRPr lang="it-IT" sz="20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</p:spTree>
  </p:cSld>
  <p:transition>
    <p:wipe dir="r"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Footer Placeholder 3"/>
          <p:cNvSpPr/>
          <p:nvPr/>
        </p:nvSpPr>
        <p:spPr>
          <a:xfrm>
            <a:off x="685800" y="6248520"/>
            <a:ext cx="289548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Autofit/>
          </a:bodyPr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Comp 412, Fall 2010</a:t>
            </a:r>
            <a:endParaRPr lang="it-IT" sz="12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53" name="Slide Number Placeholder 4"/>
          <p:cNvSpPr/>
          <p:nvPr/>
        </p:nvSpPr>
        <p:spPr>
          <a:xfrm>
            <a:off x="6553080" y="6248520"/>
            <a:ext cx="190512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Autofit/>
          </a:bodyPr>
          <a:p>
            <a:pPr algn="r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1FA40348-09AC-48B0-A1E1-3CAC6E4AA722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&lt;number&gt;</a:t>
            </a:fld>
            <a:endParaRPr lang="it-IT" sz="12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54" name="PlaceHolder 1"/>
          <p:cNvSpPr>
            <a:spLocks noGrp="1"/>
          </p:cNvSpPr>
          <p:nvPr>
            <p:ph type="title"/>
          </p:nvPr>
        </p:nvSpPr>
        <p:spPr>
          <a:xfrm>
            <a:off x="762120" y="457200"/>
            <a:ext cx="7772400" cy="533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l">
              <a:spcBef>
                <a:spcPts val="901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DFA Minimization</a:t>
            </a:r>
            <a:endParaRPr lang="it-IT" sz="24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55" name="PlaceHolder 2"/>
          <p:cNvSpPr>
            <a:spLocks noGrp="1"/>
          </p:cNvSpPr>
          <p:nvPr>
            <p:ph/>
          </p:nvPr>
        </p:nvSpPr>
        <p:spPr>
          <a:xfrm>
            <a:off x="685800" y="1143000"/>
            <a:ext cx="7772400" cy="495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92500" lnSpcReduction="9999"/>
          </a:bodyPr>
          <a:p>
            <a:pPr marL="343080" indent="-343080" algn="l">
              <a:spcBef>
                <a:spcPts val="624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Details of the algorithm</a:t>
            </a:r>
            <a:endParaRPr lang="it-IT" sz="20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  <a:p>
            <a:pPr marL="343080" indent="-343080" algn="l">
              <a:spcBef>
                <a:spcPts val="624"/>
              </a:spcBef>
              <a:buClr>
                <a:srgbClr val="003C75"/>
              </a:buClr>
              <a:buSzPct val="120000"/>
              <a:buFont typeface="Times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Group states into maximally sized initial sets, </a:t>
            </a:r>
            <a:r>
              <a:rPr lang="en-US" sz="2000" b="0" i="1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optimistically</a:t>
            </a:r>
            <a:endParaRPr lang="it-IT" sz="20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  <a:p>
            <a:pPr marL="343080" indent="-343080" algn="l">
              <a:spcBef>
                <a:spcPts val="624"/>
              </a:spcBef>
              <a:buClr>
                <a:srgbClr val="003C75"/>
              </a:buClr>
              <a:buSzPct val="120000"/>
              <a:buFont typeface="Times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Iteratively subdivide those sets, based on transition graph </a:t>
            </a:r>
            <a:endParaRPr lang="it-IT" sz="20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  <a:p>
            <a:pPr marL="343080" indent="-343080" algn="l">
              <a:spcBef>
                <a:spcPts val="624"/>
              </a:spcBef>
              <a:buClr>
                <a:srgbClr val="003C75"/>
              </a:buClr>
              <a:buSzPct val="120000"/>
              <a:buFont typeface="Times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States that remain grouped together are equivalent</a:t>
            </a:r>
            <a:endParaRPr lang="it-IT" sz="20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  <a:p>
            <a:pPr marL="343080" indent="-343080" algn="l">
              <a:spcBef>
                <a:spcPts val="2500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B025A6"/>
                </a:solidFill>
                <a:effectLst/>
                <a:uFillTx/>
                <a:latin typeface="Comic Sans MS"/>
              </a:rPr>
              <a:t>Initial partition, </a:t>
            </a:r>
            <a:r>
              <a:rPr lang="en-US" sz="2000" b="0" i="1" u="none" strike="noStrike">
                <a:solidFill>
                  <a:srgbClr val="B025A6"/>
                </a:solidFill>
                <a:effectLst/>
                <a:uFillTx/>
                <a:latin typeface="Comic Sans MS"/>
              </a:rPr>
              <a:t>P</a:t>
            </a:r>
            <a:r>
              <a:rPr lang="en-US" sz="2000" b="0" i="1" u="none" strike="noStrike" baseline="-25000">
                <a:solidFill>
                  <a:srgbClr val="B025A6"/>
                </a:solidFill>
                <a:effectLst/>
                <a:uFillTx/>
                <a:latin typeface="Comic Sans MS"/>
              </a:rPr>
              <a:t>0 </a:t>
            </a:r>
            <a:r>
              <a:rPr lang="en-US" sz="2000" b="0" u="none" strike="noStrike">
                <a:solidFill>
                  <a:srgbClr val="B025A6"/>
                </a:solidFill>
                <a:effectLst/>
                <a:uFillTx/>
                <a:latin typeface="Comic Sans MS"/>
              </a:rPr>
              <a:t>,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 has two sets:</a:t>
            </a:r>
            <a:r>
              <a:rPr lang="en-US" sz="2000" b="0" i="1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 </a:t>
            </a:r>
            <a:r>
              <a:rPr lang="en-US" sz="2000" b="0" i="1" u="none" strike="noStrike">
                <a:solidFill>
                  <a:srgbClr val="FF0065"/>
                </a:solidFill>
                <a:effectLst/>
                <a:uFillTx/>
                <a:latin typeface="Comic Sans MS"/>
              </a:rPr>
              <a:t>{F}</a:t>
            </a:r>
            <a:r>
              <a:rPr lang="en-US" sz="2000" b="0" i="1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 &amp; </a:t>
            </a:r>
            <a:r>
              <a:rPr lang="en-US" sz="2000" b="0" i="1" u="none" strike="noStrike">
                <a:solidFill>
                  <a:srgbClr val="FF0065"/>
                </a:solidFill>
                <a:effectLst/>
                <a:uFillTx/>
                <a:latin typeface="Comic Sans MS"/>
              </a:rPr>
              <a:t>{S-F}</a:t>
            </a:r>
            <a:r>
              <a:rPr lang="en-US" sz="2000" b="0" i="1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     </a:t>
            </a:r>
            <a:r>
              <a:rPr lang="en-US" sz="1800" b="0" i="1" u="none" strike="noStrike">
                <a:solidFill>
                  <a:srgbClr val="1822CD"/>
                </a:solidFill>
                <a:effectLst/>
                <a:uFillTx/>
                <a:latin typeface="Comic Sans MS"/>
              </a:rPr>
              <a:t>  </a:t>
            </a:r>
            <a:r>
              <a:rPr lang="en-US" sz="1800" b="0" i="1" u="none" strike="noStrike">
                <a:solidFill>
                  <a:srgbClr val="B025A6"/>
                </a:solidFill>
                <a:effectLst/>
                <a:uFillTx/>
                <a:latin typeface="Comic Sans MS"/>
              </a:rPr>
              <a:t>D =(S,</a:t>
            </a:r>
            <a:r>
              <a:rPr lang="en-US" sz="1800" b="0" i="1" u="none" strike="noStrike">
                <a:solidFill>
                  <a:srgbClr val="B025A6"/>
                </a:solidFill>
                <a:effectLst/>
                <a:uFillTx/>
                <a:latin typeface="Symbol"/>
                <a:ea typeface="Symbol"/>
              </a:rPr>
              <a:t></a:t>
            </a:r>
            <a:r>
              <a:rPr lang="en-US" sz="1800" b="0" i="1" u="none" strike="noStrike">
                <a:solidFill>
                  <a:srgbClr val="B025A6"/>
                </a:solidFill>
                <a:effectLst/>
                <a:uFillTx/>
                <a:latin typeface="Comic Sans MS"/>
              </a:rPr>
              <a:t>,</a:t>
            </a:r>
            <a:r>
              <a:rPr lang="en-US" sz="1800" b="0" i="1" u="none" strike="noStrike">
                <a:solidFill>
                  <a:srgbClr val="B025A6"/>
                </a:solidFill>
                <a:effectLst/>
                <a:uFillTx/>
                <a:latin typeface="Symbol"/>
                <a:ea typeface="Symbol"/>
              </a:rPr>
              <a:t></a:t>
            </a:r>
            <a:r>
              <a:rPr lang="en-US" sz="1800" b="0" i="1" u="none" strike="noStrike">
                <a:solidFill>
                  <a:srgbClr val="B025A6"/>
                </a:solidFill>
                <a:effectLst/>
                <a:uFillTx/>
                <a:latin typeface="Comic Sans MS"/>
              </a:rPr>
              <a:t>,s</a:t>
            </a:r>
            <a:r>
              <a:rPr lang="en-US" sz="1800" b="0" i="1" u="none" strike="noStrike" baseline="-25000">
                <a:solidFill>
                  <a:srgbClr val="B025A6"/>
                </a:solidFill>
                <a:effectLst/>
                <a:uFillTx/>
                <a:latin typeface="Comic Sans MS"/>
              </a:rPr>
              <a:t>0</a:t>
            </a:r>
            <a:r>
              <a:rPr lang="en-US" sz="1800" b="0" i="1" u="none" strike="noStrike">
                <a:solidFill>
                  <a:srgbClr val="B025A6"/>
                </a:solidFill>
                <a:effectLst/>
                <a:uFillTx/>
                <a:latin typeface="Comic Sans MS"/>
              </a:rPr>
              <a:t>,F)</a:t>
            </a:r>
            <a:r>
              <a:rPr lang="en-US" sz="2000" b="0" i="1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 </a:t>
            </a:r>
            <a:endParaRPr lang="it-IT" sz="20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  <a:p>
            <a:pPr marL="343080" indent="-343080" algn="l">
              <a:spcBef>
                <a:spcPts val="2500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Splitting a set (“partitioning a set by </a:t>
            </a:r>
            <a:r>
              <a:rPr lang="en-US" sz="2000" b="0" u="sng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a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”)</a:t>
            </a:r>
            <a:endParaRPr lang="it-IT" sz="20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  <a:p>
            <a:pPr marL="343080" indent="-343080" algn="l">
              <a:spcBef>
                <a:spcPts val="624"/>
              </a:spcBef>
              <a:buClr>
                <a:srgbClr val="003C75"/>
              </a:buClr>
              <a:buSzPct val="120000"/>
              <a:buFont typeface="Times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Assume </a:t>
            </a:r>
            <a:r>
              <a:rPr lang="en-US" sz="2000" b="0" i="1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s</a:t>
            </a:r>
            <a:r>
              <a:rPr lang="en-US" sz="2000" b="0" i="1" u="none" strike="noStrike" baseline="-25000">
                <a:solidFill>
                  <a:srgbClr val="000000"/>
                </a:solidFill>
                <a:effectLst/>
                <a:uFillTx/>
                <a:latin typeface="Comic Sans MS"/>
              </a:rPr>
              <a:t>a</a:t>
            </a:r>
            <a:r>
              <a:rPr lang="en-US" sz="2000" b="0" i="1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 &amp; s</a:t>
            </a:r>
            <a:r>
              <a:rPr lang="en-US" sz="2000" b="0" i="1" u="none" strike="noStrike" baseline="-25000">
                <a:solidFill>
                  <a:srgbClr val="000000"/>
                </a:solidFill>
                <a:effectLst/>
                <a:uFillTx/>
                <a:latin typeface="Comic Sans MS"/>
              </a:rPr>
              <a:t>b 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Symbol"/>
                <a:ea typeface="Symbol"/>
              </a:rPr>
              <a:t>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 </a:t>
            </a:r>
            <a:r>
              <a:rPr lang="en-US" sz="2000" b="0" i="1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p</a:t>
            </a:r>
            <a:r>
              <a:rPr lang="en-US" sz="2000" b="0" i="1" u="none" strike="noStrike" baseline="-25000">
                <a:solidFill>
                  <a:srgbClr val="000000"/>
                </a:solidFill>
                <a:effectLst/>
                <a:uFillTx/>
                <a:latin typeface="Comic Sans MS"/>
              </a:rPr>
              <a:t>i</a:t>
            </a:r>
            <a:r>
              <a:rPr lang="en-US" sz="2000" b="0" i="1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,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and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Symbol"/>
                <a:ea typeface="Symbol"/>
              </a:rPr>
              <a:t>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(</a:t>
            </a:r>
            <a:r>
              <a:rPr lang="en-US" sz="2000" b="0" i="1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s</a:t>
            </a:r>
            <a:r>
              <a:rPr lang="en-US" sz="2000" b="0" i="1" u="none" strike="noStrike" baseline="-25000">
                <a:solidFill>
                  <a:srgbClr val="000000"/>
                </a:solidFill>
                <a:effectLst/>
                <a:uFillTx/>
                <a:latin typeface="Comic Sans MS"/>
              </a:rPr>
              <a:t>a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,</a:t>
            </a:r>
            <a:r>
              <a:rPr lang="en-US" sz="2000" b="0" u="sng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a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) = </a:t>
            </a:r>
            <a:r>
              <a:rPr lang="en-US" sz="2000" b="0" i="1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s</a:t>
            </a:r>
            <a:r>
              <a:rPr lang="en-US" sz="2000" b="0" i="1" u="none" strike="noStrike" baseline="-25000">
                <a:solidFill>
                  <a:srgbClr val="000000"/>
                </a:solidFill>
                <a:effectLst/>
                <a:uFillTx/>
                <a:latin typeface="Comic Sans MS"/>
              </a:rPr>
              <a:t>x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, &amp; 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Symbol"/>
                <a:ea typeface="Symbol"/>
              </a:rPr>
              <a:t>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(</a:t>
            </a:r>
            <a:r>
              <a:rPr lang="en-US" sz="2000" b="0" i="1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s</a:t>
            </a:r>
            <a:r>
              <a:rPr lang="en-US" sz="2000" b="0" i="1" u="none" strike="noStrike" baseline="-25000">
                <a:solidFill>
                  <a:srgbClr val="000000"/>
                </a:solidFill>
                <a:effectLst/>
                <a:uFillTx/>
                <a:latin typeface="Comic Sans MS"/>
              </a:rPr>
              <a:t>b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,</a:t>
            </a:r>
            <a:r>
              <a:rPr lang="en-US" sz="2000" b="0" u="sng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a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) = </a:t>
            </a:r>
            <a:r>
              <a:rPr lang="en-US" sz="2000" b="0" i="1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s</a:t>
            </a:r>
            <a:r>
              <a:rPr lang="en-US" sz="2000" b="0" i="1" u="none" strike="noStrike" baseline="-25000">
                <a:solidFill>
                  <a:srgbClr val="000000"/>
                </a:solidFill>
                <a:effectLst/>
                <a:uFillTx/>
                <a:latin typeface="Comic Sans MS"/>
              </a:rPr>
              <a:t>y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 </a:t>
            </a:r>
            <a:endParaRPr lang="it-IT" sz="20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  <a:p>
            <a:pPr marL="343080" indent="-343080" algn="l">
              <a:spcBef>
                <a:spcPts val="624"/>
              </a:spcBef>
              <a:buClr>
                <a:srgbClr val="003C75"/>
              </a:buClr>
              <a:buSzPct val="120000"/>
              <a:buFont typeface="Times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If </a:t>
            </a:r>
            <a:r>
              <a:rPr lang="en-US" sz="2000" b="0" i="1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s</a:t>
            </a:r>
            <a:r>
              <a:rPr lang="en-US" sz="2000" b="0" i="1" u="none" strike="noStrike" baseline="-25000">
                <a:solidFill>
                  <a:srgbClr val="000000"/>
                </a:solidFill>
                <a:effectLst/>
                <a:uFillTx/>
                <a:latin typeface="Comic Sans MS"/>
              </a:rPr>
              <a:t>x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 &amp; </a:t>
            </a:r>
            <a:r>
              <a:rPr lang="en-US" sz="2000" b="0" i="1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s</a:t>
            </a:r>
            <a:r>
              <a:rPr lang="en-US" sz="2000" b="0" i="1" u="none" strike="noStrike" baseline="-25000">
                <a:solidFill>
                  <a:srgbClr val="000000"/>
                </a:solidFill>
                <a:effectLst/>
                <a:uFillTx/>
                <a:latin typeface="Comic Sans MS"/>
              </a:rPr>
              <a:t>y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 are not in the same set </a:t>
            </a:r>
            <a:r>
              <a:rPr lang="en-US" sz="2000" b="0" i="1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p</a:t>
            </a:r>
            <a:r>
              <a:rPr lang="en-US" sz="2000" b="0" i="1" u="none" strike="noStrike" baseline="-25000">
                <a:solidFill>
                  <a:srgbClr val="000000"/>
                </a:solidFill>
                <a:effectLst/>
                <a:uFillTx/>
                <a:latin typeface="Comic Sans MS"/>
              </a:rPr>
              <a:t>j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, then </a:t>
            </a:r>
            <a:r>
              <a:rPr lang="en-US" sz="2000" b="0" i="1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p</a:t>
            </a:r>
            <a:r>
              <a:rPr lang="en-US" sz="2000" b="0" i="1" u="none" strike="noStrike" baseline="-25000">
                <a:solidFill>
                  <a:srgbClr val="000000"/>
                </a:solidFill>
                <a:effectLst/>
                <a:uFillTx/>
                <a:latin typeface="Comic Sans MS"/>
              </a:rPr>
              <a:t>i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 must be split</a:t>
            </a:r>
            <a:endParaRPr lang="it-IT" sz="20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  <a:p>
            <a:pPr marL="743040" lvl="1" indent="-285840" algn="l">
              <a:spcBef>
                <a:spcPts val="561"/>
              </a:spcBef>
              <a:buClr>
                <a:srgbClr val="003C75"/>
              </a:buClr>
              <a:buFont typeface="Comic Sans MS"/>
              <a:buChar char="—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i="1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s</a:t>
            </a:r>
            <a:r>
              <a:rPr lang="en-US" sz="1800" b="0" i="1" u="none" strike="noStrike" baseline="-25000">
                <a:solidFill>
                  <a:srgbClr val="000000"/>
                </a:solidFill>
                <a:effectLst/>
                <a:uFillTx/>
                <a:latin typeface="Comic Sans MS"/>
              </a:rPr>
              <a:t>a</a:t>
            </a:r>
            <a:r>
              <a:rPr lang="en-US" sz="1800" b="0" i="1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 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has transition on a, </a:t>
            </a:r>
            <a:r>
              <a:rPr lang="en-US" sz="1800" b="0" i="1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s</a:t>
            </a:r>
            <a:r>
              <a:rPr lang="en-US" sz="1800" b="0" i="1" u="none" strike="noStrike" baseline="-25000">
                <a:solidFill>
                  <a:srgbClr val="000000"/>
                </a:solidFill>
                <a:effectLst/>
                <a:uFillTx/>
                <a:latin typeface="Comic Sans MS"/>
              </a:rPr>
              <a:t>b</a:t>
            </a:r>
            <a:r>
              <a:rPr lang="en-US" sz="1800" b="0" i="1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 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does not 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Symbol"/>
                <a:ea typeface="Symbol"/>
              </a:rPr>
              <a:t>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 </a:t>
            </a:r>
            <a:r>
              <a:rPr lang="en-US" sz="1800" b="0" u="sng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a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 splits </a:t>
            </a:r>
            <a:r>
              <a:rPr lang="en-US" sz="1800" b="0" i="1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p</a:t>
            </a:r>
            <a:r>
              <a:rPr lang="en-US" sz="1800" b="0" i="1" u="none" strike="noStrike" baseline="-25000">
                <a:solidFill>
                  <a:srgbClr val="000000"/>
                </a:solidFill>
                <a:effectLst/>
                <a:uFillTx/>
                <a:latin typeface="Comic Sans MS"/>
              </a:rPr>
              <a:t>i</a:t>
            </a:r>
            <a:r>
              <a:rPr lang="en-US" sz="1800" b="0" i="1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 </a:t>
            </a:r>
            <a:endParaRPr lang="it-IT" sz="18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  <a:p>
            <a:pPr marL="343080" indent="-343080" algn="l">
              <a:spcBef>
                <a:spcPts val="624"/>
              </a:spcBef>
              <a:buClr>
                <a:srgbClr val="003C75"/>
              </a:buClr>
              <a:buSzPct val="120000"/>
              <a:buFont typeface="Times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One state in the final 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DFA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 cannot have two transitions on </a:t>
            </a:r>
            <a:r>
              <a:rPr lang="en-US" sz="2000" b="0" u="sng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a</a:t>
            </a:r>
            <a:endParaRPr lang="it-IT" sz="20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  <a:p>
            <a:pPr marL="343080" indent="-343080" algn="l">
              <a:spcBef>
                <a:spcPts val="624"/>
              </a:spcBef>
              <a:buClr>
                <a:srgbClr val="003C75"/>
              </a:buClr>
              <a:buSzPct val="120000"/>
              <a:buFont typeface="Times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The algorithm works backward, from a pair (</a:t>
            </a:r>
            <a:r>
              <a:rPr lang="en-US" sz="2000" b="0" i="1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p,</a:t>
            </a:r>
            <a:r>
              <a:rPr lang="en-US" sz="2000" b="0" u="sng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a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) to the subset of the states in some other set </a:t>
            </a:r>
            <a:r>
              <a:rPr lang="en-US" sz="2000" b="0" i="1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q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that reach </a:t>
            </a:r>
            <a:r>
              <a:rPr lang="en-US" sz="2000" b="0" i="1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p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 on a</a:t>
            </a:r>
            <a:endParaRPr lang="it-IT" sz="20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56" name="Text Box 4"/>
          <p:cNvSpPr/>
          <p:nvPr/>
        </p:nvSpPr>
        <p:spPr>
          <a:xfrm>
            <a:off x="4381560" y="3162240"/>
            <a:ext cx="1295280" cy="30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spAutoFit/>
          </a:bodyPr>
          <a:p>
            <a:pPr>
              <a:spcBef>
                <a:spcPts val="876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400" b="0" u="none" strike="noStrike">
                <a:solidFill>
                  <a:srgbClr val="ED181E"/>
                </a:solidFill>
                <a:effectLst/>
                <a:uFillTx/>
                <a:latin typeface="Comic Sans MS"/>
              </a:rPr>
              <a:t>final states</a:t>
            </a:r>
            <a:endParaRPr lang="it-IT" sz="14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57" name="Text Box 5"/>
          <p:cNvSpPr/>
          <p:nvPr/>
        </p:nvSpPr>
        <p:spPr>
          <a:xfrm>
            <a:off x="5219640" y="3162240"/>
            <a:ext cx="1295640" cy="30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spAutoFit/>
          </a:bodyPr>
          <a:p>
            <a:pPr algn="ctr">
              <a:spcBef>
                <a:spcPts val="876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400" b="0" u="none" strike="noStrike">
                <a:solidFill>
                  <a:srgbClr val="ED181E"/>
                </a:solidFill>
                <a:effectLst/>
                <a:uFillTx/>
                <a:latin typeface="Comic Sans MS"/>
              </a:rPr>
              <a:t>others</a:t>
            </a:r>
            <a:endParaRPr lang="it-IT" sz="14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grpSp>
        <p:nvGrpSpPr>
          <p:cNvPr id="58" name="Group 11"/>
          <p:cNvGrpSpPr/>
          <p:nvPr/>
        </p:nvGrpSpPr>
        <p:grpSpPr>
          <a:xfrm>
            <a:off x="3962520" y="225360"/>
            <a:ext cx="3276000" cy="1374840"/>
            <a:chOff x="3962520" y="225360"/>
            <a:chExt cx="3276000" cy="1374840"/>
          </a:xfrm>
        </p:grpSpPr>
        <p:sp>
          <p:nvSpPr>
            <p:cNvPr id="59" name="Text Box 6"/>
            <p:cNvSpPr/>
            <p:nvPr/>
          </p:nvSpPr>
          <p:spPr>
            <a:xfrm>
              <a:off x="4952880" y="225360"/>
              <a:ext cx="2285640" cy="5209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spAutoFit/>
            </a:bodyPr>
            <a:p>
              <a:pPr>
                <a:spcBef>
                  <a:spcPts val="876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400" b="0" u="none" strike="noStrike">
                  <a:solidFill>
                    <a:srgbClr val="FF0065"/>
                  </a:solidFill>
                  <a:effectLst/>
                  <a:uFillTx/>
                  <a:latin typeface="Comic Sans MS"/>
                </a:rPr>
                <a:t>Maximally sized sets </a:t>
              </a:r>
              <a:r>
                <a:rPr lang="en-US" sz="1400" b="0" u="none" strike="noStrike">
                  <a:solidFill>
                    <a:srgbClr val="FF0065"/>
                  </a:solidFill>
                  <a:effectLst/>
                  <a:uFillTx/>
                  <a:latin typeface="Symbol"/>
                  <a:ea typeface="Symbol"/>
                </a:rPr>
                <a:t></a:t>
              </a:r>
              <a:r>
                <a:rPr lang="en-US" sz="1400" b="0" u="none" strike="noStrike">
                  <a:solidFill>
                    <a:srgbClr val="FF0065"/>
                  </a:solidFill>
                  <a:effectLst/>
                  <a:uFillTx/>
                  <a:latin typeface="Comic Sans MS"/>
                </a:rPr>
                <a:t> minimal number of sets</a:t>
              </a:r>
              <a:endParaRPr lang="it-IT" sz="14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60" name="Line 7"/>
            <p:cNvSpPr/>
            <p:nvPr/>
          </p:nvSpPr>
          <p:spPr>
            <a:xfrm>
              <a:off x="4952880" y="758880"/>
              <a:ext cx="2285640" cy="0"/>
            </a:xfrm>
            <a:prstGeom prst="line">
              <a:avLst/>
            </a:prstGeom>
            <a:ln w="19080">
              <a:solidFill>
                <a:srgbClr val="FF0065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46800" rIns="90000" bIns="-46800" anchor="ctr">
              <a:noAutofit/>
            </a:bodyPr>
            <a:p>
              <a:endParaRPr lang="it-IT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61" name="Freeform 9"/>
            <p:cNvSpPr/>
            <p:nvPr/>
          </p:nvSpPr>
          <p:spPr>
            <a:xfrm>
              <a:off x="3962520" y="762120"/>
              <a:ext cx="2133360" cy="838080"/>
            </a:xfrm>
            <a:custGeom>
              <a:avLst/>
              <a:gdLst>
                <a:gd name="textAreaLeft" fmla="*/ 0 w 2133360"/>
                <a:gd name="textAreaRight" fmla="*/ 2133720 w 2133360"/>
                <a:gd name="textAreaTop" fmla="*/ 0 h 838080"/>
                <a:gd name="textAreaBottom" fmla="*/ 838440 h 838080"/>
                <a:gd name="GluePoint1X" fmla="*/ 1344 w 1344"/>
                <a:gd name="GluePoint1Y" fmla="*/ 0 h 528"/>
                <a:gd name="GluePoint2X" fmla="*/ 960 w 1344"/>
                <a:gd name="GluePoint2Y" fmla="*/ 144 h 528"/>
                <a:gd name="GluePoint3X" fmla="*/ 1104 w 1344"/>
                <a:gd name="GluePoint3Y" fmla="*/ 192 h 528"/>
                <a:gd name="GluePoint4X" fmla="*/ 0 w 1344"/>
                <a:gd name="GluePoint4Y" fmla="*/ 528 h 528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1344" h="528">
                  <a:moveTo>
                    <a:pt x="1344" y="0"/>
                  </a:moveTo>
                  <a:cubicBezTo>
                    <a:pt x="1172" y="56"/>
                    <a:pt x="1000" y="112"/>
                    <a:pt x="960" y="144"/>
                  </a:cubicBezTo>
                  <a:cubicBezTo>
                    <a:pt x="920" y="176"/>
                    <a:pt x="1264" y="128"/>
                    <a:pt x="1104" y="192"/>
                  </a:cubicBezTo>
                  <a:cubicBezTo>
                    <a:pt x="944" y="256"/>
                    <a:pt x="472" y="392"/>
                    <a:pt x="0" y="528"/>
                  </a:cubicBezTo>
                </a:path>
              </a:pathLst>
            </a:custGeom>
            <a:noFill/>
            <a:ln w="9360">
              <a:solidFill>
                <a:srgbClr val="FF0065"/>
              </a:solidFill>
              <a:round/>
              <a:tailEnd len="med" type="triangle" w="med"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ctr">
              <a:noAutofit/>
            </a:bodyPr>
            <a:p>
              <a:endParaRPr lang="it-IT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</p:grpSp>
    </p:spTree>
  </p:cSld>
  <p:transition>
    <p:wipe dir="r"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Footer Placeholder 2"/>
          <p:cNvSpPr/>
          <p:nvPr/>
        </p:nvSpPr>
        <p:spPr>
          <a:xfrm>
            <a:off x="685800" y="6248520"/>
            <a:ext cx="289548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Autofit/>
          </a:bodyPr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Comp 412, Fall 2010</a:t>
            </a:r>
            <a:endParaRPr lang="it-IT" sz="12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63" name="Slide Number Placeholder 3"/>
          <p:cNvSpPr/>
          <p:nvPr/>
        </p:nvSpPr>
        <p:spPr>
          <a:xfrm>
            <a:off x="6553080" y="6248520"/>
            <a:ext cx="190512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Autofit/>
          </a:bodyPr>
          <a:p>
            <a:pPr algn="r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43ED0AD0-728B-4B3A-81E7-AB1EEA8CE083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&lt;number&gt;</a:t>
            </a:fld>
            <a:endParaRPr lang="it-IT" sz="12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cxnSp>
        <p:nvCxnSpPr>
          <p:cNvPr id="64" name="AutoShape 2"/>
          <p:cNvCxnSpPr/>
          <p:nvPr/>
        </p:nvCxnSpPr>
        <p:spPr>
          <a:xfrm flipV="1">
            <a:off x="2833200" y="2323440"/>
            <a:ext cx="2148840" cy="153000"/>
          </a:xfrm>
          <a:prstGeom prst="straightConnector1">
            <a:avLst/>
          </a:prstGeom>
          <a:ln w="19080">
            <a:solidFill>
              <a:srgbClr val="000000"/>
            </a:solidFill>
            <a:miter/>
            <a:tailEnd len="med" type="triangle" w="med"/>
          </a:ln>
        </p:spPr>
      </p:cxnSp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685800" y="533160"/>
            <a:ext cx="7772400" cy="533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l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Key Idea: Splitting S around </a:t>
            </a:r>
            <a:r>
              <a:rPr lang="en-US" sz="2400" b="1" i="1" u="none" strike="noStrike">
                <a:solidFill>
                  <a:srgbClr val="000000"/>
                </a:solidFill>
                <a:effectLst/>
                <a:uFillTx/>
                <a:latin typeface="Symbol"/>
                <a:ea typeface="Symbol"/>
              </a:rPr>
              <a:t>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 </a:t>
            </a:r>
            <a:endParaRPr lang="it-IT" sz="24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66" name="AutoShape 4"/>
          <p:cNvSpPr/>
          <p:nvPr/>
        </p:nvSpPr>
        <p:spPr>
          <a:xfrm>
            <a:off x="1333440" y="2057400"/>
            <a:ext cx="1752840" cy="1371600"/>
          </a:xfrm>
          <a:prstGeom prst="roundRect">
            <a:avLst>
              <a:gd name="adj" fmla="val 16667"/>
            </a:avLst>
          </a:prstGeom>
          <a:solidFill>
            <a:srgbClr val="BBE0E3"/>
          </a:solidFill>
          <a:ln w="1908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pPr algn="ctr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i="1" u="none" strike="noStrike">
                <a:solidFill>
                  <a:srgbClr val="FF0065"/>
                </a:solidFill>
                <a:effectLst/>
                <a:uFillTx/>
                <a:latin typeface="Comic Sans MS"/>
              </a:rPr>
              <a:t>Q</a:t>
            </a:r>
            <a:endParaRPr lang="it-IT" sz="18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grpSp>
        <p:nvGrpSpPr>
          <p:cNvPr id="67" name="Group 5"/>
          <p:cNvGrpSpPr/>
          <p:nvPr/>
        </p:nvGrpSpPr>
        <p:grpSpPr>
          <a:xfrm>
            <a:off x="4991040" y="1828800"/>
            <a:ext cx="990720" cy="990720"/>
            <a:chOff x="4991040" y="1828800"/>
            <a:chExt cx="990720" cy="990720"/>
          </a:xfrm>
        </p:grpSpPr>
        <p:sp>
          <p:nvSpPr>
            <p:cNvPr id="68" name="Oval 6"/>
            <p:cNvSpPr/>
            <p:nvPr/>
          </p:nvSpPr>
          <p:spPr>
            <a:xfrm>
              <a:off x="4991040" y="1828800"/>
              <a:ext cx="990720" cy="990720"/>
            </a:xfrm>
            <a:prstGeom prst="ellipse">
              <a:avLst/>
            </a:prstGeom>
            <a:solidFill>
              <a:srgbClr val="009999"/>
            </a:solidFill>
            <a:ln w="1908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ctr">
              <a:noAutofit/>
            </a:bodyPr>
            <a:p>
              <a:pPr algn="ctr"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endParaRPr lang="it-IT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69" name="Text Box 7"/>
            <p:cNvSpPr/>
            <p:nvPr/>
          </p:nvSpPr>
          <p:spPr>
            <a:xfrm>
              <a:off x="5316480" y="2119320"/>
              <a:ext cx="339840" cy="368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spAutoFit/>
            </a:bodyPr>
            <a:p>
              <a: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800" b="0" i="1" u="none" strike="noStrike">
                  <a:solidFill>
                    <a:srgbClr val="000000"/>
                  </a:solidFill>
                  <a:effectLst/>
                  <a:uFillTx/>
                  <a:latin typeface="Comic Sans MS"/>
                </a:rPr>
                <a:t>S</a:t>
              </a:r>
              <a:endParaRPr lang="it-IT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</p:grpSp>
      <p:sp>
        <p:nvSpPr>
          <p:cNvPr id="70" name="Text Box 8"/>
          <p:cNvSpPr/>
          <p:nvPr/>
        </p:nvSpPr>
        <p:spPr>
          <a:xfrm>
            <a:off x="3513600" y="2127240"/>
            <a:ext cx="308520" cy="33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600" b="0" i="1" u="none" strike="noStrike">
                <a:solidFill>
                  <a:srgbClr val="000000"/>
                </a:solidFill>
                <a:effectLst/>
                <a:uFillTx/>
                <a:latin typeface="Symbol"/>
                <a:ea typeface="Symbol"/>
              </a:rPr>
              <a:t></a:t>
            </a:r>
            <a:endParaRPr lang="it-IT" sz="16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71" name="Text Box 9"/>
          <p:cNvSpPr/>
          <p:nvPr/>
        </p:nvSpPr>
        <p:spPr>
          <a:xfrm>
            <a:off x="1249920" y="5532480"/>
            <a:ext cx="4135680" cy="39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i="1" u="none" strike="noStrike">
                <a:solidFill>
                  <a:srgbClr val="B025A6"/>
                </a:solidFill>
                <a:effectLst/>
                <a:uFillTx/>
                <a:latin typeface="Comic Sans MS"/>
              </a:rPr>
              <a:t>The algorithm partitions Q around </a:t>
            </a:r>
            <a:r>
              <a:rPr lang="en-US" sz="2000" b="0" i="1" u="none" strike="noStrike">
                <a:solidFill>
                  <a:srgbClr val="B025A6"/>
                </a:solidFill>
                <a:effectLst/>
                <a:uFillTx/>
                <a:latin typeface="Symbol"/>
                <a:ea typeface="Symbol"/>
              </a:rPr>
              <a:t></a:t>
            </a:r>
            <a:endParaRPr lang="it-IT" sz="20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72" name="Text Box 10"/>
          <p:cNvSpPr/>
          <p:nvPr/>
        </p:nvSpPr>
        <p:spPr>
          <a:xfrm>
            <a:off x="609480" y="1143000"/>
            <a:ext cx="1905120" cy="36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spAutoFit/>
          </a:bodyPr>
          <a:p>
            <a:pPr>
              <a:spcBef>
                <a:spcPts val="112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u="none" strike="noStrike">
                <a:solidFill>
                  <a:srgbClr val="FF0065"/>
                </a:solidFill>
                <a:effectLst/>
                <a:uFillTx/>
                <a:latin typeface="Comic Sans MS"/>
              </a:rPr>
              <a:t>Original set </a:t>
            </a:r>
            <a:r>
              <a:rPr lang="en-US" sz="1800" b="0" i="1" u="none" strike="noStrike">
                <a:solidFill>
                  <a:srgbClr val="FF0065"/>
                </a:solidFill>
                <a:effectLst/>
                <a:uFillTx/>
                <a:latin typeface="Comic Sans MS"/>
              </a:rPr>
              <a:t>Q</a:t>
            </a:r>
            <a:endParaRPr lang="it-IT" sz="18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cxnSp>
        <p:nvCxnSpPr>
          <p:cNvPr id="73" name="AutoShape 11"/>
          <p:cNvCxnSpPr>
            <a:stCxn id="66" idx="2"/>
          </p:cNvCxnSpPr>
          <p:nvPr/>
        </p:nvCxnSpPr>
        <p:spPr>
          <a:xfrm>
            <a:off x="2209680" y="3438000"/>
            <a:ext cx="586800" cy="856440"/>
          </a:xfrm>
          <a:prstGeom prst="straightConnector1">
            <a:avLst/>
          </a:prstGeom>
          <a:ln w="19080">
            <a:solidFill>
              <a:srgbClr val="000000"/>
            </a:solidFill>
            <a:miter/>
            <a:tailEnd len="med" type="triangle" w="med"/>
          </a:ln>
        </p:spPr>
      </p:cxnSp>
      <p:sp>
        <p:nvSpPr>
          <p:cNvPr id="74" name="Text Box 12"/>
          <p:cNvSpPr/>
          <p:nvPr/>
        </p:nvSpPr>
        <p:spPr>
          <a:xfrm>
            <a:off x="2554920" y="3701880"/>
            <a:ext cx="308520" cy="33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600" b="0" i="1" u="none" strike="noStrike">
                <a:solidFill>
                  <a:srgbClr val="000000"/>
                </a:solidFill>
                <a:effectLst/>
                <a:uFillTx/>
                <a:latin typeface="Symbol"/>
                <a:ea typeface="Symbol"/>
              </a:rPr>
              <a:t></a:t>
            </a:r>
            <a:endParaRPr lang="it-IT" sz="16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75" name="Text Box 13"/>
          <p:cNvSpPr/>
          <p:nvPr/>
        </p:nvSpPr>
        <p:spPr>
          <a:xfrm>
            <a:off x="3420000" y="3216240"/>
            <a:ext cx="308520" cy="33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600" b="0" i="1" u="none" strike="noStrike">
                <a:solidFill>
                  <a:srgbClr val="000000"/>
                </a:solidFill>
                <a:effectLst/>
                <a:uFillTx/>
                <a:latin typeface="Symbol"/>
                <a:ea typeface="Symbol"/>
              </a:rPr>
              <a:t></a:t>
            </a:r>
            <a:endParaRPr lang="it-IT" sz="16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76" name="Text Box 14"/>
          <p:cNvSpPr/>
          <p:nvPr/>
        </p:nvSpPr>
        <p:spPr>
          <a:xfrm>
            <a:off x="6629400" y="3048120"/>
            <a:ext cx="2209680" cy="673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spAutoFit/>
          </a:bodyPr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i="1" u="none" strike="noStrike">
                <a:solidFill>
                  <a:srgbClr val="FF0065"/>
                </a:solidFill>
                <a:effectLst/>
                <a:uFillTx/>
                <a:latin typeface="Comic Sans MS"/>
              </a:rPr>
              <a:t>Q  </a:t>
            </a:r>
            <a:r>
              <a:rPr lang="en-US" sz="1800" b="0" u="none" strike="noStrike">
                <a:solidFill>
                  <a:srgbClr val="FF0065"/>
                </a:solidFill>
                <a:effectLst/>
                <a:uFillTx/>
                <a:latin typeface="Comic Sans MS"/>
              </a:rPr>
              <a:t>has transitions on </a:t>
            </a:r>
            <a:r>
              <a:rPr lang="en-US" sz="2000" b="0" i="1" u="none" strike="noStrike">
                <a:solidFill>
                  <a:srgbClr val="FF0065"/>
                </a:solidFill>
                <a:effectLst/>
                <a:uFillTx/>
                <a:latin typeface="Symbol"/>
                <a:ea typeface="Symbol"/>
              </a:rPr>
              <a:t></a:t>
            </a:r>
            <a:r>
              <a:rPr lang="en-US" sz="1800" b="0" u="none" strike="noStrike">
                <a:solidFill>
                  <a:srgbClr val="FF0065"/>
                </a:solidFill>
                <a:effectLst/>
                <a:uFillTx/>
                <a:latin typeface="Comic Sans MS"/>
              </a:rPr>
              <a:t> to </a:t>
            </a:r>
            <a:r>
              <a:rPr lang="en-US" sz="1800" b="0" i="1" u="none" strike="noStrike">
                <a:solidFill>
                  <a:srgbClr val="FF0065"/>
                </a:solidFill>
                <a:effectLst/>
                <a:uFillTx/>
                <a:latin typeface="Comic Sans MS"/>
              </a:rPr>
              <a:t>R, S, &amp; T</a:t>
            </a:r>
            <a:endParaRPr lang="it-IT" sz="18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cxnSp>
        <p:nvCxnSpPr>
          <p:cNvPr id="77" name="AutoShape 15"/>
          <p:cNvCxnSpPr/>
          <p:nvPr/>
        </p:nvCxnSpPr>
        <p:spPr>
          <a:xfrm>
            <a:off x="1218960" y="1553760"/>
            <a:ext cx="191160" cy="351360"/>
          </a:xfrm>
          <a:prstGeom prst="straightConnector1">
            <a:avLst/>
          </a:prstGeom>
          <a:ln w="28440">
            <a:solidFill>
              <a:srgbClr val="FF0065"/>
            </a:solidFill>
            <a:miter/>
            <a:tailEnd len="med" type="triangle" w="med"/>
          </a:ln>
        </p:spPr>
      </p:cxnSp>
      <p:sp>
        <p:nvSpPr>
          <p:cNvPr id="78" name="AutoShape 16"/>
          <p:cNvSpPr/>
          <p:nvPr/>
        </p:nvSpPr>
        <p:spPr>
          <a:xfrm>
            <a:off x="6095880" y="1676520"/>
            <a:ext cx="609840" cy="3504960"/>
          </a:xfrm>
          <a:custGeom>
            <a:avLst/>
            <a:gdLst>
              <a:gd name="textAreaLeft" fmla="*/ 0 w 609840"/>
              <a:gd name="textAreaRight" fmla="*/ 220320 w 609840"/>
              <a:gd name="textAreaTop" fmla="*/ 91080 h 3504960"/>
              <a:gd name="textAreaBottom" fmla="*/ 3413880 h 3504960"/>
              <a:gd name="GluePoint1X" fmla="*/ 0 w 21600"/>
              <a:gd name="GluePoint1Y" fmla="*/ 0 h 21600"/>
              <a:gd name="GluePoint2X" fmla="*/ 0 w 21600"/>
              <a:gd name="GluePoint2Y" fmla="*/ 21600 h 21600"/>
              <a:gd name="GluePoint3X" fmla="*/ 21600 w 21600"/>
              <a:gd name="GluePoint3Y" fmla="*/ 10800 h 2160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</a:cxnLst>
            <a:rect l="textAreaLeft" t="textAreaTop" r="textAreaRight" b="textAreaBottom"/>
            <a:pathLst>
              <a:path w="21600" h="21600">
                <a:moveTo>
                  <a:pt x="0" y="0"/>
                </a:moveTo>
                <a:cubicBezTo>
                  <a:pt x="5400" y="0"/>
                  <a:pt x="10800" y="900"/>
                  <a:pt x="10800" y="1800"/>
                </a:cubicBezTo>
                <a:lnTo>
                  <a:pt x="10800" y="9000"/>
                </a:lnTo>
                <a:cubicBezTo>
                  <a:pt x="10800" y="9900"/>
                  <a:pt x="16200" y="10800"/>
                  <a:pt x="21600" y="10800"/>
                </a:cubicBezTo>
                <a:cubicBezTo>
                  <a:pt x="16200" y="10800"/>
                  <a:pt x="10800" y="11700"/>
                  <a:pt x="10800" y="12600"/>
                </a:cubicBezTo>
                <a:lnTo>
                  <a:pt x="10800" y="19800"/>
                </a:lnTo>
                <a:cubicBezTo>
                  <a:pt x="10800" y="20700"/>
                  <a:pt x="5400" y="21600"/>
                  <a:pt x="0" y="21600"/>
                </a:cubicBezTo>
              </a:path>
            </a:pathLst>
          </a:custGeom>
          <a:noFill/>
          <a:ln w="28440">
            <a:solidFill>
              <a:srgbClr val="FF0065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79" name="Line 17"/>
          <p:cNvSpPr/>
          <p:nvPr/>
        </p:nvSpPr>
        <p:spPr>
          <a:xfrm>
            <a:off x="3046320" y="3321000"/>
            <a:ext cx="1270080" cy="585720"/>
          </a:xfrm>
          <a:prstGeom prst="line">
            <a:avLst/>
          </a:prstGeom>
          <a:ln w="19080">
            <a:solidFill>
              <a:srgbClr val="000000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ctr">
            <a:noAutofit/>
          </a:bodyPr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grpSp>
        <p:nvGrpSpPr>
          <p:cNvPr id="80" name="Group 18"/>
          <p:cNvGrpSpPr/>
          <p:nvPr/>
        </p:nvGrpSpPr>
        <p:grpSpPr>
          <a:xfrm>
            <a:off x="2651040" y="4159080"/>
            <a:ext cx="990720" cy="990720"/>
            <a:chOff x="2651040" y="4159080"/>
            <a:chExt cx="990720" cy="990720"/>
          </a:xfrm>
        </p:grpSpPr>
        <p:sp>
          <p:nvSpPr>
            <p:cNvPr id="81" name="Oval 19"/>
            <p:cNvSpPr/>
            <p:nvPr/>
          </p:nvSpPr>
          <p:spPr>
            <a:xfrm>
              <a:off x="2651040" y="4159080"/>
              <a:ext cx="990720" cy="990720"/>
            </a:xfrm>
            <a:prstGeom prst="ellipse">
              <a:avLst/>
            </a:prstGeom>
            <a:solidFill>
              <a:srgbClr val="F38C99"/>
            </a:solidFill>
            <a:ln w="1908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ctr">
              <a:noAutofit/>
            </a:bodyPr>
            <a:p>
              <a:pPr algn="ctr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endParaRPr lang="it-IT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82" name="Text Box 20"/>
            <p:cNvSpPr/>
            <p:nvPr/>
          </p:nvSpPr>
          <p:spPr>
            <a:xfrm>
              <a:off x="2984040" y="4448160"/>
              <a:ext cx="324360" cy="368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t">
              <a:spAutoFit/>
            </a:bodyPr>
            <a:p>
              <a: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800" b="0" i="1" u="none" strike="noStrike">
                  <a:solidFill>
                    <a:srgbClr val="FF0065"/>
                  </a:solidFill>
                  <a:effectLst/>
                  <a:uFillTx/>
                  <a:latin typeface="Comic Sans MS"/>
                </a:rPr>
                <a:t>R</a:t>
              </a:r>
              <a:endParaRPr lang="it-IT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</p:grpSp>
      <p:grpSp>
        <p:nvGrpSpPr>
          <p:cNvPr id="83" name="Group 21"/>
          <p:cNvGrpSpPr/>
          <p:nvPr/>
        </p:nvGrpSpPr>
        <p:grpSpPr>
          <a:xfrm>
            <a:off x="4229280" y="3733920"/>
            <a:ext cx="990360" cy="990360"/>
            <a:chOff x="4229280" y="3733920"/>
            <a:chExt cx="990360" cy="990360"/>
          </a:xfrm>
        </p:grpSpPr>
        <p:sp>
          <p:nvSpPr>
            <p:cNvPr id="84" name="Oval 22"/>
            <p:cNvSpPr/>
            <p:nvPr/>
          </p:nvSpPr>
          <p:spPr>
            <a:xfrm>
              <a:off x="4229280" y="3733920"/>
              <a:ext cx="990360" cy="990360"/>
            </a:xfrm>
            <a:prstGeom prst="ellipse">
              <a:avLst/>
            </a:prstGeom>
            <a:solidFill>
              <a:srgbClr val="F38C99"/>
            </a:solidFill>
            <a:ln w="1908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ctr">
              <a:noAutofit/>
            </a:bodyPr>
            <a:p>
              <a:pPr algn="ctr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endParaRPr lang="it-IT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85" name="Text Box 23"/>
            <p:cNvSpPr/>
            <p:nvPr/>
          </p:nvSpPr>
          <p:spPr>
            <a:xfrm>
              <a:off x="4575240" y="4022640"/>
              <a:ext cx="336240" cy="368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t">
              <a:spAutoFit/>
            </a:bodyPr>
            <a:p>
              <a: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800" b="0" i="1" u="none" strike="noStrike">
                  <a:solidFill>
                    <a:srgbClr val="FF0065"/>
                  </a:solidFill>
                  <a:effectLst/>
                  <a:uFillTx/>
                  <a:latin typeface="Comic Sans MS"/>
                </a:rPr>
                <a:t>T</a:t>
              </a:r>
              <a:endParaRPr lang="it-IT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</p:grpSp>
    </p:spTree>
  </p:cSld>
  <p:transition>
    <p:wipe dir="r"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Footer Placeholder 2"/>
          <p:cNvSpPr/>
          <p:nvPr/>
        </p:nvSpPr>
        <p:spPr>
          <a:xfrm>
            <a:off x="685800" y="6248520"/>
            <a:ext cx="289548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Autofit/>
          </a:bodyPr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Comp 412, Fall 2010</a:t>
            </a:r>
            <a:endParaRPr lang="it-IT" sz="12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87" name="Slide Number Placeholder 3"/>
          <p:cNvSpPr/>
          <p:nvPr/>
        </p:nvSpPr>
        <p:spPr>
          <a:xfrm>
            <a:off x="6553080" y="6248520"/>
            <a:ext cx="190512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Autofit/>
          </a:bodyPr>
          <a:p>
            <a:pPr algn="r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06685F61-DC12-4D10-90BF-3CC24C319E5A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&lt;number&gt;</a:t>
            </a:fld>
            <a:endParaRPr lang="it-IT" sz="12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88" name="Oval 2"/>
          <p:cNvSpPr/>
          <p:nvPr/>
        </p:nvSpPr>
        <p:spPr>
          <a:xfrm>
            <a:off x="1409760" y="1574640"/>
            <a:ext cx="2679480" cy="2298960"/>
          </a:xfrm>
          <a:prstGeom prst="ellipse">
            <a:avLst/>
          </a:prstGeom>
          <a:solidFill>
            <a:srgbClr val="F38C99"/>
          </a:solidFill>
          <a:ln w="1908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it-IT" sz="18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89" name="PlaceHolder 1"/>
          <p:cNvSpPr>
            <a:spLocks noGrp="1"/>
          </p:cNvSpPr>
          <p:nvPr>
            <p:ph type="title"/>
          </p:nvPr>
        </p:nvSpPr>
        <p:spPr>
          <a:xfrm>
            <a:off x="685800" y="533160"/>
            <a:ext cx="7772400" cy="533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l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Key Idea: Splitting Q around (</a:t>
            </a:r>
            <a:r>
              <a:rPr lang="en-US" sz="2400" b="0" i="1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S,</a:t>
            </a:r>
            <a:r>
              <a:rPr lang="en-US" sz="2400" b="1" i="1" u="none" strike="noStrike">
                <a:solidFill>
                  <a:srgbClr val="000000"/>
                </a:solidFill>
                <a:effectLst/>
                <a:uFillTx/>
                <a:latin typeface="Symbol"/>
                <a:ea typeface="Symbol"/>
              </a:rPr>
              <a:t>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)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 </a:t>
            </a:r>
            <a:endParaRPr lang="it-IT" sz="24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90" name="AutoShape 5"/>
          <p:cNvSpPr/>
          <p:nvPr/>
        </p:nvSpPr>
        <p:spPr>
          <a:xfrm>
            <a:off x="2451240" y="2044800"/>
            <a:ext cx="1422360" cy="1092240"/>
          </a:xfrm>
          <a:prstGeom prst="roundRect">
            <a:avLst>
              <a:gd name="adj" fmla="val 16667"/>
            </a:avLst>
          </a:prstGeom>
          <a:solidFill>
            <a:srgbClr val="BBE0E3">
              <a:alpha val="50000"/>
            </a:srgbClr>
          </a:solidFill>
          <a:ln w="1908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600" b="0" i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</a:t>
            </a:r>
            <a:endParaRPr lang="it-IT" sz="16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cxnSp>
        <p:nvCxnSpPr>
          <p:cNvPr id="91" name="AutoShape 6"/>
          <p:cNvCxnSpPr>
            <a:stCxn id="90" idx="3"/>
            <a:endCxn id="92" idx="2"/>
          </p:cNvCxnSpPr>
          <p:nvPr/>
        </p:nvCxnSpPr>
        <p:spPr>
          <a:xfrm>
            <a:off x="3882960" y="2590560"/>
            <a:ext cx="1804320" cy="6840"/>
          </a:xfrm>
          <a:prstGeom prst="straightConnector1">
            <a:avLst/>
          </a:prstGeom>
          <a:ln w="19080">
            <a:solidFill>
              <a:srgbClr val="000000"/>
            </a:solidFill>
            <a:miter/>
            <a:tailEnd len="med" type="triangle" w="med"/>
          </a:ln>
        </p:spPr>
      </p:cxnSp>
      <p:grpSp>
        <p:nvGrpSpPr>
          <p:cNvPr id="93" name="Group 14"/>
          <p:cNvGrpSpPr/>
          <p:nvPr/>
        </p:nvGrpSpPr>
        <p:grpSpPr>
          <a:xfrm>
            <a:off x="5695920" y="2101680"/>
            <a:ext cx="990720" cy="990720"/>
            <a:chOff x="5695920" y="2101680"/>
            <a:chExt cx="990720" cy="990720"/>
          </a:xfrm>
        </p:grpSpPr>
        <p:sp>
          <p:nvSpPr>
            <p:cNvPr id="92" name="Oval 4"/>
            <p:cNvSpPr/>
            <p:nvPr/>
          </p:nvSpPr>
          <p:spPr>
            <a:xfrm>
              <a:off x="5695920" y="2101680"/>
              <a:ext cx="990720" cy="990720"/>
            </a:xfrm>
            <a:prstGeom prst="ellipse">
              <a:avLst/>
            </a:prstGeom>
            <a:solidFill>
              <a:srgbClr val="009999"/>
            </a:solidFill>
            <a:ln w="1908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ctr">
              <a:noAutofit/>
            </a:bodyPr>
            <a:p>
              <a:pPr algn="ctr"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endParaRPr lang="it-IT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94" name="Text Box 7"/>
            <p:cNvSpPr/>
            <p:nvPr/>
          </p:nvSpPr>
          <p:spPr>
            <a:xfrm>
              <a:off x="6032520" y="2428920"/>
              <a:ext cx="316080" cy="337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t">
              <a:spAutoFit/>
            </a:bodyPr>
            <a:p>
              <a:pPr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600" b="0" i="1" u="none" strike="noStrike">
                  <a:solidFill>
                    <a:srgbClr val="000000"/>
                  </a:solidFill>
                  <a:effectLst/>
                  <a:uFillTx/>
                  <a:latin typeface="Arial"/>
                </a:rPr>
                <a:t>S</a:t>
              </a:r>
              <a:endParaRPr lang="it-IT" sz="16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</p:grpSp>
      <p:sp>
        <p:nvSpPr>
          <p:cNvPr id="95" name="Text Box 8"/>
          <p:cNvSpPr/>
          <p:nvPr/>
        </p:nvSpPr>
        <p:spPr>
          <a:xfrm>
            <a:off x="4558320" y="2550960"/>
            <a:ext cx="308520" cy="33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600" b="0" i="1" u="none" strike="noStrike">
                <a:solidFill>
                  <a:srgbClr val="000000"/>
                </a:solidFill>
                <a:effectLst/>
                <a:uFillTx/>
                <a:latin typeface="Symbol"/>
                <a:ea typeface="Symbol"/>
              </a:rPr>
              <a:t></a:t>
            </a:r>
            <a:endParaRPr lang="it-IT" sz="16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96" name="Text Box 9"/>
          <p:cNvSpPr/>
          <p:nvPr/>
        </p:nvSpPr>
        <p:spPr>
          <a:xfrm>
            <a:off x="3073320" y="4856040"/>
            <a:ext cx="4680000" cy="129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spAutoFit/>
          </a:bodyPr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i="1" u="none" strike="noStrike">
                <a:solidFill>
                  <a:srgbClr val="FF0065"/>
                </a:solidFill>
                <a:effectLst/>
                <a:uFillTx/>
                <a:latin typeface="Comic Sans MS"/>
              </a:rPr>
              <a:t>This part must have an </a:t>
            </a:r>
            <a:r>
              <a:rPr lang="en-US" sz="2000" b="0" i="1" u="none" strike="noStrike">
                <a:solidFill>
                  <a:srgbClr val="FF0065"/>
                </a:solidFill>
                <a:effectLst/>
                <a:uFillTx/>
                <a:latin typeface="Symbol"/>
                <a:ea typeface="Symbol"/>
              </a:rPr>
              <a:t></a:t>
            </a:r>
            <a:r>
              <a:rPr lang="en-US" sz="1800" b="0" i="1" u="none" strike="noStrike">
                <a:solidFill>
                  <a:srgbClr val="FF0065"/>
                </a:solidFill>
                <a:effectLst/>
                <a:uFillTx/>
                <a:latin typeface="Comic Sans MS"/>
              </a:rPr>
              <a:t>-transition to one or more other states in one or more other partitions.  </a:t>
            </a:r>
            <a:endParaRPr lang="it-IT" sz="18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  <a:p>
            <a:pPr>
              <a:spcBef>
                <a:spcPts val="561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i="1" u="none" strike="noStrike">
                <a:solidFill>
                  <a:srgbClr val="FF0065"/>
                </a:solidFill>
                <a:effectLst/>
                <a:uFillTx/>
                <a:latin typeface="Comic Sans MS"/>
              </a:rPr>
              <a:t>Otherwise, it does not split!</a:t>
            </a:r>
            <a:endParaRPr lang="it-IT" sz="18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cxnSp>
        <p:nvCxnSpPr>
          <p:cNvPr id="97" name="AutoShape 10"/>
          <p:cNvCxnSpPr/>
          <p:nvPr/>
        </p:nvCxnSpPr>
        <p:spPr>
          <a:xfrm flipH="1" flipV="1">
            <a:off x="3276360" y="3733200"/>
            <a:ext cx="1296000" cy="1143720"/>
          </a:xfrm>
          <a:prstGeom prst="straightConnector1">
            <a:avLst/>
          </a:prstGeom>
          <a:ln w="19080">
            <a:solidFill>
              <a:srgbClr val="FF0065"/>
            </a:solidFill>
            <a:miter/>
            <a:tailEnd len="med" type="triangle" w="med"/>
          </a:ln>
        </p:spPr>
      </p:cxnSp>
      <p:sp>
        <p:nvSpPr>
          <p:cNvPr id="98" name="Text Box 11"/>
          <p:cNvSpPr/>
          <p:nvPr/>
        </p:nvSpPr>
        <p:spPr>
          <a:xfrm>
            <a:off x="2438280" y="1150920"/>
            <a:ext cx="6096240" cy="39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spAutoFit/>
          </a:bodyPr>
          <a:p>
            <a:pPr>
              <a:spcBef>
                <a:spcPts val="112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u="none" strike="noStrike">
                <a:solidFill>
                  <a:srgbClr val="FF0065"/>
                </a:solidFill>
                <a:effectLst/>
                <a:uFillTx/>
                <a:latin typeface="Comic Sans MS"/>
              </a:rPr>
              <a:t>Find maximal partition </a:t>
            </a:r>
            <a:r>
              <a:rPr lang="en-US" sz="1800" b="0" i="1" u="none" strike="noStrike">
                <a:solidFill>
                  <a:srgbClr val="FF0065"/>
                </a:solidFill>
                <a:effectLst/>
                <a:uFillTx/>
                <a:latin typeface="Comic Sans MS"/>
              </a:rPr>
              <a:t>I </a:t>
            </a:r>
            <a:r>
              <a:rPr lang="en-US" sz="1800" b="0" u="none" strike="noStrike">
                <a:solidFill>
                  <a:srgbClr val="FF0065"/>
                </a:solidFill>
                <a:effectLst/>
                <a:uFillTx/>
                <a:latin typeface="Comic Sans MS"/>
              </a:rPr>
              <a:t>that has an </a:t>
            </a:r>
            <a:r>
              <a:rPr lang="en-US" sz="2000" b="0" i="1" u="none" strike="noStrike">
                <a:solidFill>
                  <a:srgbClr val="FF0065"/>
                </a:solidFill>
                <a:effectLst/>
                <a:uFillTx/>
                <a:latin typeface="Symbol"/>
                <a:ea typeface="Symbol"/>
              </a:rPr>
              <a:t></a:t>
            </a:r>
            <a:r>
              <a:rPr lang="en-US" sz="1800" b="0" u="none" strike="noStrike">
                <a:solidFill>
                  <a:srgbClr val="FF0065"/>
                </a:solidFill>
                <a:effectLst/>
                <a:uFillTx/>
                <a:latin typeface="Comic Sans MS"/>
              </a:rPr>
              <a:t>-transition into S</a:t>
            </a:r>
            <a:endParaRPr lang="it-IT" sz="18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99" name="Line 12"/>
          <p:cNvSpPr/>
          <p:nvPr/>
        </p:nvSpPr>
        <p:spPr>
          <a:xfrm flipH="1">
            <a:off x="3352320" y="1523880"/>
            <a:ext cx="1143000" cy="914400"/>
          </a:xfrm>
          <a:prstGeom prst="line">
            <a:avLst/>
          </a:prstGeom>
          <a:ln w="28440">
            <a:solidFill>
              <a:srgbClr val="FF0065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ctr">
            <a:noAutofit/>
          </a:bodyPr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100" name="Text Box 13"/>
          <p:cNvSpPr/>
          <p:nvPr/>
        </p:nvSpPr>
        <p:spPr>
          <a:xfrm>
            <a:off x="1893600" y="2825640"/>
            <a:ext cx="381240" cy="36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1" u="none" strike="noStrike">
                <a:solidFill>
                  <a:srgbClr val="FF0065"/>
                </a:solidFill>
                <a:effectLst/>
                <a:uFillTx/>
                <a:latin typeface="Comic Sans MS"/>
              </a:rPr>
              <a:t>Q</a:t>
            </a:r>
            <a:endParaRPr lang="it-IT" sz="18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101" name="TextBox 17"/>
          <p:cNvSpPr/>
          <p:nvPr/>
        </p:nvSpPr>
        <p:spPr>
          <a:xfrm>
            <a:off x="685800" y="4818240"/>
            <a:ext cx="1752480" cy="132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spAutoFit/>
          </a:bodyPr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400" b="0" u="none" strike="noStrike">
                <a:solidFill>
                  <a:srgbClr val="003C75"/>
                </a:solidFill>
                <a:effectLst/>
                <a:uFillTx/>
                <a:latin typeface="Comic Sans MS"/>
              </a:rPr>
              <a:t>Think of </a:t>
            </a:r>
            <a:r>
              <a:rPr lang="en-US" sz="1400" b="0" i="1" u="none" strike="noStrike">
                <a:solidFill>
                  <a:srgbClr val="003C75"/>
                </a:solidFill>
                <a:effectLst/>
                <a:uFillTx/>
                <a:latin typeface="Comic Sans MS"/>
              </a:rPr>
              <a:t>I </a:t>
            </a:r>
            <a:r>
              <a:rPr lang="en-US" sz="1400" b="0" u="none" strike="noStrike">
                <a:solidFill>
                  <a:srgbClr val="003C75"/>
                </a:solidFill>
                <a:effectLst/>
                <a:uFillTx/>
                <a:latin typeface="Comic Sans MS"/>
              </a:rPr>
              <a:t>as the image of </a:t>
            </a:r>
            <a:r>
              <a:rPr lang="en-US" sz="1400" b="0" i="1" u="none" strike="noStrike">
                <a:solidFill>
                  <a:srgbClr val="003C75"/>
                </a:solidFill>
                <a:effectLst/>
                <a:uFillTx/>
                <a:latin typeface="Comic Sans MS"/>
              </a:rPr>
              <a:t>S</a:t>
            </a:r>
            <a:r>
              <a:rPr lang="en-US" sz="1400" b="0" u="none" strike="noStrike">
                <a:solidFill>
                  <a:srgbClr val="003C75"/>
                </a:solidFill>
                <a:effectLst/>
                <a:uFillTx/>
                <a:latin typeface="Comic Sans MS"/>
              </a:rPr>
              <a:t> under the inverse of the transition function</a:t>
            </a:r>
            <a:endParaRPr lang="it-IT" sz="14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it-IT" sz="9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  <a:p>
            <a:pPr algn="ct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400" b="0" i="1" u="none" strike="noStrike">
                <a:solidFill>
                  <a:srgbClr val="003C75"/>
                </a:solidFill>
                <a:effectLst/>
                <a:uFillTx/>
                <a:latin typeface="Arial Rounded MT Bold"/>
              </a:rPr>
              <a:t>I</a:t>
            </a:r>
            <a:r>
              <a:rPr lang="en-US" sz="1400" b="0" i="1" u="none" strike="noStrike" baseline="-25000">
                <a:solidFill>
                  <a:srgbClr val="003C75"/>
                </a:solidFill>
                <a:effectLst/>
                <a:uFillTx/>
                <a:latin typeface="Symbol"/>
                <a:ea typeface="Symbol"/>
              </a:rPr>
              <a:t></a:t>
            </a:r>
            <a:r>
              <a:rPr lang="en-US" sz="1400" b="0" i="1" u="none" strike="noStrike">
                <a:solidFill>
                  <a:srgbClr val="003C75"/>
                </a:solidFill>
                <a:effectLst/>
                <a:uFillTx/>
                <a:latin typeface="Symbol"/>
                <a:ea typeface="Symbol"/>
              </a:rPr>
              <a:t></a:t>
            </a:r>
            <a:r>
              <a:rPr lang="en-US" sz="1400" b="0" i="1" u="none" strike="noStrike">
                <a:solidFill>
                  <a:srgbClr val="003C75"/>
                </a:solidFill>
                <a:effectLst/>
                <a:uFillTx/>
                <a:latin typeface="Arial Rounded MT Bold"/>
              </a:rPr>
              <a:t> </a:t>
            </a:r>
            <a:r>
              <a:rPr lang="en-US" sz="1400" b="0" i="1" u="none" strike="noStrike">
                <a:solidFill>
                  <a:srgbClr val="003C75"/>
                </a:solidFill>
                <a:effectLst/>
                <a:uFillTx/>
                <a:latin typeface="Symbol"/>
                <a:ea typeface="Symbol"/>
              </a:rPr>
              <a:t></a:t>
            </a:r>
            <a:r>
              <a:rPr lang="en-US" sz="1400" b="0" i="1" u="none" strike="noStrike" baseline="30000">
                <a:solidFill>
                  <a:srgbClr val="003C75"/>
                </a:solidFill>
                <a:effectLst/>
                <a:uFillTx/>
                <a:latin typeface="Symbol"/>
                <a:ea typeface="Symbol"/>
              </a:rPr>
              <a:t></a:t>
            </a:r>
            <a:r>
              <a:rPr lang="en-US" sz="1400" b="0" u="none" strike="noStrike" baseline="30000">
                <a:solidFill>
                  <a:srgbClr val="003C75"/>
                </a:solidFill>
                <a:effectLst/>
                <a:uFillTx/>
                <a:latin typeface="Arial Rounded MT Bold"/>
              </a:rPr>
              <a:t>–1</a:t>
            </a:r>
            <a:r>
              <a:rPr lang="en-US" sz="1400" b="0" u="none" strike="noStrike">
                <a:solidFill>
                  <a:srgbClr val="003C75"/>
                </a:solidFill>
                <a:effectLst/>
                <a:uFillTx/>
                <a:latin typeface="Arial Rounded MT Bold"/>
              </a:rPr>
              <a:t>(</a:t>
            </a:r>
            <a:r>
              <a:rPr lang="en-US" sz="900" b="0" u="none" strike="noStrike">
                <a:solidFill>
                  <a:srgbClr val="003C75"/>
                </a:solidFill>
                <a:effectLst/>
                <a:uFillTx/>
                <a:latin typeface="Arial Rounded MT Bold"/>
              </a:rPr>
              <a:t> </a:t>
            </a:r>
            <a:r>
              <a:rPr lang="en-US" sz="1400" b="0" i="1" u="none" strike="noStrike">
                <a:solidFill>
                  <a:srgbClr val="003C75"/>
                </a:solidFill>
                <a:effectLst/>
                <a:uFillTx/>
                <a:latin typeface="Arial Rounded MT Bold"/>
              </a:rPr>
              <a:t>s,</a:t>
            </a:r>
            <a:r>
              <a:rPr lang="en-US" sz="900" b="0" i="1" u="none" strike="noStrike">
                <a:solidFill>
                  <a:srgbClr val="003C75"/>
                </a:solidFill>
                <a:effectLst/>
                <a:uFillTx/>
                <a:latin typeface="Arial Rounded MT Bold"/>
              </a:rPr>
              <a:t> </a:t>
            </a:r>
            <a:r>
              <a:rPr lang="en-US" sz="1400" b="1" i="1" u="none" strike="noStrike">
                <a:solidFill>
                  <a:srgbClr val="003C75"/>
                </a:solidFill>
                <a:effectLst/>
                <a:uFillTx/>
                <a:latin typeface="Symbol"/>
                <a:ea typeface="Symbol"/>
              </a:rPr>
              <a:t></a:t>
            </a:r>
            <a:r>
              <a:rPr lang="en-US" sz="900" b="0" i="1" u="none" strike="noStrike">
                <a:solidFill>
                  <a:srgbClr val="003C75"/>
                </a:solidFill>
                <a:effectLst/>
                <a:uFillTx/>
                <a:latin typeface="Arial Rounded MT Bold"/>
              </a:rPr>
              <a:t> </a:t>
            </a:r>
            <a:r>
              <a:rPr lang="en-US" sz="1400" b="0" u="none" strike="noStrike">
                <a:solidFill>
                  <a:srgbClr val="003C75"/>
                </a:solidFill>
                <a:effectLst/>
                <a:uFillTx/>
                <a:latin typeface="Arial Rounded MT Bold"/>
              </a:rPr>
              <a:t>)</a:t>
            </a:r>
            <a:endParaRPr lang="it-IT" sz="14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</p:spTree>
  </p:cSld>
  <p:transition>
    <p:wipe dir="r"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Footer Placeholder 2"/>
          <p:cNvSpPr/>
          <p:nvPr/>
        </p:nvSpPr>
        <p:spPr>
          <a:xfrm>
            <a:off x="685800" y="6248520"/>
            <a:ext cx="289548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Autofit/>
          </a:bodyPr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Comp 412, Fall 2010</a:t>
            </a:r>
            <a:endParaRPr lang="it-IT" sz="12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103" name="Slide Number Placeholder 3"/>
          <p:cNvSpPr/>
          <p:nvPr/>
        </p:nvSpPr>
        <p:spPr>
          <a:xfrm>
            <a:off x="6553080" y="6248520"/>
            <a:ext cx="190512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Autofit/>
          </a:bodyPr>
          <a:p>
            <a:pPr algn="r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7BAB7021-B1B8-4DB5-912B-26ECC5AA0126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&lt;number&gt;</a:t>
            </a:fld>
            <a:endParaRPr lang="it-IT" sz="12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104" name="PlaceHolder 1"/>
          <p:cNvSpPr>
            <a:spLocks noGrp="1"/>
          </p:cNvSpPr>
          <p:nvPr>
            <p:ph type="title"/>
          </p:nvPr>
        </p:nvSpPr>
        <p:spPr>
          <a:xfrm>
            <a:off x="685800" y="533160"/>
            <a:ext cx="7772400" cy="533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l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Hopcroft's Algorithm</a:t>
            </a:r>
            <a:endParaRPr lang="it-IT" sz="24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105" name="Text Box 3"/>
          <p:cNvSpPr/>
          <p:nvPr/>
        </p:nvSpPr>
        <p:spPr>
          <a:xfrm>
            <a:off x="838080" y="1219320"/>
            <a:ext cx="7543800" cy="5180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spAutoFit/>
          </a:bodyPr>
          <a:p>
            <a:pPr>
              <a:lnSpc>
                <a:spcPct val="110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1600" b="0" i="1" u="none" strike="noStrike">
                <a:solidFill>
                  <a:srgbClr val="000000"/>
                </a:solidFill>
                <a:effectLst/>
                <a:uFillTx/>
                <a:latin typeface="Arial Rounded MT Bold"/>
              </a:rPr>
              <a:t>W </a:t>
            </a:r>
            <a:r>
              <a:rPr lang="en-US" sz="1600" b="0" i="1" u="none" strike="noStrike">
                <a:solidFill>
                  <a:srgbClr val="000000"/>
                </a:solidFill>
                <a:effectLst/>
                <a:uFillTx/>
                <a:latin typeface="Symbol"/>
                <a:ea typeface="Symbol"/>
              </a:rPr>
              <a:t></a:t>
            </a:r>
            <a:r>
              <a:rPr lang="en-US" sz="1600" b="0" i="1" u="none" strike="noStrike">
                <a:solidFill>
                  <a:srgbClr val="000000"/>
                </a:solidFill>
                <a:effectLst/>
                <a:uFillTx/>
                <a:latin typeface="Arial Rounded MT Bold"/>
              </a:rPr>
              <a:t> </a:t>
            </a: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 Rounded MT Bold"/>
              </a:rPr>
              <a:t>{</a:t>
            </a:r>
            <a:r>
              <a:rPr lang="en-US" sz="1600" b="0" i="1" u="none" strike="noStrike">
                <a:solidFill>
                  <a:srgbClr val="000000"/>
                </a:solidFill>
                <a:effectLst/>
                <a:uFillTx/>
                <a:latin typeface="Arial Rounded MT Bold"/>
              </a:rPr>
              <a:t>F, S-F</a:t>
            </a: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 Rounded MT Bold"/>
              </a:rPr>
              <a:t>};</a:t>
            </a:r>
            <a:r>
              <a:rPr lang="en-US" sz="1600" b="0" i="1" u="none" strike="noStrike">
                <a:solidFill>
                  <a:srgbClr val="000000"/>
                </a:solidFill>
                <a:effectLst/>
                <a:uFillTx/>
                <a:latin typeface="Arial Rounded MT Bold"/>
              </a:rPr>
              <a:t>  P </a:t>
            </a:r>
            <a:r>
              <a:rPr lang="en-US" sz="1600" b="0" i="1" u="none" strike="noStrike">
                <a:solidFill>
                  <a:srgbClr val="000000"/>
                </a:solidFill>
                <a:effectLst/>
                <a:uFillTx/>
                <a:latin typeface="Symbol"/>
                <a:ea typeface="Symbol"/>
              </a:rPr>
              <a:t></a:t>
            </a:r>
            <a:r>
              <a:rPr lang="en-US" sz="1600" b="0" i="1" u="none" strike="noStrike">
                <a:solidFill>
                  <a:srgbClr val="000000"/>
                </a:solidFill>
                <a:effectLst/>
                <a:uFillTx/>
                <a:latin typeface="Arial Rounded MT Bold"/>
              </a:rPr>
              <a:t> </a:t>
            </a: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 Rounded MT Bold"/>
              </a:rPr>
              <a:t>{</a:t>
            </a:r>
            <a:r>
              <a:rPr lang="en-US" sz="1600" b="0" i="1" u="none" strike="noStrike">
                <a:solidFill>
                  <a:srgbClr val="000000"/>
                </a:solidFill>
                <a:effectLst/>
                <a:uFillTx/>
                <a:latin typeface="Arial Rounded MT Bold"/>
              </a:rPr>
              <a:t>F, S-F</a:t>
            </a: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 Rounded MT Bold"/>
              </a:rPr>
              <a:t>};</a:t>
            </a:r>
            <a:r>
              <a:rPr lang="en-US" sz="1600" b="0" i="1" u="none" strike="noStrike">
                <a:solidFill>
                  <a:srgbClr val="000000"/>
                </a:solidFill>
                <a:effectLst/>
                <a:uFillTx/>
                <a:latin typeface="Arial Rounded MT Bold"/>
              </a:rPr>
              <a:t>  </a:t>
            </a:r>
            <a:r>
              <a:rPr lang="en-US" sz="1600" b="0" i="1" u="none" strike="noStrike">
                <a:solidFill>
                  <a:srgbClr val="B025A6"/>
                </a:solidFill>
                <a:effectLst/>
                <a:uFillTx/>
                <a:latin typeface="Arial Rounded MT Bold"/>
              </a:rPr>
              <a:t>// W is the worklist, P the current partition</a:t>
            </a:r>
            <a:endParaRPr lang="it-IT" sz="16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  <a:p>
            <a:pPr>
              <a:lnSpc>
                <a:spcPct val="110000"/>
              </a:lnSpc>
              <a:spcBef>
                <a:spcPts val="499"/>
              </a:spcBef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 Rounded MT Bold"/>
              </a:rPr>
              <a:t>while</a:t>
            </a:r>
            <a:r>
              <a:rPr lang="en-US" sz="1600" b="0" i="1" u="none" strike="noStrike">
                <a:solidFill>
                  <a:srgbClr val="000000"/>
                </a:solidFill>
                <a:effectLst/>
                <a:uFillTx/>
                <a:latin typeface="Arial Rounded MT Bold"/>
              </a:rPr>
              <a:t> </a:t>
            </a: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 Rounded MT Bold"/>
              </a:rPr>
              <a:t>(</a:t>
            </a: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Arial Rounded MT Bold"/>
              </a:rPr>
              <a:t> </a:t>
            </a:r>
            <a:r>
              <a:rPr lang="en-US" sz="1600" b="0" i="1" u="none" strike="noStrike">
                <a:solidFill>
                  <a:srgbClr val="000000"/>
                </a:solidFill>
                <a:effectLst/>
                <a:uFillTx/>
                <a:latin typeface="Arial Rounded MT Bold"/>
              </a:rPr>
              <a:t>W  </a:t>
            </a: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 Rounded MT Bold"/>
              </a:rPr>
              <a:t>is not empty</a:t>
            </a: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Arial Rounded MT Bold"/>
              </a:rPr>
              <a:t> </a:t>
            </a: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 Rounded MT Bold"/>
              </a:rPr>
              <a:t>) do begin</a:t>
            </a:r>
            <a:endParaRPr lang="it-IT" sz="16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  <a:p>
            <a:pPr>
              <a:lnSpc>
                <a:spcPct val="110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1600" b="0" i="1" u="none" strike="noStrike">
                <a:solidFill>
                  <a:srgbClr val="000000"/>
                </a:solidFill>
                <a:effectLst/>
                <a:uFillTx/>
                <a:latin typeface="Arial Rounded MT Bold"/>
              </a:rPr>
              <a:t>	</a:t>
            </a: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 Rounded MT Bold"/>
              </a:rPr>
              <a:t>select and remove</a:t>
            </a:r>
            <a:r>
              <a:rPr lang="en-US" sz="1600" b="0" i="1" u="none" strike="noStrike">
                <a:solidFill>
                  <a:srgbClr val="000000"/>
                </a:solidFill>
                <a:effectLst/>
                <a:uFillTx/>
                <a:latin typeface="Arial Rounded MT Bold"/>
              </a:rPr>
              <a:t> s</a:t>
            </a: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 Rounded MT Bold"/>
              </a:rPr>
              <a:t> from </a:t>
            </a:r>
            <a:r>
              <a:rPr lang="en-US" sz="1600" b="0" i="1" u="none" strike="noStrike">
                <a:solidFill>
                  <a:srgbClr val="000000"/>
                </a:solidFill>
                <a:effectLst/>
                <a:uFillTx/>
                <a:latin typeface="Arial Rounded MT Bold"/>
              </a:rPr>
              <a:t>W</a:t>
            </a:r>
            <a:r>
              <a:rPr lang="en-US" sz="1000" b="0" i="1" u="none" strike="noStrike">
                <a:solidFill>
                  <a:srgbClr val="000000"/>
                </a:solidFill>
                <a:effectLst/>
                <a:uFillTx/>
                <a:latin typeface="Arial Rounded MT Bold"/>
              </a:rPr>
              <a:t> </a:t>
            </a: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 Rounded MT Bold"/>
              </a:rPr>
              <a:t>;  </a:t>
            </a:r>
            <a:r>
              <a:rPr lang="en-US" sz="1600" b="0" i="1" u="none" strike="noStrike">
                <a:solidFill>
                  <a:srgbClr val="B025A6"/>
                </a:solidFill>
                <a:effectLst/>
                <a:uFillTx/>
                <a:latin typeface="Arial Rounded MT Bold"/>
              </a:rPr>
              <a:t>//</a:t>
            </a:r>
            <a:r>
              <a:rPr lang="en-US" sz="1600" b="0" u="none" strike="noStrike">
                <a:solidFill>
                  <a:srgbClr val="B025A6"/>
                </a:solidFill>
                <a:effectLst/>
                <a:uFillTx/>
                <a:latin typeface="Arial Rounded MT Bold"/>
              </a:rPr>
              <a:t> </a:t>
            </a:r>
            <a:r>
              <a:rPr lang="en-US" sz="1600" b="0" i="1" u="none" strike="noStrike">
                <a:solidFill>
                  <a:srgbClr val="B025A6"/>
                </a:solidFill>
                <a:effectLst/>
                <a:uFillTx/>
                <a:latin typeface="Arial Rounded MT Bold"/>
              </a:rPr>
              <a:t>s</a:t>
            </a:r>
            <a:r>
              <a:rPr lang="en-US" sz="1600" b="0" u="none" strike="noStrike">
                <a:solidFill>
                  <a:srgbClr val="B025A6"/>
                </a:solidFill>
                <a:effectLst/>
                <a:uFillTx/>
                <a:latin typeface="Arial Rounded MT Bold"/>
              </a:rPr>
              <a:t> is a set of states</a:t>
            </a:r>
            <a:endParaRPr lang="it-IT" sz="16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  <a:p>
            <a:pPr>
              <a:lnSpc>
                <a:spcPct val="110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 Rounded MT Bold"/>
              </a:rPr>
              <a:t>	</a:t>
            </a: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 Rounded MT Bold"/>
              </a:rPr>
              <a:t>for each</a:t>
            </a:r>
            <a:r>
              <a:rPr lang="en-US" sz="1600" b="0" i="1" u="none" strike="noStrike">
                <a:solidFill>
                  <a:srgbClr val="000000"/>
                </a:solidFill>
                <a:effectLst/>
                <a:uFillTx/>
                <a:latin typeface="Arial Rounded MT Bold"/>
              </a:rPr>
              <a:t> 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Symbol"/>
                <a:ea typeface="Symbol"/>
              </a:rPr>
              <a:t></a:t>
            </a: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 Rounded MT Bold"/>
              </a:rPr>
              <a:t> in </a:t>
            </a: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Symbol"/>
                <a:ea typeface="Symbol"/>
              </a:rPr>
              <a:t></a:t>
            </a: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 Rounded MT Bold"/>
              </a:rPr>
              <a:t>do begin </a:t>
            </a:r>
            <a:endParaRPr lang="it-IT" sz="16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  <a:p>
            <a:pPr>
              <a:lnSpc>
                <a:spcPct val="110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 Rounded MT Bold"/>
              </a:rPr>
              <a:t>	</a:t>
            </a: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 Rounded MT Bold"/>
              </a:rPr>
              <a:t>   </a:t>
            </a: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 Rounded MT Bold"/>
              </a:rPr>
              <a:t>	</a:t>
            </a: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 Rounded MT Bold"/>
              </a:rPr>
              <a:t>let </a:t>
            </a:r>
            <a:r>
              <a:rPr lang="en-US" sz="1600" b="0" i="1" u="none" strike="noStrike">
                <a:solidFill>
                  <a:srgbClr val="000000"/>
                </a:solidFill>
                <a:effectLst/>
                <a:uFillTx/>
                <a:latin typeface="Arial Rounded MT Bold"/>
              </a:rPr>
              <a:t>I</a:t>
            </a:r>
            <a:r>
              <a:rPr lang="en-US" sz="1600" b="0" i="1" u="none" strike="noStrike" baseline="-25000">
                <a:solidFill>
                  <a:srgbClr val="000000"/>
                </a:solidFill>
                <a:effectLst/>
                <a:uFillTx/>
                <a:latin typeface="Symbol"/>
                <a:ea typeface="Symbol"/>
              </a:rPr>
              <a:t></a:t>
            </a:r>
            <a:r>
              <a:rPr lang="en-US" sz="1600" b="0" i="1" u="none" strike="noStrike">
                <a:solidFill>
                  <a:srgbClr val="000000"/>
                </a:solidFill>
                <a:effectLst/>
                <a:uFillTx/>
                <a:latin typeface="Symbol"/>
                <a:ea typeface="Symbol"/>
              </a:rPr>
              <a:t></a:t>
            </a:r>
            <a:r>
              <a:rPr lang="en-US" sz="1600" b="0" i="1" u="none" strike="noStrike">
                <a:solidFill>
                  <a:srgbClr val="000000"/>
                </a:solidFill>
                <a:effectLst/>
                <a:uFillTx/>
                <a:latin typeface="Arial Rounded MT Bold"/>
              </a:rPr>
              <a:t> </a:t>
            </a:r>
            <a:r>
              <a:rPr lang="en-US" sz="1600" b="0" i="1" u="none" strike="noStrike">
                <a:solidFill>
                  <a:srgbClr val="000000"/>
                </a:solidFill>
                <a:effectLst/>
                <a:uFillTx/>
                <a:latin typeface="Symbol"/>
                <a:ea typeface="Symbol"/>
              </a:rPr>
              <a:t></a:t>
            </a:r>
            <a:r>
              <a:rPr lang="en-US" sz="1600" b="0" i="1" u="none" strike="noStrike" baseline="-25000">
                <a:solidFill>
                  <a:srgbClr val="000000"/>
                </a:solidFill>
                <a:effectLst/>
                <a:uFillTx/>
                <a:latin typeface="Symbol"/>
                <a:ea typeface="Symbol"/>
              </a:rPr>
              <a:t></a:t>
            </a:r>
            <a:r>
              <a:rPr lang="en-US" sz="1600" b="0" u="none" strike="noStrike" baseline="30000">
                <a:solidFill>
                  <a:srgbClr val="000000"/>
                </a:solidFill>
                <a:effectLst/>
                <a:uFillTx/>
                <a:latin typeface="Arial Rounded MT Bold"/>
              </a:rPr>
              <a:t>–1</a:t>
            </a: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 Rounded MT Bold"/>
              </a:rPr>
              <a:t>(</a:t>
            </a: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Arial Rounded MT Bold"/>
              </a:rPr>
              <a:t> </a:t>
            </a:r>
            <a:r>
              <a:rPr lang="en-US" sz="1600" b="0" i="1" u="none" strike="noStrike">
                <a:solidFill>
                  <a:srgbClr val="000000"/>
                </a:solidFill>
                <a:effectLst/>
                <a:uFillTx/>
                <a:latin typeface="Arial Rounded MT Bold"/>
              </a:rPr>
              <a:t>s</a:t>
            </a:r>
            <a:r>
              <a:rPr lang="en-US" sz="1000" b="0" i="1" u="none" strike="noStrike">
                <a:solidFill>
                  <a:srgbClr val="000000"/>
                </a:solidFill>
                <a:effectLst/>
                <a:uFillTx/>
                <a:latin typeface="Arial Rounded MT Bold"/>
              </a:rPr>
              <a:t> </a:t>
            </a: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 Rounded MT Bold"/>
              </a:rPr>
              <a:t>);  </a:t>
            </a:r>
            <a:r>
              <a:rPr lang="en-US" sz="1600" b="0" i="1" u="none" strike="noStrike">
                <a:solidFill>
                  <a:srgbClr val="B025A6"/>
                </a:solidFill>
                <a:effectLst/>
                <a:uFillTx/>
                <a:latin typeface="Arial Rounded MT Bold"/>
              </a:rPr>
              <a:t>// I</a:t>
            </a:r>
            <a:r>
              <a:rPr lang="en-US" sz="1600" b="0" i="1" u="none" strike="noStrike" baseline="-25000">
                <a:solidFill>
                  <a:srgbClr val="B025A6"/>
                </a:solidFill>
                <a:effectLst/>
                <a:uFillTx/>
                <a:latin typeface="Symbol"/>
                <a:ea typeface="Symbol"/>
              </a:rPr>
              <a:t></a:t>
            </a:r>
            <a:r>
              <a:rPr lang="en-US" sz="1600" b="0" i="1" u="none" strike="noStrike">
                <a:solidFill>
                  <a:srgbClr val="B025A6"/>
                </a:solidFill>
                <a:effectLst/>
                <a:uFillTx/>
                <a:latin typeface="Arial Rounded MT Bold"/>
              </a:rPr>
              <a:t> </a:t>
            </a:r>
            <a:r>
              <a:rPr lang="en-US" sz="1600" b="0" u="none" strike="noStrike">
                <a:solidFill>
                  <a:srgbClr val="B025A6"/>
                </a:solidFill>
                <a:effectLst/>
                <a:uFillTx/>
                <a:latin typeface="Arial Rounded MT Bold"/>
              </a:rPr>
              <a:t>is set of all states that can reach </a:t>
            </a:r>
            <a:r>
              <a:rPr lang="en-US" sz="1600" b="0" i="1" u="none" strike="noStrike">
                <a:solidFill>
                  <a:srgbClr val="B025A6"/>
                </a:solidFill>
                <a:effectLst/>
                <a:uFillTx/>
                <a:latin typeface="Arial Rounded MT Bold"/>
              </a:rPr>
              <a:t>s</a:t>
            </a:r>
            <a:r>
              <a:rPr lang="en-US" sz="1600" b="0" u="none" strike="noStrike">
                <a:solidFill>
                  <a:srgbClr val="B025A6"/>
                </a:solidFill>
                <a:effectLst/>
                <a:uFillTx/>
                <a:latin typeface="Arial Rounded MT Bold"/>
              </a:rPr>
              <a:t> on </a:t>
            </a:r>
            <a:r>
              <a:rPr lang="en-US" sz="1800" b="0" u="none" strike="noStrike">
                <a:solidFill>
                  <a:srgbClr val="B025A6"/>
                </a:solidFill>
                <a:effectLst/>
                <a:uFillTx/>
                <a:latin typeface="Symbol"/>
                <a:ea typeface="Symbol"/>
              </a:rPr>
              <a:t></a:t>
            </a:r>
            <a:r>
              <a:rPr lang="en-US" sz="1600" b="0" u="none" strike="noStrike">
                <a:solidFill>
                  <a:srgbClr val="B025A6"/>
                </a:solidFill>
                <a:effectLst/>
                <a:uFillTx/>
                <a:latin typeface="Arial Rounded MT Bold"/>
              </a:rPr>
              <a:t> </a:t>
            </a:r>
            <a:endParaRPr lang="it-IT" sz="16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  <a:p>
            <a:pPr>
              <a:lnSpc>
                <a:spcPct val="110000"/>
              </a:lnSpc>
              <a:spcBef>
                <a:spcPts val="400"/>
              </a:spcBef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1600" b="0" i="1" u="none" strike="noStrike">
                <a:solidFill>
                  <a:srgbClr val="000000"/>
                </a:solidFill>
                <a:effectLst/>
                <a:uFillTx/>
                <a:latin typeface="Arial Rounded MT Bold"/>
              </a:rPr>
              <a:t>	</a:t>
            </a:r>
            <a:r>
              <a:rPr lang="en-US" sz="1600" b="0" i="1" u="none" strike="noStrike">
                <a:solidFill>
                  <a:srgbClr val="000000"/>
                </a:solidFill>
                <a:effectLst/>
                <a:uFillTx/>
                <a:latin typeface="Arial Rounded MT Bold"/>
              </a:rPr>
              <a:t>	</a:t>
            </a: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 Rounded MT Bold"/>
              </a:rPr>
              <a:t>for each</a:t>
            </a:r>
            <a:r>
              <a:rPr lang="en-US" sz="1600" b="0" i="1" u="none" strike="noStrike">
                <a:solidFill>
                  <a:srgbClr val="000000"/>
                </a:solidFill>
                <a:effectLst/>
                <a:uFillTx/>
                <a:latin typeface="Arial Rounded MT Bold"/>
              </a:rPr>
              <a:t> p </a:t>
            </a:r>
            <a:r>
              <a:rPr lang="en-US" sz="1400" b="1" u="none" strike="noStrike">
                <a:solidFill>
                  <a:srgbClr val="000000"/>
                </a:solidFill>
                <a:effectLst/>
                <a:uFillTx/>
                <a:latin typeface="Symbol"/>
                <a:ea typeface="Symbol"/>
              </a:rPr>
              <a:t></a:t>
            </a:r>
            <a:r>
              <a:rPr lang="en-US" sz="1600" b="0" i="1" u="none" strike="noStrike">
                <a:solidFill>
                  <a:srgbClr val="000000"/>
                </a:solidFill>
                <a:effectLst/>
                <a:uFillTx/>
                <a:latin typeface="Arial Rounded MT Bold"/>
              </a:rPr>
              <a:t> P such that  p </a:t>
            </a: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Symbol"/>
                <a:ea typeface="Symbol"/>
              </a:rPr>
              <a:t></a:t>
            </a:r>
            <a:r>
              <a:rPr lang="en-US" sz="1600" b="0" i="1" u="none" strike="noStrike">
                <a:solidFill>
                  <a:srgbClr val="000000"/>
                </a:solidFill>
                <a:effectLst/>
                <a:uFillTx/>
                <a:latin typeface="Arial Rounded MT Bold"/>
              </a:rPr>
              <a:t>I</a:t>
            </a:r>
            <a:r>
              <a:rPr lang="en-US" sz="1600" b="0" i="1" u="none" strike="noStrike" baseline="-25000">
                <a:solidFill>
                  <a:srgbClr val="000000"/>
                </a:solidFill>
                <a:effectLst/>
                <a:uFillTx/>
                <a:latin typeface="Symbol"/>
                <a:ea typeface="Symbol"/>
              </a:rPr>
              <a:t></a:t>
            </a: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 Rounded MT Bold"/>
              </a:rPr>
              <a:t>is not empty </a:t>
            </a:r>
            <a:endParaRPr lang="it-IT" sz="16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  <a:p>
            <a:pPr>
              <a:lnSpc>
                <a:spcPct val="100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 Rounded MT Bold"/>
              </a:rPr>
              <a:t>	</a:t>
            </a: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 Rounded MT Bold"/>
              </a:rPr>
              <a:t>     </a:t>
            </a: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 Rounded MT Bold"/>
              </a:rPr>
              <a:t>	</a:t>
            </a: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 Rounded MT Bold"/>
              </a:rPr>
              <a:t>    and </a:t>
            </a:r>
            <a:r>
              <a:rPr lang="en-US" sz="1600" b="0" i="1" u="none" strike="noStrike">
                <a:solidFill>
                  <a:srgbClr val="000000"/>
                </a:solidFill>
                <a:effectLst/>
                <a:uFillTx/>
                <a:latin typeface="Arial Rounded MT Bold"/>
              </a:rPr>
              <a:t>p  </a:t>
            </a: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 Rounded MT Bold"/>
              </a:rPr>
              <a:t>is not contained in</a:t>
            </a:r>
            <a:r>
              <a:rPr lang="en-US" sz="1600" b="0" i="1" u="none" strike="noStrike">
                <a:solidFill>
                  <a:srgbClr val="000000"/>
                </a:solidFill>
                <a:effectLst/>
                <a:uFillTx/>
                <a:latin typeface="Arial Rounded MT Bold"/>
              </a:rPr>
              <a:t> I</a:t>
            </a:r>
            <a:r>
              <a:rPr lang="en-US" sz="1600" b="0" i="1" u="none" strike="noStrike" baseline="-25000">
                <a:solidFill>
                  <a:srgbClr val="000000"/>
                </a:solidFill>
                <a:effectLst/>
                <a:uFillTx/>
                <a:latin typeface="Symbol"/>
                <a:ea typeface="Symbol"/>
              </a:rPr>
              <a:t></a:t>
            </a: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 Rounded MT Bold"/>
              </a:rPr>
              <a:t>do begin</a:t>
            </a:r>
            <a:endParaRPr lang="it-IT" sz="16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  <a:p>
            <a:pPr>
              <a:lnSpc>
                <a:spcPct val="110000"/>
              </a:lnSpc>
              <a:spcBef>
                <a:spcPts val="400"/>
              </a:spcBef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 Rounded MT Bold"/>
              </a:rPr>
              <a:t>	</a:t>
            </a: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 Rounded MT Bold"/>
              </a:rPr>
              <a:t>	</a:t>
            </a: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 Rounded MT Bold"/>
              </a:rPr>
              <a:t>	</a:t>
            </a: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 Rounded MT Bold"/>
              </a:rPr>
              <a:t>partition </a:t>
            </a:r>
            <a:r>
              <a:rPr lang="en-US" sz="1600" b="0" i="1" u="none" strike="noStrike">
                <a:solidFill>
                  <a:srgbClr val="000000"/>
                </a:solidFill>
                <a:effectLst/>
                <a:uFillTx/>
                <a:latin typeface="Arial Rounded MT Bold"/>
              </a:rPr>
              <a:t>p </a:t>
            </a: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 Rounded MT Bold"/>
              </a:rPr>
              <a:t> into </a:t>
            </a:r>
            <a:r>
              <a:rPr lang="en-US" sz="1600" b="0" i="1" u="none" strike="noStrike">
                <a:solidFill>
                  <a:srgbClr val="000000"/>
                </a:solidFill>
                <a:effectLst/>
                <a:uFillTx/>
                <a:latin typeface="Arial Rounded MT Bold"/>
              </a:rPr>
              <a:t>p</a:t>
            </a:r>
            <a:r>
              <a:rPr lang="en-US" sz="1600" b="0" u="none" strike="noStrike" baseline="-25000">
                <a:solidFill>
                  <a:srgbClr val="000000"/>
                </a:solidFill>
                <a:effectLst/>
                <a:uFillTx/>
                <a:latin typeface="Arial Rounded MT Bold"/>
              </a:rPr>
              <a:t>1</a:t>
            </a: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 Rounded MT Bold"/>
              </a:rPr>
              <a:t> and </a:t>
            </a:r>
            <a:r>
              <a:rPr lang="en-US" sz="1600" b="0" i="1" u="none" strike="noStrike">
                <a:solidFill>
                  <a:srgbClr val="000000"/>
                </a:solidFill>
                <a:effectLst/>
                <a:uFillTx/>
                <a:latin typeface="Arial Rounded MT Bold"/>
              </a:rPr>
              <a:t>p</a:t>
            </a:r>
            <a:r>
              <a:rPr lang="en-US" sz="1600" b="0" u="none" strike="noStrike" baseline="-25000">
                <a:solidFill>
                  <a:srgbClr val="000000"/>
                </a:solidFill>
                <a:effectLst/>
                <a:uFillTx/>
                <a:latin typeface="Arial Rounded MT Bold"/>
              </a:rPr>
              <a:t>2 </a:t>
            </a: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 Rounded MT Bold"/>
              </a:rPr>
              <a:t>such that </a:t>
            </a:r>
            <a:r>
              <a:rPr lang="en-US" sz="1600" b="0" i="1" u="none" strike="noStrike">
                <a:solidFill>
                  <a:srgbClr val="000000"/>
                </a:solidFill>
                <a:effectLst/>
                <a:uFillTx/>
                <a:latin typeface="Arial Rounded MT Bold"/>
              </a:rPr>
              <a:t>p</a:t>
            </a:r>
            <a:r>
              <a:rPr lang="en-US" sz="1600" b="0" u="none" strike="noStrike" baseline="-25000">
                <a:solidFill>
                  <a:srgbClr val="000000"/>
                </a:solidFill>
                <a:effectLst/>
                <a:uFillTx/>
                <a:latin typeface="Arial Rounded MT Bold"/>
              </a:rPr>
              <a:t>1</a:t>
            </a: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 Rounded MT Bold"/>
              </a:rPr>
              <a:t> </a:t>
            </a:r>
            <a:r>
              <a:rPr lang="en-US" sz="1600" b="0" i="1" u="none" strike="noStrike">
                <a:solidFill>
                  <a:srgbClr val="000000"/>
                </a:solidFill>
                <a:effectLst/>
                <a:uFillTx/>
                <a:latin typeface="Symbol"/>
                <a:ea typeface="Symbol"/>
              </a:rPr>
              <a:t></a:t>
            </a:r>
            <a:r>
              <a:rPr lang="en-US" sz="1600" b="0" i="1" u="none" strike="noStrike">
                <a:solidFill>
                  <a:srgbClr val="000000"/>
                </a:solidFill>
                <a:effectLst/>
                <a:uFillTx/>
                <a:latin typeface="Arial Rounded MT Bold"/>
              </a:rPr>
              <a:t> p </a:t>
            </a: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Symbol"/>
                <a:ea typeface="Symbol"/>
              </a:rPr>
              <a:t></a:t>
            </a:r>
            <a:r>
              <a:rPr lang="en-US" sz="1600" b="0" i="1" u="none" strike="noStrike">
                <a:solidFill>
                  <a:srgbClr val="000000"/>
                </a:solidFill>
                <a:effectLst/>
                <a:uFillTx/>
                <a:latin typeface="Arial Rounded MT Bold"/>
              </a:rPr>
              <a:t>I</a:t>
            </a:r>
            <a:r>
              <a:rPr lang="en-US" sz="1600" b="0" i="1" u="none" strike="noStrike" baseline="-25000">
                <a:solidFill>
                  <a:srgbClr val="000000"/>
                </a:solidFill>
                <a:effectLst/>
                <a:uFillTx/>
                <a:latin typeface="Symbol"/>
                <a:ea typeface="Symbol"/>
              </a:rPr>
              <a:t></a:t>
            </a: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 Rounded MT Bold"/>
              </a:rPr>
              <a:t>; </a:t>
            </a:r>
            <a:r>
              <a:rPr lang="en-US" sz="1600" b="0" i="1" u="none" strike="noStrike">
                <a:solidFill>
                  <a:srgbClr val="000000"/>
                </a:solidFill>
                <a:effectLst/>
                <a:uFillTx/>
                <a:latin typeface="Arial Rounded MT Bold"/>
              </a:rPr>
              <a:t>p</a:t>
            </a:r>
            <a:r>
              <a:rPr lang="en-US" sz="1600" b="0" u="none" strike="noStrike" baseline="-25000">
                <a:solidFill>
                  <a:srgbClr val="000000"/>
                </a:solidFill>
                <a:effectLst/>
                <a:uFillTx/>
                <a:latin typeface="Arial Rounded MT Bold"/>
              </a:rPr>
              <a:t>2</a:t>
            </a: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 Rounded MT Bold"/>
              </a:rPr>
              <a:t> </a:t>
            </a:r>
            <a:r>
              <a:rPr lang="en-US" sz="1600" b="0" i="1" u="none" strike="noStrike">
                <a:solidFill>
                  <a:srgbClr val="000000"/>
                </a:solidFill>
                <a:effectLst/>
                <a:uFillTx/>
                <a:latin typeface="Symbol"/>
                <a:ea typeface="Symbol"/>
              </a:rPr>
              <a:t></a:t>
            </a:r>
            <a:r>
              <a:rPr lang="en-US" sz="1600" b="0" i="1" u="none" strike="noStrike">
                <a:solidFill>
                  <a:srgbClr val="000000"/>
                </a:solidFill>
                <a:effectLst/>
                <a:uFillTx/>
                <a:latin typeface="Arial Rounded MT Bold"/>
              </a:rPr>
              <a:t> p – p</a:t>
            </a:r>
            <a:r>
              <a:rPr lang="en-US" sz="1600" b="0" u="none" strike="noStrike" baseline="-25000">
                <a:solidFill>
                  <a:srgbClr val="000000"/>
                </a:solidFill>
                <a:effectLst/>
                <a:uFillTx/>
                <a:latin typeface="Arial Rounded MT Bold"/>
              </a:rPr>
              <a:t>1</a:t>
            </a: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 Rounded MT Bold"/>
              </a:rPr>
              <a:t>;</a:t>
            </a:r>
            <a:endParaRPr lang="it-IT" sz="16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  <a:p>
            <a:pPr>
              <a:lnSpc>
                <a:spcPct val="110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 Rounded MT Bold"/>
              </a:rPr>
              <a:t>	</a:t>
            </a: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 Rounded MT Bold"/>
              </a:rPr>
              <a:t>	</a:t>
            </a: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 Rounded MT Bold"/>
              </a:rPr>
              <a:t>	</a:t>
            </a:r>
            <a:r>
              <a:rPr lang="en-US" sz="1600" b="0" i="1" u="none" strike="noStrike">
                <a:solidFill>
                  <a:srgbClr val="000000"/>
                </a:solidFill>
                <a:effectLst/>
                <a:uFillTx/>
                <a:latin typeface="Arial Rounded MT Bold"/>
              </a:rPr>
              <a:t>P </a:t>
            </a:r>
            <a:r>
              <a:rPr lang="en-US" sz="1600" b="0" i="1" u="none" strike="noStrike">
                <a:solidFill>
                  <a:srgbClr val="000000"/>
                </a:solidFill>
                <a:effectLst/>
                <a:uFillTx/>
                <a:latin typeface="Symbol"/>
                <a:ea typeface="Symbol"/>
              </a:rPr>
              <a:t></a:t>
            </a: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 Rounded MT Bold"/>
              </a:rPr>
              <a:t> (</a:t>
            </a:r>
            <a:r>
              <a:rPr lang="en-US" sz="1600" b="0" i="1" u="none" strike="noStrike">
                <a:solidFill>
                  <a:srgbClr val="000000"/>
                </a:solidFill>
                <a:effectLst/>
                <a:uFillTx/>
                <a:latin typeface="Arial Rounded MT Bold"/>
              </a:rPr>
              <a:t>P</a:t>
            </a: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 Rounded MT Bold"/>
              </a:rPr>
              <a:t> – </a:t>
            </a:r>
            <a:r>
              <a:rPr lang="en-US" sz="1600" b="0" i="1" u="none" strike="noStrike">
                <a:solidFill>
                  <a:srgbClr val="000000"/>
                </a:solidFill>
                <a:effectLst/>
                <a:uFillTx/>
                <a:latin typeface="Arial Rounded MT Bold"/>
              </a:rPr>
              <a:t>p)</a:t>
            </a: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 Rounded MT Bold"/>
              </a:rPr>
              <a:t> </a:t>
            </a:r>
            <a:r>
              <a:rPr lang="en-US" sz="1400" b="1" u="none" strike="noStrike">
                <a:solidFill>
                  <a:srgbClr val="000000"/>
                </a:solidFill>
                <a:effectLst/>
                <a:uFillTx/>
                <a:latin typeface="Symbol"/>
                <a:ea typeface="Symbol"/>
              </a:rPr>
              <a:t></a:t>
            </a: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 Rounded MT Bold"/>
              </a:rPr>
              <a:t> </a:t>
            </a:r>
            <a:r>
              <a:rPr lang="en-US" sz="1600" b="0" i="1" u="none" strike="noStrike">
                <a:solidFill>
                  <a:srgbClr val="000000"/>
                </a:solidFill>
                <a:effectLst/>
                <a:uFillTx/>
                <a:latin typeface="Arial Rounded MT Bold"/>
              </a:rPr>
              <a:t>p</a:t>
            </a:r>
            <a:r>
              <a:rPr lang="en-US" sz="1600" b="0" u="none" strike="noStrike" baseline="-25000">
                <a:solidFill>
                  <a:srgbClr val="000000"/>
                </a:solidFill>
                <a:effectLst/>
                <a:uFillTx/>
                <a:latin typeface="Arial Rounded MT Bold"/>
              </a:rPr>
              <a:t>1</a:t>
            </a: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 Rounded MT Bold"/>
              </a:rPr>
              <a:t> </a:t>
            </a:r>
            <a:r>
              <a:rPr lang="en-US" sz="1400" b="1" u="none" strike="noStrike">
                <a:solidFill>
                  <a:srgbClr val="000000"/>
                </a:solidFill>
                <a:effectLst/>
                <a:uFillTx/>
                <a:latin typeface="Symbol"/>
                <a:ea typeface="Symbol"/>
              </a:rPr>
              <a:t></a:t>
            </a: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 Rounded MT Bold"/>
              </a:rPr>
              <a:t> </a:t>
            </a:r>
            <a:r>
              <a:rPr lang="en-US" sz="1600" b="0" i="1" u="none" strike="noStrike">
                <a:solidFill>
                  <a:srgbClr val="000000"/>
                </a:solidFill>
                <a:effectLst/>
                <a:uFillTx/>
                <a:latin typeface="Arial Rounded MT Bold"/>
              </a:rPr>
              <a:t>p</a:t>
            </a:r>
            <a:r>
              <a:rPr lang="en-US" sz="1600" b="0" u="none" strike="noStrike" baseline="-25000">
                <a:solidFill>
                  <a:srgbClr val="000000"/>
                </a:solidFill>
                <a:effectLst/>
                <a:uFillTx/>
                <a:latin typeface="Arial Rounded MT Bold"/>
              </a:rPr>
              <a:t>2</a:t>
            </a:r>
            <a:r>
              <a:rPr lang="en-US" sz="900" b="0" u="none" strike="noStrike" baseline="-25000">
                <a:solidFill>
                  <a:srgbClr val="000000"/>
                </a:solidFill>
                <a:effectLst/>
                <a:uFillTx/>
                <a:latin typeface="Arial Rounded MT Bold"/>
              </a:rPr>
              <a:t> </a:t>
            </a: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 Rounded MT Bold"/>
              </a:rPr>
              <a:t>; </a:t>
            </a:r>
            <a:endParaRPr lang="it-IT" sz="16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  <a:p>
            <a:pPr>
              <a:lnSpc>
                <a:spcPct val="110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 Rounded MT Bold"/>
              </a:rPr>
              <a:t>	</a:t>
            </a: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 Rounded MT Bold"/>
              </a:rPr>
              <a:t>	</a:t>
            </a: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 Rounded MT Bold"/>
              </a:rPr>
              <a:t>	</a:t>
            </a: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 Rounded MT Bold"/>
              </a:rPr>
              <a:t>if </a:t>
            </a:r>
            <a:r>
              <a:rPr lang="en-US" sz="1600" b="0" i="1" u="none" strike="noStrike">
                <a:solidFill>
                  <a:srgbClr val="000000"/>
                </a:solidFill>
                <a:effectLst/>
                <a:uFillTx/>
                <a:latin typeface="Arial Rounded MT Bold"/>
              </a:rPr>
              <a:t>p </a:t>
            </a:r>
            <a:r>
              <a:rPr lang="en-US" sz="1400" b="1" u="none" strike="noStrike">
                <a:solidFill>
                  <a:srgbClr val="000000"/>
                </a:solidFill>
                <a:effectLst/>
                <a:uFillTx/>
                <a:latin typeface="Symbol"/>
                <a:ea typeface="Symbol"/>
              </a:rPr>
              <a:t></a:t>
            </a: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Symbol"/>
                <a:ea typeface="Symbol"/>
              </a:rPr>
              <a:t></a:t>
            </a:r>
            <a:r>
              <a:rPr lang="en-US" sz="1600" b="0" i="1" u="none" strike="noStrike">
                <a:solidFill>
                  <a:srgbClr val="000000"/>
                </a:solidFill>
                <a:effectLst/>
                <a:uFillTx/>
                <a:latin typeface="Arial Rounded MT Bold"/>
              </a:rPr>
              <a:t>W </a:t>
            </a:r>
            <a:endParaRPr lang="it-IT" sz="16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  <a:p>
            <a:pPr>
              <a:lnSpc>
                <a:spcPct val="110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1600" b="0" i="1" u="none" strike="noStrike">
                <a:solidFill>
                  <a:srgbClr val="000000"/>
                </a:solidFill>
                <a:effectLst/>
                <a:uFillTx/>
                <a:latin typeface="Arial Rounded MT Bold"/>
              </a:rPr>
              <a:t>	</a:t>
            </a:r>
            <a:r>
              <a:rPr lang="en-US" sz="1600" b="0" i="1" u="none" strike="noStrike">
                <a:solidFill>
                  <a:srgbClr val="000000"/>
                </a:solidFill>
                <a:effectLst/>
                <a:uFillTx/>
                <a:latin typeface="Arial Rounded MT Bold"/>
              </a:rPr>
              <a:t>	</a:t>
            </a:r>
            <a:r>
              <a:rPr lang="en-US" sz="1600" b="0" i="1" u="none" strike="noStrike">
                <a:solidFill>
                  <a:srgbClr val="000000"/>
                </a:solidFill>
                <a:effectLst/>
                <a:uFillTx/>
                <a:latin typeface="Arial Rounded MT Bold"/>
              </a:rPr>
              <a:t>	</a:t>
            </a:r>
            <a:r>
              <a:rPr lang="en-US" sz="1600" b="0" i="1" u="none" strike="noStrike">
                <a:solidFill>
                  <a:srgbClr val="000000"/>
                </a:solidFill>
                <a:effectLst/>
                <a:uFillTx/>
                <a:latin typeface="Arial Rounded MT Bold"/>
              </a:rPr>
              <a:t>	</a:t>
            </a: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 Rounded MT Bold"/>
              </a:rPr>
              <a:t>then </a:t>
            </a:r>
            <a:r>
              <a:rPr lang="en-US" sz="1600" b="0" i="1" u="none" strike="noStrike">
                <a:solidFill>
                  <a:srgbClr val="000000"/>
                </a:solidFill>
                <a:effectLst/>
                <a:uFillTx/>
                <a:latin typeface="Arial Rounded MT Bold"/>
              </a:rPr>
              <a:t>W </a:t>
            </a:r>
            <a:r>
              <a:rPr lang="en-US" sz="1600" b="0" i="1" u="none" strike="noStrike">
                <a:solidFill>
                  <a:srgbClr val="000000"/>
                </a:solidFill>
                <a:effectLst/>
                <a:uFillTx/>
                <a:latin typeface="Symbol"/>
                <a:ea typeface="Symbol"/>
              </a:rPr>
              <a:t></a:t>
            </a: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 Rounded MT Bold"/>
              </a:rPr>
              <a:t> (</a:t>
            </a:r>
            <a:r>
              <a:rPr lang="en-US" sz="1600" b="0" i="1" u="none" strike="noStrike">
                <a:solidFill>
                  <a:srgbClr val="000000"/>
                </a:solidFill>
                <a:effectLst/>
                <a:uFillTx/>
                <a:latin typeface="Arial Rounded MT Bold"/>
              </a:rPr>
              <a:t>W</a:t>
            </a: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 Rounded MT Bold"/>
              </a:rPr>
              <a:t> – </a:t>
            </a:r>
            <a:r>
              <a:rPr lang="en-US" sz="1600" b="0" i="1" u="none" strike="noStrike">
                <a:solidFill>
                  <a:srgbClr val="000000"/>
                </a:solidFill>
                <a:effectLst/>
                <a:uFillTx/>
                <a:latin typeface="Arial Rounded MT Bold"/>
              </a:rPr>
              <a:t>p)</a:t>
            </a: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 Rounded MT Bold"/>
              </a:rPr>
              <a:t> </a:t>
            </a:r>
            <a:r>
              <a:rPr lang="en-US" sz="1400" b="1" u="none" strike="noStrike">
                <a:solidFill>
                  <a:srgbClr val="000000"/>
                </a:solidFill>
                <a:effectLst/>
                <a:uFillTx/>
                <a:latin typeface="Symbol"/>
                <a:ea typeface="Symbol"/>
              </a:rPr>
              <a:t></a:t>
            </a: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 Rounded MT Bold"/>
              </a:rPr>
              <a:t> </a:t>
            </a:r>
            <a:r>
              <a:rPr lang="en-US" sz="1600" b="0" i="1" u="none" strike="noStrike">
                <a:solidFill>
                  <a:srgbClr val="000000"/>
                </a:solidFill>
                <a:effectLst/>
                <a:uFillTx/>
                <a:latin typeface="Arial Rounded MT Bold"/>
              </a:rPr>
              <a:t>p</a:t>
            </a:r>
            <a:r>
              <a:rPr lang="en-US" sz="1600" b="0" u="none" strike="noStrike" baseline="-25000">
                <a:solidFill>
                  <a:srgbClr val="000000"/>
                </a:solidFill>
                <a:effectLst/>
                <a:uFillTx/>
                <a:latin typeface="Arial Rounded MT Bold"/>
              </a:rPr>
              <a:t>1</a:t>
            </a: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 Rounded MT Bold"/>
              </a:rPr>
              <a:t> </a:t>
            </a:r>
            <a:r>
              <a:rPr lang="en-US" sz="1400" b="1" u="none" strike="noStrike">
                <a:solidFill>
                  <a:srgbClr val="000000"/>
                </a:solidFill>
                <a:effectLst/>
                <a:uFillTx/>
                <a:latin typeface="Symbol"/>
                <a:ea typeface="Symbol"/>
              </a:rPr>
              <a:t></a:t>
            </a: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 Rounded MT Bold"/>
              </a:rPr>
              <a:t> </a:t>
            </a:r>
            <a:r>
              <a:rPr lang="en-US" sz="1600" b="0" i="1" u="none" strike="noStrike">
                <a:solidFill>
                  <a:srgbClr val="000000"/>
                </a:solidFill>
                <a:effectLst/>
                <a:uFillTx/>
                <a:latin typeface="Arial Rounded MT Bold"/>
              </a:rPr>
              <a:t>p</a:t>
            </a:r>
            <a:r>
              <a:rPr lang="en-US" sz="1600" b="0" u="none" strike="noStrike" baseline="-25000">
                <a:solidFill>
                  <a:srgbClr val="000000"/>
                </a:solidFill>
                <a:effectLst/>
                <a:uFillTx/>
                <a:latin typeface="Arial Rounded MT Bold"/>
              </a:rPr>
              <a:t>2</a:t>
            </a:r>
            <a:r>
              <a:rPr lang="en-US" sz="900" b="0" u="none" strike="noStrike" baseline="-25000">
                <a:solidFill>
                  <a:srgbClr val="000000"/>
                </a:solidFill>
                <a:effectLst/>
                <a:uFillTx/>
                <a:latin typeface="Arial Rounded MT Bold"/>
              </a:rPr>
              <a:t> </a:t>
            </a: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 Rounded MT Bold"/>
              </a:rPr>
              <a:t>;</a:t>
            </a:r>
            <a:endParaRPr lang="it-IT" sz="16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  <a:p>
            <a:pPr>
              <a:lnSpc>
                <a:spcPct val="110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 Rounded MT Bold"/>
              </a:rPr>
              <a:t>	</a:t>
            </a: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 Rounded MT Bold"/>
              </a:rPr>
              <a:t> </a:t>
            </a: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 Rounded MT Bold"/>
              </a:rPr>
              <a:t>	</a:t>
            </a: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 Rounded MT Bold"/>
              </a:rPr>
              <a:t>	</a:t>
            </a: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 Rounded MT Bold"/>
              </a:rPr>
              <a:t>	</a:t>
            </a: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 Rounded MT Bold"/>
              </a:rPr>
              <a:t>else if |</a:t>
            </a:r>
            <a:r>
              <a:rPr lang="en-US" sz="1600" b="0" i="1" u="none" strike="noStrike">
                <a:solidFill>
                  <a:srgbClr val="000000"/>
                </a:solidFill>
                <a:effectLst/>
                <a:uFillTx/>
                <a:latin typeface="Arial Rounded MT Bold"/>
              </a:rPr>
              <a:t>p</a:t>
            </a:r>
            <a:r>
              <a:rPr lang="en-US" sz="1600" b="0" u="none" strike="noStrike" baseline="-25000">
                <a:solidFill>
                  <a:srgbClr val="000000"/>
                </a:solidFill>
                <a:effectLst/>
                <a:uFillTx/>
                <a:latin typeface="Arial Rounded MT Bold"/>
              </a:rPr>
              <a:t>1</a:t>
            </a: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 Rounded MT Bold"/>
              </a:rPr>
              <a:t>|</a:t>
            </a:r>
            <a:r>
              <a:rPr lang="en-US" sz="1600" b="0" i="1" u="none" strike="noStrike">
                <a:solidFill>
                  <a:srgbClr val="000000"/>
                </a:solidFill>
                <a:effectLst/>
                <a:uFillTx/>
                <a:latin typeface="Arial Rounded MT Bold"/>
              </a:rPr>
              <a:t> </a:t>
            </a: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 Rounded MT Bold"/>
              </a:rPr>
              <a:t>≤</a:t>
            </a:r>
            <a:r>
              <a:rPr lang="en-US" sz="1600" b="0" i="1" u="none" strike="noStrike">
                <a:solidFill>
                  <a:srgbClr val="000000"/>
                </a:solidFill>
                <a:effectLst/>
                <a:uFillTx/>
                <a:latin typeface="Arial Rounded MT Bold"/>
              </a:rPr>
              <a:t> </a:t>
            </a: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 Rounded MT Bold"/>
              </a:rPr>
              <a:t>|</a:t>
            </a:r>
            <a:r>
              <a:rPr lang="en-US" sz="1600" b="0" i="1" u="none" strike="noStrike">
                <a:solidFill>
                  <a:srgbClr val="000000"/>
                </a:solidFill>
                <a:effectLst/>
                <a:uFillTx/>
                <a:latin typeface="Arial Rounded MT Bold"/>
              </a:rPr>
              <a:t>p</a:t>
            </a:r>
            <a:r>
              <a:rPr lang="en-US" sz="1600" b="0" u="none" strike="noStrike" baseline="-25000">
                <a:solidFill>
                  <a:srgbClr val="000000"/>
                </a:solidFill>
                <a:effectLst/>
                <a:uFillTx/>
                <a:latin typeface="Arial Rounded MT Bold"/>
              </a:rPr>
              <a:t>2</a:t>
            </a: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 Rounded MT Bold"/>
              </a:rPr>
              <a:t> |</a:t>
            </a:r>
            <a:endParaRPr lang="it-IT" sz="16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  <a:p>
            <a:pPr>
              <a:lnSpc>
                <a:spcPct val="110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1600" b="0" i="1" u="none" strike="noStrike">
                <a:solidFill>
                  <a:srgbClr val="000000"/>
                </a:solidFill>
                <a:effectLst/>
                <a:uFillTx/>
                <a:latin typeface="Arial Rounded MT Bold"/>
              </a:rPr>
              <a:t>	</a:t>
            </a:r>
            <a:r>
              <a:rPr lang="en-US" sz="1600" b="0" i="1" u="none" strike="noStrike">
                <a:solidFill>
                  <a:srgbClr val="000000"/>
                </a:solidFill>
                <a:effectLst/>
                <a:uFillTx/>
                <a:latin typeface="Arial Rounded MT Bold"/>
              </a:rPr>
              <a:t>	</a:t>
            </a:r>
            <a:r>
              <a:rPr lang="en-US" sz="1600" b="0" i="1" u="none" strike="noStrike">
                <a:solidFill>
                  <a:srgbClr val="000000"/>
                </a:solidFill>
                <a:effectLst/>
                <a:uFillTx/>
                <a:latin typeface="Arial Rounded MT Bold"/>
              </a:rPr>
              <a:t>	</a:t>
            </a:r>
            <a:r>
              <a:rPr lang="en-US" sz="1600" b="0" i="1" u="none" strike="noStrike">
                <a:solidFill>
                  <a:srgbClr val="000000"/>
                </a:solidFill>
                <a:effectLst/>
                <a:uFillTx/>
                <a:latin typeface="Arial Rounded MT Bold"/>
              </a:rPr>
              <a:t>	</a:t>
            </a:r>
            <a:r>
              <a:rPr lang="en-US" sz="1600" b="0" i="1" u="none" strike="noStrike">
                <a:solidFill>
                  <a:srgbClr val="000000"/>
                </a:solidFill>
                <a:effectLst/>
                <a:uFillTx/>
                <a:latin typeface="Arial Rounded MT Bold"/>
              </a:rPr>
              <a:t>	</a:t>
            </a: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 Rounded MT Bold"/>
              </a:rPr>
              <a:t>then </a:t>
            </a:r>
            <a:r>
              <a:rPr lang="en-US" sz="1600" b="0" i="1" u="none" strike="noStrike">
                <a:solidFill>
                  <a:srgbClr val="000000"/>
                </a:solidFill>
                <a:effectLst/>
                <a:uFillTx/>
                <a:latin typeface="Arial Rounded MT Bold"/>
              </a:rPr>
              <a:t>W </a:t>
            </a:r>
            <a:r>
              <a:rPr lang="en-US" sz="1600" b="0" i="1" u="none" strike="noStrike">
                <a:solidFill>
                  <a:srgbClr val="000000"/>
                </a:solidFill>
                <a:effectLst/>
                <a:uFillTx/>
                <a:latin typeface="Symbol"/>
                <a:ea typeface="Symbol"/>
              </a:rPr>
              <a:t></a:t>
            </a: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 Rounded MT Bold"/>
              </a:rPr>
              <a:t> </a:t>
            </a:r>
            <a:r>
              <a:rPr lang="en-US" sz="1600" b="0" i="1" u="none" strike="noStrike">
                <a:solidFill>
                  <a:srgbClr val="000000"/>
                </a:solidFill>
                <a:effectLst/>
                <a:uFillTx/>
                <a:latin typeface="Arial Rounded MT Bold"/>
              </a:rPr>
              <a:t>W </a:t>
            </a:r>
            <a:r>
              <a:rPr lang="en-US" sz="1400" b="1" u="none" strike="noStrike">
                <a:solidFill>
                  <a:srgbClr val="000000"/>
                </a:solidFill>
                <a:effectLst/>
                <a:uFillTx/>
                <a:latin typeface="Symbol"/>
                <a:ea typeface="Symbol"/>
              </a:rPr>
              <a:t></a:t>
            </a: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 Rounded MT Bold"/>
              </a:rPr>
              <a:t> </a:t>
            </a:r>
            <a:r>
              <a:rPr lang="en-US" sz="1600" b="0" i="1" u="none" strike="noStrike">
                <a:solidFill>
                  <a:srgbClr val="000000"/>
                </a:solidFill>
                <a:effectLst/>
                <a:uFillTx/>
                <a:latin typeface="Arial Rounded MT Bold"/>
              </a:rPr>
              <a:t>p</a:t>
            </a:r>
            <a:r>
              <a:rPr lang="en-US" sz="1600" b="0" u="none" strike="noStrike" baseline="-25000">
                <a:solidFill>
                  <a:srgbClr val="000000"/>
                </a:solidFill>
                <a:effectLst/>
                <a:uFillTx/>
                <a:latin typeface="Arial Rounded MT Bold"/>
              </a:rPr>
              <a:t>1</a:t>
            </a: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 Rounded MT Bold"/>
              </a:rPr>
              <a:t>; </a:t>
            </a:r>
            <a:endParaRPr lang="it-IT" sz="16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  <a:p>
            <a:pPr>
              <a:lnSpc>
                <a:spcPct val="110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 Rounded MT Bold"/>
              </a:rPr>
              <a:t>	</a:t>
            </a: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 Rounded MT Bold"/>
              </a:rPr>
              <a:t>	</a:t>
            </a: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 Rounded MT Bold"/>
              </a:rPr>
              <a:t>	</a:t>
            </a: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 Rounded MT Bold"/>
              </a:rPr>
              <a:t>	</a:t>
            </a: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 Rounded MT Bold"/>
              </a:rPr>
              <a:t>	</a:t>
            </a: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 Rounded MT Bold"/>
              </a:rPr>
              <a:t>else </a:t>
            </a:r>
            <a:r>
              <a:rPr lang="en-US" sz="1600" b="0" i="1" u="none" strike="noStrike">
                <a:solidFill>
                  <a:srgbClr val="000000"/>
                </a:solidFill>
                <a:effectLst/>
                <a:uFillTx/>
                <a:latin typeface="Arial Rounded MT Bold"/>
              </a:rPr>
              <a:t>W </a:t>
            </a:r>
            <a:r>
              <a:rPr lang="en-US" sz="1600" b="0" i="1" u="none" strike="noStrike">
                <a:solidFill>
                  <a:srgbClr val="000000"/>
                </a:solidFill>
                <a:effectLst/>
                <a:uFillTx/>
                <a:latin typeface="Symbol"/>
                <a:ea typeface="Symbol"/>
              </a:rPr>
              <a:t></a:t>
            </a: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 Rounded MT Bold"/>
              </a:rPr>
              <a:t> </a:t>
            </a:r>
            <a:r>
              <a:rPr lang="en-US" sz="1600" b="0" i="1" u="none" strike="noStrike">
                <a:solidFill>
                  <a:srgbClr val="000000"/>
                </a:solidFill>
                <a:effectLst/>
                <a:uFillTx/>
                <a:latin typeface="Arial Rounded MT Bold"/>
              </a:rPr>
              <a:t>W </a:t>
            </a:r>
            <a:r>
              <a:rPr lang="en-US" sz="1400" b="1" u="none" strike="noStrike">
                <a:solidFill>
                  <a:srgbClr val="000000"/>
                </a:solidFill>
                <a:effectLst/>
                <a:uFillTx/>
                <a:latin typeface="Symbol"/>
                <a:ea typeface="Symbol"/>
              </a:rPr>
              <a:t></a:t>
            </a: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 Rounded MT Bold"/>
              </a:rPr>
              <a:t> </a:t>
            </a:r>
            <a:r>
              <a:rPr lang="en-US" sz="1600" b="0" i="1" u="none" strike="noStrike">
                <a:solidFill>
                  <a:srgbClr val="000000"/>
                </a:solidFill>
                <a:effectLst/>
                <a:uFillTx/>
                <a:latin typeface="Arial Rounded MT Bold"/>
              </a:rPr>
              <a:t>p</a:t>
            </a:r>
            <a:r>
              <a:rPr lang="en-US" sz="1600" b="0" u="none" strike="noStrike" baseline="-25000">
                <a:solidFill>
                  <a:srgbClr val="000000"/>
                </a:solidFill>
                <a:effectLst/>
                <a:uFillTx/>
                <a:latin typeface="Arial Rounded MT Bold"/>
              </a:rPr>
              <a:t>2</a:t>
            </a: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 Rounded MT Bold"/>
              </a:rPr>
              <a:t>; </a:t>
            </a:r>
            <a:endParaRPr lang="it-IT" sz="16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  <a:p>
            <a:pPr>
              <a:lnSpc>
                <a:spcPct val="110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 Rounded MT Bold"/>
              </a:rPr>
              <a:t>	</a:t>
            </a: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 Rounded MT Bold"/>
              </a:rPr>
              <a:t>	</a:t>
            </a: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 Rounded MT Bold"/>
              </a:rPr>
              <a:t>end</a:t>
            </a:r>
            <a:endParaRPr lang="it-IT" sz="16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  <a:p>
            <a:pPr>
              <a:lnSpc>
                <a:spcPct val="110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 Rounded MT Bold"/>
              </a:rPr>
              <a:t>	</a:t>
            </a: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 Rounded MT Bold"/>
              </a:rPr>
              <a:t>end</a:t>
            </a:r>
            <a:endParaRPr lang="it-IT" sz="16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  <a:p>
            <a:pPr>
              <a:lnSpc>
                <a:spcPct val="110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 Rounded MT Bold"/>
              </a:rPr>
              <a:t>end</a:t>
            </a:r>
            <a:endParaRPr lang="it-IT" sz="16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</p:spTree>
  </p:cSld>
  <p:transition>
    <p:wipe dir="r"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roup 30"/>
          <p:cNvGrpSpPr/>
          <p:nvPr/>
        </p:nvGrpSpPr>
        <p:grpSpPr>
          <a:xfrm>
            <a:off x="1333440" y="2057400"/>
            <a:ext cx="1752840" cy="1371600"/>
            <a:chOff x="1333440" y="2057400"/>
            <a:chExt cx="1752840" cy="1371600"/>
          </a:xfrm>
        </p:grpSpPr>
        <p:sp>
          <p:nvSpPr>
            <p:cNvPr id="107" name="AutoShape 3"/>
            <p:cNvSpPr/>
            <p:nvPr/>
          </p:nvSpPr>
          <p:spPr>
            <a:xfrm>
              <a:off x="1333440" y="2057400"/>
              <a:ext cx="1752840" cy="1371600"/>
            </a:xfrm>
            <a:prstGeom prst="roundRect">
              <a:avLst>
                <a:gd name="adj" fmla="val 16667"/>
              </a:avLst>
            </a:prstGeom>
            <a:solidFill>
              <a:srgbClr val="BBE0E3"/>
            </a:solidFill>
            <a:ln w="1908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ctr">
              <a:noAutofit/>
            </a:bodyPr>
            <a:p>
              <a:pPr algn="ctr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endParaRPr lang="it-IT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108" name="TextBox 29"/>
            <p:cNvSpPr/>
            <p:nvPr/>
          </p:nvSpPr>
          <p:spPr>
            <a:xfrm>
              <a:off x="1447560" y="2895480"/>
              <a:ext cx="440280" cy="368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spAutoFit/>
            </a:bodyPr>
            <a:p>
              <a: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800" b="0" i="1" u="none" strike="noStrike">
                  <a:solidFill>
                    <a:srgbClr val="FF0065"/>
                  </a:solidFill>
                  <a:effectLst/>
                  <a:uFillTx/>
                  <a:latin typeface="Comic Sans MS"/>
                </a:rPr>
                <a:t>Q</a:t>
              </a:r>
              <a:endParaRPr lang="it-IT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</p:grpSp>
      <p:sp>
        <p:nvSpPr>
          <p:cNvPr id="109" name="Footer Placeholder 2"/>
          <p:cNvSpPr/>
          <p:nvPr/>
        </p:nvSpPr>
        <p:spPr>
          <a:xfrm>
            <a:off x="685800" y="6248520"/>
            <a:ext cx="289548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Autofit/>
          </a:bodyPr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Comp 412, Fall 2010</a:t>
            </a:r>
            <a:endParaRPr lang="it-IT" sz="12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110" name="Slide Number Placeholder 3"/>
          <p:cNvSpPr/>
          <p:nvPr/>
        </p:nvSpPr>
        <p:spPr>
          <a:xfrm>
            <a:off x="6553080" y="6248520"/>
            <a:ext cx="190512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Autofit/>
          </a:bodyPr>
          <a:p>
            <a:pPr algn="r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84F6BBB7-F729-4713-B573-3B9A67233632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&lt;number&gt;</a:t>
            </a:fld>
            <a:endParaRPr lang="it-IT" sz="12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111" name="PlaceHolder 1"/>
          <p:cNvSpPr>
            <a:spLocks noGrp="1"/>
          </p:cNvSpPr>
          <p:nvPr>
            <p:ph type="title"/>
          </p:nvPr>
        </p:nvSpPr>
        <p:spPr>
          <a:xfrm>
            <a:off x="685800" y="533160"/>
            <a:ext cx="7772400" cy="533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l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Key Idea: Splitting </a:t>
            </a:r>
            <a:r>
              <a:rPr lang="en-US" sz="2400" b="0" i="1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p</a:t>
            </a:r>
            <a:r>
              <a:rPr lang="en-US" sz="2400" b="0" i="1" u="none" strike="noStrike" baseline="-25000">
                <a:solidFill>
                  <a:srgbClr val="000000"/>
                </a:solidFill>
                <a:effectLst/>
                <a:uFillTx/>
                <a:latin typeface="Comic Sans MS"/>
              </a:rPr>
              <a:t>i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 around </a:t>
            </a:r>
            <a:r>
              <a:rPr lang="en-US" sz="2400" b="1" i="1" u="none" strike="noStrike">
                <a:solidFill>
                  <a:srgbClr val="000000"/>
                </a:solidFill>
                <a:effectLst/>
                <a:uFillTx/>
                <a:latin typeface="Symbol"/>
                <a:ea typeface="Symbol"/>
              </a:rPr>
              <a:t>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 </a:t>
            </a:r>
            <a:endParaRPr lang="it-IT" sz="24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cxnSp>
        <p:nvCxnSpPr>
          <p:cNvPr id="112" name="AutoShape 4"/>
          <p:cNvCxnSpPr>
            <a:stCxn id="113" idx="6"/>
            <a:endCxn id="114" idx="2"/>
          </p:cNvCxnSpPr>
          <p:nvPr/>
        </p:nvCxnSpPr>
        <p:spPr>
          <a:xfrm flipV="1">
            <a:off x="2833200" y="2323440"/>
            <a:ext cx="2148840" cy="153000"/>
          </a:xfrm>
          <a:prstGeom prst="straightConnector1">
            <a:avLst/>
          </a:prstGeom>
          <a:ln w="19080">
            <a:solidFill>
              <a:srgbClr val="000000"/>
            </a:solidFill>
            <a:miter/>
            <a:tailEnd len="med" type="triangle" w="med"/>
          </a:ln>
        </p:spPr>
      </p:cxnSp>
      <p:grpSp>
        <p:nvGrpSpPr>
          <p:cNvPr id="115" name="Group 5"/>
          <p:cNvGrpSpPr/>
          <p:nvPr/>
        </p:nvGrpSpPr>
        <p:grpSpPr>
          <a:xfrm>
            <a:off x="4991040" y="1828800"/>
            <a:ext cx="990720" cy="990720"/>
            <a:chOff x="4991040" y="1828800"/>
            <a:chExt cx="990720" cy="990720"/>
          </a:xfrm>
        </p:grpSpPr>
        <p:sp>
          <p:nvSpPr>
            <p:cNvPr id="114" name="Oval 6"/>
            <p:cNvSpPr/>
            <p:nvPr/>
          </p:nvSpPr>
          <p:spPr>
            <a:xfrm>
              <a:off x="4991040" y="1828800"/>
              <a:ext cx="990720" cy="990720"/>
            </a:xfrm>
            <a:prstGeom prst="ellipse">
              <a:avLst/>
            </a:prstGeom>
            <a:solidFill>
              <a:srgbClr val="009999"/>
            </a:solidFill>
            <a:ln w="1908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ctr">
              <a:noAutofit/>
            </a:bodyPr>
            <a:p>
              <a:pPr algn="ctr"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endParaRPr lang="it-IT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116" name="Text Box 7"/>
            <p:cNvSpPr/>
            <p:nvPr/>
          </p:nvSpPr>
          <p:spPr>
            <a:xfrm>
              <a:off x="5316480" y="2119320"/>
              <a:ext cx="339840" cy="368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spAutoFit/>
            </a:bodyPr>
            <a:p>
              <a: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800" b="0" i="1" u="none" strike="noStrike">
                  <a:solidFill>
                    <a:srgbClr val="000000"/>
                  </a:solidFill>
                  <a:effectLst/>
                  <a:uFillTx/>
                  <a:latin typeface="Comic Sans MS"/>
                </a:rPr>
                <a:t>S</a:t>
              </a:r>
              <a:endParaRPr lang="it-IT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</p:grpSp>
      <p:sp>
        <p:nvSpPr>
          <p:cNvPr id="117" name="Text Box 8"/>
          <p:cNvSpPr/>
          <p:nvPr/>
        </p:nvSpPr>
        <p:spPr>
          <a:xfrm>
            <a:off x="625320" y="1143000"/>
            <a:ext cx="1905120" cy="405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spAutoFit/>
          </a:bodyPr>
          <a:p>
            <a:pPr>
              <a:spcBef>
                <a:spcPts val="112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u="none" strike="noStrike">
                <a:solidFill>
                  <a:srgbClr val="FF0065"/>
                </a:solidFill>
                <a:effectLst/>
                <a:uFillTx/>
                <a:latin typeface="Comic Sans MS"/>
              </a:rPr>
              <a:t>Original set </a:t>
            </a:r>
            <a:r>
              <a:rPr lang="en-US" sz="1800" b="0" i="1" u="none" strike="noStrike">
                <a:solidFill>
                  <a:srgbClr val="FF0065"/>
                </a:solidFill>
                <a:effectLst/>
                <a:uFillTx/>
                <a:latin typeface="Comic Sans MS"/>
              </a:rPr>
              <a:t>p</a:t>
            </a:r>
            <a:r>
              <a:rPr lang="en-US" sz="1800" b="0" i="1" u="none" strike="noStrike" baseline="-25000">
                <a:solidFill>
                  <a:srgbClr val="FF0065"/>
                </a:solidFill>
                <a:effectLst/>
                <a:uFillTx/>
                <a:latin typeface="Comic Sans MS"/>
              </a:rPr>
              <a:t>i</a:t>
            </a:r>
            <a:endParaRPr lang="it-IT" sz="18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113" name="Oval 9"/>
          <p:cNvSpPr/>
          <p:nvPr/>
        </p:nvSpPr>
        <p:spPr>
          <a:xfrm>
            <a:off x="1676520" y="2133720"/>
            <a:ext cx="1143000" cy="685800"/>
          </a:xfrm>
          <a:prstGeom prst="ellipse">
            <a:avLst/>
          </a:prstGeom>
          <a:solidFill>
            <a:srgbClr val="FFFFFF"/>
          </a:solidFill>
          <a:ln w="28440">
            <a:solidFill>
              <a:srgbClr val="FF0065"/>
            </a:solidFill>
            <a:prstDash val="dash"/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118" name="Text Box 10"/>
          <p:cNvSpPr/>
          <p:nvPr/>
        </p:nvSpPr>
        <p:spPr>
          <a:xfrm>
            <a:off x="1996920" y="2286000"/>
            <a:ext cx="609840" cy="405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spAutoFit/>
          </a:bodyPr>
          <a:p>
            <a:pPr>
              <a:spcBef>
                <a:spcPts val="112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i="1" u="none" strike="noStrike">
                <a:solidFill>
                  <a:srgbClr val="FF0065"/>
                </a:solidFill>
                <a:effectLst/>
                <a:uFillTx/>
                <a:latin typeface="Comic Sans MS"/>
              </a:rPr>
              <a:t>p</a:t>
            </a:r>
            <a:r>
              <a:rPr lang="en-US" sz="1800" b="0" i="1" u="none" strike="noStrike" baseline="-25000">
                <a:solidFill>
                  <a:srgbClr val="FF0065"/>
                </a:solidFill>
                <a:effectLst/>
                <a:uFillTx/>
                <a:latin typeface="Comic Sans MS"/>
              </a:rPr>
              <a:t>j</a:t>
            </a:r>
            <a:endParaRPr lang="it-IT" sz="18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119" name="Text Box 11"/>
          <p:cNvSpPr/>
          <p:nvPr/>
        </p:nvSpPr>
        <p:spPr>
          <a:xfrm>
            <a:off x="2225520" y="2895480"/>
            <a:ext cx="609840" cy="405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spAutoFit/>
          </a:bodyPr>
          <a:p>
            <a:pPr>
              <a:spcBef>
                <a:spcPts val="112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i="1" u="none" strike="noStrike">
                <a:solidFill>
                  <a:srgbClr val="FF0065"/>
                </a:solidFill>
                <a:effectLst/>
                <a:uFillTx/>
                <a:latin typeface="Comic Sans MS"/>
              </a:rPr>
              <a:t>p</a:t>
            </a:r>
            <a:r>
              <a:rPr lang="en-US" sz="1800" b="0" i="1" u="none" strike="noStrike" baseline="-25000">
                <a:solidFill>
                  <a:srgbClr val="FF0065"/>
                </a:solidFill>
                <a:effectLst/>
                <a:uFillTx/>
                <a:latin typeface="Comic Sans MS"/>
              </a:rPr>
              <a:t>k</a:t>
            </a:r>
            <a:endParaRPr lang="it-IT" sz="18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120" name="Text Box 12"/>
          <p:cNvSpPr/>
          <p:nvPr/>
        </p:nvSpPr>
        <p:spPr>
          <a:xfrm>
            <a:off x="5372280" y="2971800"/>
            <a:ext cx="3238200" cy="954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spAutoFit/>
          </a:bodyPr>
          <a:p>
            <a:pPr>
              <a:spcBef>
                <a:spcPts val="112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i="1" u="none" strike="noStrike">
                <a:solidFill>
                  <a:srgbClr val="B025A6"/>
                </a:solidFill>
                <a:effectLst/>
                <a:uFillTx/>
                <a:latin typeface="Comic Sans MS"/>
              </a:rPr>
              <a:t>How does the worklist algorithm ensure that it splits p</a:t>
            </a:r>
            <a:r>
              <a:rPr lang="en-US" sz="1800" b="0" i="1" u="none" strike="noStrike" baseline="-25000">
                <a:solidFill>
                  <a:srgbClr val="B025A6"/>
                </a:solidFill>
                <a:effectLst/>
                <a:uFillTx/>
                <a:latin typeface="Comic Sans MS"/>
              </a:rPr>
              <a:t>k</a:t>
            </a:r>
            <a:r>
              <a:rPr lang="en-US" sz="1800" b="0" i="1" u="none" strike="noStrike">
                <a:solidFill>
                  <a:srgbClr val="B025A6"/>
                </a:solidFill>
                <a:effectLst/>
                <a:uFillTx/>
                <a:latin typeface="Comic Sans MS"/>
              </a:rPr>
              <a:t> around R &amp; T ?</a:t>
            </a:r>
            <a:endParaRPr lang="it-IT" sz="18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121" name="Text Box 13"/>
          <p:cNvSpPr/>
          <p:nvPr/>
        </p:nvSpPr>
        <p:spPr>
          <a:xfrm>
            <a:off x="473040" y="4038480"/>
            <a:ext cx="1994040" cy="71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spAutoFit/>
          </a:bodyPr>
          <a:p>
            <a:pPr>
              <a:spcBef>
                <a:spcPts val="112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i="1" u="none" strike="noStrike">
                <a:solidFill>
                  <a:srgbClr val="FF0065"/>
                </a:solidFill>
                <a:effectLst/>
                <a:uFillTx/>
                <a:latin typeface="Comic Sans MS"/>
              </a:rPr>
              <a:t>p</a:t>
            </a:r>
            <a:r>
              <a:rPr lang="en-US" sz="1800" b="0" i="1" u="none" strike="noStrike" baseline="-25000">
                <a:solidFill>
                  <a:srgbClr val="FF0065"/>
                </a:solidFill>
                <a:effectLst/>
                <a:uFillTx/>
                <a:latin typeface="Comic Sans MS"/>
              </a:rPr>
              <a:t>k</a:t>
            </a:r>
            <a:r>
              <a:rPr lang="en-US" sz="1800" b="0" i="1" u="none" strike="noStrike">
                <a:solidFill>
                  <a:srgbClr val="FF0065"/>
                </a:solidFill>
                <a:effectLst/>
                <a:uFillTx/>
                <a:latin typeface="Comic Sans MS"/>
              </a:rPr>
              <a:t> is everything in p</a:t>
            </a:r>
            <a:r>
              <a:rPr lang="en-US" sz="1800" b="0" i="1" u="none" strike="noStrike" baseline="-25000">
                <a:solidFill>
                  <a:srgbClr val="FF0065"/>
                </a:solidFill>
                <a:effectLst/>
                <a:uFillTx/>
                <a:latin typeface="Comic Sans MS"/>
              </a:rPr>
              <a:t>i</a:t>
            </a:r>
            <a:r>
              <a:rPr lang="en-US" sz="1800" b="0" i="1" u="none" strike="noStrike">
                <a:solidFill>
                  <a:srgbClr val="FF0065"/>
                </a:solidFill>
                <a:effectLst/>
                <a:uFillTx/>
                <a:latin typeface="Comic Sans MS"/>
              </a:rPr>
              <a:t> - p</a:t>
            </a:r>
            <a:r>
              <a:rPr lang="en-US" sz="1800" b="0" i="1" u="none" strike="noStrike" baseline="-25000">
                <a:solidFill>
                  <a:srgbClr val="FF0065"/>
                </a:solidFill>
                <a:effectLst/>
                <a:uFillTx/>
                <a:latin typeface="Comic Sans MS"/>
              </a:rPr>
              <a:t>j</a:t>
            </a:r>
            <a:endParaRPr lang="it-IT" sz="18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grpSp>
        <p:nvGrpSpPr>
          <p:cNvPr id="122" name="Group 14"/>
          <p:cNvGrpSpPr/>
          <p:nvPr/>
        </p:nvGrpSpPr>
        <p:grpSpPr>
          <a:xfrm>
            <a:off x="2666880" y="4159080"/>
            <a:ext cx="990720" cy="990720"/>
            <a:chOff x="2666880" y="4159080"/>
            <a:chExt cx="990720" cy="990720"/>
          </a:xfrm>
        </p:grpSpPr>
        <p:sp>
          <p:nvSpPr>
            <p:cNvPr id="123" name="Oval 15"/>
            <p:cNvSpPr/>
            <p:nvPr/>
          </p:nvSpPr>
          <p:spPr>
            <a:xfrm>
              <a:off x="2666880" y="4159080"/>
              <a:ext cx="990720" cy="990720"/>
            </a:xfrm>
            <a:prstGeom prst="ellipse">
              <a:avLst/>
            </a:prstGeom>
            <a:solidFill>
              <a:srgbClr val="F38C99"/>
            </a:solidFill>
            <a:ln w="1908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ctr">
              <a:noAutofit/>
            </a:bodyPr>
            <a:p>
              <a:pPr algn="ctr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endParaRPr lang="it-IT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124" name="Text Box 16"/>
            <p:cNvSpPr/>
            <p:nvPr/>
          </p:nvSpPr>
          <p:spPr>
            <a:xfrm>
              <a:off x="2999880" y="4448160"/>
              <a:ext cx="324360" cy="368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t">
              <a:spAutoFit/>
            </a:bodyPr>
            <a:p>
              <a: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800" b="0" i="1" u="none" strike="noStrike">
                  <a:solidFill>
                    <a:srgbClr val="FF0065"/>
                  </a:solidFill>
                  <a:effectLst/>
                  <a:uFillTx/>
                  <a:latin typeface="Comic Sans MS"/>
                </a:rPr>
                <a:t>R</a:t>
              </a:r>
              <a:endParaRPr lang="it-IT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</p:grpSp>
      <p:cxnSp>
        <p:nvCxnSpPr>
          <p:cNvPr id="125" name="AutoShape 17"/>
          <p:cNvCxnSpPr>
            <a:endCxn id="123" idx="1"/>
          </p:cNvCxnSpPr>
          <p:nvPr/>
        </p:nvCxnSpPr>
        <p:spPr>
          <a:xfrm>
            <a:off x="2225520" y="3438000"/>
            <a:ext cx="586800" cy="856440"/>
          </a:xfrm>
          <a:prstGeom prst="straightConnector1">
            <a:avLst/>
          </a:prstGeom>
          <a:ln w="19080">
            <a:solidFill>
              <a:srgbClr val="000000"/>
            </a:solidFill>
            <a:miter/>
            <a:tailEnd len="med" type="triangle" w="med"/>
          </a:ln>
        </p:spPr>
      </p:cxnSp>
      <p:sp>
        <p:nvSpPr>
          <p:cNvPr id="126" name="Text Box 18"/>
          <p:cNvSpPr/>
          <p:nvPr/>
        </p:nvSpPr>
        <p:spPr>
          <a:xfrm>
            <a:off x="2554920" y="3701880"/>
            <a:ext cx="308520" cy="33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600" b="0" i="1" u="none" strike="noStrike">
                <a:solidFill>
                  <a:srgbClr val="000000"/>
                </a:solidFill>
                <a:effectLst/>
                <a:uFillTx/>
                <a:latin typeface="Symbol"/>
                <a:ea typeface="Symbol"/>
              </a:rPr>
              <a:t></a:t>
            </a:r>
            <a:endParaRPr lang="it-IT" sz="16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grpSp>
        <p:nvGrpSpPr>
          <p:cNvPr id="127" name="Group 19"/>
          <p:cNvGrpSpPr/>
          <p:nvPr/>
        </p:nvGrpSpPr>
        <p:grpSpPr>
          <a:xfrm>
            <a:off x="4229280" y="3733920"/>
            <a:ext cx="990360" cy="990360"/>
            <a:chOff x="4229280" y="3733920"/>
            <a:chExt cx="990360" cy="990360"/>
          </a:xfrm>
        </p:grpSpPr>
        <p:sp>
          <p:nvSpPr>
            <p:cNvPr id="128" name="Oval 20"/>
            <p:cNvSpPr/>
            <p:nvPr/>
          </p:nvSpPr>
          <p:spPr>
            <a:xfrm>
              <a:off x="4229280" y="3733920"/>
              <a:ext cx="990360" cy="990360"/>
            </a:xfrm>
            <a:prstGeom prst="ellipse">
              <a:avLst/>
            </a:prstGeom>
            <a:solidFill>
              <a:srgbClr val="F38C99"/>
            </a:solidFill>
            <a:ln w="1908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ctr">
              <a:noAutofit/>
            </a:bodyPr>
            <a:p>
              <a:pPr algn="ctr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endParaRPr lang="it-IT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129" name="Text Box 21"/>
            <p:cNvSpPr/>
            <p:nvPr/>
          </p:nvSpPr>
          <p:spPr>
            <a:xfrm>
              <a:off x="4575240" y="4022640"/>
              <a:ext cx="336240" cy="368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t">
              <a:spAutoFit/>
            </a:bodyPr>
            <a:p>
              <a: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800" b="0" i="1" u="none" strike="noStrike">
                  <a:solidFill>
                    <a:srgbClr val="FF0065"/>
                  </a:solidFill>
                  <a:effectLst/>
                  <a:uFillTx/>
                  <a:latin typeface="Comic Sans MS"/>
                </a:rPr>
                <a:t>T</a:t>
              </a:r>
              <a:endParaRPr lang="it-IT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</p:grpSp>
      <p:sp>
        <p:nvSpPr>
          <p:cNvPr id="130" name="Text Box 22"/>
          <p:cNvSpPr/>
          <p:nvPr/>
        </p:nvSpPr>
        <p:spPr>
          <a:xfrm>
            <a:off x="3420000" y="3216240"/>
            <a:ext cx="308520" cy="33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600" b="0" i="1" u="none" strike="noStrike">
                <a:solidFill>
                  <a:srgbClr val="000000"/>
                </a:solidFill>
                <a:effectLst/>
                <a:uFillTx/>
                <a:latin typeface="Symbol"/>
                <a:ea typeface="Symbol"/>
              </a:rPr>
              <a:t></a:t>
            </a:r>
            <a:endParaRPr lang="it-IT" sz="16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131" name="Line 23"/>
          <p:cNvSpPr/>
          <p:nvPr/>
        </p:nvSpPr>
        <p:spPr>
          <a:xfrm>
            <a:off x="3046320" y="3321000"/>
            <a:ext cx="1270080" cy="585720"/>
          </a:xfrm>
          <a:prstGeom prst="line">
            <a:avLst/>
          </a:prstGeom>
          <a:ln w="19080">
            <a:solidFill>
              <a:srgbClr val="000000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ctr">
            <a:noAutofit/>
          </a:bodyPr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132" name="Text Box 24"/>
          <p:cNvSpPr/>
          <p:nvPr/>
        </p:nvSpPr>
        <p:spPr>
          <a:xfrm>
            <a:off x="3513600" y="2127240"/>
            <a:ext cx="308520" cy="33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600" b="0" i="1" u="none" strike="noStrike">
                <a:solidFill>
                  <a:srgbClr val="000000"/>
                </a:solidFill>
                <a:effectLst/>
                <a:uFillTx/>
                <a:latin typeface="Symbol"/>
                <a:ea typeface="Symbol"/>
              </a:rPr>
              <a:t></a:t>
            </a:r>
            <a:endParaRPr lang="it-IT" sz="16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133" name="Freeform 25"/>
          <p:cNvSpPr/>
          <p:nvPr/>
        </p:nvSpPr>
        <p:spPr>
          <a:xfrm>
            <a:off x="1206360" y="1523880"/>
            <a:ext cx="648000" cy="533520"/>
          </a:xfrm>
          <a:custGeom>
            <a:avLst/>
            <a:gdLst>
              <a:gd name="textAreaLeft" fmla="*/ 0 w 648000"/>
              <a:gd name="textAreaRight" fmla="*/ 648360 w 648000"/>
              <a:gd name="textAreaTop" fmla="*/ 0 h 533520"/>
              <a:gd name="textAreaBottom" fmla="*/ 533880 h 533520"/>
              <a:gd name="GluePoint1X" fmla="*/ 0 w 408"/>
              <a:gd name="GluePoint1Y" fmla="*/ 0 h 336"/>
              <a:gd name="GluePoint2X" fmla="*/ 2147483647 w 408"/>
              <a:gd name="GluePoint2Y" fmla="*/ 2147483647 h 336"/>
              <a:gd name="GluePoint3X" fmla="*/ 2147483647 w 408"/>
              <a:gd name="GluePoint3Y" fmla="*/ 2147483647 h 336"/>
              <a:gd name="GluePoint4X" fmla="*/ 2147483647 w 408"/>
              <a:gd name="GluePoint4Y" fmla="*/ 2147483647 h 336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</a:cxnLst>
            <a:rect l="textAreaLeft" t="textAreaTop" r="textAreaRight" b="textAreaBottom"/>
            <a:pathLst>
              <a:path w="408" h="336">
                <a:moveTo>
                  <a:pt x="0" y="0"/>
                </a:moveTo>
                <a:cubicBezTo>
                  <a:pt x="45" y="90"/>
                  <a:pt x="91" y="180"/>
                  <a:pt x="128" y="192"/>
                </a:cubicBezTo>
                <a:cubicBezTo>
                  <a:pt x="165" y="204"/>
                  <a:pt x="178" y="48"/>
                  <a:pt x="224" y="72"/>
                </a:cubicBezTo>
                <a:cubicBezTo>
                  <a:pt x="270" y="96"/>
                  <a:pt x="339" y="216"/>
                  <a:pt x="408" y="336"/>
                </a:cubicBezTo>
              </a:path>
            </a:pathLst>
          </a:custGeom>
          <a:noFill/>
          <a:ln w="9360">
            <a:solidFill>
              <a:srgbClr val="FF0065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134" name="Freeform 26"/>
          <p:cNvSpPr/>
          <p:nvPr/>
        </p:nvSpPr>
        <p:spPr>
          <a:xfrm>
            <a:off x="1104840" y="3416400"/>
            <a:ext cx="673200" cy="685800"/>
          </a:xfrm>
          <a:custGeom>
            <a:avLst/>
            <a:gdLst>
              <a:gd name="textAreaLeft" fmla="*/ 0 w 673200"/>
              <a:gd name="textAreaRight" fmla="*/ 673560 w 673200"/>
              <a:gd name="textAreaTop" fmla="*/ 0 h 685800"/>
              <a:gd name="textAreaBottom" fmla="*/ 686160 h 685800"/>
              <a:gd name="GluePoint1X" fmla="*/ 0 w 424"/>
              <a:gd name="GluePoint1Y" fmla="*/ 2147483647 h 432"/>
              <a:gd name="GluePoint2X" fmla="*/ 2147483647 w 424"/>
              <a:gd name="GluePoint2Y" fmla="*/ 2147483647 h 432"/>
              <a:gd name="GluePoint3X" fmla="*/ 2147483647 w 424"/>
              <a:gd name="GluePoint3Y" fmla="*/ 2147483647 h 432"/>
              <a:gd name="GluePoint4X" fmla="*/ 2147483647 w 424"/>
              <a:gd name="GluePoint4Y" fmla="*/ 0 h 432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</a:cxnLst>
            <a:rect l="textAreaLeft" t="textAreaTop" r="textAreaRight" b="textAreaBottom"/>
            <a:pathLst>
              <a:path w="424" h="432">
                <a:moveTo>
                  <a:pt x="0" y="432"/>
                </a:moveTo>
                <a:cubicBezTo>
                  <a:pt x="82" y="304"/>
                  <a:pt x="164" y="177"/>
                  <a:pt x="200" y="152"/>
                </a:cubicBezTo>
                <a:cubicBezTo>
                  <a:pt x="236" y="127"/>
                  <a:pt x="179" y="305"/>
                  <a:pt x="216" y="280"/>
                </a:cubicBezTo>
                <a:cubicBezTo>
                  <a:pt x="253" y="255"/>
                  <a:pt x="338" y="127"/>
                  <a:pt x="424" y="0"/>
                </a:cubicBezTo>
              </a:path>
            </a:pathLst>
          </a:custGeom>
          <a:noFill/>
          <a:ln w="9360">
            <a:solidFill>
              <a:srgbClr val="FF0065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135" name="Text Box 27"/>
          <p:cNvSpPr/>
          <p:nvPr/>
        </p:nvSpPr>
        <p:spPr>
          <a:xfrm>
            <a:off x="5372280" y="4172040"/>
            <a:ext cx="3216240" cy="2232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spAutoFit/>
          </a:bodyPr>
          <a:p>
            <a:pPr>
              <a:spcBef>
                <a:spcPts val="112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i="1" u="none" strike="noStrike">
                <a:solidFill>
                  <a:srgbClr val="B025A6"/>
                </a:solidFill>
                <a:effectLst/>
                <a:uFillTx/>
                <a:latin typeface="Comic Sans MS"/>
              </a:rPr>
              <a:t>Subtle point: either R or T (or both) must already be on the worklist. (R &amp; T have split from {S-F}.)</a:t>
            </a:r>
            <a:endParaRPr lang="it-IT" sz="18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  <a:p>
            <a:pPr>
              <a:spcBef>
                <a:spcPts val="112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i="1" u="none" strike="noStrike">
                <a:solidFill>
                  <a:srgbClr val="B025A6"/>
                </a:solidFill>
                <a:effectLst/>
                <a:uFillTx/>
                <a:latin typeface="Comic Sans MS"/>
              </a:rPr>
              <a:t>Thus, it can split p</a:t>
            </a:r>
            <a:r>
              <a:rPr lang="en-US" sz="1800" b="0" i="1" u="none" strike="noStrike" baseline="-25000">
                <a:solidFill>
                  <a:srgbClr val="B025A6"/>
                </a:solidFill>
                <a:effectLst/>
                <a:uFillTx/>
                <a:latin typeface="Comic Sans MS"/>
              </a:rPr>
              <a:t>i</a:t>
            </a:r>
            <a:r>
              <a:rPr lang="en-US" sz="1800" b="0" i="1" u="none" strike="noStrike">
                <a:solidFill>
                  <a:srgbClr val="B025A6"/>
                </a:solidFill>
                <a:effectLst/>
                <a:uFillTx/>
                <a:latin typeface="Comic Sans MS"/>
              </a:rPr>
              <a:t> around one state (S) &amp; add either p</a:t>
            </a:r>
            <a:r>
              <a:rPr lang="en-US" sz="1800" b="0" i="1" u="none" strike="noStrike" baseline="-25000">
                <a:solidFill>
                  <a:srgbClr val="B025A6"/>
                </a:solidFill>
                <a:effectLst/>
                <a:uFillTx/>
                <a:latin typeface="Comic Sans MS"/>
              </a:rPr>
              <a:t>j</a:t>
            </a:r>
            <a:r>
              <a:rPr lang="en-US" sz="1800" b="0" i="1" u="none" strike="noStrike">
                <a:solidFill>
                  <a:srgbClr val="B025A6"/>
                </a:solidFill>
                <a:effectLst/>
                <a:uFillTx/>
                <a:latin typeface="Comic Sans MS"/>
              </a:rPr>
              <a:t> or p</a:t>
            </a:r>
            <a:r>
              <a:rPr lang="en-US" sz="1800" b="0" i="1" u="none" strike="noStrike" baseline="-25000">
                <a:solidFill>
                  <a:srgbClr val="B025A6"/>
                </a:solidFill>
                <a:effectLst/>
                <a:uFillTx/>
                <a:latin typeface="Comic Sans MS"/>
              </a:rPr>
              <a:t>k</a:t>
            </a:r>
            <a:r>
              <a:rPr lang="en-US" sz="1800" b="0" i="1" u="none" strike="noStrike">
                <a:solidFill>
                  <a:srgbClr val="B025A6"/>
                </a:solidFill>
                <a:effectLst/>
                <a:uFillTx/>
                <a:latin typeface="Comic Sans MS"/>
              </a:rPr>
              <a:t> to the worklist.</a:t>
            </a:r>
            <a:endParaRPr lang="it-IT" sz="18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136" name="TextBox 31"/>
          <p:cNvSpPr/>
          <p:nvPr/>
        </p:nvSpPr>
        <p:spPr>
          <a:xfrm>
            <a:off x="2971800" y="1219320"/>
            <a:ext cx="4191120" cy="37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spAutoFit/>
          </a:bodyPr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600" b="0" i="1" u="none" strike="noStrike">
                <a:solidFill>
                  <a:srgbClr val="FF0065"/>
                </a:solidFill>
                <a:effectLst/>
                <a:uFillTx/>
                <a:latin typeface="Comic Sans MS"/>
              </a:rPr>
              <a:t>p</a:t>
            </a:r>
            <a:r>
              <a:rPr lang="en-US" sz="1600" b="0" i="1" u="none" strike="noStrike" baseline="-25000">
                <a:solidFill>
                  <a:srgbClr val="FF0065"/>
                </a:solidFill>
                <a:effectLst/>
                <a:uFillTx/>
                <a:latin typeface="Comic Sans MS"/>
              </a:rPr>
              <a:t>j</a:t>
            </a:r>
            <a:r>
              <a:rPr lang="en-US" sz="1600" b="0" u="none" strike="noStrike">
                <a:solidFill>
                  <a:srgbClr val="FF0065"/>
                </a:solidFill>
                <a:effectLst/>
                <a:uFillTx/>
                <a:latin typeface="Comic Sans MS"/>
              </a:rPr>
              <a:t> is the image of </a:t>
            </a:r>
            <a:r>
              <a:rPr lang="en-US" sz="1600" b="0" i="1" u="none" strike="noStrike">
                <a:solidFill>
                  <a:srgbClr val="FF0065"/>
                </a:solidFill>
                <a:effectLst/>
                <a:uFillTx/>
                <a:latin typeface="Comic Sans MS"/>
              </a:rPr>
              <a:t>S</a:t>
            </a:r>
            <a:r>
              <a:rPr lang="en-US" sz="1600" b="0" u="none" strike="noStrike">
                <a:solidFill>
                  <a:srgbClr val="FF0065"/>
                </a:solidFill>
                <a:effectLst/>
                <a:uFillTx/>
                <a:latin typeface="Comic Sans MS"/>
              </a:rPr>
              <a:t> under the inverse of </a:t>
            </a:r>
            <a:r>
              <a:rPr lang="en-US" sz="1600" b="1" i="1" u="none" strike="noStrike">
                <a:solidFill>
                  <a:srgbClr val="FF0065"/>
                </a:solidFill>
                <a:effectLst/>
                <a:uFillTx/>
                <a:latin typeface="Symbol"/>
                <a:ea typeface="Symbol"/>
              </a:rPr>
              <a:t></a:t>
            </a:r>
            <a:r>
              <a:rPr lang="en-US" sz="1600" b="0" u="none" strike="noStrike">
                <a:solidFill>
                  <a:srgbClr val="FF0065"/>
                </a:solidFill>
                <a:effectLst/>
                <a:uFillTx/>
                <a:latin typeface="Comic Sans MS"/>
              </a:rPr>
              <a:t> </a:t>
            </a:r>
            <a:endParaRPr lang="it-IT" sz="16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137" name="Freeform 33"/>
          <p:cNvSpPr/>
          <p:nvPr/>
        </p:nvSpPr>
        <p:spPr>
          <a:xfrm>
            <a:off x="2413080" y="1531800"/>
            <a:ext cx="982440" cy="771840"/>
          </a:xfrm>
          <a:custGeom>
            <a:avLst/>
            <a:gdLst>
              <a:gd name="textAreaLeft" fmla="*/ 0 w 982440"/>
              <a:gd name="textAreaRight" fmla="*/ 982800 w 982440"/>
              <a:gd name="textAreaTop" fmla="*/ 0 h 771840"/>
              <a:gd name="textAreaBottom" fmla="*/ 772200 h 771840"/>
              <a:gd name="GluePoint1X" fmla="*/ 982133 w 982133"/>
              <a:gd name="GluePoint1Y" fmla="*/ 25401 h 770467"/>
              <a:gd name="GluePoint2X" fmla="*/ 660400 w 982133"/>
              <a:gd name="GluePoint2Y" fmla="*/ 262467 h 770467"/>
              <a:gd name="GluePoint3X" fmla="*/ 592667 w 982133"/>
              <a:gd name="GluePoint3Y" fmla="*/ 84667 h 770467"/>
              <a:gd name="GluePoint4X" fmla="*/ 0 w 982133"/>
              <a:gd name="GluePoint4Y" fmla="*/ 770467 h 770467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</a:cxnLst>
            <a:rect l="textAreaLeft" t="textAreaTop" r="textAreaRight" b="textAreaBottom"/>
            <a:pathLst>
              <a:path w="982133" h="770467">
                <a:moveTo>
                  <a:pt x="982133" y="25401"/>
                </a:moveTo>
                <a:cubicBezTo>
                  <a:pt x="853722" y="138995"/>
                  <a:pt x="725311" y="252589"/>
                  <a:pt x="660400" y="262467"/>
                </a:cubicBezTo>
                <a:cubicBezTo>
                  <a:pt x="595489" y="272345"/>
                  <a:pt x="702734" y="0"/>
                  <a:pt x="592667" y="84667"/>
                </a:cubicBezTo>
                <a:cubicBezTo>
                  <a:pt x="482600" y="169334"/>
                  <a:pt x="0" y="770467"/>
                  <a:pt x="0" y="770467"/>
                </a:cubicBezTo>
              </a:path>
            </a:pathLst>
          </a:custGeom>
          <a:noFill/>
          <a:ln w="6480">
            <a:solidFill>
              <a:srgbClr val="FF0065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Autofit/>
          </a:bodyPr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</p:spTree>
  </p:cSld>
  <p:transition>
    <p:wipe dir="r"/>
  </p:transition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Footer Placeholder 3"/>
          <p:cNvSpPr/>
          <p:nvPr/>
        </p:nvSpPr>
        <p:spPr>
          <a:xfrm>
            <a:off x="685800" y="6248520"/>
            <a:ext cx="289548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Autofit/>
          </a:bodyPr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Comp 412, Fall 2010</a:t>
            </a:r>
            <a:endParaRPr lang="it-IT" sz="12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139" name="Slide Number Placeholder 4"/>
          <p:cNvSpPr/>
          <p:nvPr/>
        </p:nvSpPr>
        <p:spPr>
          <a:xfrm>
            <a:off x="6553080" y="6248520"/>
            <a:ext cx="190512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Autofit/>
          </a:bodyPr>
          <a:p>
            <a:pPr algn="r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FA8FB230-8175-4A26-A9D3-851CDC34E309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&lt;number&gt;</a:t>
            </a:fld>
            <a:endParaRPr lang="it-IT" sz="12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140" name="PlaceHolder 1"/>
          <p:cNvSpPr>
            <a:spLocks noGrp="1"/>
          </p:cNvSpPr>
          <p:nvPr>
            <p:ph type="title"/>
          </p:nvPr>
        </p:nvSpPr>
        <p:spPr>
          <a:xfrm>
            <a:off x="685800" y="533160"/>
            <a:ext cx="7772400" cy="533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l">
              <a:spcBef>
                <a:spcPts val="4501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A Detailed Example</a:t>
            </a:r>
            <a:endParaRPr lang="it-IT" sz="24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141" name="PlaceHolder 2"/>
          <p:cNvSpPr>
            <a:spLocks noGrp="1"/>
          </p:cNvSpPr>
          <p:nvPr>
            <p:ph/>
          </p:nvPr>
        </p:nvSpPr>
        <p:spPr>
          <a:xfrm>
            <a:off x="685800" y="1066680"/>
            <a:ext cx="7772400" cy="5129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p>
            <a:pPr marL="343080" indent="-343080" algn="l">
              <a:spcBef>
                <a:spcPts val="3750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Remember ( </a:t>
            </a:r>
            <a:r>
              <a:rPr lang="en-US" sz="2000" b="0" u="sng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a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 | </a:t>
            </a:r>
            <a:r>
              <a:rPr lang="en-US" sz="2000" b="0" u="sng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b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 )</a:t>
            </a:r>
            <a:r>
              <a:rPr lang="en-US" sz="2000" b="0" u="none" strike="noStrike" baseline="30000">
                <a:solidFill>
                  <a:srgbClr val="000000"/>
                </a:solidFill>
                <a:effectLst/>
                <a:uFillTx/>
                <a:latin typeface="Comic Sans MS"/>
              </a:rPr>
              <a:t>*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 </a:t>
            </a:r>
            <a:r>
              <a:rPr lang="en-US" sz="2000" b="0" u="sng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abb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 ?                 </a:t>
            </a:r>
            <a:r>
              <a:rPr lang="en-US" sz="2000" b="0" u="none" strike="noStrike">
                <a:solidFill>
                  <a:srgbClr val="FF0065"/>
                </a:solidFill>
                <a:effectLst/>
                <a:uFillTx/>
                <a:latin typeface="Comic Sans MS"/>
              </a:rPr>
              <a:t>(</a:t>
            </a:r>
            <a:r>
              <a:rPr lang="en-US" sz="2000" b="0" i="1" u="none" strike="noStrike">
                <a:solidFill>
                  <a:srgbClr val="FF0065"/>
                </a:solidFill>
                <a:effectLst/>
                <a:uFillTx/>
                <a:latin typeface="Comic Sans MS"/>
              </a:rPr>
              <a:t>from last lecture</a:t>
            </a:r>
            <a:r>
              <a:rPr lang="en-US" sz="2000" b="0" u="none" strike="noStrike">
                <a:solidFill>
                  <a:srgbClr val="FF0065"/>
                </a:solidFill>
                <a:effectLst/>
                <a:uFillTx/>
                <a:latin typeface="Comic Sans MS"/>
              </a:rPr>
              <a:t>)</a:t>
            </a:r>
            <a:endParaRPr lang="it-IT" sz="20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  <a:p>
            <a:pPr marL="343080" indent="-343080" algn="l">
              <a:spcBef>
                <a:spcPts val="9374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Applying the subset construction:</a:t>
            </a:r>
            <a:endParaRPr lang="it-IT" sz="20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  <a:p>
            <a:pPr marL="343080" indent="-343080" algn="l">
              <a:spcBef>
                <a:spcPts val="22501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Iteration 3 adds nothing to </a:t>
            </a:r>
            <a:r>
              <a:rPr lang="en-US" sz="2000" b="0" i="1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S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, so the algorithm halts</a:t>
            </a:r>
            <a:endParaRPr lang="it-IT" sz="20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grpSp>
        <p:nvGrpSpPr>
          <p:cNvPr id="142" name="Group 4"/>
          <p:cNvGrpSpPr/>
          <p:nvPr/>
        </p:nvGrpSpPr>
        <p:grpSpPr>
          <a:xfrm>
            <a:off x="1828800" y="1523880"/>
            <a:ext cx="4516200" cy="898200"/>
            <a:chOff x="1828800" y="1523880"/>
            <a:chExt cx="4516200" cy="898200"/>
          </a:xfrm>
        </p:grpSpPr>
        <p:sp>
          <p:nvSpPr>
            <p:cNvPr id="143" name="Text Box 5"/>
            <p:cNvSpPr/>
            <p:nvPr/>
          </p:nvSpPr>
          <p:spPr>
            <a:xfrm>
              <a:off x="3123000" y="1523880"/>
              <a:ext cx="545760" cy="3074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spAutoFit/>
            </a:bodyPr>
            <a:p>
              <a:pPr>
                <a:lnSpc>
                  <a:spcPct val="100000"/>
                </a:lnSpc>
                <a:spcBef>
                  <a:spcPts val="876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400" b="0" u="sng" strike="noStrike">
                  <a:solidFill>
                    <a:srgbClr val="000000"/>
                  </a:solidFill>
                  <a:effectLst/>
                  <a:uFillTx/>
                  <a:latin typeface="Arial Rounded MT Bold"/>
                </a:rPr>
                <a:t>a</a:t>
              </a:r>
              <a:r>
                <a:rPr lang="en-US" sz="1400" b="0" u="none" strike="noStrike">
                  <a:solidFill>
                    <a:srgbClr val="000000"/>
                  </a:solidFill>
                  <a:effectLst/>
                  <a:uFillTx/>
                  <a:latin typeface="Arial Rounded MT Bold"/>
                </a:rPr>
                <a:t> | </a:t>
              </a:r>
              <a:r>
                <a:rPr lang="en-US" sz="1400" b="0" u="sng" strike="noStrike">
                  <a:solidFill>
                    <a:srgbClr val="000000"/>
                  </a:solidFill>
                  <a:effectLst/>
                  <a:uFillTx/>
                  <a:latin typeface="Arial Rounded MT Bold"/>
                </a:rPr>
                <a:t>b</a:t>
              </a:r>
              <a:endParaRPr lang="it-IT" sz="14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144" name="Oval 6"/>
            <p:cNvSpPr/>
            <p:nvPr/>
          </p:nvSpPr>
          <p:spPr>
            <a:xfrm>
              <a:off x="1828800" y="2011320"/>
              <a:ext cx="410400" cy="410760"/>
            </a:xfrm>
            <a:prstGeom prst="ellipse">
              <a:avLst/>
            </a:prstGeom>
            <a:noFill/>
            <a:ln w="1908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ctr">
              <a:noAutofit/>
            </a:bodyPr>
            <a:p>
              <a:pPr algn="ctr"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400" b="0" i="1" u="none" strike="noStrike">
                  <a:solidFill>
                    <a:srgbClr val="000000"/>
                  </a:solidFill>
                  <a:effectLst/>
                  <a:uFillTx/>
                  <a:latin typeface="Arial Rounded MT Bold"/>
                </a:rPr>
                <a:t>q</a:t>
              </a:r>
              <a:r>
                <a:rPr lang="en-US" sz="1400" b="0" i="1" u="none" strike="noStrike" baseline="-25000">
                  <a:solidFill>
                    <a:srgbClr val="000000"/>
                  </a:solidFill>
                  <a:effectLst/>
                  <a:uFillTx/>
                  <a:latin typeface="Arial Rounded MT Bold"/>
                </a:rPr>
                <a:t>0 </a:t>
              </a:r>
              <a:endParaRPr lang="it-IT" sz="14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145" name="Oval 7"/>
            <p:cNvSpPr/>
            <p:nvPr/>
          </p:nvSpPr>
          <p:spPr>
            <a:xfrm>
              <a:off x="2855160" y="2011320"/>
              <a:ext cx="410400" cy="410760"/>
            </a:xfrm>
            <a:prstGeom prst="ellipse">
              <a:avLst/>
            </a:prstGeom>
            <a:noFill/>
            <a:ln w="1908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ctr">
              <a:noAutofit/>
            </a:bodyPr>
            <a:p>
              <a:pPr algn="ctr"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400" b="0" i="1" u="none" strike="noStrike">
                  <a:solidFill>
                    <a:srgbClr val="000000"/>
                  </a:solidFill>
                  <a:effectLst/>
                  <a:uFillTx/>
                  <a:latin typeface="Arial Rounded MT Bold"/>
                </a:rPr>
                <a:t>q</a:t>
              </a:r>
              <a:r>
                <a:rPr lang="en-US" sz="1400" b="0" i="1" u="none" strike="noStrike" baseline="-25000">
                  <a:solidFill>
                    <a:srgbClr val="000000"/>
                  </a:solidFill>
                  <a:effectLst/>
                  <a:uFillTx/>
                  <a:latin typeface="Arial Rounded MT Bold"/>
                </a:rPr>
                <a:t>1 </a:t>
              </a:r>
              <a:endParaRPr lang="it-IT" sz="14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146" name="Line 8"/>
            <p:cNvSpPr/>
            <p:nvPr/>
          </p:nvSpPr>
          <p:spPr>
            <a:xfrm>
              <a:off x="2239200" y="2216880"/>
              <a:ext cx="615600" cy="0"/>
            </a:xfrm>
            <a:prstGeom prst="line">
              <a:avLst/>
            </a:prstGeom>
            <a:ln w="9360">
              <a:solidFill>
                <a:srgbClr val="000000"/>
              </a:solidFill>
              <a:miter/>
              <a:tailEnd len="med" type="triangle" w="med"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46800" rIns="90000" bIns="-46800" anchor="ctr">
              <a:noAutofit/>
            </a:bodyPr>
            <a:p>
              <a:endParaRPr lang="it-IT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147" name="Oval 9"/>
            <p:cNvSpPr/>
            <p:nvPr/>
          </p:nvSpPr>
          <p:spPr>
            <a:xfrm>
              <a:off x="5934600" y="2011320"/>
              <a:ext cx="410400" cy="410760"/>
            </a:xfrm>
            <a:prstGeom prst="ellipse">
              <a:avLst/>
            </a:prstGeom>
            <a:noFill/>
            <a:ln w="381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ctr">
              <a:noAutofit/>
            </a:bodyPr>
            <a:p>
              <a:pPr algn="ctr"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400" b="0" i="1" u="none" strike="noStrike">
                  <a:solidFill>
                    <a:srgbClr val="000000"/>
                  </a:solidFill>
                  <a:effectLst/>
                  <a:uFillTx/>
                  <a:latin typeface="Arial Rounded MT Bold"/>
                </a:rPr>
                <a:t>q</a:t>
              </a:r>
              <a:r>
                <a:rPr lang="en-US" sz="1400" b="0" i="1" u="none" strike="noStrike" baseline="-25000">
                  <a:solidFill>
                    <a:srgbClr val="000000"/>
                  </a:solidFill>
                  <a:effectLst/>
                  <a:uFillTx/>
                  <a:latin typeface="Arial Rounded MT Bold"/>
                </a:rPr>
                <a:t>4 </a:t>
              </a:r>
              <a:endParaRPr lang="it-IT" sz="14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148" name="Oval 10"/>
            <p:cNvSpPr/>
            <p:nvPr/>
          </p:nvSpPr>
          <p:spPr>
            <a:xfrm>
              <a:off x="3881520" y="2011320"/>
              <a:ext cx="410400" cy="410760"/>
            </a:xfrm>
            <a:prstGeom prst="ellipse">
              <a:avLst/>
            </a:prstGeom>
            <a:noFill/>
            <a:ln w="1908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ctr">
              <a:noAutofit/>
            </a:bodyPr>
            <a:p>
              <a:pPr algn="ctr"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400" b="0" i="1" u="none" strike="noStrike">
                  <a:solidFill>
                    <a:srgbClr val="000000"/>
                  </a:solidFill>
                  <a:effectLst/>
                  <a:uFillTx/>
                  <a:latin typeface="Arial Rounded MT Bold"/>
                </a:rPr>
                <a:t>q</a:t>
              </a:r>
              <a:r>
                <a:rPr lang="en-US" sz="1400" b="0" i="1" u="none" strike="noStrike" baseline="-25000">
                  <a:solidFill>
                    <a:srgbClr val="000000"/>
                  </a:solidFill>
                  <a:effectLst/>
                  <a:uFillTx/>
                  <a:latin typeface="Arial Rounded MT Bold"/>
                </a:rPr>
                <a:t>2 </a:t>
              </a:r>
              <a:endParaRPr lang="it-IT" sz="14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149" name="Oval 11"/>
            <p:cNvSpPr/>
            <p:nvPr/>
          </p:nvSpPr>
          <p:spPr>
            <a:xfrm>
              <a:off x="4908240" y="2011320"/>
              <a:ext cx="410400" cy="410760"/>
            </a:xfrm>
            <a:prstGeom prst="ellipse">
              <a:avLst/>
            </a:prstGeom>
            <a:noFill/>
            <a:ln w="1908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ctr">
              <a:noAutofit/>
            </a:bodyPr>
            <a:p>
              <a:pPr algn="ctr"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400" b="0" i="1" u="none" strike="noStrike">
                  <a:solidFill>
                    <a:srgbClr val="000000"/>
                  </a:solidFill>
                  <a:effectLst/>
                  <a:uFillTx/>
                  <a:latin typeface="Arial Rounded MT Bold"/>
                </a:rPr>
                <a:t>q</a:t>
              </a:r>
              <a:r>
                <a:rPr lang="en-US" sz="1400" b="0" i="1" u="none" strike="noStrike" baseline="-25000">
                  <a:solidFill>
                    <a:srgbClr val="000000"/>
                  </a:solidFill>
                  <a:effectLst/>
                  <a:uFillTx/>
                  <a:latin typeface="Arial Rounded MT Bold"/>
                </a:rPr>
                <a:t>3 </a:t>
              </a:r>
              <a:endParaRPr lang="it-IT" sz="14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150" name="Line 12"/>
            <p:cNvSpPr/>
            <p:nvPr/>
          </p:nvSpPr>
          <p:spPr>
            <a:xfrm>
              <a:off x="3265560" y="2216880"/>
              <a:ext cx="615600" cy="0"/>
            </a:xfrm>
            <a:prstGeom prst="line">
              <a:avLst/>
            </a:prstGeom>
            <a:ln w="9360">
              <a:solidFill>
                <a:srgbClr val="000000"/>
              </a:solidFill>
              <a:miter/>
              <a:tailEnd len="med" type="triangle" w="med"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46800" rIns="90000" bIns="-46800" anchor="ctr">
              <a:noAutofit/>
            </a:bodyPr>
            <a:p>
              <a:endParaRPr lang="it-IT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151" name="Line 13"/>
            <p:cNvSpPr/>
            <p:nvPr/>
          </p:nvSpPr>
          <p:spPr>
            <a:xfrm>
              <a:off x="4292280" y="2216880"/>
              <a:ext cx="615600" cy="0"/>
            </a:xfrm>
            <a:prstGeom prst="line">
              <a:avLst/>
            </a:prstGeom>
            <a:ln w="9360">
              <a:solidFill>
                <a:srgbClr val="000000"/>
              </a:solidFill>
              <a:miter/>
              <a:tailEnd len="med" type="triangle" w="med"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46800" rIns="90000" bIns="-46800" anchor="ctr">
              <a:noAutofit/>
            </a:bodyPr>
            <a:p>
              <a:endParaRPr lang="it-IT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152" name="Line 14"/>
            <p:cNvSpPr/>
            <p:nvPr/>
          </p:nvSpPr>
          <p:spPr>
            <a:xfrm>
              <a:off x="5318640" y="2216880"/>
              <a:ext cx="615600" cy="0"/>
            </a:xfrm>
            <a:prstGeom prst="line">
              <a:avLst/>
            </a:prstGeom>
            <a:ln w="9360">
              <a:solidFill>
                <a:srgbClr val="000000"/>
              </a:solidFill>
              <a:miter/>
              <a:tailEnd len="med" type="triangle" w="med"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46800" rIns="90000" bIns="-46800" anchor="ctr">
              <a:noAutofit/>
            </a:bodyPr>
            <a:p>
              <a:endParaRPr lang="it-IT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cxnSp>
          <p:nvCxnSpPr>
            <p:cNvPr id="153" name="AutoShape 15"/>
            <p:cNvCxnSpPr/>
            <p:nvPr/>
          </p:nvCxnSpPr>
          <p:spPr>
            <a:xfrm rot="5400000">
              <a:off x="3067560" y="1934280"/>
              <a:ext cx="1800" cy="291240"/>
            </a:xfrm>
            <a:prstGeom prst="curvedConnector5">
              <a:avLst>
                <a:gd name="adj1" fmla="val -28900000"/>
                <a:gd name="adj2" fmla="val 50000"/>
                <a:gd name="adj3" fmla="val -28900000"/>
              </a:avLst>
            </a:prstGeom>
            <a:ln w="9360">
              <a:solidFill>
                <a:srgbClr val="000000"/>
              </a:solidFill>
              <a:miter/>
              <a:tailEnd len="med" type="triangle" w="med"/>
            </a:ln>
          </p:spPr>
        </p:cxnSp>
        <p:sp>
          <p:nvSpPr>
            <p:cNvPr id="154" name="Text Box 16"/>
            <p:cNvSpPr/>
            <p:nvPr/>
          </p:nvSpPr>
          <p:spPr>
            <a:xfrm>
              <a:off x="2444400" y="1914480"/>
              <a:ext cx="273600" cy="337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spAutoFit/>
            </a:bodyPr>
            <a:p>
              <a:pPr>
                <a:lnSpc>
                  <a:spcPct val="100000"/>
                </a:lnSpc>
                <a:spcBef>
                  <a:spcPts val="1001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600" b="0" u="none" strike="noStrike">
                  <a:solidFill>
                    <a:srgbClr val="000000"/>
                  </a:solidFill>
                  <a:effectLst/>
                  <a:uFillTx/>
                  <a:latin typeface="Symbol"/>
                  <a:ea typeface="Symbol"/>
                </a:rPr>
                <a:t></a:t>
              </a:r>
              <a:endParaRPr lang="it-IT" sz="16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155" name="Text Box 17"/>
            <p:cNvSpPr/>
            <p:nvPr/>
          </p:nvSpPr>
          <p:spPr>
            <a:xfrm>
              <a:off x="3402360" y="1942920"/>
              <a:ext cx="273600" cy="3074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spAutoFit/>
            </a:bodyPr>
            <a:p>
              <a:pPr>
                <a:lnSpc>
                  <a:spcPct val="100000"/>
                </a:lnSpc>
                <a:spcBef>
                  <a:spcPts val="876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400" b="0" u="sng" strike="noStrike">
                  <a:solidFill>
                    <a:srgbClr val="000000"/>
                  </a:solidFill>
                  <a:effectLst/>
                  <a:uFillTx/>
                  <a:latin typeface="Arial Rounded MT Bold"/>
                </a:rPr>
                <a:t>a</a:t>
              </a:r>
              <a:endParaRPr lang="it-IT" sz="14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156" name="Text Box 18"/>
            <p:cNvSpPr/>
            <p:nvPr/>
          </p:nvSpPr>
          <p:spPr>
            <a:xfrm>
              <a:off x="5455440" y="1942920"/>
              <a:ext cx="273600" cy="3074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spAutoFit/>
            </a:bodyPr>
            <a:p>
              <a:pPr>
                <a:lnSpc>
                  <a:spcPct val="100000"/>
                </a:lnSpc>
                <a:spcBef>
                  <a:spcPts val="876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400" b="0" u="sng" strike="noStrike">
                  <a:solidFill>
                    <a:srgbClr val="000000"/>
                  </a:solidFill>
                  <a:effectLst/>
                  <a:uFillTx/>
                  <a:latin typeface="Arial Rounded MT Bold"/>
                </a:rPr>
                <a:t>b</a:t>
              </a:r>
              <a:endParaRPr lang="it-IT" sz="14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157" name="Text Box 19"/>
            <p:cNvSpPr/>
            <p:nvPr/>
          </p:nvSpPr>
          <p:spPr>
            <a:xfrm>
              <a:off x="4429080" y="1942920"/>
              <a:ext cx="272520" cy="3074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spAutoFit/>
            </a:bodyPr>
            <a:p>
              <a:pPr>
                <a:lnSpc>
                  <a:spcPct val="100000"/>
                </a:lnSpc>
                <a:spcBef>
                  <a:spcPts val="876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400" b="0" u="sng" strike="noStrike">
                  <a:solidFill>
                    <a:srgbClr val="000000"/>
                  </a:solidFill>
                  <a:effectLst/>
                  <a:uFillTx/>
                  <a:latin typeface="Arial Rounded MT Bold"/>
                </a:rPr>
                <a:t>b</a:t>
              </a:r>
              <a:endParaRPr lang="it-IT" sz="14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</p:grpSp>
      <p:grpSp>
        <p:nvGrpSpPr>
          <p:cNvPr id="158" name="Group 21"/>
          <p:cNvGrpSpPr/>
          <p:nvPr/>
        </p:nvGrpSpPr>
        <p:grpSpPr>
          <a:xfrm>
            <a:off x="7176960" y="1584360"/>
            <a:ext cx="1433520" cy="762120"/>
            <a:chOff x="7176960" y="1584360"/>
            <a:chExt cx="1433520" cy="762120"/>
          </a:xfrm>
        </p:grpSpPr>
        <p:sp>
          <p:nvSpPr>
            <p:cNvPr id="159" name="AutoShape 22"/>
            <p:cNvSpPr/>
            <p:nvPr/>
          </p:nvSpPr>
          <p:spPr>
            <a:xfrm>
              <a:off x="7176960" y="1584360"/>
              <a:ext cx="304920" cy="762120"/>
            </a:xfrm>
            <a:custGeom>
              <a:avLst/>
              <a:gdLst>
                <a:gd name="textAreaLeft" fmla="*/ 0 w 304920"/>
                <a:gd name="textAreaRight" fmla="*/ 110160 w 304920"/>
                <a:gd name="textAreaTop" fmla="*/ 19800 h 762120"/>
                <a:gd name="textAreaBottom" fmla="*/ 742320 h 762120"/>
                <a:gd name="GluePoint1X" fmla="*/ 0 w 21600"/>
                <a:gd name="GluePoint1Y" fmla="*/ 0 h 21600"/>
                <a:gd name="GluePoint2X" fmla="*/ 0 w 21600"/>
                <a:gd name="GluePoint2Y" fmla="*/ 21600 h 21600"/>
                <a:gd name="GluePoint3X" fmla="*/ 21600 w 21600"/>
                <a:gd name="GluePoint3Y" fmla="*/ 10800 h 2160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</a:cxnLst>
              <a:rect l="textAreaLeft" t="textAreaTop" r="textAreaRight" b="textAreaBottom"/>
              <a:pathLst>
                <a:path w="21600" h="21600">
                  <a:moveTo>
                    <a:pt x="0" y="0"/>
                  </a:moveTo>
                  <a:cubicBezTo>
                    <a:pt x="5400" y="0"/>
                    <a:pt x="10800" y="900"/>
                    <a:pt x="10800" y="1800"/>
                  </a:cubicBezTo>
                  <a:lnTo>
                    <a:pt x="10800" y="9000"/>
                  </a:lnTo>
                  <a:cubicBezTo>
                    <a:pt x="10800" y="9900"/>
                    <a:pt x="16200" y="10800"/>
                    <a:pt x="21600" y="10800"/>
                  </a:cubicBezTo>
                  <a:cubicBezTo>
                    <a:pt x="16200" y="10800"/>
                    <a:pt x="10800" y="11700"/>
                    <a:pt x="10800" y="12600"/>
                  </a:cubicBezTo>
                  <a:lnTo>
                    <a:pt x="10800" y="19800"/>
                  </a:lnTo>
                  <a:cubicBezTo>
                    <a:pt x="10800" y="20700"/>
                    <a:pt x="5400" y="21600"/>
                    <a:pt x="0" y="21600"/>
                  </a:cubicBezTo>
                </a:path>
              </a:pathLst>
            </a:custGeom>
            <a:noFill/>
            <a:ln w="9360">
              <a:solidFill>
                <a:srgbClr val="1822CD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ctr">
              <a:noAutofit/>
            </a:bodyPr>
            <a:p>
              <a:endParaRPr lang="it-IT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160" name="Text Box 23"/>
            <p:cNvSpPr/>
            <p:nvPr/>
          </p:nvSpPr>
          <p:spPr>
            <a:xfrm>
              <a:off x="7315200" y="1598760"/>
              <a:ext cx="1295280" cy="6426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spAutoFit/>
            </a:bodyPr>
            <a:p>
              <a:pPr algn="ctr">
                <a:spcBef>
                  <a:spcPts val="112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800" b="0" u="none" strike="noStrike">
                  <a:solidFill>
                    <a:srgbClr val="B025A6"/>
                  </a:solidFill>
                  <a:effectLst/>
                  <a:uFillTx/>
                  <a:latin typeface="Comic Sans MS"/>
                </a:rPr>
                <a:t>Our first NFA </a:t>
              </a:r>
              <a:endParaRPr lang="it-IT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</p:grpSp>
      <p:grpSp>
        <p:nvGrpSpPr>
          <p:cNvPr id="161" name="Group 200"/>
          <p:cNvGrpSpPr/>
          <p:nvPr/>
        </p:nvGrpSpPr>
        <p:grpSpPr>
          <a:xfrm>
            <a:off x="3733920" y="5059440"/>
            <a:ext cx="3741480" cy="1518120"/>
            <a:chOff x="3733920" y="5059440"/>
            <a:chExt cx="3741480" cy="1518120"/>
          </a:xfrm>
        </p:grpSpPr>
        <p:sp>
          <p:nvSpPr>
            <p:cNvPr id="162" name="AutoShape 25"/>
            <p:cNvSpPr/>
            <p:nvPr/>
          </p:nvSpPr>
          <p:spPr>
            <a:xfrm>
              <a:off x="6095880" y="5962680"/>
              <a:ext cx="1379520" cy="61488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  <a:path w="21600" h="21600">
                  <a:moveTo>
                    <a:pt x="-32003" y="-22523"/>
                  </a:moveTo>
                  <a:lnTo>
                    <a:pt x="-1193" y="4181"/>
                  </a:lnTo>
                </a:path>
                <a:path w="21600" h="21600">
                  <a:moveTo>
                    <a:pt x="-1193" y="0"/>
                  </a:moveTo>
                  <a:lnTo>
                    <a:pt x="-1193" y="21600"/>
                  </a:lnTo>
                </a:path>
              </a:pathLst>
            </a:custGeom>
            <a:solidFill>
              <a:srgbClr val="FFFFFF"/>
            </a:solidFill>
            <a:ln w="9360">
              <a:solidFill>
                <a:srgbClr val="B025A6"/>
              </a:solidFill>
              <a:miter/>
              <a:headEnd len="med" type="triangle" w="med"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spAutoFit/>
            </a:bodyPr>
            <a:p>
              <a:pPr algn="ctr"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600" b="0" i="1" u="none" strike="noStrike">
                  <a:solidFill>
                    <a:srgbClr val="B025A6"/>
                  </a:solidFill>
                  <a:effectLst/>
                  <a:uFillTx/>
                  <a:latin typeface="Arial Rounded MT Bold"/>
                </a:rPr>
                <a:t>contains q</a:t>
              </a:r>
              <a:r>
                <a:rPr lang="en-US" sz="1600" b="0" i="1" u="none" strike="noStrike" baseline="-25000">
                  <a:solidFill>
                    <a:srgbClr val="B025A6"/>
                  </a:solidFill>
                  <a:effectLst/>
                  <a:uFillTx/>
                  <a:latin typeface="Arial Rounded MT Bold"/>
                </a:rPr>
                <a:t>4</a:t>
              </a:r>
              <a:endParaRPr lang="it-IT" sz="16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  <a:p>
              <a:pPr algn="ctr"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600" b="0" i="1" u="none" strike="noStrike">
                  <a:solidFill>
                    <a:srgbClr val="B025A6"/>
                  </a:solidFill>
                  <a:effectLst/>
                  <a:uFillTx/>
                  <a:latin typeface="Arial Rounded MT Bold"/>
                </a:rPr>
                <a:t>(final state)</a:t>
              </a:r>
              <a:endParaRPr lang="it-IT" sz="16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163" name="Oval 26"/>
            <p:cNvSpPr/>
            <p:nvPr/>
          </p:nvSpPr>
          <p:spPr>
            <a:xfrm>
              <a:off x="3733920" y="5059440"/>
              <a:ext cx="323640" cy="338040"/>
            </a:xfrm>
            <a:prstGeom prst="ellipse">
              <a:avLst/>
            </a:prstGeom>
            <a:solidFill>
              <a:srgbClr val="FFFFFF"/>
            </a:solidFill>
            <a:ln w="38160">
              <a:solidFill>
                <a:srgbClr val="B025A6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ctr">
              <a:noAutofit/>
            </a:bodyPr>
            <a:p>
              <a:endParaRPr lang="it-IT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</p:grpSp>
      <p:graphicFrame>
        <p:nvGraphicFramePr>
          <p:cNvPr id="164" name=""/>
          <p:cNvGraphicFramePr/>
          <p:nvPr/>
        </p:nvGraphicFramePr>
        <p:xfrm>
          <a:off x="1752480" y="2971800"/>
          <a:ext cx="5029200" cy="2440080"/>
        </p:xfrm>
        <a:graphic>
          <a:graphicData uri="http://schemas.openxmlformats.org/drawingml/2006/table">
            <a:tbl>
              <a:tblPr/>
              <a:tblGrid>
                <a:gridCol w="838440"/>
                <a:gridCol w="761760"/>
                <a:gridCol w="838440"/>
                <a:gridCol w="1295280"/>
                <a:gridCol w="1295280"/>
              </a:tblGrid>
              <a:tr h="396720">
                <a:tc>
                  <a:txBody>
                    <a:bodyPr lIns="90000" tIns="46800" rIns="90000" bIns="46800" anchor="t">
                      <a:noAutofit/>
                    </a:bodyPr>
                    <a:p>
                      <a:pPr>
                        <a:spcBef>
                          <a:spcPts val="4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endParaRPr lang="it-IT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>
                      <a:noFill/>
                    </a:lnL>
                    <a:lnR>
                      <a:noFill/>
                    </a:lnR>
                    <a:lnT w="13680">
                      <a:solidFill>
                        <a:srgbClr val="B025A6"/>
                      </a:solidFill>
                      <a:prstDash val="solid"/>
                    </a:lnT>
                    <a:lnB>
                      <a:noFill/>
                    </a:lnB>
                    <a:solidFill>
                      <a:srgbClr val="E6E6E6"/>
                    </a:solidFill>
                  </a:tcPr>
                </a:tc>
                <a:tc gridSpan="2"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spcBef>
                          <a:spcPts val="4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State</a:t>
                      </a:r>
                      <a:endParaRPr lang="it-IT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>
                      <a:noFill/>
                    </a:lnL>
                    <a:lnR>
                      <a:noFill/>
                    </a:lnR>
                    <a:lnT w="13680">
                      <a:solidFill>
                        <a:srgbClr val="B025A6"/>
                      </a:solidFill>
                      <a:prstDash val="solid"/>
                    </a:lnT>
                    <a:lnB>
                      <a:noFill/>
                    </a:lnB>
                    <a:solidFill>
                      <a:srgbClr val="E6E6E6"/>
                    </a:solidFill>
                  </a:tcPr>
                </a:tc>
                <a:tc hMerge="1">
                  <a:txBody>
                    <a:bodyPr lIns="90000" tIns="45000" rIns="90000" bIns="45000" anchor="t">
                      <a:noAutofit/>
                    </a:bodyPr>
                    <a:p>
                      <a:endParaRPr lang="it-IT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gridSpan="2"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spcBef>
                          <a:spcPts val="4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Symbol"/>
                          <a:ea typeface="Symbol"/>
                        </a:rPr>
                        <a:t></a:t>
                      </a: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-closure(move(s</a:t>
                      </a:r>
                      <a:r>
                        <a:rPr lang="en-US" sz="1600" b="0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i</a:t>
                      </a: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,</a:t>
                      </a: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Symbol"/>
                          <a:ea typeface="Symbol"/>
                        </a:rPr>
                        <a:t></a:t>
                      </a: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)</a:t>
                      </a:r>
                      <a:endParaRPr lang="it-IT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>
                      <a:noFill/>
                    </a:lnL>
                    <a:lnR>
                      <a:noFill/>
                    </a:lnR>
                    <a:lnT w="13680">
                      <a:solidFill>
                        <a:srgbClr val="B025A6"/>
                      </a:solidFill>
                      <a:prstDash val="solid"/>
                    </a:lnT>
                    <a:lnB>
                      <a:noFill/>
                    </a:lnB>
                    <a:solidFill>
                      <a:srgbClr val="E6E6E6"/>
                    </a:solidFill>
                  </a:tcPr>
                </a:tc>
                <a:tc hMerge="1">
                  <a:txBody>
                    <a:bodyPr lIns="90000" tIns="45000" rIns="90000" bIns="45000" anchor="t">
                      <a:noAutofit/>
                    </a:bodyPr>
                    <a:p>
                      <a:endParaRPr lang="it-IT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</a:tr>
              <a:tr h="337680">
                <a:tc>
                  <a:txBody>
                    <a:bodyPr lIns="90000" tIns="46800" rIns="90000" bIns="46800" anchor="t">
                      <a:noAutofit/>
                    </a:bodyPr>
                    <a:p>
                      <a:pPr>
                        <a:spcBef>
                          <a:spcPts val="4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Iter.</a:t>
                      </a:r>
                      <a:endParaRPr lang="it-IT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5760">
                      <a:solidFill>
                        <a:srgbClr val="B025A6"/>
                      </a:solidFill>
                      <a:prstDash val="soli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spcBef>
                          <a:spcPts val="4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DFA</a:t>
                      </a:r>
                      <a:endParaRPr lang="it-IT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5760">
                      <a:solidFill>
                        <a:srgbClr val="B025A6"/>
                      </a:solidFill>
                      <a:prstDash val="soli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spcBef>
                          <a:spcPts val="4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NFA</a:t>
                      </a:r>
                      <a:endParaRPr lang="it-IT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5760">
                      <a:solidFill>
                        <a:srgbClr val="B025A6"/>
                      </a:solidFill>
                      <a:prstDash val="soli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spcBef>
                          <a:spcPts val="4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600" b="0" u="sng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a</a:t>
                      </a:r>
                      <a:endParaRPr lang="it-IT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5760">
                      <a:solidFill>
                        <a:srgbClr val="B025A6"/>
                      </a:solidFill>
                      <a:prstDash val="soli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spcBef>
                          <a:spcPts val="4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600" b="0" u="sng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b</a:t>
                      </a:r>
                      <a:endParaRPr lang="it-IT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5760">
                      <a:solidFill>
                        <a:srgbClr val="B025A6"/>
                      </a:solidFill>
                      <a:prstDash val="solid"/>
                    </a:lnB>
                    <a:solidFill>
                      <a:srgbClr val="E6E6E6"/>
                    </a:solidFill>
                  </a:tcPr>
                </a:tc>
              </a:tr>
              <a:tr h="371160"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spcBef>
                          <a:spcPts val="4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0</a:t>
                      </a:r>
                      <a:endParaRPr lang="it-IT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>
                      <a:noFill/>
                    </a:lnL>
                    <a:lnR>
                      <a:noFill/>
                    </a:lnR>
                    <a:lnT w="5760">
                      <a:solidFill>
                        <a:srgbClr val="B025A6"/>
                      </a:solidFill>
                      <a:prstDash val="solid"/>
                    </a:lnT>
                    <a:lnB>
                      <a:noFill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spcBef>
                          <a:spcPts val="4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s</a:t>
                      </a:r>
                      <a:r>
                        <a:rPr lang="en-US" sz="1600" b="0" i="1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0</a:t>
                      </a:r>
                      <a:endParaRPr lang="it-IT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>
                      <a:noFill/>
                    </a:lnL>
                    <a:lnR>
                      <a:noFill/>
                    </a:lnR>
                    <a:lnT w="5760">
                      <a:solidFill>
                        <a:srgbClr val="B025A6"/>
                      </a:solidFill>
                      <a:prstDash val="soli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spcBef>
                          <a:spcPts val="4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q</a:t>
                      </a:r>
                      <a:r>
                        <a:rPr lang="en-US" sz="1600" b="0" i="1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0</a:t>
                      </a: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,q</a:t>
                      </a:r>
                      <a:r>
                        <a:rPr lang="en-US" sz="1600" b="0" i="1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1</a:t>
                      </a:r>
                      <a:endParaRPr lang="it-IT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>
                      <a:noFill/>
                    </a:lnL>
                    <a:lnR>
                      <a:noFill/>
                    </a:lnR>
                    <a:lnT w="5760">
                      <a:solidFill>
                        <a:srgbClr val="B025A6"/>
                      </a:solidFill>
                      <a:prstDash val="soli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spcBef>
                          <a:spcPts val="4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q</a:t>
                      </a:r>
                      <a:r>
                        <a:rPr lang="en-US" sz="1600" b="0" i="1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1</a:t>
                      </a: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,q</a:t>
                      </a:r>
                      <a:r>
                        <a:rPr lang="en-US" sz="1600" b="0" i="1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2</a:t>
                      </a:r>
                      <a:endParaRPr lang="it-IT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>
                      <a:noFill/>
                    </a:lnL>
                    <a:lnR>
                      <a:noFill/>
                    </a:lnR>
                    <a:lnT w="5760">
                      <a:solidFill>
                        <a:srgbClr val="B025A6"/>
                      </a:solidFill>
                      <a:prstDash val="soli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spcBef>
                          <a:spcPts val="4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q</a:t>
                      </a:r>
                      <a:r>
                        <a:rPr lang="en-US" sz="1600" b="0" i="1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1</a:t>
                      </a:r>
                      <a:endParaRPr lang="it-IT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>
                      <a:noFill/>
                    </a:lnL>
                    <a:lnR>
                      <a:noFill/>
                    </a:lnR>
                    <a:lnT w="5760">
                      <a:solidFill>
                        <a:srgbClr val="B025A6"/>
                      </a:solidFill>
                      <a:prstDash val="solid"/>
                    </a:lnT>
                    <a:lnB>
                      <a:noFill/>
                    </a:lnB>
                    <a:noFill/>
                  </a:tcPr>
                </a:tc>
              </a:tr>
              <a:tr h="371160"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spcBef>
                          <a:spcPts val="4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1</a:t>
                      </a:r>
                      <a:endParaRPr lang="it-IT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spcBef>
                          <a:spcPts val="4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s</a:t>
                      </a:r>
                      <a:r>
                        <a:rPr lang="en-US" sz="1600" b="0" i="1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1</a:t>
                      </a:r>
                      <a:endParaRPr lang="it-IT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spcBef>
                          <a:spcPts val="4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q</a:t>
                      </a:r>
                      <a:r>
                        <a:rPr lang="en-US" sz="1600" b="0" i="1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1</a:t>
                      </a: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,q</a:t>
                      </a:r>
                      <a:r>
                        <a:rPr lang="en-US" sz="1600" b="0" i="1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2</a:t>
                      </a:r>
                      <a:endParaRPr lang="it-IT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spcBef>
                          <a:spcPts val="4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q</a:t>
                      </a:r>
                      <a:r>
                        <a:rPr lang="en-US" sz="1600" b="0" i="1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1</a:t>
                      </a: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,q</a:t>
                      </a:r>
                      <a:r>
                        <a:rPr lang="en-US" sz="1600" b="0" i="1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2</a:t>
                      </a:r>
                      <a:endParaRPr lang="it-IT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spcBef>
                          <a:spcPts val="4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q</a:t>
                      </a:r>
                      <a:r>
                        <a:rPr lang="en-US" sz="1600" b="0" i="1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1</a:t>
                      </a: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,q</a:t>
                      </a:r>
                      <a:r>
                        <a:rPr lang="en-US" sz="1600" b="0" i="1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3</a:t>
                      </a:r>
                      <a:endParaRPr lang="it-IT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371160"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spcBef>
                          <a:spcPts val="4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endParaRPr lang="it-IT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spcBef>
                          <a:spcPts val="4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s</a:t>
                      </a:r>
                      <a:r>
                        <a:rPr lang="en-US" sz="1600" b="0" i="1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2</a:t>
                      </a:r>
                      <a:endParaRPr lang="it-IT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spcBef>
                          <a:spcPts val="4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q</a:t>
                      </a:r>
                      <a:r>
                        <a:rPr lang="en-US" sz="1600" b="0" i="1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1</a:t>
                      </a:r>
                      <a:endParaRPr lang="it-IT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spcBef>
                          <a:spcPts val="4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q</a:t>
                      </a:r>
                      <a:r>
                        <a:rPr lang="en-US" sz="1600" b="0" i="1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1</a:t>
                      </a: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,q</a:t>
                      </a:r>
                      <a:r>
                        <a:rPr lang="en-US" sz="1600" b="0" i="1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2</a:t>
                      </a:r>
                      <a:endParaRPr lang="it-IT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spcBef>
                          <a:spcPts val="4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q</a:t>
                      </a:r>
                      <a:r>
                        <a:rPr lang="en-US" sz="1600" b="0" i="1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1</a:t>
                      </a:r>
                      <a:endParaRPr lang="it-IT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371160"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spcBef>
                          <a:spcPts val="4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2</a:t>
                      </a:r>
                      <a:endParaRPr lang="it-IT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spcBef>
                          <a:spcPts val="4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s</a:t>
                      </a:r>
                      <a:r>
                        <a:rPr lang="en-US" sz="1600" b="0" i="1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3</a:t>
                      </a:r>
                      <a:endParaRPr lang="it-IT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spcBef>
                          <a:spcPts val="4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q</a:t>
                      </a:r>
                      <a:r>
                        <a:rPr lang="en-US" sz="1600" b="0" i="1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1</a:t>
                      </a: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,q</a:t>
                      </a:r>
                      <a:r>
                        <a:rPr lang="en-US" sz="1600" b="0" i="1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3</a:t>
                      </a:r>
                      <a:endParaRPr lang="it-IT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spcBef>
                          <a:spcPts val="4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q</a:t>
                      </a:r>
                      <a:r>
                        <a:rPr lang="en-US" sz="1600" b="0" i="1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1</a:t>
                      </a: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,q</a:t>
                      </a:r>
                      <a:r>
                        <a:rPr lang="en-US" sz="1600" b="0" i="1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2</a:t>
                      </a:r>
                      <a:endParaRPr lang="it-IT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spcBef>
                          <a:spcPts val="4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q</a:t>
                      </a:r>
                      <a:r>
                        <a:rPr lang="en-US" sz="1600" b="0" i="1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1</a:t>
                      </a: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,q</a:t>
                      </a:r>
                      <a:r>
                        <a:rPr lang="en-US" sz="1600" b="0" i="1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4</a:t>
                      </a:r>
                      <a:endParaRPr lang="it-IT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371160"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spcBef>
                          <a:spcPts val="4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3</a:t>
                      </a:r>
                      <a:endParaRPr lang="it-IT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3680">
                      <a:solidFill>
                        <a:srgbClr val="B025A6"/>
                      </a:solidFill>
                      <a:prstDash val="soli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spcBef>
                          <a:spcPts val="4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s</a:t>
                      </a:r>
                      <a:r>
                        <a:rPr lang="en-US" sz="1600" b="0" i="1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4</a:t>
                      </a:r>
                      <a:endParaRPr lang="it-IT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3680">
                      <a:solidFill>
                        <a:srgbClr val="B025A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spcBef>
                          <a:spcPts val="4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q</a:t>
                      </a:r>
                      <a:r>
                        <a:rPr lang="en-US" sz="1600" b="0" i="1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1</a:t>
                      </a: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,q</a:t>
                      </a:r>
                      <a:r>
                        <a:rPr lang="en-US" sz="1600" b="0" i="1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4</a:t>
                      </a:r>
                      <a:endParaRPr lang="it-IT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3680">
                      <a:solidFill>
                        <a:srgbClr val="B025A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spcBef>
                          <a:spcPts val="4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q</a:t>
                      </a:r>
                      <a:r>
                        <a:rPr lang="en-US" sz="1600" b="0" i="1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1</a:t>
                      </a: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,q</a:t>
                      </a:r>
                      <a:r>
                        <a:rPr lang="en-US" sz="1600" b="0" i="1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2</a:t>
                      </a:r>
                      <a:endParaRPr lang="it-IT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3680">
                      <a:solidFill>
                        <a:srgbClr val="B025A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spcBef>
                          <a:spcPts val="4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q</a:t>
                      </a:r>
                      <a:r>
                        <a:rPr lang="en-US" sz="1600" b="0" i="1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1</a:t>
                      </a:r>
                      <a:endParaRPr lang="it-IT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3680">
                      <a:solidFill>
                        <a:srgbClr val="B025A6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</p:spTree>
  </p:cSld>
  <p:transition>
    <p:wipe dir="r"/>
  </p:transition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 additive="repl">
                                        <p:cTn id="7" dur="500"/>
                                        <p:tgtEl>
                                          <p:spTgt spid="1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Footer Placeholder 3"/>
          <p:cNvSpPr/>
          <p:nvPr/>
        </p:nvSpPr>
        <p:spPr>
          <a:xfrm>
            <a:off x="685800" y="6248520"/>
            <a:ext cx="289548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Autofit/>
          </a:bodyPr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Comp 412, Fall 2010</a:t>
            </a:r>
            <a:endParaRPr lang="it-IT" sz="12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166" name="Slide Number Placeholder 4"/>
          <p:cNvSpPr/>
          <p:nvPr/>
        </p:nvSpPr>
        <p:spPr>
          <a:xfrm>
            <a:off x="6553080" y="6248520"/>
            <a:ext cx="190512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Autofit/>
          </a:bodyPr>
          <a:p>
            <a:pPr algn="r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AC6E6DF3-2167-4B0A-AAAE-4A32858A1D5F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&lt;number&gt;</a:t>
            </a:fld>
            <a:endParaRPr lang="it-IT" sz="12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167" name="PlaceHolder 1"/>
          <p:cNvSpPr>
            <a:spLocks noGrp="1"/>
          </p:cNvSpPr>
          <p:nvPr>
            <p:ph type="title"/>
          </p:nvPr>
        </p:nvSpPr>
        <p:spPr>
          <a:xfrm>
            <a:off x="685800" y="533160"/>
            <a:ext cx="7772400" cy="533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l">
              <a:spcBef>
                <a:spcPts val="901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A Detailed Example</a:t>
            </a:r>
            <a:endParaRPr lang="it-IT" sz="24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168" name="PlaceHolder 2"/>
          <p:cNvSpPr>
            <a:spLocks noGrp="1"/>
          </p:cNvSpPr>
          <p:nvPr>
            <p:ph/>
          </p:nvPr>
        </p:nvSpPr>
        <p:spPr>
          <a:xfrm>
            <a:off x="685800" y="1143000"/>
            <a:ext cx="7772400" cy="495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p>
            <a:pPr marL="343080" indent="-343080" algn="l">
              <a:spcBef>
                <a:spcPts val="751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The DFA for ( </a:t>
            </a:r>
            <a:r>
              <a:rPr lang="en-US" sz="2000" b="0" u="sng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a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 | </a:t>
            </a:r>
            <a:r>
              <a:rPr lang="en-US" sz="2000" b="0" u="sng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b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 )</a:t>
            </a:r>
            <a:r>
              <a:rPr lang="en-US" sz="2000" b="0" u="none" strike="noStrike" baseline="30000">
                <a:solidFill>
                  <a:srgbClr val="000000"/>
                </a:solidFill>
                <a:effectLst/>
                <a:uFillTx/>
                <a:latin typeface="Comic Sans MS"/>
              </a:rPr>
              <a:t>*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 </a:t>
            </a:r>
            <a:r>
              <a:rPr lang="en-US" sz="2000" b="0" u="sng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abb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 </a:t>
            </a:r>
            <a:endParaRPr lang="it-IT" sz="20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  <a:p>
            <a:pPr marL="343080" indent="-343080" algn="l">
              <a:spcBef>
                <a:spcPts val="18000"/>
              </a:spcBef>
              <a:buClr>
                <a:srgbClr val="003C75"/>
              </a:buClr>
              <a:buSzPct val="120000"/>
              <a:buFont typeface="Times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Not much expansion from NFA        </a:t>
            </a:r>
            <a:r>
              <a:rPr lang="en-US" sz="1600" b="0" i="1" u="none" strike="noStrike">
                <a:solidFill>
                  <a:srgbClr val="FF0065"/>
                </a:solidFill>
                <a:effectLst/>
                <a:uFillTx/>
                <a:latin typeface="Comic Sans MS"/>
              </a:rPr>
              <a:t>(we feared exponential blowup)</a:t>
            </a:r>
            <a:endParaRPr lang="it-IT" sz="16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  <a:p>
            <a:pPr marL="343080" indent="-343080" algn="l">
              <a:spcBef>
                <a:spcPts val="751"/>
              </a:spcBef>
              <a:buClr>
                <a:srgbClr val="003C75"/>
              </a:buClr>
              <a:buSzPct val="120000"/>
              <a:buFont typeface="Times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Deterministic transitions  </a:t>
            </a:r>
            <a:endParaRPr lang="it-IT" sz="20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  <a:p>
            <a:pPr marL="343080" indent="-343080" algn="l">
              <a:spcBef>
                <a:spcPts val="751"/>
              </a:spcBef>
              <a:buClr>
                <a:srgbClr val="003C75"/>
              </a:buClr>
              <a:buSzPct val="120000"/>
              <a:buFont typeface="Times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Use same code skeleton as before</a:t>
            </a:r>
            <a:endParaRPr lang="it-IT" sz="20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grpSp>
        <p:nvGrpSpPr>
          <p:cNvPr id="169" name="Group 4"/>
          <p:cNvGrpSpPr/>
          <p:nvPr/>
        </p:nvGrpSpPr>
        <p:grpSpPr>
          <a:xfrm>
            <a:off x="1066680" y="1685520"/>
            <a:ext cx="2916360" cy="2066760"/>
            <a:chOff x="1066680" y="1685520"/>
            <a:chExt cx="2916360" cy="2066760"/>
          </a:xfrm>
        </p:grpSpPr>
        <p:cxnSp>
          <p:nvCxnSpPr>
            <p:cNvPr id="170" name="AutoShape 5"/>
            <p:cNvCxnSpPr>
              <a:stCxn id="171" idx="7"/>
              <a:endCxn id="171" idx="1"/>
            </p:cNvCxnSpPr>
            <p:nvPr/>
          </p:nvCxnSpPr>
          <p:spPr>
            <a:xfrm rot="5400000">
              <a:off x="2104200" y="2068560"/>
              <a:ext cx="2160" cy="284400"/>
            </a:xfrm>
            <a:prstGeom prst="curvedConnector5">
              <a:avLst>
                <a:gd name="adj1" fmla="val -17600000"/>
                <a:gd name="adj2" fmla="val 49936"/>
                <a:gd name="adj3" fmla="val -17600000"/>
              </a:avLst>
            </a:prstGeom>
            <a:ln w="9360">
              <a:solidFill>
                <a:srgbClr val="000000"/>
              </a:solidFill>
              <a:miter/>
              <a:tailEnd len="med" type="triangle" w="med"/>
            </a:ln>
          </p:spPr>
        </p:cxnSp>
        <p:sp>
          <p:nvSpPr>
            <p:cNvPr id="172" name="Oval 6"/>
            <p:cNvSpPr/>
            <p:nvPr/>
          </p:nvSpPr>
          <p:spPr>
            <a:xfrm>
              <a:off x="1066680" y="2158920"/>
              <a:ext cx="401760" cy="411120"/>
            </a:xfrm>
            <a:prstGeom prst="ellipse">
              <a:avLst/>
            </a:prstGeom>
            <a:noFill/>
            <a:ln w="1908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ctr">
              <a:noAutofit/>
            </a:bodyPr>
            <a:p>
              <a:pPr algn="ctr"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400" b="0" i="1" u="none" strike="noStrike">
                  <a:solidFill>
                    <a:srgbClr val="000000"/>
                  </a:solidFill>
                  <a:effectLst/>
                  <a:uFillTx/>
                  <a:latin typeface="Arial Rounded MT Bold"/>
                </a:rPr>
                <a:t>s</a:t>
              </a:r>
              <a:r>
                <a:rPr lang="en-US" sz="1400" b="0" i="1" u="none" strike="noStrike" baseline="-25000">
                  <a:solidFill>
                    <a:srgbClr val="000000"/>
                  </a:solidFill>
                  <a:effectLst/>
                  <a:uFillTx/>
                  <a:latin typeface="Arial Rounded MT Bold"/>
                </a:rPr>
                <a:t>0 </a:t>
              </a:r>
              <a:endParaRPr lang="it-IT" sz="14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173" name="Line 7"/>
            <p:cNvSpPr/>
            <p:nvPr/>
          </p:nvSpPr>
          <p:spPr>
            <a:xfrm>
              <a:off x="1447920" y="2387520"/>
              <a:ext cx="439560" cy="0"/>
            </a:xfrm>
            <a:prstGeom prst="line">
              <a:avLst/>
            </a:prstGeom>
            <a:ln w="9360">
              <a:solidFill>
                <a:srgbClr val="000000"/>
              </a:solidFill>
              <a:miter/>
              <a:tailEnd len="med" type="triangle" w="med"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46800" rIns="90000" bIns="-46800" anchor="ctr">
              <a:noAutofit/>
            </a:bodyPr>
            <a:p>
              <a:endParaRPr lang="it-IT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174" name="Text Box 8"/>
            <p:cNvSpPr/>
            <p:nvPr/>
          </p:nvSpPr>
          <p:spPr>
            <a:xfrm>
              <a:off x="1523880" y="2082600"/>
              <a:ext cx="265320" cy="3074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spAutoFit/>
            </a:bodyPr>
            <a:p>
              <a:pPr>
                <a:lnSpc>
                  <a:spcPct val="100000"/>
                </a:lnSpc>
                <a:spcBef>
                  <a:spcPts val="876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400" b="0" u="sng" strike="noStrike">
                  <a:solidFill>
                    <a:srgbClr val="000000"/>
                  </a:solidFill>
                  <a:effectLst/>
                  <a:uFillTx/>
                  <a:latin typeface="Arial Rounded MT Bold"/>
                </a:rPr>
                <a:t>a</a:t>
              </a:r>
              <a:endParaRPr lang="it-IT" sz="14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171" name="Oval 9"/>
            <p:cNvSpPr/>
            <p:nvPr/>
          </p:nvSpPr>
          <p:spPr>
            <a:xfrm>
              <a:off x="1905120" y="2158920"/>
              <a:ext cx="401400" cy="411120"/>
            </a:xfrm>
            <a:prstGeom prst="ellipse">
              <a:avLst/>
            </a:prstGeom>
            <a:noFill/>
            <a:ln w="1908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ctr">
              <a:noAutofit/>
            </a:bodyPr>
            <a:p>
              <a:pPr algn="ctr"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400" b="0" i="1" u="none" strike="noStrike">
                  <a:solidFill>
                    <a:srgbClr val="000000"/>
                  </a:solidFill>
                  <a:effectLst/>
                  <a:uFillTx/>
                  <a:latin typeface="Arial Rounded MT Bold"/>
                </a:rPr>
                <a:t>s</a:t>
              </a:r>
              <a:r>
                <a:rPr lang="en-US" sz="1400" b="0" i="1" u="none" strike="noStrike" baseline="-25000">
                  <a:solidFill>
                    <a:srgbClr val="000000"/>
                  </a:solidFill>
                  <a:effectLst/>
                  <a:uFillTx/>
                  <a:latin typeface="Arial Rounded MT Bold"/>
                </a:rPr>
                <a:t>1 </a:t>
              </a:r>
              <a:endParaRPr lang="it-IT" sz="14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175" name="Line 10"/>
            <p:cNvSpPr/>
            <p:nvPr/>
          </p:nvSpPr>
          <p:spPr>
            <a:xfrm>
              <a:off x="2286000" y="2387520"/>
              <a:ext cx="439560" cy="0"/>
            </a:xfrm>
            <a:prstGeom prst="line">
              <a:avLst/>
            </a:prstGeom>
            <a:ln w="9360">
              <a:solidFill>
                <a:srgbClr val="000000"/>
              </a:solidFill>
              <a:miter/>
              <a:tailEnd len="med" type="triangle" w="med"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46800" rIns="90000" bIns="-46800" anchor="ctr">
              <a:noAutofit/>
            </a:bodyPr>
            <a:p>
              <a:endParaRPr lang="it-IT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176" name="Text Box 11"/>
            <p:cNvSpPr/>
            <p:nvPr/>
          </p:nvSpPr>
          <p:spPr>
            <a:xfrm>
              <a:off x="1447920" y="2692080"/>
              <a:ext cx="264960" cy="3074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spAutoFit/>
            </a:bodyPr>
            <a:p>
              <a:pPr>
                <a:lnSpc>
                  <a:spcPct val="100000"/>
                </a:lnSpc>
                <a:spcBef>
                  <a:spcPts val="876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400" b="0" u="sng" strike="noStrike">
                  <a:solidFill>
                    <a:srgbClr val="000000"/>
                  </a:solidFill>
                  <a:effectLst/>
                  <a:uFillTx/>
                  <a:latin typeface="Arial Rounded MT Bold"/>
                </a:rPr>
                <a:t>b</a:t>
              </a:r>
              <a:endParaRPr lang="it-IT" sz="14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177" name="Oval 12"/>
            <p:cNvSpPr/>
            <p:nvPr/>
          </p:nvSpPr>
          <p:spPr>
            <a:xfrm>
              <a:off x="2743200" y="2158920"/>
              <a:ext cx="401760" cy="411120"/>
            </a:xfrm>
            <a:prstGeom prst="ellipse">
              <a:avLst/>
            </a:prstGeom>
            <a:noFill/>
            <a:ln w="1908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ctr">
              <a:noAutofit/>
            </a:bodyPr>
            <a:p>
              <a:pPr algn="ctr"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400" b="0" i="1" u="none" strike="noStrike">
                  <a:solidFill>
                    <a:srgbClr val="000000"/>
                  </a:solidFill>
                  <a:effectLst/>
                  <a:uFillTx/>
                  <a:latin typeface="Arial Rounded MT Bold"/>
                </a:rPr>
                <a:t>s</a:t>
              </a:r>
              <a:r>
                <a:rPr lang="en-US" sz="1400" b="0" i="1" u="none" strike="noStrike" baseline="-25000">
                  <a:solidFill>
                    <a:srgbClr val="000000"/>
                  </a:solidFill>
                  <a:effectLst/>
                  <a:uFillTx/>
                  <a:latin typeface="Arial Rounded MT Bold"/>
                </a:rPr>
                <a:t>3 </a:t>
              </a:r>
              <a:endParaRPr lang="it-IT" sz="14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178" name="Line 13"/>
            <p:cNvSpPr/>
            <p:nvPr/>
          </p:nvSpPr>
          <p:spPr>
            <a:xfrm>
              <a:off x="3124080" y="2387520"/>
              <a:ext cx="439920" cy="0"/>
            </a:xfrm>
            <a:prstGeom prst="line">
              <a:avLst/>
            </a:prstGeom>
            <a:ln w="9360">
              <a:solidFill>
                <a:srgbClr val="000000"/>
              </a:solidFill>
              <a:miter/>
              <a:tailEnd len="med" type="triangle" w="med"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46800" rIns="90000" bIns="-46800" anchor="ctr">
              <a:noAutofit/>
            </a:bodyPr>
            <a:p>
              <a:endParaRPr lang="it-IT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179" name="Text Box 14"/>
            <p:cNvSpPr/>
            <p:nvPr/>
          </p:nvSpPr>
          <p:spPr>
            <a:xfrm>
              <a:off x="3200400" y="2082600"/>
              <a:ext cx="264960" cy="3074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spAutoFit/>
            </a:bodyPr>
            <a:p>
              <a:pPr>
                <a:lnSpc>
                  <a:spcPct val="100000"/>
                </a:lnSpc>
                <a:spcBef>
                  <a:spcPts val="876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400" b="0" u="sng" strike="noStrike">
                  <a:solidFill>
                    <a:srgbClr val="000000"/>
                  </a:solidFill>
                  <a:effectLst/>
                  <a:uFillTx/>
                  <a:latin typeface="Arial Rounded MT Bold"/>
                </a:rPr>
                <a:t>b</a:t>
              </a:r>
              <a:endParaRPr lang="it-IT" sz="14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180" name="Oval 15"/>
            <p:cNvSpPr/>
            <p:nvPr/>
          </p:nvSpPr>
          <p:spPr>
            <a:xfrm>
              <a:off x="3581280" y="2158920"/>
              <a:ext cx="401760" cy="411120"/>
            </a:xfrm>
            <a:prstGeom prst="ellipse">
              <a:avLst/>
            </a:prstGeom>
            <a:noFill/>
            <a:ln w="381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ctr">
              <a:noAutofit/>
            </a:bodyPr>
            <a:p>
              <a:pPr algn="ctr"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400" b="0" i="1" u="none" strike="noStrike">
                  <a:solidFill>
                    <a:srgbClr val="000000"/>
                  </a:solidFill>
                  <a:effectLst/>
                  <a:uFillTx/>
                  <a:latin typeface="Arial Rounded MT Bold"/>
                </a:rPr>
                <a:t>s</a:t>
              </a:r>
              <a:r>
                <a:rPr lang="en-US" sz="1400" b="0" i="1" u="none" strike="noStrike" baseline="-25000">
                  <a:solidFill>
                    <a:srgbClr val="000000"/>
                  </a:solidFill>
                  <a:effectLst/>
                  <a:uFillTx/>
                  <a:latin typeface="Arial Rounded MT Bold"/>
                </a:rPr>
                <a:t>4 </a:t>
              </a:r>
              <a:endParaRPr lang="it-IT" sz="14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181" name="Oval 16"/>
            <p:cNvSpPr/>
            <p:nvPr/>
          </p:nvSpPr>
          <p:spPr>
            <a:xfrm>
              <a:off x="1905120" y="2997000"/>
              <a:ext cx="401400" cy="411120"/>
            </a:xfrm>
            <a:prstGeom prst="ellipse">
              <a:avLst/>
            </a:prstGeom>
            <a:noFill/>
            <a:ln w="1908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ctr">
              <a:noAutofit/>
            </a:bodyPr>
            <a:p>
              <a:pPr algn="ctr"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400" b="0" i="1" u="none" strike="noStrike">
                  <a:solidFill>
                    <a:srgbClr val="000000"/>
                  </a:solidFill>
                  <a:effectLst/>
                  <a:uFillTx/>
                  <a:latin typeface="Arial Rounded MT Bold"/>
                </a:rPr>
                <a:t>s</a:t>
              </a:r>
              <a:r>
                <a:rPr lang="en-US" sz="1400" b="0" i="1" u="none" strike="noStrike" baseline="-25000">
                  <a:solidFill>
                    <a:srgbClr val="000000"/>
                  </a:solidFill>
                  <a:effectLst/>
                  <a:uFillTx/>
                  <a:latin typeface="Arial Rounded MT Bold"/>
                </a:rPr>
                <a:t>2</a:t>
              </a:r>
              <a:endParaRPr lang="it-IT" sz="14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182" name="Line 17"/>
            <p:cNvSpPr/>
            <p:nvPr/>
          </p:nvSpPr>
          <p:spPr>
            <a:xfrm>
              <a:off x="1389240" y="2522160"/>
              <a:ext cx="550800" cy="543240"/>
            </a:xfrm>
            <a:prstGeom prst="line">
              <a:avLst/>
            </a:prstGeom>
            <a:ln w="9360">
              <a:solidFill>
                <a:srgbClr val="000000"/>
              </a:solidFill>
              <a:miter/>
              <a:tailEnd len="med" type="triangle" w="med"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ctr">
              <a:noAutofit/>
            </a:bodyPr>
            <a:p>
              <a:endParaRPr lang="it-IT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183" name="Line 18"/>
            <p:cNvSpPr/>
            <p:nvPr/>
          </p:nvSpPr>
          <p:spPr>
            <a:xfrm flipV="1">
              <a:off x="2090880" y="2572920"/>
              <a:ext cx="0" cy="415800"/>
            </a:xfrm>
            <a:prstGeom prst="line">
              <a:avLst/>
            </a:prstGeom>
            <a:ln w="9360">
              <a:solidFill>
                <a:srgbClr val="000000"/>
              </a:solidFill>
              <a:miter/>
              <a:tailEnd len="med" type="triangle" w="med"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ctr">
              <a:noAutofit/>
            </a:bodyPr>
            <a:p>
              <a:endParaRPr lang="it-IT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184" name="Text Box 19"/>
            <p:cNvSpPr/>
            <p:nvPr/>
          </p:nvSpPr>
          <p:spPr>
            <a:xfrm>
              <a:off x="2090880" y="2692080"/>
              <a:ext cx="264960" cy="3074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spAutoFit/>
            </a:bodyPr>
            <a:p>
              <a:pPr>
                <a:lnSpc>
                  <a:spcPct val="100000"/>
                </a:lnSpc>
                <a:spcBef>
                  <a:spcPts val="876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400" b="0" u="sng" strike="noStrike">
                  <a:solidFill>
                    <a:srgbClr val="000000"/>
                  </a:solidFill>
                  <a:effectLst/>
                  <a:uFillTx/>
                  <a:latin typeface="Arial Rounded MT Bold"/>
                </a:rPr>
                <a:t>a</a:t>
              </a:r>
              <a:endParaRPr lang="it-IT" sz="14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185" name="Text Box 20"/>
            <p:cNvSpPr/>
            <p:nvPr/>
          </p:nvSpPr>
          <p:spPr>
            <a:xfrm>
              <a:off x="2362320" y="2082600"/>
              <a:ext cx="264960" cy="3074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spAutoFit/>
            </a:bodyPr>
            <a:p>
              <a:pPr>
                <a:lnSpc>
                  <a:spcPct val="100000"/>
                </a:lnSpc>
                <a:spcBef>
                  <a:spcPts val="876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400" b="0" u="sng" strike="noStrike">
                  <a:solidFill>
                    <a:srgbClr val="000000"/>
                  </a:solidFill>
                  <a:effectLst/>
                  <a:uFillTx/>
                  <a:latin typeface="Arial Rounded MT Bold"/>
                </a:rPr>
                <a:t>b</a:t>
              </a:r>
              <a:endParaRPr lang="it-IT" sz="14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cxnSp>
          <p:nvCxnSpPr>
            <p:cNvPr id="186" name="AutoShape 21"/>
            <p:cNvCxnSpPr>
              <a:stCxn id="181" idx="3"/>
              <a:endCxn id="181" idx="5"/>
            </p:cNvCxnSpPr>
            <p:nvPr/>
          </p:nvCxnSpPr>
          <p:spPr>
            <a:xfrm flipH="1" rot="16200000">
              <a:off x="2103840" y="3215880"/>
              <a:ext cx="2160" cy="284400"/>
            </a:xfrm>
            <a:prstGeom prst="curvedConnector5">
              <a:avLst>
                <a:gd name="adj1" fmla="val 17600000"/>
                <a:gd name="adj2" fmla="val 49936"/>
                <a:gd name="adj3" fmla="val 17600000"/>
              </a:avLst>
            </a:prstGeom>
            <a:ln w="9360">
              <a:solidFill>
                <a:srgbClr val="000000"/>
              </a:solidFill>
              <a:miter/>
              <a:headEnd len="med" type="triangle" w="med"/>
            </a:ln>
          </p:spPr>
        </p:cxnSp>
        <p:sp>
          <p:nvSpPr>
            <p:cNvPr id="187" name="Text Box 22"/>
            <p:cNvSpPr/>
            <p:nvPr/>
          </p:nvSpPr>
          <p:spPr>
            <a:xfrm>
              <a:off x="2176560" y="3444840"/>
              <a:ext cx="264960" cy="3074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spAutoFit/>
            </a:bodyPr>
            <a:p>
              <a:pPr>
                <a:lnSpc>
                  <a:spcPct val="100000"/>
                </a:lnSpc>
                <a:spcBef>
                  <a:spcPts val="876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400" b="0" u="sng" strike="noStrike">
                  <a:solidFill>
                    <a:srgbClr val="000000"/>
                  </a:solidFill>
                  <a:effectLst/>
                  <a:uFillTx/>
                  <a:latin typeface="Arial Rounded MT Bold"/>
                </a:rPr>
                <a:t>b</a:t>
              </a:r>
              <a:endParaRPr lang="it-IT" sz="14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188" name="Text Box 23"/>
            <p:cNvSpPr/>
            <p:nvPr/>
          </p:nvSpPr>
          <p:spPr>
            <a:xfrm>
              <a:off x="2192400" y="1785600"/>
              <a:ext cx="264960" cy="3074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spAutoFit/>
            </a:bodyPr>
            <a:p>
              <a:pPr>
                <a:lnSpc>
                  <a:spcPct val="100000"/>
                </a:lnSpc>
                <a:spcBef>
                  <a:spcPts val="876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400" b="0" u="sng" strike="noStrike">
                  <a:solidFill>
                    <a:srgbClr val="000000"/>
                  </a:solidFill>
                  <a:effectLst/>
                  <a:uFillTx/>
                  <a:latin typeface="Arial Rounded MT Bold"/>
                </a:rPr>
                <a:t>a</a:t>
              </a:r>
              <a:endParaRPr lang="it-IT" sz="14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cxnSp>
          <p:nvCxnSpPr>
            <p:cNvPr id="189" name="AutoShape 24"/>
            <p:cNvCxnSpPr>
              <a:stCxn id="177" idx="4"/>
              <a:endCxn id="171" idx="5"/>
            </p:cNvCxnSpPr>
            <p:nvPr/>
          </p:nvCxnSpPr>
          <p:spPr>
            <a:xfrm flipV="1" rot="16200000">
              <a:off x="2565720" y="2199960"/>
              <a:ext cx="60840" cy="697680"/>
            </a:xfrm>
            <a:prstGeom prst="curvedConnector5">
              <a:avLst>
                <a:gd name="adj1" fmla="val -249404"/>
                <a:gd name="adj2" fmla="val 49974"/>
                <a:gd name="adj3" fmla="val -249404"/>
              </a:avLst>
            </a:prstGeom>
            <a:ln w="9360">
              <a:solidFill>
                <a:srgbClr val="000000"/>
              </a:solidFill>
              <a:miter/>
              <a:tailEnd len="med" type="triangle" w="med"/>
            </a:ln>
          </p:spPr>
        </p:cxnSp>
        <p:sp>
          <p:nvSpPr>
            <p:cNvPr id="190" name="Text Box 25"/>
            <p:cNvSpPr/>
            <p:nvPr/>
          </p:nvSpPr>
          <p:spPr>
            <a:xfrm>
              <a:off x="2743200" y="2616120"/>
              <a:ext cx="264960" cy="3074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spAutoFit/>
            </a:bodyPr>
            <a:p>
              <a:pPr>
                <a:lnSpc>
                  <a:spcPct val="100000"/>
                </a:lnSpc>
                <a:spcBef>
                  <a:spcPts val="876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400" b="0" u="sng" strike="noStrike">
                  <a:solidFill>
                    <a:srgbClr val="000000"/>
                  </a:solidFill>
                  <a:effectLst/>
                  <a:uFillTx/>
                  <a:latin typeface="Arial Rounded MT Bold"/>
                </a:rPr>
                <a:t>a</a:t>
              </a:r>
              <a:endParaRPr lang="it-IT" sz="14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cxnSp>
          <p:nvCxnSpPr>
            <p:cNvPr id="191" name="AutoShape 26"/>
            <p:cNvCxnSpPr>
              <a:stCxn id="180" idx="0"/>
            </p:cNvCxnSpPr>
            <p:nvPr/>
          </p:nvCxnSpPr>
          <p:spPr>
            <a:xfrm rot="5400000">
              <a:off x="2775600" y="1274400"/>
              <a:ext cx="141840" cy="1872360"/>
            </a:xfrm>
            <a:prstGeom prst="curvedConnector5">
              <a:avLst>
                <a:gd name="adj1" fmla="val -321119"/>
                <a:gd name="adj2" fmla="val 51807"/>
                <a:gd name="adj3" fmla="val -321119"/>
              </a:avLst>
            </a:prstGeom>
            <a:ln w="9360">
              <a:solidFill>
                <a:srgbClr val="000000"/>
              </a:solidFill>
              <a:miter/>
              <a:tailEnd len="med" type="triangle" w="med"/>
            </a:ln>
          </p:spPr>
        </p:cxnSp>
        <p:sp>
          <p:nvSpPr>
            <p:cNvPr id="192" name="Text Box 27"/>
            <p:cNvSpPr/>
            <p:nvPr/>
          </p:nvSpPr>
          <p:spPr>
            <a:xfrm>
              <a:off x="3681360" y="1752480"/>
              <a:ext cx="265320" cy="3074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spAutoFit/>
            </a:bodyPr>
            <a:p>
              <a:pPr>
                <a:lnSpc>
                  <a:spcPct val="100000"/>
                </a:lnSpc>
                <a:spcBef>
                  <a:spcPts val="876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400" b="0" u="sng" strike="noStrike">
                  <a:solidFill>
                    <a:srgbClr val="000000"/>
                  </a:solidFill>
                  <a:effectLst/>
                  <a:uFillTx/>
                  <a:latin typeface="Arial Rounded MT Bold"/>
                </a:rPr>
                <a:t>a</a:t>
              </a:r>
              <a:endParaRPr lang="it-IT" sz="14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cxnSp>
          <p:nvCxnSpPr>
            <p:cNvPr id="193" name="AutoShape 28"/>
            <p:cNvCxnSpPr>
              <a:stCxn id="180" idx="4"/>
              <a:endCxn id="181" idx="6"/>
            </p:cNvCxnSpPr>
            <p:nvPr/>
          </p:nvCxnSpPr>
          <p:spPr>
            <a:xfrm rot="5400000">
              <a:off x="2741760" y="2162880"/>
              <a:ext cx="614880" cy="1467360"/>
            </a:xfrm>
            <a:prstGeom prst="curvedConnector2">
              <a:avLst/>
            </a:prstGeom>
            <a:ln w="9360">
              <a:solidFill>
                <a:srgbClr val="000000"/>
              </a:solidFill>
              <a:miter/>
              <a:tailEnd len="med" type="triangle" w="med"/>
            </a:ln>
          </p:spPr>
        </p:cxnSp>
        <p:sp>
          <p:nvSpPr>
            <p:cNvPr id="194" name="Text Box 29"/>
            <p:cNvSpPr/>
            <p:nvPr/>
          </p:nvSpPr>
          <p:spPr>
            <a:xfrm>
              <a:off x="3659040" y="2700000"/>
              <a:ext cx="265320" cy="3074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spAutoFit/>
            </a:bodyPr>
            <a:p>
              <a:pPr>
                <a:lnSpc>
                  <a:spcPct val="100000"/>
                </a:lnSpc>
                <a:spcBef>
                  <a:spcPts val="876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400" b="0" u="sng" strike="noStrike">
                  <a:solidFill>
                    <a:srgbClr val="000000"/>
                  </a:solidFill>
                  <a:effectLst/>
                  <a:uFillTx/>
                  <a:latin typeface="Arial Rounded MT Bold"/>
                </a:rPr>
                <a:t>b</a:t>
              </a:r>
              <a:endParaRPr lang="it-IT" sz="14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</p:grpSp>
      <p:graphicFrame>
        <p:nvGraphicFramePr>
          <p:cNvPr id="195" name=""/>
          <p:cNvGraphicFramePr/>
          <p:nvPr/>
        </p:nvGraphicFramePr>
        <p:xfrm>
          <a:off x="5638680" y="1447920"/>
          <a:ext cx="2286000" cy="2520720"/>
        </p:xfrm>
        <a:graphic>
          <a:graphicData uri="http://schemas.openxmlformats.org/drawingml/2006/table">
            <a:tbl>
              <a:tblPr/>
              <a:tblGrid>
                <a:gridCol w="762120"/>
                <a:gridCol w="762120"/>
                <a:gridCol w="761760"/>
              </a:tblGrid>
              <a:tr h="337680"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spcBef>
                          <a:spcPts val="4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endParaRPr lang="it-IT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>
                      <a:noFill/>
                    </a:lnL>
                    <a:lnR>
                      <a:noFill/>
                    </a:lnR>
                    <a:lnT w="13680">
                      <a:solidFill>
                        <a:srgbClr val="B025A6"/>
                      </a:solidFill>
                      <a:prstDash val="solid"/>
                    </a:lnT>
                    <a:lnB>
                      <a:noFill/>
                    </a:lnB>
                    <a:solidFill>
                      <a:srgbClr val="E6E6E6"/>
                    </a:solidFill>
                  </a:tcPr>
                </a:tc>
                <a:tc gridSpan="2"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spcBef>
                          <a:spcPts val="4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Character</a:t>
                      </a:r>
                      <a:endParaRPr lang="it-IT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>
                      <a:noFill/>
                    </a:lnL>
                    <a:lnR>
                      <a:noFill/>
                    </a:lnR>
                    <a:lnT w="13680">
                      <a:solidFill>
                        <a:srgbClr val="B025A6"/>
                      </a:solidFill>
                      <a:prstDash val="solid"/>
                    </a:lnT>
                    <a:lnB>
                      <a:noFill/>
                    </a:lnB>
                    <a:solidFill>
                      <a:srgbClr val="E6E6E6"/>
                    </a:solidFill>
                  </a:tcPr>
                </a:tc>
                <a:tc hMerge="1">
                  <a:txBody>
                    <a:bodyPr lIns="90000" tIns="45000" rIns="90000" bIns="45000" anchor="t">
                      <a:noAutofit/>
                    </a:bodyPr>
                    <a:p>
                      <a:endParaRPr lang="it-IT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</a:tr>
              <a:tr h="337680"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spcBef>
                          <a:spcPts val="4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State</a:t>
                      </a:r>
                      <a:endParaRPr lang="it-IT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5760">
                      <a:solidFill>
                        <a:srgbClr val="B025A6"/>
                      </a:solidFill>
                      <a:prstDash val="soli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spcBef>
                          <a:spcPts val="4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600" b="0" u="sng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a</a:t>
                      </a:r>
                      <a:endParaRPr lang="it-IT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5760">
                      <a:solidFill>
                        <a:srgbClr val="B025A6"/>
                      </a:solidFill>
                      <a:prstDash val="soli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spcBef>
                          <a:spcPts val="4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600" b="0" u="sng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b</a:t>
                      </a:r>
                      <a:endParaRPr lang="it-IT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5760">
                      <a:solidFill>
                        <a:srgbClr val="B025A6"/>
                      </a:solidFill>
                      <a:prstDash val="solid"/>
                    </a:lnB>
                    <a:solidFill>
                      <a:srgbClr val="E6E6E6"/>
                    </a:solidFill>
                  </a:tcPr>
                </a:tc>
              </a:tr>
              <a:tr h="371160"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spcBef>
                          <a:spcPts val="4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s</a:t>
                      </a:r>
                      <a:r>
                        <a:rPr lang="en-US" sz="1600" b="0" i="1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0</a:t>
                      </a:r>
                      <a:endParaRPr lang="it-IT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>
                      <a:noFill/>
                    </a:lnL>
                    <a:lnR>
                      <a:noFill/>
                    </a:lnR>
                    <a:lnT w="5760">
                      <a:solidFill>
                        <a:srgbClr val="B025A6"/>
                      </a:solidFill>
                      <a:prstDash val="solid"/>
                    </a:lnT>
                    <a:lnB>
                      <a:noFill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spcBef>
                          <a:spcPts val="4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s</a:t>
                      </a:r>
                      <a:r>
                        <a:rPr lang="en-US" sz="1600" b="0" i="1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1</a:t>
                      </a:r>
                      <a:endParaRPr lang="it-IT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>
                      <a:noFill/>
                    </a:lnL>
                    <a:lnR>
                      <a:noFill/>
                    </a:lnR>
                    <a:lnT w="5760">
                      <a:solidFill>
                        <a:srgbClr val="B025A6"/>
                      </a:solidFill>
                      <a:prstDash val="soli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spcBef>
                          <a:spcPts val="4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s</a:t>
                      </a:r>
                      <a:r>
                        <a:rPr lang="en-US" sz="1600" b="0" i="1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2</a:t>
                      </a:r>
                      <a:endParaRPr lang="it-IT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>
                      <a:noFill/>
                    </a:lnL>
                    <a:lnR>
                      <a:noFill/>
                    </a:lnR>
                    <a:lnT w="5760">
                      <a:solidFill>
                        <a:srgbClr val="B025A6"/>
                      </a:solidFill>
                      <a:prstDash val="solid"/>
                    </a:lnT>
                    <a:lnB>
                      <a:noFill/>
                    </a:lnB>
                    <a:noFill/>
                  </a:tcPr>
                </a:tc>
              </a:tr>
              <a:tr h="371160"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spcBef>
                          <a:spcPts val="4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s</a:t>
                      </a:r>
                      <a:r>
                        <a:rPr lang="en-US" sz="1600" b="0" i="1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1</a:t>
                      </a:r>
                      <a:endParaRPr lang="it-IT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spcBef>
                          <a:spcPts val="4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s</a:t>
                      </a:r>
                      <a:r>
                        <a:rPr lang="en-US" sz="1600" b="0" i="1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1</a:t>
                      </a:r>
                      <a:endParaRPr lang="it-IT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spcBef>
                          <a:spcPts val="4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s</a:t>
                      </a:r>
                      <a:r>
                        <a:rPr lang="en-US" sz="1600" b="0" i="1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3</a:t>
                      </a:r>
                      <a:endParaRPr lang="it-IT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371160"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spcBef>
                          <a:spcPts val="4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s</a:t>
                      </a:r>
                      <a:r>
                        <a:rPr lang="en-US" sz="1600" b="0" i="1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2</a:t>
                      </a:r>
                      <a:endParaRPr lang="it-IT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spcBef>
                          <a:spcPts val="4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s</a:t>
                      </a:r>
                      <a:r>
                        <a:rPr lang="en-US" sz="1600" b="0" i="1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1</a:t>
                      </a:r>
                      <a:endParaRPr lang="it-IT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spcBef>
                          <a:spcPts val="4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s</a:t>
                      </a:r>
                      <a:r>
                        <a:rPr lang="en-US" sz="1600" b="0" i="1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2</a:t>
                      </a:r>
                      <a:endParaRPr lang="it-IT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371160"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spcBef>
                          <a:spcPts val="4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s</a:t>
                      </a:r>
                      <a:r>
                        <a:rPr lang="en-US" sz="1600" b="0" i="1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3</a:t>
                      </a:r>
                      <a:endParaRPr lang="it-IT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spcBef>
                          <a:spcPts val="4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s</a:t>
                      </a:r>
                      <a:r>
                        <a:rPr lang="en-US" sz="1600" b="0" i="1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1</a:t>
                      </a:r>
                      <a:endParaRPr lang="it-IT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spcBef>
                          <a:spcPts val="4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s</a:t>
                      </a:r>
                      <a:r>
                        <a:rPr lang="en-US" sz="1600" b="0" i="1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4</a:t>
                      </a:r>
                      <a:endParaRPr lang="it-IT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371160"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spcBef>
                          <a:spcPts val="4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s</a:t>
                      </a:r>
                      <a:r>
                        <a:rPr lang="en-US" sz="1600" b="0" i="1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4</a:t>
                      </a:r>
                      <a:endParaRPr lang="it-IT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3680">
                      <a:solidFill>
                        <a:srgbClr val="B025A6"/>
                      </a:solidFill>
                      <a:prstDash val="soli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spcBef>
                          <a:spcPts val="4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s</a:t>
                      </a:r>
                      <a:r>
                        <a:rPr lang="en-US" sz="1600" b="0" i="1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1</a:t>
                      </a:r>
                      <a:endParaRPr lang="it-IT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3680">
                      <a:solidFill>
                        <a:srgbClr val="B025A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spcBef>
                          <a:spcPts val="4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s</a:t>
                      </a:r>
                      <a:r>
                        <a:rPr lang="en-US" sz="1600" b="0" i="1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2</a:t>
                      </a:r>
                      <a:endParaRPr lang="it-IT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3680">
                      <a:solidFill>
                        <a:srgbClr val="B025A6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</p:spTree>
  </p:cSld>
  <p:transition>
    <p:wipe dir="r"/>
  </p:transition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Footer Placeholder 3"/>
          <p:cNvSpPr/>
          <p:nvPr/>
        </p:nvSpPr>
        <p:spPr>
          <a:xfrm>
            <a:off x="685800" y="6248520"/>
            <a:ext cx="289548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Autofit/>
          </a:bodyPr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Comp 412, Fall 2010</a:t>
            </a:r>
            <a:endParaRPr lang="it-IT" sz="12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197" name="Slide Number Placeholder 4"/>
          <p:cNvSpPr/>
          <p:nvPr/>
        </p:nvSpPr>
        <p:spPr>
          <a:xfrm>
            <a:off x="6553080" y="6248520"/>
            <a:ext cx="190512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Autofit/>
          </a:bodyPr>
          <a:p>
            <a:pPr algn="r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8B3F6E13-966D-47F8-B818-1F1E77390D10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&lt;number&gt;</a:t>
            </a:fld>
            <a:endParaRPr lang="it-IT" sz="12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198" name="PlaceHolder 1"/>
          <p:cNvSpPr>
            <a:spLocks noGrp="1"/>
          </p:cNvSpPr>
          <p:nvPr>
            <p:ph type="title"/>
          </p:nvPr>
        </p:nvSpPr>
        <p:spPr>
          <a:xfrm>
            <a:off x="685800" y="533160"/>
            <a:ext cx="7772400" cy="533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l">
              <a:spcBef>
                <a:spcPts val="901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A Detailed Example          (DFA Minimization)</a:t>
            </a:r>
            <a:endParaRPr lang="it-IT" sz="24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cxnSp>
        <p:nvCxnSpPr>
          <p:cNvPr id="199" name="AutoShape 6"/>
          <p:cNvCxnSpPr>
            <a:stCxn id="200" idx="7"/>
            <a:endCxn id="200" idx="1"/>
          </p:cNvCxnSpPr>
          <p:nvPr/>
        </p:nvCxnSpPr>
        <p:spPr>
          <a:xfrm rot="5400000">
            <a:off x="1947600" y="4626720"/>
            <a:ext cx="2520" cy="255960"/>
          </a:xfrm>
          <a:prstGeom prst="curvedConnector5">
            <a:avLst>
              <a:gd name="adj1" fmla="val -17600000"/>
              <a:gd name="adj2" fmla="val 50000"/>
              <a:gd name="adj3" fmla="val -17600000"/>
            </a:avLst>
          </a:prstGeom>
          <a:ln w="9360">
            <a:solidFill>
              <a:srgbClr val="000000"/>
            </a:solidFill>
            <a:miter/>
            <a:tailEnd len="med" type="triangle" w="med"/>
          </a:ln>
        </p:spPr>
      </p:cxnSp>
      <p:sp>
        <p:nvSpPr>
          <p:cNvPr id="201" name="Oval 7"/>
          <p:cNvSpPr/>
          <p:nvPr/>
        </p:nvSpPr>
        <p:spPr>
          <a:xfrm>
            <a:off x="1014480" y="4708440"/>
            <a:ext cx="361800" cy="370080"/>
          </a:xfrm>
          <a:prstGeom prst="ellipse">
            <a:avLst/>
          </a:prstGeom>
          <a:noFill/>
          <a:ln w="1908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400" b="0" i="1" u="none" strike="noStrike">
                <a:solidFill>
                  <a:srgbClr val="000000"/>
                </a:solidFill>
                <a:effectLst/>
                <a:uFillTx/>
                <a:latin typeface="Arial Rounded MT Bold"/>
              </a:rPr>
              <a:t>s</a:t>
            </a:r>
            <a:r>
              <a:rPr lang="en-US" sz="1400" b="0" i="1" u="none" strike="noStrike" baseline="-25000">
                <a:solidFill>
                  <a:srgbClr val="000000"/>
                </a:solidFill>
                <a:effectLst/>
                <a:uFillTx/>
                <a:latin typeface="Arial Rounded MT Bold"/>
              </a:rPr>
              <a:t>0 </a:t>
            </a:r>
            <a:endParaRPr lang="it-IT" sz="14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202" name="Line 8"/>
          <p:cNvSpPr/>
          <p:nvPr/>
        </p:nvSpPr>
        <p:spPr>
          <a:xfrm>
            <a:off x="1357200" y="4915080"/>
            <a:ext cx="395280" cy="0"/>
          </a:xfrm>
          <a:prstGeom prst="line">
            <a:avLst/>
          </a:prstGeom>
          <a:ln w="9360">
            <a:solidFill>
              <a:srgbClr val="000000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-46800" rIns="90000" bIns="-46800" anchor="ctr">
            <a:noAutofit/>
          </a:bodyPr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203" name="Text Box 9"/>
          <p:cNvSpPr/>
          <p:nvPr/>
        </p:nvSpPr>
        <p:spPr>
          <a:xfrm>
            <a:off x="1425600" y="4640400"/>
            <a:ext cx="237960" cy="30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876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400" b="0" u="sng" strike="noStrike">
                <a:solidFill>
                  <a:srgbClr val="000000"/>
                </a:solidFill>
                <a:effectLst/>
                <a:uFillTx/>
                <a:latin typeface="Arial Rounded MT Bold"/>
              </a:rPr>
              <a:t>a</a:t>
            </a:r>
            <a:endParaRPr lang="it-IT" sz="14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200" name="Oval 10"/>
          <p:cNvSpPr/>
          <p:nvPr/>
        </p:nvSpPr>
        <p:spPr>
          <a:xfrm>
            <a:off x="1768320" y="4708440"/>
            <a:ext cx="362160" cy="370080"/>
          </a:xfrm>
          <a:prstGeom prst="ellipse">
            <a:avLst/>
          </a:prstGeom>
          <a:noFill/>
          <a:ln w="1908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400" b="0" i="1" u="none" strike="noStrike">
                <a:solidFill>
                  <a:srgbClr val="000000"/>
                </a:solidFill>
                <a:effectLst/>
                <a:uFillTx/>
                <a:latin typeface="Arial Rounded MT Bold"/>
              </a:rPr>
              <a:t>s</a:t>
            </a:r>
            <a:r>
              <a:rPr lang="en-US" sz="1400" b="0" i="1" u="none" strike="noStrike" baseline="-25000">
                <a:solidFill>
                  <a:srgbClr val="000000"/>
                </a:solidFill>
                <a:effectLst/>
                <a:uFillTx/>
                <a:latin typeface="Arial Rounded MT Bold"/>
              </a:rPr>
              <a:t>1 </a:t>
            </a:r>
            <a:endParaRPr lang="it-IT" sz="14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204" name="Line 11"/>
          <p:cNvSpPr/>
          <p:nvPr/>
        </p:nvSpPr>
        <p:spPr>
          <a:xfrm>
            <a:off x="2111400" y="4915080"/>
            <a:ext cx="395280" cy="0"/>
          </a:xfrm>
          <a:prstGeom prst="line">
            <a:avLst/>
          </a:prstGeom>
          <a:ln w="9360">
            <a:solidFill>
              <a:srgbClr val="000000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-46800" rIns="90000" bIns="-46800" anchor="ctr">
            <a:noAutofit/>
          </a:bodyPr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205" name="Text Box 12"/>
          <p:cNvSpPr/>
          <p:nvPr/>
        </p:nvSpPr>
        <p:spPr>
          <a:xfrm>
            <a:off x="1357200" y="5189400"/>
            <a:ext cx="238320" cy="30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876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400" b="0" u="sng" strike="noStrike">
                <a:solidFill>
                  <a:srgbClr val="000000"/>
                </a:solidFill>
                <a:effectLst/>
                <a:uFillTx/>
                <a:latin typeface="Arial Rounded MT Bold"/>
              </a:rPr>
              <a:t>b</a:t>
            </a:r>
            <a:endParaRPr lang="it-IT" sz="14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206" name="Oval 13"/>
          <p:cNvSpPr/>
          <p:nvPr/>
        </p:nvSpPr>
        <p:spPr>
          <a:xfrm>
            <a:off x="2522520" y="4708440"/>
            <a:ext cx="361800" cy="370080"/>
          </a:xfrm>
          <a:prstGeom prst="ellipse">
            <a:avLst/>
          </a:prstGeom>
          <a:noFill/>
          <a:ln w="1908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400" b="0" i="1" u="none" strike="noStrike">
                <a:solidFill>
                  <a:srgbClr val="000000"/>
                </a:solidFill>
                <a:effectLst/>
                <a:uFillTx/>
                <a:latin typeface="Arial Rounded MT Bold"/>
              </a:rPr>
              <a:t>s</a:t>
            </a:r>
            <a:r>
              <a:rPr lang="en-US" sz="1400" b="0" i="1" u="none" strike="noStrike" baseline="-25000">
                <a:solidFill>
                  <a:srgbClr val="000000"/>
                </a:solidFill>
                <a:effectLst/>
                <a:uFillTx/>
                <a:latin typeface="Arial Rounded MT Bold"/>
              </a:rPr>
              <a:t>3 </a:t>
            </a:r>
            <a:endParaRPr lang="it-IT" sz="14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207" name="Line 14"/>
          <p:cNvSpPr/>
          <p:nvPr/>
        </p:nvSpPr>
        <p:spPr>
          <a:xfrm>
            <a:off x="2865600" y="4915080"/>
            <a:ext cx="395280" cy="0"/>
          </a:xfrm>
          <a:prstGeom prst="line">
            <a:avLst/>
          </a:prstGeom>
          <a:ln w="9360">
            <a:solidFill>
              <a:srgbClr val="000000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-46800" rIns="90000" bIns="-46800" anchor="ctr">
            <a:noAutofit/>
          </a:bodyPr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208" name="Text Box 15"/>
          <p:cNvSpPr/>
          <p:nvPr/>
        </p:nvSpPr>
        <p:spPr>
          <a:xfrm>
            <a:off x="2933640" y="4640400"/>
            <a:ext cx="239760" cy="30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876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400" b="0" u="sng" strike="noStrike">
                <a:solidFill>
                  <a:srgbClr val="000000"/>
                </a:solidFill>
                <a:effectLst/>
                <a:uFillTx/>
                <a:latin typeface="Arial Rounded MT Bold"/>
              </a:rPr>
              <a:t>b</a:t>
            </a:r>
            <a:endParaRPr lang="it-IT" sz="14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209" name="Oval 16"/>
          <p:cNvSpPr/>
          <p:nvPr/>
        </p:nvSpPr>
        <p:spPr>
          <a:xfrm>
            <a:off x="3276720" y="4708440"/>
            <a:ext cx="361800" cy="370080"/>
          </a:xfrm>
          <a:prstGeom prst="ellipse">
            <a:avLst/>
          </a:prstGeom>
          <a:noFill/>
          <a:ln w="381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400" b="0" i="1" u="none" strike="noStrike">
                <a:solidFill>
                  <a:srgbClr val="000000"/>
                </a:solidFill>
                <a:effectLst/>
                <a:uFillTx/>
                <a:latin typeface="Arial Rounded MT Bold"/>
              </a:rPr>
              <a:t>s</a:t>
            </a:r>
            <a:r>
              <a:rPr lang="en-US" sz="1400" b="0" i="1" u="none" strike="noStrike" baseline="-25000">
                <a:solidFill>
                  <a:srgbClr val="000000"/>
                </a:solidFill>
                <a:effectLst/>
                <a:uFillTx/>
                <a:latin typeface="Arial Rounded MT Bold"/>
              </a:rPr>
              <a:t>4 </a:t>
            </a:r>
            <a:endParaRPr lang="it-IT" sz="14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210" name="Oval 17"/>
          <p:cNvSpPr/>
          <p:nvPr/>
        </p:nvSpPr>
        <p:spPr>
          <a:xfrm>
            <a:off x="1768320" y="5464080"/>
            <a:ext cx="362160" cy="370080"/>
          </a:xfrm>
          <a:prstGeom prst="ellipse">
            <a:avLst/>
          </a:prstGeom>
          <a:noFill/>
          <a:ln w="1908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400" b="0" i="1" u="none" strike="noStrike">
                <a:solidFill>
                  <a:srgbClr val="000000"/>
                </a:solidFill>
                <a:effectLst/>
                <a:uFillTx/>
                <a:latin typeface="Arial Rounded MT Bold"/>
              </a:rPr>
              <a:t>s</a:t>
            </a:r>
            <a:r>
              <a:rPr lang="en-US" sz="1400" b="0" i="1" u="none" strike="noStrike" baseline="-25000">
                <a:solidFill>
                  <a:srgbClr val="000000"/>
                </a:solidFill>
                <a:effectLst/>
                <a:uFillTx/>
                <a:latin typeface="Arial Rounded MT Bold"/>
              </a:rPr>
              <a:t>2</a:t>
            </a:r>
            <a:endParaRPr lang="it-IT" sz="14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211" name="Line 18"/>
          <p:cNvSpPr/>
          <p:nvPr/>
        </p:nvSpPr>
        <p:spPr>
          <a:xfrm>
            <a:off x="1305000" y="5035680"/>
            <a:ext cx="495360" cy="488880"/>
          </a:xfrm>
          <a:prstGeom prst="line">
            <a:avLst/>
          </a:prstGeom>
          <a:ln w="9360">
            <a:solidFill>
              <a:srgbClr val="000000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ctr">
            <a:noAutofit/>
          </a:bodyPr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212" name="Line 19"/>
          <p:cNvSpPr/>
          <p:nvPr/>
        </p:nvSpPr>
        <p:spPr>
          <a:xfrm flipV="1">
            <a:off x="1935000" y="5081760"/>
            <a:ext cx="0" cy="374400"/>
          </a:xfrm>
          <a:prstGeom prst="line">
            <a:avLst/>
          </a:prstGeom>
          <a:ln w="9360">
            <a:solidFill>
              <a:srgbClr val="000000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ctr">
            <a:noAutofit/>
          </a:bodyPr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213" name="Text Box 20"/>
          <p:cNvSpPr/>
          <p:nvPr/>
        </p:nvSpPr>
        <p:spPr>
          <a:xfrm>
            <a:off x="1935000" y="5189400"/>
            <a:ext cx="239760" cy="30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876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400" b="0" u="sng" strike="noStrike">
                <a:solidFill>
                  <a:srgbClr val="000000"/>
                </a:solidFill>
                <a:effectLst/>
                <a:uFillTx/>
                <a:latin typeface="Arial Rounded MT Bold"/>
              </a:rPr>
              <a:t>a</a:t>
            </a:r>
            <a:endParaRPr lang="it-IT" sz="14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214" name="Text Box 21"/>
          <p:cNvSpPr/>
          <p:nvPr/>
        </p:nvSpPr>
        <p:spPr>
          <a:xfrm>
            <a:off x="2179800" y="4640400"/>
            <a:ext cx="239400" cy="30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876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400" b="0" u="sng" strike="noStrike">
                <a:solidFill>
                  <a:srgbClr val="000000"/>
                </a:solidFill>
                <a:effectLst/>
                <a:uFillTx/>
                <a:latin typeface="Arial Rounded MT Bold"/>
              </a:rPr>
              <a:t>b</a:t>
            </a:r>
            <a:endParaRPr lang="it-IT" sz="14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cxnSp>
        <p:nvCxnSpPr>
          <p:cNvPr id="215" name="AutoShape 22"/>
          <p:cNvCxnSpPr>
            <a:stCxn id="210" idx="3"/>
            <a:endCxn id="210" idx="5"/>
          </p:cNvCxnSpPr>
          <p:nvPr/>
        </p:nvCxnSpPr>
        <p:spPr>
          <a:xfrm flipH="1" rot="16200000">
            <a:off x="1947960" y="5661000"/>
            <a:ext cx="2160" cy="255960"/>
          </a:xfrm>
          <a:prstGeom prst="curvedConnector5">
            <a:avLst>
              <a:gd name="adj1" fmla="val 17600000"/>
              <a:gd name="adj2" fmla="val 50000"/>
              <a:gd name="adj3" fmla="val 17600000"/>
            </a:avLst>
          </a:prstGeom>
          <a:ln w="9360">
            <a:solidFill>
              <a:srgbClr val="000000"/>
            </a:solidFill>
            <a:miter/>
            <a:headEnd len="med" type="triangle" w="med"/>
          </a:ln>
        </p:spPr>
      </p:cxnSp>
      <p:sp>
        <p:nvSpPr>
          <p:cNvPr id="216" name="Text Box 23"/>
          <p:cNvSpPr/>
          <p:nvPr/>
        </p:nvSpPr>
        <p:spPr>
          <a:xfrm>
            <a:off x="2013120" y="5865840"/>
            <a:ext cx="237960" cy="30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876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400" b="0" u="sng" strike="noStrike">
                <a:solidFill>
                  <a:srgbClr val="000000"/>
                </a:solidFill>
                <a:effectLst/>
                <a:uFillTx/>
                <a:latin typeface="Arial Rounded MT Bold"/>
              </a:rPr>
              <a:t>b</a:t>
            </a:r>
            <a:endParaRPr lang="it-IT" sz="14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217" name="Text Box 24"/>
          <p:cNvSpPr/>
          <p:nvPr/>
        </p:nvSpPr>
        <p:spPr>
          <a:xfrm>
            <a:off x="2027160" y="4373640"/>
            <a:ext cx="238320" cy="30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876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400" b="0" u="sng" strike="noStrike">
                <a:solidFill>
                  <a:srgbClr val="000000"/>
                </a:solidFill>
                <a:effectLst/>
                <a:uFillTx/>
                <a:latin typeface="Arial Rounded MT Bold"/>
              </a:rPr>
              <a:t>a</a:t>
            </a:r>
            <a:endParaRPr lang="it-IT" sz="14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cxnSp>
        <p:nvCxnSpPr>
          <p:cNvPr id="218" name="AutoShape 25"/>
          <p:cNvCxnSpPr>
            <a:stCxn id="206" idx="4"/>
            <a:endCxn id="200" idx="5"/>
          </p:cNvCxnSpPr>
          <p:nvPr/>
        </p:nvCxnSpPr>
        <p:spPr>
          <a:xfrm flipV="1" rot="16200000">
            <a:off x="2363400" y="4745880"/>
            <a:ext cx="54720" cy="629280"/>
          </a:xfrm>
          <a:prstGeom prst="curvedConnector5">
            <a:avLst>
              <a:gd name="adj1" fmla="val -249668"/>
              <a:gd name="adj2" fmla="val 49971"/>
              <a:gd name="adj3" fmla="val -249668"/>
            </a:avLst>
          </a:prstGeom>
          <a:ln w="9360">
            <a:solidFill>
              <a:srgbClr val="000000"/>
            </a:solidFill>
            <a:miter/>
            <a:tailEnd len="med" type="triangle" w="med"/>
          </a:ln>
        </p:spPr>
      </p:cxnSp>
      <p:sp>
        <p:nvSpPr>
          <p:cNvPr id="219" name="Text Box 26"/>
          <p:cNvSpPr/>
          <p:nvPr/>
        </p:nvSpPr>
        <p:spPr>
          <a:xfrm>
            <a:off x="2522520" y="5121360"/>
            <a:ext cx="239760" cy="30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876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400" b="0" u="sng" strike="noStrike">
                <a:solidFill>
                  <a:srgbClr val="000000"/>
                </a:solidFill>
                <a:effectLst/>
                <a:uFillTx/>
                <a:latin typeface="Arial Rounded MT Bold"/>
              </a:rPr>
              <a:t>a</a:t>
            </a:r>
            <a:endParaRPr lang="it-IT" sz="14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cxnSp>
        <p:nvCxnSpPr>
          <p:cNvPr id="220" name="AutoShape 27"/>
          <p:cNvCxnSpPr>
            <a:stCxn id="209" idx="0"/>
          </p:cNvCxnSpPr>
          <p:nvPr/>
        </p:nvCxnSpPr>
        <p:spPr>
          <a:xfrm rot="5400000">
            <a:off x="2551320" y="3909960"/>
            <a:ext cx="127800" cy="1684800"/>
          </a:xfrm>
          <a:prstGeom prst="curvedConnector5">
            <a:avLst>
              <a:gd name="adj1" fmla="val -321186"/>
              <a:gd name="adj2" fmla="val 51805"/>
              <a:gd name="adj3" fmla="val -321186"/>
            </a:avLst>
          </a:prstGeom>
          <a:ln w="9360">
            <a:solidFill>
              <a:srgbClr val="000000"/>
            </a:solidFill>
            <a:miter/>
            <a:tailEnd len="med" type="triangle" w="med"/>
          </a:ln>
        </p:spPr>
      </p:cxnSp>
      <p:sp>
        <p:nvSpPr>
          <p:cNvPr id="221" name="Text Box 28"/>
          <p:cNvSpPr/>
          <p:nvPr/>
        </p:nvSpPr>
        <p:spPr>
          <a:xfrm>
            <a:off x="3367080" y="4343400"/>
            <a:ext cx="237960" cy="30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876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400" b="0" u="sng" strike="noStrike">
                <a:solidFill>
                  <a:srgbClr val="000000"/>
                </a:solidFill>
                <a:effectLst/>
                <a:uFillTx/>
                <a:latin typeface="Arial Rounded MT Bold"/>
              </a:rPr>
              <a:t>a</a:t>
            </a:r>
            <a:endParaRPr lang="it-IT" sz="14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cxnSp>
        <p:nvCxnSpPr>
          <p:cNvPr id="222" name="AutoShape 29"/>
          <p:cNvCxnSpPr>
            <a:stCxn id="209" idx="4"/>
            <a:endCxn id="210" idx="6"/>
          </p:cNvCxnSpPr>
          <p:nvPr/>
        </p:nvCxnSpPr>
        <p:spPr>
          <a:xfrm rot="5400000">
            <a:off x="2521080" y="4712400"/>
            <a:ext cx="554760" cy="1321200"/>
          </a:xfrm>
          <a:prstGeom prst="curvedConnector2">
            <a:avLst/>
          </a:prstGeom>
          <a:ln w="9360">
            <a:solidFill>
              <a:srgbClr val="000000"/>
            </a:solidFill>
            <a:miter/>
            <a:tailEnd len="med" type="triangle" w="med"/>
          </a:ln>
        </p:spPr>
      </p:cxnSp>
      <p:sp>
        <p:nvSpPr>
          <p:cNvPr id="223" name="Text Box 30"/>
          <p:cNvSpPr/>
          <p:nvPr/>
        </p:nvSpPr>
        <p:spPr>
          <a:xfrm>
            <a:off x="3346560" y="5195880"/>
            <a:ext cx="239760" cy="30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876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400" b="0" u="sng" strike="noStrike">
                <a:solidFill>
                  <a:srgbClr val="000000"/>
                </a:solidFill>
                <a:effectLst/>
                <a:uFillTx/>
                <a:latin typeface="Arial Rounded MT Bold"/>
              </a:rPr>
              <a:t>b</a:t>
            </a:r>
            <a:endParaRPr lang="it-IT" sz="14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graphicFrame>
        <p:nvGraphicFramePr>
          <p:cNvPr id="224" name=""/>
          <p:cNvGraphicFramePr/>
          <p:nvPr/>
        </p:nvGraphicFramePr>
        <p:xfrm>
          <a:off x="685800" y="1447920"/>
          <a:ext cx="7696080" cy="2260440"/>
        </p:xfrm>
        <a:graphic>
          <a:graphicData uri="http://schemas.openxmlformats.org/drawingml/2006/table">
            <a:tbl>
              <a:tblPr/>
              <a:tblGrid>
                <a:gridCol w="457200"/>
                <a:gridCol w="1905120"/>
                <a:gridCol w="1600200"/>
                <a:gridCol w="1218960"/>
                <a:gridCol w="1143000"/>
                <a:gridCol w="1371600"/>
              </a:tblGrid>
              <a:tr h="452160"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spcBef>
                          <a:spcPts val="4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endParaRPr lang="it-IT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>
                      <a:noFill/>
                    </a:lnL>
                    <a:lnR>
                      <a:noFill/>
                    </a:lnR>
                    <a:lnT w="13680">
                      <a:solidFill>
                        <a:srgbClr val="B025A6"/>
                      </a:solidFill>
                      <a:prstDash val="solid"/>
                    </a:lnT>
                    <a:lnB w="5760">
                      <a:solidFill>
                        <a:srgbClr val="B025A6"/>
                      </a:solidFill>
                      <a:prstDash val="soli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spcBef>
                          <a:spcPts val="4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Current Partition</a:t>
                      </a:r>
                      <a:endParaRPr lang="it-IT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>
                      <a:noFill/>
                    </a:lnL>
                    <a:lnR>
                      <a:noFill/>
                    </a:lnR>
                    <a:lnT w="13680">
                      <a:solidFill>
                        <a:srgbClr val="B025A6"/>
                      </a:solidFill>
                      <a:prstDash val="solid"/>
                    </a:lnT>
                    <a:lnB w="5760">
                      <a:solidFill>
                        <a:srgbClr val="B025A6"/>
                      </a:solidFill>
                      <a:prstDash val="soli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spcBef>
                          <a:spcPts val="4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Worklist</a:t>
                      </a:r>
                      <a:endParaRPr lang="it-IT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>
                      <a:noFill/>
                    </a:lnL>
                    <a:lnR>
                      <a:noFill/>
                    </a:lnR>
                    <a:lnT w="13680">
                      <a:solidFill>
                        <a:srgbClr val="B025A6"/>
                      </a:solidFill>
                      <a:prstDash val="solid"/>
                    </a:lnT>
                    <a:lnB w="5760">
                      <a:solidFill>
                        <a:srgbClr val="B025A6"/>
                      </a:solidFill>
                      <a:prstDash val="soli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spcBef>
                          <a:spcPts val="4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s</a:t>
                      </a:r>
                      <a:endParaRPr lang="it-IT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>
                      <a:noFill/>
                    </a:lnL>
                    <a:lnR>
                      <a:noFill/>
                    </a:lnR>
                    <a:lnT w="13680">
                      <a:solidFill>
                        <a:srgbClr val="B025A6"/>
                      </a:solidFill>
                      <a:prstDash val="solid"/>
                    </a:lnT>
                    <a:lnB w="5760">
                      <a:solidFill>
                        <a:srgbClr val="B025A6"/>
                      </a:solidFill>
                      <a:prstDash val="soli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spcBef>
                          <a:spcPts val="4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Split on </a:t>
                      </a:r>
                      <a:r>
                        <a:rPr lang="en-US" sz="1600" b="0" u="sng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a</a:t>
                      </a:r>
                      <a:endParaRPr lang="it-IT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>
                      <a:noFill/>
                    </a:lnL>
                    <a:lnR>
                      <a:noFill/>
                    </a:lnR>
                    <a:lnT w="13680">
                      <a:solidFill>
                        <a:srgbClr val="B025A6"/>
                      </a:solidFill>
                      <a:prstDash val="solid"/>
                    </a:lnT>
                    <a:lnB w="5760">
                      <a:solidFill>
                        <a:srgbClr val="B025A6"/>
                      </a:solidFill>
                      <a:prstDash val="soli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spcBef>
                          <a:spcPts val="4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Split on </a:t>
                      </a:r>
                      <a:r>
                        <a:rPr lang="en-US" sz="1600" b="0" u="sng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b</a:t>
                      </a:r>
                      <a:endParaRPr lang="it-IT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>
                      <a:noFill/>
                    </a:lnL>
                    <a:lnR>
                      <a:noFill/>
                    </a:lnR>
                    <a:lnT w="13680">
                      <a:solidFill>
                        <a:srgbClr val="B025A6"/>
                      </a:solidFill>
                      <a:prstDash val="solid"/>
                    </a:lnT>
                    <a:lnB w="5760">
                      <a:solidFill>
                        <a:srgbClr val="B025A6"/>
                      </a:solidFill>
                      <a:prstDash val="solid"/>
                    </a:lnB>
                    <a:solidFill>
                      <a:srgbClr val="E6E6E6"/>
                    </a:solidFill>
                  </a:tcPr>
                </a:tc>
              </a:tr>
              <a:tr h="452520"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P</a:t>
                      </a:r>
                      <a:r>
                        <a:rPr lang="en-US" sz="1600" b="0" i="1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0</a:t>
                      </a:r>
                      <a:endParaRPr lang="it-IT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>
                      <a:noFill/>
                    </a:lnL>
                    <a:lnR>
                      <a:noFill/>
                    </a:lnR>
                    <a:lnT w="5760">
                      <a:solidFill>
                        <a:srgbClr val="B025A6"/>
                      </a:solidFill>
                      <a:prstDash val="solid"/>
                    </a:lnT>
                    <a:lnB>
                      <a:noFill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{s</a:t>
                      </a:r>
                      <a:r>
                        <a:rPr lang="en-US" sz="1600" b="0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4</a:t>
                      </a: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}</a:t>
                      </a:r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 </a:t>
                      </a: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{s</a:t>
                      </a:r>
                      <a:r>
                        <a:rPr lang="en-US" sz="1600" b="0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0</a:t>
                      </a: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,s</a:t>
                      </a:r>
                      <a:r>
                        <a:rPr lang="en-US" sz="1600" b="0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1</a:t>
                      </a: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,s</a:t>
                      </a:r>
                      <a:r>
                        <a:rPr lang="en-US" sz="1600" b="0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2</a:t>
                      </a: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,s</a:t>
                      </a:r>
                      <a:r>
                        <a:rPr lang="en-US" sz="1600" b="0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3</a:t>
                      </a: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}</a:t>
                      </a:r>
                      <a:endParaRPr lang="it-IT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>
                      <a:noFill/>
                    </a:lnL>
                    <a:lnR>
                      <a:noFill/>
                    </a:lnR>
                    <a:lnT w="5760">
                      <a:solidFill>
                        <a:srgbClr val="B025A6"/>
                      </a:solidFill>
                      <a:prstDash val="soli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{s</a:t>
                      </a:r>
                      <a:r>
                        <a:rPr lang="en-US" sz="1600" b="0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4</a:t>
                      </a: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}</a:t>
                      </a:r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 </a:t>
                      </a: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{s</a:t>
                      </a:r>
                      <a:r>
                        <a:rPr lang="en-US" sz="1600" b="0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0</a:t>
                      </a: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,s</a:t>
                      </a:r>
                      <a:r>
                        <a:rPr lang="en-US" sz="1600" b="0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1</a:t>
                      </a: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,s</a:t>
                      </a:r>
                      <a:r>
                        <a:rPr lang="en-US" sz="1600" b="0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2</a:t>
                      </a: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,s</a:t>
                      </a:r>
                      <a:r>
                        <a:rPr lang="en-US" sz="1600" b="0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3</a:t>
                      </a: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}</a:t>
                      </a:r>
                      <a:endParaRPr lang="it-IT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>
                      <a:noFill/>
                    </a:lnL>
                    <a:lnR>
                      <a:noFill/>
                    </a:lnR>
                    <a:lnT w="5760">
                      <a:solidFill>
                        <a:srgbClr val="B025A6"/>
                      </a:solidFill>
                      <a:prstDash val="soli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endParaRPr lang="it-IT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>
                      <a:noFill/>
                    </a:lnL>
                    <a:lnR>
                      <a:noFill/>
                    </a:lnR>
                    <a:lnT w="5760">
                      <a:solidFill>
                        <a:srgbClr val="B025A6"/>
                      </a:solidFill>
                      <a:prstDash val="soli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endParaRPr lang="it-IT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>
                      <a:noFill/>
                    </a:lnL>
                    <a:lnR>
                      <a:noFill/>
                    </a:lnR>
                    <a:lnT w="5760">
                      <a:solidFill>
                        <a:srgbClr val="B025A6"/>
                      </a:solidFill>
                      <a:prstDash val="soli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endParaRPr lang="it-IT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>
                      <a:noFill/>
                    </a:lnL>
                    <a:lnR>
                      <a:noFill/>
                    </a:lnR>
                    <a:lnT w="5760">
                      <a:solidFill>
                        <a:srgbClr val="B025A6"/>
                      </a:solidFill>
                      <a:prstDash val="solid"/>
                    </a:lnT>
                    <a:lnB>
                      <a:noFill/>
                    </a:lnB>
                    <a:noFill/>
                  </a:tcPr>
                </a:tc>
              </a:tr>
              <a:tr h="451080"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lnSpc>
                          <a:spcPct val="110000"/>
                        </a:lnSpc>
                        <a:spcBef>
                          <a:spcPts val="4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endParaRPr lang="it-IT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lnSpc>
                          <a:spcPct val="110000"/>
                        </a:lnSpc>
                        <a:spcBef>
                          <a:spcPts val="4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endParaRPr lang="it-IT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lnSpc>
                          <a:spcPct val="110000"/>
                        </a:lnSpc>
                        <a:spcBef>
                          <a:spcPts val="4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endParaRPr lang="it-IT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lnSpc>
                          <a:spcPct val="110000"/>
                        </a:lnSpc>
                        <a:spcBef>
                          <a:spcPts val="4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endParaRPr lang="it-IT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lnSpc>
                          <a:spcPct val="110000"/>
                        </a:lnSpc>
                        <a:spcBef>
                          <a:spcPts val="4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endParaRPr lang="it-IT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lnSpc>
                          <a:spcPct val="110000"/>
                        </a:lnSpc>
                        <a:spcBef>
                          <a:spcPts val="4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endParaRPr lang="it-IT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52160"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lnSpc>
                          <a:spcPct val="110000"/>
                        </a:lnSpc>
                        <a:spcBef>
                          <a:spcPts val="4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endParaRPr lang="it-IT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lnSpc>
                          <a:spcPct val="110000"/>
                        </a:lnSpc>
                        <a:spcBef>
                          <a:spcPts val="4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endParaRPr lang="it-IT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lnSpc>
                          <a:spcPct val="110000"/>
                        </a:lnSpc>
                        <a:spcBef>
                          <a:spcPts val="4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endParaRPr lang="it-IT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lnSpc>
                          <a:spcPct val="110000"/>
                        </a:lnSpc>
                        <a:spcBef>
                          <a:spcPts val="4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endParaRPr lang="it-IT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lnSpc>
                          <a:spcPct val="110000"/>
                        </a:lnSpc>
                        <a:spcBef>
                          <a:spcPts val="4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endParaRPr lang="it-IT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lnSpc>
                          <a:spcPct val="110000"/>
                        </a:lnSpc>
                        <a:spcBef>
                          <a:spcPts val="4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endParaRPr lang="it-IT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52520"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lnSpc>
                          <a:spcPct val="110000"/>
                        </a:lnSpc>
                        <a:spcBef>
                          <a:spcPts val="4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endParaRPr lang="it-IT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lnSpc>
                          <a:spcPct val="110000"/>
                        </a:lnSpc>
                        <a:spcBef>
                          <a:spcPts val="4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endParaRPr lang="it-IT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lnSpc>
                          <a:spcPct val="110000"/>
                        </a:lnSpc>
                        <a:spcBef>
                          <a:spcPts val="4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endParaRPr lang="it-IT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lnSpc>
                          <a:spcPct val="110000"/>
                        </a:lnSpc>
                        <a:spcBef>
                          <a:spcPts val="4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endParaRPr lang="it-IT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lnSpc>
                          <a:spcPct val="110000"/>
                        </a:lnSpc>
                        <a:spcBef>
                          <a:spcPts val="4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endParaRPr lang="it-IT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lnSpc>
                          <a:spcPct val="110000"/>
                        </a:lnSpc>
                        <a:spcBef>
                          <a:spcPts val="4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endParaRPr lang="it-IT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225" name="Text Box 234"/>
          <p:cNvSpPr/>
          <p:nvPr/>
        </p:nvSpPr>
        <p:spPr>
          <a:xfrm>
            <a:off x="3733920" y="6248520"/>
            <a:ext cx="3733560" cy="24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spAutoFit/>
          </a:bodyPr>
          <a:p>
            <a:pPr>
              <a:spcBef>
                <a:spcPts val="624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000" b="0" u="none" strike="noStrike">
                <a:solidFill>
                  <a:srgbClr val="B025A6"/>
                </a:solidFill>
                <a:effectLst/>
                <a:uFillTx/>
                <a:latin typeface="Comic Sans MS"/>
              </a:rPr>
              <a:t>For the record, example was right in 1999, broken in 2000</a:t>
            </a:r>
            <a:endParaRPr lang="it-IT" sz="10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</p:spTree>
  </p:cSld>
  <p:transition>
    <p:wipe dir="r"/>
  </p:transition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Footer Placeholder 3"/>
          <p:cNvSpPr/>
          <p:nvPr/>
        </p:nvSpPr>
        <p:spPr>
          <a:xfrm>
            <a:off x="685800" y="6248520"/>
            <a:ext cx="289548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Autofit/>
          </a:bodyPr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Comp 412, Fall 2010</a:t>
            </a:r>
            <a:endParaRPr lang="it-IT" sz="12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227" name="Slide Number Placeholder 4"/>
          <p:cNvSpPr/>
          <p:nvPr/>
        </p:nvSpPr>
        <p:spPr>
          <a:xfrm>
            <a:off x="6553080" y="6248520"/>
            <a:ext cx="190512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Autofit/>
          </a:bodyPr>
          <a:p>
            <a:pPr algn="r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44482465-FF83-4FA6-95F8-E44B7962C880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&lt;number&gt;</a:t>
            </a:fld>
            <a:endParaRPr lang="it-IT" sz="12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228" name="PlaceHolder 1"/>
          <p:cNvSpPr>
            <a:spLocks noGrp="1"/>
          </p:cNvSpPr>
          <p:nvPr>
            <p:ph type="title"/>
          </p:nvPr>
        </p:nvSpPr>
        <p:spPr>
          <a:xfrm>
            <a:off x="685800" y="533160"/>
            <a:ext cx="7772400" cy="533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l">
              <a:spcBef>
                <a:spcPts val="901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A Detailed Example          (DFA Minimization)</a:t>
            </a:r>
            <a:endParaRPr lang="it-IT" sz="24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cxnSp>
        <p:nvCxnSpPr>
          <p:cNvPr id="229" name="AutoShape 3"/>
          <p:cNvCxnSpPr>
            <a:stCxn id="230" idx="7"/>
            <a:endCxn id="230" idx="1"/>
          </p:cNvCxnSpPr>
          <p:nvPr/>
        </p:nvCxnSpPr>
        <p:spPr>
          <a:xfrm rot="5400000">
            <a:off x="1947600" y="4626720"/>
            <a:ext cx="2520" cy="255960"/>
          </a:xfrm>
          <a:prstGeom prst="curvedConnector5">
            <a:avLst>
              <a:gd name="adj1" fmla="val -17600000"/>
              <a:gd name="adj2" fmla="val 50000"/>
              <a:gd name="adj3" fmla="val -17600000"/>
            </a:avLst>
          </a:prstGeom>
          <a:ln w="9360">
            <a:solidFill>
              <a:srgbClr val="000000"/>
            </a:solidFill>
            <a:miter/>
            <a:tailEnd len="med" type="triangle" w="med"/>
          </a:ln>
        </p:spPr>
      </p:cxnSp>
      <p:sp>
        <p:nvSpPr>
          <p:cNvPr id="231" name="Oval 4"/>
          <p:cNvSpPr/>
          <p:nvPr/>
        </p:nvSpPr>
        <p:spPr>
          <a:xfrm>
            <a:off x="1014480" y="4708440"/>
            <a:ext cx="361800" cy="370080"/>
          </a:xfrm>
          <a:prstGeom prst="ellipse">
            <a:avLst/>
          </a:prstGeom>
          <a:noFill/>
          <a:ln w="1908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400" b="0" i="1" u="none" strike="noStrike">
                <a:solidFill>
                  <a:srgbClr val="000000"/>
                </a:solidFill>
                <a:effectLst/>
                <a:uFillTx/>
                <a:latin typeface="Arial Rounded MT Bold"/>
              </a:rPr>
              <a:t>s</a:t>
            </a:r>
            <a:r>
              <a:rPr lang="en-US" sz="1400" b="0" i="1" u="none" strike="noStrike" baseline="-25000">
                <a:solidFill>
                  <a:srgbClr val="000000"/>
                </a:solidFill>
                <a:effectLst/>
                <a:uFillTx/>
                <a:latin typeface="Arial Rounded MT Bold"/>
              </a:rPr>
              <a:t>0 </a:t>
            </a:r>
            <a:endParaRPr lang="it-IT" sz="14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232" name="Line 5"/>
          <p:cNvSpPr/>
          <p:nvPr/>
        </p:nvSpPr>
        <p:spPr>
          <a:xfrm>
            <a:off x="1357200" y="4915080"/>
            <a:ext cx="395280" cy="0"/>
          </a:xfrm>
          <a:prstGeom prst="line">
            <a:avLst/>
          </a:prstGeom>
          <a:ln w="9360">
            <a:solidFill>
              <a:srgbClr val="000000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-46800" rIns="90000" bIns="-46800" anchor="ctr">
            <a:noAutofit/>
          </a:bodyPr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233" name="Text Box 6"/>
          <p:cNvSpPr/>
          <p:nvPr/>
        </p:nvSpPr>
        <p:spPr>
          <a:xfrm>
            <a:off x="1425600" y="4640400"/>
            <a:ext cx="237960" cy="30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876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400" b="0" u="sng" strike="noStrike">
                <a:solidFill>
                  <a:srgbClr val="000000"/>
                </a:solidFill>
                <a:effectLst/>
                <a:uFillTx/>
                <a:latin typeface="Arial Rounded MT Bold"/>
              </a:rPr>
              <a:t>a</a:t>
            </a:r>
            <a:endParaRPr lang="it-IT" sz="14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230" name="Oval 7"/>
          <p:cNvSpPr/>
          <p:nvPr/>
        </p:nvSpPr>
        <p:spPr>
          <a:xfrm>
            <a:off x="1768320" y="4708440"/>
            <a:ext cx="362160" cy="370080"/>
          </a:xfrm>
          <a:prstGeom prst="ellipse">
            <a:avLst/>
          </a:prstGeom>
          <a:noFill/>
          <a:ln w="1908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400" b="0" i="1" u="none" strike="noStrike">
                <a:solidFill>
                  <a:srgbClr val="000000"/>
                </a:solidFill>
                <a:effectLst/>
                <a:uFillTx/>
                <a:latin typeface="Arial Rounded MT Bold"/>
              </a:rPr>
              <a:t>s</a:t>
            </a:r>
            <a:r>
              <a:rPr lang="en-US" sz="1400" b="0" i="1" u="none" strike="noStrike" baseline="-25000">
                <a:solidFill>
                  <a:srgbClr val="000000"/>
                </a:solidFill>
                <a:effectLst/>
                <a:uFillTx/>
                <a:latin typeface="Arial Rounded MT Bold"/>
              </a:rPr>
              <a:t>1 </a:t>
            </a:r>
            <a:endParaRPr lang="it-IT" sz="14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234" name="Line 8"/>
          <p:cNvSpPr/>
          <p:nvPr/>
        </p:nvSpPr>
        <p:spPr>
          <a:xfrm>
            <a:off x="2111400" y="4915080"/>
            <a:ext cx="395280" cy="0"/>
          </a:xfrm>
          <a:prstGeom prst="line">
            <a:avLst/>
          </a:prstGeom>
          <a:ln w="9360">
            <a:solidFill>
              <a:srgbClr val="000000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-46800" rIns="90000" bIns="-46800" anchor="ctr">
            <a:noAutofit/>
          </a:bodyPr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235" name="Text Box 9"/>
          <p:cNvSpPr/>
          <p:nvPr/>
        </p:nvSpPr>
        <p:spPr>
          <a:xfrm>
            <a:off x="1357200" y="5189400"/>
            <a:ext cx="238320" cy="30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876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400" b="0" u="sng" strike="noStrike">
                <a:solidFill>
                  <a:srgbClr val="000000"/>
                </a:solidFill>
                <a:effectLst/>
                <a:uFillTx/>
                <a:latin typeface="Arial Rounded MT Bold"/>
              </a:rPr>
              <a:t>b</a:t>
            </a:r>
            <a:endParaRPr lang="it-IT" sz="14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236" name="Oval 10"/>
          <p:cNvSpPr/>
          <p:nvPr/>
        </p:nvSpPr>
        <p:spPr>
          <a:xfrm>
            <a:off x="2522520" y="4708440"/>
            <a:ext cx="361800" cy="370080"/>
          </a:xfrm>
          <a:prstGeom prst="ellipse">
            <a:avLst/>
          </a:prstGeom>
          <a:noFill/>
          <a:ln w="1908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400" b="0" i="1" u="none" strike="noStrike">
                <a:solidFill>
                  <a:srgbClr val="000000"/>
                </a:solidFill>
                <a:effectLst/>
                <a:uFillTx/>
                <a:latin typeface="Arial Rounded MT Bold"/>
              </a:rPr>
              <a:t>s</a:t>
            </a:r>
            <a:r>
              <a:rPr lang="en-US" sz="1400" b="0" i="1" u="none" strike="noStrike" baseline="-25000">
                <a:solidFill>
                  <a:srgbClr val="000000"/>
                </a:solidFill>
                <a:effectLst/>
                <a:uFillTx/>
                <a:latin typeface="Arial Rounded MT Bold"/>
              </a:rPr>
              <a:t>3 </a:t>
            </a:r>
            <a:endParaRPr lang="it-IT" sz="14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237" name="Line 11"/>
          <p:cNvSpPr/>
          <p:nvPr/>
        </p:nvSpPr>
        <p:spPr>
          <a:xfrm>
            <a:off x="2865600" y="4915080"/>
            <a:ext cx="395280" cy="0"/>
          </a:xfrm>
          <a:prstGeom prst="line">
            <a:avLst/>
          </a:prstGeom>
          <a:ln w="9360">
            <a:solidFill>
              <a:srgbClr val="000000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-46800" rIns="90000" bIns="-46800" anchor="ctr">
            <a:noAutofit/>
          </a:bodyPr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238" name="Text Box 12"/>
          <p:cNvSpPr/>
          <p:nvPr/>
        </p:nvSpPr>
        <p:spPr>
          <a:xfrm>
            <a:off x="2933640" y="4640400"/>
            <a:ext cx="239760" cy="30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876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400" b="0" u="sng" strike="noStrike">
                <a:solidFill>
                  <a:srgbClr val="000000"/>
                </a:solidFill>
                <a:effectLst/>
                <a:uFillTx/>
                <a:latin typeface="Arial Rounded MT Bold"/>
              </a:rPr>
              <a:t>b</a:t>
            </a:r>
            <a:endParaRPr lang="it-IT" sz="14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239" name="Oval 13"/>
          <p:cNvSpPr/>
          <p:nvPr/>
        </p:nvSpPr>
        <p:spPr>
          <a:xfrm>
            <a:off x="3276720" y="4708440"/>
            <a:ext cx="361800" cy="370080"/>
          </a:xfrm>
          <a:prstGeom prst="ellipse">
            <a:avLst/>
          </a:prstGeom>
          <a:noFill/>
          <a:ln w="381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400" b="0" i="1" u="none" strike="noStrike">
                <a:solidFill>
                  <a:srgbClr val="000000"/>
                </a:solidFill>
                <a:effectLst/>
                <a:uFillTx/>
                <a:latin typeface="Arial Rounded MT Bold"/>
              </a:rPr>
              <a:t>s</a:t>
            </a:r>
            <a:r>
              <a:rPr lang="en-US" sz="1400" b="0" i="1" u="none" strike="noStrike" baseline="-25000">
                <a:solidFill>
                  <a:srgbClr val="000000"/>
                </a:solidFill>
                <a:effectLst/>
                <a:uFillTx/>
                <a:latin typeface="Arial Rounded MT Bold"/>
              </a:rPr>
              <a:t>4 </a:t>
            </a:r>
            <a:endParaRPr lang="it-IT" sz="14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240" name="Oval 14"/>
          <p:cNvSpPr/>
          <p:nvPr/>
        </p:nvSpPr>
        <p:spPr>
          <a:xfrm>
            <a:off x="1768320" y="5464080"/>
            <a:ext cx="362160" cy="370080"/>
          </a:xfrm>
          <a:prstGeom prst="ellipse">
            <a:avLst/>
          </a:prstGeom>
          <a:noFill/>
          <a:ln w="1908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400" b="0" i="1" u="none" strike="noStrike">
                <a:solidFill>
                  <a:srgbClr val="000000"/>
                </a:solidFill>
                <a:effectLst/>
                <a:uFillTx/>
                <a:latin typeface="Arial Rounded MT Bold"/>
              </a:rPr>
              <a:t>s</a:t>
            </a:r>
            <a:r>
              <a:rPr lang="en-US" sz="1400" b="0" i="1" u="none" strike="noStrike" baseline="-25000">
                <a:solidFill>
                  <a:srgbClr val="000000"/>
                </a:solidFill>
                <a:effectLst/>
                <a:uFillTx/>
                <a:latin typeface="Arial Rounded MT Bold"/>
              </a:rPr>
              <a:t>2</a:t>
            </a:r>
            <a:endParaRPr lang="it-IT" sz="14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241" name="Line 15"/>
          <p:cNvSpPr/>
          <p:nvPr/>
        </p:nvSpPr>
        <p:spPr>
          <a:xfrm>
            <a:off x="1305000" y="5035680"/>
            <a:ext cx="495360" cy="488880"/>
          </a:xfrm>
          <a:prstGeom prst="line">
            <a:avLst/>
          </a:prstGeom>
          <a:ln w="9360">
            <a:solidFill>
              <a:srgbClr val="000000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ctr">
            <a:noAutofit/>
          </a:bodyPr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242" name="Line 16"/>
          <p:cNvSpPr/>
          <p:nvPr/>
        </p:nvSpPr>
        <p:spPr>
          <a:xfrm flipV="1">
            <a:off x="1935000" y="5081760"/>
            <a:ext cx="0" cy="374400"/>
          </a:xfrm>
          <a:prstGeom prst="line">
            <a:avLst/>
          </a:prstGeom>
          <a:ln w="9360">
            <a:solidFill>
              <a:srgbClr val="000000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ctr">
            <a:noAutofit/>
          </a:bodyPr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243" name="Text Box 17"/>
          <p:cNvSpPr/>
          <p:nvPr/>
        </p:nvSpPr>
        <p:spPr>
          <a:xfrm>
            <a:off x="1935000" y="5189400"/>
            <a:ext cx="239760" cy="30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876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400" b="0" u="sng" strike="noStrike">
                <a:solidFill>
                  <a:srgbClr val="000000"/>
                </a:solidFill>
                <a:effectLst/>
                <a:uFillTx/>
                <a:latin typeface="Arial Rounded MT Bold"/>
              </a:rPr>
              <a:t>a</a:t>
            </a:r>
            <a:endParaRPr lang="it-IT" sz="14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244" name="Text Box 18"/>
          <p:cNvSpPr/>
          <p:nvPr/>
        </p:nvSpPr>
        <p:spPr>
          <a:xfrm>
            <a:off x="2179800" y="4640400"/>
            <a:ext cx="239400" cy="30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876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400" b="0" u="sng" strike="noStrike">
                <a:solidFill>
                  <a:srgbClr val="000000"/>
                </a:solidFill>
                <a:effectLst/>
                <a:uFillTx/>
                <a:latin typeface="Arial Rounded MT Bold"/>
              </a:rPr>
              <a:t>b</a:t>
            </a:r>
            <a:endParaRPr lang="it-IT" sz="14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cxnSp>
        <p:nvCxnSpPr>
          <p:cNvPr id="245" name="AutoShape 19"/>
          <p:cNvCxnSpPr>
            <a:stCxn id="240" idx="3"/>
            <a:endCxn id="240" idx="5"/>
          </p:cNvCxnSpPr>
          <p:nvPr/>
        </p:nvCxnSpPr>
        <p:spPr>
          <a:xfrm flipH="1" rot="16200000">
            <a:off x="1947960" y="5661000"/>
            <a:ext cx="2160" cy="255960"/>
          </a:xfrm>
          <a:prstGeom prst="curvedConnector5">
            <a:avLst>
              <a:gd name="adj1" fmla="val 17600000"/>
              <a:gd name="adj2" fmla="val 50000"/>
              <a:gd name="adj3" fmla="val 17600000"/>
            </a:avLst>
          </a:prstGeom>
          <a:ln w="9360">
            <a:solidFill>
              <a:srgbClr val="000000"/>
            </a:solidFill>
            <a:miter/>
            <a:headEnd len="med" type="triangle" w="med"/>
          </a:ln>
        </p:spPr>
      </p:cxnSp>
      <p:sp>
        <p:nvSpPr>
          <p:cNvPr id="246" name="Text Box 20"/>
          <p:cNvSpPr/>
          <p:nvPr/>
        </p:nvSpPr>
        <p:spPr>
          <a:xfrm>
            <a:off x="2013120" y="5865840"/>
            <a:ext cx="237960" cy="30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876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400" b="0" u="sng" strike="noStrike">
                <a:solidFill>
                  <a:srgbClr val="000000"/>
                </a:solidFill>
                <a:effectLst/>
                <a:uFillTx/>
                <a:latin typeface="Arial Rounded MT Bold"/>
              </a:rPr>
              <a:t>b</a:t>
            </a:r>
            <a:endParaRPr lang="it-IT" sz="14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247" name="Text Box 21"/>
          <p:cNvSpPr/>
          <p:nvPr/>
        </p:nvSpPr>
        <p:spPr>
          <a:xfrm>
            <a:off x="2027160" y="4373640"/>
            <a:ext cx="238320" cy="30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876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400" b="0" u="sng" strike="noStrike">
                <a:solidFill>
                  <a:srgbClr val="000000"/>
                </a:solidFill>
                <a:effectLst/>
                <a:uFillTx/>
                <a:latin typeface="Arial Rounded MT Bold"/>
              </a:rPr>
              <a:t>a</a:t>
            </a:r>
            <a:endParaRPr lang="it-IT" sz="14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cxnSp>
        <p:nvCxnSpPr>
          <p:cNvPr id="248" name="AutoShape 22"/>
          <p:cNvCxnSpPr>
            <a:stCxn id="236" idx="4"/>
            <a:endCxn id="230" idx="5"/>
          </p:cNvCxnSpPr>
          <p:nvPr/>
        </p:nvCxnSpPr>
        <p:spPr>
          <a:xfrm flipV="1" rot="16200000">
            <a:off x="2363400" y="4745880"/>
            <a:ext cx="54720" cy="629280"/>
          </a:xfrm>
          <a:prstGeom prst="curvedConnector5">
            <a:avLst>
              <a:gd name="adj1" fmla="val -249668"/>
              <a:gd name="adj2" fmla="val 49971"/>
              <a:gd name="adj3" fmla="val -249668"/>
            </a:avLst>
          </a:prstGeom>
          <a:ln w="9360">
            <a:solidFill>
              <a:srgbClr val="000000"/>
            </a:solidFill>
            <a:miter/>
            <a:tailEnd len="med" type="triangle" w="med"/>
          </a:ln>
        </p:spPr>
      </p:cxnSp>
      <p:sp>
        <p:nvSpPr>
          <p:cNvPr id="249" name="Text Box 23"/>
          <p:cNvSpPr/>
          <p:nvPr/>
        </p:nvSpPr>
        <p:spPr>
          <a:xfrm>
            <a:off x="2522520" y="5121360"/>
            <a:ext cx="239760" cy="30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876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400" b="0" u="sng" strike="noStrike">
                <a:solidFill>
                  <a:srgbClr val="000000"/>
                </a:solidFill>
                <a:effectLst/>
                <a:uFillTx/>
                <a:latin typeface="Arial Rounded MT Bold"/>
              </a:rPr>
              <a:t>a</a:t>
            </a:r>
            <a:endParaRPr lang="it-IT" sz="14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cxnSp>
        <p:nvCxnSpPr>
          <p:cNvPr id="250" name="AutoShape 24"/>
          <p:cNvCxnSpPr>
            <a:stCxn id="239" idx="0"/>
          </p:cNvCxnSpPr>
          <p:nvPr/>
        </p:nvCxnSpPr>
        <p:spPr>
          <a:xfrm rot="5400000">
            <a:off x="2551320" y="3909960"/>
            <a:ext cx="127800" cy="1684800"/>
          </a:xfrm>
          <a:prstGeom prst="curvedConnector5">
            <a:avLst>
              <a:gd name="adj1" fmla="val -321186"/>
              <a:gd name="adj2" fmla="val 51805"/>
              <a:gd name="adj3" fmla="val -321186"/>
            </a:avLst>
          </a:prstGeom>
          <a:ln w="9360">
            <a:solidFill>
              <a:srgbClr val="000000"/>
            </a:solidFill>
            <a:miter/>
            <a:tailEnd len="med" type="triangle" w="med"/>
          </a:ln>
        </p:spPr>
      </p:cxnSp>
      <p:sp>
        <p:nvSpPr>
          <p:cNvPr id="251" name="Text Box 25"/>
          <p:cNvSpPr/>
          <p:nvPr/>
        </p:nvSpPr>
        <p:spPr>
          <a:xfrm>
            <a:off x="3367080" y="4343400"/>
            <a:ext cx="237960" cy="30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876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400" b="0" u="sng" strike="noStrike">
                <a:solidFill>
                  <a:srgbClr val="000000"/>
                </a:solidFill>
                <a:effectLst/>
                <a:uFillTx/>
                <a:latin typeface="Arial Rounded MT Bold"/>
              </a:rPr>
              <a:t>a</a:t>
            </a:r>
            <a:endParaRPr lang="it-IT" sz="14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cxnSp>
        <p:nvCxnSpPr>
          <p:cNvPr id="252" name="AutoShape 26"/>
          <p:cNvCxnSpPr>
            <a:stCxn id="239" idx="4"/>
            <a:endCxn id="240" idx="6"/>
          </p:cNvCxnSpPr>
          <p:nvPr/>
        </p:nvCxnSpPr>
        <p:spPr>
          <a:xfrm rot="5400000">
            <a:off x="2521080" y="4712400"/>
            <a:ext cx="554760" cy="1321200"/>
          </a:xfrm>
          <a:prstGeom prst="curvedConnector2">
            <a:avLst/>
          </a:prstGeom>
          <a:ln w="9360">
            <a:solidFill>
              <a:srgbClr val="000000"/>
            </a:solidFill>
            <a:miter/>
            <a:tailEnd len="med" type="triangle" w="med"/>
          </a:ln>
        </p:spPr>
      </p:cxnSp>
      <p:sp>
        <p:nvSpPr>
          <p:cNvPr id="253" name="Text Box 27"/>
          <p:cNvSpPr/>
          <p:nvPr/>
        </p:nvSpPr>
        <p:spPr>
          <a:xfrm>
            <a:off x="3346560" y="5195880"/>
            <a:ext cx="239760" cy="30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876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400" b="0" u="sng" strike="noStrike">
                <a:solidFill>
                  <a:srgbClr val="000000"/>
                </a:solidFill>
                <a:effectLst/>
                <a:uFillTx/>
                <a:latin typeface="Arial Rounded MT Bold"/>
              </a:rPr>
              <a:t>b</a:t>
            </a:r>
            <a:endParaRPr lang="it-IT" sz="14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graphicFrame>
        <p:nvGraphicFramePr>
          <p:cNvPr id="254" name=""/>
          <p:cNvGraphicFramePr/>
          <p:nvPr/>
        </p:nvGraphicFramePr>
        <p:xfrm>
          <a:off x="685800" y="1447920"/>
          <a:ext cx="7696080" cy="2260440"/>
        </p:xfrm>
        <a:graphic>
          <a:graphicData uri="http://schemas.openxmlformats.org/drawingml/2006/table">
            <a:tbl>
              <a:tblPr/>
              <a:tblGrid>
                <a:gridCol w="457200"/>
                <a:gridCol w="1905120"/>
                <a:gridCol w="1600200"/>
                <a:gridCol w="1218960"/>
                <a:gridCol w="1143000"/>
                <a:gridCol w="1371600"/>
              </a:tblGrid>
              <a:tr h="452160"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spcBef>
                          <a:spcPts val="4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endParaRPr lang="it-IT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>
                      <a:noFill/>
                    </a:lnL>
                    <a:lnR>
                      <a:noFill/>
                    </a:lnR>
                    <a:lnT w="13680">
                      <a:solidFill>
                        <a:srgbClr val="B025A6"/>
                      </a:solidFill>
                      <a:prstDash val="solid"/>
                    </a:lnT>
                    <a:lnB w="5760">
                      <a:solidFill>
                        <a:srgbClr val="B025A6"/>
                      </a:solidFill>
                      <a:prstDash val="soli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spcBef>
                          <a:spcPts val="4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Current Partition</a:t>
                      </a:r>
                      <a:endParaRPr lang="it-IT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>
                      <a:noFill/>
                    </a:lnL>
                    <a:lnR>
                      <a:noFill/>
                    </a:lnR>
                    <a:lnT w="13680">
                      <a:solidFill>
                        <a:srgbClr val="B025A6"/>
                      </a:solidFill>
                      <a:prstDash val="solid"/>
                    </a:lnT>
                    <a:lnB w="5760">
                      <a:solidFill>
                        <a:srgbClr val="B025A6"/>
                      </a:solidFill>
                      <a:prstDash val="soli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spcBef>
                          <a:spcPts val="4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Worklist</a:t>
                      </a:r>
                      <a:endParaRPr lang="it-IT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>
                      <a:noFill/>
                    </a:lnL>
                    <a:lnR>
                      <a:noFill/>
                    </a:lnR>
                    <a:lnT w="13680">
                      <a:solidFill>
                        <a:srgbClr val="B025A6"/>
                      </a:solidFill>
                      <a:prstDash val="solid"/>
                    </a:lnT>
                    <a:lnB w="5760">
                      <a:solidFill>
                        <a:srgbClr val="B025A6"/>
                      </a:solidFill>
                      <a:prstDash val="soli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spcBef>
                          <a:spcPts val="4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s</a:t>
                      </a:r>
                      <a:endParaRPr lang="it-IT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>
                      <a:noFill/>
                    </a:lnL>
                    <a:lnR>
                      <a:noFill/>
                    </a:lnR>
                    <a:lnT w="13680">
                      <a:solidFill>
                        <a:srgbClr val="B025A6"/>
                      </a:solidFill>
                      <a:prstDash val="solid"/>
                    </a:lnT>
                    <a:lnB w="5760">
                      <a:solidFill>
                        <a:srgbClr val="B025A6"/>
                      </a:solidFill>
                      <a:prstDash val="soli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spcBef>
                          <a:spcPts val="4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Split on </a:t>
                      </a:r>
                      <a:r>
                        <a:rPr lang="en-US" sz="1600" b="0" u="sng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a</a:t>
                      </a:r>
                      <a:endParaRPr lang="it-IT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>
                      <a:noFill/>
                    </a:lnL>
                    <a:lnR>
                      <a:noFill/>
                    </a:lnR>
                    <a:lnT w="13680">
                      <a:solidFill>
                        <a:srgbClr val="B025A6"/>
                      </a:solidFill>
                      <a:prstDash val="solid"/>
                    </a:lnT>
                    <a:lnB w="5760">
                      <a:solidFill>
                        <a:srgbClr val="B025A6"/>
                      </a:solidFill>
                      <a:prstDash val="soli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spcBef>
                          <a:spcPts val="4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Split on </a:t>
                      </a:r>
                      <a:r>
                        <a:rPr lang="en-US" sz="1600" b="0" u="sng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b</a:t>
                      </a:r>
                      <a:endParaRPr lang="it-IT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>
                      <a:noFill/>
                    </a:lnL>
                    <a:lnR>
                      <a:noFill/>
                    </a:lnR>
                    <a:lnT w="13680">
                      <a:solidFill>
                        <a:srgbClr val="B025A6"/>
                      </a:solidFill>
                      <a:prstDash val="solid"/>
                    </a:lnT>
                    <a:lnB w="5760">
                      <a:solidFill>
                        <a:srgbClr val="B025A6"/>
                      </a:solidFill>
                      <a:prstDash val="solid"/>
                    </a:lnB>
                    <a:solidFill>
                      <a:srgbClr val="E6E6E6"/>
                    </a:solidFill>
                  </a:tcPr>
                </a:tc>
              </a:tr>
              <a:tr h="452520"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P</a:t>
                      </a:r>
                      <a:r>
                        <a:rPr lang="en-US" sz="1600" b="0" i="1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0</a:t>
                      </a:r>
                      <a:endParaRPr lang="it-IT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>
                      <a:noFill/>
                    </a:lnL>
                    <a:lnR>
                      <a:noFill/>
                    </a:lnR>
                    <a:lnT w="5760">
                      <a:solidFill>
                        <a:srgbClr val="B025A6"/>
                      </a:solidFill>
                      <a:prstDash val="solid"/>
                    </a:lnT>
                    <a:lnB>
                      <a:noFill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{s</a:t>
                      </a:r>
                      <a:r>
                        <a:rPr lang="en-US" sz="1600" b="0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4</a:t>
                      </a: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}</a:t>
                      </a:r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 </a:t>
                      </a: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{s</a:t>
                      </a:r>
                      <a:r>
                        <a:rPr lang="en-US" sz="1600" b="0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0</a:t>
                      </a: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,s</a:t>
                      </a:r>
                      <a:r>
                        <a:rPr lang="en-US" sz="1600" b="0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1</a:t>
                      </a: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,s</a:t>
                      </a:r>
                      <a:r>
                        <a:rPr lang="en-US" sz="1600" b="0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2</a:t>
                      </a: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,s</a:t>
                      </a:r>
                      <a:r>
                        <a:rPr lang="en-US" sz="1600" b="0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3</a:t>
                      </a: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}</a:t>
                      </a:r>
                      <a:endParaRPr lang="it-IT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>
                      <a:noFill/>
                    </a:lnL>
                    <a:lnR>
                      <a:noFill/>
                    </a:lnR>
                    <a:lnT w="5760">
                      <a:solidFill>
                        <a:srgbClr val="B025A6"/>
                      </a:solidFill>
                      <a:prstDash val="soli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600" b="0" u="none" strike="noStrike">
                          <a:solidFill>
                            <a:srgbClr val="B3B3B3"/>
                          </a:solidFill>
                          <a:effectLst/>
                          <a:uFillTx/>
                          <a:latin typeface="Comic Sans MS"/>
                        </a:rPr>
                        <a:t>{s</a:t>
                      </a:r>
                      <a:r>
                        <a:rPr lang="en-US" sz="1600" b="0" u="none" strike="noStrike" baseline="-25000">
                          <a:solidFill>
                            <a:srgbClr val="B3B3B3"/>
                          </a:solidFill>
                          <a:effectLst/>
                          <a:uFillTx/>
                          <a:latin typeface="Comic Sans MS"/>
                        </a:rPr>
                        <a:t>4</a:t>
                      </a:r>
                      <a:r>
                        <a:rPr lang="en-US" sz="1600" b="0" u="none" strike="noStrike">
                          <a:solidFill>
                            <a:srgbClr val="B3B3B3"/>
                          </a:solidFill>
                          <a:effectLst/>
                          <a:uFillTx/>
                          <a:latin typeface="Comic Sans MS"/>
                        </a:rPr>
                        <a:t>}</a:t>
                      </a: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 </a:t>
                      </a: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{s</a:t>
                      </a:r>
                      <a:r>
                        <a:rPr lang="en-US" sz="1600" b="0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0</a:t>
                      </a: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,s</a:t>
                      </a:r>
                      <a:r>
                        <a:rPr lang="en-US" sz="1600" b="0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1</a:t>
                      </a: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,s</a:t>
                      </a:r>
                      <a:r>
                        <a:rPr lang="en-US" sz="1600" b="0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2</a:t>
                      </a: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,s</a:t>
                      </a:r>
                      <a:r>
                        <a:rPr lang="en-US" sz="1600" b="0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3</a:t>
                      </a: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}</a:t>
                      </a:r>
                      <a:endParaRPr lang="it-IT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>
                      <a:noFill/>
                    </a:lnL>
                    <a:lnR>
                      <a:noFill/>
                    </a:lnR>
                    <a:lnT w="5760">
                      <a:solidFill>
                        <a:srgbClr val="B025A6"/>
                      </a:solidFill>
                      <a:prstDash val="soli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{s</a:t>
                      </a:r>
                      <a:r>
                        <a:rPr lang="en-US" sz="1600" b="0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4</a:t>
                      </a: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}</a:t>
                      </a:r>
                      <a:endParaRPr lang="it-IT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>
                      <a:noFill/>
                    </a:lnL>
                    <a:lnR>
                      <a:noFill/>
                    </a:lnR>
                    <a:lnT w="5760">
                      <a:solidFill>
                        <a:srgbClr val="B025A6"/>
                      </a:solidFill>
                      <a:prstDash val="soli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none</a:t>
                      </a:r>
                      <a:endParaRPr lang="it-IT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>
                      <a:noFill/>
                    </a:lnL>
                    <a:lnR>
                      <a:noFill/>
                    </a:lnR>
                    <a:lnT w="5760">
                      <a:solidFill>
                        <a:srgbClr val="B025A6"/>
                      </a:solidFill>
                      <a:prstDash val="soli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endParaRPr lang="it-IT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>
                      <a:noFill/>
                    </a:lnL>
                    <a:lnR>
                      <a:noFill/>
                    </a:lnR>
                    <a:lnT w="5760">
                      <a:solidFill>
                        <a:srgbClr val="B025A6"/>
                      </a:solidFill>
                      <a:prstDash val="solid"/>
                    </a:lnT>
                    <a:lnB>
                      <a:noFill/>
                    </a:lnB>
                    <a:noFill/>
                  </a:tcPr>
                </a:tc>
              </a:tr>
              <a:tr h="451080"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lnSpc>
                          <a:spcPct val="110000"/>
                        </a:lnSpc>
                        <a:spcBef>
                          <a:spcPts val="4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endParaRPr lang="it-IT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lnSpc>
                          <a:spcPct val="110000"/>
                        </a:lnSpc>
                        <a:spcBef>
                          <a:spcPts val="4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endParaRPr lang="it-IT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lnSpc>
                          <a:spcPct val="110000"/>
                        </a:lnSpc>
                        <a:spcBef>
                          <a:spcPts val="4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endParaRPr lang="it-IT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lnSpc>
                          <a:spcPct val="110000"/>
                        </a:lnSpc>
                        <a:spcBef>
                          <a:spcPts val="4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endParaRPr lang="it-IT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lnSpc>
                          <a:spcPct val="110000"/>
                        </a:lnSpc>
                        <a:spcBef>
                          <a:spcPts val="4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endParaRPr lang="it-IT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lnSpc>
                          <a:spcPct val="110000"/>
                        </a:lnSpc>
                        <a:spcBef>
                          <a:spcPts val="4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endParaRPr lang="it-IT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52160"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lnSpc>
                          <a:spcPct val="110000"/>
                        </a:lnSpc>
                        <a:spcBef>
                          <a:spcPts val="4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endParaRPr lang="it-IT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lnSpc>
                          <a:spcPct val="110000"/>
                        </a:lnSpc>
                        <a:spcBef>
                          <a:spcPts val="4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endParaRPr lang="it-IT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lnSpc>
                          <a:spcPct val="110000"/>
                        </a:lnSpc>
                        <a:spcBef>
                          <a:spcPts val="4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endParaRPr lang="it-IT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lnSpc>
                          <a:spcPct val="110000"/>
                        </a:lnSpc>
                        <a:spcBef>
                          <a:spcPts val="4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endParaRPr lang="it-IT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lnSpc>
                          <a:spcPct val="110000"/>
                        </a:lnSpc>
                        <a:spcBef>
                          <a:spcPts val="4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endParaRPr lang="it-IT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lnSpc>
                          <a:spcPct val="110000"/>
                        </a:lnSpc>
                        <a:spcBef>
                          <a:spcPts val="4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endParaRPr lang="it-IT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52520"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lnSpc>
                          <a:spcPct val="110000"/>
                        </a:lnSpc>
                        <a:spcBef>
                          <a:spcPts val="4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endParaRPr lang="it-IT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lnSpc>
                          <a:spcPct val="110000"/>
                        </a:lnSpc>
                        <a:spcBef>
                          <a:spcPts val="4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endParaRPr lang="it-IT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lnSpc>
                          <a:spcPct val="110000"/>
                        </a:lnSpc>
                        <a:spcBef>
                          <a:spcPts val="4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endParaRPr lang="it-IT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lnSpc>
                          <a:spcPct val="110000"/>
                        </a:lnSpc>
                        <a:spcBef>
                          <a:spcPts val="4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endParaRPr lang="it-IT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lnSpc>
                          <a:spcPct val="110000"/>
                        </a:lnSpc>
                        <a:spcBef>
                          <a:spcPts val="4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endParaRPr lang="it-IT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lnSpc>
                          <a:spcPct val="110000"/>
                        </a:lnSpc>
                        <a:spcBef>
                          <a:spcPts val="4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endParaRPr lang="it-IT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</p:spTree>
  </p:cSld>
  <p:transition>
    <p:wipe dir="r"/>
  </p:transition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Footer Placeholder 3"/>
          <p:cNvSpPr/>
          <p:nvPr/>
        </p:nvSpPr>
        <p:spPr>
          <a:xfrm>
            <a:off x="685800" y="6248520"/>
            <a:ext cx="289548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Autofit/>
          </a:bodyPr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Comp 412, Fall 2010</a:t>
            </a:r>
            <a:endParaRPr lang="it-IT" sz="12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256" name="Slide Number Placeholder 4"/>
          <p:cNvSpPr/>
          <p:nvPr/>
        </p:nvSpPr>
        <p:spPr>
          <a:xfrm>
            <a:off x="6553080" y="6248520"/>
            <a:ext cx="190512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Autofit/>
          </a:bodyPr>
          <a:p>
            <a:pPr algn="r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5C83EE31-E575-4143-8295-8BD8BF03FAF1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&lt;number&gt;</a:t>
            </a:fld>
            <a:endParaRPr lang="it-IT" sz="12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257" name="PlaceHolder 1"/>
          <p:cNvSpPr>
            <a:spLocks noGrp="1"/>
          </p:cNvSpPr>
          <p:nvPr>
            <p:ph type="title"/>
          </p:nvPr>
        </p:nvSpPr>
        <p:spPr>
          <a:xfrm>
            <a:off x="685800" y="533160"/>
            <a:ext cx="7772400" cy="533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l">
              <a:spcBef>
                <a:spcPts val="901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A Detailed Example          (DFA Minimization)</a:t>
            </a:r>
            <a:endParaRPr lang="it-IT" sz="24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cxnSp>
        <p:nvCxnSpPr>
          <p:cNvPr id="258" name="AutoShape 3"/>
          <p:cNvCxnSpPr>
            <a:stCxn id="259" idx="7"/>
            <a:endCxn id="259" idx="1"/>
          </p:cNvCxnSpPr>
          <p:nvPr/>
        </p:nvCxnSpPr>
        <p:spPr>
          <a:xfrm rot="5400000">
            <a:off x="1947600" y="4626720"/>
            <a:ext cx="2520" cy="255960"/>
          </a:xfrm>
          <a:prstGeom prst="curvedConnector5">
            <a:avLst>
              <a:gd name="adj1" fmla="val -17600000"/>
              <a:gd name="adj2" fmla="val 50000"/>
              <a:gd name="adj3" fmla="val -17600000"/>
            </a:avLst>
          </a:prstGeom>
          <a:ln w="9360">
            <a:solidFill>
              <a:srgbClr val="B025A6"/>
            </a:solidFill>
            <a:miter/>
            <a:tailEnd len="med" type="triangle" w="med"/>
          </a:ln>
        </p:spPr>
      </p:cxnSp>
      <p:sp>
        <p:nvSpPr>
          <p:cNvPr id="260" name="Oval 4"/>
          <p:cNvSpPr/>
          <p:nvPr/>
        </p:nvSpPr>
        <p:spPr>
          <a:xfrm>
            <a:off x="1014480" y="4708440"/>
            <a:ext cx="361800" cy="370080"/>
          </a:xfrm>
          <a:prstGeom prst="ellipse">
            <a:avLst/>
          </a:prstGeom>
          <a:noFill/>
          <a:ln w="19080">
            <a:solidFill>
              <a:srgbClr val="B025A6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400" b="0" i="1" u="none" strike="noStrike">
                <a:solidFill>
                  <a:srgbClr val="B025A6"/>
                </a:solidFill>
                <a:effectLst/>
                <a:uFillTx/>
                <a:latin typeface="Arial Rounded MT Bold"/>
              </a:rPr>
              <a:t>s</a:t>
            </a:r>
            <a:r>
              <a:rPr lang="en-US" sz="1400" b="0" i="1" u="none" strike="noStrike" baseline="-25000">
                <a:solidFill>
                  <a:srgbClr val="B025A6"/>
                </a:solidFill>
                <a:effectLst/>
                <a:uFillTx/>
                <a:latin typeface="Arial Rounded MT Bold"/>
              </a:rPr>
              <a:t>0 </a:t>
            </a:r>
            <a:endParaRPr lang="it-IT" sz="14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261" name="Line 5"/>
          <p:cNvSpPr/>
          <p:nvPr/>
        </p:nvSpPr>
        <p:spPr>
          <a:xfrm>
            <a:off x="1357200" y="4915080"/>
            <a:ext cx="395280" cy="0"/>
          </a:xfrm>
          <a:prstGeom prst="line">
            <a:avLst/>
          </a:prstGeom>
          <a:ln w="9360">
            <a:solidFill>
              <a:srgbClr val="B025A6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-46800" rIns="90000" bIns="-46800" anchor="ctr">
            <a:noAutofit/>
          </a:bodyPr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262" name="Text Box 6"/>
          <p:cNvSpPr/>
          <p:nvPr/>
        </p:nvSpPr>
        <p:spPr>
          <a:xfrm>
            <a:off x="1425600" y="4640400"/>
            <a:ext cx="237960" cy="30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876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400" b="0" u="sng" strike="noStrike">
                <a:solidFill>
                  <a:srgbClr val="000000"/>
                </a:solidFill>
                <a:effectLst/>
                <a:uFillTx/>
                <a:latin typeface="Arial Rounded MT Bold"/>
              </a:rPr>
              <a:t>a</a:t>
            </a:r>
            <a:endParaRPr lang="it-IT" sz="14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259" name="Oval 7"/>
          <p:cNvSpPr/>
          <p:nvPr/>
        </p:nvSpPr>
        <p:spPr>
          <a:xfrm>
            <a:off x="1768320" y="4708440"/>
            <a:ext cx="362160" cy="370080"/>
          </a:xfrm>
          <a:prstGeom prst="ellipse">
            <a:avLst/>
          </a:prstGeom>
          <a:noFill/>
          <a:ln w="19080">
            <a:solidFill>
              <a:srgbClr val="B025A6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400" b="0" i="1" u="none" strike="noStrike">
                <a:solidFill>
                  <a:srgbClr val="B025A6"/>
                </a:solidFill>
                <a:effectLst/>
                <a:uFillTx/>
                <a:latin typeface="Arial Rounded MT Bold"/>
              </a:rPr>
              <a:t>s</a:t>
            </a:r>
            <a:r>
              <a:rPr lang="en-US" sz="1400" b="0" i="1" u="none" strike="noStrike" baseline="-25000">
                <a:solidFill>
                  <a:srgbClr val="B025A6"/>
                </a:solidFill>
                <a:effectLst/>
                <a:uFillTx/>
                <a:latin typeface="Arial Rounded MT Bold"/>
              </a:rPr>
              <a:t>1 </a:t>
            </a:r>
            <a:endParaRPr lang="it-IT" sz="14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263" name="Line 8"/>
          <p:cNvSpPr/>
          <p:nvPr/>
        </p:nvSpPr>
        <p:spPr>
          <a:xfrm>
            <a:off x="2111400" y="4915080"/>
            <a:ext cx="395280" cy="0"/>
          </a:xfrm>
          <a:prstGeom prst="line">
            <a:avLst/>
          </a:prstGeom>
          <a:ln w="9360">
            <a:solidFill>
              <a:srgbClr val="000000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-46800" rIns="90000" bIns="-46800" anchor="ctr">
            <a:noAutofit/>
          </a:bodyPr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264" name="Text Box 9"/>
          <p:cNvSpPr/>
          <p:nvPr/>
        </p:nvSpPr>
        <p:spPr>
          <a:xfrm>
            <a:off x="1357200" y="5189400"/>
            <a:ext cx="238320" cy="30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876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400" b="0" u="sng" strike="noStrike">
                <a:solidFill>
                  <a:srgbClr val="000000"/>
                </a:solidFill>
                <a:effectLst/>
                <a:uFillTx/>
                <a:latin typeface="Arial Rounded MT Bold"/>
              </a:rPr>
              <a:t>b</a:t>
            </a:r>
            <a:endParaRPr lang="it-IT" sz="14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265" name="Oval 10"/>
          <p:cNvSpPr/>
          <p:nvPr/>
        </p:nvSpPr>
        <p:spPr>
          <a:xfrm>
            <a:off x="2522520" y="4708440"/>
            <a:ext cx="361800" cy="370080"/>
          </a:xfrm>
          <a:prstGeom prst="ellipse">
            <a:avLst/>
          </a:prstGeom>
          <a:noFill/>
          <a:ln w="19080">
            <a:solidFill>
              <a:srgbClr val="FF0065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400" b="0" i="1" u="none" strike="noStrike">
                <a:solidFill>
                  <a:srgbClr val="FF0065"/>
                </a:solidFill>
                <a:effectLst/>
                <a:uFillTx/>
                <a:latin typeface="Arial Rounded MT Bold"/>
              </a:rPr>
              <a:t>s</a:t>
            </a:r>
            <a:r>
              <a:rPr lang="en-US" sz="1400" b="0" i="1" u="none" strike="noStrike" baseline="-25000">
                <a:solidFill>
                  <a:srgbClr val="FF0065"/>
                </a:solidFill>
                <a:effectLst/>
                <a:uFillTx/>
                <a:latin typeface="Arial Rounded MT Bold"/>
              </a:rPr>
              <a:t>3 </a:t>
            </a:r>
            <a:endParaRPr lang="it-IT" sz="14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266" name="Line 11"/>
          <p:cNvSpPr/>
          <p:nvPr/>
        </p:nvSpPr>
        <p:spPr>
          <a:xfrm>
            <a:off x="2865600" y="4915080"/>
            <a:ext cx="395280" cy="0"/>
          </a:xfrm>
          <a:prstGeom prst="line">
            <a:avLst/>
          </a:prstGeom>
          <a:ln w="9360">
            <a:solidFill>
              <a:srgbClr val="FF0065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-46800" rIns="90000" bIns="-46800" anchor="ctr">
            <a:noAutofit/>
          </a:bodyPr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267" name="Text Box 12"/>
          <p:cNvSpPr/>
          <p:nvPr/>
        </p:nvSpPr>
        <p:spPr>
          <a:xfrm>
            <a:off x="2933640" y="4640400"/>
            <a:ext cx="239760" cy="30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876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400" b="0" u="sng" strike="noStrike">
                <a:solidFill>
                  <a:srgbClr val="000000"/>
                </a:solidFill>
                <a:effectLst/>
                <a:uFillTx/>
                <a:latin typeface="Arial Rounded MT Bold"/>
              </a:rPr>
              <a:t>b</a:t>
            </a:r>
            <a:endParaRPr lang="it-IT" sz="14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268" name="Oval 13"/>
          <p:cNvSpPr/>
          <p:nvPr/>
        </p:nvSpPr>
        <p:spPr>
          <a:xfrm>
            <a:off x="3276720" y="4708440"/>
            <a:ext cx="361800" cy="370080"/>
          </a:xfrm>
          <a:prstGeom prst="ellipse">
            <a:avLst/>
          </a:prstGeom>
          <a:noFill/>
          <a:ln w="381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400" b="0" i="1" u="none" strike="noStrike">
                <a:solidFill>
                  <a:srgbClr val="000000"/>
                </a:solidFill>
                <a:effectLst/>
                <a:uFillTx/>
                <a:latin typeface="Arial Rounded MT Bold"/>
              </a:rPr>
              <a:t>s</a:t>
            </a:r>
            <a:r>
              <a:rPr lang="en-US" sz="1400" b="0" i="1" u="none" strike="noStrike" baseline="-25000">
                <a:solidFill>
                  <a:srgbClr val="000000"/>
                </a:solidFill>
                <a:effectLst/>
                <a:uFillTx/>
                <a:latin typeface="Arial Rounded MT Bold"/>
              </a:rPr>
              <a:t>4 </a:t>
            </a:r>
            <a:endParaRPr lang="it-IT" sz="14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269" name="Oval 14"/>
          <p:cNvSpPr/>
          <p:nvPr/>
        </p:nvSpPr>
        <p:spPr>
          <a:xfrm>
            <a:off x="1768320" y="5464080"/>
            <a:ext cx="362160" cy="370080"/>
          </a:xfrm>
          <a:prstGeom prst="ellipse">
            <a:avLst/>
          </a:prstGeom>
          <a:noFill/>
          <a:ln w="19080">
            <a:solidFill>
              <a:srgbClr val="B025A6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400" b="0" i="1" u="none" strike="noStrike">
                <a:solidFill>
                  <a:srgbClr val="B025A6"/>
                </a:solidFill>
                <a:effectLst/>
                <a:uFillTx/>
                <a:latin typeface="Arial Rounded MT Bold"/>
              </a:rPr>
              <a:t>s</a:t>
            </a:r>
            <a:r>
              <a:rPr lang="en-US" sz="1400" b="0" i="1" u="none" strike="noStrike" baseline="-25000">
                <a:solidFill>
                  <a:srgbClr val="B025A6"/>
                </a:solidFill>
                <a:effectLst/>
                <a:uFillTx/>
                <a:latin typeface="Arial Rounded MT Bold"/>
              </a:rPr>
              <a:t>2</a:t>
            </a:r>
            <a:endParaRPr lang="it-IT" sz="14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270" name="Line 15"/>
          <p:cNvSpPr/>
          <p:nvPr/>
        </p:nvSpPr>
        <p:spPr>
          <a:xfrm>
            <a:off x="1305000" y="5035680"/>
            <a:ext cx="495360" cy="488880"/>
          </a:xfrm>
          <a:prstGeom prst="line">
            <a:avLst/>
          </a:prstGeom>
          <a:ln w="9360">
            <a:solidFill>
              <a:srgbClr val="B025A6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ctr">
            <a:noAutofit/>
          </a:bodyPr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271" name="Line 16"/>
          <p:cNvSpPr/>
          <p:nvPr/>
        </p:nvSpPr>
        <p:spPr>
          <a:xfrm flipV="1">
            <a:off x="1935000" y="5081760"/>
            <a:ext cx="0" cy="374400"/>
          </a:xfrm>
          <a:prstGeom prst="line">
            <a:avLst/>
          </a:prstGeom>
          <a:ln w="9360">
            <a:solidFill>
              <a:srgbClr val="B025A6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ctr">
            <a:noAutofit/>
          </a:bodyPr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272" name="Text Box 17"/>
          <p:cNvSpPr/>
          <p:nvPr/>
        </p:nvSpPr>
        <p:spPr>
          <a:xfrm>
            <a:off x="1935000" y="5189400"/>
            <a:ext cx="239760" cy="30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876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400" b="0" u="sng" strike="noStrike">
                <a:solidFill>
                  <a:srgbClr val="000000"/>
                </a:solidFill>
                <a:effectLst/>
                <a:uFillTx/>
                <a:latin typeface="Arial Rounded MT Bold"/>
              </a:rPr>
              <a:t>a</a:t>
            </a:r>
            <a:endParaRPr lang="it-IT" sz="14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273" name="Text Box 18"/>
          <p:cNvSpPr/>
          <p:nvPr/>
        </p:nvSpPr>
        <p:spPr>
          <a:xfrm>
            <a:off x="2179800" y="4640400"/>
            <a:ext cx="239400" cy="30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876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400" b="0" u="sng" strike="noStrike">
                <a:solidFill>
                  <a:srgbClr val="000000"/>
                </a:solidFill>
                <a:effectLst/>
                <a:uFillTx/>
                <a:latin typeface="Arial Rounded MT Bold"/>
              </a:rPr>
              <a:t>b</a:t>
            </a:r>
            <a:endParaRPr lang="it-IT" sz="14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cxnSp>
        <p:nvCxnSpPr>
          <p:cNvPr id="274" name="AutoShape 19"/>
          <p:cNvCxnSpPr>
            <a:stCxn id="269" idx="3"/>
            <a:endCxn id="269" idx="5"/>
          </p:cNvCxnSpPr>
          <p:nvPr/>
        </p:nvCxnSpPr>
        <p:spPr>
          <a:xfrm flipH="1" rot="16200000">
            <a:off x="1947960" y="5661000"/>
            <a:ext cx="2160" cy="255960"/>
          </a:xfrm>
          <a:prstGeom prst="curvedConnector5">
            <a:avLst>
              <a:gd name="adj1" fmla="val 17600000"/>
              <a:gd name="adj2" fmla="val 50000"/>
              <a:gd name="adj3" fmla="val 17600000"/>
            </a:avLst>
          </a:prstGeom>
          <a:ln w="9360">
            <a:solidFill>
              <a:srgbClr val="B025A6"/>
            </a:solidFill>
            <a:miter/>
            <a:headEnd len="med" type="triangle" w="med"/>
          </a:ln>
        </p:spPr>
      </p:cxnSp>
      <p:sp>
        <p:nvSpPr>
          <p:cNvPr id="275" name="Text Box 20"/>
          <p:cNvSpPr/>
          <p:nvPr/>
        </p:nvSpPr>
        <p:spPr>
          <a:xfrm>
            <a:off x="2013120" y="5865840"/>
            <a:ext cx="237960" cy="30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876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400" b="0" u="sng" strike="noStrike">
                <a:solidFill>
                  <a:srgbClr val="000000"/>
                </a:solidFill>
                <a:effectLst/>
                <a:uFillTx/>
                <a:latin typeface="Arial Rounded MT Bold"/>
              </a:rPr>
              <a:t>b</a:t>
            </a:r>
            <a:endParaRPr lang="it-IT" sz="14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276" name="Text Box 21"/>
          <p:cNvSpPr/>
          <p:nvPr/>
        </p:nvSpPr>
        <p:spPr>
          <a:xfrm>
            <a:off x="2027160" y="4373640"/>
            <a:ext cx="238320" cy="30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876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400" b="0" u="sng" strike="noStrike">
                <a:solidFill>
                  <a:srgbClr val="000000"/>
                </a:solidFill>
                <a:effectLst/>
                <a:uFillTx/>
                <a:latin typeface="Arial Rounded MT Bold"/>
              </a:rPr>
              <a:t>a</a:t>
            </a:r>
            <a:endParaRPr lang="it-IT" sz="14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cxnSp>
        <p:nvCxnSpPr>
          <p:cNvPr id="277" name="AutoShape 22"/>
          <p:cNvCxnSpPr>
            <a:stCxn id="265" idx="4"/>
            <a:endCxn id="259" idx="5"/>
          </p:cNvCxnSpPr>
          <p:nvPr/>
        </p:nvCxnSpPr>
        <p:spPr>
          <a:xfrm flipV="1" rot="16200000">
            <a:off x="2363400" y="4745880"/>
            <a:ext cx="54720" cy="629280"/>
          </a:xfrm>
          <a:prstGeom prst="curvedConnector5">
            <a:avLst>
              <a:gd name="adj1" fmla="val -249668"/>
              <a:gd name="adj2" fmla="val 49971"/>
              <a:gd name="adj3" fmla="val -249668"/>
            </a:avLst>
          </a:prstGeom>
          <a:ln w="9360">
            <a:solidFill>
              <a:srgbClr val="000000"/>
            </a:solidFill>
            <a:miter/>
            <a:tailEnd len="med" type="triangle" w="med"/>
          </a:ln>
        </p:spPr>
      </p:cxnSp>
      <p:sp>
        <p:nvSpPr>
          <p:cNvPr id="278" name="Text Box 23"/>
          <p:cNvSpPr/>
          <p:nvPr/>
        </p:nvSpPr>
        <p:spPr>
          <a:xfrm>
            <a:off x="2522520" y="5121360"/>
            <a:ext cx="239760" cy="30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876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400" b="0" u="sng" strike="noStrike">
                <a:solidFill>
                  <a:srgbClr val="000000"/>
                </a:solidFill>
                <a:effectLst/>
                <a:uFillTx/>
                <a:latin typeface="Arial Rounded MT Bold"/>
              </a:rPr>
              <a:t>a</a:t>
            </a:r>
            <a:endParaRPr lang="it-IT" sz="14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cxnSp>
        <p:nvCxnSpPr>
          <p:cNvPr id="279" name="AutoShape 24"/>
          <p:cNvCxnSpPr>
            <a:stCxn id="268" idx="0"/>
          </p:cNvCxnSpPr>
          <p:nvPr/>
        </p:nvCxnSpPr>
        <p:spPr>
          <a:xfrm rot="5400000">
            <a:off x="2551320" y="3909960"/>
            <a:ext cx="127800" cy="1684800"/>
          </a:xfrm>
          <a:prstGeom prst="curvedConnector5">
            <a:avLst>
              <a:gd name="adj1" fmla="val -321186"/>
              <a:gd name="adj2" fmla="val 51805"/>
              <a:gd name="adj3" fmla="val -321186"/>
            </a:avLst>
          </a:prstGeom>
          <a:ln w="9360">
            <a:solidFill>
              <a:srgbClr val="000000"/>
            </a:solidFill>
            <a:miter/>
            <a:tailEnd len="med" type="triangle" w="med"/>
          </a:ln>
        </p:spPr>
      </p:cxnSp>
      <p:sp>
        <p:nvSpPr>
          <p:cNvPr id="280" name="Text Box 25"/>
          <p:cNvSpPr/>
          <p:nvPr/>
        </p:nvSpPr>
        <p:spPr>
          <a:xfrm>
            <a:off x="3367080" y="4343400"/>
            <a:ext cx="237960" cy="30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876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400" b="0" u="sng" strike="noStrike">
                <a:solidFill>
                  <a:srgbClr val="000000"/>
                </a:solidFill>
                <a:effectLst/>
                <a:uFillTx/>
                <a:latin typeface="Arial Rounded MT Bold"/>
              </a:rPr>
              <a:t>a</a:t>
            </a:r>
            <a:endParaRPr lang="it-IT" sz="14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cxnSp>
        <p:nvCxnSpPr>
          <p:cNvPr id="281" name="AutoShape 26"/>
          <p:cNvCxnSpPr>
            <a:stCxn id="268" idx="4"/>
            <a:endCxn id="269" idx="6"/>
          </p:cNvCxnSpPr>
          <p:nvPr/>
        </p:nvCxnSpPr>
        <p:spPr>
          <a:xfrm rot="5400000">
            <a:off x="2521080" y="4712400"/>
            <a:ext cx="554760" cy="1321200"/>
          </a:xfrm>
          <a:prstGeom prst="curvedConnector2">
            <a:avLst/>
          </a:prstGeom>
          <a:ln w="9360">
            <a:solidFill>
              <a:srgbClr val="000000"/>
            </a:solidFill>
            <a:miter/>
            <a:tailEnd len="med" type="triangle" w="med"/>
          </a:ln>
        </p:spPr>
      </p:cxnSp>
      <p:sp>
        <p:nvSpPr>
          <p:cNvPr id="282" name="Text Box 27"/>
          <p:cNvSpPr/>
          <p:nvPr/>
        </p:nvSpPr>
        <p:spPr>
          <a:xfrm>
            <a:off x="3346560" y="5195880"/>
            <a:ext cx="239760" cy="30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876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400" b="0" u="sng" strike="noStrike">
                <a:solidFill>
                  <a:srgbClr val="000000"/>
                </a:solidFill>
                <a:effectLst/>
                <a:uFillTx/>
                <a:latin typeface="Arial Rounded MT Bold"/>
              </a:rPr>
              <a:t>b</a:t>
            </a:r>
            <a:endParaRPr lang="it-IT" sz="14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graphicFrame>
        <p:nvGraphicFramePr>
          <p:cNvPr id="283" name=""/>
          <p:cNvGraphicFramePr/>
          <p:nvPr/>
        </p:nvGraphicFramePr>
        <p:xfrm>
          <a:off x="685800" y="1447920"/>
          <a:ext cx="7696080" cy="2260440"/>
        </p:xfrm>
        <a:graphic>
          <a:graphicData uri="http://schemas.openxmlformats.org/drawingml/2006/table">
            <a:tbl>
              <a:tblPr/>
              <a:tblGrid>
                <a:gridCol w="457200"/>
                <a:gridCol w="1905120"/>
                <a:gridCol w="1600200"/>
                <a:gridCol w="1218960"/>
                <a:gridCol w="1143000"/>
                <a:gridCol w="1371600"/>
              </a:tblGrid>
              <a:tr h="452160"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spcBef>
                          <a:spcPts val="4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endParaRPr lang="it-IT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>
                      <a:noFill/>
                    </a:lnL>
                    <a:lnR>
                      <a:noFill/>
                    </a:lnR>
                    <a:lnT w="13680">
                      <a:solidFill>
                        <a:srgbClr val="B025A6"/>
                      </a:solidFill>
                      <a:prstDash val="solid"/>
                    </a:lnT>
                    <a:lnB w="5760">
                      <a:solidFill>
                        <a:srgbClr val="B025A6"/>
                      </a:solidFill>
                      <a:prstDash val="soli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spcBef>
                          <a:spcPts val="4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Current Partition</a:t>
                      </a:r>
                      <a:endParaRPr lang="it-IT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>
                      <a:noFill/>
                    </a:lnL>
                    <a:lnR>
                      <a:noFill/>
                    </a:lnR>
                    <a:lnT w="13680">
                      <a:solidFill>
                        <a:srgbClr val="B025A6"/>
                      </a:solidFill>
                      <a:prstDash val="solid"/>
                    </a:lnT>
                    <a:lnB w="5760">
                      <a:solidFill>
                        <a:srgbClr val="B025A6"/>
                      </a:solidFill>
                      <a:prstDash val="soli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spcBef>
                          <a:spcPts val="4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Worklist</a:t>
                      </a:r>
                      <a:endParaRPr lang="it-IT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>
                      <a:noFill/>
                    </a:lnL>
                    <a:lnR>
                      <a:noFill/>
                    </a:lnR>
                    <a:lnT w="13680">
                      <a:solidFill>
                        <a:srgbClr val="B025A6"/>
                      </a:solidFill>
                      <a:prstDash val="solid"/>
                    </a:lnT>
                    <a:lnB w="5760">
                      <a:solidFill>
                        <a:srgbClr val="B025A6"/>
                      </a:solidFill>
                      <a:prstDash val="soli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spcBef>
                          <a:spcPts val="4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s</a:t>
                      </a:r>
                      <a:endParaRPr lang="it-IT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>
                      <a:noFill/>
                    </a:lnL>
                    <a:lnR>
                      <a:noFill/>
                    </a:lnR>
                    <a:lnT w="13680">
                      <a:solidFill>
                        <a:srgbClr val="B025A6"/>
                      </a:solidFill>
                      <a:prstDash val="solid"/>
                    </a:lnT>
                    <a:lnB w="5760">
                      <a:solidFill>
                        <a:srgbClr val="B025A6"/>
                      </a:solidFill>
                      <a:prstDash val="soli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spcBef>
                          <a:spcPts val="4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Split on </a:t>
                      </a:r>
                      <a:r>
                        <a:rPr lang="en-US" sz="1600" b="0" u="sng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a</a:t>
                      </a:r>
                      <a:endParaRPr lang="it-IT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>
                      <a:noFill/>
                    </a:lnL>
                    <a:lnR>
                      <a:noFill/>
                    </a:lnR>
                    <a:lnT w="13680">
                      <a:solidFill>
                        <a:srgbClr val="B025A6"/>
                      </a:solidFill>
                      <a:prstDash val="solid"/>
                    </a:lnT>
                    <a:lnB w="5760">
                      <a:solidFill>
                        <a:srgbClr val="B025A6"/>
                      </a:solidFill>
                      <a:prstDash val="soli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spcBef>
                          <a:spcPts val="4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Split on </a:t>
                      </a:r>
                      <a:r>
                        <a:rPr lang="en-US" sz="1600" b="0" u="sng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b</a:t>
                      </a:r>
                      <a:endParaRPr lang="it-IT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>
                      <a:noFill/>
                    </a:lnL>
                    <a:lnR>
                      <a:noFill/>
                    </a:lnR>
                    <a:lnT w="13680">
                      <a:solidFill>
                        <a:srgbClr val="B025A6"/>
                      </a:solidFill>
                      <a:prstDash val="solid"/>
                    </a:lnT>
                    <a:lnB w="5760">
                      <a:solidFill>
                        <a:srgbClr val="B025A6"/>
                      </a:solidFill>
                      <a:prstDash val="solid"/>
                    </a:lnB>
                    <a:solidFill>
                      <a:srgbClr val="E6E6E6"/>
                    </a:solidFill>
                  </a:tcPr>
                </a:tc>
              </a:tr>
              <a:tr h="452520"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P</a:t>
                      </a:r>
                      <a:r>
                        <a:rPr lang="en-US" sz="1600" b="0" i="1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0</a:t>
                      </a:r>
                      <a:endParaRPr lang="it-IT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>
                      <a:noFill/>
                    </a:lnL>
                    <a:lnR>
                      <a:noFill/>
                    </a:lnR>
                    <a:lnT w="5760">
                      <a:solidFill>
                        <a:srgbClr val="B025A6"/>
                      </a:solidFill>
                      <a:prstDash val="solid"/>
                    </a:lnT>
                    <a:lnB>
                      <a:noFill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{s</a:t>
                      </a:r>
                      <a:r>
                        <a:rPr lang="en-US" sz="1600" b="0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4</a:t>
                      </a: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}</a:t>
                      </a:r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 </a:t>
                      </a: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{s</a:t>
                      </a:r>
                      <a:r>
                        <a:rPr lang="en-US" sz="1600" b="0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0</a:t>
                      </a: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,s</a:t>
                      </a:r>
                      <a:r>
                        <a:rPr lang="en-US" sz="1600" b="0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1</a:t>
                      </a: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,s</a:t>
                      </a:r>
                      <a:r>
                        <a:rPr lang="en-US" sz="1600" b="0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2</a:t>
                      </a: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,s</a:t>
                      </a:r>
                      <a:r>
                        <a:rPr lang="en-US" sz="1600" b="0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3</a:t>
                      </a: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}</a:t>
                      </a:r>
                      <a:endParaRPr lang="it-IT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>
                      <a:noFill/>
                    </a:lnL>
                    <a:lnR>
                      <a:noFill/>
                    </a:lnR>
                    <a:lnT w="5760">
                      <a:solidFill>
                        <a:srgbClr val="B025A6"/>
                      </a:solidFill>
                      <a:prstDash val="soli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600" b="0" u="none" strike="noStrike">
                          <a:solidFill>
                            <a:srgbClr val="B3B3B3"/>
                          </a:solidFill>
                          <a:effectLst/>
                          <a:uFillTx/>
                          <a:latin typeface="Comic Sans MS"/>
                        </a:rPr>
                        <a:t>{s</a:t>
                      </a:r>
                      <a:r>
                        <a:rPr lang="en-US" sz="1600" b="0" u="none" strike="noStrike" baseline="-25000">
                          <a:solidFill>
                            <a:srgbClr val="B3B3B3"/>
                          </a:solidFill>
                          <a:effectLst/>
                          <a:uFillTx/>
                          <a:latin typeface="Comic Sans MS"/>
                        </a:rPr>
                        <a:t>4</a:t>
                      </a:r>
                      <a:r>
                        <a:rPr lang="en-US" sz="1600" b="0" u="none" strike="noStrike">
                          <a:solidFill>
                            <a:srgbClr val="B3B3B3"/>
                          </a:solidFill>
                          <a:effectLst/>
                          <a:uFillTx/>
                          <a:latin typeface="Comic Sans MS"/>
                        </a:rPr>
                        <a:t>}</a:t>
                      </a:r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 </a:t>
                      </a: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{s</a:t>
                      </a:r>
                      <a:r>
                        <a:rPr lang="en-US" sz="1600" b="0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0</a:t>
                      </a: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,s</a:t>
                      </a:r>
                      <a:r>
                        <a:rPr lang="en-US" sz="1600" b="0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1</a:t>
                      </a: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,s</a:t>
                      </a:r>
                      <a:r>
                        <a:rPr lang="en-US" sz="1600" b="0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2</a:t>
                      </a: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,s</a:t>
                      </a:r>
                      <a:r>
                        <a:rPr lang="en-US" sz="1600" b="0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3</a:t>
                      </a: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}</a:t>
                      </a:r>
                      <a:endParaRPr lang="it-IT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>
                      <a:noFill/>
                    </a:lnL>
                    <a:lnR>
                      <a:noFill/>
                    </a:lnR>
                    <a:lnT w="5760">
                      <a:solidFill>
                        <a:srgbClr val="B025A6"/>
                      </a:solidFill>
                      <a:prstDash val="soli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{s</a:t>
                      </a:r>
                      <a:r>
                        <a:rPr lang="en-US" sz="1600" b="0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4</a:t>
                      </a: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}</a:t>
                      </a:r>
                      <a:endParaRPr lang="it-IT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>
                      <a:noFill/>
                    </a:lnL>
                    <a:lnR>
                      <a:noFill/>
                    </a:lnR>
                    <a:lnT w="5760">
                      <a:solidFill>
                        <a:srgbClr val="B025A6"/>
                      </a:solidFill>
                      <a:prstDash val="soli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none</a:t>
                      </a:r>
                      <a:endParaRPr lang="it-IT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>
                      <a:noFill/>
                    </a:lnL>
                    <a:lnR>
                      <a:noFill/>
                    </a:lnR>
                    <a:lnT w="5760">
                      <a:solidFill>
                        <a:srgbClr val="B025A6"/>
                      </a:solidFill>
                      <a:prstDash val="soli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600" b="0" u="none" strike="noStrike">
                          <a:solidFill>
                            <a:srgbClr val="FF0065"/>
                          </a:solidFill>
                          <a:effectLst/>
                          <a:uFillTx/>
                          <a:latin typeface="Comic Sans MS"/>
                        </a:rPr>
                        <a:t>{s</a:t>
                      </a:r>
                      <a:r>
                        <a:rPr lang="en-US" sz="1600" b="0" u="none" strike="noStrike" baseline="-25000">
                          <a:solidFill>
                            <a:srgbClr val="FF0065"/>
                          </a:solidFill>
                          <a:effectLst/>
                          <a:uFillTx/>
                          <a:latin typeface="Comic Sans MS"/>
                        </a:rPr>
                        <a:t>3</a:t>
                      </a:r>
                      <a:r>
                        <a:rPr lang="en-US" sz="1600" b="0" u="none" strike="noStrike">
                          <a:solidFill>
                            <a:srgbClr val="FF0065"/>
                          </a:solidFill>
                          <a:effectLst/>
                          <a:uFillTx/>
                          <a:latin typeface="Comic Sans MS"/>
                        </a:rPr>
                        <a:t>}</a:t>
                      </a: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 </a:t>
                      </a:r>
                      <a:r>
                        <a:rPr lang="en-US" sz="1600" b="0" u="none" strike="noStrike">
                          <a:solidFill>
                            <a:srgbClr val="B025A6"/>
                          </a:solidFill>
                          <a:effectLst/>
                          <a:uFillTx/>
                          <a:latin typeface="Comic Sans MS"/>
                        </a:rPr>
                        <a:t>{s</a:t>
                      </a:r>
                      <a:r>
                        <a:rPr lang="en-US" sz="1600" b="0" u="none" strike="noStrike" baseline="-25000">
                          <a:solidFill>
                            <a:srgbClr val="B025A6"/>
                          </a:solidFill>
                          <a:effectLst/>
                          <a:uFillTx/>
                          <a:latin typeface="Comic Sans MS"/>
                        </a:rPr>
                        <a:t>0</a:t>
                      </a:r>
                      <a:r>
                        <a:rPr lang="en-US" sz="1600" b="0" u="none" strike="noStrike">
                          <a:solidFill>
                            <a:srgbClr val="B025A6"/>
                          </a:solidFill>
                          <a:effectLst/>
                          <a:uFillTx/>
                          <a:latin typeface="Comic Sans MS"/>
                        </a:rPr>
                        <a:t>,s</a:t>
                      </a:r>
                      <a:r>
                        <a:rPr lang="en-US" sz="1600" b="0" u="none" strike="noStrike" baseline="-25000">
                          <a:solidFill>
                            <a:srgbClr val="B025A6"/>
                          </a:solidFill>
                          <a:effectLst/>
                          <a:uFillTx/>
                          <a:latin typeface="Comic Sans MS"/>
                        </a:rPr>
                        <a:t>1</a:t>
                      </a:r>
                      <a:r>
                        <a:rPr lang="en-US" sz="1600" b="0" u="none" strike="noStrike">
                          <a:solidFill>
                            <a:srgbClr val="B025A6"/>
                          </a:solidFill>
                          <a:effectLst/>
                          <a:uFillTx/>
                          <a:latin typeface="Comic Sans MS"/>
                        </a:rPr>
                        <a:t>,s</a:t>
                      </a:r>
                      <a:r>
                        <a:rPr lang="en-US" sz="1600" b="0" u="none" strike="noStrike" baseline="-25000">
                          <a:solidFill>
                            <a:srgbClr val="B025A6"/>
                          </a:solidFill>
                          <a:effectLst/>
                          <a:uFillTx/>
                          <a:latin typeface="Comic Sans MS"/>
                        </a:rPr>
                        <a:t>2</a:t>
                      </a:r>
                      <a:r>
                        <a:rPr lang="en-US" sz="1600" b="0" u="none" strike="noStrike">
                          <a:solidFill>
                            <a:srgbClr val="B025A6"/>
                          </a:solidFill>
                          <a:effectLst/>
                          <a:uFillTx/>
                          <a:latin typeface="Comic Sans MS"/>
                        </a:rPr>
                        <a:t>}</a:t>
                      </a:r>
                      <a:endParaRPr lang="it-IT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>
                      <a:noFill/>
                    </a:lnL>
                    <a:lnR>
                      <a:noFill/>
                    </a:lnR>
                    <a:lnT w="5760">
                      <a:solidFill>
                        <a:srgbClr val="B025A6"/>
                      </a:solidFill>
                      <a:prstDash val="solid"/>
                    </a:lnT>
                    <a:lnB>
                      <a:noFill/>
                    </a:lnB>
                    <a:noFill/>
                  </a:tcPr>
                </a:tc>
              </a:tr>
              <a:tr h="451080"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lnSpc>
                          <a:spcPct val="110000"/>
                        </a:lnSpc>
                        <a:spcBef>
                          <a:spcPts val="4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endParaRPr lang="it-IT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lnSpc>
                          <a:spcPct val="110000"/>
                        </a:lnSpc>
                        <a:spcBef>
                          <a:spcPts val="4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endParaRPr lang="it-IT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lnSpc>
                          <a:spcPct val="110000"/>
                        </a:lnSpc>
                        <a:spcBef>
                          <a:spcPts val="4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endParaRPr lang="it-IT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lnSpc>
                          <a:spcPct val="110000"/>
                        </a:lnSpc>
                        <a:spcBef>
                          <a:spcPts val="4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endParaRPr lang="it-IT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lnSpc>
                          <a:spcPct val="110000"/>
                        </a:lnSpc>
                        <a:spcBef>
                          <a:spcPts val="4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endParaRPr lang="it-IT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lnSpc>
                          <a:spcPct val="110000"/>
                        </a:lnSpc>
                        <a:spcBef>
                          <a:spcPts val="4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endParaRPr lang="it-IT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52160"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lnSpc>
                          <a:spcPct val="110000"/>
                        </a:lnSpc>
                        <a:spcBef>
                          <a:spcPts val="4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endParaRPr lang="it-IT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lnSpc>
                          <a:spcPct val="110000"/>
                        </a:lnSpc>
                        <a:spcBef>
                          <a:spcPts val="4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endParaRPr lang="it-IT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lnSpc>
                          <a:spcPct val="110000"/>
                        </a:lnSpc>
                        <a:spcBef>
                          <a:spcPts val="4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endParaRPr lang="it-IT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lnSpc>
                          <a:spcPct val="110000"/>
                        </a:lnSpc>
                        <a:spcBef>
                          <a:spcPts val="4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endParaRPr lang="it-IT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lnSpc>
                          <a:spcPct val="110000"/>
                        </a:lnSpc>
                        <a:spcBef>
                          <a:spcPts val="4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endParaRPr lang="it-IT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lnSpc>
                          <a:spcPct val="110000"/>
                        </a:lnSpc>
                        <a:spcBef>
                          <a:spcPts val="4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endParaRPr lang="it-IT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52520"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lnSpc>
                          <a:spcPct val="110000"/>
                        </a:lnSpc>
                        <a:spcBef>
                          <a:spcPts val="4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endParaRPr lang="it-IT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lnSpc>
                          <a:spcPct val="110000"/>
                        </a:lnSpc>
                        <a:spcBef>
                          <a:spcPts val="4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endParaRPr lang="it-IT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lnSpc>
                          <a:spcPct val="110000"/>
                        </a:lnSpc>
                        <a:spcBef>
                          <a:spcPts val="4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endParaRPr lang="it-IT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lnSpc>
                          <a:spcPct val="110000"/>
                        </a:lnSpc>
                        <a:spcBef>
                          <a:spcPts val="4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endParaRPr lang="it-IT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lnSpc>
                          <a:spcPct val="110000"/>
                        </a:lnSpc>
                        <a:spcBef>
                          <a:spcPts val="4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endParaRPr lang="it-IT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lnSpc>
                          <a:spcPct val="110000"/>
                        </a:lnSpc>
                        <a:spcBef>
                          <a:spcPts val="4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endParaRPr lang="it-IT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</p:spTree>
  </p:cSld>
  <p:transition>
    <p:wipe dir="r"/>
  </p:transition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Footer Placeholder 3"/>
          <p:cNvSpPr/>
          <p:nvPr/>
        </p:nvSpPr>
        <p:spPr>
          <a:xfrm>
            <a:off x="685800" y="6248520"/>
            <a:ext cx="289548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Autofit/>
          </a:bodyPr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Comp 412, Fall 2010</a:t>
            </a:r>
            <a:endParaRPr lang="it-IT" sz="12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285" name="Slide Number Placeholder 4"/>
          <p:cNvSpPr/>
          <p:nvPr/>
        </p:nvSpPr>
        <p:spPr>
          <a:xfrm>
            <a:off x="6553080" y="6248520"/>
            <a:ext cx="190512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Autofit/>
          </a:bodyPr>
          <a:p>
            <a:pPr algn="r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C3C1B090-51AF-4CDC-80FF-A1053F4583C4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&lt;number&gt;</a:t>
            </a:fld>
            <a:endParaRPr lang="it-IT" sz="12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286" name="PlaceHolder 1"/>
          <p:cNvSpPr>
            <a:spLocks noGrp="1"/>
          </p:cNvSpPr>
          <p:nvPr>
            <p:ph type="title"/>
          </p:nvPr>
        </p:nvSpPr>
        <p:spPr>
          <a:xfrm>
            <a:off x="685800" y="533160"/>
            <a:ext cx="7772400" cy="533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l">
              <a:spcBef>
                <a:spcPts val="901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A Detailed Example          (DFA Minimization)</a:t>
            </a:r>
            <a:endParaRPr lang="it-IT" sz="24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cxnSp>
        <p:nvCxnSpPr>
          <p:cNvPr id="287" name="AutoShape 3"/>
          <p:cNvCxnSpPr>
            <a:stCxn id="288" idx="7"/>
            <a:endCxn id="288" idx="1"/>
          </p:cNvCxnSpPr>
          <p:nvPr/>
        </p:nvCxnSpPr>
        <p:spPr>
          <a:xfrm rot="5400000">
            <a:off x="1947600" y="4626720"/>
            <a:ext cx="2520" cy="255960"/>
          </a:xfrm>
          <a:prstGeom prst="curvedConnector5">
            <a:avLst>
              <a:gd name="adj1" fmla="val -17600000"/>
              <a:gd name="adj2" fmla="val 50000"/>
              <a:gd name="adj3" fmla="val -17600000"/>
            </a:avLst>
          </a:prstGeom>
          <a:ln w="9360">
            <a:solidFill>
              <a:srgbClr val="B025A6"/>
            </a:solidFill>
            <a:miter/>
            <a:tailEnd len="med" type="triangle" w="med"/>
          </a:ln>
        </p:spPr>
      </p:cxnSp>
      <p:sp>
        <p:nvSpPr>
          <p:cNvPr id="289" name="Oval 4"/>
          <p:cNvSpPr/>
          <p:nvPr/>
        </p:nvSpPr>
        <p:spPr>
          <a:xfrm>
            <a:off x="1014480" y="4708440"/>
            <a:ext cx="361800" cy="370080"/>
          </a:xfrm>
          <a:prstGeom prst="ellipse">
            <a:avLst/>
          </a:prstGeom>
          <a:noFill/>
          <a:ln w="19080">
            <a:solidFill>
              <a:srgbClr val="B025A6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400" b="0" i="1" u="none" strike="noStrike">
                <a:solidFill>
                  <a:srgbClr val="B025A6"/>
                </a:solidFill>
                <a:effectLst/>
                <a:uFillTx/>
                <a:latin typeface="Arial Rounded MT Bold"/>
              </a:rPr>
              <a:t>s</a:t>
            </a:r>
            <a:r>
              <a:rPr lang="en-US" sz="1400" b="0" i="1" u="none" strike="noStrike" baseline="-25000">
                <a:solidFill>
                  <a:srgbClr val="B025A6"/>
                </a:solidFill>
                <a:effectLst/>
                <a:uFillTx/>
                <a:latin typeface="Arial Rounded MT Bold"/>
              </a:rPr>
              <a:t>0 </a:t>
            </a:r>
            <a:endParaRPr lang="it-IT" sz="14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290" name="Line 5"/>
          <p:cNvSpPr/>
          <p:nvPr/>
        </p:nvSpPr>
        <p:spPr>
          <a:xfrm>
            <a:off x="1357200" y="4915080"/>
            <a:ext cx="395280" cy="0"/>
          </a:xfrm>
          <a:prstGeom prst="line">
            <a:avLst/>
          </a:prstGeom>
          <a:ln w="9360">
            <a:solidFill>
              <a:srgbClr val="B025A6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-46800" rIns="90000" bIns="-46800" anchor="ctr">
            <a:noAutofit/>
          </a:bodyPr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291" name="Text Box 6"/>
          <p:cNvSpPr/>
          <p:nvPr/>
        </p:nvSpPr>
        <p:spPr>
          <a:xfrm>
            <a:off x="1425600" y="4640400"/>
            <a:ext cx="237960" cy="30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876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400" b="0" u="sng" strike="noStrike">
                <a:solidFill>
                  <a:srgbClr val="000000"/>
                </a:solidFill>
                <a:effectLst/>
                <a:uFillTx/>
                <a:latin typeface="Arial Rounded MT Bold"/>
              </a:rPr>
              <a:t>a</a:t>
            </a:r>
            <a:endParaRPr lang="it-IT" sz="14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288" name="Oval 7"/>
          <p:cNvSpPr/>
          <p:nvPr/>
        </p:nvSpPr>
        <p:spPr>
          <a:xfrm>
            <a:off x="1768320" y="4708440"/>
            <a:ext cx="362160" cy="370080"/>
          </a:xfrm>
          <a:prstGeom prst="ellipse">
            <a:avLst/>
          </a:prstGeom>
          <a:noFill/>
          <a:ln w="19080">
            <a:solidFill>
              <a:srgbClr val="B025A6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400" b="0" i="1" u="none" strike="noStrike">
                <a:solidFill>
                  <a:srgbClr val="B025A6"/>
                </a:solidFill>
                <a:effectLst/>
                <a:uFillTx/>
                <a:latin typeface="Arial Rounded MT Bold"/>
              </a:rPr>
              <a:t>s</a:t>
            </a:r>
            <a:r>
              <a:rPr lang="en-US" sz="1400" b="0" i="1" u="none" strike="noStrike" baseline="-25000">
                <a:solidFill>
                  <a:srgbClr val="B025A6"/>
                </a:solidFill>
                <a:effectLst/>
                <a:uFillTx/>
                <a:latin typeface="Arial Rounded MT Bold"/>
              </a:rPr>
              <a:t>1 </a:t>
            </a:r>
            <a:endParaRPr lang="it-IT" sz="14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292" name="Line 8"/>
          <p:cNvSpPr/>
          <p:nvPr/>
        </p:nvSpPr>
        <p:spPr>
          <a:xfrm>
            <a:off x="2111400" y="4915080"/>
            <a:ext cx="395280" cy="0"/>
          </a:xfrm>
          <a:prstGeom prst="line">
            <a:avLst/>
          </a:prstGeom>
          <a:ln w="9360">
            <a:solidFill>
              <a:srgbClr val="000000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-46800" rIns="90000" bIns="-46800" anchor="ctr">
            <a:noAutofit/>
          </a:bodyPr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293" name="Text Box 9"/>
          <p:cNvSpPr/>
          <p:nvPr/>
        </p:nvSpPr>
        <p:spPr>
          <a:xfrm>
            <a:off x="1357200" y="5189400"/>
            <a:ext cx="238320" cy="30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876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400" b="0" u="sng" strike="noStrike">
                <a:solidFill>
                  <a:srgbClr val="000000"/>
                </a:solidFill>
                <a:effectLst/>
                <a:uFillTx/>
                <a:latin typeface="Arial Rounded MT Bold"/>
              </a:rPr>
              <a:t>b</a:t>
            </a:r>
            <a:endParaRPr lang="it-IT" sz="14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294" name="Oval 10"/>
          <p:cNvSpPr/>
          <p:nvPr/>
        </p:nvSpPr>
        <p:spPr>
          <a:xfrm>
            <a:off x="2522520" y="4708440"/>
            <a:ext cx="361800" cy="370080"/>
          </a:xfrm>
          <a:prstGeom prst="ellipse">
            <a:avLst/>
          </a:prstGeom>
          <a:noFill/>
          <a:ln w="19080">
            <a:solidFill>
              <a:srgbClr val="FF0065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400" b="0" i="1" u="none" strike="noStrike">
                <a:solidFill>
                  <a:srgbClr val="FF0065"/>
                </a:solidFill>
                <a:effectLst/>
                <a:uFillTx/>
                <a:latin typeface="Arial Rounded MT Bold"/>
              </a:rPr>
              <a:t>s</a:t>
            </a:r>
            <a:r>
              <a:rPr lang="en-US" sz="1400" b="0" i="1" u="none" strike="noStrike" baseline="-25000">
                <a:solidFill>
                  <a:srgbClr val="FF0065"/>
                </a:solidFill>
                <a:effectLst/>
                <a:uFillTx/>
                <a:latin typeface="Arial Rounded MT Bold"/>
              </a:rPr>
              <a:t>3 </a:t>
            </a:r>
            <a:endParaRPr lang="it-IT" sz="14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295" name="Line 11"/>
          <p:cNvSpPr/>
          <p:nvPr/>
        </p:nvSpPr>
        <p:spPr>
          <a:xfrm>
            <a:off x="2865600" y="4915080"/>
            <a:ext cx="395280" cy="0"/>
          </a:xfrm>
          <a:prstGeom prst="line">
            <a:avLst/>
          </a:prstGeom>
          <a:ln w="9360">
            <a:solidFill>
              <a:srgbClr val="FF0065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-46800" rIns="90000" bIns="-46800" anchor="ctr">
            <a:noAutofit/>
          </a:bodyPr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296" name="Text Box 12"/>
          <p:cNvSpPr/>
          <p:nvPr/>
        </p:nvSpPr>
        <p:spPr>
          <a:xfrm>
            <a:off x="2933640" y="4640400"/>
            <a:ext cx="239760" cy="30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876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400" b="0" u="sng" strike="noStrike">
                <a:solidFill>
                  <a:srgbClr val="000000"/>
                </a:solidFill>
                <a:effectLst/>
                <a:uFillTx/>
                <a:latin typeface="Arial Rounded MT Bold"/>
              </a:rPr>
              <a:t>b</a:t>
            </a:r>
            <a:endParaRPr lang="it-IT" sz="14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297" name="Oval 13"/>
          <p:cNvSpPr/>
          <p:nvPr/>
        </p:nvSpPr>
        <p:spPr>
          <a:xfrm>
            <a:off x="3276720" y="4708440"/>
            <a:ext cx="361800" cy="370080"/>
          </a:xfrm>
          <a:prstGeom prst="ellipse">
            <a:avLst/>
          </a:prstGeom>
          <a:noFill/>
          <a:ln w="381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400" b="0" i="1" u="none" strike="noStrike">
                <a:solidFill>
                  <a:srgbClr val="000000"/>
                </a:solidFill>
                <a:effectLst/>
                <a:uFillTx/>
                <a:latin typeface="Arial Rounded MT Bold"/>
              </a:rPr>
              <a:t>s</a:t>
            </a:r>
            <a:r>
              <a:rPr lang="en-US" sz="1400" b="0" i="1" u="none" strike="noStrike" baseline="-25000">
                <a:solidFill>
                  <a:srgbClr val="000000"/>
                </a:solidFill>
                <a:effectLst/>
                <a:uFillTx/>
                <a:latin typeface="Arial Rounded MT Bold"/>
              </a:rPr>
              <a:t>4 </a:t>
            </a:r>
            <a:endParaRPr lang="it-IT" sz="14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298" name="Oval 14"/>
          <p:cNvSpPr/>
          <p:nvPr/>
        </p:nvSpPr>
        <p:spPr>
          <a:xfrm>
            <a:off x="1768320" y="5464080"/>
            <a:ext cx="362160" cy="370080"/>
          </a:xfrm>
          <a:prstGeom prst="ellipse">
            <a:avLst/>
          </a:prstGeom>
          <a:noFill/>
          <a:ln w="19080">
            <a:solidFill>
              <a:srgbClr val="B025A6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400" b="0" i="1" u="none" strike="noStrike">
                <a:solidFill>
                  <a:srgbClr val="B025A6"/>
                </a:solidFill>
                <a:effectLst/>
                <a:uFillTx/>
                <a:latin typeface="Arial Rounded MT Bold"/>
              </a:rPr>
              <a:t>s</a:t>
            </a:r>
            <a:r>
              <a:rPr lang="en-US" sz="1400" b="0" i="1" u="none" strike="noStrike" baseline="-25000">
                <a:solidFill>
                  <a:srgbClr val="B025A6"/>
                </a:solidFill>
                <a:effectLst/>
                <a:uFillTx/>
                <a:latin typeface="Arial Rounded MT Bold"/>
              </a:rPr>
              <a:t>2</a:t>
            </a:r>
            <a:endParaRPr lang="it-IT" sz="14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299" name="Line 15"/>
          <p:cNvSpPr/>
          <p:nvPr/>
        </p:nvSpPr>
        <p:spPr>
          <a:xfrm>
            <a:off x="1305000" y="5035680"/>
            <a:ext cx="495360" cy="488880"/>
          </a:xfrm>
          <a:prstGeom prst="line">
            <a:avLst/>
          </a:prstGeom>
          <a:ln w="9360">
            <a:solidFill>
              <a:srgbClr val="B025A6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ctr">
            <a:noAutofit/>
          </a:bodyPr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300" name="Line 16"/>
          <p:cNvSpPr/>
          <p:nvPr/>
        </p:nvSpPr>
        <p:spPr>
          <a:xfrm flipV="1">
            <a:off x="1935000" y="5081760"/>
            <a:ext cx="0" cy="374400"/>
          </a:xfrm>
          <a:prstGeom prst="line">
            <a:avLst/>
          </a:prstGeom>
          <a:ln w="9360">
            <a:solidFill>
              <a:srgbClr val="B025A6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ctr">
            <a:noAutofit/>
          </a:bodyPr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301" name="Text Box 17"/>
          <p:cNvSpPr/>
          <p:nvPr/>
        </p:nvSpPr>
        <p:spPr>
          <a:xfrm>
            <a:off x="1935000" y="5189400"/>
            <a:ext cx="239760" cy="30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876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400" b="0" u="sng" strike="noStrike">
                <a:solidFill>
                  <a:srgbClr val="000000"/>
                </a:solidFill>
                <a:effectLst/>
                <a:uFillTx/>
                <a:latin typeface="Arial Rounded MT Bold"/>
              </a:rPr>
              <a:t>a</a:t>
            </a:r>
            <a:endParaRPr lang="it-IT" sz="14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302" name="Text Box 18"/>
          <p:cNvSpPr/>
          <p:nvPr/>
        </p:nvSpPr>
        <p:spPr>
          <a:xfrm>
            <a:off x="2179800" y="4640400"/>
            <a:ext cx="239400" cy="30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876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400" b="0" u="sng" strike="noStrike">
                <a:solidFill>
                  <a:srgbClr val="000000"/>
                </a:solidFill>
                <a:effectLst/>
                <a:uFillTx/>
                <a:latin typeface="Arial Rounded MT Bold"/>
              </a:rPr>
              <a:t>b</a:t>
            </a:r>
            <a:endParaRPr lang="it-IT" sz="14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cxnSp>
        <p:nvCxnSpPr>
          <p:cNvPr id="303" name="AutoShape 19"/>
          <p:cNvCxnSpPr>
            <a:stCxn id="298" idx="3"/>
            <a:endCxn id="298" idx="5"/>
          </p:cNvCxnSpPr>
          <p:nvPr/>
        </p:nvCxnSpPr>
        <p:spPr>
          <a:xfrm flipH="1" rot="16200000">
            <a:off x="1947960" y="5661000"/>
            <a:ext cx="2160" cy="255960"/>
          </a:xfrm>
          <a:prstGeom prst="curvedConnector5">
            <a:avLst>
              <a:gd name="adj1" fmla="val 17600000"/>
              <a:gd name="adj2" fmla="val 50000"/>
              <a:gd name="adj3" fmla="val 17600000"/>
            </a:avLst>
          </a:prstGeom>
          <a:ln w="9360">
            <a:solidFill>
              <a:srgbClr val="B025A6"/>
            </a:solidFill>
            <a:miter/>
            <a:headEnd len="med" type="triangle" w="med"/>
          </a:ln>
        </p:spPr>
      </p:cxnSp>
      <p:sp>
        <p:nvSpPr>
          <p:cNvPr id="304" name="Text Box 20"/>
          <p:cNvSpPr/>
          <p:nvPr/>
        </p:nvSpPr>
        <p:spPr>
          <a:xfrm>
            <a:off x="2013120" y="5865840"/>
            <a:ext cx="237960" cy="30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876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400" b="0" u="sng" strike="noStrike">
                <a:solidFill>
                  <a:srgbClr val="000000"/>
                </a:solidFill>
                <a:effectLst/>
                <a:uFillTx/>
                <a:latin typeface="Arial Rounded MT Bold"/>
              </a:rPr>
              <a:t>b</a:t>
            </a:r>
            <a:endParaRPr lang="it-IT" sz="14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305" name="Text Box 21"/>
          <p:cNvSpPr/>
          <p:nvPr/>
        </p:nvSpPr>
        <p:spPr>
          <a:xfrm>
            <a:off x="2027160" y="4373640"/>
            <a:ext cx="238320" cy="30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876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400" b="0" u="sng" strike="noStrike">
                <a:solidFill>
                  <a:srgbClr val="000000"/>
                </a:solidFill>
                <a:effectLst/>
                <a:uFillTx/>
                <a:latin typeface="Arial Rounded MT Bold"/>
              </a:rPr>
              <a:t>a</a:t>
            </a:r>
            <a:endParaRPr lang="it-IT" sz="14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cxnSp>
        <p:nvCxnSpPr>
          <p:cNvPr id="306" name="AutoShape 22"/>
          <p:cNvCxnSpPr>
            <a:stCxn id="294" idx="4"/>
            <a:endCxn id="288" idx="5"/>
          </p:cNvCxnSpPr>
          <p:nvPr/>
        </p:nvCxnSpPr>
        <p:spPr>
          <a:xfrm flipV="1" rot="16200000">
            <a:off x="2363400" y="4745880"/>
            <a:ext cx="54720" cy="629280"/>
          </a:xfrm>
          <a:prstGeom prst="curvedConnector5">
            <a:avLst>
              <a:gd name="adj1" fmla="val -249668"/>
              <a:gd name="adj2" fmla="val 49971"/>
              <a:gd name="adj3" fmla="val -249668"/>
            </a:avLst>
          </a:prstGeom>
          <a:ln w="9360">
            <a:solidFill>
              <a:srgbClr val="000000"/>
            </a:solidFill>
            <a:miter/>
            <a:tailEnd len="med" type="triangle" w="med"/>
          </a:ln>
        </p:spPr>
      </p:cxnSp>
      <p:sp>
        <p:nvSpPr>
          <p:cNvPr id="307" name="Text Box 23"/>
          <p:cNvSpPr/>
          <p:nvPr/>
        </p:nvSpPr>
        <p:spPr>
          <a:xfrm>
            <a:off x="2522520" y="5121360"/>
            <a:ext cx="239760" cy="30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876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400" b="0" u="sng" strike="noStrike">
                <a:solidFill>
                  <a:srgbClr val="000000"/>
                </a:solidFill>
                <a:effectLst/>
                <a:uFillTx/>
                <a:latin typeface="Arial Rounded MT Bold"/>
              </a:rPr>
              <a:t>a</a:t>
            </a:r>
            <a:endParaRPr lang="it-IT" sz="14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cxnSp>
        <p:nvCxnSpPr>
          <p:cNvPr id="308" name="AutoShape 24"/>
          <p:cNvCxnSpPr>
            <a:stCxn id="297" idx="0"/>
          </p:cNvCxnSpPr>
          <p:nvPr/>
        </p:nvCxnSpPr>
        <p:spPr>
          <a:xfrm rot="5400000">
            <a:off x="2551320" y="3909960"/>
            <a:ext cx="127800" cy="1684800"/>
          </a:xfrm>
          <a:prstGeom prst="curvedConnector5">
            <a:avLst>
              <a:gd name="adj1" fmla="val -321186"/>
              <a:gd name="adj2" fmla="val 51805"/>
              <a:gd name="adj3" fmla="val -321186"/>
            </a:avLst>
          </a:prstGeom>
          <a:ln w="9360">
            <a:solidFill>
              <a:srgbClr val="000000"/>
            </a:solidFill>
            <a:miter/>
            <a:tailEnd len="med" type="triangle" w="med"/>
          </a:ln>
        </p:spPr>
      </p:cxnSp>
      <p:sp>
        <p:nvSpPr>
          <p:cNvPr id="309" name="Text Box 25"/>
          <p:cNvSpPr/>
          <p:nvPr/>
        </p:nvSpPr>
        <p:spPr>
          <a:xfrm>
            <a:off x="3367080" y="4343400"/>
            <a:ext cx="237960" cy="30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876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400" b="0" u="sng" strike="noStrike">
                <a:solidFill>
                  <a:srgbClr val="000000"/>
                </a:solidFill>
                <a:effectLst/>
                <a:uFillTx/>
                <a:latin typeface="Arial Rounded MT Bold"/>
              </a:rPr>
              <a:t>a</a:t>
            </a:r>
            <a:endParaRPr lang="it-IT" sz="14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cxnSp>
        <p:nvCxnSpPr>
          <p:cNvPr id="310" name="AutoShape 26"/>
          <p:cNvCxnSpPr>
            <a:stCxn id="297" idx="4"/>
            <a:endCxn id="298" idx="6"/>
          </p:cNvCxnSpPr>
          <p:nvPr/>
        </p:nvCxnSpPr>
        <p:spPr>
          <a:xfrm rot="5400000">
            <a:off x="2521080" y="4712400"/>
            <a:ext cx="554760" cy="1321200"/>
          </a:xfrm>
          <a:prstGeom prst="curvedConnector2">
            <a:avLst/>
          </a:prstGeom>
          <a:ln w="9360">
            <a:solidFill>
              <a:srgbClr val="000000"/>
            </a:solidFill>
            <a:miter/>
            <a:tailEnd len="med" type="triangle" w="med"/>
          </a:ln>
        </p:spPr>
      </p:cxnSp>
      <p:sp>
        <p:nvSpPr>
          <p:cNvPr id="311" name="Text Box 27"/>
          <p:cNvSpPr/>
          <p:nvPr/>
        </p:nvSpPr>
        <p:spPr>
          <a:xfrm>
            <a:off x="3346560" y="5195880"/>
            <a:ext cx="239760" cy="30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876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400" b="0" u="sng" strike="noStrike">
                <a:solidFill>
                  <a:srgbClr val="000000"/>
                </a:solidFill>
                <a:effectLst/>
                <a:uFillTx/>
                <a:latin typeface="Arial Rounded MT Bold"/>
              </a:rPr>
              <a:t>b</a:t>
            </a:r>
            <a:endParaRPr lang="it-IT" sz="14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graphicFrame>
        <p:nvGraphicFramePr>
          <p:cNvPr id="312" name=""/>
          <p:cNvGraphicFramePr/>
          <p:nvPr/>
        </p:nvGraphicFramePr>
        <p:xfrm>
          <a:off x="685800" y="1447920"/>
          <a:ext cx="7696080" cy="2260440"/>
        </p:xfrm>
        <a:graphic>
          <a:graphicData uri="http://schemas.openxmlformats.org/drawingml/2006/table">
            <a:tbl>
              <a:tblPr/>
              <a:tblGrid>
                <a:gridCol w="457200"/>
                <a:gridCol w="1905120"/>
                <a:gridCol w="1600200"/>
                <a:gridCol w="1218960"/>
                <a:gridCol w="1143000"/>
                <a:gridCol w="1371600"/>
              </a:tblGrid>
              <a:tr h="452160"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spcBef>
                          <a:spcPts val="4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endParaRPr lang="it-IT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>
                      <a:noFill/>
                    </a:lnL>
                    <a:lnR>
                      <a:noFill/>
                    </a:lnR>
                    <a:lnT w="13680">
                      <a:solidFill>
                        <a:srgbClr val="B025A6"/>
                      </a:solidFill>
                      <a:prstDash val="solid"/>
                    </a:lnT>
                    <a:lnB w="5760">
                      <a:solidFill>
                        <a:srgbClr val="B025A6"/>
                      </a:solidFill>
                      <a:prstDash val="soli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spcBef>
                          <a:spcPts val="4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Current Partition</a:t>
                      </a:r>
                      <a:endParaRPr lang="it-IT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>
                      <a:noFill/>
                    </a:lnL>
                    <a:lnR>
                      <a:noFill/>
                    </a:lnR>
                    <a:lnT w="13680">
                      <a:solidFill>
                        <a:srgbClr val="B025A6"/>
                      </a:solidFill>
                      <a:prstDash val="solid"/>
                    </a:lnT>
                    <a:lnB w="5760">
                      <a:solidFill>
                        <a:srgbClr val="B025A6"/>
                      </a:solidFill>
                      <a:prstDash val="soli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spcBef>
                          <a:spcPts val="4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Worklist</a:t>
                      </a:r>
                      <a:endParaRPr lang="it-IT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>
                      <a:noFill/>
                    </a:lnL>
                    <a:lnR>
                      <a:noFill/>
                    </a:lnR>
                    <a:lnT w="13680">
                      <a:solidFill>
                        <a:srgbClr val="B025A6"/>
                      </a:solidFill>
                      <a:prstDash val="solid"/>
                    </a:lnT>
                    <a:lnB w="5760">
                      <a:solidFill>
                        <a:srgbClr val="B025A6"/>
                      </a:solidFill>
                      <a:prstDash val="soli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spcBef>
                          <a:spcPts val="4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s</a:t>
                      </a:r>
                      <a:endParaRPr lang="it-IT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>
                      <a:noFill/>
                    </a:lnL>
                    <a:lnR>
                      <a:noFill/>
                    </a:lnR>
                    <a:lnT w="13680">
                      <a:solidFill>
                        <a:srgbClr val="B025A6"/>
                      </a:solidFill>
                      <a:prstDash val="solid"/>
                    </a:lnT>
                    <a:lnB w="5760">
                      <a:solidFill>
                        <a:srgbClr val="B025A6"/>
                      </a:solidFill>
                      <a:prstDash val="soli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spcBef>
                          <a:spcPts val="4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Split on </a:t>
                      </a:r>
                      <a:r>
                        <a:rPr lang="en-US" sz="1600" b="0" u="sng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a</a:t>
                      </a:r>
                      <a:endParaRPr lang="it-IT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>
                      <a:noFill/>
                    </a:lnL>
                    <a:lnR>
                      <a:noFill/>
                    </a:lnR>
                    <a:lnT w="13680">
                      <a:solidFill>
                        <a:srgbClr val="B025A6"/>
                      </a:solidFill>
                      <a:prstDash val="solid"/>
                    </a:lnT>
                    <a:lnB w="5760">
                      <a:solidFill>
                        <a:srgbClr val="B025A6"/>
                      </a:solidFill>
                      <a:prstDash val="soli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spcBef>
                          <a:spcPts val="4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Split on </a:t>
                      </a:r>
                      <a:r>
                        <a:rPr lang="en-US" sz="1600" b="0" u="sng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b</a:t>
                      </a:r>
                      <a:endParaRPr lang="it-IT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>
                      <a:noFill/>
                    </a:lnL>
                    <a:lnR>
                      <a:noFill/>
                    </a:lnR>
                    <a:lnT w="13680">
                      <a:solidFill>
                        <a:srgbClr val="B025A6"/>
                      </a:solidFill>
                      <a:prstDash val="solid"/>
                    </a:lnT>
                    <a:lnB w="5760">
                      <a:solidFill>
                        <a:srgbClr val="B025A6"/>
                      </a:solidFill>
                      <a:prstDash val="solid"/>
                    </a:lnB>
                    <a:solidFill>
                      <a:srgbClr val="E6E6E6"/>
                    </a:solidFill>
                  </a:tcPr>
                </a:tc>
              </a:tr>
              <a:tr h="452520"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P</a:t>
                      </a:r>
                      <a:r>
                        <a:rPr lang="en-US" sz="1600" b="0" i="1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0</a:t>
                      </a:r>
                      <a:endParaRPr lang="it-IT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>
                      <a:noFill/>
                    </a:lnL>
                    <a:lnR>
                      <a:noFill/>
                    </a:lnR>
                    <a:lnT w="5760">
                      <a:solidFill>
                        <a:srgbClr val="B025A6"/>
                      </a:solidFill>
                      <a:prstDash val="solid"/>
                    </a:lnT>
                    <a:lnB>
                      <a:noFill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{s</a:t>
                      </a:r>
                      <a:r>
                        <a:rPr lang="en-US" sz="1600" b="0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4</a:t>
                      </a: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}</a:t>
                      </a:r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 </a:t>
                      </a: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{s</a:t>
                      </a:r>
                      <a:r>
                        <a:rPr lang="en-US" sz="1600" b="0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0</a:t>
                      </a: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,s</a:t>
                      </a:r>
                      <a:r>
                        <a:rPr lang="en-US" sz="1600" b="0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1</a:t>
                      </a: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,s</a:t>
                      </a:r>
                      <a:r>
                        <a:rPr lang="en-US" sz="1600" b="0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2</a:t>
                      </a: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,s</a:t>
                      </a:r>
                      <a:r>
                        <a:rPr lang="en-US" sz="1600" b="0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3</a:t>
                      </a: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}</a:t>
                      </a:r>
                      <a:endParaRPr lang="it-IT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>
                      <a:noFill/>
                    </a:lnL>
                    <a:lnR>
                      <a:noFill/>
                    </a:lnR>
                    <a:lnT w="5760">
                      <a:solidFill>
                        <a:srgbClr val="B025A6"/>
                      </a:solidFill>
                      <a:prstDash val="soli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600" b="0" u="none" strike="noStrike">
                          <a:solidFill>
                            <a:srgbClr val="B3B3B3"/>
                          </a:solidFill>
                          <a:effectLst/>
                          <a:uFillTx/>
                          <a:latin typeface="Comic Sans MS"/>
                        </a:rPr>
                        <a:t>{s</a:t>
                      </a:r>
                      <a:r>
                        <a:rPr lang="en-US" sz="1600" b="0" u="none" strike="noStrike" baseline="-25000">
                          <a:solidFill>
                            <a:srgbClr val="B3B3B3"/>
                          </a:solidFill>
                          <a:effectLst/>
                          <a:uFillTx/>
                          <a:latin typeface="Comic Sans MS"/>
                        </a:rPr>
                        <a:t>4</a:t>
                      </a:r>
                      <a:r>
                        <a:rPr lang="en-US" sz="1600" b="0" u="none" strike="noStrike">
                          <a:solidFill>
                            <a:srgbClr val="B3B3B3"/>
                          </a:solidFill>
                          <a:effectLst/>
                          <a:uFillTx/>
                          <a:latin typeface="Comic Sans MS"/>
                        </a:rPr>
                        <a:t>}</a:t>
                      </a:r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 </a:t>
                      </a: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{s</a:t>
                      </a:r>
                      <a:r>
                        <a:rPr lang="en-US" sz="1600" b="0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0</a:t>
                      </a: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,s</a:t>
                      </a:r>
                      <a:r>
                        <a:rPr lang="en-US" sz="1600" b="0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1</a:t>
                      </a: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,s</a:t>
                      </a:r>
                      <a:r>
                        <a:rPr lang="en-US" sz="1600" b="0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2</a:t>
                      </a: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,s</a:t>
                      </a:r>
                      <a:r>
                        <a:rPr lang="en-US" sz="1600" b="0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3</a:t>
                      </a: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}</a:t>
                      </a:r>
                      <a:endParaRPr lang="it-IT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>
                      <a:noFill/>
                    </a:lnL>
                    <a:lnR>
                      <a:noFill/>
                    </a:lnR>
                    <a:lnT w="5760">
                      <a:solidFill>
                        <a:srgbClr val="B025A6"/>
                      </a:solidFill>
                      <a:prstDash val="soli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{s</a:t>
                      </a:r>
                      <a:r>
                        <a:rPr lang="en-US" sz="1600" b="0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4</a:t>
                      </a: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}</a:t>
                      </a:r>
                      <a:endParaRPr lang="it-IT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>
                      <a:noFill/>
                    </a:lnL>
                    <a:lnR>
                      <a:noFill/>
                    </a:lnR>
                    <a:lnT w="5760">
                      <a:solidFill>
                        <a:srgbClr val="B025A6"/>
                      </a:solidFill>
                      <a:prstDash val="soli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none</a:t>
                      </a:r>
                      <a:endParaRPr lang="it-IT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>
                      <a:noFill/>
                    </a:lnL>
                    <a:lnR>
                      <a:noFill/>
                    </a:lnR>
                    <a:lnT w="5760">
                      <a:solidFill>
                        <a:srgbClr val="B025A6"/>
                      </a:solidFill>
                      <a:prstDash val="soli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600" b="0" u="none" strike="noStrike">
                          <a:solidFill>
                            <a:srgbClr val="FF0065"/>
                          </a:solidFill>
                          <a:effectLst/>
                          <a:uFillTx/>
                          <a:latin typeface="Comic Sans MS"/>
                        </a:rPr>
                        <a:t>{s</a:t>
                      </a:r>
                      <a:r>
                        <a:rPr lang="en-US" sz="1600" b="0" u="none" strike="noStrike" baseline="-25000">
                          <a:solidFill>
                            <a:srgbClr val="FF0065"/>
                          </a:solidFill>
                          <a:effectLst/>
                          <a:uFillTx/>
                          <a:latin typeface="Comic Sans MS"/>
                        </a:rPr>
                        <a:t>3</a:t>
                      </a:r>
                      <a:r>
                        <a:rPr lang="en-US" sz="1600" b="0" u="none" strike="noStrike">
                          <a:solidFill>
                            <a:srgbClr val="FF0065"/>
                          </a:solidFill>
                          <a:effectLst/>
                          <a:uFillTx/>
                          <a:latin typeface="Comic Sans MS"/>
                        </a:rPr>
                        <a:t>}</a:t>
                      </a: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 </a:t>
                      </a:r>
                      <a:r>
                        <a:rPr lang="en-US" sz="1600" b="0" u="none" strike="noStrike">
                          <a:solidFill>
                            <a:srgbClr val="B025A6"/>
                          </a:solidFill>
                          <a:effectLst/>
                          <a:uFillTx/>
                          <a:latin typeface="Comic Sans MS"/>
                        </a:rPr>
                        <a:t>{s</a:t>
                      </a:r>
                      <a:r>
                        <a:rPr lang="en-US" sz="1600" b="0" u="none" strike="noStrike" baseline="-25000">
                          <a:solidFill>
                            <a:srgbClr val="B025A6"/>
                          </a:solidFill>
                          <a:effectLst/>
                          <a:uFillTx/>
                          <a:latin typeface="Comic Sans MS"/>
                        </a:rPr>
                        <a:t>0</a:t>
                      </a:r>
                      <a:r>
                        <a:rPr lang="en-US" sz="1600" b="0" u="none" strike="noStrike">
                          <a:solidFill>
                            <a:srgbClr val="B025A6"/>
                          </a:solidFill>
                          <a:effectLst/>
                          <a:uFillTx/>
                          <a:latin typeface="Comic Sans MS"/>
                        </a:rPr>
                        <a:t>,s</a:t>
                      </a:r>
                      <a:r>
                        <a:rPr lang="en-US" sz="1600" b="0" u="none" strike="noStrike" baseline="-25000">
                          <a:solidFill>
                            <a:srgbClr val="B025A6"/>
                          </a:solidFill>
                          <a:effectLst/>
                          <a:uFillTx/>
                          <a:latin typeface="Comic Sans MS"/>
                        </a:rPr>
                        <a:t>1</a:t>
                      </a:r>
                      <a:r>
                        <a:rPr lang="en-US" sz="1600" b="0" u="none" strike="noStrike">
                          <a:solidFill>
                            <a:srgbClr val="B025A6"/>
                          </a:solidFill>
                          <a:effectLst/>
                          <a:uFillTx/>
                          <a:latin typeface="Comic Sans MS"/>
                        </a:rPr>
                        <a:t>,s</a:t>
                      </a:r>
                      <a:r>
                        <a:rPr lang="en-US" sz="1600" b="0" u="none" strike="noStrike" baseline="-25000">
                          <a:solidFill>
                            <a:srgbClr val="B025A6"/>
                          </a:solidFill>
                          <a:effectLst/>
                          <a:uFillTx/>
                          <a:latin typeface="Comic Sans MS"/>
                        </a:rPr>
                        <a:t>2</a:t>
                      </a:r>
                      <a:r>
                        <a:rPr lang="en-US" sz="1600" b="0" u="none" strike="noStrike">
                          <a:solidFill>
                            <a:srgbClr val="B025A6"/>
                          </a:solidFill>
                          <a:effectLst/>
                          <a:uFillTx/>
                          <a:latin typeface="Comic Sans MS"/>
                        </a:rPr>
                        <a:t>}</a:t>
                      </a:r>
                      <a:endParaRPr lang="it-IT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>
                      <a:noFill/>
                    </a:lnL>
                    <a:lnR>
                      <a:noFill/>
                    </a:lnR>
                    <a:lnT w="5760">
                      <a:solidFill>
                        <a:srgbClr val="B025A6"/>
                      </a:solidFill>
                      <a:prstDash val="solid"/>
                    </a:lnT>
                    <a:lnB>
                      <a:noFill/>
                    </a:lnB>
                    <a:noFill/>
                  </a:tcPr>
                </a:tc>
              </a:tr>
              <a:tr h="451080"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lnSpc>
                          <a:spcPct val="110000"/>
                        </a:lnSpc>
                        <a:spcBef>
                          <a:spcPts val="4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P</a:t>
                      </a:r>
                      <a:r>
                        <a:rPr lang="en-US" sz="1600" b="0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1</a:t>
                      </a:r>
                      <a:endParaRPr lang="it-IT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lnSpc>
                          <a:spcPct val="110000"/>
                        </a:lnSpc>
                        <a:spcBef>
                          <a:spcPts val="4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{s</a:t>
                      </a:r>
                      <a:r>
                        <a:rPr lang="en-US" sz="1600" b="0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4</a:t>
                      </a: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} {s</a:t>
                      </a:r>
                      <a:r>
                        <a:rPr lang="en-US" sz="1600" b="0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3</a:t>
                      </a: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}</a:t>
                      </a: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 </a:t>
                      </a: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{s</a:t>
                      </a:r>
                      <a:r>
                        <a:rPr lang="en-US" sz="1600" b="0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0</a:t>
                      </a: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,s</a:t>
                      </a:r>
                      <a:r>
                        <a:rPr lang="en-US" sz="1600" b="0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1</a:t>
                      </a: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,s</a:t>
                      </a:r>
                      <a:r>
                        <a:rPr lang="en-US" sz="1600" b="0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2</a:t>
                      </a: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}</a:t>
                      </a:r>
                      <a:endParaRPr lang="it-IT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lnSpc>
                          <a:spcPct val="110000"/>
                        </a:lnSpc>
                        <a:spcBef>
                          <a:spcPts val="4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{s</a:t>
                      </a:r>
                      <a:r>
                        <a:rPr lang="en-US" sz="1600" b="0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3</a:t>
                      </a: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}</a:t>
                      </a: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 </a:t>
                      </a: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{s</a:t>
                      </a:r>
                      <a:r>
                        <a:rPr lang="en-US" sz="1600" b="0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0</a:t>
                      </a: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,s</a:t>
                      </a:r>
                      <a:r>
                        <a:rPr lang="en-US" sz="1600" b="0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1</a:t>
                      </a: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,s</a:t>
                      </a:r>
                      <a:r>
                        <a:rPr lang="en-US" sz="1600" b="0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2</a:t>
                      </a: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}</a:t>
                      </a:r>
                      <a:endParaRPr lang="it-IT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lnSpc>
                          <a:spcPct val="110000"/>
                        </a:lnSpc>
                        <a:spcBef>
                          <a:spcPts val="4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endParaRPr lang="it-IT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lnSpc>
                          <a:spcPct val="110000"/>
                        </a:lnSpc>
                        <a:spcBef>
                          <a:spcPts val="4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endParaRPr lang="it-IT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lnSpc>
                          <a:spcPct val="110000"/>
                        </a:lnSpc>
                        <a:spcBef>
                          <a:spcPts val="4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endParaRPr lang="it-IT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52160"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lnSpc>
                          <a:spcPct val="110000"/>
                        </a:lnSpc>
                        <a:spcBef>
                          <a:spcPts val="4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endParaRPr lang="it-IT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lnSpc>
                          <a:spcPct val="110000"/>
                        </a:lnSpc>
                        <a:spcBef>
                          <a:spcPts val="4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endParaRPr lang="it-IT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lnSpc>
                          <a:spcPct val="110000"/>
                        </a:lnSpc>
                        <a:spcBef>
                          <a:spcPts val="4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endParaRPr lang="it-IT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lnSpc>
                          <a:spcPct val="110000"/>
                        </a:lnSpc>
                        <a:spcBef>
                          <a:spcPts val="4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endParaRPr lang="it-IT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lnSpc>
                          <a:spcPct val="110000"/>
                        </a:lnSpc>
                        <a:spcBef>
                          <a:spcPts val="4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endParaRPr lang="it-IT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lnSpc>
                          <a:spcPct val="110000"/>
                        </a:lnSpc>
                        <a:spcBef>
                          <a:spcPts val="4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endParaRPr lang="it-IT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52520"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lnSpc>
                          <a:spcPct val="110000"/>
                        </a:lnSpc>
                        <a:spcBef>
                          <a:spcPts val="4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endParaRPr lang="it-IT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lnSpc>
                          <a:spcPct val="110000"/>
                        </a:lnSpc>
                        <a:spcBef>
                          <a:spcPts val="4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endParaRPr lang="it-IT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lnSpc>
                          <a:spcPct val="110000"/>
                        </a:lnSpc>
                        <a:spcBef>
                          <a:spcPts val="4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endParaRPr lang="it-IT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lnSpc>
                          <a:spcPct val="110000"/>
                        </a:lnSpc>
                        <a:spcBef>
                          <a:spcPts val="4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endParaRPr lang="it-IT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lnSpc>
                          <a:spcPct val="110000"/>
                        </a:lnSpc>
                        <a:spcBef>
                          <a:spcPts val="4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endParaRPr lang="it-IT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lnSpc>
                          <a:spcPct val="110000"/>
                        </a:lnSpc>
                        <a:spcBef>
                          <a:spcPts val="4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endParaRPr lang="it-IT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grpSp>
        <p:nvGrpSpPr>
          <p:cNvPr id="313" name="Group 81"/>
          <p:cNvGrpSpPr/>
          <p:nvPr/>
        </p:nvGrpSpPr>
        <p:grpSpPr>
          <a:xfrm>
            <a:off x="2895480" y="1905120"/>
            <a:ext cx="5486400" cy="927000"/>
            <a:chOff x="2895480" y="1905120"/>
            <a:chExt cx="5486400" cy="927000"/>
          </a:xfrm>
        </p:grpSpPr>
        <p:sp>
          <p:nvSpPr>
            <p:cNvPr id="314" name="Oval 78"/>
            <p:cNvSpPr/>
            <p:nvPr/>
          </p:nvSpPr>
          <p:spPr>
            <a:xfrm>
              <a:off x="7010280" y="1905120"/>
              <a:ext cx="1371600" cy="380880"/>
            </a:xfrm>
            <a:prstGeom prst="ellipse">
              <a:avLst/>
            </a:prstGeom>
            <a:noFill/>
            <a:ln w="9360">
              <a:solidFill>
                <a:srgbClr val="FF0065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ctr">
              <a:noAutofit/>
            </a:bodyPr>
            <a:p>
              <a:endParaRPr lang="it-IT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315" name="Freeform 79"/>
            <p:cNvSpPr/>
            <p:nvPr/>
          </p:nvSpPr>
          <p:spPr>
            <a:xfrm>
              <a:off x="4495680" y="2257560"/>
              <a:ext cx="2819520" cy="228600"/>
            </a:xfrm>
            <a:custGeom>
              <a:avLst/>
              <a:gdLst>
                <a:gd name="textAreaLeft" fmla="*/ 0 w 2819520"/>
                <a:gd name="textAreaRight" fmla="*/ 2819880 w 2819520"/>
                <a:gd name="textAreaTop" fmla="*/ 0 h 228600"/>
                <a:gd name="textAreaBottom" fmla="*/ 228960 h 228600"/>
                <a:gd name="GluePoint1X" fmla="*/ 1776 w 1776"/>
                <a:gd name="GluePoint1Y" fmla="*/ 0 h 144"/>
                <a:gd name="GluePoint2X" fmla="*/ 288 w 1776"/>
                <a:gd name="GluePoint2Y" fmla="*/ 48 h 144"/>
                <a:gd name="GluePoint3X" fmla="*/ 384 w 1776"/>
                <a:gd name="GluePoint3Y" fmla="*/ 96 h 144"/>
                <a:gd name="GluePoint4X" fmla="*/ 0 w 1776"/>
                <a:gd name="GluePoint4Y" fmla="*/ 144 h 14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1776" h="144">
                  <a:moveTo>
                    <a:pt x="1776" y="0"/>
                  </a:moveTo>
                  <a:cubicBezTo>
                    <a:pt x="1148" y="16"/>
                    <a:pt x="520" y="32"/>
                    <a:pt x="288" y="48"/>
                  </a:cubicBezTo>
                  <a:cubicBezTo>
                    <a:pt x="56" y="64"/>
                    <a:pt x="432" y="80"/>
                    <a:pt x="384" y="96"/>
                  </a:cubicBezTo>
                  <a:cubicBezTo>
                    <a:pt x="336" y="112"/>
                    <a:pt x="56" y="136"/>
                    <a:pt x="0" y="144"/>
                  </a:cubicBezTo>
                </a:path>
              </a:pathLst>
            </a:custGeom>
            <a:noFill/>
            <a:ln w="9360">
              <a:solidFill>
                <a:srgbClr val="FF0065"/>
              </a:solidFill>
              <a:round/>
              <a:tailEnd len="med" type="triangle" w="med"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ctr">
              <a:noAutofit/>
            </a:bodyPr>
            <a:p>
              <a:endParaRPr lang="it-IT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316" name="Freeform 80"/>
            <p:cNvSpPr/>
            <p:nvPr/>
          </p:nvSpPr>
          <p:spPr>
            <a:xfrm>
              <a:off x="2895480" y="2286000"/>
              <a:ext cx="4648320" cy="546120"/>
            </a:xfrm>
            <a:custGeom>
              <a:avLst/>
              <a:gdLst>
                <a:gd name="textAreaLeft" fmla="*/ 0 w 4648320"/>
                <a:gd name="textAreaRight" fmla="*/ 4648680 w 4648320"/>
                <a:gd name="textAreaTop" fmla="*/ 0 h 546120"/>
                <a:gd name="textAreaBottom" fmla="*/ 546480 h 546120"/>
                <a:gd name="GluePoint1X" fmla="*/ 2928 w 2928"/>
                <a:gd name="GluePoint1Y" fmla="*/ 0 h 344"/>
                <a:gd name="GluePoint2X" fmla="*/ 2160 w 2928"/>
                <a:gd name="GluePoint2Y" fmla="*/ 192 h 344"/>
                <a:gd name="GluePoint3X" fmla="*/ 960 w 2928"/>
                <a:gd name="GluePoint3Y" fmla="*/ 336 h 344"/>
                <a:gd name="GluePoint4X" fmla="*/ 0 w 2928"/>
                <a:gd name="GluePoint4Y" fmla="*/ 240 h 34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2928" h="344">
                  <a:moveTo>
                    <a:pt x="2928" y="0"/>
                  </a:moveTo>
                  <a:cubicBezTo>
                    <a:pt x="2708" y="68"/>
                    <a:pt x="2488" y="136"/>
                    <a:pt x="2160" y="192"/>
                  </a:cubicBezTo>
                  <a:cubicBezTo>
                    <a:pt x="1832" y="248"/>
                    <a:pt x="1320" y="328"/>
                    <a:pt x="960" y="336"/>
                  </a:cubicBezTo>
                  <a:cubicBezTo>
                    <a:pt x="600" y="344"/>
                    <a:pt x="300" y="292"/>
                    <a:pt x="0" y="240"/>
                  </a:cubicBezTo>
                </a:path>
              </a:pathLst>
            </a:custGeom>
            <a:noFill/>
            <a:ln w="9360">
              <a:solidFill>
                <a:srgbClr val="FF0065"/>
              </a:solidFill>
              <a:round/>
              <a:tailEnd len="med" type="triangle" w="med"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ctr">
              <a:noAutofit/>
            </a:bodyPr>
            <a:p>
              <a:endParaRPr lang="it-IT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</p:grpSp>
    </p:spTree>
  </p:cSld>
  <p:transition>
    <p:wipe dir="r"/>
  </p:transition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Footer Placeholder 3"/>
          <p:cNvSpPr/>
          <p:nvPr/>
        </p:nvSpPr>
        <p:spPr>
          <a:xfrm>
            <a:off x="685800" y="6248520"/>
            <a:ext cx="289548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Autofit/>
          </a:bodyPr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Comp 412, Fall 2010</a:t>
            </a:r>
            <a:endParaRPr lang="it-IT" sz="12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318" name="Slide Number Placeholder 4"/>
          <p:cNvSpPr/>
          <p:nvPr/>
        </p:nvSpPr>
        <p:spPr>
          <a:xfrm>
            <a:off x="6553080" y="6248520"/>
            <a:ext cx="190512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Autofit/>
          </a:bodyPr>
          <a:p>
            <a:pPr algn="r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8D29A9C8-7012-4548-B53C-56BAFDE2BFED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&lt;number&gt;</a:t>
            </a:fld>
            <a:endParaRPr lang="it-IT" sz="12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319" name="PlaceHolder 1"/>
          <p:cNvSpPr>
            <a:spLocks noGrp="1"/>
          </p:cNvSpPr>
          <p:nvPr>
            <p:ph type="title"/>
          </p:nvPr>
        </p:nvSpPr>
        <p:spPr>
          <a:xfrm>
            <a:off x="685800" y="533160"/>
            <a:ext cx="7772400" cy="533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l">
              <a:spcBef>
                <a:spcPts val="901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A Detailed Example          (DFA Minimization)</a:t>
            </a:r>
            <a:endParaRPr lang="it-IT" sz="24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cxnSp>
        <p:nvCxnSpPr>
          <p:cNvPr id="320" name="AutoShape 3"/>
          <p:cNvCxnSpPr>
            <a:stCxn id="321" idx="7"/>
            <a:endCxn id="321" idx="1"/>
          </p:cNvCxnSpPr>
          <p:nvPr/>
        </p:nvCxnSpPr>
        <p:spPr>
          <a:xfrm rot="5400000">
            <a:off x="1947600" y="4626720"/>
            <a:ext cx="2520" cy="255960"/>
          </a:xfrm>
          <a:prstGeom prst="curvedConnector5">
            <a:avLst>
              <a:gd name="adj1" fmla="val -17600000"/>
              <a:gd name="adj2" fmla="val 50000"/>
              <a:gd name="adj3" fmla="val -17600000"/>
            </a:avLst>
          </a:prstGeom>
          <a:ln w="9360">
            <a:solidFill>
              <a:srgbClr val="000000"/>
            </a:solidFill>
            <a:miter/>
            <a:tailEnd len="med" type="triangle" w="med"/>
          </a:ln>
        </p:spPr>
      </p:cxnSp>
      <p:sp>
        <p:nvSpPr>
          <p:cNvPr id="322" name="Oval 4"/>
          <p:cNvSpPr/>
          <p:nvPr/>
        </p:nvSpPr>
        <p:spPr>
          <a:xfrm>
            <a:off x="1014480" y="4708440"/>
            <a:ext cx="361800" cy="370080"/>
          </a:xfrm>
          <a:prstGeom prst="ellipse">
            <a:avLst/>
          </a:prstGeom>
          <a:noFill/>
          <a:ln w="1908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400" b="0" i="1" u="none" strike="noStrike">
                <a:solidFill>
                  <a:srgbClr val="000000"/>
                </a:solidFill>
                <a:effectLst/>
                <a:uFillTx/>
                <a:latin typeface="Arial Rounded MT Bold"/>
              </a:rPr>
              <a:t>s</a:t>
            </a:r>
            <a:r>
              <a:rPr lang="en-US" sz="1400" b="0" i="1" u="none" strike="noStrike" baseline="-25000">
                <a:solidFill>
                  <a:srgbClr val="000000"/>
                </a:solidFill>
                <a:effectLst/>
                <a:uFillTx/>
                <a:latin typeface="Arial Rounded MT Bold"/>
              </a:rPr>
              <a:t>0 </a:t>
            </a:r>
            <a:endParaRPr lang="it-IT" sz="14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323" name="Line 5"/>
          <p:cNvSpPr/>
          <p:nvPr/>
        </p:nvSpPr>
        <p:spPr>
          <a:xfrm>
            <a:off x="1357200" y="4915080"/>
            <a:ext cx="395280" cy="0"/>
          </a:xfrm>
          <a:prstGeom prst="line">
            <a:avLst/>
          </a:prstGeom>
          <a:ln w="9360">
            <a:solidFill>
              <a:srgbClr val="000000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-46800" rIns="90000" bIns="-46800" anchor="ctr">
            <a:noAutofit/>
          </a:bodyPr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324" name="Text Box 6"/>
          <p:cNvSpPr/>
          <p:nvPr/>
        </p:nvSpPr>
        <p:spPr>
          <a:xfrm>
            <a:off x="1425600" y="4640400"/>
            <a:ext cx="237960" cy="30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876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400" b="0" u="sng" strike="noStrike">
                <a:solidFill>
                  <a:srgbClr val="000000"/>
                </a:solidFill>
                <a:effectLst/>
                <a:uFillTx/>
                <a:latin typeface="Arial Rounded MT Bold"/>
              </a:rPr>
              <a:t>a</a:t>
            </a:r>
            <a:endParaRPr lang="it-IT" sz="14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321" name="Oval 7"/>
          <p:cNvSpPr/>
          <p:nvPr/>
        </p:nvSpPr>
        <p:spPr>
          <a:xfrm>
            <a:off x="1768320" y="4708440"/>
            <a:ext cx="362160" cy="370080"/>
          </a:xfrm>
          <a:prstGeom prst="ellipse">
            <a:avLst/>
          </a:prstGeom>
          <a:noFill/>
          <a:ln w="1908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400" b="0" i="1" u="none" strike="noStrike">
                <a:solidFill>
                  <a:srgbClr val="000000"/>
                </a:solidFill>
                <a:effectLst/>
                <a:uFillTx/>
                <a:latin typeface="Arial Rounded MT Bold"/>
              </a:rPr>
              <a:t>s</a:t>
            </a:r>
            <a:r>
              <a:rPr lang="en-US" sz="1400" b="0" i="1" u="none" strike="noStrike" baseline="-25000">
                <a:solidFill>
                  <a:srgbClr val="000000"/>
                </a:solidFill>
                <a:effectLst/>
                <a:uFillTx/>
                <a:latin typeface="Arial Rounded MT Bold"/>
              </a:rPr>
              <a:t>1 </a:t>
            </a:r>
            <a:endParaRPr lang="it-IT" sz="14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325" name="Line 8"/>
          <p:cNvSpPr/>
          <p:nvPr/>
        </p:nvSpPr>
        <p:spPr>
          <a:xfrm>
            <a:off x="2111400" y="4915080"/>
            <a:ext cx="395280" cy="0"/>
          </a:xfrm>
          <a:prstGeom prst="line">
            <a:avLst/>
          </a:prstGeom>
          <a:ln w="9360">
            <a:solidFill>
              <a:srgbClr val="000000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-46800" rIns="90000" bIns="-46800" anchor="ctr">
            <a:noAutofit/>
          </a:bodyPr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326" name="Text Box 9"/>
          <p:cNvSpPr/>
          <p:nvPr/>
        </p:nvSpPr>
        <p:spPr>
          <a:xfrm>
            <a:off x="1357200" y="5189400"/>
            <a:ext cx="238320" cy="30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876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400" b="0" u="sng" strike="noStrike">
                <a:solidFill>
                  <a:srgbClr val="000000"/>
                </a:solidFill>
                <a:effectLst/>
                <a:uFillTx/>
                <a:latin typeface="Arial Rounded MT Bold"/>
              </a:rPr>
              <a:t>b</a:t>
            </a:r>
            <a:endParaRPr lang="it-IT" sz="14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327" name="Oval 10"/>
          <p:cNvSpPr/>
          <p:nvPr/>
        </p:nvSpPr>
        <p:spPr>
          <a:xfrm>
            <a:off x="2522520" y="4708440"/>
            <a:ext cx="361800" cy="370080"/>
          </a:xfrm>
          <a:prstGeom prst="ellipse">
            <a:avLst/>
          </a:prstGeom>
          <a:noFill/>
          <a:ln w="1908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400" b="0" i="1" u="none" strike="noStrike">
                <a:solidFill>
                  <a:srgbClr val="000000"/>
                </a:solidFill>
                <a:effectLst/>
                <a:uFillTx/>
                <a:latin typeface="Arial Rounded MT Bold"/>
              </a:rPr>
              <a:t>s</a:t>
            </a:r>
            <a:r>
              <a:rPr lang="en-US" sz="1400" b="0" i="1" u="none" strike="noStrike" baseline="-25000">
                <a:solidFill>
                  <a:srgbClr val="000000"/>
                </a:solidFill>
                <a:effectLst/>
                <a:uFillTx/>
                <a:latin typeface="Arial Rounded MT Bold"/>
              </a:rPr>
              <a:t>3 </a:t>
            </a:r>
            <a:endParaRPr lang="it-IT" sz="14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328" name="Line 11"/>
          <p:cNvSpPr/>
          <p:nvPr/>
        </p:nvSpPr>
        <p:spPr>
          <a:xfrm>
            <a:off x="2865600" y="4915080"/>
            <a:ext cx="395280" cy="0"/>
          </a:xfrm>
          <a:prstGeom prst="line">
            <a:avLst/>
          </a:prstGeom>
          <a:ln w="9360">
            <a:solidFill>
              <a:srgbClr val="000000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-46800" rIns="90000" bIns="-46800" anchor="ctr">
            <a:noAutofit/>
          </a:bodyPr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329" name="Text Box 12"/>
          <p:cNvSpPr/>
          <p:nvPr/>
        </p:nvSpPr>
        <p:spPr>
          <a:xfrm>
            <a:off x="2933640" y="4640400"/>
            <a:ext cx="239760" cy="30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876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400" b="0" u="sng" strike="noStrike">
                <a:solidFill>
                  <a:srgbClr val="000000"/>
                </a:solidFill>
                <a:effectLst/>
                <a:uFillTx/>
                <a:latin typeface="Arial Rounded MT Bold"/>
              </a:rPr>
              <a:t>b</a:t>
            </a:r>
            <a:endParaRPr lang="it-IT" sz="14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330" name="Oval 13"/>
          <p:cNvSpPr/>
          <p:nvPr/>
        </p:nvSpPr>
        <p:spPr>
          <a:xfrm>
            <a:off x="3276720" y="4708440"/>
            <a:ext cx="361800" cy="370080"/>
          </a:xfrm>
          <a:prstGeom prst="ellipse">
            <a:avLst/>
          </a:prstGeom>
          <a:noFill/>
          <a:ln w="381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400" b="0" i="1" u="none" strike="noStrike">
                <a:solidFill>
                  <a:srgbClr val="000000"/>
                </a:solidFill>
                <a:effectLst/>
                <a:uFillTx/>
                <a:latin typeface="Arial Rounded MT Bold"/>
              </a:rPr>
              <a:t>s</a:t>
            </a:r>
            <a:r>
              <a:rPr lang="en-US" sz="1400" b="0" i="1" u="none" strike="noStrike" baseline="-25000">
                <a:solidFill>
                  <a:srgbClr val="000000"/>
                </a:solidFill>
                <a:effectLst/>
                <a:uFillTx/>
                <a:latin typeface="Arial Rounded MT Bold"/>
              </a:rPr>
              <a:t>4 </a:t>
            </a:r>
            <a:endParaRPr lang="it-IT" sz="14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331" name="Oval 14"/>
          <p:cNvSpPr/>
          <p:nvPr/>
        </p:nvSpPr>
        <p:spPr>
          <a:xfrm>
            <a:off x="1768320" y="5464080"/>
            <a:ext cx="362160" cy="370080"/>
          </a:xfrm>
          <a:prstGeom prst="ellipse">
            <a:avLst/>
          </a:prstGeom>
          <a:noFill/>
          <a:ln w="1908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400" b="0" i="1" u="none" strike="noStrike">
                <a:solidFill>
                  <a:srgbClr val="000000"/>
                </a:solidFill>
                <a:effectLst/>
                <a:uFillTx/>
                <a:latin typeface="Arial Rounded MT Bold"/>
              </a:rPr>
              <a:t>s</a:t>
            </a:r>
            <a:r>
              <a:rPr lang="en-US" sz="1400" b="0" i="1" u="none" strike="noStrike" baseline="-25000">
                <a:solidFill>
                  <a:srgbClr val="000000"/>
                </a:solidFill>
                <a:effectLst/>
                <a:uFillTx/>
                <a:latin typeface="Arial Rounded MT Bold"/>
              </a:rPr>
              <a:t>2</a:t>
            </a:r>
            <a:endParaRPr lang="it-IT" sz="14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332" name="Line 15"/>
          <p:cNvSpPr/>
          <p:nvPr/>
        </p:nvSpPr>
        <p:spPr>
          <a:xfrm>
            <a:off x="1305000" y="5035680"/>
            <a:ext cx="495360" cy="488880"/>
          </a:xfrm>
          <a:prstGeom prst="line">
            <a:avLst/>
          </a:prstGeom>
          <a:ln w="9360">
            <a:solidFill>
              <a:srgbClr val="000000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ctr">
            <a:noAutofit/>
          </a:bodyPr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333" name="Line 16"/>
          <p:cNvSpPr/>
          <p:nvPr/>
        </p:nvSpPr>
        <p:spPr>
          <a:xfrm flipV="1">
            <a:off x="1935000" y="5081760"/>
            <a:ext cx="0" cy="374400"/>
          </a:xfrm>
          <a:prstGeom prst="line">
            <a:avLst/>
          </a:prstGeom>
          <a:ln w="9360">
            <a:solidFill>
              <a:srgbClr val="000000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ctr">
            <a:noAutofit/>
          </a:bodyPr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334" name="Text Box 17"/>
          <p:cNvSpPr/>
          <p:nvPr/>
        </p:nvSpPr>
        <p:spPr>
          <a:xfrm>
            <a:off x="1935000" y="5189400"/>
            <a:ext cx="239760" cy="30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876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400" b="0" u="sng" strike="noStrike">
                <a:solidFill>
                  <a:srgbClr val="000000"/>
                </a:solidFill>
                <a:effectLst/>
                <a:uFillTx/>
                <a:latin typeface="Arial Rounded MT Bold"/>
              </a:rPr>
              <a:t>a</a:t>
            </a:r>
            <a:endParaRPr lang="it-IT" sz="14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335" name="Text Box 18"/>
          <p:cNvSpPr/>
          <p:nvPr/>
        </p:nvSpPr>
        <p:spPr>
          <a:xfrm>
            <a:off x="2179800" y="4640400"/>
            <a:ext cx="239400" cy="30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876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400" b="0" u="sng" strike="noStrike">
                <a:solidFill>
                  <a:srgbClr val="000000"/>
                </a:solidFill>
                <a:effectLst/>
                <a:uFillTx/>
                <a:latin typeface="Arial Rounded MT Bold"/>
              </a:rPr>
              <a:t>b</a:t>
            </a:r>
            <a:endParaRPr lang="it-IT" sz="14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cxnSp>
        <p:nvCxnSpPr>
          <p:cNvPr id="336" name="AutoShape 19"/>
          <p:cNvCxnSpPr>
            <a:stCxn id="331" idx="3"/>
            <a:endCxn id="331" idx="5"/>
          </p:cNvCxnSpPr>
          <p:nvPr/>
        </p:nvCxnSpPr>
        <p:spPr>
          <a:xfrm flipH="1" rot="16200000">
            <a:off x="1947960" y="5661000"/>
            <a:ext cx="2160" cy="255960"/>
          </a:xfrm>
          <a:prstGeom prst="curvedConnector5">
            <a:avLst>
              <a:gd name="adj1" fmla="val 17600000"/>
              <a:gd name="adj2" fmla="val 50000"/>
              <a:gd name="adj3" fmla="val 17600000"/>
            </a:avLst>
          </a:prstGeom>
          <a:ln w="9360">
            <a:solidFill>
              <a:srgbClr val="000000"/>
            </a:solidFill>
            <a:miter/>
            <a:headEnd len="med" type="triangle" w="med"/>
          </a:ln>
        </p:spPr>
      </p:cxnSp>
      <p:sp>
        <p:nvSpPr>
          <p:cNvPr id="337" name="Text Box 20"/>
          <p:cNvSpPr/>
          <p:nvPr/>
        </p:nvSpPr>
        <p:spPr>
          <a:xfrm>
            <a:off x="2013120" y="5865840"/>
            <a:ext cx="237960" cy="30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876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400" b="0" u="sng" strike="noStrike">
                <a:solidFill>
                  <a:srgbClr val="000000"/>
                </a:solidFill>
                <a:effectLst/>
                <a:uFillTx/>
                <a:latin typeface="Arial Rounded MT Bold"/>
              </a:rPr>
              <a:t>b</a:t>
            </a:r>
            <a:endParaRPr lang="it-IT" sz="14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338" name="Text Box 21"/>
          <p:cNvSpPr/>
          <p:nvPr/>
        </p:nvSpPr>
        <p:spPr>
          <a:xfrm>
            <a:off x="2027160" y="4373640"/>
            <a:ext cx="238320" cy="30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876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400" b="0" u="sng" strike="noStrike">
                <a:solidFill>
                  <a:srgbClr val="000000"/>
                </a:solidFill>
                <a:effectLst/>
                <a:uFillTx/>
                <a:latin typeface="Arial Rounded MT Bold"/>
              </a:rPr>
              <a:t>a</a:t>
            </a:r>
            <a:endParaRPr lang="it-IT" sz="14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cxnSp>
        <p:nvCxnSpPr>
          <p:cNvPr id="339" name="AutoShape 22"/>
          <p:cNvCxnSpPr>
            <a:stCxn id="327" idx="4"/>
            <a:endCxn id="321" idx="5"/>
          </p:cNvCxnSpPr>
          <p:nvPr/>
        </p:nvCxnSpPr>
        <p:spPr>
          <a:xfrm flipV="1" rot="16200000">
            <a:off x="2363400" y="4745880"/>
            <a:ext cx="54720" cy="629280"/>
          </a:xfrm>
          <a:prstGeom prst="curvedConnector5">
            <a:avLst>
              <a:gd name="adj1" fmla="val -249668"/>
              <a:gd name="adj2" fmla="val 49971"/>
              <a:gd name="adj3" fmla="val -249668"/>
            </a:avLst>
          </a:prstGeom>
          <a:ln w="9360">
            <a:solidFill>
              <a:srgbClr val="000000"/>
            </a:solidFill>
            <a:miter/>
            <a:tailEnd len="med" type="triangle" w="med"/>
          </a:ln>
        </p:spPr>
      </p:cxnSp>
      <p:sp>
        <p:nvSpPr>
          <p:cNvPr id="340" name="Text Box 23"/>
          <p:cNvSpPr/>
          <p:nvPr/>
        </p:nvSpPr>
        <p:spPr>
          <a:xfrm>
            <a:off x="2522520" y="5121360"/>
            <a:ext cx="239760" cy="30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876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400" b="0" u="sng" strike="noStrike">
                <a:solidFill>
                  <a:srgbClr val="000000"/>
                </a:solidFill>
                <a:effectLst/>
                <a:uFillTx/>
                <a:latin typeface="Arial Rounded MT Bold"/>
              </a:rPr>
              <a:t>a</a:t>
            </a:r>
            <a:endParaRPr lang="it-IT" sz="14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cxnSp>
        <p:nvCxnSpPr>
          <p:cNvPr id="341" name="AutoShape 24"/>
          <p:cNvCxnSpPr>
            <a:stCxn id="330" idx="0"/>
          </p:cNvCxnSpPr>
          <p:nvPr/>
        </p:nvCxnSpPr>
        <p:spPr>
          <a:xfrm rot="5400000">
            <a:off x="2551320" y="3909960"/>
            <a:ext cx="127800" cy="1684800"/>
          </a:xfrm>
          <a:prstGeom prst="curvedConnector5">
            <a:avLst>
              <a:gd name="adj1" fmla="val -321186"/>
              <a:gd name="adj2" fmla="val 51805"/>
              <a:gd name="adj3" fmla="val -321186"/>
            </a:avLst>
          </a:prstGeom>
          <a:ln w="9360">
            <a:solidFill>
              <a:srgbClr val="000000"/>
            </a:solidFill>
            <a:miter/>
            <a:tailEnd len="med" type="triangle" w="med"/>
          </a:ln>
        </p:spPr>
      </p:cxnSp>
      <p:sp>
        <p:nvSpPr>
          <p:cNvPr id="342" name="Text Box 25"/>
          <p:cNvSpPr/>
          <p:nvPr/>
        </p:nvSpPr>
        <p:spPr>
          <a:xfrm>
            <a:off x="3367080" y="4343400"/>
            <a:ext cx="237960" cy="30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876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400" b="0" u="sng" strike="noStrike">
                <a:solidFill>
                  <a:srgbClr val="000000"/>
                </a:solidFill>
                <a:effectLst/>
                <a:uFillTx/>
                <a:latin typeface="Arial Rounded MT Bold"/>
              </a:rPr>
              <a:t>a</a:t>
            </a:r>
            <a:endParaRPr lang="it-IT" sz="14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cxnSp>
        <p:nvCxnSpPr>
          <p:cNvPr id="343" name="AutoShape 26"/>
          <p:cNvCxnSpPr>
            <a:stCxn id="330" idx="4"/>
            <a:endCxn id="331" idx="6"/>
          </p:cNvCxnSpPr>
          <p:nvPr/>
        </p:nvCxnSpPr>
        <p:spPr>
          <a:xfrm rot="5400000">
            <a:off x="2521080" y="4712400"/>
            <a:ext cx="554760" cy="1321200"/>
          </a:xfrm>
          <a:prstGeom prst="curvedConnector2">
            <a:avLst/>
          </a:prstGeom>
          <a:ln w="9360">
            <a:solidFill>
              <a:srgbClr val="000000"/>
            </a:solidFill>
            <a:miter/>
            <a:tailEnd len="med" type="triangle" w="med"/>
          </a:ln>
        </p:spPr>
      </p:cxnSp>
      <p:sp>
        <p:nvSpPr>
          <p:cNvPr id="344" name="Text Box 27"/>
          <p:cNvSpPr/>
          <p:nvPr/>
        </p:nvSpPr>
        <p:spPr>
          <a:xfrm>
            <a:off x="3346560" y="5195880"/>
            <a:ext cx="239760" cy="30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876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400" b="0" u="sng" strike="noStrike">
                <a:solidFill>
                  <a:srgbClr val="000000"/>
                </a:solidFill>
                <a:effectLst/>
                <a:uFillTx/>
                <a:latin typeface="Arial Rounded MT Bold"/>
              </a:rPr>
              <a:t>b</a:t>
            </a:r>
            <a:endParaRPr lang="it-IT" sz="14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graphicFrame>
        <p:nvGraphicFramePr>
          <p:cNvPr id="345" name=""/>
          <p:cNvGraphicFramePr/>
          <p:nvPr/>
        </p:nvGraphicFramePr>
        <p:xfrm>
          <a:off x="685800" y="1447920"/>
          <a:ext cx="7696080" cy="2260440"/>
        </p:xfrm>
        <a:graphic>
          <a:graphicData uri="http://schemas.openxmlformats.org/drawingml/2006/table">
            <a:tbl>
              <a:tblPr/>
              <a:tblGrid>
                <a:gridCol w="457200"/>
                <a:gridCol w="1905120"/>
                <a:gridCol w="1600200"/>
                <a:gridCol w="1218960"/>
                <a:gridCol w="1143000"/>
                <a:gridCol w="1371600"/>
              </a:tblGrid>
              <a:tr h="452160"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spcBef>
                          <a:spcPts val="4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endParaRPr lang="it-IT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>
                      <a:noFill/>
                    </a:lnL>
                    <a:lnR>
                      <a:noFill/>
                    </a:lnR>
                    <a:lnT w="13680">
                      <a:solidFill>
                        <a:srgbClr val="B025A6"/>
                      </a:solidFill>
                      <a:prstDash val="solid"/>
                    </a:lnT>
                    <a:lnB w="5760">
                      <a:solidFill>
                        <a:srgbClr val="B025A6"/>
                      </a:solidFill>
                      <a:prstDash val="soli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spcBef>
                          <a:spcPts val="4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Current Partition</a:t>
                      </a:r>
                      <a:endParaRPr lang="it-IT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>
                      <a:noFill/>
                    </a:lnL>
                    <a:lnR>
                      <a:noFill/>
                    </a:lnR>
                    <a:lnT w="13680">
                      <a:solidFill>
                        <a:srgbClr val="B025A6"/>
                      </a:solidFill>
                      <a:prstDash val="solid"/>
                    </a:lnT>
                    <a:lnB w="5760">
                      <a:solidFill>
                        <a:srgbClr val="B025A6"/>
                      </a:solidFill>
                      <a:prstDash val="soli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spcBef>
                          <a:spcPts val="4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Worklist</a:t>
                      </a:r>
                      <a:endParaRPr lang="it-IT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>
                      <a:noFill/>
                    </a:lnL>
                    <a:lnR>
                      <a:noFill/>
                    </a:lnR>
                    <a:lnT w="13680">
                      <a:solidFill>
                        <a:srgbClr val="B025A6"/>
                      </a:solidFill>
                      <a:prstDash val="solid"/>
                    </a:lnT>
                    <a:lnB w="5760">
                      <a:solidFill>
                        <a:srgbClr val="B025A6"/>
                      </a:solidFill>
                      <a:prstDash val="soli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spcBef>
                          <a:spcPts val="4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s</a:t>
                      </a:r>
                      <a:endParaRPr lang="it-IT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>
                      <a:noFill/>
                    </a:lnL>
                    <a:lnR>
                      <a:noFill/>
                    </a:lnR>
                    <a:lnT w="13680">
                      <a:solidFill>
                        <a:srgbClr val="B025A6"/>
                      </a:solidFill>
                      <a:prstDash val="solid"/>
                    </a:lnT>
                    <a:lnB w="5760">
                      <a:solidFill>
                        <a:srgbClr val="B025A6"/>
                      </a:solidFill>
                      <a:prstDash val="soli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spcBef>
                          <a:spcPts val="4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Split on </a:t>
                      </a:r>
                      <a:r>
                        <a:rPr lang="en-US" sz="1600" b="0" u="sng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a</a:t>
                      </a:r>
                      <a:endParaRPr lang="it-IT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>
                      <a:noFill/>
                    </a:lnL>
                    <a:lnR>
                      <a:noFill/>
                    </a:lnR>
                    <a:lnT w="13680">
                      <a:solidFill>
                        <a:srgbClr val="B025A6"/>
                      </a:solidFill>
                      <a:prstDash val="solid"/>
                    </a:lnT>
                    <a:lnB w="5760">
                      <a:solidFill>
                        <a:srgbClr val="B025A6"/>
                      </a:solidFill>
                      <a:prstDash val="soli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spcBef>
                          <a:spcPts val="4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Split on </a:t>
                      </a:r>
                      <a:r>
                        <a:rPr lang="en-US" sz="1600" b="0" u="sng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b</a:t>
                      </a:r>
                      <a:endParaRPr lang="it-IT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>
                      <a:noFill/>
                    </a:lnL>
                    <a:lnR>
                      <a:noFill/>
                    </a:lnR>
                    <a:lnT w="13680">
                      <a:solidFill>
                        <a:srgbClr val="B025A6"/>
                      </a:solidFill>
                      <a:prstDash val="solid"/>
                    </a:lnT>
                    <a:lnB w="5760">
                      <a:solidFill>
                        <a:srgbClr val="B025A6"/>
                      </a:solidFill>
                      <a:prstDash val="solid"/>
                    </a:lnB>
                    <a:solidFill>
                      <a:srgbClr val="E6E6E6"/>
                    </a:solidFill>
                  </a:tcPr>
                </a:tc>
              </a:tr>
              <a:tr h="452520"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P</a:t>
                      </a:r>
                      <a:r>
                        <a:rPr lang="en-US" sz="1600" b="0" i="1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0</a:t>
                      </a:r>
                      <a:endParaRPr lang="it-IT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>
                      <a:noFill/>
                    </a:lnL>
                    <a:lnR>
                      <a:noFill/>
                    </a:lnR>
                    <a:lnT w="5760">
                      <a:solidFill>
                        <a:srgbClr val="B025A6"/>
                      </a:solidFill>
                      <a:prstDash val="solid"/>
                    </a:lnT>
                    <a:lnB>
                      <a:noFill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{s</a:t>
                      </a:r>
                      <a:r>
                        <a:rPr lang="en-US" sz="1600" b="0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4</a:t>
                      </a: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}</a:t>
                      </a:r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 </a:t>
                      </a: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{s</a:t>
                      </a:r>
                      <a:r>
                        <a:rPr lang="en-US" sz="1600" b="0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0</a:t>
                      </a: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,s</a:t>
                      </a:r>
                      <a:r>
                        <a:rPr lang="en-US" sz="1600" b="0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1</a:t>
                      </a: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,s</a:t>
                      </a:r>
                      <a:r>
                        <a:rPr lang="en-US" sz="1600" b="0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2</a:t>
                      </a: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,s</a:t>
                      </a:r>
                      <a:r>
                        <a:rPr lang="en-US" sz="1600" b="0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3</a:t>
                      </a: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}</a:t>
                      </a:r>
                      <a:endParaRPr lang="it-IT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>
                      <a:noFill/>
                    </a:lnL>
                    <a:lnR>
                      <a:noFill/>
                    </a:lnR>
                    <a:lnT w="5760">
                      <a:solidFill>
                        <a:srgbClr val="B025A6"/>
                      </a:solidFill>
                      <a:prstDash val="soli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600" b="0" u="none" strike="noStrike">
                          <a:solidFill>
                            <a:srgbClr val="B3B3B3"/>
                          </a:solidFill>
                          <a:effectLst/>
                          <a:uFillTx/>
                          <a:latin typeface="Comic Sans MS"/>
                        </a:rPr>
                        <a:t>{s</a:t>
                      </a:r>
                      <a:r>
                        <a:rPr lang="en-US" sz="1600" b="0" u="none" strike="noStrike" baseline="-25000">
                          <a:solidFill>
                            <a:srgbClr val="B3B3B3"/>
                          </a:solidFill>
                          <a:effectLst/>
                          <a:uFillTx/>
                          <a:latin typeface="Comic Sans MS"/>
                        </a:rPr>
                        <a:t>4</a:t>
                      </a:r>
                      <a:r>
                        <a:rPr lang="en-US" sz="1600" b="0" u="none" strike="noStrike">
                          <a:solidFill>
                            <a:srgbClr val="B3B3B3"/>
                          </a:solidFill>
                          <a:effectLst/>
                          <a:uFillTx/>
                          <a:latin typeface="Comic Sans MS"/>
                        </a:rPr>
                        <a:t>}</a:t>
                      </a:r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 </a:t>
                      </a: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{s</a:t>
                      </a:r>
                      <a:r>
                        <a:rPr lang="en-US" sz="1600" b="0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0</a:t>
                      </a: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,s</a:t>
                      </a:r>
                      <a:r>
                        <a:rPr lang="en-US" sz="1600" b="0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1</a:t>
                      </a: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,s</a:t>
                      </a:r>
                      <a:r>
                        <a:rPr lang="en-US" sz="1600" b="0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2</a:t>
                      </a: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,s</a:t>
                      </a:r>
                      <a:r>
                        <a:rPr lang="en-US" sz="1600" b="0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3</a:t>
                      </a: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}</a:t>
                      </a:r>
                      <a:endParaRPr lang="it-IT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>
                      <a:noFill/>
                    </a:lnL>
                    <a:lnR>
                      <a:noFill/>
                    </a:lnR>
                    <a:lnT w="5760">
                      <a:solidFill>
                        <a:srgbClr val="B025A6"/>
                      </a:solidFill>
                      <a:prstDash val="soli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{s</a:t>
                      </a:r>
                      <a:r>
                        <a:rPr lang="en-US" sz="1600" b="0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4</a:t>
                      </a: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}</a:t>
                      </a:r>
                      <a:endParaRPr lang="it-IT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>
                      <a:noFill/>
                    </a:lnL>
                    <a:lnR>
                      <a:noFill/>
                    </a:lnR>
                    <a:lnT w="5760">
                      <a:solidFill>
                        <a:srgbClr val="B025A6"/>
                      </a:solidFill>
                      <a:prstDash val="soli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none</a:t>
                      </a:r>
                      <a:endParaRPr lang="it-IT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>
                      <a:noFill/>
                    </a:lnL>
                    <a:lnR>
                      <a:noFill/>
                    </a:lnR>
                    <a:lnT w="5760">
                      <a:solidFill>
                        <a:srgbClr val="B025A6"/>
                      </a:solidFill>
                      <a:prstDash val="soli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{s</a:t>
                      </a:r>
                      <a:r>
                        <a:rPr lang="en-US" sz="1600" b="0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3</a:t>
                      </a: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}</a:t>
                      </a: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 </a:t>
                      </a: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{s</a:t>
                      </a:r>
                      <a:r>
                        <a:rPr lang="en-US" sz="1600" b="0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0</a:t>
                      </a: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,s</a:t>
                      </a:r>
                      <a:r>
                        <a:rPr lang="en-US" sz="1600" b="0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1</a:t>
                      </a: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,s</a:t>
                      </a:r>
                      <a:r>
                        <a:rPr lang="en-US" sz="1600" b="0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2</a:t>
                      </a: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}</a:t>
                      </a:r>
                      <a:endParaRPr lang="it-IT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>
                      <a:noFill/>
                    </a:lnL>
                    <a:lnR>
                      <a:noFill/>
                    </a:lnR>
                    <a:lnT w="5760">
                      <a:solidFill>
                        <a:srgbClr val="B025A6"/>
                      </a:solidFill>
                      <a:prstDash val="solid"/>
                    </a:lnT>
                    <a:lnB>
                      <a:noFill/>
                    </a:lnB>
                    <a:noFill/>
                  </a:tcPr>
                </a:tc>
              </a:tr>
              <a:tr h="451080"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lnSpc>
                          <a:spcPct val="110000"/>
                        </a:lnSpc>
                        <a:spcBef>
                          <a:spcPts val="4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P</a:t>
                      </a:r>
                      <a:r>
                        <a:rPr lang="en-US" sz="1600" b="0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1</a:t>
                      </a:r>
                      <a:endParaRPr lang="it-IT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lnSpc>
                          <a:spcPct val="110000"/>
                        </a:lnSpc>
                        <a:spcBef>
                          <a:spcPts val="4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{s</a:t>
                      </a:r>
                      <a:r>
                        <a:rPr lang="en-US" sz="1600" b="0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4</a:t>
                      </a: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} {s</a:t>
                      </a:r>
                      <a:r>
                        <a:rPr lang="en-US" sz="1600" b="0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3</a:t>
                      </a: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}</a:t>
                      </a: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 </a:t>
                      </a: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{s</a:t>
                      </a:r>
                      <a:r>
                        <a:rPr lang="en-US" sz="1600" b="0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0</a:t>
                      </a: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,s</a:t>
                      </a:r>
                      <a:r>
                        <a:rPr lang="en-US" sz="1600" b="0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1</a:t>
                      </a: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,s</a:t>
                      </a:r>
                      <a:r>
                        <a:rPr lang="en-US" sz="1600" b="0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2</a:t>
                      </a: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}</a:t>
                      </a:r>
                      <a:endParaRPr lang="it-IT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lnSpc>
                          <a:spcPct val="110000"/>
                        </a:lnSpc>
                        <a:spcBef>
                          <a:spcPts val="4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600" b="0" u="none" strike="noStrike">
                          <a:solidFill>
                            <a:srgbClr val="B3B3B3"/>
                          </a:solidFill>
                          <a:effectLst/>
                          <a:uFillTx/>
                          <a:latin typeface="Comic Sans MS"/>
                        </a:rPr>
                        <a:t>{s</a:t>
                      </a:r>
                      <a:r>
                        <a:rPr lang="en-US" sz="1600" b="0" u="none" strike="noStrike" baseline="-25000">
                          <a:solidFill>
                            <a:srgbClr val="B3B3B3"/>
                          </a:solidFill>
                          <a:effectLst/>
                          <a:uFillTx/>
                          <a:latin typeface="Comic Sans MS"/>
                        </a:rPr>
                        <a:t>3</a:t>
                      </a:r>
                      <a:r>
                        <a:rPr lang="en-US" sz="1600" b="0" u="none" strike="noStrike">
                          <a:solidFill>
                            <a:srgbClr val="B3B3B3"/>
                          </a:solidFill>
                          <a:effectLst/>
                          <a:uFillTx/>
                          <a:latin typeface="Comic Sans MS"/>
                        </a:rPr>
                        <a:t>}</a:t>
                      </a: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 </a:t>
                      </a: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{s</a:t>
                      </a:r>
                      <a:r>
                        <a:rPr lang="en-US" sz="1600" b="0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0</a:t>
                      </a: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,s</a:t>
                      </a:r>
                      <a:r>
                        <a:rPr lang="en-US" sz="1600" b="0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1</a:t>
                      </a: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,s</a:t>
                      </a:r>
                      <a:r>
                        <a:rPr lang="en-US" sz="1600" b="0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2</a:t>
                      </a: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}</a:t>
                      </a:r>
                      <a:endParaRPr lang="it-IT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lnSpc>
                          <a:spcPct val="110000"/>
                        </a:lnSpc>
                        <a:spcBef>
                          <a:spcPts val="4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{s</a:t>
                      </a:r>
                      <a:r>
                        <a:rPr lang="en-US" sz="1600" b="0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3</a:t>
                      </a: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}</a:t>
                      </a:r>
                      <a:endParaRPr lang="it-IT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none</a:t>
                      </a:r>
                      <a:endParaRPr lang="it-IT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lnSpc>
                          <a:spcPct val="110000"/>
                        </a:lnSpc>
                        <a:spcBef>
                          <a:spcPts val="4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endParaRPr lang="it-IT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52160"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lnSpc>
                          <a:spcPct val="110000"/>
                        </a:lnSpc>
                        <a:spcBef>
                          <a:spcPts val="4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endParaRPr lang="it-IT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lnSpc>
                          <a:spcPct val="110000"/>
                        </a:lnSpc>
                        <a:spcBef>
                          <a:spcPts val="4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endParaRPr lang="it-IT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lnSpc>
                          <a:spcPct val="110000"/>
                        </a:lnSpc>
                        <a:spcBef>
                          <a:spcPts val="4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endParaRPr lang="it-IT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lnSpc>
                          <a:spcPct val="110000"/>
                        </a:lnSpc>
                        <a:spcBef>
                          <a:spcPts val="4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endParaRPr lang="it-IT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lnSpc>
                          <a:spcPct val="110000"/>
                        </a:lnSpc>
                        <a:spcBef>
                          <a:spcPts val="4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endParaRPr lang="it-IT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lnSpc>
                          <a:spcPct val="110000"/>
                        </a:lnSpc>
                        <a:spcBef>
                          <a:spcPts val="4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endParaRPr lang="it-IT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52520"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lnSpc>
                          <a:spcPct val="110000"/>
                        </a:lnSpc>
                        <a:spcBef>
                          <a:spcPts val="4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endParaRPr lang="it-IT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lnSpc>
                          <a:spcPct val="110000"/>
                        </a:lnSpc>
                        <a:spcBef>
                          <a:spcPts val="4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endParaRPr lang="it-IT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lnSpc>
                          <a:spcPct val="110000"/>
                        </a:lnSpc>
                        <a:spcBef>
                          <a:spcPts val="4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endParaRPr lang="it-IT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lnSpc>
                          <a:spcPct val="110000"/>
                        </a:lnSpc>
                        <a:spcBef>
                          <a:spcPts val="4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endParaRPr lang="it-IT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lnSpc>
                          <a:spcPct val="110000"/>
                        </a:lnSpc>
                        <a:spcBef>
                          <a:spcPts val="4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endParaRPr lang="it-IT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lnSpc>
                          <a:spcPct val="110000"/>
                        </a:lnSpc>
                        <a:spcBef>
                          <a:spcPts val="4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endParaRPr lang="it-IT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</p:spTree>
  </p:cSld>
  <p:transition>
    <p:wipe dir="r"/>
  </p:transition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Footer Placeholder 3"/>
          <p:cNvSpPr/>
          <p:nvPr/>
        </p:nvSpPr>
        <p:spPr>
          <a:xfrm>
            <a:off x="685800" y="6248520"/>
            <a:ext cx="289548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Autofit/>
          </a:bodyPr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Comp 412, Fall 2010</a:t>
            </a:r>
            <a:endParaRPr lang="it-IT" sz="12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347" name="Slide Number Placeholder 4"/>
          <p:cNvSpPr/>
          <p:nvPr/>
        </p:nvSpPr>
        <p:spPr>
          <a:xfrm>
            <a:off x="6553080" y="6248520"/>
            <a:ext cx="190512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Autofit/>
          </a:bodyPr>
          <a:p>
            <a:pPr algn="r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E2A46172-FBE1-405F-AABB-BD523E9A40A6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&lt;number&gt;</a:t>
            </a:fld>
            <a:endParaRPr lang="it-IT" sz="12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348" name="PlaceHolder 1"/>
          <p:cNvSpPr>
            <a:spLocks noGrp="1"/>
          </p:cNvSpPr>
          <p:nvPr>
            <p:ph type="title"/>
          </p:nvPr>
        </p:nvSpPr>
        <p:spPr>
          <a:xfrm>
            <a:off x="685800" y="533160"/>
            <a:ext cx="7772400" cy="533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l">
              <a:spcBef>
                <a:spcPts val="901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A Detailed Example          (DFA Minimization)</a:t>
            </a:r>
            <a:endParaRPr lang="it-IT" sz="24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cxnSp>
        <p:nvCxnSpPr>
          <p:cNvPr id="349" name="AutoShape 3"/>
          <p:cNvCxnSpPr>
            <a:stCxn id="350" idx="7"/>
            <a:endCxn id="350" idx="1"/>
          </p:cNvCxnSpPr>
          <p:nvPr/>
        </p:nvCxnSpPr>
        <p:spPr>
          <a:xfrm rot="5400000">
            <a:off x="1947600" y="4626720"/>
            <a:ext cx="2520" cy="255960"/>
          </a:xfrm>
          <a:prstGeom prst="curvedConnector5">
            <a:avLst>
              <a:gd name="adj1" fmla="val -17600000"/>
              <a:gd name="adj2" fmla="val 50000"/>
              <a:gd name="adj3" fmla="val -17600000"/>
            </a:avLst>
          </a:prstGeom>
          <a:ln w="9360">
            <a:solidFill>
              <a:srgbClr val="FF0065"/>
            </a:solidFill>
            <a:miter/>
            <a:tailEnd len="med" type="triangle" w="med"/>
          </a:ln>
        </p:spPr>
      </p:cxnSp>
      <p:sp>
        <p:nvSpPr>
          <p:cNvPr id="351" name="Oval 4"/>
          <p:cNvSpPr/>
          <p:nvPr/>
        </p:nvSpPr>
        <p:spPr>
          <a:xfrm>
            <a:off x="1014480" y="4708440"/>
            <a:ext cx="361800" cy="370080"/>
          </a:xfrm>
          <a:prstGeom prst="ellipse">
            <a:avLst/>
          </a:prstGeom>
          <a:noFill/>
          <a:ln w="19080">
            <a:solidFill>
              <a:srgbClr val="B025A6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400" b="0" i="1" u="none" strike="noStrike">
                <a:solidFill>
                  <a:srgbClr val="B025A6"/>
                </a:solidFill>
                <a:effectLst/>
                <a:uFillTx/>
                <a:latin typeface="Arial Rounded MT Bold"/>
              </a:rPr>
              <a:t>s</a:t>
            </a:r>
            <a:r>
              <a:rPr lang="en-US" sz="1400" b="0" i="1" u="none" strike="noStrike" baseline="-25000">
                <a:solidFill>
                  <a:srgbClr val="B025A6"/>
                </a:solidFill>
                <a:effectLst/>
                <a:uFillTx/>
                <a:latin typeface="Arial Rounded MT Bold"/>
              </a:rPr>
              <a:t>0 </a:t>
            </a:r>
            <a:endParaRPr lang="it-IT" sz="14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352" name="Line 5"/>
          <p:cNvSpPr/>
          <p:nvPr/>
        </p:nvSpPr>
        <p:spPr>
          <a:xfrm>
            <a:off x="1357200" y="4915080"/>
            <a:ext cx="395280" cy="0"/>
          </a:xfrm>
          <a:prstGeom prst="line">
            <a:avLst/>
          </a:prstGeom>
          <a:ln w="9360">
            <a:solidFill>
              <a:srgbClr val="B025A6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-46800" rIns="90000" bIns="-46800" anchor="ctr">
            <a:noAutofit/>
          </a:bodyPr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353" name="Text Box 6"/>
          <p:cNvSpPr/>
          <p:nvPr/>
        </p:nvSpPr>
        <p:spPr>
          <a:xfrm>
            <a:off x="1425600" y="4640400"/>
            <a:ext cx="237960" cy="30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876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400" b="0" u="sng" strike="noStrike">
                <a:solidFill>
                  <a:srgbClr val="000000"/>
                </a:solidFill>
                <a:effectLst/>
                <a:uFillTx/>
                <a:latin typeface="Arial Rounded MT Bold"/>
              </a:rPr>
              <a:t>a</a:t>
            </a:r>
            <a:endParaRPr lang="it-IT" sz="14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350" name="Oval 7"/>
          <p:cNvSpPr/>
          <p:nvPr/>
        </p:nvSpPr>
        <p:spPr>
          <a:xfrm>
            <a:off x="1768320" y="4708440"/>
            <a:ext cx="362160" cy="370080"/>
          </a:xfrm>
          <a:prstGeom prst="ellipse">
            <a:avLst/>
          </a:prstGeom>
          <a:noFill/>
          <a:ln w="19080">
            <a:solidFill>
              <a:srgbClr val="FF0065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400" b="0" i="1" u="none" strike="noStrike">
                <a:solidFill>
                  <a:srgbClr val="FF0065"/>
                </a:solidFill>
                <a:effectLst/>
                <a:uFillTx/>
                <a:latin typeface="Arial Rounded MT Bold"/>
              </a:rPr>
              <a:t>s</a:t>
            </a:r>
            <a:r>
              <a:rPr lang="en-US" sz="1400" b="0" i="1" u="none" strike="noStrike" baseline="-25000">
                <a:solidFill>
                  <a:srgbClr val="FF0065"/>
                </a:solidFill>
                <a:effectLst/>
                <a:uFillTx/>
                <a:latin typeface="Arial Rounded MT Bold"/>
              </a:rPr>
              <a:t>1 </a:t>
            </a:r>
            <a:endParaRPr lang="it-IT" sz="14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354" name="Line 8"/>
          <p:cNvSpPr/>
          <p:nvPr/>
        </p:nvSpPr>
        <p:spPr>
          <a:xfrm>
            <a:off x="2111400" y="4915080"/>
            <a:ext cx="395280" cy="0"/>
          </a:xfrm>
          <a:prstGeom prst="line">
            <a:avLst/>
          </a:prstGeom>
          <a:ln w="9360">
            <a:solidFill>
              <a:srgbClr val="FF0065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-46800" rIns="90000" bIns="-46800" anchor="ctr">
            <a:noAutofit/>
          </a:bodyPr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355" name="Text Box 9"/>
          <p:cNvSpPr/>
          <p:nvPr/>
        </p:nvSpPr>
        <p:spPr>
          <a:xfrm>
            <a:off x="1357200" y="5189400"/>
            <a:ext cx="238320" cy="30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876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400" b="0" u="sng" strike="noStrike">
                <a:solidFill>
                  <a:srgbClr val="000000"/>
                </a:solidFill>
                <a:effectLst/>
                <a:uFillTx/>
                <a:latin typeface="Arial Rounded MT Bold"/>
              </a:rPr>
              <a:t>b</a:t>
            </a:r>
            <a:endParaRPr lang="it-IT" sz="14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356" name="Oval 10"/>
          <p:cNvSpPr/>
          <p:nvPr/>
        </p:nvSpPr>
        <p:spPr>
          <a:xfrm>
            <a:off x="2522520" y="4708440"/>
            <a:ext cx="361800" cy="370080"/>
          </a:xfrm>
          <a:prstGeom prst="ellipse">
            <a:avLst/>
          </a:prstGeom>
          <a:noFill/>
          <a:ln w="1908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400" b="0" i="1" u="none" strike="noStrike">
                <a:solidFill>
                  <a:srgbClr val="000000"/>
                </a:solidFill>
                <a:effectLst/>
                <a:uFillTx/>
                <a:latin typeface="Arial Rounded MT Bold"/>
              </a:rPr>
              <a:t>s</a:t>
            </a:r>
            <a:r>
              <a:rPr lang="en-US" sz="1400" b="0" i="1" u="none" strike="noStrike" baseline="-25000">
                <a:solidFill>
                  <a:srgbClr val="000000"/>
                </a:solidFill>
                <a:effectLst/>
                <a:uFillTx/>
                <a:latin typeface="Arial Rounded MT Bold"/>
              </a:rPr>
              <a:t>3 </a:t>
            </a:r>
            <a:endParaRPr lang="it-IT" sz="14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357" name="Line 11"/>
          <p:cNvSpPr/>
          <p:nvPr/>
        </p:nvSpPr>
        <p:spPr>
          <a:xfrm>
            <a:off x="2865600" y="4915080"/>
            <a:ext cx="395280" cy="0"/>
          </a:xfrm>
          <a:prstGeom prst="line">
            <a:avLst/>
          </a:prstGeom>
          <a:ln w="9360">
            <a:solidFill>
              <a:srgbClr val="000000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-46800" rIns="90000" bIns="-46800" anchor="ctr">
            <a:noAutofit/>
          </a:bodyPr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358" name="Text Box 12"/>
          <p:cNvSpPr/>
          <p:nvPr/>
        </p:nvSpPr>
        <p:spPr>
          <a:xfrm>
            <a:off x="2933640" y="4640400"/>
            <a:ext cx="239760" cy="30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876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400" b="0" u="sng" strike="noStrike">
                <a:solidFill>
                  <a:srgbClr val="000000"/>
                </a:solidFill>
                <a:effectLst/>
                <a:uFillTx/>
                <a:latin typeface="Arial Rounded MT Bold"/>
              </a:rPr>
              <a:t>b</a:t>
            </a:r>
            <a:endParaRPr lang="it-IT" sz="14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359" name="Oval 13"/>
          <p:cNvSpPr/>
          <p:nvPr/>
        </p:nvSpPr>
        <p:spPr>
          <a:xfrm>
            <a:off x="3276720" y="4708440"/>
            <a:ext cx="361800" cy="370080"/>
          </a:xfrm>
          <a:prstGeom prst="ellipse">
            <a:avLst/>
          </a:prstGeom>
          <a:noFill/>
          <a:ln w="381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400" b="0" i="1" u="none" strike="noStrike">
                <a:solidFill>
                  <a:srgbClr val="000000"/>
                </a:solidFill>
                <a:effectLst/>
                <a:uFillTx/>
                <a:latin typeface="Arial Rounded MT Bold"/>
              </a:rPr>
              <a:t>s</a:t>
            </a:r>
            <a:r>
              <a:rPr lang="en-US" sz="1400" b="0" i="1" u="none" strike="noStrike" baseline="-25000">
                <a:solidFill>
                  <a:srgbClr val="000000"/>
                </a:solidFill>
                <a:effectLst/>
                <a:uFillTx/>
                <a:latin typeface="Arial Rounded MT Bold"/>
              </a:rPr>
              <a:t>4 </a:t>
            </a:r>
            <a:endParaRPr lang="it-IT" sz="14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360" name="Oval 14"/>
          <p:cNvSpPr/>
          <p:nvPr/>
        </p:nvSpPr>
        <p:spPr>
          <a:xfrm>
            <a:off x="1768320" y="5464080"/>
            <a:ext cx="362160" cy="370080"/>
          </a:xfrm>
          <a:prstGeom prst="ellipse">
            <a:avLst/>
          </a:prstGeom>
          <a:noFill/>
          <a:ln w="19080">
            <a:solidFill>
              <a:srgbClr val="B025A6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400" b="0" i="1" u="none" strike="noStrike">
                <a:solidFill>
                  <a:srgbClr val="B025A6"/>
                </a:solidFill>
                <a:effectLst/>
                <a:uFillTx/>
                <a:latin typeface="Arial Rounded MT Bold"/>
              </a:rPr>
              <a:t>s</a:t>
            </a:r>
            <a:r>
              <a:rPr lang="en-US" sz="1400" b="0" i="1" u="none" strike="noStrike" baseline="-25000">
                <a:solidFill>
                  <a:srgbClr val="B025A6"/>
                </a:solidFill>
                <a:effectLst/>
                <a:uFillTx/>
                <a:latin typeface="Arial Rounded MT Bold"/>
              </a:rPr>
              <a:t>2</a:t>
            </a:r>
            <a:endParaRPr lang="it-IT" sz="14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361" name="Line 15"/>
          <p:cNvSpPr/>
          <p:nvPr/>
        </p:nvSpPr>
        <p:spPr>
          <a:xfrm>
            <a:off x="1305000" y="5035680"/>
            <a:ext cx="495360" cy="488880"/>
          </a:xfrm>
          <a:prstGeom prst="line">
            <a:avLst/>
          </a:prstGeom>
          <a:ln w="9360">
            <a:solidFill>
              <a:srgbClr val="B025A6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ctr">
            <a:noAutofit/>
          </a:bodyPr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362" name="Line 16"/>
          <p:cNvSpPr/>
          <p:nvPr/>
        </p:nvSpPr>
        <p:spPr>
          <a:xfrm flipV="1">
            <a:off x="1935000" y="5081760"/>
            <a:ext cx="0" cy="374400"/>
          </a:xfrm>
          <a:prstGeom prst="line">
            <a:avLst/>
          </a:prstGeom>
          <a:ln w="9360">
            <a:solidFill>
              <a:srgbClr val="B025A6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ctr">
            <a:noAutofit/>
          </a:bodyPr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363" name="Text Box 17"/>
          <p:cNvSpPr/>
          <p:nvPr/>
        </p:nvSpPr>
        <p:spPr>
          <a:xfrm>
            <a:off x="1935000" y="5189400"/>
            <a:ext cx="239760" cy="30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876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400" b="0" u="sng" strike="noStrike">
                <a:solidFill>
                  <a:srgbClr val="000000"/>
                </a:solidFill>
                <a:effectLst/>
                <a:uFillTx/>
                <a:latin typeface="Arial Rounded MT Bold"/>
              </a:rPr>
              <a:t>a</a:t>
            </a:r>
            <a:endParaRPr lang="it-IT" sz="14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364" name="Text Box 18"/>
          <p:cNvSpPr/>
          <p:nvPr/>
        </p:nvSpPr>
        <p:spPr>
          <a:xfrm>
            <a:off x="2179800" y="4640400"/>
            <a:ext cx="239400" cy="30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876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400" b="0" u="sng" strike="noStrike">
                <a:solidFill>
                  <a:srgbClr val="000000"/>
                </a:solidFill>
                <a:effectLst/>
                <a:uFillTx/>
                <a:latin typeface="Arial Rounded MT Bold"/>
              </a:rPr>
              <a:t>b</a:t>
            </a:r>
            <a:endParaRPr lang="it-IT" sz="14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cxnSp>
        <p:nvCxnSpPr>
          <p:cNvPr id="365" name="AutoShape 19"/>
          <p:cNvCxnSpPr>
            <a:stCxn id="360" idx="3"/>
            <a:endCxn id="360" idx="5"/>
          </p:cNvCxnSpPr>
          <p:nvPr/>
        </p:nvCxnSpPr>
        <p:spPr>
          <a:xfrm flipH="1" rot="16200000">
            <a:off x="1947960" y="5661000"/>
            <a:ext cx="2160" cy="255960"/>
          </a:xfrm>
          <a:prstGeom prst="curvedConnector5">
            <a:avLst>
              <a:gd name="adj1" fmla="val 17600000"/>
              <a:gd name="adj2" fmla="val 50000"/>
              <a:gd name="adj3" fmla="val 17600000"/>
            </a:avLst>
          </a:prstGeom>
          <a:ln w="9360">
            <a:solidFill>
              <a:srgbClr val="B025A6"/>
            </a:solidFill>
            <a:miter/>
            <a:headEnd len="med" type="triangle" w="med"/>
          </a:ln>
        </p:spPr>
      </p:cxnSp>
      <p:sp>
        <p:nvSpPr>
          <p:cNvPr id="366" name="Text Box 20"/>
          <p:cNvSpPr/>
          <p:nvPr/>
        </p:nvSpPr>
        <p:spPr>
          <a:xfrm>
            <a:off x="2013120" y="5865840"/>
            <a:ext cx="237960" cy="30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876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400" b="0" u="sng" strike="noStrike">
                <a:solidFill>
                  <a:srgbClr val="000000"/>
                </a:solidFill>
                <a:effectLst/>
                <a:uFillTx/>
                <a:latin typeface="Arial Rounded MT Bold"/>
              </a:rPr>
              <a:t>b</a:t>
            </a:r>
            <a:endParaRPr lang="it-IT" sz="14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367" name="Text Box 21"/>
          <p:cNvSpPr/>
          <p:nvPr/>
        </p:nvSpPr>
        <p:spPr>
          <a:xfrm>
            <a:off x="2027160" y="4373640"/>
            <a:ext cx="238320" cy="30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876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400" b="0" u="sng" strike="noStrike">
                <a:solidFill>
                  <a:srgbClr val="000000"/>
                </a:solidFill>
                <a:effectLst/>
                <a:uFillTx/>
                <a:latin typeface="Arial Rounded MT Bold"/>
              </a:rPr>
              <a:t>a</a:t>
            </a:r>
            <a:endParaRPr lang="it-IT" sz="14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cxnSp>
        <p:nvCxnSpPr>
          <p:cNvPr id="368" name="AutoShape 22"/>
          <p:cNvCxnSpPr>
            <a:stCxn id="356" idx="4"/>
            <a:endCxn id="350" idx="5"/>
          </p:cNvCxnSpPr>
          <p:nvPr/>
        </p:nvCxnSpPr>
        <p:spPr>
          <a:xfrm flipV="1" rot="16200000">
            <a:off x="2363400" y="4745880"/>
            <a:ext cx="54720" cy="629280"/>
          </a:xfrm>
          <a:prstGeom prst="curvedConnector5">
            <a:avLst>
              <a:gd name="adj1" fmla="val -249668"/>
              <a:gd name="adj2" fmla="val 49971"/>
              <a:gd name="adj3" fmla="val -249668"/>
            </a:avLst>
          </a:prstGeom>
          <a:ln w="9360">
            <a:solidFill>
              <a:srgbClr val="000000"/>
            </a:solidFill>
            <a:miter/>
            <a:tailEnd len="med" type="triangle" w="med"/>
          </a:ln>
        </p:spPr>
      </p:cxnSp>
      <p:sp>
        <p:nvSpPr>
          <p:cNvPr id="369" name="Text Box 23"/>
          <p:cNvSpPr/>
          <p:nvPr/>
        </p:nvSpPr>
        <p:spPr>
          <a:xfrm>
            <a:off x="2522520" y="5121360"/>
            <a:ext cx="239760" cy="30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876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400" b="0" u="sng" strike="noStrike">
                <a:solidFill>
                  <a:srgbClr val="000000"/>
                </a:solidFill>
                <a:effectLst/>
                <a:uFillTx/>
                <a:latin typeface="Arial Rounded MT Bold"/>
              </a:rPr>
              <a:t>a</a:t>
            </a:r>
            <a:endParaRPr lang="it-IT" sz="14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cxnSp>
        <p:nvCxnSpPr>
          <p:cNvPr id="370" name="AutoShape 24"/>
          <p:cNvCxnSpPr>
            <a:stCxn id="359" idx="0"/>
          </p:cNvCxnSpPr>
          <p:nvPr/>
        </p:nvCxnSpPr>
        <p:spPr>
          <a:xfrm rot="5400000">
            <a:off x="2551320" y="3909960"/>
            <a:ext cx="127800" cy="1684800"/>
          </a:xfrm>
          <a:prstGeom prst="curvedConnector5">
            <a:avLst>
              <a:gd name="adj1" fmla="val -321186"/>
              <a:gd name="adj2" fmla="val 51805"/>
              <a:gd name="adj3" fmla="val -321186"/>
            </a:avLst>
          </a:prstGeom>
          <a:ln w="9360">
            <a:solidFill>
              <a:srgbClr val="000000"/>
            </a:solidFill>
            <a:miter/>
            <a:tailEnd len="med" type="triangle" w="med"/>
          </a:ln>
        </p:spPr>
      </p:cxnSp>
      <p:sp>
        <p:nvSpPr>
          <p:cNvPr id="371" name="Text Box 25"/>
          <p:cNvSpPr/>
          <p:nvPr/>
        </p:nvSpPr>
        <p:spPr>
          <a:xfrm>
            <a:off x="3367080" y="4343400"/>
            <a:ext cx="237960" cy="30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876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400" b="0" u="sng" strike="noStrike">
                <a:solidFill>
                  <a:srgbClr val="000000"/>
                </a:solidFill>
                <a:effectLst/>
                <a:uFillTx/>
                <a:latin typeface="Arial Rounded MT Bold"/>
              </a:rPr>
              <a:t>a</a:t>
            </a:r>
            <a:endParaRPr lang="it-IT" sz="14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cxnSp>
        <p:nvCxnSpPr>
          <p:cNvPr id="372" name="AutoShape 26"/>
          <p:cNvCxnSpPr>
            <a:stCxn id="359" idx="4"/>
            <a:endCxn id="360" idx="6"/>
          </p:cNvCxnSpPr>
          <p:nvPr/>
        </p:nvCxnSpPr>
        <p:spPr>
          <a:xfrm rot="5400000">
            <a:off x="2521080" y="4712400"/>
            <a:ext cx="554760" cy="1321200"/>
          </a:xfrm>
          <a:prstGeom prst="curvedConnector2">
            <a:avLst/>
          </a:prstGeom>
          <a:ln w="9360">
            <a:solidFill>
              <a:srgbClr val="000000"/>
            </a:solidFill>
            <a:miter/>
            <a:tailEnd len="med" type="triangle" w="med"/>
          </a:ln>
        </p:spPr>
      </p:cxnSp>
      <p:sp>
        <p:nvSpPr>
          <p:cNvPr id="373" name="Text Box 27"/>
          <p:cNvSpPr/>
          <p:nvPr/>
        </p:nvSpPr>
        <p:spPr>
          <a:xfrm>
            <a:off x="3346560" y="5195880"/>
            <a:ext cx="239760" cy="30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876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400" b="0" u="sng" strike="noStrike">
                <a:solidFill>
                  <a:srgbClr val="000000"/>
                </a:solidFill>
                <a:effectLst/>
                <a:uFillTx/>
                <a:latin typeface="Arial Rounded MT Bold"/>
              </a:rPr>
              <a:t>b</a:t>
            </a:r>
            <a:endParaRPr lang="it-IT" sz="14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graphicFrame>
        <p:nvGraphicFramePr>
          <p:cNvPr id="374" name=""/>
          <p:cNvGraphicFramePr/>
          <p:nvPr/>
        </p:nvGraphicFramePr>
        <p:xfrm>
          <a:off x="685800" y="1447920"/>
          <a:ext cx="7696080" cy="2260440"/>
        </p:xfrm>
        <a:graphic>
          <a:graphicData uri="http://schemas.openxmlformats.org/drawingml/2006/table">
            <a:tbl>
              <a:tblPr/>
              <a:tblGrid>
                <a:gridCol w="457200"/>
                <a:gridCol w="1905120"/>
                <a:gridCol w="1600200"/>
                <a:gridCol w="1218960"/>
                <a:gridCol w="1143000"/>
                <a:gridCol w="1371600"/>
              </a:tblGrid>
              <a:tr h="452160"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spcBef>
                          <a:spcPts val="4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endParaRPr lang="it-IT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>
                      <a:noFill/>
                    </a:lnL>
                    <a:lnR>
                      <a:noFill/>
                    </a:lnR>
                    <a:lnT w="13680">
                      <a:solidFill>
                        <a:srgbClr val="B025A6"/>
                      </a:solidFill>
                      <a:prstDash val="solid"/>
                    </a:lnT>
                    <a:lnB w="5760">
                      <a:solidFill>
                        <a:srgbClr val="B025A6"/>
                      </a:solidFill>
                      <a:prstDash val="soli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spcBef>
                          <a:spcPts val="4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Current Partition</a:t>
                      </a:r>
                      <a:endParaRPr lang="it-IT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>
                      <a:noFill/>
                    </a:lnL>
                    <a:lnR>
                      <a:noFill/>
                    </a:lnR>
                    <a:lnT w="13680">
                      <a:solidFill>
                        <a:srgbClr val="B025A6"/>
                      </a:solidFill>
                      <a:prstDash val="solid"/>
                    </a:lnT>
                    <a:lnB w="5760">
                      <a:solidFill>
                        <a:srgbClr val="B025A6"/>
                      </a:solidFill>
                      <a:prstDash val="soli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spcBef>
                          <a:spcPts val="4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Worklist</a:t>
                      </a:r>
                      <a:endParaRPr lang="it-IT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>
                      <a:noFill/>
                    </a:lnL>
                    <a:lnR>
                      <a:noFill/>
                    </a:lnR>
                    <a:lnT w="13680">
                      <a:solidFill>
                        <a:srgbClr val="B025A6"/>
                      </a:solidFill>
                      <a:prstDash val="solid"/>
                    </a:lnT>
                    <a:lnB w="5760">
                      <a:solidFill>
                        <a:srgbClr val="B025A6"/>
                      </a:solidFill>
                      <a:prstDash val="soli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spcBef>
                          <a:spcPts val="4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s</a:t>
                      </a:r>
                      <a:endParaRPr lang="it-IT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>
                      <a:noFill/>
                    </a:lnL>
                    <a:lnR>
                      <a:noFill/>
                    </a:lnR>
                    <a:lnT w="13680">
                      <a:solidFill>
                        <a:srgbClr val="B025A6"/>
                      </a:solidFill>
                      <a:prstDash val="solid"/>
                    </a:lnT>
                    <a:lnB w="5760">
                      <a:solidFill>
                        <a:srgbClr val="B025A6"/>
                      </a:solidFill>
                      <a:prstDash val="soli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spcBef>
                          <a:spcPts val="4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Split on </a:t>
                      </a:r>
                      <a:r>
                        <a:rPr lang="en-US" sz="1600" b="0" u="sng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a</a:t>
                      </a:r>
                      <a:endParaRPr lang="it-IT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>
                      <a:noFill/>
                    </a:lnL>
                    <a:lnR>
                      <a:noFill/>
                    </a:lnR>
                    <a:lnT w="13680">
                      <a:solidFill>
                        <a:srgbClr val="B025A6"/>
                      </a:solidFill>
                      <a:prstDash val="solid"/>
                    </a:lnT>
                    <a:lnB w="5760">
                      <a:solidFill>
                        <a:srgbClr val="B025A6"/>
                      </a:solidFill>
                      <a:prstDash val="soli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spcBef>
                          <a:spcPts val="4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Split on </a:t>
                      </a:r>
                      <a:r>
                        <a:rPr lang="en-US" sz="1600" b="0" u="sng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b</a:t>
                      </a:r>
                      <a:endParaRPr lang="it-IT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>
                      <a:noFill/>
                    </a:lnL>
                    <a:lnR>
                      <a:noFill/>
                    </a:lnR>
                    <a:lnT w="13680">
                      <a:solidFill>
                        <a:srgbClr val="B025A6"/>
                      </a:solidFill>
                      <a:prstDash val="solid"/>
                    </a:lnT>
                    <a:lnB w="5760">
                      <a:solidFill>
                        <a:srgbClr val="B025A6"/>
                      </a:solidFill>
                      <a:prstDash val="solid"/>
                    </a:lnB>
                    <a:solidFill>
                      <a:srgbClr val="E6E6E6"/>
                    </a:solidFill>
                  </a:tcPr>
                </a:tc>
              </a:tr>
              <a:tr h="452520"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P</a:t>
                      </a:r>
                      <a:r>
                        <a:rPr lang="en-US" sz="1600" b="0" i="1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0</a:t>
                      </a:r>
                      <a:endParaRPr lang="it-IT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>
                      <a:noFill/>
                    </a:lnL>
                    <a:lnR>
                      <a:noFill/>
                    </a:lnR>
                    <a:lnT w="5760">
                      <a:solidFill>
                        <a:srgbClr val="B025A6"/>
                      </a:solidFill>
                      <a:prstDash val="solid"/>
                    </a:lnT>
                    <a:lnB>
                      <a:noFill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{s</a:t>
                      </a:r>
                      <a:r>
                        <a:rPr lang="en-US" sz="1600" b="0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4</a:t>
                      </a: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}</a:t>
                      </a:r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 </a:t>
                      </a: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{s</a:t>
                      </a:r>
                      <a:r>
                        <a:rPr lang="en-US" sz="1600" b="0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0</a:t>
                      </a: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,s</a:t>
                      </a:r>
                      <a:r>
                        <a:rPr lang="en-US" sz="1600" b="0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1</a:t>
                      </a: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,s</a:t>
                      </a:r>
                      <a:r>
                        <a:rPr lang="en-US" sz="1600" b="0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2</a:t>
                      </a: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,s</a:t>
                      </a:r>
                      <a:r>
                        <a:rPr lang="en-US" sz="1600" b="0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3</a:t>
                      </a: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}</a:t>
                      </a:r>
                      <a:endParaRPr lang="it-IT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>
                      <a:noFill/>
                    </a:lnL>
                    <a:lnR>
                      <a:noFill/>
                    </a:lnR>
                    <a:lnT w="5760">
                      <a:solidFill>
                        <a:srgbClr val="B025A6"/>
                      </a:solidFill>
                      <a:prstDash val="soli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600" b="0" u="none" strike="noStrike">
                          <a:solidFill>
                            <a:srgbClr val="B3B3B3"/>
                          </a:solidFill>
                          <a:effectLst/>
                          <a:uFillTx/>
                          <a:latin typeface="Comic Sans MS"/>
                        </a:rPr>
                        <a:t>{s</a:t>
                      </a:r>
                      <a:r>
                        <a:rPr lang="en-US" sz="1600" b="0" u="none" strike="noStrike" baseline="-25000">
                          <a:solidFill>
                            <a:srgbClr val="B3B3B3"/>
                          </a:solidFill>
                          <a:effectLst/>
                          <a:uFillTx/>
                          <a:latin typeface="Comic Sans MS"/>
                        </a:rPr>
                        <a:t>4</a:t>
                      </a:r>
                      <a:r>
                        <a:rPr lang="en-US" sz="1600" b="0" u="none" strike="noStrike">
                          <a:solidFill>
                            <a:srgbClr val="B3B3B3"/>
                          </a:solidFill>
                          <a:effectLst/>
                          <a:uFillTx/>
                          <a:latin typeface="Comic Sans MS"/>
                        </a:rPr>
                        <a:t>}</a:t>
                      </a:r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 </a:t>
                      </a: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{s</a:t>
                      </a:r>
                      <a:r>
                        <a:rPr lang="en-US" sz="1600" b="0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0</a:t>
                      </a: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,s</a:t>
                      </a:r>
                      <a:r>
                        <a:rPr lang="en-US" sz="1600" b="0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1</a:t>
                      </a: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,s</a:t>
                      </a:r>
                      <a:r>
                        <a:rPr lang="en-US" sz="1600" b="0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2</a:t>
                      </a: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,s</a:t>
                      </a:r>
                      <a:r>
                        <a:rPr lang="en-US" sz="1600" b="0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3</a:t>
                      </a: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}</a:t>
                      </a:r>
                      <a:endParaRPr lang="it-IT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>
                      <a:noFill/>
                    </a:lnL>
                    <a:lnR>
                      <a:noFill/>
                    </a:lnR>
                    <a:lnT w="5760">
                      <a:solidFill>
                        <a:srgbClr val="B025A6"/>
                      </a:solidFill>
                      <a:prstDash val="soli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{s</a:t>
                      </a:r>
                      <a:r>
                        <a:rPr lang="en-US" sz="1600" b="0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4</a:t>
                      </a: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}</a:t>
                      </a:r>
                      <a:endParaRPr lang="it-IT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>
                      <a:noFill/>
                    </a:lnL>
                    <a:lnR>
                      <a:noFill/>
                    </a:lnR>
                    <a:lnT w="5760">
                      <a:solidFill>
                        <a:srgbClr val="B025A6"/>
                      </a:solidFill>
                      <a:prstDash val="soli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none</a:t>
                      </a:r>
                      <a:endParaRPr lang="it-IT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>
                      <a:noFill/>
                    </a:lnL>
                    <a:lnR>
                      <a:noFill/>
                    </a:lnR>
                    <a:lnT w="5760">
                      <a:solidFill>
                        <a:srgbClr val="B025A6"/>
                      </a:solidFill>
                      <a:prstDash val="soli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{s</a:t>
                      </a:r>
                      <a:r>
                        <a:rPr lang="en-US" sz="1600" b="0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3</a:t>
                      </a: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}</a:t>
                      </a: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 </a:t>
                      </a: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{s</a:t>
                      </a:r>
                      <a:r>
                        <a:rPr lang="en-US" sz="1600" b="0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0</a:t>
                      </a: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,s</a:t>
                      </a:r>
                      <a:r>
                        <a:rPr lang="en-US" sz="1600" b="0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1</a:t>
                      </a: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,s</a:t>
                      </a:r>
                      <a:r>
                        <a:rPr lang="en-US" sz="1600" b="0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2</a:t>
                      </a: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}</a:t>
                      </a:r>
                      <a:endParaRPr lang="it-IT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>
                      <a:noFill/>
                    </a:lnL>
                    <a:lnR>
                      <a:noFill/>
                    </a:lnR>
                    <a:lnT w="5760">
                      <a:solidFill>
                        <a:srgbClr val="B025A6"/>
                      </a:solidFill>
                      <a:prstDash val="solid"/>
                    </a:lnT>
                    <a:lnB>
                      <a:noFill/>
                    </a:lnB>
                    <a:noFill/>
                  </a:tcPr>
                </a:tc>
              </a:tr>
              <a:tr h="451080"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lnSpc>
                          <a:spcPct val="110000"/>
                        </a:lnSpc>
                        <a:spcBef>
                          <a:spcPts val="4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P</a:t>
                      </a:r>
                      <a:r>
                        <a:rPr lang="en-US" sz="1600" b="0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1</a:t>
                      </a:r>
                      <a:endParaRPr lang="it-IT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lnSpc>
                          <a:spcPct val="110000"/>
                        </a:lnSpc>
                        <a:spcBef>
                          <a:spcPts val="4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{s</a:t>
                      </a:r>
                      <a:r>
                        <a:rPr lang="en-US" sz="1600" b="0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4</a:t>
                      </a: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} {s</a:t>
                      </a:r>
                      <a:r>
                        <a:rPr lang="en-US" sz="1600" b="0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3</a:t>
                      </a: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}</a:t>
                      </a: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 </a:t>
                      </a: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{s</a:t>
                      </a:r>
                      <a:r>
                        <a:rPr lang="en-US" sz="1600" b="0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0</a:t>
                      </a: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,s</a:t>
                      </a:r>
                      <a:r>
                        <a:rPr lang="en-US" sz="1600" b="0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1</a:t>
                      </a: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,s</a:t>
                      </a:r>
                      <a:r>
                        <a:rPr lang="en-US" sz="1600" b="0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2</a:t>
                      </a: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}</a:t>
                      </a:r>
                      <a:endParaRPr lang="it-IT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lnSpc>
                          <a:spcPct val="110000"/>
                        </a:lnSpc>
                        <a:spcBef>
                          <a:spcPts val="4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600" b="0" u="none" strike="noStrike">
                          <a:solidFill>
                            <a:srgbClr val="B3B3B3"/>
                          </a:solidFill>
                          <a:effectLst/>
                          <a:uFillTx/>
                          <a:latin typeface="Comic Sans MS"/>
                        </a:rPr>
                        <a:t>{s</a:t>
                      </a:r>
                      <a:r>
                        <a:rPr lang="en-US" sz="1600" b="0" u="none" strike="noStrike" baseline="-25000">
                          <a:solidFill>
                            <a:srgbClr val="B3B3B3"/>
                          </a:solidFill>
                          <a:effectLst/>
                          <a:uFillTx/>
                          <a:latin typeface="Comic Sans MS"/>
                        </a:rPr>
                        <a:t>3</a:t>
                      </a:r>
                      <a:r>
                        <a:rPr lang="en-US" sz="1600" b="0" u="none" strike="noStrike">
                          <a:solidFill>
                            <a:srgbClr val="B3B3B3"/>
                          </a:solidFill>
                          <a:effectLst/>
                          <a:uFillTx/>
                          <a:latin typeface="Comic Sans MS"/>
                        </a:rPr>
                        <a:t>}</a:t>
                      </a: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 </a:t>
                      </a: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{s</a:t>
                      </a:r>
                      <a:r>
                        <a:rPr lang="en-US" sz="1600" b="0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0</a:t>
                      </a: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,s</a:t>
                      </a:r>
                      <a:r>
                        <a:rPr lang="en-US" sz="1600" b="0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1</a:t>
                      </a: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,s</a:t>
                      </a:r>
                      <a:r>
                        <a:rPr lang="en-US" sz="1600" b="0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2</a:t>
                      </a: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}</a:t>
                      </a:r>
                      <a:endParaRPr lang="it-IT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lnSpc>
                          <a:spcPct val="110000"/>
                        </a:lnSpc>
                        <a:spcBef>
                          <a:spcPts val="4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{s</a:t>
                      </a:r>
                      <a:r>
                        <a:rPr lang="en-US" sz="1600" b="0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3</a:t>
                      </a: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}</a:t>
                      </a:r>
                      <a:endParaRPr lang="it-IT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lnSpc>
                          <a:spcPct val="110000"/>
                        </a:lnSpc>
                        <a:spcBef>
                          <a:spcPts val="4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none</a:t>
                      </a:r>
                      <a:endParaRPr lang="it-IT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lnSpc>
                          <a:spcPct val="110000"/>
                        </a:lnSpc>
                        <a:spcBef>
                          <a:spcPts val="4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600" b="0" u="none" strike="noStrike">
                          <a:solidFill>
                            <a:srgbClr val="FF0065"/>
                          </a:solidFill>
                          <a:effectLst/>
                          <a:uFillTx/>
                          <a:latin typeface="Comic Sans MS"/>
                        </a:rPr>
                        <a:t>{s</a:t>
                      </a:r>
                      <a:r>
                        <a:rPr lang="en-US" sz="1600" b="0" u="none" strike="noStrike" baseline="-25000">
                          <a:solidFill>
                            <a:srgbClr val="FF0065"/>
                          </a:solidFill>
                          <a:effectLst/>
                          <a:uFillTx/>
                          <a:latin typeface="Comic Sans MS"/>
                        </a:rPr>
                        <a:t>1</a:t>
                      </a:r>
                      <a:r>
                        <a:rPr lang="en-US" sz="1600" b="0" u="none" strike="noStrike">
                          <a:solidFill>
                            <a:srgbClr val="FF0065"/>
                          </a:solidFill>
                          <a:effectLst/>
                          <a:uFillTx/>
                          <a:latin typeface="Comic Sans MS"/>
                        </a:rPr>
                        <a:t>}</a:t>
                      </a: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 </a:t>
                      </a:r>
                      <a:r>
                        <a:rPr lang="en-US" sz="1600" b="0" u="none" strike="noStrike">
                          <a:solidFill>
                            <a:srgbClr val="B025A6"/>
                          </a:solidFill>
                          <a:effectLst/>
                          <a:uFillTx/>
                          <a:latin typeface="Comic Sans MS"/>
                        </a:rPr>
                        <a:t>{s</a:t>
                      </a:r>
                      <a:r>
                        <a:rPr lang="en-US" sz="1600" b="0" u="none" strike="noStrike" baseline="-25000">
                          <a:solidFill>
                            <a:srgbClr val="B025A6"/>
                          </a:solidFill>
                          <a:effectLst/>
                          <a:uFillTx/>
                          <a:latin typeface="Comic Sans MS"/>
                        </a:rPr>
                        <a:t>0</a:t>
                      </a:r>
                      <a:r>
                        <a:rPr lang="en-US" sz="1600" b="0" u="none" strike="noStrike">
                          <a:solidFill>
                            <a:srgbClr val="B025A6"/>
                          </a:solidFill>
                          <a:effectLst/>
                          <a:uFillTx/>
                          <a:latin typeface="Comic Sans MS"/>
                        </a:rPr>
                        <a:t>,s</a:t>
                      </a:r>
                      <a:r>
                        <a:rPr lang="en-US" sz="1600" b="0" u="none" strike="noStrike" baseline="-25000">
                          <a:solidFill>
                            <a:srgbClr val="B025A6"/>
                          </a:solidFill>
                          <a:effectLst/>
                          <a:uFillTx/>
                          <a:latin typeface="Comic Sans MS"/>
                        </a:rPr>
                        <a:t>2</a:t>
                      </a:r>
                      <a:r>
                        <a:rPr lang="en-US" sz="1600" b="0" u="none" strike="noStrike">
                          <a:solidFill>
                            <a:srgbClr val="B025A6"/>
                          </a:solidFill>
                          <a:effectLst/>
                          <a:uFillTx/>
                          <a:latin typeface="Comic Sans MS"/>
                        </a:rPr>
                        <a:t>}</a:t>
                      </a:r>
                      <a:endParaRPr lang="it-IT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52160"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lnSpc>
                          <a:spcPct val="110000"/>
                        </a:lnSpc>
                        <a:spcBef>
                          <a:spcPts val="4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endParaRPr lang="it-IT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lnSpc>
                          <a:spcPct val="110000"/>
                        </a:lnSpc>
                        <a:spcBef>
                          <a:spcPts val="4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endParaRPr lang="it-IT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lnSpc>
                          <a:spcPct val="110000"/>
                        </a:lnSpc>
                        <a:spcBef>
                          <a:spcPts val="4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endParaRPr lang="it-IT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lnSpc>
                          <a:spcPct val="110000"/>
                        </a:lnSpc>
                        <a:spcBef>
                          <a:spcPts val="4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endParaRPr lang="it-IT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lnSpc>
                          <a:spcPct val="110000"/>
                        </a:lnSpc>
                        <a:spcBef>
                          <a:spcPts val="4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endParaRPr lang="it-IT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lnSpc>
                          <a:spcPct val="110000"/>
                        </a:lnSpc>
                        <a:spcBef>
                          <a:spcPts val="4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endParaRPr lang="it-IT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52520"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lnSpc>
                          <a:spcPct val="110000"/>
                        </a:lnSpc>
                        <a:spcBef>
                          <a:spcPts val="4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endParaRPr lang="it-IT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lnSpc>
                          <a:spcPct val="110000"/>
                        </a:lnSpc>
                        <a:spcBef>
                          <a:spcPts val="4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endParaRPr lang="it-IT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lnSpc>
                          <a:spcPct val="110000"/>
                        </a:lnSpc>
                        <a:spcBef>
                          <a:spcPts val="4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endParaRPr lang="it-IT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lnSpc>
                          <a:spcPct val="110000"/>
                        </a:lnSpc>
                        <a:spcBef>
                          <a:spcPts val="4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endParaRPr lang="it-IT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lnSpc>
                          <a:spcPct val="110000"/>
                        </a:lnSpc>
                        <a:spcBef>
                          <a:spcPts val="4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endParaRPr lang="it-IT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lnSpc>
                          <a:spcPct val="110000"/>
                        </a:lnSpc>
                        <a:spcBef>
                          <a:spcPts val="4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endParaRPr lang="it-IT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</p:spTree>
  </p:cSld>
  <p:transition>
    <p:wipe dir="r"/>
  </p:transition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Footer Placeholder 3"/>
          <p:cNvSpPr/>
          <p:nvPr/>
        </p:nvSpPr>
        <p:spPr>
          <a:xfrm>
            <a:off x="685800" y="6248520"/>
            <a:ext cx="289548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Autofit/>
          </a:bodyPr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Comp 412, Fall 2010</a:t>
            </a:r>
            <a:endParaRPr lang="it-IT" sz="12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376" name="Slide Number Placeholder 4"/>
          <p:cNvSpPr/>
          <p:nvPr/>
        </p:nvSpPr>
        <p:spPr>
          <a:xfrm>
            <a:off x="6553080" y="6248520"/>
            <a:ext cx="190512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Autofit/>
          </a:bodyPr>
          <a:p>
            <a:pPr algn="r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F4E01E4F-8F49-422B-BC28-EC32F5F59586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&lt;number&gt;</a:t>
            </a:fld>
            <a:endParaRPr lang="it-IT" sz="12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377" name="PlaceHolder 1"/>
          <p:cNvSpPr>
            <a:spLocks noGrp="1"/>
          </p:cNvSpPr>
          <p:nvPr>
            <p:ph type="title"/>
          </p:nvPr>
        </p:nvSpPr>
        <p:spPr>
          <a:xfrm>
            <a:off x="685800" y="533160"/>
            <a:ext cx="7772400" cy="533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l">
              <a:spcBef>
                <a:spcPts val="901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A Detailed Example          (DFA Minimization)</a:t>
            </a:r>
            <a:endParaRPr lang="it-IT" sz="24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cxnSp>
        <p:nvCxnSpPr>
          <p:cNvPr id="378" name="AutoShape 3"/>
          <p:cNvCxnSpPr>
            <a:stCxn id="379" idx="7"/>
            <a:endCxn id="379" idx="1"/>
          </p:cNvCxnSpPr>
          <p:nvPr/>
        </p:nvCxnSpPr>
        <p:spPr>
          <a:xfrm rot="5400000">
            <a:off x="1947600" y="4626720"/>
            <a:ext cx="2520" cy="255960"/>
          </a:xfrm>
          <a:prstGeom prst="curvedConnector5">
            <a:avLst>
              <a:gd name="adj1" fmla="val -17600000"/>
              <a:gd name="adj2" fmla="val 50000"/>
              <a:gd name="adj3" fmla="val -17600000"/>
            </a:avLst>
          </a:prstGeom>
          <a:ln w="9360">
            <a:solidFill>
              <a:srgbClr val="FF0065"/>
            </a:solidFill>
            <a:miter/>
            <a:tailEnd len="med" type="triangle" w="med"/>
          </a:ln>
        </p:spPr>
      </p:cxnSp>
      <p:sp>
        <p:nvSpPr>
          <p:cNvPr id="380" name="Oval 4"/>
          <p:cNvSpPr/>
          <p:nvPr/>
        </p:nvSpPr>
        <p:spPr>
          <a:xfrm>
            <a:off x="1014480" y="4708440"/>
            <a:ext cx="361800" cy="370080"/>
          </a:xfrm>
          <a:prstGeom prst="ellipse">
            <a:avLst/>
          </a:prstGeom>
          <a:noFill/>
          <a:ln w="19080">
            <a:solidFill>
              <a:srgbClr val="B025A6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400" b="0" i="1" u="none" strike="noStrike">
                <a:solidFill>
                  <a:srgbClr val="B025A6"/>
                </a:solidFill>
                <a:effectLst/>
                <a:uFillTx/>
                <a:latin typeface="Arial Rounded MT Bold"/>
              </a:rPr>
              <a:t>s</a:t>
            </a:r>
            <a:r>
              <a:rPr lang="en-US" sz="1400" b="0" i="1" u="none" strike="noStrike" baseline="-25000">
                <a:solidFill>
                  <a:srgbClr val="B025A6"/>
                </a:solidFill>
                <a:effectLst/>
                <a:uFillTx/>
                <a:latin typeface="Arial Rounded MT Bold"/>
              </a:rPr>
              <a:t>0 </a:t>
            </a:r>
            <a:endParaRPr lang="it-IT" sz="14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381" name="Line 5"/>
          <p:cNvSpPr/>
          <p:nvPr/>
        </p:nvSpPr>
        <p:spPr>
          <a:xfrm>
            <a:off x="1357200" y="4915080"/>
            <a:ext cx="395280" cy="0"/>
          </a:xfrm>
          <a:prstGeom prst="line">
            <a:avLst/>
          </a:prstGeom>
          <a:ln w="9360">
            <a:solidFill>
              <a:srgbClr val="B025A6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-46800" rIns="90000" bIns="-46800" anchor="ctr">
            <a:noAutofit/>
          </a:bodyPr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382" name="Text Box 6"/>
          <p:cNvSpPr/>
          <p:nvPr/>
        </p:nvSpPr>
        <p:spPr>
          <a:xfrm>
            <a:off x="1425600" y="4640400"/>
            <a:ext cx="237960" cy="30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876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400" b="0" u="sng" strike="noStrike">
                <a:solidFill>
                  <a:srgbClr val="000000"/>
                </a:solidFill>
                <a:effectLst/>
                <a:uFillTx/>
                <a:latin typeface="Arial Rounded MT Bold"/>
              </a:rPr>
              <a:t>a</a:t>
            </a:r>
            <a:endParaRPr lang="it-IT" sz="14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379" name="Oval 7"/>
          <p:cNvSpPr/>
          <p:nvPr/>
        </p:nvSpPr>
        <p:spPr>
          <a:xfrm>
            <a:off x="1768320" y="4708440"/>
            <a:ext cx="362160" cy="370080"/>
          </a:xfrm>
          <a:prstGeom prst="ellipse">
            <a:avLst/>
          </a:prstGeom>
          <a:noFill/>
          <a:ln w="19080">
            <a:solidFill>
              <a:srgbClr val="FF0065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400" b="0" i="1" u="none" strike="noStrike">
                <a:solidFill>
                  <a:srgbClr val="FF0065"/>
                </a:solidFill>
                <a:effectLst/>
                <a:uFillTx/>
                <a:latin typeface="Arial Rounded MT Bold"/>
              </a:rPr>
              <a:t>s</a:t>
            </a:r>
            <a:r>
              <a:rPr lang="en-US" sz="1400" b="0" i="1" u="none" strike="noStrike" baseline="-25000">
                <a:solidFill>
                  <a:srgbClr val="FF0065"/>
                </a:solidFill>
                <a:effectLst/>
                <a:uFillTx/>
                <a:latin typeface="Arial Rounded MT Bold"/>
              </a:rPr>
              <a:t>1 </a:t>
            </a:r>
            <a:endParaRPr lang="it-IT" sz="14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383" name="Line 8"/>
          <p:cNvSpPr/>
          <p:nvPr/>
        </p:nvSpPr>
        <p:spPr>
          <a:xfrm>
            <a:off x="2111400" y="4915080"/>
            <a:ext cx="395280" cy="0"/>
          </a:xfrm>
          <a:prstGeom prst="line">
            <a:avLst/>
          </a:prstGeom>
          <a:ln w="9360">
            <a:solidFill>
              <a:srgbClr val="FF0065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-46800" rIns="90000" bIns="-46800" anchor="ctr">
            <a:noAutofit/>
          </a:bodyPr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384" name="Text Box 9"/>
          <p:cNvSpPr/>
          <p:nvPr/>
        </p:nvSpPr>
        <p:spPr>
          <a:xfrm>
            <a:off x="1357200" y="5189400"/>
            <a:ext cx="238320" cy="30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876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400" b="0" u="sng" strike="noStrike">
                <a:solidFill>
                  <a:srgbClr val="000000"/>
                </a:solidFill>
                <a:effectLst/>
                <a:uFillTx/>
                <a:latin typeface="Arial Rounded MT Bold"/>
              </a:rPr>
              <a:t>b</a:t>
            </a:r>
            <a:endParaRPr lang="it-IT" sz="14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385" name="Oval 10"/>
          <p:cNvSpPr/>
          <p:nvPr/>
        </p:nvSpPr>
        <p:spPr>
          <a:xfrm>
            <a:off x="2522520" y="4708440"/>
            <a:ext cx="361800" cy="370080"/>
          </a:xfrm>
          <a:prstGeom prst="ellipse">
            <a:avLst/>
          </a:prstGeom>
          <a:noFill/>
          <a:ln w="1908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400" b="0" i="1" u="none" strike="noStrike">
                <a:solidFill>
                  <a:srgbClr val="000000"/>
                </a:solidFill>
                <a:effectLst/>
                <a:uFillTx/>
                <a:latin typeface="Arial Rounded MT Bold"/>
              </a:rPr>
              <a:t>s</a:t>
            </a:r>
            <a:r>
              <a:rPr lang="en-US" sz="1400" b="0" i="1" u="none" strike="noStrike" baseline="-25000">
                <a:solidFill>
                  <a:srgbClr val="000000"/>
                </a:solidFill>
                <a:effectLst/>
                <a:uFillTx/>
                <a:latin typeface="Arial Rounded MT Bold"/>
              </a:rPr>
              <a:t>3 </a:t>
            </a:r>
            <a:endParaRPr lang="it-IT" sz="14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386" name="Line 11"/>
          <p:cNvSpPr/>
          <p:nvPr/>
        </p:nvSpPr>
        <p:spPr>
          <a:xfrm>
            <a:off x="2865600" y="4915080"/>
            <a:ext cx="395280" cy="0"/>
          </a:xfrm>
          <a:prstGeom prst="line">
            <a:avLst/>
          </a:prstGeom>
          <a:ln w="9360">
            <a:solidFill>
              <a:srgbClr val="000000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-46800" rIns="90000" bIns="-46800" anchor="ctr">
            <a:noAutofit/>
          </a:bodyPr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387" name="Text Box 12"/>
          <p:cNvSpPr/>
          <p:nvPr/>
        </p:nvSpPr>
        <p:spPr>
          <a:xfrm>
            <a:off x="2933640" y="4640400"/>
            <a:ext cx="239760" cy="30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876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400" b="0" u="sng" strike="noStrike">
                <a:solidFill>
                  <a:srgbClr val="000000"/>
                </a:solidFill>
                <a:effectLst/>
                <a:uFillTx/>
                <a:latin typeface="Arial Rounded MT Bold"/>
              </a:rPr>
              <a:t>b</a:t>
            </a:r>
            <a:endParaRPr lang="it-IT" sz="14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388" name="Oval 13"/>
          <p:cNvSpPr/>
          <p:nvPr/>
        </p:nvSpPr>
        <p:spPr>
          <a:xfrm>
            <a:off x="3276720" y="4708440"/>
            <a:ext cx="361800" cy="370080"/>
          </a:xfrm>
          <a:prstGeom prst="ellipse">
            <a:avLst/>
          </a:prstGeom>
          <a:noFill/>
          <a:ln w="381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400" b="0" i="1" u="none" strike="noStrike">
                <a:solidFill>
                  <a:srgbClr val="000000"/>
                </a:solidFill>
                <a:effectLst/>
                <a:uFillTx/>
                <a:latin typeface="Arial Rounded MT Bold"/>
              </a:rPr>
              <a:t>s</a:t>
            </a:r>
            <a:r>
              <a:rPr lang="en-US" sz="1400" b="0" i="1" u="none" strike="noStrike" baseline="-25000">
                <a:solidFill>
                  <a:srgbClr val="000000"/>
                </a:solidFill>
                <a:effectLst/>
                <a:uFillTx/>
                <a:latin typeface="Arial Rounded MT Bold"/>
              </a:rPr>
              <a:t>4 </a:t>
            </a:r>
            <a:endParaRPr lang="it-IT" sz="14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389" name="Oval 14"/>
          <p:cNvSpPr/>
          <p:nvPr/>
        </p:nvSpPr>
        <p:spPr>
          <a:xfrm>
            <a:off x="1768320" y="5464080"/>
            <a:ext cx="362160" cy="370080"/>
          </a:xfrm>
          <a:prstGeom prst="ellipse">
            <a:avLst/>
          </a:prstGeom>
          <a:noFill/>
          <a:ln w="19080">
            <a:solidFill>
              <a:srgbClr val="B025A6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400" b="0" i="1" u="none" strike="noStrike">
                <a:solidFill>
                  <a:srgbClr val="B025A6"/>
                </a:solidFill>
                <a:effectLst/>
                <a:uFillTx/>
                <a:latin typeface="Arial Rounded MT Bold"/>
              </a:rPr>
              <a:t>s</a:t>
            </a:r>
            <a:r>
              <a:rPr lang="en-US" sz="1400" b="0" i="1" u="none" strike="noStrike" baseline="-25000">
                <a:solidFill>
                  <a:srgbClr val="B025A6"/>
                </a:solidFill>
                <a:effectLst/>
                <a:uFillTx/>
                <a:latin typeface="Arial Rounded MT Bold"/>
              </a:rPr>
              <a:t>2</a:t>
            </a:r>
            <a:endParaRPr lang="it-IT" sz="14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390" name="Line 15"/>
          <p:cNvSpPr/>
          <p:nvPr/>
        </p:nvSpPr>
        <p:spPr>
          <a:xfrm>
            <a:off x="1305000" y="5035680"/>
            <a:ext cx="495360" cy="488880"/>
          </a:xfrm>
          <a:prstGeom prst="line">
            <a:avLst/>
          </a:prstGeom>
          <a:ln w="9360">
            <a:solidFill>
              <a:srgbClr val="B025A6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ctr">
            <a:noAutofit/>
          </a:bodyPr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391" name="Line 16"/>
          <p:cNvSpPr/>
          <p:nvPr/>
        </p:nvSpPr>
        <p:spPr>
          <a:xfrm flipV="1">
            <a:off x="1935000" y="5081760"/>
            <a:ext cx="0" cy="374400"/>
          </a:xfrm>
          <a:prstGeom prst="line">
            <a:avLst/>
          </a:prstGeom>
          <a:ln w="9360">
            <a:solidFill>
              <a:srgbClr val="B025A6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ctr">
            <a:noAutofit/>
          </a:bodyPr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392" name="Text Box 17"/>
          <p:cNvSpPr/>
          <p:nvPr/>
        </p:nvSpPr>
        <p:spPr>
          <a:xfrm>
            <a:off x="1935000" y="5189400"/>
            <a:ext cx="239760" cy="30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876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400" b="0" u="sng" strike="noStrike">
                <a:solidFill>
                  <a:srgbClr val="000000"/>
                </a:solidFill>
                <a:effectLst/>
                <a:uFillTx/>
                <a:latin typeface="Arial Rounded MT Bold"/>
              </a:rPr>
              <a:t>a</a:t>
            </a:r>
            <a:endParaRPr lang="it-IT" sz="14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393" name="Text Box 18"/>
          <p:cNvSpPr/>
          <p:nvPr/>
        </p:nvSpPr>
        <p:spPr>
          <a:xfrm>
            <a:off x="2179800" y="4640400"/>
            <a:ext cx="239400" cy="30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876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400" b="0" u="sng" strike="noStrike">
                <a:solidFill>
                  <a:srgbClr val="000000"/>
                </a:solidFill>
                <a:effectLst/>
                <a:uFillTx/>
                <a:latin typeface="Arial Rounded MT Bold"/>
              </a:rPr>
              <a:t>b</a:t>
            </a:r>
            <a:endParaRPr lang="it-IT" sz="14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cxnSp>
        <p:nvCxnSpPr>
          <p:cNvPr id="394" name="AutoShape 19"/>
          <p:cNvCxnSpPr>
            <a:stCxn id="389" idx="3"/>
            <a:endCxn id="389" idx="5"/>
          </p:cNvCxnSpPr>
          <p:nvPr/>
        </p:nvCxnSpPr>
        <p:spPr>
          <a:xfrm flipH="1" rot="16200000">
            <a:off x="1947960" y="5661000"/>
            <a:ext cx="2160" cy="255960"/>
          </a:xfrm>
          <a:prstGeom prst="curvedConnector5">
            <a:avLst>
              <a:gd name="adj1" fmla="val 17600000"/>
              <a:gd name="adj2" fmla="val 50000"/>
              <a:gd name="adj3" fmla="val 17600000"/>
            </a:avLst>
          </a:prstGeom>
          <a:ln w="9360">
            <a:solidFill>
              <a:srgbClr val="B025A6"/>
            </a:solidFill>
            <a:miter/>
            <a:headEnd len="med" type="triangle" w="med"/>
          </a:ln>
        </p:spPr>
      </p:cxnSp>
      <p:sp>
        <p:nvSpPr>
          <p:cNvPr id="395" name="Text Box 20"/>
          <p:cNvSpPr/>
          <p:nvPr/>
        </p:nvSpPr>
        <p:spPr>
          <a:xfrm>
            <a:off x="2013120" y="5865840"/>
            <a:ext cx="237960" cy="30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876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400" b="0" u="sng" strike="noStrike">
                <a:solidFill>
                  <a:srgbClr val="000000"/>
                </a:solidFill>
                <a:effectLst/>
                <a:uFillTx/>
                <a:latin typeface="Arial Rounded MT Bold"/>
              </a:rPr>
              <a:t>b</a:t>
            </a:r>
            <a:endParaRPr lang="it-IT" sz="14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396" name="Text Box 21"/>
          <p:cNvSpPr/>
          <p:nvPr/>
        </p:nvSpPr>
        <p:spPr>
          <a:xfrm>
            <a:off x="2027160" y="4373640"/>
            <a:ext cx="238320" cy="30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876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400" b="0" u="sng" strike="noStrike">
                <a:solidFill>
                  <a:srgbClr val="000000"/>
                </a:solidFill>
                <a:effectLst/>
                <a:uFillTx/>
                <a:latin typeface="Arial Rounded MT Bold"/>
              </a:rPr>
              <a:t>a</a:t>
            </a:r>
            <a:endParaRPr lang="it-IT" sz="14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cxnSp>
        <p:nvCxnSpPr>
          <p:cNvPr id="397" name="AutoShape 22"/>
          <p:cNvCxnSpPr>
            <a:stCxn id="385" idx="4"/>
            <a:endCxn id="379" idx="5"/>
          </p:cNvCxnSpPr>
          <p:nvPr/>
        </p:nvCxnSpPr>
        <p:spPr>
          <a:xfrm flipV="1" rot="16200000">
            <a:off x="2363400" y="4745880"/>
            <a:ext cx="54720" cy="629280"/>
          </a:xfrm>
          <a:prstGeom prst="curvedConnector5">
            <a:avLst>
              <a:gd name="adj1" fmla="val -249668"/>
              <a:gd name="adj2" fmla="val 49971"/>
              <a:gd name="adj3" fmla="val -249668"/>
            </a:avLst>
          </a:prstGeom>
          <a:ln w="9360">
            <a:solidFill>
              <a:srgbClr val="000000"/>
            </a:solidFill>
            <a:miter/>
            <a:tailEnd len="med" type="triangle" w="med"/>
          </a:ln>
        </p:spPr>
      </p:cxnSp>
      <p:sp>
        <p:nvSpPr>
          <p:cNvPr id="398" name="Text Box 23"/>
          <p:cNvSpPr/>
          <p:nvPr/>
        </p:nvSpPr>
        <p:spPr>
          <a:xfrm>
            <a:off x="2522520" y="5121360"/>
            <a:ext cx="239760" cy="30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876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400" b="0" u="sng" strike="noStrike">
                <a:solidFill>
                  <a:srgbClr val="000000"/>
                </a:solidFill>
                <a:effectLst/>
                <a:uFillTx/>
                <a:latin typeface="Arial Rounded MT Bold"/>
              </a:rPr>
              <a:t>a</a:t>
            </a:r>
            <a:endParaRPr lang="it-IT" sz="14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cxnSp>
        <p:nvCxnSpPr>
          <p:cNvPr id="399" name="AutoShape 24"/>
          <p:cNvCxnSpPr>
            <a:stCxn id="388" idx="0"/>
          </p:cNvCxnSpPr>
          <p:nvPr/>
        </p:nvCxnSpPr>
        <p:spPr>
          <a:xfrm rot="5400000">
            <a:off x="2551320" y="3909960"/>
            <a:ext cx="127800" cy="1684800"/>
          </a:xfrm>
          <a:prstGeom prst="curvedConnector5">
            <a:avLst>
              <a:gd name="adj1" fmla="val -321186"/>
              <a:gd name="adj2" fmla="val 51805"/>
              <a:gd name="adj3" fmla="val -321186"/>
            </a:avLst>
          </a:prstGeom>
          <a:ln w="9360">
            <a:solidFill>
              <a:srgbClr val="000000"/>
            </a:solidFill>
            <a:miter/>
            <a:tailEnd len="med" type="triangle" w="med"/>
          </a:ln>
        </p:spPr>
      </p:cxnSp>
      <p:sp>
        <p:nvSpPr>
          <p:cNvPr id="400" name="Text Box 25"/>
          <p:cNvSpPr/>
          <p:nvPr/>
        </p:nvSpPr>
        <p:spPr>
          <a:xfrm>
            <a:off x="3367080" y="4343400"/>
            <a:ext cx="237960" cy="30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876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400" b="0" u="sng" strike="noStrike">
                <a:solidFill>
                  <a:srgbClr val="000000"/>
                </a:solidFill>
                <a:effectLst/>
                <a:uFillTx/>
                <a:latin typeface="Arial Rounded MT Bold"/>
              </a:rPr>
              <a:t>a</a:t>
            </a:r>
            <a:endParaRPr lang="it-IT" sz="14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cxnSp>
        <p:nvCxnSpPr>
          <p:cNvPr id="401" name="AutoShape 26"/>
          <p:cNvCxnSpPr>
            <a:stCxn id="388" idx="4"/>
            <a:endCxn id="389" idx="6"/>
          </p:cNvCxnSpPr>
          <p:nvPr/>
        </p:nvCxnSpPr>
        <p:spPr>
          <a:xfrm rot="5400000">
            <a:off x="2521080" y="4712400"/>
            <a:ext cx="554760" cy="1321200"/>
          </a:xfrm>
          <a:prstGeom prst="curvedConnector2">
            <a:avLst/>
          </a:prstGeom>
          <a:ln w="9360">
            <a:solidFill>
              <a:srgbClr val="000000"/>
            </a:solidFill>
            <a:miter/>
            <a:tailEnd len="med" type="triangle" w="med"/>
          </a:ln>
        </p:spPr>
      </p:cxnSp>
      <p:sp>
        <p:nvSpPr>
          <p:cNvPr id="402" name="Text Box 27"/>
          <p:cNvSpPr/>
          <p:nvPr/>
        </p:nvSpPr>
        <p:spPr>
          <a:xfrm>
            <a:off x="3346560" y="5195880"/>
            <a:ext cx="239760" cy="30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876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400" b="0" u="sng" strike="noStrike">
                <a:solidFill>
                  <a:srgbClr val="000000"/>
                </a:solidFill>
                <a:effectLst/>
                <a:uFillTx/>
                <a:latin typeface="Arial Rounded MT Bold"/>
              </a:rPr>
              <a:t>b</a:t>
            </a:r>
            <a:endParaRPr lang="it-IT" sz="14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graphicFrame>
        <p:nvGraphicFramePr>
          <p:cNvPr id="403" name=""/>
          <p:cNvGraphicFramePr/>
          <p:nvPr/>
        </p:nvGraphicFramePr>
        <p:xfrm>
          <a:off x="685800" y="1447920"/>
          <a:ext cx="7696080" cy="2260440"/>
        </p:xfrm>
        <a:graphic>
          <a:graphicData uri="http://schemas.openxmlformats.org/drawingml/2006/table">
            <a:tbl>
              <a:tblPr/>
              <a:tblGrid>
                <a:gridCol w="457200"/>
                <a:gridCol w="1905120"/>
                <a:gridCol w="1600200"/>
                <a:gridCol w="1218960"/>
                <a:gridCol w="1143000"/>
                <a:gridCol w="1371600"/>
              </a:tblGrid>
              <a:tr h="452160"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spcBef>
                          <a:spcPts val="4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endParaRPr lang="it-IT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>
                      <a:noFill/>
                    </a:lnL>
                    <a:lnR>
                      <a:noFill/>
                    </a:lnR>
                    <a:lnT w="13680">
                      <a:solidFill>
                        <a:srgbClr val="B025A6"/>
                      </a:solidFill>
                      <a:prstDash val="solid"/>
                    </a:lnT>
                    <a:lnB w="5760">
                      <a:solidFill>
                        <a:srgbClr val="B025A6"/>
                      </a:solidFill>
                      <a:prstDash val="soli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spcBef>
                          <a:spcPts val="4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Current Partition</a:t>
                      </a:r>
                      <a:endParaRPr lang="it-IT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>
                      <a:noFill/>
                    </a:lnL>
                    <a:lnR>
                      <a:noFill/>
                    </a:lnR>
                    <a:lnT w="13680">
                      <a:solidFill>
                        <a:srgbClr val="B025A6"/>
                      </a:solidFill>
                      <a:prstDash val="solid"/>
                    </a:lnT>
                    <a:lnB w="5760">
                      <a:solidFill>
                        <a:srgbClr val="B025A6"/>
                      </a:solidFill>
                      <a:prstDash val="soli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spcBef>
                          <a:spcPts val="4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Worklist</a:t>
                      </a:r>
                      <a:endParaRPr lang="it-IT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>
                      <a:noFill/>
                    </a:lnL>
                    <a:lnR>
                      <a:noFill/>
                    </a:lnR>
                    <a:lnT w="13680">
                      <a:solidFill>
                        <a:srgbClr val="B025A6"/>
                      </a:solidFill>
                      <a:prstDash val="solid"/>
                    </a:lnT>
                    <a:lnB w="5760">
                      <a:solidFill>
                        <a:srgbClr val="B025A6"/>
                      </a:solidFill>
                      <a:prstDash val="soli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spcBef>
                          <a:spcPts val="4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s</a:t>
                      </a:r>
                      <a:endParaRPr lang="it-IT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>
                      <a:noFill/>
                    </a:lnL>
                    <a:lnR>
                      <a:noFill/>
                    </a:lnR>
                    <a:lnT w="13680">
                      <a:solidFill>
                        <a:srgbClr val="B025A6"/>
                      </a:solidFill>
                      <a:prstDash val="solid"/>
                    </a:lnT>
                    <a:lnB w="5760">
                      <a:solidFill>
                        <a:srgbClr val="B025A6"/>
                      </a:solidFill>
                      <a:prstDash val="soli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spcBef>
                          <a:spcPts val="4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Split on </a:t>
                      </a:r>
                      <a:r>
                        <a:rPr lang="en-US" sz="1600" b="0" u="sng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a</a:t>
                      </a:r>
                      <a:endParaRPr lang="it-IT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>
                      <a:noFill/>
                    </a:lnL>
                    <a:lnR>
                      <a:noFill/>
                    </a:lnR>
                    <a:lnT w="13680">
                      <a:solidFill>
                        <a:srgbClr val="B025A6"/>
                      </a:solidFill>
                      <a:prstDash val="solid"/>
                    </a:lnT>
                    <a:lnB w="5760">
                      <a:solidFill>
                        <a:srgbClr val="B025A6"/>
                      </a:solidFill>
                      <a:prstDash val="soli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spcBef>
                          <a:spcPts val="4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Split on </a:t>
                      </a:r>
                      <a:r>
                        <a:rPr lang="en-US" sz="1600" b="0" u="sng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b</a:t>
                      </a:r>
                      <a:endParaRPr lang="it-IT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>
                      <a:noFill/>
                    </a:lnL>
                    <a:lnR>
                      <a:noFill/>
                    </a:lnR>
                    <a:lnT w="13680">
                      <a:solidFill>
                        <a:srgbClr val="B025A6"/>
                      </a:solidFill>
                      <a:prstDash val="solid"/>
                    </a:lnT>
                    <a:lnB w="5760">
                      <a:solidFill>
                        <a:srgbClr val="B025A6"/>
                      </a:solidFill>
                      <a:prstDash val="solid"/>
                    </a:lnB>
                    <a:solidFill>
                      <a:srgbClr val="E6E6E6"/>
                    </a:solidFill>
                  </a:tcPr>
                </a:tc>
              </a:tr>
              <a:tr h="452520"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P</a:t>
                      </a:r>
                      <a:r>
                        <a:rPr lang="en-US" sz="1600" b="0" i="1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0</a:t>
                      </a:r>
                      <a:endParaRPr lang="it-IT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>
                      <a:noFill/>
                    </a:lnL>
                    <a:lnR>
                      <a:noFill/>
                    </a:lnR>
                    <a:lnT w="5760">
                      <a:solidFill>
                        <a:srgbClr val="B025A6"/>
                      </a:solidFill>
                      <a:prstDash val="solid"/>
                    </a:lnT>
                    <a:lnB>
                      <a:noFill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{s</a:t>
                      </a:r>
                      <a:r>
                        <a:rPr lang="en-US" sz="1600" b="0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4</a:t>
                      </a: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}</a:t>
                      </a: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 </a:t>
                      </a: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{s</a:t>
                      </a:r>
                      <a:r>
                        <a:rPr lang="en-US" sz="1600" b="0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0</a:t>
                      </a: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,s</a:t>
                      </a:r>
                      <a:r>
                        <a:rPr lang="en-US" sz="1600" b="0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1</a:t>
                      </a: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,s</a:t>
                      </a:r>
                      <a:r>
                        <a:rPr lang="en-US" sz="1600" b="0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2</a:t>
                      </a: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,s</a:t>
                      </a:r>
                      <a:r>
                        <a:rPr lang="en-US" sz="1600" b="0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3</a:t>
                      </a: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}</a:t>
                      </a:r>
                      <a:endParaRPr lang="it-IT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>
                      <a:noFill/>
                    </a:lnL>
                    <a:lnR>
                      <a:noFill/>
                    </a:lnR>
                    <a:lnT w="5760">
                      <a:solidFill>
                        <a:srgbClr val="B025A6"/>
                      </a:solidFill>
                      <a:prstDash val="soli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600" b="0" u="none" strike="noStrike">
                          <a:solidFill>
                            <a:srgbClr val="B3B3B3"/>
                          </a:solidFill>
                          <a:effectLst/>
                          <a:uFillTx/>
                          <a:latin typeface="Comic Sans MS"/>
                        </a:rPr>
                        <a:t>{s</a:t>
                      </a:r>
                      <a:r>
                        <a:rPr lang="en-US" sz="1600" b="0" u="none" strike="noStrike" baseline="-25000">
                          <a:solidFill>
                            <a:srgbClr val="B3B3B3"/>
                          </a:solidFill>
                          <a:effectLst/>
                          <a:uFillTx/>
                          <a:latin typeface="Comic Sans MS"/>
                        </a:rPr>
                        <a:t>4</a:t>
                      </a:r>
                      <a:r>
                        <a:rPr lang="en-US" sz="1600" b="0" u="none" strike="noStrike">
                          <a:solidFill>
                            <a:srgbClr val="B3B3B3"/>
                          </a:solidFill>
                          <a:effectLst/>
                          <a:uFillTx/>
                          <a:latin typeface="Comic Sans MS"/>
                        </a:rPr>
                        <a:t>}</a:t>
                      </a: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 </a:t>
                      </a: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{s</a:t>
                      </a:r>
                      <a:r>
                        <a:rPr lang="en-US" sz="1600" b="0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0</a:t>
                      </a: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,s</a:t>
                      </a:r>
                      <a:r>
                        <a:rPr lang="en-US" sz="1600" b="0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1</a:t>
                      </a: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,s</a:t>
                      </a:r>
                      <a:r>
                        <a:rPr lang="en-US" sz="1600" b="0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2</a:t>
                      </a: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,s</a:t>
                      </a:r>
                      <a:r>
                        <a:rPr lang="en-US" sz="1600" b="0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3</a:t>
                      </a: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}</a:t>
                      </a:r>
                      <a:endParaRPr lang="it-IT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>
                      <a:noFill/>
                    </a:lnL>
                    <a:lnR>
                      <a:noFill/>
                    </a:lnR>
                    <a:lnT w="5760">
                      <a:solidFill>
                        <a:srgbClr val="B025A6"/>
                      </a:solidFill>
                      <a:prstDash val="soli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{s</a:t>
                      </a:r>
                      <a:r>
                        <a:rPr lang="en-US" sz="1600" b="0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4</a:t>
                      </a: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}</a:t>
                      </a:r>
                      <a:endParaRPr lang="it-IT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>
                      <a:noFill/>
                    </a:lnL>
                    <a:lnR>
                      <a:noFill/>
                    </a:lnR>
                    <a:lnT w="5760">
                      <a:solidFill>
                        <a:srgbClr val="B025A6"/>
                      </a:solidFill>
                      <a:prstDash val="soli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none</a:t>
                      </a:r>
                      <a:endParaRPr lang="it-IT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>
                      <a:noFill/>
                    </a:lnL>
                    <a:lnR>
                      <a:noFill/>
                    </a:lnR>
                    <a:lnT w="5760">
                      <a:solidFill>
                        <a:srgbClr val="B025A6"/>
                      </a:solidFill>
                      <a:prstDash val="soli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{s</a:t>
                      </a:r>
                      <a:r>
                        <a:rPr lang="en-US" sz="1600" b="0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3</a:t>
                      </a: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}</a:t>
                      </a: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 </a:t>
                      </a: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{s</a:t>
                      </a:r>
                      <a:r>
                        <a:rPr lang="en-US" sz="1600" b="0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0</a:t>
                      </a: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,s</a:t>
                      </a:r>
                      <a:r>
                        <a:rPr lang="en-US" sz="1600" b="0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1</a:t>
                      </a: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,s</a:t>
                      </a:r>
                      <a:r>
                        <a:rPr lang="en-US" sz="1600" b="0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2</a:t>
                      </a: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}</a:t>
                      </a:r>
                      <a:endParaRPr lang="it-IT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>
                      <a:noFill/>
                    </a:lnL>
                    <a:lnR>
                      <a:noFill/>
                    </a:lnR>
                    <a:lnT w="5760">
                      <a:solidFill>
                        <a:srgbClr val="B025A6"/>
                      </a:solidFill>
                      <a:prstDash val="solid"/>
                    </a:lnT>
                    <a:lnB>
                      <a:noFill/>
                    </a:lnB>
                    <a:noFill/>
                  </a:tcPr>
                </a:tc>
              </a:tr>
              <a:tr h="451080"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lnSpc>
                          <a:spcPct val="110000"/>
                        </a:lnSpc>
                        <a:spcBef>
                          <a:spcPts val="4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P</a:t>
                      </a:r>
                      <a:r>
                        <a:rPr lang="en-US" sz="1600" b="0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1</a:t>
                      </a:r>
                      <a:endParaRPr lang="it-IT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lnSpc>
                          <a:spcPct val="110000"/>
                        </a:lnSpc>
                        <a:spcBef>
                          <a:spcPts val="4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{s</a:t>
                      </a:r>
                      <a:r>
                        <a:rPr lang="en-US" sz="1600" b="0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4</a:t>
                      </a: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}</a:t>
                      </a: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 </a:t>
                      </a: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{s</a:t>
                      </a:r>
                      <a:r>
                        <a:rPr lang="en-US" sz="1600" b="0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3</a:t>
                      </a: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}</a:t>
                      </a: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 </a:t>
                      </a: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{s</a:t>
                      </a:r>
                      <a:r>
                        <a:rPr lang="en-US" sz="1600" b="0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0</a:t>
                      </a: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,s</a:t>
                      </a:r>
                      <a:r>
                        <a:rPr lang="en-US" sz="1600" b="0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1</a:t>
                      </a: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,s</a:t>
                      </a:r>
                      <a:r>
                        <a:rPr lang="en-US" sz="1600" b="0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2</a:t>
                      </a: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}</a:t>
                      </a:r>
                      <a:endParaRPr lang="it-IT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lnSpc>
                          <a:spcPct val="110000"/>
                        </a:lnSpc>
                        <a:spcBef>
                          <a:spcPts val="4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600" b="0" u="none" strike="noStrike">
                          <a:solidFill>
                            <a:srgbClr val="B3B3B3"/>
                          </a:solidFill>
                          <a:effectLst/>
                          <a:uFillTx/>
                          <a:latin typeface="Comic Sans MS"/>
                        </a:rPr>
                        <a:t>{s</a:t>
                      </a:r>
                      <a:r>
                        <a:rPr lang="en-US" sz="1600" b="0" u="none" strike="noStrike" baseline="-25000">
                          <a:solidFill>
                            <a:srgbClr val="B3B3B3"/>
                          </a:solidFill>
                          <a:effectLst/>
                          <a:uFillTx/>
                          <a:latin typeface="Comic Sans MS"/>
                        </a:rPr>
                        <a:t>3</a:t>
                      </a:r>
                      <a:r>
                        <a:rPr lang="en-US" sz="1600" b="0" u="none" strike="noStrike">
                          <a:solidFill>
                            <a:srgbClr val="B3B3B3"/>
                          </a:solidFill>
                          <a:effectLst/>
                          <a:uFillTx/>
                          <a:latin typeface="Comic Sans MS"/>
                        </a:rPr>
                        <a:t>}</a:t>
                      </a: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 </a:t>
                      </a: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{s</a:t>
                      </a:r>
                      <a:r>
                        <a:rPr lang="en-US" sz="1600" b="0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0</a:t>
                      </a: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,s</a:t>
                      </a:r>
                      <a:r>
                        <a:rPr lang="en-US" sz="1600" b="0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1</a:t>
                      </a: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,s</a:t>
                      </a:r>
                      <a:r>
                        <a:rPr lang="en-US" sz="1600" b="0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2</a:t>
                      </a: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}</a:t>
                      </a:r>
                      <a:endParaRPr lang="it-IT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lnSpc>
                          <a:spcPct val="110000"/>
                        </a:lnSpc>
                        <a:spcBef>
                          <a:spcPts val="4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{s</a:t>
                      </a:r>
                      <a:r>
                        <a:rPr lang="en-US" sz="1600" b="0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3</a:t>
                      </a: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}</a:t>
                      </a:r>
                      <a:endParaRPr lang="it-IT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lnSpc>
                          <a:spcPct val="110000"/>
                        </a:lnSpc>
                        <a:spcBef>
                          <a:spcPts val="4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none</a:t>
                      </a:r>
                      <a:endParaRPr lang="it-IT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lnSpc>
                          <a:spcPct val="110000"/>
                        </a:lnSpc>
                        <a:spcBef>
                          <a:spcPts val="4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600" b="0" u="none" strike="noStrike">
                          <a:solidFill>
                            <a:srgbClr val="FF0065"/>
                          </a:solidFill>
                          <a:effectLst/>
                          <a:uFillTx/>
                          <a:latin typeface="Comic Sans MS"/>
                        </a:rPr>
                        <a:t>{s</a:t>
                      </a:r>
                      <a:r>
                        <a:rPr lang="en-US" sz="1600" b="0" u="none" strike="noStrike" baseline="-25000">
                          <a:solidFill>
                            <a:srgbClr val="FF0065"/>
                          </a:solidFill>
                          <a:effectLst/>
                          <a:uFillTx/>
                          <a:latin typeface="Comic Sans MS"/>
                        </a:rPr>
                        <a:t>1</a:t>
                      </a:r>
                      <a:r>
                        <a:rPr lang="en-US" sz="1600" b="0" u="none" strike="noStrike">
                          <a:solidFill>
                            <a:srgbClr val="FF0065"/>
                          </a:solidFill>
                          <a:effectLst/>
                          <a:uFillTx/>
                          <a:latin typeface="Comic Sans MS"/>
                        </a:rPr>
                        <a:t>}</a:t>
                      </a: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 </a:t>
                      </a:r>
                      <a:r>
                        <a:rPr lang="en-US" sz="1600" b="0" u="none" strike="noStrike">
                          <a:solidFill>
                            <a:srgbClr val="B025A6"/>
                          </a:solidFill>
                          <a:effectLst/>
                          <a:uFillTx/>
                          <a:latin typeface="Comic Sans MS"/>
                        </a:rPr>
                        <a:t>{s</a:t>
                      </a:r>
                      <a:r>
                        <a:rPr lang="en-US" sz="1600" b="0" u="none" strike="noStrike" baseline="-25000">
                          <a:solidFill>
                            <a:srgbClr val="B025A6"/>
                          </a:solidFill>
                          <a:effectLst/>
                          <a:uFillTx/>
                          <a:latin typeface="Comic Sans MS"/>
                        </a:rPr>
                        <a:t>0</a:t>
                      </a:r>
                      <a:r>
                        <a:rPr lang="en-US" sz="1600" b="0" u="none" strike="noStrike">
                          <a:solidFill>
                            <a:srgbClr val="B025A6"/>
                          </a:solidFill>
                          <a:effectLst/>
                          <a:uFillTx/>
                          <a:latin typeface="Comic Sans MS"/>
                        </a:rPr>
                        <a:t>,s</a:t>
                      </a:r>
                      <a:r>
                        <a:rPr lang="en-US" sz="1600" b="0" u="none" strike="noStrike" baseline="-25000">
                          <a:solidFill>
                            <a:srgbClr val="B025A6"/>
                          </a:solidFill>
                          <a:effectLst/>
                          <a:uFillTx/>
                          <a:latin typeface="Comic Sans MS"/>
                        </a:rPr>
                        <a:t>2</a:t>
                      </a:r>
                      <a:r>
                        <a:rPr lang="en-US" sz="1600" b="0" u="none" strike="noStrike">
                          <a:solidFill>
                            <a:srgbClr val="B025A6"/>
                          </a:solidFill>
                          <a:effectLst/>
                          <a:uFillTx/>
                          <a:latin typeface="Comic Sans MS"/>
                        </a:rPr>
                        <a:t>}</a:t>
                      </a:r>
                      <a:endParaRPr lang="it-IT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52160"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lnSpc>
                          <a:spcPct val="110000"/>
                        </a:lnSpc>
                        <a:spcBef>
                          <a:spcPts val="4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P</a:t>
                      </a:r>
                      <a:r>
                        <a:rPr lang="en-US" sz="1600" b="0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2</a:t>
                      </a:r>
                      <a:endParaRPr lang="it-IT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lnSpc>
                          <a:spcPct val="110000"/>
                        </a:lnSpc>
                        <a:spcBef>
                          <a:spcPts val="4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{s</a:t>
                      </a:r>
                      <a:r>
                        <a:rPr lang="en-US" sz="1600" b="0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4</a:t>
                      </a: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}</a:t>
                      </a: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 </a:t>
                      </a: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{s</a:t>
                      </a:r>
                      <a:r>
                        <a:rPr lang="en-US" sz="1600" b="0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3</a:t>
                      </a: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}</a:t>
                      </a: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 </a:t>
                      </a: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{s</a:t>
                      </a:r>
                      <a:r>
                        <a:rPr lang="en-US" sz="1600" b="0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1</a:t>
                      </a: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}</a:t>
                      </a: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 </a:t>
                      </a: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{s</a:t>
                      </a:r>
                      <a:r>
                        <a:rPr lang="en-US" sz="1600" b="0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0</a:t>
                      </a: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,s</a:t>
                      </a:r>
                      <a:r>
                        <a:rPr lang="en-US" sz="1600" b="0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2</a:t>
                      </a: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}</a:t>
                      </a:r>
                      <a:endParaRPr lang="it-IT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lnSpc>
                          <a:spcPct val="110000"/>
                        </a:lnSpc>
                        <a:spcBef>
                          <a:spcPts val="4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{s</a:t>
                      </a:r>
                      <a:r>
                        <a:rPr lang="en-US" sz="1600" b="0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1</a:t>
                      </a: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}</a:t>
                      </a: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 </a:t>
                      </a: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{s</a:t>
                      </a:r>
                      <a:r>
                        <a:rPr lang="en-US" sz="1600" b="0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0</a:t>
                      </a: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,s</a:t>
                      </a:r>
                      <a:r>
                        <a:rPr lang="en-US" sz="1600" b="0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2</a:t>
                      </a: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}</a:t>
                      </a:r>
                      <a:endParaRPr lang="it-IT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lnSpc>
                          <a:spcPct val="110000"/>
                        </a:lnSpc>
                        <a:spcBef>
                          <a:spcPts val="4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endParaRPr lang="it-IT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lnSpc>
                          <a:spcPct val="110000"/>
                        </a:lnSpc>
                        <a:spcBef>
                          <a:spcPts val="4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endParaRPr lang="it-IT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lnSpc>
                          <a:spcPct val="110000"/>
                        </a:lnSpc>
                        <a:spcBef>
                          <a:spcPts val="4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endParaRPr lang="it-IT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52520"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lnSpc>
                          <a:spcPct val="110000"/>
                        </a:lnSpc>
                        <a:spcBef>
                          <a:spcPts val="4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endParaRPr lang="it-IT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lnSpc>
                          <a:spcPct val="110000"/>
                        </a:lnSpc>
                        <a:spcBef>
                          <a:spcPts val="4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endParaRPr lang="it-IT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lnSpc>
                          <a:spcPct val="110000"/>
                        </a:lnSpc>
                        <a:spcBef>
                          <a:spcPts val="4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endParaRPr lang="it-IT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lnSpc>
                          <a:spcPct val="110000"/>
                        </a:lnSpc>
                        <a:spcBef>
                          <a:spcPts val="4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endParaRPr lang="it-IT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lnSpc>
                          <a:spcPct val="110000"/>
                        </a:lnSpc>
                        <a:spcBef>
                          <a:spcPts val="4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endParaRPr lang="it-IT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lnSpc>
                          <a:spcPct val="110000"/>
                        </a:lnSpc>
                        <a:spcBef>
                          <a:spcPts val="4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endParaRPr lang="it-IT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grpSp>
        <p:nvGrpSpPr>
          <p:cNvPr id="404" name="Group 82"/>
          <p:cNvGrpSpPr/>
          <p:nvPr/>
        </p:nvGrpSpPr>
        <p:grpSpPr>
          <a:xfrm>
            <a:off x="2895480" y="2386080"/>
            <a:ext cx="5486400" cy="914400"/>
            <a:chOff x="2895480" y="2386080"/>
            <a:chExt cx="5486400" cy="914400"/>
          </a:xfrm>
        </p:grpSpPr>
        <p:sp>
          <p:nvSpPr>
            <p:cNvPr id="405" name="Oval 79"/>
            <p:cNvSpPr/>
            <p:nvPr/>
          </p:nvSpPr>
          <p:spPr>
            <a:xfrm>
              <a:off x="7010280" y="2386080"/>
              <a:ext cx="1371600" cy="380880"/>
            </a:xfrm>
            <a:prstGeom prst="ellipse">
              <a:avLst/>
            </a:prstGeom>
            <a:noFill/>
            <a:ln w="9360">
              <a:solidFill>
                <a:srgbClr val="FF0065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ctr">
              <a:noAutofit/>
            </a:bodyPr>
            <a:p>
              <a:endParaRPr lang="it-IT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406" name="Freeform 80"/>
            <p:cNvSpPr/>
            <p:nvPr/>
          </p:nvSpPr>
          <p:spPr>
            <a:xfrm>
              <a:off x="4343400" y="2725560"/>
              <a:ext cx="2971800" cy="228600"/>
            </a:xfrm>
            <a:custGeom>
              <a:avLst/>
              <a:gdLst>
                <a:gd name="textAreaLeft" fmla="*/ 0 w 2971800"/>
                <a:gd name="textAreaRight" fmla="*/ 2972160 w 2971800"/>
                <a:gd name="textAreaTop" fmla="*/ 0 h 228600"/>
                <a:gd name="textAreaBottom" fmla="*/ 228960 h 228600"/>
                <a:gd name="GluePoint1X" fmla="*/ 2192 w 1776"/>
                <a:gd name="GluePoint1Y" fmla="*/ 0 h 144"/>
                <a:gd name="GluePoint2X" fmla="*/ 355 w 1776"/>
                <a:gd name="GluePoint2Y" fmla="*/ 48 h 144"/>
                <a:gd name="GluePoint3X" fmla="*/ 474 w 1776"/>
                <a:gd name="GluePoint3Y" fmla="*/ 96 h 144"/>
                <a:gd name="GluePoint4X" fmla="*/ 0 w 1776"/>
                <a:gd name="GluePoint4Y" fmla="*/ 144 h 14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1776" h="144">
                  <a:moveTo>
                    <a:pt x="1776" y="0"/>
                  </a:moveTo>
                  <a:cubicBezTo>
                    <a:pt x="1148" y="16"/>
                    <a:pt x="520" y="32"/>
                    <a:pt x="288" y="48"/>
                  </a:cubicBezTo>
                  <a:cubicBezTo>
                    <a:pt x="56" y="64"/>
                    <a:pt x="432" y="80"/>
                    <a:pt x="384" y="96"/>
                  </a:cubicBezTo>
                  <a:cubicBezTo>
                    <a:pt x="336" y="112"/>
                    <a:pt x="56" y="136"/>
                    <a:pt x="0" y="144"/>
                  </a:cubicBezTo>
                </a:path>
              </a:pathLst>
            </a:custGeom>
            <a:noFill/>
            <a:ln w="9360">
              <a:solidFill>
                <a:srgbClr val="FF0065"/>
              </a:solidFill>
              <a:round/>
              <a:tailEnd len="med" type="triangle" w="med"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ctr">
              <a:noAutofit/>
            </a:bodyPr>
            <a:p>
              <a:endParaRPr lang="it-IT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407" name="Freeform 81"/>
            <p:cNvSpPr/>
            <p:nvPr/>
          </p:nvSpPr>
          <p:spPr>
            <a:xfrm>
              <a:off x="2895480" y="2754360"/>
              <a:ext cx="4648320" cy="546120"/>
            </a:xfrm>
            <a:custGeom>
              <a:avLst/>
              <a:gdLst>
                <a:gd name="textAreaLeft" fmla="*/ 0 w 4648320"/>
                <a:gd name="textAreaRight" fmla="*/ 4648680 w 4648320"/>
                <a:gd name="textAreaTop" fmla="*/ 0 h 546120"/>
                <a:gd name="textAreaBottom" fmla="*/ 546480 h 546120"/>
                <a:gd name="GluePoint1X" fmla="*/ 2928 w 2928"/>
                <a:gd name="GluePoint1Y" fmla="*/ 0 h 344"/>
                <a:gd name="GluePoint2X" fmla="*/ 2160 w 2928"/>
                <a:gd name="GluePoint2Y" fmla="*/ 192 h 344"/>
                <a:gd name="GluePoint3X" fmla="*/ 960 w 2928"/>
                <a:gd name="GluePoint3Y" fmla="*/ 336 h 344"/>
                <a:gd name="GluePoint4X" fmla="*/ 0 w 2928"/>
                <a:gd name="GluePoint4Y" fmla="*/ 240 h 34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2928" h="344">
                  <a:moveTo>
                    <a:pt x="2928" y="0"/>
                  </a:moveTo>
                  <a:cubicBezTo>
                    <a:pt x="2708" y="68"/>
                    <a:pt x="2488" y="136"/>
                    <a:pt x="2160" y="192"/>
                  </a:cubicBezTo>
                  <a:cubicBezTo>
                    <a:pt x="1832" y="248"/>
                    <a:pt x="1320" y="328"/>
                    <a:pt x="960" y="336"/>
                  </a:cubicBezTo>
                  <a:cubicBezTo>
                    <a:pt x="600" y="344"/>
                    <a:pt x="300" y="292"/>
                    <a:pt x="0" y="240"/>
                  </a:cubicBezTo>
                </a:path>
              </a:pathLst>
            </a:custGeom>
            <a:noFill/>
            <a:ln w="9360">
              <a:solidFill>
                <a:srgbClr val="FF0065"/>
              </a:solidFill>
              <a:round/>
              <a:tailEnd len="med" type="triangle" w="med"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ctr">
              <a:noAutofit/>
            </a:bodyPr>
            <a:p>
              <a:endParaRPr lang="it-IT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</p:grpSp>
    </p:spTree>
  </p:cSld>
  <p:transition>
    <p:wipe dir="r"/>
  </p:transition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Footer Placeholder 3"/>
          <p:cNvSpPr/>
          <p:nvPr/>
        </p:nvSpPr>
        <p:spPr>
          <a:xfrm>
            <a:off x="685800" y="6248520"/>
            <a:ext cx="289548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Autofit/>
          </a:bodyPr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Comp 412, Fall 2010</a:t>
            </a:r>
            <a:endParaRPr lang="it-IT" sz="12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409" name="Slide Number Placeholder 4"/>
          <p:cNvSpPr/>
          <p:nvPr/>
        </p:nvSpPr>
        <p:spPr>
          <a:xfrm>
            <a:off x="6553080" y="6248520"/>
            <a:ext cx="190512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Autofit/>
          </a:bodyPr>
          <a:p>
            <a:pPr algn="r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F2D2D5A0-F0EC-437A-A0B4-386C2CA366CF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&lt;number&gt;</a:t>
            </a:fld>
            <a:endParaRPr lang="it-IT" sz="12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410" name="PlaceHolder 1"/>
          <p:cNvSpPr>
            <a:spLocks noGrp="1"/>
          </p:cNvSpPr>
          <p:nvPr>
            <p:ph type="title"/>
          </p:nvPr>
        </p:nvSpPr>
        <p:spPr>
          <a:xfrm>
            <a:off x="685800" y="533160"/>
            <a:ext cx="7772400" cy="533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l">
              <a:spcBef>
                <a:spcPts val="901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A Detailed Example          (DFA Minimization)</a:t>
            </a:r>
            <a:endParaRPr lang="it-IT" sz="24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cxnSp>
        <p:nvCxnSpPr>
          <p:cNvPr id="411" name="AutoShape 3"/>
          <p:cNvCxnSpPr>
            <a:stCxn id="412" idx="7"/>
            <a:endCxn id="412" idx="1"/>
          </p:cNvCxnSpPr>
          <p:nvPr/>
        </p:nvCxnSpPr>
        <p:spPr>
          <a:xfrm rot="5400000">
            <a:off x="1947600" y="4626720"/>
            <a:ext cx="2520" cy="255960"/>
          </a:xfrm>
          <a:prstGeom prst="curvedConnector5">
            <a:avLst>
              <a:gd name="adj1" fmla="val -17600000"/>
              <a:gd name="adj2" fmla="val 50000"/>
              <a:gd name="adj3" fmla="val -17600000"/>
            </a:avLst>
          </a:prstGeom>
          <a:ln w="9360">
            <a:solidFill>
              <a:srgbClr val="000000"/>
            </a:solidFill>
            <a:miter/>
            <a:tailEnd len="med" type="triangle" w="med"/>
          </a:ln>
        </p:spPr>
      </p:cxnSp>
      <p:sp>
        <p:nvSpPr>
          <p:cNvPr id="413" name="Oval 4"/>
          <p:cNvSpPr/>
          <p:nvPr/>
        </p:nvSpPr>
        <p:spPr>
          <a:xfrm>
            <a:off x="1014480" y="4708440"/>
            <a:ext cx="361800" cy="370080"/>
          </a:xfrm>
          <a:prstGeom prst="ellipse">
            <a:avLst/>
          </a:prstGeom>
          <a:noFill/>
          <a:ln w="1908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400" b="0" i="1" u="none" strike="noStrike">
                <a:solidFill>
                  <a:srgbClr val="000000"/>
                </a:solidFill>
                <a:effectLst/>
                <a:uFillTx/>
                <a:latin typeface="Arial Rounded MT Bold"/>
              </a:rPr>
              <a:t>s</a:t>
            </a:r>
            <a:r>
              <a:rPr lang="en-US" sz="1400" b="0" i="1" u="none" strike="noStrike" baseline="-25000">
                <a:solidFill>
                  <a:srgbClr val="000000"/>
                </a:solidFill>
                <a:effectLst/>
                <a:uFillTx/>
                <a:latin typeface="Arial Rounded MT Bold"/>
              </a:rPr>
              <a:t>0 </a:t>
            </a:r>
            <a:endParaRPr lang="it-IT" sz="14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414" name="Line 5"/>
          <p:cNvSpPr/>
          <p:nvPr/>
        </p:nvSpPr>
        <p:spPr>
          <a:xfrm>
            <a:off x="1357200" y="4915080"/>
            <a:ext cx="395280" cy="0"/>
          </a:xfrm>
          <a:prstGeom prst="line">
            <a:avLst/>
          </a:prstGeom>
          <a:ln w="9360">
            <a:solidFill>
              <a:srgbClr val="000000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-46800" rIns="90000" bIns="-46800" anchor="ctr">
            <a:noAutofit/>
          </a:bodyPr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415" name="Text Box 6"/>
          <p:cNvSpPr/>
          <p:nvPr/>
        </p:nvSpPr>
        <p:spPr>
          <a:xfrm>
            <a:off x="1425600" y="4640400"/>
            <a:ext cx="237960" cy="30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876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400" b="0" u="sng" strike="noStrike">
                <a:solidFill>
                  <a:srgbClr val="000000"/>
                </a:solidFill>
                <a:effectLst/>
                <a:uFillTx/>
                <a:latin typeface="Arial Rounded MT Bold"/>
              </a:rPr>
              <a:t>a</a:t>
            </a:r>
            <a:endParaRPr lang="it-IT" sz="14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412" name="Oval 7"/>
          <p:cNvSpPr/>
          <p:nvPr/>
        </p:nvSpPr>
        <p:spPr>
          <a:xfrm>
            <a:off x="1768320" y="4708440"/>
            <a:ext cx="362160" cy="370080"/>
          </a:xfrm>
          <a:prstGeom prst="ellipse">
            <a:avLst/>
          </a:prstGeom>
          <a:noFill/>
          <a:ln w="1908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400" b="0" i="1" u="none" strike="noStrike">
                <a:solidFill>
                  <a:srgbClr val="000000"/>
                </a:solidFill>
                <a:effectLst/>
                <a:uFillTx/>
                <a:latin typeface="Arial Rounded MT Bold"/>
              </a:rPr>
              <a:t>s</a:t>
            </a:r>
            <a:r>
              <a:rPr lang="en-US" sz="1400" b="0" i="1" u="none" strike="noStrike" baseline="-25000">
                <a:solidFill>
                  <a:srgbClr val="000000"/>
                </a:solidFill>
                <a:effectLst/>
                <a:uFillTx/>
                <a:latin typeface="Arial Rounded MT Bold"/>
              </a:rPr>
              <a:t>1 </a:t>
            </a:r>
            <a:endParaRPr lang="it-IT" sz="14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416" name="Line 8"/>
          <p:cNvSpPr/>
          <p:nvPr/>
        </p:nvSpPr>
        <p:spPr>
          <a:xfrm>
            <a:off x="2111400" y="4915080"/>
            <a:ext cx="395280" cy="0"/>
          </a:xfrm>
          <a:prstGeom prst="line">
            <a:avLst/>
          </a:prstGeom>
          <a:ln w="9360">
            <a:solidFill>
              <a:srgbClr val="000000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-46800" rIns="90000" bIns="-46800" anchor="ctr">
            <a:noAutofit/>
          </a:bodyPr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417" name="Text Box 9"/>
          <p:cNvSpPr/>
          <p:nvPr/>
        </p:nvSpPr>
        <p:spPr>
          <a:xfrm>
            <a:off x="1357200" y="5189400"/>
            <a:ext cx="238320" cy="30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876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400" b="0" u="sng" strike="noStrike">
                <a:solidFill>
                  <a:srgbClr val="000000"/>
                </a:solidFill>
                <a:effectLst/>
                <a:uFillTx/>
                <a:latin typeface="Arial Rounded MT Bold"/>
              </a:rPr>
              <a:t>b</a:t>
            </a:r>
            <a:endParaRPr lang="it-IT" sz="14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418" name="Oval 10"/>
          <p:cNvSpPr/>
          <p:nvPr/>
        </p:nvSpPr>
        <p:spPr>
          <a:xfrm>
            <a:off x="2522520" y="4708440"/>
            <a:ext cx="361800" cy="370080"/>
          </a:xfrm>
          <a:prstGeom prst="ellipse">
            <a:avLst/>
          </a:prstGeom>
          <a:noFill/>
          <a:ln w="1908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400" b="0" i="1" u="none" strike="noStrike">
                <a:solidFill>
                  <a:srgbClr val="000000"/>
                </a:solidFill>
                <a:effectLst/>
                <a:uFillTx/>
                <a:latin typeface="Arial Rounded MT Bold"/>
              </a:rPr>
              <a:t>s</a:t>
            </a:r>
            <a:r>
              <a:rPr lang="en-US" sz="1400" b="0" i="1" u="none" strike="noStrike" baseline="-25000">
                <a:solidFill>
                  <a:srgbClr val="000000"/>
                </a:solidFill>
                <a:effectLst/>
                <a:uFillTx/>
                <a:latin typeface="Arial Rounded MT Bold"/>
              </a:rPr>
              <a:t>3 </a:t>
            </a:r>
            <a:endParaRPr lang="it-IT" sz="14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419" name="Line 11"/>
          <p:cNvSpPr/>
          <p:nvPr/>
        </p:nvSpPr>
        <p:spPr>
          <a:xfrm>
            <a:off x="2865600" y="4915080"/>
            <a:ext cx="395280" cy="0"/>
          </a:xfrm>
          <a:prstGeom prst="line">
            <a:avLst/>
          </a:prstGeom>
          <a:ln w="9360">
            <a:solidFill>
              <a:srgbClr val="000000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-46800" rIns="90000" bIns="-46800" anchor="ctr">
            <a:noAutofit/>
          </a:bodyPr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420" name="Text Box 12"/>
          <p:cNvSpPr/>
          <p:nvPr/>
        </p:nvSpPr>
        <p:spPr>
          <a:xfrm>
            <a:off x="2933640" y="4640400"/>
            <a:ext cx="239760" cy="30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876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400" b="0" u="sng" strike="noStrike">
                <a:solidFill>
                  <a:srgbClr val="000000"/>
                </a:solidFill>
                <a:effectLst/>
                <a:uFillTx/>
                <a:latin typeface="Arial Rounded MT Bold"/>
              </a:rPr>
              <a:t>b</a:t>
            </a:r>
            <a:endParaRPr lang="it-IT" sz="14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421" name="Oval 13"/>
          <p:cNvSpPr/>
          <p:nvPr/>
        </p:nvSpPr>
        <p:spPr>
          <a:xfrm>
            <a:off x="3276720" y="4708440"/>
            <a:ext cx="361800" cy="370080"/>
          </a:xfrm>
          <a:prstGeom prst="ellipse">
            <a:avLst/>
          </a:prstGeom>
          <a:noFill/>
          <a:ln w="381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400" b="0" i="1" u="none" strike="noStrike">
                <a:solidFill>
                  <a:srgbClr val="000000"/>
                </a:solidFill>
                <a:effectLst/>
                <a:uFillTx/>
                <a:latin typeface="Arial Rounded MT Bold"/>
              </a:rPr>
              <a:t>s</a:t>
            </a:r>
            <a:r>
              <a:rPr lang="en-US" sz="1400" b="0" i="1" u="none" strike="noStrike" baseline="-25000">
                <a:solidFill>
                  <a:srgbClr val="000000"/>
                </a:solidFill>
                <a:effectLst/>
                <a:uFillTx/>
                <a:latin typeface="Arial Rounded MT Bold"/>
              </a:rPr>
              <a:t>4 </a:t>
            </a:r>
            <a:endParaRPr lang="it-IT" sz="14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422" name="Oval 14"/>
          <p:cNvSpPr/>
          <p:nvPr/>
        </p:nvSpPr>
        <p:spPr>
          <a:xfrm>
            <a:off x="1768320" y="5464080"/>
            <a:ext cx="362160" cy="370080"/>
          </a:xfrm>
          <a:prstGeom prst="ellipse">
            <a:avLst/>
          </a:prstGeom>
          <a:noFill/>
          <a:ln w="1908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400" b="0" i="1" u="none" strike="noStrike">
                <a:solidFill>
                  <a:srgbClr val="000000"/>
                </a:solidFill>
                <a:effectLst/>
                <a:uFillTx/>
                <a:latin typeface="Arial Rounded MT Bold"/>
              </a:rPr>
              <a:t>s</a:t>
            </a:r>
            <a:r>
              <a:rPr lang="en-US" sz="1400" b="0" i="1" u="none" strike="noStrike" baseline="-25000">
                <a:solidFill>
                  <a:srgbClr val="000000"/>
                </a:solidFill>
                <a:effectLst/>
                <a:uFillTx/>
                <a:latin typeface="Arial Rounded MT Bold"/>
              </a:rPr>
              <a:t>2</a:t>
            </a:r>
            <a:endParaRPr lang="it-IT" sz="14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423" name="Line 15"/>
          <p:cNvSpPr/>
          <p:nvPr/>
        </p:nvSpPr>
        <p:spPr>
          <a:xfrm>
            <a:off x="1305000" y="5035680"/>
            <a:ext cx="495360" cy="488880"/>
          </a:xfrm>
          <a:prstGeom prst="line">
            <a:avLst/>
          </a:prstGeom>
          <a:ln w="9360">
            <a:solidFill>
              <a:srgbClr val="000000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ctr">
            <a:noAutofit/>
          </a:bodyPr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424" name="Line 16"/>
          <p:cNvSpPr/>
          <p:nvPr/>
        </p:nvSpPr>
        <p:spPr>
          <a:xfrm flipV="1">
            <a:off x="1935000" y="5081760"/>
            <a:ext cx="0" cy="374400"/>
          </a:xfrm>
          <a:prstGeom prst="line">
            <a:avLst/>
          </a:prstGeom>
          <a:ln w="9360">
            <a:solidFill>
              <a:srgbClr val="000000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ctr">
            <a:noAutofit/>
          </a:bodyPr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425" name="Text Box 17"/>
          <p:cNvSpPr/>
          <p:nvPr/>
        </p:nvSpPr>
        <p:spPr>
          <a:xfrm>
            <a:off x="1935000" y="5189400"/>
            <a:ext cx="239760" cy="30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876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400" b="0" u="sng" strike="noStrike">
                <a:solidFill>
                  <a:srgbClr val="000000"/>
                </a:solidFill>
                <a:effectLst/>
                <a:uFillTx/>
                <a:latin typeface="Arial Rounded MT Bold"/>
              </a:rPr>
              <a:t>a</a:t>
            </a:r>
            <a:endParaRPr lang="it-IT" sz="14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426" name="Text Box 18"/>
          <p:cNvSpPr/>
          <p:nvPr/>
        </p:nvSpPr>
        <p:spPr>
          <a:xfrm>
            <a:off x="2179800" y="4640400"/>
            <a:ext cx="239400" cy="30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876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400" b="0" u="sng" strike="noStrike">
                <a:solidFill>
                  <a:srgbClr val="000000"/>
                </a:solidFill>
                <a:effectLst/>
                <a:uFillTx/>
                <a:latin typeface="Arial Rounded MT Bold"/>
              </a:rPr>
              <a:t>b</a:t>
            </a:r>
            <a:endParaRPr lang="it-IT" sz="14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cxnSp>
        <p:nvCxnSpPr>
          <p:cNvPr id="427" name="AutoShape 19"/>
          <p:cNvCxnSpPr>
            <a:stCxn id="422" idx="3"/>
            <a:endCxn id="422" idx="5"/>
          </p:cNvCxnSpPr>
          <p:nvPr/>
        </p:nvCxnSpPr>
        <p:spPr>
          <a:xfrm flipH="1" rot="16200000">
            <a:off x="1947960" y="5661000"/>
            <a:ext cx="2160" cy="255960"/>
          </a:xfrm>
          <a:prstGeom prst="curvedConnector5">
            <a:avLst>
              <a:gd name="adj1" fmla="val 17600000"/>
              <a:gd name="adj2" fmla="val 50000"/>
              <a:gd name="adj3" fmla="val 17600000"/>
            </a:avLst>
          </a:prstGeom>
          <a:ln w="9360">
            <a:solidFill>
              <a:srgbClr val="000000"/>
            </a:solidFill>
            <a:miter/>
            <a:headEnd len="med" type="triangle" w="med"/>
          </a:ln>
        </p:spPr>
      </p:cxnSp>
      <p:sp>
        <p:nvSpPr>
          <p:cNvPr id="428" name="Text Box 20"/>
          <p:cNvSpPr/>
          <p:nvPr/>
        </p:nvSpPr>
        <p:spPr>
          <a:xfrm>
            <a:off x="2013120" y="5865840"/>
            <a:ext cx="237960" cy="30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876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400" b="0" u="sng" strike="noStrike">
                <a:solidFill>
                  <a:srgbClr val="000000"/>
                </a:solidFill>
                <a:effectLst/>
                <a:uFillTx/>
                <a:latin typeface="Arial Rounded MT Bold"/>
              </a:rPr>
              <a:t>b</a:t>
            </a:r>
            <a:endParaRPr lang="it-IT" sz="14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429" name="Text Box 21"/>
          <p:cNvSpPr/>
          <p:nvPr/>
        </p:nvSpPr>
        <p:spPr>
          <a:xfrm>
            <a:off x="2027160" y="4373640"/>
            <a:ext cx="238320" cy="30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876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400" b="0" u="sng" strike="noStrike">
                <a:solidFill>
                  <a:srgbClr val="000000"/>
                </a:solidFill>
                <a:effectLst/>
                <a:uFillTx/>
                <a:latin typeface="Arial Rounded MT Bold"/>
              </a:rPr>
              <a:t>a</a:t>
            </a:r>
            <a:endParaRPr lang="it-IT" sz="14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cxnSp>
        <p:nvCxnSpPr>
          <p:cNvPr id="430" name="AutoShape 22"/>
          <p:cNvCxnSpPr>
            <a:stCxn id="418" idx="4"/>
            <a:endCxn id="412" idx="5"/>
          </p:cNvCxnSpPr>
          <p:nvPr/>
        </p:nvCxnSpPr>
        <p:spPr>
          <a:xfrm flipV="1" rot="16200000">
            <a:off x="2363400" y="4745880"/>
            <a:ext cx="54720" cy="629280"/>
          </a:xfrm>
          <a:prstGeom prst="curvedConnector5">
            <a:avLst>
              <a:gd name="adj1" fmla="val -249668"/>
              <a:gd name="adj2" fmla="val 49971"/>
              <a:gd name="adj3" fmla="val -249668"/>
            </a:avLst>
          </a:prstGeom>
          <a:ln w="9360">
            <a:solidFill>
              <a:srgbClr val="000000"/>
            </a:solidFill>
            <a:miter/>
            <a:tailEnd len="med" type="triangle" w="med"/>
          </a:ln>
        </p:spPr>
      </p:cxnSp>
      <p:sp>
        <p:nvSpPr>
          <p:cNvPr id="431" name="Text Box 23"/>
          <p:cNvSpPr/>
          <p:nvPr/>
        </p:nvSpPr>
        <p:spPr>
          <a:xfrm>
            <a:off x="2522520" y="5121360"/>
            <a:ext cx="239760" cy="30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876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400" b="0" u="sng" strike="noStrike">
                <a:solidFill>
                  <a:srgbClr val="000000"/>
                </a:solidFill>
                <a:effectLst/>
                <a:uFillTx/>
                <a:latin typeface="Arial Rounded MT Bold"/>
              </a:rPr>
              <a:t>a</a:t>
            </a:r>
            <a:endParaRPr lang="it-IT" sz="14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cxnSp>
        <p:nvCxnSpPr>
          <p:cNvPr id="432" name="AutoShape 24"/>
          <p:cNvCxnSpPr>
            <a:stCxn id="421" idx="0"/>
          </p:cNvCxnSpPr>
          <p:nvPr/>
        </p:nvCxnSpPr>
        <p:spPr>
          <a:xfrm rot="5400000">
            <a:off x="2551320" y="3909960"/>
            <a:ext cx="127800" cy="1684800"/>
          </a:xfrm>
          <a:prstGeom prst="curvedConnector5">
            <a:avLst>
              <a:gd name="adj1" fmla="val -321186"/>
              <a:gd name="adj2" fmla="val 51805"/>
              <a:gd name="adj3" fmla="val -321186"/>
            </a:avLst>
          </a:prstGeom>
          <a:ln w="9360">
            <a:solidFill>
              <a:srgbClr val="000000"/>
            </a:solidFill>
            <a:miter/>
            <a:tailEnd len="med" type="triangle" w="med"/>
          </a:ln>
        </p:spPr>
      </p:cxnSp>
      <p:sp>
        <p:nvSpPr>
          <p:cNvPr id="433" name="Text Box 25"/>
          <p:cNvSpPr/>
          <p:nvPr/>
        </p:nvSpPr>
        <p:spPr>
          <a:xfrm>
            <a:off x="3367080" y="4343400"/>
            <a:ext cx="237960" cy="30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876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400" b="0" u="sng" strike="noStrike">
                <a:solidFill>
                  <a:srgbClr val="000000"/>
                </a:solidFill>
                <a:effectLst/>
                <a:uFillTx/>
                <a:latin typeface="Arial Rounded MT Bold"/>
              </a:rPr>
              <a:t>a</a:t>
            </a:r>
            <a:endParaRPr lang="it-IT" sz="14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cxnSp>
        <p:nvCxnSpPr>
          <p:cNvPr id="434" name="AutoShape 26"/>
          <p:cNvCxnSpPr>
            <a:stCxn id="421" idx="4"/>
            <a:endCxn id="422" idx="6"/>
          </p:cNvCxnSpPr>
          <p:nvPr/>
        </p:nvCxnSpPr>
        <p:spPr>
          <a:xfrm rot="5400000">
            <a:off x="2521080" y="4712400"/>
            <a:ext cx="554760" cy="1321200"/>
          </a:xfrm>
          <a:prstGeom prst="curvedConnector2">
            <a:avLst/>
          </a:prstGeom>
          <a:ln w="9360">
            <a:solidFill>
              <a:srgbClr val="000000"/>
            </a:solidFill>
            <a:miter/>
            <a:tailEnd len="med" type="triangle" w="med"/>
          </a:ln>
        </p:spPr>
      </p:cxnSp>
      <p:sp>
        <p:nvSpPr>
          <p:cNvPr id="435" name="Text Box 27"/>
          <p:cNvSpPr/>
          <p:nvPr/>
        </p:nvSpPr>
        <p:spPr>
          <a:xfrm>
            <a:off x="3346560" y="5195880"/>
            <a:ext cx="239760" cy="30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876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400" b="0" u="sng" strike="noStrike">
                <a:solidFill>
                  <a:srgbClr val="000000"/>
                </a:solidFill>
                <a:effectLst/>
                <a:uFillTx/>
                <a:latin typeface="Arial Rounded MT Bold"/>
              </a:rPr>
              <a:t>b</a:t>
            </a:r>
            <a:endParaRPr lang="it-IT" sz="14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graphicFrame>
        <p:nvGraphicFramePr>
          <p:cNvPr id="436" name=""/>
          <p:cNvGraphicFramePr/>
          <p:nvPr/>
        </p:nvGraphicFramePr>
        <p:xfrm>
          <a:off x="685800" y="1447920"/>
          <a:ext cx="7696080" cy="2260440"/>
        </p:xfrm>
        <a:graphic>
          <a:graphicData uri="http://schemas.openxmlformats.org/drawingml/2006/table">
            <a:tbl>
              <a:tblPr/>
              <a:tblGrid>
                <a:gridCol w="457200"/>
                <a:gridCol w="1905120"/>
                <a:gridCol w="1600200"/>
                <a:gridCol w="1218960"/>
                <a:gridCol w="1143000"/>
                <a:gridCol w="1371600"/>
              </a:tblGrid>
              <a:tr h="452160"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spcBef>
                          <a:spcPts val="4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endParaRPr lang="it-IT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>
                      <a:noFill/>
                    </a:lnL>
                    <a:lnR>
                      <a:noFill/>
                    </a:lnR>
                    <a:lnT w="13680">
                      <a:solidFill>
                        <a:srgbClr val="B025A6"/>
                      </a:solidFill>
                      <a:prstDash val="solid"/>
                    </a:lnT>
                    <a:lnB w="5760">
                      <a:solidFill>
                        <a:srgbClr val="B025A6"/>
                      </a:solidFill>
                      <a:prstDash val="soli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spcBef>
                          <a:spcPts val="4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Current Partition</a:t>
                      </a:r>
                      <a:endParaRPr lang="it-IT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>
                      <a:noFill/>
                    </a:lnL>
                    <a:lnR>
                      <a:noFill/>
                    </a:lnR>
                    <a:lnT w="13680">
                      <a:solidFill>
                        <a:srgbClr val="B025A6"/>
                      </a:solidFill>
                      <a:prstDash val="solid"/>
                    </a:lnT>
                    <a:lnB w="5760">
                      <a:solidFill>
                        <a:srgbClr val="B025A6"/>
                      </a:solidFill>
                      <a:prstDash val="soli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spcBef>
                          <a:spcPts val="4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Worklist</a:t>
                      </a:r>
                      <a:endParaRPr lang="it-IT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>
                      <a:noFill/>
                    </a:lnL>
                    <a:lnR>
                      <a:noFill/>
                    </a:lnR>
                    <a:lnT w="13680">
                      <a:solidFill>
                        <a:srgbClr val="B025A6"/>
                      </a:solidFill>
                      <a:prstDash val="solid"/>
                    </a:lnT>
                    <a:lnB w="5760">
                      <a:solidFill>
                        <a:srgbClr val="B025A6"/>
                      </a:solidFill>
                      <a:prstDash val="soli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spcBef>
                          <a:spcPts val="4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s</a:t>
                      </a:r>
                      <a:endParaRPr lang="it-IT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>
                      <a:noFill/>
                    </a:lnL>
                    <a:lnR>
                      <a:noFill/>
                    </a:lnR>
                    <a:lnT w="13680">
                      <a:solidFill>
                        <a:srgbClr val="B025A6"/>
                      </a:solidFill>
                      <a:prstDash val="solid"/>
                    </a:lnT>
                    <a:lnB w="5760">
                      <a:solidFill>
                        <a:srgbClr val="B025A6"/>
                      </a:solidFill>
                      <a:prstDash val="soli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spcBef>
                          <a:spcPts val="4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Split on </a:t>
                      </a:r>
                      <a:r>
                        <a:rPr lang="en-US" sz="1600" b="0" u="sng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a</a:t>
                      </a:r>
                      <a:endParaRPr lang="it-IT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>
                      <a:noFill/>
                    </a:lnL>
                    <a:lnR>
                      <a:noFill/>
                    </a:lnR>
                    <a:lnT w="13680">
                      <a:solidFill>
                        <a:srgbClr val="B025A6"/>
                      </a:solidFill>
                      <a:prstDash val="solid"/>
                    </a:lnT>
                    <a:lnB w="5760">
                      <a:solidFill>
                        <a:srgbClr val="B025A6"/>
                      </a:solidFill>
                      <a:prstDash val="soli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spcBef>
                          <a:spcPts val="4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Split on </a:t>
                      </a:r>
                      <a:r>
                        <a:rPr lang="en-US" sz="1600" b="0" u="sng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b</a:t>
                      </a:r>
                      <a:endParaRPr lang="it-IT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>
                      <a:noFill/>
                    </a:lnL>
                    <a:lnR>
                      <a:noFill/>
                    </a:lnR>
                    <a:lnT w="13680">
                      <a:solidFill>
                        <a:srgbClr val="B025A6"/>
                      </a:solidFill>
                      <a:prstDash val="solid"/>
                    </a:lnT>
                    <a:lnB w="5760">
                      <a:solidFill>
                        <a:srgbClr val="B025A6"/>
                      </a:solidFill>
                      <a:prstDash val="solid"/>
                    </a:lnB>
                    <a:solidFill>
                      <a:srgbClr val="E6E6E6"/>
                    </a:solidFill>
                  </a:tcPr>
                </a:tc>
              </a:tr>
              <a:tr h="452520"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P</a:t>
                      </a:r>
                      <a:r>
                        <a:rPr lang="en-US" sz="1600" b="0" i="1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0</a:t>
                      </a:r>
                      <a:endParaRPr lang="it-IT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>
                      <a:noFill/>
                    </a:lnL>
                    <a:lnR>
                      <a:noFill/>
                    </a:lnR>
                    <a:lnT w="5760">
                      <a:solidFill>
                        <a:srgbClr val="B025A6"/>
                      </a:solidFill>
                      <a:prstDash val="solid"/>
                    </a:lnT>
                    <a:lnB>
                      <a:noFill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{s</a:t>
                      </a:r>
                      <a:r>
                        <a:rPr lang="en-US" sz="1600" b="0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4</a:t>
                      </a: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}</a:t>
                      </a: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 </a:t>
                      </a: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{s</a:t>
                      </a:r>
                      <a:r>
                        <a:rPr lang="en-US" sz="1600" b="0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0</a:t>
                      </a: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,s</a:t>
                      </a:r>
                      <a:r>
                        <a:rPr lang="en-US" sz="1600" b="0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1</a:t>
                      </a: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,s</a:t>
                      </a:r>
                      <a:r>
                        <a:rPr lang="en-US" sz="1600" b="0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2</a:t>
                      </a: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,s</a:t>
                      </a:r>
                      <a:r>
                        <a:rPr lang="en-US" sz="1600" b="0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3</a:t>
                      </a: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}</a:t>
                      </a:r>
                      <a:endParaRPr lang="it-IT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>
                      <a:noFill/>
                    </a:lnL>
                    <a:lnR>
                      <a:noFill/>
                    </a:lnR>
                    <a:lnT w="5760">
                      <a:solidFill>
                        <a:srgbClr val="B025A6"/>
                      </a:solidFill>
                      <a:prstDash val="soli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600" b="0" u="none" strike="noStrike">
                          <a:solidFill>
                            <a:srgbClr val="B3B3B3"/>
                          </a:solidFill>
                          <a:effectLst/>
                          <a:uFillTx/>
                          <a:latin typeface="Comic Sans MS"/>
                        </a:rPr>
                        <a:t>{s</a:t>
                      </a:r>
                      <a:r>
                        <a:rPr lang="en-US" sz="1600" b="0" u="none" strike="noStrike" baseline="-25000">
                          <a:solidFill>
                            <a:srgbClr val="B3B3B3"/>
                          </a:solidFill>
                          <a:effectLst/>
                          <a:uFillTx/>
                          <a:latin typeface="Comic Sans MS"/>
                        </a:rPr>
                        <a:t>4</a:t>
                      </a:r>
                      <a:r>
                        <a:rPr lang="en-US" sz="1600" b="0" u="none" strike="noStrike">
                          <a:solidFill>
                            <a:srgbClr val="B3B3B3"/>
                          </a:solidFill>
                          <a:effectLst/>
                          <a:uFillTx/>
                          <a:latin typeface="Comic Sans MS"/>
                        </a:rPr>
                        <a:t>}</a:t>
                      </a: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 </a:t>
                      </a: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{s</a:t>
                      </a:r>
                      <a:r>
                        <a:rPr lang="en-US" sz="1600" b="0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0</a:t>
                      </a: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,s</a:t>
                      </a:r>
                      <a:r>
                        <a:rPr lang="en-US" sz="1600" b="0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1</a:t>
                      </a: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,s</a:t>
                      </a:r>
                      <a:r>
                        <a:rPr lang="en-US" sz="1600" b="0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2</a:t>
                      </a: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,s</a:t>
                      </a:r>
                      <a:r>
                        <a:rPr lang="en-US" sz="1600" b="0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3</a:t>
                      </a: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}</a:t>
                      </a:r>
                      <a:endParaRPr lang="it-IT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>
                      <a:noFill/>
                    </a:lnL>
                    <a:lnR>
                      <a:noFill/>
                    </a:lnR>
                    <a:lnT w="5760">
                      <a:solidFill>
                        <a:srgbClr val="B025A6"/>
                      </a:solidFill>
                      <a:prstDash val="soli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{s</a:t>
                      </a:r>
                      <a:r>
                        <a:rPr lang="en-US" sz="1600" b="0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4</a:t>
                      </a: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}</a:t>
                      </a:r>
                      <a:endParaRPr lang="it-IT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>
                      <a:noFill/>
                    </a:lnL>
                    <a:lnR>
                      <a:noFill/>
                    </a:lnR>
                    <a:lnT w="5760">
                      <a:solidFill>
                        <a:srgbClr val="B025A6"/>
                      </a:solidFill>
                      <a:prstDash val="soli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none</a:t>
                      </a:r>
                      <a:endParaRPr lang="it-IT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>
                      <a:noFill/>
                    </a:lnL>
                    <a:lnR>
                      <a:noFill/>
                    </a:lnR>
                    <a:lnT w="5760">
                      <a:solidFill>
                        <a:srgbClr val="B025A6"/>
                      </a:solidFill>
                      <a:prstDash val="soli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{s</a:t>
                      </a:r>
                      <a:r>
                        <a:rPr lang="en-US" sz="1600" b="0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3</a:t>
                      </a: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}</a:t>
                      </a: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 </a:t>
                      </a: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{s</a:t>
                      </a:r>
                      <a:r>
                        <a:rPr lang="en-US" sz="1600" b="0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0</a:t>
                      </a: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,s</a:t>
                      </a:r>
                      <a:r>
                        <a:rPr lang="en-US" sz="1600" b="0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1</a:t>
                      </a: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,s</a:t>
                      </a:r>
                      <a:r>
                        <a:rPr lang="en-US" sz="1600" b="0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2</a:t>
                      </a: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}</a:t>
                      </a:r>
                      <a:endParaRPr lang="it-IT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>
                      <a:noFill/>
                    </a:lnL>
                    <a:lnR>
                      <a:noFill/>
                    </a:lnR>
                    <a:lnT w="5760">
                      <a:solidFill>
                        <a:srgbClr val="B025A6"/>
                      </a:solidFill>
                      <a:prstDash val="solid"/>
                    </a:lnT>
                    <a:lnB>
                      <a:noFill/>
                    </a:lnB>
                    <a:noFill/>
                  </a:tcPr>
                </a:tc>
              </a:tr>
              <a:tr h="451080"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lnSpc>
                          <a:spcPct val="110000"/>
                        </a:lnSpc>
                        <a:spcBef>
                          <a:spcPts val="4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P</a:t>
                      </a:r>
                      <a:r>
                        <a:rPr lang="en-US" sz="1600" b="0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1</a:t>
                      </a:r>
                      <a:endParaRPr lang="it-IT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lnSpc>
                          <a:spcPct val="110000"/>
                        </a:lnSpc>
                        <a:spcBef>
                          <a:spcPts val="4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{s</a:t>
                      </a:r>
                      <a:r>
                        <a:rPr lang="en-US" sz="1600" b="0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4</a:t>
                      </a: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}</a:t>
                      </a: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 </a:t>
                      </a: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{s</a:t>
                      </a:r>
                      <a:r>
                        <a:rPr lang="en-US" sz="1600" b="0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3</a:t>
                      </a: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}</a:t>
                      </a: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 </a:t>
                      </a: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{s</a:t>
                      </a:r>
                      <a:r>
                        <a:rPr lang="en-US" sz="1600" b="0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0</a:t>
                      </a: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,s</a:t>
                      </a:r>
                      <a:r>
                        <a:rPr lang="en-US" sz="1600" b="0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1</a:t>
                      </a: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,s</a:t>
                      </a:r>
                      <a:r>
                        <a:rPr lang="en-US" sz="1600" b="0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2</a:t>
                      </a: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}</a:t>
                      </a:r>
                      <a:endParaRPr lang="it-IT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lnSpc>
                          <a:spcPct val="110000"/>
                        </a:lnSpc>
                        <a:spcBef>
                          <a:spcPts val="4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600" b="0" u="none" strike="noStrike">
                          <a:solidFill>
                            <a:srgbClr val="B3B3B3"/>
                          </a:solidFill>
                          <a:effectLst/>
                          <a:uFillTx/>
                          <a:latin typeface="Comic Sans MS"/>
                        </a:rPr>
                        <a:t>{s</a:t>
                      </a:r>
                      <a:r>
                        <a:rPr lang="en-US" sz="1600" b="0" u="none" strike="noStrike" baseline="-25000">
                          <a:solidFill>
                            <a:srgbClr val="B3B3B3"/>
                          </a:solidFill>
                          <a:effectLst/>
                          <a:uFillTx/>
                          <a:latin typeface="Comic Sans MS"/>
                        </a:rPr>
                        <a:t>3</a:t>
                      </a:r>
                      <a:r>
                        <a:rPr lang="en-US" sz="1600" b="0" u="none" strike="noStrike">
                          <a:solidFill>
                            <a:srgbClr val="B3B3B3"/>
                          </a:solidFill>
                          <a:effectLst/>
                          <a:uFillTx/>
                          <a:latin typeface="Comic Sans MS"/>
                        </a:rPr>
                        <a:t>}</a:t>
                      </a: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 </a:t>
                      </a: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{s</a:t>
                      </a:r>
                      <a:r>
                        <a:rPr lang="en-US" sz="1600" b="0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0</a:t>
                      </a: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,s</a:t>
                      </a:r>
                      <a:r>
                        <a:rPr lang="en-US" sz="1600" b="0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1</a:t>
                      </a: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,s</a:t>
                      </a:r>
                      <a:r>
                        <a:rPr lang="en-US" sz="1600" b="0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2</a:t>
                      </a: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}</a:t>
                      </a:r>
                      <a:endParaRPr lang="it-IT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lnSpc>
                          <a:spcPct val="110000"/>
                        </a:lnSpc>
                        <a:spcBef>
                          <a:spcPts val="4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{s</a:t>
                      </a:r>
                      <a:r>
                        <a:rPr lang="en-US" sz="1600" b="0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3</a:t>
                      </a: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}</a:t>
                      </a:r>
                      <a:endParaRPr lang="it-IT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lnSpc>
                          <a:spcPct val="110000"/>
                        </a:lnSpc>
                        <a:spcBef>
                          <a:spcPts val="4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none</a:t>
                      </a:r>
                      <a:endParaRPr lang="it-IT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lnSpc>
                          <a:spcPct val="110000"/>
                        </a:lnSpc>
                        <a:spcBef>
                          <a:spcPts val="4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600" b="0" u="none" strike="noStrike">
                          <a:solidFill>
                            <a:srgbClr val="FF0065"/>
                          </a:solidFill>
                          <a:effectLst/>
                          <a:uFillTx/>
                          <a:latin typeface="Comic Sans MS"/>
                        </a:rPr>
                        <a:t>{s</a:t>
                      </a:r>
                      <a:r>
                        <a:rPr lang="en-US" sz="1600" b="0" u="none" strike="noStrike" baseline="-25000">
                          <a:solidFill>
                            <a:srgbClr val="FF0065"/>
                          </a:solidFill>
                          <a:effectLst/>
                          <a:uFillTx/>
                          <a:latin typeface="Comic Sans MS"/>
                        </a:rPr>
                        <a:t>1</a:t>
                      </a:r>
                      <a:r>
                        <a:rPr lang="en-US" sz="1600" b="0" u="none" strike="noStrike">
                          <a:solidFill>
                            <a:srgbClr val="FF0065"/>
                          </a:solidFill>
                          <a:effectLst/>
                          <a:uFillTx/>
                          <a:latin typeface="Comic Sans MS"/>
                        </a:rPr>
                        <a:t>}</a:t>
                      </a: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 </a:t>
                      </a:r>
                      <a:r>
                        <a:rPr lang="en-US" sz="1600" b="0" u="none" strike="noStrike">
                          <a:solidFill>
                            <a:srgbClr val="B025A6"/>
                          </a:solidFill>
                          <a:effectLst/>
                          <a:uFillTx/>
                          <a:latin typeface="Comic Sans MS"/>
                        </a:rPr>
                        <a:t>{s</a:t>
                      </a:r>
                      <a:r>
                        <a:rPr lang="en-US" sz="1600" b="0" u="none" strike="noStrike" baseline="-25000">
                          <a:solidFill>
                            <a:srgbClr val="B025A6"/>
                          </a:solidFill>
                          <a:effectLst/>
                          <a:uFillTx/>
                          <a:latin typeface="Comic Sans MS"/>
                        </a:rPr>
                        <a:t>0</a:t>
                      </a:r>
                      <a:r>
                        <a:rPr lang="en-US" sz="1600" b="0" u="none" strike="noStrike">
                          <a:solidFill>
                            <a:srgbClr val="B025A6"/>
                          </a:solidFill>
                          <a:effectLst/>
                          <a:uFillTx/>
                          <a:latin typeface="Comic Sans MS"/>
                        </a:rPr>
                        <a:t>,s</a:t>
                      </a:r>
                      <a:r>
                        <a:rPr lang="en-US" sz="1600" b="0" u="none" strike="noStrike" baseline="-25000">
                          <a:solidFill>
                            <a:srgbClr val="B025A6"/>
                          </a:solidFill>
                          <a:effectLst/>
                          <a:uFillTx/>
                          <a:latin typeface="Comic Sans MS"/>
                        </a:rPr>
                        <a:t>2</a:t>
                      </a:r>
                      <a:r>
                        <a:rPr lang="en-US" sz="1600" b="0" u="none" strike="noStrike">
                          <a:solidFill>
                            <a:srgbClr val="B025A6"/>
                          </a:solidFill>
                          <a:effectLst/>
                          <a:uFillTx/>
                          <a:latin typeface="Comic Sans MS"/>
                        </a:rPr>
                        <a:t>}</a:t>
                      </a:r>
                      <a:endParaRPr lang="it-IT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52160"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lnSpc>
                          <a:spcPct val="110000"/>
                        </a:lnSpc>
                        <a:spcBef>
                          <a:spcPts val="4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P</a:t>
                      </a:r>
                      <a:r>
                        <a:rPr lang="en-US" sz="1600" b="0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2</a:t>
                      </a:r>
                      <a:endParaRPr lang="it-IT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lnSpc>
                          <a:spcPct val="110000"/>
                        </a:lnSpc>
                        <a:spcBef>
                          <a:spcPts val="4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{s</a:t>
                      </a:r>
                      <a:r>
                        <a:rPr lang="en-US" sz="1600" b="0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4</a:t>
                      </a: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}</a:t>
                      </a: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 </a:t>
                      </a: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{s</a:t>
                      </a:r>
                      <a:r>
                        <a:rPr lang="en-US" sz="1600" b="0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3</a:t>
                      </a: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}</a:t>
                      </a: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 </a:t>
                      </a: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{s</a:t>
                      </a:r>
                      <a:r>
                        <a:rPr lang="en-US" sz="1600" b="0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1</a:t>
                      </a: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}</a:t>
                      </a: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 </a:t>
                      </a: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{s</a:t>
                      </a:r>
                      <a:r>
                        <a:rPr lang="en-US" sz="1600" b="0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0</a:t>
                      </a: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,s</a:t>
                      </a:r>
                      <a:r>
                        <a:rPr lang="en-US" sz="1600" b="0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2</a:t>
                      </a: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}</a:t>
                      </a:r>
                      <a:endParaRPr lang="it-IT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lnSpc>
                          <a:spcPct val="110000"/>
                        </a:lnSpc>
                        <a:spcBef>
                          <a:spcPts val="4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600" b="0" u="none" strike="noStrike">
                          <a:solidFill>
                            <a:srgbClr val="B3B3B3"/>
                          </a:solidFill>
                          <a:effectLst/>
                          <a:uFillTx/>
                          <a:latin typeface="Comic Sans MS"/>
                        </a:rPr>
                        <a:t>{s</a:t>
                      </a:r>
                      <a:r>
                        <a:rPr lang="en-US" sz="1600" b="0" u="none" strike="noStrike" baseline="-25000">
                          <a:solidFill>
                            <a:srgbClr val="B3B3B3"/>
                          </a:solidFill>
                          <a:effectLst/>
                          <a:uFillTx/>
                          <a:latin typeface="Comic Sans MS"/>
                        </a:rPr>
                        <a:t>1</a:t>
                      </a:r>
                      <a:r>
                        <a:rPr lang="en-US" sz="1600" b="0" u="none" strike="noStrike">
                          <a:solidFill>
                            <a:srgbClr val="B3B3B3"/>
                          </a:solidFill>
                          <a:effectLst/>
                          <a:uFillTx/>
                          <a:latin typeface="Comic Sans MS"/>
                        </a:rPr>
                        <a:t>}</a:t>
                      </a: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 </a:t>
                      </a: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{s</a:t>
                      </a:r>
                      <a:r>
                        <a:rPr lang="en-US" sz="1600" b="0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0</a:t>
                      </a: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,s</a:t>
                      </a:r>
                      <a:r>
                        <a:rPr lang="en-US" sz="1600" b="0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2</a:t>
                      </a: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}</a:t>
                      </a:r>
                      <a:endParaRPr lang="it-IT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lnSpc>
                          <a:spcPct val="110000"/>
                        </a:lnSpc>
                        <a:spcBef>
                          <a:spcPts val="4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{s</a:t>
                      </a:r>
                      <a:r>
                        <a:rPr lang="en-US" sz="1600" b="0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1</a:t>
                      </a: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}</a:t>
                      </a:r>
                      <a:endParaRPr lang="it-IT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lnSpc>
                          <a:spcPct val="110000"/>
                        </a:lnSpc>
                        <a:spcBef>
                          <a:spcPts val="4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none</a:t>
                      </a:r>
                      <a:endParaRPr lang="it-IT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lnSpc>
                          <a:spcPct val="110000"/>
                        </a:lnSpc>
                        <a:spcBef>
                          <a:spcPts val="4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none</a:t>
                      </a:r>
                      <a:endParaRPr lang="it-IT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52520"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lnSpc>
                          <a:spcPct val="110000"/>
                        </a:lnSpc>
                        <a:spcBef>
                          <a:spcPts val="4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endParaRPr lang="it-IT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lnSpc>
                          <a:spcPct val="110000"/>
                        </a:lnSpc>
                        <a:spcBef>
                          <a:spcPts val="4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endParaRPr lang="it-IT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lnSpc>
                          <a:spcPct val="110000"/>
                        </a:lnSpc>
                        <a:spcBef>
                          <a:spcPts val="4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endParaRPr lang="it-IT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lnSpc>
                          <a:spcPct val="110000"/>
                        </a:lnSpc>
                        <a:spcBef>
                          <a:spcPts val="4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endParaRPr lang="it-IT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lnSpc>
                          <a:spcPct val="110000"/>
                        </a:lnSpc>
                        <a:spcBef>
                          <a:spcPts val="4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endParaRPr lang="it-IT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lnSpc>
                          <a:spcPct val="110000"/>
                        </a:lnSpc>
                        <a:spcBef>
                          <a:spcPts val="4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endParaRPr lang="it-IT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</p:spTree>
  </p:cSld>
  <p:transition>
    <p:wipe dir="r"/>
  </p:transition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Footer Placeholder 3"/>
          <p:cNvSpPr/>
          <p:nvPr/>
        </p:nvSpPr>
        <p:spPr>
          <a:xfrm>
            <a:off x="685800" y="6248520"/>
            <a:ext cx="289548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Autofit/>
          </a:bodyPr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Comp 412, Fall 2010</a:t>
            </a:r>
            <a:endParaRPr lang="it-IT" sz="12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438" name="Slide Number Placeholder 4"/>
          <p:cNvSpPr/>
          <p:nvPr/>
        </p:nvSpPr>
        <p:spPr>
          <a:xfrm>
            <a:off x="6553080" y="6248520"/>
            <a:ext cx="190512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Autofit/>
          </a:bodyPr>
          <a:p>
            <a:pPr algn="r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C7489E38-A0F2-4995-BE80-EBFC9C28854E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&lt;number&gt;</a:t>
            </a:fld>
            <a:endParaRPr lang="it-IT" sz="12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439" name="PlaceHolder 1"/>
          <p:cNvSpPr>
            <a:spLocks noGrp="1"/>
          </p:cNvSpPr>
          <p:nvPr>
            <p:ph type="title"/>
          </p:nvPr>
        </p:nvSpPr>
        <p:spPr>
          <a:xfrm>
            <a:off x="685800" y="533160"/>
            <a:ext cx="7772400" cy="533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l">
              <a:spcBef>
                <a:spcPts val="901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A Detailed Example          (DFA Minimization)</a:t>
            </a:r>
            <a:endParaRPr lang="it-IT" sz="24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cxnSp>
        <p:nvCxnSpPr>
          <p:cNvPr id="440" name="AutoShape 3"/>
          <p:cNvCxnSpPr>
            <a:stCxn id="441" idx="7"/>
            <a:endCxn id="441" idx="1"/>
          </p:cNvCxnSpPr>
          <p:nvPr/>
        </p:nvCxnSpPr>
        <p:spPr>
          <a:xfrm rot="5400000">
            <a:off x="1947600" y="4626720"/>
            <a:ext cx="2520" cy="255960"/>
          </a:xfrm>
          <a:prstGeom prst="curvedConnector5">
            <a:avLst>
              <a:gd name="adj1" fmla="val -17600000"/>
              <a:gd name="adj2" fmla="val 50000"/>
              <a:gd name="adj3" fmla="val -17600000"/>
            </a:avLst>
          </a:prstGeom>
          <a:ln w="9360">
            <a:solidFill>
              <a:srgbClr val="000000"/>
            </a:solidFill>
            <a:miter/>
            <a:tailEnd len="med" type="triangle" w="med"/>
          </a:ln>
        </p:spPr>
      </p:cxnSp>
      <p:sp>
        <p:nvSpPr>
          <p:cNvPr id="442" name="Oval 4"/>
          <p:cNvSpPr/>
          <p:nvPr/>
        </p:nvSpPr>
        <p:spPr>
          <a:xfrm>
            <a:off x="1014480" y="4708440"/>
            <a:ext cx="361800" cy="370080"/>
          </a:xfrm>
          <a:prstGeom prst="ellipse">
            <a:avLst/>
          </a:prstGeom>
          <a:noFill/>
          <a:ln w="1908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400" b="0" i="1" u="none" strike="noStrike">
                <a:solidFill>
                  <a:srgbClr val="000000"/>
                </a:solidFill>
                <a:effectLst/>
                <a:uFillTx/>
                <a:latin typeface="Arial Rounded MT Bold"/>
              </a:rPr>
              <a:t>s</a:t>
            </a:r>
            <a:r>
              <a:rPr lang="en-US" sz="1400" b="0" i="1" u="none" strike="noStrike" baseline="-25000">
                <a:solidFill>
                  <a:srgbClr val="000000"/>
                </a:solidFill>
                <a:effectLst/>
                <a:uFillTx/>
                <a:latin typeface="Arial Rounded MT Bold"/>
              </a:rPr>
              <a:t>0 </a:t>
            </a:r>
            <a:endParaRPr lang="it-IT" sz="14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443" name="Line 5"/>
          <p:cNvSpPr/>
          <p:nvPr/>
        </p:nvSpPr>
        <p:spPr>
          <a:xfrm>
            <a:off x="1357200" y="4915080"/>
            <a:ext cx="395280" cy="0"/>
          </a:xfrm>
          <a:prstGeom prst="line">
            <a:avLst/>
          </a:prstGeom>
          <a:ln w="9360">
            <a:solidFill>
              <a:srgbClr val="000000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-46800" rIns="90000" bIns="-46800" anchor="ctr">
            <a:noAutofit/>
          </a:bodyPr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444" name="Text Box 6"/>
          <p:cNvSpPr/>
          <p:nvPr/>
        </p:nvSpPr>
        <p:spPr>
          <a:xfrm>
            <a:off x="1425600" y="4640400"/>
            <a:ext cx="237960" cy="30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876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400" b="0" u="sng" strike="noStrike">
                <a:solidFill>
                  <a:srgbClr val="000000"/>
                </a:solidFill>
                <a:effectLst/>
                <a:uFillTx/>
                <a:latin typeface="Arial Rounded MT Bold"/>
              </a:rPr>
              <a:t>a</a:t>
            </a:r>
            <a:endParaRPr lang="it-IT" sz="14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441" name="Oval 7"/>
          <p:cNvSpPr/>
          <p:nvPr/>
        </p:nvSpPr>
        <p:spPr>
          <a:xfrm>
            <a:off x="1768320" y="4708440"/>
            <a:ext cx="362160" cy="370080"/>
          </a:xfrm>
          <a:prstGeom prst="ellipse">
            <a:avLst/>
          </a:prstGeom>
          <a:noFill/>
          <a:ln w="1908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400" b="0" i="1" u="none" strike="noStrike">
                <a:solidFill>
                  <a:srgbClr val="000000"/>
                </a:solidFill>
                <a:effectLst/>
                <a:uFillTx/>
                <a:latin typeface="Arial Rounded MT Bold"/>
              </a:rPr>
              <a:t>s</a:t>
            </a:r>
            <a:r>
              <a:rPr lang="en-US" sz="1400" b="0" i="1" u="none" strike="noStrike" baseline="-25000">
                <a:solidFill>
                  <a:srgbClr val="000000"/>
                </a:solidFill>
                <a:effectLst/>
                <a:uFillTx/>
                <a:latin typeface="Arial Rounded MT Bold"/>
              </a:rPr>
              <a:t>1 </a:t>
            </a:r>
            <a:endParaRPr lang="it-IT" sz="14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445" name="Line 8"/>
          <p:cNvSpPr/>
          <p:nvPr/>
        </p:nvSpPr>
        <p:spPr>
          <a:xfrm>
            <a:off x="2111400" y="4915080"/>
            <a:ext cx="395280" cy="0"/>
          </a:xfrm>
          <a:prstGeom prst="line">
            <a:avLst/>
          </a:prstGeom>
          <a:ln w="9360">
            <a:solidFill>
              <a:srgbClr val="000000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-46800" rIns="90000" bIns="-46800" anchor="ctr">
            <a:noAutofit/>
          </a:bodyPr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446" name="Text Box 9"/>
          <p:cNvSpPr/>
          <p:nvPr/>
        </p:nvSpPr>
        <p:spPr>
          <a:xfrm>
            <a:off x="1357200" y="5189400"/>
            <a:ext cx="238320" cy="30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876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400" b="0" u="sng" strike="noStrike">
                <a:solidFill>
                  <a:srgbClr val="000000"/>
                </a:solidFill>
                <a:effectLst/>
                <a:uFillTx/>
                <a:latin typeface="Arial Rounded MT Bold"/>
              </a:rPr>
              <a:t>b</a:t>
            </a:r>
            <a:endParaRPr lang="it-IT" sz="14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447" name="Oval 10"/>
          <p:cNvSpPr/>
          <p:nvPr/>
        </p:nvSpPr>
        <p:spPr>
          <a:xfrm>
            <a:off x="2522520" y="4708440"/>
            <a:ext cx="361800" cy="370080"/>
          </a:xfrm>
          <a:prstGeom prst="ellipse">
            <a:avLst/>
          </a:prstGeom>
          <a:noFill/>
          <a:ln w="1908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400" b="0" i="1" u="none" strike="noStrike">
                <a:solidFill>
                  <a:srgbClr val="000000"/>
                </a:solidFill>
                <a:effectLst/>
                <a:uFillTx/>
                <a:latin typeface="Arial Rounded MT Bold"/>
              </a:rPr>
              <a:t>s</a:t>
            </a:r>
            <a:r>
              <a:rPr lang="en-US" sz="1400" b="0" i="1" u="none" strike="noStrike" baseline="-25000">
                <a:solidFill>
                  <a:srgbClr val="000000"/>
                </a:solidFill>
                <a:effectLst/>
                <a:uFillTx/>
                <a:latin typeface="Arial Rounded MT Bold"/>
              </a:rPr>
              <a:t>3 </a:t>
            </a:r>
            <a:endParaRPr lang="it-IT" sz="14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448" name="Line 11"/>
          <p:cNvSpPr/>
          <p:nvPr/>
        </p:nvSpPr>
        <p:spPr>
          <a:xfrm>
            <a:off x="2865600" y="4915080"/>
            <a:ext cx="395280" cy="0"/>
          </a:xfrm>
          <a:prstGeom prst="line">
            <a:avLst/>
          </a:prstGeom>
          <a:ln w="9360">
            <a:solidFill>
              <a:srgbClr val="000000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-46800" rIns="90000" bIns="-46800" anchor="ctr">
            <a:noAutofit/>
          </a:bodyPr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449" name="Text Box 12"/>
          <p:cNvSpPr/>
          <p:nvPr/>
        </p:nvSpPr>
        <p:spPr>
          <a:xfrm>
            <a:off x="2933640" y="4640400"/>
            <a:ext cx="239760" cy="30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876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400" b="0" u="sng" strike="noStrike">
                <a:solidFill>
                  <a:srgbClr val="000000"/>
                </a:solidFill>
                <a:effectLst/>
                <a:uFillTx/>
                <a:latin typeface="Arial Rounded MT Bold"/>
              </a:rPr>
              <a:t>b</a:t>
            </a:r>
            <a:endParaRPr lang="it-IT" sz="14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450" name="Oval 13"/>
          <p:cNvSpPr/>
          <p:nvPr/>
        </p:nvSpPr>
        <p:spPr>
          <a:xfrm>
            <a:off x="3276720" y="4708440"/>
            <a:ext cx="361800" cy="370080"/>
          </a:xfrm>
          <a:prstGeom prst="ellipse">
            <a:avLst/>
          </a:prstGeom>
          <a:noFill/>
          <a:ln w="381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400" b="0" i="1" u="none" strike="noStrike">
                <a:solidFill>
                  <a:srgbClr val="000000"/>
                </a:solidFill>
                <a:effectLst/>
                <a:uFillTx/>
                <a:latin typeface="Arial Rounded MT Bold"/>
              </a:rPr>
              <a:t>s</a:t>
            </a:r>
            <a:r>
              <a:rPr lang="en-US" sz="1400" b="0" i="1" u="none" strike="noStrike" baseline="-25000">
                <a:solidFill>
                  <a:srgbClr val="000000"/>
                </a:solidFill>
                <a:effectLst/>
                <a:uFillTx/>
                <a:latin typeface="Arial Rounded MT Bold"/>
              </a:rPr>
              <a:t>4 </a:t>
            </a:r>
            <a:endParaRPr lang="it-IT" sz="14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451" name="Oval 14"/>
          <p:cNvSpPr/>
          <p:nvPr/>
        </p:nvSpPr>
        <p:spPr>
          <a:xfrm>
            <a:off x="1768320" y="5464080"/>
            <a:ext cx="362160" cy="370080"/>
          </a:xfrm>
          <a:prstGeom prst="ellipse">
            <a:avLst/>
          </a:prstGeom>
          <a:noFill/>
          <a:ln w="1908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400" b="0" i="1" u="none" strike="noStrike">
                <a:solidFill>
                  <a:srgbClr val="000000"/>
                </a:solidFill>
                <a:effectLst/>
                <a:uFillTx/>
                <a:latin typeface="Arial Rounded MT Bold"/>
              </a:rPr>
              <a:t>s</a:t>
            </a:r>
            <a:r>
              <a:rPr lang="en-US" sz="1400" b="0" i="1" u="none" strike="noStrike" baseline="-25000">
                <a:solidFill>
                  <a:srgbClr val="000000"/>
                </a:solidFill>
                <a:effectLst/>
                <a:uFillTx/>
                <a:latin typeface="Arial Rounded MT Bold"/>
              </a:rPr>
              <a:t>2</a:t>
            </a:r>
            <a:endParaRPr lang="it-IT" sz="14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452" name="Line 15"/>
          <p:cNvSpPr/>
          <p:nvPr/>
        </p:nvSpPr>
        <p:spPr>
          <a:xfrm>
            <a:off x="1305000" y="5035680"/>
            <a:ext cx="495360" cy="488880"/>
          </a:xfrm>
          <a:prstGeom prst="line">
            <a:avLst/>
          </a:prstGeom>
          <a:ln w="9360">
            <a:solidFill>
              <a:srgbClr val="000000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ctr">
            <a:noAutofit/>
          </a:bodyPr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453" name="Line 16"/>
          <p:cNvSpPr/>
          <p:nvPr/>
        </p:nvSpPr>
        <p:spPr>
          <a:xfrm flipV="1">
            <a:off x="1935000" y="5081760"/>
            <a:ext cx="0" cy="374400"/>
          </a:xfrm>
          <a:prstGeom prst="line">
            <a:avLst/>
          </a:prstGeom>
          <a:ln w="9360">
            <a:solidFill>
              <a:srgbClr val="000000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ctr">
            <a:noAutofit/>
          </a:bodyPr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454" name="Text Box 17"/>
          <p:cNvSpPr/>
          <p:nvPr/>
        </p:nvSpPr>
        <p:spPr>
          <a:xfrm>
            <a:off x="1935000" y="5189400"/>
            <a:ext cx="239760" cy="30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876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400" b="0" u="sng" strike="noStrike">
                <a:solidFill>
                  <a:srgbClr val="000000"/>
                </a:solidFill>
                <a:effectLst/>
                <a:uFillTx/>
                <a:latin typeface="Arial Rounded MT Bold"/>
              </a:rPr>
              <a:t>a</a:t>
            </a:r>
            <a:endParaRPr lang="it-IT" sz="14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455" name="Text Box 18"/>
          <p:cNvSpPr/>
          <p:nvPr/>
        </p:nvSpPr>
        <p:spPr>
          <a:xfrm>
            <a:off x="2179800" y="4640400"/>
            <a:ext cx="239400" cy="30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876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400" b="0" u="sng" strike="noStrike">
                <a:solidFill>
                  <a:srgbClr val="000000"/>
                </a:solidFill>
                <a:effectLst/>
                <a:uFillTx/>
                <a:latin typeface="Arial Rounded MT Bold"/>
              </a:rPr>
              <a:t>b</a:t>
            </a:r>
            <a:endParaRPr lang="it-IT" sz="14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cxnSp>
        <p:nvCxnSpPr>
          <p:cNvPr id="456" name="AutoShape 19"/>
          <p:cNvCxnSpPr>
            <a:stCxn id="451" idx="3"/>
            <a:endCxn id="451" idx="5"/>
          </p:cNvCxnSpPr>
          <p:nvPr/>
        </p:nvCxnSpPr>
        <p:spPr>
          <a:xfrm flipH="1" rot="16200000">
            <a:off x="1947960" y="5661000"/>
            <a:ext cx="2160" cy="255960"/>
          </a:xfrm>
          <a:prstGeom prst="curvedConnector5">
            <a:avLst>
              <a:gd name="adj1" fmla="val 17600000"/>
              <a:gd name="adj2" fmla="val 50000"/>
              <a:gd name="adj3" fmla="val 17600000"/>
            </a:avLst>
          </a:prstGeom>
          <a:ln w="9360">
            <a:solidFill>
              <a:srgbClr val="000000"/>
            </a:solidFill>
            <a:miter/>
            <a:headEnd len="med" type="triangle" w="med"/>
          </a:ln>
        </p:spPr>
      </p:cxnSp>
      <p:sp>
        <p:nvSpPr>
          <p:cNvPr id="457" name="Text Box 20"/>
          <p:cNvSpPr/>
          <p:nvPr/>
        </p:nvSpPr>
        <p:spPr>
          <a:xfrm>
            <a:off x="2013120" y="5865840"/>
            <a:ext cx="237960" cy="30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876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400" b="0" u="sng" strike="noStrike">
                <a:solidFill>
                  <a:srgbClr val="000000"/>
                </a:solidFill>
                <a:effectLst/>
                <a:uFillTx/>
                <a:latin typeface="Arial Rounded MT Bold"/>
              </a:rPr>
              <a:t>b</a:t>
            </a:r>
            <a:endParaRPr lang="it-IT" sz="14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458" name="Text Box 21"/>
          <p:cNvSpPr/>
          <p:nvPr/>
        </p:nvSpPr>
        <p:spPr>
          <a:xfrm>
            <a:off x="2027160" y="4373640"/>
            <a:ext cx="238320" cy="30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876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400" b="0" u="sng" strike="noStrike">
                <a:solidFill>
                  <a:srgbClr val="000000"/>
                </a:solidFill>
                <a:effectLst/>
                <a:uFillTx/>
                <a:latin typeface="Arial Rounded MT Bold"/>
              </a:rPr>
              <a:t>a</a:t>
            </a:r>
            <a:endParaRPr lang="it-IT" sz="14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cxnSp>
        <p:nvCxnSpPr>
          <p:cNvPr id="459" name="AutoShape 22"/>
          <p:cNvCxnSpPr>
            <a:stCxn id="447" idx="4"/>
            <a:endCxn id="441" idx="5"/>
          </p:cNvCxnSpPr>
          <p:nvPr/>
        </p:nvCxnSpPr>
        <p:spPr>
          <a:xfrm flipV="1" rot="16200000">
            <a:off x="2363400" y="4745880"/>
            <a:ext cx="54720" cy="629280"/>
          </a:xfrm>
          <a:prstGeom prst="curvedConnector5">
            <a:avLst>
              <a:gd name="adj1" fmla="val -249668"/>
              <a:gd name="adj2" fmla="val 49971"/>
              <a:gd name="adj3" fmla="val -249668"/>
            </a:avLst>
          </a:prstGeom>
          <a:ln w="9360">
            <a:solidFill>
              <a:srgbClr val="000000"/>
            </a:solidFill>
            <a:miter/>
            <a:tailEnd len="med" type="triangle" w="med"/>
          </a:ln>
        </p:spPr>
      </p:cxnSp>
      <p:sp>
        <p:nvSpPr>
          <p:cNvPr id="460" name="Text Box 23"/>
          <p:cNvSpPr/>
          <p:nvPr/>
        </p:nvSpPr>
        <p:spPr>
          <a:xfrm>
            <a:off x="2522520" y="5121360"/>
            <a:ext cx="239760" cy="30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876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400" b="0" u="sng" strike="noStrike">
                <a:solidFill>
                  <a:srgbClr val="000000"/>
                </a:solidFill>
                <a:effectLst/>
                <a:uFillTx/>
                <a:latin typeface="Arial Rounded MT Bold"/>
              </a:rPr>
              <a:t>a</a:t>
            </a:r>
            <a:endParaRPr lang="it-IT" sz="14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cxnSp>
        <p:nvCxnSpPr>
          <p:cNvPr id="461" name="AutoShape 24"/>
          <p:cNvCxnSpPr>
            <a:stCxn id="450" idx="0"/>
          </p:cNvCxnSpPr>
          <p:nvPr/>
        </p:nvCxnSpPr>
        <p:spPr>
          <a:xfrm rot="5400000">
            <a:off x="2551320" y="3909960"/>
            <a:ext cx="127800" cy="1684800"/>
          </a:xfrm>
          <a:prstGeom prst="curvedConnector5">
            <a:avLst>
              <a:gd name="adj1" fmla="val -321186"/>
              <a:gd name="adj2" fmla="val 51805"/>
              <a:gd name="adj3" fmla="val -321186"/>
            </a:avLst>
          </a:prstGeom>
          <a:ln w="9360">
            <a:solidFill>
              <a:srgbClr val="000000"/>
            </a:solidFill>
            <a:miter/>
            <a:tailEnd len="med" type="triangle" w="med"/>
          </a:ln>
        </p:spPr>
      </p:cxnSp>
      <p:sp>
        <p:nvSpPr>
          <p:cNvPr id="462" name="Text Box 25"/>
          <p:cNvSpPr/>
          <p:nvPr/>
        </p:nvSpPr>
        <p:spPr>
          <a:xfrm>
            <a:off x="3367080" y="4343400"/>
            <a:ext cx="237960" cy="30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876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400" b="0" u="sng" strike="noStrike">
                <a:solidFill>
                  <a:srgbClr val="000000"/>
                </a:solidFill>
                <a:effectLst/>
                <a:uFillTx/>
                <a:latin typeface="Arial Rounded MT Bold"/>
              </a:rPr>
              <a:t>a</a:t>
            </a:r>
            <a:endParaRPr lang="it-IT" sz="14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cxnSp>
        <p:nvCxnSpPr>
          <p:cNvPr id="463" name="AutoShape 26"/>
          <p:cNvCxnSpPr>
            <a:stCxn id="450" idx="4"/>
            <a:endCxn id="451" idx="6"/>
          </p:cNvCxnSpPr>
          <p:nvPr/>
        </p:nvCxnSpPr>
        <p:spPr>
          <a:xfrm rot="5400000">
            <a:off x="2521080" y="4712400"/>
            <a:ext cx="554760" cy="1321200"/>
          </a:xfrm>
          <a:prstGeom prst="curvedConnector2">
            <a:avLst/>
          </a:prstGeom>
          <a:ln w="9360">
            <a:solidFill>
              <a:srgbClr val="000000"/>
            </a:solidFill>
            <a:miter/>
            <a:tailEnd len="med" type="triangle" w="med"/>
          </a:ln>
        </p:spPr>
      </p:cxnSp>
      <p:sp>
        <p:nvSpPr>
          <p:cNvPr id="464" name="Text Box 27"/>
          <p:cNvSpPr/>
          <p:nvPr/>
        </p:nvSpPr>
        <p:spPr>
          <a:xfrm>
            <a:off x="3346560" y="5195880"/>
            <a:ext cx="239760" cy="30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876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400" b="0" u="sng" strike="noStrike">
                <a:solidFill>
                  <a:srgbClr val="000000"/>
                </a:solidFill>
                <a:effectLst/>
                <a:uFillTx/>
                <a:latin typeface="Arial Rounded MT Bold"/>
              </a:rPr>
              <a:t>b</a:t>
            </a:r>
            <a:endParaRPr lang="it-IT" sz="14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graphicFrame>
        <p:nvGraphicFramePr>
          <p:cNvPr id="465" name=""/>
          <p:cNvGraphicFramePr/>
          <p:nvPr/>
        </p:nvGraphicFramePr>
        <p:xfrm>
          <a:off x="685800" y="1447920"/>
          <a:ext cx="7696080" cy="2260440"/>
        </p:xfrm>
        <a:graphic>
          <a:graphicData uri="http://schemas.openxmlformats.org/drawingml/2006/table">
            <a:tbl>
              <a:tblPr/>
              <a:tblGrid>
                <a:gridCol w="457200"/>
                <a:gridCol w="1905120"/>
                <a:gridCol w="1600200"/>
                <a:gridCol w="1218960"/>
                <a:gridCol w="1143000"/>
                <a:gridCol w="1371600"/>
              </a:tblGrid>
              <a:tr h="452160"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spcBef>
                          <a:spcPts val="4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endParaRPr lang="it-IT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>
                      <a:noFill/>
                    </a:lnL>
                    <a:lnR>
                      <a:noFill/>
                    </a:lnR>
                    <a:lnT w="13680">
                      <a:solidFill>
                        <a:srgbClr val="B025A6"/>
                      </a:solidFill>
                      <a:prstDash val="solid"/>
                    </a:lnT>
                    <a:lnB w="5760">
                      <a:solidFill>
                        <a:srgbClr val="B025A6"/>
                      </a:solidFill>
                      <a:prstDash val="soli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spcBef>
                          <a:spcPts val="4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Current Partition</a:t>
                      </a:r>
                      <a:endParaRPr lang="it-IT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>
                      <a:noFill/>
                    </a:lnL>
                    <a:lnR>
                      <a:noFill/>
                    </a:lnR>
                    <a:lnT w="13680">
                      <a:solidFill>
                        <a:srgbClr val="B025A6"/>
                      </a:solidFill>
                      <a:prstDash val="solid"/>
                    </a:lnT>
                    <a:lnB w="5760">
                      <a:solidFill>
                        <a:srgbClr val="B025A6"/>
                      </a:solidFill>
                      <a:prstDash val="soli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spcBef>
                          <a:spcPts val="4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Worklist</a:t>
                      </a:r>
                      <a:endParaRPr lang="it-IT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>
                      <a:noFill/>
                    </a:lnL>
                    <a:lnR>
                      <a:noFill/>
                    </a:lnR>
                    <a:lnT w="13680">
                      <a:solidFill>
                        <a:srgbClr val="B025A6"/>
                      </a:solidFill>
                      <a:prstDash val="solid"/>
                    </a:lnT>
                    <a:lnB w="5760">
                      <a:solidFill>
                        <a:srgbClr val="B025A6"/>
                      </a:solidFill>
                      <a:prstDash val="soli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spcBef>
                          <a:spcPts val="4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s</a:t>
                      </a:r>
                      <a:endParaRPr lang="it-IT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>
                      <a:noFill/>
                    </a:lnL>
                    <a:lnR>
                      <a:noFill/>
                    </a:lnR>
                    <a:lnT w="13680">
                      <a:solidFill>
                        <a:srgbClr val="B025A6"/>
                      </a:solidFill>
                      <a:prstDash val="solid"/>
                    </a:lnT>
                    <a:lnB w="5760">
                      <a:solidFill>
                        <a:srgbClr val="B025A6"/>
                      </a:solidFill>
                      <a:prstDash val="soli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spcBef>
                          <a:spcPts val="4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Split on </a:t>
                      </a:r>
                      <a:r>
                        <a:rPr lang="en-US" sz="1600" b="0" u="sng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a</a:t>
                      </a:r>
                      <a:endParaRPr lang="it-IT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>
                      <a:noFill/>
                    </a:lnL>
                    <a:lnR>
                      <a:noFill/>
                    </a:lnR>
                    <a:lnT w="13680">
                      <a:solidFill>
                        <a:srgbClr val="B025A6"/>
                      </a:solidFill>
                      <a:prstDash val="solid"/>
                    </a:lnT>
                    <a:lnB w="5760">
                      <a:solidFill>
                        <a:srgbClr val="B025A6"/>
                      </a:solidFill>
                      <a:prstDash val="soli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spcBef>
                          <a:spcPts val="4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Split on </a:t>
                      </a:r>
                      <a:r>
                        <a:rPr lang="en-US" sz="1600" b="0" u="sng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b</a:t>
                      </a:r>
                      <a:endParaRPr lang="it-IT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>
                      <a:noFill/>
                    </a:lnL>
                    <a:lnR>
                      <a:noFill/>
                    </a:lnR>
                    <a:lnT w="13680">
                      <a:solidFill>
                        <a:srgbClr val="B025A6"/>
                      </a:solidFill>
                      <a:prstDash val="solid"/>
                    </a:lnT>
                    <a:lnB w="5760">
                      <a:solidFill>
                        <a:srgbClr val="B025A6"/>
                      </a:solidFill>
                      <a:prstDash val="solid"/>
                    </a:lnB>
                    <a:solidFill>
                      <a:srgbClr val="E6E6E6"/>
                    </a:solidFill>
                  </a:tcPr>
                </a:tc>
              </a:tr>
              <a:tr h="452520"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P</a:t>
                      </a:r>
                      <a:r>
                        <a:rPr lang="en-US" sz="1600" b="0" i="1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0</a:t>
                      </a:r>
                      <a:endParaRPr lang="it-IT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>
                      <a:noFill/>
                    </a:lnL>
                    <a:lnR>
                      <a:noFill/>
                    </a:lnR>
                    <a:lnT w="5760">
                      <a:solidFill>
                        <a:srgbClr val="B025A6"/>
                      </a:solidFill>
                      <a:prstDash val="solid"/>
                    </a:lnT>
                    <a:lnB>
                      <a:noFill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{s</a:t>
                      </a:r>
                      <a:r>
                        <a:rPr lang="en-US" sz="1600" b="0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4</a:t>
                      </a: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}</a:t>
                      </a: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 </a:t>
                      </a: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{s</a:t>
                      </a:r>
                      <a:r>
                        <a:rPr lang="en-US" sz="1600" b="0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0</a:t>
                      </a: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,s</a:t>
                      </a:r>
                      <a:r>
                        <a:rPr lang="en-US" sz="1600" b="0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1</a:t>
                      </a: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,s</a:t>
                      </a:r>
                      <a:r>
                        <a:rPr lang="en-US" sz="1600" b="0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2</a:t>
                      </a: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,s</a:t>
                      </a:r>
                      <a:r>
                        <a:rPr lang="en-US" sz="1600" b="0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3</a:t>
                      </a: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}</a:t>
                      </a:r>
                      <a:endParaRPr lang="it-IT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>
                      <a:noFill/>
                    </a:lnL>
                    <a:lnR>
                      <a:noFill/>
                    </a:lnR>
                    <a:lnT w="5760">
                      <a:solidFill>
                        <a:srgbClr val="B025A6"/>
                      </a:solidFill>
                      <a:prstDash val="soli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600" b="0" u="none" strike="noStrike">
                          <a:solidFill>
                            <a:srgbClr val="B3B3B3"/>
                          </a:solidFill>
                          <a:effectLst/>
                          <a:uFillTx/>
                          <a:latin typeface="Comic Sans MS"/>
                        </a:rPr>
                        <a:t>{s</a:t>
                      </a:r>
                      <a:r>
                        <a:rPr lang="en-US" sz="1600" b="0" u="none" strike="noStrike" baseline="-25000">
                          <a:solidFill>
                            <a:srgbClr val="B3B3B3"/>
                          </a:solidFill>
                          <a:effectLst/>
                          <a:uFillTx/>
                          <a:latin typeface="Comic Sans MS"/>
                        </a:rPr>
                        <a:t>4</a:t>
                      </a:r>
                      <a:r>
                        <a:rPr lang="en-US" sz="1600" b="0" u="none" strike="noStrike">
                          <a:solidFill>
                            <a:srgbClr val="B3B3B3"/>
                          </a:solidFill>
                          <a:effectLst/>
                          <a:uFillTx/>
                          <a:latin typeface="Comic Sans MS"/>
                        </a:rPr>
                        <a:t>}</a:t>
                      </a: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 </a:t>
                      </a: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{s</a:t>
                      </a:r>
                      <a:r>
                        <a:rPr lang="en-US" sz="1600" b="0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0</a:t>
                      </a: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,s</a:t>
                      </a:r>
                      <a:r>
                        <a:rPr lang="en-US" sz="1600" b="0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1</a:t>
                      </a: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,s</a:t>
                      </a:r>
                      <a:r>
                        <a:rPr lang="en-US" sz="1600" b="0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2</a:t>
                      </a: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,s</a:t>
                      </a:r>
                      <a:r>
                        <a:rPr lang="en-US" sz="1600" b="0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3</a:t>
                      </a: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}</a:t>
                      </a:r>
                      <a:endParaRPr lang="it-IT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>
                      <a:noFill/>
                    </a:lnL>
                    <a:lnR>
                      <a:noFill/>
                    </a:lnR>
                    <a:lnT w="5760">
                      <a:solidFill>
                        <a:srgbClr val="B025A6"/>
                      </a:solidFill>
                      <a:prstDash val="soli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{s</a:t>
                      </a:r>
                      <a:r>
                        <a:rPr lang="en-US" sz="1600" b="0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4</a:t>
                      </a: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}</a:t>
                      </a:r>
                      <a:endParaRPr lang="it-IT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>
                      <a:noFill/>
                    </a:lnL>
                    <a:lnR>
                      <a:noFill/>
                    </a:lnR>
                    <a:lnT w="5760">
                      <a:solidFill>
                        <a:srgbClr val="B025A6"/>
                      </a:solidFill>
                      <a:prstDash val="soli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none</a:t>
                      </a:r>
                      <a:endParaRPr lang="it-IT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>
                      <a:noFill/>
                    </a:lnL>
                    <a:lnR>
                      <a:noFill/>
                    </a:lnR>
                    <a:lnT w="5760">
                      <a:solidFill>
                        <a:srgbClr val="B025A6"/>
                      </a:solidFill>
                      <a:prstDash val="soli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{s</a:t>
                      </a:r>
                      <a:r>
                        <a:rPr lang="en-US" sz="1600" b="0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3</a:t>
                      </a: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}</a:t>
                      </a: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 </a:t>
                      </a: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{s</a:t>
                      </a:r>
                      <a:r>
                        <a:rPr lang="en-US" sz="1600" b="0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0</a:t>
                      </a: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,s</a:t>
                      </a:r>
                      <a:r>
                        <a:rPr lang="en-US" sz="1600" b="0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1</a:t>
                      </a: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,s</a:t>
                      </a:r>
                      <a:r>
                        <a:rPr lang="en-US" sz="1600" b="0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2</a:t>
                      </a: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}</a:t>
                      </a:r>
                      <a:endParaRPr lang="it-IT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>
                      <a:noFill/>
                    </a:lnL>
                    <a:lnR>
                      <a:noFill/>
                    </a:lnR>
                    <a:lnT w="5760">
                      <a:solidFill>
                        <a:srgbClr val="B025A6"/>
                      </a:solidFill>
                      <a:prstDash val="solid"/>
                    </a:lnT>
                    <a:lnB>
                      <a:noFill/>
                    </a:lnB>
                    <a:noFill/>
                  </a:tcPr>
                </a:tc>
              </a:tr>
              <a:tr h="451080"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lnSpc>
                          <a:spcPct val="110000"/>
                        </a:lnSpc>
                        <a:spcBef>
                          <a:spcPts val="4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P</a:t>
                      </a:r>
                      <a:r>
                        <a:rPr lang="en-US" sz="1600" b="0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1</a:t>
                      </a:r>
                      <a:endParaRPr lang="it-IT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lnSpc>
                          <a:spcPct val="110000"/>
                        </a:lnSpc>
                        <a:spcBef>
                          <a:spcPts val="4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{s</a:t>
                      </a:r>
                      <a:r>
                        <a:rPr lang="en-US" sz="1600" b="0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4</a:t>
                      </a: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}</a:t>
                      </a: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 </a:t>
                      </a: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{s</a:t>
                      </a:r>
                      <a:r>
                        <a:rPr lang="en-US" sz="1600" b="0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3</a:t>
                      </a: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}</a:t>
                      </a: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 </a:t>
                      </a: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{s</a:t>
                      </a:r>
                      <a:r>
                        <a:rPr lang="en-US" sz="1600" b="0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0</a:t>
                      </a: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,s</a:t>
                      </a:r>
                      <a:r>
                        <a:rPr lang="en-US" sz="1600" b="0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1</a:t>
                      </a: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,s</a:t>
                      </a:r>
                      <a:r>
                        <a:rPr lang="en-US" sz="1600" b="0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2</a:t>
                      </a: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}</a:t>
                      </a:r>
                      <a:endParaRPr lang="it-IT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lnSpc>
                          <a:spcPct val="110000"/>
                        </a:lnSpc>
                        <a:spcBef>
                          <a:spcPts val="4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600" b="0" u="none" strike="noStrike">
                          <a:solidFill>
                            <a:srgbClr val="B3B3B3"/>
                          </a:solidFill>
                          <a:effectLst/>
                          <a:uFillTx/>
                          <a:latin typeface="Comic Sans MS"/>
                        </a:rPr>
                        <a:t>{s</a:t>
                      </a:r>
                      <a:r>
                        <a:rPr lang="en-US" sz="1600" b="0" u="none" strike="noStrike" baseline="-25000">
                          <a:solidFill>
                            <a:srgbClr val="B3B3B3"/>
                          </a:solidFill>
                          <a:effectLst/>
                          <a:uFillTx/>
                          <a:latin typeface="Comic Sans MS"/>
                        </a:rPr>
                        <a:t>3</a:t>
                      </a:r>
                      <a:r>
                        <a:rPr lang="en-US" sz="1600" b="0" u="none" strike="noStrike">
                          <a:solidFill>
                            <a:srgbClr val="B3B3B3"/>
                          </a:solidFill>
                          <a:effectLst/>
                          <a:uFillTx/>
                          <a:latin typeface="Comic Sans MS"/>
                        </a:rPr>
                        <a:t>}</a:t>
                      </a: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 </a:t>
                      </a: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{s</a:t>
                      </a:r>
                      <a:r>
                        <a:rPr lang="en-US" sz="1600" b="0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0</a:t>
                      </a: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,s</a:t>
                      </a:r>
                      <a:r>
                        <a:rPr lang="en-US" sz="1600" b="0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1</a:t>
                      </a: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,s</a:t>
                      </a:r>
                      <a:r>
                        <a:rPr lang="en-US" sz="1600" b="0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2</a:t>
                      </a: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}</a:t>
                      </a:r>
                      <a:endParaRPr lang="it-IT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lnSpc>
                          <a:spcPct val="110000"/>
                        </a:lnSpc>
                        <a:spcBef>
                          <a:spcPts val="4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{s</a:t>
                      </a:r>
                      <a:r>
                        <a:rPr lang="en-US" sz="1600" b="0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3</a:t>
                      </a: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}</a:t>
                      </a:r>
                      <a:endParaRPr lang="it-IT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lnSpc>
                          <a:spcPct val="110000"/>
                        </a:lnSpc>
                        <a:spcBef>
                          <a:spcPts val="4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none</a:t>
                      </a:r>
                      <a:endParaRPr lang="it-IT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lnSpc>
                          <a:spcPct val="110000"/>
                        </a:lnSpc>
                        <a:spcBef>
                          <a:spcPts val="4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600" b="0" u="none" strike="noStrike">
                          <a:solidFill>
                            <a:srgbClr val="FF0065"/>
                          </a:solidFill>
                          <a:effectLst/>
                          <a:uFillTx/>
                          <a:latin typeface="Comic Sans MS"/>
                        </a:rPr>
                        <a:t>{s</a:t>
                      </a:r>
                      <a:r>
                        <a:rPr lang="en-US" sz="1600" b="0" u="none" strike="noStrike" baseline="-25000">
                          <a:solidFill>
                            <a:srgbClr val="FF0065"/>
                          </a:solidFill>
                          <a:effectLst/>
                          <a:uFillTx/>
                          <a:latin typeface="Comic Sans MS"/>
                        </a:rPr>
                        <a:t>1</a:t>
                      </a:r>
                      <a:r>
                        <a:rPr lang="en-US" sz="1600" b="0" u="none" strike="noStrike">
                          <a:solidFill>
                            <a:srgbClr val="FF0065"/>
                          </a:solidFill>
                          <a:effectLst/>
                          <a:uFillTx/>
                          <a:latin typeface="Comic Sans MS"/>
                        </a:rPr>
                        <a:t>}</a:t>
                      </a: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 </a:t>
                      </a:r>
                      <a:r>
                        <a:rPr lang="en-US" sz="1600" b="0" u="none" strike="noStrike">
                          <a:solidFill>
                            <a:srgbClr val="B025A6"/>
                          </a:solidFill>
                          <a:effectLst/>
                          <a:uFillTx/>
                          <a:latin typeface="Comic Sans MS"/>
                        </a:rPr>
                        <a:t>{s</a:t>
                      </a:r>
                      <a:r>
                        <a:rPr lang="en-US" sz="1600" b="0" u="none" strike="noStrike" baseline="-25000">
                          <a:solidFill>
                            <a:srgbClr val="B025A6"/>
                          </a:solidFill>
                          <a:effectLst/>
                          <a:uFillTx/>
                          <a:latin typeface="Comic Sans MS"/>
                        </a:rPr>
                        <a:t>0</a:t>
                      </a:r>
                      <a:r>
                        <a:rPr lang="en-US" sz="1600" b="0" u="none" strike="noStrike">
                          <a:solidFill>
                            <a:srgbClr val="B025A6"/>
                          </a:solidFill>
                          <a:effectLst/>
                          <a:uFillTx/>
                          <a:latin typeface="Comic Sans MS"/>
                        </a:rPr>
                        <a:t>,s</a:t>
                      </a:r>
                      <a:r>
                        <a:rPr lang="en-US" sz="1600" b="0" u="none" strike="noStrike" baseline="-25000">
                          <a:solidFill>
                            <a:srgbClr val="B025A6"/>
                          </a:solidFill>
                          <a:effectLst/>
                          <a:uFillTx/>
                          <a:latin typeface="Comic Sans MS"/>
                        </a:rPr>
                        <a:t>2</a:t>
                      </a:r>
                      <a:r>
                        <a:rPr lang="en-US" sz="1600" b="0" u="none" strike="noStrike">
                          <a:solidFill>
                            <a:srgbClr val="B025A6"/>
                          </a:solidFill>
                          <a:effectLst/>
                          <a:uFillTx/>
                          <a:latin typeface="Comic Sans MS"/>
                        </a:rPr>
                        <a:t>}</a:t>
                      </a:r>
                      <a:endParaRPr lang="it-IT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52160"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lnSpc>
                          <a:spcPct val="110000"/>
                        </a:lnSpc>
                        <a:spcBef>
                          <a:spcPts val="4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P</a:t>
                      </a:r>
                      <a:r>
                        <a:rPr lang="en-US" sz="1600" b="0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2</a:t>
                      </a:r>
                      <a:endParaRPr lang="it-IT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lnSpc>
                          <a:spcPct val="110000"/>
                        </a:lnSpc>
                        <a:spcBef>
                          <a:spcPts val="4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{s</a:t>
                      </a:r>
                      <a:r>
                        <a:rPr lang="en-US" sz="1600" b="0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4</a:t>
                      </a: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}</a:t>
                      </a: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 </a:t>
                      </a: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{s</a:t>
                      </a:r>
                      <a:r>
                        <a:rPr lang="en-US" sz="1600" b="0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3</a:t>
                      </a: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}</a:t>
                      </a: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 </a:t>
                      </a: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{s</a:t>
                      </a:r>
                      <a:r>
                        <a:rPr lang="en-US" sz="1600" b="0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1</a:t>
                      </a: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}</a:t>
                      </a: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 </a:t>
                      </a: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{s</a:t>
                      </a:r>
                      <a:r>
                        <a:rPr lang="en-US" sz="1600" b="0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0</a:t>
                      </a: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,s</a:t>
                      </a:r>
                      <a:r>
                        <a:rPr lang="en-US" sz="1600" b="0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2</a:t>
                      </a: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}</a:t>
                      </a:r>
                      <a:endParaRPr lang="it-IT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lnSpc>
                          <a:spcPct val="110000"/>
                        </a:lnSpc>
                        <a:spcBef>
                          <a:spcPts val="4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600" b="0" u="none" strike="noStrike">
                          <a:solidFill>
                            <a:srgbClr val="B3B3B3"/>
                          </a:solidFill>
                          <a:effectLst/>
                          <a:uFillTx/>
                          <a:latin typeface="Comic Sans MS"/>
                        </a:rPr>
                        <a:t>{s</a:t>
                      </a:r>
                      <a:r>
                        <a:rPr lang="en-US" sz="1600" b="0" u="none" strike="noStrike" baseline="-25000">
                          <a:solidFill>
                            <a:srgbClr val="B3B3B3"/>
                          </a:solidFill>
                          <a:effectLst/>
                          <a:uFillTx/>
                          <a:latin typeface="Comic Sans MS"/>
                        </a:rPr>
                        <a:t>1</a:t>
                      </a:r>
                      <a:r>
                        <a:rPr lang="en-US" sz="1600" b="0" u="none" strike="noStrike">
                          <a:solidFill>
                            <a:srgbClr val="B3B3B3"/>
                          </a:solidFill>
                          <a:effectLst/>
                          <a:uFillTx/>
                          <a:latin typeface="Comic Sans MS"/>
                        </a:rPr>
                        <a:t>}</a:t>
                      </a: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 </a:t>
                      </a: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{s</a:t>
                      </a:r>
                      <a:r>
                        <a:rPr lang="en-US" sz="1600" b="0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0</a:t>
                      </a: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,s</a:t>
                      </a:r>
                      <a:r>
                        <a:rPr lang="en-US" sz="1600" b="0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2</a:t>
                      </a: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}</a:t>
                      </a:r>
                      <a:endParaRPr lang="it-IT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lnSpc>
                          <a:spcPct val="110000"/>
                        </a:lnSpc>
                        <a:spcBef>
                          <a:spcPts val="4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{s</a:t>
                      </a:r>
                      <a:r>
                        <a:rPr lang="en-US" sz="1600" b="0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1</a:t>
                      </a: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}</a:t>
                      </a:r>
                      <a:endParaRPr lang="it-IT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lnSpc>
                          <a:spcPct val="110000"/>
                        </a:lnSpc>
                        <a:spcBef>
                          <a:spcPts val="4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none</a:t>
                      </a:r>
                      <a:endParaRPr lang="it-IT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lnSpc>
                          <a:spcPct val="110000"/>
                        </a:lnSpc>
                        <a:spcBef>
                          <a:spcPts val="4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none</a:t>
                      </a:r>
                      <a:endParaRPr lang="it-IT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52520"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lnSpc>
                          <a:spcPct val="110000"/>
                        </a:lnSpc>
                        <a:spcBef>
                          <a:spcPts val="4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P</a:t>
                      </a:r>
                      <a:r>
                        <a:rPr lang="en-US" sz="1600" b="0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2</a:t>
                      </a:r>
                      <a:endParaRPr lang="it-IT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lnSpc>
                          <a:spcPct val="110000"/>
                        </a:lnSpc>
                        <a:spcBef>
                          <a:spcPts val="4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{s</a:t>
                      </a:r>
                      <a:r>
                        <a:rPr lang="en-US" sz="1600" b="0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4</a:t>
                      </a: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}</a:t>
                      </a: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 </a:t>
                      </a: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{s</a:t>
                      </a:r>
                      <a:r>
                        <a:rPr lang="en-US" sz="1600" b="0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3</a:t>
                      </a: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}</a:t>
                      </a: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 </a:t>
                      </a: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{s</a:t>
                      </a:r>
                      <a:r>
                        <a:rPr lang="en-US" sz="1600" b="0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1</a:t>
                      </a: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}</a:t>
                      </a: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 </a:t>
                      </a: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{s</a:t>
                      </a:r>
                      <a:r>
                        <a:rPr lang="en-US" sz="1600" b="0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0</a:t>
                      </a: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,s</a:t>
                      </a:r>
                      <a:r>
                        <a:rPr lang="en-US" sz="1600" b="0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2</a:t>
                      </a: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}</a:t>
                      </a:r>
                      <a:endParaRPr lang="it-IT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lnSpc>
                          <a:spcPct val="110000"/>
                        </a:lnSpc>
                        <a:spcBef>
                          <a:spcPts val="4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600" b="0" u="none" strike="noStrike">
                          <a:solidFill>
                            <a:srgbClr val="B3B3B3"/>
                          </a:solidFill>
                          <a:effectLst/>
                          <a:uFillTx/>
                          <a:latin typeface="Comic Sans MS"/>
                        </a:rPr>
                        <a:t>{s</a:t>
                      </a:r>
                      <a:r>
                        <a:rPr lang="en-US" sz="1600" b="0" u="none" strike="noStrike" baseline="-25000">
                          <a:solidFill>
                            <a:srgbClr val="B3B3B3"/>
                          </a:solidFill>
                          <a:effectLst/>
                          <a:uFillTx/>
                          <a:latin typeface="Comic Sans MS"/>
                        </a:rPr>
                        <a:t>1</a:t>
                      </a:r>
                      <a:r>
                        <a:rPr lang="en-US" sz="1600" b="0" u="none" strike="noStrike">
                          <a:solidFill>
                            <a:srgbClr val="B3B3B3"/>
                          </a:solidFill>
                          <a:effectLst/>
                          <a:uFillTx/>
                          <a:latin typeface="Comic Sans MS"/>
                        </a:rPr>
                        <a:t>}</a:t>
                      </a:r>
                      <a:r>
                        <a:rPr lang="en-US" sz="1000" b="0" u="none" strike="noStrike">
                          <a:solidFill>
                            <a:srgbClr val="B3B3B3"/>
                          </a:solidFill>
                          <a:effectLst/>
                          <a:uFillTx/>
                          <a:latin typeface="Comic Sans MS"/>
                        </a:rPr>
                        <a:t> </a:t>
                      </a:r>
                      <a:r>
                        <a:rPr lang="en-US" sz="1600" b="0" u="none" strike="noStrike">
                          <a:solidFill>
                            <a:srgbClr val="B3B3B3"/>
                          </a:solidFill>
                          <a:effectLst/>
                          <a:uFillTx/>
                          <a:latin typeface="Comic Sans MS"/>
                        </a:rPr>
                        <a:t>{s</a:t>
                      </a:r>
                      <a:r>
                        <a:rPr lang="en-US" sz="1600" b="0" u="none" strike="noStrike" baseline="-25000">
                          <a:solidFill>
                            <a:srgbClr val="B3B3B3"/>
                          </a:solidFill>
                          <a:effectLst/>
                          <a:uFillTx/>
                          <a:latin typeface="Comic Sans MS"/>
                        </a:rPr>
                        <a:t>0</a:t>
                      </a:r>
                      <a:r>
                        <a:rPr lang="en-US" sz="1600" b="0" u="none" strike="noStrike">
                          <a:solidFill>
                            <a:srgbClr val="B3B3B3"/>
                          </a:solidFill>
                          <a:effectLst/>
                          <a:uFillTx/>
                          <a:latin typeface="Comic Sans MS"/>
                        </a:rPr>
                        <a:t>,s</a:t>
                      </a:r>
                      <a:r>
                        <a:rPr lang="en-US" sz="1600" b="0" u="none" strike="noStrike" baseline="-25000">
                          <a:solidFill>
                            <a:srgbClr val="B3B3B3"/>
                          </a:solidFill>
                          <a:effectLst/>
                          <a:uFillTx/>
                          <a:latin typeface="Comic Sans MS"/>
                        </a:rPr>
                        <a:t>2</a:t>
                      </a:r>
                      <a:r>
                        <a:rPr lang="en-US" sz="1600" b="0" u="none" strike="noStrike">
                          <a:solidFill>
                            <a:srgbClr val="B3B3B3"/>
                          </a:solidFill>
                          <a:effectLst/>
                          <a:uFillTx/>
                          <a:latin typeface="Comic Sans MS"/>
                        </a:rPr>
                        <a:t>}</a:t>
                      </a:r>
                      <a:endParaRPr lang="it-IT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lnSpc>
                          <a:spcPct val="110000"/>
                        </a:lnSpc>
                        <a:spcBef>
                          <a:spcPts val="4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{s</a:t>
                      </a:r>
                      <a:r>
                        <a:rPr lang="en-US" sz="1600" b="0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0</a:t>
                      </a: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,s</a:t>
                      </a:r>
                      <a:r>
                        <a:rPr lang="en-US" sz="1600" b="0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2</a:t>
                      </a: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}</a:t>
                      </a:r>
                      <a:endParaRPr lang="it-IT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lnSpc>
                          <a:spcPct val="110000"/>
                        </a:lnSpc>
                        <a:spcBef>
                          <a:spcPts val="4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none</a:t>
                      </a:r>
                      <a:endParaRPr lang="it-IT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lnSpc>
                          <a:spcPct val="110000"/>
                        </a:lnSpc>
                        <a:spcBef>
                          <a:spcPts val="4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none</a:t>
                      </a:r>
                      <a:endParaRPr lang="it-IT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466" name="Text Box 79"/>
          <p:cNvSpPr/>
          <p:nvPr/>
        </p:nvSpPr>
        <p:spPr>
          <a:xfrm>
            <a:off x="5638680" y="4419720"/>
            <a:ext cx="1371600" cy="36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spAutoFit/>
          </a:bodyPr>
          <a:p>
            <a:pPr>
              <a:spcBef>
                <a:spcPts val="112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it-IT" sz="18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grpSp>
        <p:nvGrpSpPr>
          <p:cNvPr id="467" name="Group 83"/>
          <p:cNvGrpSpPr/>
          <p:nvPr/>
        </p:nvGrpSpPr>
        <p:grpSpPr>
          <a:xfrm>
            <a:off x="4222800" y="3657600"/>
            <a:ext cx="4311720" cy="914400"/>
            <a:chOff x="4222800" y="3657600"/>
            <a:chExt cx="4311720" cy="914400"/>
          </a:xfrm>
        </p:grpSpPr>
        <p:sp>
          <p:nvSpPr>
            <p:cNvPr id="468" name="Text Box 80"/>
            <p:cNvSpPr/>
            <p:nvPr/>
          </p:nvSpPr>
          <p:spPr>
            <a:xfrm>
              <a:off x="6019920" y="4191120"/>
              <a:ext cx="2514600" cy="337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spAutoFit/>
            </a:bodyPr>
            <a:p>
              <a:pPr>
                <a:spcBef>
                  <a:spcPts val="1001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600" b="0" u="none" strike="noStrike">
                  <a:solidFill>
                    <a:srgbClr val="FF0065"/>
                  </a:solidFill>
                  <a:effectLst/>
                  <a:uFillTx/>
                  <a:latin typeface="Comic Sans MS"/>
                </a:rPr>
                <a:t>Empty worklist </a:t>
              </a:r>
              <a:r>
                <a:rPr lang="en-US" sz="1600" b="0" u="none" strike="noStrike">
                  <a:solidFill>
                    <a:srgbClr val="FF0065"/>
                  </a:solidFill>
                  <a:effectLst/>
                  <a:uFillTx/>
                  <a:latin typeface="Symbol"/>
                  <a:ea typeface="Symbol"/>
                </a:rPr>
                <a:t></a:t>
              </a:r>
              <a:r>
                <a:rPr lang="en-US" sz="1600" b="0" u="none" strike="noStrike">
                  <a:solidFill>
                    <a:srgbClr val="FF0065"/>
                  </a:solidFill>
                  <a:effectLst/>
                  <a:uFillTx/>
                  <a:latin typeface="Comic Sans MS"/>
                </a:rPr>
                <a:t> done!</a:t>
              </a:r>
              <a:endParaRPr lang="it-IT" sz="16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469" name="Line 81"/>
            <p:cNvSpPr/>
            <p:nvPr/>
          </p:nvSpPr>
          <p:spPr>
            <a:xfrm>
              <a:off x="6056280" y="4191120"/>
              <a:ext cx="0" cy="380880"/>
            </a:xfrm>
            <a:prstGeom prst="line">
              <a:avLst/>
            </a:prstGeom>
            <a:ln w="19080">
              <a:solidFill>
                <a:srgbClr val="FF0065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ctr">
              <a:noAutofit/>
            </a:bodyPr>
            <a:p>
              <a:endParaRPr lang="it-IT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470" name="Freeform 82"/>
            <p:cNvSpPr/>
            <p:nvPr/>
          </p:nvSpPr>
          <p:spPr>
            <a:xfrm>
              <a:off x="4222800" y="3657600"/>
              <a:ext cx="1828800" cy="685800"/>
            </a:xfrm>
            <a:custGeom>
              <a:avLst/>
              <a:gdLst>
                <a:gd name="textAreaLeft" fmla="*/ 0 w 1828800"/>
                <a:gd name="textAreaRight" fmla="*/ 1829160 w 1828800"/>
                <a:gd name="textAreaTop" fmla="*/ 0 h 685800"/>
                <a:gd name="textAreaBottom" fmla="*/ 686160 h 685800"/>
                <a:gd name="GluePoint1X" fmla="*/ 1152 w 1152"/>
                <a:gd name="GluePoint1Y" fmla="*/ 432 h 432"/>
                <a:gd name="GluePoint2X" fmla="*/ 432 w 1152"/>
                <a:gd name="GluePoint2Y" fmla="*/ 96 h 432"/>
                <a:gd name="GluePoint3X" fmla="*/ 432 w 1152"/>
                <a:gd name="GluePoint3Y" fmla="*/ 240 h 432"/>
                <a:gd name="GluePoint4X" fmla="*/ 0 w 1152"/>
                <a:gd name="GluePoint4Y" fmla="*/ 0 h 432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1152" h="432">
                  <a:moveTo>
                    <a:pt x="1152" y="432"/>
                  </a:moveTo>
                  <a:cubicBezTo>
                    <a:pt x="852" y="280"/>
                    <a:pt x="552" y="128"/>
                    <a:pt x="432" y="96"/>
                  </a:cubicBezTo>
                  <a:cubicBezTo>
                    <a:pt x="312" y="64"/>
                    <a:pt x="504" y="256"/>
                    <a:pt x="432" y="240"/>
                  </a:cubicBezTo>
                  <a:cubicBezTo>
                    <a:pt x="360" y="224"/>
                    <a:pt x="180" y="112"/>
                    <a:pt x="0" y="0"/>
                  </a:cubicBezTo>
                </a:path>
              </a:pathLst>
            </a:custGeom>
            <a:noFill/>
            <a:ln w="9360">
              <a:solidFill>
                <a:srgbClr val="FF0065"/>
              </a:solidFill>
              <a:round/>
              <a:tailEnd len="med" type="triangle" w="med"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ctr">
              <a:noAutofit/>
            </a:bodyPr>
            <a:p>
              <a:endParaRPr lang="it-IT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</p:grpSp>
    </p:spTree>
  </p:cSld>
  <p:transition>
    <p:wipe dir="r"/>
  </p:transition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Footer Placeholder 3"/>
          <p:cNvSpPr/>
          <p:nvPr/>
        </p:nvSpPr>
        <p:spPr>
          <a:xfrm>
            <a:off x="685800" y="6248520"/>
            <a:ext cx="289548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Autofit/>
          </a:bodyPr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Comp 412, Fall 2010</a:t>
            </a:r>
            <a:endParaRPr lang="it-IT" sz="12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472" name="Slide Number Placeholder 4"/>
          <p:cNvSpPr/>
          <p:nvPr/>
        </p:nvSpPr>
        <p:spPr>
          <a:xfrm>
            <a:off x="6553080" y="6248520"/>
            <a:ext cx="190512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Autofit/>
          </a:bodyPr>
          <a:p>
            <a:pPr algn="r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2DEC0DFB-9E51-4B38-8996-5D0423661D40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&lt;number&gt;</a:t>
            </a:fld>
            <a:endParaRPr lang="it-IT" sz="12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473" name="PlaceHolder 1"/>
          <p:cNvSpPr>
            <a:spLocks noGrp="1"/>
          </p:cNvSpPr>
          <p:nvPr>
            <p:ph type="title"/>
          </p:nvPr>
        </p:nvSpPr>
        <p:spPr>
          <a:xfrm>
            <a:off x="685800" y="533160"/>
            <a:ext cx="7772400" cy="533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l">
              <a:spcBef>
                <a:spcPts val="901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A Detailed Example          (DFA Minimization)</a:t>
            </a:r>
            <a:endParaRPr lang="it-IT" sz="24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graphicFrame>
        <p:nvGraphicFramePr>
          <p:cNvPr id="474" name=""/>
          <p:cNvGraphicFramePr/>
          <p:nvPr/>
        </p:nvGraphicFramePr>
        <p:xfrm>
          <a:off x="685800" y="1447920"/>
          <a:ext cx="7696080" cy="2260440"/>
        </p:xfrm>
        <a:graphic>
          <a:graphicData uri="http://schemas.openxmlformats.org/drawingml/2006/table">
            <a:tbl>
              <a:tblPr/>
              <a:tblGrid>
                <a:gridCol w="457200"/>
                <a:gridCol w="1905120"/>
                <a:gridCol w="1600200"/>
                <a:gridCol w="1218960"/>
                <a:gridCol w="1143000"/>
                <a:gridCol w="1371600"/>
              </a:tblGrid>
              <a:tr h="452160"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spcBef>
                          <a:spcPts val="4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endParaRPr lang="it-IT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>
                      <a:noFill/>
                    </a:lnL>
                    <a:lnR>
                      <a:noFill/>
                    </a:lnR>
                    <a:lnT w="13680">
                      <a:solidFill>
                        <a:srgbClr val="B025A6"/>
                      </a:solidFill>
                      <a:prstDash val="solid"/>
                    </a:lnT>
                    <a:lnB w="5760">
                      <a:solidFill>
                        <a:srgbClr val="B025A6"/>
                      </a:solidFill>
                      <a:prstDash val="soli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spcBef>
                          <a:spcPts val="4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Current Partition</a:t>
                      </a:r>
                      <a:endParaRPr lang="it-IT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>
                      <a:noFill/>
                    </a:lnL>
                    <a:lnR>
                      <a:noFill/>
                    </a:lnR>
                    <a:lnT w="13680">
                      <a:solidFill>
                        <a:srgbClr val="B025A6"/>
                      </a:solidFill>
                      <a:prstDash val="solid"/>
                    </a:lnT>
                    <a:lnB w="5760">
                      <a:solidFill>
                        <a:srgbClr val="B025A6"/>
                      </a:solidFill>
                      <a:prstDash val="soli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spcBef>
                          <a:spcPts val="4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Worklist</a:t>
                      </a:r>
                      <a:endParaRPr lang="it-IT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>
                      <a:noFill/>
                    </a:lnL>
                    <a:lnR>
                      <a:noFill/>
                    </a:lnR>
                    <a:lnT w="13680">
                      <a:solidFill>
                        <a:srgbClr val="B025A6"/>
                      </a:solidFill>
                      <a:prstDash val="solid"/>
                    </a:lnT>
                    <a:lnB w="5760">
                      <a:solidFill>
                        <a:srgbClr val="B025A6"/>
                      </a:solidFill>
                      <a:prstDash val="soli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spcBef>
                          <a:spcPts val="4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s</a:t>
                      </a:r>
                      <a:endParaRPr lang="it-IT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>
                      <a:noFill/>
                    </a:lnL>
                    <a:lnR>
                      <a:noFill/>
                    </a:lnR>
                    <a:lnT w="13680">
                      <a:solidFill>
                        <a:srgbClr val="B025A6"/>
                      </a:solidFill>
                      <a:prstDash val="solid"/>
                    </a:lnT>
                    <a:lnB w="5760">
                      <a:solidFill>
                        <a:srgbClr val="B025A6"/>
                      </a:solidFill>
                      <a:prstDash val="soli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spcBef>
                          <a:spcPts val="4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Split on </a:t>
                      </a:r>
                      <a:r>
                        <a:rPr lang="en-US" sz="1600" b="0" u="sng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a</a:t>
                      </a:r>
                      <a:endParaRPr lang="it-IT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>
                      <a:noFill/>
                    </a:lnL>
                    <a:lnR>
                      <a:noFill/>
                    </a:lnR>
                    <a:lnT w="13680">
                      <a:solidFill>
                        <a:srgbClr val="B025A6"/>
                      </a:solidFill>
                      <a:prstDash val="solid"/>
                    </a:lnT>
                    <a:lnB w="5760">
                      <a:solidFill>
                        <a:srgbClr val="B025A6"/>
                      </a:solidFill>
                      <a:prstDash val="soli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spcBef>
                          <a:spcPts val="4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Split on </a:t>
                      </a:r>
                      <a:r>
                        <a:rPr lang="en-US" sz="1600" b="0" u="sng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b</a:t>
                      </a:r>
                      <a:endParaRPr lang="it-IT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>
                      <a:noFill/>
                    </a:lnL>
                    <a:lnR>
                      <a:noFill/>
                    </a:lnR>
                    <a:lnT w="13680">
                      <a:solidFill>
                        <a:srgbClr val="B025A6"/>
                      </a:solidFill>
                      <a:prstDash val="solid"/>
                    </a:lnT>
                    <a:lnB w="5760">
                      <a:solidFill>
                        <a:srgbClr val="B025A6"/>
                      </a:solidFill>
                      <a:prstDash val="solid"/>
                    </a:lnB>
                    <a:solidFill>
                      <a:srgbClr val="E6E6E6"/>
                    </a:solidFill>
                  </a:tcPr>
                </a:tc>
              </a:tr>
              <a:tr h="452520"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P</a:t>
                      </a:r>
                      <a:r>
                        <a:rPr lang="en-US" sz="1600" b="0" i="1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0</a:t>
                      </a:r>
                      <a:endParaRPr lang="it-IT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>
                      <a:noFill/>
                    </a:lnL>
                    <a:lnR>
                      <a:noFill/>
                    </a:lnR>
                    <a:lnT w="5760">
                      <a:solidFill>
                        <a:srgbClr val="B025A6"/>
                      </a:solidFill>
                      <a:prstDash val="solid"/>
                    </a:lnT>
                    <a:lnB>
                      <a:noFill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{s</a:t>
                      </a:r>
                      <a:r>
                        <a:rPr lang="en-US" sz="1600" b="0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4</a:t>
                      </a: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}</a:t>
                      </a: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 </a:t>
                      </a: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{s</a:t>
                      </a:r>
                      <a:r>
                        <a:rPr lang="en-US" sz="1600" b="0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0</a:t>
                      </a: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,s</a:t>
                      </a:r>
                      <a:r>
                        <a:rPr lang="en-US" sz="1600" b="0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1</a:t>
                      </a: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,s</a:t>
                      </a:r>
                      <a:r>
                        <a:rPr lang="en-US" sz="1600" b="0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2</a:t>
                      </a: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,s</a:t>
                      </a:r>
                      <a:r>
                        <a:rPr lang="en-US" sz="1600" b="0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3</a:t>
                      </a: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}</a:t>
                      </a:r>
                      <a:endParaRPr lang="it-IT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>
                      <a:noFill/>
                    </a:lnL>
                    <a:lnR>
                      <a:noFill/>
                    </a:lnR>
                    <a:lnT w="5760">
                      <a:solidFill>
                        <a:srgbClr val="B025A6"/>
                      </a:solidFill>
                      <a:prstDash val="soli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600" b="0" u="none" strike="noStrike">
                          <a:solidFill>
                            <a:srgbClr val="B3B3B3"/>
                          </a:solidFill>
                          <a:effectLst/>
                          <a:uFillTx/>
                          <a:latin typeface="Comic Sans MS"/>
                        </a:rPr>
                        <a:t>{s</a:t>
                      </a:r>
                      <a:r>
                        <a:rPr lang="en-US" sz="1600" b="0" u="none" strike="noStrike" baseline="-25000">
                          <a:solidFill>
                            <a:srgbClr val="B3B3B3"/>
                          </a:solidFill>
                          <a:effectLst/>
                          <a:uFillTx/>
                          <a:latin typeface="Comic Sans MS"/>
                        </a:rPr>
                        <a:t>4</a:t>
                      </a:r>
                      <a:r>
                        <a:rPr lang="en-US" sz="1600" b="0" u="none" strike="noStrike">
                          <a:solidFill>
                            <a:srgbClr val="B3B3B3"/>
                          </a:solidFill>
                          <a:effectLst/>
                          <a:uFillTx/>
                          <a:latin typeface="Comic Sans MS"/>
                        </a:rPr>
                        <a:t>}</a:t>
                      </a: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 </a:t>
                      </a: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{s</a:t>
                      </a:r>
                      <a:r>
                        <a:rPr lang="en-US" sz="1600" b="0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0</a:t>
                      </a: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,s</a:t>
                      </a:r>
                      <a:r>
                        <a:rPr lang="en-US" sz="1600" b="0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1</a:t>
                      </a: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,s</a:t>
                      </a:r>
                      <a:r>
                        <a:rPr lang="en-US" sz="1600" b="0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2</a:t>
                      </a: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,s</a:t>
                      </a:r>
                      <a:r>
                        <a:rPr lang="en-US" sz="1600" b="0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3</a:t>
                      </a: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}</a:t>
                      </a:r>
                      <a:endParaRPr lang="it-IT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>
                      <a:noFill/>
                    </a:lnL>
                    <a:lnR>
                      <a:noFill/>
                    </a:lnR>
                    <a:lnT w="5760">
                      <a:solidFill>
                        <a:srgbClr val="B025A6"/>
                      </a:solidFill>
                      <a:prstDash val="soli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{s</a:t>
                      </a:r>
                      <a:r>
                        <a:rPr lang="en-US" sz="1600" b="0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4</a:t>
                      </a: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}</a:t>
                      </a:r>
                      <a:endParaRPr lang="it-IT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>
                      <a:noFill/>
                    </a:lnL>
                    <a:lnR>
                      <a:noFill/>
                    </a:lnR>
                    <a:lnT w="5760">
                      <a:solidFill>
                        <a:srgbClr val="B025A6"/>
                      </a:solidFill>
                      <a:prstDash val="soli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none</a:t>
                      </a:r>
                      <a:endParaRPr lang="it-IT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>
                      <a:noFill/>
                    </a:lnL>
                    <a:lnR>
                      <a:noFill/>
                    </a:lnR>
                    <a:lnT w="5760">
                      <a:solidFill>
                        <a:srgbClr val="B025A6"/>
                      </a:solidFill>
                      <a:prstDash val="soli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{s</a:t>
                      </a:r>
                      <a:r>
                        <a:rPr lang="en-US" sz="1600" b="0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3</a:t>
                      </a: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}</a:t>
                      </a: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 </a:t>
                      </a: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{s</a:t>
                      </a:r>
                      <a:r>
                        <a:rPr lang="en-US" sz="1600" b="0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0</a:t>
                      </a: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,s</a:t>
                      </a:r>
                      <a:r>
                        <a:rPr lang="en-US" sz="1600" b="0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1</a:t>
                      </a: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,s</a:t>
                      </a:r>
                      <a:r>
                        <a:rPr lang="en-US" sz="1600" b="0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2</a:t>
                      </a: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}</a:t>
                      </a:r>
                      <a:endParaRPr lang="it-IT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>
                      <a:noFill/>
                    </a:lnL>
                    <a:lnR>
                      <a:noFill/>
                    </a:lnR>
                    <a:lnT w="5760">
                      <a:solidFill>
                        <a:srgbClr val="B025A6"/>
                      </a:solidFill>
                      <a:prstDash val="solid"/>
                    </a:lnT>
                    <a:lnB>
                      <a:noFill/>
                    </a:lnB>
                    <a:noFill/>
                  </a:tcPr>
                </a:tc>
              </a:tr>
              <a:tr h="451080"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lnSpc>
                          <a:spcPct val="110000"/>
                        </a:lnSpc>
                        <a:spcBef>
                          <a:spcPts val="4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P</a:t>
                      </a:r>
                      <a:r>
                        <a:rPr lang="en-US" sz="1600" b="0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1</a:t>
                      </a:r>
                      <a:endParaRPr lang="it-IT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lnSpc>
                          <a:spcPct val="110000"/>
                        </a:lnSpc>
                        <a:spcBef>
                          <a:spcPts val="4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{s</a:t>
                      </a:r>
                      <a:r>
                        <a:rPr lang="en-US" sz="1600" b="0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4</a:t>
                      </a: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}</a:t>
                      </a: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 </a:t>
                      </a: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{s</a:t>
                      </a:r>
                      <a:r>
                        <a:rPr lang="en-US" sz="1600" b="0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3</a:t>
                      </a: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}</a:t>
                      </a: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 </a:t>
                      </a: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{s</a:t>
                      </a:r>
                      <a:r>
                        <a:rPr lang="en-US" sz="1600" b="0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0</a:t>
                      </a: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,s</a:t>
                      </a:r>
                      <a:r>
                        <a:rPr lang="en-US" sz="1600" b="0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1</a:t>
                      </a: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,s</a:t>
                      </a:r>
                      <a:r>
                        <a:rPr lang="en-US" sz="1600" b="0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2</a:t>
                      </a: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}</a:t>
                      </a:r>
                      <a:endParaRPr lang="it-IT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lnSpc>
                          <a:spcPct val="110000"/>
                        </a:lnSpc>
                        <a:spcBef>
                          <a:spcPts val="4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600" b="0" u="none" strike="noStrike">
                          <a:solidFill>
                            <a:srgbClr val="B3B3B3"/>
                          </a:solidFill>
                          <a:effectLst/>
                          <a:uFillTx/>
                          <a:latin typeface="Comic Sans MS"/>
                        </a:rPr>
                        <a:t>{s</a:t>
                      </a:r>
                      <a:r>
                        <a:rPr lang="en-US" sz="1600" b="0" u="none" strike="noStrike" baseline="-25000">
                          <a:solidFill>
                            <a:srgbClr val="B3B3B3"/>
                          </a:solidFill>
                          <a:effectLst/>
                          <a:uFillTx/>
                          <a:latin typeface="Comic Sans MS"/>
                        </a:rPr>
                        <a:t>3</a:t>
                      </a:r>
                      <a:r>
                        <a:rPr lang="en-US" sz="1600" b="0" u="none" strike="noStrike">
                          <a:solidFill>
                            <a:srgbClr val="B3B3B3"/>
                          </a:solidFill>
                          <a:effectLst/>
                          <a:uFillTx/>
                          <a:latin typeface="Comic Sans MS"/>
                        </a:rPr>
                        <a:t>}</a:t>
                      </a: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 </a:t>
                      </a: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{s</a:t>
                      </a:r>
                      <a:r>
                        <a:rPr lang="en-US" sz="1600" b="0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0</a:t>
                      </a: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,s</a:t>
                      </a:r>
                      <a:r>
                        <a:rPr lang="en-US" sz="1600" b="0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1</a:t>
                      </a: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,s</a:t>
                      </a:r>
                      <a:r>
                        <a:rPr lang="en-US" sz="1600" b="0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2</a:t>
                      </a: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}</a:t>
                      </a:r>
                      <a:endParaRPr lang="it-IT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lnSpc>
                          <a:spcPct val="110000"/>
                        </a:lnSpc>
                        <a:spcBef>
                          <a:spcPts val="4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{s</a:t>
                      </a:r>
                      <a:r>
                        <a:rPr lang="en-US" sz="1600" b="0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3</a:t>
                      </a: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}</a:t>
                      </a:r>
                      <a:endParaRPr lang="it-IT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lnSpc>
                          <a:spcPct val="110000"/>
                        </a:lnSpc>
                        <a:spcBef>
                          <a:spcPts val="4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none</a:t>
                      </a:r>
                      <a:endParaRPr lang="it-IT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lnSpc>
                          <a:spcPct val="110000"/>
                        </a:lnSpc>
                        <a:spcBef>
                          <a:spcPts val="4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600" b="0" u="none" strike="noStrike">
                          <a:solidFill>
                            <a:srgbClr val="FF0065"/>
                          </a:solidFill>
                          <a:effectLst/>
                          <a:uFillTx/>
                          <a:latin typeface="Comic Sans MS"/>
                        </a:rPr>
                        <a:t>{s</a:t>
                      </a:r>
                      <a:r>
                        <a:rPr lang="en-US" sz="1600" b="0" u="none" strike="noStrike" baseline="-25000">
                          <a:solidFill>
                            <a:srgbClr val="FF0065"/>
                          </a:solidFill>
                          <a:effectLst/>
                          <a:uFillTx/>
                          <a:latin typeface="Comic Sans MS"/>
                        </a:rPr>
                        <a:t>1</a:t>
                      </a:r>
                      <a:r>
                        <a:rPr lang="en-US" sz="1600" b="0" u="none" strike="noStrike">
                          <a:solidFill>
                            <a:srgbClr val="FF0065"/>
                          </a:solidFill>
                          <a:effectLst/>
                          <a:uFillTx/>
                          <a:latin typeface="Comic Sans MS"/>
                        </a:rPr>
                        <a:t>}</a:t>
                      </a: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 </a:t>
                      </a:r>
                      <a:r>
                        <a:rPr lang="en-US" sz="1600" b="0" u="none" strike="noStrike">
                          <a:solidFill>
                            <a:srgbClr val="B025A6"/>
                          </a:solidFill>
                          <a:effectLst/>
                          <a:uFillTx/>
                          <a:latin typeface="Comic Sans MS"/>
                        </a:rPr>
                        <a:t>{s</a:t>
                      </a:r>
                      <a:r>
                        <a:rPr lang="en-US" sz="1600" b="0" u="none" strike="noStrike" baseline="-25000">
                          <a:solidFill>
                            <a:srgbClr val="B025A6"/>
                          </a:solidFill>
                          <a:effectLst/>
                          <a:uFillTx/>
                          <a:latin typeface="Comic Sans MS"/>
                        </a:rPr>
                        <a:t>0</a:t>
                      </a:r>
                      <a:r>
                        <a:rPr lang="en-US" sz="1600" b="0" u="none" strike="noStrike">
                          <a:solidFill>
                            <a:srgbClr val="B025A6"/>
                          </a:solidFill>
                          <a:effectLst/>
                          <a:uFillTx/>
                          <a:latin typeface="Comic Sans MS"/>
                        </a:rPr>
                        <a:t>,s</a:t>
                      </a:r>
                      <a:r>
                        <a:rPr lang="en-US" sz="1600" b="0" u="none" strike="noStrike" baseline="-25000">
                          <a:solidFill>
                            <a:srgbClr val="B025A6"/>
                          </a:solidFill>
                          <a:effectLst/>
                          <a:uFillTx/>
                          <a:latin typeface="Comic Sans MS"/>
                        </a:rPr>
                        <a:t>2</a:t>
                      </a:r>
                      <a:r>
                        <a:rPr lang="en-US" sz="1600" b="0" u="none" strike="noStrike">
                          <a:solidFill>
                            <a:srgbClr val="B025A6"/>
                          </a:solidFill>
                          <a:effectLst/>
                          <a:uFillTx/>
                          <a:latin typeface="Comic Sans MS"/>
                        </a:rPr>
                        <a:t>}</a:t>
                      </a:r>
                      <a:endParaRPr lang="it-IT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52160"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lnSpc>
                          <a:spcPct val="110000"/>
                        </a:lnSpc>
                        <a:spcBef>
                          <a:spcPts val="4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P</a:t>
                      </a:r>
                      <a:r>
                        <a:rPr lang="en-US" sz="1600" b="0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2</a:t>
                      </a:r>
                      <a:endParaRPr lang="it-IT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lnSpc>
                          <a:spcPct val="110000"/>
                        </a:lnSpc>
                        <a:spcBef>
                          <a:spcPts val="4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{s</a:t>
                      </a:r>
                      <a:r>
                        <a:rPr lang="en-US" sz="1600" b="0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4</a:t>
                      </a: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}</a:t>
                      </a: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 </a:t>
                      </a: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{s</a:t>
                      </a:r>
                      <a:r>
                        <a:rPr lang="en-US" sz="1600" b="0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3</a:t>
                      </a: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}</a:t>
                      </a: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 </a:t>
                      </a: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{s</a:t>
                      </a:r>
                      <a:r>
                        <a:rPr lang="en-US" sz="1600" b="0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1</a:t>
                      </a: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}</a:t>
                      </a: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 </a:t>
                      </a: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{s</a:t>
                      </a:r>
                      <a:r>
                        <a:rPr lang="en-US" sz="1600" b="0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0</a:t>
                      </a: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,s</a:t>
                      </a:r>
                      <a:r>
                        <a:rPr lang="en-US" sz="1600" b="0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2</a:t>
                      </a: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}</a:t>
                      </a:r>
                      <a:endParaRPr lang="it-IT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lnSpc>
                          <a:spcPct val="110000"/>
                        </a:lnSpc>
                        <a:spcBef>
                          <a:spcPts val="4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600" b="0" u="none" strike="noStrike">
                          <a:solidFill>
                            <a:srgbClr val="B3B3B3"/>
                          </a:solidFill>
                          <a:effectLst/>
                          <a:uFillTx/>
                          <a:latin typeface="Comic Sans MS"/>
                        </a:rPr>
                        <a:t>{s</a:t>
                      </a:r>
                      <a:r>
                        <a:rPr lang="en-US" sz="1600" b="0" u="none" strike="noStrike" baseline="-25000">
                          <a:solidFill>
                            <a:srgbClr val="B3B3B3"/>
                          </a:solidFill>
                          <a:effectLst/>
                          <a:uFillTx/>
                          <a:latin typeface="Comic Sans MS"/>
                        </a:rPr>
                        <a:t>1</a:t>
                      </a:r>
                      <a:r>
                        <a:rPr lang="en-US" sz="1600" b="0" u="none" strike="noStrike">
                          <a:solidFill>
                            <a:srgbClr val="B3B3B3"/>
                          </a:solidFill>
                          <a:effectLst/>
                          <a:uFillTx/>
                          <a:latin typeface="Comic Sans MS"/>
                        </a:rPr>
                        <a:t>}</a:t>
                      </a: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 </a:t>
                      </a: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{s</a:t>
                      </a:r>
                      <a:r>
                        <a:rPr lang="en-US" sz="1600" b="0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0</a:t>
                      </a: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,s</a:t>
                      </a:r>
                      <a:r>
                        <a:rPr lang="en-US" sz="1600" b="0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2</a:t>
                      </a: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}</a:t>
                      </a:r>
                      <a:endParaRPr lang="it-IT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lnSpc>
                          <a:spcPct val="110000"/>
                        </a:lnSpc>
                        <a:spcBef>
                          <a:spcPts val="4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{s</a:t>
                      </a:r>
                      <a:r>
                        <a:rPr lang="en-US" sz="1600" b="0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1</a:t>
                      </a: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}</a:t>
                      </a:r>
                      <a:endParaRPr lang="it-IT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lnSpc>
                          <a:spcPct val="110000"/>
                        </a:lnSpc>
                        <a:spcBef>
                          <a:spcPts val="4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none</a:t>
                      </a:r>
                      <a:endParaRPr lang="it-IT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lnSpc>
                          <a:spcPct val="110000"/>
                        </a:lnSpc>
                        <a:spcBef>
                          <a:spcPts val="4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none</a:t>
                      </a:r>
                      <a:endParaRPr lang="it-IT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52520"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lnSpc>
                          <a:spcPct val="110000"/>
                        </a:lnSpc>
                        <a:spcBef>
                          <a:spcPts val="4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P</a:t>
                      </a:r>
                      <a:r>
                        <a:rPr lang="en-US" sz="1600" b="0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2</a:t>
                      </a:r>
                      <a:endParaRPr lang="it-IT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3680">
                      <a:solidFill>
                        <a:srgbClr val="B025A6"/>
                      </a:solidFill>
                      <a:prstDash val="soli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lnSpc>
                          <a:spcPct val="110000"/>
                        </a:lnSpc>
                        <a:spcBef>
                          <a:spcPts val="4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{s</a:t>
                      </a:r>
                      <a:r>
                        <a:rPr lang="en-US" sz="1600" b="0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4</a:t>
                      </a: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}</a:t>
                      </a: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 </a:t>
                      </a: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{s</a:t>
                      </a:r>
                      <a:r>
                        <a:rPr lang="en-US" sz="1600" b="0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3</a:t>
                      </a: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}</a:t>
                      </a: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 </a:t>
                      </a: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{s</a:t>
                      </a:r>
                      <a:r>
                        <a:rPr lang="en-US" sz="1600" b="0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1</a:t>
                      </a: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}</a:t>
                      </a: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 </a:t>
                      </a: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{s</a:t>
                      </a:r>
                      <a:r>
                        <a:rPr lang="en-US" sz="1600" b="0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0</a:t>
                      </a: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,s</a:t>
                      </a:r>
                      <a:r>
                        <a:rPr lang="en-US" sz="1600" b="0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2</a:t>
                      </a: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}</a:t>
                      </a:r>
                      <a:endParaRPr lang="it-IT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3680">
                      <a:solidFill>
                        <a:srgbClr val="B025A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lnSpc>
                          <a:spcPct val="110000"/>
                        </a:lnSpc>
                        <a:spcBef>
                          <a:spcPts val="4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600" b="0" u="none" strike="noStrike">
                          <a:solidFill>
                            <a:srgbClr val="B3B3B3"/>
                          </a:solidFill>
                          <a:effectLst/>
                          <a:uFillTx/>
                          <a:latin typeface="Comic Sans MS"/>
                        </a:rPr>
                        <a:t>{s</a:t>
                      </a:r>
                      <a:r>
                        <a:rPr lang="en-US" sz="1600" b="0" u="none" strike="noStrike" baseline="-25000">
                          <a:solidFill>
                            <a:srgbClr val="B3B3B3"/>
                          </a:solidFill>
                          <a:effectLst/>
                          <a:uFillTx/>
                          <a:latin typeface="Comic Sans MS"/>
                        </a:rPr>
                        <a:t>1</a:t>
                      </a:r>
                      <a:r>
                        <a:rPr lang="en-US" sz="1600" b="0" u="none" strike="noStrike">
                          <a:solidFill>
                            <a:srgbClr val="B3B3B3"/>
                          </a:solidFill>
                          <a:effectLst/>
                          <a:uFillTx/>
                          <a:latin typeface="Comic Sans MS"/>
                        </a:rPr>
                        <a:t>}</a:t>
                      </a:r>
                      <a:r>
                        <a:rPr lang="en-US" sz="1000" b="0" u="none" strike="noStrike">
                          <a:solidFill>
                            <a:srgbClr val="B3B3B3"/>
                          </a:solidFill>
                          <a:effectLst/>
                          <a:uFillTx/>
                          <a:latin typeface="Comic Sans MS"/>
                        </a:rPr>
                        <a:t> </a:t>
                      </a:r>
                      <a:r>
                        <a:rPr lang="en-US" sz="1600" b="0" u="none" strike="noStrike">
                          <a:solidFill>
                            <a:srgbClr val="B3B3B3"/>
                          </a:solidFill>
                          <a:effectLst/>
                          <a:uFillTx/>
                          <a:latin typeface="Comic Sans MS"/>
                        </a:rPr>
                        <a:t>{s</a:t>
                      </a:r>
                      <a:r>
                        <a:rPr lang="en-US" sz="1600" b="0" u="none" strike="noStrike" baseline="-25000">
                          <a:solidFill>
                            <a:srgbClr val="B3B3B3"/>
                          </a:solidFill>
                          <a:effectLst/>
                          <a:uFillTx/>
                          <a:latin typeface="Comic Sans MS"/>
                        </a:rPr>
                        <a:t>0</a:t>
                      </a:r>
                      <a:r>
                        <a:rPr lang="en-US" sz="1600" b="0" u="none" strike="noStrike">
                          <a:solidFill>
                            <a:srgbClr val="B3B3B3"/>
                          </a:solidFill>
                          <a:effectLst/>
                          <a:uFillTx/>
                          <a:latin typeface="Comic Sans MS"/>
                        </a:rPr>
                        <a:t>,s</a:t>
                      </a:r>
                      <a:r>
                        <a:rPr lang="en-US" sz="1600" b="0" u="none" strike="noStrike" baseline="-25000">
                          <a:solidFill>
                            <a:srgbClr val="B3B3B3"/>
                          </a:solidFill>
                          <a:effectLst/>
                          <a:uFillTx/>
                          <a:latin typeface="Comic Sans MS"/>
                        </a:rPr>
                        <a:t>2</a:t>
                      </a:r>
                      <a:r>
                        <a:rPr lang="en-US" sz="1600" b="0" u="none" strike="noStrike">
                          <a:solidFill>
                            <a:srgbClr val="B3B3B3"/>
                          </a:solidFill>
                          <a:effectLst/>
                          <a:uFillTx/>
                          <a:latin typeface="Comic Sans MS"/>
                        </a:rPr>
                        <a:t>}</a:t>
                      </a:r>
                      <a:endParaRPr lang="it-IT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3680">
                      <a:solidFill>
                        <a:srgbClr val="B025A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lnSpc>
                          <a:spcPct val="110000"/>
                        </a:lnSpc>
                        <a:spcBef>
                          <a:spcPts val="4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{s</a:t>
                      </a:r>
                      <a:r>
                        <a:rPr lang="en-US" sz="1600" b="0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0</a:t>
                      </a: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,s</a:t>
                      </a:r>
                      <a:r>
                        <a:rPr lang="en-US" sz="1600" b="0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2</a:t>
                      </a: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}</a:t>
                      </a:r>
                      <a:endParaRPr lang="it-IT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3680">
                      <a:solidFill>
                        <a:srgbClr val="B025A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lnSpc>
                          <a:spcPct val="110000"/>
                        </a:lnSpc>
                        <a:spcBef>
                          <a:spcPts val="4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none</a:t>
                      </a:r>
                      <a:endParaRPr lang="it-IT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3680">
                      <a:solidFill>
                        <a:srgbClr val="B025A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lnSpc>
                          <a:spcPct val="110000"/>
                        </a:lnSpc>
                        <a:spcBef>
                          <a:spcPts val="4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none</a:t>
                      </a:r>
                      <a:endParaRPr lang="it-IT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3680">
                      <a:solidFill>
                        <a:srgbClr val="B025A6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grpSp>
        <p:nvGrpSpPr>
          <p:cNvPr id="475" name="Group 103"/>
          <p:cNvGrpSpPr/>
          <p:nvPr/>
        </p:nvGrpSpPr>
        <p:grpSpPr>
          <a:xfrm>
            <a:off x="1014480" y="4278960"/>
            <a:ext cx="6840000" cy="1894320"/>
            <a:chOff x="1014480" y="4278960"/>
            <a:chExt cx="6840000" cy="1894320"/>
          </a:xfrm>
        </p:grpSpPr>
        <p:cxnSp>
          <p:nvCxnSpPr>
            <p:cNvPr id="476" name="AutoShape 3"/>
            <p:cNvCxnSpPr>
              <a:stCxn id="477" idx="7"/>
              <a:endCxn id="477" idx="1"/>
            </p:cNvCxnSpPr>
            <p:nvPr/>
          </p:nvCxnSpPr>
          <p:spPr>
            <a:xfrm rot="5400000">
              <a:off x="1947600" y="4626720"/>
              <a:ext cx="2520" cy="255960"/>
            </a:xfrm>
            <a:prstGeom prst="curvedConnector5">
              <a:avLst>
                <a:gd name="adj1" fmla="val -17600000"/>
                <a:gd name="adj2" fmla="val 50000"/>
                <a:gd name="adj3" fmla="val -17600000"/>
              </a:avLst>
            </a:prstGeom>
            <a:ln w="9360">
              <a:solidFill>
                <a:srgbClr val="000000"/>
              </a:solidFill>
              <a:miter/>
              <a:tailEnd len="med" type="triangle" w="med"/>
            </a:ln>
          </p:spPr>
        </p:cxnSp>
        <p:sp>
          <p:nvSpPr>
            <p:cNvPr id="478" name="Oval 4"/>
            <p:cNvSpPr/>
            <p:nvPr/>
          </p:nvSpPr>
          <p:spPr>
            <a:xfrm>
              <a:off x="1014480" y="4708440"/>
              <a:ext cx="361800" cy="370080"/>
            </a:xfrm>
            <a:prstGeom prst="ellipse">
              <a:avLst/>
            </a:prstGeom>
            <a:noFill/>
            <a:ln w="1908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ctr">
              <a:noAutofit/>
            </a:bodyPr>
            <a:p>
              <a:pPr algn="ctr"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400" b="0" i="1" u="none" strike="noStrike">
                  <a:solidFill>
                    <a:srgbClr val="000000"/>
                  </a:solidFill>
                  <a:effectLst/>
                  <a:uFillTx/>
                  <a:latin typeface="Arial Rounded MT Bold"/>
                </a:rPr>
                <a:t>s</a:t>
              </a:r>
              <a:r>
                <a:rPr lang="en-US" sz="1400" b="0" i="1" u="none" strike="noStrike" baseline="-25000">
                  <a:solidFill>
                    <a:srgbClr val="000000"/>
                  </a:solidFill>
                  <a:effectLst/>
                  <a:uFillTx/>
                  <a:latin typeface="Arial Rounded MT Bold"/>
                </a:rPr>
                <a:t>0 </a:t>
              </a:r>
              <a:endParaRPr lang="it-IT" sz="14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479" name="Line 5"/>
            <p:cNvSpPr/>
            <p:nvPr/>
          </p:nvSpPr>
          <p:spPr>
            <a:xfrm>
              <a:off x="1357200" y="4915080"/>
              <a:ext cx="395280" cy="0"/>
            </a:xfrm>
            <a:prstGeom prst="line">
              <a:avLst/>
            </a:prstGeom>
            <a:ln w="9360">
              <a:solidFill>
                <a:srgbClr val="000000"/>
              </a:solidFill>
              <a:miter/>
              <a:tailEnd len="med" type="triangle" w="med"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46800" rIns="90000" bIns="-46800" anchor="ctr">
              <a:noAutofit/>
            </a:bodyPr>
            <a:p>
              <a:endParaRPr lang="it-IT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480" name="Text Box 6"/>
            <p:cNvSpPr/>
            <p:nvPr/>
          </p:nvSpPr>
          <p:spPr>
            <a:xfrm>
              <a:off x="1425600" y="4640400"/>
              <a:ext cx="237960" cy="3074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spAutoFit/>
            </a:bodyPr>
            <a:p>
              <a:pPr>
                <a:lnSpc>
                  <a:spcPct val="100000"/>
                </a:lnSpc>
                <a:spcBef>
                  <a:spcPts val="876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400" b="0" u="sng" strike="noStrike">
                  <a:solidFill>
                    <a:srgbClr val="000000"/>
                  </a:solidFill>
                  <a:effectLst/>
                  <a:uFillTx/>
                  <a:latin typeface="Arial Rounded MT Bold"/>
                </a:rPr>
                <a:t>a</a:t>
              </a:r>
              <a:endParaRPr lang="it-IT" sz="14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477" name="Oval 7"/>
            <p:cNvSpPr/>
            <p:nvPr/>
          </p:nvSpPr>
          <p:spPr>
            <a:xfrm>
              <a:off x="1768320" y="4708440"/>
              <a:ext cx="362160" cy="370080"/>
            </a:xfrm>
            <a:prstGeom prst="ellipse">
              <a:avLst/>
            </a:prstGeom>
            <a:noFill/>
            <a:ln w="1908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ctr">
              <a:noAutofit/>
            </a:bodyPr>
            <a:p>
              <a:pPr algn="ctr"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400" b="0" i="1" u="none" strike="noStrike">
                  <a:solidFill>
                    <a:srgbClr val="000000"/>
                  </a:solidFill>
                  <a:effectLst/>
                  <a:uFillTx/>
                  <a:latin typeface="Arial Rounded MT Bold"/>
                </a:rPr>
                <a:t>s</a:t>
              </a:r>
              <a:r>
                <a:rPr lang="en-US" sz="1400" b="0" i="1" u="none" strike="noStrike" baseline="-25000">
                  <a:solidFill>
                    <a:srgbClr val="000000"/>
                  </a:solidFill>
                  <a:effectLst/>
                  <a:uFillTx/>
                  <a:latin typeface="Arial Rounded MT Bold"/>
                </a:rPr>
                <a:t>1 </a:t>
              </a:r>
              <a:endParaRPr lang="it-IT" sz="14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481" name="Line 8"/>
            <p:cNvSpPr/>
            <p:nvPr/>
          </p:nvSpPr>
          <p:spPr>
            <a:xfrm>
              <a:off x="2111400" y="4915080"/>
              <a:ext cx="395280" cy="0"/>
            </a:xfrm>
            <a:prstGeom prst="line">
              <a:avLst/>
            </a:prstGeom>
            <a:ln w="9360">
              <a:solidFill>
                <a:srgbClr val="000000"/>
              </a:solidFill>
              <a:miter/>
              <a:tailEnd len="med" type="triangle" w="med"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46800" rIns="90000" bIns="-46800" anchor="ctr">
              <a:noAutofit/>
            </a:bodyPr>
            <a:p>
              <a:endParaRPr lang="it-IT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482" name="Text Box 9"/>
            <p:cNvSpPr/>
            <p:nvPr/>
          </p:nvSpPr>
          <p:spPr>
            <a:xfrm>
              <a:off x="1357200" y="5189400"/>
              <a:ext cx="238320" cy="3074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spAutoFit/>
            </a:bodyPr>
            <a:p>
              <a:pPr>
                <a:lnSpc>
                  <a:spcPct val="100000"/>
                </a:lnSpc>
                <a:spcBef>
                  <a:spcPts val="876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400" b="0" u="sng" strike="noStrike">
                  <a:solidFill>
                    <a:srgbClr val="000000"/>
                  </a:solidFill>
                  <a:effectLst/>
                  <a:uFillTx/>
                  <a:latin typeface="Arial Rounded MT Bold"/>
                </a:rPr>
                <a:t>b</a:t>
              </a:r>
              <a:endParaRPr lang="it-IT" sz="14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483" name="Oval 10"/>
            <p:cNvSpPr/>
            <p:nvPr/>
          </p:nvSpPr>
          <p:spPr>
            <a:xfrm>
              <a:off x="2522520" y="4708440"/>
              <a:ext cx="361800" cy="370080"/>
            </a:xfrm>
            <a:prstGeom prst="ellipse">
              <a:avLst/>
            </a:prstGeom>
            <a:noFill/>
            <a:ln w="1908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ctr">
              <a:noAutofit/>
            </a:bodyPr>
            <a:p>
              <a:pPr algn="ctr"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400" b="0" i="1" u="none" strike="noStrike">
                  <a:solidFill>
                    <a:srgbClr val="000000"/>
                  </a:solidFill>
                  <a:effectLst/>
                  <a:uFillTx/>
                  <a:latin typeface="Arial Rounded MT Bold"/>
                </a:rPr>
                <a:t>s</a:t>
              </a:r>
              <a:r>
                <a:rPr lang="en-US" sz="1400" b="0" i="1" u="none" strike="noStrike" baseline="-25000">
                  <a:solidFill>
                    <a:srgbClr val="000000"/>
                  </a:solidFill>
                  <a:effectLst/>
                  <a:uFillTx/>
                  <a:latin typeface="Arial Rounded MT Bold"/>
                </a:rPr>
                <a:t>3 </a:t>
              </a:r>
              <a:endParaRPr lang="it-IT" sz="14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484" name="Line 11"/>
            <p:cNvSpPr/>
            <p:nvPr/>
          </p:nvSpPr>
          <p:spPr>
            <a:xfrm>
              <a:off x="2865600" y="4915080"/>
              <a:ext cx="395280" cy="0"/>
            </a:xfrm>
            <a:prstGeom prst="line">
              <a:avLst/>
            </a:prstGeom>
            <a:ln w="9360">
              <a:solidFill>
                <a:srgbClr val="000000"/>
              </a:solidFill>
              <a:miter/>
              <a:tailEnd len="med" type="triangle" w="med"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46800" rIns="90000" bIns="-46800" anchor="ctr">
              <a:noAutofit/>
            </a:bodyPr>
            <a:p>
              <a:endParaRPr lang="it-IT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485" name="Text Box 12"/>
            <p:cNvSpPr/>
            <p:nvPr/>
          </p:nvSpPr>
          <p:spPr>
            <a:xfrm>
              <a:off x="2933640" y="4640400"/>
              <a:ext cx="239760" cy="3074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spAutoFit/>
            </a:bodyPr>
            <a:p>
              <a:pPr>
                <a:lnSpc>
                  <a:spcPct val="100000"/>
                </a:lnSpc>
                <a:spcBef>
                  <a:spcPts val="876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400" b="0" u="sng" strike="noStrike">
                  <a:solidFill>
                    <a:srgbClr val="000000"/>
                  </a:solidFill>
                  <a:effectLst/>
                  <a:uFillTx/>
                  <a:latin typeface="Arial Rounded MT Bold"/>
                </a:rPr>
                <a:t>b</a:t>
              </a:r>
              <a:endParaRPr lang="it-IT" sz="14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486" name="Oval 13"/>
            <p:cNvSpPr/>
            <p:nvPr/>
          </p:nvSpPr>
          <p:spPr>
            <a:xfrm>
              <a:off x="3276720" y="4708440"/>
              <a:ext cx="361800" cy="370080"/>
            </a:xfrm>
            <a:prstGeom prst="ellipse">
              <a:avLst/>
            </a:prstGeom>
            <a:noFill/>
            <a:ln w="381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ctr">
              <a:noAutofit/>
            </a:bodyPr>
            <a:p>
              <a:pPr algn="ctr"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400" b="0" i="1" u="none" strike="noStrike">
                  <a:solidFill>
                    <a:srgbClr val="000000"/>
                  </a:solidFill>
                  <a:effectLst/>
                  <a:uFillTx/>
                  <a:latin typeface="Arial Rounded MT Bold"/>
                </a:rPr>
                <a:t>s</a:t>
              </a:r>
              <a:r>
                <a:rPr lang="en-US" sz="1400" b="0" i="1" u="none" strike="noStrike" baseline="-25000">
                  <a:solidFill>
                    <a:srgbClr val="000000"/>
                  </a:solidFill>
                  <a:effectLst/>
                  <a:uFillTx/>
                  <a:latin typeface="Arial Rounded MT Bold"/>
                </a:rPr>
                <a:t>4 </a:t>
              </a:r>
              <a:endParaRPr lang="it-IT" sz="14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487" name="Oval 14"/>
            <p:cNvSpPr/>
            <p:nvPr/>
          </p:nvSpPr>
          <p:spPr>
            <a:xfrm>
              <a:off x="1768320" y="5464080"/>
              <a:ext cx="362160" cy="370080"/>
            </a:xfrm>
            <a:prstGeom prst="ellipse">
              <a:avLst/>
            </a:prstGeom>
            <a:noFill/>
            <a:ln w="1908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ctr">
              <a:noAutofit/>
            </a:bodyPr>
            <a:p>
              <a:pPr algn="ctr"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400" b="0" i="1" u="none" strike="noStrike">
                  <a:solidFill>
                    <a:srgbClr val="000000"/>
                  </a:solidFill>
                  <a:effectLst/>
                  <a:uFillTx/>
                  <a:latin typeface="Arial Rounded MT Bold"/>
                </a:rPr>
                <a:t>s</a:t>
              </a:r>
              <a:r>
                <a:rPr lang="en-US" sz="1400" b="0" i="1" u="none" strike="noStrike" baseline="-25000">
                  <a:solidFill>
                    <a:srgbClr val="000000"/>
                  </a:solidFill>
                  <a:effectLst/>
                  <a:uFillTx/>
                  <a:latin typeface="Arial Rounded MT Bold"/>
                </a:rPr>
                <a:t>2</a:t>
              </a:r>
              <a:endParaRPr lang="it-IT" sz="14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488" name="Line 15"/>
            <p:cNvSpPr/>
            <p:nvPr/>
          </p:nvSpPr>
          <p:spPr>
            <a:xfrm>
              <a:off x="1305000" y="5035680"/>
              <a:ext cx="495360" cy="488880"/>
            </a:xfrm>
            <a:prstGeom prst="line">
              <a:avLst/>
            </a:prstGeom>
            <a:ln w="9360">
              <a:solidFill>
                <a:srgbClr val="000000"/>
              </a:solidFill>
              <a:miter/>
              <a:tailEnd len="med" type="triangle" w="med"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ctr">
              <a:noAutofit/>
            </a:bodyPr>
            <a:p>
              <a:endParaRPr lang="it-IT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489" name="Line 16"/>
            <p:cNvSpPr/>
            <p:nvPr/>
          </p:nvSpPr>
          <p:spPr>
            <a:xfrm flipV="1">
              <a:off x="1935000" y="5081760"/>
              <a:ext cx="0" cy="374400"/>
            </a:xfrm>
            <a:prstGeom prst="line">
              <a:avLst/>
            </a:prstGeom>
            <a:ln w="9360">
              <a:solidFill>
                <a:srgbClr val="000000"/>
              </a:solidFill>
              <a:miter/>
              <a:tailEnd len="med" type="triangle" w="med"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ctr">
              <a:noAutofit/>
            </a:bodyPr>
            <a:p>
              <a:endParaRPr lang="it-IT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490" name="Text Box 17"/>
            <p:cNvSpPr/>
            <p:nvPr/>
          </p:nvSpPr>
          <p:spPr>
            <a:xfrm>
              <a:off x="1935000" y="5189400"/>
              <a:ext cx="239760" cy="3074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spAutoFit/>
            </a:bodyPr>
            <a:p>
              <a:pPr>
                <a:lnSpc>
                  <a:spcPct val="100000"/>
                </a:lnSpc>
                <a:spcBef>
                  <a:spcPts val="876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400" b="0" u="sng" strike="noStrike">
                  <a:solidFill>
                    <a:srgbClr val="000000"/>
                  </a:solidFill>
                  <a:effectLst/>
                  <a:uFillTx/>
                  <a:latin typeface="Arial Rounded MT Bold"/>
                </a:rPr>
                <a:t>a</a:t>
              </a:r>
              <a:endParaRPr lang="it-IT" sz="14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491" name="Text Box 18"/>
            <p:cNvSpPr/>
            <p:nvPr/>
          </p:nvSpPr>
          <p:spPr>
            <a:xfrm>
              <a:off x="2179800" y="4640400"/>
              <a:ext cx="239400" cy="3074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spAutoFit/>
            </a:bodyPr>
            <a:p>
              <a:pPr>
                <a:lnSpc>
                  <a:spcPct val="100000"/>
                </a:lnSpc>
                <a:spcBef>
                  <a:spcPts val="876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400" b="0" u="sng" strike="noStrike">
                  <a:solidFill>
                    <a:srgbClr val="000000"/>
                  </a:solidFill>
                  <a:effectLst/>
                  <a:uFillTx/>
                  <a:latin typeface="Arial Rounded MT Bold"/>
                </a:rPr>
                <a:t>b</a:t>
              </a:r>
              <a:endParaRPr lang="it-IT" sz="14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cxnSp>
          <p:nvCxnSpPr>
            <p:cNvPr id="492" name="AutoShape 19"/>
            <p:cNvCxnSpPr>
              <a:stCxn id="487" idx="3"/>
              <a:endCxn id="487" idx="5"/>
            </p:cNvCxnSpPr>
            <p:nvPr/>
          </p:nvCxnSpPr>
          <p:spPr>
            <a:xfrm flipH="1" rot="16200000">
              <a:off x="1947960" y="5661000"/>
              <a:ext cx="2160" cy="255960"/>
            </a:xfrm>
            <a:prstGeom prst="curvedConnector5">
              <a:avLst>
                <a:gd name="adj1" fmla="val 17600000"/>
                <a:gd name="adj2" fmla="val 50000"/>
                <a:gd name="adj3" fmla="val 17600000"/>
              </a:avLst>
            </a:prstGeom>
            <a:ln w="9360">
              <a:solidFill>
                <a:srgbClr val="000000"/>
              </a:solidFill>
              <a:miter/>
              <a:headEnd len="med" type="triangle" w="med"/>
            </a:ln>
          </p:spPr>
        </p:cxnSp>
        <p:sp>
          <p:nvSpPr>
            <p:cNvPr id="493" name="Text Box 20"/>
            <p:cNvSpPr/>
            <p:nvPr/>
          </p:nvSpPr>
          <p:spPr>
            <a:xfrm>
              <a:off x="2013120" y="5865840"/>
              <a:ext cx="237960" cy="3074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spAutoFit/>
            </a:bodyPr>
            <a:p>
              <a:pPr>
                <a:lnSpc>
                  <a:spcPct val="100000"/>
                </a:lnSpc>
                <a:spcBef>
                  <a:spcPts val="876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400" b="0" u="sng" strike="noStrike">
                  <a:solidFill>
                    <a:srgbClr val="000000"/>
                  </a:solidFill>
                  <a:effectLst/>
                  <a:uFillTx/>
                  <a:latin typeface="Arial Rounded MT Bold"/>
                </a:rPr>
                <a:t>b</a:t>
              </a:r>
              <a:endParaRPr lang="it-IT" sz="14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494" name="Text Box 21"/>
            <p:cNvSpPr/>
            <p:nvPr/>
          </p:nvSpPr>
          <p:spPr>
            <a:xfrm>
              <a:off x="2027160" y="4373640"/>
              <a:ext cx="238320" cy="3074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spAutoFit/>
            </a:bodyPr>
            <a:p>
              <a:pPr>
                <a:lnSpc>
                  <a:spcPct val="100000"/>
                </a:lnSpc>
                <a:spcBef>
                  <a:spcPts val="876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400" b="0" u="sng" strike="noStrike">
                  <a:solidFill>
                    <a:srgbClr val="000000"/>
                  </a:solidFill>
                  <a:effectLst/>
                  <a:uFillTx/>
                  <a:latin typeface="Arial Rounded MT Bold"/>
                </a:rPr>
                <a:t>a</a:t>
              </a:r>
              <a:endParaRPr lang="it-IT" sz="14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cxnSp>
          <p:nvCxnSpPr>
            <p:cNvPr id="495" name="AutoShape 22"/>
            <p:cNvCxnSpPr>
              <a:stCxn id="483" idx="4"/>
              <a:endCxn id="477" idx="5"/>
            </p:cNvCxnSpPr>
            <p:nvPr/>
          </p:nvCxnSpPr>
          <p:spPr>
            <a:xfrm flipV="1" rot="16200000">
              <a:off x="2363400" y="4745880"/>
              <a:ext cx="54720" cy="629280"/>
            </a:xfrm>
            <a:prstGeom prst="curvedConnector5">
              <a:avLst>
                <a:gd name="adj1" fmla="val -249668"/>
                <a:gd name="adj2" fmla="val 49971"/>
                <a:gd name="adj3" fmla="val -249668"/>
              </a:avLst>
            </a:prstGeom>
            <a:ln w="9360">
              <a:solidFill>
                <a:srgbClr val="000000"/>
              </a:solidFill>
              <a:miter/>
              <a:tailEnd len="med" type="triangle" w="med"/>
            </a:ln>
          </p:spPr>
        </p:cxnSp>
        <p:sp>
          <p:nvSpPr>
            <p:cNvPr id="496" name="Text Box 23"/>
            <p:cNvSpPr/>
            <p:nvPr/>
          </p:nvSpPr>
          <p:spPr>
            <a:xfrm>
              <a:off x="2522520" y="5121360"/>
              <a:ext cx="239760" cy="3074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spAutoFit/>
            </a:bodyPr>
            <a:p>
              <a:pPr>
                <a:lnSpc>
                  <a:spcPct val="100000"/>
                </a:lnSpc>
                <a:spcBef>
                  <a:spcPts val="876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400" b="0" u="sng" strike="noStrike">
                  <a:solidFill>
                    <a:srgbClr val="000000"/>
                  </a:solidFill>
                  <a:effectLst/>
                  <a:uFillTx/>
                  <a:latin typeface="Arial Rounded MT Bold"/>
                </a:rPr>
                <a:t>a</a:t>
              </a:r>
              <a:endParaRPr lang="it-IT" sz="14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cxnSp>
          <p:nvCxnSpPr>
            <p:cNvPr id="497" name="AutoShape 24"/>
            <p:cNvCxnSpPr>
              <a:stCxn id="486" idx="0"/>
            </p:cNvCxnSpPr>
            <p:nvPr/>
          </p:nvCxnSpPr>
          <p:spPr>
            <a:xfrm rot="5400000">
              <a:off x="2551320" y="3909960"/>
              <a:ext cx="127800" cy="1684800"/>
            </a:xfrm>
            <a:prstGeom prst="curvedConnector5">
              <a:avLst>
                <a:gd name="adj1" fmla="val -321186"/>
                <a:gd name="adj2" fmla="val 51805"/>
                <a:gd name="adj3" fmla="val -321186"/>
              </a:avLst>
            </a:prstGeom>
            <a:ln w="9360">
              <a:solidFill>
                <a:srgbClr val="000000"/>
              </a:solidFill>
              <a:miter/>
              <a:tailEnd len="med" type="triangle" w="med"/>
            </a:ln>
          </p:spPr>
        </p:cxnSp>
        <p:sp>
          <p:nvSpPr>
            <p:cNvPr id="498" name="Text Box 25"/>
            <p:cNvSpPr/>
            <p:nvPr/>
          </p:nvSpPr>
          <p:spPr>
            <a:xfrm>
              <a:off x="3367080" y="4343400"/>
              <a:ext cx="237960" cy="3074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spAutoFit/>
            </a:bodyPr>
            <a:p>
              <a:pPr>
                <a:lnSpc>
                  <a:spcPct val="100000"/>
                </a:lnSpc>
                <a:spcBef>
                  <a:spcPts val="876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400" b="0" u="sng" strike="noStrike">
                  <a:solidFill>
                    <a:srgbClr val="000000"/>
                  </a:solidFill>
                  <a:effectLst/>
                  <a:uFillTx/>
                  <a:latin typeface="Arial Rounded MT Bold"/>
                </a:rPr>
                <a:t>a</a:t>
              </a:r>
              <a:endParaRPr lang="it-IT" sz="14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cxnSp>
          <p:nvCxnSpPr>
            <p:cNvPr id="499" name="AutoShape 26"/>
            <p:cNvCxnSpPr>
              <a:stCxn id="486" idx="4"/>
              <a:endCxn id="487" idx="6"/>
            </p:cNvCxnSpPr>
            <p:nvPr/>
          </p:nvCxnSpPr>
          <p:spPr>
            <a:xfrm rot="5400000">
              <a:off x="2521080" y="4712400"/>
              <a:ext cx="554760" cy="1321200"/>
            </a:xfrm>
            <a:prstGeom prst="curvedConnector2">
              <a:avLst/>
            </a:prstGeom>
            <a:ln w="9360">
              <a:solidFill>
                <a:srgbClr val="000000"/>
              </a:solidFill>
              <a:miter/>
              <a:tailEnd len="med" type="triangle" w="med"/>
            </a:ln>
          </p:spPr>
        </p:cxnSp>
        <p:sp>
          <p:nvSpPr>
            <p:cNvPr id="500" name="Text Box 27"/>
            <p:cNvSpPr/>
            <p:nvPr/>
          </p:nvSpPr>
          <p:spPr>
            <a:xfrm>
              <a:off x="3346560" y="5195880"/>
              <a:ext cx="239760" cy="3074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spAutoFit/>
            </a:bodyPr>
            <a:p>
              <a:pPr>
                <a:lnSpc>
                  <a:spcPct val="100000"/>
                </a:lnSpc>
                <a:spcBef>
                  <a:spcPts val="876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400" b="0" u="sng" strike="noStrike">
                  <a:solidFill>
                    <a:srgbClr val="000000"/>
                  </a:solidFill>
                  <a:effectLst/>
                  <a:uFillTx/>
                  <a:latin typeface="Arial Rounded MT Bold"/>
                </a:rPr>
                <a:t>b</a:t>
              </a:r>
              <a:endParaRPr lang="it-IT" sz="14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501" name="Text Box 77"/>
            <p:cNvSpPr/>
            <p:nvPr/>
          </p:nvSpPr>
          <p:spPr>
            <a:xfrm>
              <a:off x="5638680" y="4419720"/>
              <a:ext cx="1371600" cy="3664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spAutoFit/>
            </a:bodyPr>
            <a:p>
              <a:pPr>
                <a:spcBef>
                  <a:spcPts val="112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endParaRPr lang="it-IT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502" name="AutoShape 82"/>
            <p:cNvSpPr/>
            <p:nvPr/>
          </p:nvSpPr>
          <p:spPr>
            <a:xfrm>
              <a:off x="3897360" y="4762440"/>
              <a:ext cx="685800" cy="457200"/>
            </a:xfrm>
            <a:prstGeom prst="rightArrow">
              <a:avLst>
                <a:gd name="adj1" fmla="val 50833"/>
                <a:gd name="adj2" fmla="val 40972"/>
              </a:avLst>
            </a:prstGeom>
            <a:solidFill>
              <a:srgbClr val="FF0065"/>
            </a:solidFill>
            <a:ln w="9360">
              <a:solidFill>
                <a:srgbClr val="FF0065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ctr">
              <a:noAutofit/>
            </a:bodyPr>
            <a:p>
              <a:endParaRPr lang="it-IT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cxnSp>
          <p:nvCxnSpPr>
            <p:cNvPr id="503" name="AutoShape 83"/>
            <p:cNvCxnSpPr>
              <a:stCxn id="504" idx="7"/>
              <a:endCxn id="504" idx="1"/>
            </p:cNvCxnSpPr>
            <p:nvPr/>
          </p:nvCxnSpPr>
          <p:spPr>
            <a:xfrm rot="5400000">
              <a:off x="6062400" y="4711680"/>
              <a:ext cx="2160" cy="255960"/>
            </a:xfrm>
            <a:prstGeom prst="curvedConnector5">
              <a:avLst>
                <a:gd name="adj1" fmla="val -17600000"/>
                <a:gd name="adj2" fmla="val 50000"/>
                <a:gd name="adj3" fmla="val -17600000"/>
              </a:avLst>
            </a:prstGeom>
            <a:ln w="9360">
              <a:solidFill>
                <a:srgbClr val="000000"/>
              </a:solidFill>
              <a:miter/>
              <a:tailEnd len="med" type="triangle" w="med"/>
            </a:ln>
          </p:spPr>
        </p:cxnSp>
        <p:sp>
          <p:nvSpPr>
            <p:cNvPr id="505" name="Oval 84"/>
            <p:cNvSpPr/>
            <p:nvPr/>
          </p:nvSpPr>
          <p:spPr>
            <a:xfrm>
              <a:off x="4824360" y="4757760"/>
              <a:ext cx="666720" cy="473040"/>
            </a:xfrm>
            <a:prstGeom prst="ellipse">
              <a:avLst/>
            </a:prstGeom>
            <a:noFill/>
            <a:ln w="1908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ctr">
              <a:noAutofit/>
            </a:bodyPr>
            <a:p>
              <a:pPr algn="ctr"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400" b="0" i="1" u="none" strike="noStrike">
                  <a:solidFill>
                    <a:srgbClr val="000000"/>
                  </a:solidFill>
                  <a:effectLst/>
                  <a:uFillTx/>
                  <a:latin typeface="Arial Rounded MT Bold"/>
                </a:rPr>
                <a:t>s</a:t>
              </a:r>
              <a:r>
                <a:rPr lang="en-US" sz="1400" b="0" i="1" u="none" strike="noStrike" baseline="-25000">
                  <a:solidFill>
                    <a:srgbClr val="000000"/>
                  </a:solidFill>
                  <a:effectLst/>
                  <a:uFillTx/>
                  <a:latin typeface="Arial Rounded MT Bold"/>
                </a:rPr>
                <a:t>0 </a:t>
              </a:r>
              <a:r>
                <a:rPr lang="en-US" sz="1400" b="0" i="1" u="none" strike="noStrike">
                  <a:solidFill>
                    <a:srgbClr val="000000"/>
                  </a:solidFill>
                  <a:effectLst/>
                  <a:uFillTx/>
                  <a:latin typeface="Arial Rounded MT Bold"/>
                </a:rPr>
                <a:t>, s</a:t>
              </a:r>
              <a:r>
                <a:rPr lang="en-US" sz="1400" b="0" i="1" u="none" strike="noStrike" baseline="-25000">
                  <a:solidFill>
                    <a:srgbClr val="000000"/>
                  </a:solidFill>
                  <a:effectLst/>
                  <a:uFillTx/>
                  <a:latin typeface="Arial Rounded MT Bold"/>
                </a:rPr>
                <a:t>2</a:t>
              </a:r>
              <a:endParaRPr lang="it-IT" sz="14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506" name="Line 85"/>
            <p:cNvSpPr/>
            <p:nvPr/>
          </p:nvSpPr>
          <p:spPr>
            <a:xfrm>
              <a:off x="5472000" y="4998960"/>
              <a:ext cx="395280" cy="0"/>
            </a:xfrm>
            <a:prstGeom prst="line">
              <a:avLst/>
            </a:prstGeom>
            <a:ln w="9360">
              <a:solidFill>
                <a:srgbClr val="000000"/>
              </a:solidFill>
              <a:miter/>
              <a:tailEnd len="med" type="triangle" w="med"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46800" rIns="90000" bIns="-46800" anchor="ctr">
              <a:noAutofit/>
            </a:bodyPr>
            <a:p>
              <a:endParaRPr lang="it-IT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507" name="Text Box 86"/>
            <p:cNvSpPr/>
            <p:nvPr/>
          </p:nvSpPr>
          <p:spPr>
            <a:xfrm>
              <a:off x="5540400" y="4724280"/>
              <a:ext cx="237960" cy="3074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spAutoFit/>
            </a:bodyPr>
            <a:p>
              <a:pPr>
                <a:lnSpc>
                  <a:spcPct val="100000"/>
                </a:lnSpc>
                <a:spcBef>
                  <a:spcPts val="876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400" b="0" u="sng" strike="noStrike">
                  <a:solidFill>
                    <a:srgbClr val="000000"/>
                  </a:solidFill>
                  <a:effectLst/>
                  <a:uFillTx/>
                  <a:latin typeface="Arial Rounded MT Bold"/>
                </a:rPr>
                <a:t>a</a:t>
              </a:r>
              <a:endParaRPr lang="it-IT" sz="14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504" name="Oval 87"/>
            <p:cNvSpPr/>
            <p:nvPr/>
          </p:nvSpPr>
          <p:spPr>
            <a:xfrm>
              <a:off x="5883120" y="4792680"/>
              <a:ext cx="362160" cy="369720"/>
            </a:xfrm>
            <a:prstGeom prst="ellipse">
              <a:avLst/>
            </a:prstGeom>
            <a:noFill/>
            <a:ln w="1908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ctr">
              <a:noAutofit/>
            </a:bodyPr>
            <a:p>
              <a:pPr algn="ctr"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400" b="0" i="1" u="none" strike="noStrike">
                  <a:solidFill>
                    <a:srgbClr val="000000"/>
                  </a:solidFill>
                  <a:effectLst/>
                  <a:uFillTx/>
                  <a:latin typeface="Arial Rounded MT Bold"/>
                </a:rPr>
                <a:t>s</a:t>
              </a:r>
              <a:r>
                <a:rPr lang="en-US" sz="1400" b="0" i="1" u="none" strike="noStrike" baseline="-25000">
                  <a:solidFill>
                    <a:srgbClr val="000000"/>
                  </a:solidFill>
                  <a:effectLst/>
                  <a:uFillTx/>
                  <a:latin typeface="Arial Rounded MT Bold"/>
                </a:rPr>
                <a:t>1 </a:t>
              </a:r>
              <a:endParaRPr lang="it-IT" sz="14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508" name="Line 88"/>
            <p:cNvSpPr/>
            <p:nvPr/>
          </p:nvSpPr>
          <p:spPr>
            <a:xfrm>
              <a:off x="6226200" y="4998960"/>
              <a:ext cx="395280" cy="0"/>
            </a:xfrm>
            <a:prstGeom prst="line">
              <a:avLst/>
            </a:prstGeom>
            <a:ln w="9360">
              <a:solidFill>
                <a:srgbClr val="000000"/>
              </a:solidFill>
              <a:miter/>
              <a:tailEnd len="med" type="triangle" w="med"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46800" rIns="90000" bIns="-46800" anchor="ctr">
              <a:noAutofit/>
            </a:bodyPr>
            <a:p>
              <a:endParaRPr lang="it-IT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509" name="Text Box 89"/>
            <p:cNvSpPr/>
            <p:nvPr/>
          </p:nvSpPr>
          <p:spPr>
            <a:xfrm>
              <a:off x="5230800" y="4343400"/>
              <a:ext cx="237960" cy="3074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spAutoFit/>
            </a:bodyPr>
            <a:p>
              <a:pPr>
                <a:lnSpc>
                  <a:spcPct val="100000"/>
                </a:lnSpc>
                <a:spcBef>
                  <a:spcPts val="876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400" b="0" u="sng" strike="noStrike">
                  <a:solidFill>
                    <a:srgbClr val="000000"/>
                  </a:solidFill>
                  <a:effectLst/>
                  <a:uFillTx/>
                  <a:latin typeface="Arial Rounded MT Bold"/>
                </a:rPr>
                <a:t>b</a:t>
              </a:r>
              <a:endParaRPr lang="it-IT" sz="14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510" name="Oval 90"/>
            <p:cNvSpPr/>
            <p:nvPr/>
          </p:nvSpPr>
          <p:spPr>
            <a:xfrm>
              <a:off x="6637320" y="4792680"/>
              <a:ext cx="361800" cy="369720"/>
            </a:xfrm>
            <a:prstGeom prst="ellipse">
              <a:avLst/>
            </a:prstGeom>
            <a:noFill/>
            <a:ln w="1908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ctr">
              <a:noAutofit/>
            </a:bodyPr>
            <a:p>
              <a:pPr algn="ctr"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400" b="0" i="1" u="none" strike="noStrike">
                  <a:solidFill>
                    <a:srgbClr val="000000"/>
                  </a:solidFill>
                  <a:effectLst/>
                  <a:uFillTx/>
                  <a:latin typeface="Arial Rounded MT Bold"/>
                </a:rPr>
                <a:t>s</a:t>
              </a:r>
              <a:r>
                <a:rPr lang="en-US" sz="1400" b="0" i="1" u="none" strike="noStrike" baseline="-25000">
                  <a:solidFill>
                    <a:srgbClr val="000000"/>
                  </a:solidFill>
                  <a:effectLst/>
                  <a:uFillTx/>
                  <a:latin typeface="Arial Rounded MT Bold"/>
                </a:rPr>
                <a:t>3 </a:t>
              </a:r>
              <a:endParaRPr lang="it-IT" sz="14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511" name="Line 91"/>
            <p:cNvSpPr/>
            <p:nvPr/>
          </p:nvSpPr>
          <p:spPr>
            <a:xfrm>
              <a:off x="6980400" y="4998960"/>
              <a:ext cx="395280" cy="0"/>
            </a:xfrm>
            <a:prstGeom prst="line">
              <a:avLst/>
            </a:prstGeom>
            <a:ln w="9360">
              <a:solidFill>
                <a:srgbClr val="000000"/>
              </a:solidFill>
              <a:miter/>
              <a:tailEnd len="med" type="triangle" w="med"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46800" rIns="90000" bIns="-46800" anchor="ctr">
              <a:noAutofit/>
            </a:bodyPr>
            <a:p>
              <a:endParaRPr lang="it-IT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512" name="Text Box 92"/>
            <p:cNvSpPr/>
            <p:nvPr/>
          </p:nvSpPr>
          <p:spPr>
            <a:xfrm>
              <a:off x="7048440" y="4724280"/>
              <a:ext cx="239760" cy="3074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spAutoFit/>
            </a:bodyPr>
            <a:p>
              <a:pPr>
                <a:lnSpc>
                  <a:spcPct val="100000"/>
                </a:lnSpc>
                <a:spcBef>
                  <a:spcPts val="876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400" b="0" u="sng" strike="noStrike">
                  <a:solidFill>
                    <a:srgbClr val="000000"/>
                  </a:solidFill>
                  <a:effectLst/>
                  <a:uFillTx/>
                  <a:latin typeface="Arial Rounded MT Bold"/>
                </a:rPr>
                <a:t>b</a:t>
              </a:r>
              <a:endParaRPr lang="it-IT" sz="14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513" name="Oval 93"/>
            <p:cNvSpPr/>
            <p:nvPr/>
          </p:nvSpPr>
          <p:spPr>
            <a:xfrm>
              <a:off x="7391520" y="4792680"/>
              <a:ext cx="361800" cy="369720"/>
            </a:xfrm>
            <a:prstGeom prst="ellipse">
              <a:avLst/>
            </a:prstGeom>
            <a:noFill/>
            <a:ln w="381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ctr">
              <a:noAutofit/>
            </a:bodyPr>
            <a:p>
              <a:pPr algn="ctr"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400" b="0" i="1" u="none" strike="noStrike">
                  <a:solidFill>
                    <a:srgbClr val="000000"/>
                  </a:solidFill>
                  <a:effectLst/>
                  <a:uFillTx/>
                  <a:latin typeface="Arial Rounded MT Bold"/>
                </a:rPr>
                <a:t>s</a:t>
              </a:r>
              <a:r>
                <a:rPr lang="en-US" sz="1400" b="0" i="1" u="none" strike="noStrike" baseline="-25000">
                  <a:solidFill>
                    <a:srgbClr val="000000"/>
                  </a:solidFill>
                  <a:effectLst/>
                  <a:uFillTx/>
                  <a:latin typeface="Arial Rounded MT Bold"/>
                </a:rPr>
                <a:t>4 </a:t>
              </a:r>
              <a:endParaRPr lang="it-IT" sz="14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514" name="Text Box 94"/>
            <p:cNvSpPr/>
            <p:nvPr/>
          </p:nvSpPr>
          <p:spPr>
            <a:xfrm>
              <a:off x="6294600" y="4724280"/>
              <a:ext cx="239400" cy="3074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spAutoFit/>
            </a:bodyPr>
            <a:p>
              <a:pPr>
                <a:lnSpc>
                  <a:spcPct val="100000"/>
                </a:lnSpc>
                <a:spcBef>
                  <a:spcPts val="876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400" b="0" u="sng" strike="noStrike">
                  <a:solidFill>
                    <a:srgbClr val="000000"/>
                  </a:solidFill>
                  <a:effectLst/>
                  <a:uFillTx/>
                  <a:latin typeface="Arial Rounded MT Bold"/>
                </a:rPr>
                <a:t>b</a:t>
              </a:r>
              <a:endParaRPr lang="it-IT" sz="14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515" name="Text Box 95"/>
            <p:cNvSpPr/>
            <p:nvPr/>
          </p:nvSpPr>
          <p:spPr>
            <a:xfrm>
              <a:off x="6141960" y="4457880"/>
              <a:ext cx="238320" cy="3074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spAutoFit/>
            </a:bodyPr>
            <a:p>
              <a:pPr>
                <a:lnSpc>
                  <a:spcPct val="100000"/>
                </a:lnSpc>
                <a:spcBef>
                  <a:spcPts val="876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400" b="0" u="sng" strike="noStrike">
                  <a:solidFill>
                    <a:srgbClr val="000000"/>
                  </a:solidFill>
                  <a:effectLst/>
                  <a:uFillTx/>
                  <a:latin typeface="Arial Rounded MT Bold"/>
                </a:rPr>
                <a:t>a</a:t>
              </a:r>
              <a:endParaRPr lang="it-IT" sz="14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cxnSp>
          <p:nvCxnSpPr>
            <p:cNvPr id="516" name="AutoShape 96"/>
            <p:cNvCxnSpPr>
              <a:stCxn id="510" idx="4"/>
              <a:endCxn id="504" idx="5"/>
            </p:cNvCxnSpPr>
            <p:nvPr/>
          </p:nvCxnSpPr>
          <p:spPr>
            <a:xfrm flipV="1" rot="16200000">
              <a:off x="6478200" y="4830120"/>
              <a:ext cx="54720" cy="629280"/>
            </a:xfrm>
            <a:prstGeom prst="curvedConnector5">
              <a:avLst>
                <a:gd name="adj1" fmla="val -249668"/>
                <a:gd name="adj2" fmla="val 49971"/>
                <a:gd name="adj3" fmla="val -249668"/>
              </a:avLst>
            </a:prstGeom>
            <a:ln w="9360">
              <a:solidFill>
                <a:srgbClr val="000000"/>
              </a:solidFill>
              <a:miter/>
              <a:tailEnd len="med" type="triangle" w="med"/>
            </a:ln>
          </p:spPr>
        </p:cxnSp>
        <p:sp>
          <p:nvSpPr>
            <p:cNvPr id="517" name="Text Box 97"/>
            <p:cNvSpPr/>
            <p:nvPr/>
          </p:nvSpPr>
          <p:spPr>
            <a:xfrm>
              <a:off x="6637320" y="5205240"/>
              <a:ext cx="239760" cy="3074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spAutoFit/>
            </a:bodyPr>
            <a:p>
              <a:pPr>
                <a:lnSpc>
                  <a:spcPct val="100000"/>
                </a:lnSpc>
                <a:spcBef>
                  <a:spcPts val="876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400" b="0" u="sng" strike="noStrike">
                  <a:solidFill>
                    <a:srgbClr val="000000"/>
                  </a:solidFill>
                  <a:effectLst/>
                  <a:uFillTx/>
                  <a:latin typeface="Arial Rounded MT Bold"/>
                </a:rPr>
                <a:t>a</a:t>
              </a:r>
              <a:endParaRPr lang="it-IT" sz="14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cxnSp>
          <p:nvCxnSpPr>
            <p:cNvPr id="518" name="AutoShape 98"/>
            <p:cNvCxnSpPr>
              <a:stCxn id="513" idx="0"/>
            </p:cNvCxnSpPr>
            <p:nvPr/>
          </p:nvCxnSpPr>
          <p:spPr>
            <a:xfrm rot="5400000">
              <a:off x="6666120" y="3994200"/>
              <a:ext cx="127800" cy="1684800"/>
            </a:xfrm>
            <a:prstGeom prst="curvedConnector5">
              <a:avLst>
                <a:gd name="adj1" fmla="val -321186"/>
                <a:gd name="adj2" fmla="val 51805"/>
                <a:gd name="adj3" fmla="val -321186"/>
              </a:avLst>
            </a:prstGeom>
            <a:ln w="9360">
              <a:solidFill>
                <a:srgbClr val="000000"/>
              </a:solidFill>
              <a:miter/>
              <a:tailEnd len="med" type="triangle" w="med"/>
            </a:ln>
          </p:spPr>
        </p:cxnSp>
        <p:sp>
          <p:nvSpPr>
            <p:cNvPr id="519" name="Text Box 99"/>
            <p:cNvSpPr/>
            <p:nvPr/>
          </p:nvSpPr>
          <p:spPr>
            <a:xfrm>
              <a:off x="7481880" y="4427640"/>
              <a:ext cx="237960" cy="3074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spAutoFit/>
            </a:bodyPr>
            <a:p>
              <a:pPr>
                <a:lnSpc>
                  <a:spcPct val="100000"/>
                </a:lnSpc>
                <a:spcBef>
                  <a:spcPts val="876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400" b="0" u="sng" strike="noStrike">
                  <a:solidFill>
                    <a:srgbClr val="000000"/>
                  </a:solidFill>
                  <a:effectLst/>
                  <a:uFillTx/>
                  <a:latin typeface="Arial Rounded MT Bold"/>
                </a:rPr>
                <a:t>a</a:t>
              </a:r>
              <a:endParaRPr lang="it-IT" sz="14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cxnSp>
          <p:nvCxnSpPr>
            <p:cNvPr id="520" name="AutoShape 100"/>
            <p:cNvCxnSpPr>
              <a:stCxn id="513" idx="6"/>
              <a:endCxn id="505" idx="4"/>
            </p:cNvCxnSpPr>
            <p:nvPr/>
          </p:nvCxnSpPr>
          <p:spPr>
            <a:xfrm flipH="1">
              <a:off x="5157000" y="4978080"/>
              <a:ext cx="2615400" cy="262080"/>
            </a:xfrm>
            <a:prstGeom prst="curvedConnector5">
              <a:avLst>
                <a:gd name="adj1" fmla="val -3152"/>
                <a:gd name="adj2" fmla="val 130398"/>
                <a:gd name="adj3" fmla="val -3152"/>
              </a:avLst>
            </a:prstGeom>
            <a:ln w="9360">
              <a:solidFill>
                <a:srgbClr val="000000"/>
              </a:solidFill>
              <a:miter/>
              <a:tailEnd len="med" type="triangle" w="med"/>
            </a:ln>
          </p:spPr>
        </p:cxnSp>
        <p:sp>
          <p:nvSpPr>
            <p:cNvPr id="521" name="Text Box 101"/>
            <p:cNvSpPr/>
            <p:nvPr/>
          </p:nvSpPr>
          <p:spPr>
            <a:xfrm>
              <a:off x="7338960" y="5265720"/>
              <a:ext cx="239760" cy="3074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spAutoFit/>
            </a:bodyPr>
            <a:p>
              <a:pPr>
                <a:lnSpc>
                  <a:spcPct val="100000"/>
                </a:lnSpc>
                <a:spcBef>
                  <a:spcPts val="876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400" b="0" u="sng" strike="noStrike">
                  <a:solidFill>
                    <a:srgbClr val="000000"/>
                  </a:solidFill>
                  <a:effectLst/>
                  <a:uFillTx/>
                  <a:latin typeface="Arial Rounded MT Bold"/>
                </a:rPr>
                <a:t>b</a:t>
              </a:r>
              <a:endParaRPr lang="it-IT" sz="14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cxnSp>
          <p:nvCxnSpPr>
            <p:cNvPr id="522" name="AutoShape 102"/>
            <p:cNvCxnSpPr>
              <a:stCxn id="505" idx="7"/>
              <a:endCxn id="505" idx="1"/>
            </p:cNvCxnSpPr>
            <p:nvPr/>
          </p:nvCxnSpPr>
          <p:spPr>
            <a:xfrm rot="5400000">
              <a:off x="5156280" y="4583880"/>
              <a:ext cx="2160" cy="470520"/>
            </a:xfrm>
            <a:prstGeom prst="curvedConnector5">
              <a:avLst>
                <a:gd name="adj1" fmla="val -18200000"/>
                <a:gd name="adj2" fmla="val 50000"/>
                <a:gd name="adj3" fmla="val -18200000"/>
              </a:avLst>
            </a:prstGeom>
            <a:ln w="9360">
              <a:solidFill>
                <a:srgbClr val="000000"/>
              </a:solidFill>
              <a:miter/>
              <a:tailEnd len="med" type="triangle" w="med"/>
            </a:ln>
          </p:spPr>
        </p:cxnSp>
      </p:grpSp>
      <p:sp>
        <p:nvSpPr>
          <p:cNvPr id="523" name="Text Box 104"/>
          <p:cNvSpPr/>
          <p:nvPr/>
        </p:nvSpPr>
        <p:spPr>
          <a:xfrm>
            <a:off x="4952880" y="6216480"/>
            <a:ext cx="3124440" cy="30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spAutoFit/>
          </a:bodyPr>
          <a:p>
            <a:pPr>
              <a:spcBef>
                <a:spcPts val="876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400" b="0" u="none" strike="noStrike">
                <a:solidFill>
                  <a:srgbClr val="003C75"/>
                </a:solidFill>
                <a:effectLst/>
                <a:uFillTx/>
                <a:latin typeface="Comic Sans MS"/>
              </a:rPr>
              <a:t>20% reduction in number of states</a:t>
            </a:r>
            <a:endParaRPr lang="it-IT" sz="14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</p:spTree>
  </p:cSld>
  <p:transition>
    <p:wipe dir="r"/>
  </p:transition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4" name="Footer Placeholder 3"/>
          <p:cNvSpPr/>
          <p:nvPr/>
        </p:nvSpPr>
        <p:spPr>
          <a:xfrm>
            <a:off x="685800" y="6248520"/>
            <a:ext cx="289548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Autofit/>
          </a:bodyPr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Comp 412, Fall 2010</a:t>
            </a:r>
            <a:endParaRPr lang="it-IT" sz="12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525" name="Slide Number Placeholder 4"/>
          <p:cNvSpPr/>
          <p:nvPr/>
        </p:nvSpPr>
        <p:spPr>
          <a:xfrm>
            <a:off x="6553080" y="6248520"/>
            <a:ext cx="190512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Autofit/>
          </a:bodyPr>
          <a:p>
            <a:pPr algn="r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FCB7E223-BC04-4E08-9994-9B8EC44695A8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&lt;number&gt;</a:t>
            </a:fld>
            <a:endParaRPr lang="it-IT" sz="12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526" name="PlaceHolder 1"/>
          <p:cNvSpPr>
            <a:spLocks noGrp="1"/>
          </p:cNvSpPr>
          <p:nvPr>
            <p:ph type="title"/>
          </p:nvPr>
        </p:nvSpPr>
        <p:spPr>
          <a:xfrm>
            <a:off x="685800" y="533160"/>
            <a:ext cx="7772400" cy="533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l">
              <a:spcBef>
                <a:spcPts val="901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DFA Minimization</a:t>
            </a:r>
            <a:endParaRPr lang="it-IT" sz="24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527" name="PlaceHolder 2"/>
          <p:cNvSpPr>
            <a:spLocks noGrp="1"/>
          </p:cNvSpPr>
          <p:nvPr>
            <p:ph/>
          </p:nvPr>
        </p:nvSpPr>
        <p:spPr>
          <a:xfrm>
            <a:off x="685800" y="1143000"/>
            <a:ext cx="7772400" cy="495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p>
            <a:pPr marL="343080" indent="-343080" algn="l">
              <a:spcBef>
                <a:spcPts val="751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What about  </a:t>
            </a:r>
            <a:r>
              <a:rPr lang="en-US" sz="2000" b="0" u="sng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a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 ( </a:t>
            </a:r>
            <a:r>
              <a:rPr lang="en-US" sz="2000" b="0" u="sng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b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 | </a:t>
            </a:r>
            <a:r>
              <a:rPr lang="en-US" sz="2000" b="0" u="sng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c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 )</a:t>
            </a:r>
            <a:r>
              <a:rPr lang="en-US" sz="2000" b="0" u="none" strike="noStrike" baseline="30000">
                <a:solidFill>
                  <a:srgbClr val="000000"/>
                </a:solidFill>
                <a:effectLst/>
                <a:uFillTx/>
                <a:latin typeface="Comic Sans MS"/>
              </a:rPr>
              <a:t>*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 ?</a:t>
            </a:r>
            <a:endParaRPr lang="it-IT" sz="20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  <a:p>
            <a:pPr marL="343080" indent="-343080" algn="l">
              <a:spcBef>
                <a:spcPts val="11251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First, the subset construction:</a:t>
            </a:r>
            <a:endParaRPr lang="it-IT" sz="20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grpSp>
        <p:nvGrpSpPr>
          <p:cNvPr id="528" name="Group 64"/>
          <p:cNvGrpSpPr/>
          <p:nvPr/>
        </p:nvGrpSpPr>
        <p:grpSpPr>
          <a:xfrm>
            <a:off x="1752480" y="1143000"/>
            <a:ext cx="5237280" cy="1765440"/>
            <a:chOff x="1752480" y="1143000"/>
            <a:chExt cx="5237280" cy="1765440"/>
          </a:xfrm>
        </p:grpSpPr>
        <p:sp>
          <p:nvSpPr>
            <p:cNvPr id="529" name="Oval 4"/>
            <p:cNvSpPr/>
            <p:nvPr/>
          </p:nvSpPr>
          <p:spPr>
            <a:xfrm>
              <a:off x="1752480" y="1871640"/>
              <a:ext cx="362160" cy="371520"/>
            </a:xfrm>
            <a:prstGeom prst="ellipse">
              <a:avLst/>
            </a:prstGeom>
            <a:noFill/>
            <a:ln w="1908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ctr">
              <a:noAutofit/>
            </a:bodyPr>
            <a:p>
              <a:pPr algn="ctr"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400" b="0" i="1" u="none" strike="noStrike">
                  <a:solidFill>
                    <a:srgbClr val="000000"/>
                  </a:solidFill>
                  <a:effectLst/>
                  <a:uFillTx/>
                  <a:latin typeface="Arial Rounded MT Bold"/>
                </a:rPr>
                <a:t>q</a:t>
              </a:r>
              <a:r>
                <a:rPr lang="en-US" sz="1400" b="0" i="1" u="none" strike="noStrike" baseline="-25000">
                  <a:solidFill>
                    <a:srgbClr val="000000"/>
                  </a:solidFill>
                  <a:effectLst/>
                  <a:uFillTx/>
                  <a:latin typeface="Arial Rounded MT Bold"/>
                </a:rPr>
                <a:t>0 </a:t>
              </a:r>
              <a:endParaRPr lang="it-IT" sz="14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530" name="Oval 5"/>
            <p:cNvSpPr/>
            <p:nvPr/>
          </p:nvSpPr>
          <p:spPr>
            <a:xfrm>
              <a:off x="2525760" y="1871640"/>
              <a:ext cx="363600" cy="370080"/>
            </a:xfrm>
            <a:prstGeom prst="ellipse">
              <a:avLst/>
            </a:prstGeom>
            <a:noFill/>
            <a:ln w="1908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ctr">
              <a:noAutofit/>
            </a:bodyPr>
            <a:p>
              <a:pPr algn="ctr"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400" b="0" i="1" u="none" strike="noStrike">
                  <a:solidFill>
                    <a:srgbClr val="000000"/>
                  </a:solidFill>
                  <a:effectLst/>
                  <a:uFillTx/>
                  <a:latin typeface="Arial Rounded MT Bold"/>
                </a:rPr>
                <a:t>q</a:t>
              </a:r>
              <a:r>
                <a:rPr lang="en-US" sz="1400" b="0" i="1" u="none" strike="noStrike" baseline="-25000">
                  <a:solidFill>
                    <a:srgbClr val="000000"/>
                  </a:solidFill>
                  <a:effectLst/>
                  <a:uFillTx/>
                  <a:latin typeface="Arial Rounded MT Bold"/>
                </a:rPr>
                <a:t>1 </a:t>
              </a:r>
              <a:endParaRPr lang="it-IT" sz="14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531" name="Line 6"/>
            <p:cNvSpPr/>
            <p:nvPr/>
          </p:nvSpPr>
          <p:spPr>
            <a:xfrm>
              <a:off x="2114640" y="2057400"/>
              <a:ext cx="396720" cy="0"/>
            </a:xfrm>
            <a:prstGeom prst="line">
              <a:avLst/>
            </a:prstGeom>
            <a:ln w="9360">
              <a:solidFill>
                <a:srgbClr val="000000"/>
              </a:solidFill>
              <a:miter/>
              <a:tailEnd len="med" type="triangle" w="med"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46800" rIns="90000" bIns="-46800" anchor="ctr">
              <a:noAutofit/>
            </a:bodyPr>
            <a:p>
              <a:endParaRPr lang="it-IT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532" name="Text Box 7"/>
            <p:cNvSpPr/>
            <p:nvPr/>
          </p:nvSpPr>
          <p:spPr>
            <a:xfrm>
              <a:off x="2165400" y="1812960"/>
              <a:ext cx="239760" cy="3074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spAutoFit/>
            </a:bodyPr>
            <a:p>
              <a:pPr>
                <a:lnSpc>
                  <a:spcPct val="100000"/>
                </a:lnSpc>
                <a:spcBef>
                  <a:spcPts val="876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400" b="0" u="sng" strike="noStrike">
                  <a:solidFill>
                    <a:srgbClr val="000000"/>
                  </a:solidFill>
                  <a:effectLst/>
                  <a:uFillTx/>
                  <a:latin typeface="Arial Rounded MT Bold"/>
                </a:rPr>
                <a:t>a</a:t>
              </a:r>
              <a:endParaRPr lang="it-IT" sz="14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533" name="Line 8"/>
            <p:cNvSpPr/>
            <p:nvPr/>
          </p:nvSpPr>
          <p:spPr>
            <a:xfrm>
              <a:off x="2889360" y="2081160"/>
              <a:ext cx="396720" cy="0"/>
            </a:xfrm>
            <a:prstGeom prst="line">
              <a:avLst/>
            </a:prstGeom>
            <a:ln w="9360">
              <a:solidFill>
                <a:srgbClr val="000000"/>
              </a:solidFill>
              <a:miter/>
              <a:tailEnd len="med" type="triangle" w="med"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46800" rIns="90000" bIns="-46800" anchor="ctr">
              <a:noAutofit/>
            </a:bodyPr>
            <a:p>
              <a:endParaRPr lang="it-IT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534" name="Text Box 9"/>
            <p:cNvSpPr/>
            <p:nvPr/>
          </p:nvSpPr>
          <p:spPr>
            <a:xfrm>
              <a:off x="2921040" y="1812960"/>
              <a:ext cx="239760" cy="337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spAutoFit/>
            </a:bodyPr>
            <a:p>
              <a:pPr>
                <a:lnSpc>
                  <a:spcPct val="100000"/>
                </a:lnSpc>
                <a:spcBef>
                  <a:spcPts val="1001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600" b="0" u="none" strike="noStrike">
                  <a:solidFill>
                    <a:srgbClr val="000000"/>
                  </a:solidFill>
                  <a:effectLst/>
                  <a:uFillTx/>
                  <a:latin typeface="Symbol"/>
                  <a:ea typeface="Symbol"/>
                </a:rPr>
                <a:t></a:t>
              </a:r>
              <a:endParaRPr lang="it-IT" sz="16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cxnSp>
          <p:nvCxnSpPr>
            <p:cNvPr id="535" name="AutoShape 10"/>
            <p:cNvCxnSpPr>
              <a:stCxn id="536" idx="0"/>
              <a:endCxn id="537" idx="0"/>
            </p:cNvCxnSpPr>
            <p:nvPr/>
          </p:nvCxnSpPr>
          <p:spPr>
            <a:xfrm flipV="1" rot="16200000">
              <a:off x="5122800" y="966960"/>
              <a:ext cx="2520" cy="1857960"/>
            </a:xfrm>
            <a:prstGeom prst="curvedConnector5">
              <a:avLst>
                <a:gd name="adj1" fmla="val 30383333"/>
                <a:gd name="adj2" fmla="val 50000"/>
                <a:gd name="adj3" fmla="val 30383333"/>
              </a:avLst>
            </a:prstGeom>
            <a:ln w="9360">
              <a:solidFill>
                <a:srgbClr val="000000"/>
              </a:solidFill>
              <a:miter/>
              <a:tailEnd len="med" type="triangle" w="med"/>
            </a:ln>
          </p:spPr>
        </p:cxnSp>
        <p:sp>
          <p:nvSpPr>
            <p:cNvPr id="538" name="Oval 11"/>
            <p:cNvSpPr/>
            <p:nvPr/>
          </p:nvSpPr>
          <p:spPr>
            <a:xfrm>
              <a:off x="4564080" y="1622520"/>
              <a:ext cx="363600" cy="369720"/>
            </a:xfrm>
            <a:prstGeom prst="ellipse">
              <a:avLst/>
            </a:prstGeom>
            <a:noFill/>
            <a:ln w="1908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ctr">
              <a:noAutofit/>
            </a:bodyPr>
            <a:p>
              <a:pPr algn="ctr"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400" b="0" i="1" u="none" strike="noStrike">
                  <a:solidFill>
                    <a:srgbClr val="000000"/>
                  </a:solidFill>
                  <a:effectLst/>
                  <a:uFillTx/>
                  <a:latin typeface="Arial Rounded MT Bold"/>
                </a:rPr>
                <a:t>q</a:t>
              </a:r>
              <a:r>
                <a:rPr lang="en-US" sz="1400" b="0" i="1" u="none" strike="noStrike" baseline="-25000">
                  <a:solidFill>
                    <a:srgbClr val="000000"/>
                  </a:solidFill>
                  <a:effectLst/>
                  <a:uFillTx/>
                  <a:latin typeface="Arial Rounded MT Bold"/>
                </a:rPr>
                <a:t>4 </a:t>
              </a:r>
              <a:endParaRPr lang="it-IT" sz="14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539" name="Oval 12"/>
            <p:cNvSpPr/>
            <p:nvPr/>
          </p:nvSpPr>
          <p:spPr>
            <a:xfrm>
              <a:off x="5338800" y="1620720"/>
              <a:ext cx="361800" cy="370080"/>
            </a:xfrm>
            <a:prstGeom prst="ellipse">
              <a:avLst/>
            </a:prstGeom>
            <a:noFill/>
            <a:ln w="1908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ctr">
              <a:noAutofit/>
            </a:bodyPr>
            <a:p>
              <a:pPr algn="ctr"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400" b="0" i="1" u="none" strike="noStrike">
                  <a:solidFill>
                    <a:srgbClr val="000000"/>
                  </a:solidFill>
                  <a:effectLst/>
                  <a:uFillTx/>
                  <a:latin typeface="Arial Rounded MT Bold"/>
                </a:rPr>
                <a:t>q</a:t>
              </a:r>
              <a:r>
                <a:rPr lang="en-US" sz="1400" b="0" i="1" u="none" strike="noStrike" baseline="-25000">
                  <a:solidFill>
                    <a:srgbClr val="000000"/>
                  </a:solidFill>
                  <a:effectLst/>
                  <a:uFillTx/>
                  <a:latin typeface="Arial Rounded MT Bold"/>
                </a:rPr>
                <a:t>5 </a:t>
              </a:r>
              <a:endParaRPr lang="it-IT" sz="14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540" name="Line 13"/>
            <p:cNvSpPr/>
            <p:nvPr/>
          </p:nvSpPr>
          <p:spPr>
            <a:xfrm>
              <a:off x="4927680" y="1806480"/>
              <a:ext cx="396720" cy="0"/>
            </a:xfrm>
            <a:prstGeom prst="line">
              <a:avLst/>
            </a:prstGeom>
            <a:ln w="9360">
              <a:solidFill>
                <a:srgbClr val="000000"/>
              </a:solidFill>
              <a:miter/>
              <a:tailEnd len="med" type="triangle" w="med"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46800" rIns="90000" bIns="-46800" anchor="ctr">
              <a:noAutofit/>
            </a:bodyPr>
            <a:p>
              <a:endParaRPr lang="it-IT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541" name="Text Box 14"/>
            <p:cNvSpPr/>
            <p:nvPr/>
          </p:nvSpPr>
          <p:spPr>
            <a:xfrm>
              <a:off x="4976640" y="1563840"/>
              <a:ext cx="239760" cy="3074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spAutoFit/>
            </a:bodyPr>
            <a:p>
              <a:pPr>
                <a:lnSpc>
                  <a:spcPct val="100000"/>
                </a:lnSpc>
                <a:spcBef>
                  <a:spcPts val="876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400" b="0" u="sng" strike="noStrike">
                  <a:solidFill>
                    <a:srgbClr val="000000"/>
                  </a:solidFill>
                  <a:effectLst/>
                  <a:uFillTx/>
                  <a:latin typeface="Arial Rounded MT Bold"/>
                </a:rPr>
                <a:t>b</a:t>
              </a:r>
              <a:endParaRPr lang="it-IT" sz="14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542" name="Oval 15"/>
            <p:cNvSpPr/>
            <p:nvPr/>
          </p:nvSpPr>
          <p:spPr>
            <a:xfrm>
              <a:off x="4564080" y="2239920"/>
              <a:ext cx="363600" cy="371520"/>
            </a:xfrm>
            <a:prstGeom prst="ellipse">
              <a:avLst/>
            </a:prstGeom>
            <a:noFill/>
            <a:ln w="1908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ctr">
              <a:noAutofit/>
            </a:bodyPr>
            <a:p>
              <a:pPr algn="ctr"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400" b="0" i="1" u="none" strike="noStrike">
                  <a:solidFill>
                    <a:srgbClr val="000000"/>
                  </a:solidFill>
                  <a:effectLst/>
                  <a:uFillTx/>
                  <a:latin typeface="Arial Rounded MT Bold"/>
                </a:rPr>
                <a:t>q</a:t>
              </a:r>
              <a:r>
                <a:rPr lang="en-US" sz="1400" b="0" i="1" u="none" strike="noStrike" baseline="-25000">
                  <a:solidFill>
                    <a:srgbClr val="000000"/>
                  </a:solidFill>
                  <a:effectLst/>
                  <a:uFillTx/>
                  <a:latin typeface="Arial Rounded MT Bold"/>
                </a:rPr>
                <a:t>6 </a:t>
              </a:r>
              <a:endParaRPr lang="it-IT" sz="14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543" name="Oval 16"/>
            <p:cNvSpPr/>
            <p:nvPr/>
          </p:nvSpPr>
          <p:spPr>
            <a:xfrm>
              <a:off x="5338800" y="2238480"/>
              <a:ext cx="361800" cy="371520"/>
            </a:xfrm>
            <a:prstGeom prst="ellipse">
              <a:avLst/>
            </a:prstGeom>
            <a:noFill/>
            <a:ln w="1908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ctr">
              <a:noAutofit/>
            </a:bodyPr>
            <a:p>
              <a:pPr algn="ctr"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400" b="0" i="1" u="none" strike="noStrike">
                  <a:solidFill>
                    <a:srgbClr val="000000"/>
                  </a:solidFill>
                  <a:effectLst/>
                  <a:uFillTx/>
                  <a:latin typeface="Arial Rounded MT Bold"/>
                </a:rPr>
                <a:t>q</a:t>
              </a:r>
              <a:r>
                <a:rPr lang="en-US" sz="1400" b="0" i="1" u="none" strike="noStrike" baseline="-25000">
                  <a:solidFill>
                    <a:srgbClr val="000000"/>
                  </a:solidFill>
                  <a:effectLst/>
                  <a:uFillTx/>
                  <a:latin typeface="Arial Rounded MT Bold"/>
                </a:rPr>
                <a:t>7 </a:t>
              </a:r>
              <a:endParaRPr lang="it-IT" sz="14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544" name="Line 17"/>
            <p:cNvSpPr/>
            <p:nvPr/>
          </p:nvSpPr>
          <p:spPr>
            <a:xfrm>
              <a:off x="4927680" y="2425680"/>
              <a:ext cx="396720" cy="0"/>
            </a:xfrm>
            <a:prstGeom prst="line">
              <a:avLst/>
            </a:prstGeom>
            <a:ln w="9360">
              <a:solidFill>
                <a:srgbClr val="000000"/>
              </a:solidFill>
              <a:miter/>
              <a:tailEnd len="med" type="triangle" w="med"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46800" rIns="90000" bIns="-46800" anchor="ctr">
              <a:noAutofit/>
            </a:bodyPr>
            <a:p>
              <a:endParaRPr lang="it-IT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545" name="Text Box 18"/>
            <p:cNvSpPr/>
            <p:nvPr/>
          </p:nvSpPr>
          <p:spPr>
            <a:xfrm>
              <a:off x="4976640" y="2181240"/>
              <a:ext cx="239760" cy="3074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spAutoFit/>
            </a:bodyPr>
            <a:p>
              <a:pPr>
                <a:lnSpc>
                  <a:spcPct val="100000"/>
                </a:lnSpc>
                <a:spcBef>
                  <a:spcPts val="876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400" b="0" u="sng" strike="noStrike">
                  <a:solidFill>
                    <a:srgbClr val="000000"/>
                  </a:solidFill>
                  <a:effectLst/>
                  <a:uFillTx/>
                  <a:latin typeface="Arial Rounded MT Bold"/>
                </a:rPr>
                <a:t>c</a:t>
              </a:r>
              <a:endParaRPr lang="it-IT" sz="14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537" name="Oval 19"/>
            <p:cNvSpPr/>
            <p:nvPr/>
          </p:nvSpPr>
          <p:spPr>
            <a:xfrm>
              <a:off x="4014720" y="1903320"/>
              <a:ext cx="362160" cy="371520"/>
            </a:xfrm>
            <a:prstGeom prst="ellipse">
              <a:avLst/>
            </a:prstGeom>
            <a:noFill/>
            <a:ln w="1908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ctr">
              <a:noAutofit/>
            </a:bodyPr>
            <a:p>
              <a:pPr algn="ctr"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400" b="0" i="1" u="none" strike="noStrike">
                  <a:solidFill>
                    <a:srgbClr val="000000"/>
                  </a:solidFill>
                  <a:effectLst/>
                  <a:uFillTx/>
                  <a:latin typeface="Arial Rounded MT Bold"/>
                </a:rPr>
                <a:t>q</a:t>
              </a:r>
              <a:r>
                <a:rPr lang="en-US" sz="1400" b="0" i="1" u="none" strike="noStrike" baseline="-25000">
                  <a:solidFill>
                    <a:srgbClr val="000000"/>
                  </a:solidFill>
                  <a:effectLst/>
                  <a:uFillTx/>
                  <a:latin typeface="Arial Rounded MT Bold"/>
                </a:rPr>
                <a:t>3</a:t>
              </a:r>
              <a:endParaRPr lang="it-IT" sz="14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536" name="Oval 20"/>
            <p:cNvSpPr/>
            <p:nvPr/>
          </p:nvSpPr>
          <p:spPr>
            <a:xfrm>
              <a:off x="5870520" y="1905120"/>
              <a:ext cx="363600" cy="371520"/>
            </a:xfrm>
            <a:prstGeom prst="ellipse">
              <a:avLst/>
            </a:prstGeom>
            <a:noFill/>
            <a:ln w="1908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ctr">
              <a:noAutofit/>
            </a:bodyPr>
            <a:p>
              <a:pPr algn="ctr"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400" b="0" i="1" u="none" strike="noStrike">
                  <a:solidFill>
                    <a:srgbClr val="000000"/>
                  </a:solidFill>
                  <a:effectLst/>
                  <a:uFillTx/>
                  <a:latin typeface="Arial Rounded MT Bold"/>
                </a:rPr>
                <a:t>q</a:t>
              </a:r>
              <a:r>
                <a:rPr lang="en-US" sz="1400" b="0" i="1" u="none" strike="noStrike" baseline="-25000">
                  <a:solidFill>
                    <a:srgbClr val="000000"/>
                  </a:solidFill>
                  <a:effectLst/>
                  <a:uFillTx/>
                  <a:latin typeface="Arial Rounded MT Bold"/>
                </a:rPr>
                <a:t>8 </a:t>
              </a:r>
              <a:endParaRPr lang="it-IT" sz="14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546" name="Line 21"/>
            <p:cNvSpPr/>
            <p:nvPr/>
          </p:nvSpPr>
          <p:spPr>
            <a:xfrm flipV="1">
              <a:off x="4341960" y="1876320"/>
              <a:ext cx="230040" cy="122400"/>
            </a:xfrm>
            <a:prstGeom prst="line">
              <a:avLst/>
            </a:prstGeom>
            <a:ln w="9360">
              <a:solidFill>
                <a:srgbClr val="000000"/>
              </a:solidFill>
              <a:miter/>
              <a:tailEnd len="med" type="triangle" w="med"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ctr">
              <a:noAutofit/>
            </a:bodyPr>
            <a:p>
              <a:endParaRPr lang="it-IT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547" name="Line 22"/>
            <p:cNvSpPr/>
            <p:nvPr/>
          </p:nvSpPr>
          <p:spPr>
            <a:xfrm>
              <a:off x="4351320" y="2189160"/>
              <a:ext cx="228600" cy="146160"/>
            </a:xfrm>
            <a:prstGeom prst="line">
              <a:avLst/>
            </a:prstGeom>
            <a:ln w="9360">
              <a:solidFill>
                <a:srgbClr val="000000"/>
              </a:solidFill>
              <a:miter/>
              <a:tailEnd len="med" type="triangle" w="med"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ctr">
              <a:noAutofit/>
            </a:bodyPr>
            <a:p>
              <a:endParaRPr lang="it-IT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548" name="Line 23"/>
            <p:cNvSpPr/>
            <p:nvPr/>
          </p:nvSpPr>
          <p:spPr>
            <a:xfrm>
              <a:off x="5703840" y="1868400"/>
              <a:ext cx="190440" cy="130320"/>
            </a:xfrm>
            <a:prstGeom prst="line">
              <a:avLst/>
            </a:prstGeom>
            <a:ln w="9360">
              <a:solidFill>
                <a:srgbClr val="000000"/>
              </a:solidFill>
              <a:miter/>
              <a:tailEnd len="med" type="triangle" w="med"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ctr">
              <a:noAutofit/>
            </a:bodyPr>
            <a:p>
              <a:endParaRPr lang="it-IT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549" name="Line 24"/>
            <p:cNvSpPr/>
            <p:nvPr/>
          </p:nvSpPr>
          <p:spPr>
            <a:xfrm flipV="1">
              <a:off x="5703840" y="2211120"/>
              <a:ext cx="190440" cy="153720"/>
            </a:xfrm>
            <a:prstGeom prst="line">
              <a:avLst/>
            </a:prstGeom>
            <a:ln w="9360">
              <a:solidFill>
                <a:srgbClr val="000000"/>
              </a:solidFill>
              <a:miter/>
              <a:tailEnd len="med" type="triangle" w="med"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ctr">
              <a:noAutofit/>
            </a:bodyPr>
            <a:p>
              <a:endParaRPr lang="it-IT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550" name="Oval 25"/>
            <p:cNvSpPr/>
            <p:nvPr/>
          </p:nvSpPr>
          <p:spPr>
            <a:xfrm>
              <a:off x="3281400" y="1903320"/>
              <a:ext cx="361800" cy="371520"/>
            </a:xfrm>
            <a:prstGeom prst="ellipse">
              <a:avLst/>
            </a:prstGeom>
            <a:noFill/>
            <a:ln w="1908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ctr">
              <a:noAutofit/>
            </a:bodyPr>
            <a:p>
              <a:pPr algn="ctr"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400" b="0" i="1" u="none" strike="noStrike">
                  <a:solidFill>
                    <a:srgbClr val="000000"/>
                  </a:solidFill>
                  <a:effectLst/>
                  <a:uFillTx/>
                  <a:latin typeface="Arial Rounded MT Bold"/>
                </a:rPr>
                <a:t>q</a:t>
              </a:r>
              <a:r>
                <a:rPr lang="en-US" sz="1400" b="0" i="1" u="none" strike="noStrike" baseline="-25000">
                  <a:solidFill>
                    <a:srgbClr val="000000"/>
                  </a:solidFill>
                  <a:effectLst/>
                  <a:uFillTx/>
                  <a:latin typeface="Arial Rounded MT Bold"/>
                </a:rPr>
                <a:t>2 </a:t>
              </a:r>
              <a:endParaRPr lang="it-IT" sz="14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551" name="Oval 26"/>
            <p:cNvSpPr/>
            <p:nvPr/>
          </p:nvSpPr>
          <p:spPr>
            <a:xfrm>
              <a:off x="6627960" y="1903320"/>
              <a:ext cx="361800" cy="371520"/>
            </a:xfrm>
            <a:prstGeom prst="ellipse">
              <a:avLst/>
            </a:prstGeom>
            <a:noFill/>
            <a:ln w="381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ctr">
              <a:noAutofit/>
            </a:bodyPr>
            <a:p>
              <a:pPr algn="ctr"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400" b="0" i="1" u="none" strike="noStrike">
                  <a:solidFill>
                    <a:srgbClr val="000000"/>
                  </a:solidFill>
                  <a:effectLst/>
                  <a:uFillTx/>
                  <a:latin typeface="Arial Rounded MT Bold"/>
                </a:rPr>
                <a:t>q</a:t>
              </a:r>
              <a:r>
                <a:rPr lang="en-US" sz="1400" b="0" i="1" u="none" strike="noStrike" baseline="-25000">
                  <a:solidFill>
                    <a:srgbClr val="000000"/>
                  </a:solidFill>
                  <a:effectLst/>
                  <a:uFillTx/>
                  <a:latin typeface="Arial Rounded MT Bold"/>
                </a:rPr>
                <a:t>9 </a:t>
              </a:r>
              <a:endParaRPr lang="it-IT" sz="14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552" name="Line 27"/>
            <p:cNvSpPr/>
            <p:nvPr/>
          </p:nvSpPr>
          <p:spPr>
            <a:xfrm>
              <a:off x="6229440" y="2090880"/>
              <a:ext cx="396720" cy="0"/>
            </a:xfrm>
            <a:prstGeom prst="line">
              <a:avLst/>
            </a:prstGeom>
            <a:ln w="9360">
              <a:solidFill>
                <a:srgbClr val="000000"/>
              </a:solidFill>
              <a:miter/>
              <a:tailEnd len="med" type="triangle" w="med"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46800" rIns="90000" bIns="-46800" anchor="ctr">
              <a:noAutofit/>
            </a:bodyPr>
            <a:p>
              <a:endParaRPr lang="it-IT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553" name="Line 28"/>
            <p:cNvSpPr/>
            <p:nvPr/>
          </p:nvSpPr>
          <p:spPr>
            <a:xfrm>
              <a:off x="3632040" y="2090880"/>
              <a:ext cx="397080" cy="0"/>
            </a:xfrm>
            <a:prstGeom prst="line">
              <a:avLst/>
            </a:prstGeom>
            <a:ln w="9360">
              <a:solidFill>
                <a:srgbClr val="000000"/>
              </a:solidFill>
              <a:miter/>
              <a:tailEnd len="med" type="triangle" w="med"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46800" rIns="90000" bIns="-46800" anchor="ctr">
              <a:noAutofit/>
            </a:bodyPr>
            <a:p>
              <a:endParaRPr lang="it-IT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cxnSp>
          <p:nvCxnSpPr>
            <p:cNvPr id="554" name="AutoShape 29"/>
            <p:cNvCxnSpPr>
              <a:stCxn id="550" idx="5"/>
              <a:endCxn id="551" idx="3"/>
            </p:cNvCxnSpPr>
            <p:nvPr/>
          </p:nvCxnSpPr>
          <p:spPr>
            <a:xfrm flipH="1" rot="16200000">
              <a:off x="5129640" y="688680"/>
              <a:ext cx="10440" cy="3089880"/>
            </a:xfrm>
            <a:prstGeom prst="curvedConnector5">
              <a:avLst>
                <a:gd name="adj1" fmla="val 6746428"/>
                <a:gd name="adj2" fmla="val 50000"/>
                <a:gd name="adj3" fmla="val 6746428"/>
              </a:avLst>
            </a:prstGeom>
            <a:ln w="9360">
              <a:solidFill>
                <a:srgbClr val="000000"/>
              </a:solidFill>
              <a:miter/>
              <a:tailEnd len="med" type="triangle" w="med"/>
            </a:ln>
          </p:spPr>
        </p:cxnSp>
        <p:sp>
          <p:nvSpPr>
            <p:cNvPr id="555" name="Text Box 30"/>
            <p:cNvSpPr/>
            <p:nvPr/>
          </p:nvSpPr>
          <p:spPr>
            <a:xfrm>
              <a:off x="4976640" y="2525760"/>
              <a:ext cx="239760" cy="337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spAutoFit/>
            </a:bodyPr>
            <a:p>
              <a:pPr>
                <a:lnSpc>
                  <a:spcPct val="100000"/>
                </a:lnSpc>
                <a:spcBef>
                  <a:spcPts val="1001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600" b="0" u="none" strike="noStrike">
                  <a:solidFill>
                    <a:srgbClr val="000000"/>
                  </a:solidFill>
                  <a:effectLst/>
                  <a:uFillTx/>
                  <a:latin typeface="Symbol"/>
                  <a:ea typeface="Symbol"/>
                </a:rPr>
                <a:t></a:t>
              </a:r>
              <a:endParaRPr lang="it-IT" sz="16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556" name="Text Box 31"/>
            <p:cNvSpPr/>
            <p:nvPr/>
          </p:nvSpPr>
          <p:spPr>
            <a:xfrm>
              <a:off x="4976640" y="1143000"/>
              <a:ext cx="239760" cy="337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spAutoFit/>
            </a:bodyPr>
            <a:p>
              <a:pPr>
                <a:lnSpc>
                  <a:spcPct val="100000"/>
                </a:lnSpc>
                <a:spcBef>
                  <a:spcPts val="1001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600" b="0" u="none" strike="noStrike">
                  <a:solidFill>
                    <a:srgbClr val="000000"/>
                  </a:solidFill>
                  <a:effectLst/>
                  <a:uFillTx/>
                  <a:latin typeface="Symbol"/>
                  <a:ea typeface="Symbol"/>
                </a:rPr>
                <a:t></a:t>
              </a:r>
              <a:endParaRPr lang="it-IT" sz="16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557" name="Text Box 32"/>
            <p:cNvSpPr/>
            <p:nvPr/>
          </p:nvSpPr>
          <p:spPr>
            <a:xfrm>
              <a:off x="4297320" y="1668600"/>
              <a:ext cx="239760" cy="337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spAutoFit/>
            </a:bodyPr>
            <a:p>
              <a:pPr>
                <a:lnSpc>
                  <a:spcPct val="100000"/>
                </a:lnSpc>
                <a:spcBef>
                  <a:spcPts val="1001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600" b="0" u="none" strike="noStrike">
                  <a:solidFill>
                    <a:srgbClr val="000000"/>
                  </a:solidFill>
                  <a:effectLst/>
                  <a:uFillTx/>
                  <a:latin typeface="Symbol"/>
                  <a:ea typeface="Symbol"/>
                </a:rPr>
                <a:t></a:t>
              </a:r>
              <a:endParaRPr lang="it-IT" sz="16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558" name="Text Box 33"/>
            <p:cNvSpPr/>
            <p:nvPr/>
          </p:nvSpPr>
          <p:spPr>
            <a:xfrm>
              <a:off x="5697360" y="1668600"/>
              <a:ext cx="239760" cy="337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spAutoFit/>
            </a:bodyPr>
            <a:p>
              <a:pPr>
                <a:lnSpc>
                  <a:spcPct val="100000"/>
                </a:lnSpc>
                <a:spcBef>
                  <a:spcPts val="1001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600" b="0" u="none" strike="noStrike">
                  <a:solidFill>
                    <a:srgbClr val="000000"/>
                  </a:solidFill>
                  <a:effectLst/>
                  <a:uFillTx/>
                  <a:latin typeface="Symbol"/>
                  <a:ea typeface="Symbol"/>
                </a:rPr>
                <a:t></a:t>
              </a:r>
              <a:endParaRPr lang="it-IT" sz="16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559" name="Text Box 34"/>
            <p:cNvSpPr/>
            <p:nvPr/>
          </p:nvSpPr>
          <p:spPr>
            <a:xfrm>
              <a:off x="4297320" y="2211480"/>
              <a:ext cx="238320" cy="337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spAutoFit/>
            </a:bodyPr>
            <a:p>
              <a:pPr>
                <a:lnSpc>
                  <a:spcPct val="100000"/>
                </a:lnSpc>
                <a:spcBef>
                  <a:spcPts val="1001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600" b="0" u="none" strike="noStrike">
                  <a:solidFill>
                    <a:srgbClr val="000000"/>
                  </a:solidFill>
                  <a:effectLst/>
                  <a:uFillTx/>
                  <a:latin typeface="Symbol"/>
                  <a:ea typeface="Symbol"/>
                </a:rPr>
                <a:t></a:t>
              </a:r>
              <a:endParaRPr lang="it-IT" sz="16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560" name="Text Box 35"/>
            <p:cNvSpPr/>
            <p:nvPr/>
          </p:nvSpPr>
          <p:spPr>
            <a:xfrm>
              <a:off x="5697360" y="2211480"/>
              <a:ext cx="239760" cy="337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spAutoFit/>
            </a:bodyPr>
            <a:p>
              <a:pPr>
                <a:lnSpc>
                  <a:spcPct val="100000"/>
                </a:lnSpc>
                <a:spcBef>
                  <a:spcPts val="1001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600" b="0" u="none" strike="noStrike">
                  <a:solidFill>
                    <a:srgbClr val="000000"/>
                  </a:solidFill>
                  <a:effectLst/>
                  <a:uFillTx/>
                  <a:latin typeface="Symbol"/>
                  <a:ea typeface="Symbol"/>
                </a:rPr>
                <a:t></a:t>
              </a:r>
              <a:endParaRPr lang="it-IT" sz="16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561" name="Text Box 36"/>
            <p:cNvSpPr/>
            <p:nvPr/>
          </p:nvSpPr>
          <p:spPr>
            <a:xfrm>
              <a:off x="3657600" y="1828800"/>
              <a:ext cx="239760" cy="337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spAutoFit/>
            </a:bodyPr>
            <a:p>
              <a:pPr>
                <a:lnSpc>
                  <a:spcPct val="100000"/>
                </a:lnSpc>
                <a:spcBef>
                  <a:spcPts val="1001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600" b="0" u="none" strike="noStrike">
                  <a:solidFill>
                    <a:srgbClr val="000000"/>
                  </a:solidFill>
                  <a:effectLst/>
                  <a:uFillTx/>
                  <a:latin typeface="Symbol"/>
                  <a:ea typeface="Symbol"/>
                </a:rPr>
                <a:t></a:t>
              </a:r>
              <a:endParaRPr lang="it-IT" sz="16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562" name="Text Box 37"/>
            <p:cNvSpPr/>
            <p:nvPr/>
          </p:nvSpPr>
          <p:spPr>
            <a:xfrm>
              <a:off x="6248520" y="1828800"/>
              <a:ext cx="239760" cy="337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spAutoFit/>
            </a:bodyPr>
            <a:p>
              <a:pPr>
                <a:lnSpc>
                  <a:spcPct val="100000"/>
                </a:lnSpc>
                <a:spcBef>
                  <a:spcPts val="1001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600" b="0" u="none" strike="noStrike">
                  <a:solidFill>
                    <a:srgbClr val="000000"/>
                  </a:solidFill>
                  <a:effectLst/>
                  <a:uFillTx/>
                  <a:latin typeface="Symbol"/>
                  <a:ea typeface="Symbol"/>
                </a:rPr>
                <a:t></a:t>
              </a:r>
              <a:endParaRPr lang="it-IT" sz="16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</p:grpSp>
      <p:grpSp>
        <p:nvGrpSpPr>
          <p:cNvPr id="563" name="Group 125"/>
          <p:cNvGrpSpPr/>
          <p:nvPr/>
        </p:nvGrpSpPr>
        <p:grpSpPr>
          <a:xfrm>
            <a:off x="5967360" y="3733920"/>
            <a:ext cx="2109600" cy="2069280"/>
            <a:chOff x="5967360" y="3733920"/>
            <a:chExt cx="2109600" cy="2069280"/>
          </a:xfrm>
        </p:grpSpPr>
        <p:sp>
          <p:nvSpPr>
            <p:cNvPr id="564" name="Oval 39"/>
            <p:cNvSpPr/>
            <p:nvPr/>
          </p:nvSpPr>
          <p:spPr>
            <a:xfrm>
              <a:off x="7567560" y="5105160"/>
              <a:ext cx="361800" cy="371160"/>
            </a:xfrm>
            <a:prstGeom prst="ellipse">
              <a:avLst/>
            </a:prstGeom>
            <a:noFill/>
            <a:ln w="381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ctr">
              <a:noAutofit/>
            </a:bodyPr>
            <a:p>
              <a:pPr algn="ctr"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400" b="0" i="1" u="none" strike="noStrike">
                  <a:solidFill>
                    <a:srgbClr val="000000"/>
                  </a:solidFill>
                  <a:effectLst/>
                  <a:uFillTx/>
                  <a:latin typeface="Arial Rounded MT Bold"/>
                </a:rPr>
                <a:t>s</a:t>
              </a:r>
              <a:r>
                <a:rPr lang="en-US" sz="1400" b="0" i="1" u="none" strike="noStrike" baseline="-25000">
                  <a:solidFill>
                    <a:srgbClr val="000000"/>
                  </a:solidFill>
                  <a:effectLst/>
                  <a:uFillTx/>
                  <a:latin typeface="Arial Rounded MT Bold"/>
                </a:rPr>
                <a:t>3 </a:t>
              </a:r>
              <a:endParaRPr lang="it-IT" sz="14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565" name="Oval 40"/>
            <p:cNvSpPr/>
            <p:nvPr/>
          </p:nvSpPr>
          <p:spPr>
            <a:xfrm>
              <a:off x="7567560" y="4190760"/>
              <a:ext cx="361800" cy="371160"/>
            </a:xfrm>
            <a:prstGeom prst="ellipse">
              <a:avLst/>
            </a:prstGeom>
            <a:noFill/>
            <a:ln w="381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ctr">
              <a:noAutofit/>
            </a:bodyPr>
            <a:p>
              <a:pPr algn="ctr"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400" b="0" i="1" u="none" strike="noStrike">
                  <a:solidFill>
                    <a:srgbClr val="000000"/>
                  </a:solidFill>
                  <a:effectLst/>
                  <a:uFillTx/>
                  <a:latin typeface="Arial Rounded MT Bold"/>
                </a:rPr>
                <a:t>s</a:t>
              </a:r>
              <a:r>
                <a:rPr lang="en-US" sz="1400" b="0" i="1" u="none" strike="noStrike" baseline="-25000">
                  <a:solidFill>
                    <a:srgbClr val="000000"/>
                  </a:solidFill>
                  <a:effectLst/>
                  <a:uFillTx/>
                  <a:latin typeface="Arial Rounded MT Bold"/>
                </a:rPr>
                <a:t>2 </a:t>
              </a:r>
              <a:endParaRPr lang="it-IT" sz="14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566" name="Oval 41"/>
            <p:cNvSpPr/>
            <p:nvPr/>
          </p:nvSpPr>
          <p:spPr>
            <a:xfrm>
              <a:off x="5967360" y="4647960"/>
              <a:ext cx="361800" cy="371160"/>
            </a:xfrm>
            <a:prstGeom prst="ellipse">
              <a:avLst/>
            </a:prstGeom>
            <a:noFill/>
            <a:ln w="1908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ctr">
              <a:noAutofit/>
            </a:bodyPr>
            <a:p>
              <a:pPr algn="ctr"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400" b="0" i="1" u="none" strike="noStrike">
                  <a:solidFill>
                    <a:srgbClr val="000000"/>
                  </a:solidFill>
                  <a:effectLst/>
                  <a:uFillTx/>
                  <a:latin typeface="Arial Rounded MT Bold"/>
                </a:rPr>
                <a:t>s</a:t>
              </a:r>
              <a:r>
                <a:rPr lang="en-US" sz="1400" b="0" i="1" u="none" strike="noStrike" baseline="-25000">
                  <a:solidFill>
                    <a:srgbClr val="000000"/>
                  </a:solidFill>
                  <a:effectLst/>
                  <a:uFillTx/>
                  <a:latin typeface="Arial Rounded MT Bold"/>
                </a:rPr>
                <a:t>0 </a:t>
              </a:r>
              <a:endParaRPr lang="it-IT" sz="14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567" name="Oval 42"/>
            <p:cNvSpPr/>
            <p:nvPr/>
          </p:nvSpPr>
          <p:spPr>
            <a:xfrm>
              <a:off x="6805440" y="4647960"/>
              <a:ext cx="361800" cy="371160"/>
            </a:xfrm>
            <a:prstGeom prst="ellipse">
              <a:avLst/>
            </a:prstGeom>
            <a:noFill/>
            <a:ln w="381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ctr">
              <a:noAutofit/>
            </a:bodyPr>
            <a:p>
              <a:pPr algn="ctr"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400" b="0" i="1" u="none" strike="noStrike">
                  <a:solidFill>
                    <a:srgbClr val="000000"/>
                  </a:solidFill>
                  <a:effectLst/>
                  <a:uFillTx/>
                  <a:latin typeface="Arial Rounded MT Bold"/>
                </a:rPr>
                <a:t>s</a:t>
              </a:r>
              <a:r>
                <a:rPr lang="en-US" sz="1400" b="0" i="1" u="none" strike="noStrike" baseline="-25000">
                  <a:solidFill>
                    <a:srgbClr val="000000"/>
                  </a:solidFill>
                  <a:effectLst/>
                  <a:uFillTx/>
                  <a:latin typeface="Arial Rounded MT Bold"/>
                </a:rPr>
                <a:t>1 </a:t>
              </a:r>
              <a:endParaRPr lang="it-IT" sz="14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568" name="Line 43"/>
            <p:cNvSpPr/>
            <p:nvPr/>
          </p:nvSpPr>
          <p:spPr>
            <a:xfrm>
              <a:off x="6348240" y="4833720"/>
              <a:ext cx="457200" cy="0"/>
            </a:xfrm>
            <a:prstGeom prst="line">
              <a:avLst/>
            </a:prstGeom>
            <a:ln w="9360">
              <a:solidFill>
                <a:srgbClr val="000000"/>
              </a:solidFill>
              <a:miter/>
              <a:tailEnd len="med" type="triangle" w="med"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46800" rIns="90000" bIns="-46800" anchor="ctr">
              <a:noAutofit/>
            </a:bodyPr>
            <a:p>
              <a:endParaRPr lang="it-IT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569" name="Line 44"/>
            <p:cNvSpPr/>
            <p:nvPr/>
          </p:nvSpPr>
          <p:spPr>
            <a:xfrm flipV="1">
              <a:off x="7154640" y="4478040"/>
              <a:ext cx="438120" cy="272880"/>
            </a:xfrm>
            <a:prstGeom prst="line">
              <a:avLst/>
            </a:prstGeom>
            <a:ln w="9360">
              <a:solidFill>
                <a:srgbClr val="000000"/>
              </a:solidFill>
              <a:miter/>
              <a:tailEnd len="med" type="triangle" w="med"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ctr">
              <a:noAutofit/>
            </a:bodyPr>
            <a:p>
              <a:endParaRPr lang="it-IT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570" name="Line 45"/>
            <p:cNvSpPr/>
            <p:nvPr/>
          </p:nvSpPr>
          <p:spPr>
            <a:xfrm>
              <a:off x="7143480" y="4917960"/>
              <a:ext cx="438120" cy="272520"/>
            </a:xfrm>
            <a:prstGeom prst="line">
              <a:avLst/>
            </a:prstGeom>
            <a:ln w="9360">
              <a:solidFill>
                <a:srgbClr val="000000"/>
              </a:solidFill>
              <a:miter/>
              <a:tailEnd len="med" type="triangle" w="med"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ctr">
              <a:noAutofit/>
            </a:bodyPr>
            <a:p>
              <a:endParaRPr lang="it-IT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cxnSp>
          <p:nvCxnSpPr>
            <p:cNvPr id="571" name="AutoShape 46"/>
            <p:cNvCxnSpPr>
              <a:stCxn id="565" idx="7"/>
              <a:endCxn id="565" idx="1"/>
            </p:cNvCxnSpPr>
            <p:nvPr/>
          </p:nvCxnSpPr>
          <p:spPr>
            <a:xfrm rot="5400000">
              <a:off x="7746840" y="4097520"/>
              <a:ext cx="2160" cy="258120"/>
            </a:xfrm>
            <a:prstGeom prst="curvedConnector5">
              <a:avLst>
                <a:gd name="adj1" fmla="val -16600000"/>
                <a:gd name="adj2" fmla="val 50000"/>
                <a:gd name="adj3" fmla="val -16600000"/>
              </a:avLst>
            </a:prstGeom>
            <a:ln w="9360">
              <a:solidFill>
                <a:srgbClr val="000000"/>
              </a:solidFill>
              <a:miter/>
              <a:tailEnd len="med" type="triangle" w="med"/>
            </a:ln>
          </p:spPr>
        </p:cxnSp>
        <p:cxnSp>
          <p:nvCxnSpPr>
            <p:cNvPr id="572" name="AutoShape 47"/>
            <p:cNvCxnSpPr>
              <a:stCxn id="564" idx="5"/>
              <a:endCxn id="564" idx="3"/>
            </p:cNvCxnSpPr>
            <p:nvPr/>
          </p:nvCxnSpPr>
          <p:spPr>
            <a:xfrm rot="5400000">
              <a:off x="7746840" y="5313600"/>
              <a:ext cx="2160" cy="258120"/>
            </a:xfrm>
            <a:prstGeom prst="curvedConnector5">
              <a:avLst>
                <a:gd name="adj1" fmla="val 16600000"/>
                <a:gd name="adj2" fmla="val 50000"/>
                <a:gd name="adj3" fmla="val 16600000"/>
              </a:avLst>
            </a:prstGeom>
            <a:ln w="9360">
              <a:solidFill>
                <a:srgbClr val="000000"/>
              </a:solidFill>
              <a:miter/>
              <a:tailEnd len="med" type="triangle" w="med"/>
            </a:ln>
          </p:spPr>
        </p:cxnSp>
        <p:sp>
          <p:nvSpPr>
            <p:cNvPr id="573" name="Text Box 48"/>
            <p:cNvSpPr/>
            <p:nvPr/>
          </p:nvSpPr>
          <p:spPr>
            <a:xfrm>
              <a:off x="7172280" y="4978440"/>
              <a:ext cx="239760" cy="3074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spAutoFit/>
            </a:bodyPr>
            <a:p>
              <a:pPr>
                <a:lnSpc>
                  <a:spcPct val="100000"/>
                </a:lnSpc>
                <a:spcBef>
                  <a:spcPts val="876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400" b="0" u="sng" strike="noStrike">
                  <a:solidFill>
                    <a:srgbClr val="000000"/>
                  </a:solidFill>
                  <a:effectLst/>
                  <a:uFillTx/>
                  <a:latin typeface="Arial Rounded MT Bold"/>
                </a:rPr>
                <a:t>c</a:t>
              </a:r>
              <a:endParaRPr lang="it-IT" sz="14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574" name="Text Box 49"/>
            <p:cNvSpPr/>
            <p:nvPr/>
          </p:nvSpPr>
          <p:spPr>
            <a:xfrm>
              <a:off x="7172280" y="4336920"/>
              <a:ext cx="239760" cy="3074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spAutoFit/>
            </a:bodyPr>
            <a:p>
              <a:pPr>
                <a:lnSpc>
                  <a:spcPct val="100000"/>
                </a:lnSpc>
                <a:spcBef>
                  <a:spcPts val="876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400" b="0" u="sng" strike="noStrike">
                  <a:solidFill>
                    <a:srgbClr val="000000"/>
                  </a:solidFill>
                  <a:effectLst/>
                  <a:uFillTx/>
                  <a:latin typeface="Arial Rounded MT Bold"/>
                </a:rPr>
                <a:t>b</a:t>
              </a:r>
              <a:endParaRPr lang="it-IT" sz="14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575" name="Text Box 50"/>
            <p:cNvSpPr/>
            <p:nvPr/>
          </p:nvSpPr>
          <p:spPr>
            <a:xfrm>
              <a:off x="6381720" y="4564080"/>
              <a:ext cx="239400" cy="3074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spAutoFit/>
            </a:bodyPr>
            <a:p>
              <a:pPr>
                <a:lnSpc>
                  <a:spcPct val="100000"/>
                </a:lnSpc>
                <a:spcBef>
                  <a:spcPts val="876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400" b="0" u="sng" strike="noStrike">
                  <a:solidFill>
                    <a:srgbClr val="000000"/>
                  </a:solidFill>
                  <a:effectLst/>
                  <a:uFillTx/>
                  <a:latin typeface="Arial Rounded MT Bold"/>
                </a:rPr>
                <a:t>a</a:t>
              </a:r>
              <a:endParaRPr lang="it-IT" sz="14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576" name="Text Box 51"/>
            <p:cNvSpPr/>
            <p:nvPr/>
          </p:nvSpPr>
          <p:spPr>
            <a:xfrm>
              <a:off x="7796160" y="3733920"/>
              <a:ext cx="239760" cy="3074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spAutoFit/>
            </a:bodyPr>
            <a:p>
              <a:pPr>
                <a:lnSpc>
                  <a:spcPct val="100000"/>
                </a:lnSpc>
                <a:spcBef>
                  <a:spcPts val="876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400" b="0" u="sng" strike="noStrike">
                  <a:solidFill>
                    <a:srgbClr val="000000"/>
                  </a:solidFill>
                  <a:effectLst/>
                  <a:uFillTx/>
                  <a:latin typeface="Arial Rounded MT Bold"/>
                </a:rPr>
                <a:t>b</a:t>
              </a:r>
              <a:endParaRPr lang="it-IT" sz="14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577" name="Text Box 52"/>
            <p:cNvSpPr/>
            <p:nvPr/>
          </p:nvSpPr>
          <p:spPr>
            <a:xfrm>
              <a:off x="7405560" y="4698720"/>
              <a:ext cx="239760" cy="3074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spAutoFit/>
            </a:bodyPr>
            <a:p>
              <a:pPr>
                <a:lnSpc>
                  <a:spcPct val="100000"/>
                </a:lnSpc>
                <a:spcBef>
                  <a:spcPts val="876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400" b="0" u="sng" strike="noStrike">
                  <a:solidFill>
                    <a:srgbClr val="000000"/>
                  </a:solidFill>
                  <a:effectLst/>
                  <a:uFillTx/>
                  <a:latin typeface="Arial Rounded MT Bold"/>
                </a:rPr>
                <a:t>b</a:t>
              </a:r>
              <a:endParaRPr lang="it-IT" sz="14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578" name="Text Box 53"/>
            <p:cNvSpPr/>
            <p:nvPr/>
          </p:nvSpPr>
          <p:spPr>
            <a:xfrm>
              <a:off x="7773840" y="5495760"/>
              <a:ext cx="239760" cy="3074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spAutoFit/>
            </a:bodyPr>
            <a:p>
              <a:pPr>
                <a:lnSpc>
                  <a:spcPct val="100000"/>
                </a:lnSpc>
                <a:spcBef>
                  <a:spcPts val="876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400" b="0" u="sng" strike="noStrike">
                  <a:solidFill>
                    <a:srgbClr val="000000"/>
                  </a:solidFill>
                  <a:effectLst/>
                  <a:uFillTx/>
                  <a:latin typeface="Arial Rounded MT Bold"/>
                </a:rPr>
                <a:t>c</a:t>
              </a:r>
              <a:endParaRPr lang="it-IT" sz="14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579" name="Text Box 54"/>
            <p:cNvSpPr/>
            <p:nvPr/>
          </p:nvSpPr>
          <p:spPr>
            <a:xfrm>
              <a:off x="7837200" y="4698720"/>
              <a:ext cx="239760" cy="3074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spAutoFit/>
            </a:bodyPr>
            <a:p>
              <a:pPr>
                <a:lnSpc>
                  <a:spcPct val="100000"/>
                </a:lnSpc>
                <a:spcBef>
                  <a:spcPts val="876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400" b="0" u="sng" strike="noStrike">
                  <a:solidFill>
                    <a:srgbClr val="000000"/>
                  </a:solidFill>
                  <a:effectLst/>
                  <a:uFillTx/>
                  <a:latin typeface="Arial Rounded MT Bold"/>
                </a:rPr>
                <a:t>c</a:t>
              </a:r>
              <a:endParaRPr lang="it-IT" sz="14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580" name="Line 55"/>
            <p:cNvSpPr/>
            <p:nvPr/>
          </p:nvSpPr>
          <p:spPr>
            <a:xfrm>
              <a:off x="7854840" y="4521240"/>
              <a:ext cx="0" cy="609120"/>
            </a:xfrm>
            <a:prstGeom prst="line">
              <a:avLst/>
            </a:prstGeom>
            <a:ln w="9360">
              <a:solidFill>
                <a:srgbClr val="000000"/>
              </a:solidFill>
              <a:miter/>
              <a:tailEnd len="med" type="triangle" w="med"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ctr">
              <a:noAutofit/>
            </a:bodyPr>
            <a:p>
              <a:endParaRPr lang="it-IT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581" name="Line 56"/>
            <p:cNvSpPr/>
            <p:nvPr/>
          </p:nvSpPr>
          <p:spPr>
            <a:xfrm>
              <a:off x="7626240" y="4521240"/>
              <a:ext cx="0" cy="609120"/>
            </a:xfrm>
            <a:prstGeom prst="line">
              <a:avLst/>
            </a:prstGeom>
            <a:ln w="9360">
              <a:solidFill>
                <a:srgbClr val="000000"/>
              </a:solidFill>
              <a:miter/>
              <a:headEnd len="med" type="triangle" w="med"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ctr">
              <a:noAutofit/>
            </a:bodyPr>
            <a:p>
              <a:endParaRPr lang="it-IT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</p:grpSp>
      <p:sp>
        <p:nvSpPr>
          <p:cNvPr id="582" name="Oval 57"/>
          <p:cNvSpPr/>
          <p:nvPr/>
        </p:nvSpPr>
        <p:spPr>
          <a:xfrm>
            <a:off x="1854360" y="4851360"/>
            <a:ext cx="253800" cy="228600"/>
          </a:xfrm>
          <a:prstGeom prst="ellipse">
            <a:avLst/>
          </a:prstGeom>
          <a:noFill/>
          <a:ln w="12600">
            <a:solidFill>
              <a:srgbClr val="0000CC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583" name="Oval 58"/>
          <p:cNvSpPr/>
          <p:nvPr/>
        </p:nvSpPr>
        <p:spPr>
          <a:xfrm>
            <a:off x="1846440" y="5070600"/>
            <a:ext cx="253800" cy="228600"/>
          </a:xfrm>
          <a:prstGeom prst="ellipse">
            <a:avLst/>
          </a:prstGeom>
          <a:noFill/>
          <a:ln w="12600">
            <a:solidFill>
              <a:srgbClr val="0000CC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584" name="Oval 59"/>
          <p:cNvSpPr/>
          <p:nvPr/>
        </p:nvSpPr>
        <p:spPr>
          <a:xfrm>
            <a:off x="1855800" y="5459400"/>
            <a:ext cx="254160" cy="228600"/>
          </a:xfrm>
          <a:prstGeom prst="ellipse">
            <a:avLst/>
          </a:prstGeom>
          <a:noFill/>
          <a:ln w="12600">
            <a:solidFill>
              <a:srgbClr val="0000CC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graphicFrame>
        <p:nvGraphicFramePr>
          <p:cNvPr id="585" name=""/>
          <p:cNvGraphicFramePr/>
          <p:nvPr/>
        </p:nvGraphicFramePr>
        <p:xfrm>
          <a:off x="762120" y="3395520"/>
          <a:ext cx="4267080" cy="3081600"/>
        </p:xfrm>
        <a:graphic>
          <a:graphicData uri="http://schemas.openxmlformats.org/drawingml/2006/table">
            <a:tbl>
              <a:tblPr/>
              <a:tblGrid>
                <a:gridCol w="609480"/>
                <a:gridCol w="990720"/>
                <a:gridCol w="914400"/>
                <a:gridCol w="761760"/>
                <a:gridCol w="990720"/>
              </a:tblGrid>
              <a:tr h="386280">
                <a:tc gridSpan="2">
                  <a:txBody>
                    <a:bodyPr lIns="90000" tIns="46800" rIns="90000" bIns="46800" anchor="t">
                      <a:noAutofit/>
                    </a:bodyPr>
                    <a:p>
                      <a:pPr>
                        <a:lnSpc>
                          <a:spcPct val="120000"/>
                        </a:lnSpc>
                        <a:spcBef>
                          <a:spcPts val="4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        States</a:t>
                      </a:r>
                      <a:endParaRPr lang="it-IT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>
                      <a:noFill/>
                    </a:lnL>
                    <a:lnR>
                      <a:noFill/>
                    </a:lnR>
                    <a:lnT w="13680">
                      <a:solidFill>
                        <a:srgbClr val="B025A6"/>
                      </a:solidFill>
                      <a:prstDash val="solid"/>
                    </a:lnT>
                    <a:lnB>
                      <a:noFill/>
                    </a:lnB>
                    <a:solidFill>
                      <a:srgbClr val="E5E5E5"/>
                    </a:solidFill>
                  </a:tcPr>
                </a:tc>
                <a:tc hMerge="1">
                  <a:txBody>
                    <a:bodyPr lIns="90000" tIns="45000" rIns="90000" bIns="45000" anchor="t">
                      <a:noAutofit/>
                    </a:bodyPr>
                    <a:p>
                      <a:endParaRPr lang="it-IT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gridSpan="3"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6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Symbol"/>
                          <a:ea typeface="Symbol"/>
                        </a:rPr>
                        <a:t></a:t>
                      </a: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-closure(Move(s,*))</a:t>
                      </a:r>
                      <a:endParaRPr lang="it-IT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>
                      <a:noFill/>
                    </a:lnL>
                    <a:lnR>
                      <a:noFill/>
                    </a:lnR>
                    <a:lnT w="13680">
                      <a:solidFill>
                        <a:srgbClr val="B025A6"/>
                      </a:solidFill>
                      <a:prstDash val="solid"/>
                    </a:lnT>
                    <a:lnB>
                      <a:noFill/>
                    </a:lnB>
                    <a:solidFill>
                      <a:srgbClr val="E5E5E5"/>
                    </a:solidFill>
                  </a:tcPr>
                </a:tc>
                <a:tc hMerge="1">
                  <a:txBody>
                    <a:bodyPr lIns="90000" tIns="45000" rIns="90000" bIns="45000" anchor="t">
                      <a:noAutofit/>
                    </a:bodyPr>
                    <a:p>
                      <a:endParaRPr lang="it-IT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tIns="45000" rIns="90000" bIns="45000" anchor="t">
                      <a:noAutofit/>
                    </a:bodyPr>
                    <a:p>
                      <a:endParaRPr lang="it-IT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</a:tr>
              <a:tr h="337680"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spcBef>
                          <a:spcPts val="4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DFA</a:t>
                      </a:r>
                      <a:endParaRPr lang="it-IT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5760">
                      <a:solidFill>
                        <a:srgbClr val="B025A6"/>
                      </a:solidFill>
                      <a:prstDash val="solid"/>
                    </a:lnB>
                    <a:solidFill>
                      <a:srgbClr val="E5E5E5"/>
                    </a:solidFill>
                  </a:tcPr>
                </a:tc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spcBef>
                          <a:spcPts val="4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NFA</a:t>
                      </a:r>
                      <a:endParaRPr lang="it-IT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5760">
                      <a:solidFill>
                        <a:srgbClr val="B025A6"/>
                      </a:solidFill>
                      <a:prstDash val="solid"/>
                    </a:lnB>
                    <a:solidFill>
                      <a:srgbClr val="E5E5E5"/>
                    </a:solidFill>
                  </a:tcPr>
                </a:tc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spcBef>
                          <a:spcPts val="4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600" b="0" u="sng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a</a:t>
                      </a:r>
                      <a:endParaRPr lang="it-IT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5760">
                      <a:solidFill>
                        <a:srgbClr val="B025A6"/>
                      </a:solidFill>
                      <a:prstDash val="solid"/>
                    </a:lnB>
                    <a:solidFill>
                      <a:srgbClr val="E5E5E5"/>
                    </a:solidFill>
                  </a:tcPr>
                </a:tc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spcBef>
                          <a:spcPts val="4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600" b="0" u="sng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b</a:t>
                      </a:r>
                      <a:endParaRPr lang="it-IT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5760">
                      <a:solidFill>
                        <a:srgbClr val="B025A6"/>
                      </a:solidFill>
                      <a:prstDash val="solid"/>
                    </a:lnB>
                    <a:solidFill>
                      <a:srgbClr val="E5E5E5"/>
                    </a:solidFill>
                  </a:tcPr>
                </a:tc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spcBef>
                          <a:spcPts val="4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600" b="0" u="sng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c</a:t>
                      </a:r>
                      <a:endParaRPr lang="it-IT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5760">
                      <a:solidFill>
                        <a:srgbClr val="B025A6"/>
                      </a:solidFill>
                      <a:prstDash val="solid"/>
                    </a:lnB>
                    <a:solidFill>
                      <a:srgbClr val="E5E5E5"/>
                    </a:solidFill>
                  </a:tcPr>
                </a:tc>
              </a:tr>
              <a:tr h="537480"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lnSpc>
                          <a:spcPct val="140000"/>
                        </a:lnSpc>
                        <a:spcBef>
                          <a:spcPts val="4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s</a:t>
                      </a:r>
                      <a:r>
                        <a:rPr lang="en-US" sz="1600" b="0" i="1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0</a:t>
                      </a:r>
                      <a:endParaRPr lang="it-IT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>
                      <a:noFill/>
                    </a:lnL>
                    <a:lnR>
                      <a:noFill/>
                    </a:lnR>
                    <a:lnT w="5760">
                      <a:solidFill>
                        <a:srgbClr val="B025A6"/>
                      </a:solidFill>
                      <a:prstDash val="solid"/>
                    </a:lnT>
                    <a:lnB>
                      <a:noFill/>
                    </a:lnB>
                    <a:solidFill>
                      <a:srgbClr val="E5E5E5"/>
                    </a:solidFill>
                  </a:tcPr>
                </a:tc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lnSpc>
                          <a:spcPct val="140000"/>
                        </a:lnSpc>
                        <a:spcBef>
                          <a:spcPts val="4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q</a:t>
                      </a:r>
                      <a:r>
                        <a:rPr lang="en-US" sz="1600" b="0" i="1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0</a:t>
                      </a:r>
                      <a:endParaRPr lang="it-IT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>
                      <a:noFill/>
                    </a:lnL>
                    <a:lnR>
                      <a:noFill/>
                    </a:lnR>
                    <a:lnT w="5760">
                      <a:solidFill>
                        <a:srgbClr val="B025A6"/>
                      </a:solidFill>
                      <a:prstDash val="solid"/>
                    </a:lnT>
                    <a:lnB>
                      <a:noFill/>
                    </a:lnB>
                    <a:solidFill>
                      <a:srgbClr val="E5E5E5"/>
                    </a:solidFill>
                  </a:tcPr>
                </a:tc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lnSpc>
                          <a:spcPct val="16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s</a:t>
                      </a:r>
                      <a:r>
                        <a:rPr lang="en-US" sz="1600" b="0" i="1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1</a:t>
                      </a:r>
                      <a:endParaRPr lang="it-IT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>
                      <a:noFill/>
                    </a:lnL>
                    <a:lnR>
                      <a:noFill/>
                    </a:lnR>
                    <a:lnT w="5760">
                      <a:solidFill>
                        <a:srgbClr val="B025A6"/>
                      </a:solidFill>
                      <a:prstDash val="soli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lnSpc>
                          <a:spcPct val="160000"/>
                        </a:lnSpc>
                        <a:spcBef>
                          <a:spcPts val="4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none</a:t>
                      </a:r>
                      <a:endParaRPr lang="it-IT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>
                      <a:noFill/>
                    </a:lnL>
                    <a:lnR>
                      <a:noFill/>
                    </a:lnR>
                    <a:lnT w="5760">
                      <a:solidFill>
                        <a:srgbClr val="B025A6"/>
                      </a:solidFill>
                      <a:prstDash val="soli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lnSpc>
                          <a:spcPct val="160000"/>
                        </a:lnSpc>
                        <a:spcBef>
                          <a:spcPts val="4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none</a:t>
                      </a:r>
                      <a:endParaRPr lang="it-IT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>
                      <a:noFill/>
                    </a:lnL>
                    <a:lnR>
                      <a:noFill/>
                    </a:lnR>
                    <a:lnT w="5760">
                      <a:solidFill>
                        <a:srgbClr val="B025A6"/>
                      </a:solidFill>
                      <a:prstDash val="soli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603720"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lnSpc>
                          <a:spcPct val="160000"/>
                        </a:lnSpc>
                        <a:spcBef>
                          <a:spcPts val="4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s</a:t>
                      </a:r>
                      <a:r>
                        <a:rPr lang="en-US" sz="1600" b="0" i="1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1</a:t>
                      </a:r>
                      <a:endParaRPr lang="it-IT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5E5E5"/>
                    </a:solidFill>
                  </a:tcPr>
                </a:tc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lnSpc>
                          <a:spcPct val="9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4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q</a:t>
                      </a:r>
                      <a:r>
                        <a:rPr lang="en-US" sz="1400" b="0" i="1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1</a:t>
                      </a:r>
                      <a:r>
                        <a:rPr lang="en-US" sz="14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, q</a:t>
                      </a:r>
                      <a:r>
                        <a:rPr lang="en-US" sz="1400" b="0" i="1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2</a:t>
                      </a:r>
                      <a:r>
                        <a:rPr lang="en-US" sz="14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, q</a:t>
                      </a:r>
                      <a:r>
                        <a:rPr lang="en-US" sz="1400" b="0" i="1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3</a:t>
                      </a:r>
                      <a:r>
                        <a:rPr lang="en-US" sz="14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,</a:t>
                      </a:r>
                      <a:endParaRPr lang="it-IT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  <a:p>
                      <a:pPr algn="ctr">
                        <a:lnSpc>
                          <a:spcPct val="9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4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q</a:t>
                      </a:r>
                      <a:r>
                        <a:rPr lang="en-US" sz="1400" b="0" i="1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4</a:t>
                      </a:r>
                      <a:r>
                        <a:rPr lang="en-US" sz="14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, q</a:t>
                      </a:r>
                      <a:r>
                        <a:rPr lang="en-US" sz="1400" b="0" i="1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6</a:t>
                      </a:r>
                      <a:r>
                        <a:rPr lang="en-US" sz="14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, q</a:t>
                      </a:r>
                      <a:r>
                        <a:rPr lang="en-US" sz="1400" b="0" i="1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9</a:t>
                      </a:r>
                      <a:endParaRPr lang="it-IT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5E5E5"/>
                    </a:solidFill>
                  </a:tcPr>
                </a:tc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lnSpc>
                          <a:spcPct val="160000"/>
                        </a:lnSpc>
                        <a:spcBef>
                          <a:spcPts val="4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none</a:t>
                      </a:r>
                      <a:endParaRPr lang="it-IT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lnSpc>
                          <a:spcPct val="15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s</a:t>
                      </a:r>
                      <a:r>
                        <a:rPr lang="en-US" sz="1600" b="0" i="1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2</a:t>
                      </a:r>
                      <a:endParaRPr lang="it-IT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lnSpc>
                          <a:spcPct val="15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s</a:t>
                      </a:r>
                      <a:r>
                        <a:rPr lang="en-US" sz="1600" b="0" i="1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3</a:t>
                      </a:r>
                      <a:endParaRPr lang="it-IT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608400"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lnSpc>
                          <a:spcPct val="150000"/>
                        </a:lnSpc>
                        <a:spcBef>
                          <a:spcPts val="4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s</a:t>
                      </a:r>
                      <a:r>
                        <a:rPr lang="en-US" sz="1600" b="0" i="1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2</a:t>
                      </a:r>
                      <a:endParaRPr lang="it-IT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5E5E5"/>
                    </a:solidFill>
                  </a:tcPr>
                </a:tc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lnSpc>
                          <a:spcPct val="9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4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q</a:t>
                      </a:r>
                      <a:r>
                        <a:rPr lang="en-US" sz="1400" b="0" i="1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5</a:t>
                      </a:r>
                      <a:r>
                        <a:rPr lang="en-US" sz="14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, q</a:t>
                      </a:r>
                      <a:r>
                        <a:rPr lang="en-US" sz="1400" b="0" i="1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8</a:t>
                      </a:r>
                      <a:r>
                        <a:rPr lang="en-US" sz="14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, q</a:t>
                      </a:r>
                      <a:r>
                        <a:rPr lang="en-US" sz="1400" b="0" i="1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9</a:t>
                      </a:r>
                      <a:r>
                        <a:rPr lang="en-US" sz="14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,</a:t>
                      </a:r>
                      <a:endParaRPr lang="it-IT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  <a:p>
                      <a:pPr algn="ctr">
                        <a:lnSpc>
                          <a:spcPct val="9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4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q</a:t>
                      </a:r>
                      <a:r>
                        <a:rPr lang="en-US" sz="1400" b="0" i="1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3</a:t>
                      </a:r>
                      <a:r>
                        <a:rPr lang="en-US" sz="14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, q</a:t>
                      </a:r>
                      <a:r>
                        <a:rPr lang="en-US" sz="1400" b="0" i="1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4</a:t>
                      </a:r>
                      <a:r>
                        <a:rPr lang="en-US" sz="14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, q</a:t>
                      </a:r>
                      <a:r>
                        <a:rPr lang="en-US" sz="1400" b="0" i="1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6</a:t>
                      </a:r>
                      <a:endParaRPr lang="it-IT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5E5E5"/>
                    </a:solidFill>
                  </a:tcPr>
                </a:tc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lnSpc>
                          <a:spcPct val="150000"/>
                        </a:lnSpc>
                        <a:spcBef>
                          <a:spcPts val="4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none</a:t>
                      </a:r>
                      <a:endParaRPr lang="it-IT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lnSpc>
                          <a:spcPct val="150000"/>
                        </a:lnSpc>
                        <a:spcBef>
                          <a:spcPts val="4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s</a:t>
                      </a:r>
                      <a:r>
                        <a:rPr lang="en-US" sz="1600" b="0" i="1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2</a:t>
                      </a:r>
                      <a:endParaRPr lang="it-IT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lnSpc>
                          <a:spcPct val="150000"/>
                        </a:lnSpc>
                        <a:spcBef>
                          <a:spcPts val="4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s</a:t>
                      </a:r>
                      <a:r>
                        <a:rPr lang="en-US" sz="1600" b="0" i="1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3</a:t>
                      </a:r>
                      <a:endParaRPr lang="it-IT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608040"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s</a:t>
                      </a:r>
                      <a:r>
                        <a:rPr lang="en-US" sz="1600" b="0" i="1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3</a:t>
                      </a:r>
                      <a:endParaRPr lang="it-IT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3680">
                      <a:solidFill>
                        <a:srgbClr val="B025A6"/>
                      </a:solidFill>
                      <a:prstDash val="solid"/>
                    </a:lnB>
                    <a:solidFill>
                      <a:srgbClr val="E5E5E5"/>
                    </a:solidFill>
                  </a:tcPr>
                </a:tc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lnSpc>
                          <a:spcPct val="9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4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q</a:t>
                      </a:r>
                      <a:r>
                        <a:rPr lang="en-US" sz="1400" b="0" i="1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7</a:t>
                      </a:r>
                      <a:r>
                        <a:rPr lang="en-US" sz="14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, q</a:t>
                      </a:r>
                      <a:r>
                        <a:rPr lang="en-US" sz="1400" b="0" i="1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8</a:t>
                      </a:r>
                      <a:r>
                        <a:rPr lang="en-US" sz="14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, q</a:t>
                      </a:r>
                      <a:r>
                        <a:rPr lang="en-US" sz="1400" b="0" i="1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9</a:t>
                      </a:r>
                      <a:r>
                        <a:rPr lang="en-US" sz="14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,</a:t>
                      </a:r>
                      <a:endParaRPr lang="it-IT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  <a:p>
                      <a:pPr algn="ctr">
                        <a:lnSpc>
                          <a:spcPct val="9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4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q</a:t>
                      </a:r>
                      <a:r>
                        <a:rPr lang="en-US" sz="1400" b="0" i="1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3</a:t>
                      </a:r>
                      <a:r>
                        <a:rPr lang="en-US" sz="14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, q</a:t>
                      </a:r>
                      <a:r>
                        <a:rPr lang="en-US" sz="1400" b="0" i="1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4</a:t>
                      </a:r>
                      <a:r>
                        <a:rPr lang="en-US" sz="14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, q</a:t>
                      </a:r>
                      <a:r>
                        <a:rPr lang="en-US" sz="1400" b="0" i="1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6</a:t>
                      </a:r>
                      <a:endParaRPr lang="it-IT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3680">
                      <a:solidFill>
                        <a:srgbClr val="B025A6"/>
                      </a:solidFill>
                      <a:prstDash val="solid"/>
                    </a:lnB>
                    <a:solidFill>
                      <a:srgbClr val="E5E5E5"/>
                    </a:solidFill>
                  </a:tcPr>
                </a:tc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lnSpc>
                          <a:spcPct val="140000"/>
                        </a:lnSpc>
                        <a:spcBef>
                          <a:spcPts val="4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none</a:t>
                      </a:r>
                      <a:endParaRPr lang="it-IT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3680">
                      <a:solidFill>
                        <a:srgbClr val="B025A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lnSpc>
                          <a:spcPct val="150000"/>
                        </a:lnSpc>
                        <a:spcBef>
                          <a:spcPts val="4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s</a:t>
                      </a:r>
                      <a:r>
                        <a:rPr lang="en-US" sz="1600" b="0" i="1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2</a:t>
                      </a:r>
                      <a:endParaRPr lang="it-IT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3680">
                      <a:solidFill>
                        <a:srgbClr val="B025A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lnSpc>
                          <a:spcPct val="150000"/>
                        </a:lnSpc>
                        <a:spcBef>
                          <a:spcPts val="4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s</a:t>
                      </a:r>
                      <a:r>
                        <a:rPr lang="en-US" sz="1600" b="0" i="1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3</a:t>
                      </a:r>
                      <a:endParaRPr lang="it-IT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3680">
                      <a:solidFill>
                        <a:srgbClr val="B025A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86" name="AutoShape 126"/>
          <p:cNvSpPr/>
          <p:nvPr/>
        </p:nvSpPr>
        <p:spPr>
          <a:xfrm rot="3033000">
            <a:off x="6057720" y="3237840"/>
            <a:ext cx="1143000" cy="609840"/>
          </a:xfrm>
          <a:prstGeom prst="rightArrow">
            <a:avLst>
              <a:gd name="adj1" fmla="val 50000"/>
              <a:gd name="adj2" fmla="val 46857"/>
            </a:avLst>
          </a:prstGeom>
          <a:solidFill>
            <a:srgbClr val="FF0065"/>
          </a:solidFill>
          <a:ln w="9360">
            <a:solidFill>
              <a:srgbClr val="FF0065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587" name="Text Box 127"/>
          <p:cNvSpPr/>
          <p:nvPr/>
        </p:nvSpPr>
        <p:spPr>
          <a:xfrm>
            <a:off x="5562720" y="6248520"/>
            <a:ext cx="2438280" cy="33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spAutoFit/>
          </a:bodyPr>
          <a:p>
            <a:pPr>
              <a:spcBef>
                <a:spcPts val="1001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600" b="0" i="1" u="none" strike="noStrike">
                <a:solidFill>
                  <a:srgbClr val="FF0065"/>
                </a:solidFill>
                <a:effectLst/>
                <a:uFillTx/>
                <a:latin typeface="Comic Sans MS"/>
              </a:rPr>
              <a:t>From last lecture …</a:t>
            </a:r>
            <a:endParaRPr lang="it-IT" sz="16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588" name="Oval 129"/>
          <p:cNvSpPr/>
          <p:nvPr/>
        </p:nvSpPr>
        <p:spPr>
          <a:xfrm>
            <a:off x="2025720" y="4896000"/>
            <a:ext cx="304560" cy="304560"/>
          </a:xfrm>
          <a:prstGeom prst="ellipse">
            <a:avLst/>
          </a:prstGeom>
          <a:noFill/>
          <a:ln w="38160">
            <a:solidFill>
              <a:srgbClr val="B025A6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589" name="Oval 133"/>
          <p:cNvSpPr/>
          <p:nvPr/>
        </p:nvSpPr>
        <p:spPr>
          <a:xfrm>
            <a:off x="2025720" y="5286240"/>
            <a:ext cx="304560" cy="304920"/>
          </a:xfrm>
          <a:prstGeom prst="ellipse">
            <a:avLst/>
          </a:prstGeom>
          <a:noFill/>
          <a:ln w="38160">
            <a:solidFill>
              <a:srgbClr val="B025A6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590" name="Oval 134"/>
          <p:cNvSpPr/>
          <p:nvPr/>
        </p:nvSpPr>
        <p:spPr>
          <a:xfrm>
            <a:off x="2025720" y="5886360"/>
            <a:ext cx="304560" cy="304920"/>
          </a:xfrm>
          <a:prstGeom prst="ellipse">
            <a:avLst/>
          </a:prstGeom>
          <a:noFill/>
          <a:ln w="38160">
            <a:solidFill>
              <a:srgbClr val="B025A6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</p:spTree>
  </p:cSld>
  <p:transition>
    <p:wipe dir="r"/>
  </p:transition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1" name="Footer Placeholder 3"/>
          <p:cNvSpPr/>
          <p:nvPr/>
        </p:nvSpPr>
        <p:spPr>
          <a:xfrm>
            <a:off x="685800" y="6248520"/>
            <a:ext cx="289548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Autofit/>
          </a:bodyPr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Comp 412, Fall 2010</a:t>
            </a:r>
            <a:endParaRPr lang="it-IT" sz="12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592" name="Slide Number Placeholder 4"/>
          <p:cNvSpPr/>
          <p:nvPr/>
        </p:nvSpPr>
        <p:spPr>
          <a:xfrm>
            <a:off x="6553080" y="6248520"/>
            <a:ext cx="190512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Autofit/>
          </a:bodyPr>
          <a:p>
            <a:pPr algn="r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4748E9FC-601D-421A-8B06-7AABE815AD8B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&lt;number&gt;</a:t>
            </a:fld>
            <a:endParaRPr lang="it-IT" sz="12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593" name="PlaceHolder 1"/>
          <p:cNvSpPr>
            <a:spLocks noGrp="1"/>
          </p:cNvSpPr>
          <p:nvPr>
            <p:ph type="title"/>
          </p:nvPr>
        </p:nvSpPr>
        <p:spPr>
          <a:xfrm>
            <a:off x="685800" y="380880"/>
            <a:ext cx="7772400" cy="533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l">
              <a:spcBef>
                <a:spcPts val="18000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DFA Minimization</a:t>
            </a:r>
            <a:endParaRPr lang="it-IT" sz="24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594" name="PlaceHolder 2"/>
          <p:cNvSpPr>
            <a:spLocks noGrp="1"/>
          </p:cNvSpPr>
          <p:nvPr>
            <p:ph/>
          </p:nvPr>
        </p:nvSpPr>
        <p:spPr>
          <a:xfrm>
            <a:off x="685800" y="1143000"/>
            <a:ext cx="7772400" cy="495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p>
            <a:pPr marL="343080" indent="-343080" algn="l">
              <a:spcBef>
                <a:spcPts val="15001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Then, apply the minimization algorithm</a:t>
            </a:r>
            <a:endParaRPr lang="it-IT" sz="20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  <a:p>
            <a:pPr marL="343080" indent="-343080" algn="l">
              <a:spcBef>
                <a:spcPts val="17501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It splits no states after the initial partition</a:t>
            </a:r>
            <a:endParaRPr lang="it-IT" sz="20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  <a:p>
            <a:pPr marL="343080" indent="-343080" algn="l">
              <a:spcBef>
                <a:spcPts val="1250"/>
              </a:spcBef>
              <a:buClr>
                <a:srgbClr val="003C75"/>
              </a:buClr>
              <a:buSzPct val="120000"/>
              <a:buFont typeface="Symbol" charset="2"/>
              <a:buChar char="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The minimal DFA has two states </a:t>
            </a:r>
            <a:endParaRPr lang="it-IT" sz="20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  <a:p>
            <a:pPr marL="743040" lvl="1" indent="-285840" algn="l">
              <a:spcBef>
                <a:spcPts val="1125"/>
              </a:spcBef>
              <a:buClr>
                <a:srgbClr val="003C75"/>
              </a:buClr>
              <a:buFont typeface="Symbol" charset="2"/>
              <a:buChar char="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One for {</a:t>
            </a:r>
            <a:r>
              <a:rPr lang="en-US" sz="1800" b="0" i="1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s</a:t>
            </a:r>
            <a:r>
              <a:rPr lang="en-US" sz="1800" b="0" u="none" strike="noStrike" baseline="-25000">
                <a:solidFill>
                  <a:srgbClr val="000000"/>
                </a:solidFill>
                <a:effectLst/>
                <a:uFillTx/>
                <a:latin typeface="Comic Sans MS"/>
              </a:rPr>
              <a:t>0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}</a:t>
            </a:r>
            <a:endParaRPr lang="it-IT" sz="18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  <a:p>
            <a:pPr marL="743040" lvl="1" indent="-285840" algn="l">
              <a:spcBef>
                <a:spcPts val="1001"/>
              </a:spcBef>
              <a:buClr>
                <a:srgbClr val="003C75"/>
              </a:buClr>
              <a:buFont typeface="Symbol" charset="2"/>
              <a:buChar char="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One for {</a:t>
            </a:r>
            <a:r>
              <a:rPr lang="en-US" sz="1800" b="0" i="1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s</a:t>
            </a:r>
            <a:r>
              <a:rPr lang="en-US" sz="1800" b="0" u="none" strike="noStrike" baseline="-25000">
                <a:solidFill>
                  <a:srgbClr val="000000"/>
                </a:solidFill>
                <a:effectLst/>
                <a:uFillTx/>
                <a:latin typeface="Comic Sans MS"/>
              </a:rPr>
              <a:t>1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,</a:t>
            </a:r>
            <a:r>
              <a:rPr lang="en-US" sz="1800" b="0" i="1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s</a:t>
            </a:r>
            <a:r>
              <a:rPr lang="en-US" sz="1800" b="0" u="none" strike="noStrike" baseline="-25000">
                <a:solidFill>
                  <a:srgbClr val="000000"/>
                </a:solidFill>
                <a:effectLst/>
                <a:uFillTx/>
                <a:latin typeface="Comic Sans MS"/>
              </a:rPr>
              <a:t>2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,</a:t>
            </a:r>
            <a:r>
              <a:rPr lang="en-US" sz="1800" b="0" i="1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s</a:t>
            </a:r>
            <a:r>
              <a:rPr lang="en-US" sz="1800" b="0" u="none" strike="noStrike" baseline="-25000">
                <a:solidFill>
                  <a:srgbClr val="000000"/>
                </a:solidFill>
                <a:effectLst/>
                <a:uFillTx/>
                <a:latin typeface="Comic Sans MS"/>
              </a:rPr>
              <a:t>3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}</a:t>
            </a: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 </a:t>
            </a:r>
            <a:endParaRPr lang="it-IT" sz="16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grpSp>
        <p:nvGrpSpPr>
          <p:cNvPr id="595" name="Group 4"/>
          <p:cNvGrpSpPr/>
          <p:nvPr/>
        </p:nvGrpSpPr>
        <p:grpSpPr>
          <a:xfrm>
            <a:off x="5562720" y="1295280"/>
            <a:ext cx="2109600" cy="2069280"/>
            <a:chOff x="5562720" y="1295280"/>
            <a:chExt cx="2109600" cy="2069280"/>
          </a:xfrm>
        </p:grpSpPr>
        <p:sp>
          <p:nvSpPr>
            <p:cNvPr id="596" name="Oval 5"/>
            <p:cNvSpPr/>
            <p:nvPr/>
          </p:nvSpPr>
          <p:spPr>
            <a:xfrm>
              <a:off x="7162920" y="2666880"/>
              <a:ext cx="361800" cy="371520"/>
            </a:xfrm>
            <a:prstGeom prst="ellipse">
              <a:avLst/>
            </a:prstGeom>
            <a:noFill/>
            <a:ln w="381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ctr">
              <a:noAutofit/>
            </a:bodyPr>
            <a:p>
              <a:pPr algn="ctr"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400" b="0" i="1" u="none" strike="noStrike">
                  <a:solidFill>
                    <a:srgbClr val="000000"/>
                  </a:solidFill>
                  <a:effectLst/>
                  <a:uFillTx/>
                  <a:latin typeface="Arial Rounded MT Bold"/>
                </a:rPr>
                <a:t>s</a:t>
              </a:r>
              <a:r>
                <a:rPr lang="en-US" sz="1400" b="0" i="1" u="none" strike="noStrike" baseline="-25000">
                  <a:solidFill>
                    <a:srgbClr val="000000"/>
                  </a:solidFill>
                  <a:effectLst/>
                  <a:uFillTx/>
                  <a:latin typeface="Arial Rounded MT Bold"/>
                </a:rPr>
                <a:t>3 </a:t>
              </a:r>
              <a:endParaRPr lang="it-IT" sz="14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597" name="Oval 6"/>
            <p:cNvSpPr/>
            <p:nvPr/>
          </p:nvSpPr>
          <p:spPr>
            <a:xfrm>
              <a:off x="7162920" y="1752480"/>
              <a:ext cx="361800" cy="371520"/>
            </a:xfrm>
            <a:prstGeom prst="ellipse">
              <a:avLst/>
            </a:prstGeom>
            <a:noFill/>
            <a:ln w="381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ctr">
              <a:noAutofit/>
            </a:bodyPr>
            <a:p>
              <a:pPr algn="ctr"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400" b="0" i="1" u="none" strike="noStrike">
                  <a:solidFill>
                    <a:srgbClr val="000000"/>
                  </a:solidFill>
                  <a:effectLst/>
                  <a:uFillTx/>
                  <a:latin typeface="Arial Rounded MT Bold"/>
                </a:rPr>
                <a:t>s</a:t>
              </a:r>
              <a:r>
                <a:rPr lang="en-US" sz="1400" b="0" i="1" u="none" strike="noStrike" baseline="-25000">
                  <a:solidFill>
                    <a:srgbClr val="000000"/>
                  </a:solidFill>
                  <a:effectLst/>
                  <a:uFillTx/>
                  <a:latin typeface="Arial Rounded MT Bold"/>
                </a:rPr>
                <a:t>2 </a:t>
              </a:r>
              <a:endParaRPr lang="it-IT" sz="14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598" name="Oval 7"/>
            <p:cNvSpPr/>
            <p:nvPr/>
          </p:nvSpPr>
          <p:spPr>
            <a:xfrm>
              <a:off x="5562720" y="2209680"/>
              <a:ext cx="361800" cy="371520"/>
            </a:xfrm>
            <a:prstGeom prst="ellipse">
              <a:avLst/>
            </a:prstGeom>
            <a:noFill/>
            <a:ln w="1908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ctr">
              <a:noAutofit/>
            </a:bodyPr>
            <a:p>
              <a:pPr algn="ctr"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400" b="0" i="1" u="none" strike="noStrike">
                  <a:solidFill>
                    <a:srgbClr val="000000"/>
                  </a:solidFill>
                  <a:effectLst/>
                  <a:uFillTx/>
                  <a:latin typeface="Arial Rounded MT Bold"/>
                </a:rPr>
                <a:t>s</a:t>
              </a:r>
              <a:r>
                <a:rPr lang="en-US" sz="1400" b="0" i="1" u="none" strike="noStrike" baseline="-25000">
                  <a:solidFill>
                    <a:srgbClr val="000000"/>
                  </a:solidFill>
                  <a:effectLst/>
                  <a:uFillTx/>
                  <a:latin typeface="Arial Rounded MT Bold"/>
                </a:rPr>
                <a:t>0 </a:t>
              </a:r>
              <a:endParaRPr lang="it-IT" sz="14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599" name="Oval 8"/>
            <p:cNvSpPr/>
            <p:nvPr/>
          </p:nvSpPr>
          <p:spPr>
            <a:xfrm>
              <a:off x="6400800" y="2209680"/>
              <a:ext cx="361800" cy="371520"/>
            </a:xfrm>
            <a:prstGeom prst="ellipse">
              <a:avLst/>
            </a:prstGeom>
            <a:noFill/>
            <a:ln w="381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ctr">
              <a:noAutofit/>
            </a:bodyPr>
            <a:p>
              <a:pPr algn="ctr"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400" b="0" i="1" u="none" strike="noStrike">
                  <a:solidFill>
                    <a:srgbClr val="000000"/>
                  </a:solidFill>
                  <a:effectLst/>
                  <a:uFillTx/>
                  <a:latin typeface="Arial Rounded MT Bold"/>
                </a:rPr>
                <a:t>s</a:t>
              </a:r>
              <a:r>
                <a:rPr lang="en-US" sz="1400" b="0" i="1" u="none" strike="noStrike" baseline="-25000">
                  <a:solidFill>
                    <a:srgbClr val="000000"/>
                  </a:solidFill>
                  <a:effectLst/>
                  <a:uFillTx/>
                  <a:latin typeface="Arial Rounded MT Bold"/>
                </a:rPr>
                <a:t>1 </a:t>
              </a:r>
              <a:endParaRPr lang="it-IT" sz="14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600" name="Line 9"/>
            <p:cNvSpPr/>
            <p:nvPr/>
          </p:nvSpPr>
          <p:spPr>
            <a:xfrm>
              <a:off x="5943600" y="2395440"/>
              <a:ext cx="457200" cy="0"/>
            </a:xfrm>
            <a:prstGeom prst="line">
              <a:avLst/>
            </a:prstGeom>
            <a:ln w="9360">
              <a:solidFill>
                <a:srgbClr val="000000"/>
              </a:solidFill>
              <a:miter/>
              <a:tailEnd len="med" type="triangle" w="med"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46800" rIns="90000" bIns="-46800" anchor="ctr">
              <a:noAutofit/>
            </a:bodyPr>
            <a:p>
              <a:endParaRPr lang="it-IT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601" name="Line 10"/>
            <p:cNvSpPr/>
            <p:nvPr/>
          </p:nvSpPr>
          <p:spPr>
            <a:xfrm flipV="1">
              <a:off x="6750000" y="2039760"/>
              <a:ext cx="438120" cy="272880"/>
            </a:xfrm>
            <a:prstGeom prst="line">
              <a:avLst/>
            </a:prstGeom>
            <a:ln w="9360">
              <a:solidFill>
                <a:srgbClr val="000000"/>
              </a:solidFill>
              <a:miter/>
              <a:tailEnd len="med" type="triangle" w="med"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ctr">
              <a:noAutofit/>
            </a:bodyPr>
            <a:p>
              <a:endParaRPr lang="it-IT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602" name="Line 11"/>
            <p:cNvSpPr/>
            <p:nvPr/>
          </p:nvSpPr>
          <p:spPr>
            <a:xfrm>
              <a:off x="6738840" y="2479320"/>
              <a:ext cx="438120" cy="273240"/>
            </a:xfrm>
            <a:prstGeom prst="line">
              <a:avLst/>
            </a:prstGeom>
            <a:ln w="9360">
              <a:solidFill>
                <a:srgbClr val="000000"/>
              </a:solidFill>
              <a:miter/>
              <a:tailEnd len="med" type="triangle" w="med"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ctr">
              <a:noAutofit/>
            </a:bodyPr>
            <a:p>
              <a:endParaRPr lang="it-IT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cxnSp>
          <p:nvCxnSpPr>
            <p:cNvPr id="603" name="AutoShape 12"/>
            <p:cNvCxnSpPr>
              <a:stCxn id="597" idx="7"/>
              <a:endCxn id="597" idx="1"/>
            </p:cNvCxnSpPr>
            <p:nvPr/>
          </p:nvCxnSpPr>
          <p:spPr>
            <a:xfrm rot="5400000">
              <a:off x="7342200" y="1659240"/>
              <a:ext cx="2160" cy="258120"/>
            </a:xfrm>
            <a:prstGeom prst="curvedConnector5">
              <a:avLst>
                <a:gd name="adj1" fmla="val -16600000"/>
                <a:gd name="adj2" fmla="val 50000"/>
                <a:gd name="adj3" fmla="val -16600000"/>
              </a:avLst>
            </a:prstGeom>
            <a:ln w="9360">
              <a:solidFill>
                <a:srgbClr val="000000"/>
              </a:solidFill>
              <a:miter/>
              <a:tailEnd len="med" type="triangle" w="med"/>
            </a:ln>
          </p:spPr>
        </p:cxnSp>
        <p:cxnSp>
          <p:nvCxnSpPr>
            <p:cNvPr id="604" name="AutoShape 13"/>
            <p:cNvCxnSpPr>
              <a:stCxn id="596" idx="5"/>
              <a:endCxn id="596" idx="3"/>
            </p:cNvCxnSpPr>
            <p:nvPr/>
          </p:nvCxnSpPr>
          <p:spPr>
            <a:xfrm rot="5400000">
              <a:off x="7342200" y="2875320"/>
              <a:ext cx="2160" cy="258120"/>
            </a:xfrm>
            <a:prstGeom prst="curvedConnector5">
              <a:avLst>
                <a:gd name="adj1" fmla="val 16600000"/>
                <a:gd name="adj2" fmla="val 50000"/>
                <a:gd name="adj3" fmla="val 16600000"/>
              </a:avLst>
            </a:prstGeom>
            <a:ln w="9360">
              <a:solidFill>
                <a:srgbClr val="000000"/>
              </a:solidFill>
              <a:miter/>
              <a:tailEnd len="med" type="triangle" w="med"/>
            </a:ln>
          </p:spPr>
        </p:cxnSp>
        <p:sp>
          <p:nvSpPr>
            <p:cNvPr id="605" name="Text Box 14"/>
            <p:cNvSpPr/>
            <p:nvPr/>
          </p:nvSpPr>
          <p:spPr>
            <a:xfrm>
              <a:off x="6767640" y="2539800"/>
              <a:ext cx="239760" cy="3074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spAutoFit/>
            </a:bodyPr>
            <a:p>
              <a:pPr>
                <a:lnSpc>
                  <a:spcPct val="100000"/>
                </a:lnSpc>
                <a:spcBef>
                  <a:spcPts val="876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400" b="0" u="sng" strike="noStrike">
                  <a:solidFill>
                    <a:srgbClr val="000000"/>
                  </a:solidFill>
                  <a:effectLst/>
                  <a:uFillTx/>
                  <a:latin typeface="Arial Rounded MT Bold"/>
                </a:rPr>
                <a:t>c</a:t>
              </a:r>
              <a:endParaRPr lang="it-IT" sz="14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606" name="Text Box 15"/>
            <p:cNvSpPr/>
            <p:nvPr/>
          </p:nvSpPr>
          <p:spPr>
            <a:xfrm>
              <a:off x="6767640" y="1898280"/>
              <a:ext cx="239760" cy="3074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spAutoFit/>
            </a:bodyPr>
            <a:p>
              <a:pPr>
                <a:lnSpc>
                  <a:spcPct val="100000"/>
                </a:lnSpc>
                <a:spcBef>
                  <a:spcPts val="876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400" b="0" u="sng" strike="noStrike">
                  <a:solidFill>
                    <a:srgbClr val="000000"/>
                  </a:solidFill>
                  <a:effectLst/>
                  <a:uFillTx/>
                  <a:latin typeface="Arial Rounded MT Bold"/>
                </a:rPr>
                <a:t>b</a:t>
              </a:r>
              <a:endParaRPr lang="it-IT" sz="14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607" name="Text Box 16"/>
            <p:cNvSpPr/>
            <p:nvPr/>
          </p:nvSpPr>
          <p:spPr>
            <a:xfrm>
              <a:off x="5977080" y="2125440"/>
              <a:ext cx="239400" cy="3074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spAutoFit/>
            </a:bodyPr>
            <a:p>
              <a:pPr>
                <a:lnSpc>
                  <a:spcPct val="100000"/>
                </a:lnSpc>
                <a:spcBef>
                  <a:spcPts val="876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400" b="0" u="sng" strike="noStrike">
                  <a:solidFill>
                    <a:srgbClr val="000000"/>
                  </a:solidFill>
                  <a:effectLst/>
                  <a:uFillTx/>
                  <a:latin typeface="Arial Rounded MT Bold"/>
                </a:rPr>
                <a:t>a</a:t>
              </a:r>
              <a:endParaRPr lang="it-IT" sz="14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608" name="Text Box 17"/>
            <p:cNvSpPr/>
            <p:nvPr/>
          </p:nvSpPr>
          <p:spPr>
            <a:xfrm>
              <a:off x="7391520" y="1295280"/>
              <a:ext cx="239760" cy="3074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spAutoFit/>
            </a:bodyPr>
            <a:p>
              <a:pPr>
                <a:lnSpc>
                  <a:spcPct val="100000"/>
                </a:lnSpc>
                <a:spcBef>
                  <a:spcPts val="876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400" b="0" u="sng" strike="noStrike">
                  <a:solidFill>
                    <a:srgbClr val="000000"/>
                  </a:solidFill>
                  <a:effectLst/>
                  <a:uFillTx/>
                  <a:latin typeface="Arial Rounded MT Bold"/>
                </a:rPr>
                <a:t>b</a:t>
              </a:r>
              <a:endParaRPr lang="it-IT" sz="14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609" name="Text Box 18"/>
            <p:cNvSpPr/>
            <p:nvPr/>
          </p:nvSpPr>
          <p:spPr>
            <a:xfrm>
              <a:off x="7000920" y="2260440"/>
              <a:ext cx="239760" cy="3074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spAutoFit/>
            </a:bodyPr>
            <a:p>
              <a:pPr>
                <a:lnSpc>
                  <a:spcPct val="100000"/>
                </a:lnSpc>
                <a:spcBef>
                  <a:spcPts val="876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400" b="0" u="sng" strike="noStrike">
                  <a:solidFill>
                    <a:srgbClr val="000000"/>
                  </a:solidFill>
                  <a:effectLst/>
                  <a:uFillTx/>
                  <a:latin typeface="Arial Rounded MT Bold"/>
                </a:rPr>
                <a:t>b</a:t>
              </a:r>
              <a:endParaRPr lang="it-IT" sz="14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610" name="Text Box 19"/>
            <p:cNvSpPr/>
            <p:nvPr/>
          </p:nvSpPr>
          <p:spPr>
            <a:xfrm>
              <a:off x="7369200" y="3057120"/>
              <a:ext cx="239760" cy="3074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spAutoFit/>
            </a:bodyPr>
            <a:p>
              <a:pPr>
                <a:lnSpc>
                  <a:spcPct val="100000"/>
                </a:lnSpc>
                <a:spcBef>
                  <a:spcPts val="876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400" b="0" u="sng" strike="noStrike">
                  <a:solidFill>
                    <a:srgbClr val="000000"/>
                  </a:solidFill>
                  <a:effectLst/>
                  <a:uFillTx/>
                  <a:latin typeface="Arial Rounded MT Bold"/>
                </a:rPr>
                <a:t>c</a:t>
              </a:r>
              <a:endParaRPr lang="it-IT" sz="14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611" name="Text Box 20"/>
            <p:cNvSpPr/>
            <p:nvPr/>
          </p:nvSpPr>
          <p:spPr>
            <a:xfrm>
              <a:off x="7432560" y="2260440"/>
              <a:ext cx="239760" cy="3074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spAutoFit/>
            </a:bodyPr>
            <a:p>
              <a:pPr>
                <a:lnSpc>
                  <a:spcPct val="100000"/>
                </a:lnSpc>
                <a:spcBef>
                  <a:spcPts val="876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400" b="0" u="sng" strike="noStrike">
                  <a:solidFill>
                    <a:srgbClr val="000000"/>
                  </a:solidFill>
                  <a:effectLst/>
                  <a:uFillTx/>
                  <a:latin typeface="Arial Rounded MT Bold"/>
                </a:rPr>
                <a:t>c</a:t>
              </a:r>
              <a:endParaRPr lang="it-IT" sz="14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612" name="Line 21"/>
            <p:cNvSpPr/>
            <p:nvPr/>
          </p:nvSpPr>
          <p:spPr>
            <a:xfrm>
              <a:off x="7450200" y="2082600"/>
              <a:ext cx="0" cy="609480"/>
            </a:xfrm>
            <a:prstGeom prst="line">
              <a:avLst/>
            </a:prstGeom>
            <a:ln w="9360">
              <a:solidFill>
                <a:srgbClr val="000000"/>
              </a:solidFill>
              <a:miter/>
              <a:tailEnd len="med" type="triangle" w="med"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ctr">
              <a:noAutofit/>
            </a:bodyPr>
            <a:p>
              <a:endParaRPr lang="it-IT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613" name="Line 22"/>
            <p:cNvSpPr/>
            <p:nvPr/>
          </p:nvSpPr>
          <p:spPr>
            <a:xfrm>
              <a:off x="7221600" y="2082600"/>
              <a:ext cx="0" cy="609480"/>
            </a:xfrm>
            <a:prstGeom prst="line">
              <a:avLst/>
            </a:prstGeom>
            <a:ln w="9360">
              <a:solidFill>
                <a:srgbClr val="000000"/>
              </a:solidFill>
              <a:miter/>
              <a:headEnd len="med" type="triangle" w="med"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ctr">
              <a:noAutofit/>
            </a:bodyPr>
            <a:p>
              <a:endParaRPr lang="it-IT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</p:grpSp>
      <p:graphicFrame>
        <p:nvGraphicFramePr>
          <p:cNvPr id="614" name=""/>
          <p:cNvGraphicFramePr/>
          <p:nvPr/>
        </p:nvGraphicFramePr>
        <p:xfrm>
          <a:off x="838080" y="1727280"/>
          <a:ext cx="4343400" cy="1320840"/>
        </p:xfrm>
        <a:graphic>
          <a:graphicData uri="http://schemas.openxmlformats.org/drawingml/2006/table">
            <a:tbl>
              <a:tblPr/>
              <a:tblGrid>
                <a:gridCol w="457200"/>
                <a:gridCol w="1828800"/>
                <a:gridCol w="685800"/>
                <a:gridCol w="685800"/>
                <a:gridCol w="685800"/>
              </a:tblGrid>
              <a:tr h="380880"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spcBef>
                          <a:spcPts val="4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endParaRPr lang="it-IT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>
                      <a:noFill/>
                    </a:lnL>
                    <a:lnR>
                      <a:noFill/>
                    </a:lnR>
                    <a:lnT w="13680">
                      <a:solidFill>
                        <a:srgbClr val="B025A6"/>
                      </a:solidFill>
                      <a:prstDash val="solid"/>
                    </a:lnT>
                    <a:lnB>
                      <a:noFill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spcBef>
                          <a:spcPts val="4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endParaRPr lang="it-IT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>
                      <a:noFill/>
                    </a:lnL>
                    <a:lnR>
                      <a:noFill/>
                    </a:lnR>
                    <a:lnT w="13680">
                      <a:solidFill>
                        <a:srgbClr val="B025A6"/>
                      </a:solidFill>
                      <a:prstDash val="solid"/>
                    </a:lnT>
                    <a:lnB>
                      <a:noFill/>
                    </a:lnB>
                    <a:solidFill>
                      <a:srgbClr val="E6E6E6"/>
                    </a:solidFill>
                  </a:tcPr>
                </a:tc>
                <a:tc gridSpan="3"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spcBef>
                          <a:spcPts val="4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Split on</a:t>
                      </a:r>
                      <a:endParaRPr lang="it-IT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>
                      <a:noFill/>
                    </a:lnL>
                    <a:lnR>
                      <a:noFill/>
                    </a:lnR>
                    <a:lnT w="13680">
                      <a:solidFill>
                        <a:srgbClr val="B025A6"/>
                      </a:solidFill>
                      <a:prstDash val="solid"/>
                    </a:lnT>
                    <a:lnB>
                      <a:noFill/>
                    </a:lnB>
                    <a:solidFill>
                      <a:srgbClr val="E6E6E6"/>
                    </a:solidFill>
                  </a:tcPr>
                </a:tc>
                <a:tc hMerge="1">
                  <a:txBody>
                    <a:bodyPr lIns="90000" tIns="45000" rIns="90000" bIns="45000" anchor="t">
                      <a:noAutofit/>
                    </a:bodyPr>
                    <a:p>
                      <a:endParaRPr lang="it-IT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tIns="45000" rIns="90000" bIns="45000" anchor="t">
                      <a:noAutofit/>
                    </a:bodyPr>
                    <a:p>
                      <a:endParaRPr lang="it-IT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</a:tr>
              <a:tr h="380880"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spcBef>
                          <a:spcPts val="4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endParaRPr lang="it-IT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5760">
                      <a:solidFill>
                        <a:srgbClr val="B025A6"/>
                      </a:solidFill>
                      <a:prstDash val="soli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spcBef>
                          <a:spcPts val="4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Current Partition</a:t>
                      </a:r>
                      <a:endParaRPr lang="it-IT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5760">
                      <a:solidFill>
                        <a:srgbClr val="B025A6"/>
                      </a:solidFill>
                      <a:prstDash val="soli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spcBef>
                          <a:spcPts val="4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600" b="0" u="sng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a</a:t>
                      </a:r>
                      <a:endParaRPr lang="it-IT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5760">
                      <a:solidFill>
                        <a:srgbClr val="B025A6"/>
                      </a:solidFill>
                      <a:prstDash val="soli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spcBef>
                          <a:spcPts val="4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600" b="0" u="sng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b</a:t>
                      </a:r>
                      <a:endParaRPr lang="it-IT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5760">
                      <a:solidFill>
                        <a:srgbClr val="B025A6"/>
                      </a:solidFill>
                      <a:prstDash val="soli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spcBef>
                          <a:spcPts val="4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600" b="0" u="sng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c</a:t>
                      </a:r>
                      <a:endParaRPr lang="it-IT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5760">
                      <a:solidFill>
                        <a:srgbClr val="B025A6"/>
                      </a:solidFill>
                      <a:prstDash val="solid"/>
                    </a:lnB>
                    <a:solidFill>
                      <a:srgbClr val="E6E6E6"/>
                    </a:solidFill>
                  </a:tcPr>
                </a:tc>
              </a:tr>
              <a:tr h="559080"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lnSpc>
                          <a:spcPct val="140000"/>
                        </a:lnSpc>
                        <a:spcBef>
                          <a:spcPts val="4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P</a:t>
                      </a:r>
                      <a:r>
                        <a:rPr lang="en-US" sz="1600" b="0" i="1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0</a:t>
                      </a:r>
                      <a:endParaRPr lang="it-IT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>
                      <a:noFill/>
                    </a:lnL>
                    <a:lnR>
                      <a:noFill/>
                    </a:lnR>
                    <a:lnT w="5760">
                      <a:solidFill>
                        <a:srgbClr val="B025A6"/>
                      </a:solidFill>
                      <a:prstDash val="solid"/>
                    </a:lnT>
                    <a:lnB w="13680">
                      <a:solidFill>
                        <a:srgbClr val="B025A6"/>
                      </a:solidFill>
                      <a:prstDash val="soli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lnSpc>
                          <a:spcPct val="140000"/>
                        </a:lnSpc>
                        <a:spcBef>
                          <a:spcPts val="4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{</a:t>
                      </a: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s</a:t>
                      </a:r>
                      <a:r>
                        <a:rPr lang="en-US" sz="1600" b="0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1</a:t>
                      </a: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,</a:t>
                      </a: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s</a:t>
                      </a:r>
                      <a:r>
                        <a:rPr lang="en-US" sz="1600" b="0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2</a:t>
                      </a: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,</a:t>
                      </a: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s</a:t>
                      </a:r>
                      <a:r>
                        <a:rPr lang="en-US" sz="1600" b="0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3</a:t>
                      </a: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} {</a:t>
                      </a: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s</a:t>
                      </a:r>
                      <a:r>
                        <a:rPr lang="en-US" sz="1600" b="0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0</a:t>
                      </a: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}</a:t>
                      </a:r>
                      <a:endParaRPr lang="it-IT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>
                      <a:noFill/>
                    </a:lnL>
                    <a:lnR>
                      <a:noFill/>
                    </a:lnR>
                    <a:lnT w="5760">
                      <a:solidFill>
                        <a:srgbClr val="B025A6"/>
                      </a:solidFill>
                      <a:prstDash val="solid"/>
                    </a:lnT>
                    <a:lnB w="13680">
                      <a:solidFill>
                        <a:srgbClr val="B025A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lnSpc>
                          <a:spcPct val="140000"/>
                        </a:lnSpc>
                        <a:spcBef>
                          <a:spcPts val="4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none</a:t>
                      </a:r>
                      <a:endParaRPr lang="it-IT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>
                      <a:noFill/>
                    </a:lnL>
                    <a:lnR>
                      <a:noFill/>
                    </a:lnR>
                    <a:lnT w="5760">
                      <a:solidFill>
                        <a:srgbClr val="B025A6"/>
                      </a:solidFill>
                      <a:prstDash val="solid"/>
                    </a:lnT>
                    <a:lnB w="13680">
                      <a:solidFill>
                        <a:srgbClr val="B025A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lnSpc>
                          <a:spcPct val="140000"/>
                        </a:lnSpc>
                        <a:spcBef>
                          <a:spcPts val="4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none</a:t>
                      </a:r>
                      <a:endParaRPr lang="it-IT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>
                      <a:noFill/>
                    </a:lnL>
                    <a:lnR>
                      <a:noFill/>
                    </a:lnR>
                    <a:lnT w="5760">
                      <a:solidFill>
                        <a:srgbClr val="B025A6"/>
                      </a:solidFill>
                      <a:prstDash val="solid"/>
                    </a:lnT>
                    <a:lnB w="13680">
                      <a:solidFill>
                        <a:srgbClr val="B025A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lnSpc>
                          <a:spcPct val="140000"/>
                        </a:lnSpc>
                        <a:spcBef>
                          <a:spcPts val="4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none</a:t>
                      </a:r>
                      <a:endParaRPr lang="it-IT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>
                      <a:noFill/>
                    </a:lnL>
                    <a:lnR>
                      <a:noFill/>
                    </a:lnR>
                    <a:lnT w="5760">
                      <a:solidFill>
                        <a:srgbClr val="B025A6"/>
                      </a:solidFill>
                      <a:prstDash val="solid"/>
                    </a:lnT>
                    <a:lnB w="13680">
                      <a:solidFill>
                        <a:srgbClr val="B025A6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615" name="Oval 132"/>
          <p:cNvSpPr/>
          <p:nvPr/>
        </p:nvSpPr>
        <p:spPr>
          <a:xfrm>
            <a:off x="1571760" y="2552760"/>
            <a:ext cx="914400" cy="380880"/>
          </a:xfrm>
          <a:prstGeom prst="ellipse">
            <a:avLst/>
          </a:prstGeom>
          <a:noFill/>
          <a:ln w="38160">
            <a:solidFill>
              <a:srgbClr val="B025A6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</p:spTree>
  </p:cSld>
  <p:transition>
    <p:wipe dir="r"/>
  </p:transition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6" name="Footer Placeholder 3"/>
          <p:cNvSpPr/>
          <p:nvPr/>
        </p:nvSpPr>
        <p:spPr>
          <a:xfrm>
            <a:off x="685800" y="6248520"/>
            <a:ext cx="289548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Autofit/>
          </a:bodyPr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Comp 412, Fall 2010</a:t>
            </a:r>
            <a:endParaRPr lang="it-IT" sz="12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617" name="Slide Number Placeholder 4"/>
          <p:cNvSpPr/>
          <p:nvPr/>
        </p:nvSpPr>
        <p:spPr>
          <a:xfrm>
            <a:off x="6553080" y="6248520"/>
            <a:ext cx="190512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Autofit/>
          </a:bodyPr>
          <a:p>
            <a:pPr algn="r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38D3810F-5AE8-4210-8056-09FBE067DE80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&lt;number&gt;</a:t>
            </a:fld>
            <a:endParaRPr lang="it-IT" sz="12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618" name="PlaceHolder 1"/>
          <p:cNvSpPr>
            <a:spLocks noGrp="1"/>
          </p:cNvSpPr>
          <p:nvPr>
            <p:ph type="title"/>
          </p:nvPr>
        </p:nvSpPr>
        <p:spPr>
          <a:xfrm>
            <a:off x="685800" y="533160"/>
            <a:ext cx="7772400" cy="533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l">
              <a:spcBef>
                <a:spcPts val="18000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DFA Minimization</a:t>
            </a:r>
            <a:endParaRPr lang="it-IT" sz="24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619" name="PlaceHolder 2"/>
          <p:cNvSpPr>
            <a:spLocks noGrp="1"/>
          </p:cNvSpPr>
          <p:nvPr>
            <p:ph/>
          </p:nvPr>
        </p:nvSpPr>
        <p:spPr>
          <a:xfrm>
            <a:off x="685800" y="1143000"/>
            <a:ext cx="7772400" cy="495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p>
            <a:pPr marL="343080" indent="-343080" algn="l">
              <a:spcBef>
                <a:spcPts val="15001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Then, apply the minimization algorithm</a:t>
            </a:r>
            <a:endParaRPr lang="it-IT" sz="20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  <a:p>
            <a:pPr marL="343080" indent="-343080" algn="l">
              <a:spcBef>
                <a:spcPts val="17501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It produces this DFA</a:t>
            </a:r>
            <a:endParaRPr lang="it-IT" sz="20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grpSp>
        <p:nvGrpSpPr>
          <p:cNvPr id="620" name="Group 4"/>
          <p:cNvGrpSpPr/>
          <p:nvPr/>
        </p:nvGrpSpPr>
        <p:grpSpPr>
          <a:xfrm>
            <a:off x="5562720" y="1295280"/>
            <a:ext cx="2109600" cy="2069280"/>
            <a:chOff x="5562720" y="1295280"/>
            <a:chExt cx="2109600" cy="2069280"/>
          </a:xfrm>
        </p:grpSpPr>
        <p:sp>
          <p:nvSpPr>
            <p:cNvPr id="621" name="Oval 5"/>
            <p:cNvSpPr/>
            <p:nvPr/>
          </p:nvSpPr>
          <p:spPr>
            <a:xfrm>
              <a:off x="7162920" y="2666880"/>
              <a:ext cx="361800" cy="371520"/>
            </a:xfrm>
            <a:prstGeom prst="ellipse">
              <a:avLst/>
            </a:prstGeom>
            <a:noFill/>
            <a:ln w="381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ctr">
              <a:noAutofit/>
            </a:bodyPr>
            <a:p>
              <a:pPr algn="ctr"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400" b="0" i="1" u="none" strike="noStrike">
                  <a:solidFill>
                    <a:srgbClr val="000000"/>
                  </a:solidFill>
                  <a:effectLst/>
                  <a:uFillTx/>
                  <a:latin typeface="Arial Rounded MT Bold"/>
                </a:rPr>
                <a:t>s</a:t>
              </a:r>
              <a:r>
                <a:rPr lang="en-US" sz="1400" b="0" i="1" u="none" strike="noStrike" baseline="-25000">
                  <a:solidFill>
                    <a:srgbClr val="000000"/>
                  </a:solidFill>
                  <a:effectLst/>
                  <a:uFillTx/>
                  <a:latin typeface="Arial Rounded MT Bold"/>
                </a:rPr>
                <a:t>3 </a:t>
              </a:r>
              <a:endParaRPr lang="it-IT" sz="14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622" name="Oval 6"/>
            <p:cNvSpPr/>
            <p:nvPr/>
          </p:nvSpPr>
          <p:spPr>
            <a:xfrm>
              <a:off x="7162920" y="1752480"/>
              <a:ext cx="361800" cy="371520"/>
            </a:xfrm>
            <a:prstGeom prst="ellipse">
              <a:avLst/>
            </a:prstGeom>
            <a:noFill/>
            <a:ln w="381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ctr">
              <a:noAutofit/>
            </a:bodyPr>
            <a:p>
              <a:pPr algn="ctr"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400" b="0" i="1" u="none" strike="noStrike">
                  <a:solidFill>
                    <a:srgbClr val="000000"/>
                  </a:solidFill>
                  <a:effectLst/>
                  <a:uFillTx/>
                  <a:latin typeface="Arial Rounded MT Bold"/>
                </a:rPr>
                <a:t>s</a:t>
              </a:r>
              <a:r>
                <a:rPr lang="en-US" sz="1400" b="0" i="1" u="none" strike="noStrike" baseline="-25000">
                  <a:solidFill>
                    <a:srgbClr val="000000"/>
                  </a:solidFill>
                  <a:effectLst/>
                  <a:uFillTx/>
                  <a:latin typeface="Arial Rounded MT Bold"/>
                </a:rPr>
                <a:t>2 </a:t>
              </a:r>
              <a:endParaRPr lang="it-IT" sz="14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623" name="Oval 7"/>
            <p:cNvSpPr/>
            <p:nvPr/>
          </p:nvSpPr>
          <p:spPr>
            <a:xfrm>
              <a:off x="5562720" y="2209680"/>
              <a:ext cx="361800" cy="371520"/>
            </a:xfrm>
            <a:prstGeom prst="ellipse">
              <a:avLst/>
            </a:prstGeom>
            <a:noFill/>
            <a:ln w="1908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ctr">
              <a:noAutofit/>
            </a:bodyPr>
            <a:p>
              <a:pPr algn="ctr"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400" b="0" i="1" u="none" strike="noStrike">
                  <a:solidFill>
                    <a:srgbClr val="000000"/>
                  </a:solidFill>
                  <a:effectLst/>
                  <a:uFillTx/>
                  <a:latin typeface="Arial Rounded MT Bold"/>
                </a:rPr>
                <a:t>s</a:t>
              </a:r>
              <a:r>
                <a:rPr lang="en-US" sz="1400" b="0" i="1" u="none" strike="noStrike" baseline="-25000">
                  <a:solidFill>
                    <a:srgbClr val="000000"/>
                  </a:solidFill>
                  <a:effectLst/>
                  <a:uFillTx/>
                  <a:latin typeface="Arial Rounded MT Bold"/>
                </a:rPr>
                <a:t>0 </a:t>
              </a:r>
              <a:endParaRPr lang="it-IT" sz="14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624" name="Oval 8"/>
            <p:cNvSpPr/>
            <p:nvPr/>
          </p:nvSpPr>
          <p:spPr>
            <a:xfrm>
              <a:off x="6400800" y="2209680"/>
              <a:ext cx="361800" cy="371520"/>
            </a:xfrm>
            <a:prstGeom prst="ellipse">
              <a:avLst/>
            </a:prstGeom>
            <a:noFill/>
            <a:ln w="381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ctr">
              <a:noAutofit/>
            </a:bodyPr>
            <a:p>
              <a:pPr algn="ctr"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400" b="0" i="1" u="none" strike="noStrike">
                  <a:solidFill>
                    <a:srgbClr val="000000"/>
                  </a:solidFill>
                  <a:effectLst/>
                  <a:uFillTx/>
                  <a:latin typeface="Arial Rounded MT Bold"/>
                </a:rPr>
                <a:t>s</a:t>
              </a:r>
              <a:r>
                <a:rPr lang="en-US" sz="1400" b="0" i="1" u="none" strike="noStrike" baseline="-25000">
                  <a:solidFill>
                    <a:srgbClr val="000000"/>
                  </a:solidFill>
                  <a:effectLst/>
                  <a:uFillTx/>
                  <a:latin typeface="Arial Rounded MT Bold"/>
                </a:rPr>
                <a:t>1 </a:t>
              </a:r>
              <a:endParaRPr lang="it-IT" sz="14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625" name="Line 9"/>
            <p:cNvSpPr/>
            <p:nvPr/>
          </p:nvSpPr>
          <p:spPr>
            <a:xfrm>
              <a:off x="5943600" y="2395440"/>
              <a:ext cx="457200" cy="0"/>
            </a:xfrm>
            <a:prstGeom prst="line">
              <a:avLst/>
            </a:prstGeom>
            <a:ln w="9360">
              <a:solidFill>
                <a:srgbClr val="000000"/>
              </a:solidFill>
              <a:miter/>
              <a:tailEnd len="med" type="triangle" w="med"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46800" rIns="90000" bIns="-46800" anchor="ctr">
              <a:noAutofit/>
            </a:bodyPr>
            <a:p>
              <a:endParaRPr lang="it-IT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626" name="Line 10"/>
            <p:cNvSpPr/>
            <p:nvPr/>
          </p:nvSpPr>
          <p:spPr>
            <a:xfrm flipV="1">
              <a:off x="6750000" y="2039760"/>
              <a:ext cx="438120" cy="272880"/>
            </a:xfrm>
            <a:prstGeom prst="line">
              <a:avLst/>
            </a:prstGeom>
            <a:ln w="9360">
              <a:solidFill>
                <a:srgbClr val="000000"/>
              </a:solidFill>
              <a:miter/>
              <a:tailEnd len="med" type="triangle" w="med"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ctr">
              <a:noAutofit/>
            </a:bodyPr>
            <a:p>
              <a:endParaRPr lang="it-IT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627" name="Line 11"/>
            <p:cNvSpPr/>
            <p:nvPr/>
          </p:nvSpPr>
          <p:spPr>
            <a:xfrm>
              <a:off x="6738840" y="2479320"/>
              <a:ext cx="438120" cy="273240"/>
            </a:xfrm>
            <a:prstGeom prst="line">
              <a:avLst/>
            </a:prstGeom>
            <a:ln w="9360">
              <a:solidFill>
                <a:srgbClr val="000000"/>
              </a:solidFill>
              <a:miter/>
              <a:tailEnd len="med" type="triangle" w="med"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ctr">
              <a:noAutofit/>
            </a:bodyPr>
            <a:p>
              <a:endParaRPr lang="it-IT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cxnSp>
          <p:nvCxnSpPr>
            <p:cNvPr id="628" name="AutoShape 12"/>
            <p:cNvCxnSpPr>
              <a:stCxn id="622" idx="7"/>
              <a:endCxn id="622" idx="1"/>
            </p:cNvCxnSpPr>
            <p:nvPr/>
          </p:nvCxnSpPr>
          <p:spPr>
            <a:xfrm rot="5400000">
              <a:off x="7342200" y="1659240"/>
              <a:ext cx="2160" cy="258120"/>
            </a:xfrm>
            <a:prstGeom prst="curvedConnector5">
              <a:avLst>
                <a:gd name="adj1" fmla="val -16600000"/>
                <a:gd name="adj2" fmla="val 50000"/>
                <a:gd name="adj3" fmla="val -16600000"/>
              </a:avLst>
            </a:prstGeom>
            <a:ln w="9360">
              <a:solidFill>
                <a:srgbClr val="000000"/>
              </a:solidFill>
              <a:miter/>
              <a:tailEnd len="med" type="triangle" w="med"/>
            </a:ln>
          </p:spPr>
        </p:cxnSp>
        <p:cxnSp>
          <p:nvCxnSpPr>
            <p:cNvPr id="629" name="AutoShape 13"/>
            <p:cNvCxnSpPr>
              <a:stCxn id="621" idx="5"/>
              <a:endCxn id="621" idx="3"/>
            </p:cNvCxnSpPr>
            <p:nvPr/>
          </p:nvCxnSpPr>
          <p:spPr>
            <a:xfrm rot="5400000">
              <a:off x="7342200" y="2875320"/>
              <a:ext cx="2160" cy="258120"/>
            </a:xfrm>
            <a:prstGeom prst="curvedConnector5">
              <a:avLst>
                <a:gd name="adj1" fmla="val 16600000"/>
                <a:gd name="adj2" fmla="val 50000"/>
                <a:gd name="adj3" fmla="val 16600000"/>
              </a:avLst>
            </a:prstGeom>
            <a:ln w="9360">
              <a:solidFill>
                <a:srgbClr val="000000"/>
              </a:solidFill>
              <a:miter/>
              <a:tailEnd len="med" type="triangle" w="med"/>
            </a:ln>
          </p:spPr>
        </p:cxnSp>
        <p:sp>
          <p:nvSpPr>
            <p:cNvPr id="630" name="Text Box 14"/>
            <p:cNvSpPr/>
            <p:nvPr/>
          </p:nvSpPr>
          <p:spPr>
            <a:xfrm>
              <a:off x="6767640" y="2539800"/>
              <a:ext cx="239760" cy="3074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spAutoFit/>
            </a:bodyPr>
            <a:p>
              <a:pPr>
                <a:lnSpc>
                  <a:spcPct val="100000"/>
                </a:lnSpc>
                <a:spcBef>
                  <a:spcPts val="876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400" b="0" u="sng" strike="noStrike">
                  <a:solidFill>
                    <a:srgbClr val="000000"/>
                  </a:solidFill>
                  <a:effectLst/>
                  <a:uFillTx/>
                  <a:latin typeface="Arial Rounded MT Bold"/>
                </a:rPr>
                <a:t>c</a:t>
              </a:r>
              <a:endParaRPr lang="it-IT" sz="14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631" name="Text Box 15"/>
            <p:cNvSpPr/>
            <p:nvPr/>
          </p:nvSpPr>
          <p:spPr>
            <a:xfrm>
              <a:off x="6767640" y="1898280"/>
              <a:ext cx="239760" cy="3074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spAutoFit/>
            </a:bodyPr>
            <a:p>
              <a:pPr>
                <a:lnSpc>
                  <a:spcPct val="100000"/>
                </a:lnSpc>
                <a:spcBef>
                  <a:spcPts val="876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400" b="0" u="sng" strike="noStrike">
                  <a:solidFill>
                    <a:srgbClr val="000000"/>
                  </a:solidFill>
                  <a:effectLst/>
                  <a:uFillTx/>
                  <a:latin typeface="Arial Rounded MT Bold"/>
                </a:rPr>
                <a:t>b</a:t>
              </a:r>
              <a:endParaRPr lang="it-IT" sz="14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632" name="Text Box 16"/>
            <p:cNvSpPr/>
            <p:nvPr/>
          </p:nvSpPr>
          <p:spPr>
            <a:xfrm>
              <a:off x="5977080" y="2125440"/>
              <a:ext cx="239400" cy="3074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spAutoFit/>
            </a:bodyPr>
            <a:p>
              <a:pPr>
                <a:lnSpc>
                  <a:spcPct val="100000"/>
                </a:lnSpc>
                <a:spcBef>
                  <a:spcPts val="876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400" b="0" u="sng" strike="noStrike">
                  <a:solidFill>
                    <a:srgbClr val="000000"/>
                  </a:solidFill>
                  <a:effectLst/>
                  <a:uFillTx/>
                  <a:latin typeface="Arial Rounded MT Bold"/>
                </a:rPr>
                <a:t>a</a:t>
              </a:r>
              <a:endParaRPr lang="it-IT" sz="14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633" name="Text Box 17"/>
            <p:cNvSpPr/>
            <p:nvPr/>
          </p:nvSpPr>
          <p:spPr>
            <a:xfrm>
              <a:off x="7391520" y="1295280"/>
              <a:ext cx="239760" cy="3074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spAutoFit/>
            </a:bodyPr>
            <a:p>
              <a:pPr>
                <a:lnSpc>
                  <a:spcPct val="100000"/>
                </a:lnSpc>
                <a:spcBef>
                  <a:spcPts val="876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400" b="0" u="sng" strike="noStrike">
                  <a:solidFill>
                    <a:srgbClr val="000000"/>
                  </a:solidFill>
                  <a:effectLst/>
                  <a:uFillTx/>
                  <a:latin typeface="Arial Rounded MT Bold"/>
                </a:rPr>
                <a:t>b</a:t>
              </a:r>
              <a:endParaRPr lang="it-IT" sz="14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634" name="Text Box 18"/>
            <p:cNvSpPr/>
            <p:nvPr/>
          </p:nvSpPr>
          <p:spPr>
            <a:xfrm>
              <a:off x="7000920" y="2260440"/>
              <a:ext cx="239760" cy="3074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spAutoFit/>
            </a:bodyPr>
            <a:p>
              <a:pPr>
                <a:lnSpc>
                  <a:spcPct val="100000"/>
                </a:lnSpc>
                <a:spcBef>
                  <a:spcPts val="876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400" b="0" u="sng" strike="noStrike">
                  <a:solidFill>
                    <a:srgbClr val="000000"/>
                  </a:solidFill>
                  <a:effectLst/>
                  <a:uFillTx/>
                  <a:latin typeface="Arial Rounded MT Bold"/>
                </a:rPr>
                <a:t>b</a:t>
              </a:r>
              <a:endParaRPr lang="it-IT" sz="14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635" name="Text Box 19"/>
            <p:cNvSpPr/>
            <p:nvPr/>
          </p:nvSpPr>
          <p:spPr>
            <a:xfrm>
              <a:off x="7369200" y="3057120"/>
              <a:ext cx="239760" cy="3074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spAutoFit/>
            </a:bodyPr>
            <a:p>
              <a:pPr>
                <a:lnSpc>
                  <a:spcPct val="100000"/>
                </a:lnSpc>
                <a:spcBef>
                  <a:spcPts val="876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400" b="0" u="sng" strike="noStrike">
                  <a:solidFill>
                    <a:srgbClr val="000000"/>
                  </a:solidFill>
                  <a:effectLst/>
                  <a:uFillTx/>
                  <a:latin typeface="Arial Rounded MT Bold"/>
                </a:rPr>
                <a:t>c</a:t>
              </a:r>
              <a:endParaRPr lang="it-IT" sz="14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636" name="Text Box 20"/>
            <p:cNvSpPr/>
            <p:nvPr/>
          </p:nvSpPr>
          <p:spPr>
            <a:xfrm>
              <a:off x="7432560" y="2260440"/>
              <a:ext cx="239760" cy="3074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spAutoFit/>
            </a:bodyPr>
            <a:p>
              <a:pPr>
                <a:lnSpc>
                  <a:spcPct val="100000"/>
                </a:lnSpc>
                <a:spcBef>
                  <a:spcPts val="876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400" b="0" u="sng" strike="noStrike">
                  <a:solidFill>
                    <a:srgbClr val="000000"/>
                  </a:solidFill>
                  <a:effectLst/>
                  <a:uFillTx/>
                  <a:latin typeface="Arial Rounded MT Bold"/>
                </a:rPr>
                <a:t>c</a:t>
              </a:r>
              <a:endParaRPr lang="it-IT" sz="14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637" name="Line 21"/>
            <p:cNvSpPr/>
            <p:nvPr/>
          </p:nvSpPr>
          <p:spPr>
            <a:xfrm>
              <a:off x="7450200" y="2082600"/>
              <a:ext cx="0" cy="609480"/>
            </a:xfrm>
            <a:prstGeom prst="line">
              <a:avLst/>
            </a:prstGeom>
            <a:ln w="9360">
              <a:solidFill>
                <a:srgbClr val="000000"/>
              </a:solidFill>
              <a:miter/>
              <a:tailEnd len="med" type="triangle" w="med"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ctr">
              <a:noAutofit/>
            </a:bodyPr>
            <a:p>
              <a:endParaRPr lang="it-IT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638" name="Line 22"/>
            <p:cNvSpPr/>
            <p:nvPr/>
          </p:nvSpPr>
          <p:spPr>
            <a:xfrm>
              <a:off x="7221600" y="2082600"/>
              <a:ext cx="0" cy="609480"/>
            </a:xfrm>
            <a:prstGeom prst="line">
              <a:avLst/>
            </a:prstGeom>
            <a:ln w="9360">
              <a:solidFill>
                <a:srgbClr val="000000"/>
              </a:solidFill>
              <a:miter/>
              <a:headEnd len="med" type="triangle" w="med"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ctr">
              <a:noAutofit/>
            </a:bodyPr>
            <a:p>
              <a:endParaRPr lang="it-IT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</p:grpSp>
      <p:grpSp>
        <p:nvGrpSpPr>
          <p:cNvPr id="639" name="Group 23"/>
          <p:cNvGrpSpPr/>
          <p:nvPr/>
        </p:nvGrpSpPr>
        <p:grpSpPr>
          <a:xfrm>
            <a:off x="1752480" y="4071960"/>
            <a:ext cx="1608120" cy="885960"/>
            <a:chOff x="1752480" y="4071960"/>
            <a:chExt cx="1608120" cy="885960"/>
          </a:xfrm>
        </p:grpSpPr>
        <p:sp>
          <p:nvSpPr>
            <p:cNvPr id="640" name="Oval 24"/>
            <p:cNvSpPr/>
            <p:nvPr/>
          </p:nvSpPr>
          <p:spPr>
            <a:xfrm>
              <a:off x="1752480" y="4548240"/>
              <a:ext cx="362160" cy="409680"/>
            </a:xfrm>
            <a:prstGeom prst="ellipse">
              <a:avLst/>
            </a:prstGeom>
            <a:noFill/>
            <a:ln w="1908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ctr">
              <a:noAutofit/>
            </a:bodyPr>
            <a:p>
              <a:pPr algn="ctr"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400" b="0" i="1" u="none" strike="noStrike">
                  <a:solidFill>
                    <a:srgbClr val="000000"/>
                  </a:solidFill>
                  <a:effectLst/>
                  <a:uFillTx/>
                  <a:latin typeface="Arial Rounded MT Bold"/>
                </a:rPr>
                <a:t>s</a:t>
              </a:r>
              <a:r>
                <a:rPr lang="en-US" sz="1400" b="0" i="1" u="none" strike="noStrike" baseline="-25000">
                  <a:solidFill>
                    <a:srgbClr val="000000"/>
                  </a:solidFill>
                  <a:effectLst/>
                  <a:uFillTx/>
                  <a:latin typeface="Arial Rounded MT Bold"/>
                </a:rPr>
                <a:t>0 </a:t>
              </a:r>
              <a:endParaRPr lang="it-IT" sz="14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641" name="Oval 25"/>
            <p:cNvSpPr/>
            <p:nvPr/>
          </p:nvSpPr>
          <p:spPr>
            <a:xfrm>
              <a:off x="2590920" y="4548240"/>
              <a:ext cx="361800" cy="409680"/>
            </a:xfrm>
            <a:prstGeom prst="ellipse">
              <a:avLst/>
            </a:prstGeom>
            <a:noFill/>
            <a:ln w="381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ctr">
              <a:noAutofit/>
            </a:bodyPr>
            <a:p>
              <a:pPr algn="ctr"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400" b="0" i="1" u="none" strike="noStrike">
                  <a:solidFill>
                    <a:srgbClr val="000000"/>
                  </a:solidFill>
                  <a:effectLst/>
                  <a:uFillTx/>
                  <a:latin typeface="Arial Rounded MT Bold"/>
                </a:rPr>
                <a:t>s</a:t>
              </a:r>
              <a:r>
                <a:rPr lang="en-US" sz="1400" b="0" i="1" u="none" strike="noStrike" baseline="-25000">
                  <a:solidFill>
                    <a:srgbClr val="000000"/>
                  </a:solidFill>
                  <a:effectLst/>
                  <a:uFillTx/>
                  <a:latin typeface="Arial Rounded MT Bold"/>
                </a:rPr>
                <a:t>1 </a:t>
              </a:r>
              <a:endParaRPr lang="it-IT" sz="14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642" name="Line 26"/>
            <p:cNvSpPr/>
            <p:nvPr/>
          </p:nvSpPr>
          <p:spPr>
            <a:xfrm>
              <a:off x="2133720" y="4753080"/>
              <a:ext cx="457200" cy="0"/>
            </a:xfrm>
            <a:prstGeom prst="line">
              <a:avLst/>
            </a:prstGeom>
            <a:ln w="9360">
              <a:solidFill>
                <a:srgbClr val="000000"/>
              </a:solidFill>
              <a:miter/>
              <a:tailEnd len="med" type="triangle" w="med"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46800" rIns="90000" bIns="-46800" anchor="ctr">
              <a:noAutofit/>
            </a:bodyPr>
            <a:p>
              <a:endParaRPr lang="it-IT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cxnSp>
          <p:nvCxnSpPr>
            <p:cNvPr id="643" name="AutoShape 27"/>
            <p:cNvCxnSpPr>
              <a:stCxn id="641" idx="7"/>
              <a:endCxn id="641" idx="1"/>
            </p:cNvCxnSpPr>
            <p:nvPr/>
          </p:nvCxnSpPr>
          <p:spPr>
            <a:xfrm rot="5400000">
              <a:off x="2770200" y="4458960"/>
              <a:ext cx="2520" cy="258120"/>
            </a:xfrm>
            <a:prstGeom prst="curvedConnector5">
              <a:avLst>
                <a:gd name="adj1" fmla="val -16600000"/>
                <a:gd name="adj2" fmla="val 50000"/>
                <a:gd name="adj3" fmla="val -16600000"/>
              </a:avLst>
            </a:prstGeom>
            <a:ln w="9360">
              <a:solidFill>
                <a:srgbClr val="000000"/>
              </a:solidFill>
              <a:miter/>
              <a:tailEnd len="med" type="triangle" w="med"/>
            </a:ln>
          </p:spPr>
        </p:cxnSp>
        <p:sp>
          <p:nvSpPr>
            <p:cNvPr id="644" name="Text Box 28"/>
            <p:cNvSpPr/>
            <p:nvPr/>
          </p:nvSpPr>
          <p:spPr>
            <a:xfrm>
              <a:off x="2166840" y="4456080"/>
              <a:ext cx="239760" cy="3074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spAutoFit/>
            </a:bodyPr>
            <a:p>
              <a:pPr>
                <a:lnSpc>
                  <a:spcPct val="100000"/>
                </a:lnSpc>
                <a:spcBef>
                  <a:spcPts val="876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400" b="0" u="sng" strike="noStrike">
                  <a:solidFill>
                    <a:srgbClr val="000000"/>
                  </a:solidFill>
                  <a:effectLst/>
                  <a:uFillTx/>
                  <a:latin typeface="Arial Rounded MT Bold"/>
                </a:rPr>
                <a:t>a</a:t>
              </a:r>
              <a:endParaRPr lang="it-IT" sz="14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645" name="Text Box 29"/>
            <p:cNvSpPr/>
            <p:nvPr/>
          </p:nvSpPr>
          <p:spPr>
            <a:xfrm>
              <a:off x="2751120" y="4071960"/>
              <a:ext cx="609480" cy="3074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spAutoFit/>
            </a:bodyPr>
            <a:p>
              <a:pPr algn="ctr">
                <a:lnSpc>
                  <a:spcPct val="100000"/>
                </a:lnSpc>
                <a:spcBef>
                  <a:spcPts val="876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400" b="0" u="sng" strike="noStrike">
                  <a:solidFill>
                    <a:srgbClr val="000000"/>
                  </a:solidFill>
                  <a:effectLst/>
                  <a:uFillTx/>
                  <a:latin typeface="Arial Rounded MT Bold"/>
                </a:rPr>
                <a:t>b</a:t>
              </a:r>
              <a:r>
                <a:rPr lang="en-US" sz="1400" b="0" u="none" strike="noStrike">
                  <a:solidFill>
                    <a:srgbClr val="000000"/>
                  </a:solidFill>
                  <a:effectLst/>
                  <a:uFillTx/>
                  <a:latin typeface="Arial Rounded MT Bold"/>
                </a:rPr>
                <a:t> | </a:t>
              </a:r>
              <a:r>
                <a:rPr lang="en-US" sz="1400" b="0" u="sng" strike="noStrike">
                  <a:solidFill>
                    <a:srgbClr val="000000"/>
                  </a:solidFill>
                  <a:effectLst/>
                  <a:uFillTx/>
                  <a:latin typeface="Arial Rounded MT Bold"/>
                </a:rPr>
                <a:t>c</a:t>
              </a:r>
              <a:endParaRPr lang="it-IT" sz="14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</p:grpSp>
      <p:sp>
        <p:nvSpPr>
          <p:cNvPr id="646" name="Text Box 30"/>
          <p:cNvSpPr/>
          <p:nvPr/>
        </p:nvSpPr>
        <p:spPr>
          <a:xfrm>
            <a:off x="4240080" y="3687840"/>
            <a:ext cx="4537080" cy="1882800"/>
          </a:xfrm>
          <a:prstGeom prst="rect">
            <a:avLst/>
          </a:prstGeom>
          <a:noFill/>
          <a:ln w="9360">
            <a:solidFill>
              <a:srgbClr val="B025A6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spAutoFit/>
          </a:bodyPr>
          <a:p>
            <a:pPr>
              <a:spcBef>
                <a:spcPts val="112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u="none" strike="noStrike">
                <a:solidFill>
                  <a:srgbClr val="B025A6"/>
                </a:solidFill>
                <a:effectLst/>
                <a:uFillTx/>
                <a:latin typeface="Comic Sans MS"/>
              </a:rPr>
              <a:t>In lecture 5, we observed that a human would design a simpler automaton than Thompson’s construction &amp; the subset construction did.</a:t>
            </a:r>
            <a:endParaRPr lang="it-IT" sz="18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  <a:p>
            <a:pPr>
              <a:spcBef>
                <a:spcPts val="112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u="none" strike="noStrike">
                <a:solidFill>
                  <a:srgbClr val="B025A6"/>
                </a:solidFill>
                <a:effectLst/>
                <a:uFillTx/>
                <a:latin typeface="Comic Sans MS"/>
              </a:rPr>
              <a:t>Minimizing that DFA produces the one that a human would design! </a:t>
            </a:r>
            <a:endParaRPr lang="it-IT" sz="18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graphicFrame>
        <p:nvGraphicFramePr>
          <p:cNvPr id="647" name=""/>
          <p:cNvGraphicFramePr/>
          <p:nvPr/>
        </p:nvGraphicFramePr>
        <p:xfrm>
          <a:off x="838080" y="1727280"/>
          <a:ext cx="4343400" cy="1320840"/>
        </p:xfrm>
        <a:graphic>
          <a:graphicData uri="http://schemas.openxmlformats.org/drawingml/2006/table">
            <a:tbl>
              <a:tblPr/>
              <a:tblGrid>
                <a:gridCol w="457200"/>
                <a:gridCol w="1828800"/>
                <a:gridCol w="685800"/>
                <a:gridCol w="685800"/>
                <a:gridCol w="685800"/>
              </a:tblGrid>
              <a:tr h="380880"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spcBef>
                          <a:spcPts val="4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endParaRPr lang="it-IT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>
                      <a:noFill/>
                    </a:lnL>
                    <a:lnR>
                      <a:noFill/>
                    </a:lnR>
                    <a:lnT w="13680">
                      <a:solidFill>
                        <a:srgbClr val="B025A6"/>
                      </a:solidFill>
                      <a:prstDash val="solid"/>
                    </a:lnT>
                    <a:lnB>
                      <a:noFill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spcBef>
                          <a:spcPts val="4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endParaRPr lang="it-IT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>
                      <a:noFill/>
                    </a:lnL>
                    <a:lnR>
                      <a:noFill/>
                    </a:lnR>
                    <a:lnT w="13680">
                      <a:solidFill>
                        <a:srgbClr val="B025A6"/>
                      </a:solidFill>
                      <a:prstDash val="solid"/>
                    </a:lnT>
                    <a:lnB>
                      <a:noFill/>
                    </a:lnB>
                    <a:solidFill>
                      <a:srgbClr val="E6E6E6"/>
                    </a:solidFill>
                  </a:tcPr>
                </a:tc>
                <a:tc gridSpan="3"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spcBef>
                          <a:spcPts val="4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Split on</a:t>
                      </a:r>
                      <a:endParaRPr lang="it-IT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>
                      <a:noFill/>
                    </a:lnL>
                    <a:lnR>
                      <a:noFill/>
                    </a:lnR>
                    <a:lnT w="13680">
                      <a:solidFill>
                        <a:srgbClr val="B025A6"/>
                      </a:solidFill>
                      <a:prstDash val="solid"/>
                    </a:lnT>
                    <a:lnB>
                      <a:noFill/>
                    </a:lnB>
                    <a:solidFill>
                      <a:srgbClr val="E6E6E6"/>
                    </a:solidFill>
                  </a:tcPr>
                </a:tc>
                <a:tc hMerge="1">
                  <a:txBody>
                    <a:bodyPr lIns="90000" tIns="45000" rIns="90000" bIns="45000" anchor="t">
                      <a:noAutofit/>
                    </a:bodyPr>
                    <a:p>
                      <a:endParaRPr lang="it-IT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tIns="45000" rIns="90000" bIns="45000" anchor="t">
                      <a:noAutofit/>
                    </a:bodyPr>
                    <a:p>
                      <a:endParaRPr lang="it-IT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</a:tr>
              <a:tr h="380880"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spcBef>
                          <a:spcPts val="4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endParaRPr lang="it-IT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5760">
                      <a:solidFill>
                        <a:srgbClr val="B025A6"/>
                      </a:solidFill>
                      <a:prstDash val="soli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spcBef>
                          <a:spcPts val="4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Current Partition</a:t>
                      </a:r>
                      <a:endParaRPr lang="it-IT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5760">
                      <a:solidFill>
                        <a:srgbClr val="B025A6"/>
                      </a:solidFill>
                      <a:prstDash val="soli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spcBef>
                          <a:spcPts val="4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600" b="0" u="sng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a</a:t>
                      </a:r>
                      <a:endParaRPr lang="it-IT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5760">
                      <a:solidFill>
                        <a:srgbClr val="B025A6"/>
                      </a:solidFill>
                      <a:prstDash val="soli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spcBef>
                          <a:spcPts val="4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600" b="0" u="sng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b</a:t>
                      </a:r>
                      <a:endParaRPr lang="it-IT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5760">
                      <a:solidFill>
                        <a:srgbClr val="B025A6"/>
                      </a:solidFill>
                      <a:prstDash val="soli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spcBef>
                          <a:spcPts val="4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600" b="0" u="sng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c</a:t>
                      </a:r>
                      <a:endParaRPr lang="it-IT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5760">
                      <a:solidFill>
                        <a:srgbClr val="B025A6"/>
                      </a:solidFill>
                      <a:prstDash val="solid"/>
                    </a:lnB>
                    <a:solidFill>
                      <a:srgbClr val="E6E6E6"/>
                    </a:solidFill>
                  </a:tcPr>
                </a:tc>
              </a:tr>
              <a:tr h="559080"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lnSpc>
                          <a:spcPct val="140000"/>
                        </a:lnSpc>
                        <a:spcBef>
                          <a:spcPts val="4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P</a:t>
                      </a:r>
                      <a:r>
                        <a:rPr lang="en-US" sz="1600" b="0" i="1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0</a:t>
                      </a:r>
                      <a:endParaRPr lang="it-IT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>
                      <a:noFill/>
                    </a:lnL>
                    <a:lnR>
                      <a:noFill/>
                    </a:lnR>
                    <a:lnT w="5760">
                      <a:solidFill>
                        <a:srgbClr val="B025A6"/>
                      </a:solidFill>
                      <a:prstDash val="solid"/>
                    </a:lnT>
                    <a:lnB w="13680">
                      <a:solidFill>
                        <a:srgbClr val="B025A6"/>
                      </a:solidFill>
                      <a:prstDash val="soli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lnSpc>
                          <a:spcPct val="140000"/>
                        </a:lnSpc>
                        <a:spcBef>
                          <a:spcPts val="4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{</a:t>
                      </a: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s</a:t>
                      </a:r>
                      <a:r>
                        <a:rPr lang="en-US" sz="1600" b="0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1</a:t>
                      </a: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,</a:t>
                      </a: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s</a:t>
                      </a:r>
                      <a:r>
                        <a:rPr lang="en-US" sz="1600" b="0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2</a:t>
                      </a: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,</a:t>
                      </a: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s</a:t>
                      </a:r>
                      <a:r>
                        <a:rPr lang="en-US" sz="1600" b="0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3</a:t>
                      </a: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} {</a:t>
                      </a: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s</a:t>
                      </a:r>
                      <a:r>
                        <a:rPr lang="en-US" sz="1600" b="0" u="none" strike="noStrike" baseline="-25000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0</a:t>
                      </a: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}</a:t>
                      </a:r>
                      <a:endParaRPr lang="it-IT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>
                      <a:noFill/>
                    </a:lnL>
                    <a:lnR>
                      <a:noFill/>
                    </a:lnR>
                    <a:lnT w="5760">
                      <a:solidFill>
                        <a:srgbClr val="B025A6"/>
                      </a:solidFill>
                      <a:prstDash val="solid"/>
                    </a:lnT>
                    <a:lnB w="13680">
                      <a:solidFill>
                        <a:srgbClr val="B025A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lnSpc>
                          <a:spcPct val="140000"/>
                        </a:lnSpc>
                        <a:spcBef>
                          <a:spcPts val="4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none</a:t>
                      </a:r>
                      <a:endParaRPr lang="it-IT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>
                      <a:noFill/>
                    </a:lnL>
                    <a:lnR>
                      <a:noFill/>
                    </a:lnR>
                    <a:lnT w="5760">
                      <a:solidFill>
                        <a:srgbClr val="B025A6"/>
                      </a:solidFill>
                      <a:prstDash val="solid"/>
                    </a:lnT>
                    <a:lnB w="13680">
                      <a:solidFill>
                        <a:srgbClr val="B025A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lnSpc>
                          <a:spcPct val="140000"/>
                        </a:lnSpc>
                        <a:spcBef>
                          <a:spcPts val="4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none</a:t>
                      </a:r>
                      <a:endParaRPr lang="it-IT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>
                      <a:noFill/>
                    </a:lnL>
                    <a:lnR>
                      <a:noFill/>
                    </a:lnR>
                    <a:lnT w="5760">
                      <a:solidFill>
                        <a:srgbClr val="B025A6"/>
                      </a:solidFill>
                      <a:prstDash val="solid"/>
                    </a:lnT>
                    <a:lnB w="13680">
                      <a:solidFill>
                        <a:srgbClr val="B025A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0000" tIns="46800" rIns="90000" bIns="46800" anchor="t">
                      <a:noAutofit/>
                    </a:bodyPr>
                    <a:p>
                      <a:pPr algn="ctr">
                        <a:lnSpc>
                          <a:spcPct val="140000"/>
                        </a:lnSpc>
                        <a:spcBef>
                          <a:spcPts val="4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/>
                        </a:rPr>
                        <a:t>none</a:t>
                      </a:r>
                      <a:endParaRPr lang="it-IT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mic Sans MS"/>
                      </a:endParaRPr>
                    </a:p>
                  </a:txBody>
                  <a:tcPr anchor="t" marL="90000" marR="90000" marT="46800" marB="46800">
                    <a:lnL>
                      <a:noFill/>
                    </a:lnL>
                    <a:lnR>
                      <a:noFill/>
                    </a:lnR>
                    <a:lnT w="5760">
                      <a:solidFill>
                        <a:srgbClr val="B025A6"/>
                      </a:solidFill>
                      <a:prstDash val="solid"/>
                    </a:lnT>
                    <a:lnB w="13680">
                      <a:solidFill>
                        <a:srgbClr val="B025A6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648" name="Oval 54"/>
          <p:cNvSpPr/>
          <p:nvPr/>
        </p:nvSpPr>
        <p:spPr>
          <a:xfrm>
            <a:off x="1571760" y="2552760"/>
            <a:ext cx="914400" cy="380880"/>
          </a:xfrm>
          <a:prstGeom prst="ellipse">
            <a:avLst/>
          </a:prstGeom>
          <a:noFill/>
          <a:ln w="38160">
            <a:solidFill>
              <a:srgbClr val="B025A6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</p:spTree>
  </p:cSld>
  <p:transition>
    <p:wipe dir="r"/>
  </p:transition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9" name="Footer Placeholder 3"/>
          <p:cNvSpPr/>
          <p:nvPr/>
        </p:nvSpPr>
        <p:spPr>
          <a:xfrm>
            <a:off x="685800" y="6248520"/>
            <a:ext cx="289548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Autofit/>
          </a:bodyPr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Comp 412, Fall 2010</a:t>
            </a:r>
            <a:endParaRPr lang="it-IT" sz="12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650" name="Slide Number Placeholder 4"/>
          <p:cNvSpPr/>
          <p:nvPr/>
        </p:nvSpPr>
        <p:spPr>
          <a:xfrm>
            <a:off x="6553080" y="6248520"/>
            <a:ext cx="190512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Autofit/>
          </a:bodyPr>
          <a:p>
            <a:pPr algn="r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73204988-F9C0-4961-9D71-8C19CCD5D03B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&lt;number&gt;</a:t>
            </a:fld>
            <a:endParaRPr lang="it-IT" sz="12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651" name="PlaceHolder 1"/>
          <p:cNvSpPr>
            <a:spLocks noGrp="1"/>
          </p:cNvSpPr>
          <p:nvPr>
            <p:ph type="title"/>
          </p:nvPr>
        </p:nvSpPr>
        <p:spPr>
          <a:xfrm>
            <a:off x="685800" y="533160"/>
            <a:ext cx="7772400" cy="533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l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Abbreviated Register Specification</a:t>
            </a:r>
            <a:endParaRPr lang="it-IT" sz="24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652" name="PlaceHolder 2"/>
          <p:cNvSpPr>
            <a:spLocks noGrp="1"/>
          </p:cNvSpPr>
          <p:nvPr>
            <p:ph/>
          </p:nvPr>
        </p:nvSpPr>
        <p:spPr>
          <a:xfrm>
            <a:off x="685800" y="1143000"/>
            <a:ext cx="7772400" cy="495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p>
            <a:pPr marL="343080" indent="-343080" algn="l">
              <a:spcBef>
                <a:spcPts val="499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Start with a regular expression</a:t>
            </a:r>
            <a:endParaRPr lang="it-IT" sz="20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  <a:p>
            <a:pPr marL="743040" lvl="1" indent="-285840" algn="l">
              <a:spcBef>
                <a:spcPts val="451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r0 | r1 | r2 | r3 | r4 | r5 | r6 | r7 | r8 | r9</a:t>
            </a:r>
            <a:endParaRPr lang="it-IT" sz="18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grpSp>
        <p:nvGrpSpPr>
          <p:cNvPr id="653" name="Group 23"/>
          <p:cNvGrpSpPr/>
          <p:nvPr/>
        </p:nvGrpSpPr>
        <p:grpSpPr>
          <a:xfrm>
            <a:off x="1143000" y="1828800"/>
            <a:ext cx="4648320" cy="4543560"/>
            <a:chOff x="1143000" y="1828800"/>
            <a:chExt cx="4648320" cy="4543560"/>
          </a:xfrm>
        </p:grpSpPr>
        <p:sp>
          <p:nvSpPr>
            <p:cNvPr id="654" name="Oval 24"/>
            <p:cNvSpPr/>
            <p:nvPr/>
          </p:nvSpPr>
          <p:spPr>
            <a:xfrm>
              <a:off x="5372280" y="5991120"/>
              <a:ext cx="380880" cy="381240"/>
            </a:xfrm>
            <a:prstGeom prst="ellipse">
              <a:avLst/>
            </a:prstGeom>
            <a:noFill/>
            <a:ln w="9360">
              <a:solidFill>
                <a:srgbClr val="FF0065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ctr">
              <a:noAutofit/>
            </a:bodyPr>
            <a:p>
              <a:endParaRPr lang="it-IT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655" name="AutoShape 25"/>
            <p:cNvSpPr/>
            <p:nvPr/>
          </p:nvSpPr>
          <p:spPr>
            <a:xfrm rot="5400000">
              <a:off x="3276720" y="-304920"/>
              <a:ext cx="380880" cy="4648320"/>
            </a:xfrm>
            <a:custGeom>
              <a:avLst/>
              <a:gdLst>
                <a:gd name="textAreaLeft" fmla="*/ 0 w 380880"/>
                <a:gd name="textAreaRight" fmla="*/ 137520 w 380880"/>
                <a:gd name="textAreaTop" fmla="*/ 120960 h 4648320"/>
                <a:gd name="textAreaBottom" fmla="*/ 4527360 h 4648320"/>
                <a:gd name="GluePoint1X" fmla="*/ 0 w 21600"/>
                <a:gd name="GluePoint1Y" fmla="*/ 0 h 21600"/>
                <a:gd name="GluePoint2X" fmla="*/ 0 w 21600"/>
                <a:gd name="GluePoint2Y" fmla="*/ 21600 h 21600"/>
                <a:gd name="GluePoint3X" fmla="*/ 21600 w 21600"/>
                <a:gd name="GluePoint3Y" fmla="*/ 10800 h 2160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</a:cxnLst>
              <a:rect l="textAreaLeft" t="textAreaTop" r="textAreaRight" b="textAreaBottom"/>
              <a:pathLst>
                <a:path w="21600" h="21600">
                  <a:moveTo>
                    <a:pt x="0" y="0"/>
                  </a:moveTo>
                  <a:cubicBezTo>
                    <a:pt x="5400" y="0"/>
                    <a:pt x="10800" y="900"/>
                    <a:pt x="10800" y="1800"/>
                  </a:cubicBezTo>
                  <a:lnTo>
                    <a:pt x="10800" y="9000"/>
                  </a:lnTo>
                  <a:cubicBezTo>
                    <a:pt x="10800" y="9900"/>
                    <a:pt x="16200" y="10800"/>
                    <a:pt x="21600" y="10800"/>
                  </a:cubicBezTo>
                  <a:cubicBezTo>
                    <a:pt x="16200" y="10800"/>
                    <a:pt x="10800" y="11700"/>
                    <a:pt x="10800" y="12600"/>
                  </a:cubicBezTo>
                  <a:lnTo>
                    <a:pt x="10800" y="19800"/>
                  </a:lnTo>
                  <a:cubicBezTo>
                    <a:pt x="10800" y="20700"/>
                    <a:pt x="5400" y="21600"/>
                    <a:pt x="0" y="21600"/>
                  </a:cubicBezTo>
                </a:path>
              </a:pathLst>
            </a:custGeom>
            <a:noFill/>
            <a:ln w="9360">
              <a:solidFill>
                <a:srgbClr val="FF0065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ctr">
              <a:noAutofit/>
            </a:bodyPr>
            <a:p>
              <a:endParaRPr lang="it-IT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656" name="Line 26"/>
            <p:cNvSpPr/>
            <p:nvPr/>
          </p:nvSpPr>
          <p:spPr>
            <a:xfrm>
              <a:off x="3505320" y="2286000"/>
              <a:ext cx="1904760" cy="3657600"/>
            </a:xfrm>
            <a:prstGeom prst="line">
              <a:avLst/>
            </a:prstGeom>
            <a:ln w="9360">
              <a:solidFill>
                <a:srgbClr val="FF0065"/>
              </a:solidFill>
              <a:miter/>
              <a:tailEnd len="med" type="triangle" w="med"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ctr">
              <a:noAutofit/>
            </a:bodyPr>
            <a:p>
              <a:endParaRPr lang="it-IT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</p:grpSp>
      <p:grpSp>
        <p:nvGrpSpPr>
          <p:cNvPr id="657" name="Group 27"/>
          <p:cNvGrpSpPr/>
          <p:nvPr/>
        </p:nvGrpSpPr>
        <p:grpSpPr>
          <a:xfrm>
            <a:off x="4921200" y="4952880"/>
            <a:ext cx="3765600" cy="1504440"/>
            <a:chOff x="4921200" y="4952880"/>
            <a:chExt cx="3765600" cy="1504440"/>
          </a:xfrm>
        </p:grpSpPr>
        <p:sp>
          <p:nvSpPr>
            <p:cNvPr id="658" name="Text Box 28"/>
            <p:cNvSpPr/>
            <p:nvPr/>
          </p:nvSpPr>
          <p:spPr>
            <a:xfrm>
              <a:off x="7324560" y="5851440"/>
              <a:ext cx="990720" cy="6058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spAutoFit/>
            </a:bodyPr>
            <a:p>
              <a:pPr algn="ctr">
                <a:lnSpc>
                  <a:spcPct val="120000"/>
                </a:lnSpc>
                <a:spcBef>
                  <a:spcPts val="876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400" b="0" i="1" u="none" strike="noStrike">
                  <a:solidFill>
                    <a:srgbClr val="B025A6"/>
                  </a:solidFill>
                  <a:effectLst/>
                  <a:uFillTx/>
                  <a:latin typeface="Arial Rounded MT Bold"/>
                </a:rPr>
                <a:t>minimal </a:t>
              </a:r>
              <a:r>
                <a:rPr lang="en-US" sz="1400" b="0" u="none" strike="noStrike">
                  <a:solidFill>
                    <a:srgbClr val="B025A6"/>
                  </a:solidFill>
                  <a:effectLst/>
                  <a:uFillTx/>
                  <a:latin typeface="Arial Rounded MT Bold"/>
                </a:rPr>
                <a:t>DFA</a:t>
              </a:r>
              <a:endParaRPr lang="it-IT" sz="14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659" name="Text Box 29"/>
            <p:cNvSpPr/>
            <p:nvPr/>
          </p:nvSpPr>
          <p:spPr>
            <a:xfrm>
              <a:off x="5343480" y="6016680"/>
              <a:ext cx="533520" cy="3074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spAutoFit/>
            </a:bodyPr>
            <a:p>
              <a:pPr>
                <a:lnSpc>
                  <a:spcPct val="100000"/>
                </a:lnSpc>
                <a:spcBef>
                  <a:spcPts val="876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400" b="0" u="none" strike="noStrike">
                  <a:solidFill>
                    <a:srgbClr val="B025A6"/>
                  </a:solidFill>
                  <a:effectLst/>
                  <a:uFillTx/>
                  <a:latin typeface="Arial Rounded MT Bold"/>
                </a:rPr>
                <a:t>RE</a:t>
              </a:r>
              <a:endParaRPr lang="it-IT" sz="14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660" name="Text Box 30"/>
            <p:cNvSpPr/>
            <p:nvPr/>
          </p:nvSpPr>
          <p:spPr>
            <a:xfrm>
              <a:off x="5952960" y="6016680"/>
              <a:ext cx="685800" cy="3074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spAutoFit/>
            </a:bodyPr>
            <a:p>
              <a:pPr>
                <a:lnSpc>
                  <a:spcPct val="100000"/>
                </a:lnSpc>
                <a:spcBef>
                  <a:spcPts val="876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400" b="0" u="none" strike="noStrike">
                  <a:solidFill>
                    <a:srgbClr val="B025A6"/>
                  </a:solidFill>
                  <a:effectLst/>
                  <a:uFillTx/>
                  <a:latin typeface="Arial Rounded MT Bold"/>
                </a:rPr>
                <a:t>NFA</a:t>
              </a:r>
              <a:endParaRPr lang="it-IT" sz="14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661" name="Text Box 31"/>
            <p:cNvSpPr/>
            <p:nvPr/>
          </p:nvSpPr>
          <p:spPr>
            <a:xfrm>
              <a:off x="6715080" y="6016680"/>
              <a:ext cx="685800" cy="3074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spAutoFit/>
            </a:bodyPr>
            <a:p>
              <a:pPr>
                <a:lnSpc>
                  <a:spcPct val="100000"/>
                </a:lnSpc>
                <a:spcBef>
                  <a:spcPts val="876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400" b="0" u="none" strike="noStrike">
                  <a:solidFill>
                    <a:srgbClr val="B025A6"/>
                  </a:solidFill>
                  <a:effectLst/>
                  <a:uFillTx/>
                  <a:latin typeface="Arial Rounded MT Bold"/>
                </a:rPr>
                <a:t>DFA</a:t>
              </a:r>
              <a:endParaRPr lang="it-IT" sz="14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662" name="Line 32"/>
            <p:cNvSpPr/>
            <p:nvPr/>
          </p:nvSpPr>
          <p:spPr>
            <a:xfrm>
              <a:off x="5724360" y="6168960"/>
              <a:ext cx="304920" cy="0"/>
            </a:xfrm>
            <a:prstGeom prst="line">
              <a:avLst/>
            </a:prstGeom>
            <a:ln w="9360">
              <a:solidFill>
                <a:srgbClr val="B025A6"/>
              </a:solidFill>
              <a:miter/>
              <a:tailEnd len="med" type="triangle" w="med"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46800" rIns="90000" bIns="-46800" anchor="ctr">
              <a:noAutofit/>
            </a:bodyPr>
            <a:p>
              <a:endParaRPr lang="it-IT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663" name="Line 33"/>
            <p:cNvSpPr/>
            <p:nvPr/>
          </p:nvSpPr>
          <p:spPr>
            <a:xfrm>
              <a:off x="6486480" y="6168960"/>
              <a:ext cx="304920" cy="0"/>
            </a:xfrm>
            <a:prstGeom prst="line">
              <a:avLst/>
            </a:prstGeom>
            <a:ln w="9360">
              <a:solidFill>
                <a:srgbClr val="B025A6"/>
              </a:solidFill>
              <a:miter/>
              <a:tailEnd len="med" type="triangle" w="med"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46800" rIns="90000" bIns="-46800" anchor="ctr">
              <a:noAutofit/>
            </a:bodyPr>
            <a:p>
              <a:endParaRPr lang="it-IT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664" name="Line 34"/>
            <p:cNvSpPr/>
            <p:nvPr/>
          </p:nvSpPr>
          <p:spPr>
            <a:xfrm>
              <a:off x="7248600" y="6168960"/>
              <a:ext cx="304560" cy="0"/>
            </a:xfrm>
            <a:prstGeom prst="line">
              <a:avLst/>
            </a:prstGeom>
            <a:ln w="9360">
              <a:solidFill>
                <a:srgbClr val="B025A6"/>
              </a:solidFill>
              <a:miter/>
              <a:tailEnd len="med" type="triangle" w="med"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46800" rIns="90000" bIns="-46800" anchor="ctr">
              <a:noAutofit/>
            </a:bodyPr>
            <a:p>
              <a:endParaRPr lang="it-IT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665" name="Line 35"/>
            <p:cNvSpPr/>
            <p:nvPr/>
          </p:nvSpPr>
          <p:spPr>
            <a:xfrm>
              <a:off x="8010360" y="6172200"/>
              <a:ext cx="304920" cy="0"/>
            </a:xfrm>
            <a:prstGeom prst="line">
              <a:avLst/>
            </a:prstGeom>
            <a:ln w="9360">
              <a:solidFill>
                <a:srgbClr val="B025A6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46800" rIns="90000" bIns="-46800" anchor="ctr">
              <a:noAutofit/>
            </a:bodyPr>
            <a:p>
              <a:endParaRPr lang="it-IT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666" name="Arc 36"/>
            <p:cNvSpPr/>
            <p:nvPr/>
          </p:nvSpPr>
          <p:spPr>
            <a:xfrm>
              <a:off x="8229600" y="5410080"/>
              <a:ext cx="457200" cy="382680"/>
            </a:xfrm>
            <a:custGeom>
              <a:avLst/>
              <a:gdLst>
                <a:gd name="textAreaLeft" fmla="*/ 0 w 457200"/>
                <a:gd name="textAreaRight" fmla="*/ 457560 w 457200"/>
                <a:gd name="textAreaTop" fmla="*/ 0 h 382680"/>
                <a:gd name="textAreaBottom" fmla="*/ 383040 h 382680"/>
                <a:gd name="GluePoint1X" fmla="*/ 0 w 21600"/>
                <a:gd name="GluePoint1Y" fmla="*/ 0 h 21573"/>
                <a:gd name="GluePoint2X" fmla="*/ 0 w 21600"/>
                <a:gd name="GluePoint2Y" fmla="*/ 0 h 21573"/>
                <a:gd name="GluePoint3X" fmla="*/ 0 w 21600"/>
                <a:gd name="GluePoint3Y" fmla="*/ 0 h 21573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</a:cxnLst>
              <a:rect l="textAreaLeft" t="textAreaTop" r="textAreaRight" b="textAreaBottom"/>
              <a:pathLst>
                <a:path fill="none" w="21600" h="21573">
                  <a:moveTo>
                    <a:pt x="1078" y="-1"/>
                  </a:moveTo>
                  <a:cubicBezTo>
                    <a:pt x="12573" y="574"/>
                    <a:pt x="21600" y="10062"/>
                    <a:pt x="21600" y="21573"/>
                  </a:cubicBezTo>
                </a:path>
                <a:path stroke="0" w="21600" h="21573">
                  <a:moveTo>
                    <a:pt x="1078" y="-1"/>
                  </a:moveTo>
                  <a:cubicBezTo>
                    <a:pt x="12573" y="574"/>
                    <a:pt x="21600" y="10062"/>
                    <a:pt x="21600" y="21573"/>
                  </a:cubicBezTo>
                  <a:lnTo>
                    <a:pt x="0" y="21573"/>
                  </a:lnTo>
                  <a:close/>
                </a:path>
              </a:pathLst>
            </a:custGeom>
            <a:noFill/>
            <a:ln w="9360">
              <a:solidFill>
                <a:srgbClr val="B025A6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ctr">
              <a:noAutofit/>
            </a:bodyPr>
            <a:p>
              <a:endParaRPr lang="it-IT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667" name="Arc 37"/>
            <p:cNvSpPr/>
            <p:nvPr/>
          </p:nvSpPr>
          <p:spPr>
            <a:xfrm flipV="1">
              <a:off x="8229600" y="5791320"/>
              <a:ext cx="457200" cy="380880"/>
            </a:xfrm>
            <a:custGeom>
              <a:avLst/>
              <a:gdLst>
                <a:gd name="textAreaLeft" fmla="*/ 0 w 457200"/>
                <a:gd name="textAreaRight" fmla="*/ 457560 w 457200"/>
                <a:gd name="textAreaTop" fmla="*/ 360 h 380880"/>
                <a:gd name="textAreaBottom" fmla="*/ 381600 h 380880"/>
                <a:gd name="GluePoint1X" fmla="*/ 0 w 21600"/>
                <a:gd name="GluePoint1Y" fmla="*/ 0 h 21573"/>
                <a:gd name="GluePoint2X" fmla="*/ 0 w 21600"/>
                <a:gd name="GluePoint2Y" fmla="*/ 0 h 21573"/>
                <a:gd name="GluePoint3X" fmla="*/ 0 w 21600"/>
                <a:gd name="GluePoint3Y" fmla="*/ 0 h 21573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</a:cxnLst>
              <a:rect l="textAreaLeft" t="textAreaTop" r="textAreaRight" b="textAreaBottom"/>
              <a:pathLst>
                <a:path fill="none" w="21600" h="21573">
                  <a:moveTo>
                    <a:pt x="1078" y="-1"/>
                  </a:moveTo>
                  <a:cubicBezTo>
                    <a:pt x="12573" y="574"/>
                    <a:pt x="21600" y="10062"/>
                    <a:pt x="21600" y="21573"/>
                  </a:cubicBezTo>
                </a:path>
                <a:path stroke="0" w="21600" h="21573">
                  <a:moveTo>
                    <a:pt x="1078" y="-1"/>
                  </a:moveTo>
                  <a:cubicBezTo>
                    <a:pt x="12573" y="574"/>
                    <a:pt x="21600" y="10062"/>
                    <a:pt x="21600" y="21573"/>
                  </a:cubicBezTo>
                  <a:lnTo>
                    <a:pt x="0" y="21573"/>
                  </a:lnTo>
                  <a:close/>
                </a:path>
              </a:pathLst>
            </a:custGeom>
            <a:noFill/>
            <a:ln w="9360">
              <a:solidFill>
                <a:srgbClr val="B025A6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ctr">
              <a:noAutofit/>
            </a:bodyPr>
            <a:p>
              <a:endParaRPr lang="it-IT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668" name="Arc 38"/>
            <p:cNvSpPr/>
            <p:nvPr/>
          </p:nvSpPr>
          <p:spPr>
            <a:xfrm flipH="1">
              <a:off x="4921200" y="5407200"/>
              <a:ext cx="457200" cy="382320"/>
            </a:xfrm>
            <a:custGeom>
              <a:avLst/>
              <a:gdLst>
                <a:gd name="textAreaLeft" fmla="*/ 360 w 457200"/>
                <a:gd name="textAreaRight" fmla="*/ 457920 w 457200"/>
                <a:gd name="textAreaTop" fmla="*/ 0 h 382320"/>
                <a:gd name="textAreaBottom" fmla="*/ 382680 h 382320"/>
                <a:gd name="GluePoint1X" fmla="*/ 0 w 21600"/>
                <a:gd name="GluePoint1Y" fmla="*/ 0 h 21573"/>
                <a:gd name="GluePoint2X" fmla="*/ 0 w 21600"/>
                <a:gd name="GluePoint2Y" fmla="*/ 0 h 21573"/>
                <a:gd name="GluePoint3X" fmla="*/ 0 w 21600"/>
                <a:gd name="GluePoint3Y" fmla="*/ 0 h 21573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</a:cxnLst>
              <a:rect l="textAreaLeft" t="textAreaTop" r="textAreaRight" b="textAreaBottom"/>
              <a:pathLst>
                <a:path fill="none" w="21600" h="21573">
                  <a:moveTo>
                    <a:pt x="1078" y="-1"/>
                  </a:moveTo>
                  <a:cubicBezTo>
                    <a:pt x="12573" y="574"/>
                    <a:pt x="21600" y="10062"/>
                    <a:pt x="21600" y="21573"/>
                  </a:cubicBezTo>
                </a:path>
                <a:path stroke="0" w="21600" h="21573">
                  <a:moveTo>
                    <a:pt x="1078" y="-1"/>
                  </a:moveTo>
                  <a:cubicBezTo>
                    <a:pt x="12573" y="574"/>
                    <a:pt x="21600" y="10062"/>
                    <a:pt x="21600" y="21573"/>
                  </a:cubicBezTo>
                  <a:lnTo>
                    <a:pt x="0" y="21573"/>
                  </a:lnTo>
                  <a:close/>
                </a:path>
              </a:pathLst>
            </a:custGeom>
            <a:noFill/>
            <a:ln w="9360">
              <a:solidFill>
                <a:srgbClr val="B025A6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ctr">
              <a:noAutofit/>
            </a:bodyPr>
            <a:p>
              <a:endParaRPr lang="it-IT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669" name="Arc 39"/>
            <p:cNvSpPr/>
            <p:nvPr/>
          </p:nvSpPr>
          <p:spPr>
            <a:xfrm flipH="1" flipV="1">
              <a:off x="4921200" y="5799240"/>
              <a:ext cx="457200" cy="380880"/>
            </a:xfrm>
            <a:custGeom>
              <a:avLst/>
              <a:gdLst>
                <a:gd name="textAreaLeft" fmla="*/ 360 w 457200"/>
                <a:gd name="textAreaRight" fmla="*/ 457920 w 457200"/>
                <a:gd name="textAreaTop" fmla="*/ 360 h 380880"/>
                <a:gd name="textAreaBottom" fmla="*/ 381600 h 380880"/>
                <a:gd name="GluePoint1X" fmla="*/ 0 w 21600"/>
                <a:gd name="GluePoint1Y" fmla="*/ 0 h 21573"/>
                <a:gd name="GluePoint2X" fmla="*/ 0 w 21600"/>
                <a:gd name="GluePoint2Y" fmla="*/ 0 h 21573"/>
                <a:gd name="GluePoint3X" fmla="*/ 0 w 21600"/>
                <a:gd name="GluePoint3Y" fmla="*/ 0 h 21573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</a:cxnLst>
              <a:rect l="textAreaLeft" t="textAreaTop" r="textAreaRight" b="textAreaBottom"/>
              <a:pathLst>
                <a:path fill="none" w="21600" h="21573">
                  <a:moveTo>
                    <a:pt x="1078" y="-1"/>
                  </a:moveTo>
                  <a:cubicBezTo>
                    <a:pt x="12573" y="574"/>
                    <a:pt x="21600" y="10062"/>
                    <a:pt x="21600" y="21573"/>
                  </a:cubicBezTo>
                </a:path>
                <a:path stroke="0" w="21600" h="21573">
                  <a:moveTo>
                    <a:pt x="1078" y="-1"/>
                  </a:moveTo>
                  <a:cubicBezTo>
                    <a:pt x="12573" y="574"/>
                    <a:pt x="21600" y="10062"/>
                    <a:pt x="21600" y="21573"/>
                  </a:cubicBezTo>
                  <a:lnTo>
                    <a:pt x="0" y="21573"/>
                  </a:lnTo>
                  <a:close/>
                </a:path>
              </a:pathLst>
            </a:custGeom>
            <a:noFill/>
            <a:ln w="9360">
              <a:solidFill>
                <a:srgbClr val="B025A6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ctr">
              <a:noAutofit/>
            </a:bodyPr>
            <a:p>
              <a:endParaRPr lang="it-IT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670" name="Line 40"/>
            <p:cNvSpPr/>
            <p:nvPr/>
          </p:nvSpPr>
          <p:spPr>
            <a:xfrm>
              <a:off x="5343480" y="5410080"/>
              <a:ext cx="2895480" cy="0"/>
            </a:xfrm>
            <a:prstGeom prst="line">
              <a:avLst/>
            </a:prstGeom>
            <a:ln w="9360">
              <a:solidFill>
                <a:srgbClr val="B025A6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46800" rIns="90000" bIns="-46800" anchor="ctr">
              <a:noAutofit/>
            </a:bodyPr>
            <a:p>
              <a:endParaRPr lang="it-IT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671" name="Line 41"/>
            <p:cNvSpPr/>
            <p:nvPr/>
          </p:nvSpPr>
          <p:spPr>
            <a:xfrm>
              <a:off x="5267160" y="6172200"/>
              <a:ext cx="152640" cy="0"/>
            </a:xfrm>
            <a:prstGeom prst="line">
              <a:avLst/>
            </a:prstGeom>
            <a:ln w="9360">
              <a:solidFill>
                <a:srgbClr val="B025A6"/>
              </a:solidFill>
              <a:miter/>
              <a:tailEnd len="med" type="triangle" w="med"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46800" rIns="90000" bIns="-46800" anchor="ctr">
              <a:noAutofit/>
            </a:bodyPr>
            <a:p>
              <a:endParaRPr lang="it-IT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672" name="Text Box 42"/>
            <p:cNvSpPr/>
            <p:nvPr/>
          </p:nvSpPr>
          <p:spPr>
            <a:xfrm>
              <a:off x="5361120" y="4952880"/>
              <a:ext cx="2895480" cy="337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spAutoFit/>
            </a:bodyPr>
            <a:p>
              <a:pPr>
                <a:lnSpc>
                  <a:spcPct val="100000"/>
                </a:lnSpc>
                <a:spcBef>
                  <a:spcPts val="1001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600" b="0" i="1" u="sng" strike="noStrike">
                  <a:solidFill>
                    <a:srgbClr val="B025A6"/>
                  </a:solidFill>
                  <a:effectLst/>
                  <a:uFillTx/>
                  <a:latin typeface="Arial Rounded MT Bold"/>
                </a:rPr>
                <a:t>The Cycle of Constructions</a:t>
              </a:r>
              <a:endParaRPr lang="it-IT" sz="16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</p:grpSp>
      <p:sp>
        <p:nvSpPr>
          <p:cNvPr id="673" name="Text Box 43"/>
          <p:cNvSpPr/>
          <p:nvPr/>
        </p:nvSpPr>
        <p:spPr>
          <a:xfrm>
            <a:off x="5715000" y="2209680"/>
            <a:ext cx="2819520" cy="64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spAutoFit/>
          </a:bodyPr>
          <a:p>
            <a:pPr>
              <a:spcBef>
                <a:spcPts val="112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u="none" strike="noStrike">
                <a:solidFill>
                  <a:srgbClr val="FF0065"/>
                </a:solidFill>
                <a:effectLst/>
                <a:uFillTx/>
                <a:latin typeface="Comic Sans MS"/>
              </a:rPr>
              <a:t>Register names from zero to nine</a:t>
            </a:r>
            <a:endParaRPr lang="it-IT" sz="18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</p:spTree>
  </p:cSld>
  <p:transition>
    <p:wipe dir="r"/>
  </p:transition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4" name="Footer Placeholder 3"/>
          <p:cNvSpPr/>
          <p:nvPr/>
        </p:nvSpPr>
        <p:spPr>
          <a:xfrm>
            <a:off x="685800" y="6248520"/>
            <a:ext cx="289548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Autofit/>
          </a:bodyPr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Comp 412, Fall 2010</a:t>
            </a:r>
            <a:endParaRPr lang="it-IT" sz="12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675" name="Slide Number Placeholder 4"/>
          <p:cNvSpPr/>
          <p:nvPr/>
        </p:nvSpPr>
        <p:spPr>
          <a:xfrm>
            <a:off x="6553080" y="6248520"/>
            <a:ext cx="190512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Autofit/>
          </a:bodyPr>
          <a:p>
            <a:pPr algn="r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F39BA2FD-DFDA-4E0C-BAD4-273607FC829B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&lt;number&gt;</a:t>
            </a:fld>
            <a:endParaRPr lang="it-IT" sz="12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676" name="PlaceHolder 1"/>
          <p:cNvSpPr>
            <a:spLocks noGrp="1"/>
          </p:cNvSpPr>
          <p:nvPr>
            <p:ph type="title"/>
          </p:nvPr>
        </p:nvSpPr>
        <p:spPr>
          <a:xfrm>
            <a:off x="685800" y="533160"/>
            <a:ext cx="7772400" cy="533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l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Abbreviated Register Specification</a:t>
            </a:r>
            <a:endParaRPr lang="it-IT" sz="24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677" name="PlaceHolder 2"/>
          <p:cNvSpPr>
            <a:spLocks noGrp="1"/>
          </p:cNvSpPr>
          <p:nvPr>
            <p:ph/>
          </p:nvPr>
        </p:nvSpPr>
        <p:spPr>
          <a:xfrm>
            <a:off x="685800" y="1143000"/>
            <a:ext cx="7772400" cy="495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p>
            <a:pPr marL="343080" indent="-343080" algn="l">
              <a:spcBef>
                <a:spcPts val="499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Thompson’s construction produces</a:t>
            </a:r>
            <a:endParaRPr lang="it-IT" sz="20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grpSp>
        <p:nvGrpSpPr>
          <p:cNvPr id="678" name="Group 131"/>
          <p:cNvGrpSpPr/>
          <p:nvPr/>
        </p:nvGrpSpPr>
        <p:grpSpPr>
          <a:xfrm>
            <a:off x="860400" y="1390680"/>
            <a:ext cx="7597800" cy="3638520"/>
            <a:chOff x="860400" y="1390680"/>
            <a:chExt cx="7597800" cy="3638520"/>
          </a:xfrm>
        </p:grpSpPr>
        <p:sp>
          <p:nvSpPr>
            <p:cNvPr id="679" name="Oval 5"/>
            <p:cNvSpPr/>
            <p:nvPr/>
          </p:nvSpPr>
          <p:spPr>
            <a:xfrm>
              <a:off x="3610080" y="1633680"/>
              <a:ext cx="309600" cy="282600"/>
            </a:xfrm>
            <a:prstGeom prst="ellipse">
              <a:avLst/>
            </a:prstGeom>
            <a:noFill/>
            <a:ln w="1260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ctr">
              <a:noAutofit/>
            </a:bodyPr>
            <a:p>
              <a:endParaRPr lang="it-IT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680" name="Oval 6"/>
            <p:cNvSpPr/>
            <p:nvPr/>
          </p:nvSpPr>
          <p:spPr>
            <a:xfrm>
              <a:off x="4356000" y="1630440"/>
              <a:ext cx="309600" cy="282600"/>
            </a:xfrm>
            <a:prstGeom prst="ellipse">
              <a:avLst/>
            </a:prstGeom>
            <a:noFill/>
            <a:ln w="1260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ctr">
              <a:noAutofit/>
            </a:bodyPr>
            <a:p>
              <a:pPr algn="ctr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endParaRPr lang="it-IT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cxnSp>
          <p:nvCxnSpPr>
            <p:cNvPr id="681" name="AutoShape 7"/>
            <p:cNvCxnSpPr>
              <a:stCxn id="679" idx="6"/>
              <a:endCxn id="680" idx="2"/>
            </p:cNvCxnSpPr>
            <p:nvPr/>
          </p:nvCxnSpPr>
          <p:spPr>
            <a:xfrm flipV="1">
              <a:off x="3919680" y="1770840"/>
              <a:ext cx="437040" cy="3960"/>
            </a:xfrm>
            <a:prstGeom prst="straightConnector1">
              <a:avLst/>
            </a:prstGeom>
            <a:ln w="9360">
              <a:solidFill>
                <a:srgbClr val="000000"/>
              </a:solidFill>
              <a:miter/>
              <a:tailEnd len="med" type="triangle" w="med"/>
            </a:ln>
          </p:spPr>
        </p:cxnSp>
        <p:sp>
          <p:nvSpPr>
            <p:cNvPr id="682" name="Text Box 8"/>
            <p:cNvSpPr/>
            <p:nvPr/>
          </p:nvSpPr>
          <p:spPr>
            <a:xfrm>
              <a:off x="3979800" y="1390680"/>
              <a:ext cx="304920" cy="337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spAutoFit/>
            </a:bodyPr>
            <a:p>
              <a:pPr>
                <a:spcBef>
                  <a:spcPts val="1001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600" b="0" u="sng" strike="noStrike">
                  <a:solidFill>
                    <a:srgbClr val="000000"/>
                  </a:solidFill>
                  <a:effectLst/>
                  <a:uFillTx/>
                  <a:latin typeface="Comic Sans MS"/>
                </a:rPr>
                <a:t>r</a:t>
              </a:r>
              <a:endParaRPr lang="it-IT" sz="16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683" name="Oval 9"/>
            <p:cNvSpPr/>
            <p:nvPr/>
          </p:nvSpPr>
          <p:spPr>
            <a:xfrm>
              <a:off x="5122800" y="1630440"/>
              <a:ext cx="309600" cy="282600"/>
            </a:xfrm>
            <a:prstGeom prst="ellipse">
              <a:avLst/>
            </a:prstGeom>
            <a:noFill/>
            <a:ln w="1260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ctr">
              <a:noAutofit/>
            </a:bodyPr>
            <a:p>
              <a:pPr algn="ctr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endParaRPr lang="it-IT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cxnSp>
          <p:nvCxnSpPr>
            <p:cNvPr id="684" name="AutoShape 10"/>
            <p:cNvCxnSpPr>
              <a:stCxn id="680" idx="6"/>
              <a:endCxn id="683" idx="2"/>
            </p:cNvCxnSpPr>
            <p:nvPr/>
          </p:nvCxnSpPr>
          <p:spPr>
            <a:xfrm>
              <a:off x="4665600" y="1771200"/>
              <a:ext cx="457920" cy="1080"/>
            </a:xfrm>
            <a:prstGeom prst="straightConnector1">
              <a:avLst/>
            </a:prstGeom>
            <a:ln w="9360">
              <a:solidFill>
                <a:srgbClr val="000000"/>
              </a:solidFill>
              <a:miter/>
              <a:tailEnd len="med" type="triangle" w="med"/>
            </a:ln>
          </p:spPr>
        </p:cxnSp>
        <p:sp>
          <p:nvSpPr>
            <p:cNvPr id="685" name="Text Box 11"/>
            <p:cNvSpPr/>
            <p:nvPr/>
          </p:nvSpPr>
          <p:spPr>
            <a:xfrm>
              <a:off x="4741920" y="1420920"/>
              <a:ext cx="304920" cy="337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spAutoFit/>
            </a:bodyPr>
            <a:p>
              <a:pPr>
                <a:spcBef>
                  <a:spcPts val="1001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600" b="0" u="sng" strike="noStrike">
                  <a:solidFill>
                    <a:srgbClr val="000000"/>
                  </a:solidFill>
                  <a:effectLst/>
                  <a:uFillTx/>
                  <a:latin typeface="Comic Sans MS"/>
                </a:rPr>
                <a:t>0</a:t>
              </a:r>
              <a:endParaRPr lang="it-IT" sz="16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686" name="Oval 12"/>
            <p:cNvSpPr/>
            <p:nvPr/>
          </p:nvSpPr>
          <p:spPr>
            <a:xfrm>
              <a:off x="3603600" y="2232000"/>
              <a:ext cx="309600" cy="282600"/>
            </a:xfrm>
            <a:prstGeom prst="ellipse">
              <a:avLst/>
            </a:prstGeom>
            <a:noFill/>
            <a:ln w="1260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ctr">
              <a:noAutofit/>
            </a:bodyPr>
            <a:p>
              <a:endParaRPr lang="it-IT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687" name="Oval 13"/>
            <p:cNvSpPr/>
            <p:nvPr/>
          </p:nvSpPr>
          <p:spPr>
            <a:xfrm>
              <a:off x="4349880" y="2228760"/>
              <a:ext cx="309600" cy="282600"/>
            </a:xfrm>
            <a:prstGeom prst="ellipse">
              <a:avLst/>
            </a:prstGeom>
            <a:noFill/>
            <a:ln w="1260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ctr">
              <a:noAutofit/>
            </a:bodyPr>
            <a:p>
              <a:pPr algn="ctr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endParaRPr lang="it-IT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cxnSp>
          <p:nvCxnSpPr>
            <p:cNvPr id="688" name="AutoShape 14"/>
            <p:cNvCxnSpPr>
              <a:stCxn id="686" idx="6"/>
              <a:endCxn id="687" idx="2"/>
            </p:cNvCxnSpPr>
            <p:nvPr/>
          </p:nvCxnSpPr>
          <p:spPr>
            <a:xfrm flipV="1">
              <a:off x="3912840" y="2369520"/>
              <a:ext cx="437400" cy="3960"/>
            </a:xfrm>
            <a:prstGeom prst="straightConnector1">
              <a:avLst/>
            </a:prstGeom>
            <a:ln w="9360">
              <a:solidFill>
                <a:srgbClr val="000000"/>
              </a:solidFill>
              <a:miter/>
              <a:tailEnd len="med" type="triangle" w="med"/>
            </a:ln>
          </p:spPr>
        </p:cxnSp>
        <p:sp>
          <p:nvSpPr>
            <p:cNvPr id="689" name="Text Box 15"/>
            <p:cNvSpPr/>
            <p:nvPr/>
          </p:nvSpPr>
          <p:spPr>
            <a:xfrm>
              <a:off x="3973680" y="1989000"/>
              <a:ext cx="304560" cy="337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spAutoFit/>
            </a:bodyPr>
            <a:p>
              <a:pPr>
                <a:spcBef>
                  <a:spcPts val="1001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600" b="0" u="sng" strike="noStrike">
                  <a:solidFill>
                    <a:srgbClr val="000000"/>
                  </a:solidFill>
                  <a:effectLst/>
                  <a:uFillTx/>
                  <a:latin typeface="Comic Sans MS"/>
                </a:rPr>
                <a:t>r</a:t>
              </a:r>
              <a:endParaRPr lang="it-IT" sz="16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690" name="Oval 16"/>
            <p:cNvSpPr/>
            <p:nvPr/>
          </p:nvSpPr>
          <p:spPr>
            <a:xfrm>
              <a:off x="5116680" y="2228760"/>
              <a:ext cx="309240" cy="282600"/>
            </a:xfrm>
            <a:prstGeom prst="ellipse">
              <a:avLst/>
            </a:prstGeom>
            <a:noFill/>
            <a:ln w="1260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ctr">
              <a:noAutofit/>
            </a:bodyPr>
            <a:p>
              <a:pPr algn="ctr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endParaRPr lang="it-IT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cxnSp>
          <p:nvCxnSpPr>
            <p:cNvPr id="691" name="AutoShape 17"/>
            <p:cNvCxnSpPr>
              <a:stCxn id="687" idx="6"/>
              <a:endCxn id="690" idx="2"/>
            </p:cNvCxnSpPr>
            <p:nvPr/>
          </p:nvCxnSpPr>
          <p:spPr>
            <a:xfrm>
              <a:off x="4659480" y="2369880"/>
              <a:ext cx="457920" cy="1080"/>
            </a:xfrm>
            <a:prstGeom prst="straightConnector1">
              <a:avLst/>
            </a:prstGeom>
            <a:ln w="9360">
              <a:solidFill>
                <a:srgbClr val="000000"/>
              </a:solidFill>
              <a:miter/>
              <a:tailEnd len="med" type="triangle" w="med"/>
            </a:ln>
          </p:spPr>
        </p:cxnSp>
        <p:sp>
          <p:nvSpPr>
            <p:cNvPr id="692" name="Text Box 18"/>
            <p:cNvSpPr/>
            <p:nvPr/>
          </p:nvSpPr>
          <p:spPr>
            <a:xfrm>
              <a:off x="4735440" y="2008080"/>
              <a:ext cx="304920" cy="337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spAutoFit/>
            </a:bodyPr>
            <a:p>
              <a:pPr>
                <a:spcBef>
                  <a:spcPts val="1001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600" b="0" u="sng" strike="noStrike">
                  <a:solidFill>
                    <a:srgbClr val="000000"/>
                  </a:solidFill>
                  <a:effectLst/>
                  <a:uFillTx/>
                  <a:latin typeface="Comic Sans MS"/>
                </a:rPr>
                <a:t>1</a:t>
              </a:r>
              <a:endParaRPr lang="it-IT" sz="16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693" name="Oval 19"/>
            <p:cNvSpPr/>
            <p:nvPr/>
          </p:nvSpPr>
          <p:spPr>
            <a:xfrm>
              <a:off x="3603600" y="2765520"/>
              <a:ext cx="309600" cy="282600"/>
            </a:xfrm>
            <a:prstGeom prst="ellipse">
              <a:avLst/>
            </a:prstGeom>
            <a:noFill/>
            <a:ln w="1260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ctr">
              <a:noAutofit/>
            </a:bodyPr>
            <a:p>
              <a:endParaRPr lang="it-IT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694" name="Oval 20"/>
            <p:cNvSpPr/>
            <p:nvPr/>
          </p:nvSpPr>
          <p:spPr>
            <a:xfrm>
              <a:off x="4349880" y="2762280"/>
              <a:ext cx="309600" cy="282600"/>
            </a:xfrm>
            <a:prstGeom prst="ellipse">
              <a:avLst/>
            </a:prstGeom>
            <a:noFill/>
            <a:ln w="1260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ctr">
              <a:noAutofit/>
            </a:bodyPr>
            <a:p>
              <a:pPr algn="ctr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endParaRPr lang="it-IT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cxnSp>
          <p:nvCxnSpPr>
            <p:cNvPr id="695" name="AutoShape 21"/>
            <p:cNvCxnSpPr>
              <a:stCxn id="693" idx="6"/>
              <a:endCxn id="694" idx="2"/>
            </p:cNvCxnSpPr>
            <p:nvPr/>
          </p:nvCxnSpPr>
          <p:spPr>
            <a:xfrm flipV="1">
              <a:off x="3912840" y="2902680"/>
              <a:ext cx="437400" cy="3960"/>
            </a:xfrm>
            <a:prstGeom prst="straightConnector1">
              <a:avLst/>
            </a:prstGeom>
            <a:ln w="9360">
              <a:solidFill>
                <a:srgbClr val="000000"/>
              </a:solidFill>
              <a:miter/>
              <a:tailEnd len="med" type="triangle" w="med"/>
            </a:ln>
          </p:spPr>
        </p:cxnSp>
        <p:sp>
          <p:nvSpPr>
            <p:cNvPr id="696" name="Text Box 22"/>
            <p:cNvSpPr/>
            <p:nvPr/>
          </p:nvSpPr>
          <p:spPr>
            <a:xfrm>
              <a:off x="3973680" y="2511360"/>
              <a:ext cx="304560" cy="337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spAutoFit/>
            </a:bodyPr>
            <a:p>
              <a:pPr>
                <a:spcBef>
                  <a:spcPts val="1001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600" b="0" u="sng" strike="noStrike">
                  <a:solidFill>
                    <a:srgbClr val="000000"/>
                  </a:solidFill>
                  <a:effectLst/>
                  <a:uFillTx/>
                  <a:latin typeface="Comic Sans MS"/>
                </a:rPr>
                <a:t>r</a:t>
              </a:r>
              <a:endParaRPr lang="it-IT" sz="16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697" name="Oval 23"/>
            <p:cNvSpPr/>
            <p:nvPr/>
          </p:nvSpPr>
          <p:spPr>
            <a:xfrm>
              <a:off x="5116680" y="2762280"/>
              <a:ext cx="309240" cy="282600"/>
            </a:xfrm>
            <a:prstGeom prst="ellipse">
              <a:avLst/>
            </a:prstGeom>
            <a:noFill/>
            <a:ln w="1260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ctr">
              <a:noAutofit/>
            </a:bodyPr>
            <a:p>
              <a:pPr algn="ctr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endParaRPr lang="it-IT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cxnSp>
          <p:nvCxnSpPr>
            <p:cNvPr id="698" name="AutoShape 24"/>
            <p:cNvCxnSpPr>
              <a:stCxn id="694" idx="6"/>
              <a:endCxn id="697" idx="2"/>
            </p:cNvCxnSpPr>
            <p:nvPr/>
          </p:nvCxnSpPr>
          <p:spPr>
            <a:xfrm>
              <a:off x="4659480" y="2903040"/>
              <a:ext cx="457920" cy="1080"/>
            </a:xfrm>
            <a:prstGeom prst="straightConnector1">
              <a:avLst/>
            </a:prstGeom>
            <a:ln w="9360">
              <a:solidFill>
                <a:srgbClr val="000000"/>
              </a:solidFill>
              <a:miter/>
              <a:tailEnd len="med" type="triangle" w="med"/>
            </a:ln>
          </p:spPr>
        </p:cxnSp>
        <p:sp>
          <p:nvSpPr>
            <p:cNvPr id="699" name="Text Box 25"/>
            <p:cNvSpPr/>
            <p:nvPr/>
          </p:nvSpPr>
          <p:spPr>
            <a:xfrm>
              <a:off x="4735440" y="2541600"/>
              <a:ext cx="304920" cy="337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spAutoFit/>
            </a:bodyPr>
            <a:p>
              <a:pPr>
                <a:spcBef>
                  <a:spcPts val="1001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600" b="0" u="sng" strike="noStrike">
                  <a:solidFill>
                    <a:srgbClr val="000000"/>
                  </a:solidFill>
                  <a:effectLst/>
                  <a:uFillTx/>
                  <a:latin typeface="Comic Sans MS"/>
                </a:rPr>
                <a:t>2</a:t>
              </a:r>
              <a:endParaRPr lang="it-IT" sz="16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700" name="Oval 26"/>
            <p:cNvSpPr/>
            <p:nvPr/>
          </p:nvSpPr>
          <p:spPr>
            <a:xfrm>
              <a:off x="3597120" y="4038480"/>
              <a:ext cx="309600" cy="282600"/>
            </a:xfrm>
            <a:prstGeom prst="ellipse">
              <a:avLst/>
            </a:prstGeom>
            <a:noFill/>
            <a:ln w="1260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ctr">
              <a:noAutofit/>
            </a:bodyPr>
            <a:p>
              <a:endParaRPr lang="it-IT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701" name="Oval 27"/>
            <p:cNvSpPr/>
            <p:nvPr/>
          </p:nvSpPr>
          <p:spPr>
            <a:xfrm>
              <a:off x="4343400" y="4035600"/>
              <a:ext cx="309600" cy="282240"/>
            </a:xfrm>
            <a:prstGeom prst="ellipse">
              <a:avLst/>
            </a:prstGeom>
            <a:noFill/>
            <a:ln w="1260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ctr">
              <a:noAutofit/>
            </a:bodyPr>
            <a:p>
              <a:pPr algn="ctr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endParaRPr lang="it-IT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cxnSp>
          <p:nvCxnSpPr>
            <p:cNvPr id="702" name="AutoShape 28"/>
            <p:cNvCxnSpPr>
              <a:stCxn id="700" idx="6"/>
              <a:endCxn id="701" idx="2"/>
            </p:cNvCxnSpPr>
            <p:nvPr/>
          </p:nvCxnSpPr>
          <p:spPr>
            <a:xfrm flipV="1">
              <a:off x="3906360" y="4176000"/>
              <a:ext cx="437400" cy="3960"/>
            </a:xfrm>
            <a:prstGeom prst="straightConnector1">
              <a:avLst/>
            </a:prstGeom>
            <a:ln w="9360">
              <a:solidFill>
                <a:srgbClr val="000000"/>
              </a:solidFill>
              <a:miter/>
              <a:tailEnd len="med" type="triangle" w="med"/>
            </a:ln>
          </p:spPr>
        </p:cxnSp>
        <p:sp>
          <p:nvSpPr>
            <p:cNvPr id="703" name="Text Box 29"/>
            <p:cNvSpPr/>
            <p:nvPr/>
          </p:nvSpPr>
          <p:spPr>
            <a:xfrm>
              <a:off x="3962520" y="3801960"/>
              <a:ext cx="304560" cy="337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spAutoFit/>
            </a:bodyPr>
            <a:p>
              <a:pPr>
                <a:spcBef>
                  <a:spcPts val="1001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600" b="0" u="sng" strike="noStrike">
                  <a:solidFill>
                    <a:srgbClr val="000000"/>
                  </a:solidFill>
                  <a:effectLst/>
                  <a:uFillTx/>
                  <a:latin typeface="Comic Sans MS"/>
                </a:rPr>
                <a:t>r</a:t>
              </a:r>
              <a:endParaRPr lang="it-IT" sz="16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704" name="Oval 30"/>
            <p:cNvSpPr/>
            <p:nvPr/>
          </p:nvSpPr>
          <p:spPr>
            <a:xfrm>
              <a:off x="5110200" y="4035600"/>
              <a:ext cx="309600" cy="282240"/>
            </a:xfrm>
            <a:prstGeom prst="ellipse">
              <a:avLst/>
            </a:prstGeom>
            <a:noFill/>
            <a:ln w="1260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ctr">
              <a:noAutofit/>
            </a:bodyPr>
            <a:p>
              <a:pPr algn="ctr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endParaRPr lang="it-IT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cxnSp>
          <p:nvCxnSpPr>
            <p:cNvPr id="705" name="AutoShape 31"/>
            <p:cNvCxnSpPr>
              <a:stCxn id="701" idx="6"/>
              <a:endCxn id="704" idx="2"/>
            </p:cNvCxnSpPr>
            <p:nvPr/>
          </p:nvCxnSpPr>
          <p:spPr>
            <a:xfrm>
              <a:off x="4653000" y="4176360"/>
              <a:ext cx="457920" cy="1080"/>
            </a:xfrm>
            <a:prstGeom prst="straightConnector1">
              <a:avLst/>
            </a:prstGeom>
            <a:ln w="9360">
              <a:solidFill>
                <a:srgbClr val="000000"/>
              </a:solidFill>
              <a:miter/>
              <a:tailEnd len="med" type="triangle" w="med"/>
            </a:ln>
          </p:spPr>
        </p:cxnSp>
        <p:sp>
          <p:nvSpPr>
            <p:cNvPr id="706" name="Text Box 32"/>
            <p:cNvSpPr/>
            <p:nvPr/>
          </p:nvSpPr>
          <p:spPr>
            <a:xfrm>
              <a:off x="4729320" y="3832200"/>
              <a:ext cx="304560" cy="337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spAutoFit/>
            </a:bodyPr>
            <a:p>
              <a:pPr>
                <a:spcBef>
                  <a:spcPts val="1001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600" b="0" u="sng" strike="noStrike">
                  <a:solidFill>
                    <a:srgbClr val="000000"/>
                  </a:solidFill>
                  <a:effectLst/>
                  <a:uFillTx/>
                  <a:latin typeface="Comic Sans MS"/>
                </a:rPr>
                <a:t>8</a:t>
              </a:r>
              <a:endParaRPr lang="it-IT" sz="16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707" name="Oval 33"/>
            <p:cNvSpPr/>
            <p:nvPr/>
          </p:nvSpPr>
          <p:spPr>
            <a:xfrm>
              <a:off x="3591000" y="4746600"/>
              <a:ext cx="309600" cy="282600"/>
            </a:xfrm>
            <a:prstGeom prst="ellipse">
              <a:avLst/>
            </a:prstGeom>
            <a:noFill/>
            <a:ln w="1260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ctr">
              <a:noAutofit/>
            </a:bodyPr>
            <a:p>
              <a:endParaRPr lang="it-IT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708" name="Oval 34"/>
            <p:cNvSpPr/>
            <p:nvPr/>
          </p:nvSpPr>
          <p:spPr>
            <a:xfrm>
              <a:off x="4336920" y="4743360"/>
              <a:ext cx="309600" cy="282600"/>
            </a:xfrm>
            <a:prstGeom prst="ellipse">
              <a:avLst/>
            </a:prstGeom>
            <a:noFill/>
            <a:ln w="1260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ctr">
              <a:noAutofit/>
            </a:bodyPr>
            <a:p>
              <a:pPr algn="ctr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endParaRPr lang="it-IT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cxnSp>
          <p:nvCxnSpPr>
            <p:cNvPr id="709" name="AutoShape 35"/>
            <p:cNvCxnSpPr>
              <a:stCxn id="707" idx="6"/>
              <a:endCxn id="708" idx="2"/>
            </p:cNvCxnSpPr>
            <p:nvPr/>
          </p:nvCxnSpPr>
          <p:spPr>
            <a:xfrm flipV="1">
              <a:off x="3900600" y="4884120"/>
              <a:ext cx="437040" cy="3960"/>
            </a:xfrm>
            <a:prstGeom prst="straightConnector1">
              <a:avLst/>
            </a:prstGeom>
            <a:ln w="9360">
              <a:solidFill>
                <a:srgbClr val="000000"/>
              </a:solidFill>
              <a:miter/>
              <a:tailEnd len="med" type="triangle" w="med"/>
            </a:ln>
          </p:spPr>
        </p:cxnSp>
        <p:sp>
          <p:nvSpPr>
            <p:cNvPr id="710" name="Text Box 36"/>
            <p:cNvSpPr/>
            <p:nvPr/>
          </p:nvSpPr>
          <p:spPr>
            <a:xfrm>
              <a:off x="3960720" y="4510080"/>
              <a:ext cx="304920" cy="337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spAutoFit/>
            </a:bodyPr>
            <a:p>
              <a:pPr>
                <a:spcBef>
                  <a:spcPts val="1001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600" b="0" u="sng" strike="noStrike">
                  <a:solidFill>
                    <a:srgbClr val="000000"/>
                  </a:solidFill>
                  <a:effectLst/>
                  <a:uFillTx/>
                  <a:latin typeface="Comic Sans MS"/>
                </a:rPr>
                <a:t>r</a:t>
              </a:r>
              <a:endParaRPr lang="it-IT" sz="16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711" name="Oval 37"/>
            <p:cNvSpPr/>
            <p:nvPr/>
          </p:nvSpPr>
          <p:spPr>
            <a:xfrm>
              <a:off x="5103720" y="4743360"/>
              <a:ext cx="309600" cy="282600"/>
            </a:xfrm>
            <a:prstGeom prst="ellipse">
              <a:avLst/>
            </a:prstGeom>
            <a:noFill/>
            <a:ln w="1260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ctr">
              <a:noAutofit/>
            </a:bodyPr>
            <a:p>
              <a:pPr algn="ctr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endParaRPr lang="it-IT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cxnSp>
          <p:nvCxnSpPr>
            <p:cNvPr id="712" name="AutoShape 38"/>
            <p:cNvCxnSpPr>
              <a:stCxn id="708" idx="6"/>
              <a:endCxn id="711" idx="2"/>
            </p:cNvCxnSpPr>
            <p:nvPr/>
          </p:nvCxnSpPr>
          <p:spPr>
            <a:xfrm>
              <a:off x="4646520" y="4884480"/>
              <a:ext cx="457920" cy="1080"/>
            </a:xfrm>
            <a:prstGeom prst="straightConnector1">
              <a:avLst/>
            </a:prstGeom>
            <a:ln w="9360">
              <a:solidFill>
                <a:srgbClr val="000000"/>
              </a:solidFill>
              <a:miter/>
              <a:tailEnd len="med" type="triangle" w="med"/>
            </a:ln>
          </p:spPr>
        </p:cxnSp>
        <p:sp>
          <p:nvSpPr>
            <p:cNvPr id="713" name="Text Box 39"/>
            <p:cNvSpPr/>
            <p:nvPr/>
          </p:nvSpPr>
          <p:spPr>
            <a:xfrm>
              <a:off x="4722840" y="4540320"/>
              <a:ext cx="304920" cy="337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spAutoFit/>
            </a:bodyPr>
            <a:p>
              <a:pPr>
                <a:spcBef>
                  <a:spcPts val="1001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600" b="0" u="sng" strike="noStrike">
                  <a:solidFill>
                    <a:srgbClr val="000000"/>
                  </a:solidFill>
                  <a:effectLst/>
                  <a:uFillTx/>
                  <a:latin typeface="Comic Sans MS"/>
                </a:rPr>
                <a:t>9</a:t>
              </a:r>
              <a:endParaRPr lang="it-IT" sz="16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714" name="Oval 40"/>
            <p:cNvSpPr/>
            <p:nvPr/>
          </p:nvSpPr>
          <p:spPr>
            <a:xfrm>
              <a:off x="3065400" y="1927080"/>
              <a:ext cx="309600" cy="282600"/>
            </a:xfrm>
            <a:prstGeom prst="ellipse">
              <a:avLst/>
            </a:prstGeom>
            <a:noFill/>
            <a:ln w="1260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ctr">
              <a:noAutofit/>
            </a:bodyPr>
            <a:p>
              <a:endParaRPr lang="it-IT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715" name="Oval 41"/>
            <p:cNvSpPr/>
            <p:nvPr/>
          </p:nvSpPr>
          <p:spPr>
            <a:xfrm>
              <a:off x="2612880" y="2341440"/>
              <a:ext cx="309600" cy="282600"/>
            </a:xfrm>
            <a:prstGeom prst="ellipse">
              <a:avLst/>
            </a:prstGeom>
            <a:noFill/>
            <a:ln w="1260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ctr">
              <a:noAutofit/>
            </a:bodyPr>
            <a:p>
              <a:endParaRPr lang="it-IT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716" name="Oval 42"/>
            <p:cNvSpPr/>
            <p:nvPr/>
          </p:nvSpPr>
          <p:spPr>
            <a:xfrm>
              <a:off x="1851120" y="3124080"/>
              <a:ext cx="309600" cy="282600"/>
            </a:xfrm>
            <a:prstGeom prst="ellipse">
              <a:avLst/>
            </a:prstGeom>
            <a:noFill/>
            <a:ln w="1260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ctr">
              <a:noAutofit/>
            </a:bodyPr>
            <a:p>
              <a:endParaRPr lang="it-IT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717" name="Oval 43"/>
            <p:cNvSpPr/>
            <p:nvPr/>
          </p:nvSpPr>
          <p:spPr>
            <a:xfrm>
              <a:off x="1393920" y="3581280"/>
              <a:ext cx="309600" cy="282600"/>
            </a:xfrm>
            <a:prstGeom prst="ellipse">
              <a:avLst/>
            </a:prstGeom>
            <a:noFill/>
            <a:ln w="1260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ctr">
              <a:noAutofit/>
            </a:bodyPr>
            <a:p>
              <a:endParaRPr lang="it-IT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cxnSp>
          <p:nvCxnSpPr>
            <p:cNvPr id="718" name="AutoShape 44"/>
            <p:cNvCxnSpPr>
              <a:stCxn id="717" idx="7"/>
              <a:endCxn id="716" idx="3"/>
            </p:cNvCxnSpPr>
            <p:nvPr/>
          </p:nvCxnSpPr>
          <p:spPr>
            <a:xfrm flipV="1">
              <a:off x="1657440" y="3365280"/>
              <a:ext cx="240480" cy="257760"/>
            </a:xfrm>
            <a:prstGeom prst="straightConnector1">
              <a:avLst/>
            </a:prstGeom>
            <a:ln w="9360">
              <a:solidFill>
                <a:srgbClr val="000000"/>
              </a:solidFill>
              <a:miter/>
              <a:tailEnd len="med" type="triangle" w="med"/>
            </a:ln>
          </p:spPr>
        </p:cxnSp>
        <p:cxnSp>
          <p:nvCxnSpPr>
            <p:cNvPr id="719" name="AutoShape 45"/>
            <p:cNvCxnSpPr>
              <a:stCxn id="714" idx="7"/>
              <a:endCxn id="679" idx="2"/>
            </p:cNvCxnSpPr>
            <p:nvPr/>
          </p:nvCxnSpPr>
          <p:spPr>
            <a:xfrm flipV="1">
              <a:off x="3328560" y="1774440"/>
              <a:ext cx="281880" cy="194400"/>
            </a:xfrm>
            <a:prstGeom prst="straightConnector1">
              <a:avLst/>
            </a:prstGeom>
            <a:ln w="9360">
              <a:solidFill>
                <a:srgbClr val="000000"/>
              </a:solidFill>
              <a:miter/>
              <a:tailEnd len="med" type="triangle" w="med"/>
            </a:ln>
          </p:spPr>
        </p:cxnSp>
        <p:cxnSp>
          <p:nvCxnSpPr>
            <p:cNvPr id="720" name="AutoShape 46"/>
            <p:cNvCxnSpPr>
              <a:stCxn id="714" idx="5"/>
              <a:endCxn id="686" idx="1"/>
            </p:cNvCxnSpPr>
            <p:nvPr/>
          </p:nvCxnSpPr>
          <p:spPr>
            <a:xfrm>
              <a:off x="3328560" y="2168280"/>
              <a:ext cx="321480" cy="105480"/>
            </a:xfrm>
            <a:prstGeom prst="straightConnector1">
              <a:avLst/>
            </a:prstGeom>
            <a:ln w="9360">
              <a:solidFill>
                <a:srgbClr val="000000"/>
              </a:solidFill>
              <a:miter/>
              <a:tailEnd len="med" type="triangle" w="med"/>
            </a:ln>
          </p:spPr>
        </p:cxnSp>
        <p:cxnSp>
          <p:nvCxnSpPr>
            <p:cNvPr id="721" name="AutoShape 47"/>
            <p:cNvCxnSpPr>
              <a:stCxn id="715" idx="7"/>
              <a:endCxn id="714" idx="3"/>
            </p:cNvCxnSpPr>
            <p:nvPr/>
          </p:nvCxnSpPr>
          <p:spPr>
            <a:xfrm flipV="1">
              <a:off x="2876040" y="2167920"/>
              <a:ext cx="235800" cy="214920"/>
            </a:xfrm>
            <a:prstGeom prst="straightConnector1">
              <a:avLst/>
            </a:prstGeom>
            <a:ln w="9360">
              <a:solidFill>
                <a:srgbClr val="000000"/>
              </a:solidFill>
              <a:miter/>
              <a:tailEnd len="med" type="triangle" w="med"/>
            </a:ln>
          </p:spPr>
        </p:cxnSp>
        <p:cxnSp>
          <p:nvCxnSpPr>
            <p:cNvPr id="722" name="AutoShape 48"/>
            <p:cNvCxnSpPr>
              <a:stCxn id="715" idx="5"/>
              <a:endCxn id="693" idx="2"/>
            </p:cNvCxnSpPr>
            <p:nvPr/>
          </p:nvCxnSpPr>
          <p:spPr>
            <a:xfrm>
              <a:off x="2876400" y="2582640"/>
              <a:ext cx="727560" cy="324360"/>
            </a:xfrm>
            <a:prstGeom prst="straightConnector1">
              <a:avLst/>
            </a:prstGeom>
            <a:ln w="9360">
              <a:solidFill>
                <a:srgbClr val="000000"/>
              </a:solidFill>
              <a:miter/>
              <a:tailEnd len="med" type="triangle" w="med"/>
            </a:ln>
          </p:spPr>
        </p:cxnSp>
        <p:cxnSp>
          <p:nvCxnSpPr>
            <p:cNvPr id="723" name="AutoShape 49"/>
            <p:cNvCxnSpPr>
              <a:stCxn id="716" idx="5"/>
              <a:endCxn id="700" idx="1"/>
            </p:cNvCxnSpPr>
            <p:nvPr/>
          </p:nvCxnSpPr>
          <p:spPr>
            <a:xfrm>
              <a:off x="2114640" y="3365640"/>
              <a:ext cx="1529280" cy="714960"/>
            </a:xfrm>
            <a:prstGeom prst="straightConnector1">
              <a:avLst/>
            </a:prstGeom>
            <a:ln w="9360">
              <a:solidFill>
                <a:srgbClr val="000000"/>
              </a:solidFill>
              <a:miter/>
              <a:tailEnd len="med" type="triangle" w="med"/>
            </a:ln>
          </p:spPr>
        </p:cxnSp>
        <p:cxnSp>
          <p:nvCxnSpPr>
            <p:cNvPr id="724" name="AutoShape 50"/>
            <p:cNvCxnSpPr>
              <a:stCxn id="717" idx="5"/>
              <a:endCxn id="707" idx="1"/>
            </p:cNvCxnSpPr>
            <p:nvPr/>
          </p:nvCxnSpPr>
          <p:spPr>
            <a:xfrm>
              <a:off x="1657080" y="3822480"/>
              <a:ext cx="1980360" cy="965880"/>
            </a:xfrm>
            <a:prstGeom prst="straightConnector1">
              <a:avLst/>
            </a:prstGeom>
            <a:ln w="9360">
              <a:solidFill>
                <a:srgbClr val="000000"/>
              </a:solidFill>
              <a:miter/>
              <a:tailEnd len="med" type="triangle" w="med"/>
            </a:ln>
          </p:spPr>
        </p:cxnSp>
        <p:sp>
          <p:nvSpPr>
            <p:cNvPr id="725" name="Oval 51"/>
            <p:cNvSpPr/>
            <p:nvPr/>
          </p:nvSpPr>
          <p:spPr>
            <a:xfrm>
              <a:off x="5661000" y="1927080"/>
              <a:ext cx="309600" cy="282600"/>
            </a:xfrm>
            <a:prstGeom prst="ellipse">
              <a:avLst/>
            </a:prstGeom>
            <a:noFill/>
            <a:ln w="1260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ctr">
              <a:noAutofit/>
            </a:bodyPr>
            <a:p>
              <a:endParaRPr lang="it-IT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726" name="Oval 52"/>
            <p:cNvSpPr/>
            <p:nvPr/>
          </p:nvSpPr>
          <p:spPr>
            <a:xfrm>
              <a:off x="6194520" y="2341440"/>
              <a:ext cx="309600" cy="282600"/>
            </a:xfrm>
            <a:prstGeom prst="ellipse">
              <a:avLst/>
            </a:prstGeom>
            <a:noFill/>
            <a:ln w="1260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ctr">
              <a:noAutofit/>
            </a:bodyPr>
            <a:p>
              <a:endParaRPr lang="it-IT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cxnSp>
          <p:nvCxnSpPr>
            <p:cNvPr id="727" name="AutoShape 53"/>
            <p:cNvCxnSpPr>
              <a:stCxn id="683" idx="6"/>
              <a:endCxn id="725" idx="1"/>
            </p:cNvCxnSpPr>
            <p:nvPr/>
          </p:nvCxnSpPr>
          <p:spPr>
            <a:xfrm>
              <a:off x="5432040" y="1771200"/>
              <a:ext cx="275400" cy="197640"/>
            </a:xfrm>
            <a:prstGeom prst="straightConnector1">
              <a:avLst/>
            </a:prstGeom>
            <a:ln w="9360">
              <a:solidFill>
                <a:srgbClr val="000000"/>
              </a:solidFill>
              <a:miter/>
              <a:tailEnd len="med" type="triangle" w="med"/>
            </a:ln>
          </p:spPr>
        </p:cxnSp>
        <p:cxnSp>
          <p:nvCxnSpPr>
            <p:cNvPr id="728" name="AutoShape 54"/>
            <p:cNvCxnSpPr>
              <a:stCxn id="725" idx="5"/>
              <a:endCxn id="726" idx="1"/>
            </p:cNvCxnSpPr>
            <p:nvPr/>
          </p:nvCxnSpPr>
          <p:spPr>
            <a:xfrm>
              <a:off x="5924520" y="2168280"/>
              <a:ext cx="316800" cy="214920"/>
            </a:xfrm>
            <a:prstGeom prst="straightConnector1">
              <a:avLst/>
            </a:prstGeom>
            <a:ln w="9360">
              <a:solidFill>
                <a:srgbClr val="000000"/>
              </a:solidFill>
              <a:miter/>
              <a:tailEnd len="med" type="triangle" w="med"/>
            </a:ln>
          </p:spPr>
        </p:cxnSp>
        <p:cxnSp>
          <p:nvCxnSpPr>
            <p:cNvPr id="729" name="AutoShape 55"/>
            <p:cNvCxnSpPr>
              <a:stCxn id="690" idx="6"/>
              <a:endCxn id="725" idx="3"/>
            </p:cNvCxnSpPr>
            <p:nvPr/>
          </p:nvCxnSpPr>
          <p:spPr>
            <a:xfrm flipV="1">
              <a:off x="5425560" y="2168280"/>
              <a:ext cx="281880" cy="202320"/>
            </a:xfrm>
            <a:prstGeom prst="straightConnector1">
              <a:avLst/>
            </a:prstGeom>
            <a:ln w="9360">
              <a:solidFill>
                <a:srgbClr val="000000"/>
              </a:solidFill>
              <a:miter/>
              <a:tailEnd len="med" type="triangle" w="med"/>
            </a:ln>
          </p:spPr>
        </p:cxnSp>
        <p:cxnSp>
          <p:nvCxnSpPr>
            <p:cNvPr id="730" name="AutoShape 56"/>
            <p:cNvCxnSpPr>
              <a:stCxn id="697" idx="6"/>
              <a:endCxn id="726" idx="2"/>
            </p:cNvCxnSpPr>
            <p:nvPr/>
          </p:nvCxnSpPr>
          <p:spPr>
            <a:xfrm flipV="1">
              <a:off x="5425560" y="2482560"/>
              <a:ext cx="769320" cy="421200"/>
            </a:xfrm>
            <a:prstGeom prst="straightConnector1">
              <a:avLst/>
            </a:prstGeom>
            <a:ln w="9360">
              <a:solidFill>
                <a:srgbClr val="000000"/>
              </a:solidFill>
              <a:miter/>
              <a:tailEnd len="med" type="triangle" w="med"/>
            </a:ln>
          </p:spPr>
        </p:cxnSp>
        <p:sp>
          <p:nvSpPr>
            <p:cNvPr id="731" name="Oval 57"/>
            <p:cNvSpPr/>
            <p:nvPr/>
          </p:nvSpPr>
          <p:spPr>
            <a:xfrm>
              <a:off x="7413480" y="3581280"/>
              <a:ext cx="309600" cy="282600"/>
            </a:xfrm>
            <a:prstGeom prst="ellipse">
              <a:avLst/>
            </a:prstGeom>
            <a:noFill/>
            <a:ln w="1260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ctr">
              <a:noAutofit/>
            </a:bodyPr>
            <a:p>
              <a:endParaRPr lang="it-IT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732" name="Oval 58"/>
            <p:cNvSpPr/>
            <p:nvPr/>
          </p:nvSpPr>
          <p:spPr>
            <a:xfrm>
              <a:off x="7027920" y="3189240"/>
              <a:ext cx="309600" cy="282600"/>
            </a:xfrm>
            <a:prstGeom prst="ellipse">
              <a:avLst/>
            </a:prstGeom>
            <a:noFill/>
            <a:ln w="1260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ctr">
              <a:noAutofit/>
            </a:bodyPr>
            <a:p>
              <a:endParaRPr lang="it-IT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cxnSp>
          <p:nvCxnSpPr>
            <p:cNvPr id="733" name="AutoShape 59"/>
            <p:cNvCxnSpPr>
              <a:stCxn id="704" idx="6"/>
              <a:endCxn id="732" idx="3"/>
            </p:cNvCxnSpPr>
            <p:nvPr/>
          </p:nvCxnSpPr>
          <p:spPr>
            <a:xfrm flipV="1">
              <a:off x="5419440" y="3429720"/>
              <a:ext cx="1654920" cy="747000"/>
            </a:xfrm>
            <a:prstGeom prst="straightConnector1">
              <a:avLst/>
            </a:prstGeom>
            <a:ln w="9360">
              <a:solidFill>
                <a:srgbClr val="000000"/>
              </a:solidFill>
              <a:miter/>
              <a:tailEnd len="med" type="triangle" w="med"/>
            </a:ln>
          </p:spPr>
        </p:cxnSp>
        <p:cxnSp>
          <p:nvCxnSpPr>
            <p:cNvPr id="734" name="AutoShape 60"/>
            <p:cNvCxnSpPr>
              <a:stCxn id="732" idx="5"/>
              <a:endCxn id="731" idx="1"/>
            </p:cNvCxnSpPr>
            <p:nvPr/>
          </p:nvCxnSpPr>
          <p:spPr>
            <a:xfrm>
              <a:off x="7291080" y="3430440"/>
              <a:ext cx="168840" cy="192960"/>
            </a:xfrm>
            <a:prstGeom prst="straightConnector1">
              <a:avLst/>
            </a:prstGeom>
            <a:ln w="9360">
              <a:solidFill>
                <a:srgbClr val="000000"/>
              </a:solidFill>
              <a:miter/>
              <a:tailEnd len="med" type="triangle" w="med"/>
            </a:ln>
          </p:spPr>
        </p:cxnSp>
        <p:cxnSp>
          <p:nvCxnSpPr>
            <p:cNvPr id="735" name="AutoShape 61"/>
            <p:cNvCxnSpPr>
              <a:stCxn id="711" idx="6"/>
              <a:endCxn id="731" idx="3"/>
            </p:cNvCxnSpPr>
            <p:nvPr/>
          </p:nvCxnSpPr>
          <p:spPr>
            <a:xfrm flipV="1">
              <a:off x="5413320" y="3822480"/>
              <a:ext cx="2046960" cy="1062720"/>
            </a:xfrm>
            <a:prstGeom prst="straightConnector1">
              <a:avLst/>
            </a:prstGeom>
            <a:ln w="9360">
              <a:solidFill>
                <a:srgbClr val="000000"/>
              </a:solidFill>
              <a:miter/>
              <a:tailEnd len="med" type="triangle" w="med"/>
            </a:ln>
          </p:spPr>
        </p:cxnSp>
        <p:cxnSp>
          <p:nvCxnSpPr>
            <p:cNvPr id="736" name="AutoShape 62"/>
            <p:cNvCxnSpPr>
              <a:stCxn id="716" idx="7"/>
              <a:endCxn id="737" idx="3"/>
            </p:cNvCxnSpPr>
            <p:nvPr/>
          </p:nvCxnSpPr>
          <p:spPr>
            <a:xfrm flipV="1">
              <a:off x="2114640" y="2975760"/>
              <a:ext cx="180000" cy="189720"/>
            </a:xfrm>
            <a:prstGeom prst="straightConnector1">
              <a:avLst/>
            </a:prstGeom>
            <a:ln w="9360">
              <a:solidFill>
                <a:srgbClr val="000000"/>
              </a:solidFill>
              <a:miter/>
              <a:tailEnd len="med" type="triangle" w="med"/>
            </a:ln>
          </p:spPr>
        </p:cxnSp>
        <p:sp>
          <p:nvSpPr>
            <p:cNvPr id="737" name="Oval 63"/>
            <p:cNvSpPr/>
            <p:nvPr/>
          </p:nvSpPr>
          <p:spPr>
            <a:xfrm>
              <a:off x="2260440" y="2781360"/>
              <a:ext cx="228600" cy="228600"/>
            </a:xfrm>
            <a:prstGeom prst="ellipse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ctr">
              <a:noAutofit/>
            </a:bodyPr>
            <a:p>
              <a:pPr algn="ctr">
                <a:spcAft>
                  <a:spcPts val="1125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800" b="0" u="none" strike="noStrike">
                  <a:solidFill>
                    <a:srgbClr val="000000"/>
                  </a:solidFill>
                  <a:effectLst/>
                  <a:uFillTx/>
                  <a:latin typeface="Comic Sans MS"/>
                </a:rPr>
                <a:t>…</a:t>
              </a:r>
              <a:endParaRPr lang="it-IT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cxnSp>
          <p:nvCxnSpPr>
            <p:cNvPr id="738" name="AutoShape 64"/>
            <p:cNvCxnSpPr>
              <a:stCxn id="737" idx="7"/>
              <a:endCxn id="715" idx="3"/>
            </p:cNvCxnSpPr>
            <p:nvPr/>
          </p:nvCxnSpPr>
          <p:spPr>
            <a:xfrm flipV="1">
              <a:off x="2455920" y="2582280"/>
              <a:ext cx="203760" cy="232200"/>
            </a:xfrm>
            <a:prstGeom prst="straightConnector1">
              <a:avLst/>
            </a:prstGeom>
            <a:ln w="9360">
              <a:solidFill>
                <a:srgbClr val="000000"/>
              </a:solidFill>
              <a:miter/>
              <a:tailEnd len="med" type="triangle" w="med"/>
            </a:ln>
          </p:spPr>
        </p:cxnSp>
        <p:sp>
          <p:nvSpPr>
            <p:cNvPr id="739" name="Oval 65"/>
            <p:cNvSpPr/>
            <p:nvPr/>
          </p:nvSpPr>
          <p:spPr>
            <a:xfrm>
              <a:off x="6651720" y="2781360"/>
              <a:ext cx="228600" cy="228600"/>
            </a:xfrm>
            <a:prstGeom prst="ellipse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ctr">
              <a:noAutofit/>
            </a:bodyPr>
            <a:p>
              <a:pPr algn="ctr">
                <a:spcAft>
                  <a:spcPts val="1125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800" b="0" u="none" strike="noStrike">
                  <a:solidFill>
                    <a:srgbClr val="000000"/>
                  </a:solidFill>
                  <a:effectLst/>
                  <a:uFillTx/>
                  <a:latin typeface="Comic Sans MS"/>
                </a:rPr>
                <a:t>…</a:t>
              </a:r>
              <a:endParaRPr lang="it-IT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cxnSp>
          <p:nvCxnSpPr>
            <p:cNvPr id="740" name="AutoShape 66"/>
            <p:cNvCxnSpPr>
              <a:stCxn id="726" idx="5"/>
              <a:endCxn id="739" idx="1"/>
            </p:cNvCxnSpPr>
            <p:nvPr/>
          </p:nvCxnSpPr>
          <p:spPr>
            <a:xfrm>
              <a:off x="6458040" y="2582640"/>
              <a:ext cx="227520" cy="232200"/>
            </a:xfrm>
            <a:prstGeom prst="straightConnector1">
              <a:avLst/>
            </a:prstGeom>
            <a:ln w="9360">
              <a:solidFill>
                <a:srgbClr val="000000"/>
              </a:solidFill>
              <a:miter/>
              <a:tailEnd len="med" type="triangle" w="med"/>
            </a:ln>
          </p:spPr>
        </p:cxnSp>
        <p:cxnSp>
          <p:nvCxnSpPr>
            <p:cNvPr id="741" name="AutoShape 67"/>
            <p:cNvCxnSpPr>
              <a:stCxn id="739" idx="5"/>
              <a:endCxn id="732" idx="1"/>
            </p:cNvCxnSpPr>
            <p:nvPr/>
          </p:nvCxnSpPr>
          <p:spPr>
            <a:xfrm>
              <a:off x="6846480" y="2976480"/>
              <a:ext cx="227880" cy="254880"/>
            </a:xfrm>
            <a:prstGeom prst="straightConnector1">
              <a:avLst/>
            </a:prstGeom>
            <a:ln w="9360">
              <a:solidFill>
                <a:srgbClr val="000000"/>
              </a:solidFill>
              <a:miter/>
              <a:tailEnd len="med" type="triangle" w="med"/>
            </a:ln>
          </p:spPr>
        </p:cxnSp>
        <p:sp>
          <p:nvSpPr>
            <p:cNvPr id="742" name="Oval 68"/>
            <p:cNvSpPr/>
            <p:nvPr/>
          </p:nvSpPr>
          <p:spPr>
            <a:xfrm>
              <a:off x="860400" y="3581280"/>
              <a:ext cx="309600" cy="282600"/>
            </a:xfrm>
            <a:prstGeom prst="ellipse">
              <a:avLst/>
            </a:prstGeom>
            <a:noFill/>
            <a:ln w="1260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ctr">
              <a:noAutofit/>
            </a:bodyPr>
            <a:p>
              <a:pPr algn="ctr">
                <a:spcAft>
                  <a:spcPts val="601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600" b="0" i="1" u="none" strike="noStrike">
                  <a:solidFill>
                    <a:srgbClr val="000000"/>
                  </a:solidFill>
                  <a:effectLst/>
                  <a:uFillTx/>
                  <a:latin typeface="Comic Sans MS"/>
                </a:rPr>
                <a:t>s</a:t>
              </a:r>
              <a:r>
                <a:rPr lang="en-US" sz="1600" b="0" i="1" u="none" strike="noStrike" baseline="-25000">
                  <a:solidFill>
                    <a:srgbClr val="000000"/>
                  </a:solidFill>
                  <a:effectLst/>
                  <a:uFillTx/>
                  <a:latin typeface="Comic Sans MS"/>
                </a:rPr>
                <a:t>0</a:t>
              </a:r>
              <a:endParaRPr lang="it-IT" sz="16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743" name="Oval 69"/>
            <p:cNvSpPr/>
            <p:nvPr/>
          </p:nvSpPr>
          <p:spPr>
            <a:xfrm>
              <a:off x="8094600" y="3548160"/>
              <a:ext cx="363600" cy="331560"/>
            </a:xfrm>
            <a:prstGeom prst="ellipse">
              <a:avLst/>
            </a:prstGeom>
            <a:noFill/>
            <a:ln w="381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ctr">
              <a:noAutofit/>
            </a:bodyPr>
            <a:p>
              <a:pPr algn="ctr">
                <a:spcAft>
                  <a:spcPts val="601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600" b="0" i="1" u="none" strike="noStrike">
                  <a:solidFill>
                    <a:srgbClr val="000000"/>
                  </a:solidFill>
                  <a:effectLst/>
                  <a:uFillTx/>
                  <a:latin typeface="Comic Sans MS"/>
                </a:rPr>
                <a:t>s</a:t>
              </a:r>
              <a:r>
                <a:rPr lang="en-US" sz="1600" b="0" i="1" u="none" strike="noStrike" baseline="-25000">
                  <a:solidFill>
                    <a:srgbClr val="000000"/>
                  </a:solidFill>
                  <a:effectLst/>
                  <a:uFillTx/>
                  <a:latin typeface="Comic Sans MS"/>
                </a:rPr>
                <a:t>f</a:t>
              </a:r>
              <a:endParaRPr lang="it-IT" sz="16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cxnSp>
          <p:nvCxnSpPr>
            <p:cNvPr id="744" name="AutoShape 70"/>
            <p:cNvCxnSpPr>
              <a:stCxn id="731" idx="6"/>
              <a:endCxn id="743" idx="2"/>
            </p:cNvCxnSpPr>
            <p:nvPr/>
          </p:nvCxnSpPr>
          <p:spPr>
            <a:xfrm flipV="1">
              <a:off x="7722720" y="3714480"/>
              <a:ext cx="353160" cy="8640"/>
            </a:xfrm>
            <a:prstGeom prst="straightConnector1">
              <a:avLst/>
            </a:prstGeom>
            <a:ln w="9360">
              <a:solidFill>
                <a:srgbClr val="000000"/>
              </a:solidFill>
              <a:miter/>
              <a:tailEnd len="med" type="triangle" w="med"/>
            </a:ln>
          </p:spPr>
        </p:cxnSp>
        <p:cxnSp>
          <p:nvCxnSpPr>
            <p:cNvPr id="745" name="AutoShape 71"/>
            <p:cNvCxnSpPr>
              <a:stCxn id="742" idx="6"/>
              <a:endCxn id="717" idx="2"/>
            </p:cNvCxnSpPr>
            <p:nvPr/>
          </p:nvCxnSpPr>
          <p:spPr>
            <a:xfrm>
              <a:off x="1170000" y="3722400"/>
              <a:ext cx="224640" cy="1080"/>
            </a:xfrm>
            <a:prstGeom prst="straightConnector1">
              <a:avLst/>
            </a:prstGeom>
            <a:ln w="9360">
              <a:solidFill>
                <a:srgbClr val="000000"/>
              </a:solidFill>
              <a:miter/>
              <a:tailEnd len="med" type="triangle" w="med"/>
            </a:ln>
          </p:spPr>
        </p:cxnSp>
        <p:sp>
          <p:nvSpPr>
            <p:cNvPr id="746" name="Text Box 72"/>
            <p:cNvSpPr/>
            <p:nvPr/>
          </p:nvSpPr>
          <p:spPr>
            <a:xfrm>
              <a:off x="3222720" y="1600200"/>
              <a:ext cx="304560" cy="337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spAutoFit/>
            </a:bodyPr>
            <a:p>
              <a:pPr>
                <a:lnSpc>
                  <a:spcPct val="100000"/>
                </a:lnSpc>
                <a:spcBef>
                  <a:spcPts val="1001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600" b="0" u="none" strike="noStrike">
                  <a:solidFill>
                    <a:srgbClr val="000000"/>
                  </a:solidFill>
                  <a:effectLst/>
                  <a:uFillTx/>
                  <a:latin typeface="Symbol"/>
                  <a:ea typeface="Symbol"/>
                </a:rPr>
                <a:t></a:t>
              </a:r>
              <a:endParaRPr lang="it-IT" sz="16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747" name="Text Box 73"/>
            <p:cNvSpPr/>
            <p:nvPr/>
          </p:nvSpPr>
          <p:spPr>
            <a:xfrm>
              <a:off x="3375000" y="1949400"/>
              <a:ext cx="304920" cy="337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spAutoFit/>
            </a:bodyPr>
            <a:p>
              <a:pPr>
                <a:lnSpc>
                  <a:spcPct val="100000"/>
                </a:lnSpc>
                <a:spcBef>
                  <a:spcPts val="1001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600" b="0" u="none" strike="noStrike">
                  <a:solidFill>
                    <a:srgbClr val="000000"/>
                  </a:solidFill>
                  <a:effectLst/>
                  <a:uFillTx/>
                  <a:latin typeface="Symbol"/>
                  <a:ea typeface="Symbol"/>
                </a:rPr>
                <a:t></a:t>
              </a:r>
              <a:endParaRPr lang="it-IT" sz="16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748" name="Text Box 74"/>
            <p:cNvSpPr/>
            <p:nvPr/>
          </p:nvSpPr>
          <p:spPr>
            <a:xfrm>
              <a:off x="3146400" y="2482920"/>
              <a:ext cx="304920" cy="337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spAutoFit/>
            </a:bodyPr>
            <a:p>
              <a:pPr>
                <a:lnSpc>
                  <a:spcPct val="100000"/>
                </a:lnSpc>
                <a:spcBef>
                  <a:spcPts val="1001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600" b="0" u="none" strike="noStrike">
                  <a:solidFill>
                    <a:srgbClr val="000000"/>
                  </a:solidFill>
                  <a:effectLst/>
                  <a:uFillTx/>
                  <a:latin typeface="Symbol"/>
                  <a:ea typeface="Symbol"/>
                </a:rPr>
                <a:t></a:t>
              </a:r>
              <a:endParaRPr lang="it-IT" sz="16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749" name="Text Box 75"/>
            <p:cNvSpPr/>
            <p:nvPr/>
          </p:nvSpPr>
          <p:spPr>
            <a:xfrm>
              <a:off x="2689200" y="2025720"/>
              <a:ext cx="304920" cy="337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spAutoFit/>
            </a:bodyPr>
            <a:p>
              <a:pPr>
                <a:lnSpc>
                  <a:spcPct val="100000"/>
                </a:lnSpc>
                <a:spcBef>
                  <a:spcPts val="1001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600" b="0" u="none" strike="noStrike">
                  <a:solidFill>
                    <a:srgbClr val="000000"/>
                  </a:solidFill>
                  <a:effectLst/>
                  <a:uFillTx/>
                  <a:latin typeface="Symbol"/>
                  <a:ea typeface="Symbol"/>
                </a:rPr>
                <a:t></a:t>
              </a:r>
              <a:endParaRPr lang="it-IT" sz="16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750" name="Text Box 76"/>
            <p:cNvSpPr/>
            <p:nvPr/>
          </p:nvSpPr>
          <p:spPr>
            <a:xfrm>
              <a:off x="2336760" y="2468520"/>
              <a:ext cx="304920" cy="337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spAutoFit/>
            </a:bodyPr>
            <a:p>
              <a:pPr>
                <a:lnSpc>
                  <a:spcPct val="100000"/>
                </a:lnSpc>
                <a:spcBef>
                  <a:spcPts val="1001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600" b="0" u="none" strike="noStrike">
                  <a:solidFill>
                    <a:srgbClr val="000000"/>
                  </a:solidFill>
                  <a:effectLst/>
                  <a:uFillTx/>
                  <a:latin typeface="Symbol"/>
                  <a:ea typeface="Symbol"/>
                </a:rPr>
                <a:t></a:t>
              </a:r>
              <a:endParaRPr lang="it-IT" sz="16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751" name="Text Box 77"/>
            <p:cNvSpPr/>
            <p:nvPr/>
          </p:nvSpPr>
          <p:spPr>
            <a:xfrm>
              <a:off x="1984320" y="2819520"/>
              <a:ext cx="304920" cy="337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spAutoFit/>
            </a:bodyPr>
            <a:p>
              <a:pPr>
                <a:lnSpc>
                  <a:spcPct val="100000"/>
                </a:lnSpc>
                <a:spcBef>
                  <a:spcPts val="1001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600" b="0" u="none" strike="noStrike">
                  <a:solidFill>
                    <a:srgbClr val="000000"/>
                  </a:solidFill>
                  <a:effectLst/>
                  <a:uFillTx/>
                  <a:latin typeface="Symbol"/>
                  <a:ea typeface="Symbol"/>
                </a:rPr>
                <a:t></a:t>
              </a:r>
              <a:endParaRPr lang="it-IT" sz="16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752" name="Text Box 78"/>
            <p:cNvSpPr/>
            <p:nvPr/>
          </p:nvSpPr>
          <p:spPr>
            <a:xfrm>
              <a:off x="1546200" y="3244680"/>
              <a:ext cx="304920" cy="337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spAutoFit/>
            </a:bodyPr>
            <a:p>
              <a:pPr>
                <a:lnSpc>
                  <a:spcPct val="100000"/>
                </a:lnSpc>
                <a:spcBef>
                  <a:spcPts val="1001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600" b="0" u="none" strike="noStrike">
                  <a:solidFill>
                    <a:srgbClr val="000000"/>
                  </a:solidFill>
                  <a:effectLst/>
                  <a:uFillTx/>
                  <a:latin typeface="Symbol"/>
                  <a:ea typeface="Symbol"/>
                </a:rPr>
                <a:t></a:t>
              </a:r>
              <a:endParaRPr lang="it-IT" sz="16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753" name="Text Box 79"/>
            <p:cNvSpPr/>
            <p:nvPr/>
          </p:nvSpPr>
          <p:spPr>
            <a:xfrm>
              <a:off x="1108080" y="3352680"/>
              <a:ext cx="304920" cy="337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spAutoFit/>
            </a:bodyPr>
            <a:p>
              <a:pPr>
                <a:lnSpc>
                  <a:spcPct val="100000"/>
                </a:lnSpc>
                <a:spcBef>
                  <a:spcPts val="1001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600" b="0" u="none" strike="noStrike">
                  <a:solidFill>
                    <a:srgbClr val="000000"/>
                  </a:solidFill>
                  <a:effectLst/>
                  <a:uFillTx/>
                  <a:latin typeface="Symbol"/>
                  <a:ea typeface="Symbol"/>
                </a:rPr>
                <a:t></a:t>
              </a:r>
              <a:endParaRPr lang="it-IT" sz="16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754" name="Text Box 80"/>
            <p:cNvSpPr/>
            <p:nvPr/>
          </p:nvSpPr>
          <p:spPr>
            <a:xfrm>
              <a:off x="1698480" y="3629160"/>
              <a:ext cx="304920" cy="337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spAutoFit/>
            </a:bodyPr>
            <a:p>
              <a:pPr>
                <a:lnSpc>
                  <a:spcPct val="100000"/>
                </a:lnSpc>
                <a:spcBef>
                  <a:spcPts val="1001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600" b="0" u="none" strike="noStrike">
                  <a:solidFill>
                    <a:srgbClr val="000000"/>
                  </a:solidFill>
                  <a:effectLst/>
                  <a:uFillTx/>
                  <a:latin typeface="Symbol"/>
                  <a:ea typeface="Symbol"/>
                </a:rPr>
                <a:t></a:t>
              </a:r>
              <a:endParaRPr lang="it-IT" sz="16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755" name="Text Box 81"/>
            <p:cNvSpPr/>
            <p:nvPr/>
          </p:nvSpPr>
          <p:spPr>
            <a:xfrm>
              <a:off x="2308320" y="3228840"/>
              <a:ext cx="304560" cy="337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spAutoFit/>
            </a:bodyPr>
            <a:p>
              <a:pPr>
                <a:lnSpc>
                  <a:spcPct val="100000"/>
                </a:lnSpc>
                <a:spcBef>
                  <a:spcPts val="1001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600" b="0" u="none" strike="noStrike">
                  <a:solidFill>
                    <a:srgbClr val="000000"/>
                  </a:solidFill>
                  <a:effectLst/>
                  <a:uFillTx/>
                  <a:latin typeface="Symbol"/>
                  <a:ea typeface="Symbol"/>
                </a:rPr>
                <a:t></a:t>
              </a:r>
              <a:endParaRPr lang="it-IT" sz="16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756" name="Text Box 82"/>
            <p:cNvSpPr/>
            <p:nvPr/>
          </p:nvSpPr>
          <p:spPr>
            <a:xfrm>
              <a:off x="5403960" y="1571760"/>
              <a:ext cx="304560" cy="337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spAutoFit/>
            </a:bodyPr>
            <a:p>
              <a:pPr>
                <a:lnSpc>
                  <a:spcPct val="100000"/>
                </a:lnSpc>
                <a:spcBef>
                  <a:spcPts val="1001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600" b="0" u="none" strike="noStrike">
                  <a:solidFill>
                    <a:srgbClr val="000000"/>
                  </a:solidFill>
                  <a:effectLst/>
                  <a:uFillTx/>
                  <a:latin typeface="Symbol"/>
                  <a:ea typeface="Symbol"/>
                </a:rPr>
                <a:t></a:t>
              </a:r>
              <a:endParaRPr lang="it-IT" sz="16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757" name="Text Box 83"/>
            <p:cNvSpPr/>
            <p:nvPr/>
          </p:nvSpPr>
          <p:spPr>
            <a:xfrm>
              <a:off x="5370480" y="2025720"/>
              <a:ext cx="304920" cy="337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spAutoFit/>
            </a:bodyPr>
            <a:p>
              <a:pPr>
                <a:lnSpc>
                  <a:spcPct val="100000"/>
                </a:lnSpc>
                <a:spcBef>
                  <a:spcPts val="1001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600" b="0" u="none" strike="noStrike">
                  <a:solidFill>
                    <a:srgbClr val="000000"/>
                  </a:solidFill>
                  <a:effectLst/>
                  <a:uFillTx/>
                  <a:latin typeface="Symbol"/>
                  <a:ea typeface="Symbol"/>
                </a:rPr>
                <a:t></a:t>
              </a:r>
              <a:endParaRPr lang="it-IT" sz="16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758" name="Text Box 84"/>
            <p:cNvSpPr/>
            <p:nvPr/>
          </p:nvSpPr>
          <p:spPr>
            <a:xfrm>
              <a:off x="5965920" y="1981080"/>
              <a:ext cx="304560" cy="337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spAutoFit/>
            </a:bodyPr>
            <a:p>
              <a:pPr>
                <a:lnSpc>
                  <a:spcPct val="100000"/>
                </a:lnSpc>
                <a:spcBef>
                  <a:spcPts val="1001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600" b="0" u="none" strike="noStrike">
                  <a:solidFill>
                    <a:srgbClr val="000000"/>
                  </a:solidFill>
                  <a:effectLst/>
                  <a:uFillTx/>
                  <a:latin typeface="Symbol"/>
                  <a:ea typeface="Symbol"/>
                </a:rPr>
                <a:t></a:t>
              </a:r>
              <a:endParaRPr lang="it-IT" sz="16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759" name="Text Box 85"/>
            <p:cNvSpPr/>
            <p:nvPr/>
          </p:nvSpPr>
          <p:spPr>
            <a:xfrm>
              <a:off x="6499080" y="2390760"/>
              <a:ext cx="304920" cy="337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spAutoFit/>
            </a:bodyPr>
            <a:p>
              <a:pPr>
                <a:lnSpc>
                  <a:spcPct val="100000"/>
                </a:lnSpc>
                <a:spcBef>
                  <a:spcPts val="1001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600" b="0" u="none" strike="noStrike">
                  <a:solidFill>
                    <a:srgbClr val="000000"/>
                  </a:solidFill>
                  <a:effectLst/>
                  <a:uFillTx/>
                  <a:latin typeface="Symbol"/>
                  <a:ea typeface="Symbol"/>
                </a:rPr>
                <a:t></a:t>
              </a:r>
              <a:endParaRPr lang="it-IT" sz="16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760" name="Text Box 86"/>
            <p:cNvSpPr/>
            <p:nvPr/>
          </p:nvSpPr>
          <p:spPr>
            <a:xfrm>
              <a:off x="5432400" y="2514600"/>
              <a:ext cx="304920" cy="337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spAutoFit/>
            </a:bodyPr>
            <a:p>
              <a:pPr>
                <a:lnSpc>
                  <a:spcPct val="100000"/>
                </a:lnSpc>
                <a:spcBef>
                  <a:spcPts val="1001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600" b="0" u="none" strike="noStrike">
                  <a:solidFill>
                    <a:srgbClr val="000000"/>
                  </a:solidFill>
                  <a:effectLst/>
                  <a:uFillTx/>
                  <a:latin typeface="Symbol"/>
                  <a:ea typeface="Symbol"/>
                </a:rPr>
                <a:t></a:t>
              </a:r>
              <a:endParaRPr lang="it-IT" sz="16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761" name="Text Box 87"/>
            <p:cNvSpPr/>
            <p:nvPr/>
          </p:nvSpPr>
          <p:spPr>
            <a:xfrm>
              <a:off x="5432400" y="3809880"/>
              <a:ext cx="304920" cy="337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spAutoFit/>
            </a:bodyPr>
            <a:p>
              <a:pPr>
                <a:lnSpc>
                  <a:spcPct val="100000"/>
                </a:lnSpc>
                <a:spcBef>
                  <a:spcPts val="1001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600" b="0" u="none" strike="noStrike">
                  <a:solidFill>
                    <a:srgbClr val="000000"/>
                  </a:solidFill>
                  <a:effectLst/>
                  <a:uFillTx/>
                  <a:latin typeface="Symbol"/>
                  <a:ea typeface="Symbol"/>
                </a:rPr>
                <a:t></a:t>
              </a:r>
              <a:endParaRPr lang="it-IT" sz="16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762" name="Text Box 88"/>
            <p:cNvSpPr/>
            <p:nvPr/>
          </p:nvSpPr>
          <p:spPr>
            <a:xfrm>
              <a:off x="5432400" y="4495680"/>
              <a:ext cx="304920" cy="337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spAutoFit/>
            </a:bodyPr>
            <a:p>
              <a:pPr>
                <a:lnSpc>
                  <a:spcPct val="100000"/>
                </a:lnSpc>
                <a:spcBef>
                  <a:spcPts val="1001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600" b="0" u="none" strike="noStrike">
                  <a:solidFill>
                    <a:srgbClr val="000000"/>
                  </a:solidFill>
                  <a:effectLst/>
                  <a:uFillTx/>
                  <a:latin typeface="Symbol"/>
                  <a:ea typeface="Symbol"/>
                </a:rPr>
                <a:t></a:t>
              </a:r>
              <a:endParaRPr lang="it-IT" sz="16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763" name="Text Box 89"/>
            <p:cNvSpPr/>
            <p:nvPr/>
          </p:nvSpPr>
          <p:spPr>
            <a:xfrm>
              <a:off x="6880320" y="2787480"/>
              <a:ext cx="304560" cy="337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spAutoFit/>
            </a:bodyPr>
            <a:p>
              <a:pPr>
                <a:lnSpc>
                  <a:spcPct val="100000"/>
                </a:lnSpc>
                <a:spcBef>
                  <a:spcPts val="1001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600" b="0" u="none" strike="noStrike">
                  <a:solidFill>
                    <a:srgbClr val="000000"/>
                  </a:solidFill>
                  <a:effectLst/>
                  <a:uFillTx/>
                  <a:latin typeface="Symbol"/>
                  <a:ea typeface="Symbol"/>
                </a:rPr>
                <a:t></a:t>
              </a:r>
              <a:endParaRPr lang="it-IT" sz="16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764" name="Text Box 90"/>
            <p:cNvSpPr/>
            <p:nvPr/>
          </p:nvSpPr>
          <p:spPr>
            <a:xfrm>
              <a:off x="7289640" y="3216240"/>
              <a:ext cx="304920" cy="337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spAutoFit/>
            </a:bodyPr>
            <a:p>
              <a:pPr>
                <a:lnSpc>
                  <a:spcPct val="100000"/>
                </a:lnSpc>
                <a:spcBef>
                  <a:spcPts val="1001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600" b="0" u="none" strike="noStrike">
                  <a:solidFill>
                    <a:srgbClr val="000000"/>
                  </a:solidFill>
                  <a:effectLst/>
                  <a:uFillTx/>
                  <a:latin typeface="Symbol"/>
                  <a:ea typeface="Symbol"/>
                </a:rPr>
                <a:t></a:t>
              </a:r>
              <a:endParaRPr lang="it-IT" sz="16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765" name="Text Box 91"/>
            <p:cNvSpPr/>
            <p:nvPr/>
          </p:nvSpPr>
          <p:spPr>
            <a:xfrm>
              <a:off x="7699320" y="3429000"/>
              <a:ext cx="304920" cy="337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spAutoFit/>
            </a:bodyPr>
            <a:p>
              <a:pPr>
                <a:lnSpc>
                  <a:spcPct val="100000"/>
                </a:lnSpc>
                <a:spcBef>
                  <a:spcPts val="1001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600" b="0" u="none" strike="noStrike">
                  <a:solidFill>
                    <a:srgbClr val="000000"/>
                  </a:solidFill>
                  <a:effectLst/>
                  <a:uFillTx/>
                  <a:latin typeface="Symbol"/>
                  <a:ea typeface="Symbol"/>
                </a:rPr>
                <a:t></a:t>
              </a:r>
              <a:endParaRPr lang="it-IT" sz="16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766" name="Text Box 92"/>
            <p:cNvSpPr/>
            <p:nvPr/>
          </p:nvSpPr>
          <p:spPr>
            <a:xfrm>
              <a:off x="4267080" y="2922480"/>
              <a:ext cx="457200" cy="5817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spAutoFit/>
            </a:bodyPr>
            <a:p>
              <a:pPr>
                <a:spcBef>
                  <a:spcPts val="2001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3200" b="0" u="none" strike="noStrike">
                  <a:solidFill>
                    <a:srgbClr val="000000"/>
                  </a:solidFill>
                  <a:effectLst/>
                  <a:uFillTx/>
                  <a:latin typeface="Comic Sans MS"/>
                </a:rPr>
                <a:t>…</a:t>
              </a:r>
              <a:endParaRPr lang="it-IT" sz="32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</p:grpSp>
      <p:sp>
        <p:nvSpPr>
          <p:cNvPr id="767" name="Oval 112"/>
          <p:cNvSpPr/>
          <p:nvPr/>
        </p:nvSpPr>
        <p:spPr>
          <a:xfrm>
            <a:off x="5981760" y="6029280"/>
            <a:ext cx="457200" cy="304920"/>
          </a:xfrm>
          <a:prstGeom prst="ellipse">
            <a:avLst/>
          </a:prstGeom>
          <a:noFill/>
          <a:ln w="9360">
            <a:solidFill>
              <a:srgbClr val="ED181E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grpSp>
        <p:nvGrpSpPr>
          <p:cNvPr id="768" name="Group 114"/>
          <p:cNvGrpSpPr/>
          <p:nvPr/>
        </p:nvGrpSpPr>
        <p:grpSpPr>
          <a:xfrm>
            <a:off x="4921200" y="4952880"/>
            <a:ext cx="3765600" cy="1504440"/>
            <a:chOff x="4921200" y="4952880"/>
            <a:chExt cx="3765600" cy="1504440"/>
          </a:xfrm>
        </p:grpSpPr>
        <p:sp>
          <p:nvSpPr>
            <p:cNvPr id="769" name="Text Box 115"/>
            <p:cNvSpPr/>
            <p:nvPr/>
          </p:nvSpPr>
          <p:spPr>
            <a:xfrm>
              <a:off x="7324560" y="5851440"/>
              <a:ext cx="990720" cy="6058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spAutoFit/>
            </a:bodyPr>
            <a:p>
              <a:pPr algn="ctr">
                <a:lnSpc>
                  <a:spcPct val="120000"/>
                </a:lnSpc>
                <a:spcBef>
                  <a:spcPts val="876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400" b="0" i="1" u="none" strike="noStrike">
                  <a:solidFill>
                    <a:srgbClr val="B025A6"/>
                  </a:solidFill>
                  <a:effectLst/>
                  <a:uFillTx/>
                  <a:latin typeface="Arial Rounded MT Bold"/>
                </a:rPr>
                <a:t>minimal </a:t>
              </a:r>
              <a:r>
                <a:rPr lang="en-US" sz="1400" b="0" u="none" strike="noStrike">
                  <a:solidFill>
                    <a:srgbClr val="B025A6"/>
                  </a:solidFill>
                  <a:effectLst/>
                  <a:uFillTx/>
                  <a:latin typeface="Arial Rounded MT Bold"/>
                </a:rPr>
                <a:t>DFA</a:t>
              </a:r>
              <a:endParaRPr lang="it-IT" sz="14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770" name="Text Box 116"/>
            <p:cNvSpPr/>
            <p:nvPr/>
          </p:nvSpPr>
          <p:spPr>
            <a:xfrm>
              <a:off x="5343480" y="6016680"/>
              <a:ext cx="533520" cy="3074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spAutoFit/>
            </a:bodyPr>
            <a:p>
              <a:pPr>
                <a:lnSpc>
                  <a:spcPct val="100000"/>
                </a:lnSpc>
                <a:spcBef>
                  <a:spcPts val="876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400" b="0" u="none" strike="noStrike">
                  <a:solidFill>
                    <a:srgbClr val="B025A6"/>
                  </a:solidFill>
                  <a:effectLst/>
                  <a:uFillTx/>
                  <a:latin typeface="Arial Rounded MT Bold"/>
                </a:rPr>
                <a:t>RE</a:t>
              </a:r>
              <a:endParaRPr lang="it-IT" sz="14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771" name="Text Box 117"/>
            <p:cNvSpPr/>
            <p:nvPr/>
          </p:nvSpPr>
          <p:spPr>
            <a:xfrm>
              <a:off x="5952960" y="6016680"/>
              <a:ext cx="685800" cy="3074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spAutoFit/>
            </a:bodyPr>
            <a:p>
              <a:pPr>
                <a:lnSpc>
                  <a:spcPct val="100000"/>
                </a:lnSpc>
                <a:spcBef>
                  <a:spcPts val="876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400" b="0" u="none" strike="noStrike">
                  <a:solidFill>
                    <a:srgbClr val="B025A6"/>
                  </a:solidFill>
                  <a:effectLst/>
                  <a:uFillTx/>
                  <a:latin typeface="Arial Rounded MT Bold"/>
                </a:rPr>
                <a:t>NFA</a:t>
              </a:r>
              <a:endParaRPr lang="it-IT" sz="14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772" name="Text Box 118"/>
            <p:cNvSpPr/>
            <p:nvPr/>
          </p:nvSpPr>
          <p:spPr>
            <a:xfrm>
              <a:off x="6715080" y="6016680"/>
              <a:ext cx="685800" cy="3074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spAutoFit/>
            </a:bodyPr>
            <a:p>
              <a:pPr>
                <a:lnSpc>
                  <a:spcPct val="100000"/>
                </a:lnSpc>
                <a:spcBef>
                  <a:spcPts val="876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400" b="0" u="none" strike="noStrike">
                  <a:solidFill>
                    <a:srgbClr val="B025A6"/>
                  </a:solidFill>
                  <a:effectLst/>
                  <a:uFillTx/>
                  <a:latin typeface="Arial Rounded MT Bold"/>
                </a:rPr>
                <a:t>DFA</a:t>
              </a:r>
              <a:endParaRPr lang="it-IT" sz="14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773" name="Line 119"/>
            <p:cNvSpPr/>
            <p:nvPr/>
          </p:nvSpPr>
          <p:spPr>
            <a:xfrm>
              <a:off x="5724360" y="6168960"/>
              <a:ext cx="304920" cy="0"/>
            </a:xfrm>
            <a:prstGeom prst="line">
              <a:avLst/>
            </a:prstGeom>
            <a:ln w="9360">
              <a:solidFill>
                <a:srgbClr val="B025A6"/>
              </a:solidFill>
              <a:miter/>
              <a:tailEnd len="med" type="triangle" w="med"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46800" rIns="90000" bIns="-46800" anchor="ctr">
              <a:noAutofit/>
            </a:bodyPr>
            <a:p>
              <a:endParaRPr lang="it-IT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774" name="Line 120"/>
            <p:cNvSpPr/>
            <p:nvPr/>
          </p:nvSpPr>
          <p:spPr>
            <a:xfrm>
              <a:off x="6486480" y="6168960"/>
              <a:ext cx="304920" cy="0"/>
            </a:xfrm>
            <a:prstGeom prst="line">
              <a:avLst/>
            </a:prstGeom>
            <a:ln w="9360">
              <a:solidFill>
                <a:srgbClr val="B025A6"/>
              </a:solidFill>
              <a:miter/>
              <a:tailEnd len="med" type="triangle" w="med"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46800" rIns="90000" bIns="-46800" anchor="ctr">
              <a:noAutofit/>
            </a:bodyPr>
            <a:p>
              <a:endParaRPr lang="it-IT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775" name="Line 121"/>
            <p:cNvSpPr/>
            <p:nvPr/>
          </p:nvSpPr>
          <p:spPr>
            <a:xfrm>
              <a:off x="7248600" y="6168960"/>
              <a:ext cx="304560" cy="0"/>
            </a:xfrm>
            <a:prstGeom prst="line">
              <a:avLst/>
            </a:prstGeom>
            <a:ln w="9360">
              <a:solidFill>
                <a:srgbClr val="B025A6"/>
              </a:solidFill>
              <a:miter/>
              <a:tailEnd len="med" type="triangle" w="med"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46800" rIns="90000" bIns="-46800" anchor="ctr">
              <a:noAutofit/>
            </a:bodyPr>
            <a:p>
              <a:endParaRPr lang="it-IT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776" name="Line 122"/>
            <p:cNvSpPr/>
            <p:nvPr/>
          </p:nvSpPr>
          <p:spPr>
            <a:xfrm>
              <a:off x="8010360" y="6172200"/>
              <a:ext cx="304920" cy="0"/>
            </a:xfrm>
            <a:prstGeom prst="line">
              <a:avLst/>
            </a:prstGeom>
            <a:ln w="9360">
              <a:solidFill>
                <a:srgbClr val="B025A6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46800" rIns="90000" bIns="-46800" anchor="ctr">
              <a:noAutofit/>
            </a:bodyPr>
            <a:p>
              <a:endParaRPr lang="it-IT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777" name="Arc 123"/>
            <p:cNvSpPr/>
            <p:nvPr/>
          </p:nvSpPr>
          <p:spPr>
            <a:xfrm>
              <a:off x="8229600" y="5410080"/>
              <a:ext cx="457200" cy="382680"/>
            </a:xfrm>
            <a:custGeom>
              <a:avLst/>
              <a:gdLst>
                <a:gd name="textAreaLeft" fmla="*/ 0 w 457200"/>
                <a:gd name="textAreaRight" fmla="*/ 457560 w 457200"/>
                <a:gd name="textAreaTop" fmla="*/ 0 h 382680"/>
                <a:gd name="textAreaBottom" fmla="*/ 383040 h 382680"/>
                <a:gd name="GluePoint1X" fmla="*/ 0 w 21600"/>
                <a:gd name="GluePoint1Y" fmla="*/ 0 h 21573"/>
                <a:gd name="GluePoint2X" fmla="*/ 0 w 21600"/>
                <a:gd name="GluePoint2Y" fmla="*/ 0 h 21573"/>
                <a:gd name="GluePoint3X" fmla="*/ 0 w 21600"/>
                <a:gd name="GluePoint3Y" fmla="*/ 0 h 21573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</a:cxnLst>
              <a:rect l="textAreaLeft" t="textAreaTop" r="textAreaRight" b="textAreaBottom"/>
              <a:pathLst>
                <a:path fill="none" w="21600" h="21573">
                  <a:moveTo>
                    <a:pt x="1078" y="-1"/>
                  </a:moveTo>
                  <a:cubicBezTo>
                    <a:pt x="12573" y="574"/>
                    <a:pt x="21600" y="10062"/>
                    <a:pt x="21600" y="21573"/>
                  </a:cubicBezTo>
                </a:path>
                <a:path stroke="0" w="21600" h="21573">
                  <a:moveTo>
                    <a:pt x="1078" y="-1"/>
                  </a:moveTo>
                  <a:cubicBezTo>
                    <a:pt x="12573" y="574"/>
                    <a:pt x="21600" y="10062"/>
                    <a:pt x="21600" y="21573"/>
                  </a:cubicBezTo>
                  <a:lnTo>
                    <a:pt x="0" y="21573"/>
                  </a:lnTo>
                  <a:close/>
                </a:path>
              </a:pathLst>
            </a:custGeom>
            <a:noFill/>
            <a:ln w="9360">
              <a:solidFill>
                <a:srgbClr val="B025A6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ctr">
              <a:noAutofit/>
            </a:bodyPr>
            <a:p>
              <a:endParaRPr lang="it-IT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778" name="Arc 124"/>
            <p:cNvSpPr/>
            <p:nvPr/>
          </p:nvSpPr>
          <p:spPr>
            <a:xfrm flipV="1">
              <a:off x="8229600" y="5791320"/>
              <a:ext cx="457200" cy="380880"/>
            </a:xfrm>
            <a:custGeom>
              <a:avLst/>
              <a:gdLst>
                <a:gd name="textAreaLeft" fmla="*/ 0 w 457200"/>
                <a:gd name="textAreaRight" fmla="*/ 457560 w 457200"/>
                <a:gd name="textAreaTop" fmla="*/ 360 h 380880"/>
                <a:gd name="textAreaBottom" fmla="*/ 381600 h 380880"/>
                <a:gd name="GluePoint1X" fmla="*/ 0 w 21600"/>
                <a:gd name="GluePoint1Y" fmla="*/ 0 h 21573"/>
                <a:gd name="GluePoint2X" fmla="*/ 0 w 21600"/>
                <a:gd name="GluePoint2Y" fmla="*/ 0 h 21573"/>
                <a:gd name="GluePoint3X" fmla="*/ 0 w 21600"/>
                <a:gd name="GluePoint3Y" fmla="*/ 0 h 21573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</a:cxnLst>
              <a:rect l="textAreaLeft" t="textAreaTop" r="textAreaRight" b="textAreaBottom"/>
              <a:pathLst>
                <a:path fill="none" w="21600" h="21573">
                  <a:moveTo>
                    <a:pt x="1078" y="-1"/>
                  </a:moveTo>
                  <a:cubicBezTo>
                    <a:pt x="12573" y="574"/>
                    <a:pt x="21600" y="10062"/>
                    <a:pt x="21600" y="21573"/>
                  </a:cubicBezTo>
                </a:path>
                <a:path stroke="0" w="21600" h="21573">
                  <a:moveTo>
                    <a:pt x="1078" y="-1"/>
                  </a:moveTo>
                  <a:cubicBezTo>
                    <a:pt x="12573" y="574"/>
                    <a:pt x="21600" y="10062"/>
                    <a:pt x="21600" y="21573"/>
                  </a:cubicBezTo>
                  <a:lnTo>
                    <a:pt x="0" y="21573"/>
                  </a:lnTo>
                  <a:close/>
                </a:path>
              </a:pathLst>
            </a:custGeom>
            <a:noFill/>
            <a:ln w="9360">
              <a:solidFill>
                <a:srgbClr val="B025A6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ctr">
              <a:noAutofit/>
            </a:bodyPr>
            <a:p>
              <a:endParaRPr lang="it-IT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779" name="Arc 125"/>
            <p:cNvSpPr/>
            <p:nvPr/>
          </p:nvSpPr>
          <p:spPr>
            <a:xfrm flipH="1">
              <a:off x="4921200" y="5407200"/>
              <a:ext cx="457200" cy="382320"/>
            </a:xfrm>
            <a:custGeom>
              <a:avLst/>
              <a:gdLst>
                <a:gd name="textAreaLeft" fmla="*/ 360 w 457200"/>
                <a:gd name="textAreaRight" fmla="*/ 457920 w 457200"/>
                <a:gd name="textAreaTop" fmla="*/ 0 h 382320"/>
                <a:gd name="textAreaBottom" fmla="*/ 382680 h 382320"/>
                <a:gd name="GluePoint1X" fmla="*/ 0 w 21600"/>
                <a:gd name="GluePoint1Y" fmla="*/ 0 h 21573"/>
                <a:gd name="GluePoint2X" fmla="*/ 0 w 21600"/>
                <a:gd name="GluePoint2Y" fmla="*/ 0 h 21573"/>
                <a:gd name="GluePoint3X" fmla="*/ 0 w 21600"/>
                <a:gd name="GluePoint3Y" fmla="*/ 0 h 21573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</a:cxnLst>
              <a:rect l="textAreaLeft" t="textAreaTop" r="textAreaRight" b="textAreaBottom"/>
              <a:pathLst>
                <a:path fill="none" w="21600" h="21573">
                  <a:moveTo>
                    <a:pt x="1078" y="-1"/>
                  </a:moveTo>
                  <a:cubicBezTo>
                    <a:pt x="12573" y="574"/>
                    <a:pt x="21600" y="10062"/>
                    <a:pt x="21600" y="21573"/>
                  </a:cubicBezTo>
                </a:path>
                <a:path stroke="0" w="21600" h="21573">
                  <a:moveTo>
                    <a:pt x="1078" y="-1"/>
                  </a:moveTo>
                  <a:cubicBezTo>
                    <a:pt x="12573" y="574"/>
                    <a:pt x="21600" y="10062"/>
                    <a:pt x="21600" y="21573"/>
                  </a:cubicBezTo>
                  <a:lnTo>
                    <a:pt x="0" y="21573"/>
                  </a:lnTo>
                  <a:close/>
                </a:path>
              </a:pathLst>
            </a:custGeom>
            <a:noFill/>
            <a:ln w="9360">
              <a:solidFill>
                <a:srgbClr val="B025A6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ctr">
              <a:noAutofit/>
            </a:bodyPr>
            <a:p>
              <a:endParaRPr lang="it-IT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780" name="Arc 126"/>
            <p:cNvSpPr/>
            <p:nvPr/>
          </p:nvSpPr>
          <p:spPr>
            <a:xfrm flipH="1" flipV="1">
              <a:off x="4921200" y="5799240"/>
              <a:ext cx="457200" cy="380880"/>
            </a:xfrm>
            <a:custGeom>
              <a:avLst/>
              <a:gdLst>
                <a:gd name="textAreaLeft" fmla="*/ 360 w 457200"/>
                <a:gd name="textAreaRight" fmla="*/ 457920 w 457200"/>
                <a:gd name="textAreaTop" fmla="*/ 360 h 380880"/>
                <a:gd name="textAreaBottom" fmla="*/ 381600 h 380880"/>
                <a:gd name="GluePoint1X" fmla="*/ 0 w 21600"/>
                <a:gd name="GluePoint1Y" fmla="*/ 0 h 21573"/>
                <a:gd name="GluePoint2X" fmla="*/ 0 w 21600"/>
                <a:gd name="GluePoint2Y" fmla="*/ 0 h 21573"/>
                <a:gd name="GluePoint3X" fmla="*/ 0 w 21600"/>
                <a:gd name="GluePoint3Y" fmla="*/ 0 h 21573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</a:cxnLst>
              <a:rect l="textAreaLeft" t="textAreaTop" r="textAreaRight" b="textAreaBottom"/>
              <a:pathLst>
                <a:path fill="none" w="21600" h="21573">
                  <a:moveTo>
                    <a:pt x="1078" y="-1"/>
                  </a:moveTo>
                  <a:cubicBezTo>
                    <a:pt x="12573" y="574"/>
                    <a:pt x="21600" y="10062"/>
                    <a:pt x="21600" y="21573"/>
                  </a:cubicBezTo>
                </a:path>
                <a:path stroke="0" w="21600" h="21573">
                  <a:moveTo>
                    <a:pt x="1078" y="-1"/>
                  </a:moveTo>
                  <a:cubicBezTo>
                    <a:pt x="12573" y="574"/>
                    <a:pt x="21600" y="10062"/>
                    <a:pt x="21600" y="21573"/>
                  </a:cubicBezTo>
                  <a:lnTo>
                    <a:pt x="0" y="21573"/>
                  </a:lnTo>
                  <a:close/>
                </a:path>
              </a:pathLst>
            </a:custGeom>
            <a:noFill/>
            <a:ln w="9360">
              <a:solidFill>
                <a:srgbClr val="B025A6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ctr">
              <a:noAutofit/>
            </a:bodyPr>
            <a:p>
              <a:endParaRPr lang="it-IT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781" name="Line 127"/>
            <p:cNvSpPr/>
            <p:nvPr/>
          </p:nvSpPr>
          <p:spPr>
            <a:xfrm>
              <a:off x="5343480" y="5410080"/>
              <a:ext cx="2895480" cy="0"/>
            </a:xfrm>
            <a:prstGeom prst="line">
              <a:avLst/>
            </a:prstGeom>
            <a:ln w="9360">
              <a:solidFill>
                <a:srgbClr val="B025A6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46800" rIns="90000" bIns="-46800" anchor="ctr">
              <a:noAutofit/>
            </a:bodyPr>
            <a:p>
              <a:endParaRPr lang="it-IT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782" name="Line 128"/>
            <p:cNvSpPr/>
            <p:nvPr/>
          </p:nvSpPr>
          <p:spPr>
            <a:xfrm>
              <a:off x="5267160" y="6172200"/>
              <a:ext cx="152640" cy="0"/>
            </a:xfrm>
            <a:prstGeom prst="line">
              <a:avLst/>
            </a:prstGeom>
            <a:ln w="9360">
              <a:solidFill>
                <a:srgbClr val="B025A6"/>
              </a:solidFill>
              <a:miter/>
              <a:tailEnd len="med" type="triangle" w="med"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46800" rIns="90000" bIns="-46800" anchor="ctr">
              <a:noAutofit/>
            </a:bodyPr>
            <a:p>
              <a:endParaRPr lang="it-IT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783" name="Text Box 129"/>
            <p:cNvSpPr/>
            <p:nvPr/>
          </p:nvSpPr>
          <p:spPr>
            <a:xfrm>
              <a:off x="5361120" y="4952880"/>
              <a:ext cx="2895480" cy="337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spAutoFit/>
            </a:bodyPr>
            <a:p>
              <a:pPr>
                <a:lnSpc>
                  <a:spcPct val="100000"/>
                </a:lnSpc>
                <a:spcBef>
                  <a:spcPts val="1001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600" b="0" i="1" u="sng" strike="noStrike">
                  <a:solidFill>
                    <a:srgbClr val="B025A6"/>
                  </a:solidFill>
                  <a:effectLst/>
                  <a:uFillTx/>
                  <a:latin typeface="Arial Rounded MT Bold"/>
                </a:rPr>
                <a:t>The Cycle of Constructions</a:t>
              </a:r>
              <a:endParaRPr lang="it-IT" sz="16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</p:grpSp>
      <p:sp>
        <p:nvSpPr>
          <p:cNvPr id="784" name="Text Box 130"/>
          <p:cNvSpPr/>
          <p:nvPr/>
        </p:nvSpPr>
        <p:spPr>
          <a:xfrm>
            <a:off x="609480" y="5257800"/>
            <a:ext cx="3733920" cy="855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spAutoFit/>
          </a:bodyPr>
          <a:p>
            <a:pPr>
              <a:spcBef>
                <a:spcPts val="876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600" b="0" u="none" strike="noStrike">
                <a:solidFill>
                  <a:srgbClr val="B025A6"/>
                </a:solidFill>
                <a:effectLst/>
                <a:uFillTx/>
                <a:latin typeface="Comic Sans MS"/>
              </a:rPr>
              <a:t>To make the example fit, we have eliminated some of the </a:t>
            </a:r>
            <a:r>
              <a:rPr lang="en-US" sz="1800" b="0" u="none" strike="noStrike">
                <a:solidFill>
                  <a:srgbClr val="B025A6"/>
                </a:solidFill>
                <a:effectLst/>
                <a:uFillTx/>
                <a:latin typeface="Symbol"/>
                <a:ea typeface="Symbol"/>
              </a:rPr>
              <a:t></a:t>
            </a:r>
            <a:r>
              <a:rPr lang="en-US" sz="1600" b="0" u="none" strike="noStrike">
                <a:solidFill>
                  <a:srgbClr val="B025A6"/>
                </a:solidFill>
                <a:effectLst/>
                <a:uFillTx/>
                <a:latin typeface="Comic Sans MS"/>
              </a:rPr>
              <a:t>-transitions, e.g., between </a:t>
            </a:r>
            <a:r>
              <a:rPr lang="en-US" sz="1600" b="0" u="sng" strike="noStrike">
                <a:solidFill>
                  <a:srgbClr val="B025A6"/>
                </a:solidFill>
                <a:effectLst/>
                <a:uFillTx/>
                <a:latin typeface="Comic Sans MS"/>
              </a:rPr>
              <a:t>r</a:t>
            </a:r>
            <a:r>
              <a:rPr lang="en-US" sz="1600" b="0" u="none" strike="noStrike">
                <a:solidFill>
                  <a:srgbClr val="B025A6"/>
                </a:solidFill>
                <a:effectLst/>
                <a:uFillTx/>
                <a:latin typeface="Comic Sans MS"/>
              </a:rPr>
              <a:t> and </a:t>
            </a:r>
            <a:r>
              <a:rPr lang="en-US" sz="1400" b="0" u="sng" strike="noStrike">
                <a:solidFill>
                  <a:srgbClr val="B025A6"/>
                </a:solidFill>
                <a:effectLst/>
                <a:uFillTx/>
                <a:latin typeface="Comic Sans MS"/>
              </a:rPr>
              <a:t>0</a:t>
            </a:r>
            <a:endParaRPr lang="it-IT" sz="14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</p:spTree>
  </p:cSld>
  <p:transition>
    <p:wipe dir="r"/>
  </p:transition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5" name="Footer Placeholder 3"/>
          <p:cNvSpPr/>
          <p:nvPr/>
        </p:nvSpPr>
        <p:spPr>
          <a:xfrm>
            <a:off x="685800" y="6248520"/>
            <a:ext cx="289548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Autofit/>
          </a:bodyPr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Comp 412, Fall 2010</a:t>
            </a:r>
            <a:endParaRPr lang="it-IT" sz="12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786" name="Slide Number Placeholder 4"/>
          <p:cNvSpPr/>
          <p:nvPr/>
        </p:nvSpPr>
        <p:spPr>
          <a:xfrm>
            <a:off x="6553080" y="6248520"/>
            <a:ext cx="190512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Autofit/>
          </a:bodyPr>
          <a:p>
            <a:pPr algn="r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C5DFE801-620D-4B57-AD56-7C34E74FBED1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&lt;number&gt;</a:t>
            </a:fld>
            <a:endParaRPr lang="it-IT" sz="12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787" name="PlaceHolder 1"/>
          <p:cNvSpPr>
            <a:spLocks noGrp="1"/>
          </p:cNvSpPr>
          <p:nvPr>
            <p:ph type="title"/>
          </p:nvPr>
        </p:nvSpPr>
        <p:spPr>
          <a:xfrm>
            <a:off x="685800" y="533160"/>
            <a:ext cx="7772400" cy="533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l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Abbreviated Register Specification</a:t>
            </a:r>
            <a:endParaRPr lang="it-IT" sz="24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788" name="PlaceHolder 2"/>
          <p:cNvSpPr>
            <a:spLocks noGrp="1"/>
          </p:cNvSpPr>
          <p:nvPr>
            <p:ph/>
          </p:nvPr>
        </p:nvSpPr>
        <p:spPr>
          <a:xfrm>
            <a:off x="685800" y="1143000"/>
            <a:ext cx="7772400" cy="495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p>
            <a:pPr marL="343080" indent="-343080" algn="l">
              <a:spcBef>
                <a:spcPts val="499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The subset construction builds</a:t>
            </a:r>
            <a:endParaRPr lang="it-IT" sz="20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  <a:p>
            <a:pPr marL="343080" indent="-343080" algn="l">
              <a:spcBef>
                <a:spcPts val="499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it-IT" sz="20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  <a:p>
            <a:pPr marL="343080" indent="-343080" algn="l">
              <a:spcBef>
                <a:spcPts val="499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it-IT" sz="20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  <a:p>
            <a:pPr marL="343080" indent="-343080" algn="l">
              <a:spcBef>
                <a:spcPts val="499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it-IT" sz="20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  <a:p>
            <a:pPr marL="343080" indent="-343080" algn="l">
              <a:spcBef>
                <a:spcPts val="499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it-IT" sz="20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  <a:p>
            <a:pPr marL="343080" indent="-343080" algn="l">
              <a:spcBef>
                <a:spcPts val="499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it-IT" sz="20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  <a:p>
            <a:pPr marL="343080" indent="-343080" algn="l">
              <a:spcBef>
                <a:spcPts val="499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it-IT" sz="20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  <a:p>
            <a:pPr marL="343080" indent="-343080" algn="l">
              <a:spcBef>
                <a:spcPts val="499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it-IT" sz="20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  <a:p>
            <a:pPr marL="343080" indent="-343080" algn="l">
              <a:spcBef>
                <a:spcPts val="499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This is a DFA, but it has a lot of states …</a:t>
            </a:r>
            <a:endParaRPr lang="it-IT" sz="20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  <a:p>
            <a:pPr marL="343080" indent="-343080" algn="l">
              <a:spcBef>
                <a:spcPts val="499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it-IT" sz="20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grpSp>
        <p:nvGrpSpPr>
          <p:cNvPr id="789" name="Group 4"/>
          <p:cNvGrpSpPr/>
          <p:nvPr/>
        </p:nvGrpSpPr>
        <p:grpSpPr>
          <a:xfrm>
            <a:off x="1846440" y="1676520"/>
            <a:ext cx="2496960" cy="2086920"/>
            <a:chOff x="1846440" y="1676520"/>
            <a:chExt cx="2496960" cy="2086920"/>
          </a:xfrm>
        </p:grpSpPr>
        <p:sp>
          <p:nvSpPr>
            <p:cNvPr id="790" name="Text Box 5"/>
            <p:cNvSpPr/>
            <p:nvPr/>
          </p:nvSpPr>
          <p:spPr>
            <a:xfrm>
              <a:off x="2281320" y="2238120"/>
              <a:ext cx="304560" cy="368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spAutoFit/>
            </a:bodyPr>
            <a:p>
              <a:pPr>
                <a:spcBef>
                  <a:spcPts val="112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800" b="0" u="none" strike="noStrike">
                  <a:solidFill>
                    <a:srgbClr val="000000"/>
                  </a:solidFill>
                  <a:effectLst/>
                  <a:uFillTx/>
                  <a:latin typeface="Comic Sans MS"/>
                </a:rPr>
                <a:t>r</a:t>
              </a:r>
              <a:endParaRPr lang="it-IT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791" name="Text Box 6"/>
            <p:cNvSpPr/>
            <p:nvPr/>
          </p:nvSpPr>
          <p:spPr>
            <a:xfrm>
              <a:off x="2738520" y="1904760"/>
              <a:ext cx="304560" cy="368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spAutoFit/>
            </a:bodyPr>
            <a:p>
              <a:pPr>
                <a:spcBef>
                  <a:spcPts val="112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800" b="0" u="none" strike="noStrike">
                  <a:solidFill>
                    <a:srgbClr val="000000"/>
                  </a:solidFill>
                  <a:effectLst/>
                  <a:uFillTx/>
                  <a:latin typeface="Comic Sans MS"/>
                </a:rPr>
                <a:t>0</a:t>
              </a:r>
              <a:endParaRPr lang="it-IT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792" name="Oval 7"/>
            <p:cNvSpPr/>
            <p:nvPr/>
          </p:nvSpPr>
          <p:spPr>
            <a:xfrm>
              <a:off x="3195720" y="1676520"/>
              <a:ext cx="309600" cy="282240"/>
            </a:xfrm>
            <a:prstGeom prst="ellipse">
              <a:avLst/>
            </a:prstGeom>
            <a:noFill/>
            <a:ln w="381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ctr">
              <a:noAutofit/>
            </a:bodyPr>
            <a:p>
              <a:pPr algn="ctr">
                <a:spcAft>
                  <a:spcPts val="524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600" b="0" i="1" u="none" strike="noStrike">
                  <a:solidFill>
                    <a:srgbClr val="000000"/>
                  </a:solidFill>
                  <a:effectLst/>
                  <a:uFillTx/>
                  <a:latin typeface="Comic Sans MS"/>
                </a:rPr>
                <a:t>s</a:t>
              </a:r>
              <a:r>
                <a:rPr lang="en-US" sz="1600" b="0" i="1" u="none" strike="noStrike" baseline="-25000">
                  <a:solidFill>
                    <a:srgbClr val="000000"/>
                  </a:solidFill>
                  <a:effectLst/>
                  <a:uFillTx/>
                  <a:latin typeface="Comic Sans MS"/>
                </a:rPr>
                <a:t>f</a:t>
              </a:r>
              <a:r>
                <a:rPr lang="en-US" sz="1400" b="0" i="1" u="none" strike="noStrike" baseline="-25000">
                  <a:solidFill>
                    <a:srgbClr val="000000"/>
                  </a:solidFill>
                  <a:effectLst/>
                  <a:uFillTx/>
                  <a:latin typeface="Comic Sans MS"/>
                </a:rPr>
                <a:t>0</a:t>
              </a:r>
              <a:endParaRPr lang="it-IT" sz="14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793" name="Oval 8"/>
            <p:cNvSpPr/>
            <p:nvPr/>
          </p:nvSpPr>
          <p:spPr>
            <a:xfrm>
              <a:off x="2657520" y="2468520"/>
              <a:ext cx="309600" cy="282240"/>
            </a:xfrm>
            <a:prstGeom prst="ellipse">
              <a:avLst/>
            </a:prstGeom>
            <a:noFill/>
            <a:ln w="1260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ctr">
              <a:noAutofit/>
            </a:bodyPr>
            <a:p>
              <a:endParaRPr lang="it-IT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794" name="Oval 9"/>
            <p:cNvSpPr/>
            <p:nvPr/>
          </p:nvSpPr>
          <p:spPr>
            <a:xfrm>
              <a:off x="1846440" y="2468520"/>
              <a:ext cx="309240" cy="282240"/>
            </a:xfrm>
            <a:prstGeom prst="ellipse">
              <a:avLst/>
            </a:prstGeom>
            <a:noFill/>
            <a:ln w="1260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ctr">
              <a:noAutofit/>
            </a:bodyPr>
            <a:p>
              <a:pPr algn="ctr">
                <a:spcAft>
                  <a:spcPts val="601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600" b="0" i="1" u="none" strike="noStrike">
                  <a:solidFill>
                    <a:srgbClr val="000000"/>
                  </a:solidFill>
                  <a:effectLst/>
                  <a:uFillTx/>
                  <a:latin typeface="Comic Sans MS"/>
                </a:rPr>
                <a:t>s</a:t>
              </a:r>
              <a:r>
                <a:rPr lang="en-US" sz="1600" b="0" i="1" u="none" strike="noStrike" baseline="-25000">
                  <a:solidFill>
                    <a:srgbClr val="000000"/>
                  </a:solidFill>
                  <a:effectLst/>
                  <a:uFillTx/>
                  <a:latin typeface="Comic Sans MS"/>
                </a:rPr>
                <a:t>0</a:t>
              </a:r>
              <a:endParaRPr lang="it-IT" sz="16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cxnSp>
          <p:nvCxnSpPr>
            <p:cNvPr id="795" name="AutoShape 10"/>
            <p:cNvCxnSpPr>
              <a:stCxn id="794" idx="6"/>
              <a:endCxn id="793" idx="2"/>
            </p:cNvCxnSpPr>
            <p:nvPr/>
          </p:nvCxnSpPr>
          <p:spPr>
            <a:xfrm>
              <a:off x="2155680" y="2609280"/>
              <a:ext cx="502560" cy="1080"/>
            </a:xfrm>
            <a:prstGeom prst="straightConnector1">
              <a:avLst/>
            </a:prstGeom>
            <a:ln w="9360">
              <a:solidFill>
                <a:srgbClr val="000000"/>
              </a:solidFill>
              <a:miter/>
              <a:tailEnd len="med" type="triangle" w="med"/>
            </a:ln>
          </p:spPr>
        </p:cxnSp>
        <p:cxnSp>
          <p:nvCxnSpPr>
            <p:cNvPr id="796" name="AutoShape 11"/>
            <p:cNvCxnSpPr>
              <a:stCxn id="793" idx="0"/>
              <a:endCxn id="792" idx="3"/>
            </p:cNvCxnSpPr>
            <p:nvPr/>
          </p:nvCxnSpPr>
          <p:spPr>
            <a:xfrm flipV="1">
              <a:off x="2812680" y="1936800"/>
              <a:ext cx="429480" cy="531720"/>
            </a:xfrm>
            <a:prstGeom prst="straightConnector1">
              <a:avLst/>
            </a:prstGeom>
            <a:ln w="9360">
              <a:solidFill>
                <a:srgbClr val="000000"/>
              </a:solidFill>
              <a:miter/>
              <a:tailEnd len="med" type="triangle" w="med"/>
            </a:ln>
          </p:spPr>
        </p:cxnSp>
        <p:sp>
          <p:nvSpPr>
            <p:cNvPr id="797" name="Oval 12"/>
            <p:cNvSpPr/>
            <p:nvPr/>
          </p:nvSpPr>
          <p:spPr>
            <a:xfrm>
              <a:off x="3648240" y="1985760"/>
              <a:ext cx="309240" cy="282240"/>
            </a:xfrm>
            <a:prstGeom prst="ellipse">
              <a:avLst/>
            </a:prstGeom>
            <a:noFill/>
            <a:ln w="381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ctr">
              <a:noAutofit/>
            </a:bodyPr>
            <a:p>
              <a:pPr algn="ctr">
                <a:spcAft>
                  <a:spcPts val="451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600" b="0" i="1" u="none" strike="noStrike">
                  <a:solidFill>
                    <a:srgbClr val="000000"/>
                  </a:solidFill>
                  <a:effectLst/>
                  <a:uFillTx/>
                  <a:latin typeface="Comic Sans MS"/>
                </a:rPr>
                <a:t>s</a:t>
              </a:r>
              <a:r>
                <a:rPr lang="en-US" sz="1600" b="0" i="1" u="none" strike="noStrike" baseline="-25000">
                  <a:solidFill>
                    <a:srgbClr val="000000"/>
                  </a:solidFill>
                  <a:effectLst/>
                  <a:uFillTx/>
                  <a:latin typeface="Comic Sans MS"/>
                </a:rPr>
                <a:t>f</a:t>
              </a:r>
              <a:r>
                <a:rPr lang="en-US" sz="1200" b="0" i="1" u="none" strike="noStrike" baseline="-25000">
                  <a:solidFill>
                    <a:srgbClr val="000000"/>
                  </a:solidFill>
                  <a:effectLst/>
                  <a:uFillTx/>
                  <a:latin typeface="Comic Sans MS"/>
                </a:rPr>
                <a:t>1</a:t>
              </a:r>
              <a:endParaRPr lang="it-IT" sz="12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cxnSp>
          <p:nvCxnSpPr>
            <p:cNvPr id="798" name="AutoShape 13"/>
            <p:cNvCxnSpPr>
              <a:stCxn id="793" idx="7"/>
              <a:endCxn id="797" idx="2"/>
            </p:cNvCxnSpPr>
            <p:nvPr/>
          </p:nvCxnSpPr>
          <p:spPr>
            <a:xfrm flipV="1">
              <a:off x="2920680" y="2126520"/>
              <a:ext cx="708840" cy="382680"/>
            </a:xfrm>
            <a:prstGeom prst="straightConnector1">
              <a:avLst/>
            </a:prstGeom>
            <a:ln w="9360">
              <a:solidFill>
                <a:srgbClr val="000000"/>
              </a:solidFill>
              <a:miter/>
              <a:tailEnd len="med" type="triangle" w="med"/>
            </a:ln>
          </p:spPr>
        </p:cxnSp>
        <p:sp>
          <p:nvSpPr>
            <p:cNvPr id="799" name="Text Box 14"/>
            <p:cNvSpPr/>
            <p:nvPr/>
          </p:nvSpPr>
          <p:spPr>
            <a:xfrm>
              <a:off x="3119400" y="1981080"/>
              <a:ext cx="304920" cy="368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spAutoFit/>
            </a:bodyPr>
            <a:p>
              <a:pPr>
                <a:spcBef>
                  <a:spcPts val="112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800" b="0" u="none" strike="noStrike">
                  <a:solidFill>
                    <a:srgbClr val="000000"/>
                  </a:solidFill>
                  <a:effectLst/>
                  <a:uFillTx/>
                  <a:latin typeface="Comic Sans MS"/>
                </a:rPr>
                <a:t>1</a:t>
              </a:r>
              <a:endParaRPr lang="it-IT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800" name="Oval 15"/>
            <p:cNvSpPr/>
            <p:nvPr/>
          </p:nvSpPr>
          <p:spPr>
            <a:xfrm>
              <a:off x="4033800" y="2315880"/>
              <a:ext cx="309600" cy="282240"/>
            </a:xfrm>
            <a:prstGeom prst="ellipse">
              <a:avLst/>
            </a:prstGeom>
            <a:noFill/>
            <a:ln w="381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ctr">
              <a:noAutofit/>
            </a:bodyPr>
            <a:p>
              <a:pPr algn="ctr">
                <a:spcAft>
                  <a:spcPts val="451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400" b="0" i="1" u="none" strike="noStrike">
                  <a:solidFill>
                    <a:srgbClr val="000000"/>
                  </a:solidFill>
                  <a:effectLst/>
                  <a:uFillTx/>
                  <a:latin typeface="Comic Sans MS"/>
                </a:rPr>
                <a:t>s</a:t>
              </a:r>
              <a:r>
                <a:rPr lang="en-US" sz="1400" b="0" i="1" u="none" strike="noStrike" baseline="-25000">
                  <a:solidFill>
                    <a:srgbClr val="000000"/>
                  </a:solidFill>
                  <a:effectLst/>
                  <a:uFillTx/>
                  <a:latin typeface="Comic Sans MS"/>
                </a:rPr>
                <a:t>f</a:t>
              </a:r>
              <a:r>
                <a:rPr lang="en-US" sz="1200" b="0" i="1" u="none" strike="noStrike" baseline="-25000">
                  <a:solidFill>
                    <a:srgbClr val="000000"/>
                  </a:solidFill>
                  <a:effectLst/>
                  <a:uFillTx/>
                  <a:latin typeface="Comic Sans MS"/>
                </a:rPr>
                <a:t>2</a:t>
              </a:r>
              <a:endParaRPr lang="it-IT" sz="12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cxnSp>
          <p:nvCxnSpPr>
            <p:cNvPr id="801" name="AutoShape 16"/>
            <p:cNvCxnSpPr>
              <a:stCxn id="793" idx="6"/>
              <a:endCxn id="800" idx="2"/>
            </p:cNvCxnSpPr>
            <p:nvPr/>
          </p:nvCxnSpPr>
          <p:spPr>
            <a:xfrm flipV="1">
              <a:off x="2967120" y="2457000"/>
              <a:ext cx="1048320" cy="152640"/>
            </a:xfrm>
            <a:prstGeom prst="straightConnector1">
              <a:avLst/>
            </a:prstGeom>
            <a:ln w="9360">
              <a:solidFill>
                <a:srgbClr val="000000"/>
              </a:solidFill>
              <a:miter/>
              <a:tailEnd len="med" type="triangle" w="med"/>
            </a:ln>
          </p:spPr>
        </p:cxnSp>
        <p:sp>
          <p:nvSpPr>
            <p:cNvPr id="802" name="Text Box 17"/>
            <p:cNvSpPr/>
            <p:nvPr/>
          </p:nvSpPr>
          <p:spPr>
            <a:xfrm>
              <a:off x="3424320" y="2209680"/>
              <a:ext cx="304560" cy="368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spAutoFit/>
            </a:bodyPr>
            <a:p>
              <a:pPr>
                <a:spcBef>
                  <a:spcPts val="112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800" b="0" u="none" strike="noStrike">
                  <a:solidFill>
                    <a:srgbClr val="000000"/>
                  </a:solidFill>
                  <a:effectLst/>
                  <a:uFillTx/>
                  <a:latin typeface="Comic Sans MS"/>
                </a:rPr>
                <a:t>2</a:t>
              </a:r>
              <a:endParaRPr lang="it-IT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803" name="Oval 18"/>
            <p:cNvSpPr/>
            <p:nvPr/>
          </p:nvSpPr>
          <p:spPr>
            <a:xfrm>
              <a:off x="3195720" y="3481200"/>
              <a:ext cx="309600" cy="282240"/>
            </a:xfrm>
            <a:prstGeom prst="ellipse">
              <a:avLst/>
            </a:prstGeom>
            <a:noFill/>
            <a:ln w="381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ctr">
              <a:noAutofit/>
            </a:bodyPr>
            <a:p>
              <a:pPr algn="ctr">
                <a:spcAft>
                  <a:spcPts val="524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600" b="0" i="1" u="none" strike="noStrike">
                  <a:solidFill>
                    <a:srgbClr val="000000"/>
                  </a:solidFill>
                  <a:effectLst/>
                  <a:uFillTx/>
                  <a:latin typeface="Comic Sans MS"/>
                </a:rPr>
                <a:t>s</a:t>
              </a:r>
              <a:r>
                <a:rPr lang="en-US" sz="1600" b="0" i="1" u="none" strike="noStrike" baseline="-25000">
                  <a:solidFill>
                    <a:srgbClr val="000000"/>
                  </a:solidFill>
                  <a:effectLst/>
                  <a:uFillTx/>
                  <a:latin typeface="Comic Sans MS"/>
                </a:rPr>
                <a:t>f</a:t>
              </a:r>
              <a:r>
                <a:rPr lang="en-US" sz="1400" b="0" i="1" u="none" strike="noStrike" baseline="-25000">
                  <a:solidFill>
                    <a:srgbClr val="000000"/>
                  </a:solidFill>
                  <a:effectLst/>
                  <a:uFillTx/>
                  <a:latin typeface="Comic Sans MS"/>
                </a:rPr>
                <a:t>9</a:t>
              </a:r>
              <a:endParaRPr lang="it-IT" sz="14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cxnSp>
          <p:nvCxnSpPr>
            <p:cNvPr id="804" name="AutoShape 19"/>
            <p:cNvCxnSpPr>
              <a:stCxn id="793" idx="4"/>
              <a:endCxn id="803" idx="1"/>
            </p:cNvCxnSpPr>
            <p:nvPr/>
          </p:nvCxnSpPr>
          <p:spPr>
            <a:xfrm>
              <a:off x="2812680" y="2750760"/>
              <a:ext cx="429480" cy="752760"/>
            </a:xfrm>
            <a:prstGeom prst="straightConnector1">
              <a:avLst/>
            </a:prstGeom>
            <a:ln w="9360">
              <a:solidFill>
                <a:srgbClr val="000000"/>
              </a:solidFill>
              <a:miter/>
              <a:tailEnd len="med" type="triangle" w="med"/>
            </a:ln>
          </p:spPr>
        </p:cxnSp>
        <p:sp>
          <p:nvSpPr>
            <p:cNvPr id="805" name="Oval 20"/>
            <p:cNvSpPr/>
            <p:nvPr/>
          </p:nvSpPr>
          <p:spPr>
            <a:xfrm>
              <a:off x="3648240" y="3176640"/>
              <a:ext cx="309240" cy="281880"/>
            </a:xfrm>
            <a:prstGeom prst="ellipse">
              <a:avLst/>
            </a:prstGeom>
            <a:noFill/>
            <a:ln w="381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ctr">
              <a:noAutofit/>
            </a:bodyPr>
            <a:p>
              <a:pPr algn="ctr">
                <a:spcAft>
                  <a:spcPts val="524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600" b="0" i="1" u="none" strike="noStrike">
                  <a:solidFill>
                    <a:srgbClr val="000000"/>
                  </a:solidFill>
                  <a:effectLst/>
                  <a:uFillTx/>
                  <a:latin typeface="Comic Sans MS"/>
                </a:rPr>
                <a:t>s</a:t>
              </a:r>
              <a:r>
                <a:rPr lang="en-US" sz="1600" b="0" i="1" u="none" strike="noStrike" baseline="-25000">
                  <a:solidFill>
                    <a:srgbClr val="000000"/>
                  </a:solidFill>
                  <a:effectLst/>
                  <a:uFillTx/>
                  <a:latin typeface="Comic Sans MS"/>
                </a:rPr>
                <a:t>f</a:t>
              </a:r>
              <a:r>
                <a:rPr lang="en-US" sz="1400" b="0" i="1" u="none" strike="noStrike" baseline="-25000">
                  <a:solidFill>
                    <a:srgbClr val="000000"/>
                  </a:solidFill>
                  <a:effectLst/>
                  <a:uFillTx/>
                  <a:latin typeface="Comic Sans MS"/>
                </a:rPr>
                <a:t>8</a:t>
              </a:r>
              <a:endParaRPr lang="it-IT" sz="14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cxnSp>
          <p:nvCxnSpPr>
            <p:cNvPr id="806" name="AutoShape 21"/>
            <p:cNvCxnSpPr>
              <a:stCxn id="793" idx="5"/>
              <a:endCxn id="805" idx="1"/>
            </p:cNvCxnSpPr>
            <p:nvPr/>
          </p:nvCxnSpPr>
          <p:spPr>
            <a:xfrm>
              <a:off x="2920680" y="2709360"/>
              <a:ext cx="773640" cy="489240"/>
            </a:xfrm>
            <a:prstGeom prst="straightConnector1">
              <a:avLst/>
            </a:prstGeom>
            <a:ln w="9360">
              <a:solidFill>
                <a:srgbClr val="000000"/>
              </a:solidFill>
              <a:miter/>
              <a:tailEnd len="med" type="triangle" w="med"/>
            </a:ln>
          </p:spPr>
        </p:cxnSp>
        <p:sp>
          <p:nvSpPr>
            <p:cNvPr id="807" name="Text Box 22"/>
            <p:cNvSpPr/>
            <p:nvPr/>
          </p:nvSpPr>
          <p:spPr>
            <a:xfrm>
              <a:off x="3505320" y="2286000"/>
              <a:ext cx="457200" cy="5817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spAutoFit/>
            </a:bodyPr>
            <a:p>
              <a:pPr>
                <a:spcBef>
                  <a:spcPts val="2001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3200" b="0" u="none" strike="noStrike">
                  <a:solidFill>
                    <a:srgbClr val="000000"/>
                  </a:solidFill>
                  <a:effectLst/>
                  <a:uFillTx/>
                  <a:latin typeface="Comic Sans MS"/>
                </a:rPr>
                <a:t>…</a:t>
              </a:r>
              <a:endParaRPr lang="it-IT" sz="32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808" name="Text Box 23"/>
            <p:cNvSpPr/>
            <p:nvPr/>
          </p:nvSpPr>
          <p:spPr>
            <a:xfrm>
              <a:off x="3043080" y="2971800"/>
              <a:ext cx="304920" cy="368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spAutoFit/>
            </a:bodyPr>
            <a:p>
              <a:pPr>
                <a:spcBef>
                  <a:spcPts val="112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800" b="0" u="none" strike="noStrike">
                  <a:solidFill>
                    <a:srgbClr val="000000"/>
                  </a:solidFill>
                  <a:effectLst/>
                  <a:uFillTx/>
                  <a:latin typeface="Comic Sans MS"/>
                </a:rPr>
                <a:t>9</a:t>
              </a:r>
              <a:endParaRPr lang="it-IT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809" name="Text Box 24"/>
            <p:cNvSpPr/>
            <p:nvPr/>
          </p:nvSpPr>
          <p:spPr>
            <a:xfrm>
              <a:off x="3348000" y="2697120"/>
              <a:ext cx="304920" cy="368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spAutoFit/>
            </a:bodyPr>
            <a:p>
              <a:pPr>
                <a:spcBef>
                  <a:spcPts val="112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800" b="0" u="none" strike="noStrike">
                  <a:solidFill>
                    <a:srgbClr val="000000"/>
                  </a:solidFill>
                  <a:effectLst/>
                  <a:uFillTx/>
                  <a:latin typeface="Comic Sans MS"/>
                </a:rPr>
                <a:t>8</a:t>
              </a:r>
              <a:endParaRPr lang="it-IT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</p:grpSp>
      <p:sp>
        <p:nvSpPr>
          <p:cNvPr id="810" name="Oval 44"/>
          <p:cNvSpPr/>
          <p:nvPr/>
        </p:nvSpPr>
        <p:spPr>
          <a:xfrm>
            <a:off x="6715080" y="6039000"/>
            <a:ext cx="533520" cy="304560"/>
          </a:xfrm>
          <a:prstGeom prst="ellipse">
            <a:avLst/>
          </a:prstGeom>
          <a:noFill/>
          <a:ln w="9360">
            <a:solidFill>
              <a:srgbClr val="ED181E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grpSp>
        <p:nvGrpSpPr>
          <p:cNvPr id="811" name="Group 45"/>
          <p:cNvGrpSpPr/>
          <p:nvPr/>
        </p:nvGrpSpPr>
        <p:grpSpPr>
          <a:xfrm>
            <a:off x="4921200" y="4952880"/>
            <a:ext cx="3765600" cy="1504440"/>
            <a:chOff x="4921200" y="4952880"/>
            <a:chExt cx="3765600" cy="1504440"/>
          </a:xfrm>
        </p:grpSpPr>
        <p:sp>
          <p:nvSpPr>
            <p:cNvPr id="812" name="Text Box 46"/>
            <p:cNvSpPr/>
            <p:nvPr/>
          </p:nvSpPr>
          <p:spPr>
            <a:xfrm>
              <a:off x="7324560" y="5851440"/>
              <a:ext cx="990720" cy="6058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spAutoFit/>
            </a:bodyPr>
            <a:p>
              <a:pPr algn="ctr">
                <a:lnSpc>
                  <a:spcPct val="120000"/>
                </a:lnSpc>
                <a:spcBef>
                  <a:spcPts val="876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400" b="0" i="1" u="none" strike="noStrike">
                  <a:solidFill>
                    <a:srgbClr val="B025A6"/>
                  </a:solidFill>
                  <a:effectLst/>
                  <a:uFillTx/>
                  <a:latin typeface="Arial Rounded MT Bold"/>
                </a:rPr>
                <a:t>minimal </a:t>
              </a:r>
              <a:r>
                <a:rPr lang="en-US" sz="1400" b="0" u="none" strike="noStrike">
                  <a:solidFill>
                    <a:srgbClr val="B025A6"/>
                  </a:solidFill>
                  <a:effectLst/>
                  <a:uFillTx/>
                  <a:latin typeface="Arial Rounded MT Bold"/>
                </a:rPr>
                <a:t>DFA</a:t>
              </a:r>
              <a:endParaRPr lang="it-IT" sz="14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813" name="Text Box 47"/>
            <p:cNvSpPr/>
            <p:nvPr/>
          </p:nvSpPr>
          <p:spPr>
            <a:xfrm>
              <a:off x="5343480" y="6016680"/>
              <a:ext cx="533520" cy="3074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spAutoFit/>
            </a:bodyPr>
            <a:p>
              <a:pPr>
                <a:lnSpc>
                  <a:spcPct val="100000"/>
                </a:lnSpc>
                <a:spcBef>
                  <a:spcPts val="876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400" b="0" u="none" strike="noStrike">
                  <a:solidFill>
                    <a:srgbClr val="B025A6"/>
                  </a:solidFill>
                  <a:effectLst/>
                  <a:uFillTx/>
                  <a:latin typeface="Arial Rounded MT Bold"/>
                </a:rPr>
                <a:t>RE</a:t>
              </a:r>
              <a:endParaRPr lang="it-IT" sz="14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814" name="Text Box 48"/>
            <p:cNvSpPr/>
            <p:nvPr/>
          </p:nvSpPr>
          <p:spPr>
            <a:xfrm>
              <a:off x="5952960" y="6016680"/>
              <a:ext cx="685800" cy="3074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spAutoFit/>
            </a:bodyPr>
            <a:p>
              <a:pPr>
                <a:lnSpc>
                  <a:spcPct val="100000"/>
                </a:lnSpc>
                <a:spcBef>
                  <a:spcPts val="876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400" b="0" u="none" strike="noStrike">
                  <a:solidFill>
                    <a:srgbClr val="B025A6"/>
                  </a:solidFill>
                  <a:effectLst/>
                  <a:uFillTx/>
                  <a:latin typeface="Arial Rounded MT Bold"/>
                </a:rPr>
                <a:t>NFA</a:t>
              </a:r>
              <a:endParaRPr lang="it-IT" sz="14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815" name="Text Box 49"/>
            <p:cNvSpPr/>
            <p:nvPr/>
          </p:nvSpPr>
          <p:spPr>
            <a:xfrm>
              <a:off x="6715080" y="6016680"/>
              <a:ext cx="685800" cy="3074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spAutoFit/>
            </a:bodyPr>
            <a:p>
              <a:pPr>
                <a:lnSpc>
                  <a:spcPct val="100000"/>
                </a:lnSpc>
                <a:spcBef>
                  <a:spcPts val="876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400" b="0" u="none" strike="noStrike">
                  <a:solidFill>
                    <a:srgbClr val="B025A6"/>
                  </a:solidFill>
                  <a:effectLst/>
                  <a:uFillTx/>
                  <a:latin typeface="Arial Rounded MT Bold"/>
                </a:rPr>
                <a:t>DFA</a:t>
              </a:r>
              <a:endParaRPr lang="it-IT" sz="14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816" name="Line 50"/>
            <p:cNvSpPr/>
            <p:nvPr/>
          </p:nvSpPr>
          <p:spPr>
            <a:xfrm>
              <a:off x="5724360" y="6168960"/>
              <a:ext cx="304920" cy="0"/>
            </a:xfrm>
            <a:prstGeom prst="line">
              <a:avLst/>
            </a:prstGeom>
            <a:ln w="9360">
              <a:solidFill>
                <a:srgbClr val="B025A6"/>
              </a:solidFill>
              <a:miter/>
              <a:tailEnd len="med" type="triangle" w="med"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46800" rIns="90000" bIns="-46800" anchor="ctr">
              <a:noAutofit/>
            </a:bodyPr>
            <a:p>
              <a:endParaRPr lang="it-IT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817" name="Line 51"/>
            <p:cNvSpPr/>
            <p:nvPr/>
          </p:nvSpPr>
          <p:spPr>
            <a:xfrm>
              <a:off x="6486480" y="6168960"/>
              <a:ext cx="304920" cy="0"/>
            </a:xfrm>
            <a:prstGeom prst="line">
              <a:avLst/>
            </a:prstGeom>
            <a:ln w="9360">
              <a:solidFill>
                <a:srgbClr val="B025A6"/>
              </a:solidFill>
              <a:miter/>
              <a:tailEnd len="med" type="triangle" w="med"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46800" rIns="90000" bIns="-46800" anchor="ctr">
              <a:noAutofit/>
            </a:bodyPr>
            <a:p>
              <a:endParaRPr lang="it-IT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818" name="Line 52"/>
            <p:cNvSpPr/>
            <p:nvPr/>
          </p:nvSpPr>
          <p:spPr>
            <a:xfrm>
              <a:off x="7248600" y="6168960"/>
              <a:ext cx="304560" cy="0"/>
            </a:xfrm>
            <a:prstGeom prst="line">
              <a:avLst/>
            </a:prstGeom>
            <a:ln w="9360">
              <a:solidFill>
                <a:srgbClr val="B025A6"/>
              </a:solidFill>
              <a:miter/>
              <a:tailEnd len="med" type="triangle" w="med"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46800" rIns="90000" bIns="-46800" anchor="ctr">
              <a:noAutofit/>
            </a:bodyPr>
            <a:p>
              <a:endParaRPr lang="it-IT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819" name="Line 53"/>
            <p:cNvSpPr/>
            <p:nvPr/>
          </p:nvSpPr>
          <p:spPr>
            <a:xfrm>
              <a:off x="8010360" y="6172200"/>
              <a:ext cx="304920" cy="0"/>
            </a:xfrm>
            <a:prstGeom prst="line">
              <a:avLst/>
            </a:prstGeom>
            <a:ln w="9360">
              <a:solidFill>
                <a:srgbClr val="B025A6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46800" rIns="90000" bIns="-46800" anchor="ctr">
              <a:noAutofit/>
            </a:bodyPr>
            <a:p>
              <a:endParaRPr lang="it-IT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820" name="Arc 54"/>
            <p:cNvSpPr/>
            <p:nvPr/>
          </p:nvSpPr>
          <p:spPr>
            <a:xfrm>
              <a:off x="8229600" y="5410080"/>
              <a:ext cx="457200" cy="382680"/>
            </a:xfrm>
            <a:custGeom>
              <a:avLst/>
              <a:gdLst>
                <a:gd name="textAreaLeft" fmla="*/ 0 w 457200"/>
                <a:gd name="textAreaRight" fmla="*/ 457560 w 457200"/>
                <a:gd name="textAreaTop" fmla="*/ 0 h 382680"/>
                <a:gd name="textAreaBottom" fmla="*/ 383040 h 382680"/>
                <a:gd name="GluePoint1X" fmla="*/ 0 w 21600"/>
                <a:gd name="GluePoint1Y" fmla="*/ 0 h 21573"/>
                <a:gd name="GluePoint2X" fmla="*/ 0 w 21600"/>
                <a:gd name="GluePoint2Y" fmla="*/ 0 h 21573"/>
                <a:gd name="GluePoint3X" fmla="*/ 0 w 21600"/>
                <a:gd name="GluePoint3Y" fmla="*/ 0 h 21573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</a:cxnLst>
              <a:rect l="textAreaLeft" t="textAreaTop" r="textAreaRight" b="textAreaBottom"/>
              <a:pathLst>
                <a:path fill="none" w="21600" h="21573">
                  <a:moveTo>
                    <a:pt x="1078" y="-1"/>
                  </a:moveTo>
                  <a:cubicBezTo>
                    <a:pt x="12573" y="574"/>
                    <a:pt x="21600" y="10062"/>
                    <a:pt x="21600" y="21573"/>
                  </a:cubicBezTo>
                </a:path>
                <a:path stroke="0" w="21600" h="21573">
                  <a:moveTo>
                    <a:pt x="1078" y="-1"/>
                  </a:moveTo>
                  <a:cubicBezTo>
                    <a:pt x="12573" y="574"/>
                    <a:pt x="21600" y="10062"/>
                    <a:pt x="21600" y="21573"/>
                  </a:cubicBezTo>
                  <a:lnTo>
                    <a:pt x="0" y="21573"/>
                  </a:lnTo>
                  <a:close/>
                </a:path>
              </a:pathLst>
            </a:custGeom>
            <a:noFill/>
            <a:ln w="9360">
              <a:solidFill>
                <a:srgbClr val="B025A6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ctr">
              <a:noAutofit/>
            </a:bodyPr>
            <a:p>
              <a:endParaRPr lang="it-IT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821" name="Arc 55"/>
            <p:cNvSpPr/>
            <p:nvPr/>
          </p:nvSpPr>
          <p:spPr>
            <a:xfrm flipV="1">
              <a:off x="8229600" y="5791320"/>
              <a:ext cx="457200" cy="380880"/>
            </a:xfrm>
            <a:custGeom>
              <a:avLst/>
              <a:gdLst>
                <a:gd name="textAreaLeft" fmla="*/ 0 w 457200"/>
                <a:gd name="textAreaRight" fmla="*/ 457560 w 457200"/>
                <a:gd name="textAreaTop" fmla="*/ 360 h 380880"/>
                <a:gd name="textAreaBottom" fmla="*/ 381600 h 380880"/>
                <a:gd name="GluePoint1X" fmla="*/ 0 w 21600"/>
                <a:gd name="GluePoint1Y" fmla="*/ 0 h 21573"/>
                <a:gd name="GluePoint2X" fmla="*/ 0 w 21600"/>
                <a:gd name="GluePoint2Y" fmla="*/ 0 h 21573"/>
                <a:gd name="GluePoint3X" fmla="*/ 0 w 21600"/>
                <a:gd name="GluePoint3Y" fmla="*/ 0 h 21573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</a:cxnLst>
              <a:rect l="textAreaLeft" t="textAreaTop" r="textAreaRight" b="textAreaBottom"/>
              <a:pathLst>
                <a:path fill="none" w="21600" h="21573">
                  <a:moveTo>
                    <a:pt x="1078" y="-1"/>
                  </a:moveTo>
                  <a:cubicBezTo>
                    <a:pt x="12573" y="574"/>
                    <a:pt x="21600" y="10062"/>
                    <a:pt x="21600" y="21573"/>
                  </a:cubicBezTo>
                </a:path>
                <a:path stroke="0" w="21600" h="21573">
                  <a:moveTo>
                    <a:pt x="1078" y="-1"/>
                  </a:moveTo>
                  <a:cubicBezTo>
                    <a:pt x="12573" y="574"/>
                    <a:pt x="21600" y="10062"/>
                    <a:pt x="21600" y="21573"/>
                  </a:cubicBezTo>
                  <a:lnTo>
                    <a:pt x="0" y="21573"/>
                  </a:lnTo>
                  <a:close/>
                </a:path>
              </a:pathLst>
            </a:custGeom>
            <a:noFill/>
            <a:ln w="9360">
              <a:solidFill>
                <a:srgbClr val="B025A6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ctr">
              <a:noAutofit/>
            </a:bodyPr>
            <a:p>
              <a:endParaRPr lang="it-IT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822" name="Arc 56"/>
            <p:cNvSpPr/>
            <p:nvPr/>
          </p:nvSpPr>
          <p:spPr>
            <a:xfrm flipH="1">
              <a:off x="4921200" y="5407200"/>
              <a:ext cx="457200" cy="382320"/>
            </a:xfrm>
            <a:custGeom>
              <a:avLst/>
              <a:gdLst>
                <a:gd name="textAreaLeft" fmla="*/ 360 w 457200"/>
                <a:gd name="textAreaRight" fmla="*/ 457920 w 457200"/>
                <a:gd name="textAreaTop" fmla="*/ 0 h 382320"/>
                <a:gd name="textAreaBottom" fmla="*/ 382680 h 382320"/>
                <a:gd name="GluePoint1X" fmla="*/ 0 w 21600"/>
                <a:gd name="GluePoint1Y" fmla="*/ 0 h 21573"/>
                <a:gd name="GluePoint2X" fmla="*/ 0 w 21600"/>
                <a:gd name="GluePoint2Y" fmla="*/ 0 h 21573"/>
                <a:gd name="GluePoint3X" fmla="*/ 0 w 21600"/>
                <a:gd name="GluePoint3Y" fmla="*/ 0 h 21573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</a:cxnLst>
              <a:rect l="textAreaLeft" t="textAreaTop" r="textAreaRight" b="textAreaBottom"/>
              <a:pathLst>
                <a:path fill="none" w="21600" h="21573">
                  <a:moveTo>
                    <a:pt x="1078" y="-1"/>
                  </a:moveTo>
                  <a:cubicBezTo>
                    <a:pt x="12573" y="574"/>
                    <a:pt x="21600" y="10062"/>
                    <a:pt x="21600" y="21573"/>
                  </a:cubicBezTo>
                </a:path>
                <a:path stroke="0" w="21600" h="21573">
                  <a:moveTo>
                    <a:pt x="1078" y="-1"/>
                  </a:moveTo>
                  <a:cubicBezTo>
                    <a:pt x="12573" y="574"/>
                    <a:pt x="21600" y="10062"/>
                    <a:pt x="21600" y="21573"/>
                  </a:cubicBezTo>
                  <a:lnTo>
                    <a:pt x="0" y="21573"/>
                  </a:lnTo>
                  <a:close/>
                </a:path>
              </a:pathLst>
            </a:custGeom>
            <a:noFill/>
            <a:ln w="9360">
              <a:solidFill>
                <a:srgbClr val="B025A6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ctr">
              <a:noAutofit/>
            </a:bodyPr>
            <a:p>
              <a:endParaRPr lang="it-IT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823" name="Arc 57"/>
            <p:cNvSpPr/>
            <p:nvPr/>
          </p:nvSpPr>
          <p:spPr>
            <a:xfrm flipH="1" flipV="1">
              <a:off x="4921200" y="5799240"/>
              <a:ext cx="457200" cy="380880"/>
            </a:xfrm>
            <a:custGeom>
              <a:avLst/>
              <a:gdLst>
                <a:gd name="textAreaLeft" fmla="*/ 360 w 457200"/>
                <a:gd name="textAreaRight" fmla="*/ 457920 w 457200"/>
                <a:gd name="textAreaTop" fmla="*/ 360 h 380880"/>
                <a:gd name="textAreaBottom" fmla="*/ 381600 h 380880"/>
                <a:gd name="GluePoint1X" fmla="*/ 0 w 21600"/>
                <a:gd name="GluePoint1Y" fmla="*/ 0 h 21573"/>
                <a:gd name="GluePoint2X" fmla="*/ 0 w 21600"/>
                <a:gd name="GluePoint2Y" fmla="*/ 0 h 21573"/>
                <a:gd name="GluePoint3X" fmla="*/ 0 w 21600"/>
                <a:gd name="GluePoint3Y" fmla="*/ 0 h 21573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</a:cxnLst>
              <a:rect l="textAreaLeft" t="textAreaTop" r="textAreaRight" b="textAreaBottom"/>
              <a:pathLst>
                <a:path fill="none" w="21600" h="21573">
                  <a:moveTo>
                    <a:pt x="1078" y="-1"/>
                  </a:moveTo>
                  <a:cubicBezTo>
                    <a:pt x="12573" y="574"/>
                    <a:pt x="21600" y="10062"/>
                    <a:pt x="21600" y="21573"/>
                  </a:cubicBezTo>
                </a:path>
                <a:path stroke="0" w="21600" h="21573">
                  <a:moveTo>
                    <a:pt x="1078" y="-1"/>
                  </a:moveTo>
                  <a:cubicBezTo>
                    <a:pt x="12573" y="574"/>
                    <a:pt x="21600" y="10062"/>
                    <a:pt x="21600" y="21573"/>
                  </a:cubicBezTo>
                  <a:lnTo>
                    <a:pt x="0" y="21573"/>
                  </a:lnTo>
                  <a:close/>
                </a:path>
              </a:pathLst>
            </a:custGeom>
            <a:noFill/>
            <a:ln w="9360">
              <a:solidFill>
                <a:srgbClr val="B025A6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ctr">
              <a:noAutofit/>
            </a:bodyPr>
            <a:p>
              <a:endParaRPr lang="it-IT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824" name="Line 58"/>
            <p:cNvSpPr/>
            <p:nvPr/>
          </p:nvSpPr>
          <p:spPr>
            <a:xfrm>
              <a:off x="5343480" y="5410080"/>
              <a:ext cx="2895480" cy="0"/>
            </a:xfrm>
            <a:prstGeom prst="line">
              <a:avLst/>
            </a:prstGeom>
            <a:ln w="9360">
              <a:solidFill>
                <a:srgbClr val="B025A6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46800" rIns="90000" bIns="-46800" anchor="ctr">
              <a:noAutofit/>
            </a:bodyPr>
            <a:p>
              <a:endParaRPr lang="it-IT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825" name="Line 59"/>
            <p:cNvSpPr/>
            <p:nvPr/>
          </p:nvSpPr>
          <p:spPr>
            <a:xfrm>
              <a:off x="5267160" y="6172200"/>
              <a:ext cx="152640" cy="0"/>
            </a:xfrm>
            <a:prstGeom prst="line">
              <a:avLst/>
            </a:prstGeom>
            <a:ln w="9360">
              <a:solidFill>
                <a:srgbClr val="B025A6"/>
              </a:solidFill>
              <a:miter/>
              <a:tailEnd len="med" type="triangle" w="med"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46800" rIns="90000" bIns="-46800" anchor="ctr">
              <a:noAutofit/>
            </a:bodyPr>
            <a:p>
              <a:endParaRPr lang="it-IT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826" name="Text Box 60"/>
            <p:cNvSpPr/>
            <p:nvPr/>
          </p:nvSpPr>
          <p:spPr>
            <a:xfrm>
              <a:off x="5361120" y="4952880"/>
              <a:ext cx="2895480" cy="337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spAutoFit/>
            </a:bodyPr>
            <a:p>
              <a:pPr>
                <a:lnSpc>
                  <a:spcPct val="100000"/>
                </a:lnSpc>
                <a:spcBef>
                  <a:spcPts val="1001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600" b="0" i="1" u="sng" strike="noStrike">
                  <a:solidFill>
                    <a:srgbClr val="B025A6"/>
                  </a:solidFill>
                  <a:effectLst/>
                  <a:uFillTx/>
                  <a:latin typeface="Arial Rounded MT Bold"/>
                </a:rPr>
                <a:t>The Cycle of Constructions</a:t>
              </a:r>
              <a:endParaRPr lang="it-IT" sz="16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</p:grpSp>
    </p:spTree>
  </p:cSld>
  <p:transition>
    <p:wipe dir="r"/>
  </p:transition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7" name="Footer Placeholder 3"/>
          <p:cNvSpPr/>
          <p:nvPr/>
        </p:nvSpPr>
        <p:spPr>
          <a:xfrm>
            <a:off x="685800" y="6248520"/>
            <a:ext cx="289548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Autofit/>
          </a:bodyPr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Comp 412, Fall 2010</a:t>
            </a:r>
            <a:endParaRPr lang="it-IT" sz="12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828" name="Slide Number Placeholder 4"/>
          <p:cNvSpPr/>
          <p:nvPr/>
        </p:nvSpPr>
        <p:spPr>
          <a:xfrm>
            <a:off x="6553080" y="6248520"/>
            <a:ext cx="190512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Autofit/>
          </a:bodyPr>
          <a:p>
            <a:pPr algn="r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2D53C20C-322C-45E8-8F02-5A47FA874806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&lt;number&gt;</a:t>
            </a:fld>
            <a:endParaRPr lang="it-IT" sz="12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829" name="PlaceHolder 1"/>
          <p:cNvSpPr>
            <a:spLocks noGrp="1"/>
          </p:cNvSpPr>
          <p:nvPr>
            <p:ph type="title"/>
          </p:nvPr>
        </p:nvSpPr>
        <p:spPr>
          <a:xfrm>
            <a:off x="685800" y="533160"/>
            <a:ext cx="7772400" cy="533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l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Abbreviated Register Specification</a:t>
            </a:r>
            <a:endParaRPr lang="it-IT" sz="24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830" name="PlaceHolder 2"/>
          <p:cNvSpPr>
            <a:spLocks noGrp="1"/>
          </p:cNvSpPr>
          <p:nvPr>
            <p:ph/>
          </p:nvPr>
        </p:nvSpPr>
        <p:spPr>
          <a:xfrm>
            <a:off x="685800" y="1143000"/>
            <a:ext cx="7772400" cy="495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p>
            <a:pPr marL="343080" indent="-343080" algn="l">
              <a:spcBef>
                <a:spcPts val="499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The DFA minimization algorithm builds</a:t>
            </a:r>
            <a:endParaRPr lang="it-IT" sz="20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  <a:p>
            <a:pPr marL="343080" indent="-343080" algn="l">
              <a:spcBef>
                <a:spcPts val="499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it-IT" sz="20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  <a:p>
            <a:pPr marL="343080" indent="-343080" algn="l">
              <a:spcBef>
                <a:spcPts val="499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it-IT" sz="20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  <a:p>
            <a:pPr marL="343080" indent="-343080" algn="l">
              <a:spcBef>
                <a:spcPts val="499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it-IT" sz="20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  <a:p>
            <a:pPr marL="343080" indent="-343080" algn="l">
              <a:spcBef>
                <a:spcPts val="499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it-IT" sz="20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  <a:p>
            <a:pPr marL="343080" indent="-343080" algn="l">
              <a:spcBef>
                <a:spcPts val="499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it-IT" sz="20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  <a:p>
            <a:pPr marL="343080" indent="-343080" algn="l">
              <a:spcBef>
                <a:spcPts val="499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it-IT" sz="20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  <a:p>
            <a:pPr marL="343080" indent="-343080" algn="l">
              <a:spcBef>
                <a:spcPts val="499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it-IT" sz="20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  <a:p>
            <a:pPr marL="343080" indent="-343080" algn="l">
              <a:spcBef>
                <a:spcPts val="499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This looks like what a skilled compiler writer would do!</a:t>
            </a:r>
            <a:endParaRPr lang="it-IT" sz="20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  <a:p>
            <a:pPr marL="343080" indent="-343080" algn="l">
              <a:spcBef>
                <a:spcPts val="499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it-IT" sz="20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grpSp>
        <p:nvGrpSpPr>
          <p:cNvPr id="831" name="Group 4"/>
          <p:cNvGrpSpPr/>
          <p:nvPr/>
        </p:nvGrpSpPr>
        <p:grpSpPr>
          <a:xfrm>
            <a:off x="1905120" y="2286000"/>
            <a:ext cx="2649240" cy="762120"/>
            <a:chOff x="1905120" y="2286000"/>
            <a:chExt cx="2649240" cy="762120"/>
          </a:xfrm>
        </p:grpSpPr>
        <p:sp>
          <p:nvSpPr>
            <p:cNvPr id="832" name="Text Box 5"/>
            <p:cNvSpPr/>
            <p:nvPr/>
          </p:nvSpPr>
          <p:spPr>
            <a:xfrm>
              <a:off x="2340000" y="2543040"/>
              <a:ext cx="304920" cy="368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spAutoFit/>
            </a:bodyPr>
            <a:p>
              <a:pPr>
                <a:spcBef>
                  <a:spcPts val="112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800" b="0" u="none" strike="noStrike">
                  <a:solidFill>
                    <a:srgbClr val="000000"/>
                  </a:solidFill>
                  <a:effectLst/>
                  <a:uFillTx/>
                  <a:latin typeface="Comic Sans MS"/>
                </a:rPr>
                <a:t>r</a:t>
              </a:r>
              <a:endParaRPr lang="it-IT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833" name="Oval 6"/>
            <p:cNvSpPr/>
            <p:nvPr/>
          </p:nvSpPr>
          <p:spPr>
            <a:xfrm>
              <a:off x="2716200" y="2765520"/>
              <a:ext cx="309600" cy="282600"/>
            </a:xfrm>
            <a:prstGeom prst="ellipse">
              <a:avLst/>
            </a:prstGeom>
            <a:noFill/>
            <a:ln w="1260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ctr">
              <a:noAutofit/>
            </a:bodyPr>
            <a:p>
              <a:endParaRPr lang="it-IT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834" name="Oval 7"/>
            <p:cNvSpPr/>
            <p:nvPr/>
          </p:nvSpPr>
          <p:spPr>
            <a:xfrm>
              <a:off x="1905120" y="2765520"/>
              <a:ext cx="309600" cy="282600"/>
            </a:xfrm>
            <a:prstGeom prst="ellipse">
              <a:avLst/>
            </a:prstGeom>
            <a:noFill/>
            <a:ln w="1260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ctr">
              <a:noAutofit/>
            </a:bodyPr>
            <a:p>
              <a:pPr algn="ctr">
                <a:spcAft>
                  <a:spcPts val="601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600" b="0" i="1" u="none" strike="noStrike">
                  <a:solidFill>
                    <a:srgbClr val="000000"/>
                  </a:solidFill>
                  <a:effectLst/>
                  <a:uFillTx/>
                  <a:latin typeface="Comic Sans MS"/>
                </a:rPr>
                <a:t>s</a:t>
              </a:r>
              <a:r>
                <a:rPr lang="en-US" sz="1600" b="0" i="1" u="none" strike="noStrike" baseline="-25000">
                  <a:solidFill>
                    <a:srgbClr val="000000"/>
                  </a:solidFill>
                  <a:effectLst/>
                  <a:uFillTx/>
                  <a:latin typeface="Comic Sans MS"/>
                </a:rPr>
                <a:t>0</a:t>
              </a:r>
              <a:endParaRPr lang="it-IT" sz="16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cxnSp>
          <p:nvCxnSpPr>
            <p:cNvPr id="835" name="AutoShape 8"/>
            <p:cNvCxnSpPr>
              <a:stCxn id="834" idx="6"/>
              <a:endCxn id="833" idx="2"/>
            </p:cNvCxnSpPr>
            <p:nvPr/>
          </p:nvCxnSpPr>
          <p:spPr>
            <a:xfrm>
              <a:off x="2214360" y="2906280"/>
              <a:ext cx="501840" cy="1080"/>
            </a:xfrm>
            <a:prstGeom prst="straightConnector1">
              <a:avLst/>
            </a:prstGeom>
            <a:ln w="9360">
              <a:solidFill>
                <a:srgbClr val="000000"/>
              </a:solidFill>
              <a:miter/>
              <a:tailEnd len="med" type="triangle" w="med"/>
            </a:ln>
          </p:spPr>
        </p:cxnSp>
        <p:sp>
          <p:nvSpPr>
            <p:cNvPr id="836" name="Oval 9"/>
            <p:cNvSpPr/>
            <p:nvPr/>
          </p:nvSpPr>
          <p:spPr>
            <a:xfrm>
              <a:off x="4245120" y="2765520"/>
              <a:ext cx="309240" cy="282600"/>
            </a:xfrm>
            <a:prstGeom prst="ellipse">
              <a:avLst/>
            </a:prstGeom>
            <a:noFill/>
            <a:ln w="381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ctr">
              <a:noAutofit/>
            </a:bodyPr>
            <a:p>
              <a:pPr algn="ctr">
                <a:spcAft>
                  <a:spcPts val="601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600" b="0" i="1" u="none" strike="noStrike">
                  <a:solidFill>
                    <a:srgbClr val="000000"/>
                  </a:solidFill>
                  <a:effectLst/>
                  <a:uFillTx/>
                  <a:latin typeface="Comic Sans MS"/>
                </a:rPr>
                <a:t>s</a:t>
              </a:r>
              <a:r>
                <a:rPr lang="en-US" sz="1600" b="0" i="1" u="none" strike="noStrike" baseline="-25000">
                  <a:solidFill>
                    <a:srgbClr val="000000"/>
                  </a:solidFill>
                  <a:effectLst/>
                  <a:uFillTx/>
                  <a:latin typeface="Comic Sans MS"/>
                </a:rPr>
                <a:t>f</a:t>
              </a:r>
              <a:endParaRPr lang="it-IT" sz="16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cxnSp>
          <p:nvCxnSpPr>
            <p:cNvPr id="837" name="AutoShape 10"/>
            <p:cNvCxnSpPr>
              <a:stCxn id="833" idx="6"/>
              <a:endCxn id="836" idx="2"/>
            </p:cNvCxnSpPr>
            <p:nvPr/>
          </p:nvCxnSpPr>
          <p:spPr>
            <a:xfrm>
              <a:off x="3025800" y="2906280"/>
              <a:ext cx="1200960" cy="1080"/>
            </a:xfrm>
            <a:prstGeom prst="straightConnector1">
              <a:avLst/>
            </a:prstGeom>
            <a:ln w="9360">
              <a:solidFill>
                <a:srgbClr val="000000"/>
              </a:solidFill>
              <a:miter/>
              <a:tailEnd len="med" type="triangle" w="med"/>
            </a:ln>
          </p:spPr>
        </p:cxnSp>
        <p:sp>
          <p:nvSpPr>
            <p:cNvPr id="838" name="Text Box 11"/>
            <p:cNvSpPr/>
            <p:nvPr/>
          </p:nvSpPr>
          <p:spPr>
            <a:xfrm>
              <a:off x="3030480" y="2286000"/>
              <a:ext cx="1219320" cy="5878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spAutoFit/>
            </a:bodyPr>
            <a:p>
              <a:pPr>
                <a:lnSpc>
                  <a:spcPct val="9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800" b="0" u="none" strike="noStrike">
                  <a:solidFill>
                    <a:srgbClr val="000000"/>
                  </a:solidFill>
                  <a:effectLst/>
                  <a:uFillTx/>
                  <a:latin typeface="Comic Sans MS"/>
                </a:rPr>
                <a:t>0,1,2,3,4,</a:t>
              </a:r>
              <a:endParaRPr lang="it-IT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  <a:p>
              <a:pPr>
                <a:lnSpc>
                  <a:spcPct val="9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800" b="0" u="none" strike="noStrike">
                  <a:solidFill>
                    <a:srgbClr val="000000"/>
                  </a:solidFill>
                  <a:effectLst/>
                  <a:uFillTx/>
                  <a:latin typeface="Comic Sans MS"/>
                </a:rPr>
                <a:t>5,6,7,8,9</a:t>
              </a:r>
              <a:endParaRPr lang="it-IT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</p:grpSp>
      <p:sp>
        <p:nvSpPr>
          <p:cNvPr id="839" name="Oval 31"/>
          <p:cNvSpPr/>
          <p:nvPr/>
        </p:nvSpPr>
        <p:spPr>
          <a:xfrm>
            <a:off x="7353360" y="5857920"/>
            <a:ext cx="933480" cy="628560"/>
          </a:xfrm>
          <a:prstGeom prst="ellipse">
            <a:avLst/>
          </a:prstGeom>
          <a:noFill/>
          <a:ln w="9360">
            <a:solidFill>
              <a:srgbClr val="ED181E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grpSp>
        <p:nvGrpSpPr>
          <p:cNvPr id="840" name="Group 32"/>
          <p:cNvGrpSpPr/>
          <p:nvPr/>
        </p:nvGrpSpPr>
        <p:grpSpPr>
          <a:xfrm>
            <a:off x="4921200" y="4952880"/>
            <a:ext cx="3765600" cy="1504440"/>
            <a:chOff x="4921200" y="4952880"/>
            <a:chExt cx="3765600" cy="1504440"/>
          </a:xfrm>
        </p:grpSpPr>
        <p:sp>
          <p:nvSpPr>
            <p:cNvPr id="841" name="Text Box 33"/>
            <p:cNvSpPr/>
            <p:nvPr/>
          </p:nvSpPr>
          <p:spPr>
            <a:xfrm>
              <a:off x="7324560" y="5851440"/>
              <a:ext cx="990720" cy="6058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spAutoFit/>
            </a:bodyPr>
            <a:p>
              <a:pPr algn="ctr">
                <a:lnSpc>
                  <a:spcPct val="120000"/>
                </a:lnSpc>
                <a:spcBef>
                  <a:spcPts val="876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400" b="0" i="1" u="none" strike="noStrike">
                  <a:solidFill>
                    <a:srgbClr val="B025A6"/>
                  </a:solidFill>
                  <a:effectLst/>
                  <a:uFillTx/>
                  <a:latin typeface="Arial Rounded MT Bold"/>
                </a:rPr>
                <a:t>minimal </a:t>
              </a:r>
              <a:r>
                <a:rPr lang="en-US" sz="1400" b="0" u="none" strike="noStrike">
                  <a:solidFill>
                    <a:srgbClr val="B025A6"/>
                  </a:solidFill>
                  <a:effectLst/>
                  <a:uFillTx/>
                  <a:latin typeface="Arial Rounded MT Bold"/>
                </a:rPr>
                <a:t>DFA</a:t>
              </a:r>
              <a:endParaRPr lang="it-IT" sz="14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842" name="Text Box 34"/>
            <p:cNvSpPr/>
            <p:nvPr/>
          </p:nvSpPr>
          <p:spPr>
            <a:xfrm>
              <a:off x="5343480" y="6016680"/>
              <a:ext cx="533520" cy="3074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spAutoFit/>
            </a:bodyPr>
            <a:p>
              <a:pPr>
                <a:lnSpc>
                  <a:spcPct val="100000"/>
                </a:lnSpc>
                <a:spcBef>
                  <a:spcPts val="876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400" b="0" u="none" strike="noStrike">
                  <a:solidFill>
                    <a:srgbClr val="B025A6"/>
                  </a:solidFill>
                  <a:effectLst/>
                  <a:uFillTx/>
                  <a:latin typeface="Arial Rounded MT Bold"/>
                </a:rPr>
                <a:t>RE</a:t>
              </a:r>
              <a:endParaRPr lang="it-IT" sz="14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843" name="Text Box 35"/>
            <p:cNvSpPr/>
            <p:nvPr/>
          </p:nvSpPr>
          <p:spPr>
            <a:xfrm>
              <a:off x="5952960" y="6016680"/>
              <a:ext cx="685800" cy="3074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spAutoFit/>
            </a:bodyPr>
            <a:p>
              <a:pPr>
                <a:lnSpc>
                  <a:spcPct val="100000"/>
                </a:lnSpc>
                <a:spcBef>
                  <a:spcPts val="876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400" b="0" u="none" strike="noStrike">
                  <a:solidFill>
                    <a:srgbClr val="B025A6"/>
                  </a:solidFill>
                  <a:effectLst/>
                  <a:uFillTx/>
                  <a:latin typeface="Arial Rounded MT Bold"/>
                </a:rPr>
                <a:t>NFA</a:t>
              </a:r>
              <a:endParaRPr lang="it-IT" sz="14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844" name="Text Box 36"/>
            <p:cNvSpPr/>
            <p:nvPr/>
          </p:nvSpPr>
          <p:spPr>
            <a:xfrm>
              <a:off x="6715080" y="6016680"/>
              <a:ext cx="685800" cy="3074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spAutoFit/>
            </a:bodyPr>
            <a:p>
              <a:pPr>
                <a:lnSpc>
                  <a:spcPct val="100000"/>
                </a:lnSpc>
                <a:spcBef>
                  <a:spcPts val="876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400" b="0" u="none" strike="noStrike">
                  <a:solidFill>
                    <a:srgbClr val="B025A6"/>
                  </a:solidFill>
                  <a:effectLst/>
                  <a:uFillTx/>
                  <a:latin typeface="Arial Rounded MT Bold"/>
                </a:rPr>
                <a:t>DFA</a:t>
              </a:r>
              <a:endParaRPr lang="it-IT" sz="14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845" name="Line 37"/>
            <p:cNvSpPr/>
            <p:nvPr/>
          </p:nvSpPr>
          <p:spPr>
            <a:xfrm>
              <a:off x="5724360" y="6168960"/>
              <a:ext cx="304920" cy="0"/>
            </a:xfrm>
            <a:prstGeom prst="line">
              <a:avLst/>
            </a:prstGeom>
            <a:ln w="9360">
              <a:solidFill>
                <a:srgbClr val="B025A6"/>
              </a:solidFill>
              <a:miter/>
              <a:tailEnd len="med" type="triangle" w="med"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46800" rIns="90000" bIns="-46800" anchor="ctr">
              <a:noAutofit/>
            </a:bodyPr>
            <a:p>
              <a:endParaRPr lang="it-IT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846" name="Line 38"/>
            <p:cNvSpPr/>
            <p:nvPr/>
          </p:nvSpPr>
          <p:spPr>
            <a:xfrm>
              <a:off x="6486480" y="6168960"/>
              <a:ext cx="304920" cy="0"/>
            </a:xfrm>
            <a:prstGeom prst="line">
              <a:avLst/>
            </a:prstGeom>
            <a:ln w="9360">
              <a:solidFill>
                <a:srgbClr val="B025A6"/>
              </a:solidFill>
              <a:miter/>
              <a:tailEnd len="med" type="triangle" w="med"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46800" rIns="90000" bIns="-46800" anchor="ctr">
              <a:noAutofit/>
            </a:bodyPr>
            <a:p>
              <a:endParaRPr lang="it-IT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847" name="Line 39"/>
            <p:cNvSpPr/>
            <p:nvPr/>
          </p:nvSpPr>
          <p:spPr>
            <a:xfrm>
              <a:off x="7248600" y="6168960"/>
              <a:ext cx="304560" cy="0"/>
            </a:xfrm>
            <a:prstGeom prst="line">
              <a:avLst/>
            </a:prstGeom>
            <a:ln w="9360">
              <a:solidFill>
                <a:srgbClr val="B025A6"/>
              </a:solidFill>
              <a:miter/>
              <a:tailEnd len="med" type="triangle" w="med"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46800" rIns="90000" bIns="-46800" anchor="ctr">
              <a:noAutofit/>
            </a:bodyPr>
            <a:p>
              <a:endParaRPr lang="it-IT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848" name="Line 40"/>
            <p:cNvSpPr/>
            <p:nvPr/>
          </p:nvSpPr>
          <p:spPr>
            <a:xfrm>
              <a:off x="8010360" y="6172200"/>
              <a:ext cx="304920" cy="0"/>
            </a:xfrm>
            <a:prstGeom prst="line">
              <a:avLst/>
            </a:prstGeom>
            <a:ln w="9360">
              <a:solidFill>
                <a:srgbClr val="B025A6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46800" rIns="90000" bIns="-46800" anchor="ctr">
              <a:noAutofit/>
            </a:bodyPr>
            <a:p>
              <a:endParaRPr lang="it-IT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849" name="Arc 41"/>
            <p:cNvSpPr/>
            <p:nvPr/>
          </p:nvSpPr>
          <p:spPr>
            <a:xfrm>
              <a:off x="8229600" y="5410080"/>
              <a:ext cx="457200" cy="382680"/>
            </a:xfrm>
            <a:custGeom>
              <a:avLst/>
              <a:gdLst>
                <a:gd name="textAreaLeft" fmla="*/ 0 w 457200"/>
                <a:gd name="textAreaRight" fmla="*/ 457560 w 457200"/>
                <a:gd name="textAreaTop" fmla="*/ 0 h 382680"/>
                <a:gd name="textAreaBottom" fmla="*/ 383040 h 382680"/>
                <a:gd name="GluePoint1X" fmla="*/ 0 w 21600"/>
                <a:gd name="GluePoint1Y" fmla="*/ 0 h 21573"/>
                <a:gd name="GluePoint2X" fmla="*/ 0 w 21600"/>
                <a:gd name="GluePoint2Y" fmla="*/ 0 h 21573"/>
                <a:gd name="GluePoint3X" fmla="*/ 0 w 21600"/>
                <a:gd name="GluePoint3Y" fmla="*/ 0 h 21573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</a:cxnLst>
              <a:rect l="textAreaLeft" t="textAreaTop" r="textAreaRight" b="textAreaBottom"/>
              <a:pathLst>
                <a:path fill="none" w="21600" h="21573">
                  <a:moveTo>
                    <a:pt x="1078" y="-1"/>
                  </a:moveTo>
                  <a:cubicBezTo>
                    <a:pt x="12573" y="574"/>
                    <a:pt x="21600" y="10062"/>
                    <a:pt x="21600" y="21573"/>
                  </a:cubicBezTo>
                </a:path>
                <a:path stroke="0" w="21600" h="21573">
                  <a:moveTo>
                    <a:pt x="1078" y="-1"/>
                  </a:moveTo>
                  <a:cubicBezTo>
                    <a:pt x="12573" y="574"/>
                    <a:pt x="21600" y="10062"/>
                    <a:pt x="21600" y="21573"/>
                  </a:cubicBezTo>
                  <a:lnTo>
                    <a:pt x="0" y="21573"/>
                  </a:lnTo>
                  <a:close/>
                </a:path>
              </a:pathLst>
            </a:custGeom>
            <a:noFill/>
            <a:ln w="9360">
              <a:solidFill>
                <a:srgbClr val="B025A6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ctr">
              <a:noAutofit/>
            </a:bodyPr>
            <a:p>
              <a:endParaRPr lang="it-IT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850" name="Arc 42"/>
            <p:cNvSpPr/>
            <p:nvPr/>
          </p:nvSpPr>
          <p:spPr>
            <a:xfrm flipV="1">
              <a:off x="8229600" y="5791320"/>
              <a:ext cx="457200" cy="380880"/>
            </a:xfrm>
            <a:custGeom>
              <a:avLst/>
              <a:gdLst>
                <a:gd name="textAreaLeft" fmla="*/ 0 w 457200"/>
                <a:gd name="textAreaRight" fmla="*/ 457560 w 457200"/>
                <a:gd name="textAreaTop" fmla="*/ 360 h 380880"/>
                <a:gd name="textAreaBottom" fmla="*/ 381600 h 380880"/>
                <a:gd name="GluePoint1X" fmla="*/ 0 w 21600"/>
                <a:gd name="GluePoint1Y" fmla="*/ 0 h 21573"/>
                <a:gd name="GluePoint2X" fmla="*/ 0 w 21600"/>
                <a:gd name="GluePoint2Y" fmla="*/ 0 h 21573"/>
                <a:gd name="GluePoint3X" fmla="*/ 0 w 21600"/>
                <a:gd name="GluePoint3Y" fmla="*/ 0 h 21573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</a:cxnLst>
              <a:rect l="textAreaLeft" t="textAreaTop" r="textAreaRight" b="textAreaBottom"/>
              <a:pathLst>
                <a:path fill="none" w="21600" h="21573">
                  <a:moveTo>
                    <a:pt x="1078" y="-1"/>
                  </a:moveTo>
                  <a:cubicBezTo>
                    <a:pt x="12573" y="574"/>
                    <a:pt x="21600" y="10062"/>
                    <a:pt x="21600" y="21573"/>
                  </a:cubicBezTo>
                </a:path>
                <a:path stroke="0" w="21600" h="21573">
                  <a:moveTo>
                    <a:pt x="1078" y="-1"/>
                  </a:moveTo>
                  <a:cubicBezTo>
                    <a:pt x="12573" y="574"/>
                    <a:pt x="21600" y="10062"/>
                    <a:pt x="21600" y="21573"/>
                  </a:cubicBezTo>
                  <a:lnTo>
                    <a:pt x="0" y="21573"/>
                  </a:lnTo>
                  <a:close/>
                </a:path>
              </a:pathLst>
            </a:custGeom>
            <a:noFill/>
            <a:ln w="9360">
              <a:solidFill>
                <a:srgbClr val="B025A6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ctr">
              <a:noAutofit/>
            </a:bodyPr>
            <a:p>
              <a:endParaRPr lang="it-IT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851" name="Arc 43"/>
            <p:cNvSpPr/>
            <p:nvPr/>
          </p:nvSpPr>
          <p:spPr>
            <a:xfrm flipH="1">
              <a:off x="4921200" y="5407200"/>
              <a:ext cx="457200" cy="382320"/>
            </a:xfrm>
            <a:custGeom>
              <a:avLst/>
              <a:gdLst>
                <a:gd name="textAreaLeft" fmla="*/ 360 w 457200"/>
                <a:gd name="textAreaRight" fmla="*/ 457920 w 457200"/>
                <a:gd name="textAreaTop" fmla="*/ 0 h 382320"/>
                <a:gd name="textAreaBottom" fmla="*/ 382680 h 382320"/>
                <a:gd name="GluePoint1X" fmla="*/ 0 w 21600"/>
                <a:gd name="GluePoint1Y" fmla="*/ 0 h 21573"/>
                <a:gd name="GluePoint2X" fmla="*/ 0 w 21600"/>
                <a:gd name="GluePoint2Y" fmla="*/ 0 h 21573"/>
                <a:gd name="GluePoint3X" fmla="*/ 0 w 21600"/>
                <a:gd name="GluePoint3Y" fmla="*/ 0 h 21573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</a:cxnLst>
              <a:rect l="textAreaLeft" t="textAreaTop" r="textAreaRight" b="textAreaBottom"/>
              <a:pathLst>
                <a:path fill="none" w="21600" h="21573">
                  <a:moveTo>
                    <a:pt x="1078" y="-1"/>
                  </a:moveTo>
                  <a:cubicBezTo>
                    <a:pt x="12573" y="574"/>
                    <a:pt x="21600" y="10062"/>
                    <a:pt x="21600" y="21573"/>
                  </a:cubicBezTo>
                </a:path>
                <a:path stroke="0" w="21600" h="21573">
                  <a:moveTo>
                    <a:pt x="1078" y="-1"/>
                  </a:moveTo>
                  <a:cubicBezTo>
                    <a:pt x="12573" y="574"/>
                    <a:pt x="21600" y="10062"/>
                    <a:pt x="21600" y="21573"/>
                  </a:cubicBezTo>
                  <a:lnTo>
                    <a:pt x="0" y="21573"/>
                  </a:lnTo>
                  <a:close/>
                </a:path>
              </a:pathLst>
            </a:custGeom>
            <a:noFill/>
            <a:ln w="9360">
              <a:solidFill>
                <a:srgbClr val="B025A6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ctr">
              <a:noAutofit/>
            </a:bodyPr>
            <a:p>
              <a:endParaRPr lang="it-IT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852" name="Arc 44"/>
            <p:cNvSpPr/>
            <p:nvPr/>
          </p:nvSpPr>
          <p:spPr>
            <a:xfrm flipH="1" flipV="1">
              <a:off x="4921200" y="5799240"/>
              <a:ext cx="457200" cy="380880"/>
            </a:xfrm>
            <a:custGeom>
              <a:avLst/>
              <a:gdLst>
                <a:gd name="textAreaLeft" fmla="*/ 360 w 457200"/>
                <a:gd name="textAreaRight" fmla="*/ 457920 w 457200"/>
                <a:gd name="textAreaTop" fmla="*/ 360 h 380880"/>
                <a:gd name="textAreaBottom" fmla="*/ 381600 h 380880"/>
                <a:gd name="GluePoint1X" fmla="*/ 0 w 21600"/>
                <a:gd name="GluePoint1Y" fmla="*/ 0 h 21573"/>
                <a:gd name="GluePoint2X" fmla="*/ 0 w 21600"/>
                <a:gd name="GluePoint2Y" fmla="*/ 0 h 21573"/>
                <a:gd name="GluePoint3X" fmla="*/ 0 w 21600"/>
                <a:gd name="GluePoint3Y" fmla="*/ 0 h 21573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</a:cxnLst>
              <a:rect l="textAreaLeft" t="textAreaTop" r="textAreaRight" b="textAreaBottom"/>
              <a:pathLst>
                <a:path fill="none" w="21600" h="21573">
                  <a:moveTo>
                    <a:pt x="1078" y="-1"/>
                  </a:moveTo>
                  <a:cubicBezTo>
                    <a:pt x="12573" y="574"/>
                    <a:pt x="21600" y="10062"/>
                    <a:pt x="21600" y="21573"/>
                  </a:cubicBezTo>
                </a:path>
                <a:path stroke="0" w="21600" h="21573">
                  <a:moveTo>
                    <a:pt x="1078" y="-1"/>
                  </a:moveTo>
                  <a:cubicBezTo>
                    <a:pt x="12573" y="574"/>
                    <a:pt x="21600" y="10062"/>
                    <a:pt x="21600" y="21573"/>
                  </a:cubicBezTo>
                  <a:lnTo>
                    <a:pt x="0" y="21573"/>
                  </a:lnTo>
                  <a:close/>
                </a:path>
              </a:pathLst>
            </a:custGeom>
            <a:noFill/>
            <a:ln w="9360">
              <a:solidFill>
                <a:srgbClr val="B025A6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ctr">
              <a:noAutofit/>
            </a:bodyPr>
            <a:p>
              <a:endParaRPr lang="it-IT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853" name="Line 45"/>
            <p:cNvSpPr/>
            <p:nvPr/>
          </p:nvSpPr>
          <p:spPr>
            <a:xfrm>
              <a:off x="5343480" y="5410080"/>
              <a:ext cx="2895480" cy="0"/>
            </a:xfrm>
            <a:prstGeom prst="line">
              <a:avLst/>
            </a:prstGeom>
            <a:ln w="9360">
              <a:solidFill>
                <a:srgbClr val="B025A6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46800" rIns="90000" bIns="-46800" anchor="ctr">
              <a:noAutofit/>
            </a:bodyPr>
            <a:p>
              <a:endParaRPr lang="it-IT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854" name="Line 46"/>
            <p:cNvSpPr/>
            <p:nvPr/>
          </p:nvSpPr>
          <p:spPr>
            <a:xfrm>
              <a:off x="5267160" y="6172200"/>
              <a:ext cx="152640" cy="0"/>
            </a:xfrm>
            <a:prstGeom prst="line">
              <a:avLst/>
            </a:prstGeom>
            <a:ln w="9360">
              <a:solidFill>
                <a:srgbClr val="B025A6"/>
              </a:solidFill>
              <a:miter/>
              <a:tailEnd len="med" type="triangle" w="med"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46800" rIns="90000" bIns="-46800" anchor="ctr">
              <a:noAutofit/>
            </a:bodyPr>
            <a:p>
              <a:endParaRPr lang="it-IT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855" name="Text Box 47"/>
            <p:cNvSpPr/>
            <p:nvPr/>
          </p:nvSpPr>
          <p:spPr>
            <a:xfrm>
              <a:off x="5361120" y="4952880"/>
              <a:ext cx="2895480" cy="337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spAutoFit/>
            </a:bodyPr>
            <a:p>
              <a:pPr>
                <a:lnSpc>
                  <a:spcPct val="100000"/>
                </a:lnSpc>
                <a:spcBef>
                  <a:spcPts val="1001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600" b="0" i="1" u="sng" strike="noStrike">
                  <a:solidFill>
                    <a:srgbClr val="B025A6"/>
                  </a:solidFill>
                  <a:effectLst/>
                  <a:uFillTx/>
                  <a:latin typeface="Arial Rounded MT Bold"/>
                </a:rPr>
                <a:t>The Cycle of Constructions</a:t>
              </a:r>
              <a:endParaRPr lang="it-IT" sz="16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</p:grpSp>
    </p:spTree>
  </p:cSld>
  <p:transition>
    <p:wipe dir="r"/>
  </p:transition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6" name="Footer Placeholder 3"/>
          <p:cNvSpPr/>
          <p:nvPr/>
        </p:nvSpPr>
        <p:spPr>
          <a:xfrm>
            <a:off x="685800" y="6248520"/>
            <a:ext cx="289548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Autofit/>
          </a:bodyPr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Comp 412, Fall 2010</a:t>
            </a:r>
            <a:endParaRPr lang="it-IT" sz="12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857" name="Slide Number Placeholder 4"/>
          <p:cNvSpPr/>
          <p:nvPr/>
        </p:nvSpPr>
        <p:spPr>
          <a:xfrm>
            <a:off x="6553080" y="6248520"/>
            <a:ext cx="190512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Autofit/>
          </a:bodyPr>
          <a:p>
            <a:pPr algn="r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438A00EC-3CB8-43EB-A19A-83071EFB075E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&lt;number&gt;</a:t>
            </a:fld>
            <a:endParaRPr lang="it-IT" sz="12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858" name="PlaceHolder 1"/>
          <p:cNvSpPr>
            <a:spLocks noGrp="1"/>
          </p:cNvSpPr>
          <p:nvPr>
            <p:ph type="title"/>
          </p:nvPr>
        </p:nvSpPr>
        <p:spPr>
          <a:xfrm>
            <a:off x="685800" y="533160"/>
            <a:ext cx="7772400" cy="533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l">
              <a:spcBef>
                <a:spcPts val="901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Automating Scanner Construction</a:t>
            </a:r>
            <a:endParaRPr lang="it-IT" sz="24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859" name="PlaceHolder 2"/>
          <p:cNvSpPr>
            <a:spLocks noGrp="1"/>
          </p:cNvSpPr>
          <p:nvPr>
            <p:ph/>
          </p:nvPr>
        </p:nvSpPr>
        <p:spPr>
          <a:xfrm>
            <a:off x="685800" y="1143000"/>
            <a:ext cx="7772400" cy="495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p>
            <a:pPr marL="343080" indent="-343080" algn="l">
              <a:lnSpc>
                <a:spcPct val="10000"/>
              </a:lnSpc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it-IT" sz="20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  <a:p>
            <a:pPr marL="343080" indent="-343080" algn="l">
              <a:lnSpc>
                <a:spcPct val="90000"/>
              </a:lnSpc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RE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Symbol"/>
                <a:ea typeface="Symbol"/>
              </a:rPr>
              <a:t>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NFA  </a:t>
            </a:r>
            <a:r>
              <a:rPr lang="en-US" sz="2000" b="0" i="1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(</a:t>
            </a:r>
            <a:r>
              <a:rPr lang="en-US" sz="1800" b="0" i="1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Thompson’s construction</a:t>
            </a:r>
            <a:r>
              <a:rPr lang="en-US" sz="2000" b="0" i="1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) </a:t>
            </a:r>
            <a:r>
              <a:rPr lang="en-US" sz="2000" b="0" i="1" u="none" strike="noStrike">
                <a:solidFill>
                  <a:srgbClr val="FF0065"/>
                </a:solidFill>
                <a:effectLst/>
                <a:uFillTx/>
                <a:latin typeface="Wingdings"/>
                <a:ea typeface="Wingdings"/>
              </a:rPr>
              <a:t></a:t>
            </a:r>
            <a:endParaRPr lang="it-IT" sz="20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  <a:p>
            <a:pPr marL="343080" indent="-343080" algn="l">
              <a:lnSpc>
                <a:spcPct val="90000"/>
              </a:lnSpc>
              <a:spcBef>
                <a:spcPts val="624"/>
              </a:spcBef>
              <a:buClr>
                <a:srgbClr val="003C75"/>
              </a:buClr>
              <a:buSzPct val="120000"/>
              <a:buFont typeface="Times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Build an NFA for each term</a:t>
            </a:r>
            <a:endParaRPr lang="it-IT" sz="20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  <a:p>
            <a:pPr marL="343080" indent="-343080" algn="l">
              <a:lnSpc>
                <a:spcPct val="90000"/>
              </a:lnSpc>
              <a:spcBef>
                <a:spcPts val="624"/>
              </a:spcBef>
              <a:buClr>
                <a:srgbClr val="003C75"/>
              </a:buClr>
              <a:buSzPct val="120000"/>
              <a:buFont typeface="Times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Combine them with 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Symbol"/>
                <a:ea typeface="Symbol"/>
              </a:rPr>
              <a:t>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-moves</a:t>
            </a:r>
            <a:endParaRPr lang="it-IT" sz="20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  <a:p>
            <a:pPr marL="343080" indent="-343080" algn="l">
              <a:lnSpc>
                <a:spcPct val="90000"/>
              </a:lnSpc>
              <a:spcBef>
                <a:spcPts val="2251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NFA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Symbol"/>
                <a:ea typeface="Symbol"/>
              </a:rPr>
              <a:t>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DFA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 </a:t>
            </a:r>
            <a:r>
              <a:rPr lang="en-US" sz="2000" b="0" i="1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(</a:t>
            </a:r>
            <a:r>
              <a:rPr lang="en-US" sz="1800" b="0" i="1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subset construction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) </a:t>
            </a:r>
            <a:r>
              <a:rPr lang="en-US" sz="2400" b="0" i="1" u="none" strike="noStrike">
                <a:solidFill>
                  <a:srgbClr val="FF0065"/>
                </a:solidFill>
                <a:effectLst/>
                <a:uFillTx/>
                <a:latin typeface="Wingdings"/>
                <a:ea typeface="Wingdings"/>
              </a:rPr>
              <a:t></a:t>
            </a:r>
            <a:endParaRPr lang="it-IT" sz="24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  <a:p>
            <a:pPr marL="343080" indent="-343080" algn="l">
              <a:lnSpc>
                <a:spcPct val="90000"/>
              </a:lnSpc>
              <a:spcBef>
                <a:spcPts val="624"/>
              </a:spcBef>
              <a:buClr>
                <a:srgbClr val="003C75"/>
              </a:buClr>
              <a:buSzPct val="120000"/>
              <a:buFont typeface="Times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Build the simulation</a:t>
            </a:r>
            <a:endParaRPr lang="it-IT" sz="20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  <a:p>
            <a:pPr marL="343080" indent="-343080" algn="l">
              <a:lnSpc>
                <a:spcPct val="90000"/>
              </a:lnSpc>
              <a:spcBef>
                <a:spcPts val="1687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DFA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Symbol"/>
                <a:ea typeface="Symbol"/>
              </a:rPr>
              <a:t>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Minimal 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DFA</a:t>
            </a:r>
            <a:endParaRPr lang="it-IT" sz="18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  <a:p>
            <a:pPr marL="343080" indent="-343080" algn="l">
              <a:lnSpc>
                <a:spcPct val="90000"/>
              </a:lnSpc>
              <a:spcBef>
                <a:spcPts val="624"/>
              </a:spcBef>
              <a:buClr>
                <a:srgbClr val="003C75"/>
              </a:buClr>
              <a:buSzPct val="120000"/>
              <a:buFont typeface="Times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Brzozowski’s Algorithm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	</a:t>
            </a:r>
            <a:r>
              <a:rPr lang="en-US" sz="2000" b="0" i="1" u="none" strike="noStrike">
                <a:solidFill>
                  <a:srgbClr val="FF0065"/>
                </a:solidFill>
                <a:effectLst/>
                <a:uFillTx/>
                <a:latin typeface="Wingdings"/>
                <a:ea typeface="Wingdings"/>
              </a:rPr>
              <a:t></a:t>
            </a:r>
            <a:endParaRPr lang="it-IT" sz="20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  <a:p>
            <a:pPr marL="343080" indent="-343080" algn="l">
              <a:lnSpc>
                <a:spcPct val="90000"/>
              </a:lnSpc>
              <a:spcBef>
                <a:spcPts val="624"/>
              </a:spcBef>
              <a:buClr>
                <a:srgbClr val="003C75"/>
              </a:buClr>
              <a:buSzPct val="120000"/>
              <a:buFont typeface="Times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Hopcroft’s algorithm       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	</a:t>
            </a:r>
            <a:r>
              <a:rPr lang="en-US" sz="2000" b="0" i="1" u="none" strike="noStrike">
                <a:solidFill>
                  <a:srgbClr val="FF0065"/>
                </a:solidFill>
                <a:effectLst/>
                <a:uFillTx/>
                <a:latin typeface="Wingdings"/>
                <a:ea typeface="Wingdings"/>
              </a:rPr>
              <a:t></a:t>
            </a:r>
            <a:endParaRPr lang="it-IT" sz="20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  <a:p>
            <a:pPr marL="343080" indent="-343080" algn="l">
              <a:lnSpc>
                <a:spcPct val="90000"/>
              </a:lnSpc>
              <a:spcBef>
                <a:spcPts val="1687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DFA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Symbol"/>
                <a:ea typeface="Symbol"/>
              </a:rPr>
              <a:t>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RE   </a:t>
            </a:r>
            <a:r>
              <a:rPr lang="en-US" sz="1800" b="0" u="none" strike="noStrike">
                <a:solidFill>
                  <a:srgbClr val="B025A6"/>
                </a:solidFill>
                <a:effectLst/>
                <a:uFillTx/>
                <a:latin typeface="Comic Sans MS"/>
              </a:rPr>
              <a:t>(</a:t>
            </a:r>
            <a:r>
              <a:rPr lang="en-US" sz="1800" b="0" i="1" u="none" strike="noStrike">
                <a:solidFill>
                  <a:srgbClr val="B025A6"/>
                </a:solidFill>
                <a:effectLst/>
                <a:uFillTx/>
                <a:latin typeface="Comic Sans MS"/>
              </a:rPr>
              <a:t>not really part of scanner construction</a:t>
            </a:r>
            <a:r>
              <a:rPr lang="en-US" sz="1800" b="0" u="none" strike="noStrike">
                <a:solidFill>
                  <a:srgbClr val="B025A6"/>
                </a:solidFill>
                <a:effectLst/>
                <a:uFillTx/>
                <a:latin typeface="Comic Sans MS"/>
              </a:rPr>
              <a:t>)</a:t>
            </a:r>
            <a:endParaRPr lang="it-IT" sz="18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  <a:p>
            <a:pPr marL="343080" indent="-343080" algn="l">
              <a:lnSpc>
                <a:spcPct val="90000"/>
              </a:lnSpc>
              <a:spcBef>
                <a:spcPts val="624"/>
              </a:spcBef>
              <a:buClr>
                <a:srgbClr val="003C75"/>
              </a:buClr>
              <a:buSzPct val="120000"/>
              <a:buFont typeface="Times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All pairs, all paths problem</a:t>
            </a:r>
            <a:endParaRPr lang="it-IT" sz="20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  <a:p>
            <a:pPr marL="343080" indent="-343080" algn="l">
              <a:lnSpc>
                <a:spcPct val="90000"/>
              </a:lnSpc>
              <a:spcBef>
                <a:spcPts val="624"/>
              </a:spcBef>
              <a:buClr>
                <a:srgbClr val="003C75"/>
              </a:buClr>
              <a:buSzPct val="120000"/>
              <a:buFont typeface="Times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Union together paths from </a:t>
            </a:r>
            <a:r>
              <a:rPr lang="en-US" sz="2000" b="0" i="1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s</a:t>
            </a:r>
            <a:r>
              <a:rPr lang="en-US" sz="2000" b="0" i="1" u="none" strike="noStrike" baseline="-25000">
                <a:solidFill>
                  <a:srgbClr val="000000"/>
                </a:solidFill>
                <a:effectLst/>
                <a:uFillTx/>
                <a:latin typeface="Comic Sans MS"/>
              </a:rPr>
              <a:t>0</a:t>
            </a:r>
            <a:r>
              <a:rPr lang="en-US" sz="2000" b="0" i="1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to a final state</a:t>
            </a:r>
            <a:endParaRPr lang="it-IT" sz="20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860" name="Text Box 4"/>
          <p:cNvSpPr/>
          <p:nvPr/>
        </p:nvSpPr>
        <p:spPr>
          <a:xfrm>
            <a:off x="98280" y="4030560"/>
            <a:ext cx="184320" cy="33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1001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it-IT" sz="18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grpSp>
        <p:nvGrpSpPr>
          <p:cNvPr id="861" name="Group 22"/>
          <p:cNvGrpSpPr/>
          <p:nvPr/>
        </p:nvGrpSpPr>
        <p:grpSpPr>
          <a:xfrm>
            <a:off x="5064120" y="1295280"/>
            <a:ext cx="3765600" cy="1504440"/>
            <a:chOff x="5064120" y="1295280"/>
            <a:chExt cx="3765600" cy="1504440"/>
          </a:xfrm>
        </p:grpSpPr>
        <p:sp>
          <p:nvSpPr>
            <p:cNvPr id="862" name="Text Box 7"/>
            <p:cNvSpPr/>
            <p:nvPr/>
          </p:nvSpPr>
          <p:spPr>
            <a:xfrm>
              <a:off x="7467480" y="2193840"/>
              <a:ext cx="990720" cy="6058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spAutoFit/>
            </a:bodyPr>
            <a:p>
              <a:pPr algn="ctr">
                <a:lnSpc>
                  <a:spcPct val="120000"/>
                </a:lnSpc>
                <a:spcBef>
                  <a:spcPts val="876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400" b="0" i="1" u="none" strike="noStrike">
                  <a:solidFill>
                    <a:srgbClr val="B025A6"/>
                  </a:solidFill>
                  <a:effectLst/>
                  <a:uFillTx/>
                  <a:latin typeface="Arial Rounded MT Bold"/>
                </a:rPr>
                <a:t>minimal </a:t>
              </a:r>
              <a:r>
                <a:rPr lang="en-US" sz="1400" b="0" u="none" strike="noStrike">
                  <a:solidFill>
                    <a:srgbClr val="B025A6"/>
                  </a:solidFill>
                  <a:effectLst/>
                  <a:uFillTx/>
                  <a:latin typeface="Arial Rounded MT Bold"/>
                </a:rPr>
                <a:t>DFA</a:t>
              </a:r>
              <a:endParaRPr lang="it-IT" sz="14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863" name="Text Box 8"/>
            <p:cNvSpPr/>
            <p:nvPr/>
          </p:nvSpPr>
          <p:spPr>
            <a:xfrm>
              <a:off x="5486400" y="2359080"/>
              <a:ext cx="533520" cy="3074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spAutoFit/>
            </a:bodyPr>
            <a:p>
              <a:pPr>
                <a:lnSpc>
                  <a:spcPct val="100000"/>
                </a:lnSpc>
                <a:spcBef>
                  <a:spcPts val="876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400" b="0" u="none" strike="noStrike">
                  <a:solidFill>
                    <a:srgbClr val="B025A6"/>
                  </a:solidFill>
                  <a:effectLst/>
                  <a:uFillTx/>
                  <a:latin typeface="Arial Rounded MT Bold"/>
                </a:rPr>
                <a:t>RE</a:t>
              </a:r>
              <a:endParaRPr lang="it-IT" sz="14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864" name="Text Box 9"/>
            <p:cNvSpPr/>
            <p:nvPr/>
          </p:nvSpPr>
          <p:spPr>
            <a:xfrm>
              <a:off x="6095880" y="2359080"/>
              <a:ext cx="685800" cy="3074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spAutoFit/>
            </a:bodyPr>
            <a:p>
              <a:pPr>
                <a:lnSpc>
                  <a:spcPct val="100000"/>
                </a:lnSpc>
                <a:spcBef>
                  <a:spcPts val="876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400" b="0" u="none" strike="noStrike">
                  <a:solidFill>
                    <a:srgbClr val="B025A6"/>
                  </a:solidFill>
                  <a:effectLst/>
                  <a:uFillTx/>
                  <a:latin typeface="Arial Rounded MT Bold"/>
                </a:rPr>
                <a:t>NFA</a:t>
              </a:r>
              <a:endParaRPr lang="it-IT" sz="14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865" name="Text Box 10"/>
            <p:cNvSpPr/>
            <p:nvPr/>
          </p:nvSpPr>
          <p:spPr>
            <a:xfrm>
              <a:off x="6858000" y="2359080"/>
              <a:ext cx="685800" cy="3074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spAutoFit/>
            </a:bodyPr>
            <a:p>
              <a:pPr>
                <a:lnSpc>
                  <a:spcPct val="100000"/>
                </a:lnSpc>
                <a:spcBef>
                  <a:spcPts val="876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400" b="0" u="none" strike="noStrike">
                  <a:solidFill>
                    <a:srgbClr val="B025A6"/>
                  </a:solidFill>
                  <a:effectLst/>
                  <a:uFillTx/>
                  <a:latin typeface="Arial Rounded MT Bold"/>
                </a:rPr>
                <a:t>DFA</a:t>
              </a:r>
              <a:endParaRPr lang="it-IT" sz="14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866" name="Line 11"/>
            <p:cNvSpPr/>
            <p:nvPr/>
          </p:nvSpPr>
          <p:spPr>
            <a:xfrm>
              <a:off x="5867280" y="2511360"/>
              <a:ext cx="304920" cy="0"/>
            </a:xfrm>
            <a:prstGeom prst="line">
              <a:avLst/>
            </a:prstGeom>
            <a:ln w="9360">
              <a:solidFill>
                <a:srgbClr val="B025A6"/>
              </a:solidFill>
              <a:miter/>
              <a:tailEnd len="med" type="triangle" w="med"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46800" rIns="90000" bIns="-46800" anchor="ctr">
              <a:noAutofit/>
            </a:bodyPr>
            <a:p>
              <a:endParaRPr lang="it-IT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867" name="Line 12"/>
            <p:cNvSpPr/>
            <p:nvPr/>
          </p:nvSpPr>
          <p:spPr>
            <a:xfrm>
              <a:off x="6629400" y="2511360"/>
              <a:ext cx="304920" cy="0"/>
            </a:xfrm>
            <a:prstGeom prst="line">
              <a:avLst/>
            </a:prstGeom>
            <a:ln w="9360">
              <a:solidFill>
                <a:srgbClr val="B025A6"/>
              </a:solidFill>
              <a:miter/>
              <a:tailEnd len="med" type="triangle" w="med"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46800" rIns="90000" bIns="-46800" anchor="ctr">
              <a:noAutofit/>
            </a:bodyPr>
            <a:p>
              <a:endParaRPr lang="it-IT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868" name="Line 13"/>
            <p:cNvSpPr/>
            <p:nvPr/>
          </p:nvSpPr>
          <p:spPr>
            <a:xfrm>
              <a:off x="7391520" y="2511360"/>
              <a:ext cx="304560" cy="0"/>
            </a:xfrm>
            <a:prstGeom prst="line">
              <a:avLst/>
            </a:prstGeom>
            <a:ln w="9360">
              <a:solidFill>
                <a:srgbClr val="B025A6"/>
              </a:solidFill>
              <a:miter/>
              <a:tailEnd len="med" type="triangle" w="med"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46800" rIns="90000" bIns="-46800" anchor="ctr">
              <a:noAutofit/>
            </a:bodyPr>
            <a:p>
              <a:endParaRPr lang="it-IT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869" name="Line 14"/>
            <p:cNvSpPr/>
            <p:nvPr/>
          </p:nvSpPr>
          <p:spPr>
            <a:xfrm>
              <a:off x="8153280" y="2514600"/>
              <a:ext cx="304920" cy="0"/>
            </a:xfrm>
            <a:prstGeom prst="line">
              <a:avLst/>
            </a:prstGeom>
            <a:ln w="9360">
              <a:solidFill>
                <a:srgbClr val="B025A6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46800" rIns="90000" bIns="-46800" anchor="ctr">
              <a:noAutofit/>
            </a:bodyPr>
            <a:p>
              <a:endParaRPr lang="it-IT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870" name="Arc 15"/>
            <p:cNvSpPr/>
            <p:nvPr/>
          </p:nvSpPr>
          <p:spPr>
            <a:xfrm>
              <a:off x="8372520" y="1752480"/>
              <a:ext cx="457200" cy="382680"/>
            </a:xfrm>
            <a:custGeom>
              <a:avLst/>
              <a:gdLst>
                <a:gd name="textAreaLeft" fmla="*/ 0 w 457200"/>
                <a:gd name="textAreaRight" fmla="*/ 457560 w 457200"/>
                <a:gd name="textAreaTop" fmla="*/ 0 h 382680"/>
                <a:gd name="textAreaBottom" fmla="*/ 383040 h 382680"/>
                <a:gd name="GluePoint1X" fmla="*/ 0 w 21600"/>
                <a:gd name="GluePoint1Y" fmla="*/ 0 h 21573"/>
                <a:gd name="GluePoint2X" fmla="*/ 0 w 21600"/>
                <a:gd name="GluePoint2Y" fmla="*/ 0 h 21573"/>
                <a:gd name="GluePoint3X" fmla="*/ 0 w 21600"/>
                <a:gd name="GluePoint3Y" fmla="*/ 0 h 21573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</a:cxnLst>
              <a:rect l="textAreaLeft" t="textAreaTop" r="textAreaRight" b="textAreaBottom"/>
              <a:pathLst>
                <a:path fill="none" w="21600" h="21573">
                  <a:moveTo>
                    <a:pt x="1078" y="-1"/>
                  </a:moveTo>
                  <a:cubicBezTo>
                    <a:pt x="12573" y="574"/>
                    <a:pt x="21600" y="10062"/>
                    <a:pt x="21600" y="21573"/>
                  </a:cubicBezTo>
                </a:path>
                <a:path stroke="0" w="21600" h="21573">
                  <a:moveTo>
                    <a:pt x="1078" y="-1"/>
                  </a:moveTo>
                  <a:cubicBezTo>
                    <a:pt x="12573" y="574"/>
                    <a:pt x="21600" y="10062"/>
                    <a:pt x="21600" y="21573"/>
                  </a:cubicBezTo>
                  <a:lnTo>
                    <a:pt x="0" y="21573"/>
                  </a:lnTo>
                  <a:close/>
                </a:path>
              </a:pathLst>
            </a:custGeom>
            <a:noFill/>
            <a:ln w="9360">
              <a:solidFill>
                <a:srgbClr val="B025A6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ctr">
              <a:noAutofit/>
            </a:bodyPr>
            <a:p>
              <a:endParaRPr lang="it-IT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871" name="Arc 16"/>
            <p:cNvSpPr/>
            <p:nvPr/>
          </p:nvSpPr>
          <p:spPr>
            <a:xfrm flipV="1">
              <a:off x="8372520" y="2133720"/>
              <a:ext cx="457200" cy="380880"/>
            </a:xfrm>
            <a:custGeom>
              <a:avLst/>
              <a:gdLst>
                <a:gd name="textAreaLeft" fmla="*/ 0 w 457200"/>
                <a:gd name="textAreaRight" fmla="*/ 457560 w 457200"/>
                <a:gd name="textAreaTop" fmla="*/ 360 h 380880"/>
                <a:gd name="textAreaBottom" fmla="*/ 381600 h 380880"/>
                <a:gd name="GluePoint1X" fmla="*/ 0 w 21600"/>
                <a:gd name="GluePoint1Y" fmla="*/ 0 h 21573"/>
                <a:gd name="GluePoint2X" fmla="*/ 0 w 21600"/>
                <a:gd name="GluePoint2Y" fmla="*/ 0 h 21573"/>
                <a:gd name="GluePoint3X" fmla="*/ 0 w 21600"/>
                <a:gd name="GluePoint3Y" fmla="*/ 0 h 21573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</a:cxnLst>
              <a:rect l="textAreaLeft" t="textAreaTop" r="textAreaRight" b="textAreaBottom"/>
              <a:pathLst>
                <a:path fill="none" w="21600" h="21573">
                  <a:moveTo>
                    <a:pt x="1078" y="-1"/>
                  </a:moveTo>
                  <a:cubicBezTo>
                    <a:pt x="12573" y="574"/>
                    <a:pt x="21600" y="10062"/>
                    <a:pt x="21600" y="21573"/>
                  </a:cubicBezTo>
                </a:path>
                <a:path stroke="0" w="21600" h="21573">
                  <a:moveTo>
                    <a:pt x="1078" y="-1"/>
                  </a:moveTo>
                  <a:cubicBezTo>
                    <a:pt x="12573" y="574"/>
                    <a:pt x="21600" y="10062"/>
                    <a:pt x="21600" y="21573"/>
                  </a:cubicBezTo>
                  <a:lnTo>
                    <a:pt x="0" y="21573"/>
                  </a:lnTo>
                  <a:close/>
                </a:path>
              </a:pathLst>
            </a:custGeom>
            <a:noFill/>
            <a:ln w="9360">
              <a:solidFill>
                <a:srgbClr val="B025A6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ctr">
              <a:noAutofit/>
            </a:bodyPr>
            <a:p>
              <a:endParaRPr lang="it-IT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872" name="Arc 17"/>
            <p:cNvSpPr/>
            <p:nvPr/>
          </p:nvSpPr>
          <p:spPr>
            <a:xfrm flipH="1">
              <a:off x="5064120" y="1749600"/>
              <a:ext cx="457200" cy="382320"/>
            </a:xfrm>
            <a:custGeom>
              <a:avLst/>
              <a:gdLst>
                <a:gd name="textAreaLeft" fmla="*/ 360 w 457200"/>
                <a:gd name="textAreaRight" fmla="*/ 457920 w 457200"/>
                <a:gd name="textAreaTop" fmla="*/ 0 h 382320"/>
                <a:gd name="textAreaBottom" fmla="*/ 382680 h 382320"/>
                <a:gd name="GluePoint1X" fmla="*/ 0 w 21600"/>
                <a:gd name="GluePoint1Y" fmla="*/ 0 h 21573"/>
                <a:gd name="GluePoint2X" fmla="*/ 0 w 21600"/>
                <a:gd name="GluePoint2Y" fmla="*/ 0 h 21573"/>
                <a:gd name="GluePoint3X" fmla="*/ 0 w 21600"/>
                <a:gd name="GluePoint3Y" fmla="*/ 0 h 21573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</a:cxnLst>
              <a:rect l="textAreaLeft" t="textAreaTop" r="textAreaRight" b="textAreaBottom"/>
              <a:pathLst>
                <a:path fill="none" w="21600" h="21573">
                  <a:moveTo>
                    <a:pt x="1078" y="-1"/>
                  </a:moveTo>
                  <a:cubicBezTo>
                    <a:pt x="12573" y="574"/>
                    <a:pt x="21600" y="10062"/>
                    <a:pt x="21600" y="21573"/>
                  </a:cubicBezTo>
                </a:path>
                <a:path stroke="0" w="21600" h="21573">
                  <a:moveTo>
                    <a:pt x="1078" y="-1"/>
                  </a:moveTo>
                  <a:cubicBezTo>
                    <a:pt x="12573" y="574"/>
                    <a:pt x="21600" y="10062"/>
                    <a:pt x="21600" y="21573"/>
                  </a:cubicBezTo>
                  <a:lnTo>
                    <a:pt x="0" y="21573"/>
                  </a:lnTo>
                  <a:close/>
                </a:path>
              </a:pathLst>
            </a:custGeom>
            <a:noFill/>
            <a:ln w="9360">
              <a:solidFill>
                <a:srgbClr val="B025A6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ctr">
              <a:noAutofit/>
            </a:bodyPr>
            <a:p>
              <a:endParaRPr lang="it-IT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873" name="Arc 18"/>
            <p:cNvSpPr/>
            <p:nvPr/>
          </p:nvSpPr>
          <p:spPr>
            <a:xfrm flipH="1" flipV="1">
              <a:off x="5064120" y="2141640"/>
              <a:ext cx="457200" cy="380880"/>
            </a:xfrm>
            <a:custGeom>
              <a:avLst/>
              <a:gdLst>
                <a:gd name="textAreaLeft" fmla="*/ 360 w 457200"/>
                <a:gd name="textAreaRight" fmla="*/ 457920 w 457200"/>
                <a:gd name="textAreaTop" fmla="*/ 360 h 380880"/>
                <a:gd name="textAreaBottom" fmla="*/ 381600 h 380880"/>
                <a:gd name="GluePoint1X" fmla="*/ 0 w 21600"/>
                <a:gd name="GluePoint1Y" fmla="*/ 0 h 21573"/>
                <a:gd name="GluePoint2X" fmla="*/ 0 w 21600"/>
                <a:gd name="GluePoint2Y" fmla="*/ 0 h 21573"/>
                <a:gd name="GluePoint3X" fmla="*/ 0 w 21600"/>
                <a:gd name="GluePoint3Y" fmla="*/ 0 h 21573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</a:cxnLst>
              <a:rect l="textAreaLeft" t="textAreaTop" r="textAreaRight" b="textAreaBottom"/>
              <a:pathLst>
                <a:path fill="none" w="21600" h="21573">
                  <a:moveTo>
                    <a:pt x="1078" y="-1"/>
                  </a:moveTo>
                  <a:cubicBezTo>
                    <a:pt x="12573" y="574"/>
                    <a:pt x="21600" y="10062"/>
                    <a:pt x="21600" y="21573"/>
                  </a:cubicBezTo>
                </a:path>
                <a:path stroke="0" w="21600" h="21573">
                  <a:moveTo>
                    <a:pt x="1078" y="-1"/>
                  </a:moveTo>
                  <a:cubicBezTo>
                    <a:pt x="12573" y="574"/>
                    <a:pt x="21600" y="10062"/>
                    <a:pt x="21600" y="21573"/>
                  </a:cubicBezTo>
                  <a:lnTo>
                    <a:pt x="0" y="21573"/>
                  </a:lnTo>
                  <a:close/>
                </a:path>
              </a:pathLst>
            </a:custGeom>
            <a:noFill/>
            <a:ln w="9360">
              <a:solidFill>
                <a:srgbClr val="B025A6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ctr">
              <a:noAutofit/>
            </a:bodyPr>
            <a:p>
              <a:endParaRPr lang="it-IT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874" name="Line 19"/>
            <p:cNvSpPr/>
            <p:nvPr/>
          </p:nvSpPr>
          <p:spPr>
            <a:xfrm>
              <a:off x="5486400" y="1752480"/>
              <a:ext cx="2895480" cy="0"/>
            </a:xfrm>
            <a:prstGeom prst="line">
              <a:avLst/>
            </a:prstGeom>
            <a:ln w="9360">
              <a:solidFill>
                <a:srgbClr val="B025A6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46800" rIns="90000" bIns="-46800" anchor="ctr">
              <a:noAutofit/>
            </a:bodyPr>
            <a:p>
              <a:endParaRPr lang="it-IT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875" name="Line 20"/>
            <p:cNvSpPr/>
            <p:nvPr/>
          </p:nvSpPr>
          <p:spPr>
            <a:xfrm>
              <a:off x="5410080" y="2514600"/>
              <a:ext cx="152640" cy="0"/>
            </a:xfrm>
            <a:prstGeom prst="line">
              <a:avLst/>
            </a:prstGeom>
            <a:ln w="9360">
              <a:solidFill>
                <a:srgbClr val="B025A6"/>
              </a:solidFill>
              <a:miter/>
              <a:tailEnd len="med" type="triangle" w="med"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46800" rIns="90000" bIns="-46800" anchor="ctr">
              <a:noAutofit/>
            </a:bodyPr>
            <a:p>
              <a:endParaRPr lang="it-IT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876" name="Text Box 21"/>
            <p:cNvSpPr/>
            <p:nvPr/>
          </p:nvSpPr>
          <p:spPr>
            <a:xfrm>
              <a:off x="5504040" y="1295280"/>
              <a:ext cx="2895480" cy="337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spAutoFit/>
            </a:bodyPr>
            <a:p>
              <a:pPr>
                <a:lnSpc>
                  <a:spcPct val="100000"/>
                </a:lnSpc>
                <a:spcBef>
                  <a:spcPts val="1001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600" b="0" i="1" u="sng" strike="noStrike">
                  <a:solidFill>
                    <a:srgbClr val="B025A6"/>
                  </a:solidFill>
                  <a:effectLst/>
                  <a:uFillTx/>
                  <a:latin typeface="Arial Rounded MT Bold"/>
                </a:rPr>
                <a:t>The Cycle of Constructions</a:t>
              </a:r>
              <a:endParaRPr lang="it-IT" sz="16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</p:grpSp>
    </p:spTree>
  </p:cSld>
  <p:transition>
    <p:wipe dir="r"/>
  </p:transition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7" name="Footer Placeholder 3"/>
          <p:cNvSpPr/>
          <p:nvPr/>
        </p:nvSpPr>
        <p:spPr>
          <a:xfrm>
            <a:off x="685800" y="6248520"/>
            <a:ext cx="289548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Autofit/>
          </a:bodyPr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Comp 412, Fall 2010</a:t>
            </a:r>
            <a:endParaRPr lang="it-IT" sz="12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878" name="Slide Number Placeholder 4"/>
          <p:cNvSpPr/>
          <p:nvPr/>
        </p:nvSpPr>
        <p:spPr>
          <a:xfrm>
            <a:off x="6553080" y="6248520"/>
            <a:ext cx="190512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Autofit/>
          </a:bodyPr>
          <a:p>
            <a:pPr algn="r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81D8FED8-94F8-4EFE-A787-BA79D923A951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&lt;number&gt;</a:t>
            </a:fld>
            <a:endParaRPr lang="it-IT" sz="12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879" name="PlaceHolder 1"/>
          <p:cNvSpPr>
            <a:spLocks noGrp="1"/>
          </p:cNvSpPr>
          <p:nvPr>
            <p:ph type="title"/>
          </p:nvPr>
        </p:nvSpPr>
        <p:spPr>
          <a:xfrm>
            <a:off x="685800" y="533160"/>
            <a:ext cx="7772400" cy="533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l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RE Back to DFA</a:t>
            </a:r>
            <a:endParaRPr lang="it-IT" sz="24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880" name="PlaceHolder 2"/>
          <p:cNvSpPr>
            <a:spLocks noGrp="1"/>
          </p:cNvSpPr>
          <p:nvPr>
            <p:ph/>
          </p:nvPr>
        </p:nvSpPr>
        <p:spPr>
          <a:xfrm>
            <a:off x="685800" y="1143000"/>
            <a:ext cx="7772400" cy="495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p>
            <a:pPr marL="343080" indent="-343080" algn="l">
              <a:spcBef>
                <a:spcPts val="499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Kleene’s Construction</a:t>
            </a:r>
            <a:endParaRPr lang="it-IT" sz="20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881" name="Text Box 4"/>
          <p:cNvSpPr/>
          <p:nvPr/>
        </p:nvSpPr>
        <p:spPr>
          <a:xfrm>
            <a:off x="914400" y="1676520"/>
            <a:ext cx="6705720" cy="3704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spAutoFit/>
          </a:bodyPr>
          <a:p>
            <a:pPr>
              <a:spcBef>
                <a:spcPts val="99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600" b="0" i="1" u="none" strike="noStrike">
                <a:solidFill>
                  <a:srgbClr val="003C75"/>
                </a:solidFill>
                <a:effectLst/>
                <a:uFillTx/>
                <a:latin typeface="Comic Sans MS"/>
              </a:rPr>
              <a:t>for i </a:t>
            </a:r>
            <a:r>
              <a:rPr lang="en-US" sz="1600" b="0" i="1" u="none" strike="noStrike">
                <a:solidFill>
                  <a:srgbClr val="003C75"/>
                </a:solidFill>
                <a:effectLst/>
                <a:uFillTx/>
                <a:latin typeface="Symbol"/>
                <a:ea typeface="Symbol"/>
              </a:rPr>
              <a:t></a:t>
            </a:r>
            <a:r>
              <a:rPr lang="en-US" sz="1600" b="0" i="1" u="none" strike="noStrike">
                <a:solidFill>
                  <a:srgbClr val="003C75"/>
                </a:solidFill>
                <a:effectLst/>
                <a:uFillTx/>
                <a:latin typeface="Comic Sans MS"/>
              </a:rPr>
              <a:t> 0 to |D| - 1;</a:t>
            </a:r>
            <a:r>
              <a:rPr lang="en-US" sz="1600" b="0" i="1" u="none" strike="noStrike">
                <a:solidFill>
                  <a:srgbClr val="003C75"/>
                </a:solidFill>
                <a:effectLst/>
                <a:uFillTx/>
                <a:latin typeface="Comic Sans MS"/>
              </a:rPr>
              <a:t>	</a:t>
            </a:r>
            <a:r>
              <a:rPr lang="en-US" sz="1600" b="0" i="1" u="none" strike="noStrike">
                <a:solidFill>
                  <a:srgbClr val="003C75"/>
                </a:solidFill>
                <a:effectLst/>
                <a:uFillTx/>
                <a:latin typeface="Comic Sans MS"/>
              </a:rPr>
              <a:t>// label each immediate path</a:t>
            </a:r>
            <a:endParaRPr lang="it-IT" sz="16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  <a:p>
            <a:pPr>
              <a:spcBef>
                <a:spcPts val="99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600" b="0" i="1" u="none" strike="noStrike">
                <a:solidFill>
                  <a:srgbClr val="003C75"/>
                </a:solidFill>
                <a:effectLst/>
                <a:uFillTx/>
                <a:latin typeface="Comic Sans MS"/>
              </a:rPr>
              <a:t>    for j </a:t>
            </a:r>
            <a:r>
              <a:rPr lang="en-US" sz="1600" b="0" i="1" u="none" strike="noStrike">
                <a:solidFill>
                  <a:srgbClr val="003C75"/>
                </a:solidFill>
                <a:effectLst/>
                <a:uFillTx/>
                <a:latin typeface="Symbol"/>
                <a:ea typeface="Symbol"/>
              </a:rPr>
              <a:t></a:t>
            </a:r>
            <a:r>
              <a:rPr lang="en-US" sz="1600" b="0" i="1" u="none" strike="noStrike">
                <a:solidFill>
                  <a:srgbClr val="003C75"/>
                </a:solidFill>
                <a:effectLst/>
                <a:uFillTx/>
                <a:latin typeface="Comic Sans MS"/>
              </a:rPr>
              <a:t> 0 to |D| - 1;</a:t>
            </a:r>
            <a:endParaRPr lang="it-IT" sz="16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  <a:p>
            <a:pPr>
              <a:spcBef>
                <a:spcPts val="3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600" b="0" i="1" u="none" strike="noStrike">
                <a:solidFill>
                  <a:srgbClr val="003C75"/>
                </a:solidFill>
                <a:effectLst/>
                <a:uFillTx/>
                <a:latin typeface="Comic Sans MS"/>
              </a:rPr>
              <a:t>          R</a:t>
            </a:r>
            <a:r>
              <a:rPr lang="en-US" sz="1600" b="0" i="1" u="none" strike="noStrike" baseline="30000">
                <a:solidFill>
                  <a:srgbClr val="003C75"/>
                </a:solidFill>
                <a:effectLst/>
                <a:uFillTx/>
                <a:latin typeface="Comic Sans MS"/>
              </a:rPr>
              <a:t>0</a:t>
            </a:r>
            <a:r>
              <a:rPr lang="en-US" sz="1600" b="0" i="1" u="none" strike="noStrike" baseline="-25000">
                <a:solidFill>
                  <a:srgbClr val="003C75"/>
                </a:solidFill>
                <a:effectLst/>
                <a:uFillTx/>
                <a:latin typeface="Comic Sans MS"/>
              </a:rPr>
              <a:t>ij </a:t>
            </a:r>
            <a:r>
              <a:rPr lang="en-US" sz="1600" b="0" i="1" u="none" strike="noStrike">
                <a:solidFill>
                  <a:srgbClr val="003C75"/>
                </a:solidFill>
                <a:effectLst/>
                <a:uFillTx/>
                <a:latin typeface="Symbol"/>
                <a:ea typeface="Symbol"/>
              </a:rPr>
              <a:t></a:t>
            </a:r>
            <a:r>
              <a:rPr lang="en-US" sz="1600" b="0" i="1" u="none" strike="noStrike">
                <a:solidFill>
                  <a:srgbClr val="003C75"/>
                </a:solidFill>
                <a:effectLst/>
                <a:uFillTx/>
                <a:latin typeface="Comic Sans MS"/>
              </a:rPr>
              <a:t> { a | </a:t>
            </a:r>
            <a:r>
              <a:rPr lang="en-US" sz="1600" b="0" i="1" u="none" strike="noStrike">
                <a:solidFill>
                  <a:srgbClr val="003C75"/>
                </a:solidFill>
                <a:effectLst/>
                <a:uFillTx/>
                <a:latin typeface="Symbol"/>
                <a:ea typeface="Symbol"/>
              </a:rPr>
              <a:t></a:t>
            </a:r>
            <a:r>
              <a:rPr lang="en-US" sz="1600" b="0" i="1" u="none" strike="noStrike">
                <a:solidFill>
                  <a:srgbClr val="003C75"/>
                </a:solidFill>
                <a:effectLst/>
                <a:uFillTx/>
                <a:latin typeface="Comic Sans MS"/>
              </a:rPr>
              <a:t>(d</a:t>
            </a:r>
            <a:r>
              <a:rPr lang="en-US" sz="1600" b="0" i="1" u="none" strike="noStrike" baseline="-25000">
                <a:solidFill>
                  <a:srgbClr val="003C75"/>
                </a:solidFill>
                <a:effectLst/>
                <a:uFillTx/>
                <a:latin typeface="Comic Sans MS"/>
              </a:rPr>
              <a:t>i</a:t>
            </a:r>
            <a:r>
              <a:rPr lang="en-US" sz="1600" b="0" i="1" u="none" strike="noStrike">
                <a:solidFill>
                  <a:srgbClr val="003C75"/>
                </a:solidFill>
                <a:effectLst/>
                <a:uFillTx/>
                <a:latin typeface="Comic Sans MS"/>
              </a:rPr>
              <a:t>,a) = d</a:t>
            </a:r>
            <a:r>
              <a:rPr lang="en-US" sz="1600" b="0" i="1" u="none" strike="noStrike" baseline="-25000">
                <a:solidFill>
                  <a:srgbClr val="003C75"/>
                </a:solidFill>
                <a:effectLst/>
                <a:uFillTx/>
                <a:latin typeface="Comic Sans MS"/>
              </a:rPr>
              <a:t>j</a:t>
            </a:r>
            <a:r>
              <a:rPr lang="en-US" sz="1600" b="0" i="1" u="none" strike="noStrike">
                <a:solidFill>
                  <a:srgbClr val="003C75"/>
                </a:solidFill>
                <a:effectLst/>
                <a:uFillTx/>
                <a:latin typeface="Comic Sans MS"/>
              </a:rPr>
              <a:t>};</a:t>
            </a:r>
            <a:endParaRPr lang="it-IT" sz="16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  <a:p>
            <a:pPr>
              <a:spcBef>
                <a:spcPts val="3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600" b="0" i="1" u="none" strike="noStrike">
                <a:solidFill>
                  <a:srgbClr val="003C75"/>
                </a:solidFill>
                <a:effectLst/>
                <a:uFillTx/>
                <a:latin typeface="Comic Sans MS"/>
              </a:rPr>
              <a:t>          if (i = j) then</a:t>
            </a:r>
            <a:endParaRPr lang="it-IT" sz="16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  <a:p>
            <a:pPr>
              <a:spcBef>
                <a:spcPts val="99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600" b="0" i="1" u="none" strike="noStrike">
                <a:solidFill>
                  <a:srgbClr val="003C75"/>
                </a:solidFill>
                <a:effectLst/>
                <a:uFillTx/>
                <a:latin typeface="Comic Sans MS"/>
              </a:rPr>
              <a:t>              R</a:t>
            </a:r>
            <a:r>
              <a:rPr lang="en-US" sz="1600" b="0" i="1" u="none" strike="noStrike" baseline="30000">
                <a:solidFill>
                  <a:srgbClr val="003C75"/>
                </a:solidFill>
                <a:effectLst/>
                <a:uFillTx/>
                <a:latin typeface="Comic Sans MS"/>
              </a:rPr>
              <a:t>0</a:t>
            </a:r>
            <a:r>
              <a:rPr lang="en-US" sz="1600" b="0" i="1" u="none" strike="noStrike" baseline="-25000">
                <a:solidFill>
                  <a:srgbClr val="003C75"/>
                </a:solidFill>
                <a:effectLst/>
                <a:uFillTx/>
                <a:latin typeface="Comic Sans MS"/>
              </a:rPr>
              <a:t>ii</a:t>
            </a:r>
            <a:r>
              <a:rPr lang="en-US" sz="1600" b="0" i="1" u="none" strike="noStrike">
                <a:solidFill>
                  <a:srgbClr val="003C75"/>
                </a:solidFill>
                <a:effectLst/>
                <a:uFillTx/>
                <a:latin typeface="Comic Sans MS"/>
              </a:rPr>
              <a:t> = R</a:t>
            </a:r>
            <a:r>
              <a:rPr lang="en-US" sz="1600" b="0" i="1" u="none" strike="noStrike" baseline="30000">
                <a:solidFill>
                  <a:srgbClr val="003C75"/>
                </a:solidFill>
                <a:effectLst/>
                <a:uFillTx/>
                <a:latin typeface="Comic Sans MS"/>
              </a:rPr>
              <a:t>0</a:t>
            </a:r>
            <a:r>
              <a:rPr lang="en-US" sz="1600" b="0" i="1" u="none" strike="noStrike" baseline="-25000">
                <a:solidFill>
                  <a:srgbClr val="003C75"/>
                </a:solidFill>
                <a:effectLst/>
                <a:uFillTx/>
                <a:latin typeface="Comic Sans MS"/>
              </a:rPr>
              <a:t>ii</a:t>
            </a:r>
            <a:r>
              <a:rPr lang="en-US" sz="1600" b="0" i="1" u="none" strike="noStrike">
                <a:solidFill>
                  <a:srgbClr val="003C75"/>
                </a:solidFill>
                <a:effectLst/>
                <a:uFillTx/>
                <a:latin typeface="Comic Sans MS"/>
              </a:rPr>
              <a:t> | {</a:t>
            </a:r>
            <a:r>
              <a:rPr lang="en-US" sz="1600" b="0" i="1" u="none" strike="noStrike">
                <a:solidFill>
                  <a:srgbClr val="003C75"/>
                </a:solidFill>
                <a:effectLst/>
                <a:uFillTx/>
                <a:latin typeface="Symbol"/>
                <a:ea typeface="Symbol"/>
              </a:rPr>
              <a:t></a:t>
            </a:r>
            <a:r>
              <a:rPr lang="en-US" sz="1600" b="0" i="1" u="none" strike="noStrike">
                <a:solidFill>
                  <a:srgbClr val="003C75"/>
                </a:solidFill>
                <a:effectLst/>
                <a:uFillTx/>
                <a:latin typeface="Comic Sans MS"/>
              </a:rPr>
              <a:t>};</a:t>
            </a:r>
            <a:endParaRPr lang="it-IT" sz="16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  <a:p>
            <a:pPr>
              <a:spcBef>
                <a:spcPts val="1199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600" b="0" i="1" u="none" strike="noStrike">
                <a:solidFill>
                  <a:srgbClr val="003C75"/>
                </a:solidFill>
                <a:effectLst/>
                <a:uFillTx/>
                <a:latin typeface="Comic Sans MS"/>
              </a:rPr>
              <a:t>for k </a:t>
            </a:r>
            <a:r>
              <a:rPr lang="en-US" sz="1600" b="0" i="1" u="none" strike="noStrike">
                <a:solidFill>
                  <a:srgbClr val="003C75"/>
                </a:solidFill>
                <a:effectLst/>
                <a:uFillTx/>
                <a:latin typeface="Symbol"/>
                <a:ea typeface="Symbol"/>
              </a:rPr>
              <a:t></a:t>
            </a:r>
            <a:r>
              <a:rPr lang="en-US" sz="1600" b="0" i="1" u="none" strike="noStrike">
                <a:solidFill>
                  <a:srgbClr val="003C75"/>
                </a:solidFill>
                <a:effectLst/>
                <a:uFillTx/>
                <a:latin typeface="Comic Sans MS"/>
              </a:rPr>
              <a:t> 0 to |D| - 1;</a:t>
            </a:r>
            <a:r>
              <a:rPr lang="en-US" sz="1600" b="0" i="1" u="none" strike="noStrike">
                <a:solidFill>
                  <a:srgbClr val="003C75"/>
                </a:solidFill>
                <a:effectLst/>
                <a:uFillTx/>
                <a:latin typeface="Comic Sans MS"/>
              </a:rPr>
              <a:t>	</a:t>
            </a:r>
            <a:r>
              <a:rPr lang="en-US" sz="1600" b="0" i="1" u="none" strike="noStrike">
                <a:solidFill>
                  <a:srgbClr val="003C75"/>
                </a:solidFill>
                <a:effectLst/>
                <a:uFillTx/>
                <a:latin typeface="Comic Sans MS"/>
              </a:rPr>
              <a:t>// label nontrivial paths</a:t>
            </a:r>
            <a:endParaRPr lang="it-IT" sz="16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  <a:p>
            <a:pPr>
              <a:spcBef>
                <a:spcPts val="99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600" b="0" i="1" u="none" strike="noStrike">
                <a:solidFill>
                  <a:srgbClr val="003C75"/>
                </a:solidFill>
                <a:effectLst/>
                <a:uFillTx/>
                <a:latin typeface="Comic Sans MS"/>
              </a:rPr>
              <a:t>     for i </a:t>
            </a:r>
            <a:r>
              <a:rPr lang="en-US" sz="1600" b="0" i="1" u="none" strike="noStrike">
                <a:solidFill>
                  <a:srgbClr val="003C75"/>
                </a:solidFill>
                <a:effectLst/>
                <a:uFillTx/>
                <a:latin typeface="Symbol"/>
                <a:ea typeface="Symbol"/>
              </a:rPr>
              <a:t></a:t>
            </a:r>
            <a:r>
              <a:rPr lang="en-US" sz="1600" b="0" i="1" u="none" strike="noStrike">
                <a:solidFill>
                  <a:srgbClr val="003C75"/>
                </a:solidFill>
                <a:effectLst/>
                <a:uFillTx/>
                <a:latin typeface="Comic Sans MS"/>
              </a:rPr>
              <a:t> 0 to |D| - 1;</a:t>
            </a:r>
            <a:endParaRPr lang="it-IT" sz="16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  <a:p>
            <a:pPr>
              <a:spcBef>
                <a:spcPts val="99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600" b="0" i="1" u="none" strike="noStrike">
                <a:solidFill>
                  <a:srgbClr val="003C75"/>
                </a:solidFill>
                <a:effectLst/>
                <a:uFillTx/>
                <a:latin typeface="Comic Sans MS"/>
              </a:rPr>
              <a:t>          for j </a:t>
            </a:r>
            <a:r>
              <a:rPr lang="en-US" sz="1600" b="0" i="1" u="none" strike="noStrike">
                <a:solidFill>
                  <a:srgbClr val="003C75"/>
                </a:solidFill>
                <a:effectLst/>
                <a:uFillTx/>
                <a:latin typeface="Symbol"/>
                <a:ea typeface="Symbol"/>
              </a:rPr>
              <a:t></a:t>
            </a:r>
            <a:r>
              <a:rPr lang="en-US" sz="1600" b="0" i="1" u="none" strike="noStrike">
                <a:solidFill>
                  <a:srgbClr val="003C75"/>
                </a:solidFill>
                <a:effectLst/>
                <a:uFillTx/>
                <a:latin typeface="Comic Sans MS"/>
              </a:rPr>
              <a:t> 0 to |D| - 1;</a:t>
            </a:r>
            <a:endParaRPr lang="it-IT" sz="16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  <a:p>
            <a:pPr>
              <a:spcBef>
                <a:spcPts val="3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600" b="0" i="1" u="none" strike="noStrike">
                <a:solidFill>
                  <a:srgbClr val="003C75"/>
                </a:solidFill>
                <a:effectLst/>
                <a:uFillTx/>
                <a:latin typeface="Comic Sans MS"/>
              </a:rPr>
              <a:t>	</a:t>
            </a:r>
            <a:r>
              <a:rPr lang="en-US" sz="1600" b="0" i="1" u="none" strike="noStrike">
                <a:solidFill>
                  <a:srgbClr val="003C75"/>
                </a:solidFill>
                <a:effectLst/>
                <a:uFillTx/>
                <a:latin typeface="Comic Sans MS"/>
              </a:rPr>
              <a:t>  R</a:t>
            </a:r>
            <a:r>
              <a:rPr lang="en-US" sz="1600" b="0" i="1" u="none" strike="noStrike" baseline="30000">
                <a:solidFill>
                  <a:srgbClr val="003C75"/>
                </a:solidFill>
                <a:effectLst/>
                <a:uFillTx/>
                <a:latin typeface="Comic Sans MS"/>
              </a:rPr>
              <a:t>k</a:t>
            </a:r>
            <a:r>
              <a:rPr lang="en-US" sz="1600" b="0" i="1" u="none" strike="noStrike" baseline="-25000">
                <a:solidFill>
                  <a:srgbClr val="003C75"/>
                </a:solidFill>
                <a:effectLst/>
                <a:uFillTx/>
                <a:latin typeface="Comic Sans MS"/>
              </a:rPr>
              <a:t>ij</a:t>
            </a:r>
            <a:r>
              <a:rPr lang="en-US" sz="1600" b="0" i="1" u="none" strike="noStrike">
                <a:solidFill>
                  <a:srgbClr val="003C75"/>
                </a:solidFill>
                <a:effectLst/>
                <a:uFillTx/>
                <a:latin typeface="Comic Sans MS"/>
              </a:rPr>
              <a:t> </a:t>
            </a:r>
            <a:r>
              <a:rPr lang="en-US" sz="1600" b="0" i="1" u="none" strike="noStrike">
                <a:solidFill>
                  <a:srgbClr val="003C75"/>
                </a:solidFill>
                <a:effectLst/>
                <a:uFillTx/>
                <a:latin typeface="Symbol"/>
                <a:ea typeface="Symbol"/>
              </a:rPr>
              <a:t></a:t>
            </a:r>
            <a:r>
              <a:rPr lang="en-US" sz="1600" b="0" i="1" u="none" strike="noStrike">
                <a:solidFill>
                  <a:srgbClr val="003C75"/>
                </a:solidFill>
                <a:effectLst/>
                <a:uFillTx/>
                <a:latin typeface="Comic Sans MS"/>
              </a:rPr>
              <a:t> R</a:t>
            </a:r>
            <a:r>
              <a:rPr lang="en-US" sz="1600" b="0" i="1" u="none" strike="noStrike" baseline="30000">
                <a:solidFill>
                  <a:srgbClr val="003C75"/>
                </a:solidFill>
                <a:effectLst/>
                <a:uFillTx/>
                <a:latin typeface="Comic Sans MS"/>
              </a:rPr>
              <a:t>k-1</a:t>
            </a:r>
            <a:r>
              <a:rPr lang="en-US" sz="1600" b="0" i="1" u="none" strike="noStrike" baseline="-25000">
                <a:solidFill>
                  <a:srgbClr val="003C75"/>
                </a:solidFill>
                <a:effectLst/>
                <a:uFillTx/>
                <a:latin typeface="Comic Sans MS"/>
              </a:rPr>
              <a:t>ik</a:t>
            </a:r>
            <a:r>
              <a:rPr lang="en-US" sz="1600" b="0" i="1" u="none" strike="noStrike">
                <a:solidFill>
                  <a:srgbClr val="003C75"/>
                </a:solidFill>
                <a:effectLst/>
                <a:uFillTx/>
                <a:latin typeface="Comic Sans MS"/>
              </a:rPr>
              <a:t> (R</a:t>
            </a:r>
            <a:r>
              <a:rPr lang="en-US" sz="1600" b="0" i="1" u="none" strike="noStrike" baseline="30000">
                <a:solidFill>
                  <a:srgbClr val="003C75"/>
                </a:solidFill>
                <a:effectLst/>
                <a:uFillTx/>
                <a:latin typeface="Comic Sans MS"/>
              </a:rPr>
              <a:t>k-1</a:t>
            </a:r>
            <a:r>
              <a:rPr lang="en-US" sz="1600" b="0" i="1" u="none" strike="noStrike" baseline="-25000">
                <a:solidFill>
                  <a:srgbClr val="003C75"/>
                </a:solidFill>
                <a:effectLst/>
                <a:uFillTx/>
                <a:latin typeface="Comic Sans MS"/>
              </a:rPr>
              <a:t>kk</a:t>
            </a:r>
            <a:r>
              <a:rPr lang="en-US" sz="1600" b="0" i="1" u="none" strike="noStrike">
                <a:solidFill>
                  <a:srgbClr val="003C75"/>
                </a:solidFill>
                <a:effectLst/>
                <a:uFillTx/>
                <a:latin typeface="Comic Sans MS"/>
              </a:rPr>
              <a:t>)* R</a:t>
            </a:r>
            <a:r>
              <a:rPr lang="en-US" sz="1600" b="0" i="1" u="none" strike="noStrike" baseline="30000">
                <a:solidFill>
                  <a:srgbClr val="003C75"/>
                </a:solidFill>
                <a:effectLst/>
                <a:uFillTx/>
                <a:latin typeface="Comic Sans MS"/>
              </a:rPr>
              <a:t>k-1</a:t>
            </a:r>
            <a:r>
              <a:rPr lang="en-US" sz="1600" b="0" i="1" u="none" strike="noStrike" baseline="-25000">
                <a:solidFill>
                  <a:srgbClr val="003C75"/>
                </a:solidFill>
                <a:effectLst/>
                <a:uFillTx/>
                <a:latin typeface="Comic Sans MS"/>
              </a:rPr>
              <a:t>kj</a:t>
            </a:r>
            <a:r>
              <a:rPr lang="en-US" sz="1600" b="0" i="1" u="none" strike="noStrike">
                <a:solidFill>
                  <a:srgbClr val="003C75"/>
                </a:solidFill>
                <a:effectLst/>
                <a:uFillTx/>
                <a:latin typeface="Comic Sans MS"/>
              </a:rPr>
              <a:t> | R</a:t>
            </a:r>
            <a:r>
              <a:rPr lang="en-US" sz="1600" b="0" i="1" u="none" strike="noStrike" baseline="30000">
                <a:solidFill>
                  <a:srgbClr val="003C75"/>
                </a:solidFill>
                <a:effectLst/>
                <a:uFillTx/>
                <a:latin typeface="Comic Sans MS"/>
              </a:rPr>
              <a:t>k-1</a:t>
            </a:r>
            <a:r>
              <a:rPr lang="en-US" sz="1600" b="0" i="1" u="none" strike="noStrike" baseline="-25000">
                <a:solidFill>
                  <a:srgbClr val="003C75"/>
                </a:solidFill>
                <a:effectLst/>
                <a:uFillTx/>
                <a:latin typeface="Comic Sans MS"/>
              </a:rPr>
              <a:t>ij</a:t>
            </a:r>
            <a:r>
              <a:rPr lang="en-US" sz="1600" b="0" i="1" u="none" strike="noStrike">
                <a:solidFill>
                  <a:srgbClr val="003C75"/>
                </a:solidFill>
                <a:effectLst/>
                <a:uFillTx/>
                <a:latin typeface="Comic Sans MS"/>
              </a:rPr>
              <a:t> </a:t>
            </a:r>
            <a:endParaRPr lang="it-IT" sz="16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  <a:p>
            <a:pPr>
              <a:lnSpc>
                <a:spcPct val="110000"/>
              </a:lnSpc>
              <a:spcBef>
                <a:spcPts val="1199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600" b="0" i="1" u="none" strike="noStrike">
                <a:solidFill>
                  <a:srgbClr val="003C75"/>
                </a:solidFill>
                <a:effectLst/>
                <a:uFillTx/>
                <a:latin typeface="Comic Sans MS"/>
              </a:rPr>
              <a:t>L </a:t>
            </a:r>
            <a:r>
              <a:rPr lang="en-US" sz="1600" b="0" i="1" u="none" strike="noStrike">
                <a:solidFill>
                  <a:srgbClr val="003C75"/>
                </a:solidFill>
                <a:effectLst/>
                <a:uFillTx/>
                <a:latin typeface="Symbol"/>
                <a:ea typeface="Symbol"/>
              </a:rPr>
              <a:t></a:t>
            </a:r>
            <a:r>
              <a:rPr lang="en-US" sz="1600" b="0" i="1" u="none" strike="noStrike">
                <a:solidFill>
                  <a:srgbClr val="003C75"/>
                </a:solidFill>
                <a:effectLst/>
                <a:uFillTx/>
                <a:latin typeface="Comic Sans MS"/>
              </a:rPr>
              <a:t> {}</a:t>
            </a:r>
            <a:r>
              <a:rPr lang="en-US" sz="1600" b="0" i="1" u="none" strike="noStrike">
                <a:solidFill>
                  <a:srgbClr val="003C75"/>
                </a:solidFill>
                <a:effectLst/>
                <a:uFillTx/>
                <a:latin typeface="Comic Sans MS"/>
              </a:rPr>
              <a:t>	</a:t>
            </a:r>
            <a:r>
              <a:rPr lang="en-US" sz="1600" b="0" i="1" u="none" strike="noStrike">
                <a:solidFill>
                  <a:srgbClr val="003C75"/>
                </a:solidFill>
                <a:effectLst/>
                <a:uFillTx/>
                <a:latin typeface="Comic Sans MS"/>
              </a:rPr>
              <a:t>	</a:t>
            </a:r>
            <a:r>
              <a:rPr lang="en-US" sz="1600" b="0" i="1" u="none" strike="noStrike">
                <a:solidFill>
                  <a:srgbClr val="003C75"/>
                </a:solidFill>
                <a:effectLst/>
                <a:uFillTx/>
                <a:latin typeface="Comic Sans MS"/>
              </a:rPr>
              <a:t>	</a:t>
            </a:r>
            <a:r>
              <a:rPr lang="en-US" sz="1600" b="0" i="1" u="none" strike="noStrike">
                <a:solidFill>
                  <a:srgbClr val="003C75"/>
                </a:solidFill>
                <a:effectLst/>
                <a:uFillTx/>
                <a:latin typeface="Comic Sans MS"/>
              </a:rPr>
              <a:t>// union labels of paths from </a:t>
            </a:r>
            <a:endParaRPr lang="it-IT" sz="16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  <a:p>
            <a:pPr>
              <a:spcBef>
                <a:spcPts val="99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600" b="0" i="1" u="none" strike="noStrike">
                <a:solidFill>
                  <a:srgbClr val="003C75"/>
                </a:solidFill>
                <a:effectLst/>
                <a:uFillTx/>
                <a:latin typeface="Comic Sans MS"/>
              </a:rPr>
              <a:t>For each final state s</a:t>
            </a:r>
            <a:r>
              <a:rPr lang="en-US" sz="1600" b="0" i="1" u="none" strike="noStrike" baseline="-25000">
                <a:solidFill>
                  <a:srgbClr val="003C75"/>
                </a:solidFill>
                <a:effectLst/>
                <a:uFillTx/>
                <a:latin typeface="Comic Sans MS"/>
              </a:rPr>
              <a:t>i</a:t>
            </a:r>
            <a:r>
              <a:rPr lang="en-US" sz="1600" b="0" i="1" u="none" strike="noStrike">
                <a:solidFill>
                  <a:srgbClr val="003C75"/>
                </a:solidFill>
                <a:effectLst/>
                <a:uFillTx/>
                <a:latin typeface="Comic Sans MS"/>
              </a:rPr>
              <a:t>	</a:t>
            </a:r>
            <a:r>
              <a:rPr lang="en-US" sz="1600" b="0" i="1" u="none" strike="noStrike">
                <a:solidFill>
                  <a:srgbClr val="003C75"/>
                </a:solidFill>
                <a:effectLst/>
                <a:uFillTx/>
                <a:latin typeface="Comic Sans MS"/>
              </a:rPr>
              <a:t>//  s</a:t>
            </a:r>
            <a:r>
              <a:rPr lang="en-US" sz="1600" b="0" i="1" u="none" strike="noStrike" baseline="-25000">
                <a:solidFill>
                  <a:srgbClr val="003C75"/>
                </a:solidFill>
                <a:effectLst/>
                <a:uFillTx/>
                <a:latin typeface="Comic Sans MS"/>
              </a:rPr>
              <a:t>0</a:t>
            </a:r>
            <a:r>
              <a:rPr lang="en-US" sz="1600" b="0" i="1" u="none" strike="noStrike">
                <a:solidFill>
                  <a:srgbClr val="003C75"/>
                </a:solidFill>
                <a:effectLst/>
                <a:uFillTx/>
                <a:latin typeface="Comic Sans MS"/>
              </a:rPr>
              <a:t> to a final state s</a:t>
            </a:r>
            <a:r>
              <a:rPr lang="en-US" sz="1600" b="0" i="1" u="none" strike="noStrike" baseline="-25000">
                <a:solidFill>
                  <a:srgbClr val="003C75"/>
                </a:solidFill>
                <a:effectLst/>
                <a:uFillTx/>
                <a:latin typeface="Comic Sans MS"/>
              </a:rPr>
              <a:t>i</a:t>
            </a:r>
            <a:endParaRPr lang="it-IT" sz="16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  <a:p>
            <a:pPr>
              <a:spcBef>
                <a:spcPts val="99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600" b="0" i="1" u="none" strike="noStrike">
                <a:solidFill>
                  <a:srgbClr val="003C75"/>
                </a:solidFill>
                <a:effectLst/>
                <a:uFillTx/>
                <a:latin typeface="Comic Sans MS"/>
              </a:rPr>
              <a:t>    L </a:t>
            </a:r>
            <a:r>
              <a:rPr lang="en-US" sz="1600" b="0" i="1" u="none" strike="noStrike">
                <a:solidFill>
                  <a:srgbClr val="003C75"/>
                </a:solidFill>
                <a:effectLst/>
                <a:uFillTx/>
                <a:latin typeface="Symbol"/>
                <a:ea typeface="Symbol"/>
              </a:rPr>
              <a:t></a:t>
            </a:r>
            <a:r>
              <a:rPr lang="en-US" sz="1600" b="0" i="1" u="none" strike="noStrike">
                <a:solidFill>
                  <a:srgbClr val="003C75"/>
                </a:solidFill>
                <a:effectLst/>
                <a:uFillTx/>
                <a:latin typeface="Comic Sans MS"/>
              </a:rPr>
              <a:t> L | R</a:t>
            </a:r>
            <a:r>
              <a:rPr lang="en-US" sz="1600" b="0" i="1" u="none" strike="noStrike" baseline="30000">
                <a:solidFill>
                  <a:srgbClr val="003C75"/>
                </a:solidFill>
                <a:effectLst/>
                <a:uFillTx/>
                <a:latin typeface="Comic Sans MS"/>
              </a:rPr>
              <a:t>|D|-1</a:t>
            </a:r>
            <a:r>
              <a:rPr lang="en-US" sz="1600" b="0" i="1" u="none" strike="noStrike" baseline="-25000">
                <a:solidFill>
                  <a:srgbClr val="003C75"/>
                </a:solidFill>
                <a:effectLst/>
                <a:uFillTx/>
                <a:latin typeface="Comic Sans MS"/>
              </a:rPr>
              <a:t>0i</a:t>
            </a:r>
            <a:endParaRPr lang="it-IT" sz="16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grpSp>
        <p:nvGrpSpPr>
          <p:cNvPr id="882" name="Group 21"/>
          <p:cNvGrpSpPr/>
          <p:nvPr/>
        </p:nvGrpSpPr>
        <p:grpSpPr>
          <a:xfrm>
            <a:off x="4921200" y="4952880"/>
            <a:ext cx="3765600" cy="1504440"/>
            <a:chOff x="4921200" y="4952880"/>
            <a:chExt cx="3765600" cy="1504440"/>
          </a:xfrm>
        </p:grpSpPr>
        <p:sp>
          <p:nvSpPr>
            <p:cNvPr id="883" name="Text Box 6"/>
            <p:cNvSpPr/>
            <p:nvPr/>
          </p:nvSpPr>
          <p:spPr>
            <a:xfrm>
              <a:off x="7324560" y="5851440"/>
              <a:ext cx="990720" cy="6058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spAutoFit/>
            </a:bodyPr>
            <a:p>
              <a:pPr algn="ctr">
                <a:lnSpc>
                  <a:spcPct val="120000"/>
                </a:lnSpc>
                <a:spcBef>
                  <a:spcPts val="876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400" b="0" i="1" u="none" strike="noStrike">
                  <a:solidFill>
                    <a:srgbClr val="B025A6"/>
                  </a:solidFill>
                  <a:effectLst/>
                  <a:uFillTx/>
                  <a:latin typeface="Arial Rounded MT Bold"/>
                </a:rPr>
                <a:t>minimal </a:t>
              </a:r>
              <a:r>
                <a:rPr lang="en-US" sz="1400" b="0" u="none" strike="noStrike">
                  <a:solidFill>
                    <a:srgbClr val="B025A6"/>
                  </a:solidFill>
                  <a:effectLst/>
                  <a:uFillTx/>
                  <a:latin typeface="Arial Rounded MT Bold"/>
                </a:rPr>
                <a:t>DFA</a:t>
              </a:r>
              <a:endParaRPr lang="it-IT" sz="14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884" name="Text Box 7"/>
            <p:cNvSpPr/>
            <p:nvPr/>
          </p:nvSpPr>
          <p:spPr>
            <a:xfrm>
              <a:off x="5343480" y="6016680"/>
              <a:ext cx="533520" cy="3074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spAutoFit/>
            </a:bodyPr>
            <a:p>
              <a:pPr>
                <a:lnSpc>
                  <a:spcPct val="100000"/>
                </a:lnSpc>
                <a:spcBef>
                  <a:spcPts val="876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400" b="0" u="none" strike="noStrike">
                  <a:solidFill>
                    <a:srgbClr val="B025A6"/>
                  </a:solidFill>
                  <a:effectLst/>
                  <a:uFillTx/>
                  <a:latin typeface="Arial Rounded MT Bold"/>
                </a:rPr>
                <a:t>RE</a:t>
              </a:r>
              <a:endParaRPr lang="it-IT" sz="14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885" name="Text Box 8"/>
            <p:cNvSpPr/>
            <p:nvPr/>
          </p:nvSpPr>
          <p:spPr>
            <a:xfrm>
              <a:off x="5952960" y="6016680"/>
              <a:ext cx="685800" cy="3074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spAutoFit/>
            </a:bodyPr>
            <a:p>
              <a:pPr>
                <a:lnSpc>
                  <a:spcPct val="100000"/>
                </a:lnSpc>
                <a:spcBef>
                  <a:spcPts val="876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400" b="0" u="none" strike="noStrike">
                  <a:solidFill>
                    <a:srgbClr val="B025A6"/>
                  </a:solidFill>
                  <a:effectLst/>
                  <a:uFillTx/>
                  <a:latin typeface="Arial Rounded MT Bold"/>
                </a:rPr>
                <a:t>NFA</a:t>
              </a:r>
              <a:endParaRPr lang="it-IT" sz="14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886" name="Text Box 9"/>
            <p:cNvSpPr/>
            <p:nvPr/>
          </p:nvSpPr>
          <p:spPr>
            <a:xfrm>
              <a:off x="6715080" y="6016680"/>
              <a:ext cx="685800" cy="3074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spAutoFit/>
            </a:bodyPr>
            <a:p>
              <a:pPr>
                <a:lnSpc>
                  <a:spcPct val="100000"/>
                </a:lnSpc>
                <a:spcBef>
                  <a:spcPts val="876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400" b="0" u="none" strike="noStrike">
                  <a:solidFill>
                    <a:srgbClr val="B025A6"/>
                  </a:solidFill>
                  <a:effectLst/>
                  <a:uFillTx/>
                  <a:latin typeface="Arial Rounded MT Bold"/>
                </a:rPr>
                <a:t>DFA</a:t>
              </a:r>
              <a:endParaRPr lang="it-IT" sz="14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887" name="Line 10"/>
            <p:cNvSpPr/>
            <p:nvPr/>
          </p:nvSpPr>
          <p:spPr>
            <a:xfrm>
              <a:off x="5724360" y="6168960"/>
              <a:ext cx="304920" cy="0"/>
            </a:xfrm>
            <a:prstGeom prst="line">
              <a:avLst/>
            </a:prstGeom>
            <a:ln w="9360">
              <a:solidFill>
                <a:srgbClr val="B025A6"/>
              </a:solidFill>
              <a:miter/>
              <a:tailEnd len="med" type="triangle" w="med"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46800" rIns="90000" bIns="-46800" anchor="ctr">
              <a:noAutofit/>
            </a:bodyPr>
            <a:p>
              <a:endParaRPr lang="it-IT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888" name="Line 11"/>
            <p:cNvSpPr/>
            <p:nvPr/>
          </p:nvSpPr>
          <p:spPr>
            <a:xfrm>
              <a:off x="6486480" y="6168960"/>
              <a:ext cx="304920" cy="0"/>
            </a:xfrm>
            <a:prstGeom prst="line">
              <a:avLst/>
            </a:prstGeom>
            <a:ln w="9360">
              <a:solidFill>
                <a:srgbClr val="B025A6"/>
              </a:solidFill>
              <a:miter/>
              <a:tailEnd len="med" type="triangle" w="med"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46800" rIns="90000" bIns="-46800" anchor="ctr">
              <a:noAutofit/>
            </a:bodyPr>
            <a:p>
              <a:endParaRPr lang="it-IT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889" name="Line 12"/>
            <p:cNvSpPr/>
            <p:nvPr/>
          </p:nvSpPr>
          <p:spPr>
            <a:xfrm>
              <a:off x="7248600" y="6168960"/>
              <a:ext cx="304560" cy="0"/>
            </a:xfrm>
            <a:prstGeom prst="line">
              <a:avLst/>
            </a:prstGeom>
            <a:ln w="9360">
              <a:solidFill>
                <a:srgbClr val="B025A6"/>
              </a:solidFill>
              <a:miter/>
              <a:tailEnd len="med" type="triangle" w="med"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46800" rIns="90000" bIns="-46800" anchor="ctr">
              <a:noAutofit/>
            </a:bodyPr>
            <a:p>
              <a:endParaRPr lang="it-IT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890" name="Line 13"/>
            <p:cNvSpPr/>
            <p:nvPr/>
          </p:nvSpPr>
          <p:spPr>
            <a:xfrm>
              <a:off x="8010360" y="6172200"/>
              <a:ext cx="304920" cy="0"/>
            </a:xfrm>
            <a:prstGeom prst="line">
              <a:avLst/>
            </a:prstGeom>
            <a:ln w="9360">
              <a:solidFill>
                <a:srgbClr val="FF0065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46800" rIns="90000" bIns="-46800" anchor="ctr">
              <a:noAutofit/>
            </a:bodyPr>
            <a:p>
              <a:endParaRPr lang="it-IT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891" name="Arc 14"/>
            <p:cNvSpPr/>
            <p:nvPr/>
          </p:nvSpPr>
          <p:spPr>
            <a:xfrm>
              <a:off x="8229600" y="5410080"/>
              <a:ext cx="457200" cy="382680"/>
            </a:xfrm>
            <a:custGeom>
              <a:avLst/>
              <a:gdLst>
                <a:gd name="textAreaLeft" fmla="*/ 0 w 457200"/>
                <a:gd name="textAreaRight" fmla="*/ 457560 w 457200"/>
                <a:gd name="textAreaTop" fmla="*/ 0 h 382680"/>
                <a:gd name="textAreaBottom" fmla="*/ 383040 h 382680"/>
                <a:gd name="GluePoint1X" fmla="*/ 0 w 21600"/>
                <a:gd name="GluePoint1Y" fmla="*/ 0 h 21573"/>
                <a:gd name="GluePoint2X" fmla="*/ 0 w 21600"/>
                <a:gd name="GluePoint2Y" fmla="*/ 0 h 21573"/>
                <a:gd name="GluePoint3X" fmla="*/ 0 w 21600"/>
                <a:gd name="GluePoint3Y" fmla="*/ 0 h 21573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</a:cxnLst>
              <a:rect l="textAreaLeft" t="textAreaTop" r="textAreaRight" b="textAreaBottom"/>
              <a:pathLst>
                <a:path fill="none" w="21600" h="21573">
                  <a:moveTo>
                    <a:pt x="1078" y="-1"/>
                  </a:moveTo>
                  <a:cubicBezTo>
                    <a:pt x="12573" y="574"/>
                    <a:pt x="21600" y="10062"/>
                    <a:pt x="21600" y="21573"/>
                  </a:cubicBezTo>
                </a:path>
                <a:path stroke="0" w="21600" h="21573">
                  <a:moveTo>
                    <a:pt x="1078" y="-1"/>
                  </a:moveTo>
                  <a:cubicBezTo>
                    <a:pt x="12573" y="574"/>
                    <a:pt x="21600" y="10062"/>
                    <a:pt x="21600" y="21573"/>
                  </a:cubicBezTo>
                  <a:lnTo>
                    <a:pt x="0" y="21573"/>
                  </a:lnTo>
                  <a:close/>
                </a:path>
              </a:pathLst>
            </a:custGeom>
            <a:noFill/>
            <a:ln w="9360">
              <a:solidFill>
                <a:srgbClr val="FF0065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ctr">
              <a:noAutofit/>
            </a:bodyPr>
            <a:p>
              <a:endParaRPr lang="it-IT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892" name="Arc 15"/>
            <p:cNvSpPr/>
            <p:nvPr/>
          </p:nvSpPr>
          <p:spPr>
            <a:xfrm flipV="1">
              <a:off x="8229600" y="5791320"/>
              <a:ext cx="457200" cy="380880"/>
            </a:xfrm>
            <a:custGeom>
              <a:avLst/>
              <a:gdLst>
                <a:gd name="textAreaLeft" fmla="*/ 0 w 457200"/>
                <a:gd name="textAreaRight" fmla="*/ 457560 w 457200"/>
                <a:gd name="textAreaTop" fmla="*/ 360 h 380880"/>
                <a:gd name="textAreaBottom" fmla="*/ 381600 h 380880"/>
                <a:gd name="GluePoint1X" fmla="*/ 0 w 21600"/>
                <a:gd name="GluePoint1Y" fmla="*/ 0 h 21573"/>
                <a:gd name="GluePoint2X" fmla="*/ 0 w 21600"/>
                <a:gd name="GluePoint2Y" fmla="*/ 0 h 21573"/>
                <a:gd name="GluePoint3X" fmla="*/ 0 w 21600"/>
                <a:gd name="GluePoint3Y" fmla="*/ 0 h 21573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</a:cxnLst>
              <a:rect l="textAreaLeft" t="textAreaTop" r="textAreaRight" b="textAreaBottom"/>
              <a:pathLst>
                <a:path fill="none" w="21600" h="21573">
                  <a:moveTo>
                    <a:pt x="1078" y="-1"/>
                  </a:moveTo>
                  <a:cubicBezTo>
                    <a:pt x="12573" y="574"/>
                    <a:pt x="21600" y="10062"/>
                    <a:pt x="21600" y="21573"/>
                  </a:cubicBezTo>
                </a:path>
                <a:path stroke="0" w="21600" h="21573">
                  <a:moveTo>
                    <a:pt x="1078" y="-1"/>
                  </a:moveTo>
                  <a:cubicBezTo>
                    <a:pt x="12573" y="574"/>
                    <a:pt x="21600" y="10062"/>
                    <a:pt x="21600" y="21573"/>
                  </a:cubicBezTo>
                  <a:lnTo>
                    <a:pt x="0" y="21573"/>
                  </a:lnTo>
                  <a:close/>
                </a:path>
              </a:pathLst>
            </a:custGeom>
            <a:noFill/>
            <a:ln w="9360">
              <a:solidFill>
                <a:srgbClr val="FF0065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ctr">
              <a:noAutofit/>
            </a:bodyPr>
            <a:p>
              <a:endParaRPr lang="it-IT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893" name="Arc 16"/>
            <p:cNvSpPr/>
            <p:nvPr/>
          </p:nvSpPr>
          <p:spPr>
            <a:xfrm flipH="1">
              <a:off x="4921200" y="5416560"/>
              <a:ext cx="457200" cy="382680"/>
            </a:xfrm>
            <a:custGeom>
              <a:avLst/>
              <a:gdLst>
                <a:gd name="textAreaLeft" fmla="*/ 360 w 457200"/>
                <a:gd name="textAreaRight" fmla="*/ 457920 w 457200"/>
                <a:gd name="textAreaTop" fmla="*/ 0 h 382680"/>
                <a:gd name="textAreaBottom" fmla="*/ 383040 h 382680"/>
                <a:gd name="GluePoint1X" fmla="*/ 0 w 21600"/>
                <a:gd name="GluePoint1Y" fmla="*/ 0 h 21573"/>
                <a:gd name="GluePoint2X" fmla="*/ 0 w 21600"/>
                <a:gd name="GluePoint2Y" fmla="*/ 0 h 21573"/>
                <a:gd name="GluePoint3X" fmla="*/ 0 w 21600"/>
                <a:gd name="GluePoint3Y" fmla="*/ 0 h 21573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</a:cxnLst>
              <a:rect l="textAreaLeft" t="textAreaTop" r="textAreaRight" b="textAreaBottom"/>
              <a:pathLst>
                <a:path fill="none" w="21600" h="21573">
                  <a:moveTo>
                    <a:pt x="1078" y="-1"/>
                  </a:moveTo>
                  <a:cubicBezTo>
                    <a:pt x="12573" y="574"/>
                    <a:pt x="21600" y="10062"/>
                    <a:pt x="21600" y="21573"/>
                  </a:cubicBezTo>
                </a:path>
                <a:path stroke="0" w="21600" h="21573">
                  <a:moveTo>
                    <a:pt x="1078" y="-1"/>
                  </a:moveTo>
                  <a:cubicBezTo>
                    <a:pt x="12573" y="574"/>
                    <a:pt x="21600" y="10062"/>
                    <a:pt x="21600" y="21573"/>
                  </a:cubicBezTo>
                  <a:lnTo>
                    <a:pt x="0" y="21573"/>
                  </a:lnTo>
                  <a:close/>
                </a:path>
              </a:pathLst>
            </a:custGeom>
            <a:noFill/>
            <a:ln w="9360">
              <a:solidFill>
                <a:srgbClr val="FF0065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ctr">
              <a:noAutofit/>
            </a:bodyPr>
            <a:p>
              <a:endParaRPr lang="it-IT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894" name="Arc 17"/>
            <p:cNvSpPr/>
            <p:nvPr/>
          </p:nvSpPr>
          <p:spPr>
            <a:xfrm flipH="1" flipV="1">
              <a:off x="4921200" y="5799240"/>
              <a:ext cx="457200" cy="380880"/>
            </a:xfrm>
            <a:custGeom>
              <a:avLst/>
              <a:gdLst>
                <a:gd name="textAreaLeft" fmla="*/ 360 w 457200"/>
                <a:gd name="textAreaRight" fmla="*/ 457920 w 457200"/>
                <a:gd name="textAreaTop" fmla="*/ 360 h 380880"/>
                <a:gd name="textAreaBottom" fmla="*/ 381600 h 380880"/>
                <a:gd name="GluePoint1X" fmla="*/ 0 w 21600"/>
                <a:gd name="GluePoint1Y" fmla="*/ 0 h 21573"/>
                <a:gd name="GluePoint2X" fmla="*/ 0 w 21600"/>
                <a:gd name="GluePoint2Y" fmla="*/ 0 h 21573"/>
                <a:gd name="GluePoint3X" fmla="*/ 0 w 21600"/>
                <a:gd name="GluePoint3Y" fmla="*/ 0 h 21573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</a:cxnLst>
              <a:rect l="textAreaLeft" t="textAreaTop" r="textAreaRight" b="textAreaBottom"/>
              <a:pathLst>
                <a:path fill="none" w="21600" h="21573">
                  <a:moveTo>
                    <a:pt x="1078" y="-1"/>
                  </a:moveTo>
                  <a:cubicBezTo>
                    <a:pt x="12573" y="574"/>
                    <a:pt x="21600" y="10062"/>
                    <a:pt x="21600" y="21573"/>
                  </a:cubicBezTo>
                </a:path>
                <a:path stroke="0" w="21600" h="21573">
                  <a:moveTo>
                    <a:pt x="1078" y="-1"/>
                  </a:moveTo>
                  <a:cubicBezTo>
                    <a:pt x="12573" y="574"/>
                    <a:pt x="21600" y="10062"/>
                    <a:pt x="21600" y="21573"/>
                  </a:cubicBezTo>
                  <a:lnTo>
                    <a:pt x="0" y="21573"/>
                  </a:lnTo>
                  <a:close/>
                </a:path>
              </a:pathLst>
            </a:custGeom>
            <a:noFill/>
            <a:ln w="9360">
              <a:solidFill>
                <a:srgbClr val="FF0065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ctr">
              <a:noAutofit/>
            </a:bodyPr>
            <a:p>
              <a:endParaRPr lang="it-IT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895" name="Line 18"/>
            <p:cNvSpPr/>
            <p:nvPr/>
          </p:nvSpPr>
          <p:spPr>
            <a:xfrm>
              <a:off x="5343480" y="5410080"/>
              <a:ext cx="2895480" cy="0"/>
            </a:xfrm>
            <a:prstGeom prst="line">
              <a:avLst/>
            </a:prstGeom>
            <a:ln w="9360">
              <a:solidFill>
                <a:srgbClr val="FF0065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46800" rIns="90000" bIns="-46800" anchor="ctr">
              <a:noAutofit/>
            </a:bodyPr>
            <a:p>
              <a:endParaRPr lang="it-IT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896" name="Line 19"/>
            <p:cNvSpPr/>
            <p:nvPr/>
          </p:nvSpPr>
          <p:spPr>
            <a:xfrm>
              <a:off x="5267160" y="6172200"/>
              <a:ext cx="152640" cy="0"/>
            </a:xfrm>
            <a:prstGeom prst="line">
              <a:avLst/>
            </a:prstGeom>
            <a:ln w="9360">
              <a:solidFill>
                <a:srgbClr val="FF0065"/>
              </a:solidFill>
              <a:miter/>
              <a:tailEnd len="med" type="triangle" w="med"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46800" rIns="90000" bIns="-46800" anchor="ctr">
              <a:noAutofit/>
            </a:bodyPr>
            <a:p>
              <a:endParaRPr lang="it-IT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897" name="Text Box 20"/>
            <p:cNvSpPr/>
            <p:nvPr/>
          </p:nvSpPr>
          <p:spPr>
            <a:xfrm>
              <a:off x="5361120" y="4952880"/>
              <a:ext cx="2895480" cy="337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spAutoFit/>
            </a:bodyPr>
            <a:p>
              <a:pPr>
                <a:lnSpc>
                  <a:spcPct val="100000"/>
                </a:lnSpc>
                <a:spcBef>
                  <a:spcPts val="1001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600" b="0" i="1" u="sng" strike="noStrike">
                  <a:solidFill>
                    <a:srgbClr val="B025A6"/>
                  </a:solidFill>
                  <a:effectLst/>
                  <a:uFillTx/>
                  <a:latin typeface="Arial Rounded MT Bold"/>
                </a:rPr>
                <a:t>The Cycle of Constructions</a:t>
              </a:r>
              <a:endParaRPr lang="it-IT" sz="16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</p:grpSp>
      <p:sp>
        <p:nvSpPr>
          <p:cNvPr id="898" name="Text Box 22"/>
          <p:cNvSpPr/>
          <p:nvPr/>
        </p:nvSpPr>
        <p:spPr>
          <a:xfrm>
            <a:off x="6324480" y="2209680"/>
            <a:ext cx="2514600" cy="858600"/>
          </a:xfrm>
          <a:prstGeom prst="rect">
            <a:avLst/>
          </a:prstGeom>
          <a:solidFill>
            <a:srgbClr val="E6E6E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spAutoFit/>
          </a:bodyPr>
          <a:p>
            <a:pPr>
              <a:spcBef>
                <a:spcPts val="1001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600" b="0" i="1" u="none" strike="noStrike">
                <a:solidFill>
                  <a:srgbClr val="FF0065"/>
                </a:solidFill>
                <a:effectLst/>
                <a:uFillTx/>
                <a:latin typeface="Comic Sans MS"/>
              </a:rPr>
              <a:t>R</a:t>
            </a:r>
            <a:r>
              <a:rPr lang="en-US" sz="1600" b="0" i="1" u="none" strike="noStrike" baseline="30000">
                <a:solidFill>
                  <a:srgbClr val="FF0065"/>
                </a:solidFill>
                <a:effectLst/>
                <a:uFillTx/>
                <a:latin typeface="Comic Sans MS"/>
              </a:rPr>
              <a:t>k</a:t>
            </a:r>
            <a:r>
              <a:rPr lang="en-US" sz="1600" b="0" i="1" u="none" strike="noStrike" baseline="-25000">
                <a:solidFill>
                  <a:srgbClr val="FF0065"/>
                </a:solidFill>
                <a:effectLst/>
                <a:uFillTx/>
                <a:latin typeface="Comic Sans MS"/>
              </a:rPr>
              <a:t>ij</a:t>
            </a:r>
            <a:r>
              <a:rPr lang="en-US" sz="1600" b="0" u="none" strike="noStrike">
                <a:solidFill>
                  <a:srgbClr val="FF0065"/>
                </a:solidFill>
                <a:effectLst/>
                <a:uFillTx/>
                <a:latin typeface="Comic Sans MS"/>
              </a:rPr>
              <a:t> is the set of paths from </a:t>
            </a:r>
            <a:r>
              <a:rPr lang="en-US" sz="1600" b="0" i="1" u="none" strike="noStrike">
                <a:solidFill>
                  <a:srgbClr val="FF0065"/>
                </a:solidFill>
                <a:effectLst/>
                <a:uFillTx/>
                <a:latin typeface="Comic Sans MS"/>
              </a:rPr>
              <a:t>i</a:t>
            </a:r>
            <a:r>
              <a:rPr lang="en-US" sz="1600" b="0" u="none" strike="noStrike">
                <a:solidFill>
                  <a:srgbClr val="FF0065"/>
                </a:solidFill>
                <a:effectLst/>
                <a:uFillTx/>
                <a:latin typeface="Comic Sans MS"/>
              </a:rPr>
              <a:t> to </a:t>
            </a:r>
            <a:r>
              <a:rPr lang="en-US" sz="1600" b="0" i="1" u="none" strike="noStrike">
                <a:solidFill>
                  <a:srgbClr val="FF0065"/>
                </a:solidFill>
                <a:effectLst/>
                <a:uFillTx/>
                <a:latin typeface="Comic Sans MS"/>
              </a:rPr>
              <a:t>j</a:t>
            </a:r>
            <a:r>
              <a:rPr lang="en-US" sz="1600" b="0" u="none" strike="noStrike">
                <a:solidFill>
                  <a:srgbClr val="FF0065"/>
                </a:solidFill>
                <a:effectLst/>
                <a:uFillTx/>
                <a:latin typeface="Comic Sans MS"/>
              </a:rPr>
              <a:t> that include no state higher than </a:t>
            </a:r>
            <a:r>
              <a:rPr lang="en-US" sz="1600" b="0" i="1" u="none" strike="noStrike">
                <a:solidFill>
                  <a:srgbClr val="FF0065"/>
                </a:solidFill>
                <a:effectLst/>
                <a:uFillTx/>
                <a:latin typeface="Comic Sans MS"/>
              </a:rPr>
              <a:t>k</a:t>
            </a:r>
            <a:endParaRPr lang="it-IT" sz="16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9" name="Footer Placeholder 3"/>
          <p:cNvSpPr/>
          <p:nvPr/>
        </p:nvSpPr>
        <p:spPr>
          <a:xfrm>
            <a:off x="685800" y="6248520"/>
            <a:ext cx="289548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Autofit/>
          </a:bodyPr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Comp 412, Fall 2010</a:t>
            </a:r>
            <a:endParaRPr lang="it-IT" sz="12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900" name="Slide Number Placeholder 4"/>
          <p:cNvSpPr/>
          <p:nvPr/>
        </p:nvSpPr>
        <p:spPr>
          <a:xfrm>
            <a:off x="6553080" y="6248520"/>
            <a:ext cx="190512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Autofit/>
          </a:bodyPr>
          <a:p>
            <a:pPr algn="r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08537288-DD1E-4AF5-86D0-AFF8DE1A945F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&lt;number&gt;</a:t>
            </a:fld>
            <a:endParaRPr lang="it-IT" sz="12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901" name="PlaceHolder 1"/>
          <p:cNvSpPr>
            <a:spLocks noGrp="1"/>
          </p:cNvSpPr>
          <p:nvPr>
            <p:ph type="title"/>
          </p:nvPr>
        </p:nvSpPr>
        <p:spPr>
          <a:xfrm>
            <a:off x="685800" y="533160"/>
            <a:ext cx="7772400" cy="533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l">
              <a:spcBef>
                <a:spcPts val="451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Limits of Regular Languages</a:t>
            </a:r>
            <a:endParaRPr lang="it-IT" sz="24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902" name="PlaceHolder 2"/>
          <p:cNvSpPr>
            <a:spLocks noGrp="1"/>
          </p:cNvSpPr>
          <p:nvPr>
            <p:ph/>
          </p:nvPr>
        </p:nvSpPr>
        <p:spPr>
          <a:xfrm>
            <a:off x="685800" y="1143000"/>
            <a:ext cx="7772400" cy="495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p>
            <a:pPr marL="343080" indent="-343080" algn="l">
              <a:spcBef>
                <a:spcPts val="499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Not all languages are regular</a:t>
            </a:r>
            <a:endParaRPr lang="it-IT" sz="20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  <a:p>
            <a:pPr marL="743040" lvl="1" indent="-285840" algn="l">
              <a:spcBef>
                <a:spcPts val="451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RL’s 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Symbol"/>
                <a:ea typeface="Symbol"/>
              </a:rPr>
              <a:t>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 CFL’s  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Symbol"/>
                <a:ea typeface="Symbol"/>
              </a:rPr>
              <a:t>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 CSL’s</a:t>
            </a:r>
            <a:endParaRPr lang="it-IT" sz="18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  <a:p>
            <a:pPr marL="343080" indent="-343080" algn="l">
              <a:spcBef>
                <a:spcPts val="1250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You cannot construct DFA’s to recognize these languages</a:t>
            </a:r>
            <a:endParaRPr lang="it-IT" sz="20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  <a:p>
            <a:pPr marL="343080" indent="-343080" algn="l">
              <a:spcBef>
                <a:spcPts val="451"/>
              </a:spcBef>
              <a:buClr>
                <a:srgbClr val="003C75"/>
              </a:buClr>
              <a:buSzPct val="120000"/>
              <a:buFont typeface="Times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i="1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L =  { p</a:t>
            </a:r>
            <a:r>
              <a:rPr lang="en-US" sz="2000" b="0" i="1" u="none" strike="noStrike" baseline="30000">
                <a:solidFill>
                  <a:srgbClr val="000000"/>
                </a:solidFill>
                <a:effectLst/>
                <a:uFillTx/>
                <a:latin typeface="Comic Sans MS"/>
              </a:rPr>
              <a:t>k</a:t>
            </a:r>
            <a:r>
              <a:rPr lang="en-US" sz="2000" b="0" i="1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q</a:t>
            </a:r>
            <a:r>
              <a:rPr lang="en-US" sz="2000" b="0" i="1" u="none" strike="noStrike" baseline="30000">
                <a:solidFill>
                  <a:srgbClr val="000000"/>
                </a:solidFill>
                <a:effectLst/>
                <a:uFillTx/>
                <a:latin typeface="Comic Sans MS"/>
              </a:rPr>
              <a:t>k</a:t>
            </a:r>
            <a:r>
              <a:rPr lang="en-US" sz="2000" b="0" i="1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 }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                                           </a:t>
            </a:r>
            <a:r>
              <a:rPr lang="en-US" sz="1800" b="0" i="1" u="none" strike="noStrike">
                <a:solidFill>
                  <a:srgbClr val="FF0065"/>
                </a:solidFill>
                <a:effectLst/>
                <a:uFillTx/>
                <a:latin typeface="Comic Sans MS"/>
              </a:rPr>
              <a:t>(parenthesis languages)</a:t>
            </a:r>
            <a:endParaRPr lang="it-IT" sz="18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  <a:p>
            <a:pPr marL="343080" indent="-343080" algn="l">
              <a:spcBef>
                <a:spcPts val="499"/>
              </a:spcBef>
              <a:buClr>
                <a:srgbClr val="003C75"/>
              </a:buClr>
              <a:buSzPct val="120000"/>
              <a:buFont typeface="Times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i="1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L =  { wcw</a:t>
            </a:r>
            <a:r>
              <a:rPr lang="en-US" sz="2000" b="0" i="1" u="none" strike="noStrike" baseline="30000">
                <a:solidFill>
                  <a:srgbClr val="000000"/>
                </a:solidFill>
                <a:effectLst/>
                <a:uFillTx/>
                <a:latin typeface="Comic Sans MS"/>
              </a:rPr>
              <a:t>r</a:t>
            </a:r>
            <a:r>
              <a:rPr lang="en-US" sz="2000" b="0" i="1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| </a:t>
            </a:r>
            <a:r>
              <a:rPr lang="en-US" sz="2000" b="0" i="1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w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Symbol"/>
                <a:ea typeface="Symbol"/>
              </a:rPr>
              <a:t>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 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Symbol"/>
                <a:ea typeface="Symbol"/>
              </a:rPr>
              <a:t></a:t>
            </a:r>
            <a:r>
              <a:rPr lang="en-US" sz="2400" b="0" u="none" strike="noStrike" baseline="30000">
                <a:solidFill>
                  <a:srgbClr val="000000"/>
                </a:solidFill>
                <a:effectLst/>
                <a:uFillTx/>
                <a:latin typeface="Comic Sans MS"/>
              </a:rPr>
              <a:t>*</a:t>
            </a:r>
            <a:r>
              <a:rPr lang="en-US" sz="2000" b="0" i="1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}</a:t>
            </a:r>
            <a:endParaRPr lang="it-IT" sz="20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  <a:p>
            <a:pPr marL="343080" indent="-343080" algn="l">
              <a:spcBef>
                <a:spcPts val="451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Neither of these is a regular language</a:t>
            </a:r>
            <a:r>
              <a:rPr lang="en-US" sz="2000" b="0" i="1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                      </a:t>
            </a:r>
            <a:r>
              <a:rPr lang="en-US" sz="1800" b="0" i="1" u="none" strike="noStrike">
                <a:solidFill>
                  <a:srgbClr val="FF0065"/>
                </a:solidFill>
                <a:effectLst/>
                <a:uFillTx/>
                <a:latin typeface="Comic Sans MS"/>
              </a:rPr>
              <a:t>(nor an RE)</a:t>
            </a:r>
            <a:endParaRPr lang="it-IT" sz="18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  <a:p>
            <a:pPr marL="343080" indent="-343080" algn="l">
              <a:spcBef>
                <a:spcPts val="1250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But, this is a little subtle.  You </a:t>
            </a:r>
            <a:r>
              <a:rPr lang="en-US" sz="2000" b="0" u="sng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can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 construct 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DFA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’s for</a:t>
            </a:r>
            <a:endParaRPr lang="it-IT" sz="20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  <a:p>
            <a:pPr marL="343080" indent="-343080" algn="l">
              <a:spcBef>
                <a:spcPts val="499"/>
              </a:spcBef>
              <a:buClr>
                <a:srgbClr val="003C75"/>
              </a:buClr>
              <a:buSzPct val="120000"/>
              <a:buFont typeface="Times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Strings with alternating 0’s and 1’s               </a:t>
            </a:r>
            <a:endParaRPr lang="it-IT" sz="20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  <a:p>
            <a:pPr marL="743040" lvl="1" indent="-285840" algn="l">
              <a:spcBef>
                <a:spcPts val="201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( 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Symbol"/>
                <a:ea typeface="Symbol"/>
              </a:rPr>
              <a:t></a:t>
            </a: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 | 1 ) ( 01 )</a:t>
            </a:r>
            <a:r>
              <a:rPr lang="en-US" sz="1600" b="0" u="none" strike="noStrike" baseline="30000">
                <a:solidFill>
                  <a:srgbClr val="000000"/>
                </a:solidFill>
                <a:effectLst/>
                <a:uFillTx/>
                <a:latin typeface="Comic Sans MS"/>
              </a:rPr>
              <a:t>* </a:t>
            </a: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( 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Symbol"/>
                <a:ea typeface="Symbol"/>
              </a:rPr>
              <a:t></a:t>
            </a: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 | 0 ) </a:t>
            </a:r>
            <a:endParaRPr lang="it-IT" sz="16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  <a:p>
            <a:pPr marL="343080" indent="-343080" algn="l">
              <a:spcBef>
                <a:spcPts val="499"/>
              </a:spcBef>
              <a:buClr>
                <a:srgbClr val="003C75"/>
              </a:buClr>
              <a:buSzPct val="120000"/>
              <a:buFont typeface="Times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Strings with and even number of 0’s and 1’s                      </a:t>
            </a:r>
            <a:endParaRPr lang="it-IT" sz="20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  <a:p>
            <a:pPr marL="343080" indent="-343080" algn="l">
              <a:spcBef>
                <a:spcPts val="1500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RE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’s can count bounded sets and bounded differences</a:t>
            </a:r>
            <a:endParaRPr lang="it-IT" sz="20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</p:spTree>
  </p:cSld>
  <p:transition>
    <p:wipe dir="r"/>
  </p:transition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3" name="Footer Placeholder 3"/>
          <p:cNvSpPr/>
          <p:nvPr/>
        </p:nvSpPr>
        <p:spPr>
          <a:xfrm>
            <a:off x="685800" y="6248520"/>
            <a:ext cx="289548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Autofit/>
          </a:bodyPr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Comp 412, Fall 2010</a:t>
            </a:r>
            <a:endParaRPr lang="it-IT" sz="12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904" name="Slide Number Placeholder 4"/>
          <p:cNvSpPr/>
          <p:nvPr/>
        </p:nvSpPr>
        <p:spPr>
          <a:xfrm>
            <a:off x="6553080" y="6248520"/>
            <a:ext cx="190512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Autofit/>
          </a:bodyPr>
          <a:p>
            <a:pPr algn="r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F9FD0763-558E-46E6-94FD-3FE70F168AD7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&lt;number&gt;</a:t>
            </a:fld>
            <a:endParaRPr lang="it-IT" sz="12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905" name="PlaceHolder 1"/>
          <p:cNvSpPr>
            <a:spLocks noGrp="1"/>
          </p:cNvSpPr>
          <p:nvPr>
            <p:ph type="title"/>
          </p:nvPr>
        </p:nvSpPr>
        <p:spPr>
          <a:xfrm>
            <a:off x="685800" y="533160"/>
            <a:ext cx="7772400" cy="533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l">
              <a:spcBef>
                <a:spcPts val="18000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Limits of Regular Languages</a:t>
            </a:r>
            <a:endParaRPr lang="it-IT" sz="24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906" name="PlaceHolder 2"/>
          <p:cNvSpPr>
            <a:spLocks noGrp="1"/>
          </p:cNvSpPr>
          <p:nvPr>
            <p:ph/>
          </p:nvPr>
        </p:nvSpPr>
        <p:spPr>
          <a:xfrm>
            <a:off x="685800" y="1143000"/>
            <a:ext cx="7772400" cy="495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p>
            <a:pPr marL="343080" indent="-343080" algn="l">
              <a:spcBef>
                <a:spcPts val="15001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Advantages of Regular Expressions</a:t>
            </a:r>
            <a:endParaRPr lang="it-IT" sz="20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  <a:p>
            <a:pPr marL="343080" indent="-343080" algn="l">
              <a:spcBef>
                <a:spcPts val="751"/>
              </a:spcBef>
              <a:buClr>
                <a:srgbClr val="003C75"/>
              </a:buClr>
              <a:buSzPct val="120000"/>
              <a:buFont typeface="Times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Simple &amp; powerful notation for specifying patterns</a:t>
            </a:r>
            <a:endParaRPr lang="it-IT" sz="20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  <a:p>
            <a:pPr marL="343080" indent="-343080" algn="l">
              <a:spcBef>
                <a:spcPts val="751"/>
              </a:spcBef>
              <a:buClr>
                <a:srgbClr val="003C75"/>
              </a:buClr>
              <a:buSzPct val="120000"/>
              <a:buFont typeface="Times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Automatic construction of fast recognizers</a:t>
            </a:r>
            <a:endParaRPr lang="it-IT" sz="20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  <a:p>
            <a:pPr marL="343080" indent="-343080" algn="l">
              <a:spcBef>
                <a:spcPts val="751"/>
              </a:spcBef>
              <a:buClr>
                <a:srgbClr val="003C75"/>
              </a:buClr>
              <a:buSzPct val="120000"/>
              <a:buFont typeface="Times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Many kinds of syntax can be specified with 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RE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s</a:t>
            </a:r>
            <a:endParaRPr lang="it-IT" sz="20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  <a:p>
            <a:pPr marL="343080" indent="-343080" algn="l">
              <a:spcBef>
                <a:spcPts val="1874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Example — an expression grammar</a:t>
            </a:r>
            <a:endParaRPr lang="it-IT" sz="20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  <a:p>
            <a:pPr marL="743040" lvl="1" indent="-285840" algn="l">
              <a:spcBef>
                <a:spcPts val="561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i="1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Term </a:t>
            </a:r>
            <a:r>
              <a:rPr lang="en-US" sz="1600" b="0" i="1" u="none" strike="noStrike">
                <a:solidFill>
                  <a:srgbClr val="000000"/>
                </a:solidFill>
                <a:effectLst/>
                <a:uFillTx/>
                <a:latin typeface="Symbol"/>
                <a:ea typeface="Symbol"/>
              </a:rPr>
              <a:t></a:t>
            </a:r>
            <a:r>
              <a:rPr lang="en-US" sz="1800" b="0" i="1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  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[a-zA-Z] ([a-zA-Z] | [</a:t>
            </a:r>
            <a:r>
              <a:rPr lang="en-US" sz="1800" b="0" u="sng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0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-</a:t>
            </a:r>
            <a:r>
              <a:rPr lang="en-US" sz="1800" b="0" u="sng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9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])</a:t>
            </a:r>
            <a:r>
              <a:rPr lang="en-US" sz="1800" b="0" u="none" strike="noStrike" baseline="30000">
                <a:solidFill>
                  <a:srgbClr val="000000"/>
                </a:solidFill>
                <a:effectLst/>
                <a:uFillTx/>
                <a:latin typeface="Comic Sans MS"/>
              </a:rPr>
              <a:t>*</a:t>
            </a:r>
            <a:endParaRPr lang="it-IT" sz="18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  <a:p>
            <a:pPr marL="743040" lvl="1" indent="-285840" algn="l">
              <a:spcBef>
                <a:spcPts val="561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i="1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Op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      </a:t>
            </a:r>
            <a:r>
              <a:rPr lang="en-US" sz="1600" b="0" i="1" u="none" strike="noStrike">
                <a:solidFill>
                  <a:srgbClr val="000000"/>
                </a:solidFill>
                <a:effectLst/>
                <a:uFillTx/>
                <a:latin typeface="Symbol"/>
                <a:ea typeface="Symbol"/>
              </a:rPr>
              <a:t></a:t>
            </a:r>
            <a:r>
              <a:rPr lang="en-US" sz="1600" b="0" i="1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  </a:t>
            </a:r>
            <a:r>
              <a:rPr lang="en-US" sz="1800" b="0" u="sng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+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 | </a:t>
            </a:r>
            <a:r>
              <a:rPr lang="en-US" sz="1800" b="0" u="sng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-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 | </a:t>
            </a:r>
            <a:r>
              <a:rPr lang="en-US" sz="1800" b="0" u="sng" strike="noStrike">
                <a:solidFill>
                  <a:srgbClr val="000000"/>
                </a:solidFill>
                <a:effectLst/>
                <a:uFillTx/>
                <a:latin typeface="Symbol"/>
                <a:ea typeface="Symbol"/>
              </a:rPr>
              <a:t>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 | </a:t>
            </a:r>
            <a:r>
              <a:rPr lang="en-US" sz="1800" b="0" u="sng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/</a:t>
            </a:r>
            <a:endParaRPr lang="it-IT" sz="18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  <a:p>
            <a:pPr marL="743040" lvl="1" indent="-285840" algn="l">
              <a:spcBef>
                <a:spcPts val="561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i="1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Expr  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 </a:t>
            </a:r>
            <a:r>
              <a:rPr lang="en-US" sz="1600" b="0" i="1" u="none" strike="noStrike">
                <a:solidFill>
                  <a:srgbClr val="000000"/>
                </a:solidFill>
                <a:effectLst/>
                <a:uFillTx/>
                <a:latin typeface="Symbol"/>
                <a:ea typeface="Symbol"/>
              </a:rPr>
              <a:t></a:t>
            </a: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  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( </a:t>
            </a:r>
            <a:r>
              <a:rPr lang="en-US" sz="1800" b="0" i="1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Term Op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 )</a:t>
            </a:r>
            <a:r>
              <a:rPr lang="en-US" sz="1800" b="0" u="none" strike="noStrike" baseline="30000">
                <a:solidFill>
                  <a:srgbClr val="000000"/>
                </a:solidFill>
                <a:effectLst/>
                <a:uFillTx/>
                <a:latin typeface="Comic Sans MS"/>
              </a:rPr>
              <a:t>*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 </a:t>
            </a:r>
            <a:r>
              <a:rPr lang="en-US" sz="1800" b="0" i="1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Term</a:t>
            </a:r>
            <a:endParaRPr lang="it-IT" sz="18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  <a:p>
            <a:pPr marL="343080" indent="-343080" algn="l">
              <a:spcBef>
                <a:spcPts val="624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Of course, this would generate a 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DFA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 …</a:t>
            </a:r>
            <a:endParaRPr lang="it-IT" sz="20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  <a:p>
            <a:pPr marL="343080" indent="-343080" algn="l">
              <a:spcBef>
                <a:spcPts val="1874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If 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RE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s are so useful …</a:t>
            </a:r>
            <a:endParaRPr lang="it-IT" sz="20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  <a:p>
            <a:pPr marL="743040" lvl="1" indent="-285840" algn="l">
              <a:spcBef>
                <a:spcPts val="337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i="1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Why not use them for everything?</a:t>
            </a:r>
            <a:endParaRPr lang="it-IT" sz="18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</p:spTree>
  </p:cSld>
  <p:transition>
    <p:wipe dir="r"/>
  </p:transition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7" name=""/>
          <p:cNvSpPr txBox="1"/>
          <p:nvPr/>
        </p:nvSpPr>
        <p:spPr>
          <a:xfrm>
            <a:off x="685800" y="1143000"/>
            <a:ext cx="7772400" cy="495288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p>
            <a:pPr marL="343080" indent="-343080" algn="ctr">
              <a:spcBef>
                <a:spcPts val="499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it-IT" sz="20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  <a:p>
            <a:pPr marL="343080" indent="-343080" algn="ctr">
              <a:spcBef>
                <a:spcPts val="499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it-IT" sz="20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  <a:p>
            <a:pPr marL="343080" indent="-343080" algn="ctr">
              <a:spcBef>
                <a:spcPts val="499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it-IT" sz="20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  <a:p>
            <a:pPr marL="343080" indent="-343080" algn="ctr">
              <a:spcBef>
                <a:spcPts val="499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it-IT" sz="20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  <a:p>
            <a:pPr marL="343080" indent="-343080" algn="ctr">
              <a:spcBef>
                <a:spcPts val="799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200" b="0" u="none" strike="noStrike">
                <a:solidFill>
                  <a:srgbClr val="FF0065"/>
                </a:solidFill>
                <a:effectLst/>
                <a:uFillTx/>
                <a:latin typeface="Comic Sans MS"/>
              </a:rPr>
              <a:t>EXTRA SLIDES START HERE</a:t>
            </a:r>
            <a:endParaRPr lang="it-IT" sz="32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908" name="Footer Placeholder 3"/>
          <p:cNvSpPr/>
          <p:nvPr/>
        </p:nvSpPr>
        <p:spPr>
          <a:xfrm>
            <a:off x="685800" y="6248520"/>
            <a:ext cx="289548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Autofit/>
          </a:bodyPr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Comp 412, Fall 2010</a:t>
            </a:r>
            <a:endParaRPr lang="it-IT" sz="12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909" name="Slide Number Placeholder 4"/>
          <p:cNvSpPr/>
          <p:nvPr/>
        </p:nvSpPr>
        <p:spPr>
          <a:xfrm>
            <a:off x="6553080" y="6248520"/>
            <a:ext cx="190512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Autofit/>
          </a:bodyPr>
          <a:p>
            <a:pPr algn="r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8990358D-2DCB-4C50-AEE2-C1651F6E1B5E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&lt;number&gt;</a:t>
            </a:fld>
            <a:endParaRPr lang="it-IT" sz="12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0" name="Footer Placeholder 3"/>
          <p:cNvSpPr/>
          <p:nvPr/>
        </p:nvSpPr>
        <p:spPr>
          <a:xfrm>
            <a:off x="685800" y="6248520"/>
            <a:ext cx="289548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Autofit/>
          </a:bodyPr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Comp 412, Fall 2010</a:t>
            </a:r>
            <a:endParaRPr lang="it-IT" sz="12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911" name="Slide Number Placeholder 4"/>
          <p:cNvSpPr/>
          <p:nvPr/>
        </p:nvSpPr>
        <p:spPr>
          <a:xfrm>
            <a:off x="6553080" y="6248520"/>
            <a:ext cx="190512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Autofit/>
          </a:bodyPr>
          <a:p>
            <a:pPr algn="r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9F1974C2-FCC6-43CE-9E19-4095B3533B20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&lt;number&gt;</a:t>
            </a:fld>
            <a:endParaRPr lang="it-IT" sz="12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912" name="PlaceHolder 1"/>
          <p:cNvSpPr>
            <a:spLocks noGrp="1"/>
          </p:cNvSpPr>
          <p:nvPr>
            <p:ph type="title"/>
          </p:nvPr>
        </p:nvSpPr>
        <p:spPr>
          <a:xfrm>
            <a:off x="685800" y="533160"/>
            <a:ext cx="7772400" cy="533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l">
              <a:spcBef>
                <a:spcPts val="901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DFA Minimization</a:t>
            </a:r>
            <a:endParaRPr lang="it-IT" sz="24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913" name="PlaceHolder 2"/>
          <p:cNvSpPr>
            <a:spLocks noGrp="1"/>
          </p:cNvSpPr>
          <p:nvPr>
            <p:ph/>
          </p:nvPr>
        </p:nvSpPr>
        <p:spPr>
          <a:xfrm>
            <a:off x="685800" y="1143000"/>
            <a:ext cx="3581280" cy="495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p>
            <a:pPr marL="343080" indent="-343080" algn="l">
              <a:spcBef>
                <a:spcPts val="751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The algorithm</a:t>
            </a:r>
            <a:endParaRPr lang="it-IT" sz="20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914" name="Text Box 4"/>
          <p:cNvSpPr/>
          <p:nvPr/>
        </p:nvSpPr>
        <p:spPr>
          <a:xfrm>
            <a:off x="851040" y="1606680"/>
            <a:ext cx="3429000" cy="4052520"/>
          </a:xfrm>
          <a:prstGeom prst="rect">
            <a:avLst/>
          </a:prstGeom>
          <a:noFill/>
          <a:ln w="9360">
            <a:solidFill>
              <a:srgbClr val="B025A6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spAutoFit/>
          </a:bodyPr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i="1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T </a:t>
            </a:r>
            <a:r>
              <a:rPr lang="en-US" sz="1800" b="0" i="1" u="none" strike="noStrike">
                <a:solidFill>
                  <a:srgbClr val="000000"/>
                </a:solidFill>
                <a:effectLst/>
                <a:uFillTx/>
                <a:latin typeface="Symbol"/>
                <a:ea typeface="Symbol"/>
              </a:rPr>
              <a:t></a:t>
            </a:r>
            <a:r>
              <a:rPr lang="en-US" sz="1800" b="0" i="1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 { F, {S-F}}</a:t>
            </a:r>
            <a:endParaRPr lang="it-IT" sz="18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i="1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 P </a:t>
            </a:r>
            <a:r>
              <a:rPr lang="en-US" sz="1800" b="0" i="1" u="none" strike="noStrike">
                <a:solidFill>
                  <a:srgbClr val="000000"/>
                </a:solidFill>
                <a:effectLst/>
                <a:uFillTx/>
                <a:latin typeface="Symbol"/>
                <a:ea typeface="Symbol"/>
              </a:rPr>
              <a:t></a:t>
            </a:r>
            <a:r>
              <a:rPr lang="en-US" sz="1800" b="0" i="1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 { }</a:t>
            </a:r>
            <a:endParaRPr lang="it-IT" sz="18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  <a:p>
            <a:pPr>
              <a:spcBef>
                <a:spcPts val="561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i="1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while ( P </a:t>
            </a:r>
            <a:r>
              <a:rPr lang="en-US" sz="1800" b="0" i="1" u="none" strike="noStrike">
                <a:solidFill>
                  <a:srgbClr val="000000"/>
                </a:solidFill>
                <a:effectLst/>
                <a:uFillTx/>
                <a:latin typeface="Symbol"/>
                <a:ea typeface="Symbol"/>
              </a:rPr>
              <a:t></a:t>
            </a:r>
            <a:r>
              <a:rPr lang="en-US" sz="1800" b="0" i="1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 T)</a:t>
            </a:r>
            <a:endParaRPr lang="it-IT" sz="18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i="1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   P </a:t>
            </a:r>
            <a:r>
              <a:rPr lang="en-US" sz="1800" b="0" i="1" u="none" strike="noStrike">
                <a:solidFill>
                  <a:srgbClr val="000000"/>
                </a:solidFill>
                <a:effectLst/>
                <a:uFillTx/>
                <a:latin typeface="Symbol"/>
                <a:ea typeface="Symbol"/>
              </a:rPr>
              <a:t></a:t>
            </a:r>
            <a:r>
              <a:rPr lang="en-US" sz="1800" b="0" i="1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 T </a:t>
            </a:r>
            <a:endParaRPr lang="it-IT" sz="18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i="1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   T </a:t>
            </a:r>
            <a:r>
              <a:rPr lang="en-US" sz="1800" b="0" i="1" u="none" strike="noStrike">
                <a:solidFill>
                  <a:srgbClr val="000000"/>
                </a:solidFill>
                <a:effectLst/>
                <a:uFillTx/>
                <a:latin typeface="Symbol"/>
                <a:ea typeface="Symbol"/>
              </a:rPr>
              <a:t></a:t>
            </a:r>
            <a:r>
              <a:rPr lang="en-US" sz="1800" b="0" i="1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 { }</a:t>
            </a:r>
            <a:endParaRPr lang="it-IT" sz="18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  <a:p>
            <a:pPr>
              <a:spcBef>
                <a:spcPts val="67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i="1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    for each set p</a:t>
            </a:r>
            <a:r>
              <a:rPr lang="en-US" sz="1800" b="0" i="1" u="none" strike="noStrike" baseline="-25000">
                <a:solidFill>
                  <a:srgbClr val="000000"/>
                </a:solidFill>
                <a:effectLst/>
                <a:uFillTx/>
                <a:latin typeface="Comic Sans MS"/>
              </a:rPr>
              <a:t>i</a:t>
            </a:r>
            <a:r>
              <a:rPr lang="en-US" sz="1800" b="0" i="1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 </a:t>
            </a:r>
            <a:r>
              <a:rPr lang="en-US" sz="1800" b="0" i="1" u="none" strike="noStrike">
                <a:solidFill>
                  <a:srgbClr val="000000"/>
                </a:solidFill>
                <a:effectLst/>
                <a:uFillTx/>
                <a:latin typeface="Symbol"/>
                <a:ea typeface="Symbol"/>
              </a:rPr>
              <a:t></a:t>
            </a:r>
            <a:r>
              <a:rPr lang="en-US" sz="1800" b="0" i="1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 P</a:t>
            </a:r>
            <a:endParaRPr lang="it-IT" sz="18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i="1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         T </a:t>
            </a:r>
            <a:r>
              <a:rPr lang="en-US" sz="1800" b="0" i="1" u="none" strike="noStrike">
                <a:solidFill>
                  <a:srgbClr val="000000"/>
                </a:solidFill>
                <a:effectLst/>
                <a:uFillTx/>
                <a:latin typeface="Symbol"/>
                <a:ea typeface="Symbol"/>
              </a:rPr>
              <a:t></a:t>
            </a:r>
            <a:r>
              <a:rPr lang="en-US" sz="1800" b="0" i="1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 T </a:t>
            </a:r>
            <a:r>
              <a:rPr lang="en-US" sz="1800" b="0" i="1" u="none" strike="noStrike">
                <a:solidFill>
                  <a:srgbClr val="000000"/>
                </a:solidFill>
                <a:effectLst/>
                <a:uFillTx/>
                <a:latin typeface="Symbol"/>
                <a:ea typeface="Symbol"/>
              </a:rPr>
              <a:t></a:t>
            </a:r>
            <a:r>
              <a:rPr lang="en-US" sz="1800" b="0" i="1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 Split(p</a:t>
            </a:r>
            <a:r>
              <a:rPr lang="en-US" sz="1800" b="0" i="1" u="none" strike="noStrike" baseline="-25000">
                <a:solidFill>
                  <a:srgbClr val="000000"/>
                </a:solidFill>
                <a:effectLst/>
                <a:uFillTx/>
                <a:latin typeface="Comic Sans MS"/>
              </a:rPr>
              <a:t>i</a:t>
            </a:r>
            <a:r>
              <a:rPr lang="en-US" sz="1800" b="0" i="1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)</a:t>
            </a:r>
            <a:endParaRPr lang="it-IT" sz="18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it-IT" sz="18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i="1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Split(S)</a:t>
            </a:r>
            <a:endParaRPr lang="it-IT" sz="18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i="1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    for each c </a:t>
            </a:r>
            <a:r>
              <a:rPr lang="en-US" sz="1800" b="0" i="1" u="none" strike="noStrike">
                <a:solidFill>
                  <a:srgbClr val="000000"/>
                </a:solidFill>
                <a:effectLst/>
                <a:uFillTx/>
                <a:latin typeface="Symbol"/>
                <a:ea typeface="Symbol"/>
              </a:rPr>
              <a:t></a:t>
            </a:r>
            <a:r>
              <a:rPr lang="en-US" sz="1800" b="0" i="1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 </a:t>
            </a:r>
            <a:r>
              <a:rPr lang="en-US" sz="1800" b="0" i="1" u="none" strike="noStrike">
                <a:solidFill>
                  <a:srgbClr val="000000"/>
                </a:solidFill>
                <a:effectLst/>
                <a:uFillTx/>
                <a:latin typeface="Symbol"/>
                <a:ea typeface="Symbol"/>
              </a:rPr>
              <a:t></a:t>
            </a:r>
            <a:endParaRPr lang="it-IT" sz="18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i="1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         if c splits S into s</a:t>
            </a:r>
            <a:r>
              <a:rPr lang="en-US" sz="1800" b="0" i="1" u="none" strike="noStrike" baseline="-25000">
                <a:solidFill>
                  <a:srgbClr val="000000"/>
                </a:solidFill>
                <a:effectLst/>
                <a:uFillTx/>
                <a:latin typeface="Comic Sans MS"/>
              </a:rPr>
              <a:t>1</a:t>
            </a:r>
            <a:r>
              <a:rPr lang="en-US" sz="1800" b="0" i="1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 &amp; s</a:t>
            </a:r>
            <a:r>
              <a:rPr lang="en-US" sz="1800" b="0" i="1" u="none" strike="noStrike" baseline="-25000">
                <a:solidFill>
                  <a:srgbClr val="000000"/>
                </a:solidFill>
                <a:effectLst/>
                <a:uFillTx/>
                <a:latin typeface="Comic Sans MS"/>
              </a:rPr>
              <a:t>2</a:t>
            </a:r>
            <a:endParaRPr lang="it-IT" sz="18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i="1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             then return {s</a:t>
            </a:r>
            <a:r>
              <a:rPr lang="en-US" sz="1800" b="0" i="1" u="none" strike="noStrike" baseline="-25000">
                <a:solidFill>
                  <a:srgbClr val="000000"/>
                </a:solidFill>
                <a:effectLst/>
                <a:uFillTx/>
                <a:latin typeface="Comic Sans MS"/>
              </a:rPr>
              <a:t>1</a:t>
            </a:r>
            <a:r>
              <a:rPr lang="en-US" sz="1800" b="0" i="1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, s</a:t>
            </a:r>
            <a:r>
              <a:rPr lang="en-US" sz="1800" b="0" i="1" u="none" strike="noStrike" baseline="-25000">
                <a:solidFill>
                  <a:srgbClr val="000000"/>
                </a:solidFill>
                <a:effectLst/>
                <a:uFillTx/>
                <a:latin typeface="Comic Sans MS"/>
              </a:rPr>
              <a:t>2</a:t>
            </a:r>
            <a:r>
              <a:rPr lang="en-US" sz="1800" b="0" i="1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}</a:t>
            </a:r>
            <a:endParaRPr lang="it-IT" sz="18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  <a:p>
            <a:pPr>
              <a:spcBef>
                <a:spcPts val="67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i="1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    return S</a:t>
            </a:r>
            <a:endParaRPr lang="it-IT" sz="18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915" name="Rectangle 5"/>
          <p:cNvSpPr/>
          <p:nvPr/>
        </p:nvSpPr>
        <p:spPr>
          <a:xfrm>
            <a:off x="4419720" y="1066680"/>
            <a:ext cx="4356000" cy="507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Autofit/>
          </a:bodyPr>
          <a:p>
            <a:pPr marL="343080" indent="-343080">
              <a:spcBef>
                <a:spcPts val="499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Why does this work?</a:t>
            </a:r>
            <a:endParaRPr lang="it-IT" sz="20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  <a:p>
            <a:pPr marL="343080" indent="-343080">
              <a:spcBef>
                <a:spcPts val="499"/>
              </a:spcBef>
              <a:buClr>
                <a:srgbClr val="003C75"/>
              </a:buClr>
              <a:buSzPct val="120000"/>
              <a:buFont typeface="Times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Partition </a:t>
            </a:r>
            <a:r>
              <a:rPr lang="en-US" sz="2000" b="0" i="1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P </a:t>
            </a:r>
            <a:r>
              <a:rPr lang="en-US" sz="1800" b="0" i="1" u="none" strike="noStrike">
                <a:solidFill>
                  <a:srgbClr val="000000"/>
                </a:solidFill>
                <a:effectLst/>
                <a:uFillTx/>
                <a:latin typeface="Symbol"/>
                <a:ea typeface="Symbol"/>
              </a:rPr>
              <a:t></a:t>
            </a:r>
            <a:r>
              <a:rPr lang="en-US" sz="2000" b="0" i="1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2</a:t>
            </a:r>
            <a:r>
              <a:rPr lang="en-US" sz="2000" b="0" i="1" u="none" strike="noStrike" baseline="30000">
                <a:solidFill>
                  <a:srgbClr val="000000"/>
                </a:solidFill>
                <a:effectLst/>
                <a:uFillTx/>
                <a:latin typeface="Comic Sans MS"/>
              </a:rPr>
              <a:t>S</a:t>
            </a:r>
            <a:endParaRPr lang="it-IT" sz="20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  <a:p>
            <a:pPr marL="343080" indent="-343080">
              <a:spcBef>
                <a:spcPts val="249"/>
              </a:spcBef>
              <a:buClr>
                <a:srgbClr val="003C75"/>
              </a:buClr>
              <a:buSzPct val="120000"/>
              <a:buFont typeface="Times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Start off with 2 subsets of </a:t>
            </a:r>
            <a:r>
              <a:rPr lang="en-US" sz="2000" b="0" i="1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S: {F} and {S-F}</a:t>
            </a:r>
            <a:endParaRPr lang="it-IT" sz="20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  <a:p>
            <a:pPr marL="343080" indent="-343080">
              <a:spcBef>
                <a:spcPts val="249"/>
              </a:spcBef>
              <a:buClr>
                <a:srgbClr val="003C75"/>
              </a:buClr>
              <a:buSzPct val="120000"/>
              <a:buFont typeface="Times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The</a:t>
            </a:r>
            <a:r>
              <a:rPr lang="en-US" sz="2000" b="0" i="1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 while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loop takes </a:t>
            </a:r>
            <a:r>
              <a:rPr lang="en-US" sz="2000" b="0" i="1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P</a:t>
            </a:r>
            <a:r>
              <a:rPr lang="en-US" sz="2000" b="0" i="1" u="none" strike="noStrike" baseline="30000">
                <a:solidFill>
                  <a:srgbClr val="000000"/>
                </a:solidFill>
                <a:effectLst/>
                <a:uFillTx/>
                <a:latin typeface="Comic Sans MS"/>
              </a:rPr>
              <a:t>i</a:t>
            </a:r>
            <a:r>
              <a:rPr lang="en-US" sz="2000" b="0" i="1" u="none" strike="noStrike">
                <a:solidFill>
                  <a:srgbClr val="000000"/>
                </a:solidFill>
                <a:effectLst/>
                <a:uFillTx/>
                <a:latin typeface="Symbol"/>
                <a:ea typeface="Symbol"/>
              </a:rPr>
              <a:t></a:t>
            </a:r>
            <a:r>
              <a:rPr lang="en-US" sz="2000" b="0" i="1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P</a:t>
            </a:r>
            <a:r>
              <a:rPr lang="en-US" sz="2000" b="0" i="1" u="none" strike="noStrike" baseline="30000">
                <a:solidFill>
                  <a:srgbClr val="000000"/>
                </a:solidFill>
                <a:effectLst/>
                <a:uFillTx/>
                <a:latin typeface="Comic Sans MS"/>
              </a:rPr>
              <a:t>i+1</a:t>
            </a:r>
            <a:r>
              <a:rPr lang="en-US" sz="2000" b="0" u="none" strike="noStrike" baseline="30000">
                <a:solidFill>
                  <a:srgbClr val="000000"/>
                </a:solidFill>
                <a:effectLst/>
                <a:uFillTx/>
                <a:latin typeface="Comic Sans MS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by splitting 1 or more sets</a:t>
            </a:r>
            <a:endParaRPr lang="it-IT" sz="20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  <a:p>
            <a:pPr marL="343080" indent="-343080">
              <a:spcBef>
                <a:spcPts val="249"/>
              </a:spcBef>
              <a:buClr>
                <a:srgbClr val="003C75"/>
              </a:buClr>
              <a:buSzPct val="120000"/>
              <a:buFont typeface="Times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i="1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P</a:t>
            </a:r>
            <a:r>
              <a:rPr lang="en-US" sz="2000" b="0" i="1" u="none" strike="noStrike" baseline="30000">
                <a:solidFill>
                  <a:srgbClr val="000000"/>
                </a:solidFill>
                <a:effectLst/>
                <a:uFillTx/>
                <a:latin typeface="Comic Sans MS"/>
              </a:rPr>
              <a:t>i+1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 is at least one step closer to the partition with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|</a:t>
            </a:r>
            <a:r>
              <a:rPr lang="en-US" sz="2000" b="0" i="1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S</a:t>
            </a:r>
            <a:r>
              <a:rPr lang="en-US" sz="1000" b="0" i="1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| sets</a:t>
            </a:r>
            <a:endParaRPr lang="it-IT" sz="20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  <a:p>
            <a:pPr marL="343080" indent="-343080">
              <a:spcBef>
                <a:spcPts val="499"/>
              </a:spcBef>
              <a:buClr>
                <a:srgbClr val="003C75"/>
              </a:buClr>
              <a:buSzPct val="120000"/>
              <a:buFont typeface="Times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Maximum of |</a:t>
            </a:r>
            <a:r>
              <a:rPr lang="en-US" sz="2000" b="0" i="1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S</a:t>
            </a:r>
            <a:r>
              <a:rPr lang="en-US" sz="800" b="0" i="1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| splits</a:t>
            </a:r>
            <a:endParaRPr lang="it-IT" sz="20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  <a:p>
            <a:pPr marL="343080" indent="-343080">
              <a:spcBef>
                <a:spcPts val="1001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Note that</a:t>
            </a:r>
            <a:endParaRPr lang="it-IT" sz="20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  <a:p>
            <a:pPr marL="343080" indent="-343080">
              <a:spcBef>
                <a:spcPts val="499"/>
              </a:spcBef>
              <a:buClr>
                <a:srgbClr val="003C75"/>
              </a:buClr>
              <a:buSzPct val="120000"/>
              <a:buFont typeface="Times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Partitions are </a:t>
            </a:r>
            <a:r>
              <a:rPr lang="en-US" sz="2000" b="0" u="sng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never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 combined</a:t>
            </a:r>
            <a:endParaRPr lang="it-IT" sz="20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  <a:p>
            <a:pPr marL="343080" indent="-343080">
              <a:spcBef>
                <a:spcPts val="249"/>
              </a:spcBef>
              <a:buClr>
                <a:srgbClr val="003C75"/>
              </a:buClr>
              <a:buSzPct val="120000"/>
              <a:buFont typeface="Times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Initial partition ensures that final states remain final states</a:t>
            </a:r>
            <a:endParaRPr lang="it-IT" sz="20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916" name="Text Box 6"/>
          <p:cNvSpPr/>
          <p:nvPr/>
        </p:nvSpPr>
        <p:spPr>
          <a:xfrm>
            <a:off x="3505320" y="266760"/>
            <a:ext cx="3543120" cy="36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spAutoFit/>
          </a:bodyPr>
          <a:p>
            <a:pPr algn="ctr">
              <a:spcBef>
                <a:spcPts val="112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i="1" u="sng" strike="noStrike">
                <a:solidFill>
                  <a:srgbClr val="FF0065"/>
                </a:solidFill>
                <a:effectLst/>
                <a:uFillTx/>
                <a:latin typeface="Comic Sans MS"/>
              </a:rPr>
              <a:t>This is a fixed-point algorithm!</a:t>
            </a:r>
            <a:endParaRPr lang="it-IT" sz="18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grpSp>
        <p:nvGrpSpPr>
          <p:cNvPr id="917" name="Group 11"/>
          <p:cNvGrpSpPr/>
          <p:nvPr/>
        </p:nvGrpSpPr>
        <p:grpSpPr>
          <a:xfrm>
            <a:off x="3898800" y="5079960"/>
            <a:ext cx="4318200" cy="1244520"/>
            <a:chOff x="3898800" y="5079960"/>
            <a:chExt cx="4318200" cy="1244520"/>
          </a:xfrm>
        </p:grpSpPr>
        <p:sp>
          <p:nvSpPr>
            <p:cNvPr id="918" name="Text Box 8"/>
            <p:cNvSpPr/>
            <p:nvPr/>
          </p:nvSpPr>
          <p:spPr>
            <a:xfrm>
              <a:off x="5334120" y="5956200"/>
              <a:ext cx="2882880" cy="368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spAutoFit/>
            </a:bodyPr>
            <a:p>
              <a:pPr>
                <a:spcBef>
                  <a:spcPts val="112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800" b="0" u="none" strike="noStrike">
                  <a:solidFill>
                    <a:srgbClr val="FF0065"/>
                  </a:solidFill>
                  <a:effectLst/>
                  <a:uFillTx/>
                  <a:latin typeface="Comic Sans MS"/>
                </a:rPr>
                <a:t>mild abuse of notation</a:t>
              </a:r>
              <a:endParaRPr lang="it-IT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919" name="Line 9"/>
            <p:cNvSpPr/>
            <p:nvPr/>
          </p:nvSpPr>
          <p:spPr>
            <a:xfrm>
              <a:off x="5359320" y="5956200"/>
              <a:ext cx="0" cy="355680"/>
            </a:xfrm>
            <a:prstGeom prst="line">
              <a:avLst/>
            </a:prstGeom>
            <a:ln w="19080">
              <a:solidFill>
                <a:srgbClr val="FF0065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ctr">
              <a:noAutofit/>
            </a:bodyPr>
            <a:p>
              <a:endParaRPr lang="it-IT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920" name="Freeform 10"/>
            <p:cNvSpPr/>
            <p:nvPr/>
          </p:nvSpPr>
          <p:spPr>
            <a:xfrm>
              <a:off x="3898800" y="5079960"/>
              <a:ext cx="1447920" cy="1015920"/>
            </a:xfrm>
            <a:custGeom>
              <a:avLst/>
              <a:gdLst>
                <a:gd name="textAreaLeft" fmla="*/ 0 w 1447920"/>
                <a:gd name="textAreaRight" fmla="*/ 1448280 w 1447920"/>
                <a:gd name="textAreaTop" fmla="*/ 0 h 1015920"/>
                <a:gd name="textAreaBottom" fmla="*/ 1016280 h 1015920"/>
                <a:gd name="GluePoint1X" fmla="*/ 912 w 912"/>
                <a:gd name="GluePoint1Y" fmla="*/ 640 h 640"/>
                <a:gd name="GluePoint2X" fmla="*/ 176 w 912"/>
                <a:gd name="GluePoint2Y" fmla="*/ 408 h 640"/>
                <a:gd name="GluePoint3X" fmla="*/ 368 w 912"/>
                <a:gd name="GluePoint3Y" fmla="*/ 240 h 640"/>
                <a:gd name="GluePoint4X" fmla="*/ 0 w 912"/>
                <a:gd name="GluePoint4Y" fmla="*/ 0 h 64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12" h="640">
                  <a:moveTo>
                    <a:pt x="912" y="640"/>
                  </a:moveTo>
                  <a:cubicBezTo>
                    <a:pt x="589" y="557"/>
                    <a:pt x="267" y="475"/>
                    <a:pt x="176" y="408"/>
                  </a:cubicBezTo>
                  <a:cubicBezTo>
                    <a:pt x="85" y="341"/>
                    <a:pt x="397" y="308"/>
                    <a:pt x="368" y="240"/>
                  </a:cubicBezTo>
                  <a:cubicBezTo>
                    <a:pt x="339" y="172"/>
                    <a:pt x="169" y="86"/>
                    <a:pt x="0" y="0"/>
                  </a:cubicBezTo>
                </a:path>
              </a:pathLst>
            </a:custGeom>
            <a:noFill/>
            <a:ln w="9360">
              <a:solidFill>
                <a:srgbClr val="FF0065"/>
              </a:solidFill>
              <a:round/>
              <a:tailEnd len="med" type="triangle" w="med"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ctr">
              <a:noAutofit/>
            </a:bodyPr>
            <a:p>
              <a:endParaRPr lang="it-IT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</p:grpSp>
    </p:spTree>
  </p:cSld>
  <p:transition>
    <p:wipe dir="r"/>
  </p:transition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" name="Footer Placeholder 3"/>
          <p:cNvSpPr/>
          <p:nvPr/>
        </p:nvSpPr>
        <p:spPr>
          <a:xfrm>
            <a:off x="685800" y="6248520"/>
            <a:ext cx="289548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Autofit/>
          </a:bodyPr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Comp 412, Fall 2010</a:t>
            </a:r>
            <a:endParaRPr lang="it-IT" sz="12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922" name="Slide Number Placeholder 4"/>
          <p:cNvSpPr/>
          <p:nvPr/>
        </p:nvSpPr>
        <p:spPr>
          <a:xfrm>
            <a:off x="6553080" y="6248520"/>
            <a:ext cx="190512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Autofit/>
          </a:bodyPr>
          <a:p>
            <a:pPr algn="r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64C6DCB4-30E9-4057-82DA-E30C184AC73D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&lt;number&gt;</a:t>
            </a:fld>
            <a:endParaRPr lang="it-IT" sz="12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923" name="PlaceHolder 1"/>
          <p:cNvSpPr>
            <a:spLocks noGrp="1"/>
          </p:cNvSpPr>
          <p:nvPr>
            <p:ph type="title"/>
          </p:nvPr>
        </p:nvSpPr>
        <p:spPr>
          <a:xfrm>
            <a:off x="685800" y="533160"/>
            <a:ext cx="7772400" cy="533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l">
              <a:spcBef>
                <a:spcPts val="901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DFA Minimization</a:t>
            </a:r>
            <a:endParaRPr lang="it-IT" sz="24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924" name="PlaceHolder 2"/>
          <p:cNvSpPr>
            <a:spLocks noGrp="1"/>
          </p:cNvSpPr>
          <p:nvPr>
            <p:ph/>
          </p:nvPr>
        </p:nvSpPr>
        <p:spPr>
          <a:xfrm>
            <a:off x="685800" y="1143000"/>
            <a:ext cx="7772400" cy="495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p>
            <a:pPr marL="343080" indent="-343080" algn="l">
              <a:spcBef>
                <a:spcPts val="751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Refining the algorithm</a:t>
            </a:r>
            <a:endParaRPr lang="it-IT" sz="20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  <a:p>
            <a:pPr marL="343080" indent="-343080" algn="l">
              <a:spcBef>
                <a:spcPts val="751"/>
              </a:spcBef>
              <a:buClr>
                <a:srgbClr val="003C75"/>
              </a:buClr>
              <a:buSzPct val="120000"/>
              <a:buFont typeface="Times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As written, it examines every </a:t>
            </a:r>
            <a:r>
              <a:rPr lang="en-US" sz="2000" b="0" i="1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p</a:t>
            </a:r>
            <a:r>
              <a:rPr lang="en-US" sz="2000" b="0" i="1" u="none" strike="noStrike" baseline="-25000">
                <a:solidFill>
                  <a:srgbClr val="000000"/>
                </a:solidFill>
                <a:effectLst/>
                <a:uFillTx/>
                <a:latin typeface="Comic Sans MS"/>
              </a:rPr>
              <a:t>i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Symbol"/>
                <a:ea typeface="Symbol"/>
              </a:rPr>
              <a:t>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 </a:t>
            </a:r>
            <a:r>
              <a:rPr lang="en-US" sz="2000" b="0" i="1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P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 on each iteration</a:t>
            </a:r>
            <a:endParaRPr lang="it-IT" sz="20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  <a:p>
            <a:pPr marL="743040" lvl="1" indent="-285840" algn="l">
              <a:spcBef>
                <a:spcPts val="675"/>
              </a:spcBef>
              <a:buClr>
                <a:srgbClr val="003C75"/>
              </a:buClr>
              <a:buFont typeface="Comic Sans MS"/>
              <a:buChar char="—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This strategy entails a lot of unnecessary work</a:t>
            </a:r>
            <a:endParaRPr lang="it-IT" sz="18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  <a:p>
            <a:pPr marL="743040" lvl="1" indent="-285840" algn="l">
              <a:spcBef>
                <a:spcPts val="675"/>
              </a:spcBef>
              <a:buClr>
                <a:srgbClr val="003C75"/>
              </a:buClr>
              <a:buFont typeface="Comic Sans MS"/>
              <a:buChar char="—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Only need to examine </a:t>
            </a:r>
            <a:r>
              <a:rPr lang="en-US" sz="1800" b="0" i="1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p</a:t>
            </a:r>
            <a:r>
              <a:rPr lang="en-US" sz="1800" b="0" i="1" u="none" strike="noStrike" baseline="-25000">
                <a:solidFill>
                  <a:srgbClr val="000000"/>
                </a:solidFill>
                <a:effectLst/>
                <a:uFillTx/>
                <a:latin typeface="Comic Sans MS"/>
              </a:rPr>
              <a:t>i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 if some T, reachable from </a:t>
            </a:r>
            <a:r>
              <a:rPr lang="en-US" sz="1800" b="0" i="1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p</a:t>
            </a:r>
            <a:r>
              <a:rPr lang="en-US" sz="1800" b="0" i="1" u="none" strike="noStrike" baseline="-25000">
                <a:solidFill>
                  <a:srgbClr val="000000"/>
                </a:solidFill>
                <a:effectLst/>
                <a:uFillTx/>
                <a:latin typeface="Comic Sans MS"/>
              </a:rPr>
              <a:t>i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, has split</a:t>
            </a:r>
            <a:endParaRPr lang="it-IT" sz="18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  <a:p>
            <a:pPr marL="343080" indent="-343080" algn="l">
              <a:spcBef>
                <a:spcPts val="751"/>
              </a:spcBef>
              <a:buClr>
                <a:srgbClr val="003C75"/>
              </a:buClr>
              <a:buSzPct val="120000"/>
              <a:buFont typeface="Times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Reformulate the algorithm using a “worklist”</a:t>
            </a:r>
            <a:endParaRPr lang="it-IT" sz="20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  <a:p>
            <a:pPr marL="743040" lvl="1" indent="-285840" algn="l">
              <a:spcBef>
                <a:spcPts val="675"/>
              </a:spcBef>
              <a:buClr>
                <a:srgbClr val="003C75"/>
              </a:buClr>
              <a:buFont typeface="Comic Sans MS"/>
              <a:buChar char="—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Start worklist with initial partition,</a:t>
            </a:r>
            <a:r>
              <a:rPr lang="en-US" sz="1800" b="0" i="1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 F 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and </a:t>
            </a:r>
            <a:r>
              <a:rPr lang="en-US" sz="1800" b="0" i="1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{S-F}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 </a:t>
            </a:r>
            <a:endParaRPr lang="it-IT" sz="18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  <a:p>
            <a:pPr marL="743040" lvl="1" indent="-285840" algn="l">
              <a:spcBef>
                <a:spcPts val="675"/>
              </a:spcBef>
              <a:buClr>
                <a:srgbClr val="003C75"/>
              </a:buClr>
              <a:buFont typeface="Comic Sans MS"/>
              <a:buChar char="—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When it splits </a:t>
            </a:r>
            <a:r>
              <a:rPr lang="en-US" sz="1800" b="0" i="1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p</a:t>
            </a:r>
            <a:r>
              <a:rPr lang="en-US" sz="1800" b="0" i="1" u="none" strike="noStrike" baseline="-25000">
                <a:solidFill>
                  <a:srgbClr val="000000"/>
                </a:solidFill>
                <a:effectLst/>
                <a:uFillTx/>
                <a:latin typeface="Comic Sans MS"/>
              </a:rPr>
              <a:t>i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 into </a:t>
            </a:r>
            <a:r>
              <a:rPr lang="en-US" sz="1800" b="0" i="1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p</a:t>
            </a:r>
            <a:r>
              <a:rPr lang="en-US" sz="1800" b="0" i="1" u="none" strike="noStrike" baseline="-25000">
                <a:solidFill>
                  <a:srgbClr val="000000"/>
                </a:solidFill>
                <a:effectLst/>
                <a:uFillTx/>
                <a:latin typeface="Comic Sans MS"/>
              </a:rPr>
              <a:t>1</a:t>
            </a:r>
            <a:r>
              <a:rPr lang="en-US" sz="1800" b="0" i="1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 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and </a:t>
            </a:r>
            <a:r>
              <a:rPr lang="en-US" sz="1800" b="0" i="1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p</a:t>
            </a:r>
            <a:r>
              <a:rPr lang="en-US" sz="1800" b="0" i="1" u="none" strike="noStrike" baseline="-25000">
                <a:solidFill>
                  <a:srgbClr val="000000"/>
                </a:solidFill>
                <a:effectLst/>
                <a:uFillTx/>
                <a:latin typeface="Comic Sans MS"/>
              </a:rPr>
              <a:t>2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, place </a:t>
            </a:r>
            <a:r>
              <a:rPr lang="en-US" sz="1800" b="0" i="1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p</a:t>
            </a:r>
            <a:r>
              <a:rPr lang="en-US" sz="1800" b="0" i="1" u="none" strike="noStrike" baseline="-25000">
                <a:solidFill>
                  <a:srgbClr val="000000"/>
                </a:solidFill>
                <a:effectLst/>
                <a:uFillTx/>
                <a:latin typeface="Comic Sans MS"/>
              </a:rPr>
              <a:t>2</a:t>
            </a:r>
            <a:r>
              <a:rPr lang="en-US" sz="1800" b="0" i="1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 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on worklist</a:t>
            </a:r>
            <a:endParaRPr lang="it-IT" sz="18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  <a:p>
            <a:pPr marL="343080" indent="-343080" algn="l">
              <a:spcBef>
                <a:spcPts val="3750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This version looks at each </a:t>
            </a:r>
            <a:r>
              <a:rPr lang="en-US" sz="2000" b="0" i="1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p</a:t>
            </a:r>
            <a:r>
              <a:rPr lang="en-US" sz="2000" b="0" i="1" u="none" strike="noStrike" baseline="-25000">
                <a:solidFill>
                  <a:srgbClr val="000000"/>
                </a:solidFill>
                <a:effectLst/>
                <a:uFillTx/>
                <a:latin typeface="Comic Sans MS"/>
              </a:rPr>
              <a:t>i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Symbol"/>
                <a:ea typeface="Symbol"/>
              </a:rPr>
              <a:t>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 </a:t>
            </a:r>
            <a:r>
              <a:rPr lang="en-US" sz="2000" b="0" i="1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P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 many fewer times</a:t>
            </a:r>
            <a:endParaRPr lang="it-IT" sz="20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  <a:p>
            <a:pPr marL="343080" indent="-343080" algn="l">
              <a:spcBef>
                <a:spcPts val="624"/>
              </a:spcBef>
              <a:buClr>
                <a:srgbClr val="003C75"/>
              </a:buClr>
              <a:buSzPct val="120000"/>
              <a:buFont typeface="Times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Well-known, widely used algorithm due to John Hopcroft</a:t>
            </a:r>
            <a:endParaRPr lang="it-IT" sz="20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</p:spTree>
  </p:cSld>
  <p:transition>
    <p:wipe dir="r"/>
  </p:transition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5" name="Footer Placeholder 3"/>
          <p:cNvSpPr/>
          <p:nvPr/>
        </p:nvSpPr>
        <p:spPr>
          <a:xfrm>
            <a:off x="685800" y="6248520"/>
            <a:ext cx="289548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Autofit/>
          </a:bodyPr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Comp 412, Fall 2010</a:t>
            </a:r>
            <a:endParaRPr lang="it-IT" sz="12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926" name="Slide Number Placeholder 4"/>
          <p:cNvSpPr/>
          <p:nvPr/>
        </p:nvSpPr>
        <p:spPr>
          <a:xfrm>
            <a:off x="6553080" y="6248520"/>
            <a:ext cx="190512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Autofit/>
          </a:bodyPr>
          <a:p>
            <a:pPr algn="r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D974C46B-D5CC-48FB-9E34-1B5B9BE0E364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&lt;number&gt;</a:t>
            </a:fld>
            <a:endParaRPr lang="it-IT" sz="12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927" name="PlaceHolder 1"/>
          <p:cNvSpPr>
            <a:spLocks noGrp="1"/>
          </p:cNvSpPr>
          <p:nvPr>
            <p:ph type="title"/>
          </p:nvPr>
        </p:nvSpPr>
        <p:spPr>
          <a:xfrm>
            <a:off x="685800" y="533160"/>
            <a:ext cx="7772400" cy="533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l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Alternative Approach to DFA Minimization</a:t>
            </a:r>
            <a:endParaRPr lang="it-IT" sz="24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928" name="PlaceHolder 2"/>
          <p:cNvSpPr>
            <a:spLocks noGrp="1"/>
          </p:cNvSpPr>
          <p:nvPr>
            <p:ph/>
          </p:nvPr>
        </p:nvSpPr>
        <p:spPr>
          <a:xfrm>
            <a:off x="685800" y="1143000"/>
            <a:ext cx="7772400" cy="495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p>
            <a:pPr marL="343080" indent="-343080" algn="l">
              <a:spcBef>
                <a:spcPts val="499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3C75"/>
                </a:solidFill>
                <a:effectLst/>
                <a:uFillTx/>
                <a:latin typeface="Comic Sans MS"/>
              </a:rPr>
              <a:t>The Intuition</a:t>
            </a:r>
            <a:endParaRPr lang="it-IT" sz="20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  <a:p>
            <a:pPr marL="343080" indent="-343080" algn="l">
              <a:spcBef>
                <a:spcPts val="499"/>
              </a:spcBef>
              <a:buClr>
                <a:srgbClr val="003C75"/>
              </a:buClr>
              <a:buSzPct val="120000"/>
              <a:buFont typeface="Times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The subset construction merges prefixes in the NFA</a:t>
            </a:r>
            <a:endParaRPr lang="it-IT" sz="20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929" name="Oval 4"/>
          <p:cNvSpPr/>
          <p:nvPr/>
        </p:nvSpPr>
        <p:spPr>
          <a:xfrm>
            <a:off x="914400" y="2895480"/>
            <a:ext cx="380880" cy="381240"/>
          </a:xfrm>
          <a:prstGeom prst="ellipse">
            <a:avLst/>
          </a:prstGeom>
          <a:noFill/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pPr algn="ctr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600" b="0" i="1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s</a:t>
            </a:r>
            <a:r>
              <a:rPr lang="en-US" sz="1600" b="0" u="none" strike="noStrike" baseline="-25000">
                <a:solidFill>
                  <a:srgbClr val="000000"/>
                </a:solidFill>
                <a:effectLst/>
                <a:uFillTx/>
                <a:latin typeface="Comic Sans MS"/>
              </a:rPr>
              <a:t>0</a:t>
            </a:r>
            <a:endParaRPr lang="it-IT" sz="16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930" name="Oval 5"/>
          <p:cNvSpPr/>
          <p:nvPr/>
        </p:nvSpPr>
        <p:spPr>
          <a:xfrm>
            <a:off x="3581280" y="3581280"/>
            <a:ext cx="381240" cy="381240"/>
          </a:xfrm>
          <a:prstGeom prst="ellipse">
            <a:avLst/>
          </a:prstGeom>
          <a:noFill/>
          <a:ln w="381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pPr algn="ctr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600" b="0" i="1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s</a:t>
            </a:r>
            <a:r>
              <a:rPr lang="en-US" sz="1600" b="0" u="none" strike="noStrike" baseline="-25000">
                <a:solidFill>
                  <a:srgbClr val="000000"/>
                </a:solidFill>
                <a:effectLst/>
                <a:uFillTx/>
                <a:latin typeface="Comic Sans MS"/>
              </a:rPr>
              <a:t>10</a:t>
            </a:r>
            <a:endParaRPr lang="it-IT" sz="16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931" name="Oval 6"/>
          <p:cNvSpPr/>
          <p:nvPr/>
        </p:nvSpPr>
        <p:spPr>
          <a:xfrm>
            <a:off x="2666880" y="3581280"/>
            <a:ext cx="381240" cy="381240"/>
          </a:xfrm>
          <a:prstGeom prst="ellipse">
            <a:avLst/>
          </a:prstGeom>
          <a:noFill/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pPr algn="ctr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600" b="0" i="1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s</a:t>
            </a:r>
            <a:r>
              <a:rPr lang="en-US" sz="1600" b="0" u="none" strike="noStrike" baseline="-25000">
                <a:solidFill>
                  <a:srgbClr val="000000"/>
                </a:solidFill>
                <a:effectLst/>
                <a:uFillTx/>
                <a:latin typeface="Comic Sans MS"/>
              </a:rPr>
              <a:t>9</a:t>
            </a:r>
            <a:endParaRPr lang="it-IT" sz="16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932" name="Oval 7"/>
          <p:cNvSpPr/>
          <p:nvPr/>
        </p:nvSpPr>
        <p:spPr>
          <a:xfrm>
            <a:off x="1752480" y="3581280"/>
            <a:ext cx="381240" cy="381240"/>
          </a:xfrm>
          <a:prstGeom prst="ellipse">
            <a:avLst/>
          </a:prstGeom>
          <a:noFill/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pPr algn="ctr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600" b="0" i="1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s</a:t>
            </a:r>
            <a:r>
              <a:rPr lang="en-US" sz="1600" b="0" u="none" strike="noStrike" baseline="-25000">
                <a:solidFill>
                  <a:srgbClr val="000000"/>
                </a:solidFill>
                <a:effectLst/>
                <a:uFillTx/>
                <a:latin typeface="Comic Sans MS"/>
              </a:rPr>
              <a:t>8</a:t>
            </a:r>
            <a:endParaRPr lang="it-IT" sz="16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933" name="Oval 8"/>
          <p:cNvSpPr/>
          <p:nvPr/>
        </p:nvSpPr>
        <p:spPr>
          <a:xfrm>
            <a:off x="1752480" y="2895480"/>
            <a:ext cx="381240" cy="381240"/>
          </a:xfrm>
          <a:prstGeom prst="ellipse">
            <a:avLst/>
          </a:prstGeom>
          <a:noFill/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pPr algn="ctr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600" b="0" i="1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s</a:t>
            </a:r>
            <a:r>
              <a:rPr lang="en-US" sz="1600" b="0" u="none" strike="noStrike" baseline="-25000">
                <a:solidFill>
                  <a:srgbClr val="000000"/>
                </a:solidFill>
                <a:effectLst/>
                <a:uFillTx/>
                <a:latin typeface="Comic Sans MS"/>
              </a:rPr>
              <a:t>5</a:t>
            </a:r>
            <a:endParaRPr lang="it-IT" sz="16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934" name="Oval 9"/>
          <p:cNvSpPr/>
          <p:nvPr/>
        </p:nvSpPr>
        <p:spPr>
          <a:xfrm>
            <a:off x="3581280" y="2895480"/>
            <a:ext cx="381240" cy="381240"/>
          </a:xfrm>
          <a:prstGeom prst="ellipse">
            <a:avLst/>
          </a:prstGeom>
          <a:noFill/>
          <a:ln w="381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pPr algn="ctr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600" b="0" i="1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s</a:t>
            </a:r>
            <a:r>
              <a:rPr lang="en-US" sz="1600" b="0" u="none" strike="noStrike" baseline="-25000">
                <a:solidFill>
                  <a:srgbClr val="000000"/>
                </a:solidFill>
                <a:effectLst/>
                <a:uFillTx/>
                <a:latin typeface="Comic Sans MS"/>
              </a:rPr>
              <a:t>7</a:t>
            </a:r>
            <a:endParaRPr lang="it-IT" sz="16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935" name="Oval 10"/>
          <p:cNvSpPr/>
          <p:nvPr/>
        </p:nvSpPr>
        <p:spPr>
          <a:xfrm>
            <a:off x="2666880" y="2895480"/>
            <a:ext cx="381240" cy="381240"/>
          </a:xfrm>
          <a:prstGeom prst="ellipse">
            <a:avLst/>
          </a:prstGeom>
          <a:noFill/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pPr algn="ctr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600" b="0" i="1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s</a:t>
            </a:r>
            <a:r>
              <a:rPr lang="en-US" sz="1600" b="0" u="none" strike="noStrike" baseline="-25000">
                <a:solidFill>
                  <a:srgbClr val="000000"/>
                </a:solidFill>
                <a:effectLst/>
                <a:uFillTx/>
                <a:latin typeface="Comic Sans MS"/>
              </a:rPr>
              <a:t>6</a:t>
            </a:r>
            <a:endParaRPr lang="it-IT" sz="16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936" name="Oval 11"/>
          <p:cNvSpPr/>
          <p:nvPr/>
        </p:nvSpPr>
        <p:spPr>
          <a:xfrm>
            <a:off x="3581280" y="2286000"/>
            <a:ext cx="381240" cy="380880"/>
          </a:xfrm>
          <a:prstGeom prst="ellipse">
            <a:avLst/>
          </a:prstGeom>
          <a:noFill/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pPr algn="ctr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600" b="0" i="1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s</a:t>
            </a:r>
            <a:r>
              <a:rPr lang="en-US" sz="1600" b="0" u="none" strike="noStrike" baseline="-25000">
                <a:solidFill>
                  <a:srgbClr val="000000"/>
                </a:solidFill>
                <a:effectLst/>
                <a:uFillTx/>
                <a:latin typeface="Comic Sans MS"/>
              </a:rPr>
              <a:t>3</a:t>
            </a:r>
            <a:endParaRPr lang="it-IT" sz="16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937" name="Oval 12"/>
          <p:cNvSpPr/>
          <p:nvPr/>
        </p:nvSpPr>
        <p:spPr>
          <a:xfrm>
            <a:off x="2666880" y="2286000"/>
            <a:ext cx="381240" cy="380880"/>
          </a:xfrm>
          <a:prstGeom prst="ellipse">
            <a:avLst/>
          </a:prstGeom>
          <a:noFill/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pPr algn="ctr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600" b="0" i="1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s</a:t>
            </a:r>
            <a:r>
              <a:rPr lang="en-US" sz="1600" b="0" u="none" strike="noStrike" baseline="-25000">
                <a:solidFill>
                  <a:srgbClr val="000000"/>
                </a:solidFill>
                <a:effectLst/>
                <a:uFillTx/>
                <a:latin typeface="Comic Sans MS"/>
              </a:rPr>
              <a:t>2</a:t>
            </a:r>
            <a:endParaRPr lang="it-IT" sz="16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938" name="Oval 13"/>
          <p:cNvSpPr/>
          <p:nvPr/>
        </p:nvSpPr>
        <p:spPr>
          <a:xfrm>
            <a:off x="1752480" y="2286000"/>
            <a:ext cx="381240" cy="380880"/>
          </a:xfrm>
          <a:prstGeom prst="ellipse">
            <a:avLst/>
          </a:prstGeom>
          <a:noFill/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pPr algn="ctr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600" b="0" i="1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s</a:t>
            </a:r>
            <a:r>
              <a:rPr lang="en-US" sz="1600" b="0" u="none" strike="noStrike" baseline="-25000">
                <a:solidFill>
                  <a:srgbClr val="000000"/>
                </a:solidFill>
                <a:effectLst/>
                <a:uFillTx/>
                <a:latin typeface="Comic Sans MS"/>
              </a:rPr>
              <a:t>1</a:t>
            </a:r>
            <a:endParaRPr lang="it-IT" sz="16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939" name="Oval 14"/>
          <p:cNvSpPr/>
          <p:nvPr/>
        </p:nvSpPr>
        <p:spPr>
          <a:xfrm>
            <a:off x="4495680" y="2286000"/>
            <a:ext cx="381240" cy="380880"/>
          </a:xfrm>
          <a:prstGeom prst="ellipse">
            <a:avLst/>
          </a:prstGeom>
          <a:noFill/>
          <a:ln w="381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pPr algn="ctr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600" b="0" i="1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s</a:t>
            </a:r>
            <a:r>
              <a:rPr lang="en-US" sz="1600" b="0" u="none" strike="noStrike" baseline="-25000">
                <a:solidFill>
                  <a:srgbClr val="000000"/>
                </a:solidFill>
                <a:effectLst/>
                <a:uFillTx/>
                <a:latin typeface="Comic Sans MS"/>
              </a:rPr>
              <a:t>4</a:t>
            </a:r>
            <a:endParaRPr lang="it-IT" sz="16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cxnSp>
        <p:nvCxnSpPr>
          <p:cNvPr id="940" name="AutoShape 15"/>
          <p:cNvCxnSpPr>
            <a:stCxn id="929" idx="7"/>
            <a:endCxn id="938" idx="3"/>
          </p:cNvCxnSpPr>
          <p:nvPr/>
        </p:nvCxnSpPr>
        <p:spPr>
          <a:xfrm flipV="1">
            <a:off x="1239480" y="2611440"/>
            <a:ext cx="568800" cy="340200"/>
          </a:xfrm>
          <a:prstGeom prst="straightConnector1">
            <a:avLst/>
          </a:prstGeom>
          <a:ln w="9360">
            <a:solidFill>
              <a:srgbClr val="000000"/>
            </a:solidFill>
            <a:miter/>
            <a:tailEnd len="med" type="triangle" w="med"/>
          </a:ln>
        </p:spPr>
      </p:cxnSp>
      <p:cxnSp>
        <p:nvCxnSpPr>
          <p:cNvPr id="941" name="AutoShape 16"/>
          <p:cNvCxnSpPr>
            <a:stCxn id="938" idx="6"/>
            <a:endCxn id="937" idx="2"/>
          </p:cNvCxnSpPr>
          <p:nvPr/>
        </p:nvCxnSpPr>
        <p:spPr>
          <a:xfrm>
            <a:off x="2133360" y="2476080"/>
            <a:ext cx="533880" cy="1080"/>
          </a:xfrm>
          <a:prstGeom prst="straightConnector1">
            <a:avLst/>
          </a:prstGeom>
          <a:ln w="9360">
            <a:solidFill>
              <a:srgbClr val="000000"/>
            </a:solidFill>
            <a:miter/>
            <a:tailEnd len="med" type="triangle" w="med"/>
          </a:ln>
        </p:spPr>
      </p:cxnSp>
      <p:cxnSp>
        <p:nvCxnSpPr>
          <p:cNvPr id="942" name="AutoShape 17"/>
          <p:cNvCxnSpPr>
            <a:stCxn id="937" idx="6"/>
            <a:endCxn id="936" idx="2"/>
          </p:cNvCxnSpPr>
          <p:nvPr/>
        </p:nvCxnSpPr>
        <p:spPr>
          <a:xfrm>
            <a:off x="3047760" y="2476080"/>
            <a:ext cx="533880" cy="1080"/>
          </a:xfrm>
          <a:prstGeom prst="straightConnector1">
            <a:avLst/>
          </a:prstGeom>
          <a:ln w="9360">
            <a:solidFill>
              <a:srgbClr val="000000"/>
            </a:solidFill>
            <a:miter/>
            <a:tailEnd len="med" type="triangle" w="med"/>
          </a:ln>
        </p:spPr>
      </p:cxnSp>
      <p:cxnSp>
        <p:nvCxnSpPr>
          <p:cNvPr id="943" name="AutoShape 18"/>
          <p:cNvCxnSpPr>
            <a:stCxn id="936" idx="6"/>
            <a:endCxn id="939" idx="2"/>
          </p:cNvCxnSpPr>
          <p:nvPr/>
        </p:nvCxnSpPr>
        <p:spPr>
          <a:xfrm>
            <a:off x="3962520" y="2476080"/>
            <a:ext cx="514440" cy="1080"/>
          </a:xfrm>
          <a:prstGeom prst="straightConnector1">
            <a:avLst/>
          </a:prstGeom>
          <a:ln w="9360">
            <a:solidFill>
              <a:srgbClr val="000000"/>
            </a:solidFill>
            <a:miter/>
            <a:tailEnd len="med" type="triangle" w="med"/>
          </a:ln>
        </p:spPr>
      </p:cxnSp>
      <p:cxnSp>
        <p:nvCxnSpPr>
          <p:cNvPr id="944" name="AutoShape 19"/>
          <p:cNvCxnSpPr>
            <a:stCxn id="929" idx="6"/>
            <a:endCxn id="933" idx="2"/>
          </p:cNvCxnSpPr>
          <p:nvPr/>
        </p:nvCxnSpPr>
        <p:spPr>
          <a:xfrm>
            <a:off x="1295280" y="3085920"/>
            <a:ext cx="457920" cy="1080"/>
          </a:xfrm>
          <a:prstGeom prst="straightConnector1">
            <a:avLst/>
          </a:prstGeom>
          <a:ln w="9360">
            <a:solidFill>
              <a:srgbClr val="000000"/>
            </a:solidFill>
            <a:miter/>
            <a:tailEnd len="med" type="triangle" w="med"/>
          </a:ln>
        </p:spPr>
      </p:cxnSp>
      <p:cxnSp>
        <p:nvCxnSpPr>
          <p:cNvPr id="945" name="AutoShape 20"/>
          <p:cNvCxnSpPr>
            <a:stCxn id="933" idx="6"/>
            <a:endCxn id="935" idx="2"/>
          </p:cNvCxnSpPr>
          <p:nvPr/>
        </p:nvCxnSpPr>
        <p:spPr>
          <a:xfrm>
            <a:off x="2133360" y="3085920"/>
            <a:ext cx="533880" cy="1080"/>
          </a:xfrm>
          <a:prstGeom prst="straightConnector1">
            <a:avLst/>
          </a:prstGeom>
          <a:ln w="9360">
            <a:solidFill>
              <a:srgbClr val="000000"/>
            </a:solidFill>
            <a:miter/>
            <a:tailEnd len="med" type="triangle" w="med"/>
          </a:ln>
        </p:spPr>
      </p:cxnSp>
      <p:cxnSp>
        <p:nvCxnSpPr>
          <p:cNvPr id="946" name="AutoShape 21"/>
          <p:cNvCxnSpPr>
            <a:stCxn id="935" idx="6"/>
            <a:endCxn id="934" idx="2"/>
          </p:cNvCxnSpPr>
          <p:nvPr/>
        </p:nvCxnSpPr>
        <p:spPr>
          <a:xfrm>
            <a:off x="3048120" y="3085920"/>
            <a:ext cx="514440" cy="1080"/>
          </a:xfrm>
          <a:prstGeom prst="straightConnector1">
            <a:avLst/>
          </a:prstGeom>
          <a:ln w="9360">
            <a:solidFill>
              <a:srgbClr val="000000"/>
            </a:solidFill>
            <a:miter/>
            <a:tailEnd len="med" type="triangle" w="med"/>
          </a:ln>
        </p:spPr>
      </p:cxnSp>
      <p:cxnSp>
        <p:nvCxnSpPr>
          <p:cNvPr id="947" name="AutoShape 22"/>
          <p:cNvCxnSpPr>
            <a:stCxn id="929" idx="5"/>
            <a:endCxn id="932" idx="1"/>
          </p:cNvCxnSpPr>
          <p:nvPr/>
        </p:nvCxnSpPr>
        <p:spPr>
          <a:xfrm>
            <a:off x="1239480" y="3220920"/>
            <a:ext cx="568800" cy="416880"/>
          </a:xfrm>
          <a:prstGeom prst="straightConnector1">
            <a:avLst/>
          </a:prstGeom>
          <a:ln w="9360">
            <a:solidFill>
              <a:srgbClr val="000000"/>
            </a:solidFill>
            <a:miter/>
            <a:tailEnd len="med" type="triangle" w="med"/>
          </a:ln>
        </p:spPr>
      </p:cxnSp>
      <p:cxnSp>
        <p:nvCxnSpPr>
          <p:cNvPr id="948" name="AutoShape 23"/>
          <p:cNvCxnSpPr/>
          <p:nvPr/>
        </p:nvCxnSpPr>
        <p:spPr>
          <a:xfrm>
            <a:off x="2133360" y="3822480"/>
            <a:ext cx="533880" cy="1080"/>
          </a:xfrm>
          <a:prstGeom prst="straightConnector1">
            <a:avLst/>
          </a:prstGeom>
          <a:ln w="9360">
            <a:solidFill>
              <a:srgbClr val="000000"/>
            </a:solidFill>
            <a:miter/>
            <a:tailEnd len="med" type="triangle" w="med"/>
          </a:ln>
        </p:spPr>
      </p:cxnSp>
      <p:cxnSp>
        <p:nvCxnSpPr>
          <p:cNvPr id="949" name="AutoShape 24"/>
          <p:cNvCxnSpPr>
            <a:stCxn id="931" idx="6"/>
            <a:endCxn id="930" idx="2"/>
          </p:cNvCxnSpPr>
          <p:nvPr/>
        </p:nvCxnSpPr>
        <p:spPr>
          <a:xfrm>
            <a:off x="3048120" y="3771720"/>
            <a:ext cx="514440" cy="1080"/>
          </a:xfrm>
          <a:prstGeom prst="straightConnector1">
            <a:avLst/>
          </a:prstGeom>
          <a:ln w="9360">
            <a:solidFill>
              <a:srgbClr val="000000"/>
            </a:solidFill>
            <a:miter/>
            <a:tailEnd len="med" type="triangle" w="med"/>
          </a:ln>
        </p:spPr>
      </p:cxnSp>
      <p:sp>
        <p:nvSpPr>
          <p:cNvPr id="950" name="Text Box 25"/>
          <p:cNvSpPr/>
          <p:nvPr/>
        </p:nvSpPr>
        <p:spPr>
          <a:xfrm>
            <a:off x="1295280" y="2514600"/>
            <a:ext cx="304920" cy="36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spAutoFit/>
          </a:bodyPr>
          <a:p>
            <a:pPr algn="ctr">
              <a:lnSpc>
                <a:spcPct val="100000"/>
              </a:lnSpc>
              <a:spcBef>
                <a:spcPts val="112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Symbol"/>
                <a:ea typeface="Symbol"/>
              </a:rPr>
              <a:t></a:t>
            </a:r>
            <a:endParaRPr lang="it-IT" sz="18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951" name="Text Box 26"/>
          <p:cNvSpPr/>
          <p:nvPr/>
        </p:nvSpPr>
        <p:spPr>
          <a:xfrm>
            <a:off x="1371600" y="2800440"/>
            <a:ext cx="304920" cy="36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spAutoFit/>
          </a:bodyPr>
          <a:p>
            <a:pPr algn="ctr">
              <a:lnSpc>
                <a:spcPct val="100000"/>
              </a:lnSpc>
              <a:spcBef>
                <a:spcPts val="112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Symbol"/>
                <a:ea typeface="Symbol"/>
              </a:rPr>
              <a:t></a:t>
            </a:r>
            <a:endParaRPr lang="it-IT" sz="18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952" name="Text Box 27"/>
          <p:cNvSpPr/>
          <p:nvPr/>
        </p:nvSpPr>
        <p:spPr>
          <a:xfrm>
            <a:off x="1295280" y="3352680"/>
            <a:ext cx="304920" cy="36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spAutoFit/>
          </a:bodyPr>
          <a:p>
            <a:pPr algn="ctr">
              <a:lnSpc>
                <a:spcPct val="100000"/>
              </a:lnSpc>
              <a:spcBef>
                <a:spcPts val="112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Symbol"/>
                <a:ea typeface="Symbol"/>
              </a:rPr>
              <a:t></a:t>
            </a:r>
            <a:endParaRPr lang="it-IT" sz="18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953" name="Text Box 28"/>
          <p:cNvSpPr/>
          <p:nvPr/>
        </p:nvSpPr>
        <p:spPr>
          <a:xfrm>
            <a:off x="2209680" y="2184480"/>
            <a:ext cx="304920" cy="33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spAutoFit/>
          </a:bodyPr>
          <a:p>
            <a:pPr algn="ctr">
              <a:spcBef>
                <a:spcPts val="1001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a</a:t>
            </a:r>
            <a:endParaRPr lang="it-IT" sz="16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954" name="Text Box 29"/>
          <p:cNvSpPr/>
          <p:nvPr/>
        </p:nvSpPr>
        <p:spPr>
          <a:xfrm>
            <a:off x="2209680" y="2808360"/>
            <a:ext cx="304920" cy="33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spAutoFit/>
          </a:bodyPr>
          <a:p>
            <a:pPr algn="ctr">
              <a:spcBef>
                <a:spcPts val="1001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b</a:t>
            </a:r>
            <a:endParaRPr lang="it-IT" sz="16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955" name="Text Box 30"/>
          <p:cNvSpPr/>
          <p:nvPr/>
        </p:nvSpPr>
        <p:spPr>
          <a:xfrm>
            <a:off x="2209680" y="3494160"/>
            <a:ext cx="304920" cy="33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spAutoFit/>
          </a:bodyPr>
          <a:p>
            <a:pPr algn="ctr">
              <a:spcBef>
                <a:spcPts val="1001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a</a:t>
            </a:r>
            <a:endParaRPr lang="it-IT" sz="16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956" name="Text Box 32"/>
          <p:cNvSpPr/>
          <p:nvPr/>
        </p:nvSpPr>
        <p:spPr>
          <a:xfrm>
            <a:off x="3144960" y="2178000"/>
            <a:ext cx="304560" cy="33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spAutoFit/>
          </a:bodyPr>
          <a:p>
            <a:pPr algn="ctr">
              <a:spcBef>
                <a:spcPts val="1001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b</a:t>
            </a:r>
            <a:endParaRPr lang="it-IT" sz="16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957" name="Text Box 33"/>
          <p:cNvSpPr/>
          <p:nvPr/>
        </p:nvSpPr>
        <p:spPr>
          <a:xfrm>
            <a:off x="3144960" y="2801880"/>
            <a:ext cx="304560" cy="33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spAutoFit/>
          </a:bodyPr>
          <a:p>
            <a:pPr algn="ctr">
              <a:spcBef>
                <a:spcPts val="1001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c</a:t>
            </a:r>
            <a:endParaRPr lang="it-IT" sz="16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958" name="Text Box 34"/>
          <p:cNvSpPr/>
          <p:nvPr/>
        </p:nvSpPr>
        <p:spPr>
          <a:xfrm>
            <a:off x="3144960" y="3487680"/>
            <a:ext cx="304560" cy="33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spAutoFit/>
          </a:bodyPr>
          <a:p>
            <a:pPr algn="ctr">
              <a:spcBef>
                <a:spcPts val="1001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d</a:t>
            </a:r>
            <a:endParaRPr lang="it-IT" sz="16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959" name="Text Box 35"/>
          <p:cNvSpPr/>
          <p:nvPr/>
        </p:nvSpPr>
        <p:spPr>
          <a:xfrm>
            <a:off x="4038480" y="2198520"/>
            <a:ext cx="304920" cy="33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spAutoFit/>
          </a:bodyPr>
          <a:p>
            <a:pPr algn="ctr">
              <a:spcBef>
                <a:spcPts val="1001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c</a:t>
            </a:r>
            <a:endParaRPr lang="it-IT" sz="16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960" name="Text Box 36"/>
          <p:cNvSpPr/>
          <p:nvPr/>
        </p:nvSpPr>
        <p:spPr>
          <a:xfrm>
            <a:off x="5638680" y="2590920"/>
            <a:ext cx="1981440" cy="36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spAutoFit/>
          </a:bodyPr>
          <a:p>
            <a:pPr>
              <a:spcBef>
                <a:spcPts val="112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u="none" strike="noStrike">
                <a:solidFill>
                  <a:srgbClr val="B025A6"/>
                </a:solidFill>
                <a:effectLst/>
                <a:uFillTx/>
                <a:latin typeface="Comic Sans MS"/>
              </a:rPr>
              <a:t>abc | bc | ad</a:t>
            </a:r>
            <a:endParaRPr lang="it-IT" sz="18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961" name="Text Box 37"/>
          <p:cNvSpPr/>
          <p:nvPr/>
        </p:nvSpPr>
        <p:spPr>
          <a:xfrm>
            <a:off x="4648320" y="3352680"/>
            <a:ext cx="3657600" cy="855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spAutoFit/>
          </a:bodyPr>
          <a:p>
            <a:pPr>
              <a:spcBef>
                <a:spcPts val="1001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600" b="0" u="none" strike="noStrike">
                <a:solidFill>
                  <a:srgbClr val="FF0065"/>
                </a:solidFill>
                <a:effectLst/>
                <a:uFillTx/>
                <a:latin typeface="Comic Sans MS"/>
              </a:rPr>
              <a:t>Thompson’s construction would leave </a:t>
            </a:r>
            <a:r>
              <a:rPr lang="en-US" sz="1800" b="0" u="none" strike="noStrike">
                <a:solidFill>
                  <a:srgbClr val="FF0065"/>
                </a:solidFill>
                <a:effectLst/>
                <a:uFillTx/>
                <a:latin typeface="Symbol"/>
                <a:ea typeface="Symbol"/>
              </a:rPr>
              <a:t></a:t>
            </a:r>
            <a:r>
              <a:rPr lang="en-US" sz="1600" b="0" u="none" strike="noStrike">
                <a:solidFill>
                  <a:srgbClr val="FF0065"/>
                </a:solidFill>
                <a:effectLst/>
                <a:uFillTx/>
                <a:latin typeface="Comic Sans MS"/>
              </a:rPr>
              <a:t>-transitions between each single-character automaton</a:t>
            </a:r>
            <a:endParaRPr lang="it-IT" sz="16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962" name="Oval 38"/>
          <p:cNvSpPr/>
          <p:nvPr/>
        </p:nvSpPr>
        <p:spPr>
          <a:xfrm>
            <a:off x="914400" y="5638680"/>
            <a:ext cx="380880" cy="381240"/>
          </a:xfrm>
          <a:prstGeom prst="ellipse">
            <a:avLst/>
          </a:prstGeom>
          <a:noFill/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pPr algn="ctr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600" b="0" i="1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s</a:t>
            </a:r>
            <a:r>
              <a:rPr lang="en-US" sz="1600" b="0" u="none" strike="noStrike" baseline="-25000">
                <a:solidFill>
                  <a:srgbClr val="000000"/>
                </a:solidFill>
                <a:effectLst/>
                <a:uFillTx/>
                <a:latin typeface="Comic Sans MS"/>
              </a:rPr>
              <a:t>0</a:t>
            </a:r>
            <a:endParaRPr lang="it-IT" sz="16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963" name="Oval 39"/>
          <p:cNvSpPr/>
          <p:nvPr/>
        </p:nvSpPr>
        <p:spPr>
          <a:xfrm>
            <a:off x="2666880" y="4343400"/>
            <a:ext cx="381240" cy="380880"/>
          </a:xfrm>
          <a:prstGeom prst="ellipse">
            <a:avLst/>
          </a:prstGeom>
          <a:noFill/>
          <a:ln w="381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pPr algn="ctr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600" b="0" i="1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s</a:t>
            </a:r>
            <a:r>
              <a:rPr lang="en-US" sz="1600" b="0" u="none" strike="noStrike" baseline="-25000">
                <a:solidFill>
                  <a:srgbClr val="000000"/>
                </a:solidFill>
                <a:effectLst/>
                <a:uFillTx/>
                <a:latin typeface="Comic Sans MS"/>
              </a:rPr>
              <a:t>6</a:t>
            </a:r>
            <a:endParaRPr lang="it-IT" sz="16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964" name="Oval 42"/>
          <p:cNvSpPr/>
          <p:nvPr/>
        </p:nvSpPr>
        <p:spPr>
          <a:xfrm>
            <a:off x="1752480" y="5638680"/>
            <a:ext cx="381240" cy="381240"/>
          </a:xfrm>
          <a:prstGeom prst="ellipse">
            <a:avLst/>
          </a:prstGeom>
          <a:noFill/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pPr algn="ctr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600" b="0" i="1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s</a:t>
            </a:r>
            <a:r>
              <a:rPr lang="en-US" sz="1600" b="0" u="none" strike="noStrike" baseline="-25000">
                <a:solidFill>
                  <a:srgbClr val="000000"/>
                </a:solidFill>
                <a:effectLst/>
                <a:uFillTx/>
                <a:latin typeface="Comic Sans MS"/>
              </a:rPr>
              <a:t>4</a:t>
            </a:r>
            <a:endParaRPr lang="it-IT" sz="16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965" name="Oval 43"/>
          <p:cNvSpPr/>
          <p:nvPr/>
        </p:nvSpPr>
        <p:spPr>
          <a:xfrm>
            <a:off x="2666880" y="5638680"/>
            <a:ext cx="381240" cy="381240"/>
          </a:xfrm>
          <a:prstGeom prst="ellipse">
            <a:avLst/>
          </a:prstGeom>
          <a:noFill/>
          <a:ln w="381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pPr algn="ctr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600" b="0" i="1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s</a:t>
            </a:r>
            <a:r>
              <a:rPr lang="en-US" sz="1600" b="0" u="none" strike="noStrike" baseline="-25000">
                <a:solidFill>
                  <a:srgbClr val="000000"/>
                </a:solidFill>
                <a:effectLst/>
                <a:uFillTx/>
                <a:latin typeface="Comic Sans MS"/>
              </a:rPr>
              <a:t>5</a:t>
            </a:r>
            <a:endParaRPr lang="it-IT" sz="16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966" name="Oval 46"/>
          <p:cNvSpPr/>
          <p:nvPr/>
        </p:nvSpPr>
        <p:spPr>
          <a:xfrm>
            <a:off x="2666880" y="5029200"/>
            <a:ext cx="381240" cy="380880"/>
          </a:xfrm>
          <a:prstGeom prst="ellipse">
            <a:avLst/>
          </a:prstGeom>
          <a:noFill/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pPr algn="ctr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600" b="0" i="1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s</a:t>
            </a:r>
            <a:r>
              <a:rPr lang="en-US" sz="1600" b="0" u="none" strike="noStrike" baseline="-25000">
                <a:solidFill>
                  <a:srgbClr val="000000"/>
                </a:solidFill>
                <a:effectLst/>
                <a:uFillTx/>
                <a:latin typeface="Comic Sans MS"/>
              </a:rPr>
              <a:t>2</a:t>
            </a:r>
            <a:endParaRPr lang="it-IT" sz="16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967" name="Oval 47"/>
          <p:cNvSpPr/>
          <p:nvPr/>
        </p:nvSpPr>
        <p:spPr>
          <a:xfrm>
            <a:off x="1752480" y="5029200"/>
            <a:ext cx="381240" cy="380880"/>
          </a:xfrm>
          <a:prstGeom prst="ellipse">
            <a:avLst/>
          </a:prstGeom>
          <a:noFill/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pPr algn="ctr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600" b="0" i="1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s</a:t>
            </a:r>
            <a:r>
              <a:rPr lang="en-US" sz="1600" b="0" u="none" strike="noStrike" baseline="-25000">
                <a:solidFill>
                  <a:srgbClr val="000000"/>
                </a:solidFill>
                <a:effectLst/>
                <a:uFillTx/>
                <a:latin typeface="Comic Sans MS"/>
              </a:rPr>
              <a:t>1</a:t>
            </a:r>
            <a:endParaRPr lang="it-IT" sz="16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968" name="Oval 48"/>
          <p:cNvSpPr/>
          <p:nvPr/>
        </p:nvSpPr>
        <p:spPr>
          <a:xfrm>
            <a:off x="3581280" y="5029200"/>
            <a:ext cx="381240" cy="380880"/>
          </a:xfrm>
          <a:prstGeom prst="ellipse">
            <a:avLst/>
          </a:prstGeom>
          <a:noFill/>
          <a:ln w="381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pPr algn="ctr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600" b="0" i="1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s</a:t>
            </a:r>
            <a:r>
              <a:rPr lang="en-US" sz="1600" b="0" u="none" strike="noStrike" baseline="-25000">
                <a:solidFill>
                  <a:srgbClr val="000000"/>
                </a:solidFill>
                <a:effectLst/>
                <a:uFillTx/>
                <a:latin typeface="Comic Sans MS"/>
              </a:rPr>
              <a:t>3</a:t>
            </a:r>
            <a:endParaRPr lang="it-IT" sz="16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cxnSp>
        <p:nvCxnSpPr>
          <p:cNvPr id="969" name="AutoShape 49"/>
          <p:cNvCxnSpPr>
            <a:stCxn id="962" idx="7"/>
            <a:endCxn id="967" idx="3"/>
          </p:cNvCxnSpPr>
          <p:nvPr/>
        </p:nvCxnSpPr>
        <p:spPr>
          <a:xfrm flipV="1">
            <a:off x="1239480" y="5354640"/>
            <a:ext cx="568800" cy="340200"/>
          </a:xfrm>
          <a:prstGeom prst="straightConnector1">
            <a:avLst/>
          </a:prstGeom>
          <a:ln w="9360">
            <a:solidFill>
              <a:srgbClr val="000000"/>
            </a:solidFill>
            <a:miter/>
            <a:tailEnd len="med" type="triangle" w="med"/>
          </a:ln>
        </p:spPr>
      </p:cxnSp>
      <p:cxnSp>
        <p:nvCxnSpPr>
          <p:cNvPr id="970" name="AutoShape 50"/>
          <p:cNvCxnSpPr>
            <a:stCxn id="967" idx="6"/>
            <a:endCxn id="966" idx="2"/>
          </p:cNvCxnSpPr>
          <p:nvPr/>
        </p:nvCxnSpPr>
        <p:spPr>
          <a:xfrm>
            <a:off x="2133360" y="5219280"/>
            <a:ext cx="533880" cy="1080"/>
          </a:xfrm>
          <a:prstGeom prst="straightConnector1">
            <a:avLst/>
          </a:prstGeom>
          <a:ln w="9360">
            <a:solidFill>
              <a:srgbClr val="000000"/>
            </a:solidFill>
            <a:miter/>
            <a:tailEnd len="med" type="triangle" w="med"/>
          </a:ln>
        </p:spPr>
      </p:cxnSp>
      <p:cxnSp>
        <p:nvCxnSpPr>
          <p:cNvPr id="971" name="AutoShape 51"/>
          <p:cNvCxnSpPr>
            <a:stCxn id="966" idx="6"/>
          </p:cNvCxnSpPr>
          <p:nvPr/>
        </p:nvCxnSpPr>
        <p:spPr>
          <a:xfrm>
            <a:off x="3047760" y="5219280"/>
            <a:ext cx="533880" cy="1080"/>
          </a:xfrm>
          <a:prstGeom prst="straightConnector1">
            <a:avLst/>
          </a:prstGeom>
          <a:ln w="9360">
            <a:solidFill>
              <a:srgbClr val="000000"/>
            </a:solidFill>
            <a:miter/>
            <a:tailEnd len="med" type="triangle" w="med"/>
          </a:ln>
        </p:spPr>
      </p:cxnSp>
      <p:cxnSp>
        <p:nvCxnSpPr>
          <p:cNvPr id="972" name="AutoShape 53"/>
          <p:cNvCxnSpPr>
            <a:stCxn id="962" idx="6"/>
            <a:endCxn id="964" idx="2"/>
          </p:cNvCxnSpPr>
          <p:nvPr/>
        </p:nvCxnSpPr>
        <p:spPr>
          <a:xfrm>
            <a:off x="1295280" y="5829120"/>
            <a:ext cx="457920" cy="1080"/>
          </a:xfrm>
          <a:prstGeom prst="straightConnector1">
            <a:avLst/>
          </a:prstGeom>
          <a:ln w="9360">
            <a:solidFill>
              <a:srgbClr val="000000"/>
            </a:solidFill>
            <a:miter/>
            <a:tailEnd len="med" type="triangle" w="med"/>
          </a:ln>
        </p:spPr>
      </p:cxnSp>
      <p:cxnSp>
        <p:nvCxnSpPr>
          <p:cNvPr id="973" name="AutoShape 54"/>
          <p:cNvCxnSpPr>
            <a:stCxn id="964" idx="6"/>
            <a:endCxn id="965" idx="2"/>
          </p:cNvCxnSpPr>
          <p:nvPr/>
        </p:nvCxnSpPr>
        <p:spPr>
          <a:xfrm>
            <a:off x="2133720" y="5829120"/>
            <a:ext cx="514440" cy="1080"/>
          </a:xfrm>
          <a:prstGeom prst="straightConnector1">
            <a:avLst/>
          </a:prstGeom>
          <a:ln w="9360">
            <a:solidFill>
              <a:srgbClr val="000000"/>
            </a:solidFill>
            <a:miter/>
            <a:tailEnd len="med" type="triangle" w="med"/>
          </a:ln>
        </p:spPr>
      </p:cxnSp>
      <p:cxnSp>
        <p:nvCxnSpPr>
          <p:cNvPr id="974" name="AutoShape 58"/>
          <p:cNvCxnSpPr>
            <a:stCxn id="967" idx="7"/>
            <a:endCxn id="963" idx="3"/>
          </p:cNvCxnSpPr>
          <p:nvPr/>
        </p:nvCxnSpPr>
        <p:spPr>
          <a:xfrm flipV="1">
            <a:off x="2077560" y="4687560"/>
            <a:ext cx="645480" cy="397440"/>
          </a:xfrm>
          <a:prstGeom prst="straightConnector1">
            <a:avLst/>
          </a:prstGeom>
          <a:ln w="9360">
            <a:solidFill>
              <a:srgbClr val="000000"/>
            </a:solidFill>
            <a:miter/>
            <a:tailEnd len="med" type="triangle" w="med"/>
          </a:ln>
        </p:spPr>
      </p:cxnSp>
      <p:sp>
        <p:nvSpPr>
          <p:cNvPr id="975" name="Text Box 62"/>
          <p:cNvSpPr/>
          <p:nvPr/>
        </p:nvSpPr>
        <p:spPr>
          <a:xfrm>
            <a:off x="1295280" y="5181480"/>
            <a:ext cx="304920" cy="33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spAutoFit/>
          </a:bodyPr>
          <a:p>
            <a:pPr algn="ctr">
              <a:spcBef>
                <a:spcPts val="1001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a</a:t>
            </a:r>
            <a:endParaRPr lang="it-IT" sz="16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976" name="Text Box 63"/>
          <p:cNvSpPr/>
          <p:nvPr/>
        </p:nvSpPr>
        <p:spPr>
          <a:xfrm>
            <a:off x="1371600" y="5551560"/>
            <a:ext cx="304920" cy="33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spAutoFit/>
          </a:bodyPr>
          <a:p>
            <a:pPr algn="ctr">
              <a:spcBef>
                <a:spcPts val="1001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b</a:t>
            </a:r>
            <a:endParaRPr lang="it-IT" sz="16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977" name="Text Box 66"/>
          <p:cNvSpPr/>
          <p:nvPr/>
        </p:nvSpPr>
        <p:spPr>
          <a:xfrm>
            <a:off x="2209680" y="4921200"/>
            <a:ext cx="304920" cy="33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spAutoFit/>
          </a:bodyPr>
          <a:p>
            <a:pPr algn="ctr">
              <a:spcBef>
                <a:spcPts val="1001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b</a:t>
            </a:r>
            <a:endParaRPr lang="it-IT" sz="16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978" name="Text Box 67"/>
          <p:cNvSpPr/>
          <p:nvPr/>
        </p:nvSpPr>
        <p:spPr>
          <a:xfrm>
            <a:off x="2209680" y="5551560"/>
            <a:ext cx="304920" cy="33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spAutoFit/>
          </a:bodyPr>
          <a:p>
            <a:pPr algn="ctr">
              <a:spcBef>
                <a:spcPts val="1001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c</a:t>
            </a:r>
            <a:endParaRPr lang="it-IT" sz="16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979" name="Text Box 68"/>
          <p:cNvSpPr/>
          <p:nvPr/>
        </p:nvSpPr>
        <p:spPr>
          <a:xfrm>
            <a:off x="2209680" y="4540320"/>
            <a:ext cx="304920" cy="33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spAutoFit/>
          </a:bodyPr>
          <a:p>
            <a:pPr algn="ctr">
              <a:spcBef>
                <a:spcPts val="1001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d</a:t>
            </a:r>
            <a:endParaRPr lang="it-IT" sz="16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980" name="Text Box 69"/>
          <p:cNvSpPr/>
          <p:nvPr/>
        </p:nvSpPr>
        <p:spPr>
          <a:xfrm>
            <a:off x="3103560" y="4941720"/>
            <a:ext cx="304920" cy="33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spAutoFit/>
          </a:bodyPr>
          <a:p>
            <a:pPr algn="ctr">
              <a:spcBef>
                <a:spcPts val="1001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c</a:t>
            </a:r>
            <a:endParaRPr lang="it-IT" sz="16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981" name="Text Box 70"/>
          <p:cNvSpPr/>
          <p:nvPr/>
        </p:nvSpPr>
        <p:spPr>
          <a:xfrm>
            <a:off x="4648320" y="4800600"/>
            <a:ext cx="3962160" cy="855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spAutoFit/>
          </a:bodyPr>
          <a:p>
            <a:pPr>
              <a:spcBef>
                <a:spcPts val="1001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600" b="0" u="none" strike="noStrike">
                <a:solidFill>
                  <a:srgbClr val="FF0065"/>
                </a:solidFill>
                <a:effectLst/>
                <a:uFillTx/>
                <a:latin typeface="Comic Sans MS"/>
              </a:rPr>
              <a:t>Subset construction eliminates </a:t>
            </a:r>
            <a:r>
              <a:rPr lang="en-US" sz="1800" b="0" u="none" strike="noStrike">
                <a:solidFill>
                  <a:srgbClr val="FF0065"/>
                </a:solidFill>
                <a:effectLst/>
                <a:uFillTx/>
                <a:latin typeface="Symbol"/>
                <a:ea typeface="Symbol"/>
              </a:rPr>
              <a:t></a:t>
            </a:r>
            <a:r>
              <a:rPr lang="en-US" sz="1600" b="0" u="none" strike="noStrike">
                <a:solidFill>
                  <a:srgbClr val="FF0065"/>
                </a:solidFill>
                <a:effectLst/>
                <a:uFillTx/>
                <a:latin typeface="Comic Sans MS"/>
              </a:rPr>
              <a:t>-transitions and merges the paths for </a:t>
            </a:r>
            <a:r>
              <a:rPr lang="en-US" sz="1600" b="0" u="sng" strike="noStrike">
                <a:solidFill>
                  <a:srgbClr val="FF0065"/>
                </a:solidFill>
                <a:effectLst/>
                <a:uFillTx/>
                <a:latin typeface="Comic Sans MS"/>
              </a:rPr>
              <a:t>a</a:t>
            </a:r>
            <a:r>
              <a:rPr lang="en-US" sz="1600" b="0" u="none" strike="noStrike">
                <a:solidFill>
                  <a:srgbClr val="FF0065"/>
                </a:solidFill>
                <a:effectLst/>
                <a:uFillTx/>
                <a:latin typeface="Comic Sans MS"/>
              </a:rPr>
              <a:t>.  It leaves duplicate tails, such as </a:t>
            </a:r>
            <a:r>
              <a:rPr lang="en-US" sz="1600" b="0" u="sng" strike="noStrike">
                <a:solidFill>
                  <a:srgbClr val="FF0065"/>
                </a:solidFill>
                <a:effectLst/>
                <a:uFillTx/>
                <a:latin typeface="Comic Sans MS"/>
              </a:rPr>
              <a:t>bc</a:t>
            </a:r>
            <a:r>
              <a:rPr lang="en-US" sz="1600" b="0" u="none" strike="noStrike">
                <a:solidFill>
                  <a:srgbClr val="FF0065"/>
                </a:solidFill>
                <a:effectLst/>
                <a:uFillTx/>
                <a:latin typeface="Comic Sans MS"/>
              </a:rPr>
              <a:t>.</a:t>
            </a:r>
            <a:endParaRPr lang="it-IT" sz="16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2" name="Footer Placeholder 3"/>
          <p:cNvSpPr/>
          <p:nvPr/>
        </p:nvSpPr>
        <p:spPr>
          <a:xfrm>
            <a:off x="685800" y="6248520"/>
            <a:ext cx="289548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Autofit/>
          </a:bodyPr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Comp 412, Fall 2010</a:t>
            </a:r>
            <a:endParaRPr lang="it-IT" sz="12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983" name="Slide Number Placeholder 4"/>
          <p:cNvSpPr/>
          <p:nvPr/>
        </p:nvSpPr>
        <p:spPr>
          <a:xfrm>
            <a:off x="6553080" y="6248520"/>
            <a:ext cx="190512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Autofit/>
          </a:bodyPr>
          <a:p>
            <a:pPr algn="r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175C6622-1B3E-4676-BA6A-5B4BA3A47BF6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&lt;number&gt;</a:t>
            </a:fld>
            <a:endParaRPr lang="it-IT" sz="12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984" name="PlaceHolder 1"/>
          <p:cNvSpPr>
            <a:spLocks noGrp="1"/>
          </p:cNvSpPr>
          <p:nvPr>
            <p:ph type="title"/>
          </p:nvPr>
        </p:nvSpPr>
        <p:spPr>
          <a:xfrm>
            <a:off x="685800" y="533160"/>
            <a:ext cx="7772400" cy="533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l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Alternative Approach to DFA Minimization</a:t>
            </a:r>
            <a:endParaRPr lang="it-IT" sz="24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985" name="PlaceHolder 2"/>
          <p:cNvSpPr>
            <a:spLocks noGrp="1"/>
          </p:cNvSpPr>
          <p:nvPr>
            <p:ph/>
          </p:nvPr>
        </p:nvSpPr>
        <p:spPr>
          <a:xfrm>
            <a:off x="685800" y="1143000"/>
            <a:ext cx="7772400" cy="495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p>
            <a:pPr marL="343080" indent="-343080" algn="l">
              <a:spcBef>
                <a:spcPts val="499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3C75"/>
                </a:solidFill>
                <a:effectLst/>
                <a:uFillTx/>
                <a:latin typeface="Comic Sans MS"/>
              </a:rPr>
              <a:t>Idea: use the subset construction twice</a:t>
            </a:r>
            <a:endParaRPr lang="it-IT" sz="20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  <a:p>
            <a:pPr marL="343080" indent="-343080" algn="l">
              <a:spcBef>
                <a:spcPts val="499"/>
              </a:spcBef>
              <a:buClr>
                <a:srgbClr val="003C75"/>
              </a:buClr>
              <a:buSzPct val="120000"/>
              <a:buFont typeface="Times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For an NFA </a:t>
            </a:r>
            <a:r>
              <a:rPr lang="en-US" sz="2000" b="0" i="1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N</a:t>
            </a:r>
            <a:endParaRPr lang="it-IT" sz="20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  <a:p>
            <a:pPr marL="743040" lvl="1" indent="-285840" algn="l">
              <a:spcBef>
                <a:spcPts val="451"/>
              </a:spcBef>
              <a:buClr>
                <a:srgbClr val="003C75"/>
              </a:buClr>
              <a:buFont typeface="Comic Sans MS"/>
              <a:buChar char="—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Let </a:t>
            </a:r>
            <a:r>
              <a:rPr lang="en-US" sz="1800" b="0" i="1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reverse(N)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 be the NFA constructed by making initial states final (&amp; vice-versa) and reversing the edges</a:t>
            </a:r>
            <a:endParaRPr lang="it-IT" sz="18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  <a:p>
            <a:pPr marL="743040" lvl="1" indent="-285840" algn="l">
              <a:spcBef>
                <a:spcPts val="451"/>
              </a:spcBef>
              <a:buClr>
                <a:srgbClr val="003C75"/>
              </a:buClr>
              <a:buFont typeface="Comic Sans MS"/>
              <a:buChar char="—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Let </a:t>
            </a:r>
            <a:r>
              <a:rPr lang="en-US" sz="1800" b="0" i="1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subset(N) 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be the DFA that results from applying the subset construction to </a:t>
            </a:r>
            <a:r>
              <a:rPr lang="en-US" sz="1800" b="0" i="1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N</a:t>
            </a:r>
            <a:endParaRPr lang="it-IT" sz="18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  <a:p>
            <a:pPr marL="743040" lvl="1" indent="-285840" algn="l">
              <a:spcBef>
                <a:spcPts val="451"/>
              </a:spcBef>
              <a:buClr>
                <a:srgbClr val="003C75"/>
              </a:buClr>
              <a:buFont typeface="Comic Sans MS"/>
              <a:buChar char="—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Let </a:t>
            </a:r>
            <a:r>
              <a:rPr lang="en-US" sz="1800" b="0" i="1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reachable(N)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 be </a:t>
            </a:r>
            <a:r>
              <a:rPr lang="en-US" sz="1800" b="0" i="1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N 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after removing all states that are not reachable from the initial state</a:t>
            </a:r>
            <a:endParaRPr lang="it-IT" sz="18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  <a:p>
            <a:pPr marL="343080" indent="-343080" algn="l">
              <a:spcBef>
                <a:spcPts val="499"/>
              </a:spcBef>
              <a:buClr>
                <a:srgbClr val="003C75"/>
              </a:buClr>
              <a:buSzPct val="120000"/>
              <a:buFont typeface="Times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Then, </a:t>
            </a:r>
            <a:endParaRPr lang="it-IT" sz="20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  <a:p>
            <a:pPr marL="743040" lvl="1" indent="-285840" algn="ctr">
              <a:spcBef>
                <a:spcPts val="1349"/>
              </a:spcBef>
              <a:spcAft>
                <a:spcPts val="1349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i="1" u="none" strike="noStrike">
                <a:solidFill>
                  <a:srgbClr val="B025A6"/>
                </a:solidFill>
                <a:effectLst/>
                <a:uFillTx/>
                <a:latin typeface="Comic Sans MS"/>
              </a:rPr>
              <a:t>reachable(subset(reverse[reachable(subset(reverse(N))]))</a:t>
            </a:r>
            <a:endParaRPr lang="it-IT" sz="18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  <a:p>
            <a:pPr marL="743040" lvl="1" indent="-285840" algn="l">
              <a:spcBef>
                <a:spcPts val="499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is the minimal DFA that implements </a:t>
            </a:r>
            <a:r>
              <a:rPr lang="en-US" sz="2000" b="0" i="1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N    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[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Brzozowski, 1962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]</a:t>
            </a:r>
            <a:endParaRPr lang="it-IT" sz="20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  <a:p>
            <a:pPr marL="343080" indent="-343080" algn="l">
              <a:spcBef>
                <a:spcPts val="1500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i="1" u="none" strike="noStrike">
                <a:solidFill>
                  <a:srgbClr val="FF0065"/>
                </a:solidFill>
                <a:effectLst/>
                <a:uFillTx/>
                <a:latin typeface="Comic Sans MS"/>
              </a:rPr>
              <a:t>This result is not intuitive, but it is true.</a:t>
            </a:r>
            <a:endParaRPr lang="it-IT" sz="20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  <a:p>
            <a:pPr marL="343080" indent="-343080" algn="l">
              <a:spcBef>
                <a:spcPts val="499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i="1" u="none" strike="noStrike">
                <a:solidFill>
                  <a:srgbClr val="FF0065"/>
                </a:solidFill>
                <a:effectLst/>
                <a:uFillTx/>
                <a:latin typeface="Comic Sans MS"/>
              </a:rPr>
              <a:t>Neither algorithm dominates the other.</a:t>
            </a:r>
            <a:endParaRPr lang="it-IT" sz="20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6" name="Footer Placeholder 3"/>
          <p:cNvSpPr/>
          <p:nvPr/>
        </p:nvSpPr>
        <p:spPr>
          <a:xfrm>
            <a:off x="685800" y="6248520"/>
            <a:ext cx="289548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Autofit/>
          </a:bodyPr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Comp 412, Fall 2010</a:t>
            </a:r>
            <a:endParaRPr lang="it-IT" sz="12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987" name="Slide Number Placeholder 4"/>
          <p:cNvSpPr/>
          <p:nvPr/>
        </p:nvSpPr>
        <p:spPr>
          <a:xfrm>
            <a:off x="6553080" y="6248520"/>
            <a:ext cx="190512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Autofit/>
          </a:bodyPr>
          <a:p>
            <a:pPr algn="r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E71E1091-BB70-481A-9C7B-EE3BF0F77F7F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&lt;number&gt;</a:t>
            </a:fld>
            <a:endParaRPr lang="it-IT" sz="12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988" name="PlaceHolder 1"/>
          <p:cNvSpPr>
            <a:spLocks noGrp="1"/>
          </p:cNvSpPr>
          <p:nvPr>
            <p:ph type="title"/>
          </p:nvPr>
        </p:nvSpPr>
        <p:spPr>
          <a:xfrm>
            <a:off x="685800" y="533160"/>
            <a:ext cx="7772400" cy="533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l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Alternative Approach to DFA Minimization</a:t>
            </a:r>
            <a:endParaRPr lang="it-IT" sz="24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989" name="PlaceHolder 2"/>
          <p:cNvSpPr>
            <a:spLocks noGrp="1"/>
          </p:cNvSpPr>
          <p:nvPr>
            <p:ph/>
          </p:nvPr>
        </p:nvSpPr>
        <p:spPr>
          <a:xfrm>
            <a:off x="685800" y="1143000"/>
            <a:ext cx="7772400" cy="495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p>
            <a:pPr marL="343080" indent="-343080" algn="l">
              <a:spcBef>
                <a:spcPts val="499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3C75"/>
                </a:solidFill>
                <a:effectLst/>
                <a:uFillTx/>
                <a:latin typeface="Comic Sans MS"/>
              </a:rPr>
              <a:t>Step 1</a:t>
            </a:r>
            <a:endParaRPr lang="it-IT" sz="20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  <a:p>
            <a:pPr marL="343080" indent="-343080" algn="l">
              <a:spcBef>
                <a:spcPts val="499"/>
              </a:spcBef>
              <a:buClr>
                <a:srgbClr val="003C75"/>
              </a:buClr>
              <a:buSzPct val="120000"/>
              <a:buFont typeface="Times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The subset construction on </a:t>
            </a:r>
            <a:r>
              <a:rPr lang="en-US" sz="2000" b="0" i="1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reverse(NFA)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merges suffixes in original NFA</a:t>
            </a:r>
            <a:endParaRPr lang="it-IT" sz="20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990" name="Oval 14"/>
          <p:cNvSpPr/>
          <p:nvPr/>
        </p:nvSpPr>
        <p:spPr>
          <a:xfrm>
            <a:off x="4952880" y="3016080"/>
            <a:ext cx="381240" cy="381240"/>
          </a:xfrm>
          <a:prstGeom prst="ellipse">
            <a:avLst/>
          </a:prstGeom>
          <a:noFill/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pPr algn="ctr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600" b="0" i="1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s</a:t>
            </a:r>
            <a:r>
              <a:rPr lang="en-US" sz="1600" b="0" u="none" strike="noStrike" baseline="-25000">
                <a:solidFill>
                  <a:srgbClr val="000000"/>
                </a:solidFill>
                <a:effectLst/>
                <a:uFillTx/>
                <a:latin typeface="Comic Sans MS"/>
              </a:rPr>
              <a:t>11</a:t>
            </a:r>
            <a:endParaRPr lang="it-IT" sz="16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991" name="Text Box 25"/>
          <p:cNvSpPr/>
          <p:nvPr/>
        </p:nvSpPr>
        <p:spPr>
          <a:xfrm>
            <a:off x="4800600" y="2558880"/>
            <a:ext cx="304920" cy="36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spAutoFit/>
          </a:bodyPr>
          <a:p>
            <a:pPr algn="ctr">
              <a:lnSpc>
                <a:spcPct val="100000"/>
              </a:lnSpc>
              <a:spcBef>
                <a:spcPts val="112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Symbol"/>
                <a:ea typeface="Symbol"/>
              </a:rPr>
              <a:t></a:t>
            </a:r>
            <a:endParaRPr lang="it-IT" sz="18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992" name="Text Box 26"/>
          <p:cNvSpPr/>
          <p:nvPr/>
        </p:nvSpPr>
        <p:spPr>
          <a:xfrm>
            <a:off x="4191120" y="2863800"/>
            <a:ext cx="304560" cy="36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spAutoFit/>
          </a:bodyPr>
          <a:p>
            <a:pPr algn="ctr">
              <a:lnSpc>
                <a:spcPct val="100000"/>
              </a:lnSpc>
              <a:spcBef>
                <a:spcPts val="112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Symbol"/>
                <a:ea typeface="Symbol"/>
              </a:rPr>
              <a:t></a:t>
            </a:r>
            <a:endParaRPr lang="it-IT" sz="18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993" name="Text Box 27"/>
          <p:cNvSpPr/>
          <p:nvPr/>
        </p:nvSpPr>
        <p:spPr>
          <a:xfrm>
            <a:off x="4267080" y="3321000"/>
            <a:ext cx="304920" cy="36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spAutoFit/>
          </a:bodyPr>
          <a:p>
            <a:pPr algn="ctr">
              <a:lnSpc>
                <a:spcPct val="100000"/>
              </a:lnSpc>
              <a:spcBef>
                <a:spcPts val="112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Symbol"/>
                <a:ea typeface="Symbol"/>
              </a:rPr>
              <a:t></a:t>
            </a:r>
            <a:endParaRPr lang="it-IT" sz="18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994" name="Text Box 35"/>
          <p:cNvSpPr/>
          <p:nvPr/>
        </p:nvSpPr>
        <p:spPr>
          <a:xfrm>
            <a:off x="5943600" y="2787480"/>
            <a:ext cx="1981080" cy="36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spAutoFit/>
          </a:bodyPr>
          <a:p>
            <a:pPr>
              <a:spcBef>
                <a:spcPts val="112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u="none" strike="noStrike">
                <a:solidFill>
                  <a:srgbClr val="B025A6"/>
                </a:solidFill>
                <a:effectLst/>
                <a:uFillTx/>
                <a:latin typeface="Comic Sans MS"/>
              </a:rPr>
              <a:t>Reversed NFA</a:t>
            </a:r>
            <a:endParaRPr lang="it-IT" sz="18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995" name="Oval 57"/>
          <p:cNvSpPr/>
          <p:nvPr/>
        </p:nvSpPr>
        <p:spPr>
          <a:xfrm>
            <a:off x="838080" y="2971800"/>
            <a:ext cx="381240" cy="380880"/>
          </a:xfrm>
          <a:prstGeom prst="ellipse">
            <a:avLst/>
          </a:prstGeom>
          <a:noFill/>
          <a:ln w="381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pPr algn="ctr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600" b="0" i="1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s</a:t>
            </a:r>
            <a:r>
              <a:rPr lang="en-US" sz="1600" b="0" u="none" strike="noStrike" baseline="-25000">
                <a:solidFill>
                  <a:srgbClr val="000000"/>
                </a:solidFill>
                <a:effectLst/>
                <a:uFillTx/>
                <a:latin typeface="Comic Sans MS"/>
              </a:rPr>
              <a:t>0</a:t>
            </a:r>
            <a:endParaRPr lang="it-IT" sz="16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996" name="Oval 58"/>
          <p:cNvSpPr/>
          <p:nvPr/>
        </p:nvSpPr>
        <p:spPr>
          <a:xfrm>
            <a:off x="3505320" y="3657600"/>
            <a:ext cx="380880" cy="380880"/>
          </a:xfrm>
          <a:prstGeom prst="ellipse">
            <a:avLst/>
          </a:prstGeom>
          <a:noFill/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pPr algn="ctr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600" b="0" i="1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s</a:t>
            </a:r>
            <a:r>
              <a:rPr lang="en-US" sz="1600" b="0" u="none" strike="noStrike" baseline="-25000">
                <a:solidFill>
                  <a:srgbClr val="000000"/>
                </a:solidFill>
                <a:effectLst/>
                <a:uFillTx/>
                <a:latin typeface="Comic Sans MS"/>
              </a:rPr>
              <a:t>10</a:t>
            </a:r>
            <a:endParaRPr lang="it-IT" sz="16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997" name="Oval 59"/>
          <p:cNvSpPr/>
          <p:nvPr/>
        </p:nvSpPr>
        <p:spPr>
          <a:xfrm>
            <a:off x="2590920" y="3657600"/>
            <a:ext cx="380880" cy="380880"/>
          </a:xfrm>
          <a:prstGeom prst="ellipse">
            <a:avLst/>
          </a:prstGeom>
          <a:noFill/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pPr algn="ctr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600" b="0" i="1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s</a:t>
            </a:r>
            <a:r>
              <a:rPr lang="en-US" sz="1600" b="0" u="none" strike="noStrike" baseline="-25000">
                <a:solidFill>
                  <a:srgbClr val="000000"/>
                </a:solidFill>
                <a:effectLst/>
                <a:uFillTx/>
                <a:latin typeface="Comic Sans MS"/>
              </a:rPr>
              <a:t>9</a:t>
            </a:r>
            <a:endParaRPr lang="it-IT" sz="16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998" name="Oval 60"/>
          <p:cNvSpPr/>
          <p:nvPr/>
        </p:nvSpPr>
        <p:spPr>
          <a:xfrm>
            <a:off x="1676520" y="3657600"/>
            <a:ext cx="380880" cy="380880"/>
          </a:xfrm>
          <a:prstGeom prst="ellipse">
            <a:avLst/>
          </a:prstGeom>
          <a:noFill/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pPr algn="ctr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600" b="0" i="1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s</a:t>
            </a:r>
            <a:r>
              <a:rPr lang="en-US" sz="1600" b="0" u="none" strike="noStrike" baseline="-25000">
                <a:solidFill>
                  <a:srgbClr val="000000"/>
                </a:solidFill>
                <a:effectLst/>
                <a:uFillTx/>
                <a:latin typeface="Comic Sans MS"/>
              </a:rPr>
              <a:t>8</a:t>
            </a:r>
            <a:endParaRPr lang="it-IT" sz="16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999" name="Oval 61"/>
          <p:cNvSpPr/>
          <p:nvPr/>
        </p:nvSpPr>
        <p:spPr>
          <a:xfrm>
            <a:off x="1676520" y="2971800"/>
            <a:ext cx="380880" cy="380880"/>
          </a:xfrm>
          <a:prstGeom prst="ellipse">
            <a:avLst/>
          </a:prstGeom>
          <a:noFill/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pPr algn="ctr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600" b="0" i="1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s</a:t>
            </a:r>
            <a:r>
              <a:rPr lang="en-US" sz="1600" b="0" u="none" strike="noStrike" baseline="-25000">
                <a:solidFill>
                  <a:srgbClr val="000000"/>
                </a:solidFill>
                <a:effectLst/>
                <a:uFillTx/>
                <a:latin typeface="Comic Sans MS"/>
              </a:rPr>
              <a:t>5</a:t>
            </a:r>
            <a:endParaRPr lang="it-IT" sz="16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1000" name="Oval 62"/>
          <p:cNvSpPr/>
          <p:nvPr/>
        </p:nvSpPr>
        <p:spPr>
          <a:xfrm>
            <a:off x="3505320" y="2971800"/>
            <a:ext cx="380880" cy="380880"/>
          </a:xfrm>
          <a:prstGeom prst="ellipse">
            <a:avLst/>
          </a:prstGeom>
          <a:noFill/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pPr algn="ctr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600" b="0" i="1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s</a:t>
            </a:r>
            <a:r>
              <a:rPr lang="en-US" sz="1600" b="0" u="none" strike="noStrike" baseline="-25000">
                <a:solidFill>
                  <a:srgbClr val="000000"/>
                </a:solidFill>
                <a:effectLst/>
                <a:uFillTx/>
                <a:latin typeface="Comic Sans MS"/>
              </a:rPr>
              <a:t>7</a:t>
            </a:r>
            <a:endParaRPr lang="it-IT" sz="16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1001" name="Oval 63"/>
          <p:cNvSpPr/>
          <p:nvPr/>
        </p:nvSpPr>
        <p:spPr>
          <a:xfrm>
            <a:off x="2590920" y="2971800"/>
            <a:ext cx="380880" cy="380880"/>
          </a:xfrm>
          <a:prstGeom prst="ellipse">
            <a:avLst/>
          </a:prstGeom>
          <a:noFill/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pPr algn="ctr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600" b="0" i="1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s</a:t>
            </a:r>
            <a:r>
              <a:rPr lang="en-US" sz="1600" b="0" u="none" strike="noStrike" baseline="-25000">
                <a:solidFill>
                  <a:srgbClr val="000000"/>
                </a:solidFill>
                <a:effectLst/>
                <a:uFillTx/>
                <a:latin typeface="Comic Sans MS"/>
              </a:rPr>
              <a:t>6</a:t>
            </a:r>
            <a:endParaRPr lang="it-IT" sz="16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1002" name="Oval 64"/>
          <p:cNvSpPr/>
          <p:nvPr/>
        </p:nvSpPr>
        <p:spPr>
          <a:xfrm>
            <a:off x="3505320" y="2362320"/>
            <a:ext cx="380880" cy="380880"/>
          </a:xfrm>
          <a:prstGeom prst="ellipse">
            <a:avLst/>
          </a:prstGeom>
          <a:noFill/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pPr algn="ctr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600" b="0" i="1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s</a:t>
            </a:r>
            <a:r>
              <a:rPr lang="en-US" sz="1600" b="0" u="none" strike="noStrike" baseline="-25000">
                <a:solidFill>
                  <a:srgbClr val="000000"/>
                </a:solidFill>
                <a:effectLst/>
                <a:uFillTx/>
                <a:latin typeface="Comic Sans MS"/>
              </a:rPr>
              <a:t>3</a:t>
            </a:r>
            <a:endParaRPr lang="it-IT" sz="16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1003" name="Oval 65"/>
          <p:cNvSpPr/>
          <p:nvPr/>
        </p:nvSpPr>
        <p:spPr>
          <a:xfrm>
            <a:off x="2590920" y="2362320"/>
            <a:ext cx="380880" cy="380880"/>
          </a:xfrm>
          <a:prstGeom prst="ellipse">
            <a:avLst/>
          </a:prstGeom>
          <a:noFill/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pPr algn="ctr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600" b="0" i="1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s</a:t>
            </a:r>
            <a:r>
              <a:rPr lang="en-US" sz="1600" b="0" u="none" strike="noStrike" baseline="-25000">
                <a:solidFill>
                  <a:srgbClr val="000000"/>
                </a:solidFill>
                <a:effectLst/>
                <a:uFillTx/>
                <a:latin typeface="Comic Sans MS"/>
              </a:rPr>
              <a:t>2</a:t>
            </a:r>
            <a:endParaRPr lang="it-IT" sz="16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1004" name="Oval 66"/>
          <p:cNvSpPr/>
          <p:nvPr/>
        </p:nvSpPr>
        <p:spPr>
          <a:xfrm>
            <a:off x="1676520" y="2362320"/>
            <a:ext cx="380880" cy="380880"/>
          </a:xfrm>
          <a:prstGeom prst="ellipse">
            <a:avLst/>
          </a:prstGeom>
          <a:noFill/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pPr algn="ctr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600" b="0" i="1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s</a:t>
            </a:r>
            <a:r>
              <a:rPr lang="en-US" sz="1600" b="0" u="none" strike="noStrike" baseline="-25000">
                <a:solidFill>
                  <a:srgbClr val="000000"/>
                </a:solidFill>
                <a:effectLst/>
                <a:uFillTx/>
                <a:latin typeface="Comic Sans MS"/>
              </a:rPr>
              <a:t>1</a:t>
            </a:r>
            <a:endParaRPr lang="it-IT" sz="16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1005" name="Oval 67"/>
          <p:cNvSpPr/>
          <p:nvPr/>
        </p:nvSpPr>
        <p:spPr>
          <a:xfrm>
            <a:off x="4419720" y="2362320"/>
            <a:ext cx="380880" cy="380880"/>
          </a:xfrm>
          <a:prstGeom prst="ellipse">
            <a:avLst/>
          </a:prstGeom>
          <a:noFill/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pPr algn="ctr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600" b="0" i="1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s</a:t>
            </a:r>
            <a:r>
              <a:rPr lang="en-US" sz="1600" b="0" u="none" strike="noStrike" baseline="-25000">
                <a:solidFill>
                  <a:srgbClr val="000000"/>
                </a:solidFill>
                <a:effectLst/>
                <a:uFillTx/>
                <a:latin typeface="Comic Sans MS"/>
              </a:rPr>
              <a:t>4</a:t>
            </a:r>
            <a:endParaRPr lang="it-IT" sz="16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cxnSp>
        <p:nvCxnSpPr>
          <p:cNvPr id="1006" name="AutoShape 68"/>
          <p:cNvCxnSpPr>
            <a:stCxn id="995" idx="7"/>
            <a:endCxn id="1004" idx="3"/>
          </p:cNvCxnSpPr>
          <p:nvPr/>
        </p:nvCxnSpPr>
        <p:spPr>
          <a:xfrm flipV="1">
            <a:off x="1163160" y="2687400"/>
            <a:ext cx="568800" cy="321120"/>
          </a:xfrm>
          <a:prstGeom prst="straightConnector1">
            <a:avLst/>
          </a:prstGeom>
          <a:ln w="9360">
            <a:solidFill>
              <a:srgbClr val="000000"/>
            </a:solidFill>
            <a:miter/>
            <a:headEnd len="med" type="triangle" w="med"/>
          </a:ln>
        </p:spPr>
      </p:cxnSp>
      <p:cxnSp>
        <p:nvCxnSpPr>
          <p:cNvPr id="1007" name="AutoShape 69"/>
          <p:cNvCxnSpPr>
            <a:stCxn id="1004" idx="6"/>
            <a:endCxn id="1003" idx="2"/>
          </p:cNvCxnSpPr>
          <p:nvPr/>
        </p:nvCxnSpPr>
        <p:spPr>
          <a:xfrm>
            <a:off x="2057400" y="2552400"/>
            <a:ext cx="534240" cy="1080"/>
          </a:xfrm>
          <a:prstGeom prst="straightConnector1">
            <a:avLst/>
          </a:prstGeom>
          <a:ln w="9360">
            <a:solidFill>
              <a:srgbClr val="000000"/>
            </a:solidFill>
            <a:miter/>
            <a:headEnd len="med" type="triangle" w="med"/>
          </a:ln>
        </p:spPr>
      </p:cxnSp>
      <p:cxnSp>
        <p:nvCxnSpPr>
          <p:cNvPr id="1008" name="AutoShape 70"/>
          <p:cNvCxnSpPr>
            <a:stCxn id="1003" idx="6"/>
            <a:endCxn id="1002" idx="2"/>
          </p:cNvCxnSpPr>
          <p:nvPr/>
        </p:nvCxnSpPr>
        <p:spPr>
          <a:xfrm>
            <a:off x="2971800" y="2552400"/>
            <a:ext cx="534240" cy="1080"/>
          </a:xfrm>
          <a:prstGeom prst="straightConnector1">
            <a:avLst/>
          </a:prstGeom>
          <a:ln w="9360">
            <a:solidFill>
              <a:srgbClr val="000000"/>
            </a:solidFill>
            <a:miter/>
            <a:headEnd len="med" type="triangle" w="med"/>
          </a:ln>
        </p:spPr>
      </p:cxnSp>
      <p:cxnSp>
        <p:nvCxnSpPr>
          <p:cNvPr id="1009" name="AutoShape 71"/>
          <p:cNvCxnSpPr>
            <a:stCxn id="1002" idx="6"/>
            <a:endCxn id="1005" idx="2"/>
          </p:cNvCxnSpPr>
          <p:nvPr/>
        </p:nvCxnSpPr>
        <p:spPr>
          <a:xfrm>
            <a:off x="3886200" y="2552400"/>
            <a:ext cx="534240" cy="1080"/>
          </a:xfrm>
          <a:prstGeom prst="straightConnector1">
            <a:avLst/>
          </a:prstGeom>
          <a:ln w="9360">
            <a:solidFill>
              <a:srgbClr val="000000"/>
            </a:solidFill>
            <a:miter/>
            <a:headEnd len="med" type="triangle" w="med"/>
          </a:ln>
        </p:spPr>
      </p:cxnSp>
      <p:cxnSp>
        <p:nvCxnSpPr>
          <p:cNvPr id="1010" name="AutoShape 72"/>
          <p:cNvCxnSpPr>
            <a:stCxn id="995" idx="6"/>
            <a:endCxn id="999" idx="2"/>
          </p:cNvCxnSpPr>
          <p:nvPr/>
        </p:nvCxnSpPr>
        <p:spPr>
          <a:xfrm>
            <a:off x="1238040" y="3161880"/>
            <a:ext cx="438840" cy="1080"/>
          </a:xfrm>
          <a:prstGeom prst="straightConnector1">
            <a:avLst/>
          </a:prstGeom>
          <a:ln w="9360">
            <a:solidFill>
              <a:srgbClr val="000000"/>
            </a:solidFill>
            <a:miter/>
            <a:headEnd len="med" type="triangle" w="med"/>
          </a:ln>
        </p:spPr>
      </p:cxnSp>
      <p:cxnSp>
        <p:nvCxnSpPr>
          <p:cNvPr id="1011" name="AutoShape 73"/>
          <p:cNvCxnSpPr>
            <a:stCxn id="999" idx="6"/>
            <a:endCxn id="1001" idx="2"/>
          </p:cNvCxnSpPr>
          <p:nvPr/>
        </p:nvCxnSpPr>
        <p:spPr>
          <a:xfrm>
            <a:off x="2057400" y="3161880"/>
            <a:ext cx="534240" cy="1080"/>
          </a:xfrm>
          <a:prstGeom prst="straightConnector1">
            <a:avLst/>
          </a:prstGeom>
          <a:ln w="9360">
            <a:solidFill>
              <a:srgbClr val="000000"/>
            </a:solidFill>
            <a:miter/>
            <a:headEnd len="med" type="triangle" w="med"/>
          </a:ln>
        </p:spPr>
      </p:cxnSp>
      <p:cxnSp>
        <p:nvCxnSpPr>
          <p:cNvPr id="1012" name="AutoShape 74"/>
          <p:cNvCxnSpPr>
            <a:stCxn id="1001" idx="6"/>
            <a:endCxn id="1000" idx="2"/>
          </p:cNvCxnSpPr>
          <p:nvPr/>
        </p:nvCxnSpPr>
        <p:spPr>
          <a:xfrm>
            <a:off x="2971800" y="3161880"/>
            <a:ext cx="534240" cy="1080"/>
          </a:xfrm>
          <a:prstGeom prst="straightConnector1">
            <a:avLst/>
          </a:prstGeom>
          <a:ln w="9360">
            <a:solidFill>
              <a:srgbClr val="000000"/>
            </a:solidFill>
            <a:miter/>
            <a:headEnd len="med" type="triangle" w="med"/>
          </a:ln>
        </p:spPr>
      </p:cxnSp>
      <p:cxnSp>
        <p:nvCxnSpPr>
          <p:cNvPr id="1013" name="AutoShape 75"/>
          <p:cNvCxnSpPr>
            <a:stCxn id="995" idx="5"/>
            <a:endCxn id="998" idx="1"/>
          </p:cNvCxnSpPr>
          <p:nvPr/>
        </p:nvCxnSpPr>
        <p:spPr>
          <a:xfrm>
            <a:off x="1163160" y="3316320"/>
            <a:ext cx="568800" cy="397440"/>
          </a:xfrm>
          <a:prstGeom prst="straightConnector1">
            <a:avLst/>
          </a:prstGeom>
          <a:ln w="9360">
            <a:solidFill>
              <a:srgbClr val="000000"/>
            </a:solidFill>
            <a:miter/>
            <a:headEnd len="med" type="triangle" w="med"/>
          </a:ln>
        </p:spPr>
      </p:cxnSp>
      <p:cxnSp>
        <p:nvCxnSpPr>
          <p:cNvPr id="1014" name="AutoShape 76"/>
          <p:cNvCxnSpPr>
            <a:stCxn id="998" idx="6"/>
            <a:endCxn id="997" idx="2"/>
          </p:cNvCxnSpPr>
          <p:nvPr/>
        </p:nvCxnSpPr>
        <p:spPr>
          <a:xfrm>
            <a:off x="2057400" y="3847680"/>
            <a:ext cx="534240" cy="1080"/>
          </a:xfrm>
          <a:prstGeom prst="straightConnector1">
            <a:avLst/>
          </a:prstGeom>
          <a:ln w="9360">
            <a:solidFill>
              <a:srgbClr val="000000"/>
            </a:solidFill>
            <a:miter/>
            <a:headEnd len="med" type="triangle" w="med"/>
          </a:ln>
        </p:spPr>
      </p:cxnSp>
      <p:cxnSp>
        <p:nvCxnSpPr>
          <p:cNvPr id="1015" name="AutoShape 77"/>
          <p:cNvCxnSpPr>
            <a:stCxn id="997" idx="6"/>
            <a:endCxn id="996" idx="2"/>
          </p:cNvCxnSpPr>
          <p:nvPr/>
        </p:nvCxnSpPr>
        <p:spPr>
          <a:xfrm>
            <a:off x="2971800" y="3847680"/>
            <a:ext cx="534240" cy="1080"/>
          </a:xfrm>
          <a:prstGeom prst="straightConnector1">
            <a:avLst/>
          </a:prstGeom>
          <a:ln w="9360">
            <a:solidFill>
              <a:srgbClr val="000000"/>
            </a:solidFill>
            <a:miter/>
            <a:headEnd len="med" type="triangle" w="med"/>
          </a:ln>
        </p:spPr>
      </p:cxnSp>
      <p:sp>
        <p:nvSpPr>
          <p:cNvPr id="1016" name="Text Box 78"/>
          <p:cNvSpPr/>
          <p:nvPr/>
        </p:nvSpPr>
        <p:spPr>
          <a:xfrm>
            <a:off x="1219320" y="2590920"/>
            <a:ext cx="304560" cy="36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spAutoFit/>
          </a:bodyPr>
          <a:p>
            <a:pPr algn="ctr">
              <a:lnSpc>
                <a:spcPct val="100000"/>
              </a:lnSpc>
              <a:spcBef>
                <a:spcPts val="112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Symbol"/>
                <a:ea typeface="Symbol"/>
              </a:rPr>
              <a:t></a:t>
            </a:r>
            <a:endParaRPr lang="it-IT" sz="18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1017" name="Text Box 79"/>
          <p:cNvSpPr/>
          <p:nvPr/>
        </p:nvSpPr>
        <p:spPr>
          <a:xfrm>
            <a:off x="1295280" y="2876400"/>
            <a:ext cx="304920" cy="36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spAutoFit/>
          </a:bodyPr>
          <a:p>
            <a:pPr algn="ctr">
              <a:lnSpc>
                <a:spcPct val="100000"/>
              </a:lnSpc>
              <a:spcBef>
                <a:spcPts val="112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Symbol"/>
                <a:ea typeface="Symbol"/>
              </a:rPr>
              <a:t></a:t>
            </a:r>
            <a:endParaRPr lang="it-IT" sz="18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1018" name="Text Box 80"/>
          <p:cNvSpPr/>
          <p:nvPr/>
        </p:nvSpPr>
        <p:spPr>
          <a:xfrm>
            <a:off x="1219320" y="3429000"/>
            <a:ext cx="304560" cy="36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spAutoFit/>
          </a:bodyPr>
          <a:p>
            <a:pPr algn="ctr">
              <a:lnSpc>
                <a:spcPct val="100000"/>
              </a:lnSpc>
              <a:spcBef>
                <a:spcPts val="112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Symbol"/>
                <a:ea typeface="Symbol"/>
              </a:rPr>
              <a:t></a:t>
            </a:r>
            <a:endParaRPr lang="it-IT" sz="18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1019" name="Text Box 81"/>
          <p:cNvSpPr/>
          <p:nvPr/>
        </p:nvSpPr>
        <p:spPr>
          <a:xfrm>
            <a:off x="2144880" y="2286000"/>
            <a:ext cx="304560" cy="33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spAutoFit/>
          </a:bodyPr>
          <a:p>
            <a:pPr algn="ctr">
              <a:spcBef>
                <a:spcPts val="1001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a</a:t>
            </a:r>
            <a:endParaRPr lang="it-IT" sz="16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1020" name="Text Box 82"/>
          <p:cNvSpPr/>
          <p:nvPr/>
        </p:nvSpPr>
        <p:spPr>
          <a:xfrm>
            <a:off x="2133720" y="2884320"/>
            <a:ext cx="304560" cy="33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spAutoFit/>
          </a:bodyPr>
          <a:p>
            <a:pPr algn="ctr">
              <a:spcBef>
                <a:spcPts val="1001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b</a:t>
            </a:r>
            <a:endParaRPr lang="it-IT" sz="16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1021" name="Text Box 83"/>
          <p:cNvSpPr/>
          <p:nvPr/>
        </p:nvSpPr>
        <p:spPr>
          <a:xfrm>
            <a:off x="2133720" y="3570120"/>
            <a:ext cx="304560" cy="33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spAutoFit/>
          </a:bodyPr>
          <a:p>
            <a:pPr algn="ctr">
              <a:spcBef>
                <a:spcPts val="1001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a</a:t>
            </a:r>
            <a:endParaRPr lang="it-IT" sz="16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1022" name="Text Box 84"/>
          <p:cNvSpPr/>
          <p:nvPr/>
        </p:nvSpPr>
        <p:spPr>
          <a:xfrm>
            <a:off x="3068640" y="2254320"/>
            <a:ext cx="304920" cy="33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spAutoFit/>
          </a:bodyPr>
          <a:p>
            <a:pPr algn="ctr">
              <a:spcBef>
                <a:spcPts val="1001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b</a:t>
            </a:r>
            <a:endParaRPr lang="it-IT" sz="16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1023" name="Text Box 85"/>
          <p:cNvSpPr/>
          <p:nvPr/>
        </p:nvSpPr>
        <p:spPr>
          <a:xfrm>
            <a:off x="3068640" y="2878200"/>
            <a:ext cx="304920" cy="33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spAutoFit/>
          </a:bodyPr>
          <a:p>
            <a:pPr algn="ctr">
              <a:spcBef>
                <a:spcPts val="1001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c</a:t>
            </a:r>
            <a:endParaRPr lang="it-IT" sz="16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1024" name="Text Box 86"/>
          <p:cNvSpPr/>
          <p:nvPr/>
        </p:nvSpPr>
        <p:spPr>
          <a:xfrm>
            <a:off x="3068640" y="3564000"/>
            <a:ext cx="304920" cy="33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spAutoFit/>
          </a:bodyPr>
          <a:p>
            <a:pPr algn="ctr">
              <a:spcBef>
                <a:spcPts val="1001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d</a:t>
            </a:r>
            <a:endParaRPr lang="it-IT" sz="16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1025" name="Text Box 87"/>
          <p:cNvSpPr/>
          <p:nvPr/>
        </p:nvSpPr>
        <p:spPr>
          <a:xfrm>
            <a:off x="3962520" y="2274840"/>
            <a:ext cx="304560" cy="33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spAutoFit/>
          </a:bodyPr>
          <a:p>
            <a:pPr algn="ctr">
              <a:spcBef>
                <a:spcPts val="1001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c</a:t>
            </a:r>
            <a:endParaRPr lang="it-IT" sz="16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cxnSp>
        <p:nvCxnSpPr>
          <p:cNvPr id="1026" name="AutoShape 89"/>
          <p:cNvCxnSpPr>
            <a:stCxn id="990" idx="1"/>
            <a:endCxn id="1005" idx="5"/>
          </p:cNvCxnSpPr>
          <p:nvPr/>
        </p:nvCxnSpPr>
        <p:spPr>
          <a:xfrm flipH="1" flipV="1">
            <a:off x="4744800" y="2687040"/>
            <a:ext cx="264240" cy="384840"/>
          </a:xfrm>
          <a:prstGeom prst="straightConnector1">
            <a:avLst/>
          </a:prstGeom>
          <a:ln w="9360">
            <a:solidFill>
              <a:srgbClr val="000000"/>
            </a:solidFill>
            <a:miter/>
            <a:tailEnd len="med" type="triangle" w="med"/>
          </a:ln>
        </p:spPr>
      </p:cxnSp>
      <p:cxnSp>
        <p:nvCxnSpPr>
          <p:cNvPr id="1027" name="AutoShape 90"/>
          <p:cNvCxnSpPr>
            <a:stCxn id="990" idx="2"/>
            <a:endCxn id="1000" idx="6"/>
          </p:cNvCxnSpPr>
          <p:nvPr/>
        </p:nvCxnSpPr>
        <p:spPr>
          <a:xfrm flipH="1" flipV="1">
            <a:off x="3885480" y="3161880"/>
            <a:ext cx="1067400" cy="45360"/>
          </a:xfrm>
          <a:prstGeom prst="straightConnector1">
            <a:avLst/>
          </a:prstGeom>
          <a:ln w="9360">
            <a:solidFill>
              <a:srgbClr val="000000"/>
            </a:solidFill>
            <a:miter/>
            <a:tailEnd len="med" type="triangle" w="med"/>
          </a:ln>
        </p:spPr>
      </p:cxnSp>
      <p:cxnSp>
        <p:nvCxnSpPr>
          <p:cNvPr id="1028" name="AutoShape 91"/>
          <p:cNvCxnSpPr>
            <a:stCxn id="990" idx="3"/>
            <a:endCxn id="996" idx="6"/>
          </p:cNvCxnSpPr>
          <p:nvPr/>
        </p:nvCxnSpPr>
        <p:spPr>
          <a:xfrm flipH="1">
            <a:off x="3886200" y="3341160"/>
            <a:ext cx="1122840" cy="506880"/>
          </a:xfrm>
          <a:prstGeom prst="straightConnector1">
            <a:avLst/>
          </a:prstGeom>
          <a:ln w="9360">
            <a:solidFill>
              <a:srgbClr val="000000"/>
            </a:solidFill>
            <a:miter/>
            <a:tailEnd len="med" type="triangle" w="med"/>
          </a:ln>
        </p:spPr>
      </p:cxnSp>
      <p:sp>
        <p:nvSpPr>
          <p:cNvPr id="1029" name="Oval 92"/>
          <p:cNvSpPr/>
          <p:nvPr/>
        </p:nvSpPr>
        <p:spPr>
          <a:xfrm>
            <a:off x="4495680" y="5170320"/>
            <a:ext cx="381240" cy="381240"/>
          </a:xfrm>
          <a:prstGeom prst="ellipse">
            <a:avLst/>
          </a:prstGeom>
          <a:noFill/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pPr algn="ctr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600" b="0" i="1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s</a:t>
            </a:r>
            <a:r>
              <a:rPr lang="en-US" sz="1600" b="0" u="none" strike="noStrike" baseline="-25000">
                <a:solidFill>
                  <a:srgbClr val="000000"/>
                </a:solidFill>
                <a:effectLst/>
                <a:uFillTx/>
                <a:latin typeface="Comic Sans MS"/>
              </a:rPr>
              <a:t>11</a:t>
            </a:r>
            <a:endParaRPr lang="it-IT" sz="16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1030" name="Oval 98"/>
          <p:cNvSpPr/>
          <p:nvPr/>
        </p:nvSpPr>
        <p:spPr>
          <a:xfrm>
            <a:off x="2590920" y="5181480"/>
            <a:ext cx="380880" cy="381240"/>
          </a:xfrm>
          <a:prstGeom prst="ellipse">
            <a:avLst/>
          </a:prstGeom>
          <a:noFill/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pPr algn="ctr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600" b="0" i="1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s</a:t>
            </a:r>
            <a:r>
              <a:rPr lang="en-US" sz="1600" b="0" u="none" strike="noStrike" baseline="-25000">
                <a:solidFill>
                  <a:srgbClr val="000000"/>
                </a:solidFill>
                <a:effectLst/>
                <a:uFillTx/>
                <a:latin typeface="Comic Sans MS"/>
              </a:rPr>
              <a:t>9</a:t>
            </a:r>
            <a:endParaRPr lang="it-IT" sz="16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1031" name="Oval 99"/>
          <p:cNvSpPr/>
          <p:nvPr/>
        </p:nvSpPr>
        <p:spPr>
          <a:xfrm>
            <a:off x="1676520" y="5181480"/>
            <a:ext cx="380880" cy="381240"/>
          </a:xfrm>
          <a:prstGeom prst="ellipse">
            <a:avLst/>
          </a:prstGeom>
          <a:noFill/>
          <a:ln w="381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pPr algn="ctr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600" b="0" i="1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s</a:t>
            </a:r>
            <a:r>
              <a:rPr lang="en-US" sz="1600" b="0" u="none" strike="noStrike" baseline="-25000">
                <a:solidFill>
                  <a:srgbClr val="000000"/>
                </a:solidFill>
                <a:effectLst/>
                <a:uFillTx/>
                <a:latin typeface="Comic Sans MS"/>
              </a:rPr>
              <a:t>8</a:t>
            </a:r>
            <a:endParaRPr lang="it-IT" sz="16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1032" name="Oval 103"/>
          <p:cNvSpPr/>
          <p:nvPr/>
        </p:nvSpPr>
        <p:spPr>
          <a:xfrm>
            <a:off x="3505320" y="4560840"/>
            <a:ext cx="380880" cy="380880"/>
          </a:xfrm>
          <a:prstGeom prst="ellipse">
            <a:avLst/>
          </a:prstGeom>
          <a:noFill/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pPr algn="ctr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600" b="0" i="1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s</a:t>
            </a:r>
            <a:r>
              <a:rPr lang="en-US" sz="1600" b="0" u="none" strike="noStrike" baseline="-25000">
                <a:solidFill>
                  <a:srgbClr val="000000"/>
                </a:solidFill>
                <a:effectLst/>
                <a:uFillTx/>
                <a:latin typeface="Comic Sans MS"/>
              </a:rPr>
              <a:t>3</a:t>
            </a:r>
            <a:endParaRPr lang="it-IT" sz="16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1033" name="Oval 104"/>
          <p:cNvSpPr/>
          <p:nvPr/>
        </p:nvSpPr>
        <p:spPr>
          <a:xfrm>
            <a:off x="2590920" y="4560840"/>
            <a:ext cx="380880" cy="380880"/>
          </a:xfrm>
          <a:prstGeom prst="ellipse">
            <a:avLst/>
          </a:prstGeom>
          <a:noFill/>
          <a:ln w="381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pPr algn="ctr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600" b="0" i="1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s</a:t>
            </a:r>
            <a:r>
              <a:rPr lang="en-US" sz="1600" b="0" u="none" strike="noStrike" baseline="-25000">
                <a:solidFill>
                  <a:srgbClr val="000000"/>
                </a:solidFill>
                <a:effectLst/>
                <a:uFillTx/>
                <a:latin typeface="Comic Sans MS"/>
              </a:rPr>
              <a:t>2</a:t>
            </a:r>
            <a:endParaRPr lang="it-IT" sz="16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1034" name="Oval 105"/>
          <p:cNvSpPr/>
          <p:nvPr/>
        </p:nvSpPr>
        <p:spPr>
          <a:xfrm>
            <a:off x="1676520" y="4560840"/>
            <a:ext cx="380880" cy="380880"/>
          </a:xfrm>
          <a:prstGeom prst="ellipse">
            <a:avLst/>
          </a:prstGeom>
          <a:noFill/>
          <a:ln w="381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pPr algn="ctr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600" b="0" i="1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s</a:t>
            </a:r>
            <a:r>
              <a:rPr lang="en-US" sz="1600" b="0" u="none" strike="noStrike" baseline="-25000">
                <a:solidFill>
                  <a:srgbClr val="000000"/>
                </a:solidFill>
                <a:effectLst/>
                <a:uFillTx/>
                <a:latin typeface="Comic Sans MS"/>
              </a:rPr>
              <a:t>1</a:t>
            </a:r>
            <a:endParaRPr lang="it-IT" sz="16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cxnSp>
        <p:nvCxnSpPr>
          <p:cNvPr id="1035" name="AutoShape 108"/>
          <p:cNvCxnSpPr>
            <a:stCxn id="1034" idx="6"/>
            <a:endCxn id="1033" idx="2"/>
          </p:cNvCxnSpPr>
          <p:nvPr/>
        </p:nvCxnSpPr>
        <p:spPr>
          <a:xfrm>
            <a:off x="2076480" y="4750920"/>
            <a:ext cx="496080" cy="1080"/>
          </a:xfrm>
          <a:prstGeom prst="straightConnector1">
            <a:avLst/>
          </a:prstGeom>
          <a:ln w="9360">
            <a:solidFill>
              <a:srgbClr val="000000"/>
            </a:solidFill>
            <a:miter/>
            <a:headEnd len="med" type="triangle" w="med"/>
          </a:ln>
        </p:spPr>
      </p:cxnSp>
      <p:cxnSp>
        <p:nvCxnSpPr>
          <p:cNvPr id="1036" name="AutoShape 109"/>
          <p:cNvCxnSpPr>
            <a:stCxn id="1033" idx="6"/>
            <a:endCxn id="1032" idx="2"/>
          </p:cNvCxnSpPr>
          <p:nvPr/>
        </p:nvCxnSpPr>
        <p:spPr>
          <a:xfrm>
            <a:off x="2990520" y="4750920"/>
            <a:ext cx="515160" cy="1080"/>
          </a:xfrm>
          <a:prstGeom prst="straightConnector1">
            <a:avLst/>
          </a:prstGeom>
          <a:ln w="9360">
            <a:solidFill>
              <a:srgbClr val="000000"/>
            </a:solidFill>
            <a:miter/>
            <a:headEnd len="med" type="triangle" w="med"/>
          </a:ln>
        </p:spPr>
      </p:cxnSp>
      <p:cxnSp>
        <p:nvCxnSpPr>
          <p:cNvPr id="1037" name="AutoShape 110"/>
          <p:cNvCxnSpPr>
            <a:stCxn id="1032" idx="6"/>
            <a:endCxn id="1029" idx="1"/>
          </p:cNvCxnSpPr>
          <p:nvPr/>
        </p:nvCxnSpPr>
        <p:spPr>
          <a:xfrm>
            <a:off x="3886200" y="4750920"/>
            <a:ext cx="665640" cy="475560"/>
          </a:xfrm>
          <a:prstGeom prst="straightConnector1">
            <a:avLst/>
          </a:prstGeom>
          <a:ln w="9360">
            <a:solidFill>
              <a:srgbClr val="000000"/>
            </a:solidFill>
            <a:miter/>
            <a:headEnd len="med" type="triangle" w="med"/>
          </a:ln>
        </p:spPr>
      </p:cxnSp>
      <p:cxnSp>
        <p:nvCxnSpPr>
          <p:cNvPr id="1038" name="AutoShape 115"/>
          <p:cNvCxnSpPr>
            <a:stCxn id="1031" idx="6"/>
            <a:endCxn id="1030" idx="2"/>
          </p:cNvCxnSpPr>
          <p:nvPr/>
        </p:nvCxnSpPr>
        <p:spPr>
          <a:xfrm>
            <a:off x="2076120" y="5371920"/>
            <a:ext cx="515160" cy="1080"/>
          </a:xfrm>
          <a:prstGeom prst="straightConnector1">
            <a:avLst/>
          </a:prstGeom>
          <a:ln w="9360">
            <a:solidFill>
              <a:srgbClr val="000000"/>
            </a:solidFill>
            <a:miter/>
            <a:headEnd len="med" type="triangle" w="med"/>
          </a:ln>
        </p:spPr>
      </p:cxnSp>
      <p:cxnSp>
        <p:nvCxnSpPr>
          <p:cNvPr id="1039" name="AutoShape 116"/>
          <p:cNvCxnSpPr>
            <a:stCxn id="1030" idx="6"/>
            <a:endCxn id="1029" idx="2"/>
          </p:cNvCxnSpPr>
          <p:nvPr/>
        </p:nvCxnSpPr>
        <p:spPr>
          <a:xfrm flipV="1">
            <a:off x="2971440" y="5360400"/>
            <a:ext cx="1524600" cy="11880"/>
          </a:xfrm>
          <a:prstGeom prst="straightConnector1">
            <a:avLst/>
          </a:prstGeom>
          <a:ln w="9360">
            <a:solidFill>
              <a:srgbClr val="000000"/>
            </a:solidFill>
            <a:miter/>
            <a:headEnd len="med" type="triangle" w="med"/>
          </a:ln>
        </p:spPr>
      </p:cxnSp>
      <p:sp>
        <p:nvSpPr>
          <p:cNvPr id="1040" name="Text Box 120"/>
          <p:cNvSpPr/>
          <p:nvPr/>
        </p:nvSpPr>
        <p:spPr>
          <a:xfrm>
            <a:off x="2144880" y="4484520"/>
            <a:ext cx="304560" cy="33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spAutoFit/>
          </a:bodyPr>
          <a:p>
            <a:pPr algn="ctr">
              <a:spcBef>
                <a:spcPts val="1001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a</a:t>
            </a:r>
            <a:endParaRPr lang="it-IT" sz="16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1041" name="Text Box 122"/>
          <p:cNvSpPr/>
          <p:nvPr/>
        </p:nvSpPr>
        <p:spPr>
          <a:xfrm>
            <a:off x="2133720" y="5094360"/>
            <a:ext cx="304560" cy="33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spAutoFit/>
          </a:bodyPr>
          <a:p>
            <a:pPr algn="ctr">
              <a:spcBef>
                <a:spcPts val="1001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a</a:t>
            </a:r>
            <a:endParaRPr lang="it-IT" sz="16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1042" name="Text Box 123"/>
          <p:cNvSpPr/>
          <p:nvPr/>
        </p:nvSpPr>
        <p:spPr>
          <a:xfrm>
            <a:off x="3068640" y="4452840"/>
            <a:ext cx="304920" cy="33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spAutoFit/>
          </a:bodyPr>
          <a:p>
            <a:pPr algn="ctr">
              <a:spcBef>
                <a:spcPts val="1001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b</a:t>
            </a:r>
            <a:endParaRPr lang="it-IT" sz="16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1043" name="Text Box 125"/>
          <p:cNvSpPr/>
          <p:nvPr/>
        </p:nvSpPr>
        <p:spPr>
          <a:xfrm>
            <a:off x="3429000" y="5083200"/>
            <a:ext cx="304920" cy="33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spAutoFit/>
          </a:bodyPr>
          <a:p>
            <a:pPr algn="ctr">
              <a:spcBef>
                <a:spcPts val="1001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d</a:t>
            </a:r>
            <a:endParaRPr lang="it-IT" sz="16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1044" name="Text Box 126"/>
          <p:cNvSpPr/>
          <p:nvPr/>
        </p:nvSpPr>
        <p:spPr>
          <a:xfrm>
            <a:off x="3962520" y="4473720"/>
            <a:ext cx="304560" cy="33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spAutoFit/>
          </a:bodyPr>
          <a:p>
            <a:pPr algn="ctr">
              <a:spcBef>
                <a:spcPts val="1001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c</a:t>
            </a:r>
            <a:endParaRPr lang="it-IT" sz="16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1045" name="Text Box 130"/>
          <p:cNvSpPr/>
          <p:nvPr/>
        </p:nvSpPr>
        <p:spPr>
          <a:xfrm>
            <a:off x="6019920" y="4941720"/>
            <a:ext cx="2819160" cy="36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spAutoFit/>
          </a:bodyPr>
          <a:p>
            <a:pPr>
              <a:spcBef>
                <a:spcPts val="112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u="none" strike="noStrike">
                <a:solidFill>
                  <a:srgbClr val="B025A6"/>
                </a:solidFill>
                <a:effectLst/>
                <a:uFillTx/>
                <a:latin typeface="Comic Sans MS"/>
              </a:rPr>
              <a:t>subset(reverse(NFA))</a:t>
            </a:r>
            <a:endParaRPr lang="it-IT" sz="18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6" name="Footer Placeholder 3"/>
          <p:cNvSpPr/>
          <p:nvPr/>
        </p:nvSpPr>
        <p:spPr>
          <a:xfrm>
            <a:off x="685800" y="6248520"/>
            <a:ext cx="289548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Autofit/>
          </a:bodyPr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Comp 412, Fall 2010</a:t>
            </a:r>
            <a:endParaRPr lang="it-IT" sz="12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1047" name="Slide Number Placeholder 4"/>
          <p:cNvSpPr/>
          <p:nvPr/>
        </p:nvSpPr>
        <p:spPr>
          <a:xfrm>
            <a:off x="6553080" y="6248520"/>
            <a:ext cx="190512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Autofit/>
          </a:bodyPr>
          <a:p>
            <a:pPr algn="r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23EB54A6-DF5F-4CC5-A4A1-3B68BA805341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&lt;number&gt;</a:t>
            </a:fld>
            <a:endParaRPr lang="it-IT" sz="12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1048" name="PlaceHolder 1"/>
          <p:cNvSpPr>
            <a:spLocks noGrp="1"/>
          </p:cNvSpPr>
          <p:nvPr>
            <p:ph type="title"/>
          </p:nvPr>
        </p:nvSpPr>
        <p:spPr>
          <a:xfrm>
            <a:off x="685800" y="533160"/>
            <a:ext cx="7772400" cy="533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l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Alternative Approach to DFA Minimization</a:t>
            </a:r>
            <a:endParaRPr lang="it-IT" sz="24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1049" name="PlaceHolder 2"/>
          <p:cNvSpPr>
            <a:spLocks noGrp="1"/>
          </p:cNvSpPr>
          <p:nvPr>
            <p:ph/>
          </p:nvPr>
        </p:nvSpPr>
        <p:spPr>
          <a:xfrm>
            <a:off x="685800" y="1143000"/>
            <a:ext cx="7772400" cy="495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p>
            <a:pPr marL="343080" indent="-343080" algn="l">
              <a:spcBef>
                <a:spcPts val="499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3C75"/>
                </a:solidFill>
                <a:effectLst/>
                <a:uFillTx/>
                <a:latin typeface="Comic Sans MS"/>
              </a:rPr>
              <a:t>Step 2</a:t>
            </a:r>
            <a:endParaRPr lang="it-IT" sz="20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  <a:p>
            <a:pPr marL="343080" indent="-343080" algn="l">
              <a:spcBef>
                <a:spcPts val="499"/>
              </a:spcBef>
              <a:buClr>
                <a:srgbClr val="003C75"/>
              </a:buClr>
              <a:buSzPct val="120000"/>
              <a:buFont typeface="Times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Reverse it again &amp; use subset to merge prefixes …</a:t>
            </a:r>
            <a:endParaRPr lang="it-IT" sz="20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1050" name="Text Box 8"/>
          <p:cNvSpPr/>
          <p:nvPr/>
        </p:nvSpPr>
        <p:spPr>
          <a:xfrm>
            <a:off x="5943600" y="2514600"/>
            <a:ext cx="1981080" cy="36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spAutoFit/>
          </a:bodyPr>
          <a:p>
            <a:pPr>
              <a:spcBef>
                <a:spcPts val="112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u="none" strike="noStrike">
                <a:solidFill>
                  <a:srgbClr val="B025A6"/>
                </a:solidFill>
                <a:effectLst/>
                <a:uFillTx/>
                <a:latin typeface="Comic Sans MS"/>
              </a:rPr>
              <a:t>Reverse it, again</a:t>
            </a:r>
            <a:endParaRPr lang="it-IT" sz="18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1051" name="Oval 43"/>
          <p:cNvSpPr/>
          <p:nvPr/>
        </p:nvSpPr>
        <p:spPr>
          <a:xfrm>
            <a:off x="4495680" y="2774880"/>
            <a:ext cx="381240" cy="381240"/>
          </a:xfrm>
          <a:prstGeom prst="ellipse">
            <a:avLst/>
          </a:prstGeom>
          <a:noFill/>
          <a:ln w="381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pPr algn="ctr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600" b="0" i="1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s</a:t>
            </a:r>
            <a:r>
              <a:rPr lang="en-US" sz="1600" b="0" u="none" strike="noStrike" baseline="-25000">
                <a:solidFill>
                  <a:srgbClr val="000000"/>
                </a:solidFill>
                <a:effectLst/>
                <a:uFillTx/>
                <a:latin typeface="Comic Sans MS"/>
              </a:rPr>
              <a:t>11</a:t>
            </a:r>
            <a:endParaRPr lang="it-IT" sz="16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1052" name="Oval 44"/>
          <p:cNvSpPr/>
          <p:nvPr/>
        </p:nvSpPr>
        <p:spPr>
          <a:xfrm>
            <a:off x="2590920" y="3124080"/>
            <a:ext cx="380880" cy="381240"/>
          </a:xfrm>
          <a:prstGeom prst="ellipse">
            <a:avLst/>
          </a:prstGeom>
          <a:noFill/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pPr algn="ctr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600" b="0" i="1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s</a:t>
            </a:r>
            <a:r>
              <a:rPr lang="en-US" sz="1600" b="0" u="none" strike="noStrike" baseline="-25000">
                <a:solidFill>
                  <a:srgbClr val="000000"/>
                </a:solidFill>
                <a:effectLst/>
                <a:uFillTx/>
                <a:latin typeface="Comic Sans MS"/>
              </a:rPr>
              <a:t>9</a:t>
            </a:r>
            <a:endParaRPr lang="it-IT" sz="16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1053" name="Oval 45"/>
          <p:cNvSpPr/>
          <p:nvPr/>
        </p:nvSpPr>
        <p:spPr>
          <a:xfrm>
            <a:off x="1676520" y="3124080"/>
            <a:ext cx="380880" cy="381240"/>
          </a:xfrm>
          <a:prstGeom prst="ellipse">
            <a:avLst/>
          </a:prstGeom>
          <a:noFill/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pPr algn="ctr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600" b="0" i="1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s</a:t>
            </a:r>
            <a:r>
              <a:rPr lang="en-US" sz="1600" b="0" u="none" strike="noStrike" baseline="-25000">
                <a:solidFill>
                  <a:srgbClr val="000000"/>
                </a:solidFill>
                <a:effectLst/>
                <a:uFillTx/>
                <a:latin typeface="Comic Sans MS"/>
              </a:rPr>
              <a:t>8</a:t>
            </a:r>
            <a:endParaRPr lang="it-IT" sz="16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1054" name="Oval 46"/>
          <p:cNvSpPr/>
          <p:nvPr/>
        </p:nvSpPr>
        <p:spPr>
          <a:xfrm>
            <a:off x="3505320" y="2165400"/>
            <a:ext cx="380880" cy="380880"/>
          </a:xfrm>
          <a:prstGeom prst="ellipse">
            <a:avLst/>
          </a:prstGeom>
          <a:noFill/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pPr algn="ctr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600" b="0" i="1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s</a:t>
            </a:r>
            <a:r>
              <a:rPr lang="en-US" sz="1600" b="0" u="none" strike="noStrike" baseline="-25000">
                <a:solidFill>
                  <a:srgbClr val="000000"/>
                </a:solidFill>
                <a:effectLst/>
                <a:uFillTx/>
                <a:latin typeface="Comic Sans MS"/>
              </a:rPr>
              <a:t>3</a:t>
            </a:r>
            <a:endParaRPr lang="it-IT" sz="16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1055" name="Oval 47"/>
          <p:cNvSpPr/>
          <p:nvPr/>
        </p:nvSpPr>
        <p:spPr>
          <a:xfrm>
            <a:off x="2590920" y="2165400"/>
            <a:ext cx="380880" cy="380880"/>
          </a:xfrm>
          <a:prstGeom prst="ellipse">
            <a:avLst/>
          </a:prstGeom>
          <a:noFill/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pPr algn="ctr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600" b="0" i="1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s</a:t>
            </a:r>
            <a:r>
              <a:rPr lang="en-US" sz="1600" b="0" u="none" strike="noStrike" baseline="-25000">
                <a:solidFill>
                  <a:srgbClr val="000000"/>
                </a:solidFill>
                <a:effectLst/>
                <a:uFillTx/>
                <a:latin typeface="Comic Sans MS"/>
              </a:rPr>
              <a:t>2</a:t>
            </a:r>
            <a:endParaRPr lang="it-IT" sz="16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1056" name="Oval 48"/>
          <p:cNvSpPr/>
          <p:nvPr/>
        </p:nvSpPr>
        <p:spPr>
          <a:xfrm>
            <a:off x="1676520" y="2165400"/>
            <a:ext cx="380880" cy="380880"/>
          </a:xfrm>
          <a:prstGeom prst="ellipse">
            <a:avLst/>
          </a:prstGeom>
          <a:noFill/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pPr algn="ctr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600" b="0" i="1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s</a:t>
            </a:r>
            <a:r>
              <a:rPr lang="en-US" sz="1600" b="0" u="none" strike="noStrike" baseline="-25000">
                <a:solidFill>
                  <a:srgbClr val="000000"/>
                </a:solidFill>
                <a:effectLst/>
                <a:uFillTx/>
                <a:latin typeface="Comic Sans MS"/>
              </a:rPr>
              <a:t>1</a:t>
            </a:r>
            <a:endParaRPr lang="it-IT" sz="16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cxnSp>
        <p:nvCxnSpPr>
          <p:cNvPr id="1057" name="AutoShape 49"/>
          <p:cNvCxnSpPr>
            <a:stCxn id="1056" idx="6"/>
            <a:endCxn id="1055" idx="2"/>
          </p:cNvCxnSpPr>
          <p:nvPr/>
        </p:nvCxnSpPr>
        <p:spPr>
          <a:xfrm>
            <a:off x="2057400" y="2355480"/>
            <a:ext cx="534240" cy="1080"/>
          </a:xfrm>
          <a:prstGeom prst="straightConnector1">
            <a:avLst/>
          </a:prstGeom>
          <a:ln w="9360">
            <a:solidFill>
              <a:srgbClr val="000000"/>
            </a:solidFill>
            <a:miter/>
            <a:tailEnd len="med" type="triangle" w="med"/>
          </a:ln>
        </p:spPr>
      </p:cxnSp>
      <p:cxnSp>
        <p:nvCxnSpPr>
          <p:cNvPr id="1058" name="AutoShape 50"/>
          <p:cNvCxnSpPr>
            <a:stCxn id="1055" idx="6"/>
            <a:endCxn id="1054" idx="2"/>
          </p:cNvCxnSpPr>
          <p:nvPr/>
        </p:nvCxnSpPr>
        <p:spPr>
          <a:xfrm>
            <a:off x="2971800" y="2355480"/>
            <a:ext cx="534240" cy="1080"/>
          </a:xfrm>
          <a:prstGeom prst="straightConnector1">
            <a:avLst/>
          </a:prstGeom>
          <a:ln w="9360">
            <a:solidFill>
              <a:srgbClr val="000000"/>
            </a:solidFill>
            <a:miter/>
            <a:tailEnd len="med" type="triangle" w="med"/>
          </a:ln>
        </p:spPr>
      </p:cxnSp>
      <p:cxnSp>
        <p:nvCxnSpPr>
          <p:cNvPr id="1059" name="AutoShape 51"/>
          <p:cNvCxnSpPr>
            <a:stCxn id="1054" idx="6"/>
            <a:endCxn id="1051" idx="1"/>
          </p:cNvCxnSpPr>
          <p:nvPr/>
        </p:nvCxnSpPr>
        <p:spPr>
          <a:xfrm>
            <a:off x="3886200" y="2355840"/>
            <a:ext cx="665640" cy="456480"/>
          </a:xfrm>
          <a:prstGeom prst="straightConnector1">
            <a:avLst/>
          </a:prstGeom>
          <a:ln w="9360">
            <a:solidFill>
              <a:srgbClr val="000000"/>
            </a:solidFill>
            <a:miter/>
            <a:tailEnd len="med" type="triangle" w="med"/>
          </a:ln>
        </p:spPr>
      </p:cxnSp>
      <p:cxnSp>
        <p:nvCxnSpPr>
          <p:cNvPr id="1060" name="AutoShape 52"/>
          <p:cNvCxnSpPr>
            <a:stCxn id="1053" idx="6"/>
            <a:endCxn id="1052" idx="2"/>
          </p:cNvCxnSpPr>
          <p:nvPr/>
        </p:nvCxnSpPr>
        <p:spPr>
          <a:xfrm>
            <a:off x="2057400" y="3314520"/>
            <a:ext cx="534240" cy="1080"/>
          </a:xfrm>
          <a:prstGeom prst="straightConnector1">
            <a:avLst/>
          </a:prstGeom>
          <a:ln w="9360">
            <a:solidFill>
              <a:srgbClr val="000000"/>
            </a:solidFill>
            <a:miter/>
            <a:tailEnd len="med" type="triangle" w="med"/>
          </a:ln>
        </p:spPr>
      </p:cxnSp>
      <p:cxnSp>
        <p:nvCxnSpPr>
          <p:cNvPr id="1061" name="AutoShape 53"/>
          <p:cNvCxnSpPr>
            <a:stCxn id="1052" idx="6"/>
            <a:endCxn id="1051" idx="2"/>
          </p:cNvCxnSpPr>
          <p:nvPr/>
        </p:nvCxnSpPr>
        <p:spPr>
          <a:xfrm flipV="1">
            <a:off x="2971800" y="2964600"/>
            <a:ext cx="1505520" cy="350280"/>
          </a:xfrm>
          <a:prstGeom prst="straightConnector1">
            <a:avLst/>
          </a:prstGeom>
          <a:ln w="9360">
            <a:solidFill>
              <a:srgbClr val="000000"/>
            </a:solidFill>
            <a:miter/>
            <a:tailEnd len="med" type="triangle" w="med"/>
          </a:ln>
        </p:spPr>
      </p:cxnSp>
      <p:sp>
        <p:nvSpPr>
          <p:cNvPr id="1062" name="Text Box 54"/>
          <p:cNvSpPr/>
          <p:nvPr/>
        </p:nvSpPr>
        <p:spPr>
          <a:xfrm>
            <a:off x="2144880" y="2089080"/>
            <a:ext cx="304560" cy="33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spAutoFit/>
          </a:bodyPr>
          <a:p>
            <a:pPr algn="ctr">
              <a:spcBef>
                <a:spcPts val="1001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a</a:t>
            </a:r>
            <a:endParaRPr lang="it-IT" sz="16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1063" name="Text Box 55"/>
          <p:cNvSpPr/>
          <p:nvPr/>
        </p:nvSpPr>
        <p:spPr>
          <a:xfrm>
            <a:off x="2133720" y="3036960"/>
            <a:ext cx="304560" cy="33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spAutoFit/>
          </a:bodyPr>
          <a:p>
            <a:pPr algn="ctr">
              <a:spcBef>
                <a:spcPts val="1001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a</a:t>
            </a:r>
            <a:endParaRPr lang="it-IT" sz="16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1064" name="Text Box 56"/>
          <p:cNvSpPr/>
          <p:nvPr/>
        </p:nvSpPr>
        <p:spPr>
          <a:xfrm>
            <a:off x="3068640" y="2057400"/>
            <a:ext cx="304920" cy="33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spAutoFit/>
          </a:bodyPr>
          <a:p>
            <a:pPr algn="ctr">
              <a:spcBef>
                <a:spcPts val="1001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b</a:t>
            </a:r>
            <a:endParaRPr lang="it-IT" sz="16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1065" name="Text Box 57"/>
          <p:cNvSpPr/>
          <p:nvPr/>
        </p:nvSpPr>
        <p:spPr>
          <a:xfrm>
            <a:off x="3429000" y="2863800"/>
            <a:ext cx="304920" cy="33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spAutoFit/>
          </a:bodyPr>
          <a:p>
            <a:pPr algn="ctr">
              <a:spcBef>
                <a:spcPts val="1001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d</a:t>
            </a:r>
            <a:endParaRPr lang="it-IT" sz="16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1066" name="Text Box 58"/>
          <p:cNvSpPr/>
          <p:nvPr/>
        </p:nvSpPr>
        <p:spPr>
          <a:xfrm>
            <a:off x="3962520" y="2077920"/>
            <a:ext cx="304560" cy="33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spAutoFit/>
          </a:bodyPr>
          <a:p>
            <a:pPr algn="ctr">
              <a:spcBef>
                <a:spcPts val="1001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c</a:t>
            </a:r>
            <a:endParaRPr lang="it-IT" sz="16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1067" name="Oval 60"/>
          <p:cNvSpPr/>
          <p:nvPr/>
        </p:nvSpPr>
        <p:spPr>
          <a:xfrm>
            <a:off x="914400" y="2590920"/>
            <a:ext cx="380880" cy="380880"/>
          </a:xfrm>
          <a:prstGeom prst="ellipse">
            <a:avLst/>
          </a:prstGeom>
          <a:noFill/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pPr algn="ctr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600" b="0" i="1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s</a:t>
            </a:r>
            <a:r>
              <a:rPr lang="en-US" sz="1600" b="0" u="none" strike="noStrike" baseline="-25000">
                <a:solidFill>
                  <a:srgbClr val="000000"/>
                </a:solidFill>
                <a:effectLst/>
                <a:uFillTx/>
                <a:latin typeface="Comic Sans MS"/>
              </a:rPr>
              <a:t>0</a:t>
            </a:r>
            <a:endParaRPr lang="it-IT" sz="16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cxnSp>
        <p:nvCxnSpPr>
          <p:cNvPr id="1068" name="AutoShape 61"/>
          <p:cNvCxnSpPr>
            <a:stCxn id="1067" idx="7"/>
            <a:endCxn id="1056" idx="2"/>
          </p:cNvCxnSpPr>
          <p:nvPr/>
        </p:nvCxnSpPr>
        <p:spPr>
          <a:xfrm flipV="1">
            <a:off x="1239480" y="2355120"/>
            <a:ext cx="437400" cy="291240"/>
          </a:xfrm>
          <a:prstGeom prst="straightConnector1">
            <a:avLst/>
          </a:prstGeom>
          <a:ln w="9360">
            <a:solidFill>
              <a:srgbClr val="000000"/>
            </a:solidFill>
            <a:miter/>
            <a:tailEnd len="med" type="triangle" w="med"/>
          </a:ln>
        </p:spPr>
      </p:cxnSp>
      <p:cxnSp>
        <p:nvCxnSpPr>
          <p:cNvPr id="1069" name="AutoShape 62"/>
          <p:cNvCxnSpPr>
            <a:stCxn id="1067" idx="6"/>
            <a:endCxn id="1055" idx="3"/>
          </p:cNvCxnSpPr>
          <p:nvPr/>
        </p:nvCxnSpPr>
        <p:spPr>
          <a:xfrm flipV="1">
            <a:off x="1294920" y="2490120"/>
            <a:ext cx="1351800" cy="291240"/>
          </a:xfrm>
          <a:prstGeom prst="curvedConnector2">
            <a:avLst/>
          </a:prstGeom>
          <a:ln w="9360">
            <a:solidFill>
              <a:srgbClr val="000000"/>
            </a:solidFill>
            <a:miter/>
            <a:tailEnd len="med" type="triangle" w="med"/>
          </a:ln>
        </p:spPr>
      </p:cxnSp>
      <p:cxnSp>
        <p:nvCxnSpPr>
          <p:cNvPr id="1070" name="AutoShape 63"/>
          <p:cNvCxnSpPr>
            <a:stCxn id="1067" idx="5"/>
            <a:endCxn id="1053" idx="1"/>
          </p:cNvCxnSpPr>
          <p:nvPr/>
        </p:nvCxnSpPr>
        <p:spPr>
          <a:xfrm>
            <a:off x="1239480" y="2916360"/>
            <a:ext cx="492840" cy="264240"/>
          </a:xfrm>
          <a:prstGeom prst="straightConnector1">
            <a:avLst/>
          </a:prstGeom>
          <a:ln w="9360">
            <a:solidFill>
              <a:srgbClr val="000000"/>
            </a:solidFill>
            <a:miter/>
            <a:tailEnd len="med" type="triangle" w="med"/>
          </a:ln>
        </p:spPr>
      </p:cxnSp>
      <p:sp>
        <p:nvSpPr>
          <p:cNvPr id="1071" name="Text Box 64"/>
          <p:cNvSpPr/>
          <p:nvPr/>
        </p:nvSpPr>
        <p:spPr>
          <a:xfrm>
            <a:off x="1447920" y="2492280"/>
            <a:ext cx="304560" cy="36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spAutoFit/>
          </a:bodyPr>
          <a:p>
            <a:pPr algn="ctr">
              <a:lnSpc>
                <a:spcPct val="100000"/>
              </a:lnSpc>
              <a:spcBef>
                <a:spcPts val="112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Symbol"/>
                <a:ea typeface="Symbol"/>
              </a:rPr>
              <a:t></a:t>
            </a:r>
            <a:endParaRPr lang="it-IT" sz="18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1072" name="Text Box 65"/>
          <p:cNvSpPr/>
          <p:nvPr/>
        </p:nvSpPr>
        <p:spPr>
          <a:xfrm>
            <a:off x="1143000" y="2300400"/>
            <a:ext cx="304920" cy="36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spAutoFit/>
          </a:bodyPr>
          <a:p>
            <a:pPr algn="ctr">
              <a:lnSpc>
                <a:spcPct val="100000"/>
              </a:lnSpc>
              <a:spcBef>
                <a:spcPts val="112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Symbol"/>
                <a:ea typeface="Symbol"/>
              </a:rPr>
              <a:t></a:t>
            </a:r>
            <a:endParaRPr lang="it-IT" sz="18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1073" name="Text Box 66"/>
          <p:cNvSpPr/>
          <p:nvPr/>
        </p:nvSpPr>
        <p:spPr>
          <a:xfrm>
            <a:off x="1219320" y="2971800"/>
            <a:ext cx="304560" cy="36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spAutoFit/>
          </a:bodyPr>
          <a:p>
            <a:pPr algn="ctr">
              <a:lnSpc>
                <a:spcPct val="100000"/>
              </a:lnSpc>
              <a:spcBef>
                <a:spcPts val="112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Symbol"/>
                <a:ea typeface="Symbol"/>
              </a:rPr>
              <a:t></a:t>
            </a:r>
            <a:endParaRPr lang="it-IT" sz="18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grpSp>
        <p:nvGrpSpPr>
          <p:cNvPr id="1074" name="Group 127"/>
          <p:cNvGrpSpPr/>
          <p:nvPr/>
        </p:nvGrpSpPr>
        <p:grpSpPr>
          <a:xfrm>
            <a:off x="990720" y="3733920"/>
            <a:ext cx="7619760" cy="2011320"/>
            <a:chOff x="990720" y="3733920"/>
            <a:chExt cx="7619760" cy="2011320"/>
          </a:xfrm>
        </p:grpSpPr>
        <p:sp>
          <p:nvSpPr>
            <p:cNvPr id="1075" name="Text Box 59"/>
            <p:cNvSpPr/>
            <p:nvPr/>
          </p:nvSpPr>
          <p:spPr>
            <a:xfrm>
              <a:off x="5791320" y="4386240"/>
              <a:ext cx="2819160" cy="368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spAutoFit/>
            </a:bodyPr>
            <a:p>
              <a:pPr>
                <a:spcBef>
                  <a:spcPts val="112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800" b="0" u="none" strike="noStrike">
                  <a:solidFill>
                    <a:srgbClr val="B025A6"/>
                  </a:solidFill>
                  <a:effectLst/>
                  <a:uFillTx/>
                  <a:latin typeface="Comic Sans MS"/>
                </a:rPr>
                <a:t>And subset it, again</a:t>
              </a:r>
              <a:endParaRPr lang="it-IT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1076" name="Oval 67"/>
            <p:cNvSpPr/>
            <p:nvPr/>
          </p:nvSpPr>
          <p:spPr>
            <a:xfrm>
              <a:off x="4191120" y="4767120"/>
              <a:ext cx="380880" cy="381240"/>
            </a:xfrm>
            <a:prstGeom prst="ellipse">
              <a:avLst/>
            </a:prstGeom>
            <a:noFill/>
            <a:ln w="381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ctr">
              <a:noAutofit/>
            </a:bodyPr>
            <a:p>
              <a:pPr algn="ctr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600" b="0" i="1" u="none" strike="noStrike">
                  <a:solidFill>
                    <a:srgbClr val="000000"/>
                  </a:solidFill>
                  <a:effectLst/>
                  <a:uFillTx/>
                  <a:latin typeface="Comic Sans MS"/>
                </a:rPr>
                <a:t>s</a:t>
              </a:r>
              <a:r>
                <a:rPr lang="en-US" sz="1600" b="0" u="none" strike="noStrike" baseline="-25000">
                  <a:solidFill>
                    <a:srgbClr val="000000"/>
                  </a:solidFill>
                  <a:effectLst/>
                  <a:uFillTx/>
                  <a:latin typeface="Comic Sans MS"/>
                </a:rPr>
                <a:t>11</a:t>
              </a:r>
              <a:endParaRPr lang="it-IT" sz="16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1077" name="Oval 70"/>
            <p:cNvSpPr/>
            <p:nvPr/>
          </p:nvSpPr>
          <p:spPr>
            <a:xfrm>
              <a:off x="3048120" y="4767120"/>
              <a:ext cx="380880" cy="381240"/>
            </a:xfrm>
            <a:prstGeom prst="ellipse">
              <a:avLst/>
            </a:prstGeom>
            <a:noFill/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ctr">
              <a:noAutofit/>
            </a:bodyPr>
            <a:p>
              <a:pPr algn="ctr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600" b="0" i="1" u="none" strike="noStrike">
                  <a:solidFill>
                    <a:srgbClr val="000000"/>
                  </a:solidFill>
                  <a:effectLst/>
                  <a:uFillTx/>
                  <a:latin typeface="Comic Sans MS"/>
                </a:rPr>
                <a:t>s</a:t>
              </a:r>
              <a:r>
                <a:rPr lang="en-US" sz="1600" b="0" u="none" strike="noStrike" baseline="-25000">
                  <a:solidFill>
                    <a:srgbClr val="000000"/>
                  </a:solidFill>
                  <a:effectLst/>
                  <a:uFillTx/>
                  <a:latin typeface="Comic Sans MS"/>
                </a:rPr>
                <a:t>3</a:t>
              </a:r>
              <a:endParaRPr lang="it-IT" sz="16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1078" name="Oval 71"/>
            <p:cNvSpPr/>
            <p:nvPr/>
          </p:nvSpPr>
          <p:spPr>
            <a:xfrm>
              <a:off x="1828800" y="4037040"/>
              <a:ext cx="380880" cy="380880"/>
            </a:xfrm>
            <a:prstGeom prst="ellipse">
              <a:avLst/>
            </a:prstGeom>
            <a:noFill/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ctr">
              <a:noAutofit/>
            </a:bodyPr>
            <a:p>
              <a:pPr algn="ctr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600" b="0" i="1" u="none" strike="noStrike">
                  <a:solidFill>
                    <a:srgbClr val="000000"/>
                  </a:solidFill>
                  <a:effectLst/>
                  <a:uFillTx/>
                  <a:latin typeface="Comic Sans MS"/>
                </a:rPr>
                <a:t>s</a:t>
              </a:r>
              <a:r>
                <a:rPr lang="en-US" sz="1600" b="0" u="none" strike="noStrike" baseline="-25000">
                  <a:solidFill>
                    <a:srgbClr val="000000"/>
                  </a:solidFill>
                  <a:effectLst/>
                  <a:uFillTx/>
                  <a:latin typeface="Comic Sans MS"/>
                </a:rPr>
                <a:t>2</a:t>
              </a:r>
              <a:endParaRPr lang="it-IT" sz="16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cxnSp>
          <p:nvCxnSpPr>
            <p:cNvPr id="1079" name="AutoShape 73"/>
            <p:cNvCxnSpPr>
              <a:stCxn id="1080" idx="7"/>
              <a:endCxn id="1078" idx="2"/>
            </p:cNvCxnSpPr>
            <p:nvPr/>
          </p:nvCxnSpPr>
          <p:spPr>
            <a:xfrm flipV="1">
              <a:off x="1316160" y="4227120"/>
              <a:ext cx="513360" cy="596160"/>
            </a:xfrm>
            <a:prstGeom prst="straightConnector1">
              <a:avLst/>
            </a:prstGeom>
            <a:ln w="9360">
              <a:solidFill>
                <a:srgbClr val="000000"/>
              </a:solidFill>
              <a:miter/>
              <a:tailEnd len="med" type="triangle" w="med"/>
            </a:ln>
          </p:spPr>
        </p:cxnSp>
        <p:cxnSp>
          <p:nvCxnSpPr>
            <p:cNvPr id="1081" name="AutoShape 74"/>
            <p:cNvCxnSpPr>
              <a:stCxn id="1078" idx="6"/>
              <a:endCxn id="1077" idx="1"/>
            </p:cNvCxnSpPr>
            <p:nvPr/>
          </p:nvCxnSpPr>
          <p:spPr>
            <a:xfrm>
              <a:off x="2209320" y="4227480"/>
              <a:ext cx="894600" cy="596160"/>
            </a:xfrm>
            <a:prstGeom prst="straightConnector1">
              <a:avLst/>
            </a:prstGeom>
            <a:ln w="9360">
              <a:solidFill>
                <a:srgbClr val="000000"/>
              </a:solidFill>
              <a:miter/>
              <a:tailEnd len="med" type="triangle" w="med"/>
            </a:ln>
          </p:spPr>
        </p:cxnSp>
        <p:cxnSp>
          <p:nvCxnSpPr>
            <p:cNvPr id="1082" name="AutoShape 75"/>
            <p:cNvCxnSpPr>
              <a:stCxn id="1077" idx="6"/>
              <a:endCxn id="1076" idx="2"/>
            </p:cNvCxnSpPr>
            <p:nvPr/>
          </p:nvCxnSpPr>
          <p:spPr>
            <a:xfrm>
              <a:off x="3429000" y="4957560"/>
              <a:ext cx="743760" cy="1080"/>
            </a:xfrm>
            <a:prstGeom prst="straightConnector1">
              <a:avLst/>
            </a:prstGeom>
            <a:ln w="9360">
              <a:solidFill>
                <a:srgbClr val="000000"/>
              </a:solidFill>
              <a:miter/>
              <a:tailEnd len="med" type="triangle" w="med"/>
            </a:ln>
          </p:spPr>
        </p:cxnSp>
        <p:sp>
          <p:nvSpPr>
            <p:cNvPr id="1083" name="Text Box 78"/>
            <p:cNvSpPr/>
            <p:nvPr/>
          </p:nvSpPr>
          <p:spPr>
            <a:xfrm>
              <a:off x="1447920" y="4075200"/>
              <a:ext cx="304560" cy="337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spAutoFit/>
            </a:bodyPr>
            <a:p>
              <a:pPr algn="ctr">
                <a:spcBef>
                  <a:spcPts val="1001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600" b="0" u="none" strike="noStrike">
                  <a:solidFill>
                    <a:srgbClr val="000000"/>
                  </a:solidFill>
                  <a:effectLst/>
                  <a:uFillTx/>
                  <a:latin typeface="Comic Sans MS"/>
                </a:rPr>
                <a:t>a</a:t>
              </a:r>
              <a:endParaRPr lang="it-IT" sz="16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1084" name="Text Box 80"/>
            <p:cNvSpPr/>
            <p:nvPr/>
          </p:nvSpPr>
          <p:spPr>
            <a:xfrm>
              <a:off x="1676520" y="4626000"/>
              <a:ext cx="304560" cy="337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spAutoFit/>
            </a:bodyPr>
            <a:p>
              <a:pPr algn="ctr">
                <a:spcBef>
                  <a:spcPts val="1001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600" b="0" u="none" strike="noStrike">
                  <a:solidFill>
                    <a:srgbClr val="000000"/>
                  </a:solidFill>
                  <a:effectLst/>
                  <a:uFillTx/>
                  <a:latin typeface="Comic Sans MS"/>
                </a:rPr>
                <a:t>b</a:t>
              </a:r>
              <a:endParaRPr lang="it-IT" sz="16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1085" name="Text Box 81"/>
            <p:cNvSpPr/>
            <p:nvPr/>
          </p:nvSpPr>
          <p:spPr>
            <a:xfrm>
              <a:off x="2514600" y="3733920"/>
              <a:ext cx="304920" cy="337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spAutoFit/>
            </a:bodyPr>
            <a:p>
              <a:pPr algn="ctr">
                <a:spcBef>
                  <a:spcPts val="1001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600" b="0" u="none" strike="noStrike">
                  <a:solidFill>
                    <a:srgbClr val="000000"/>
                  </a:solidFill>
                  <a:effectLst/>
                  <a:uFillTx/>
                  <a:latin typeface="Comic Sans MS"/>
                </a:rPr>
                <a:t>d</a:t>
              </a:r>
              <a:endParaRPr lang="it-IT" sz="16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1086" name="Text Box 82"/>
            <p:cNvSpPr/>
            <p:nvPr/>
          </p:nvSpPr>
          <p:spPr>
            <a:xfrm>
              <a:off x="3581280" y="4659480"/>
              <a:ext cx="304920" cy="337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spAutoFit/>
            </a:bodyPr>
            <a:p>
              <a:pPr algn="ctr">
                <a:spcBef>
                  <a:spcPts val="1001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600" b="0" u="none" strike="noStrike">
                  <a:solidFill>
                    <a:srgbClr val="000000"/>
                  </a:solidFill>
                  <a:effectLst/>
                  <a:uFillTx/>
                  <a:latin typeface="Comic Sans MS"/>
                </a:rPr>
                <a:t>c</a:t>
              </a:r>
              <a:endParaRPr lang="it-IT" sz="16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1080" name="Oval 83"/>
            <p:cNvSpPr/>
            <p:nvPr/>
          </p:nvSpPr>
          <p:spPr>
            <a:xfrm>
              <a:off x="990720" y="4767120"/>
              <a:ext cx="380880" cy="381240"/>
            </a:xfrm>
            <a:prstGeom prst="ellipse">
              <a:avLst/>
            </a:prstGeom>
            <a:noFill/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ctr">
              <a:noAutofit/>
            </a:bodyPr>
            <a:p>
              <a:pPr algn="ctr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600" b="0" i="1" u="none" strike="noStrike">
                  <a:solidFill>
                    <a:srgbClr val="000000"/>
                  </a:solidFill>
                  <a:effectLst/>
                  <a:uFillTx/>
                  <a:latin typeface="Comic Sans MS"/>
                </a:rPr>
                <a:t>s</a:t>
              </a:r>
              <a:r>
                <a:rPr lang="en-US" sz="1600" b="0" u="none" strike="noStrike" baseline="-25000">
                  <a:solidFill>
                    <a:srgbClr val="000000"/>
                  </a:solidFill>
                  <a:effectLst/>
                  <a:uFillTx/>
                  <a:latin typeface="Comic Sans MS"/>
                </a:rPr>
                <a:t>0</a:t>
              </a:r>
              <a:endParaRPr lang="it-IT" sz="16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1087" name="Text Box 90"/>
            <p:cNvSpPr/>
            <p:nvPr/>
          </p:nvSpPr>
          <p:spPr>
            <a:xfrm>
              <a:off x="2503440" y="4202280"/>
              <a:ext cx="304920" cy="337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spAutoFit/>
            </a:bodyPr>
            <a:p>
              <a:pPr algn="ctr">
                <a:spcBef>
                  <a:spcPts val="1001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600" b="0" u="none" strike="noStrike">
                  <a:solidFill>
                    <a:srgbClr val="000000"/>
                  </a:solidFill>
                  <a:effectLst/>
                  <a:uFillTx/>
                  <a:latin typeface="Comic Sans MS"/>
                </a:rPr>
                <a:t>b</a:t>
              </a:r>
              <a:endParaRPr lang="it-IT" sz="16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cxnSp>
          <p:nvCxnSpPr>
            <p:cNvPr id="1088" name="AutoShape 91"/>
            <p:cNvCxnSpPr>
              <a:stCxn id="1078" idx="7"/>
              <a:endCxn id="1076" idx="0"/>
            </p:cNvCxnSpPr>
            <p:nvPr/>
          </p:nvCxnSpPr>
          <p:spPr>
            <a:xfrm flipH="1" rot="16200000">
              <a:off x="2939760" y="3305520"/>
              <a:ext cx="656280" cy="2228040"/>
            </a:xfrm>
            <a:prstGeom prst="curvedConnector5">
              <a:avLst>
                <a:gd name="adj1" fmla="val -4335"/>
                <a:gd name="adj2" fmla="val 50000"/>
                <a:gd name="adj3" fmla="val -4335"/>
              </a:avLst>
            </a:prstGeom>
            <a:ln w="9360">
              <a:solidFill>
                <a:srgbClr val="000000"/>
              </a:solidFill>
              <a:miter/>
              <a:tailEnd len="med" type="triangle" w="med"/>
            </a:ln>
          </p:spPr>
        </p:cxnSp>
        <p:cxnSp>
          <p:nvCxnSpPr>
            <p:cNvPr id="1089" name="AutoShape 109"/>
            <p:cNvCxnSpPr>
              <a:stCxn id="1080" idx="6"/>
              <a:endCxn id="1077" idx="2"/>
            </p:cNvCxnSpPr>
            <p:nvPr/>
          </p:nvCxnSpPr>
          <p:spPr>
            <a:xfrm>
              <a:off x="1371240" y="4957560"/>
              <a:ext cx="1677240" cy="1080"/>
            </a:xfrm>
            <a:prstGeom prst="straightConnector1">
              <a:avLst/>
            </a:prstGeom>
            <a:ln w="9360">
              <a:solidFill>
                <a:srgbClr val="000000"/>
              </a:solidFill>
              <a:miter/>
              <a:tailEnd len="med" type="triangle" w="med"/>
            </a:ln>
          </p:spPr>
        </p:cxnSp>
        <p:sp>
          <p:nvSpPr>
            <p:cNvPr id="1090" name="Text Box 110"/>
            <p:cNvSpPr/>
            <p:nvPr/>
          </p:nvSpPr>
          <p:spPr>
            <a:xfrm>
              <a:off x="1905120" y="5376960"/>
              <a:ext cx="1828800" cy="368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spAutoFit/>
            </a:bodyPr>
            <a:p>
              <a:pPr>
                <a:spcBef>
                  <a:spcPts val="112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800" b="0" u="none" strike="noStrike">
                  <a:solidFill>
                    <a:srgbClr val="FF0065"/>
                  </a:solidFill>
                  <a:effectLst/>
                  <a:uFillTx/>
                  <a:latin typeface="Comic Sans MS"/>
                </a:rPr>
                <a:t>Minimal DFA</a:t>
              </a:r>
              <a:endParaRPr lang="it-IT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</p:grpSp>
      <p:grpSp>
        <p:nvGrpSpPr>
          <p:cNvPr id="1091" name="Group 111"/>
          <p:cNvGrpSpPr/>
          <p:nvPr/>
        </p:nvGrpSpPr>
        <p:grpSpPr>
          <a:xfrm>
            <a:off x="4921200" y="4952880"/>
            <a:ext cx="3765600" cy="1504440"/>
            <a:chOff x="4921200" y="4952880"/>
            <a:chExt cx="3765600" cy="1504440"/>
          </a:xfrm>
        </p:grpSpPr>
        <p:sp>
          <p:nvSpPr>
            <p:cNvPr id="1092" name="Text Box 112"/>
            <p:cNvSpPr/>
            <p:nvPr/>
          </p:nvSpPr>
          <p:spPr>
            <a:xfrm>
              <a:off x="7324560" y="5851440"/>
              <a:ext cx="990720" cy="6058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spAutoFit/>
            </a:bodyPr>
            <a:p>
              <a:pPr algn="ctr">
                <a:lnSpc>
                  <a:spcPct val="120000"/>
                </a:lnSpc>
                <a:spcBef>
                  <a:spcPts val="876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400" b="0" i="1" u="none" strike="noStrike">
                  <a:solidFill>
                    <a:srgbClr val="B025A6"/>
                  </a:solidFill>
                  <a:effectLst/>
                  <a:uFillTx/>
                  <a:latin typeface="Arial Rounded MT Bold"/>
                </a:rPr>
                <a:t>minimal </a:t>
              </a:r>
              <a:r>
                <a:rPr lang="en-US" sz="1400" b="0" u="none" strike="noStrike">
                  <a:solidFill>
                    <a:srgbClr val="B025A6"/>
                  </a:solidFill>
                  <a:effectLst/>
                  <a:uFillTx/>
                  <a:latin typeface="Arial Rounded MT Bold"/>
                </a:rPr>
                <a:t>DFA</a:t>
              </a:r>
              <a:endParaRPr lang="it-IT" sz="14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1093" name="Text Box 113"/>
            <p:cNvSpPr/>
            <p:nvPr/>
          </p:nvSpPr>
          <p:spPr>
            <a:xfrm>
              <a:off x="5343480" y="6016680"/>
              <a:ext cx="533520" cy="3074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spAutoFit/>
            </a:bodyPr>
            <a:p>
              <a:pPr>
                <a:lnSpc>
                  <a:spcPct val="100000"/>
                </a:lnSpc>
                <a:spcBef>
                  <a:spcPts val="876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400" b="0" u="none" strike="noStrike">
                  <a:solidFill>
                    <a:srgbClr val="B025A6"/>
                  </a:solidFill>
                  <a:effectLst/>
                  <a:uFillTx/>
                  <a:latin typeface="Arial Rounded MT Bold"/>
                </a:rPr>
                <a:t>RE</a:t>
              </a:r>
              <a:endParaRPr lang="it-IT" sz="14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1094" name="Text Box 114"/>
            <p:cNvSpPr/>
            <p:nvPr/>
          </p:nvSpPr>
          <p:spPr>
            <a:xfrm>
              <a:off x="5952960" y="6016680"/>
              <a:ext cx="685800" cy="3074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spAutoFit/>
            </a:bodyPr>
            <a:p>
              <a:pPr>
                <a:lnSpc>
                  <a:spcPct val="100000"/>
                </a:lnSpc>
                <a:spcBef>
                  <a:spcPts val="876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400" b="0" u="none" strike="noStrike">
                  <a:solidFill>
                    <a:srgbClr val="B025A6"/>
                  </a:solidFill>
                  <a:effectLst/>
                  <a:uFillTx/>
                  <a:latin typeface="Arial Rounded MT Bold"/>
                </a:rPr>
                <a:t>NFA</a:t>
              </a:r>
              <a:endParaRPr lang="it-IT" sz="14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1095" name="Text Box 115"/>
            <p:cNvSpPr/>
            <p:nvPr/>
          </p:nvSpPr>
          <p:spPr>
            <a:xfrm>
              <a:off x="6715080" y="6016680"/>
              <a:ext cx="685800" cy="3074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spAutoFit/>
            </a:bodyPr>
            <a:p>
              <a:pPr>
                <a:lnSpc>
                  <a:spcPct val="100000"/>
                </a:lnSpc>
                <a:spcBef>
                  <a:spcPts val="876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400" b="0" u="none" strike="noStrike">
                  <a:solidFill>
                    <a:srgbClr val="B025A6"/>
                  </a:solidFill>
                  <a:effectLst/>
                  <a:uFillTx/>
                  <a:latin typeface="Arial Rounded MT Bold"/>
                </a:rPr>
                <a:t>DFA</a:t>
              </a:r>
              <a:endParaRPr lang="it-IT" sz="14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1096" name="Line 116"/>
            <p:cNvSpPr/>
            <p:nvPr/>
          </p:nvSpPr>
          <p:spPr>
            <a:xfrm>
              <a:off x="5724360" y="6168960"/>
              <a:ext cx="304920" cy="0"/>
            </a:xfrm>
            <a:prstGeom prst="line">
              <a:avLst/>
            </a:prstGeom>
            <a:ln w="9360">
              <a:solidFill>
                <a:srgbClr val="B025A6"/>
              </a:solidFill>
              <a:miter/>
              <a:tailEnd len="med" type="triangle" w="med"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46800" rIns="90000" bIns="-46800" anchor="ctr">
              <a:noAutofit/>
            </a:bodyPr>
            <a:p>
              <a:endParaRPr lang="it-IT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1097" name="Line 117"/>
            <p:cNvSpPr/>
            <p:nvPr/>
          </p:nvSpPr>
          <p:spPr>
            <a:xfrm>
              <a:off x="6486480" y="6168960"/>
              <a:ext cx="304920" cy="0"/>
            </a:xfrm>
            <a:prstGeom prst="line">
              <a:avLst/>
            </a:prstGeom>
            <a:ln w="9360">
              <a:solidFill>
                <a:srgbClr val="B025A6"/>
              </a:solidFill>
              <a:miter/>
              <a:tailEnd len="med" type="triangle" w="med"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46800" rIns="90000" bIns="-46800" anchor="ctr">
              <a:noAutofit/>
            </a:bodyPr>
            <a:p>
              <a:endParaRPr lang="it-IT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1098" name="Line 118"/>
            <p:cNvSpPr/>
            <p:nvPr/>
          </p:nvSpPr>
          <p:spPr>
            <a:xfrm>
              <a:off x="7248600" y="6168960"/>
              <a:ext cx="304560" cy="0"/>
            </a:xfrm>
            <a:prstGeom prst="line">
              <a:avLst/>
            </a:prstGeom>
            <a:ln w="9360">
              <a:solidFill>
                <a:srgbClr val="B025A6"/>
              </a:solidFill>
              <a:miter/>
              <a:tailEnd len="med" type="triangle" w="med"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46800" rIns="90000" bIns="-46800" anchor="ctr">
              <a:noAutofit/>
            </a:bodyPr>
            <a:p>
              <a:endParaRPr lang="it-IT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1099" name="Line 119"/>
            <p:cNvSpPr/>
            <p:nvPr/>
          </p:nvSpPr>
          <p:spPr>
            <a:xfrm>
              <a:off x="8010360" y="6172200"/>
              <a:ext cx="304920" cy="0"/>
            </a:xfrm>
            <a:prstGeom prst="line">
              <a:avLst/>
            </a:prstGeom>
            <a:ln w="9360">
              <a:solidFill>
                <a:srgbClr val="FF0065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46800" rIns="90000" bIns="-46800" anchor="ctr">
              <a:noAutofit/>
            </a:bodyPr>
            <a:p>
              <a:endParaRPr lang="it-IT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1100" name="Arc 120"/>
            <p:cNvSpPr/>
            <p:nvPr/>
          </p:nvSpPr>
          <p:spPr>
            <a:xfrm>
              <a:off x="8229600" y="5410080"/>
              <a:ext cx="457200" cy="382680"/>
            </a:xfrm>
            <a:custGeom>
              <a:avLst/>
              <a:gdLst>
                <a:gd name="textAreaLeft" fmla="*/ 0 w 457200"/>
                <a:gd name="textAreaRight" fmla="*/ 457560 w 457200"/>
                <a:gd name="textAreaTop" fmla="*/ 0 h 382680"/>
                <a:gd name="textAreaBottom" fmla="*/ 383040 h 382680"/>
                <a:gd name="GluePoint1X" fmla="*/ 0 w 21600"/>
                <a:gd name="GluePoint1Y" fmla="*/ 0 h 21573"/>
                <a:gd name="GluePoint2X" fmla="*/ 0 w 21600"/>
                <a:gd name="GluePoint2Y" fmla="*/ 0 h 21573"/>
                <a:gd name="GluePoint3X" fmla="*/ 0 w 21600"/>
                <a:gd name="GluePoint3Y" fmla="*/ 0 h 21573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</a:cxnLst>
              <a:rect l="textAreaLeft" t="textAreaTop" r="textAreaRight" b="textAreaBottom"/>
              <a:pathLst>
                <a:path fill="none" w="21600" h="21573">
                  <a:moveTo>
                    <a:pt x="1078" y="-1"/>
                  </a:moveTo>
                  <a:cubicBezTo>
                    <a:pt x="12573" y="574"/>
                    <a:pt x="21600" y="10062"/>
                    <a:pt x="21600" y="21573"/>
                  </a:cubicBezTo>
                </a:path>
                <a:path stroke="0" w="21600" h="21573">
                  <a:moveTo>
                    <a:pt x="1078" y="-1"/>
                  </a:moveTo>
                  <a:cubicBezTo>
                    <a:pt x="12573" y="574"/>
                    <a:pt x="21600" y="10062"/>
                    <a:pt x="21600" y="21573"/>
                  </a:cubicBezTo>
                  <a:lnTo>
                    <a:pt x="0" y="21573"/>
                  </a:lnTo>
                  <a:close/>
                </a:path>
              </a:pathLst>
            </a:custGeom>
            <a:noFill/>
            <a:ln w="9360">
              <a:solidFill>
                <a:srgbClr val="FF0065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ctr">
              <a:noAutofit/>
            </a:bodyPr>
            <a:p>
              <a:endParaRPr lang="it-IT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1101" name="Arc 121"/>
            <p:cNvSpPr/>
            <p:nvPr/>
          </p:nvSpPr>
          <p:spPr>
            <a:xfrm flipV="1">
              <a:off x="8229600" y="5791320"/>
              <a:ext cx="457200" cy="380880"/>
            </a:xfrm>
            <a:custGeom>
              <a:avLst/>
              <a:gdLst>
                <a:gd name="textAreaLeft" fmla="*/ 0 w 457200"/>
                <a:gd name="textAreaRight" fmla="*/ 457560 w 457200"/>
                <a:gd name="textAreaTop" fmla="*/ 360 h 380880"/>
                <a:gd name="textAreaBottom" fmla="*/ 381600 h 380880"/>
                <a:gd name="GluePoint1X" fmla="*/ 0 w 21600"/>
                <a:gd name="GluePoint1Y" fmla="*/ 0 h 21573"/>
                <a:gd name="GluePoint2X" fmla="*/ 0 w 21600"/>
                <a:gd name="GluePoint2Y" fmla="*/ 0 h 21573"/>
                <a:gd name="GluePoint3X" fmla="*/ 0 w 21600"/>
                <a:gd name="GluePoint3Y" fmla="*/ 0 h 21573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</a:cxnLst>
              <a:rect l="textAreaLeft" t="textAreaTop" r="textAreaRight" b="textAreaBottom"/>
              <a:pathLst>
                <a:path fill="none" w="21600" h="21573">
                  <a:moveTo>
                    <a:pt x="1078" y="-1"/>
                  </a:moveTo>
                  <a:cubicBezTo>
                    <a:pt x="12573" y="574"/>
                    <a:pt x="21600" y="10062"/>
                    <a:pt x="21600" y="21573"/>
                  </a:cubicBezTo>
                </a:path>
                <a:path stroke="0" w="21600" h="21573">
                  <a:moveTo>
                    <a:pt x="1078" y="-1"/>
                  </a:moveTo>
                  <a:cubicBezTo>
                    <a:pt x="12573" y="574"/>
                    <a:pt x="21600" y="10062"/>
                    <a:pt x="21600" y="21573"/>
                  </a:cubicBezTo>
                  <a:lnTo>
                    <a:pt x="0" y="21573"/>
                  </a:lnTo>
                  <a:close/>
                </a:path>
              </a:pathLst>
            </a:custGeom>
            <a:noFill/>
            <a:ln w="9360">
              <a:solidFill>
                <a:srgbClr val="FF0065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ctr">
              <a:noAutofit/>
            </a:bodyPr>
            <a:p>
              <a:endParaRPr lang="it-IT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1102" name="Arc 122"/>
            <p:cNvSpPr/>
            <p:nvPr/>
          </p:nvSpPr>
          <p:spPr>
            <a:xfrm flipH="1">
              <a:off x="4921200" y="5416560"/>
              <a:ext cx="457200" cy="382680"/>
            </a:xfrm>
            <a:custGeom>
              <a:avLst/>
              <a:gdLst>
                <a:gd name="textAreaLeft" fmla="*/ 360 w 457200"/>
                <a:gd name="textAreaRight" fmla="*/ 457920 w 457200"/>
                <a:gd name="textAreaTop" fmla="*/ 0 h 382680"/>
                <a:gd name="textAreaBottom" fmla="*/ 383040 h 382680"/>
                <a:gd name="GluePoint1X" fmla="*/ 0 w 21600"/>
                <a:gd name="GluePoint1Y" fmla="*/ 0 h 21573"/>
                <a:gd name="GluePoint2X" fmla="*/ 0 w 21600"/>
                <a:gd name="GluePoint2Y" fmla="*/ 0 h 21573"/>
                <a:gd name="GluePoint3X" fmla="*/ 0 w 21600"/>
                <a:gd name="GluePoint3Y" fmla="*/ 0 h 21573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</a:cxnLst>
              <a:rect l="textAreaLeft" t="textAreaTop" r="textAreaRight" b="textAreaBottom"/>
              <a:pathLst>
                <a:path fill="none" w="21600" h="21573">
                  <a:moveTo>
                    <a:pt x="1078" y="-1"/>
                  </a:moveTo>
                  <a:cubicBezTo>
                    <a:pt x="12573" y="574"/>
                    <a:pt x="21600" y="10062"/>
                    <a:pt x="21600" y="21573"/>
                  </a:cubicBezTo>
                </a:path>
                <a:path stroke="0" w="21600" h="21573">
                  <a:moveTo>
                    <a:pt x="1078" y="-1"/>
                  </a:moveTo>
                  <a:cubicBezTo>
                    <a:pt x="12573" y="574"/>
                    <a:pt x="21600" y="10062"/>
                    <a:pt x="21600" y="21573"/>
                  </a:cubicBezTo>
                  <a:lnTo>
                    <a:pt x="0" y="21573"/>
                  </a:lnTo>
                  <a:close/>
                </a:path>
              </a:pathLst>
            </a:custGeom>
            <a:noFill/>
            <a:ln w="9360">
              <a:solidFill>
                <a:srgbClr val="FF0065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ctr">
              <a:noAutofit/>
            </a:bodyPr>
            <a:p>
              <a:endParaRPr lang="it-IT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1103" name="Arc 123"/>
            <p:cNvSpPr/>
            <p:nvPr/>
          </p:nvSpPr>
          <p:spPr>
            <a:xfrm flipH="1" flipV="1">
              <a:off x="4921200" y="5799240"/>
              <a:ext cx="457200" cy="380880"/>
            </a:xfrm>
            <a:custGeom>
              <a:avLst/>
              <a:gdLst>
                <a:gd name="textAreaLeft" fmla="*/ 360 w 457200"/>
                <a:gd name="textAreaRight" fmla="*/ 457920 w 457200"/>
                <a:gd name="textAreaTop" fmla="*/ 360 h 380880"/>
                <a:gd name="textAreaBottom" fmla="*/ 381600 h 380880"/>
                <a:gd name="GluePoint1X" fmla="*/ 0 w 21600"/>
                <a:gd name="GluePoint1Y" fmla="*/ 0 h 21573"/>
                <a:gd name="GluePoint2X" fmla="*/ 0 w 21600"/>
                <a:gd name="GluePoint2Y" fmla="*/ 0 h 21573"/>
                <a:gd name="GluePoint3X" fmla="*/ 0 w 21600"/>
                <a:gd name="GluePoint3Y" fmla="*/ 0 h 21573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</a:cxnLst>
              <a:rect l="textAreaLeft" t="textAreaTop" r="textAreaRight" b="textAreaBottom"/>
              <a:pathLst>
                <a:path fill="none" w="21600" h="21573">
                  <a:moveTo>
                    <a:pt x="1078" y="-1"/>
                  </a:moveTo>
                  <a:cubicBezTo>
                    <a:pt x="12573" y="574"/>
                    <a:pt x="21600" y="10062"/>
                    <a:pt x="21600" y="21573"/>
                  </a:cubicBezTo>
                </a:path>
                <a:path stroke="0" w="21600" h="21573">
                  <a:moveTo>
                    <a:pt x="1078" y="-1"/>
                  </a:moveTo>
                  <a:cubicBezTo>
                    <a:pt x="12573" y="574"/>
                    <a:pt x="21600" y="10062"/>
                    <a:pt x="21600" y="21573"/>
                  </a:cubicBezTo>
                  <a:lnTo>
                    <a:pt x="0" y="21573"/>
                  </a:lnTo>
                  <a:close/>
                </a:path>
              </a:pathLst>
            </a:custGeom>
            <a:noFill/>
            <a:ln w="9360">
              <a:solidFill>
                <a:srgbClr val="FF0065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ctr">
              <a:noAutofit/>
            </a:bodyPr>
            <a:p>
              <a:endParaRPr lang="it-IT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1104" name="Line 124"/>
            <p:cNvSpPr/>
            <p:nvPr/>
          </p:nvSpPr>
          <p:spPr>
            <a:xfrm>
              <a:off x="5343480" y="5410080"/>
              <a:ext cx="2895480" cy="0"/>
            </a:xfrm>
            <a:prstGeom prst="line">
              <a:avLst/>
            </a:prstGeom>
            <a:ln w="9360">
              <a:solidFill>
                <a:srgbClr val="FF0065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46800" rIns="90000" bIns="-46800" anchor="ctr">
              <a:noAutofit/>
            </a:bodyPr>
            <a:p>
              <a:endParaRPr lang="it-IT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1105" name="Line 125"/>
            <p:cNvSpPr/>
            <p:nvPr/>
          </p:nvSpPr>
          <p:spPr>
            <a:xfrm>
              <a:off x="5267160" y="6172200"/>
              <a:ext cx="152640" cy="0"/>
            </a:xfrm>
            <a:prstGeom prst="line">
              <a:avLst/>
            </a:prstGeom>
            <a:ln w="9360">
              <a:solidFill>
                <a:srgbClr val="FF0065"/>
              </a:solidFill>
              <a:miter/>
              <a:tailEnd len="med" type="triangle" w="med"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46800" rIns="90000" bIns="-46800" anchor="ctr">
              <a:noAutofit/>
            </a:bodyPr>
            <a:p>
              <a:endParaRPr lang="it-IT" sz="18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1106" name="Text Box 126"/>
            <p:cNvSpPr/>
            <p:nvPr/>
          </p:nvSpPr>
          <p:spPr>
            <a:xfrm>
              <a:off x="5361120" y="4952880"/>
              <a:ext cx="2895480" cy="337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spAutoFit/>
            </a:bodyPr>
            <a:p>
              <a:pPr>
                <a:lnSpc>
                  <a:spcPct val="100000"/>
                </a:lnSpc>
                <a:spcBef>
                  <a:spcPts val="1001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600" b="0" i="1" u="sng" strike="noStrike">
                  <a:solidFill>
                    <a:srgbClr val="B025A6"/>
                  </a:solidFill>
                  <a:effectLst/>
                  <a:uFillTx/>
                  <a:latin typeface="Arial Rounded MT Bold"/>
                </a:rPr>
                <a:t>The Cycle of Constructions</a:t>
              </a:r>
              <a:endParaRPr lang="it-IT" sz="1600" b="0" u="none" strike="noStrike">
                <a:solidFill>
                  <a:srgbClr val="000000"/>
                </a:solidFill>
                <a:effectLst/>
                <a:uFillTx/>
                <a:latin typeface="Comic Sans MS"/>
              </a:endParaRPr>
            </a:p>
          </p:txBody>
        </p:sp>
      </p:grpSp>
      <p:sp>
        <p:nvSpPr>
          <p:cNvPr id="1107" name="Oval 128"/>
          <p:cNvSpPr/>
          <p:nvPr/>
        </p:nvSpPr>
        <p:spPr>
          <a:xfrm>
            <a:off x="6553080" y="5791320"/>
            <a:ext cx="1905120" cy="761760"/>
          </a:xfrm>
          <a:prstGeom prst="ellipse">
            <a:avLst/>
          </a:prstGeom>
          <a:noFill/>
          <a:ln w="12600">
            <a:solidFill>
              <a:srgbClr val="FF0065"/>
            </a:solidFill>
            <a:miter/>
          </a:ln>
          <a:effectLst>
            <a:outerShdw dist="38183" dir="2700000" rotWithShape="0">
              <a:srgbClr val="000000">
                <a:alpha val="7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1108" name="Text Box 129"/>
          <p:cNvSpPr/>
          <p:nvPr/>
        </p:nvSpPr>
        <p:spPr>
          <a:xfrm>
            <a:off x="6095880" y="6400800"/>
            <a:ext cx="1600200" cy="337680"/>
          </a:xfrm>
          <a:prstGeom prst="rect">
            <a:avLst/>
          </a:prstGeom>
          <a:noFill/>
          <a:ln w="0">
            <a:noFill/>
          </a:ln>
          <a:effectLst>
            <a:outerShdw dist="38183" dir="2700000" rotWithShape="0">
              <a:srgbClr val="000000">
                <a:alpha val="7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spAutoFit/>
          </a:bodyPr>
          <a:p>
            <a:pPr>
              <a:spcBef>
                <a:spcPts val="1001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600" b="0" u="none" strike="noStrike">
                <a:solidFill>
                  <a:srgbClr val="FF0065"/>
                </a:solidFill>
                <a:effectLst/>
                <a:uFillTx/>
                <a:latin typeface="Comic Sans MS"/>
              </a:rPr>
              <a:t>Brzozowski</a:t>
            </a:r>
            <a:endParaRPr lang="it-IT" sz="16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808</TotalTime>
  <Application>LibreOffice/26.2.2.2$MacOSX_AARCH64 LibreOffice_project/1f77d10d6938fd34972958f64b2bcfa54f8b1ba5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2010-09-13T16:59:50Z</dcterms:created>
  <dc:creator>Keith Cooper</dc:creator>
  <dc:description/>
  <dc:language>it-IT</dc:language>
  <cp:lastModifiedBy>Elsevier</cp:lastModifiedBy>
  <dcterms:modified xsi:type="dcterms:W3CDTF">2011-01-24T10:22:11Z</dcterms:modified>
  <cp:revision>28</cp:revision>
  <dc:subject/>
  <dc:title>PowerPoint Presentation</dc:title>
</cp:coreProperties>
</file>