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8" r:id="rId3"/>
    <p:sldId id="283" r:id="rId4"/>
    <p:sldId id="284" r:id="rId5"/>
    <p:sldId id="291" r:id="rId6"/>
    <p:sldId id="292" r:id="rId7"/>
    <p:sldId id="293" r:id="rId8"/>
    <p:sldId id="294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2" r:id="rId20"/>
    <p:sldId id="290" r:id="rId21"/>
    <p:sldId id="270" r:id="rId22"/>
    <p:sldId id="271" r:id="rId23"/>
    <p:sldId id="288" r:id="rId2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E6E6E6"/>
    <a:srgbClr val="B025A6"/>
    <a:srgbClr val="FF0065"/>
    <a:srgbClr val="003C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6" autoAdjust="0"/>
    <p:restoredTop sz="94668" autoAdjust="0"/>
  </p:normalViewPr>
  <p:slideViewPr>
    <p:cSldViewPr>
      <p:cViewPr>
        <p:scale>
          <a:sx n="126" d="100"/>
          <a:sy n="126" d="100"/>
        </p:scale>
        <p:origin x="-7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40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3026529-EB42-44BF-A1A4-4F364F5B1B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EDFED5-35F4-4ED4-B31B-551E8873E7F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fld id="{42BE2F5E-0AFA-4754-BE5F-E8131D6E3E77}" type="datetime1">
              <a:rPr lang="en-US"/>
              <a:pPr>
                <a:defRPr/>
              </a:pPr>
              <a:t>10/20/2020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716CF1-5A9E-4064-A6FB-06BF2C144E1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C96C30-517F-46DE-9213-1BB637F6EB1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10CA60BA-5B50-4D20-908E-B4E7632A4005}" type="slidenum">
              <a:rPr lang="en-US" altLang="it-IT"/>
              <a:pPr/>
              <a:t>‹N›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E02BBB7-DFDC-4CC6-9CE4-E8161FADC80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B36F4F40-D16C-4AFA-8097-5E71EF888B2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C8D0A6E5-92F1-42B6-911D-CF938B8DA49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188BB18E-8B60-4F70-AD2D-029744B8FB5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99333C93-22C5-443A-9A65-AC295AEA8FC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006FE75-9FEA-4EDF-A791-341E90EADB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CABFE471-0517-4CBA-A596-DBE8E336AD13}" type="slidenum">
              <a:rPr lang="en-US" altLang="it-IT"/>
              <a:pPr/>
              <a:t>‹N›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>
            <a:extLst>
              <a:ext uri="{FF2B5EF4-FFF2-40B4-BE49-F238E27FC236}">
                <a16:creationId xmlns:a16="http://schemas.microsoft.com/office/drawing/2014/main" id="{40AE90C4-D24C-49C8-B3CD-76819E5569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ADEDE71-90C0-4BA1-9613-2F0A07B3F08C}" type="slidenum">
              <a:rPr lang="en-US" altLang="it-IT" sz="1200"/>
              <a:pPr/>
              <a:t>0</a:t>
            </a:fld>
            <a:endParaRPr lang="en-US" altLang="it-IT" sz="1200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76910DDF-9F00-4D91-B070-0A1624730B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68F264CB-0277-4566-867E-FE09C530CD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>
            <a:extLst>
              <a:ext uri="{FF2B5EF4-FFF2-40B4-BE49-F238E27FC236}">
                <a16:creationId xmlns:a16="http://schemas.microsoft.com/office/drawing/2014/main" id="{8FC11017-A20B-48C0-B0B6-2A3B51CDCA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1C31759-A2F4-43F3-93EA-BE73617F5574}" type="slidenum">
              <a:rPr lang="en-US" altLang="it-IT" sz="1200"/>
              <a:pPr/>
              <a:t>1</a:t>
            </a:fld>
            <a:endParaRPr lang="en-US" altLang="it-IT" sz="1200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8CA6795F-9BF7-4EB9-9C43-87D7BC831FF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991EDE72-2F46-4B6F-AF12-3BFCD76ED2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5E0F0F4A-7023-4619-A8AF-4B4D857097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2791CAE-A438-4F9E-9CB4-754CE727475E}" type="slidenum">
              <a:rPr lang="en-US" altLang="it-IT" sz="1200"/>
              <a:pPr/>
              <a:t>2</a:t>
            </a:fld>
            <a:endParaRPr lang="en-US" altLang="it-IT" sz="1200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CA08DB45-1EA4-495F-AE5F-A54CF18B4AA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9195BB7D-002A-4404-943A-08240BC8A3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4DDD4DD7-15C0-4B67-BD16-2B927B5DFD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A9C3F1C-9B15-4BDD-9B51-4987B6240D7F}" type="slidenum">
              <a:rPr lang="en-US" altLang="it-IT" sz="1200"/>
              <a:pPr/>
              <a:t>3</a:t>
            </a:fld>
            <a:endParaRPr lang="en-US" altLang="it-IT" sz="1200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64DBFAEA-29D1-4693-8B3B-6DAB28A5384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7F5DAD8D-33B2-4B7A-9CFC-5D76023CB3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4FF52988-0CB6-451F-9B51-04981DD1FD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5DA99C1-49AD-4A37-8105-DCF957569966}" type="slidenum">
              <a:rPr lang="en-US" altLang="it-IT" sz="1200"/>
              <a:pPr/>
              <a:t>8</a:t>
            </a:fld>
            <a:endParaRPr lang="en-US" altLang="it-IT" sz="1200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5242E2BC-A9A3-44F9-91F4-84A8AD345BC7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C5F6ED46-94FC-41B0-A45D-85C4E8B036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3CC54643-BD57-4EA7-8D37-60AFA2698D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1703742-8983-41EC-B466-D4FCDF18FB19}" type="slidenum">
              <a:rPr lang="en-US" altLang="it-IT" sz="1200"/>
              <a:pPr/>
              <a:t>9</a:t>
            </a:fld>
            <a:endParaRPr lang="en-US" altLang="it-IT" sz="1200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2B8CAC59-1B79-4DB0-BC62-51EF9F3B5FE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03EDCEE8-2819-4D75-8D2F-D090D5832E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NT**2  x L  set  operations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73DA597B-39CB-484A-AFF5-F6CF513F46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D81D6E6-37E0-464B-8B07-80D66D3C2CB5}" type="slidenum">
              <a:rPr lang="en-US" altLang="it-IT" sz="1200"/>
              <a:pPr/>
              <a:t>10</a:t>
            </a:fld>
            <a:endParaRPr lang="en-US" altLang="it-IT" sz="1200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61F32D6D-07A0-43DF-9645-048E38014B75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06BE4321-274F-48D4-89F1-BA98F2B2DB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2ACD2802-4C35-4164-A870-AE64F769E7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9FC69F7-F5BD-4005-A2EA-3FB922A9FF4F}" type="slidenum">
              <a:rPr lang="en-US" altLang="it-IT" sz="1200"/>
              <a:pPr/>
              <a:t>11</a:t>
            </a:fld>
            <a:endParaRPr lang="en-US" altLang="it-IT" sz="1200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F4A59A2A-3DAF-40E4-91A4-2DCD6A02CF15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892DD2B5-12E9-4AC3-AC53-89F5A07729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3F8D8358-A6D9-4F3F-9956-E37B377BF6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1EE5ECE-D128-4EF5-A61C-DBD6DCBBEBCA}" type="slidenum">
              <a:rPr lang="en-US" altLang="it-IT" sz="1200"/>
              <a:pPr/>
              <a:t>12</a:t>
            </a:fld>
            <a:endParaRPr lang="en-US" altLang="it-IT" sz="1200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CA32A4AE-1B02-4301-9D3F-6D766C0293CE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9FE8E67F-770C-49A5-8376-77650EA3C2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61C4E375-9C0F-4B30-9713-763D4F0264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1D48E34-847C-43E2-88CD-EA638021D43E}" type="slidenum">
              <a:rPr lang="en-US" altLang="it-IT" sz="1200"/>
              <a:pPr/>
              <a:t>13</a:t>
            </a:fld>
            <a:endParaRPr lang="en-US" altLang="it-IT" sz="1200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4B803164-BCBC-4F53-8615-5A28295617C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BB5F8A6A-3BFA-4514-97C7-DF900FDF3A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1E666079-74C1-4975-B246-B3DC9EF196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298EA7E-EC7F-47D0-866B-E3BC5CA1F112}" type="slidenum">
              <a:rPr lang="en-US" altLang="it-IT" sz="1200"/>
              <a:pPr/>
              <a:t>14</a:t>
            </a:fld>
            <a:endParaRPr lang="en-US" altLang="it-IT" sz="1200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BA518C87-DE56-43CE-9CF2-CFC7392DC0A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7B8F5023-99A5-4701-AB40-B55649D9DD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>
            <a:extLst>
              <a:ext uri="{FF2B5EF4-FFF2-40B4-BE49-F238E27FC236}">
                <a16:creationId xmlns:a16="http://schemas.microsoft.com/office/drawing/2014/main" id="{BCFD6509-BB74-4481-BCF2-A150827DA0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F1AC1B9-FAD8-4E5D-90C5-6F7C5CE5CFFD}" type="slidenum">
              <a:rPr lang="en-US" altLang="it-IT" sz="1200"/>
              <a:pPr/>
              <a:t>15</a:t>
            </a:fld>
            <a:endParaRPr lang="en-US" altLang="it-IT" sz="1200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B6799677-BD7E-4205-823C-2854DE3E3C9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5C54A770-E34B-4225-A09F-A2C15E9EA1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FA7A9659-D387-45BB-9CDD-3D0A2D61BE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50471E4-BC0C-40DF-9B8B-F319ACB9FE0F}" type="slidenum">
              <a:rPr lang="en-US" altLang="it-IT" sz="1200"/>
              <a:pPr/>
              <a:t>16</a:t>
            </a:fld>
            <a:endParaRPr lang="en-US" altLang="it-IT" sz="1200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D3DEE5C0-502A-4A8F-A97C-BF9C9824B12E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3BB44808-287C-4104-B2DE-E0731AC145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0F02EA31-7F22-4A01-B411-94CC56A90F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5E2BBBA-8A61-4670-A914-12D2FE23CCB3}" type="slidenum">
              <a:rPr lang="en-US" altLang="it-IT" sz="1200"/>
              <a:pPr/>
              <a:t>17</a:t>
            </a:fld>
            <a:endParaRPr lang="en-US" altLang="it-IT" sz="1200"/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5F8C1652-BEF7-4AB4-81E8-1A02056BA19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5E6E5690-1DCC-428F-9FEF-385E7732F8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>
            <a:extLst>
              <a:ext uri="{FF2B5EF4-FFF2-40B4-BE49-F238E27FC236}">
                <a16:creationId xmlns:a16="http://schemas.microsoft.com/office/drawing/2014/main" id="{A204CD5E-F8B2-4F27-8B81-17ED441003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576F624-A357-4FF0-A786-EC06242FCFDD}" type="slidenum">
              <a:rPr lang="en-US" altLang="it-IT" sz="1200"/>
              <a:pPr/>
              <a:t>18</a:t>
            </a:fld>
            <a:endParaRPr lang="en-US" altLang="it-IT" sz="1200"/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5528A0FD-0669-4BF7-9737-02F98B66B0D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5645E6B1-87AC-4CFC-A11A-19888BE481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AD79EB38-70DA-4015-9A64-0DA979ABBB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C42A7F9-FF6F-436D-B2FD-126F6FEB69CF}" type="slidenum">
              <a:rPr lang="en-US" altLang="it-IT" sz="1200"/>
              <a:pPr/>
              <a:t>19</a:t>
            </a:fld>
            <a:endParaRPr lang="en-US" altLang="it-IT" sz="1200"/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0B7797FE-53C3-451D-B61A-DB8BEFB31104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AFA02484-5AE9-4DD5-AD0B-F1D8723DBD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FCF10DED-3820-4F1E-8CC1-A7EA8ED9A7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850AD63-2609-4D7D-A5B1-6257104CF49B}" type="slidenum">
              <a:rPr lang="en-US" altLang="it-IT" sz="1200"/>
              <a:pPr/>
              <a:t>20</a:t>
            </a:fld>
            <a:endParaRPr lang="en-US" altLang="it-IT" sz="1200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8F1E0F4A-DB70-463E-B404-5BCD2E2B011C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16DBEC83-4168-4751-9768-88B5D0A80E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>
            <a:extLst>
              <a:ext uri="{FF2B5EF4-FFF2-40B4-BE49-F238E27FC236}">
                <a16:creationId xmlns:a16="http://schemas.microsoft.com/office/drawing/2014/main" id="{23B7519A-0A13-4BB1-9A0D-9F093E8EA6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883C094-F7B2-46F0-AE5F-70EC905B8B99}" type="slidenum">
              <a:rPr lang="en-US" altLang="it-IT" sz="1200"/>
              <a:pPr/>
              <a:t>21</a:t>
            </a:fld>
            <a:endParaRPr lang="en-US" altLang="it-IT" sz="1200"/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E58311FE-AB0D-4F51-A041-154CE80A47D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EC18A7A4-1B9A-44D6-B641-04F42F02A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B4225AC7-FDFF-463E-A756-BF1C0C5DC8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A252E7E-2D3C-4BF2-B920-C15291703A45}" type="slidenum">
              <a:rPr lang="en-US" altLang="it-IT" sz="1200"/>
              <a:pPr/>
              <a:t>22</a:t>
            </a:fld>
            <a:endParaRPr lang="en-US" altLang="it-IT" sz="1200"/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FCFD999B-4608-437D-AAF9-593C3A46885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63F76AE6-498F-46C4-ACE4-38D60BE135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AFF2510-ACBC-469F-935E-8F872F4F464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44D5F21-B9FD-4496-9D8D-6397739AEEA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3F2F3A-C706-458D-A4B6-29FA8FC93A74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292846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6179300-1187-4CAC-BA06-AE305E3953E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07675FC-0E59-4A8A-8BDB-A9AAFFA7685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8E69AE-56F4-4391-B906-F8835665DED6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90620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C3E1F36-4382-44BB-9A4B-9C316D29FCF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110E27A-8D8E-4E04-8B8A-45839481538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281B95-8751-42F8-B5D6-A8C9D8EC0FB7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025527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1430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5994FD-5B71-4435-B61A-D647BC1EFD0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B9619B4-24CA-4F20-812D-49A9D271D50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B44B23-A50E-427F-994B-1DBAA34D697C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277818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B7AEF10-FFBD-45CD-B917-9B88BF84C60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E949A50-FF7D-465D-ADA1-B29FBB9F8C3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9C049F-B54C-4585-B8FE-C6F64B38296F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585527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B95BDF2-0779-47DD-A9A4-FCFDCB2EF7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641C1DE-9903-4A2E-86A1-1925148B0E0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E047E1-EF1B-4EC7-8815-E8A4AEB5C3DD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913504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7420A7B9-7EFB-4C95-82B2-C6C63BDA445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120CF3A-EC96-40E5-8E6D-A3FAD0E8729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BBD82F-C2A8-4A1E-AC5B-5722734A3989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83416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6C0C953-DD99-4AD0-A2BA-2D28FF03A1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23CB619-C6B9-4363-B693-73DACC7CE26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5B4DD7-40B7-4C72-8085-8B3B2CD8D7D1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413176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84085E0-D1A0-4358-BF6C-71209C0587B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BEFBBFC-87CE-4962-AF24-53D4021D2EB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C64C23-E488-482A-A68C-5B4EDA76B7D4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772728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53E1745-39E4-4FCF-9EC0-AD14F7C544D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EFD5892-6A04-4F1B-8A28-9B375CF26CC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1CFB67-A0A9-4D1B-A985-62CEFF6DEF94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729238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533400"/>
            <a:ext cx="1943100" cy="5562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533400"/>
            <a:ext cx="5676900" cy="5562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54C95E5-FBD7-438B-9A3D-D0530D5C744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9AC57E2-19DC-46D7-B44E-945B7C1B4D9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9FBE0F-3451-412B-8284-9D6E48719C2B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665007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33400"/>
            <a:ext cx="7772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685800" y="1143000"/>
            <a:ext cx="3810000" cy="49530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143000"/>
            <a:ext cx="38100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165DBF4-759B-4261-86B0-A38D2918434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3738277-79EB-47A2-8BD8-CD80806A3B8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929F83-1FC5-4F56-82E8-C91266DF345A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187230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1D58380-4FF7-4BAD-9027-D610B41D9A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533400"/>
            <a:ext cx="777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C668625-48E1-452A-AAFA-0DE01525F2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772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FDBF8E2-DA57-4AF2-B1A2-95BB3EB6C94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smtClean="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372C2E4-E678-438A-A994-1B5989570A4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9D877292-40DF-4D7F-9EF6-32CF871E35D2}" type="slidenum">
              <a:rPr lang="en-US" altLang="it-IT"/>
              <a:pPr/>
              <a:t>‹N›</a:t>
            </a:fld>
            <a:endParaRPr lang="en-US" altLang="it-IT"/>
          </a:p>
        </p:txBody>
      </p:sp>
      <p:pic>
        <p:nvPicPr>
          <p:cNvPr id="2" name="Picture 7" descr="2007Shield">
            <a:extLst>
              <a:ext uri="{FF2B5EF4-FFF2-40B4-BE49-F238E27FC236}">
                <a16:creationId xmlns:a16="http://schemas.microsoft.com/office/drawing/2014/main" id="{3B8F82C2-A539-4243-A900-5CDF3499F0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28600"/>
            <a:ext cx="958850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Line 8">
            <a:extLst>
              <a:ext uri="{FF2B5EF4-FFF2-40B4-BE49-F238E27FC236}">
                <a16:creationId xmlns:a16="http://schemas.microsoft.com/office/drawing/2014/main" id="{33A96772-2B36-45E0-A34A-3E115826065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85800" y="1066800"/>
            <a:ext cx="6858000" cy="0"/>
          </a:xfrm>
          <a:prstGeom prst="line">
            <a:avLst/>
          </a:prstGeom>
          <a:noFill/>
          <a:ln w="57150">
            <a:solidFill>
              <a:srgbClr val="003C75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58" r:id="rId3"/>
    <p:sldLayoutId id="2147483657" r:id="rId4"/>
    <p:sldLayoutId id="2147483656" r:id="rId5"/>
    <p:sldLayoutId id="2147483655" r:id="rId6"/>
    <p:sldLayoutId id="2147483654" r:id="rId7"/>
    <p:sldLayoutId id="2147483653" r:id="rId8"/>
    <p:sldLayoutId id="2147483652" r:id="rId9"/>
    <p:sldLayoutId id="2147483651" r:id="rId10"/>
    <p:sldLayoutId id="2147483650" r:id="rId11"/>
    <p:sldLayoutId id="2147483649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SzPct val="12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Char char="—"/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SzPct val="90000"/>
        <a:buFont typeface="Symbol" panose="05050102010706020507" pitchFamily="18" charset="2"/>
        <a:buChar char=""/>
        <a:defRPr sz="16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Char char="–"/>
        <a:defRPr sz="16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59182FDB-693D-4C61-B8AC-FEB8BF0B60B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447800"/>
            <a:ext cx="7772400" cy="1752600"/>
          </a:xfrm>
        </p:spPr>
        <p:txBody>
          <a:bodyPr/>
          <a:lstStyle/>
          <a:p>
            <a:pPr algn="ctr" eaLnBrk="1" hangingPunct="1"/>
            <a:r>
              <a:rPr lang="en-US" altLang="it-IT" sz="3200" i="1"/>
              <a:t>Top-down Parsing</a:t>
            </a:r>
            <a:br>
              <a:rPr lang="en-US" altLang="it-IT" sz="3200" i="1"/>
            </a:br>
            <a:r>
              <a:rPr lang="en-US" altLang="it-IT" sz="3200" i="1"/>
              <a:t>Recursive Descent &amp; LL(1)</a:t>
            </a:r>
            <a:br>
              <a:rPr lang="en-US" altLang="it-IT" sz="3200" i="1"/>
            </a:br>
            <a:br>
              <a:rPr lang="en-US" altLang="it-IT" sz="1400" i="1"/>
            </a:br>
            <a:r>
              <a:rPr lang="en-US" altLang="it-IT" sz="3200" i="1"/>
              <a:t>Comp 412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72047208-908B-4418-8FEA-6640A0D038C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62000" y="4953000"/>
            <a:ext cx="7772400" cy="1295400"/>
          </a:xfrm>
          <a:ln w="12700">
            <a:solidFill>
              <a:srgbClr val="003C75"/>
            </a:solidFill>
            <a:miter lim="800000"/>
            <a:headEnd/>
            <a:tailEnd/>
          </a:ln>
        </p:spPr>
        <p:txBody>
          <a:bodyPr/>
          <a:lstStyle/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Copyright 2010, Keith D. Cooper &amp; Linda Torczon, all rights reserved.</a:t>
            </a:r>
          </a:p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Students enrolled in Comp 412 at Rice University have explicit permission to make copies of these materials for their personal use.  </a:t>
            </a:r>
          </a:p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Faculty from other educational institutions may use these materials for nonprofit educational purposes, provided this copyright notice is preserved.</a:t>
            </a:r>
            <a:endParaRPr lang="en-US" altLang="it-IT">
              <a:solidFill>
                <a:srgbClr val="003C75"/>
              </a:solidFill>
            </a:endParaRPr>
          </a:p>
        </p:txBody>
      </p:sp>
      <p:pic>
        <p:nvPicPr>
          <p:cNvPr id="16387" name="Picture 4" descr="2007Logo">
            <a:extLst>
              <a:ext uri="{FF2B5EF4-FFF2-40B4-BE49-F238E27FC236}">
                <a16:creationId xmlns:a16="http://schemas.microsoft.com/office/drawing/2014/main" id="{51E598FB-2FF1-4C34-8F2D-157F78922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4800"/>
            <a:ext cx="2330450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Text Box 8">
            <a:extLst>
              <a:ext uri="{FF2B5EF4-FFF2-40B4-BE49-F238E27FC236}">
                <a16:creationId xmlns:a16="http://schemas.microsoft.com/office/drawing/2014/main" id="{DD208B73-3529-4ACA-8A49-5846B1EA4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381000"/>
            <a:ext cx="2667000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r">
              <a:spcBef>
                <a:spcPct val="5000"/>
              </a:spcBef>
            </a:pPr>
            <a:r>
              <a:rPr lang="en-US" altLang="it-IT" sz="2400">
                <a:solidFill>
                  <a:srgbClr val="003C75"/>
                </a:solidFill>
                <a:latin typeface="Utopia Std"/>
              </a:rPr>
              <a:t>COMP 412</a:t>
            </a:r>
          </a:p>
          <a:p>
            <a:pPr algn="r">
              <a:spcBef>
                <a:spcPct val="5000"/>
              </a:spcBef>
            </a:pPr>
            <a:r>
              <a:rPr lang="en-US" altLang="it-IT" sz="2400">
                <a:solidFill>
                  <a:srgbClr val="003C75"/>
                </a:solidFill>
                <a:latin typeface="Utopia Std"/>
              </a:rPr>
              <a:t>FALL 2010</a:t>
            </a:r>
          </a:p>
        </p:txBody>
      </p:sp>
      <p:sp>
        <p:nvSpPr>
          <p:cNvPr id="16389" name="TextBox 5">
            <a:extLst>
              <a:ext uri="{FF2B5EF4-FFF2-40B4-BE49-F238E27FC236}">
                <a16:creationId xmlns:a16="http://schemas.microsoft.com/office/drawing/2014/main" id="{FB24C4C4-37F0-428F-B315-A92A593156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886200"/>
            <a:ext cx="4495800" cy="738188"/>
          </a:xfrm>
          <a:prstGeom prst="rect">
            <a:avLst/>
          </a:prstGeom>
          <a:solidFill>
            <a:srgbClr val="BFBFBF"/>
          </a:solidFill>
          <a:ln w="19050">
            <a:solidFill>
              <a:srgbClr val="7F7F7F"/>
            </a:solidFill>
            <a:round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>
                <a:solidFill>
                  <a:srgbClr val="FF0000"/>
                </a:solidFill>
              </a:rPr>
              <a:t>The lecture is self consistent, but the order of the three productions for Factor in the expression grammar is different than in 2e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Footer Placeholder 1">
            <a:extLst>
              <a:ext uri="{FF2B5EF4-FFF2-40B4-BE49-F238E27FC236}">
                <a16:creationId xmlns:a16="http://schemas.microsoft.com/office/drawing/2014/main" id="{989FF1CD-B044-46D9-A803-CD9E3F39DC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18434" name="Slide Number Placeholder 2">
            <a:extLst>
              <a:ext uri="{FF2B5EF4-FFF2-40B4-BE49-F238E27FC236}">
                <a16:creationId xmlns:a16="http://schemas.microsoft.com/office/drawing/2014/main" id="{5C8D9EB3-DBFE-4CC7-8D9F-FAC46008CA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EAF318E-7464-4A2F-9B52-E3FBA47488D5}" type="slidenum">
              <a:rPr lang="en-US" altLang="it-IT" sz="1200"/>
              <a:pPr/>
              <a:t>1</a:t>
            </a:fld>
            <a:endParaRPr lang="en-US" altLang="it-IT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6A2E20F4-467A-4422-83CD-8482DF77E82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/>
              <a:t>Roadmap  (Where are we?)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3A590606-C441-4A34-888E-DC4A5B1D090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 sz="1800" i="1"/>
              <a:t>We set out to study parsing</a:t>
            </a:r>
            <a:endParaRPr lang="en-US" altLang="it-IT" sz="1800"/>
          </a:p>
          <a:p>
            <a:pPr eaLnBrk="1" hangingPunct="1"/>
            <a:r>
              <a:rPr lang="en-US" altLang="it-IT" sz="1800"/>
              <a:t>Specifying syntax                                                       </a:t>
            </a:r>
          </a:p>
          <a:p>
            <a:pPr lvl="1" eaLnBrk="1" hangingPunct="1"/>
            <a:r>
              <a:rPr lang="en-US" altLang="it-IT"/>
              <a:t>Context-free grammars </a:t>
            </a:r>
            <a:r>
              <a:rPr lang="en-US" altLang="it-IT">
                <a:solidFill>
                  <a:srgbClr val="ED181E"/>
                </a:solidFill>
                <a:sym typeface="Zapf Dingbats"/>
              </a:rPr>
              <a:t></a:t>
            </a:r>
            <a:r>
              <a:rPr lang="en-US" altLang="it-IT">
                <a:solidFill>
                  <a:srgbClr val="FF0065"/>
                </a:solidFill>
                <a:sym typeface="Zapf Dingbats"/>
              </a:rPr>
              <a:t></a:t>
            </a:r>
            <a:endParaRPr lang="en-US" altLang="it-IT"/>
          </a:p>
          <a:p>
            <a:pPr eaLnBrk="1" hangingPunct="1">
              <a:spcBef>
                <a:spcPct val="100000"/>
              </a:spcBef>
            </a:pPr>
            <a:r>
              <a:rPr lang="en-US" altLang="it-IT" sz="1800"/>
              <a:t>Top-down parsers                                                     </a:t>
            </a:r>
          </a:p>
          <a:p>
            <a:pPr lvl="1" eaLnBrk="1" hangingPunct="1"/>
            <a:r>
              <a:rPr lang="en-US" altLang="it-IT"/>
              <a:t>Algorithm &amp; its problem with left recursion </a:t>
            </a:r>
            <a:r>
              <a:rPr lang="en-US" altLang="it-IT">
                <a:solidFill>
                  <a:srgbClr val="FF0065"/>
                </a:solidFill>
                <a:sym typeface="Zapf Dingbats"/>
              </a:rPr>
              <a:t></a:t>
            </a:r>
            <a:endParaRPr lang="en-US" altLang="it-IT"/>
          </a:p>
          <a:p>
            <a:pPr lvl="1" eaLnBrk="1" hangingPunct="1"/>
            <a:r>
              <a:rPr lang="en-US" altLang="it-IT"/>
              <a:t>Ambiguity </a:t>
            </a:r>
            <a:r>
              <a:rPr lang="en-US" altLang="it-IT">
                <a:solidFill>
                  <a:srgbClr val="FF0065"/>
                </a:solidFill>
                <a:sym typeface="Zapf Dingbats"/>
              </a:rPr>
              <a:t></a:t>
            </a:r>
            <a:endParaRPr lang="en-US" altLang="it-IT"/>
          </a:p>
          <a:p>
            <a:pPr lvl="1" eaLnBrk="1" hangingPunct="1"/>
            <a:r>
              <a:rPr lang="en-US" altLang="it-IT"/>
              <a:t>Left-recursion removal </a:t>
            </a:r>
            <a:r>
              <a:rPr lang="en-US" altLang="it-IT">
                <a:solidFill>
                  <a:srgbClr val="FF0065"/>
                </a:solidFill>
                <a:sym typeface="Zapf Dingbats"/>
              </a:rPr>
              <a:t></a:t>
            </a:r>
            <a:endParaRPr lang="en-US" altLang="it-IT"/>
          </a:p>
          <a:p>
            <a:pPr eaLnBrk="1" hangingPunct="1">
              <a:spcBef>
                <a:spcPct val="100000"/>
              </a:spcBef>
            </a:pPr>
            <a:r>
              <a:rPr lang="en-US" altLang="it-IT" sz="1800"/>
              <a:t>Predictive top-down parsing</a:t>
            </a:r>
          </a:p>
          <a:p>
            <a:pPr lvl="1" eaLnBrk="1" hangingPunct="1"/>
            <a:r>
              <a:rPr lang="en-US" altLang="it-IT"/>
              <a:t>The LL(1) condition </a:t>
            </a:r>
            <a:r>
              <a:rPr lang="en-US" altLang="it-IT">
                <a:solidFill>
                  <a:srgbClr val="FF0065"/>
                </a:solidFill>
                <a:sym typeface="Zapf Dingbats"/>
              </a:rPr>
              <a:t></a:t>
            </a:r>
            <a:endParaRPr lang="en-US" altLang="it-IT"/>
          </a:p>
          <a:p>
            <a:pPr lvl="1" eaLnBrk="1" hangingPunct="1"/>
            <a:r>
              <a:rPr lang="en-US" altLang="it-IT"/>
              <a:t>Simple recursive descent parsers </a:t>
            </a:r>
            <a:r>
              <a:rPr lang="en-US" altLang="it-IT" sz="1600">
                <a:solidFill>
                  <a:srgbClr val="FF0065"/>
                </a:solidFill>
                <a:sym typeface="Zapf Dingbats"/>
              </a:rPr>
              <a:t>today</a:t>
            </a:r>
            <a:endParaRPr lang="en-US" altLang="it-IT" sz="1600">
              <a:solidFill>
                <a:srgbClr val="FF0000"/>
              </a:solidFill>
            </a:endParaRPr>
          </a:p>
          <a:p>
            <a:pPr lvl="1" eaLnBrk="1" hangingPunct="1"/>
            <a:r>
              <a:rPr lang="en-US" altLang="it-IT"/>
              <a:t>First and Follow sets </a:t>
            </a:r>
            <a:r>
              <a:rPr lang="en-US" altLang="it-IT" sz="1600">
                <a:solidFill>
                  <a:srgbClr val="FF0065"/>
                </a:solidFill>
              </a:rPr>
              <a:t>today</a:t>
            </a:r>
            <a:endParaRPr lang="en-US" altLang="it-IT"/>
          </a:p>
          <a:p>
            <a:pPr lvl="1" eaLnBrk="1" hangingPunct="1"/>
            <a:r>
              <a:rPr lang="en-US" altLang="it-IT"/>
              <a:t>Table-driven LL(1) parsers </a:t>
            </a:r>
            <a:r>
              <a:rPr lang="en-US" altLang="it-IT" sz="1600">
                <a:solidFill>
                  <a:srgbClr val="FF0065"/>
                </a:solidFill>
              </a:rPr>
              <a:t>today</a:t>
            </a:r>
            <a:endParaRPr lang="en-US" altLang="it-IT" sz="1600">
              <a:solidFill>
                <a:srgbClr val="ED181E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Footer Placeholder 1">
            <a:extLst>
              <a:ext uri="{FF2B5EF4-FFF2-40B4-BE49-F238E27FC236}">
                <a16:creationId xmlns:a16="http://schemas.microsoft.com/office/drawing/2014/main" id="{208C7172-07CF-4A37-80D3-948F571DFD6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20482" name="Slide Number Placeholder 2">
            <a:extLst>
              <a:ext uri="{FF2B5EF4-FFF2-40B4-BE49-F238E27FC236}">
                <a16:creationId xmlns:a16="http://schemas.microsoft.com/office/drawing/2014/main" id="{D4AB224C-E737-4C24-9FA3-62102496A9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88BCAEA-F73B-49B4-93D7-037978FB8050}" type="slidenum">
              <a:rPr lang="en-US" altLang="it-IT" sz="1200"/>
              <a:pPr/>
              <a:t>2</a:t>
            </a:fld>
            <a:endParaRPr lang="en-US" altLang="it-IT" sz="12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275EA131-F5E8-44EE-A811-8722D3A74DE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it-IT"/>
              <a:t>Predictive Parsing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A956EB99-0860-4275-B2B8-F33BDC85CF7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 sz="1800">
                <a:solidFill>
                  <a:srgbClr val="003C75"/>
                </a:solidFill>
              </a:rPr>
              <a:t>Basic idea</a:t>
            </a:r>
            <a:endParaRPr lang="en-US" altLang="it-IT" sz="1800"/>
          </a:p>
          <a:p>
            <a:pPr algn="ctr" eaLnBrk="1" hangingPunct="1">
              <a:buFont typeface="Times" panose="02020603050405020304" pitchFamily="18" charset="0"/>
              <a:buNone/>
            </a:pPr>
            <a:r>
              <a:rPr lang="en-US" altLang="it-IT" sz="1800" i="1"/>
              <a:t>Given A </a:t>
            </a:r>
            <a:r>
              <a:rPr lang="en-US" altLang="it-IT" sz="1600">
                <a:sym typeface="Symbol" panose="05050102010706020507" pitchFamily="18" charset="2"/>
              </a:rPr>
              <a:t> </a:t>
            </a:r>
            <a:r>
              <a:rPr lang="en-US" altLang="it-IT">
                <a:sym typeface="Symbol" panose="05050102010706020507" pitchFamily="18" charset="2"/>
              </a:rPr>
              <a:t> </a:t>
            </a:r>
            <a:r>
              <a:rPr lang="en-US" altLang="it-IT" sz="1800">
                <a:sym typeface="Symbol" panose="05050102010706020507" pitchFamily="18" charset="2"/>
              </a:rPr>
              <a:t> </a:t>
            </a:r>
            <a:r>
              <a:rPr lang="en-US" altLang="it-IT" sz="1800" i="1">
                <a:sym typeface="Symbol" panose="05050102010706020507" pitchFamily="18" charset="2"/>
              </a:rPr>
              <a:t>, the parser should be able to choose between </a:t>
            </a:r>
            <a:r>
              <a:rPr lang="en-US" altLang="it-IT">
                <a:sym typeface="Symbol" panose="05050102010706020507" pitchFamily="18" charset="2"/>
              </a:rPr>
              <a:t></a:t>
            </a:r>
            <a:r>
              <a:rPr lang="en-US" altLang="it-IT" sz="1600">
                <a:sym typeface="Symbol" panose="05050102010706020507" pitchFamily="18" charset="2"/>
              </a:rPr>
              <a:t> </a:t>
            </a:r>
            <a:r>
              <a:rPr lang="en-US" altLang="it-IT" sz="1600" i="1">
                <a:sym typeface="Symbol" panose="05050102010706020507" pitchFamily="18" charset="2"/>
              </a:rPr>
              <a:t>&amp;</a:t>
            </a:r>
            <a:r>
              <a:rPr lang="en-US" altLang="it-IT" sz="1600">
                <a:sym typeface="Symbol" panose="05050102010706020507" pitchFamily="18" charset="2"/>
              </a:rPr>
              <a:t> </a:t>
            </a:r>
            <a:r>
              <a:rPr lang="en-US" altLang="it-IT" sz="1800">
                <a:sym typeface="Symbol" panose="05050102010706020507" pitchFamily="18" charset="2"/>
              </a:rPr>
              <a:t>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 sz="1800">
                <a:sym typeface="Symbol" panose="05050102010706020507" pitchFamily="18" charset="2"/>
              </a:rPr>
              <a:t>F</a:t>
            </a:r>
            <a:r>
              <a:rPr lang="en-US" altLang="it-IT" sz="1400">
                <a:sym typeface="Symbol" panose="05050102010706020507" pitchFamily="18" charset="2"/>
              </a:rPr>
              <a:t>IRST</a:t>
            </a:r>
            <a:r>
              <a:rPr lang="en-US" altLang="it-IT" sz="1800">
                <a:sym typeface="Symbol" panose="05050102010706020507" pitchFamily="18" charset="2"/>
              </a:rPr>
              <a:t> sets</a:t>
            </a:r>
          </a:p>
          <a:p>
            <a:pPr lvl="1" eaLnBrk="1" hangingPunct="1">
              <a:buFontTx/>
              <a:buNone/>
            </a:pPr>
            <a:r>
              <a:rPr lang="en-US" altLang="it-IT"/>
              <a:t>For some </a:t>
            </a:r>
            <a:r>
              <a:rPr lang="en-US" altLang="it-IT" i="1"/>
              <a:t>rhs</a:t>
            </a:r>
            <a:r>
              <a:rPr lang="en-US" altLang="it-IT"/>
              <a:t> </a:t>
            </a:r>
            <a:r>
              <a:rPr lang="en-US" altLang="it-IT" sz="2000">
                <a:sym typeface="Symbol" panose="05050102010706020507" pitchFamily="18" charset="2"/>
              </a:rPr>
              <a:t></a:t>
            </a:r>
            <a:r>
              <a:rPr lang="en-US" altLang="it-IT" sz="1600">
                <a:sym typeface="Symbol" panose="05050102010706020507" pitchFamily="18" charset="2"/>
              </a:rPr>
              <a:t></a:t>
            </a:r>
            <a:r>
              <a:rPr lang="en-US" altLang="it-IT" i="1">
                <a:sym typeface="Symbol" panose="05050102010706020507" pitchFamily="18" charset="2"/>
              </a:rPr>
              <a:t>G</a:t>
            </a:r>
            <a:r>
              <a:rPr lang="en-US" altLang="it-IT">
                <a:sym typeface="Symbol" panose="05050102010706020507" pitchFamily="18" charset="2"/>
              </a:rPr>
              <a:t>, define 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F</a:t>
            </a:r>
            <a:r>
              <a:rPr lang="en-US" altLang="it-IT" sz="1400">
                <a:solidFill>
                  <a:srgbClr val="003C75"/>
                </a:solidFill>
                <a:sym typeface="Symbol" panose="05050102010706020507" pitchFamily="18" charset="2"/>
              </a:rPr>
              <a:t>IRST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(</a:t>
            </a:r>
            <a:r>
              <a:rPr lang="en-US" altLang="it-IT" sz="2000">
                <a:solidFill>
                  <a:srgbClr val="003C75"/>
                </a:solidFill>
                <a:sym typeface="Symbol" panose="05050102010706020507" pitchFamily="18" charset="2"/>
              </a:rPr>
              <a:t>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) </a:t>
            </a:r>
            <a:r>
              <a:rPr lang="en-US" altLang="it-IT">
                <a:sym typeface="Symbol" panose="05050102010706020507" pitchFamily="18" charset="2"/>
              </a:rPr>
              <a:t>as the set of tokens that appear as the first symbol in some string that derives from </a:t>
            </a:r>
            <a:r>
              <a:rPr lang="en-US" altLang="it-IT" sz="2000">
                <a:sym typeface="Symbol" panose="05050102010706020507" pitchFamily="18" charset="2"/>
              </a:rPr>
              <a:t></a:t>
            </a:r>
            <a:r>
              <a:rPr lang="en-US" altLang="it-IT">
                <a:sym typeface="Symbol" panose="05050102010706020507" pitchFamily="18" charset="2"/>
              </a:rPr>
              <a:t> </a:t>
            </a:r>
          </a:p>
          <a:p>
            <a:pPr lvl="1" eaLnBrk="1" hangingPunct="1">
              <a:buFontTx/>
              <a:buNone/>
            </a:pPr>
            <a:r>
              <a:rPr lang="en-US" altLang="it-IT">
                <a:sym typeface="Symbol" panose="05050102010706020507" pitchFamily="18" charset="2"/>
              </a:rPr>
              <a:t>That is, </a:t>
            </a:r>
            <a:r>
              <a:rPr lang="en-US" altLang="it-IT" u="sng">
                <a:sym typeface="Symbol" panose="05050102010706020507" pitchFamily="18" charset="2"/>
              </a:rPr>
              <a:t>x</a:t>
            </a:r>
            <a:r>
              <a:rPr lang="en-US" altLang="it-IT" i="1">
                <a:sym typeface="Symbol" panose="05050102010706020507" pitchFamily="18" charset="2"/>
              </a:rPr>
              <a:t> </a:t>
            </a:r>
            <a:r>
              <a:rPr lang="en-US" altLang="it-IT" sz="1600">
                <a:sym typeface="Symbol" panose="05050102010706020507" pitchFamily="18" charset="2"/>
              </a:rPr>
              <a:t> </a:t>
            </a:r>
            <a:r>
              <a:rPr lang="en-US" altLang="it-IT">
                <a:sym typeface="Symbol" panose="05050102010706020507" pitchFamily="18" charset="2"/>
              </a:rPr>
              <a:t>F</a:t>
            </a:r>
            <a:r>
              <a:rPr lang="en-US" altLang="it-IT" sz="1400">
                <a:sym typeface="Symbol" panose="05050102010706020507" pitchFamily="18" charset="2"/>
              </a:rPr>
              <a:t>IRST</a:t>
            </a:r>
            <a:r>
              <a:rPr lang="en-US" altLang="it-IT">
                <a:sym typeface="Symbol" panose="05050102010706020507" pitchFamily="18" charset="2"/>
              </a:rPr>
              <a:t>(</a:t>
            </a:r>
            <a:r>
              <a:rPr lang="en-US" altLang="it-IT" sz="2000">
                <a:sym typeface="Symbol" panose="05050102010706020507" pitchFamily="18" charset="2"/>
              </a:rPr>
              <a:t></a:t>
            </a:r>
            <a:r>
              <a:rPr lang="en-US" altLang="it-IT">
                <a:sym typeface="Symbol" panose="05050102010706020507" pitchFamily="18" charset="2"/>
              </a:rPr>
              <a:t>) </a:t>
            </a:r>
            <a:r>
              <a:rPr lang="en-US" altLang="it-IT" i="1">
                <a:sym typeface="Symbol" panose="05050102010706020507" pitchFamily="18" charset="2"/>
              </a:rPr>
              <a:t>iff</a:t>
            </a:r>
            <a:r>
              <a:rPr lang="en-US" altLang="it-IT">
                <a:sym typeface="Symbol" panose="05050102010706020507" pitchFamily="18" charset="2"/>
              </a:rPr>
              <a:t>  </a:t>
            </a:r>
            <a:r>
              <a:rPr lang="en-US" altLang="it-IT" sz="2000">
                <a:sym typeface="Symbol" panose="05050102010706020507" pitchFamily="18" charset="2"/>
              </a:rPr>
              <a:t></a:t>
            </a:r>
            <a:r>
              <a:rPr lang="en-US" altLang="it-IT">
                <a:sym typeface="Symbol" panose="05050102010706020507" pitchFamily="18" charset="2"/>
              </a:rPr>
              <a:t> </a:t>
            </a:r>
            <a:r>
              <a:rPr lang="en-US" altLang="it-IT" sz="1600">
                <a:sym typeface="Symbol" panose="05050102010706020507" pitchFamily="18" charset="2"/>
              </a:rPr>
              <a:t></a:t>
            </a:r>
            <a:r>
              <a:rPr lang="en-US" altLang="it-IT" baseline="30000">
                <a:sym typeface="Symbol" panose="05050102010706020507" pitchFamily="18" charset="2"/>
              </a:rPr>
              <a:t>*</a:t>
            </a:r>
            <a:r>
              <a:rPr lang="en-US" altLang="it-IT" i="1">
                <a:sym typeface="Symbol" panose="05050102010706020507" pitchFamily="18" charset="2"/>
              </a:rPr>
              <a:t> </a:t>
            </a:r>
            <a:r>
              <a:rPr lang="en-US" altLang="it-IT" u="sng">
                <a:sym typeface="Symbol" panose="05050102010706020507" pitchFamily="18" charset="2"/>
              </a:rPr>
              <a:t>x</a:t>
            </a:r>
            <a:r>
              <a:rPr lang="en-US" altLang="it-IT" i="1">
                <a:sym typeface="Symbol" panose="05050102010706020507" pitchFamily="18" charset="2"/>
              </a:rPr>
              <a:t> </a:t>
            </a:r>
            <a:r>
              <a:rPr lang="en-US" altLang="it-IT" sz="2000">
                <a:sym typeface="Symbol" panose="05050102010706020507" pitchFamily="18" charset="2"/>
              </a:rPr>
              <a:t>, </a:t>
            </a:r>
            <a:r>
              <a:rPr lang="en-US" altLang="it-IT">
                <a:sym typeface="Symbol" panose="05050102010706020507" pitchFamily="18" charset="2"/>
              </a:rPr>
              <a:t> for some </a:t>
            </a:r>
            <a:r>
              <a:rPr lang="en-US" altLang="it-IT" sz="2000" i="1">
                <a:sym typeface="Symbol" panose="05050102010706020507" pitchFamily="18" charset="2"/>
              </a:rPr>
              <a:t></a:t>
            </a:r>
            <a:r>
              <a:rPr lang="en-US" altLang="it-IT" i="1">
                <a:sym typeface="Symbol" panose="05050102010706020507" pitchFamily="18" charset="2"/>
              </a:rPr>
              <a:t> </a:t>
            </a:r>
            <a:endParaRPr lang="en-US" altLang="it-IT" sz="1600" i="1">
              <a:sym typeface="Symbol" panose="05050102010706020507" pitchFamily="18" charset="2"/>
            </a:endParaRP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The </a:t>
            </a:r>
            <a:r>
              <a:rPr lang="en-US" altLang="it-IT" sz="1600">
                <a:solidFill>
                  <a:srgbClr val="003C75"/>
                </a:solidFill>
                <a:sym typeface="Symbol" panose="05050102010706020507" pitchFamily="18" charset="2"/>
              </a:rPr>
              <a:t>LL(1)</a:t>
            </a: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  Property  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 sz="1800">
                <a:sym typeface="Symbol" panose="05050102010706020507" pitchFamily="18" charset="2"/>
              </a:rPr>
              <a:t>If </a:t>
            </a:r>
            <a:r>
              <a:rPr lang="en-US" altLang="it-IT" sz="1800" i="1">
                <a:sym typeface="Symbol" panose="05050102010706020507" pitchFamily="18" charset="2"/>
              </a:rPr>
              <a:t>A </a:t>
            </a:r>
            <a:r>
              <a:rPr lang="en-US" altLang="it-IT" sz="1800">
                <a:sym typeface="Symbol" panose="05050102010706020507" pitchFamily="18" charset="2"/>
              </a:rPr>
              <a:t>  and </a:t>
            </a:r>
            <a:r>
              <a:rPr lang="en-US" altLang="it-IT" sz="1800" i="1">
                <a:sym typeface="Symbol" panose="05050102010706020507" pitchFamily="18" charset="2"/>
              </a:rPr>
              <a:t>A</a:t>
            </a:r>
            <a:r>
              <a:rPr lang="en-US" altLang="it-IT" sz="1800">
                <a:sym typeface="Symbol" panose="05050102010706020507" pitchFamily="18" charset="2"/>
              </a:rPr>
              <a:t>   both appear in the grammar, we would like </a:t>
            </a:r>
          </a:p>
          <a:p>
            <a:pPr algn="ctr" eaLnBrk="1" hangingPunct="1">
              <a:spcBef>
                <a:spcPts val="1200"/>
              </a:spcBef>
              <a:spcAft>
                <a:spcPts val="1200"/>
              </a:spcAft>
              <a:buFont typeface="Times" panose="02020603050405020304" pitchFamily="18" charset="0"/>
              <a:buNone/>
            </a:pPr>
            <a:r>
              <a:rPr lang="en-US" altLang="it-IT" sz="1800">
                <a:sym typeface="Symbol" panose="05050102010706020507" pitchFamily="18" charset="2"/>
              </a:rPr>
              <a:t>F</a:t>
            </a:r>
            <a:r>
              <a:rPr lang="en-US" altLang="it-IT" sz="1400">
                <a:sym typeface="Symbol" panose="05050102010706020507" pitchFamily="18" charset="2"/>
              </a:rPr>
              <a:t>IRST</a:t>
            </a:r>
            <a:r>
              <a:rPr lang="en-US" altLang="it-IT" sz="1800">
                <a:sym typeface="Symbol" panose="05050102010706020507" pitchFamily="18" charset="2"/>
              </a:rPr>
              <a:t>(</a:t>
            </a:r>
            <a:r>
              <a:rPr lang="en-US" altLang="it-IT">
                <a:sym typeface="Symbol" panose="05050102010706020507" pitchFamily="18" charset="2"/>
              </a:rPr>
              <a:t></a:t>
            </a:r>
            <a:r>
              <a:rPr lang="en-US" altLang="it-IT" sz="1800">
                <a:sym typeface="Symbol" panose="05050102010706020507" pitchFamily="18" charset="2"/>
              </a:rPr>
              <a:t>)  F</a:t>
            </a:r>
            <a:r>
              <a:rPr lang="en-US" altLang="it-IT" sz="1400">
                <a:sym typeface="Symbol" panose="05050102010706020507" pitchFamily="18" charset="2"/>
              </a:rPr>
              <a:t>IRST</a:t>
            </a:r>
            <a:r>
              <a:rPr lang="en-US" altLang="it-IT" sz="1800">
                <a:sym typeface="Symbol" panose="05050102010706020507" pitchFamily="18" charset="2"/>
              </a:rPr>
              <a:t>() = 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 sz="1800">
                <a:sym typeface="Symbol" panose="05050102010706020507" pitchFamily="18" charset="2"/>
              </a:rPr>
              <a:t>This would allow the parser to make a correct choice with a lookahead of exactly one symbol !</a:t>
            </a:r>
          </a:p>
        </p:txBody>
      </p:sp>
      <p:sp>
        <p:nvSpPr>
          <p:cNvPr id="20485" name="Text Box 4">
            <a:extLst>
              <a:ext uri="{FF2B5EF4-FFF2-40B4-BE49-F238E27FC236}">
                <a16:creationId xmlns:a16="http://schemas.microsoft.com/office/drawing/2014/main" id="{2466659D-27CA-4BC0-92D7-198121AE61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5410200"/>
            <a:ext cx="2819400" cy="660400"/>
          </a:xfrm>
          <a:prstGeom prst="rect">
            <a:avLst/>
          </a:prstGeom>
          <a:noFill/>
          <a:ln w="19050">
            <a:solidFill>
              <a:srgbClr val="ED181E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800">
                <a:solidFill>
                  <a:srgbClr val="FF0065"/>
                </a:solidFill>
              </a:rPr>
              <a:t>This is almost correct</a:t>
            </a:r>
          </a:p>
          <a:p>
            <a:r>
              <a:rPr lang="en-US" altLang="it-IT" sz="1800">
                <a:solidFill>
                  <a:srgbClr val="FF0065"/>
                </a:solidFill>
              </a:rPr>
              <a:t>See the next slide</a:t>
            </a:r>
          </a:p>
        </p:txBody>
      </p:sp>
      <p:sp>
        <p:nvSpPr>
          <p:cNvPr id="20486" name="Rectangle 5">
            <a:extLst>
              <a:ext uri="{FF2B5EF4-FFF2-40B4-BE49-F238E27FC236}">
                <a16:creationId xmlns:a16="http://schemas.microsoft.com/office/drawing/2014/main" id="{0880B2E8-8C65-416A-A65B-0B6F507E7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4495800"/>
            <a:ext cx="304800" cy="4572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cxnSp>
        <p:nvCxnSpPr>
          <p:cNvPr id="20487" name="AutoShape 6">
            <a:extLst>
              <a:ext uri="{FF2B5EF4-FFF2-40B4-BE49-F238E27FC236}">
                <a16:creationId xmlns:a16="http://schemas.microsoft.com/office/drawing/2014/main" id="{8AFA6884-75A6-44B9-9CDA-4C29DC37B5B1}"/>
              </a:ext>
            </a:extLst>
          </p:cNvPr>
          <p:cNvCxnSpPr>
            <a:cxnSpLocks noChangeShapeType="1"/>
            <a:stCxn id="20485" idx="3"/>
            <a:endCxn id="20486" idx="3"/>
          </p:cNvCxnSpPr>
          <p:nvPr/>
        </p:nvCxnSpPr>
        <p:spPr bwMode="auto">
          <a:xfrm flipH="1" flipV="1">
            <a:off x="6096000" y="4724400"/>
            <a:ext cx="2066925" cy="1016000"/>
          </a:xfrm>
          <a:prstGeom prst="curvedConnector3">
            <a:avLst>
              <a:gd name="adj1" fmla="val -25810"/>
            </a:avLst>
          </a:prstGeom>
          <a:noFill/>
          <a:ln w="19050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Footer Placeholder 1">
            <a:extLst>
              <a:ext uri="{FF2B5EF4-FFF2-40B4-BE49-F238E27FC236}">
                <a16:creationId xmlns:a16="http://schemas.microsoft.com/office/drawing/2014/main" id="{2CB2B3CD-6766-4928-87F4-2B6C572A25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22530" name="Slide Number Placeholder 2">
            <a:extLst>
              <a:ext uri="{FF2B5EF4-FFF2-40B4-BE49-F238E27FC236}">
                <a16:creationId xmlns:a16="http://schemas.microsoft.com/office/drawing/2014/main" id="{7889AA53-03D8-4F2B-B29B-ECD5BF16FF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1E4692E-62CF-4327-AB32-C95EFFD27BE2}" type="slidenum">
              <a:rPr lang="en-US" altLang="it-IT" sz="1200"/>
              <a:pPr/>
              <a:t>3</a:t>
            </a:fld>
            <a:endParaRPr lang="en-US" altLang="it-IT" sz="12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34479B5B-DF3A-4C38-92F1-9B218413F26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Predictive Parsing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9094D018-7713-417A-ACFC-7A152425F2B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19200"/>
            <a:ext cx="77724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Times" panose="02020603050405020304" pitchFamily="18" charset="0"/>
              <a:buNone/>
            </a:pPr>
            <a:r>
              <a:rPr lang="en-US" altLang="it-IT"/>
              <a:t>What about </a:t>
            </a:r>
            <a:r>
              <a:rPr lang="en-US" altLang="it-IT" sz="2400">
                <a:sym typeface="Symbol" panose="05050102010706020507" pitchFamily="18" charset="2"/>
              </a:rPr>
              <a:t></a:t>
            </a:r>
            <a:r>
              <a:rPr lang="en-US" altLang="it-IT">
                <a:sym typeface="Symbol" panose="05050102010706020507" pitchFamily="18" charset="2"/>
              </a:rPr>
              <a:t>-productions?</a:t>
            </a:r>
            <a:endParaRPr lang="en-US" altLang="it-IT"/>
          </a:p>
          <a:p>
            <a:pPr eaLnBrk="1" hangingPunct="1">
              <a:lnSpc>
                <a:spcPct val="90000"/>
              </a:lnSpc>
              <a:buSzPct val="90000"/>
              <a:buFont typeface="Symbol" panose="05050102010706020507" pitchFamily="18" charset="2"/>
              <a:buChar char=""/>
            </a:pPr>
            <a:r>
              <a:rPr lang="en-US" altLang="it-IT"/>
              <a:t>They complicate the definition of LL(1)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If </a:t>
            </a:r>
            <a:r>
              <a:rPr lang="en-US" altLang="it-IT" i="1">
                <a:sym typeface="Symbol" panose="05050102010706020507" pitchFamily="18" charset="2"/>
              </a:rPr>
              <a:t>A </a:t>
            </a:r>
            <a:r>
              <a:rPr lang="en-US" altLang="it-IT">
                <a:sym typeface="Symbol" panose="05050102010706020507" pitchFamily="18" charset="2"/>
              </a:rPr>
              <a:t>  and 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   and </a:t>
            </a:r>
            <a:r>
              <a:rPr lang="en-US" altLang="it-IT" sz="2400">
                <a:sym typeface="Symbol" panose="05050102010706020507" pitchFamily="18" charset="2"/>
              </a:rPr>
              <a:t> </a:t>
            </a:r>
            <a:r>
              <a:rPr lang="en-US" altLang="it-IT">
                <a:sym typeface="Symbol" panose="05050102010706020507" pitchFamily="18" charset="2"/>
              </a:rPr>
              <a:t></a:t>
            </a:r>
            <a:r>
              <a:rPr lang="en-US" altLang="it-IT" sz="2400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F</a:t>
            </a:r>
            <a:r>
              <a:rPr lang="en-US" altLang="it-IT" sz="1600">
                <a:sym typeface="Symbol" panose="05050102010706020507" pitchFamily="18" charset="2"/>
              </a:rPr>
              <a:t>IRST</a:t>
            </a:r>
            <a:r>
              <a:rPr lang="en-US" altLang="it-IT">
                <a:sym typeface="Symbol" panose="05050102010706020507" pitchFamily="18" charset="2"/>
              </a:rPr>
              <a:t>(), then we need to ensure that F</a:t>
            </a:r>
            <a:r>
              <a:rPr lang="en-US" altLang="it-IT" sz="1600">
                <a:sym typeface="Symbol" panose="05050102010706020507" pitchFamily="18" charset="2"/>
              </a:rPr>
              <a:t>IRST</a:t>
            </a:r>
            <a:r>
              <a:rPr lang="en-US" altLang="it-IT">
                <a:sym typeface="Symbol" panose="05050102010706020507" pitchFamily="18" charset="2"/>
              </a:rPr>
              <a:t>() is disjoint from F</a:t>
            </a:r>
            <a:r>
              <a:rPr lang="en-US" altLang="it-IT" sz="1600">
                <a:sym typeface="Symbol" panose="05050102010706020507" pitchFamily="18" charset="2"/>
              </a:rPr>
              <a:t>OLLOW</a:t>
            </a:r>
            <a:r>
              <a:rPr lang="en-US" altLang="it-IT">
                <a:sym typeface="Symbol" panose="05050102010706020507" pitchFamily="18" charset="2"/>
              </a:rPr>
              <a:t>(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), too, where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F</a:t>
            </a:r>
            <a:r>
              <a:rPr lang="en-US" altLang="it-IT" sz="1600">
                <a:solidFill>
                  <a:srgbClr val="003C75"/>
                </a:solidFill>
                <a:sym typeface="Symbol" panose="05050102010706020507" pitchFamily="18" charset="2"/>
              </a:rPr>
              <a:t>OLLOW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(</a:t>
            </a: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A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) </a:t>
            </a:r>
            <a:r>
              <a:rPr lang="en-US" altLang="it-IT">
                <a:sym typeface="Symbol" panose="05050102010706020507" pitchFamily="18" charset="2"/>
              </a:rPr>
              <a:t>= the set of terminal symbols that can immediately follow A in a sentential form</a:t>
            </a:r>
          </a:p>
          <a:p>
            <a:pPr eaLnBrk="1" hangingPunct="1">
              <a:lnSpc>
                <a:spcPct val="90000"/>
              </a:lnSpc>
              <a:spcBef>
                <a:spcPct val="75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Define 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F</a:t>
            </a:r>
            <a:r>
              <a:rPr lang="en-US" altLang="it-IT" sz="1600">
                <a:solidFill>
                  <a:srgbClr val="003C75"/>
                </a:solidFill>
                <a:sym typeface="Symbol" panose="05050102010706020507" pitchFamily="18" charset="2"/>
              </a:rPr>
              <a:t>IRST</a:t>
            </a:r>
            <a:r>
              <a:rPr lang="en-US" altLang="it-IT" sz="2400" baseline="30000">
                <a:solidFill>
                  <a:srgbClr val="003C75"/>
                </a:solidFill>
                <a:sym typeface="Symbol" panose="05050102010706020507" pitchFamily="18" charset="2"/>
              </a:rPr>
              <a:t>+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(</a:t>
            </a: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A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) </a:t>
            </a:r>
            <a:r>
              <a:rPr lang="en-US" altLang="it-IT">
                <a:sym typeface="Symbol" panose="05050102010706020507" pitchFamily="18" charset="2"/>
              </a:rPr>
              <a:t>as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it-IT">
                <a:sym typeface="Symbol" panose="05050102010706020507" pitchFamily="18" charset="2"/>
              </a:rPr>
              <a:t>F</a:t>
            </a:r>
            <a:r>
              <a:rPr lang="en-US" altLang="it-IT" sz="1600">
                <a:sym typeface="Symbol" panose="05050102010706020507" pitchFamily="18" charset="2"/>
              </a:rPr>
              <a:t>IRST</a:t>
            </a:r>
            <a:r>
              <a:rPr lang="en-US" altLang="it-IT">
                <a:sym typeface="Symbol" panose="05050102010706020507" pitchFamily="18" charset="2"/>
              </a:rPr>
              <a:t>()  F</a:t>
            </a:r>
            <a:r>
              <a:rPr lang="en-US" altLang="it-IT" sz="1600">
                <a:sym typeface="Symbol" panose="05050102010706020507" pitchFamily="18" charset="2"/>
              </a:rPr>
              <a:t>OLLOW</a:t>
            </a:r>
            <a:r>
              <a:rPr lang="en-US" altLang="it-IT">
                <a:sym typeface="Symbol" panose="05050102010706020507" pitchFamily="18" charset="2"/>
              </a:rPr>
              <a:t>(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),  if </a:t>
            </a:r>
            <a:r>
              <a:rPr lang="en-US" altLang="it-IT" sz="2400">
                <a:sym typeface="Symbol" panose="05050102010706020507" pitchFamily="18" charset="2"/>
              </a:rPr>
              <a:t></a:t>
            </a:r>
            <a:r>
              <a:rPr lang="en-US" altLang="it-IT">
                <a:sym typeface="Symbol" panose="05050102010706020507" pitchFamily="18" charset="2"/>
              </a:rPr>
              <a:t>  F</a:t>
            </a:r>
            <a:r>
              <a:rPr lang="en-US" altLang="it-IT" sz="1600">
                <a:sym typeface="Symbol" panose="05050102010706020507" pitchFamily="18" charset="2"/>
              </a:rPr>
              <a:t>IRST</a:t>
            </a:r>
            <a:r>
              <a:rPr lang="en-US" altLang="it-IT">
                <a:sym typeface="Symbol" panose="05050102010706020507" pitchFamily="18" charset="2"/>
              </a:rPr>
              <a:t>()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it-IT">
                <a:sym typeface="Symbol" panose="05050102010706020507" pitchFamily="18" charset="2"/>
              </a:rPr>
              <a:t>F</a:t>
            </a:r>
            <a:r>
              <a:rPr lang="en-US" altLang="it-IT" sz="1600">
                <a:sym typeface="Symbol" panose="05050102010706020507" pitchFamily="18" charset="2"/>
              </a:rPr>
              <a:t>IRST</a:t>
            </a:r>
            <a:r>
              <a:rPr lang="en-US" altLang="it-IT">
                <a:sym typeface="Symbol" panose="05050102010706020507" pitchFamily="18" charset="2"/>
              </a:rPr>
              <a:t>(), otherwise</a:t>
            </a:r>
          </a:p>
          <a:p>
            <a:pPr eaLnBrk="1" hangingPunct="1">
              <a:lnSpc>
                <a:spcPct val="90000"/>
              </a:lnSpc>
              <a:spcBef>
                <a:spcPct val="75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Then, a grammar is </a:t>
            </a:r>
            <a:r>
              <a:rPr lang="en-US" altLang="it-IT" i="1">
                <a:sym typeface="Symbol" panose="05050102010706020507" pitchFamily="18" charset="2"/>
              </a:rPr>
              <a:t>LL(1)</a:t>
            </a:r>
            <a:r>
              <a:rPr lang="en-US" altLang="it-IT">
                <a:sym typeface="Symbol" panose="05050102010706020507" pitchFamily="18" charset="2"/>
              </a:rPr>
              <a:t> iff </a:t>
            </a:r>
            <a:r>
              <a:rPr lang="en-US" altLang="it-IT" i="1">
                <a:sym typeface="Symbol" panose="05050102010706020507" pitchFamily="18" charset="2"/>
              </a:rPr>
              <a:t>A </a:t>
            </a:r>
            <a:r>
              <a:rPr lang="en-US" altLang="it-IT">
                <a:sym typeface="Symbol" panose="05050102010706020507" pitchFamily="18" charset="2"/>
              </a:rPr>
              <a:t>  and 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   implies 		</a:t>
            </a:r>
          </a:p>
          <a:p>
            <a:pPr eaLnBrk="1" hangingPunct="1">
              <a:lnSpc>
                <a:spcPct val="90000"/>
              </a:lnSpc>
              <a:spcBef>
                <a:spcPct val="25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	F</a:t>
            </a:r>
            <a:r>
              <a:rPr lang="en-US" altLang="it-IT" sz="1600">
                <a:sym typeface="Symbol" panose="05050102010706020507" pitchFamily="18" charset="2"/>
              </a:rPr>
              <a:t>IRST</a:t>
            </a:r>
            <a:r>
              <a:rPr lang="en-US" altLang="it-IT" sz="2400" baseline="30000">
                <a:sym typeface="Symbol" panose="05050102010706020507" pitchFamily="18" charset="2"/>
              </a:rPr>
              <a:t>+</a:t>
            </a:r>
            <a:r>
              <a:rPr lang="en-US" altLang="it-IT">
                <a:sym typeface="Symbol" panose="05050102010706020507" pitchFamily="18" charset="2"/>
              </a:rPr>
              <a:t>(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)  F</a:t>
            </a:r>
            <a:r>
              <a:rPr lang="en-US" altLang="it-IT" sz="1600">
                <a:sym typeface="Symbol" panose="05050102010706020507" pitchFamily="18" charset="2"/>
              </a:rPr>
              <a:t>IRST</a:t>
            </a:r>
            <a:r>
              <a:rPr lang="en-US" altLang="it-IT" sz="2400" baseline="30000">
                <a:sym typeface="Symbol" panose="05050102010706020507" pitchFamily="18" charset="2"/>
              </a:rPr>
              <a:t>+</a:t>
            </a:r>
            <a:r>
              <a:rPr lang="en-US" altLang="it-IT">
                <a:sym typeface="Symbol" panose="05050102010706020507" pitchFamily="18" charset="2"/>
              </a:rPr>
              <a:t>(</a:t>
            </a:r>
            <a:r>
              <a:rPr lang="en-US" altLang="it-IT" i="1">
                <a:sym typeface="Symbol" panose="05050102010706020507" pitchFamily="18" charset="2"/>
              </a:rPr>
              <a:t>A</a:t>
            </a:r>
            <a:r>
              <a:rPr lang="en-US" altLang="it-IT">
                <a:sym typeface="Symbol" panose="05050102010706020507" pitchFamily="18" charset="2"/>
              </a:rPr>
              <a:t>) = 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3E47CF-C3AD-4C8B-A0A1-9EF76EEB1AEA}"/>
              </a:ext>
            </a:extLst>
          </p:cNvPr>
          <p:cNvSpPr txBox="1"/>
          <p:nvPr/>
        </p:nvSpPr>
        <p:spPr>
          <a:xfrm>
            <a:off x="2667000" y="5715000"/>
            <a:ext cx="6096000" cy="93821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The intuition is straightforward.  If </a:t>
            </a:r>
            <a:r>
              <a:rPr lang="en-US" i="1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A</a:t>
            </a:r>
            <a:r>
              <a:rPr lang="en-US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expands with 2 right hand sides, those </a:t>
            </a:r>
            <a:r>
              <a:rPr lang="en-US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rhs</a:t>
            </a:r>
            <a:r>
              <a:rPr lang="en-US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’ must have distinct first symbols.  </a:t>
            </a:r>
          </a:p>
          <a:p>
            <a:pPr eaLnBrk="0" hangingPunct="0">
              <a:spcBef>
                <a:spcPts val="400"/>
              </a:spcBef>
              <a:defRPr/>
            </a:pPr>
            <a:r>
              <a:rPr lang="en-US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We only need </a:t>
            </a:r>
            <a:r>
              <a:rPr lang="en-US" cap="small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First</a:t>
            </a:r>
            <a:r>
              <a:rPr lang="en-US" baseline="300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+</a:t>
            </a:r>
            <a:r>
              <a:rPr lang="en-US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sets because of </a:t>
            </a:r>
            <a:r>
              <a:rPr lang="en-US" sz="18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</a:t>
            </a:r>
            <a:r>
              <a:rPr lang="en-US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-productions.</a:t>
            </a:r>
            <a:endParaRPr lang="en-US" dirty="0">
              <a:solidFill>
                <a:srgbClr val="003C75"/>
              </a:solidFill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Footer Placeholder 1">
            <a:extLst>
              <a:ext uri="{FF2B5EF4-FFF2-40B4-BE49-F238E27FC236}">
                <a16:creationId xmlns:a16="http://schemas.microsoft.com/office/drawing/2014/main" id="{136342CB-0761-48D1-B09A-13C1AFBBD1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24578" name="Slide Number Placeholder 2">
            <a:extLst>
              <a:ext uri="{FF2B5EF4-FFF2-40B4-BE49-F238E27FC236}">
                <a16:creationId xmlns:a16="http://schemas.microsoft.com/office/drawing/2014/main" id="{AC635CE3-3A50-4E03-A458-22648DA9FE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8B6A381-00A6-4C3A-848B-F74B07C6867F}" type="slidenum">
              <a:rPr lang="en-US" altLang="it-IT" sz="1200"/>
              <a:pPr/>
              <a:t>4</a:t>
            </a:fld>
            <a:endParaRPr lang="en-US" altLang="it-IT" sz="1200"/>
          </a:p>
        </p:txBody>
      </p:sp>
      <p:sp>
        <p:nvSpPr>
          <p:cNvPr id="24579" name="Title 3">
            <a:extLst>
              <a:ext uri="{FF2B5EF4-FFF2-40B4-BE49-F238E27FC236}">
                <a16:creationId xmlns:a16="http://schemas.microsoft.com/office/drawing/2014/main" id="{3DDE5326-6800-4BE2-B40E-636CD862B173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it-IT"/>
              <a:t>What If My Grammar Is Not LL(1) 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9017B2-2A47-4275-87D9-DEF786226A6A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spcBef>
                <a:spcPts val="600"/>
              </a:spcBef>
              <a:buFont typeface="Times" charset="0"/>
              <a:buNone/>
              <a:defRPr/>
            </a:pPr>
            <a:r>
              <a:rPr lang="en-US" dirty="0"/>
              <a:t>Can we transform a non-LL(1) grammar into an LL(1) </a:t>
            </a:r>
            <a:r>
              <a:rPr lang="en-US" dirty="0" err="1"/>
              <a:t>gramar</a:t>
            </a:r>
            <a:r>
              <a:rPr lang="en-US" dirty="0"/>
              <a:t>?</a:t>
            </a:r>
          </a:p>
          <a:p>
            <a:pPr>
              <a:spcBef>
                <a:spcPts val="600"/>
              </a:spcBef>
              <a:buFont typeface="Times" charset="0"/>
              <a:buChar char="•"/>
              <a:defRPr/>
            </a:pPr>
            <a:r>
              <a:rPr lang="en-US" dirty="0"/>
              <a:t>In general, the answer is no</a:t>
            </a:r>
          </a:p>
          <a:p>
            <a:pPr>
              <a:spcBef>
                <a:spcPts val="600"/>
              </a:spcBef>
              <a:buFont typeface="Times" charset="0"/>
              <a:buChar char="•"/>
              <a:defRPr/>
            </a:pPr>
            <a:r>
              <a:rPr lang="en-US" dirty="0"/>
              <a:t>In some cases, however, the answer is yes</a:t>
            </a:r>
          </a:p>
          <a:p>
            <a:pPr>
              <a:spcBef>
                <a:spcPts val="1800"/>
              </a:spcBef>
              <a:buFont typeface="Times" charset="0"/>
              <a:buNone/>
              <a:defRPr/>
            </a:pPr>
            <a:r>
              <a:rPr lang="en-US" dirty="0"/>
              <a:t>Assume a grammar </a:t>
            </a:r>
            <a:r>
              <a:rPr lang="en-US" i="1" dirty="0"/>
              <a:t>G</a:t>
            </a:r>
            <a:r>
              <a:rPr lang="en-US" dirty="0"/>
              <a:t> with productions </a:t>
            </a:r>
            <a:r>
              <a:rPr lang="en-US" i="1" dirty="0"/>
              <a:t>A </a:t>
            </a:r>
            <a:r>
              <a:rPr lang="en-US" dirty="0" err="1">
                <a:sym typeface="Symbol" charset="2"/>
              </a:rPr>
              <a:t></a:t>
            </a:r>
            <a:r>
              <a:rPr lang="en-US" dirty="0">
                <a:sym typeface="Symbol" charset="2"/>
              </a:rPr>
              <a:t> </a:t>
            </a:r>
            <a:r>
              <a:rPr lang="en-US" dirty="0" err="1">
                <a:sym typeface="Symbol" charset="2"/>
              </a:rPr>
              <a:t></a:t>
            </a:r>
            <a:r>
              <a:rPr lang="en-US" baseline="-25000" dirty="0">
                <a:sym typeface="Symbol" charset="2"/>
              </a:rPr>
              <a:t> </a:t>
            </a:r>
            <a:r>
              <a:rPr lang="en-US" dirty="0">
                <a:sym typeface="Symbol" charset="2"/>
              </a:rPr>
              <a:t></a:t>
            </a:r>
            <a:r>
              <a:rPr lang="en-US" baseline="-25000" dirty="0">
                <a:sym typeface="Symbol" charset="2"/>
              </a:rPr>
              <a:t>1</a:t>
            </a:r>
            <a:r>
              <a:rPr lang="en-US" dirty="0">
                <a:sym typeface="Symbol" charset="2"/>
              </a:rPr>
              <a:t> and </a:t>
            </a:r>
            <a:r>
              <a:rPr lang="en-US" i="1" dirty="0"/>
              <a:t>A </a:t>
            </a:r>
            <a:r>
              <a:rPr lang="en-US" dirty="0" err="1">
                <a:sym typeface="Symbol" charset="2"/>
              </a:rPr>
              <a:t></a:t>
            </a:r>
            <a:r>
              <a:rPr lang="en-US" dirty="0">
                <a:sym typeface="Symbol" charset="2"/>
              </a:rPr>
              <a:t> </a:t>
            </a:r>
            <a:r>
              <a:rPr lang="en-US" dirty="0" err="1">
                <a:sym typeface="Symbol" charset="2"/>
              </a:rPr>
              <a:t></a:t>
            </a:r>
            <a:r>
              <a:rPr lang="en-US" baseline="-25000" dirty="0">
                <a:sym typeface="Symbol" charset="2"/>
              </a:rPr>
              <a:t> </a:t>
            </a:r>
            <a:r>
              <a:rPr lang="en-US" dirty="0">
                <a:sym typeface="Symbol" charset="2"/>
              </a:rPr>
              <a:t></a:t>
            </a:r>
            <a:r>
              <a:rPr lang="en-US" baseline="-25000" dirty="0">
                <a:sym typeface="Symbol" charset="2"/>
              </a:rPr>
              <a:t>2</a:t>
            </a:r>
            <a:endParaRPr lang="en-US" dirty="0">
              <a:sym typeface="Symbol" charset="2"/>
            </a:endParaRPr>
          </a:p>
          <a:p>
            <a:pPr>
              <a:spcBef>
                <a:spcPts val="600"/>
              </a:spcBef>
              <a:buFont typeface="Times" charset="0"/>
              <a:buChar char="•"/>
              <a:defRPr/>
            </a:pPr>
            <a:r>
              <a:rPr lang="en-US" dirty="0">
                <a:solidFill>
                  <a:srgbClr val="000000"/>
                </a:solidFill>
                <a:sym typeface="Symbol" charset="2"/>
              </a:rPr>
              <a:t>If </a:t>
            </a:r>
            <a:r>
              <a:rPr lang="en-US" dirty="0" err="1">
                <a:solidFill>
                  <a:srgbClr val="000000"/>
                </a:solidFill>
                <a:sym typeface="Symbol" charset="2"/>
              </a:rPr>
              <a:t></a:t>
            </a:r>
            <a:r>
              <a:rPr lang="en-US" dirty="0">
                <a:solidFill>
                  <a:srgbClr val="000000"/>
                </a:solidFill>
                <a:sym typeface="Symbol" charset="2"/>
              </a:rPr>
              <a:t> derives anything other than </a:t>
            </a:r>
            <a:r>
              <a:rPr lang="en-US" dirty="0" err="1">
                <a:solidFill>
                  <a:srgbClr val="000000"/>
                </a:solidFill>
                <a:sym typeface="Symbol" charset="2"/>
              </a:rPr>
              <a:t></a:t>
            </a:r>
            <a:r>
              <a:rPr lang="en-US" dirty="0">
                <a:solidFill>
                  <a:srgbClr val="000000"/>
                </a:solidFill>
                <a:sym typeface="Symbol" charset="2"/>
              </a:rPr>
              <a:t>, then</a:t>
            </a:r>
          </a:p>
          <a:p>
            <a:pPr algn="ctr">
              <a:spcBef>
                <a:spcPts val="1200"/>
              </a:spcBef>
              <a:spcAft>
                <a:spcPts val="600"/>
              </a:spcAft>
              <a:buFont typeface="Times" charset="0"/>
              <a:buNone/>
              <a:defRPr/>
            </a:pPr>
            <a:r>
              <a:rPr lang="en-US" cap="small" dirty="0" err="1">
                <a:solidFill>
                  <a:srgbClr val="000000"/>
                </a:solidFill>
                <a:sym typeface="Symbol" charset="2"/>
              </a:rPr>
              <a:t>First</a:t>
            </a:r>
            <a:r>
              <a:rPr lang="en-US" baseline="30000" dirty="0" err="1">
                <a:solidFill>
                  <a:srgbClr val="000000"/>
                </a:solidFill>
                <a:sym typeface="Symbol" charset="2"/>
              </a:rPr>
              <a:t>+</a:t>
            </a:r>
            <a:r>
              <a:rPr lang="en-US" dirty="0" err="1">
                <a:solidFill>
                  <a:srgbClr val="000000"/>
                </a:solidFill>
                <a:sym typeface="Symbol" charset="2"/>
              </a:rPr>
              <a:t>(</a:t>
            </a:r>
            <a:r>
              <a:rPr lang="en-US" i="1" dirty="0" err="1">
                <a:solidFill>
                  <a:srgbClr val="000000"/>
                </a:solidFill>
              </a:rPr>
              <a:t>A</a:t>
            </a:r>
            <a:r>
              <a:rPr lang="en-US" i="1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Symbol" charset="2"/>
              </a:rPr>
              <a:t></a:t>
            </a:r>
            <a:r>
              <a:rPr lang="en-US" dirty="0">
                <a:solidFill>
                  <a:srgbClr val="000000"/>
                </a:solidFill>
                <a:sym typeface="Symbol" charset="2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Symbol" charset="2"/>
              </a:rPr>
              <a:t></a:t>
            </a:r>
            <a:r>
              <a:rPr lang="en-US" baseline="-25000" dirty="0">
                <a:solidFill>
                  <a:srgbClr val="000000"/>
                </a:solidFill>
                <a:sym typeface="Symbol" charset="2"/>
              </a:rPr>
              <a:t> </a:t>
            </a:r>
            <a:r>
              <a:rPr lang="en-US" dirty="0">
                <a:solidFill>
                  <a:srgbClr val="000000"/>
                </a:solidFill>
                <a:sym typeface="Symbol" charset="2"/>
              </a:rPr>
              <a:t></a:t>
            </a:r>
            <a:r>
              <a:rPr lang="en-US" baseline="-25000" dirty="0">
                <a:solidFill>
                  <a:srgbClr val="000000"/>
                </a:solidFill>
                <a:sym typeface="Symbol" charset="2"/>
              </a:rPr>
              <a:t>1</a:t>
            </a:r>
            <a:r>
              <a:rPr lang="en-US" dirty="0">
                <a:solidFill>
                  <a:srgbClr val="000000"/>
                </a:solidFill>
                <a:sym typeface="Symbol" charset="2"/>
              </a:rPr>
              <a:t>) </a:t>
            </a:r>
            <a:r>
              <a:rPr lang="en-US" dirty="0" err="1">
                <a:solidFill>
                  <a:srgbClr val="000000"/>
                </a:solidFill>
                <a:sym typeface="Symbol" charset="2"/>
              </a:rPr>
              <a:t></a:t>
            </a:r>
            <a:r>
              <a:rPr lang="en-US" dirty="0">
                <a:solidFill>
                  <a:srgbClr val="000000"/>
                </a:solidFill>
                <a:sym typeface="Symbol" charset="2"/>
              </a:rPr>
              <a:t> </a:t>
            </a:r>
            <a:r>
              <a:rPr lang="en-US" cap="small" dirty="0" err="1">
                <a:solidFill>
                  <a:srgbClr val="000000"/>
                </a:solidFill>
                <a:sym typeface="Symbol" charset="2"/>
              </a:rPr>
              <a:t>First</a:t>
            </a:r>
            <a:r>
              <a:rPr lang="en-US" baseline="30000" dirty="0" err="1">
                <a:solidFill>
                  <a:srgbClr val="000000"/>
                </a:solidFill>
                <a:sym typeface="Symbol" charset="2"/>
              </a:rPr>
              <a:t>+</a:t>
            </a:r>
            <a:r>
              <a:rPr lang="en-US" dirty="0" err="1">
                <a:solidFill>
                  <a:srgbClr val="000000"/>
                </a:solidFill>
                <a:sym typeface="Symbol" charset="2"/>
              </a:rPr>
              <a:t>(</a:t>
            </a:r>
            <a:r>
              <a:rPr lang="en-US" i="1" dirty="0" err="1">
                <a:solidFill>
                  <a:srgbClr val="000000"/>
                </a:solidFill>
              </a:rPr>
              <a:t>A</a:t>
            </a:r>
            <a:r>
              <a:rPr lang="en-US" i="1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Symbol" charset="2"/>
              </a:rPr>
              <a:t></a:t>
            </a:r>
            <a:r>
              <a:rPr lang="en-US" dirty="0">
                <a:solidFill>
                  <a:srgbClr val="000000"/>
                </a:solidFill>
                <a:sym typeface="Symbol" charset="2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Symbol" charset="2"/>
              </a:rPr>
              <a:t></a:t>
            </a:r>
            <a:r>
              <a:rPr lang="en-US" baseline="-25000" dirty="0">
                <a:solidFill>
                  <a:srgbClr val="000000"/>
                </a:solidFill>
                <a:sym typeface="Symbol" charset="2"/>
              </a:rPr>
              <a:t> </a:t>
            </a:r>
            <a:r>
              <a:rPr lang="en-US" dirty="0">
                <a:solidFill>
                  <a:srgbClr val="000000"/>
                </a:solidFill>
                <a:sym typeface="Symbol" charset="2"/>
              </a:rPr>
              <a:t></a:t>
            </a:r>
            <a:r>
              <a:rPr lang="en-US" baseline="-25000" dirty="0">
                <a:solidFill>
                  <a:srgbClr val="000000"/>
                </a:solidFill>
                <a:sym typeface="Symbol" charset="2"/>
              </a:rPr>
              <a:t>2</a:t>
            </a:r>
            <a:r>
              <a:rPr lang="en-US" dirty="0">
                <a:solidFill>
                  <a:srgbClr val="000000"/>
                </a:solidFill>
                <a:sym typeface="Symbol" charset="2"/>
              </a:rPr>
              <a:t>) </a:t>
            </a:r>
            <a:r>
              <a:rPr lang="en-US" sz="1800" dirty="0">
                <a:solidFill>
                  <a:srgbClr val="000000"/>
                </a:solidFill>
                <a:sym typeface="Symbol" charset="2"/>
              </a:rPr>
              <a:t>≠</a:t>
            </a:r>
            <a:r>
              <a:rPr lang="en-US" dirty="0">
                <a:solidFill>
                  <a:srgbClr val="000000"/>
                </a:solidFill>
                <a:sym typeface="Symbol" charset="2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Symbol" charset="2"/>
              </a:rPr>
              <a:t></a:t>
            </a:r>
            <a:endParaRPr lang="en-US" dirty="0">
              <a:solidFill>
                <a:srgbClr val="000000"/>
              </a:solidFill>
              <a:sym typeface="Symbol" charset="2"/>
            </a:endParaRPr>
          </a:p>
          <a:p>
            <a:pPr>
              <a:spcBef>
                <a:spcPts val="600"/>
              </a:spcBef>
              <a:buFont typeface="Times" charset="0"/>
              <a:buChar char="•"/>
              <a:defRPr/>
            </a:pPr>
            <a:r>
              <a:rPr lang="en-US" dirty="0">
                <a:solidFill>
                  <a:srgbClr val="000000"/>
                </a:solidFill>
                <a:sym typeface="Symbol" charset="2"/>
              </a:rPr>
              <a:t>And the grammar is not LL(1)</a:t>
            </a:r>
          </a:p>
          <a:p>
            <a:pPr>
              <a:spcBef>
                <a:spcPts val="1800"/>
              </a:spcBef>
              <a:buFont typeface="Times" charset="0"/>
              <a:buNone/>
              <a:defRPr/>
            </a:pPr>
            <a:r>
              <a:rPr lang="en-US" dirty="0">
                <a:solidFill>
                  <a:srgbClr val="000000"/>
                </a:solidFill>
              </a:rPr>
              <a:t>If we pull the common prefix, </a:t>
            </a:r>
            <a:r>
              <a:rPr lang="en-US" dirty="0" err="1">
                <a:solidFill>
                  <a:srgbClr val="000000"/>
                </a:solidFill>
                <a:sym typeface="Symbol" charset="2"/>
              </a:rPr>
              <a:t></a:t>
            </a:r>
            <a:r>
              <a:rPr lang="en-US" dirty="0">
                <a:solidFill>
                  <a:srgbClr val="000000"/>
                </a:solidFill>
                <a:sym typeface="Symbol" charset="2"/>
              </a:rPr>
              <a:t>, into a separate production, we may make the grammar LL(1).</a:t>
            </a:r>
          </a:p>
          <a:p>
            <a:pPr algn="ctr">
              <a:spcBef>
                <a:spcPts val="1800"/>
              </a:spcBef>
              <a:buFont typeface="Times" charset="0"/>
              <a:buNone/>
              <a:defRPr/>
            </a:pPr>
            <a:r>
              <a:rPr lang="en-US" i="1" dirty="0"/>
              <a:t>A </a:t>
            </a:r>
            <a:r>
              <a:rPr lang="en-US" dirty="0" err="1">
                <a:sym typeface="Symbol" charset="2"/>
              </a:rPr>
              <a:t></a:t>
            </a:r>
            <a:r>
              <a:rPr lang="en-US" dirty="0">
                <a:sym typeface="Symbol" charset="2"/>
              </a:rPr>
              <a:t> </a:t>
            </a:r>
            <a:r>
              <a:rPr lang="en-US" dirty="0" err="1">
                <a:sym typeface="Symbol" charset="2"/>
              </a:rPr>
              <a:t></a:t>
            </a:r>
            <a:r>
              <a:rPr lang="en-US" dirty="0">
                <a:sym typeface="Symbol" charset="2"/>
              </a:rPr>
              <a:t> </a:t>
            </a:r>
            <a:r>
              <a:rPr lang="en-US" i="1" dirty="0">
                <a:sym typeface="Symbol" charset="2"/>
              </a:rPr>
              <a:t>A</a:t>
            </a:r>
            <a:r>
              <a:rPr lang="en-US" dirty="0">
                <a:sym typeface="Symbol" charset="2"/>
              </a:rPr>
              <a:t>’, </a:t>
            </a:r>
            <a:r>
              <a:rPr lang="en-US" i="1" dirty="0">
                <a:sym typeface="Symbol" charset="2"/>
              </a:rPr>
              <a:t>A</a:t>
            </a:r>
            <a:r>
              <a:rPr lang="en-US" dirty="0">
                <a:sym typeface="Symbol" charset="2"/>
              </a:rPr>
              <a:t>’</a:t>
            </a:r>
            <a:r>
              <a:rPr lang="en-US" i="1" dirty="0">
                <a:sym typeface="Symbol" charset="2"/>
              </a:rPr>
              <a:t> </a:t>
            </a:r>
            <a:r>
              <a:rPr lang="en-US" dirty="0" err="1">
                <a:sym typeface="Symbol" charset="2"/>
              </a:rPr>
              <a:t></a:t>
            </a:r>
            <a:r>
              <a:rPr lang="en-US" dirty="0">
                <a:sym typeface="Symbol" charset="2"/>
              </a:rPr>
              <a:t> </a:t>
            </a:r>
            <a:r>
              <a:rPr lang="en-US" baseline="-25000" dirty="0">
                <a:sym typeface="Symbol" charset="2"/>
              </a:rPr>
              <a:t>1</a:t>
            </a:r>
            <a:r>
              <a:rPr lang="en-US" dirty="0">
                <a:sym typeface="Symbol" charset="2"/>
              </a:rPr>
              <a:t> and </a:t>
            </a:r>
            <a:r>
              <a:rPr lang="en-US" i="1" dirty="0"/>
              <a:t>A</a:t>
            </a:r>
            <a:r>
              <a:rPr lang="en-US" dirty="0"/>
              <a:t>’</a:t>
            </a:r>
            <a:r>
              <a:rPr lang="en-US" i="1" dirty="0"/>
              <a:t> </a:t>
            </a:r>
            <a:r>
              <a:rPr lang="en-US" dirty="0" err="1">
                <a:sym typeface="Symbol" charset="2"/>
              </a:rPr>
              <a:t></a:t>
            </a:r>
            <a:r>
              <a:rPr lang="en-US" dirty="0">
                <a:sym typeface="Symbol" charset="2"/>
              </a:rPr>
              <a:t> </a:t>
            </a:r>
            <a:r>
              <a:rPr lang="en-US" baseline="-25000" dirty="0">
                <a:sym typeface="Symbol" charset="2"/>
              </a:rPr>
              <a:t>2</a:t>
            </a:r>
          </a:p>
          <a:p>
            <a:pPr>
              <a:spcBef>
                <a:spcPts val="1800"/>
              </a:spcBef>
              <a:buFont typeface="Times" charset="0"/>
              <a:buNone/>
              <a:defRPr/>
            </a:pPr>
            <a:r>
              <a:rPr lang="en-US" dirty="0">
                <a:solidFill>
                  <a:srgbClr val="000000"/>
                </a:solidFill>
                <a:sym typeface="Symbol" charset="2"/>
              </a:rPr>
              <a:t>Now, if </a:t>
            </a:r>
            <a:r>
              <a:rPr lang="en-US" cap="small" dirty="0" err="1">
                <a:solidFill>
                  <a:srgbClr val="000000"/>
                </a:solidFill>
                <a:sym typeface="Symbol" charset="2"/>
              </a:rPr>
              <a:t>First</a:t>
            </a:r>
            <a:r>
              <a:rPr lang="en-US" baseline="30000" dirty="0" err="1">
                <a:solidFill>
                  <a:srgbClr val="000000"/>
                </a:solidFill>
                <a:sym typeface="Symbol" charset="2"/>
              </a:rPr>
              <a:t>+</a:t>
            </a:r>
            <a:r>
              <a:rPr lang="en-US" dirty="0" err="1">
                <a:solidFill>
                  <a:srgbClr val="000000"/>
                </a:solidFill>
                <a:sym typeface="Symbol" charset="2"/>
              </a:rPr>
              <a:t>(</a:t>
            </a:r>
            <a:r>
              <a:rPr lang="en-US" i="1" dirty="0" err="1">
                <a:solidFill>
                  <a:srgbClr val="000000"/>
                </a:solidFill>
              </a:rPr>
              <a:t>A</a:t>
            </a:r>
            <a:r>
              <a:rPr lang="en-US" dirty="0">
                <a:solidFill>
                  <a:srgbClr val="000000"/>
                </a:solidFill>
              </a:rPr>
              <a:t>’</a:t>
            </a:r>
            <a:r>
              <a:rPr lang="en-US" i="1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Symbol" charset="2"/>
              </a:rPr>
              <a:t></a:t>
            </a:r>
            <a:r>
              <a:rPr lang="en-US" baseline="-25000" dirty="0">
                <a:solidFill>
                  <a:srgbClr val="000000"/>
                </a:solidFill>
                <a:sym typeface="Symbol" charset="2"/>
              </a:rPr>
              <a:t> </a:t>
            </a:r>
            <a:r>
              <a:rPr lang="en-US" dirty="0">
                <a:solidFill>
                  <a:srgbClr val="000000"/>
                </a:solidFill>
                <a:sym typeface="Symbol" charset="2"/>
              </a:rPr>
              <a:t></a:t>
            </a:r>
            <a:r>
              <a:rPr lang="en-US" baseline="-25000" dirty="0">
                <a:solidFill>
                  <a:srgbClr val="000000"/>
                </a:solidFill>
                <a:sym typeface="Symbol" charset="2"/>
              </a:rPr>
              <a:t>1</a:t>
            </a:r>
            <a:r>
              <a:rPr lang="en-US" dirty="0">
                <a:solidFill>
                  <a:srgbClr val="000000"/>
                </a:solidFill>
                <a:sym typeface="Symbol" charset="2"/>
              </a:rPr>
              <a:t>) </a:t>
            </a:r>
            <a:r>
              <a:rPr lang="en-US" dirty="0" err="1">
                <a:solidFill>
                  <a:srgbClr val="000000"/>
                </a:solidFill>
                <a:sym typeface="Symbol" charset="2"/>
              </a:rPr>
              <a:t></a:t>
            </a:r>
            <a:r>
              <a:rPr lang="en-US" dirty="0">
                <a:solidFill>
                  <a:srgbClr val="000000"/>
                </a:solidFill>
                <a:sym typeface="Symbol" charset="2"/>
              </a:rPr>
              <a:t> </a:t>
            </a:r>
            <a:r>
              <a:rPr lang="en-US" cap="small" dirty="0" err="1">
                <a:solidFill>
                  <a:srgbClr val="000000"/>
                </a:solidFill>
                <a:sym typeface="Symbol" charset="2"/>
              </a:rPr>
              <a:t>First</a:t>
            </a:r>
            <a:r>
              <a:rPr lang="en-US" baseline="30000" dirty="0" err="1">
                <a:solidFill>
                  <a:srgbClr val="000000"/>
                </a:solidFill>
                <a:sym typeface="Symbol" charset="2"/>
              </a:rPr>
              <a:t>+</a:t>
            </a:r>
            <a:r>
              <a:rPr lang="en-US" dirty="0" err="1">
                <a:solidFill>
                  <a:srgbClr val="000000"/>
                </a:solidFill>
                <a:sym typeface="Symbol" charset="2"/>
              </a:rPr>
              <a:t>(</a:t>
            </a:r>
            <a:r>
              <a:rPr lang="en-US" i="1" dirty="0" err="1">
                <a:solidFill>
                  <a:srgbClr val="000000"/>
                </a:solidFill>
              </a:rPr>
              <a:t>A</a:t>
            </a:r>
            <a:r>
              <a:rPr lang="en-US" dirty="0">
                <a:solidFill>
                  <a:srgbClr val="000000"/>
                </a:solidFill>
              </a:rPr>
              <a:t>’ </a:t>
            </a:r>
            <a:r>
              <a:rPr lang="en-US" dirty="0" err="1">
                <a:solidFill>
                  <a:srgbClr val="000000"/>
                </a:solidFill>
                <a:sym typeface="Symbol" charset="2"/>
              </a:rPr>
              <a:t></a:t>
            </a:r>
            <a:r>
              <a:rPr lang="en-US" dirty="0">
                <a:solidFill>
                  <a:srgbClr val="000000"/>
                </a:solidFill>
                <a:sym typeface="Symbol" charset="2"/>
              </a:rPr>
              <a:t> </a:t>
            </a:r>
            <a:r>
              <a:rPr lang="en-US" baseline="-25000" dirty="0">
                <a:solidFill>
                  <a:srgbClr val="000000"/>
                </a:solidFill>
                <a:sym typeface="Symbol" charset="2"/>
              </a:rPr>
              <a:t>2</a:t>
            </a:r>
            <a:r>
              <a:rPr lang="en-US" dirty="0">
                <a:solidFill>
                  <a:srgbClr val="000000"/>
                </a:solidFill>
                <a:sym typeface="Symbol" charset="2"/>
              </a:rPr>
              <a:t>) </a:t>
            </a:r>
            <a:r>
              <a:rPr lang="en-US" sz="1800" dirty="0">
                <a:solidFill>
                  <a:srgbClr val="000000"/>
                </a:solidFill>
                <a:sym typeface="Symbol" charset="2"/>
              </a:rPr>
              <a:t>=</a:t>
            </a:r>
            <a:r>
              <a:rPr lang="en-US" dirty="0">
                <a:solidFill>
                  <a:srgbClr val="000000"/>
                </a:solidFill>
                <a:sym typeface="Symbol" charset="2"/>
              </a:rPr>
              <a:t> </a:t>
            </a:r>
            <a:r>
              <a:rPr lang="en-US" dirty="0" err="1">
                <a:solidFill>
                  <a:srgbClr val="000000"/>
                </a:solidFill>
                <a:sym typeface="Symbol" charset="2"/>
              </a:rPr>
              <a:t></a:t>
            </a:r>
            <a:r>
              <a:rPr lang="en-US" dirty="0">
                <a:solidFill>
                  <a:srgbClr val="000000"/>
                </a:solidFill>
                <a:sym typeface="Symbol" charset="2"/>
              </a:rPr>
              <a:t>,  </a:t>
            </a:r>
            <a:r>
              <a:rPr lang="en-US" i="1" dirty="0">
                <a:solidFill>
                  <a:srgbClr val="000000"/>
                </a:solidFill>
                <a:sym typeface="Symbol" charset="2"/>
              </a:rPr>
              <a:t>G</a:t>
            </a:r>
            <a:r>
              <a:rPr lang="en-US" dirty="0">
                <a:solidFill>
                  <a:srgbClr val="000000"/>
                </a:solidFill>
                <a:sym typeface="Symbol" charset="2"/>
              </a:rPr>
              <a:t> may be LL(1)</a:t>
            </a:r>
          </a:p>
          <a:p>
            <a:pPr>
              <a:spcBef>
                <a:spcPts val="1800"/>
              </a:spcBef>
              <a:buFont typeface="Times" charset="0"/>
              <a:buNone/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Footer Placeholder 1">
            <a:extLst>
              <a:ext uri="{FF2B5EF4-FFF2-40B4-BE49-F238E27FC236}">
                <a16:creationId xmlns:a16="http://schemas.microsoft.com/office/drawing/2014/main" id="{1415E136-2F93-415D-B398-639319924C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25602" name="Slide Number Placeholder 2">
            <a:extLst>
              <a:ext uri="{FF2B5EF4-FFF2-40B4-BE49-F238E27FC236}">
                <a16:creationId xmlns:a16="http://schemas.microsoft.com/office/drawing/2014/main" id="{5EA2D33A-4EB6-4E54-8F1E-AEAA23AB19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DB146ED-5A29-448C-99C0-A2A271F8A708}" type="slidenum">
              <a:rPr lang="en-US" altLang="it-IT" sz="1200"/>
              <a:pPr/>
              <a:t>5</a:t>
            </a:fld>
            <a:endParaRPr lang="en-US" altLang="it-IT" sz="1200"/>
          </a:p>
        </p:txBody>
      </p:sp>
      <p:sp>
        <p:nvSpPr>
          <p:cNvPr id="25603" name="Title 3">
            <a:extLst>
              <a:ext uri="{FF2B5EF4-FFF2-40B4-BE49-F238E27FC236}">
                <a16:creationId xmlns:a16="http://schemas.microsoft.com/office/drawing/2014/main" id="{E285377B-25B6-4A80-BB32-209AF5812B6C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it-IT"/>
              <a:t>What If My Grammar Is Not LL(1) ?</a:t>
            </a:r>
          </a:p>
        </p:txBody>
      </p:sp>
      <p:sp>
        <p:nvSpPr>
          <p:cNvPr id="25604" name="Text Placeholder 4">
            <a:extLst>
              <a:ext uri="{FF2B5EF4-FFF2-40B4-BE49-F238E27FC236}">
                <a16:creationId xmlns:a16="http://schemas.microsoft.com/office/drawing/2014/main" id="{88200A7C-1DAE-4067-A57E-8060535986A1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spcBef>
                <a:spcPts val="600"/>
              </a:spcBef>
              <a:buFont typeface="Times" panose="02020603050405020304" pitchFamily="18" charset="0"/>
              <a:buNone/>
            </a:pPr>
            <a:r>
              <a:rPr lang="en-US" altLang="it-IT"/>
              <a:t>Left Factoring</a:t>
            </a:r>
          </a:p>
          <a:p>
            <a:pPr>
              <a:spcBef>
                <a:spcPts val="600"/>
              </a:spcBef>
              <a:buFont typeface="Times" panose="02020603050405020304" pitchFamily="18" charset="0"/>
              <a:buNone/>
            </a:pPr>
            <a:endParaRPr lang="en-US" altLang="it-IT"/>
          </a:p>
          <a:p>
            <a:pPr>
              <a:spcBef>
                <a:spcPts val="600"/>
              </a:spcBef>
              <a:buFont typeface="Times" panose="02020603050405020304" pitchFamily="18" charset="0"/>
              <a:buNone/>
            </a:pPr>
            <a:endParaRPr lang="en-US" altLang="it-IT"/>
          </a:p>
          <a:p>
            <a:pPr>
              <a:spcBef>
                <a:spcPts val="600"/>
              </a:spcBef>
              <a:buFont typeface="Times" panose="02020603050405020304" pitchFamily="18" charset="0"/>
              <a:buNone/>
            </a:pPr>
            <a:endParaRPr lang="en-US" altLang="it-IT"/>
          </a:p>
          <a:p>
            <a:pPr>
              <a:spcBef>
                <a:spcPts val="600"/>
              </a:spcBef>
              <a:buFont typeface="Times" panose="02020603050405020304" pitchFamily="18" charset="0"/>
              <a:buNone/>
            </a:pPr>
            <a:endParaRPr lang="en-US" altLang="it-IT"/>
          </a:p>
          <a:p>
            <a:pPr>
              <a:spcBef>
                <a:spcPts val="600"/>
              </a:spcBef>
              <a:buFont typeface="Times" panose="02020603050405020304" pitchFamily="18" charset="0"/>
              <a:buNone/>
            </a:pPr>
            <a:endParaRPr lang="en-US" altLang="it-IT"/>
          </a:p>
          <a:p>
            <a:pPr>
              <a:spcBef>
                <a:spcPts val="600"/>
              </a:spcBef>
              <a:buFont typeface="Times" panose="02020603050405020304" pitchFamily="18" charset="0"/>
              <a:buNone/>
            </a:pPr>
            <a:endParaRPr lang="en-US" altLang="it-IT"/>
          </a:p>
          <a:p>
            <a:pPr>
              <a:spcBef>
                <a:spcPts val="600"/>
              </a:spcBef>
              <a:buFont typeface="Times" panose="02020603050405020304" pitchFamily="18" charset="0"/>
              <a:buNone/>
            </a:pPr>
            <a:endParaRPr lang="en-US" altLang="it-IT"/>
          </a:p>
          <a:p>
            <a:pPr>
              <a:spcBef>
                <a:spcPts val="600"/>
              </a:spcBef>
              <a:buFont typeface="Times" panose="02020603050405020304" pitchFamily="18" charset="0"/>
              <a:buNone/>
            </a:pPr>
            <a:endParaRPr lang="en-US" altLang="it-IT"/>
          </a:p>
          <a:p>
            <a:pPr>
              <a:spcBef>
                <a:spcPts val="600"/>
              </a:spcBef>
              <a:buFont typeface="Times" panose="02020603050405020304" pitchFamily="18" charset="0"/>
              <a:buNone/>
            </a:pPr>
            <a:r>
              <a:rPr lang="en-US" altLang="it-IT"/>
              <a:t>This transformation makes some grammars into LL(1) grammars </a:t>
            </a:r>
          </a:p>
          <a:p>
            <a:pPr>
              <a:spcBef>
                <a:spcPts val="600"/>
              </a:spcBef>
              <a:buFont typeface="Times" panose="02020603050405020304" pitchFamily="18" charset="0"/>
              <a:buNone/>
            </a:pPr>
            <a:r>
              <a:rPr lang="en-US" altLang="it-IT"/>
              <a:t>There are languages for which no LL(1) grammar exists</a:t>
            </a:r>
          </a:p>
          <a:p>
            <a:pPr>
              <a:spcBef>
                <a:spcPts val="600"/>
              </a:spcBef>
              <a:buFont typeface="Times" panose="02020603050405020304" pitchFamily="18" charset="0"/>
              <a:buNone/>
            </a:pPr>
            <a:endParaRPr lang="en-US" altLang="it-IT">
              <a:sym typeface="Symbol" panose="05050102010706020507" pitchFamily="18" charset="2"/>
            </a:endParaRPr>
          </a:p>
          <a:p>
            <a:pPr>
              <a:spcBef>
                <a:spcPts val="600"/>
              </a:spcBef>
              <a:buFont typeface="Times" panose="02020603050405020304" pitchFamily="18" charset="0"/>
              <a:buNone/>
            </a:pPr>
            <a:endParaRPr lang="en-US" altLang="it-IT">
              <a:sym typeface="Symbol" panose="05050102010706020507" pitchFamily="18" charset="2"/>
            </a:endParaRPr>
          </a:p>
          <a:p>
            <a:pPr>
              <a:spcBef>
                <a:spcPts val="600"/>
              </a:spcBef>
              <a:buFont typeface="Times" panose="02020603050405020304" pitchFamily="18" charset="0"/>
              <a:buNone/>
            </a:pPr>
            <a:endParaRPr lang="en-US" altLang="it-IT">
              <a:sym typeface="Symbol" panose="05050102010706020507" pitchFamily="18" charset="2"/>
            </a:endParaRPr>
          </a:p>
          <a:p>
            <a:pPr>
              <a:spcBef>
                <a:spcPts val="1800"/>
              </a:spcBef>
              <a:buFont typeface="Times" panose="02020603050405020304" pitchFamily="18" charset="0"/>
              <a:buNone/>
            </a:pPr>
            <a:endParaRPr lang="en-US" altLang="it-IT">
              <a:solidFill>
                <a:srgbClr val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21700E-6400-4EBD-BCAF-CDF910262451}"/>
              </a:ext>
            </a:extLst>
          </p:cNvPr>
          <p:cNvSpPr txBox="1"/>
          <p:nvPr/>
        </p:nvSpPr>
        <p:spPr>
          <a:xfrm>
            <a:off x="1066800" y="1676400"/>
            <a:ext cx="6934200" cy="25146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spAutoFit/>
          </a:bodyPr>
          <a:lstStyle/>
          <a:p>
            <a:pPr eaLnBrk="0" hangingPunct="0">
              <a:spcBef>
                <a:spcPts val="600"/>
              </a:spcBef>
              <a:defRPr/>
            </a:pP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For each </a:t>
            </a:r>
            <a:r>
              <a:rPr lang="en-US" dirty="0" err="1">
                <a:latin typeface="Comic Sans MS" charset="0"/>
                <a:ea typeface="ヒラギノ角ゴ Pro W3" charset="-128"/>
                <a:cs typeface="ヒラギノ角ゴ Pro W3" charset="-128"/>
              </a:rPr>
              <a:t>nonterminal</a:t>
            </a: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i="1" dirty="0">
                <a:latin typeface="Comic Sans MS" charset="0"/>
                <a:ea typeface="ヒラギノ角ゴ Pro W3" charset="-128"/>
                <a:cs typeface="ヒラギノ角ゴ Pro W3" charset="-128"/>
              </a:rPr>
              <a:t>A</a:t>
            </a:r>
          </a:p>
          <a:p>
            <a:pPr eaLnBrk="0" hangingPunct="0">
              <a:tabLst>
                <a:tab pos="231775" algn="l"/>
              </a:tabLst>
              <a:defRPr/>
            </a:pPr>
            <a:r>
              <a:rPr lang="en-US" i="1" dirty="0">
                <a:latin typeface="Comic Sans MS" charset="0"/>
                <a:ea typeface="ヒラギノ角ゴ Pro W3" charset="-128"/>
                <a:cs typeface="ヒラギノ角ゴ Pro W3" charset="-128"/>
              </a:rPr>
              <a:t>	</a:t>
            </a: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find the longest prefix </a:t>
            </a:r>
            <a:r>
              <a:rPr lang="en-US" dirty="0" err="1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</a:t>
            </a:r>
            <a:r>
              <a:rPr lang="en-US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common to 2 or more alternatives for </a:t>
            </a:r>
            <a:r>
              <a:rPr lang="en-US" i="1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A</a:t>
            </a:r>
            <a:endParaRPr lang="en-US" dirty="0">
              <a:solidFill>
                <a:srgbClr val="000000"/>
              </a:solidFill>
              <a:latin typeface="Comic Sans MS" charset="0"/>
              <a:ea typeface="ヒラギノ角ゴ Pro W3" charset="-128"/>
              <a:cs typeface="ヒラギノ角ゴ Pro W3" charset="-128"/>
              <a:sym typeface="Symbol" charset="2"/>
            </a:endParaRPr>
          </a:p>
          <a:p>
            <a:pPr eaLnBrk="0" hangingPunct="0">
              <a:spcBef>
                <a:spcPts val="600"/>
              </a:spcBef>
              <a:tabLst>
                <a:tab pos="231775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	if </a:t>
            </a:r>
            <a:r>
              <a:rPr lang="en-US" dirty="0" err="1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</a:t>
            </a:r>
            <a:r>
              <a:rPr lang="en-US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≠ </a:t>
            </a:r>
            <a:r>
              <a:rPr lang="en-US" dirty="0" err="1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</a:t>
            </a:r>
            <a:r>
              <a:rPr lang="en-US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then</a:t>
            </a:r>
          </a:p>
          <a:p>
            <a:pPr eaLnBrk="0" hangingPunct="0">
              <a:tabLst>
                <a:tab pos="231775" algn="l"/>
                <a:tab pos="454025" algn="l"/>
                <a:tab pos="685800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		replace all of the productions</a:t>
            </a:r>
          </a:p>
          <a:p>
            <a:pPr eaLnBrk="0" hangingPunct="0">
              <a:tabLst>
                <a:tab pos="231775" algn="l"/>
                <a:tab pos="454025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			</a:t>
            </a:r>
            <a:r>
              <a:rPr lang="en-US" i="1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A </a:t>
            </a:r>
            <a:r>
              <a:rPr lang="en-US" dirty="0" err="1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</a:t>
            </a:r>
            <a:r>
              <a:rPr lang="en-US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</a:t>
            </a:r>
            <a:r>
              <a:rPr lang="en-US" baseline="-25000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</a:t>
            </a:r>
            <a:r>
              <a:rPr lang="en-US" baseline="-25000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1 </a:t>
            </a:r>
            <a:r>
              <a:rPr lang="en-US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| </a:t>
            </a:r>
            <a:r>
              <a:rPr lang="en-US" dirty="0" err="1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</a:t>
            </a:r>
            <a:r>
              <a:rPr lang="en-US" baseline="-25000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</a:t>
            </a:r>
            <a:r>
              <a:rPr lang="en-US" baseline="-25000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2 </a:t>
            </a:r>
            <a:r>
              <a:rPr lang="en-US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| </a:t>
            </a:r>
            <a:r>
              <a:rPr lang="en-US" dirty="0" err="1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</a:t>
            </a:r>
            <a:r>
              <a:rPr lang="en-US" baseline="-25000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</a:t>
            </a:r>
            <a:r>
              <a:rPr lang="en-US" baseline="-25000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3 </a:t>
            </a:r>
            <a:r>
              <a:rPr lang="en-US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| … | </a:t>
            </a:r>
            <a:r>
              <a:rPr lang="en-US" dirty="0" err="1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</a:t>
            </a:r>
            <a:r>
              <a:rPr lang="en-US" baseline="-25000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</a:t>
            </a:r>
            <a:r>
              <a:rPr lang="en-US" baseline="-25000" dirty="0" err="1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n</a:t>
            </a:r>
            <a:r>
              <a:rPr lang="en-US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| </a:t>
            </a:r>
            <a:r>
              <a:rPr lang="en-US" dirty="0" err="1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γ</a:t>
            </a:r>
            <a:r>
              <a:rPr lang="en-US" baseline="-25000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</a:p>
          <a:p>
            <a:pPr eaLnBrk="0" hangingPunct="0">
              <a:tabLst>
                <a:tab pos="231775" algn="l"/>
                <a:tab pos="454025" algn="l"/>
              </a:tabLst>
              <a:defRPr/>
            </a:pPr>
            <a:r>
              <a:rPr lang="en-US" baseline="-25000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			</a:t>
            </a:r>
            <a:r>
              <a:rPr lang="en-US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with</a:t>
            </a:r>
          </a:p>
          <a:p>
            <a:pPr eaLnBrk="0" hangingPunct="0">
              <a:tabLst>
                <a:tab pos="231775" algn="l"/>
                <a:tab pos="454025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			</a:t>
            </a:r>
            <a:r>
              <a:rPr lang="en-US" i="1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A </a:t>
            </a:r>
            <a:r>
              <a:rPr lang="en-US" dirty="0" err="1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</a:t>
            </a:r>
            <a:r>
              <a:rPr lang="en-US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</a:t>
            </a:r>
            <a:r>
              <a:rPr lang="en-US" baseline="-25000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A</a:t>
            </a:r>
            <a:r>
              <a:rPr lang="en-US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’</a:t>
            </a:r>
            <a:r>
              <a:rPr lang="en-US" i="1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| </a:t>
            </a:r>
            <a:r>
              <a:rPr lang="en-US" dirty="0" err="1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γ</a:t>
            </a:r>
            <a:endParaRPr lang="en-US" dirty="0">
              <a:solidFill>
                <a:srgbClr val="000000"/>
              </a:solidFill>
              <a:latin typeface="Comic Sans MS" charset="0"/>
              <a:ea typeface="ヒラギノ角ゴ Pro W3" charset="-128"/>
              <a:cs typeface="ヒラギノ角ゴ Pro W3" charset="-128"/>
              <a:sym typeface="Symbol" charset="2"/>
            </a:endParaRPr>
          </a:p>
          <a:p>
            <a:pPr eaLnBrk="0" hangingPunct="0">
              <a:tabLst>
                <a:tab pos="231775" algn="l"/>
                <a:tab pos="454025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			</a:t>
            </a:r>
            <a:r>
              <a:rPr lang="en-US" i="1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A</a:t>
            </a:r>
            <a:r>
              <a:rPr lang="en-US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’ </a:t>
            </a:r>
            <a:r>
              <a:rPr lang="en-US" dirty="0" err="1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</a:t>
            </a:r>
            <a:r>
              <a:rPr lang="en-US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</a:t>
            </a:r>
            <a:r>
              <a:rPr lang="en-US" baseline="-25000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1 </a:t>
            </a:r>
            <a:r>
              <a:rPr lang="en-US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|</a:t>
            </a:r>
            <a:r>
              <a:rPr lang="en-US" baseline="-25000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</a:t>
            </a:r>
            <a:r>
              <a:rPr lang="en-US" baseline="-25000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2 </a:t>
            </a:r>
            <a:r>
              <a:rPr lang="en-US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|</a:t>
            </a:r>
            <a:r>
              <a:rPr lang="en-US" baseline="-25000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</a:t>
            </a:r>
            <a:r>
              <a:rPr lang="en-US" baseline="-25000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3 </a:t>
            </a:r>
            <a:r>
              <a:rPr lang="en-US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| … |</a:t>
            </a:r>
            <a:r>
              <a:rPr lang="en-US" baseline="-25000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</a:t>
            </a:r>
            <a:r>
              <a:rPr lang="en-US" baseline="-25000" dirty="0" err="1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n</a:t>
            </a:r>
            <a:r>
              <a:rPr lang="en-US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</a:p>
          <a:p>
            <a:pPr eaLnBrk="0" hangingPunct="0">
              <a:spcBef>
                <a:spcPts val="600"/>
              </a:spcBef>
              <a:spcAft>
                <a:spcPts val="600"/>
              </a:spcAft>
              <a:tabLst>
                <a:tab pos="231775" algn="l"/>
                <a:tab pos="454025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Repeat until no </a:t>
            </a:r>
            <a:r>
              <a:rPr lang="en-US" dirty="0" err="1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nonterminal</a:t>
            </a:r>
            <a:r>
              <a:rPr lang="en-US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has alternative </a:t>
            </a:r>
            <a:r>
              <a:rPr lang="en-US" dirty="0" err="1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’ with a common prefix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Footer Placeholder 1">
            <a:extLst>
              <a:ext uri="{FF2B5EF4-FFF2-40B4-BE49-F238E27FC236}">
                <a16:creationId xmlns:a16="http://schemas.microsoft.com/office/drawing/2014/main" id="{65692C7D-A564-4E10-8AF9-D5C86FBC9D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26626" name="Slide Number Placeholder 2">
            <a:extLst>
              <a:ext uri="{FF2B5EF4-FFF2-40B4-BE49-F238E27FC236}">
                <a16:creationId xmlns:a16="http://schemas.microsoft.com/office/drawing/2014/main" id="{E7A78F52-0979-4E83-987F-F52F0D45D9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A6C0915-B236-4EEF-BA9F-488026D1E5AC}" type="slidenum">
              <a:rPr lang="en-US" altLang="it-IT" sz="1200"/>
              <a:pPr/>
              <a:t>6</a:t>
            </a:fld>
            <a:endParaRPr lang="en-US" altLang="it-IT" sz="1200"/>
          </a:p>
        </p:txBody>
      </p:sp>
      <p:sp>
        <p:nvSpPr>
          <p:cNvPr id="26627" name="Title 3">
            <a:extLst>
              <a:ext uri="{FF2B5EF4-FFF2-40B4-BE49-F238E27FC236}">
                <a16:creationId xmlns:a16="http://schemas.microsoft.com/office/drawing/2014/main" id="{11893899-0F2D-4A91-AF25-D08B40DC909B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it-IT"/>
              <a:t>Left Factoring Example</a:t>
            </a:r>
          </a:p>
        </p:txBody>
      </p:sp>
      <p:sp>
        <p:nvSpPr>
          <p:cNvPr id="26628" name="Text Placeholder 4">
            <a:extLst>
              <a:ext uri="{FF2B5EF4-FFF2-40B4-BE49-F238E27FC236}">
                <a16:creationId xmlns:a16="http://schemas.microsoft.com/office/drawing/2014/main" id="{8DCE0330-0DCA-4765-97F4-F9B1848AE307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685800" y="1143000"/>
            <a:ext cx="7772400" cy="762000"/>
          </a:xfrm>
        </p:spPr>
        <p:txBody>
          <a:bodyPr/>
          <a:lstStyle/>
          <a:p>
            <a:pPr>
              <a:spcBef>
                <a:spcPts val="600"/>
              </a:spcBef>
              <a:buFont typeface="Times" panose="02020603050405020304" pitchFamily="18" charset="0"/>
              <a:buNone/>
            </a:pPr>
            <a:r>
              <a:rPr lang="en-US" altLang="it-IT"/>
              <a:t>Consider a simple right-recursive expression grammar</a:t>
            </a:r>
            <a:endParaRPr lang="en-US" altLang="it-IT">
              <a:sym typeface="Symbol" panose="05050102010706020507" pitchFamily="18" charset="2"/>
            </a:endParaRPr>
          </a:p>
          <a:p>
            <a:pPr>
              <a:spcBef>
                <a:spcPts val="600"/>
              </a:spcBef>
              <a:buFont typeface="Times" panose="02020603050405020304" pitchFamily="18" charset="0"/>
              <a:buNone/>
            </a:pPr>
            <a:endParaRPr lang="en-US" altLang="it-IT">
              <a:sym typeface="Symbol" panose="05050102010706020507" pitchFamily="18" charset="2"/>
            </a:endParaRPr>
          </a:p>
          <a:p>
            <a:pPr>
              <a:spcBef>
                <a:spcPts val="600"/>
              </a:spcBef>
              <a:buFont typeface="Times" panose="02020603050405020304" pitchFamily="18" charset="0"/>
              <a:buNone/>
            </a:pPr>
            <a:endParaRPr lang="en-US" altLang="it-IT">
              <a:sym typeface="Symbol" panose="05050102010706020507" pitchFamily="18" charset="2"/>
            </a:endParaRPr>
          </a:p>
          <a:p>
            <a:pPr>
              <a:spcBef>
                <a:spcPts val="1800"/>
              </a:spcBef>
              <a:buFont typeface="Times" panose="02020603050405020304" pitchFamily="18" charset="0"/>
              <a:buNone/>
            </a:pPr>
            <a:endParaRPr lang="en-US" altLang="it-IT">
              <a:solidFill>
                <a:srgbClr val="000000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19A67DC-1BF3-48C7-B028-2147F9F8F6CA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752600"/>
          <a:ext cx="3657600" cy="3336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marT="45711" marB="45711"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>
                          <a:solidFill>
                            <a:srgbClr val="000000"/>
                          </a:solidFill>
                        </a:rPr>
                        <a:t>Goal</a:t>
                      </a:r>
                    </a:p>
                  </a:txBody>
                  <a:tcPr marT="45711" marB="45711"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rgbClr val="000000"/>
                          </a:solidFill>
                          <a:sym typeface="Symbol" charset="2"/>
                        </a:rPr>
                        <a:t></a:t>
                      </a:r>
                      <a:endParaRPr lang="en-US" sz="1800" b="0" dirty="0">
                        <a:solidFill>
                          <a:srgbClr val="000000"/>
                        </a:solidFill>
                      </a:endParaRPr>
                    </a:p>
                  </a:txBody>
                  <a:tcPr marT="45711" marB="45711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err="1">
                          <a:solidFill>
                            <a:srgbClr val="000000"/>
                          </a:solidFill>
                        </a:rPr>
                        <a:t>Expr</a:t>
                      </a:r>
                      <a:endParaRPr lang="en-US" sz="18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T="45711" marB="4571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T="45711" marB="45711"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err="1">
                          <a:solidFill>
                            <a:srgbClr val="000000"/>
                          </a:solidFill>
                        </a:rPr>
                        <a:t>Expr</a:t>
                      </a:r>
                      <a:endParaRPr lang="en-US" sz="18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T="45711" marB="45711"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rgbClr val="000000"/>
                          </a:solidFill>
                          <a:sym typeface="Symbol" charset="2"/>
                        </a:rPr>
                        <a:t></a:t>
                      </a:r>
                      <a:endParaRPr lang="en-US" sz="1800" b="0" dirty="0">
                        <a:solidFill>
                          <a:srgbClr val="000000"/>
                        </a:solidFill>
                      </a:endParaRPr>
                    </a:p>
                  </a:txBody>
                  <a:tcPr marT="45711" marB="45711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>
                          <a:solidFill>
                            <a:srgbClr val="000000"/>
                          </a:solidFill>
                        </a:rPr>
                        <a:t>Term 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+ </a:t>
                      </a:r>
                      <a:r>
                        <a:rPr lang="en-US" sz="1800" b="0" i="1" dirty="0" err="1">
                          <a:solidFill>
                            <a:srgbClr val="000000"/>
                          </a:solidFill>
                        </a:rPr>
                        <a:t>Expr</a:t>
                      </a:r>
                      <a:endParaRPr lang="en-US" sz="18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T="45711" marB="4571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marT="45711" marB="45711"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T="45711" marB="45711"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|</a:t>
                      </a:r>
                    </a:p>
                  </a:txBody>
                  <a:tcPr marT="45711" marB="45711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>
                          <a:solidFill>
                            <a:srgbClr val="000000"/>
                          </a:solidFill>
                        </a:rPr>
                        <a:t>Term 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- </a:t>
                      </a:r>
                      <a:r>
                        <a:rPr lang="en-US" sz="1800" b="0" i="1" dirty="0" err="1">
                          <a:solidFill>
                            <a:srgbClr val="000000"/>
                          </a:solidFill>
                        </a:rPr>
                        <a:t>Expr</a:t>
                      </a:r>
                      <a:endParaRPr lang="en-US" sz="18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T="45711" marB="4571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T="45711" marB="45711"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T="45711" marB="45711"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|</a:t>
                      </a:r>
                    </a:p>
                  </a:txBody>
                  <a:tcPr marT="45711" marB="45711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>
                          <a:solidFill>
                            <a:srgbClr val="000000"/>
                          </a:solidFill>
                        </a:rPr>
                        <a:t>Term</a:t>
                      </a:r>
                    </a:p>
                  </a:txBody>
                  <a:tcPr marT="45711" marB="4571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marT="45711" marB="45711"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>
                          <a:solidFill>
                            <a:srgbClr val="000000"/>
                          </a:solidFill>
                        </a:rPr>
                        <a:t>Term</a:t>
                      </a:r>
                    </a:p>
                  </a:txBody>
                  <a:tcPr marT="45711" marB="45711"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rgbClr val="000000"/>
                          </a:solidFill>
                          <a:sym typeface="Symbol" charset="2"/>
                        </a:rPr>
                        <a:t></a:t>
                      </a:r>
                      <a:endParaRPr lang="en-US" sz="1800" b="0" dirty="0">
                        <a:solidFill>
                          <a:srgbClr val="000000"/>
                        </a:solidFill>
                      </a:endParaRPr>
                    </a:p>
                  </a:txBody>
                  <a:tcPr marT="45711" marB="45711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>
                          <a:solidFill>
                            <a:srgbClr val="000000"/>
                          </a:solidFill>
                        </a:rPr>
                        <a:t>Factor</a:t>
                      </a:r>
                      <a:r>
                        <a:rPr lang="en-US" sz="1800" b="0" i="1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1800" b="0" baseline="0" dirty="0">
                          <a:solidFill>
                            <a:srgbClr val="000000"/>
                          </a:solidFill>
                        </a:rPr>
                        <a:t>* </a:t>
                      </a:r>
                      <a:r>
                        <a:rPr lang="en-US" sz="1800" b="0" i="1" baseline="0" dirty="0">
                          <a:solidFill>
                            <a:srgbClr val="000000"/>
                          </a:solidFill>
                        </a:rPr>
                        <a:t>Term</a:t>
                      </a:r>
                      <a:endParaRPr lang="en-US" sz="18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T="45711" marB="4571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 marT="45711" marB="45711"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T="45711" marB="45711"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|</a:t>
                      </a:r>
                    </a:p>
                  </a:txBody>
                  <a:tcPr marT="45711" marB="45711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>
                          <a:solidFill>
                            <a:srgbClr val="000000"/>
                          </a:solidFill>
                        </a:rPr>
                        <a:t>Factor 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/ </a:t>
                      </a:r>
                      <a:r>
                        <a:rPr lang="en-US" sz="1800" b="0" i="1" dirty="0">
                          <a:solidFill>
                            <a:srgbClr val="000000"/>
                          </a:solidFill>
                        </a:rPr>
                        <a:t>Term</a:t>
                      </a:r>
                    </a:p>
                  </a:txBody>
                  <a:tcPr marT="45711" marB="4571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 marT="45711" marB="45711"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T="45711" marB="45711"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|</a:t>
                      </a:r>
                    </a:p>
                  </a:txBody>
                  <a:tcPr marT="45711" marB="45711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>
                          <a:solidFill>
                            <a:srgbClr val="000000"/>
                          </a:solidFill>
                        </a:rPr>
                        <a:t>Factor</a:t>
                      </a:r>
                    </a:p>
                  </a:txBody>
                  <a:tcPr marT="45711" marB="4571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 marT="45711" marB="45711"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>
                          <a:solidFill>
                            <a:srgbClr val="000000"/>
                          </a:solidFill>
                        </a:rPr>
                        <a:t>Factor</a:t>
                      </a:r>
                    </a:p>
                  </a:txBody>
                  <a:tcPr marT="45711" marB="45711"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rgbClr val="000000"/>
                          </a:solidFill>
                          <a:sym typeface="Symbol" charset="2"/>
                        </a:rPr>
                        <a:t></a:t>
                      </a:r>
                      <a:endParaRPr lang="en-US" sz="1800" b="0" dirty="0">
                        <a:solidFill>
                          <a:srgbClr val="000000"/>
                        </a:solidFill>
                      </a:endParaRPr>
                    </a:p>
                  </a:txBody>
                  <a:tcPr marT="45711" marB="45711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u="sng" dirty="0">
                          <a:solidFill>
                            <a:srgbClr val="000000"/>
                          </a:solidFill>
                        </a:rPr>
                        <a:t>number</a:t>
                      </a:r>
                    </a:p>
                  </a:txBody>
                  <a:tcPr marT="45711" marB="4571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 marT="45711" marB="45711"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T="45711" marB="45711"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|</a:t>
                      </a:r>
                    </a:p>
                  </a:txBody>
                  <a:tcPr marT="45711" marB="45711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u="sng" dirty="0">
                          <a:solidFill>
                            <a:srgbClr val="000000"/>
                          </a:solidFill>
                        </a:rPr>
                        <a:t>id</a:t>
                      </a:r>
                    </a:p>
                  </a:txBody>
                  <a:tcPr marT="45711" marB="45711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ED1FD23-2DE9-4A16-B76F-595EE666120C}"/>
              </a:ext>
            </a:extLst>
          </p:cNvPr>
          <p:cNvSpPr txBox="1">
            <a:spLocks/>
          </p:cNvSpPr>
          <p:nvPr/>
        </p:nvSpPr>
        <p:spPr bwMode="auto">
          <a:xfrm>
            <a:off x="4800600" y="1752600"/>
            <a:ext cx="3733800" cy="3200400"/>
          </a:xfrm>
          <a:prstGeom prst="rect">
            <a:avLst/>
          </a:prstGeom>
          <a:solidFill>
            <a:srgbClr val="BFBFB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Times" charset="0"/>
              <a:buNone/>
              <a:defRPr/>
            </a:pPr>
            <a:r>
              <a:rPr lang="en-US" sz="2000" kern="0" dirty="0">
                <a:latin typeface="+mn-lt"/>
                <a:ea typeface="+mn-ea"/>
                <a:cs typeface="+mn-cs"/>
              </a:rPr>
              <a:t>To choose between 1, 2, &amp; 3, an LL(1) parser must look past the </a:t>
            </a:r>
            <a:r>
              <a:rPr lang="en-US" sz="2000" u="sng" kern="0" dirty="0">
                <a:latin typeface="+mn-lt"/>
                <a:ea typeface="+mn-ea"/>
                <a:cs typeface="+mn-cs"/>
              </a:rPr>
              <a:t>number</a:t>
            </a:r>
            <a:r>
              <a:rPr lang="en-US" sz="2000" kern="0" dirty="0">
                <a:latin typeface="+mn-lt"/>
                <a:ea typeface="+mn-ea"/>
                <a:cs typeface="+mn-cs"/>
              </a:rPr>
              <a:t> or </a:t>
            </a:r>
            <a:r>
              <a:rPr lang="en-US" sz="2000" u="sng" kern="0" dirty="0">
                <a:latin typeface="+mn-lt"/>
                <a:ea typeface="+mn-ea"/>
                <a:cs typeface="+mn-cs"/>
              </a:rPr>
              <a:t>id</a:t>
            </a:r>
            <a:r>
              <a:rPr lang="en-US" sz="2000" kern="0" dirty="0">
                <a:latin typeface="+mn-lt"/>
                <a:ea typeface="+mn-ea"/>
                <a:cs typeface="+mn-cs"/>
              </a:rPr>
              <a:t> to </a:t>
            </a:r>
            <a:r>
              <a:rPr lang="en-US" sz="2000" kern="0" dirty="0">
                <a:ln>
                  <a:solidFill>
                    <a:srgbClr val="7F7F7F"/>
                  </a:solidFill>
                </a:ln>
                <a:latin typeface="+mn-lt"/>
                <a:ea typeface="+mn-ea"/>
                <a:cs typeface="+mn-cs"/>
              </a:rPr>
              <a:t>see</a:t>
            </a:r>
            <a:r>
              <a:rPr lang="en-US" sz="2000" kern="0" dirty="0">
                <a:latin typeface="+mn-lt"/>
                <a:ea typeface="+mn-ea"/>
                <a:cs typeface="+mn-cs"/>
              </a:rPr>
              <a:t> the operator.</a:t>
            </a:r>
          </a:p>
          <a:p>
            <a:pPr algn="ctr" eaLnBrk="0" hangingPunct="0">
              <a:spcBef>
                <a:spcPts val="1200"/>
              </a:spcBef>
              <a:spcAft>
                <a:spcPts val="600"/>
              </a:spcAft>
              <a:buClr>
                <a:srgbClr val="003C75"/>
              </a:buClr>
              <a:buSzPct val="120000"/>
              <a:defRPr/>
            </a:pPr>
            <a:r>
              <a:rPr lang="en-US" sz="1800" kern="0" cap="small" dirty="0">
                <a:solidFill>
                  <a:srgbClr val="003C75"/>
                </a:solidFill>
                <a:latin typeface="+mn-lt"/>
                <a:ea typeface="+mn-ea"/>
                <a:cs typeface="+mn-cs"/>
                <a:sym typeface="Symbol" charset="2"/>
              </a:rPr>
              <a:t>First</a:t>
            </a:r>
            <a:r>
              <a:rPr lang="en-US" sz="1800" kern="0" baseline="30000" dirty="0">
                <a:solidFill>
                  <a:srgbClr val="003C75"/>
                </a:solidFill>
                <a:latin typeface="+mn-lt"/>
                <a:ea typeface="+mn-ea"/>
                <a:cs typeface="+mn-cs"/>
                <a:sym typeface="Symbol" charset="2"/>
              </a:rPr>
              <a:t>+</a:t>
            </a:r>
            <a:r>
              <a:rPr lang="en-US" sz="1800" kern="0" dirty="0">
                <a:solidFill>
                  <a:srgbClr val="003C75"/>
                </a:solidFill>
                <a:latin typeface="+mn-lt"/>
                <a:ea typeface="+mn-ea"/>
                <a:cs typeface="+mn-cs"/>
                <a:sym typeface="Symbol" charset="2"/>
              </a:rPr>
              <a:t>(1) = </a:t>
            </a:r>
            <a:r>
              <a:rPr lang="en-US" sz="1800" kern="0" cap="small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First</a:t>
            </a:r>
            <a:r>
              <a:rPr lang="en-US" sz="1800" kern="0" baseline="300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+</a:t>
            </a:r>
            <a:r>
              <a:rPr lang="en-US" sz="1800" kern="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(2) = </a:t>
            </a:r>
            <a:r>
              <a:rPr lang="en-US" sz="1800" kern="0" cap="small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First</a:t>
            </a:r>
            <a:r>
              <a:rPr lang="en-US" sz="1800" kern="0" baseline="300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+</a:t>
            </a:r>
            <a:r>
              <a:rPr lang="en-US" sz="1800" kern="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(3)</a:t>
            </a:r>
          </a:p>
          <a:p>
            <a:pPr algn="ctr" eaLnBrk="0" hangingPunct="0">
              <a:spcBef>
                <a:spcPts val="600"/>
              </a:spcBef>
              <a:buClr>
                <a:srgbClr val="003C75"/>
              </a:buClr>
              <a:buSzPct val="120000"/>
              <a:defRPr/>
            </a:pPr>
            <a:r>
              <a:rPr lang="en-US" sz="2000" kern="0" dirty="0">
                <a:latin typeface="+mn-lt"/>
                <a:ea typeface="+mn-ea"/>
                <a:cs typeface="+mn-cs"/>
                <a:sym typeface="Symbol" charset="2"/>
              </a:rPr>
              <a:t>a</a:t>
            </a:r>
            <a:r>
              <a:rPr lang="en-US" sz="2000" kern="0" dirty="0" err="1">
                <a:latin typeface="+mn-lt"/>
                <a:ea typeface="+mn-ea"/>
                <a:cs typeface="+mn-cs"/>
                <a:sym typeface="Symbol" charset="2"/>
              </a:rPr>
              <a:t>nd</a:t>
            </a:r>
            <a:endParaRPr lang="en-US" sz="2000" kern="0" dirty="0">
              <a:latin typeface="+mn-lt"/>
              <a:ea typeface="+mn-ea"/>
              <a:cs typeface="+mn-cs"/>
              <a:sym typeface="Symbol" charset="2"/>
            </a:endParaRPr>
          </a:p>
          <a:p>
            <a:pPr algn="ctr" eaLnBrk="0" hangingPunct="0">
              <a:spcBef>
                <a:spcPts val="1200"/>
              </a:spcBef>
              <a:spcAft>
                <a:spcPts val="600"/>
              </a:spcAft>
              <a:buClr>
                <a:srgbClr val="003C75"/>
              </a:buClr>
              <a:buSzPct val="120000"/>
              <a:defRPr/>
            </a:pPr>
            <a:r>
              <a:rPr lang="en-US" sz="1800" kern="0" cap="small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First</a:t>
            </a:r>
            <a:r>
              <a:rPr lang="en-US" sz="1800" kern="0" baseline="300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+</a:t>
            </a:r>
            <a:r>
              <a:rPr lang="en-US" sz="1800" kern="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(4) = </a:t>
            </a:r>
            <a:r>
              <a:rPr lang="en-US" sz="1800" kern="0" cap="small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First</a:t>
            </a:r>
            <a:r>
              <a:rPr lang="en-US" sz="1800" kern="0" baseline="300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+</a:t>
            </a:r>
            <a:r>
              <a:rPr lang="en-US" sz="1800" kern="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(5) = </a:t>
            </a:r>
            <a:r>
              <a:rPr lang="en-US" sz="1800" kern="0" cap="small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First</a:t>
            </a:r>
            <a:r>
              <a:rPr lang="en-US" sz="1800" kern="0" baseline="300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+</a:t>
            </a:r>
            <a:r>
              <a:rPr lang="en-US" sz="1800" kern="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(6)</a:t>
            </a:r>
          </a:p>
          <a:p>
            <a:pPr eaLnBrk="0" hangingPunct="0">
              <a:spcBef>
                <a:spcPts val="600"/>
              </a:spcBef>
              <a:buClr>
                <a:srgbClr val="003C75"/>
              </a:buClr>
              <a:buSzPct val="120000"/>
              <a:defRPr/>
            </a:pPr>
            <a:r>
              <a:rPr lang="en-US" sz="1800" kern="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Let’s left factor this grammar.</a:t>
            </a:r>
            <a:endParaRPr lang="en-US" sz="2000" kern="0" dirty="0">
              <a:latin typeface="Comic Sans MS" charset="0"/>
              <a:ea typeface="ヒラギノ角ゴ Pro W3" charset="-128"/>
              <a:cs typeface="ヒラギノ角ゴ Pro W3" charset="-128"/>
              <a:sym typeface="Symbol" charset="2"/>
            </a:endParaRPr>
          </a:p>
          <a:p>
            <a:pPr eaLnBrk="0" hangingPunct="0">
              <a:spcBef>
                <a:spcPts val="600"/>
              </a:spcBef>
              <a:buClr>
                <a:srgbClr val="003C75"/>
              </a:buClr>
              <a:buSzPct val="120000"/>
              <a:defRPr/>
            </a:pPr>
            <a:endParaRPr lang="en-US" sz="2000" kern="0" dirty="0">
              <a:latin typeface="+mn-lt"/>
              <a:ea typeface="+mn-ea"/>
              <a:cs typeface="+mn-cs"/>
              <a:sym typeface="Symbol" charset="2"/>
            </a:endParaRPr>
          </a:p>
          <a:p>
            <a:pPr marL="342900" indent="-342900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Times" charset="0"/>
              <a:buNone/>
              <a:defRPr/>
            </a:pPr>
            <a:endParaRPr lang="en-US" sz="2000" kern="0" dirty="0">
              <a:latin typeface="+mn-lt"/>
              <a:ea typeface="+mn-ea"/>
              <a:cs typeface="+mn-cs"/>
              <a:sym typeface="Symbol" charset="2"/>
            </a:endParaRPr>
          </a:p>
          <a:p>
            <a:pPr marL="342900" indent="-342900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Times" charset="0"/>
              <a:buNone/>
              <a:defRPr/>
            </a:pPr>
            <a:endParaRPr lang="en-US" sz="2000" kern="0" dirty="0">
              <a:latin typeface="+mn-lt"/>
              <a:ea typeface="+mn-ea"/>
              <a:cs typeface="+mn-cs"/>
              <a:sym typeface="Symbol" charset="2"/>
            </a:endParaRPr>
          </a:p>
          <a:p>
            <a:pPr marL="342900" indent="-342900" eaLnBrk="0" hangingPunct="0">
              <a:spcBef>
                <a:spcPts val="1800"/>
              </a:spcBef>
              <a:buClr>
                <a:srgbClr val="003C75"/>
              </a:buClr>
              <a:buSzPct val="120000"/>
              <a:buFont typeface="Times" charset="0"/>
              <a:buNone/>
              <a:defRPr/>
            </a:pPr>
            <a:endParaRPr lang="en-US" sz="2000" kern="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Footer Placeholder 1">
            <a:extLst>
              <a:ext uri="{FF2B5EF4-FFF2-40B4-BE49-F238E27FC236}">
                <a16:creationId xmlns:a16="http://schemas.microsoft.com/office/drawing/2014/main" id="{132A8D86-7CB5-48F6-B7E7-75022BA2353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27650" name="Slide Number Placeholder 2">
            <a:extLst>
              <a:ext uri="{FF2B5EF4-FFF2-40B4-BE49-F238E27FC236}">
                <a16:creationId xmlns:a16="http://schemas.microsoft.com/office/drawing/2014/main" id="{CCD05658-4C7A-438E-AB72-A6D25090E2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C7060B2-99B1-45C1-8AD7-C5AC8A23B1B6}" type="slidenum">
              <a:rPr lang="en-US" altLang="it-IT" sz="1200"/>
              <a:pPr/>
              <a:t>7</a:t>
            </a:fld>
            <a:endParaRPr lang="en-US" altLang="it-IT" sz="1200"/>
          </a:p>
        </p:txBody>
      </p:sp>
      <p:sp>
        <p:nvSpPr>
          <p:cNvPr id="27651" name="Title 3">
            <a:extLst>
              <a:ext uri="{FF2B5EF4-FFF2-40B4-BE49-F238E27FC236}">
                <a16:creationId xmlns:a16="http://schemas.microsoft.com/office/drawing/2014/main" id="{1D661AB7-9C29-4E50-8B5F-F635FA52DF95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it-IT"/>
              <a:t>Left Factoring Example</a:t>
            </a:r>
          </a:p>
        </p:txBody>
      </p:sp>
      <p:sp>
        <p:nvSpPr>
          <p:cNvPr id="27652" name="Text Placeholder 4">
            <a:extLst>
              <a:ext uri="{FF2B5EF4-FFF2-40B4-BE49-F238E27FC236}">
                <a16:creationId xmlns:a16="http://schemas.microsoft.com/office/drawing/2014/main" id="{245CC6B2-1C76-4158-950D-473794B2547A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685800" y="1143000"/>
            <a:ext cx="7772400" cy="762000"/>
          </a:xfrm>
        </p:spPr>
        <p:txBody>
          <a:bodyPr/>
          <a:lstStyle/>
          <a:p>
            <a:pPr>
              <a:spcBef>
                <a:spcPts val="600"/>
              </a:spcBef>
              <a:buFont typeface="Times" panose="02020603050405020304" pitchFamily="18" charset="0"/>
              <a:buNone/>
            </a:pPr>
            <a:r>
              <a:rPr lang="en-US" altLang="it-IT"/>
              <a:t>After Left Factoring, we have</a:t>
            </a:r>
            <a:endParaRPr lang="en-US" altLang="it-IT">
              <a:sym typeface="Symbol" panose="05050102010706020507" pitchFamily="18" charset="2"/>
            </a:endParaRPr>
          </a:p>
          <a:p>
            <a:pPr>
              <a:spcBef>
                <a:spcPts val="600"/>
              </a:spcBef>
              <a:buFont typeface="Times" panose="02020603050405020304" pitchFamily="18" charset="0"/>
              <a:buNone/>
            </a:pPr>
            <a:endParaRPr lang="en-US" altLang="it-IT">
              <a:sym typeface="Symbol" panose="05050102010706020507" pitchFamily="18" charset="2"/>
            </a:endParaRPr>
          </a:p>
          <a:p>
            <a:pPr>
              <a:spcBef>
                <a:spcPts val="600"/>
              </a:spcBef>
              <a:buFont typeface="Times" panose="02020603050405020304" pitchFamily="18" charset="0"/>
              <a:buNone/>
            </a:pPr>
            <a:endParaRPr lang="en-US" altLang="it-IT">
              <a:sym typeface="Symbol" panose="05050102010706020507" pitchFamily="18" charset="2"/>
            </a:endParaRPr>
          </a:p>
          <a:p>
            <a:pPr>
              <a:spcBef>
                <a:spcPts val="1800"/>
              </a:spcBef>
              <a:buFont typeface="Times" panose="02020603050405020304" pitchFamily="18" charset="0"/>
              <a:buNone/>
            </a:pPr>
            <a:endParaRPr lang="en-US" altLang="it-IT">
              <a:solidFill>
                <a:srgbClr val="000000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322532B-F321-4060-B3AC-1EDD4A569B8A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752600"/>
          <a:ext cx="4038600" cy="4079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98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marT="45727" marB="45727"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>
                          <a:solidFill>
                            <a:srgbClr val="000000"/>
                          </a:solidFill>
                        </a:rPr>
                        <a:t>Goal</a:t>
                      </a:r>
                    </a:p>
                  </a:txBody>
                  <a:tcPr marT="45727" marB="45727"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rgbClr val="000000"/>
                          </a:solidFill>
                          <a:sym typeface="Symbol" charset="2"/>
                        </a:rPr>
                        <a:t></a:t>
                      </a:r>
                      <a:endParaRPr lang="en-US" sz="1800" b="0" dirty="0">
                        <a:solidFill>
                          <a:srgbClr val="000000"/>
                        </a:solidFill>
                      </a:endParaRPr>
                    </a:p>
                  </a:txBody>
                  <a:tcPr marT="45727" marB="45727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err="1">
                          <a:solidFill>
                            <a:srgbClr val="000000"/>
                          </a:solidFill>
                        </a:rPr>
                        <a:t>Expr</a:t>
                      </a:r>
                      <a:endParaRPr lang="en-US" sz="18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T="45727" marB="45727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T="45727" marB="45727"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err="1">
                          <a:solidFill>
                            <a:srgbClr val="000000"/>
                          </a:solidFill>
                        </a:rPr>
                        <a:t>Expr</a:t>
                      </a:r>
                      <a:endParaRPr lang="en-US" sz="18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T="45727" marB="45727"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rgbClr val="000000"/>
                          </a:solidFill>
                          <a:sym typeface="Symbol" charset="2"/>
                        </a:rPr>
                        <a:t></a:t>
                      </a:r>
                      <a:endParaRPr lang="en-US" sz="1800" b="0" dirty="0">
                        <a:solidFill>
                          <a:srgbClr val="000000"/>
                        </a:solidFill>
                      </a:endParaRPr>
                    </a:p>
                  </a:txBody>
                  <a:tcPr marT="45727" marB="45727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>
                          <a:solidFill>
                            <a:srgbClr val="000000"/>
                          </a:solidFill>
                        </a:rPr>
                        <a:t>Term </a:t>
                      </a:r>
                      <a:r>
                        <a:rPr lang="en-US" sz="1800" b="0" i="1" dirty="0" err="1">
                          <a:solidFill>
                            <a:srgbClr val="000000"/>
                          </a:solidFill>
                        </a:rPr>
                        <a:t>Expr</a:t>
                      </a:r>
                      <a:r>
                        <a:rPr lang="en-US" sz="1800" b="0" i="1" dirty="0">
                          <a:solidFill>
                            <a:srgbClr val="000000"/>
                          </a:solidFill>
                        </a:rPr>
                        <a:t>’</a:t>
                      </a:r>
                    </a:p>
                  </a:txBody>
                  <a:tcPr marT="45727" marB="45727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 marT="45727" marB="45727"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err="1">
                          <a:solidFill>
                            <a:srgbClr val="000000"/>
                          </a:solidFill>
                        </a:rPr>
                        <a:t>Expr</a:t>
                      </a:r>
                      <a:r>
                        <a:rPr lang="en-US" sz="1800" b="0" i="1" dirty="0">
                          <a:solidFill>
                            <a:srgbClr val="000000"/>
                          </a:solidFill>
                        </a:rPr>
                        <a:t>’</a:t>
                      </a:r>
                    </a:p>
                  </a:txBody>
                  <a:tcPr marT="45727" marB="45727"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rgbClr val="000000"/>
                          </a:solidFill>
                          <a:sym typeface="Symbol" charset="2"/>
                        </a:rPr>
                        <a:t></a:t>
                      </a:r>
                      <a:endParaRPr lang="en-US" sz="1800" b="0" dirty="0">
                        <a:solidFill>
                          <a:srgbClr val="000000"/>
                        </a:solidFill>
                      </a:endParaRPr>
                    </a:p>
                  </a:txBody>
                  <a:tcPr marT="45727" marB="45727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solidFill>
                            <a:srgbClr val="000000"/>
                          </a:solidFill>
                        </a:rPr>
                        <a:t>+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1800" b="0" i="1" dirty="0" err="1">
                          <a:solidFill>
                            <a:srgbClr val="000000"/>
                          </a:solidFill>
                        </a:rPr>
                        <a:t>Expr</a:t>
                      </a:r>
                      <a:endParaRPr lang="en-US" sz="18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T="45727" marB="45727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 marT="45727" marB="45727"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T="45727" marB="45727"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|</a:t>
                      </a:r>
                    </a:p>
                  </a:txBody>
                  <a:tcPr marT="45727" marB="45727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>
                          <a:solidFill>
                            <a:srgbClr val="000000"/>
                          </a:solidFill>
                        </a:rPr>
                        <a:t>- </a:t>
                      </a:r>
                      <a:r>
                        <a:rPr lang="en-US" sz="1800" b="0" i="1" dirty="0" err="1">
                          <a:solidFill>
                            <a:srgbClr val="000000"/>
                          </a:solidFill>
                        </a:rPr>
                        <a:t>Expr</a:t>
                      </a:r>
                      <a:endParaRPr lang="en-US" sz="18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T="45727" marB="45727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 marT="45727" marB="45727"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T="45727" marB="45727"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0000"/>
                          </a:solidFill>
                          <a:sym typeface="Symbol" charset="2"/>
                        </a:rPr>
                        <a:t>|</a:t>
                      </a:r>
                      <a:endParaRPr lang="en-US" sz="1800" b="0" dirty="0">
                        <a:solidFill>
                          <a:srgbClr val="000000"/>
                        </a:solidFill>
                      </a:endParaRPr>
                    </a:p>
                  </a:txBody>
                  <a:tcPr marT="45727" marB="45727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0000"/>
                          </a:solidFill>
                          <a:sym typeface="Symbol" charset="2"/>
                        </a:rPr>
                        <a:t></a:t>
                      </a:r>
                      <a:endParaRPr lang="en-US" sz="18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T="45727" marB="45727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 marT="45727" marB="45727"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>
                          <a:solidFill>
                            <a:srgbClr val="000000"/>
                          </a:solidFill>
                        </a:rPr>
                        <a:t>Term</a:t>
                      </a:r>
                    </a:p>
                  </a:txBody>
                  <a:tcPr marT="45727" marB="45727"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rgbClr val="000000"/>
                          </a:solidFill>
                          <a:sym typeface="Symbol" charset="2"/>
                        </a:rPr>
                        <a:t></a:t>
                      </a:r>
                      <a:endParaRPr lang="en-US" sz="1800" b="0" dirty="0">
                        <a:solidFill>
                          <a:srgbClr val="000000"/>
                        </a:solidFill>
                      </a:endParaRPr>
                    </a:p>
                  </a:txBody>
                  <a:tcPr marT="45727" marB="45727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>
                          <a:solidFill>
                            <a:srgbClr val="000000"/>
                          </a:solidFill>
                        </a:rPr>
                        <a:t>Factor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1800" b="0" i="1" dirty="0">
                          <a:solidFill>
                            <a:srgbClr val="000000"/>
                          </a:solidFill>
                        </a:rPr>
                        <a:t>Term’</a:t>
                      </a:r>
                    </a:p>
                  </a:txBody>
                  <a:tcPr marT="45727" marB="45727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 marT="45727" marB="45727"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>
                          <a:solidFill>
                            <a:srgbClr val="000000"/>
                          </a:solidFill>
                        </a:rPr>
                        <a:t>Term’</a:t>
                      </a:r>
                    </a:p>
                  </a:txBody>
                  <a:tcPr marT="45727" marB="45727"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rgbClr val="000000"/>
                          </a:solidFill>
                          <a:sym typeface="Symbol" charset="2"/>
                        </a:rPr>
                        <a:t></a:t>
                      </a:r>
                      <a:endParaRPr lang="en-US" sz="1800" b="0" dirty="0">
                        <a:solidFill>
                          <a:srgbClr val="000000"/>
                        </a:solidFill>
                      </a:endParaRPr>
                    </a:p>
                  </a:txBody>
                  <a:tcPr marT="45727" marB="45727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>
                          <a:solidFill>
                            <a:srgbClr val="000000"/>
                          </a:solidFill>
                        </a:rPr>
                        <a:t>*</a:t>
                      </a:r>
                      <a:r>
                        <a:rPr lang="en-US" sz="1800" b="0" i="1" baseline="0" dirty="0">
                          <a:solidFill>
                            <a:srgbClr val="000000"/>
                          </a:solidFill>
                        </a:rPr>
                        <a:t> Term</a:t>
                      </a:r>
                      <a:endParaRPr lang="en-US" sz="18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T="45727" marB="45727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 marT="45727" marB="45727"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7" marB="45727"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|</a:t>
                      </a:r>
                    </a:p>
                  </a:txBody>
                  <a:tcPr marT="45727" marB="45727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/  Term</a:t>
                      </a:r>
                    </a:p>
                  </a:txBody>
                  <a:tcPr marT="45727" marB="45727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 marT="45727" marB="45727"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27" marB="45727"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|</a:t>
                      </a:r>
                    </a:p>
                  </a:txBody>
                  <a:tcPr marT="45727" marB="45727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0000"/>
                          </a:solidFill>
                          <a:sym typeface="Symbol" charset="2"/>
                        </a:rPr>
                        <a:t></a:t>
                      </a:r>
                      <a:endParaRPr lang="en-US" sz="1800" dirty="0"/>
                    </a:p>
                  </a:txBody>
                  <a:tcPr marT="45727" marB="45727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 marT="45727" marB="45727"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>
                          <a:solidFill>
                            <a:srgbClr val="000000"/>
                          </a:solidFill>
                        </a:rPr>
                        <a:t>Factor</a:t>
                      </a:r>
                    </a:p>
                  </a:txBody>
                  <a:tcPr marT="45727" marB="45727"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rgbClr val="000000"/>
                          </a:solidFill>
                          <a:sym typeface="Symbol" charset="2"/>
                        </a:rPr>
                        <a:t></a:t>
                      </a:r>
                      <a:endParaRPr lang="en-US" sz="1800" b="0" dirty="0">
                        <a:solidFill>
                          <a:srgbClr val="000000"/>
                        </a:solidFill>
                      </a:endParaRPr>
                    </a:p>
                  </a:txBody>
                  <a:tcPr marT="45727" marB="45727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u="sng" dirty="0">
                          <a:solidFill>
                            <a:srgbClr val="000000"/>
                          </a:solidFill>
                        </a:rPr>
                        <a:t>number</a:t>
                      </a:r>
                    </a:p>
                  </a:txBody>
                  <a:tcPr marT="45727" marB="45727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 marT="45727" marB="45727"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1" dirty="0">
                        <a:solidFill>
                          <a:srgbClr val="000000"/>
                        </a:solidFill>
                      </a:endParaRPr>
                    </a:p>
                  </a:txBody>
                  <a:tcPr marT="45727" marB="45727"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000000"/>
                          </a:solidFill>
                        </a:rPr>
                        <a:t>|</a:t>
                      </a:r>
                    </a:p>
                  </a:txBody>
                  <a:tcPr marT="45727" marB="45727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u="sng" dirty="0">
                          <a:solidFill>
                            <a:srgbClr val="000000"/>
                          </a:solidFill>
                        </a:rPr>
                        <a:t>id</a:t>
                      </a:r>
                    </a:p>
                  </a:txBody>
                  <a:tcPr marT="45727" marB="45727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A43DCDA3-A6C8-4243-B005-D584E38C2EE6}"/>
              </a:ext>
            </a:extLst>
          </p:cNvPr>
          <p:cNvSpPr txBox="1">
            <a:spLocks/>
          </p:cNvSpPr>
          <p:nvPr/>
        </p:nvSpPr>
        <p:spPr bwMode="auto">
          <a:xfrm>
            <a:off x="4648200" y="1828800"/>
            <a:ext cx="3886200" cy="2819400"/>
          </a:xfrm>
          <a:prstGeom prst="rect">
            <a:avLst/>
          </a:prstGeom>
          <a:solidFill>
            <a:srgbClr val="BFBFB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Times" charset="0"/>
              <a:buNone/>
              <a:defRPr/>
            </a:pPr>
            <a:r>
              <a:rPr lang="en-US" sz="2000" kern="0" dirty="0">
                <a:latin typeface="+mn-lt"/>
                <a:ea typeface="+mn-ea"/>
                <a:cs typeface="+mn-cs"/>
              </a:rPr>
              <a:t>Clearly,</a:t>
            </a:r>
          </a:p>
          <a:p>
            <a:pPr algn="ctr" eaLnBrk="0" hangingPunct="0">
              <a:spcBef>
                <a:spcPts val="1200"/>
              </a:spcBef>
              <a:spcAft>
                <a:spcPts val="600"/>
              </a:spcAft>
              <a:buClr>
                <a:srgbClr val="003C75"/>
              </a:buClr>
              <a:buSzPct val="120000"/>
              <a:defRPr/>
            </a:pPr>
            <a:r>
              <a:rPr lang="en-US" sz="1800" kern="0" cap="small" dirty="0">
                <a:solidFill>
                  <a:srgbClr val="003C75"/>
                </a:solidFill>
                <a:latin typeface="+mn-lt"/>
                <a:ea typeface="+mn-ea"/>
                <a:cs typeface="+mn-cs"/>
                <a:sym typeface="Symbol" charset="2"/>
              </a:rPr>
              <a:t>First</a:t>
            </a:r>
            <a:r>
              <a:rPr lang="en-US" sz="1800" kern="0" baseline="30000" dirty="0">
                <a:solidFill>
                  <a:srgbClr val="003C75"/>
                </a:solidFill>
                <a:latin typeface="+mn-lt"/>
                <a:ea typeface="+mn-ea"/>
                <a:cs typeface="+mn-cs"/>
                <a:sym typeface="Symbol" charset="2"/>
              </a:rPr>
              <a:t>+</a:t>
            </a:r>
            <a:r>
              <a:rPr lang="en-US" sz="1800" kern="0" dirty="0">
                <a:solidFill>
                  <a:srgbClr val="003C75"/>
                </a:solidFill>
                <a:latin typeface="+mn-lt"/>
                <a:ea typeface="+mn-ea"/>
                <a:cs typeface="+mn-cs"/>
                <a:sym typeface="Symbol" charset="2"/>
              </a:rPr>
              <a:t>(2), </a:t>
            </a:r>
            <a:r>
              <a:rPr lang="en-US" sz="1800" kern="0" cap="small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First</a:t>
            </a:r>
            <a:r>
              <a:rPr lang="en-US" sz="1800" kern="0" baseline="300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+</a:t>
            </a:r>
            <a:r>
              <a:rPr lang="en-US" sz="1800" kern="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(3), &amp; </a:t>
            </a:r>
            <a:r>
              <a:rPr lang="en-US" sz="1800" kern="0" cap="small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First</a:t>
            </a:r>
            <a:r>
              <a:rPr lang="en-US" sz="1800" kern="0" baseline="300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+</a:t>
            </a:r>
            <a:r>
              <a:rPr lang="en-US" sz="1800" kern="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(4)</a:t>
            </a:r>
          </a:p>
          <a:p>
            <a:pPr eaLnBrk="0" hangingPunct="0">
              <a:spcBef>
                <a:spcPts val="600"/>
              </a:spcBef>
              <a:buClr>
                <a:srgbClr val="003C75"/>
              </a:buClr>
              <a:buSzPct val="120000"/>
              <a:defRPr/>
            </a:pPr>
            <a:r>
              <a:rPr lang="en-US" sz="2000" kern="0" dirty="0">
                <a:latin typeface="+mn-lt"/>
                <a:ea typeface="+mn-ea"/>
                <a:cs typeface="+mn-cs"/>
                <a:sym typeface="Symbol" charset="2"/>
              </a:rPr>
              <a:t>are disjoint, as are</a:t>
            </a:r>
          </a:p>
          <a:p>
            <a:pPr algn="ctr" eaLnBrk="0" hangingPunct="0">
              <a:spcBef>
                <a:spcPts val="1200"/>
              </a:spcBef>
              <a:spcAft>
                <a:spcPts val="600"/>
              </a:spcAft>
              <a:buClr>
                <a:srgbClr val="003C75"/>
              </a:buClr>
              <a:buSzPct val="120000"/>
              <a:defRPr/>
            </a:pPr>
            <a:r>
              <a:rPr lang="en-US" sz="1800" kern="0" cap="small" dirty="0">
                <a:ln>
                  <a:solidFill>
                    <a:srgbClr val="7F7F7F"/>
                  </a:solidFill>
                </a:ln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First</a:t>
            </a:r>
            <a:r>
              <a:rPr lang="en-US" sz="1800" kern="0" baseline="300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+</a:t>
            </a:r>
            <a:r>
              <a:rPr lang="en-US" sz="1800" kern="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(6), </a:t>
            </a:r>
            <a:r>
              <a:rPr lang="en-US" sz="1800" kern="0" cap="small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First</a:t>
            </a:r>
            <a:r>
              <a:rPr lang="en-US" sz="1800" kern="0" baseline="300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+</a:t>
            </a:r>
            <a:r>
              <a:rPr lang="en-US" sz="1800" kern="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(7), &amp; </a:t>
            </a:r>
            <a:r>
              <a:rPr lang="en-US" sz="1800" kern="0" cap="small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First</a:t>
            </a:r>
            <a:r>
              <a:rPr lang="en-US" sz="1800" kern="0" baseline="300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+</a:t>
            </a:r>
            <a:r>
              <a:rPr lang="en-US" sz="1800" kern="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(8)</a:t>
            </a:r>
          </a:p>
          <a:p>
            <a:pPr eaLnBrk="0" hangingPunct="0">
              <a:spcBef>
                <a:spcPts val="1800"/>
              </a:spcBef>
              <a:buClr>
                <a:srgbClr val="003C75"/>
              </a:buClr>
              <a:buSzPct val="120000"/>
              <a:defRPr/>
            </a:pPr>
            <a:r>
              <a:rPr lang="en-US" sz="1800" kern="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The grammar now has the LL(1) property</a:t>
            </a:r>
            <a:endParaRPr lang="en-US" sz="2000" kern="0" dirty="0">
              <a:latin typeface="Comic Sans MS" charset="0"/>
              <a:ea typeface="ヒラギノ角ゴ Pro W3" charset="-128"/>
              <a:cs typeface="ヒラギノ角ゴ Pro W3" charset="-128"/>
              <a:sym typeface="Symbol" charset="2"/>
            </a:endParaRPr>
          </a:p>
          <a:p>
            <a:pPr eaLnBrk="0" hangingPunct="0">
              <a:spcBef>
                <a:spcPts val="600"/>
              </a:spcBef>
              <a:buClr>
                <a:srgbClr val="003C75"/>
              </a:buClr>
              <a:buSzPct val="120000"/>
              <a:defRPr/>
            </a:pPr>
            <a:endParaRPr lang="en-US" sz="2000" kern="0" dirty="0">
              <a:latin typeface="+mn-lt"/>
              <a:ea typeface="+mn-ea"/>
              <a:cs typeface="+mn-cs"/>
              <a:sym typeface="Symbol" charset="2"/>
            </a:endParaRPr>
          </a:p>
          <a:p>
            <a:pPr marL="342900" indent="-342900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Times" charset="0"/>
              <a:buNone/>
              <a:defRPr/>
            </a:pPr>
            <a:endParaRPr lang="en-US" sz="2000" kern="0" dirty="0">
              <a:latin typeface="+mn-lt"/>
              <a:ea typeface="+mn-ea"/>
              <a:cs typeface="+mn-cs"/>
              <a:sym typeface="Symbol" charset="2"/>
            </a:endParaRPr>
          </a:p>
          <a:p>
            <a:pPr marL="342900" indent="-342900" eaLnBrk="0" hangingPunct="0">
              <a:spcBef>
                <a:spcPts val="600"/>
              </a:spcBef>
              <a:buClr>
                <a:srgbClr val="003C75"/>
              </a:buClr>
              <a:buSzPct val="120000"/>
              <a:buFont typeface="Times" charset="0"/>
              <a:buNone/>
              <a:defRPr/>
            </a:pPr>
            <a:endParaRPr lang="en-US" sz="2000" kern="0" dirty="0">
              <a:latin typeface="+mn-lt"/>
              <a:ea typeface="+mn-ea"/>
              <a:cs typeface="+mn-cs"/>
              <a:sym typeface="Symbol" charset="2"/>
            </a:endParaRPr>
          </a:p>
          <a:p>
            <a:pPr marL="342900" indent="-342900" eaLnBrk="0" hangingPunct="0">
              <a:spcBef>
                <a:spcPts val="1800"/>
              </a:spcBef>
              <a:buClr>
                <a:srgbClr val="003C75"/>
              </a:buClr>
              <a:buSzPct val="120000"/>
              <a:buFont typeface="Times" charset="0"/>
              <a:buNone/>
              <a:defRPr/>
            </a:pPr>
            <a:endParaRPr lang="en-US" sz="2000" kern="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5B8B9E-EB15-431D-826D-A64F773CE1D4}"/>
              </a:ext>
            </a:extLst>
          </p:cNvPr>
          <p:cNvSpPr txBox="1"/>
          <p:nvPr/>
        </p:nvSpPr>
        <p:spPr>
          <a:xfrm>
            <a:off x="4191000" y="5105400"/>
            <a:ext cx="4343400" cy="1154113"/>
          </a:xfrm>
          <a:prstGeom prst="rect">
            <a:avLst/>
          </a:prstGeom>
          <a:solidFill>
            <a:srgbClr val="BFBFBF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>
            <a:spAutoFit/>
          </a:bodyPr>
          <a:lstStyle/>
          <a:p>
            <a:pPr eaLnBrk="0" hangingPunct="0">
              <a:spcBef>
                <a:spcPts val="600"/>
              </a:spcBef>
              <a:defRPr/>
            </a:pPr>
            <a:r>
              <a:rPr lang="en-US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This transformation makes some grammars into LL(1) grammars.</a:t>
            </a:r>
          </a:p>
          <a:p>
            <a:pPr eaLnBrk="0" hangingPunct="0">
              <a:spcBef>
                <a:spcPts val="600"/>
              </a:spcBef>
              <a:defRPr/>
            </a:pPr>
            <a:r>
              <a:rPr lang="en-US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There are languages for which no LL(1) grammar exists.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Footer Placeholder 3">
            <a:extLst>
              <a:ext uri="{FF2B5EF4-FFF2-40B4-BE49-F238E27FC236}">
                <a16:creationId xmlns:a16="http://schemas.microsoft.com/office/drawing/2014/main" id="{1237C1E6-2D2E-41D3-A643-DE391864EC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28674" name="Slide Number Placeholder 4">
            <a:extLst>
              <a:ext uri="{FF2B5EF4-FFF2-40B4-BE49-F238E27FC236}">
                <a16:creationId xmlns:a16="http://schemas.microsoft.com/office/drawing/2014/main" id="{DB09500E-6605-4788-98C6-2827B09CFA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E370705-B4AF-4D96-8B81-870B3F513890}" type="slidenum">
              <a:rPr lang="en-US" altLang="it-IT" sz="1200"/>
              <a:pPr/>
              <a:t>8</a:t>
            </a:fld>
            <a:endParaRPr lang="en-US" altLang="it-IT" sz="12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BF14ADEA-062B-4705-B907-F1D07E7614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F</a:t>
            </a:r>
            <a:r>
              <a:rPr lang="en-US" altLang="it-IT" sz="1800"/>
              <a:t>IRST</a:t>
            </a:r>
            <a:r>
              <a:rPr lang="en-US" altLang="it-IT"/>
              <a:t> and F</a:t>
            </a:r>
            <a:r>
              <a:rPr lang="en-US" altLang="it-IT" sz="1800"/>
              <a:t>OLLOW</a:t>
            </a:r>
            <a:r>
              <a:rPr lang="en-US" altLang="it-IT"/>
              <a:t> Sets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55E84512-B1B9-4A82-8A52-4A71870C22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Times" panose="02020603050405020304" pitchFamily="18" charset="0"/>
              <a:buNone/>
            </a:pPr>
            <a:r>
              <a:rPr lang="en-US" altLang="it-IT"/>
              <a:t>F</a:t>
            </a:r>
            <a:r>
              <a:rPr lang="en-US" altLang="it-IT" sz="1600"/>
              <a:t>IRST</a:t>
            </a:r>
            <a:r>
              <a:rPr lang="en-US" altLang="it-IT"/>
              <a:t>(</a:t>
            </a:r>
            <a:r>
              <a:rPr lang="en-US" altLang="it-IT" sz="2400">
                <a:sym typeface="Symbol" panose="05050102010706020507" pitchFamily="18" charset="2"/>
              </a:rPr>
              <a:t></a:t>
            </a:r>
            <a:r>
              <a:rPr lang="en-US" altLang="it-IT">
                <a:sym typeface="Symbol" panose="05050102010706020507" pitchFamily="18" charset="2"/>
              </a:rPr>
              <a:t>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it-IT" sz="2000"/>
              <a:t>For some </a:t>
            </a:r>
            <a:r>
              <a:rPr lang="en-US" altLang="it-IT" sz="2400">
                <a:sym typeface="Symbol" panose="05050102010706020507" pitchFamily="18" charset="2"/>
              </a:rPr>
              <a:t></a:t>
            </a:r>
            <a:r>
              <a:rPr lang="en-US" altLang="it-IT" sz="2000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 (</a:t>
            </a:r>
            <a:r>
              <a:rPr lang="en-US" altLang="it-IT" sz="2000" i="1">
                <a:sym typeface="Symbol" panose="05050102010706020507" pitchFamily="18" charset="2"/>
              </a:rPr>
              <a:t>T</a:t>
            </a:r>
            <a:r>
              <a:rPr lang="en-US" altLang="it-IT" sz="2000">
                <a:sym typeface="Symbol" panose="05050102010706020507" pitchFamily="18" charset="2"/>
              </a:rPr>
              <a:t>  </a:t>
            </a:r>
            <a:r>
              <a:rPr lang="en-US" altLang="it-IT" sz="2000" i="1">
                <a:sym typeface="Symbol" panose="05050102010706020507" pitchFamily="18" charset="2"/>
              </a:rPr>
              <a:t>NT </a:t>
            </a:r>
            <a:r>
              <a:rPr lang="en-US" altLang="it-IT" sz="2000">
                <a:sym typeface="Symbol" panose="05050102010706020507" pitchFamily="18" charset="2"/>
              </a:rPr>
              <a:t>)*, define </a:t>
            </a:r>
            <a:r>
              <a:rPr lang="en-US" altLang="it-IT" sz="2000">
                <a:solidFill>
                  <a:srgbClr val="003C75"/>
                </a:solidFill>
                <a:sym typeface="Symbol" panose="05050102010706020507" pitchFamily="18" charset="2"/>
              </a:rPr>
              <a:t>F</a:t>
            </a:r>
            <a:r>
              <a:rPr lang="en-US" altLang="it-IT" sz="1600">
                <a:solidFill>
                  <a:srgbClr val="003C75"/>
                </a:solidFill>
                <a:sym typeface="Symbol" panose="05050102010706020507" pitchFamily="18" charset="2"/>
              </a:rPr>
              <a:t>IRST</a:t>
            </a:r>
            <a:r>
              <a:rPr lang="en-US" altLang="it-IT" sz="2000">
                <a:solidFill>
                  <a:srgbClr val="003C75"/>
                </a:solidFill>
                <a:sym typeface="Symbol" panose="05050102010706020507" pitchFamily="18" charset="2"/>
              </a:rPr>
              <a:t>(</a:t>
            </a:r>
            <a:r>
              <a:rPr lang="en-US" altLang="it-IT" sz="2400">
                <a:solidFill>
                  <a:srgbClr val="003C75"/>
                </a:solidFill>
                <a:sym typeface="Symbol" panose="05050102010706020507" pitchFamily="18" charset="2"/>
              </a:rPr>
              <a:t></a:t>
            </a:r>
            <a:r>
              <a:rPr lang="en-US" altLang="it-IT" sz="2000">
                <a:solidFill>
                  <a:srgbClr val="003C75"/>
                </a:solidFill>
                <a:sym typeface="Symbol" panose="05050102010706020507" pitchFamily="18" charset="2"/>
              </a:rPr>
              <a:t>) </a:t>
            </a:r>
            <a:r>
              <a:rPr lang="en-US" altLang="it-IT" sz="2000">
                <a:sym typeface="Symbol" panose="05050102010706020507" pitchFamily="18" charset="2"/>
              </a:rPr>
              <a:t>as the set of tokens that appear as the first symbol in some string that derives from </a:t>
            </a:r>
            <a:r>
              <a:rPr lang="en-US" altLang="it-IT" sz="2400">
                <a:sym typeface="Symbol" panose="05050102010706020507" pitchFamily="18" charset="2"/>
              </a:rPr>
              <a:t></a:t>
            </a:r>
            <a:r>
              <a:rPr lang="en-US" altLang="it-IT" sz="2000">
                <a:sym typeface="Symbol" panose="05050102010706020507" pitchFamily="18" charset="2"/>
              </a:rPr>
              <a:t>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it-IT" sz="2000">
                <a:sym typeface="Symbol" panose="05050102010706020507" pitchFamily="18" charset="2"/>
              </a:rPr>
              <a:t>That is, </a:t>
            </a:r>
            <a:r>
              <a:rPr lang="en-US" altLang="it-IT" sz="2000" u="sng">
                <a:sym typeface="Symbol" panose="05050102010706020507" pitchFamily="18" charset="2"/>
              </a:rPr>
              <a:t>x</a:t>
            </a:r>
            <a:r>
              <a:rPr lang="en-US" altLang="it-IT" sz="2000" i="1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 </a:t>
            </a:r>
            <a:r>
              <a:rPr lang="en-US" altLang="it-IT" sz="2000">
                <a:sym typeface="Symbol" panose="05050102010706020507" pitchFamily="18" charset="2"/>
              </a:rPr>
              <a:t>F</a:t>
            </a:r>
            <a:r>
              <a:rPr lang="en-US" altLang="it-IT" sz="1600">
                <a:sym typeface="Symbol" panose="05050102010706020507" pitchFamily="18" charset="2"/>
              </a:rPr>
              <a:t>IRST</a:t>
            </a:r>
            <a:r>
              <a:rPr lang="en-US" altLang="it-IT" sz="2000">
                <a:sym typeface="Symbol" panose="05050102010706020507" pitchFamily="18" charset="2"/>
              </a:rPr>
              <a:t>(</a:t>
            </a:r>
            <a:r>
              <a:rPr lang="en-US" altLang="it-IT" sz="2400">
                <a:sym typeface="Symbol" panose="05050102010706020507" pitchFamily="18" charset="2"/>
              </a:rPr>
              <a:t></a:t>
            </a:r>
            <a:r>
              <a:rPr lang="en-US" altLang="it-IT" sz="2000">
                <a:sym typeface="Symbol" panose="05050102010706020507" pitchFamily="18" charset="2"/>
              </a:rPr>
              <a:t>) </a:t>
            </a:r>
            <a:r>
              <a:rPr lang="en-US" altLang="it-IT" sz="2000" i="1">
                <a:sym typeface="Symbol" panose="05050102010706020507" pitchFamily="18" charset="2"/>
              </a:rPr>
              <a:t>iff</a:t>
            </a:r>
            <a:r>
              <a:rPr lang="en-US" altLang="it-IT" sz="2000">
                <a:sym typeface="Symbol" panose="05050102010706020507" pitchFamily="18" charset="2"/>
              </a:rPr>
              <a:t>  </a:t>
            </a:r>
            <a:r>
              <a:rPr lang="en-US" altLang="it-IT" sz="2400">
                <a:sym typeface="Symbol" panose="05050102010706020507" pitchFamily="18" charset="2"/>
              </a:rPr>
              <a:t></a:t>
            </a:r>
            <a:r>
              <a:rPr lang="en-US" altLang="it-IT" sz="2000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</a:t>
            </a:r>
            <a:r>
              <a:rPr lang="en-US" altLang="it-IT" sz="2000" baseline="30000">
                <a:sym typeface="Symbol" panose="05050102010706020507" pitchFamily="18" charset="2"/>
              </a:rPr>
              <a:t>*</a:t>
            </a:r>
            <a:r>
              <a:rPr lang="en-US" altLang="it-IT" sz="2000" i="1">
                <a:sym typeface="Symbol" panose="05050102010706020507" pitchFamily="18" charset="2"/>
              </a:rPr>
              <a:t> </a:t>
            </a:r>
            <a:r>
              <a:rPr lang="en-US" altLang="it-IT" sz="2000" u="sng">
                <a:sym typeface="Symbol" panose="05050102010706020507" pitchFamily="18" charset="2"/>
              </a:rPr>
              <a:t>x</a:t>
            </a:r>
            <a:r>
              <a:rPr lang="en-US" altLang="it-IT" sz="2000" i="1">
                <a:sym typeface="Symbol" panose="05050102010706020507" pitchFamily="18" charset="2"/>
              </a:rPr>
              <a:t> </a:t>
            </a:r>
            <a:r>
              <a:rPr lang="en-US" altLang="it-IT" sz="2400">
                <a:sym typeface="Symbol" panose="05050102010706020507" pitchFamily="18" charset="2"/>
              </a:rPr>
              <a:t>, </a:t>
            </a:r>
            <a:r>
              <a:rPr lang="en-US" altLang="it-IT" sz="2000">
                <a:sym typeface="Symbol" panose="05050102010706020507" pitchFamily="18" charset="2"/>
              </a:rPr>
              <a:t> for some </a:t>
            </a:r>
            <a:r>
              <a:rPr lang="en-US" altLang="it-IT" sz="2400" i="1">
                <a:sym typeface="Symbol" panose="05050102010706020507" pitchFamily="18" charset="2"/>
              </a:rPr>
              <a:t></a:t>
            </a:r>
            <a:r>
              <a:rPr lang="en-US" altLang="it-IT" sz="2000" i="1">
                <a:sym typeface="Symbol" panose="05050102010706020507" pitchFamily="18" charset="2"/>
              </a:rPr>
              <a:t> </a:t>
            </a:r>
            <a:endParaRPr lang="en-US" altLang="it-IT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F</a:t>
            </a:r>
            <a:r>
              <a:rPr lang="en-US" altLang="it-IT" sz="1600">
                <a:sym typeface="Symbol" panose="05050102010706020507" pitchFamily="18" charset="2"/>
              </a:rPr>
              <a:t>OLLOW</a:t>
            </a:r>
            <a:r>
              <a:rPr lang="en-US" altLang="it-IT">
                <a:sym typeface="Symbol" panose="05050102010706020507" pitchFamily="18" charset="2"/>
              </a:rPr>
              <a:t>(A)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it-IT" sz="2000"/>
              <a:t>For some </a:t>
            </a:r>
            <a:r>
              <a:rPr lang="en-US" altLang="it-IT" sz="2000">
                <a:sym typeface="Symbol" panose="05050102010706020507" pitchFamily="18" charset="2"/>
              </a:rPr>
              <a:t>A </a:t>
            </a:r>
            <a:r>
              <a:rPr lang="en-US" altLang="it-IT">
                <a:sym typeface="Symbol" panose="05050102010706020507" pitchFamily="18" charset="2"/>
              </a:rPr>
              <a:t> </a:t>
            </a:r>
            <a:r>
              <a:rPr lang="en-US" altLang="it-IT" sz="2000" i="1">
                <a:sym typeface="Symbol" panose="05050102010706020507" pitchFamily="18" charset="2"/>
              </a:rPr>
              <a:t>NT</a:t>
            </a:r>
            <a:r>
              <a:rPr lang="en-US" altLang="it-IT" sz="2000">
                <a:sym typeface="Symbol" panose="05050102010706020507" pitchFamily="18" charset="2"/>
              </a:rPr>
              <a:t>, define </a:t>
            </a:r>
            <a:r>
              <a:rPr lang="en-US" altLang="it-IT" sz="2000">
                <a:solidFill>
                  <a:srgbClr val="003C75"/>
                </a:solidFill>
                <a:sym typeface="Symbol" panose="05050102010706020507" pitchFamily="18" charset="2"/>
              </a:rPr>
              <a:t>F</a:t>
            </a:r>
            <a:r>
              <a:rPr lang="en-US" altLang="it-IT" sz="1600">
                <a:solidFill>
                  <a:srgbClr val="003C75"/>
                </a:solidFill>
                <a:sym typeface="Symbol" panose="05050102010706020507" pitchFamily="18" charset="2"/>
              </a:rPr>
              <a:t>OLLOW</a:t>
            </a:r>
            <a:r>
              <a:rPr lang="en-US" altLang="it-IT" sz="2000">
                <a:solidFill>
                  <a:srgbClr val="003C75"/>
                </a:solidFill>
                <a:sym typeface="Symbol" panose="05050102010706020507" pitchFamily="18" charset="2"/>
              </a:rPr>
              <a:t>(A) </a:t>
            </a:r>
            <a:r>
              <a:rPr lang="en-US" altLang="it-IT" sz="2000">
                <a:sym typeface="Symbol" panose="05050102010706020507" pitchFamily="18" charset="2"/>
              </a:rPr>
              <a:t>as the set of symbols that can occur immediately after A in a valid sentential form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it-IT" sz="2000">
                <a:sym typeface="Symbol" panose="05050102010706020507" pitchFamily="18" charset="2"/>
              </a:rPr>
              <a:t>F</a:t>
            </a:r>
            <a:r>
              <a:rPr lang="en-US" altLang="it-IT" sz="1600">
                <a:sym typeface="Symbol" panose="05050102010706020507" pitchFamily="18" charset="2"/>
              </a:rPr>
              <a:t>OLLOW</a:t>
            </a:r>
            <a:r>
              <a:rPr lang="en-US" altLang="it-IT" sz="2000">
                <a:sym typeface="Symbol" panose="05050102010706020507" pitchFamily="18" charset="2"/>
              </a:rPr>
              <a:t>(</a:t>
            </a:r>
            <a:r>
              <a:rPr lang="en-US" altLang="it-IT" sz="2000" i="1">
                <a:sym typeface="Symbol" panose="05050102010706020507" pitchFamily="18" charset="2"/>
              </a:rPr>
              <a:t>S</a:t>
            </a:r>
            <a:r>
              <a:rPr lang="en-US" altLang="it-IT" sz="2000">
                <a:sym typeface="Symbol" panose="05050102010706020507" pitchFamily="18" charset="2"/>
              </a:rPr>
              <a:t>) = {</a:t>
            </a:r>
            <a:r>
              <a:rPr lang="en-US" altLang="it-IT" sz="1600">
                <a:sym typeface="Symbol" panose="05050102010706020507" pitchFamily="18" charset="2"/>
              </a:rPr>
              <a:t>EOF</a:t>
            </a:r>
            <a:r>
              <a:rPr lang="en-US" altLang="it-IT" sz="2000">
                <a:sym typeface="Symbol" panose="05050102010706020507" pitchFamily="18" charset="2"/>
              </a:rPr>
              <a:t>}, where </a:t>
            </a:r>
            <a:r>
              <a:rPr lang="en-US" altLang="it-IT" sz="2000" i="1">
                <a:sym typeface="Symbol" panose="05050102010706020507" pitchFamily="18" charset="2"/>
              </a:rPr>
              <a:t>S</a:t>
            </a:r>
            <a:r>
              <a:rPr lang="en-US" altLang="it-IT" sz="2000">
                <a:sym typeface="Symbol" panose="05050102010706020507" pitchFamily="18" charset="2"/>
              </a:rPr>
              <a:t> is the start symbol</a:t>
            </a:r>
          </a:p>
          <a:p>
            <a:pPr eaLnBrk="1" hangingPunct="1">
              <a:lnSpc>
                <a:spcPct val="90000"/>
              </a:lnSpc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To build 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F</a:t>
            </a:r>
            <a:r>
              <a:rPr lang="en-US" altLang="it-IT" sz="1600">
                <a:solidFill>
                  <a:srgbClr val="003C75"/>
                </a:solidFill>
                <a:sym typeface="Symbol" panose="05050102010706020507" pitchFamily="18" charset="2"/>
              </a:rPr>
              <a:t>OLLOW</a:t>
            </a:r>
            <a:r>
              <a:rPr lang="en-US" altLang="it-IT">
                <a:sym typeface="Symbol" panose="05050102010706020507" pitchFamily="18" charset="2"/>
              </a:rPr>
              <a:t> sets, we need 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F</a:t>
            </a:r>
            <a:r>
              <a:rPr lang="en-US" altLang="it-IT" sz="1600">
                <a:solidFill>
                  <a:srgbClr val="003C75"/>
                </a:solidFill>
                <a:sym typeface="Symbol" panose="05050102010706020507" pitchFamily="18" charset="2"/>
              </a:rPr>
              <a:t>IRST </a:t>
            </a:r>
            <a:r>
              <a:rPr lang="en-US" altLang="it-IT">
                <a:sym typeface="Symbol" panose="05050102010706020507" pitchFamily="18" charset="2"/>
              </a:rPr>
              <a:t>sets …</a:t>
            </a:r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Footer Placeholder 3">
            <a:extLst>
              <a:ext uri="{FF2B5EF4-FFF2-40B4-BE49-F238E27FC236}">
                <a16:creationId xmlns:a16="http://schemas.microsoft.com/office/drawing/2014/main" id="{C464B02D-E5B3-4B49-897D-CFD6DCA2AD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30722" name="Slide Number Placeholder 4">
            <a:extLst>
              <a:ext uri="{FF2B5EF4-FFF2-40B4-BE49-F238E27FC236}">
                <a16:creationId xmlns:a16="http://schemas.microsoft.com/office/drawing/2014/main" id="{51F035FA-B0D4-4FC9-90EC-99A52E0598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5FA1D62-8980-47F6-A95E-3409DA67FB50}" type="slidenum">
              <a:rPr lang="en-US" altLang="it-IT" sz="1200"/>
              <a:pPr/>
              <a:t>9</a:t>
            </a:fld>
            <a:endParaRPr lang="en-US" altLang="it-IT" sz="12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1F507739-48E9-4430-AEDC-411164FEB4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100000"/>
              </a:spcBef>
              <a:buFont typeface="Symbol" panose="05050102010706020507" pitchFamily="18" charset="2"/>
              <a:buNone/>
            </a:pPr>
            <a:r>
              <a:rPr lang="en-US" altLang="it-IT">
                <a:sym typeface="Symbol" panose="05050102010706020507" pitchFamily="18" charset="2"/>
              </a:rPr>
              <a:t>Computing F</a:t>
            </a:r>
            <a:r>
              <a:rPr lang="en-US" altLang="it-IT" sz="2000">
                <a:sym typeface="Symbol" panose="05050102010706020507" pitchFamily="18" charset="2"/>
              </a:rPr>
              <a:t>IRST</a:t>
            </a:r>
            <a:r>
              <a:rPr lang="en-US" altLang="it-IT">
                <a:sym typeface="Symbol" panose="05050102010706020507" pitchFamily="18" charset="2"/>
              </a:rPr>
              <a:t> Sets</a:t>
            </a:r>
          </a:p>
        </p:txBody>
      </p:sp>
      <p:sp>
        <p:nvSpPr>
          <p:cNvPr id="30724" name="Text Box 3">
            <a:extLst>
              <a:ext uri="{FF2B5EF4-FFF2-40B4-BE49-F238E27FC236}">
                <a16:creationId xmlns:a16="http://schemas.microsoft.com/office/drawing/2014/main" id="{145EFDC1-3829-45BF-AC7F-32CC28A882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447800"/>
            <a:ext cx="5105400" cy="4276725"/>
          </a:xfrm>
          <a:prstGeom prst="rect">
            <a:avLst/>
          </a:prstGeom>
          <a:noFill/>
          <a:ln w="19050" algn="ctr">
            <a:solidFill>
              <a:srgbClr val="7F7F7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455613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defTabSz="455613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defTabSz="455613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defTabSz="455613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defTabSz="455613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i="1"/>
              <a:t>for each x </a:t>
            </a:r>
            <a:r>
              <a:rPr lang="en-US" altLang="it-IT" i="1">
                <a:sym typeface="Symbol" panose="05050102010706020507" pitchFamily="18" charset="2"/>
              </a:rPr>
              <a:t> </a:t>
            </a:r>
            <a:r>
              <a:rPr lang="en-US" altLang="it-IT" i="1"/>
              <a:t> T, FIRST(</a:t>
            </a:r>
            <a:r>
              <a:rPr lang="en-US" altLang="it-IT" i="1">
                <a:sym typeface="Symbol" panose="05050102010706020507" pitchFamily="18" charset="2"/>
              </a:rPr>
              <a:t>x)   {</a:t>
            </a:r>
            <a:r>
              <a:rPr lang="en-US" altLang="it-IT" sz="900" i="1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x</a:t>
            </a:r>
            <a:r>
              <a:rPr lang="en-US" altLang="it-IT" sz="900" i="1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}</a:t>
            </a:r>
          </a:p>
          <a:p>
            <a:pPr>
              <a:spcBef>
                <a:spcPct val="20000"/>
              </a:spcBef>
            </a:pPr>
            <a:r>
              <a:rPr lang="en-US" altLang="it-IT" i="1">
                <a:sym typeface="Symbol" panose="05050102010706020507" pitchFamily="18" charset="2"/>
              </a:rPr>
              <a:t>for each A </a:t>
            </a:r>
            <a:r>
              <a:rPr lang="en-US" altLang="it-IT" i="1"/>
              <a:t> NT, FIRST(</a:t>
            </a:r>
            <a:r>
              <a:rPr lang="en-US" altLang="it-IT" i="1">
                <a:sym typeface="Symbol" panose="05050102010706020507" pitchFamily="18" charset="2"/>
              </a:rPr>
              <a:t>A)  Ø</a:t>
            </a:r>
          </a:p>
          <a:p>
            <a:pPr>
              <a:spcBef>
                <a:spcPct val="50000"/>
              </a:spcBef>
            </a:pPr>
            <a:r>
              <a:rPr lang="en-US" altLang="it-IT" i="1">
                <a:sym typeface="Symbol" panose="05050102010706020507" pitchFamily="18" charset="2"/>
              </a:rPr>
              <a:t>while (FIRST sets are still changing) do</a:t>
            </a:r>
          </a:p>
          <a:p>
            <a:r>
              <a:rPr lang="en-US" altLang="it-IT" i="1">
                <a:sym typeface="Symbol" panose="05050102010706020507" pitchFamily="18" charset="2"/>
              </a:rPr>
              <a:t>    for each p </a:t>
            </a:r>
            <a:r>
              <a:rPr lang="en-US" altLang="it-IT" i="1"/>
              <a:t> P, of the form </a:t>
            </a:r>
            <a:r>
              <a:rPr lang="en-US" altLang="it-IT" i="1">
                <a:sym typeface="Symbol" panose="05050102010706020507" pitchFamily="18" charset="2"/>
              </a:rPr>
              <a:t>A do</a:t>
            </a:r>
          </a:p>
          <a:p>
            <a:r>
              <a:rPr lang="en-US" altLang="it-IT" i="1">
                <a:sym typeface="Symbol" panose="05050102010706020507" pitchFamily="18" charset="2"/>
              </a:rPr>
              <a:t>        if  is B</a:t>
            </a:r>
            <a:r>
              <a:rPr lang="en-US" altLang="it-IT" i="1" baseline="-25000">
                <a:sym typeface="Symbol" panose="05050102010706020507" pitchFamily="18" charset="2"/>
              </a:rPr>
              <a:t>1</a:t>
            </a:r>
            <a:r>
              <a:rPr lang="en-US" altLang="it-IT" i="1">
                <a:sym typeface="Symbol" panose="05050102010706020507" pitchFamily="18" charset="2"/>
              </a:rPr>
              <a:t>B</a:t>
            </a:r>
            <a:r>
              <a:rPr lang="en-US" altLang="it-IT" i="1" baseline="-25000">
                <a:sym typeface="Symbol" panose="05050102010706020507" pitchFamily="18" charset="2"/>
              </a:rPr>
              <a:t>2</a:t>
            </a:r>
            <a:r>
              <a:rPr lang="en-US" altLang="it-IT" i="1">
                <a:sym typeface="Symbol" panose="05050102010706020507" pitchFamily="18" charset="2"/>
              </a:rPr>
              <a:t>…B</a:t>
            </a:r>
            <a:r>
              <a:rPr lang="en-US" altLang="it-IT" i="1" baseline="-25000">
                <a:sym typeface="Symbol" panose="05050102010706020507" pitchFamily="18" charset="2"/>
              </a:rPr>
              <a:t>k</a:t>
            </a:r>
            <a:r>
              <a:rPr lang="en-US" altLang="it-IT" i="1">
                <a:sym typeface="Symbol" panose="05050102010706020507" pitchFamily="18" charset="2"/>
              </a:rPr>
              <a:t> then begin; </a:t>
            </a:r>
          </a:p>
          <a:p>
            <a:r>
              <a:rPr lang="en-US" altLang="it-IT" i="1">
                <a:sym typeface="Symbol" panose="05050102010706020507" pitchFamily="18" charset="2"/>
              </a:rPr>
              <a:t>	    rhs  FIRST(B</a:t>
            </a:r>
            <a:r>
              <a:rPr lang="en-US" altLang="it-IT" i="1" baseline="-25000">
                <a:sym typeface="Symbol" panose="05050102010706020507" pitchFamily="18" charset="2"/>
              </a:rPr>
              <a:t>1</a:t>
            </a:r>
            <a:r>
              <a:rPr lang="en-US" altLang="it-IT" i="1">
                <a:sym typeface="Symbol" panose="05050102010706020507" pitchFamily="18" charset="2"/>
              </a:rPr>
              <a:t>) –  {</a:t>
            </a:r>
            <a:r>
              <a:rPr lang="en-US" altLang="it-IT" sz="900" i="1">
                <a:sym typeface="Symbol" panose="05050102010706020507" pitchFamily="18" charset="2"/>
              </a:rPr>
              <a:t> </a:t>
            </a:r>
            <a:r>
              <a:rPr lang="en-US" altLang="it-IT" sz="1800" i="1">
                <a:sym typeface="Symbol" panose="05050102010706020507" pitchFamily="18" charset="2"/>
              </a:rPr>
              <a:t></a:t>
            </a:r>
            <a:r>
              <a:rPr lang="en-US" altLang="it-IT" sz="900" i="1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}</a:t>
            </a:r>
          </a:p>
          <a:p>
            <a:pPr>
              <a:spcBef>
                <a:spcPct val="20000"/>
              </a:spcBef>
            </a:pPr>
            <a:r>
              <a:rPr lang="en-US" altLang="it-IT" i="1">
                <a:sym typeface="Symbol" panose="05050102010706020507" pitchFamily="18" charset="2"/>
              </a:rPr>
              <a:t>	    for i  1 to k–1 by 1 while  </a:t>
            </a:r>
            <a:r>
              <a:rPr lang="en-US" altLang="it-IT" i="1"/>
              <a:t> </a:t>
            </a:r>
            <a:r>
              <a:rPr lang="en-US" altLang="it-IT" i="1">
                <a:sym typeface="Symbol" panose="05050102010706020507" pitchFamily="18" charset="2"/>
              </a:rPr>
              <a:t>FIRST(B</a:t>
            </a:r>
            <a:r>
              <a:rPr lang="en-US" altLang="it-IT" i="1" baseline="-25000">
                <a:sym typeface="Symbol" panose="05050102010706020507" pitchFamily="18" charset="2"/>
              </a:rPr>
              <a:t>i</a:t>
            </a:r>
            <a:r>
              <a:rPr lang="en-US" altLang="it-IT" i="1">
                <a:sym typeface="Symbol" panose="05050102010706020507" pitchFamily="18" charset="2"/>
              </a:rPr>
              <a:t>) do</a:t>
            </a:r>
          </a:p>
          <a:p>
            <a:r>
              <a:rPr lang="en-US" altLang="it-IT" i="1">
                <a:sym typeface="Symbol" panose="05050102010706020507" pitchFamily="18" charset="2"/>
              </a:rPr>
              <a:t>                 rhs  rhs  (</a:t>
            </a:r>
            <a:r>
              <a:rPr lang="en-US" altLang="it-IT" sz="1000" i="1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FIRST(B</a:t>
            </a:r>
            <a:r>
              <a:rPr lang="en-US" altLang="it-IT" i="1" baseline="-25000">
                <a:sym typeface="Symbol" panose="05050102010706020507" pitchFamily="18" charset="2"/>
              </a:rPr>
              <a:t>i+1</a:t>
            </a:r>
            <a:r>
              <a:rPr lang="en-US" altLang="it-IT" i="1">
                <a:sym typeface="Symbol" panose="05050102010706020507" pitchFamily="18" charset="2"/>
              </a:rPr>
              <a:t>)</a:t>
            </a:r>
            <a:r>
              <a:rPr lang="en-US" altLang="it-IT" sz="1400" i="1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–</a:t>
            </a:r>
            <a:r>
              <a:rPr lang="en-US" altLang="it-IT" sz="1400" i="1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{ </a:t>
            </a:r>
            <a:r>
              <a:rPr lang="en-US" altLang="it-IT" sz="1800" i="1">
                <a:sym typeface="Symbol" panose="05050102010706020507" pitchFamily="18" charset="2"/>
              </a:rPr>
              <a:t></a:t>
            </a:r>
            <a:r>
              <a:rPr lang="en-US" altLang="it-IT" i="1">
                <a:sym typeface="Symbol" panose="05050102010706020507" pitchFamily="18" charset="2"/>
              </a:rPr>
              <a:t> }</a:t>
            </a:r>
            <a:r>
              <a:rPr lang="en-US" altLang="it-IT" sz="1000" i="1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)</a:t>
            </a:r>
          </a:p>
          <a:p>
            <a:r>
              <a:rPr lang="en-US" altLang="it-IT" i="1">
                <a:sym typeface="Symbol" panose="05050102010706020507" pitchFamily="18" charset="2"/>
              </a:rPr>
              <a:t>	  	  end  // for loop</a:t>
            </a:r>
          </a:p>
          <a:p>
            <a:r>
              <a:rPr lang="en-US" altLang="it-IT" i="1">
                <a:sym typeface="Symbol" panose="05050102010706020507" pitchFamily="18" charset="2"/>
              </a:rPr>
              <a:t>         end          // if-then </a:t>
            </a:r>
          </a:p>
          <a:p>
            <a:pPr>
              <a:spcBef>
                <a:spcPct val="20000"/>
              </a:spcBef>
            </a:pPr>
            <a:r>
              <a:rPr lang="en-US" altLang="it-IT" i="1">
                <a:sym typeface="Symbol" panose="05050102010706020507" pitchFamily="18" charset="2"/>
              </a:rPr>
              <a:t>	  if  i = k and  </a:t>
            </a:r>
            <a:r>
              <a:rPr lang="en-US" altLang="it-IT" i="1"/>
              <a:t> </a:t>
            </a:r>
            <a:r>
              <a:rPr lang="en-US" altLang="it-IT" i="1">
                <a:sym typeface="Symbol" panose="05050102010706020507" pitchFamily="18" charset="2"/>
              </a:rPr>
              <a:t>FIRST(B</a:t>
            </a:r>
            <a:r>
              <a:rPr lang="en-US" altLang="it-IT" i="1" baseline="-25000">
                <a:sym typeface="Symbol" panose="05050102010706020507" pitchFamily="18" charset="2"/>
              </a:rPr>
              <a:t>k </a:t>
            </a:r>
            <a:r>
              <a:rPr lang="en-US" altLang="it-IT" i="1">
                <a:sym typeface="Symbol" panose="05050102010706020507" pitchFamily="18" charset="2"/>
              </a:rPr>
              <a:t>) </a:t>
            </a:r>
          </a:p>
          <a:p>
            <a:r>
              <a:rPr lang="en-US" altLang="it-IT" i="1">
                <a:sym typeface="Symbol" panose="05050102010706020507" pitchFamily="18" charset="2"/>
              </a:rPr>
              <a:t>	      then rhs  rhs  {</a:t>
            </a:r>
            <a:r>
              <a:rPr lang="en-US" altLang="it-IT" sz="1000" i="1">
                <a:sym typeface="Symbol" panose="05050102010706020507" pitchFamily="18" charset="2"/>
              </a:rPr>
              <a:t> </a:t>
            </a:r>
            <a:r>
              <a:rPr lang="en-US" altLang="it-IT" sz="1800" i="1">
                <a:sym typeface="Symbol" panose="05050102010706020507" pitchFamily="18" charset="2"/>
              </a:rPr>
              <a:t></a:t>
            </a:r>
            <a:r>
              <a:rPr lang="en-US" altLang="it-IT" sz="1000" i="1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}</a:t>
            </a:r>
            <a:endParaRPr lang="en-US" altLang="it-IT" i="1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>
              <a:spcBef>
                <a:spcPct val="20000"/>
              </a:spcBef>
            </a:pPr>
            <a:r>
              <a:rPr lang="en-US" altLang="it-IT" i="1">
                <a:sym typeface="Symbol" panose="05050102010706020507" pitchFamily="18" charset="2"/>
              </a:rPr>
              <a:t>	   FIRST(A)  FIRST(A)  rhs</a:t>
            </a:r>
          </a:p>
          <a:p>
            <a:pPr>
              <a:spcBef>
                <a:spcPct val="20000"/>
              </a:spcBef>
            </a:pPr>
            <a:r>
              <a:rPr lang="en-US" altLang="it-IT" i="1">
                <a:sym typeface="Symbol" panose="05050102010706020507" pitchFamily="18" charset="2"/>
              </a:rPr>
              <a:t>          end  // for loop</a:t>
            </a:r>
          </a:p>
          <a:p>
            <a:pPr>
              <a:spcBef>
                <a:spcPct val="20000"/>
              </a:spcBef>
            </a:pPr>
            <a:r>
              <a:rPr lang="en-US" altLang="it-IT" i="1">
                <a:sym typeface="Symbol" panose="05050102010706020507" pitchFamily="18" charset="2"/>
              </a:rPr>
              <a:t>     end       // while loop</a:t>
            </a:r>
          </a:p>
        </p:txBody>
      </p:sp>
      <p:sp>
        <p:nvSpPr>
          <p:cNvPr id="30725" name="Rectangle 4">
            <a:extLst>
              <a:ext uri="{FF2B5EF4-FFF2-40B4-BE49-F238E27FC236}">
                <a16:creationId xmlns:a16="http://schemas.microsoft.com/office/drawing/2014/main" id="{A61C7208-8056-4842-9E05-D909449BA3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19800" y="1371600"/>
            <a:ext cx="2743200" cy="5029200"/>
          </a:xfrm>
        </p:spPr>
        <p:txBody>
          <a:bodyPr/>
          <a:lstStyle/>
          <a:p>
            <a:pPr eaLnBrk="1" hangingPunct="1">
              <a:spcBef>
                <a:spcPct val="100000"/>
              </a:spcBef>
              <a:buFont typeface="Symbol" panose="05050102010706020507" pitchFamily="18" charset="2"/>
              <a:buNone/>
            </a:pP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Outer loop is monotone </a:t>
            </a: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increasing for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 </a:t>
            </a: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FIRST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 </a:t>
            </a: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sets</a:t>
            </a:r>
            <a:endParaRPr lang="en-US" altLang="it-IT">
              <a:solidFill>
                <a:srgbClr val="003C75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40000"/>
              </a:spcBef>
              <a:buFont typeface="Symbol" panose="05050102010706020507" pitchFamily="18" charset="2"/>
              <a:buChar char=""/>
            </a:pP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| T  NT  </a:t>
            </a:r>
            <a:r>
              <a:rPr lang="en-US" altLang="it-IT" sz="1600" b="1" i="1">
                <a:solidFill>
                  <a:srgbClr val="003C75"/>
                </a:solidFill>
                <a:sym typeface="Symbol" panose="05050102010706020507" pitchFamily="18" charset="2"/>
              </a:rPr>
              <a:t></a:t>
            </a:r>
            <a:r>
              <a:rPr lang="en-US" altLang="it-IT" sz="1600" i="1">
                <a:solidFill>
                  <a:srgbClr val="003C75"/>
                </a:solidFill>
                <a:sym typeface="Symbol" panose="05050102010706020507" pitchFamily="18" charset="2"/>
              </a:rPr>
              <a:t> </a:t>
            </a:r>
            <a:r>
              <a:rPr lang="en-US" altLang="it-IT" sz="1600">
                <a:solidFill>
                  <a:srgbClr val="003C75"/>
                </a:solidFill>
                <a:sym typeface="Symbol" panose="05050102010706020507" pitchFamily="18" charset="2"/>
              </a:rPr>
              <a:t>| is </a:t>
            </a: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it-IT" sz="1600">
                <a:solidFill>
                  <a:srgbClr val="003C75"/>
                </a:solidFill>
                <a:sym typeface="Symbol" panose="05050102010706020507" pitchFamily="18" charset="2"/>
              </a:rPr>
              <a:t>bounded, so it terminates</a:t>
            </a:r>
            <a:endParaRPr lang="en-US" altLang="it-IT">
              <a:solidFill>
                <a:srgbClr val="003C75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Inner loop is bounded </a:t>
            </a:r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by the length of the </a:t>
            </a:r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productions in the </a:t>
            </a:r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grammar</a:t>
            </a:r>
            <a:endParaRPr lang="en-US" altLang="it-IT" b="1" i="1">
              <a:solidFill>
                <a:srgbClr val="003C75"/>
              </a:solidFill>
              <a:sym typeface="Symbol" panose="05050102010706020507" pitchFamily="18" charset="2"/>
            </a:endParaRPr>
          </a:p>
        </p:txBody>
      </p:sp>
      <p:sp>
        <p:nvSpPr>
          <p:cNvPr id="30726" name="Text Box 7">
            <a:extLst>
              <a:ext uri="{FF2B5EF4-FFF2-40B4-BE49-F238E27FC236}">
                <a16:creationId xmlns:a16="http://schemas.microsoft.com/office/drawing/2014/main" id="{4EFD5576-F49D-42FA-954C-D51ABED5E6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419600"/>
            <a:ext cx="2971800" cy="1320800"/>
          </a:xfrm>
          <a:prstGeom prst="rect">
            <a:avLst/>
          </a:prstGeom>
          <a:solidFill>
            <a:srgbClr val="EEEEEE"/>
          </a:solidFill>
          <a:ln w="19050">
            <a:solidFill>
              <a:srgbClr val="1822CD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2000">
                <a:sym typeface="Symbol" panose="05050102010706020507" pitchFamily="18" charset="2"/>
              </a:rPr>
              <a:t>For </a:t>
            </a:r>
            <a:r>
              <a:rPr lang="en-US" altLang="it-IT" sz="2000" i="1">
                <a:sym typeface="Symbol" panose="05050102010706020507" pitchFamily="18" charset="2"/>
              </a:rPr>
              <a:t>SheepNoise:</a:t>
            </a:r>
            <a:endParaRPr lang="en-US" altLang="it-IT" sz="2000">
              <a:sym typeface="Symbol" panose="05050102010706020507" pitchFamily="18" charset="2"/>
            </a:endParaRPr>
          </a:p>
          <a:p>
            <a:pPr lvl="1" eaLnBrk="1" hangingPunct="1">
              <a:spcBef>
                <a:spcPct val="10000"/>
              </a:spcBef>
              <a:buClr>
                <a:srgbClr val="1822CD"/>
              </a:buClr>
              <a:buSzPct val="80000"/>
              <a:buFont typeface="Symbol" panose="05050102010706020507" pitchFamily="18" charset="2"/>
              <a:buNone/>
            </a:pPr>
            <a:r>
              <a:rPr lang="en-US" altLang="it-IT" sz="1800">
                <a:sym typeface="Symbol" panose="05050102010706020507" pitchFamily="18" charset="2"/>
              </a:rPr>
              <a:t>F</a:t>
            </a:r>
            <a:r>
              <a:rPr lang="en-US" altLang="it-IT" b="1">
                <a:sym typeface="Symbol" panose="05050102010706020507" pitchFamily="18" charset="2"/>
              </a:rPr>
              <a:t>IRST</a:t>
            </a:r>
            <a:r>
              <a:rPr lang="en-US" altLang="it-IT" sz="1800">
                <a:sym typeface="Symbol" panose="05050102010706020507" pitchFamily="18" charset="2"/>
              </a:rPr>
              <a:t>(</a:t>
            </a:r>
            <a:r>
              <a:rPr lang="en-US" altLang="it-IT" sz="1800" i="1">
                <a:sym typeface="Symbol" panose="05050102010706020507" pitchFamily="18" charset="2"/>
              </a:rPr>
              <a:t>Goal</a:t>
            </a:r>
            <a:r>
              <a:rPr lang="en-US" altLang="it-IT" sz="1800">
                <a:sym typeface="Symbol" panose="05050102010706020507" pitchFamily="18" charset="2"/>
              </a:rPr>
              <a:t>) = { </a:t>
            </a:r>
            <a:r>
              <a:rPr lang="en-US" altLang="it-IT" sz="1800" i="1" u="sng">
                <a:sym typeface="Symbol" panose="05050102010706020507" pitchFamily="18" charset="2"/>
              </a:rPr>
              <a:t>baa</a:t>
            </a:r>
            <a:r>
              <a:rPr lang="en-US" altLang="it-IT" sz="1800">
                <a:sym typeface="Symbol" panose="05050102010706020507" pitchFamily="18" charset="2"/>
              </a:rPr>
              <a:t> }</a:t>
            </a:r>
          </a:p>
          <a:p>
            <a:pPr lvl="1" eaLnBrk="1" hangingPunct="1">
              <a:spcBef>
                <a:spcPct val="10000"/>
              </a:spcBef>
              <a:buClr>
                <a:srgbClr val="1822CD"/>
              </a:buClr>
              <a:buSzPct val="80000"/>
              <a:buFont typeface="Symbol" panose="05050102010706020507" pitchFamily="18" charset="2"/>
              <a:buNone/>
            </a:pPr>
            <a:r>
              <a:rPr lang="en-US" altLang="it-IT" sz="1800">
                <a:sym typeface="Symbol" panose="05050102010706020507" pitchFamily="18" charset="2"/>
              </a:rPr>
              <a:t>F</a:t>
            </a:r>
            <a:r>
              <a:rPr lang="en-US" altLang="it-IT" b="1">
                <a:sym typeface="Symbol" panose="05050102010706020507" pitchFamily="18" charset="2"/>
              </a:rPr>
              <a:t>IRST</a:t>
            </a:r>
            <a:r>
              <a:rPr lang="en-US" altLang="it-IT" sz="1800">
                <a:sym typeface="Symbol" panose="05050102010706020507" pitchFamily="18" charset="2"/>
              </a:rPr>
              <a:t>(</a:t>
            </a:r>
            <a:r>
              <a:rPr lang="en-US" altLang="it-IT" sz="1800" i="1">
                <a:sym typeface="Symbol" panose="05050102010706020507" pitchFamily="18" charset="2"/>
              </a:rPr>
              <a:t>SN </a:t>
            </a:r>
            <a:r>
              <a:rPr lang="en-US" altLang="it-IT" sz="1800">
                <a:sym typeface="Symbol" panose="05050102010706020507" pitchFamily="18" charset="2"/>
              </a:rPr>
              <a:t>)  = { </a:t>
            </a:r>
            <a:r>
              <a:rPr lang="en-US" altLang="it-IT" sz="1800" i="1" u="sng">
                <a:sym typeface="Symbol" panose="05050102010706020507" pitchFamily="18" charset="2"/>
              </a:rPr>
              <a:t>baa</a:t>
            </a:r>
            <a:r>
              <a:rPr lang="en-US" altLang="it-IT" sz="1800">
                <a:sym typeface="Symbol" panose="05050102010706020507" pitchFamily="18" charset="2"/>
              </a:rPr>
              <a:t> }</a:t>
            </a:r>
          </a:p>
          <a:p>
            <a:pPr lvl="1" eaLnBrk="1" hangingPunct="1">
              <a:spcBef>
                <a:spcPct val="10000"/>
              </a:spcBef>
              <a:buClr>
                <a:srgbClr val="1822CD"/>
              </a:buClr>
              <a:buSzPct val="80000"/>
              <a:buFont typeface="Symbol" panose="05050102010706020507" pitchFamily="18" charset="2"/>
              <a:buNone/>
            </a:pPr>
            <a:r>
              <a:rPr lang="en-US" altLang="it-IT" sz="1800">
                <a:sym typeface="Symbol" panose="05050102010706020507" pitchFamily="18" charset="2"/>
              </a:rPr>
              <a:t>F</a:t>
            </a:r>
            <a:r>
              <a:rPr lang="en-US" altLang="it-IT" b="1">
                <a:sym typeface="Symbol" panose="05050102010706020507" pitchFamily="18" charset="2"/>
              </a:rPr>
              <a:t>IRST</a:t>
            </a:r>
            <a:r>
              <a:rPr lang="en-US" altLang="it-IT" sz="1800">
                <a:sym typeface="Symbol" panose="05050102010706020507" pitchFamily="18" charset="2"/>
              </a:rPr>
              <a:t>(</a:t>
            </a:r>
            <a:r>
              <a:rPr lang="en-US" altLang="it-IT" sz="1800" i="1" u="sng">
                <a:sym typeface="Symbol" panose="05050102010706020507" pitchFamily="18" charset="2"/>
              </a:rPr>
              <a:t>baa</a:t>
            </a:r>
            <a:r>
              <a:rPr lang="en-US" altLang="it-IT" sz="1800">
                <a:sym typeface="Symbol" panose="05050102010706020507" pitchFamily="18" charset="2"/>
              </a:rPr>
              <a:t>)   = { </a:t>
            </a:r>
            <a:r>
              <a:rPr lang="en-US" altLang="it-IT" sz="1800" i="1" u="sng">
                <a:sym typeface="Symbol" panose="05050102010706020507" pitchFamily="18" charset="2"/>
              </a:rPr>
              <a:t>baa</a:t>
            </a:r>
            <a:r>
              <a:rPr lang="en-US" altLang="it-IT" sz="1800">
                <a:sym typeface="Symbol" panose="05050102010706020507" pitchFamily="18" charset="2"/>
              </a:rPr>
              <a:t> }</a:t>
            </a:r>
            <a:endParaRPr lang="en-US" altLang="it-IT" sz="1800"/>
          </a:p>
        </p:txBody>
      </p:sp>
      <p:sp>
        <p:nvSpPr>
          <p:cNvPr id="11270" name="Freeform 6">
            <a:extLst>
              <a:ext uri="{FF2B5EF4-FFF2-40B4-BE49-F238E27FC236}">
                <a16:creationId xmlns:a16="http://schemas.microsoft.com/office/drawing/2014/main" id="{24BBCD28-E926-44AF-9F4D-6A598F18BDE8}"/>
              </a:ext>
            </a:extLst>
          </p:cNvPr>
          <p:cNvSpPr>
            <a:spLocks/>
          </p:cNvSpPr>
          <p:nvPr/>
        </p:nvSpPr>
        <p:spPr bwMode="auto">
          <a:xfrm>
            <a:off x="4114800" y="1460500"/>
            <a:ext cx="4902200" cy="4025900"/>
          </a:xfrm>
          <a:custGeom>
            <a:avLst/>
            <a:gdLst>
              <a:gd name="T0" fmla="*/ 2147483647 w 3088"/>
              <a:gd name="T1" fmla="*/ 2147483647 h 2536"/>
              <a:gd name="T2" fmla="*/ 2147483647 w 3088"/>
              <a:gd name="T3" fmla="*/ 2147483647 h 2536"/>
              <a:gd name="T4" fmla="*/ 2147483647 w 3088"/>
              <a:gd name="T5" fmla="*/ 2147483647 h 2536"/>
              <a:gd name="T6" fmla="*/ 2147483647 w 3088"/>
              <a:gd name="T7" fmla="*/ 2147483647 h 2536"/>
              <a:gd name="T8" fmla="*/ 2147483647 w 3088"/>
              <a:gd name="T9" fmla="*/ 2147483647 h 2536"/>
              <a:gd name="T10" fmla="*/ 2147483647 w 3088"/>
              <a:gd name="T11" fmla="*/ 2147483647 h 2536"/>
              <a:gd name="T12" fmla="*/ 0 w 3088"/>
              <a:gd name="T13" fmla="*/ 2147483647 h 25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088"/>
              <a:gd name="T22" fmla="*/ 0 h 2536"/>
              <a:gd name="T23" fmla="*/ 3088 w 3088"/>
              <a:gd name="T24" fmla="*/ 2536 h 2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088" h="2536">
                <a:moveTo>
                  <a:pt x="2928" y="2536"/>
                </a:moveTo>
                <a:cubicBezTo>
                  <a:pt x="2992" y="2508"/>
                  <a:pt x="3056" y="2480"/>
                  <a:pt x="3072" y="2344"/>
                </a:cubicBezTo>
                <a:cubicBezTo>
                  <a:pt x="3088" y="2208"/>
                  <a:pt x="3088" y="1912"/>
                  <a:pt x="3024" y="1720"/>
                </a:cubicBezTo>
                <a:cubicBezTo>
                  <a:pt x="2960" y="1528"/>
                  <a:pt x="3008" y="1432"/>
                  <a:pt x="2688" y="1192"/>
                </a:cubicBezTo>
                <a:cubicBezTo>
                  <a:pt x="2368" y="952"/>
                  <a:pt x="1504" y="472"/>
                  <a:pt x="1104" y="280"/>
                </a:cubicBezTo>
                <a:cubicBezTo>
                  <a:pt x="704" y="88"/>
                  <a:pt x="472" y="80"/>
                  <a:pt x="288" y="40"/>
                </a:cubicBezTo>
                <a:cubicBezTo>
                  <a:pt x="104" y="0"/>
                  <a:pt x="52" y="20"/>
                  <a:pt x="0" y="40"/>
                </a:cubicBezTo>
              </a:path>
            </a:pathLst>
          </a:custGeom>
          <a:noFill/>
          <a:ln w="19050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Footer Placeholder 3">
            <a:extLst>
              <a:ext uri="{FF2B5EF4-FFF2-40B4-BE49-F238E27FC236}">
                <a16:creationId xmlns:a16="http://schemas.microsoft.com/office/drawing/2014/main" id="{063CFD14-1F2B-488A-BA6F-12E41E1C54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32770" name="Slide Number Placeholder 4">
            <a:extLst>
              <a:ext uri="{FF2B5EF4-FFF2-40B4-BE49-F238E27FC236}">
                <a16:creationId xmlns:a16="http://schemas.microsoft.com/office/drawing/2014/main" id="{31ADA1AB-7D88-4DD5-BE09-D8209BC8A4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137B7EB-27F9-41AB-958F-51B972AED974}" type="slidenum">
              <a:rPr lang="en-US" altLang="it-IT" sz="1200"/>
              <a:pPr/>
              <a:t>10</a:t>
            </a:fld>
            <a:endParaRPr lang="en-US" altLang="it-IT" sz="12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17238155-ACA8-49E6-B76F-85BE1A232E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100000"/>
              </a:spcBef>
              <a:buFont typeface="Symbol" panose="05050102010706020507" pitchFamily="18" charset="2"/>
              <a:buNone/>
            </a:pPr>
            <a:r>
              <a:rPr lang="en-US" altLang="it-IT">
                <a:sym typeface="Symbol" panose="05050102010706020507" pitchFamily="18" charset="2"/>
              </a:rPr>
              <a:t>Computing F</a:t>
            </a:r>
            <a:r>
              <a:rPr lang="en-US" altLang="it-IT" sz="2000">
                <a:sym typeface="Symbol" panose="05050102010706020507" pitchFamily="18" charset="2"/>
              </a:rPr>
              <a:t>IRST</a:t>
            </a:r>
            <a:r>
              <a:rPr lang="en-US" altLang="it-IT">
                <a:sym typeface="Symbol" panose="05050102010706020507" pitchFamily="18" charset="2"/>
              </a:rPr>
              <a:t> Sets</a:t>
            </a: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E1A022CD-8AF2-4D0F-9E73-9BAD5F2479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19800" y="1371600"/>
            <a:ext cx="2743200" cy="5029200"/>
          </a:xfrm>
        </p:spPr>
        <p:txBody>
          <a:bodyPr/>
          <a:lstStyle/>
          <a:p>
            <a:pPr eaLnBrk="1" hangingPunct="1">
              <a:spcBef>
                <a:spcPct val="100000"/>
              </a:spcBef>
              <a:buFont typeface="Symbol" panose="05050102010706020507" pitchFamily="18" charset="2"/>
              <a:buNone/>
            </a:pP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Outer loop is monotone </a:t>
            </a: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increasing for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 </a:t>
            </a: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FIRST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 </a:t>
            </a: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sets</a:t>
            </a:r>
            <a:endParaRPr lang="en-US" altLang="it-IT">
              <a:solidFill>
                <a:srgbClr val="003C75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40000"/>
              </a:spcBef>
              <a:buFont typeface="Symbol" panose="05050102010706020507" pitchFamily="18" charset="2"/>
              <a:buChar char=""/>
            </a:pP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| T  NT  </a:t>
            </a:r>
            <a:r>
              <a:rPr lang="en-US" altLang="it-IT" sz="1600" b="1" i="1">
                <a:solidFill>
                  <a:srgbClr val="003C75"/>
                </a:solidFill>
                <a:sym typeface="Symbol" panose="05050102010706020507" pitchFamily="18" charset="2"/>
              </a:rPr>
              <a:t></a:t>
            </a:r>
            <a:r>
              <a:rPr lang="en-US" altLang="it-IT" sz="1600" i="1">
                <a:solidFill>
                  <a:srgbClr val="003C75"/>
                </a:solidFill>
                <a:sym typeface="Symbol" panose="05050102010706020507" pitchFamily="18" charset="2"/>
              </a:rPr>
              <a:t> </a:t>
            </a:r>
            <a:r>
              <a:rPr lang="en-US" altLang="it-IT" sz="1600">
                <a:solidFill>
                  <a:srgbClr val="003C75"/>
                </a:solidFill>
                <a:sym typeface="Symbol" panose="05050102010706020507" pitchFamily="18" charset="2"/>
              </a:rPr>
              <a:t>| is </a:t>
            </a: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it-IT" sz="1600">
                <a:solidFill>
                  <a:srgbClr val="003C75"/>
                </a:solidFill>
                <a:sym typeface="Symbol" panose="05050102010706020507" pitchFamily="18" charset="2"/>
              </a:rPr>
              <a:t>bounded, so it terminates</a:t>
            </a:r>
            <a:endParaRPr lang="en-US" altLang="it-IT">
              <a:solidFill>
                <a:srgbClr val="003C75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Inner loop is bounded </a:t>
            </a:r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by the length of the </a:t>
            </a:r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productions in the </a:t>
            </a:r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grammar</a:t>
            </a:r>
            <a:endParaRPr lang="en-US" altLang="it-IT" b="1" i="1">
              <a:solidFill>
                <a:srgbClr val="003C75"/>
              </a:solidFill>
              <a:sym typeface="Symbol" panose="05050102010706020507" pitchFamily="18" charset="2"/>
            </a:endParaRPr>
          </a:p>
        </p:txBody>
      </p:sp>
      <p:sp>
        <p:nvSpPr>
          <p:cNvPr id="32773" name="Text Box 4">
            <a:extLst>
              <a:ext uri="{FF2B5EF4-FFF2-40B4-BE49-F238E27FC236}">
                <a16:creationId xmlns:a16="http://schemas.microsoft.com/office/drawing/2014/main" id="{2F52D8AD-C291-4D85-BC59-CB5E5962A7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419600"/>
            <a:ext cx="2971800" cy="1320800"/>
          </a:xfrm>
          <a:prstGeom prst="rect">
            <a:avLst/>
          </a:prstGeom>
          <a:solidFill>
            <a:srgbClr val="EEEEEE"/>
          </a:solidFill>
          <a:ln w="19050">
            <a:solidFill>
              <a:srgbClr val="B025A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2000">
                <a:sym typeface="Symbol" panose="05050102010706020507" pitchFamily="18" charset="2"/>
              </a:rPr>
              <a:t>For </a:t>
            </a:r>
            <a:r>
              <a:rPr lang="en-US" altLang="it-IT" sz="2000" i="1">
                <a:sym typeface="Symbol" panose="05050102010706020507" pitchFamily="18" charset="2"/>
              </a:rPr>
              <a:t>SheepNoise:</a:t>
            </a:r>
            <a:endParaRPr lang="en-US" altLang="it-IT" sz="2000">
              <a:sym typeface="Symbol" panose="05050102010706020507" pitchFamily="18" charset="2"/>
            </a:endParaRPr>
          </a:p>
          <a:p>
            <a:pPr lvl="1" eaLnBrk="1" hangingPunct="1">
              <a:spcBef>
                <a:spcPct val="10000"/>
              </a:spcBef>
              <a:buClr>
                <a:srgbClr val="1822CD"/>
              </a:buClr>
              <a:buSzPct val="80000"/>
              <a:buFont typeface="Symbol" panose="05050102010706020507" pitchFamily="18" charset="2"/>
              <a:buNone/>
            </a:pPr>
            <a:r>
              <a:rPr lang="en-US" altLang="it-IT" sz="1800">
                <a:sym typeface="Symbol" panose="05050102010706020507" pitchFamily="18" charset="2"/>
              </a:rPr>
              <a:t>F</a:t>
            </a:r>
            <a:r>
              <a:rPr lang="en-US" altLang="it-IT" b="1">
                <a:sym typeface="Symbol" panose="05050102010706020507" pitchFamily="18" charset="2"/>
              </a:rPr>
              <a:t>IRST</a:t>
            </a:r>
            <a:r>
              <a:rPr lang="en-US" altLang="it-IT" sz="1800">
                <a:sym typeface="Symbol" panose="05050102010706020507" pitchFamily="18" charset="2"/>
              </a:rPr>
              <a:t>(</a:t>
            </a:r>
            <a:r>
              <a:rPr lang="en-US" altLang="it-IT" sz="1800" i="1">
                <a:sym typeface="Symbol" panose="05050102010706020507" pitchFamily="18" charset="2"/>
              </a:rPr>
              <a:t>Goal</a:t>
            </a:r>
            <a:r>
              <a:rPr lang="en-US" altLang="it-IT" sz="1800">
                <a:sym typeface="Symbol" panose="05050102010706020507" pitchFamily="18" charset="2"/>
              </a:rPr>
              <a:t>) = { </a:t>
            </a:r>
            <a:r>
              <a:rPr lang="en-US" altLang="it-IT" sz="1800" i="1" u="sng">
                <a:sym typeface="Symbol" panose="05050102010706020507" pitchFamily="18" charset="2"/>
              </a:rPr>
              <a:t>baa</a:t>
            </a:r>
            <a:r>
              <a:rPr lang="en-US" altLang="it-IT" sz="1800">
                <a:sym typeface="Symbol" panose="05050102010706020507" pitchFamily="18" charset="2"/>
              </a:rPr>
              <a:t> }</a:t>
            </a:r>
          </a:p>
          <a:p>
            <a:pPr lvl="1" eaLnBrk="1" hangingPunct="1">
              <a:spcBef>
                <a:spcPct val="10000"/>
              </a:spcBef>
              <a:buClr>
                <a:srgbClr val="1822CD"/>
              </a:buClr>
              <a:buSzPct val="80000"/>
              <a:buFont typeface="Symbol" panose="05050102010706020507" pitchFamily="18" charset="2"/>
              <a:buNone/>
            </a:pPr>
            <a:r>
              <a:rPr lang="en-US" altLang="it-IT" sz="1800">
                <a:sym typeface="Symbol" panose="05050102010706020507" pitchFamily="18" charset="2"/>
              </a:rPr>
              <a:t>F</a:t>
            </a:r>
            <a:r>
              <a:rPr lang="en-US" altLang="it-IT" b="1">
                <a:sym typeface="Symbol" panose="05050102010706020507" pitchFamily="18" charset="2"/>
              </a:rPr>
              <a:t>IRST</a:t>
            </a:r>
            <a:r>
              <a:rPr lang="en-US" altLang="it-IT" sz="1800">
                <a:sym typeface="Symbol" panose="05050102010706020507" pitchFamily="18" charset="2"/>
              </a:rPr>
              <a:t>(</a:t>
            </a:r>
            <a:r>
              <a:rPr lang="en-US" altLang="it-IT" sz="1800" i="1">
                <a:sym typeface="Symbol" panose="05050102010706020507" pitchFamily="18" charset="2"/>
              </a:rPr>
              <a:t>SN </a:t>
            </a:r>
            <a:r>
              <a:rPr lang="en-US" altLang="it-IT" sz="1800">
                <a:sym typeface="Symbol" panose="05050102010706020507" pitchFamily="18" charset="2"/>
              </a:rPr>
              <a:t>)  = { </a:t>
            </a:r>
            <a:r>
              <a:rPr lang="en-US" altLang="it-IT" sz="1800" i="1" u="sng">
                <a:sym typeface="Symbol" panose="05050102010706020507" pitchFamily="18" charset="2"/>
              </a:rPr>
              <a:t>baa</a:t>
            </a:r>
            <a:r>
              <a:rPr lang="en-US" altLang="it-IT" sz="1800">
                <a:sym typeface="Symbol" panose="05050102010706020507" pitchFamily="18" charset="2"/>
              </a:rPr>
              <a:t> }</a:t>
            </a:r>
          </a:p>
          <a:p>
            <a:pPr lvl="1" eaLnBrk="1" hangingPunct="1">
              <a:spcBef>
                <a:spcPct val="10000"/>
              </a:spcBef>
              <a:buClr>
                <a:srgbClr val="1822CD"/>
              </a:buClr>
              <a:buSzPct val="80000"/>
              <a:buFont typeface="Symbol" panose="05050102010706020507" pitchFamily="18" charset="2"/>
              <a:buNone/>
            </a:pPr>
            <a:r>
              <a:rPr lang="en-US" altLang="it-IT" sz="1800">
                <a:sym typeface="Symbol" panose="05050102010706020507" pitchFamily="18" charset="2"/>
              </a:rPr>
              <a:t>F</a:t>
            </a:r>
            <a:r>
              <a:rPr lang="en-US" altLang="it-IT" b="1">
                <a:sym typeface="Symbol" panose="05050102010706020507" pitchFamily="18" charset="2"/>
              </a:rPr>
              <a:t>IRST</a:t>
            </a:r>
            <a:r>
              <a:rPr lang="en-US" altLang="it-IT" sz="1800">
                <a:sym typeface="Symbol" panose="05050102010706020507" pitchFamily="18" charset="2"/>
              </a:rPr>
              <a:t>(</a:t>
            </a:r>
            <a:r>
              <a:rPr lang="en-US" altLang="it-IT" sz="1800" i="1" u="sng">
                <a:sym typeface="Symbol" panose="05050102010706020507" pitchFamily="18" charset="2"/>
              </a:rPr>
              <a:t>baa</a:t>
            </a:r>
            <a:r>
              <a:rPr lang="en-US" altLang="it-IT" sz="1800">
                <a:sym typeface="Symbol" panose="05050102010706020507" pitchFamily="18" charset="2"/>
              </a:rPr>
              <a:t>)   = { </a:t>
            </a:r>
            <a:r>
              <a:rPr lang="en-US" altLang="it-IT" sz="1800" i="1" u="sng">
                <a:sym typeface="Symbol" panose="05050102010706020507" pitchFamily="18" charset="2"/>
              </a:rPr>
              <a:t>baa</a:t>
            </a:r>
            <a:r>
              <a:rPr lang="en-US" altLang="it-IT" sz="1800">
                <a:sym typeface="Symbol" panose="05050102010706020507" pitchFamily="18" charset="2"/>
              </a:rPr>
              <a:t> }</a:t>
            </a:r>
            <a:endParaRPr lang="en-US" altLang="it-IT" sz="1800"/>
          </a:p>
        </p:txBody>
      </p:sp>
      <p:grpSp>
        <p:nvGrpSpPr>
          <p:cNvPr id="32774" name="Group 9">
            <a:extLst>
              <a:ext uri="{FF2B5EF4-FFF2-40B4-BE49-F238E27FC236}">
                <a16:creationId xmlns:a16="http://schemas.microsoft.com/office/drawing/2014/main" id="{60C13FE0-AD6D-489E-A294-B3C3E12E0175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2743200"/>
            <a:ext cx="5372100" cy="2438400"/>
            <a:chOff x="2448" y="1728"/>
            <a:chExt cx="3384" cy="1536"/>
          </a:xfrm>
        </p:grpSpPr>
        <p:sp>
          <p:nvSpPr>
            <p:cNvPr id="32776" name="Freeform 6">
              <a:extLst>
                <a:ext uri="{FF2B5EF4-FFF2-40B4-BE49-F238E27FC236}">
                  <a16:creationId xmlns:a16="http://schemas.microsoft.com/office/drawing/2014/main" id="{75BEE348-E843-495B-98B9-5387B4754D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8" y="1744"/>
              <a:ext cx="3384" cy="1520"/>
            </a:xfrm>
            <a:custGeom>
              <a:avLst/>
              <a:gdLst>
                <a:gd name="T0" fmla="*/ 3120 w 3384"/>
                <a:gd name="T1" fmla="*/ 1520 h 1520"/>
                <a:gd name="T2" fmla="*/ 3216 w 3384"/>
                <a:gd name="T3" fmla="*/ 1232 h 1520"/>
                <a:gd name="T4" fmla="*/ 3120 w 3384"/>
                <a:gd name="T5" fmla="*/ 752 h 1520"/>
                <a:gd name="T6" fmla="*/ 1632 w 3384"/>
                <a:gd name="T7" fmla="*/ 272 h 1520"/>
                <a:gd name="T8" fmla="*/ 912 w 3384"/>
                <a:gd name="T9" fmla="*/ 32 h 1520"/>
                <a:gd name="T10" fmla="*/ 0 w 3384"/>
                <a:gd name="T11" fmla="*/ 80 h 15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384"/>
                <a:gd name="T19" fmla="*/ 0 h 1520"/>
                <a:gd name="T20" fmla="*/ 3384 w 3384"/>
                <a:gd name="T21" fmla="*/ 1520 h 152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384" h="1520">
                  <a:moveTo>
                    <a:pt x="3120" y="1520"/>
                  </a:moveTo>
                  <a:cubicBezTo>
                    <a:pt x="3168" y="1440"/>
                    <a:pt x="3216" y="1360"/>
                    <a:pt x="3216" y="1232"/>
                  </a:cubicBezTo>
                  <a:cubicBezTo>
                    <a:pt x="3216" y="1104"/>
                    <a:pt x="3384" y="912"/>
                    <a:pt x="3120" y="752"/>
                  </a:cubicBezTo>
                  <a:cubicBezTo>
                    <a:pt x="2856" y="592"/>
                    <a:pt x="2000" y="392"/>
                    <a:pt x="1632" y="272"/>
                  </a:cubicBezTo>
                  <a:cubicBezTo>
                    <a:pt x="1264" y="152"/>
                    <a:pt x="1184" y="64"/>
                    <a:pt x="912" y="32"/>
                  </a:cubicBezTo>
                  <a:cubicBezTo>
                    <a:pt x="640" y="0"/>
                    <a:pt x="320" y="40"/>
                    <a:pt x="0" y="80"/>
                  </a:cubicBezTo>
                </a:path>
              </a:pathLst>
            </a:custGeom>
            <a:noFill/>
            <a:ln w="19050">
              <a:solidFill>
                <a:srgbClr val="FF006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32777" name="Text Box 7">
              <a:extLst>
                <a:ext uri="{FF2B5EF4-FFF2-40B4-BE49-F238E27FC236}">
                  <a16:creationId xmlns:a16="http://schemas.microsoft.com/office/drawing/2014/main" id="{410A5DD7-3DCA-4123-A7F8-96CE0BB010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728"/>
              <a:ext cx="1248" cy="2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800">
                  <a:solidFill>
                    <a:srgbClr val="FF0065"/>
                  </a:solidFill>
                </a:rPr>
                <a:t>For </a:t>
              </a:r>
              <a:r>
                <a:rPr lang="en-US" altLang="it-IT" sz="1800" i="1">
                  <a:solidFill>
                    <a:srgbClr val="FF0065"/>
                  </a:solidFill>
                </a:rPr>
                <a:t>SN</a:t>
              </a:r>
              <a:r>
                <a:rPr lang="en-US" altLang="it-IT" sz="1800">
                  <a:solidFill>
                    <a:srgbClr val="FF0065"/>
                  </a:solidFill>
                </a:rPr>
                <a:t> </a:t>
              </a:r>
              <a:r>
                <a:rPr lang="en-US" altLang="it-IT" sz="1800">
                  <a:solidFill>
                    <a:srgbClr val="FF0065"/>
                  </a:solidFill>
                  <a:sym typeface="Symbol" panose="05050102010706020507" pitchFamily="18" charset="2"/>
                </a:rPr>
                <a:t> </a:t>
              </a:r>
              <a:r>
                <a:rPr lang="en-US" altLang="it-IT" sz="1800" i="1" u="sng">
                  <a:solidFill>
                    <a:srgbClr val="FF0065"/>
                  </a:solidFill>
                  <a:sym typeface="Symbol" panose="05050102010706020507" pitchFamily="18" charset="2"/>
                </a:rPr>
                <a:t>baa</a:t>
              </a:r>
              <a:endParaRPr lang="en-US" altLang="it-IT" sz="1800">
                <a:solidFill>
                  <a:srgbClr val="FF0065"/>
                </a:solidFill>
              </a:endParaRPr>
            </a:p>
          </p:txBody>
        </p:sp>
      </p:grpSp>
      <p:sp>
        <p:nvSpPr>
          <p:cNvPr id="32775" name="Text Box 8">
            <a:extLst>
              <a:ext uri="{FF2B5EF4-FFF2-40B4-BE49-F238E27FC236}">
                <a16:creationId xmlns:a16="http://schemas.microsoft.com/office/drawing/2014/main" id="{B2E30FCF-FC26-4DA4-A0E1-A5F4E4858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447800"/>
            <a:ext cx="5105400" cy="4276725"/>
          </a:xfrm>
          <a:prstGeom prst="rect">
            <a:avLst/>
          </a:prstGeom>
          <a:noFill/>
          <a:ln w="19050" algn="ctr">
            <a:solidFill>
              <a:srgbClr val="7F7F7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455613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defTabSz="455613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defTabSz="455613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defTabSz="455613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defTabSz="455613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i="1"/>
              <a:t>for each x </a:t>
            </a:r>
            <a:r>
              <a:rPr lang="en-US" altLang="it-IT" i="1">
                <a:sym typeface="Symbol" panose="05050102010706020507" pitchFamily="18" charset="2"/>
              </a:rPr>
              <a:t> </a:t>
            </a:r>
            <a:r>
              <a:rPr lang="en-US" altLang="it-IT" i="1"/>
              <a:t> T, FIRST(</a:t>
            </a:r>
            <a:r>
              <a:rPr lang="en-US" altLang="it-IT" i="1">
                <a:sym typeface="Symbol" panose="05050102010706020507" pitchFamily="18" charset="2"/>
              </a:rPr>
              <a:t>x)   {</a:t>
            </a:r>
            <a:r>
              <a:rPr lang="en-US" altLang="it-IT" sz="900" i="1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x</a:t>
            </a:r>
            <a:r>
              <a:rPr lang="en-US" altLang="it-IT" sz="900" i="1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}</a:t>
            </a:r>
          </a:p>
          <a:p>
            <a:pPr>
              <a:spcBef>
                <a:spcPct val="20000"/>
              </a:spcBef>
            </a:pPr>
            <a:r>
              <a:rPr lang="en-US" altLang="it-IT" i="1">
                <a:sym typeface="Symbol" panose="05050102010706020507" pitchFamily="18" charset="2"/>
              </a:rPr>
              <a:t>for each A </a:t>
            </a:r>
            <a:r>
              <a:rPr lang="en-US" altLang="it-IT" i="1"/>
              <a:t> NT, FIRST(</a:t>
            </a:r>
            <a:r>
              <a:rPr lang="en-US" altLang="it-IT" i="1">
                <a:sym typeface="Symbol" panose="05050102010706020507" pitchFamily="18" charset="2"/>
              </a:rPr>
              <a:t>A)  Ø</a:t>
            </a:r>
          </a:p>
          <a:p>
            <a:pPr>
              <a:spcBef>
                <a:spcPct val="50000"/>
              </a:spcBef>
            </a:pPr>
            <a:r>
              <a:rPr lang="en-US" altLang="it-IT" i="1">
                <a:sym typeface="Symbol" panose="05050102010706020507" pitchFamily="18" charset="2"/>
              </a:rPr>
              <a:t>while (FIRST sets are still changing) do</a:t>
            </a:r>
          </a:p>
          <a:p>
            <a:r>
              <a:rPr lang="en-US" altLang="it-IT" i="1">
                <a:sym typeface="Symbol" panose="05050102010706020507" pitchFamily="18" charset="2"/>
              </a:rPr>
              <a:t>    for each p </a:t>
            </a:r>
            <a:r>
              <a:rPr lang="en-US" altLang="it-IT" i="1"/>
              <a:t> P, of the form </a:t>
            </a:r>
            <a:r>
              <a:rPr lang="en-US" altLang="it-IT" i="1">
                <a:sym typeface="Symbol" panose="05050102010706020507" pitchFamily="18" charset="2"/>
              </a:rPr>
              <a:t>A do</a:t>
            </a:r>
          </a:p>
          <a:p>
            <a:r>
              <a:rPr lang="en-US" altLang="it-IT" i="1">
                <a:sym typeface="Symbol" panose="05050102010706020507" pitchFamily="18" charset="2"/>
              </a:rPr>
              <a:t>        if  is B</a:t>
            </a:r>
            <a:r>
              <a:rPr lang="en-US" altLang="it-IT" i="1" baseline="-25000">
                <a:sym typeface="Symbol" panose="05050102010706020507" pitchFamily="18" charset="2"/>
              </a:rPr>
              <a:t>1</a:t>
            </a:r>
            <a:r>
              <a:rPr lang="en-US" altLang="it-IT" i="1">
                <a:sym typeface="Symbol" panose="05050102010706020507" pitchFamily="18" charset="2"/>
              </a:rPr>
              <a:t>B</a:t>
            </a:r>
            <a:r>
              <a:rPr lang="en-US" altLang="it-IT" i="1" baseline="-25000">
                <a:sym typeface="Symbol" panose="05050102010706020507" pitchFamily="18" charset="2"/>
              </a:rPr>
              <a:t>2</a:t>
            </a:r>
            <a:r>
              <a:rPr lang="en-US" altLang="it-IT" i="1">
                <a:sym typeface="Symbol" panose="05050102010706020507" pitchFamily="18" charset="2"/>
              </a:rPr>
              <a:t>…B</a:t>
            </a:r>
            <a:r>
              <a:rPr lang="en-US" altLang="it-IT" i="1" baseline="-25000">
                <a:sym typeface="Symbol" panose="05050102010706020507" pitchFamily="18" charset="2"/>
              </a:rPr>
              <a:t>k</a:t>
            </a:r>
            <a:r>
              <a:rPr lang="en-US" altLang="it-IT" i="1">
                <a:sym typeface="Symbol" panose="05050102010706020507" pitchFamily="18" charset="2"/>
              </a:rPr>
              <a:t> then begin; </a:t>
            </a:r>
          </a:p>
          <a:p>
            <a:r>
              <a:rPr lang="en-US" altLang="it-IT" i="1">
                <a:sym typeface="Symbol" panose="05050102010706020507" pitchFamily="18" charset="2"/>
              </a:rPr>
              <a:t>	    rhs  FIRST(B</a:t>
            </a:r>
            <a:r>
              <a:rPr lang="en-US" altLang="it-IT" i="1" baseline="-25000">
                <a:sym typeface="Symbol" panose="05050102010706020507" pitchFamily="18" charset="2"/>
              </a:rPr>
              <a:t>1</a:t>
            </a:r>
            <a:r>
              <a:rPr lang="en-US" altLang="it-IT" i="1">
                <a:sym typeface="Symbol" panose="05050102010706020507" pitchFamily="18" charset="2"/>
              </a:rPr>
              <a:t>) –  {</a:t>
            </a:r>
            <a:r>
              <a:rPr lang="en-US" altLang="it-IT" sz="900" i="1">
                <a:sym typeface="Symbol" panose="05050102010706020507" pitchFamily="18" charset="2"/>
              </a:rPr>
              <a:t> </a:t>
            </a:r>
            <a:r>
              <a:rPr lang="en-US" altLang="it-IT" sz="1800" i="1">
                <a:sym typeface="Symbol" panose="05050102010706020507" pitchFamily="18" charset="2"/>
              </a:rPr>
              <a:t></a:t>
            </a:r>
            <a:r>
              <a:rPr lang="en-US" altLang="it-IT" sz="900" i="1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}</a:t>
            </a:r>
          </a:p>
          <a:p>
            <a:pPr>
              <a:spcBef>
                <a:spcPct val="20000"/>
              </a:spcBef>
            </a:pPr>
            <a:r>
              <a:rPr lang="en-US" altLang="it-IT" i="1">
                <a:sym typeface="Symbol" panose="05050102010706020507" pitchFamily="18" charset="2"/>
              </a:rPr>
              <a:t>	    for i  1 to k–1 by 1 while  </a:t>
            </a:r>
            <a:r>
              <a:rPr lang="en-US" altLang="it-IT" i="1"/>
              <a:t> </a:t>
            </a:r>
            <a:r>
              <a:rPr lang="en-US" altLang="it-IT" i="1">
                <a:sym typeface="Symbol" panose="05050102010706020507" pitchFamily="18" charset="2"/>
              </a:rPr>
              <a:t>FIRST(B</a:t>
            </a:r>
            <a:r>
              <a:rPr lang="en-US" altLang="it-IT" i="1" baseline="-25000">
                <a:sym typeface="Symbol" panose="05050102010706020507" pitchFamily="18" charset="2"/>
              </a:rPr>
              <a:t>i</a:t>
            </a:r>
            <a:r>
              <a:rPr lang="en-US" altLang="it-IT" i="1">
                <a:sym typeface="Symbol" panose="05050102010706020507" pitchFamily="18" charset="2"/>
              </a:rPr>
              <a:t>) do</a:t>
            </a:r>
          </a:p>
          <a:p>
            <a:r>
              <a:rPr lang="en-US" altLang="it-IT" i="1">
                <a:sym typeface="Symbol" panose="05050102010706020507" pitchFamily="18" charset="2"/>
              </a:rPr>
              <a:t>                 rhs  rhs  (</a:t>
            </a:r>
            <a:r>
              <a:rPr lang="en-US" altLang="it-IT" sz="1000" i="1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FIRST(B</a:t>
            </a:r>
            <a:r>
              <a:rPr lang="en-US" altLang="it-IT" i="1" baseline="-25000">
                <a:sym typeface="Symbol" panose="05050102010706020507" pitchFamily="18" charset="2"/>
              </a:rPr>
              <a:t>i+1</a:t>
            </a:r>
            <a:r>
              <a:rPr lang="en-US" altLang="it-IT" i="1">
                <a:sym typeface="Symbol" panose="05050102010706020507" pitchFamily="18" charset="2"/>
              </a:rPr>
              <a:t>)</a:t>
            </a:r>
            <a:r>
              <a:rPr lang="en-US" altLang="it-IT" sz="1400" i="1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–</a:t>
            </a:r>
            <a:r>
              <a:rPr lang="en-US" altLang="it-IT" sz="1400" i="1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{ </a:t>
            </a:r>
            <a:r>
              <a:rPr lang="en-US" altLang="it-IT" sz="1800" i="1">
                <a:sym typeface="Symbol" panose="05050102010706020507" pitchFamily="18" charset="2"/>
              </a:rPr>
              <a:t></a:t>
            </a:r>
            <a:r>
              <a:rPr lang="en-US" altLang="it-IT" i="1">
                <a:sym typeface="Symbol" panose="05050102010706020507" pitchFamily="18" charset="2"/>
              </a:rPr>
              <a:t> }</a:t>
            </a:r>
            <a:r>
              <a:rPr lang="en-US" altLang="it-IT" sz="1000" i="1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)</a:t>
            </a:r>
          </a:p>
          <a:p>
            <a:r>
              <a:rPr lang="en-US" altLang="it-IT" i="1">
                <a:sym typeface="Symbol" panose="05050102010706020507" pitchFamily="18" charset="2"/>
              </a:rPr>
              <a:t>	  	  end  // for loop</a:t>
            </a:r>
          </a:p>
          <a:p>
            <a:r>
              <a:rPr lang="en-US" altLang="it-IT" i="1">
                <a:sym typeface="Symbol" panose="05050102010706020507" pitchFamily="18" charset="2"/>
              </a:rPr>
              <a:t>         end          // if-then </a:t>
            </a:r>
          </a:p>
          <a:p>
            <a:pPr>
              <a:spcBef>
                <a:spcPct val="20000"/>
              </a:spcBef>
            </a:pPr>
            <a:r>
              <a:rPr lang="en-US" altLang="it-IT" i="1">
                <a:sym typeface="Symbol" panose="05050102010706020507" pitchFamily="18" charset="2"/>
              </a:rPr>
              <a:t>	  if  i = k and  </a:t>
            </a:r>
            <a:r>
              <a:rPr lang="en-US" altLang="it-IT" i="1"/>
              <a:t> </a:t>
            </a:r>
            <a:r>
              <a:rPr lang="en-US" altLang="it-IT" i="1">
                <a:sym typeface="Symbol" panose="05050102010706020507" pitchFamily="18" charset="2"/>
              </a:rPr>
              <a:t>FIRST(B</a:t>
            </a:r>
            <a:r>
              <a:rPr lang="en-US" altLang="it-IT" i="1" baseline="-25000">
                <a:sym typeface="Symbol" panose="05050102010706020507" pitchFamily="18" charset="2"/>
              </a:rPr>
              <a:t>k </a:t>
            </a:r>
            <a:r>
              <a:rPr lang="en-US" altLang="it-IT" i="1">
                <a:sym typeface="Symbol" panose="05050102010706020507" pitchFamily="18" charset="2"/>
              </a:rPr>
              <a:t>) </a:t>
            </a:r>
          </a:p>
          <a:p>
            <a:r>
              <a:rPr lang="en-US" altLang="it-IT" i="1">
                <a:sym typeface="Symbol" panose="05050102010706020507" pitchFamily="18" charset="2"/>
              </a:rPr>
              <a:t>	      then rhs  rhs  {</a:t>
            </a:r>
            <a:r>
              <a:rPr lang="en-US" altLang="it-IT" sz="1000" i="1">
                <a:sym typeface="Symbol" panose="05050102010706020507" pitchFamily="18" charset="2"/>
              </a:rPr>
              <a:t> </a:t>
            </a:r>
            <a:r>
              <a:rPr lang="en-US" altLang="it-IT" sz="1800" i="1">
                <a:sym typeface="Symbol" panose="05050102010706020507" pitchFamily="18" charset="2"/>
              </a:rPr>
              <a:t></a:t>
            </a:r>
            <a:r>
              <a:rPr lang="en-US" altLang="it-IT" sz="1000" i="1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}</a:t>
            </a:r>
            <a:endParaRPr lang="en-US" altLang="it-IT" i="1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>
              <a:spcBef>
                <a:spcPct val="20000"/>
              </a:spcBef>
            </a:pPr>
            <a:r>
              <a:rPr lang="en-US" altLang="it-IT" i="1">
                <a:sym typeface="Symbol" panose="05050102010706020507" pitchFamily="18" charset="2"/>
              </a:rPr>
              <a:t>	   FIRST(A)  FIRST(A)  rhs</a:t>
            </a:r>
          </a:p>
          <a:p>
            <a:pPr>
              <a:spcBef>
                <a:spcPct val="20000"/>
              </a:spcBef>
            </a:pPr>
            <a:r>
              <a:rPr lang="en-US" altLang="it-IT" i="1">
                <a:sym typeface="Symbol" panose="05050102010706020507" pitchFamily="18" charset="2"/>
              </a:rPr>
              <a:t>          end  // for loop</a:t>
            </a:r>
          </a:p>
          <a:p>
            <a:pPr>
              <a:spcBef>
                <a:spcPct val="20000"/>
              </a:spcBef>
            </a:pPr>
            <a:r>
              <a:rPr lang="en-US" altLang="it-IT" i="1">
                <a:sym typeface="Symbol" panose="05050102010706020507" pitchFamily="18" charset="2"/>
              </a:rPr>
              <a:t>     end       // while loop</a:t>
            </a:r>
          </a:p>
        </p:txBody>
      </p:sp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Footer Placeholder 3">
            <a:extLst>
              <a:ext uri="{FF2B5EF4-FFF2-40B4-BE49-F238E27FC236}">
                <a16:creationId xmlns:a16="http://schemas.microsoft.com/office/drawing/2014/main" id="{301F60F4-CDCE-4AEA-B158-F7C943A992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34818" name="Slide Number Placeholder 4">
            <a:extLst>
              <a:ext uri="{FF2B5EF4-FFF2-40B4-BE49-F238E27FC236}">
                <a16:creationId xmlns:a16="http://schemas.microsoft.com/office/drawing/2014/main" id="{908EF9F6-1C1B-42BC-8493-67185BF82A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A376438-9D99-4465-9EB4-A7CFC95436FA}" type="slidenum">
              <a:rPr lang="en-US" altLang="it-IT" sz="1200"/>
              <a:pPr/>
              <a:t>11</a:t>
            </a:fld>
            <a:endParaRPr lang="en-US" altLang="it-IT" sz="12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2287F5CC-79BE-4B76-A9D4-B0D9FF4D39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100000"/>
              </a:spcBef>
              <a:buFont typeface="Symbol" panose="05050102010706020507" pitchFamily="18" charset="2"/>
              <a:buNone/>
            </a:pPr>
            <a:r>
              <a:rPr lang="en-US" altLang="it-IT">
                <a:sym typeface="Symbol" panose="05050102010706020507" pitchFamily="18" charset="2"/>
              </a:rPr>
              <a:t>Computing F</a:t>
            </a:r>
            <a:r>
              <a:rPr lang="en-US" altLang="it-IT" sz="2000">
                <a:sym typeface="Symbol" panose="05050102010706020507" pitchFamily="18" charset="2"/>
              </a:rPr>
              <a:t>IRST</a:t>
            </a:r>
            <a:r>
              <a:rPr lang="en-US" altLang="it-IT">
                <a:sym typeface="Symbol" panose="05050102010706020507" pitchFamily="18" charset="2"/>
              </a:rPr>
              <a:t> Sets</a:t>
            </a: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FFB453EA-86E9-4BB2-A94D-36F4D6CE51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19800" y="1371600"/>
            <a:ext cx="2743200" cy="5029200"/>
          </a:xfrm>
        </p:spPr>
        <p:txBody>
          <a:bodyPr/>
          <a:lstStyle/>
          <a:p>
            <a:pPr eaLnBrk="1" hangingPunct="1">
              <a:spcBef>
                <a:spcPct val="100000"/>
              </a:spcBef>
              <a:buFont typeface="Symbol" panose="05050102010706020507" pitchFamily="18" charset="2"/>
              <a:buNone/>
            </a:pP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Outer loop is monotone </a:t>
            </a: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increasing for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 </a:t>
            </a: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FIRST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 </a:t>
            </a: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sets</a:t>
            </a:r>
            <a:endParaRPr lang="en-US" altLang="it-IT">
              <a:solidFill>
                <a:srgbClr val="003C75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40000"/>
              </a:spcBef>
              <a:buFont typeface="Symbol" panose="05050102010706020507" pitchFamily="18" charset="2"/>
              <a:buChar char=""/>
            </a:pP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| T  NT  </a:t>
            </a:r>
            <a:r>
              <a:rPr lang="en-US" altLang="it-IT" sz="1600" b="1" i="1">
                <a:solidFill>
                  <a:srgbClr val="003C75"/>
                </a:solidFill>
                <a:sym typeface="Symbol" panose="05050102010706020507" pitchFamily="18" charset="2"/>
              </a:rPr>
              <a:t></a:t>
            </a:r>
            <a:r>
              <a:rPr lang="en-US" altLang="it-IT" sz="1600" i="1">
                <a:solidFill>
                  <a:srgbClr val="003C75"/>
                </a:solidFill>
                <a:sym typeface="Symbol" panose="05050102010706020507" pitchFamily="18" charset="2"/>
              </a:rPr>
              <a:t> </a:t>
            </a:r>
            <a:r>
              <a:rPr lang="en-US" altLang="it-IT" sz="1600">
                <a:solidFill>
                  <a:srgbClr val="003C75"/>
                </a:solidFill>
                <a:sym typeface="Symbol" panose="05050102010706020507" pitchFamily="18" charset="2"/>
              </a:rPr>
              <a:t>| is </a:t>
            </a: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it-IT" sz="1600">
                <a:solidFill>
                  <a:srgbClr val="003C75"/>
                </a:solidFill>
                <a:sym typeface="Symbol" panose="05050102010706020507" pitchFamily="18" charset="2"/>
              </a:rPr>
              <a:t>bounded, so it terminates</a:t>
            </a:r>
            <a:endParaRPr lang="en-US" altLang="it-IT">
              <a:solidFill>
                <a:srgbClr val="003C75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Inner loop is bounded </a:t>
            </a:r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by the length of the </a:t>
            </a:r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productions in the </a:t>
            </a:r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grammar</a:t>
            </a:r>
            <a:endParaRPr lang="en-US" altLang="it-IT" b="1" i="1">
              <a:solidFill>
                <a:srgbClr val="003C75"/>
              </a:solidFill>
              <a:sym typeface="Symbol" panose="05050102010706020507" pitchFamily="18" charset="2"/>
            </a:endParaRPr>
          </a:p>
        </p:txBody>
      </p:sp>
      <p:sp>
        <p:nvSpPr>
          <p:cNvPr id="40966" name="Text Box 4">
            <a:extLst>
              <a:ext uri="{FF2B5EF4-FFF2-40B4-BE49-F238E27FC236}">
                <a16:creationId xmlns:a16="http://schemas.microsoft.com/office/drawing/2014/main" id="{AA146A37-0FBA-41CC-B159-049004A02A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419600"/>
            <a:ext cx="2971800" cy="13208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20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For </a:t>
            </a:r>
            <a:r>
              <a:rPr lang="en-US" sz="2000" i="1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SheepNoise</a:t>
            </a:r>
            <a:r>
              <a:rPr lang="en-US" sz="2000" i="1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:</a:t>
            </a:r>
            <a:endParaRPr lang="en-US" sz="2000" dirty="0">
              <a:latin typeface="Comic Sans MS" charset="0"/>
              <a:ea typeface="ヒラギノ角ゴ Pro W3" charset="-128"/>
              <a:cs typeface="ヒラギノ角ゴ Pro W3" charset="-128"/>
              <a:sym typeface="Symbol" charset="2"/>
            </a:endParaRPr>
          </a:p>
          <a:p>
            <a:pPr lvl="1">
              <a:spcBef>
                <a:spcPct val="10000"/>
              </a:spcBef>
              <a:buClr>
                <a:srgbClr val="1822CD"/>
              </a:buClr>
              <a:buSzPct val="80000"/>
              <a:buFont typeface="Symbol" charset="2"/>
              <a:buNone/>
              <a:defRPr/>
            </a:pPr>
            <a:r>
              <a:rPr lang="en-US" sz="18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F</a:t>
            </a:r>
            <a:r>
              <a:rPr lang="en-US" b="1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IRST</a:t>
            </a:r>
            <a:r>
              <a:rPr lang="en-US" sz="18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(</a:t>
            </a:r>
            <a:r>
              <a:rPr lang="en-US" sz="1800" i="1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Goal</a:t>
            </a: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) = { </a:t>
            </a:r>
            <a:r>
              <a:rPr lang="en-US" sz="1800" i="1" u="sng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baa</a:t>
            </a: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}</a:t>
            </a:r>
          </a:p>
          <a:p>
            <a:pPr lvl="1">
              <a:spcBef>
                <a:spcPct val="10000"/>
              </a:spcBef>
              <a:buClr>
                <a:srgbClr val="1822CD"/>
              </a:buClr>
              <a:buSzPct val="80000"/>
              <a:buFont typeface="Symbol" charset="2"/>
              <a:buNone/>
              <a:defRPr/>
            </a:pP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F</a:t>
            </a:r>
            <a:r>
              <a:rPr lang="en-US" b="1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IRST</a:t>
            </a: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(</a:t>
            </a:r>
            <a:r>
              <a:rPr lang="en-US" sz="1800" i="1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SN </a:t>
            </a: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)  = { </a:t>
            </a:r>
            <a:r>
              <a:rPr lang="en-US" sz="1800" i="1" u="sng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baa</a:t>
            </a: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}</a:t>
            </a:r>
          </a:p>
          <a:p>
            <a:pPr lvl="1">
              <a:spcBef>
                <a:spcPct val="10000"/>
              </a:spcBef>
              <a:buClr>
                <a:srgbClr val="1822CD"/>
              </a:buClr>
              <a:buSzPct val="80000"/>
              <a:buFont typeface="Symbol" charset="2"/>
              <a:buNone/>
              <a:defRPr/>
            </a:pPr>
            <a:r>
              <a:rPr lang="en-US" sz="18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F</a:t>
            </a:r>
            <a:r>
              <a:rPr lang="en-US" b="1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IRST</a:t>
            </a:r>
            <a:r>
              <a:rPr lang="en-US" sz="1800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(</a:t>
            </a:r>
            <a:r>
              <a:rPr lang="en-US" sz="1800" i="1" u="sng" dirty="0" err="1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baa</a:t>
            </a: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)   = { </a:t>
            </a:r>
            <a:r>
              <a:rPr lang="en-US" sz="1800" i="1" u="sng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baa</a:t>
            </a:r>
            <a:r>
              <a:rPr lang="en-US" sz="18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}</a:t>
            </a:r>
            <a:endParaRPr lang="en-US" sz="1800" dirty="0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  <p:grpSp>
        <p:nvGrpSpPr>
          <p:cNvPr id="34822" name="Group 9">
            <a:extLst>
              <a:ext uri="{FF2B5EF4-FFF2-40B4-BE49-F238E27FC236}">
                <a16:creationId xmlns:a16="http://schemas.microsoft.com/office/drawing/2014/main" id="{1926ECEC-DE89-423B-A9F4-9411615AEAA0}"/>
              </a:ext>
            </a:extLst>
          </p:cNvPr>
          <p:cNvGrpSpPr>
            <a:grpSpLocks/>
          </p:cNvGrpSpPr>
          <p:nvPr/>
        </p:nvGrpSpPr>
        <p:grpSpPr bwMode="auto">
          <a:xfrm>
            <a:off x="3810000" y="2667000"/>
            <a:ext cx="5080000" cy="2209800"/>
            <a:chOff x="2400" y="1680"/>
            <a:chExt cx="3200" cy="1392"/>
          </a:xfrm>
        </p:grpSpPr>
        <p:sp>
          <p:nvSpPr>
            <p:cNvPr id="34824" name="Text Box 6">
              <a:extLst>
                <a:ext uri="{FF2B5EF4-FFF2-40B4-BE49-F238E27FC236}">
                  <a16:creationId xmlns:a16="http://schemas.microsoft.com/office/drawing/2014/main" id="{E5060AD9-AB0B-4D9F-873E-A76DF937A7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680"/>
              <a:ext cx="1440" cy="2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800">
                  <a:solidFill>
                    <a:srgbClr val="FF0065"/>
                  </a:solidFill>
                </a:rPr>
                <a:t>For </a:t>
              </a:r>
              <a:r>
                <a:rPr lang="en-US" altLang="it-IT" sz="1800" i="1">
                  <a:solidFill>
                    <a:srgbClr val="FF0065"/>
                  </a:solidFill>
                </a:rPr>
                <a:t>Goal </a:t>
              </a:r>
              <a:r>
                <a:rPr lang="en-US" altLang="it-IT" sz="1800">
                  <a:solidFill>
                    <a:srgbClr val="FF0065"/>
                  </a:solidFill>
                  <a:sym typeface="Symbol" panose="05050102010706020507" pitchFamily="18" charset="2"/>
                </a:rPr>
                <a:t> </a:t>
              </a:r>
              <a:r>
                <a:rPr lang="en-US" altLang="it-IT" sz="1800" i="1">
                  <a:solidFill>
                    <a:srgbClr val="FF0065"/>
                  </a:solidFill>
                  <a:sym typeface="Symbol" panose="05050102010706020507" pitchFamily="18" charset="2"/>
                </a:rPr>
                <a:t>SN</a:t>
              </a:r>
              <a:endParaRPr lang="en-US" altLang="it-IT" sz="1800">
                <a:solidFill>
                  <a:srgbClr val="FF0065"/>
                </a:solidFill>
              </a:endParaRPr>
            </a:p>
          </p:txBody>
        </p:sp>
        <p:sp>
          <p:nvSpPr>
            <p:cNvPr id="34825" name="Freeform 7">
              <a:extLst>
                <a:ext uri="{FF2B5EF4-FFF2-40B4-BE49-F238E27FC236}">
                  <a16:creationId xmlns:a16="http://schemas.microsoft.com/office/drawing/2014/main" id="{B308E03A-BDE3-4D98-A858-1A8DFF4D09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0" y="1848"/>
              <a:ext cx="3200" cy="1224"/>
            </a:xfrm>
            <a:custGeom>
              <a:avLst/>
              <a:gdLst>
                <a:gd name="T0" fmla="*/ 3072 w 3200"/>
                <a:gd name="T1" fmla="*/ 1224 h 1224"/>
                <a:gd name="T2" fmla="*/ 3120 w 3200"/>
                <a:gd name="T3" fmla="*/ 792 h 1224"/>
                <a:gd name="T4" fmla="*/ 2592 w 3200"/>
                <a:gd name="T5" fmla="*/ 216 h 1224"/>
                <a:gd name="T6" fmla="*/ 1248 w 3200"/>
                <a:gd name="T7" fmla="*/ 24 h 1224"/>
                <a:gd name="T8" fmla="*/ 0 w 3200"/>
                <a:gd name="T9" fmla="*/ 72 h 1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00"/>
                <a:gd name="T16" fmla="*/ 0 h 1224"/>
                <a:gd name="T17" fmla="*/ 3200 w 3200"/>
                <a:gd name="T18" fmla="*/ 1224 h 1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00" h="1224">
                  <a:moveTo>
                    <a:pt x="3072" y="1224"/>
                  </a:moveTo>
                  <a:cubicBezTo>
                    <a:pt x="3136" y="1092"/>
                    <a:pt x="3200" y="960"/>
                    <a:pt x="3120" y="792"/>
                  </a:cubicBezTo>
                  <a:cubicBezTo>
                    <a:pt x="3040" y="624"/>
                    <a:pt x="2904" y="344"/>
                    <a:pt x="2592" y="216"/>
                  </a:cubicBezTo>
                  <a:cubicBezTo>
                    <a:pt x="2280" y="88"/>
                    <a:pt x="1680" y="48"/>
                    <a:pt x="1248" y="24"/>
                  </a:cubicBezTo>
                  <a:cubicBezTo>
                    <a:pt x="816" y="0"/>
                    <a:pt x="408" y="36"/>
                    <a:pt x="0" y="72"/>
                  </a:cubicBezTo>
                </a:path>
              </a:pathLst>
            </a:custGeom>
            <a:noFill/>
            <a:ln w="19050">
              <a:solidFill>
                <a:srgbClr val="FF006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  <p:sp>
        <p:nvSpPr>
          <p:cNvPr id="34823" name="Text Box 8">
            <a:extLst>
              <a:ext uri="{FF2B5EF4-FFF2-40B4-BE49-F238E27FC236}">
                <a16:creationId xmlns:a16="http://schemas.microsoft.com/office/drawing/2014/main" id="{136198DD-5187-46ED-A655-D13A03620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447800"/>
            <a:ext cx="5105400" cy="4276725"/>
          </a:xfrm>
          <a:prstGeom prst="rect">
            <a:avLst/>
          </a:prstGeom>
          <a:noFill/>
          <a:ln w="19050" algn="ctr">
            <a:solidFill>
              <a:srgbClr val="7F7F7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455613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defTabSz="455613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defTabSz="455613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defTabSz="455613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defTabSz="455613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defTabSz="455613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i="1"/>
              <a:t>for each x </a:t>
            </a:r>
            <a:r>
              <a:rPr lang="en-US" altLang="it-IT" i="1">
                <a:sym typeface="Symbol" panose="05050102010706020507" pitchFamily="18" charset="2"/>
              </a:rPr>
              <a:t> </a:t>
            </a:r>
            <a:r>
              <a:rPr lang="en-US" altLang="it-IT" i="1"/>
              <a:t> T, FIRST(</a:t>
            </a:r>
            <a:r>
              <a:rPr lang="en-US" altLang="it-IT" i="1">
                <a:sym typeface="Symbol" panose="05050102010706020507" pitchFamily="18" charset="2"/>
              </a:rPr>
              <a:t>x)   {</a:t>
            </a:r>
            <a:r>
              <a:rPr lang="en-US" altLang="it-IT" sz="900" i="1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x</a:t>
            </a:r>
            <a:r>
              <a:rPr lang="en-US" altLang="it-IT" sz="900" i="1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}</a:t>
            </a:r>
          </a:p>
          <a:p>
            <a:pPr>
              <a:spcBef>
                <a:spcPct val="20000"/>
              </a:spcBef>
            </a:pPr>
            <a:r>
              <a:rPr lang="en-US" altLang="it-IT" i="1">
                <a:sym typeface="Symbol" panose="05050102010706020507" pitchFamily="18" charset="2"/>
              </a:rPr>
              <a:t>for each A </a:t>
            </a:r>
            <a:r>
              <a:rPr lang="en-US" altLang="it-IT" i="1"/>
              <a:t> NT, FIRST(</a:t>
            </a:r>
            <a:r>
              <a:rPr lang="en-US" altLang="it-IT" i="1">
                <a:sym typeface="Symbol" panose="05050102010706020507" pitchFamily="18" charset="2"/>
              </a:rPr>
              <a:t>A)  Ø</a:t>
            </a:r>
          </a:p>
          <a:p>
            <a:pPr>
              <a:spcBef>
                <a:spcPct val="50000"/>
              </a:spcBef>
            </a:pPr>
            <a:r>
              <a:rPr lang="en-US" altLang="it-IT" i="1">
                <a:sym typeface="Symbol" panose="05050102010706020507" pitchFamily="18" charset="2"/>
              </a:rPr>
              <a:t>while (FIRST sets are still changing) do</a:t>
            </a:r>
          </a:p>
          <a:p>
            <a:r>
              <a:rPr lang="en-US" altLang="it-IT" i="1">
                <a:sym typeface="Symbol" panose="05050102010706020507" pitchFamily="18" charset="2"/>
              </a:rPr>
              <a:t>    for each p </a:t>
            </a:r>
            <a:r>
              <a:rPr lang="en-US" altLang="it-IT" i="1"/>
              <a:t> P, of the form </a:t>
            </a:r>
            <a:r>
              <a:rPr lang="en-US" altLang="it-IT" i="1">
                <a:sym typeface="Symbol" panose="05050102010706020507" pitchFamily="18" charset="2"/>
              </a:rPr>
              <a:t>A do</a:t>
            </a:r>
          </a:p>
          <a:p>
            <a:r>
              <a:rPr lang="en-US" altLang="it-IT" i="1">
                <a:sym typeface="Symbol" panose="05050102010706020507" pitchFamily="18" charset="2"/>
              </a:rPr>
              <a:t>        if  is B</a:t>
            </a:r>
            <a:r>
              <a:rPr lang="en-US" altLang="it-IT" i="1" baseline="-25000">
                <a:sym typeface="Symbol" panose="05050102010706020507" pitchFamily="18" charset="2"/>
              </a:rPr>
              <a:t>1</a:t>
            </a:r>
            <a:r>
              <a:rPr lang="en-US" altLang="it-IT" i="1">
                <a:sym typeface="Symbol" panose="05050102010706020507" pitchFamily="18" charset="2"/>
              </a:rPr>
              <a:t>B</a:t>
            </a:r>
            <a:r>
              <a:rPr lang="en-US" altLang="it-IT" i="1" baseline="-25000">
                <a:sym typeface="Symbol" panose="05050102010706020507" pitchFamily="18" charset="2"/>
              </a:rPr>
              <a:t>2</a:t>
            </a:r>
            <a:r>
              <a:rPr lang="en-US" altLang="it-IT" i="1">
                <a:sym typeface="Symbol" panose="05050102010706020507" pitchFamily="18" charset="2"/>
              </a:rPr>
              <a:t>…B</a:t>
            </a:r>
            <a:r>
              <a:rPr lang="en-US" altLang="it-IT" i="1" baseline="-25000">
                <a:sym typeface="Symbol" panose="05050102010706020507" pitchFamily="18" charset="2"/>
              </a:rPr>
              <a:t>k</a:t>
            </a:r>
            <a:r>
              <a:rPr lang="en-US" altLang="it-IT" i="1">
                <a:sym typeface="Symbol" panose="05050102010706020507" pitchFamily="18" charset="2"/>
              </a:rPr>
              <a:t> then begin; </a:t>
            </a:r>
          </a:p>
          <a:p>
            <a:r>
              <a:rPr lang="en-US" altLang="it-IT" i="1">
                <a:sym typeface="Symbol" panose="05050102010706020507" pitchFamily="18" charset="2"/>
              </a:rPr>
              <a:t>	    rhs  FIRST(B</a:t>
            </a:r>
            <a:r>
              <a:rPr lang="en-US" altLang="it-IT" i="1" baseline="-25000">
                <a:sym typeface="Symbol" panose="05050102010706020507" pitchFamily="18" charset="2"/>
              </a:rPr>
              <a:t>1</a:t>
            </a:r>
            <a:r>
              <a:rPr lang="en-US" altLang="it-IT" i="1">
                <a:sym typeface="Symbol" panose="05050102010706020507" pitchFamily="18" charset="2"/>
              </a:rPr>
              <a:t>) –  {</a:t>
            </a:r>
            <a:r>
              <a:rPr lang="en-US" altLang="it-IT" sz="900" i="1">
                <a:sym typeface="Symbol" panose="05050102010706020507" pitchFamily="18" charset="2"/>
              </a:rPr>
              <a:t> </a:t>
            </a:r>
            <a:r>
              <a:rPr lang="en-US" altLang="it-IT" sz="1800" i="1">
                <a:sym typeface="Symbol" panose="05050102010706020507" pitchFamily="18" charset="2"/>
              </a:rPr>
              <a:t></a:t>
            </a:r>
            <a:r>
              <a:rPr lang="en-US" altLang="it-IT" sz="900" i="1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}</a:t>
            </a:r>
          </a:p>
          <a:p>
            <a:pPr>
              <a:spcBef>
                <a:spcPct val="20000"/>
              </a:spcBef>
            </a:pPr>
            <a:r>
              <a:rPr lang="en-US" altLang="it-IT" i="1">
                <a:sym typeface="Symbol" panose="05050102010706020507" pitchFamily="18" charset="2"/>
              </a:rPr>
              <a:t>	    for i  1 to k–1 by 1 while  </a:t>
            </a:r>
            <a:r>
              <a:rPr lang="en-US" altLang="it-IT" i="1"/>
              <a:t> </a:t>
            </a:r>
            <a:r>
              <a:rPr lang="en-US" altLang="it-IT" i="1">
                <a:sym typeface="Symbol" panose="05050102010706020507" pitchFamily="18" charset="2"/>
              </a:rPr>
              <a:t>FIRST(B</a:t>
            </a:r>
            <a:r>
              <a:rPr lang="en-US" altLang="it-IT" i="1" baseline="-25000">
                <a:sym typeface="Symbol" panose="05050102010706020507" pitchFamily="18" charset="2"/>
              </a:rPr>
              <a:t>i</a:t>
            </a:r>
            <a:r>
              <a:rPr lang="en-US" altLang="it-IT" i="1">
                <a:sym typeface="Symbol" panose="05050102010706020507" pitchFamily="18" charset="2"/>
              </a:rPr>
              <a:t>) do</a:t>
            </a:r>
          </a:p>
          <a:p>
            <a:r>
              <a:rPr lang="en-US" altLang="it-IT" i="1">
                <a:sym typeface="Symbol" panose="05050102010706020507" pitchFamily="18" charset="2"/>
              </a:rPr>
              <a:t>                 rhs  rhs  (</a:t>
            </a:r>
            <a:r>
              <a:rPr lang="en-US" altLang="it-IT" sz="1000" i="1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FIRST(B</a:t>
            </a:r>
            <a:r>
              <a:rPr lang="en-US" altLang="it-IT" i="1" baseline="-25000">
                <a:sym typeface="Symbol" panose="05050102010706020507" pitchFamily="18" charset="2"/>
              </a:rPr>
              <a:t>i+1</a:t>
            </a:r>
            <a:r>
              <a:rPr lang="en-US" altLang="it-IT" i="1">
                <a:sym typeface="Symbol" panose="05050102010706020507" pitchFamily="18" charset="2"/>
              </a:rPr>
              <a:t>)</a:t>
            </a:r>
            <a:r>
              <a:rPr lang="en-US" altLang="it-IT" sz="1400" i="1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–</a:t>
            </a:r>
            <a:r>
              <a:rPr lang="en-US" altLang="it-IT" sz="1400" i="1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{ </a:t>
            </a:r>
            <a:r>
              <a:rPr lang="en-US" altLang="it-IT" sz="1800" i="1">
                <a:sym typeface="Symbol" panose="05050102010706020507" pitchFamily="18" charset="2"/>
              </a:rPr>
              <a:t></a:t>
            </a:r>
            <a:r>
              <a:rPr lang="en-US" altLang="it-IT" i="1">
                <a:sym typeface="Symbol" panose="05050102010706020507" pitchFamily="18" charset="2"/>
              </a:rPr>
              <a:t> }</a:t>
            </a:r>
            <a:r>
              <a:rPr lang="en-US" altLang="it-IT" sz="1000" i="1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)</a:t>
            </a:r>
          </a:p>
          <a:p>
            <a:r>
              <a:rPr lang="en-US" altLang="it-IT" i="1">
                <a:sym typeface="Symbol" panose="05050102010706020507" pitchFamily="18" charset="2"/>
              </a:rPr>
              <a:t>	  	  end  // for loop</a:t>
            </a:r>
          </a:p>
          <a:p>
            <a:r>
              <a:rPr lang="en-US" altLang="it-IT" i="1">
                <a:sym typeface="Symbol" panose="05050102010706020507" pitchFamily="18" charset="2"/>
              </a:rPr>
              <a:t>         end          // if-then </a:t>
            </a:r>
          </a:p>
          <a:p>
            <a:pPr>
              <a:spcBef>
                <a:spcPct val="20000"/>
              </a:spcBef>
            </a:pPr>
            <a:r>
              <a:rPr lang="en-US" altLang="it-IT" i="1">
                <a:sym typeface="Symbol" panose="05050102010706020507" pitchFamily="18" charset="2"/>
              </a:rPr>
              <a:t>	  if  i = k and  </a:t>
            </a:r>
            <a:r>
              <a:rPr lang="en-US" altLang="it-IT" i="1"/>
              <a:t> </a:t>
            </a:r>
            <a:r>
              <a:rPr lang="en-US" altLang="it-IT" i="1">
                <a:sym typeface="Symbol" panose="05050102010706020507" pitchFamily="18" charset="2"/>
              </a:rPr>
              <a:t>FIRST(B</a:t>
            </a:r>
            <a:r>
              <a:rPr lang="en-US" altLang="it-IT" i="1" baseline="-25000">
                <a:sym typeface="Symbol" panose="05050102010706020507" pitchFamily="18" charset="2"/>
              </a:rPr>
              <a:t>k </a:t>
            </a:r>
            <a:r>
              <a:rPr lang="en-US" altLang="it-IT" i="1">
                <a:sym typeface="Symbol" panose="05050102010706020507" pitchFamily="18" charset="2"/>
              </a:rPr>
              <a:t>) </a:t>
            </a:r>
          </a:p>
          <a:p>
            <a:r>
              <a:rPr lang="en-US" altLang="it-IT" i="1">
                <a:sym typeface="Symbol" panose="05050102010706020507" pitchFamily="18" charset="2"/>
              </a:rPr>
              <a:t>	      then rhs  rhs  {</a:t>
            </a:r>
            <a:r>
              <a:rPr lang="en-US" altLang="it-IT" sz="1000" i="1">
                <a:sym typeface="Symbol" panose="05050102010706020507" pitchFamily="18" charset="2"/>
              </a:rPr>
              <a:t> </a:t>
            </a:r>
            <a:r>
              <a:rPr lang="en-US" altLang="it-IT" sz="1800" i="1">
                <a:sym typeface="Symbol" panose="05050102010706020507" pitchFamily="18" charset="2"/>
              </a:rPr>
              <a:t></a:t>
            </a:r>
            <a:r>
              <a:rPr lang="en-US" altLang="it-IT" sz="1000" i="1">
                <a:sym typeface="Symbol" panose="05050102010706020507" pitchFamily="18" charset="2"/>
              </a:rPr>
              <a:t> </a:t>
            </a:r>
            <a:r>
              <a:rPr lang="en-US" altLang="it-IT" i="1">
                <a:sym typeface="Symbol" panose="05050102010706020507" pitchFamily="18" charset="2"/>
              </a:rPr>
              <a:t>}</a:t>
            </a:r>
            <a:endParaRPr lang="en-US" altLang="it-IT" i="1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>
              <a:spcBef>
                <a:spcPct val="20000"/>
              </a:spcBef>
            </a:pPr>
            <a:r>
              <a:rPr lang="en-US" altLang="it-IT" i="1">
                <a:sym typeface="Symbol" panose="05050102010706020507" pitchFamily="18" charset="2"/>
              </a:rPr>
              <a:t>	   FIRST(A)  FIRST(A)  rhs</a:t>
            </a:r>
          </a:p>
          <a:p>
            <a:pPr>
              <a:spcBef>
                <a:spcPct val="20000"/>
              </a:spcBef>
            </a:pPr>
            <a:r>
              <a:rPr lang="en-US" altLang="it-IT" i="1">
                <a:sym typeface="Symbol" panose="05050102010706020507" pitchFamily="18" charset="2"/>
              </a:rPr>
              <a:t>          end  // for loop</a:t>
            </a:r>
          </a:p>
          <a:p>
            <a:pPr>
              <a:spcBef>
                <a:spcPct val="20000"/>
              </a:spcBef>
            </a:pPr>
            <a:r>
              <a:rPr lang="en-US" altLang="it-IT" i="1">
                <a:sym typeface="Symbol" panose="05050102010706020507" pitchFamily="18" charset="2"/>
              </a:rPr>
              <a:t>     end       // while loop</a:t>
            </a:r>
          </a:p>
        </p:txBody>
      </p:sp>
    </p:spTree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Footer Placeholder 3">
            <a:extLst>
              <a:ext uri="{FF2B5EF4-FFF2-40B4-BE49-F238E27FC236}">
                <a16:creationId xmlns:a16="http://schemas.microsoft.com/office/drawing/2014/main" id="{7F2B3332-611E-49B0-B23A-1F2D5CCB8E6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36866" name="Slide Number Placeholder 4">
            <a:extLst>
              <a:ext uri="{FF2B5EF4-FFF2-40B4-BE49-F238E27FC236}">
                <a16:creationId xmlns:a16="http://schemas.microsoft.com/office/drawing/2014/main" id="{C3DE8544-898D-4448-AD92-3B2472EA4F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38EC632-69B1-48A9-83C6-A43AD78DB8FE}" type="slidenum">
              <a:rPr lang="en-US" altLang="it-IT" sz="1200"/>
              <a:pPr/>
              <a:t>12</a:t>
            </a:fld>
            <a:endParaRPr lang="en-US" altLang="it-IT" sz="1200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C8F7ECAD-A224-49EC-9600-15EC53EC5F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100000"/>
              </a:spcBef>
              <a:buFont typeface="Symbol" panose="05050102010706020507" pitchFamily="18" charset="2"/>
              <a:buNone/>
            </a:pPr>
            <a:r>
              <a:rPr lang="en-US" altLang="it-IT">
                <a:sym typeface="Symbol" panose="05050102010706020507" pitchFamily="18" charset="2"/>
              </a:rPr>
              <a:t>Computing F</a:t>
            </a:r>
            <a:r>
              <a:rPr lang="en-US" altLang="it-IT" sz="2000">
                <a:sym typeface="Symbol" panose="05050102010706020507" pitchFamily="18" charset="2"/>
              </a:rPr>
              <a:t>OLLOW</a:t>
            </a:r>
            <a:r>
              <a:rPr lang="en-US" altLang="it-IT">
                <a:sym typeface="Symbol" panose="05050102010706020507" pitchFamily="18" charset="2"/>
              </a:rPr>
              <a:t> Sets</a:t>
            </a:r>
          </a:p>
        </p:txBody>
      </p:sp>
      <p:sp>
        <p:nvSpPr>
          <p:cNvPr id="36868" name="Text Box 3">
            <a:extLst>
              <a:ext uri="{FF2B5EF4-FFF2-40B4-BE49-F238E27FC236}">
                <a16:creationId xmlns:a16="http://schemas.microsoft.com/office/drawing/2014/main" id="{61651FEF-91E8-42C7-A118-FB6D85429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228725"/>
            <a:ext cx="7924800" cy="372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346075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defTabSz="346075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defTabSz="346075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defTabSz="346075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defTabSz="346075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defTabSz="3460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defTabSz="3460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defTabSz="3460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defTabSz="3460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800" i="1">
                <a:sym typeface="Symbol" panose="05050102010706020507" pitchFamily="18" charset="2"/>
              </a:rPr>
              <a:t>for each A </a:t>
            </a:r>
            <a:r>
              <a:rPr lang="en-US" altLang="it-IT" sz="1800">
                <a:sym typeface="Symbol" panose="05050102010706020507" pitchFamily="18" charset="2"/>
              </a:rPr>
              <a:t></a:t>
            </a:r>
            <a:r>
              <a:rPr lang="en-US" altLang="it-IT" sz="1800" i="1"/>
              <a:t> NT, FOLLOW(</a:t>
            </a:r>
            <a:r>
              <a:rPr lang="en-US" altLang="it-IT" sz="1800" i="1">
                <a:sym typeface="Symbol" panose="05050102010706020507" pitchFamily="18" charset="2"/>
              </a:rPr>
              <a:t>A)  Ø</a:t>
            </a:r>
          </a:p>
          <a:p>
            <a:pPr>
              <a:spcBef>
                <a:spcPct val="50000"/>
              </a:spcBef>
            </a:pPr>
            <a:r>
              <a:rPr lang="en-US" altLang="it-IT" sz="1800" i="1"/>
              <a:t>FOLLOW(</a:t>
            </a:r>
            <a:r>
              <a:rPr lang="en-US" altLang="it-IT" sz="1800" i="1">
                <a:sym typeface="Symbol" panose="05050102010706020507" pitchFamily="18" charset="2"/>
              </a:rPr>
              <a:t>S)  </a:t>
            </a:r>
            <a:r>
              <a:rPr lang="en-US" altLang="it-IT" sz="1800">
                <a:sym typeface="Symbol" panose="05050102010706020507" pitchFamily="18" charset="2"/>
              </a:rPr>
              <a:t>{</a:t>
            </a:r>
            <a:r>
              <a:rPr lang="en-US" altLang="it-IT" sz="1800" i="1">
                <a:sym typeface="Symbol" panose="05050102010706020507" pitchFamily="18" charset="2"/>
              </a:rPr>
              <a:t>EOF</a:t>
            </a:r>
            <a:r>
              <a:rPr lang="en-US" altLang="it-IT" i="1">
                <a:sym typeface="Symbol" panose="05050102010706020507" pitchFamily="18" charset="2"/>
              </a:rPr>
              <a:t> </a:t>
            </a:r>
            <a:r>
              <a:rPr lang="en-US" altLang="it-IT" sz="1800">
                <a:sym typeface="Symbol" panose="05050102010706020507" pitchFamily="18" charset="2"/>
              </a:rPr>
              <a:t>}</a:t>
            </a:r>
            <a:endParaRPr lang="en-US" altLang="it-IT" sz="1800" i="1"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</a:pPr>
            <a:r>
              <a:rPr lang="en-US" altLang="it-IT" sz="1800" i="1">
                <a:sym typeface="Symbol" panose="05050102010706020507" pitchFamily="18" charset="2"/>
              </a:rPr>
              <a:t>while (FOLLOW sets are still changing)</a:t>
            </a:r>
          </a:p>
          <a:p>
            <a:r>
              <a:rPr lang="en-US" altLang="it-IT" sz="1800" i="1">
                <a:sym typeface="Symbol" panose="05050102010706020507" pitchFamily="18" charset="2"/>
              </a:rPr>
              <a:t>	for each p </a:t>
            </a:r>
            <a:r>
              <a:rPr lang="en-US" altLang="it-IT" sz="1800">
                <a:sym typeface="Symbol" panose="05050102010706020507" pitchFamily="18" charset="2"/>
              </a:rPr>
              <a:t></a:t>
            </a:r>
            <a:r>
              <a:rPr lang="en-US" altLang="it-IT" sz="1800" i="1"/>
              <a:t> P, of the form </a:t>
            </a:r>
            <a:r>
              <a:rPr lang="en-US" altLang="it-IT" sz="1800" i="1">
                <a:sym typeface="Symbol" panose="05050102010706020507" pitchFamily="18" charset="2"/>
              </a:rPr>
              <a:t>AB</a:t>
            </a:r>
            <a:r>
              <a:rPr lang="en-US" altLang="it-IT" sz="1800" i="1" baseline="-25000">
                <a:sym typeface="Symbol" panose="05050102010706020507" pitchFamily="18" charset="2"/>
              </a:rPr>
              <a:t>1</a:t>
            </a:r>
            <a:r>
              <a:rPr lang="en-US" altLang="it-IT" sz="1800" i="1">
                <a:sym typeface="Symbol" panose="05050102010706020507" pitchFamily="18" charset="2"/>
              </a:rPr>
              <a:t>B</a:t>
            </a:r>
            <a:r>
              <a:rPr lang="en-US" altLang="it-IT" sz="1800" i="1" baseline="-25000">
                <a:sym typeface="Symbol" panose="05050102010706020507" pitchFamily="18" charset="2"/>
              </a:rPr>
              <a:t>2</a:t>
            </a:r>
            <a:r>
              <a:rPr lang="en-US" altLang="it-IT" sz="1800" i="1">
                <a:sym typeface="Symbol" panose="05050102010706020507" pitchFamily="18" charset="2"/>
              </a:rPr>
              <a:t> … B</a:t>
            </a:r>
            <a:r>
              <a:rPr lang="en-US" altLang="it-IT" sz="1800" i="1" baseline="-25000">
                <a:sym typeface="Symbol" panose="05050102010706020507" pitchFamily="18" charset="2"/>
              </a:rPr>
              <a:t>k</a:t>
            </a:r>
          </a:p>
          <a:p>
            <a:r>
              <a:rPr lang="en-US" altLang="it-IT" sz="1800" i="1">
                <a:sym typeface="Symbol" panose="05050102010706020507" pitchFamily="18" charset="2"/>
              </a:rPr>
              <a:t>		TRAILER  FOLLOW(A)</a:t>
            </a:r>
          </a:p>
          <a:p>
            <a:r>
              <a:rPr lang="en-US" altLang="it-IT" sz="1800" i="1">
                <a:sym typeface="Symbol" panose="05050102010706020507" pitchFamily="18" charset="2"/>
              </a:rPr>
              <a:t>		for i  k down to 1</a:t>
            </a:r>
          </a:p>
          <a:p>
            <a:r>
              <a:rPr lang="en-US" altLang="it-IT" sz="1800" i="1">
                <a:sym typeface="Symbol" panose="05050102010706020507" pitchFamily="18" charset="2"/>
              </a:rPr>
              <a:t>			if B</a:t>
            </a:r>
            <a:r>
              <a:rPr lang="en-US" altLang="it-IT" sz="1800" i="1" baseline="-25000">
                <a:sym typeface="Symbol" panose="05050102010706020507" pitchFamily="18" charset="2"/>
              </a:rPr>
              <a:t>i </a:t>
            </a:r>
            <a:r>
              <a:rPr lang="en-US" altLang="it-IT" sz="1800">
                <a:sym typeface="Symbol" panose="05050102010706020507" pitchFamily="18" charset="2"/>
              </a:rPr>
              <a:t></a:t>
            </a:r>
            <a:r>
              <a:rPr lang="en-US" altLang="it-IT" sz="1800" i="1"/>
              <a:t> NT</a:t>
            </a:r>
            <a:r>
              <a:rPr lang="en-US" altLang="it-IT" sz="1800" i="1">
                <a:sym typeface="Symbol" panose="05050102010706020507" pitchFamily="18" charset="2"/>
              </a:rPr>
              <a:t> then                   	         </a:t>
            </a:r>
            <a:r>
              <a:rPr lang="en-US" altLang="it-IT" sz="1800" i="1">
                <a:solidFill>
                  <a:srgbClr val="003C75"/>
                </a:solidFill>
                <a:sym typeface="Symbol" panose="05050102010706020507" pitchFamily="18" charset="2"/>
              </a:rPr>
              <a:t>// domain check</a:t>
            </a:r>
          </a:p>
          <a:p>
            <a:r>
              <a:rPr lang="en-US" altLang="it-IT" sz="1800" i="1">
                <a:sym typeface="Symbol" panose="05050102010706020507" pitchFamily="18" charset="2"/>
              </a:rPr>
              <a:t>				FOLLOW(B</a:t>
            </a:r>
            <a:r>
              <a:rPr lang="en-US" altLang="it-IT" sz="1800" i="1" baseline="-25000">
                <a:sym typeface="Symbol" panose="05050102010706020507" pitchFamily="18" charset="2"/>
              </a:rPr>
              <a:t>i</a:t>
            </a:r>
            <a:r>
              <a:rPr lang="en-US" altLang="it-IT" sz="1800" i="1">
                <a:sym typeface="Symbol" panose="05050102010706020507" pitchFamily="18" charset="2"/>
              </a:rPr>
              <a:t>)  FOLLOW(B</a:t>
            </a:r>
            <a:r>
              <a:rPr lang="en-US" altLang="it-IT" sz="1800" i="1" baseline="-25000">
                <a:sym typeface="Symbol" panose="05050102010706020507" pitchFamily="18" charset="2"/>
              </a:rPr>
              <a:t>i</a:t>
            </a:r>
            <a:r>
              <a:rPr lang="en-US" altLang="it-IT" sz="1800" i="1">
                <a:sym typeface="Symbol" panose="05050102010706020507" pitchFamily="18" charset="2"/>
              </a:rPr>
              <a:t>) </a:t>
            </a:r>
            <a:r>
              <a:rPr lang="en-US" altLang="it-IT" sz="1800">
                <a:sym typeface="Symbol" panose="05050102010706020507" pitchFamily="18" charset="2"/>
              </a:rPr>
              <a:t> </a:t>
            </a:r>
            <a:r>
              <a:rPr lang="en-US" altLang="it-IT" sz="1800" i="1">
                <a:sym typeface="Symbol" panose="05050102010706020507" pitchFamily="18" charset="2"/>
              </a:rPr>
              <a:t>TRAILER</a:t>
            </a:r>
          </a:p>
          <a:p>
            <a:r>
              <a:rPr lang="en-US" altLang="it-IT" sz="1800" i="1">
                <a:sym typeface="Symbol" panose="05050102010706020507" pitchFamily="18" charset="2"/>
              </a:rPr>
              <a:t>				if  </a:t>
            </a:r>
            <a:r>
              <a:rPr lang="en-US" altLang="it-IT" sz="1800">
                <a:sym typeface="Symbol" panose="05050102010706020507" pitchFamily="18" charset="2"/>
              </a:rPr>
              <a:t></a:t>
            </a:r>
            <a:r>
              <a:rPr lang="en-US" altLang="it-IT" sz="1800" i="1"/>
              <a:t> </a:t>
            </a:r>
            <a:r>
              <a:rPr lang="en-US" altLang="it-IT" sz="1800" i="1">
                <a:sym typeface="Symbol" panose="05050102010706020507" pitchFamily="18" charset="2"/>
              </a:rPr>
              <a:t>FIRST(B</a:t>
            </a:r>
            <a:r>
              <a:rPr lang="en-US" altLang="it-IT" sz="1800" i="1" baseline="-25000">
                <a:sym typeface="Symbol" panose="05050102010706020507" pitchFamily="18" charset="2"/>
              </a:rPr>
              <a:t>i </a:t>
            </a:r>
            <a:r>
              <a:rPr lang="en-US" altLang="it-IT" sz="1800" i="1">
                <a:sym typeface="Symbol" panose="05050102010706020507" pitchFamily="18" charset="2"/>
              </a:rPr>
              <a:t>) 	         	        </a:t>
            </a:r>
            <a:r>
              <a:rPr lang="en-US" altLang="it-IT" sz="1800" i="1">
                <a:solidFill>
                  <a:srgbClr val="003C75"/>
                </a:solidFill>
                <a:sym typeface="Symbol" panose="05050102010706020507" pitchFamily="18" charset="2"/>
              </a:rPr>
              <a:t>// add right context </a:t>
            </a:r>
          </a:p>
          <a:p>
            <a:r>
              <a:rPr lang="en-US" altLang="it-IT" sz="1800" i="1">
                <a:sym typeface="Symbol" panose="05050102010706020507" pitchFamily="18" charset="2"/>
              </a:rPr>
              <a:t>				   then TRAILER  TRAILER </a:t>
            </a:r>
            <a:r>
              <a:rPr lang="en-US" altLang="it-IT" sz="1800">
                <a:sym typeface="Symbol" panose="05050102010706020507" pitchFamily="18" charset="2"/>
              </a:rPr>
              <a:t> ( </a:t>
            </a:r>
            <a:r>
              <a:rPr lang="en-US" altLang="it-IT" sz="1800" i="1">
                <a:sym typeface="Symbol" panose="05050102010706020507" pitchFamily="18" charset="2"/>
              </a:rPr>
              <a:t>FIRST(B</a:t>
            </a:r>
            <a:r>
              <a:rPr lang="en-US" altLang="it-IT" sz="1800" i="1" baseline="-25000">
                <a:sym typeface="Symbol" panose="05050102010706020507" pitchFamily="18" charset="2"/>
              </a:rPr>
              <a:t>i</a:t>
            </a:r>
            <a:r>
              <a:rPr lang="en-US" altLang="it-IT" sz="1800" i="1">
                <a:sym typeface="Symbol" panose="05050102010706020507" pitchFamily="18" charset="2"/>
              </a:rPr>
              <a:t>) –  </a:t>
            </a:r>
            <a:r>
              <a:rPr lang="en-US" altLang="it-IT" sz="1800">
                <a:sym typeface="Symbol" panose="05050102010706020507" pitchFamily="18" charset="2"/>
              </a:rPr>
              <a:t>{</a:t>
            </a:r>
            <a:r>
              <a:rPr lang="en-US" altLang="it-IT" sz="1000">
                <a:sym typeface="Symbol" panose="05050102010706020507" pitchFamily="18" charset="2"/>
              </a:rPr>
              <a:t> </a:t>
            </a:r>
            <a:r>
              <a:rPr lang="en-US" altLang="it-IT" sz="2000" i="1">
                <a:sym typeface="Symbol" panose="05050102010706020507" pitchFamily="18" charset="2"/>
              </a:rPr>
              <a:t></a:t>
            </a:r>
            <a:r>
              <a:rPr lang="en-US" altLang="it-IT" sz="1000" i="1">
                <a:sym typeface="Symbol" panose="05050102010706020507" pitchFamily="18" charset="2"/>
              </a:rPr>
              <a:t> </a:t>
            </a:r>
            <a:r>
              <a:rPr lang="en-US" altLang="it-IT" sz="1800">
                <a:sym typeface="Symbol" panose="05050102010706020507" pitchFamily="18" charset="2"/>
              </a:rPr>
              <a:t>}</a:t>
            </a:r>
            <a:r>
              <a:rPr lang="en-US" altLang="it-IT" sz="1000">
                <a:sym typeface="Symbol" panose="05050102010706020507" pitchFamily="18" charset="2"/>
              </a:rPr>
              <a:t> </a:t>
            </a:r>
            <a:r>
              <a:rPr lang="en-US" altLang="it-IT" sz="1800">
                <a:sym typeface="Symbol" panose="05050102010706020507" pitchFamily="18" charset="2"/>
              </a:rPr>
              <a:t>)</a:t>
            </a:r>
          </a:p>
          <a:p>
            <a:r>
              <a:rPr lang="en-US" altLang="it-IT" sz="1800">
                <a:sym typeface="Symbol" panose="05050102010706020507" pitchFamily="18" charset="2"/>
              </a:rPr>
              <a:t>				   </a:t>
            </a:r>
            <a:r>
              <a:rPr lang="en-US" altLang="it-IT" sz="1800" i="1">
                <a:sym typeface="Symbol" panose="05050102010706020507" pitchFamily="18" charset="2"/>
              </a:rPr>
              <a:t>else</a:t>
            </a:r>
            <a:r>
              <a:rPr lang="en-US" altLang="it-IT" sz="1800">
                <a:sym typeface="Symbol" panose="05050102010706020507" pitchFamily="18" charset="2"/>
              </a:rPr>
              <a:t> </a:t>
            </a:r>
            <a:r>
              <a:rPr lang="en-US" altLang="it-IT" sz="1800" i="1">
                <a:sym typeface="Symbol" panose="05050102010706020507" pitchFamily="18" charset="2"/>
              </a:rPr>
              <a:t>TRAILER  FIRST(B</a:t>
            </a:r>
            <a:r>
              <a:rPr lang="en-US" altLang="it-IT" sz="1800" i="1" baseline="-25000">
                <a:sym typeface="Symbol" panose="05050102010706020507" pitchFamily="18" charset="2"/>
              </a:rPr>
              <a:t>i</a:t>
            </a:r>
            <a:r>
              <a:rPr lang="en-US" altLang="it-IT" sz="1800" i="1">
                <a:sym typeface="Symbol" panose="05050102010706020507" pitchFamily="18" charset="2"/>
              </a:rPr>
              <a:t>)  </a:t>
            </a:r>
            <a:r>
              <a:rPr lang="en-US" altLang="it-IT" sz="1800" i="1">
                <a:solidFill>
                  <a:srgbClr val="003C75"/>
                </a:solidFill>
                <a:sym typeface="Symbol" panose="05050102010706020507" pitchFamily="18" charset="2"/>
              </a:rPr>
              <a:t>// no </a:t>
            </a:r>
            <a:r>
              <a:rPr lang="en-US" altLang="it-IT" sz="2000" i="1">
                <a:solidFill>
                  <a:srgbClr val="003C75"/>
                </a:solidFill>
                <a:sym typeface="Symbol" panose="05050102010706020507" pitchFamily="18" charset="2"/>
              </a:rPr>
              <a:t></a:t>
            </a:r>
            <a:r>
              <a:rPr lang="en-US" altLang="it-IT" sz="1800" i="1">
                <a:solidFill>
                  <a:srgbClr val="003C75"/>
                </a:solidFill>
                <a:sym typeface="Symbol" panose="05050102010706020507" pitchFamily="18" charset="2"/>
              </a:rPr>
              <a:t> =&gt; no right context</a:t>
            </a:r>
          </a:p>
          <a:p>
            <a:r>
              <a:rPr lang="en-US" altLang="it-IT" sz="1800">
                <a:sym typeface="Symbol" panose="05050102010706020507" pitchFamily="18" charset="2"/>
              </a:rPr>
              <a:t>			</a:t>
            </a:r>
            <a:r>
              <a:rPr lang="en-US" altLang="it-IT" sz="1800" i="1">
                <a:sym typeface="Symbol" panose="05050102010706020507" pitchFamily="18" charset="2"/>
              </a:rPr>
              <a:t>else</a:t>
            </a:r>
            <a:r>
              <a:rPr lang="en-US" altLang="it-IT" sz="1800">
                <a:sym typeface="Symbol" panose="05050102010706020507" pitchFamily="18" charset="2"/>
              </a:rPr>
              <a:t> </a:t>
            </a:r>
            <a:r>
              <a:rPr lang="en-US" altLang="it-IT" sz="1800" i="1">
                <a:sym typeface="Symbol" panose="05050102010706020507" pitchFamily="18" charset="2"/>
              </a:rPr>
              <a:t>TRAILER </a:t>
            </a:r>
            <a:r>
              <a:rPr lang="en-US" altLang="it-IT" sz="1800">
                <a:sym typeface="Symbol" panose="05050102010706020507" pitchFamily="18" charset="2"/>
              </a:rPr>
              <a:t> {</a:t>
            </a:r>
            <a:r>
              <a:rPr lang="en-US" altLang="it-IT" sz="1800" i="1">
                <a:sym typeface="Symbol" panose="05050102010706020507" pitchFamily="18" charset="2"/>
              </a:rPr>
              <a:t>B</a:t>
            </a:r>
            <a:r>
              <a:rPr lang="en-US" altLang="it-IT" sz="1800" i="1" baseline="-25000">
                <a:sym typeface="Symbol" panose="05050102010706020507" pitchFamily="18" charset="2"/>
              </a:rPr>
              <a:t>i </a:t>
            </a:r>
            <a:r>
              <a:rPr lang="en-US" altLang="it-IT" sz="1800">
                <a:sym typeface="Symbol" panose="05050102010706020507" pitchFamily="18" charset="2"/>
              </a:rPr>
              <a:t>}            	       </a:t>
            </a:r>
            <a:r>
              <a:rPr lang="en-US" altLang="it-IT" sz="1800" i="1">
                <a:solidFill>
                  <a:srgbClr val="003C75"/>
                </a:solidFill>
                <a:sym typeface="Symbol" panose="05050102010706020507" pitchFamily="18" charset="2"/>
              </a:rPr>
              <a:t>// B</a:t>
            </a:r>
            <a:r>
              <a:rPr lang="en-US" altLang="it-IT" sz="1800" i="1" baseline="-25000">
                <a:solidFill>
                  <a:srgbClr val="003C75"/>
                </a:solidFill>
                <a:sym typeface="Symbol" panose="05050102010706020507" pitchFamily="18" charset="2"/>
              </a:rPr>
              <a:t>i </a:t>
            </a: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</a:t>
            </a:r>
            <a:r>
              <a:rPr lang="en-US" altLang="it-IT" sz="1800" i="1">
                <a:solidFill>
                  <a:srgbClr val="003C75"/>
                </a:solidFill>
              </a:rPr>
              <a:t> T</a:t>
            </a:r>
            <a:r>
              <a:rPr lang="en-US" altLang="it-IT" sz="1800" i="1">
                <a:solidFill>
                  <a:srgbClr val="003C75"/>
                </a:solidFill>
                <a:sym typeface="Symbol" panose="05050102010706020507" pitchFamily="18" charset="2"/>
              </a:rPr>
              <a:t> =&gt; only 1 symbol</a:t>
            </a:r>
            <a:endParaRPr lang="en-US" altLang="it-IT" sz="1800">
              <a:solidFill>
                <a:srgbClr val="003C75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Footer Placeholder 3">
            <a:extLst>
              <a:ext uri="{FF2B5EF4-FFF2-40B4-BE49-F238E27FC236}">
                <a16:creationId xmlns:a16="http://schemas.microsoft.com/office/drawing/2014/main" id="{A4D0EBCE-CC1F-4840-9839-ACAB243DD35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38914" name="Slide Number Placeholder 4">
            <a:extLst>
              <a:ext uri="{FF2B5EF4-FFF2-40B4-BE49-F238E27FC236}">
                <a16:creationId xmlns:a16="http://schemas.microsoft.com/office/drawing/2014/main" id="{F0DA6369-6534-4D46-88C9-67FF9EE35C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6B5714A-EC08-4C17-AF2F-84FD2BFABAC8}" type="slidenum">
              <a:rPr lang="en-US" altLang="it-IT" sz="1200"/>
              <a:pPr/>
              <a:t>13</a:t>
            </a:fld>
            <a:endParaRPr lang="en-US" altLang="it-IT" sz="1200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DF102873-B639-4247-A18B-A78EB1EE66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Classic Expression Grammar</a:t>
            </a:r>
          </a:p>
        </p:txBody>
      </p:sp>
      <p:graphicFrame>
        <p:nvGraphicFramePr>
          <p:cNvPr id="19744" name="Group 288">
            <a:extLst>
              <a:ext uri="{FF2B5EF4-FFF2-40B4-BE49-F238E27FC236}">
                <a16:creationId xmlns:a16="http://schemas.microsoft.com/office/drawing/2014/main" id="{A352AB66-2650-4C08-BB1A-F14FB32CA4B1}"/>
              </a:ext>
            </a:extLst>
          </p:cNvPr>
          <p:cNvGraphicFramePr>
            <a:graphicFrameLocks noGrp="1"/>
          </p:cNvGraphicFramePr>
          <p:nvPr/>
        </p:nvGraphicFramePr>
        <p:xfrm>
          <a:off x="5029200" y="1143000"/>
          <a:ext cx="3505200" cy="5349886"/>
        </p:xfrm>
        <a:graphic>
          <a:graphicData uri="http://schemas.openxmlformats.org/drawingml/2006/table">
            <a:tbl>
              <a:tblPr/>
              <a:tblGrid>
                <a:gridCol w="935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7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Symbol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FIRST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FOLLOW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1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Ø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5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Ø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1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Ø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9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Ø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5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Ø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1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/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/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Ø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79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Ø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1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Ø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5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Ø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95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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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Ø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95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95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 eof</a:t>
                      </a:r>
                      <a:endParaRPr kumimoji="0" lang="en-US" sz="16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11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Expr’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+, -,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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 eof</a:t>
                      </a:r>
                      <a:endParaRPr kumimoji="0" lang="en-US" sz="16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79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+, -,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 eof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11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Term’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*, /,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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+,-,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 eof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666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717" marB="4571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+,-,*,/,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,eof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9534" name="Text Box 78">
            <a:extLst>
              <a:ext uri="{FF2B5EF4-FFF2-40B4-BE49-F238E27FC236}">
                <a16:creationId xmlns:a16="http://schemas.microsoft.com/office/drawing/2014/main" id="{344DD385-0905-40A9-8D81-76DF5826E2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257800"/>
            <a:ext cx="4038600" cy="13144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>
                <a:solidFill>
                  <a:srgbClr val="003C75"/>
                </a:solidFill>
              </a:rPr>
              <a:t>FIRST</a:t>
            </a:r>
            <a:r>
              <a:rPr lang="en-US" altLang="it-IT" baseline="30000">
                <a:solidFill>
                  <a:srgbClr val="003C75"/>
                </a:solidFill>
              </a:rPr>
              <a:t>+</a:t>
            </a:r>
            <a:r>
              <a:rPr lang="en-US" altLang="it-IT">
                <a:solidFill>
                  <a:srgbClr val="003C75"/>
                </a:solidFill>
              </a:rPr>
              <a:t>(A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</a:t>
            </a: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</a:t>
            </a:r>
            <a:r>
              <a:rPr lang="en-US" altLang="it-IT" sz="800">
                <a:solidFill>
                  <a:srgbClr val="003C75"/>
                </a:solidFill>
                <a:sym typeface="Symbol" panose="05050102010706020507" pitchFamily="18" charset="2"/>
              </a:rPr>
              <a:t> 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) is identical to FIRST(</a:t>
            </a: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</a:t>
            </a:r>
            <a:r>
              <a:rPr lang="en-US" altLang="it-IT" sz="800">
                <a:solidFill>
                  <a:srgbClr val="003C75"/>
                </a:solidFill>
                <a:sym typeface="Symbol" panose="05050102010706020507" pitchFamily="18" charset="2"/>
              </a:rPr>
              <a:t> 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) except for productiond 4 and 8</a:t>
            </a:r>
          </a:p>
          <a:p>
            <a:pPr>
              <a:spcBef>
                <a:spcPct val="50000"/>
              </a:spcBef>
            </a:pP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FIRST</a:t>
            </a:r>
            <a:r>
              <a:rPr lang="en-US" altLang="it-IT" baseline="30000">
                <a:solidFill>
                  <a:srgbClr val="003C75"/>
                </a:solidFill>
                <a:sym typeface="Symbol" panose="05050102010706020507" pitchFamily="18" charset="2"/>
              </a:rPr>
              <a:t>+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(Expr’ </a:t>
            </a:r>
            <a:r>
              <a:rPr lang="en-US" altLang="it-IT" b="1">
                <a:solidFill>
                  <a:srgbClr val="003C75"/>
                </a:solidFill>
                <a:sym typeface="Symbol" panose="05050102010706020507" pitchFamily="18" charset="2"/>
              </a:rPr>
              <a:t>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) is {</a:t>
            </a:r>
            <a:r>
              <a:rPr lang="en-US" altLang="it-IT" b="1">
                <a:solidFill>
                  <a:srgbClr val="003C75"/>
                </a:solidFill>
                <a:sym typeface="Symbol" panose="05050102010706020507" pitchFamily="18" charset="2"/>
              </a:rPr>
              <a:t>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,</a:t>
            </a:r>
            <a:r>
              <a:rPr lang="en-US" altLang="it-IT" u="sng">
                <a:solidFill>
                  <a:srgbClr val="003C75"/>
                </a:solidFill>
                <a:sym typeface="Symbol" panose="05050102010706020507" pitchFamily="18" charset="2"/>
              </a:rPr>
              <a:t>)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, eof}</a:t>
            </a:r>
          </a:p>
          <a:p>
            <a:pPr>
              <a:spcBef>
                <a:spcPct val="50000"/>
              </a:spcBef>
            </a:pP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FIRST</a:t>
            </a:r>
            <a:r>
              <a:rPr lang="en-US" altLang="it-IT" baseline="30000">
                <a:solidFill>
                  <a:srgbClr val="003C75"/>
                </a:solidFill>
                <a:sym typeface="Symbol" panose="05050102010706020507" pitchFamily="18" charset="2"/>
              </a:rPr>
              <a:t>+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(Term’ </a:t>
            </a:r>
            <a:r>
              <a:rPr lang="en-US" altLang="it-IT" b="1">
                <a:solidFill>
                  <a:srgbClr val="003C75"/>
                </a:solidFill>
                <a:sym typeface="Symbol" panose="05050102010706020507" pitchFamily="18" charset="2"/>
              </a:rPr>
              <a:t>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) is {</a:t>
            </a:r>
            <a:r>
              <a:rPr lang="en-US" altLang="it-IT" b="1">
                <a:solidFill>
                  <a:srgbClr val="003C75"/>
                </a:solidFill>
                <a:sym typeface="Symbol" panose="05050102010706020507" pitchFamily="18" charset="2"/>
              </a:rPr>
              <a:t>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,+,-, </a:t>
            </a:r>
            <a:r>
              <a:rPr lang="en-US" altLang="it-IT" u="sng">
                <a:solidFill>
                  <a:srgbClr val="003C75"/>
                </a:solidFill>
                <a:sym typeface="Symbol" panose="05050102010706020507" pitchFamily="18" charset="2"/>
              </a:rPr>
              <a:t>)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, eof}</a:t>
            </a:r>
            <a:endParaRPr lang="en-US" altLang="it-IT" b="1">
              <a:solidFill>
                <a:srgbClr val="003C75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19745" name="Group 289">
            <a:extLst>
              <a:ext uri="{FF2B5EF4-FFF2-40B4-BE49-F238E27FC236}">
                <a16:creationId xmlns:a16="http://schemas.microsoft.com/office/drawing/2014/main" id="{D4639E45-7077-42CA-BA74-08F6D6BECFE5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1206500"/>
          <a:ext cx="3276600" cy="405765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Expr’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Expr’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Expr’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Expr’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1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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 Term’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Term’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 Term’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|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/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 Term’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1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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9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10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11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34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Footer Placeholder 3">
            <a:extLst>
              <a:ext uri="{FF2B5EF4-FFF2-40B4-BE49-F238E27FC236}">
                <a16:creationId xmlns:a16="http://schemas.microsoft.com/office/drawing/2014/main" id="{EE4AC36A-94B9-4EA3-B681-44AD0237F8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40962" name="Slide Number Placeholder 4">
            <a:extLst>
              <a:ext uri="{FF2B5EF4-FFF2-40B4-BE49-F238E27FC236}">
                <a16:creationId xmlns:a16="http://schemas.microsoft.com/office/drawing/2014/main" id="{B8358410-DCE0-4953-A5E1-F9904977CC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629E444-3528-46B3-985F-22DE457930E5}" type="slidenum">
              <a:rPr lang="en-US" altLang="it-IT" sz="1200"/>
              <a:pPr/>
              <a:t>14</a:t>
            </a:fld>
            <a:endParaRPr lang="en-US" altLang="it-IT" sz="12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C461C122-F253-4C79-8FD2-DA2E5BFF99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Classic Expression Grammar</a:t>
            </a:r>
          </a:p>
        </p:txBody>
      </p:sp>
      <p:graphicFrame>
        <p:nvGraphicFramePr>
          <p:cNvPr id="21693" name="Group 189">
            <a:extLst>
              <a:ext uri="{FF2B5EF4-FFF2-40B4-BE49-F238E27FC236}">
                <a16:creationId xmlns:a16="http://schemas.microsoft.com/office/drawing/2014/main" id="{7A71C0B7-CAA8-4A56-9C21-20D6494A0AE9}"/>
              </a:ext>
            </a:extLst>
          </p:cNvPr>
          <p:cNvGraphicFramePr>
            <a:graphicFrameLocks noGrp="1"/>
          </p:cNvGraphicFramePr>
          <p:nvPr/>
        </p:nvGraphicFramePr>
        <p:xfrm>
          <a:off x="5181600" y="1196975"/>
          <a:ext cx="2514600" cy="4123402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48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Prod’n</a:t>
                      </a:r>
                    </a:p>
                  </a:txBody>
                  <a:tcPr marT="45611" marB="45611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FIRST+</a:t>
                      </a:r>
                    </a:p>
                  </a:txBody>
                  <a:tcPr marT="45611" marB="45611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611" marB="45611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</a:p>
                  </a:txBody>
                  <a:tcPr marT="45611" marB="45611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611" marB="4561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</a:p>
                  </a:txBody>
                  <a:tcPr marT="45611" marB="4561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611" marB="4561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</a:t>
                      </a:r>
                    </a:p>
                  </a:txBody>
                  <a:tcPr marT="45611" marB="4561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611" marB="4561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</a:p>
                  </a:txBody>
                  <a:tcPr marT="45611" marB="4561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marT="45611" marB="4561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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,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)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,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eof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3C7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marT="45611" marB="4561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marT="45611" marB="4561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</a:p>
                  </a:txBody>
                  <a:tcPr marT="45611" marB="4561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marT="45611" marB="4561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</a:p>
                  </a:txBody>
                  <a:tcPr marT="45611" marB="4561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</a:p>
                  </a:txBody>
                  <a:tcPr marT="45611" marB="4561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/</a:t>
                      </a:r>
                    </a:p>
                  </a:txBody>
                  <a:tcPr marT="45611" marB="4561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2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1822CD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611" marB="4561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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,+,-, 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)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,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eof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3C7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marT="45611" marB="4561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2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9</a:t>
                      </a:r>
                    </a:p>
                  </a:txBody>
                  <a:tcPr marT="45611" marB="4561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611" marB="4561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2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10</a:t>
                      </a:r>
                    </a:p>
                  </a:txBody>
                  <a:tcPr marT="45611" marB="4561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611" marB="4561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2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11</a:t>
                      </a:r>
                    </a:p>
                  </a:txBody>
                  <a:tcPr marT="45611" marB="4561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</a:p>
                  </a:txBody>
                  <a:tcPr marT="45611" marB="4561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21552" name="Group 48">
            <a:extLst>
              <a:ext uri="{FF2B5EF4-FFF2-40B4-BE49-F238E27FC236}">
                <a16:creationId xmlns:a16="http://schemas.microsoft.com/office/drawing/2014/main" id="{359C1D51-1A73-4609-BC9E-86CEED4AEE46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1219200"/>
          <a:ext cx="3276600" cy="405765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Expr’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Expr’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Expr’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Expr’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1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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 Term’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Term’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 Term’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|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/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 Term’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1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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9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10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11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Footer Placeholder 3">
            <a:extLst>
              <a:ext uri="{FF2B5EF4-FFF2-40B4-BE49-F238E27FC236}">
                <a16:creationId xmlns:a16="http://schemas.microsoft.com/office/drawing/2014/main" id="{8FE406EB-2016-441A-B3E4-27D73546E7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43010" name="Slide Number Placeholder 4">
            <a:extLst>
              <a:ext uri="{FF2B5EF4-FFF2-40B4-BE49-F238E27FC236}">
                <a16:creationId xmlns:a16="http://schemas.microsoft.com/office/drawing/2014/main" id="{71C6895F-1762-473F-86B6-6FE392D321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A972B4E-DAEA-4DFF-BC23-140A9AD933B8}" type="slidenum">
              <a:rPr lang="en-US" altLang="it-IT" sz="1200"/>
              <a:pPr/>
              <a:t>15</a:t>
            </a:fld>
            <a:endParaRPr lang="en-US" altLang="it-IT" sz="1200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E0AC061C-734A-4697-9197-C855E2A8B2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Building Top-down Parsers for LL(1) Grammars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AF41DD9D-8407-447C-BE0A-7366FE3175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Given an </a:t>
            </a:r>
            <a:r>
              <a:rPr lang="en-US" altLang="it-IT" sz="1800" i="1"/>
              <a:t>LL(1)</a:t>
            </a:r>
            <a:r>
              <a:rPr lang="en-US" altLang="it-IT"/>
              <a:t> grammar, and its F</a:t>
            </a:r>
            <a:r>
              <a:rPr lang="en-US" altLang="it-IT" sz="1600"/>
              <a:t>IRST</a:t>
            </a:r>
            <a:r>
              <a:rPr lang="en-US" altLang="it-IT"/>
              <a:t> &amp; F</a:t>
            </a:r>
            <a:r>
              <a:rPr lang="en-US" altLang="it-IT" sz="1600"/>
              <a:t>OLLOW</a:t>
            </a:r>
            <a:r>
              <a:rPr lang="en-US" altLang="it-IT"/>
              <a:t> sets …</a:t>
            </a:r>
          </a:p>
          <a:p>
            <a:pPr eaLnBrk="1" hangingPunct="1"/>
            <a:r>
              <a:rPr lang="en-US" altLang="it-IT"/>
              <a:t>Emit a routine for each non-terminal</a:t>
            </a:r>
          </a:p>
          <a:p>
            <a:pPr lvl="1" eaLnBrk="1" hangingPunct="1"/>
            <a:r>
              <a:rPr lang="en-US" altLang="it-IT"/>
              <a:t>Nest of if-then-else statements to check alternate rhs’s</a:t>
            </a:r>
          </a:p>
          <a:p>
            <a:pPr lvl="1" eaLnBrk="1" hangingPunct="1"/>
            <a:r>
              <a:rPr lang="en-US" altLang="it-IT"/>
              <a:t>Each returns true on success and throws an error on false</a:t>
            </a:r>
          </a:p>
          <a:p>
            <a:pPr lvl="1" eaLnBrk="1" hangingPunct="1"/>
            <a:r>
              <a:rPr lang="en-US" altLang="it-IT"/>
              <a:t>Simple, working </a:t>
            </a:r>
            <a:r>
              <a:rPr lang="en-US" altLang="it-IT">
                <a:solidFill>
                  <a:srgbClr val="003C75"/>
                </a:solidFill>
              </a:rPr>
              <a:t>(</a:t>
            </a:r>
            <a:r>
              <a:rPr lang="en-US" altLang="it-IT" i="1">
                <a:solidFill>
                  <a:srgbClr val="003C75"/>
                </a:solidFill>
              </a:rPr>
              <a:t>perhaps ugly</a:t>
            </a:r>
            <a:r>
              <a:rPr lang="en-US" altLang="it-IT">
                <a:solidFill>
                  <a:srgbClr val="003C75"/>
                </a:solidFill>
              </a:rPr>
              <a:t>)</a:t>
            </a:r>
            <a:r>
              <a:rPr lang="en-US" altLang="it-IT"/>
              <a:t> code</a:t>
            </a:r>
          </a:p>
          <a:p>
            <a:pPr eaLnBrk="1" hangingPunct="1"/>
            <a:r>
              <a:rPr lang="en-US" altLang="it-IT"/>
              <a:t>This automatically constructs a recursive-descent parser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/>
              <a:t>Improving matters</a:t>
            </a:r>
          </a:p>
          <a:p>
            <a:pPr eaLnBrk="1" hangingPunct="1"/>
            <a:r>
              <a:rPr lang="en-US" altLang="it-IT"/>
              <a:t>Nest of if-then-else statements may be slow</a:t>
            </a:r>
          </a:p>
          <a:p>
            <a:pPr lvl="1" eaLnBrk="1" hangingPunct="1"/>
            <a:r>
              <a:rPr lang="en-US" altLang="it-IT"/>
              <a:t>Good case statement implementation would be better</a:t>
            </a:r>
          </a:p>
          <a:p>
            <a:pPr eaLnBrk="1" hangingPunct="1"/>
            <a:r>
              <a:rPr lang="en-US" altLang="it-IT"/>
              <a:t>What about a table to encode the options?</a:t>
            </a:r>
          </a:p>
          <a:p>
            <a:pPr lvl="1" eaLnBrk="1" hangingPunct="1"/>
            <a:r>
              <a:rPr lang="en-US" altLang="it-IT"/>
              <a:t>Interpret the table with a skeleton, as we did in scanning</a:t>
            </a:r>
          </a:p>
        </p:txBody>
      </p:sp>
      <p:grpSp>
        <p:nvGrpSpPr>
          <p:cNvPr id="43013" name="Group 7">
            <a:extLst>
              <a:ext uri="{FF2B5EF4-FFF2-40B4-BE49-F238E27FC236}">
                <a16:creationId xmlns:a16="http://schemas.microsoft.com/office/drawing/2014/main" id="{993018FC-C499-4F25-9E04-D2142BE6EB3E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3062288"/>
            <a:ext cx="3230563" cy="3090862"/>
            <a:chOff x="5334000" y="3061860"/>
            <a:chExt cx="3231206" cy="3091290"/>
          </a:xfrm>
        </p:grpSpPr>
        <p:sp>
          <p:nvSpPr>
            <p:cNvPr id="48134" name="Text Box 4">
              <a:extLst>
                <a:ext uri="{FF2B5EF4-FFF2-40B4-BE49-F238E27FC236}">
                  <a16:creationId xmlns:a16="http://schemas.microsoft.com/office/drawing/2014/main" id="{0C670E8F-20A5-42D6-A21E-3530CC47EC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0" y="5562518"/>
              <a:ext cx="2515100" cy="5906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dirty="0">
                  <a:solidFill>
                    <a:srgbClr val="FF006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I don’t know of a system that does this …</a:t>
              </a:r>
            </a:p>
          </p:txBody>
        </p:sp>
        <p:sp>
          <p:nvSpPr>
            <p:cNvPr id="49160" name="Freeform 6">
              <a:extLst>
                <a:ext uri="{FF2B5EF4-FFF2-40B4-BE49-F238E27FC236}">
                  <a16:creationId xmlns:a16="http://schemas.microsoft.com/office/drawing/2014/main" id="{B70A957E-32F6-4946-97EA-3611756F9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69743" y="3061860"/>
              <a:ext cx="695463" cy="2664194"/>
            </a:xfrm>
            <a:custGeom>
              <a:avLst/>
              <a:gdLst>
                <a:gd name="T0" fmla="*/ 0 w 695498"/>
                <a:gd name="T1" fmla="*/ 2664953 h 2664953"/>
                <a:gd name="T2" fmla="*/ 589661 w 695498"/>
                <a:gd name="T3" fmla="*/ 1746395 h 2664953"/>
                <a:gd name="T4" fmla="*/ 328850 w 695498"/>
                <a:gd name="T5" fmla="*/ 1791756 h 2664953"/>
                <a:gd name="T6" fmla="*/ 691718 w 695498"/>
                <a:gd name="T7" fmla="*/ 907218 h 2664953"/>
                <a:gd name="T8" fmla="*/ 351529 w 695498"/>
                <a:gd name="T9" fmla="*/ 181444 h 2664953"/>
                <a:gd name="T10" fmla="*/ 79378 w 695498"/>
                <a:gd name="T11" fmla="*/ 0 h 26649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95498"/>
                <a:gd name="T19" fmla="*/ 0 h 2664953"/>
                <a:gd name="T20" fmla="*/ 695498 w 695498"/>
                <a:gd name="T21" fmla="*/ 2664953 h 266495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95498" h="2664953">
                  <a:moveTo>
                    <a:pt x="0" y="2664953"/>
                  </a:moveTo>
                  <a:cubicBezTo>
                    <a:pt x="267426" y="2278440"/>
                    <a:pt x="534853" y="1891928"/>
                    <a:pt x="589661" y="1746395"/>
                  </a:cubicBezTo>
                  <a:cubicBezTo>
                    <a:pt x="644469" y="1600862"/>
                    <a:pt x="311840" y="1931619"/>
                    <a:pt x="328850" y="1791756"/>
                  </a:cubicBezTo>
                  <a:cubicBezTo>
                    <a:pt x="345860" y="1651893"/>
                    <a:pt x="687938" y="1175603"/>
                    <a:pt x="691718" y="907218"/>
                  </a:cubicBezTo>
                  <a:cubicBezTo>
                    <a:pt x="695498" y="638833"/>
                    <a:pt x="453586" y="332647"/>
                    <a:pt x="351529" y="181444"/>
                  </a:cubicBezTo>
                  <a:cubicBezTo>
                    <a:pt x="249472" y="30241"/>
                    <a:pt x="79378" y="0"/>
                    <a:pt x="79378" y="0"/>
                  </a:cubicBezTo>
                </a:path>
              </a:pathLst>
            </a:custGeom>
            <a:noFill/>
            <a:ln w="1905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</p:grpSp>
    </p:spTree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3">
            <a:extLst>
              <a:ext uri="{FF2B5EF4-FFF2-40B4-BE49-F238E27FC236}">
                <a16:creationId xmlns:a16="http://schemas.microsoft.com/office/drawing/2014/main" id="{C86AE9F1-9B6E-4EEC-BE5D-26ECC716D6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Strategy</a:t>
            </a:r>
          </a:p>
          <a:p>
            <a:pPr eaLnBrk="1" hangingPunct="1"/>
            <a:r>
              <a:rPr lang="en-US" altLang="it-IT"/>
              <a:t>Encode knowledge in a table</a:t>
            </a:r>
          </a:p>
          <a:p>
            <a:pPr eaLnBrk="1" hangingPunct="1"/>
            <a:r>
              <a:rPr lang="en-US" altLang="it-IT"/>
              <a:t>Use a standard “skeleton” parser to </a:t>
            </a:r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/>
              <a:t>     interpret the table</a:t>
            </a:r>
          </a:p>
          <a:p>
            <a:pPr eaLnBrk="1" hangingPunct="1">
              <a:spcBef>
                <a:spcPct val="50000"/>
              </a:spcBef>
              <a:buFont typeface="Times" panose="02020603050405020304" pitchFamily="18" charset="0"/>
              <a:buNone/>
            </a:pPr>
            <a:r>
              <a:rPr lang="en-US" altLang="it-IT"/>
              <a:t>Example</a:t>
            </a:r>
          </a:p>
          <a:p>
            <a:pPr eaLnBrk="1" hangingPunct="1"/>
            <a:r>
              <a:rPr lang="en-US" altLang="it-IT"/>
              <a:t>The non-terminal </a:t>
            </a:r>
            <a:r>
              <a:rPr lang="en-US" altLang="it-IT" i="1"/>
              <a:t>Factor</a:t>
            </a:r>
            <a:r>
              <a:rPr lang="en-US" altLang="it-IT"/>
              <a:t> has 3 expansions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it-IT" u="sng"/>
              <a:t>( </a:t>
            </a:r>
            <a:r>
              <a:rPr lang="en-US" altLang="it-IT" i="1"/>
              <a:t>Expr</a:t>
            </a:r>
            <a:r>
              <a:rPr lang="en-US" altLang="it-IT"/>
              <a:t> </a:t>
            </a:r>
            <a:r>
              <a:rPr lang="en-US" altLang="it-IT" u="sng"/>
              <a:t>)</a:t>
            </a:r>
            <a:r>
              <a:rPr lang="en-US" altLang="it-IT"/>
              <a:t>  </a:t>
            </a:r>
            <a:r>
              <a:rPr lang="en-US" altLang="it-IT">
                <a:solidFill>
                  <a:srgbClr val="B025A6"/>
                </a:solidFill>
              </a:rPr>
              <a:t>or</a:t>
            </a:r>
            <a:r>
              <a:rPr lang="en-US" altLang="it-IT"/>
              <a:t>  </a:t>
            </a:r>
            <a:r>
              <a:rPr lang="en-US" altLang="it-IT" u="sng"/>
              <a:t>Identifier</a:t>
            </a:r>
            <a:r>
              <a:rPr lang="en-US" altLang="it-IT"/>
              <a:t>  </a:t>
            </a:r>
            <a:r>
              <a:rPr lang="en-US" altLang="it-IT">
                <a:solidFill>
                  <a:srgbClr val="B025A6"/>
                </a:solidFill>
              </a:rPr>
              <a:t>or</a:t>
            </a:r>
            <a:r>
              <a:rPr lang="en-US" altLang="it-IT"/>
              <a:t>  </a:t>
            </a:r>
            <a:r>
              <a:rPr lang="en-US" altLang="it-IT" u="sng"/>
              <a:t>Number</a:t>
            </a:r>
            <a:endParaRPr lang="en-US" altLang="it-IT"/>
          </a:p>
          <a:p>
            <a:pPr eaLnBrk="1" hangingPunct="1"/>
            <a:r>
              <a:rPr lang="en-US" altLang="it-IT"/>
              <a:t>Table might look like:</a:t>
            </a:r>
          </a:p>
        </p:txBody>
      </p:sp>
      <p:sp>
        <p:nvSpPr>
          <p:cNvPr id="45058" name="Footer Placeholder 3">
            <a:extLst>
              <a:ext uri="{FF2B5EF4-FFF2-40B4-BE49-F238E27FC236}">
                <a16:creationId xmlns:a16="http://schemas.microsoft.com/office/drawing/2014/main" id="{F87E0AAB-9191-416F-8E08-200936E6D5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45059" name="Slide Number Placeholder 4">
            <a:extLst>
              <a:ext uri="{FF2B5EF4-FFF2-40B4-BE49-F238E27FC236}">
                <a16:creationId xmlns:a16="http://schemas.microsoft.com/office/drawing/2014/main" id="{110F3C37-BFF5-42FA-BAA6-C925785516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25D8508-6C20-444F-B917-2BF819EB22C3}" type="slidenum">
              <a:rPr lang="en-US" altLang="it-IT" sz="1200"/>
              <a:pPr/>
              <a:t>16</a:t>
            </a:fld>
            <a:endParaRPr lang="en-US" altLang="it-IT" sz="1200"/>
          </a:p>
        </p:txBody>
      </p:sp>
      <p:graphicFrame>
        <p:nvGraphicFramePr>
          <p:cNvPr id="25801" name="Group 201">
            <a:extLst>
              <a:ext uri="{FF2B5EF4-FFF2-40B4-BE49-F238E27FC236}">
                <a16:creationId xmlns:a16="http://schemas.microsoft.com/office/drawing/2014/main" id="{A70D1295-1782-43C6-957A-19FB59FB95E7}"/>
              </a:ext>
            </a:extLst>
          </p:cNvPr>
          <p:cNvGraphicFramePr>
            <a:graphicFrameLocks noGrp="1"/>
          </p:cNvGraphicFramePr>
          <p:nvPr/>
        </p:nvGraphicFramePr>
        <p:xfrm>
          <a:off x="6480175" y="1228725"/>
          <a:ext cx="2438400" cy="2819486"/>
        </p:xfrm>
        <a:graphic>
          <a:graphicData uri="http://schemas.openxmlformats.org/drawingml/2006/table">
            <a:tbl>
              <a:tblPr/>
              <a:tblGrid>
                <a:gridCol w="32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7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63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687" marB="45687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marT="45687" marB="45687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687" marB="45687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687" marB="45687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9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687" marB="45687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marT="45687" marB="456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687" marB="456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Expr’</a:t>
                      </a: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687" marB="45687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687" marB="45687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’</a:t>
                      </a:r>
                    </a:p>
                  </a:txBody>
                  <a:tcPr marT="45687" marB="456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687" marB="456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 </a:t>
                      </a: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Expr’</a:t>
                      </a: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687" marB="45687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6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687" marB="45687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687" marB="456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687" marB="456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Expr’</a:t>
                      </a: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687" marB="45687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3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marT="45687" marB="45687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687" marB="456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687" marB="456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</a:t>
                      </a:r>
                    </a:p>
                  </a:txBody>
                  <a:tcPr marT="45687" marB="45687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3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marT="45687" marB="45687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marT="45687" marB="456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marT="45687" marB="456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 Term’</a:t>
                      </a: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687" marB="45687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9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marT="45687" marB="45687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Term’</a:t>
                      </a:r>
                    </a:p>
                  </a:txBody>
                  <a:tcPr marT="45687" marB="456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687" marB="456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r>
                        <a:rPr kumimoji="0" lang="en-US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 Term’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687" marB="45687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3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</a:p>
                  </a:txBody>
                  <a:tcPr marT="45687" marB="45687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687" marB="456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|</a:t>
                      </a:r>
                    </a:p>
                  </a:txBody>
                  <a:tcPr marT="45687" marB="456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/ </a:t>
                      </a:r>
                      <a:r>
                        <a:rPr kumimoji="0" lang="en-US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 Term’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687" marB="45687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63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marT="45687" marB="45687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687" marB="456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687" marB="456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</a:t>
                      </a:r>
                    </a:p>
                  </a:txBody>
                  <a:tcPr marT="45687" marB="45687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63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9</a:t>
                      </a:r>
                    </a:p>
                  </a:txBody>
                  <a:tcPr marT="45687" marB="45687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687" marB="456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687" marB="456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marT="45687" marB="45687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9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10</a:t>
                      </a:r>
                    </a:p>
                  </a:txBody>
                  <a:tcPr marT="45687" marB="45687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687" marB="456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687" marB="456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687" marB="45687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63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11</a:t>
                      </a:r>
                    </a:p>
                  </a:txBody>
                  <a:tcPr marT="45687" marB="45687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687" marB="456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687" marB="456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0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0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marT="45687" marB="45687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5109" name="Rectangle 2">
            <a:extLst>
              <a:ext uri="{FF2B5EF4-FFF2-40B4-BE49-F238E27FC236}">
                <a16:creationId xmlns:a16="http://schemas.microsoft.com/office/drawing/2014/main" id="{B0F99039-3D46-4607-A73C-680BA55DEF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Building Top-down Parsers</a:t>
            </a:r>
          </a:p>
        </p:txBody>
      </p:sp>
      <p:graphicFrame>
        <p:nvGraphicFramePr>
          <p:cNvPr id="25710" name="Group 110">
            <a:extLst>
              <a:ext uri="{FF2B5EF4-FFF2-40B4-BE49-F238E27FC236}">
                <a16:creationId xmlns:a16="http://schemas.microsoft.com/office/drawing/2014/main" id="{2E8A560F-A85A-4AEF-8A08-AEED866CA99A}"/>
              </a:ext>
            </a:extLst>
          </p:cNvPr>
          <p:cNvGraphicFramePr>
            <a:graphicFrameLocks noGrp="1"/>
          </p:cNvGraphicFramePr>
          <p:nvPr/>
        </p:nvGraphicFramePr>
        <p:xfrm>
          <a:off x="1638300" y="4783138"/>
          <a:ext cx="6515100" cy="1020762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016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/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Id.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Num.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1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9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5134" name="Oval 40">
            <a:extLst>
              <a:ext uri="{FF2B5EF4-FFF2-40B4-BE49-F238E27FC236}">
                <a16:creationId xmlns:a16="http://schemas.microsoft.com/office/drawing/2014/main" id="{306F59A0-DBB8-4146-B821-1BF7FE60B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5360988"/>
            <a:ext cx="381000" cy="381000"/>
          </a:xfrm>
          <a:prstGeom prst="ellipse">
            <a:avLst/>
          </a:prstGeom>
          <a:noFill/>
          <a:ln w="19050">
            <a:solidFill>
              <a:srgbClr val="B025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45135" name="AutoShape 43">
            <a:extLst>
              <a:ext uri="{FF2B5EF4-FFF2-40B4-BE49-F238E27FC236}">
                <a16:creationId xmlns:a16="http://schemas.microsoft.com/office/drawing/2014/main" id="{8A8E7140-BB5A-4A14-B9A6-014A9E5D56FB}"/>
              </a:ext>
            </a:extLst>
          </p:cNvPr>
          <p:cNvSpPr>
            <a:spLocks/>
          </p:cNvSpPr>
          <p:nvPr/>
        </p:nvSpPr>
        <p:spPr bwMode="auto">
          <a:xfrm>
            <a:off x="1371600" y="5284788"/>
            <a:ext cx="228600" cy="457200"/>
          </a:xfrm>
          <a:prstGeom prst="leftBrace">
            <a:avLst>
              <a:gd name="adj1" fmla="val 16667"/>
              <a:gd name="adj2" fmla="val 50000"/>
            </a:avLst>
          </a:prstGeom>
          <a:noFill/>
          <a:ln w="12700">
            <a:solidFill>
              <a:srgbClr val="B025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45136" name="Text Box 45">
            <a:extLst>
              <a:ext uri="{FF2B5EF4-FFF2-40B4-BE49-F238E27FC236}">
                <a16:creationId xmlns:a16="http://schemas.microsoft.com/office/drawing/2014/main" id="{A001A1D7-BFFB-4EE5-A778-C3D13F1AE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4263" y="3989388"/>
            <a:ext cx="34575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>
                <a:solidFill>
                  <a:srgbClr val="B025A6"/>
                </a:solidFill>
              </a:rPr>
              <a:t>Terminal Symbols</a:t>
            </a:r>
          </a:p>
        </p:txBody>
      </p:sp>
      <p:sp>
        <p:nvSpPr>
          <p:cNvPr id="45137" name="AutoShape 46">
            <a:extLst>
              <a:ext uri="{FF2B5EF4-FFF2-40B4-BE49-F238E27FC236}">
                <a16:creationId xmlns:a16="http://schemas.microsoft.com/office/drawing/2014/main" id="{2CB0A682-48EB-4429-8BEC-D878F23E9E56}"/>
              </a:ext>
            </a:extLst>
          </p:cNvPr>
          <p:cNvSpPr>
            <a:spLocks/>
          </p:cNvSpPr>
          <p:nvPr/>
        </p:nvSpPr>
        <p:spPr bwMode="auto">
          <a:xfrm rot="-5400000">
            <a:off x="5137944" y="1740694"/>
            <a:ext cx="430212" cy="5524500"/>
          </a:xfrm>
          <a:prstGeom prst="rightBrace">
            <a:avLst>
              <a:gd name="adj1" fmla="val 107011"/>
              <a:gd name="adj2" fmla="val 50000"/>
            </a:avLst>
          </a:prstGeom>
          <a:noFill/>
          <a:ln w="12700">
            <a:solidFill>
              <a:srgbClr val="B025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45138" name="Text Box 47">
            <a:extLst>
              <a:ext uri="{FF2B5EF4-FFF2-40B4-BE49-F238E27FC236}">
                <a16:creationId xmlns:a16="http://schemas.microsoft.com/office/drawing/2014/main" id="{CE4BD7EE-5CC0-4A90-9D38-ACFB647823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030788"/>
            <a:ext cx="16764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r>
              <a:rPr lang="en-US" altLang="it-IT">
                <a:solidFill>
                  <a:srgbClr val="B025A6"/>
                </a:solidFill>
              </a:rPr>
              <a:t>Non-</a:t>
            </a:r>
          </a:p>
          <a:p>
            <a:pPr algn="ctr"/>
            <a:r>
              <a:rPr lang="en-US" altLang="it-IT">
                <a:solidFill>
                  <a:srgbClr val="B025A6"/>
                </a:solidFill>
              </a:rPr>
              <a:t>terminal</a:t>
            </a:r>
          </a:p>
          <a:p>
            <a:pPr algn="ctr"/>
            <a:r>
              <a:rPr lang="en-US" altLang="it-IT">
                <a:solidFill>
                  <a:srgbClr val="B025A6"/>
                </a:solidFill>
              </a:rPr>
              <a:t>Symbols</a:t>
            </a:r>
          </a:p>
        </p:txBody>
      </p:sp>
      <p:grpSp>
        <p:nvGrpSpPr>
          <p:cNvPr id="2" name="Group 205">
            <a:extLst>
              <a:ext uri="{FF2B5EF4-FFF2-40B4-BE49-F238E27FC236}">
                <a16:creationId xmlns:a16="http://schemas.microsoft.com/office/drawing/2014/main" id="{D6FB5770-2EB7-4B4A-8824-800D7C08C3B6}"/>
              </a:ext>
            </a:extLst>
          </p:cNvPr>
          <p:cNvGrpSpPr>
            <a:grpSpLocks/>
          </p:cNvGrpSpPr>
          <p:nvPr/>
        </p:nvGrpSpPr>
        <p:grpSpPr bwMode="auto">
          <a:xfrm>
            <a:off x="5745163" y="3373438"/>
            <a:ext cx="2941637" cy="3033712"/>
            <a:chOff x="3619" y="2125"/>
            <a:chExt cx="1853" cy="1911"/>
          </a:xfrm>
        </p:grpSpPr>
        <p:sp>
          <p:nvSpPr>
            <p:cNvPr id="45146" name="Oval 51">
              <a:extLst>
                <a:ext uri="{FF2B5EF4-FFF2-40B4-BE49-F238E27FC236}">
                  <a16:creationId xmlns:a16="http://schemas.microsoft.com/office/drawing/2014/main" id="{0822F474-1D80-48FB-9662-A68AC85C6E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9" y="3360"/>
              <a:ext cx="269" cy="240"/>
            </a:xfrm>
            <a:prstGeom prst="ellipse">
              <a:avLst/>
            </a:prstGeom>
            <a:noFill/>
            <a:ln w="19050">
              <a:solidFill>
                <a:srgbClr val="B025A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5147" name="AutoShape 53">
              <a:extLst>
                <a:ext uri="{FF2B5EF4-FFF2-40B4-BE49-F238E27FC236}">
                  <a16:creationId xmlns:a16="http://schemas.microsoft.com/office/drawing/2014/main" id="{FF72B1AE-CEC6-43C2-9FD6-3074A76AC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2125"/>
              <a:ext cx="1200" cy="113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B025A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25804" name="Text Box 204">
              <a:extLst>
                <a:ext uri="{FF2B5EF4-FFF2-40B4-BE49-F238E27FC236}">
                  <a16:creationId xmlns:a16="http://schemas.microsoft.com/office/drawing/2014/main" id="{580BE494-064E-49AE-BF70-9EA85642B3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3706"/>
              <a:ext cx="1440" cy="33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>
              <a:outerShdw blurRad="63500" dist="38099" dir="2700000" algn="ctr" rotWithShape="0">
                <a:srgbClr val="000000">
                  <a:alpha val="74998"/>
                </a:srgbClr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1400">
                  <a:solidFill>
                    <a:srgbClr val="B025A6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Expand </a:t>
              </a:r>
              <a:r>
                <a:rPr lang="en-US" sz="1400" i="1">
                  <a:solidFill>
                    <a:srgbClr val="B025A6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Factor</a:t>
              </a:r>
              <a:r>
                <a:rPr lang="en-US" sz="1400">
                  <a:solidFill>
                    <a:srgbClr val="B025A6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 by rule 9 with input “number”</a:t>
              </a:r>
            </a:p>
          </p:txBody>
        </p:sp>
        <p:cxnSp>
          <p:nvCxnSpPr>
            <p:cNvPr id="45149" name="AutoShape 203">
              <a:extLst>
                <a:ext uri="{FF2B5EF4-FFF2-40B4-BE49-F238E27FC236}">
                  <a16:creationId xmlns:a16="http://schemas.microsoft.com/office/drawing/2014/main" id="{4BE15451-18A3-4E28-822F-219F70FBE23F}"/>
                </a:ext>
              </a:extLst>
            </p:cNvPr>
            <p:cNvCxnSpPr>
              <a:cxnSpLocks noChangeShapeType="1"/>
              <a:stCxn id="45146" idx="5"/>
              <a:endCxn id="45147" idx="3"/>
            </p:cNvCxnSpPr>
            <p:nvPr/>
          </p:nvCxnSpPr>
          <p:spPr bwMode="auto">
            <a:xfrm rot="5400000" flipH="1" flipV="1">
              <a:off x="3873" y="2158"/>
              <a:ext cx="1389" cy="1437"/>
            </a:xfrm>
            <a:prstGeom prst="curvedConnector4">
              <a:avLst>
                <a:gd name="adj1" fmla="val -12454"/>
                <a:gd name="adj2" fmla="val 109602"/>
              </a:avLst>
            </a:prstGeom>
            <a:noFill/>
            <a:ln w="9525">
              <a:solidFill>
                <a:srgbClr val="B025A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5140" name="Oval 207">
            <a:extLst>
              <a:ext uri="{FF2B5EF4-FFF2-40B4-BE49-F238E27FC236}">
                <a16:creationId xmlns:a16="http://schemas.microsoft.com/office/drawing/2014/main" id="{DC979425-7EE6-4006-95B1-FCEF24D77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360988"/>
            <a:ext cx="381000" cy="381000"/>
          </a:xfrm>
          <a:prstGeom prst="ellipse">
            <a:avLst/>
          </a:prstGeom>
          <a:noFill/>
          <a:ln w="19050">
            <a:solidFill>
              <a:srgbClr val="B025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45141" name="Oval 208">
            <a:extLst>
              <a:ext uri="{FF2B5EF4-FFF2-40B4-BE49-F238E27FC236}">
                <a16:creationId xmlns:a16="http://schemas.microsoft.com/office/drawing/2014/main" id="{1BF8F95D-ACC6-434C-89C9-6ACF54C73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5360988"/>
            <a:ext cx="381000" cy="381000"/>
          </a:xfrm>
          <a:prstGeom prst="ellipse">
            <a:avLst/>
          </a:prstGeom>
          <a:noFill/>
          <a:ln w="19050">
            <a:solidFill>
              <a:srgbClr val="B025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45142" name="Oval 209">
            <a:extLst>
              <a:ext uri="{FF2B5EF4-FFF2-40B4-BE49-F238E27FC236}">
                <a16:creationId xmlns:a16="http://schemas.microsoft.com/office/drawing/2014/main" id="{35F36B55-B8F7-4AEF-B9B3-24FADDE13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5360988"/>
            <a:ext cx="381000" cy="381000"/>
          </a:xfrm>
          <a:prstGeom prst="ellipse">
            <a:avLst/>
          </a:prstGeom>
          <a:noFill/>
          <a:ln w="19050">
            <a:solidFill>
              <a:srgbClr val="B025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grpSp>
        <p:nvGrpSpPr>
          <p:cNvPr id="3" name="Group 211">
            <a:extLst>
              <a:ext uri="{FF2B5EF4-FFF2-40B4-BE49-F238E27FC236}">
                <a16:creationId xmlns:a16="http://schemas.microsoft.com/office/drawing/2014/main" id="{82E71A48-5D65-4DC8-B81D-64CB098A0D86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5762625"/>
            <a:ext cx="2590800" cy="838200"/>
            <a:chOff x="1488" y="3648"/>
            <a:chExt cx="1632" cy="528"/>
          </a:xfrm>
        </p:grpSpPr>
        <p:sp>
          <p:nvSpPr>
            <p:cNvPr id="25806" name="Text Box 206">
              <a:extLst>
                <a:ext uri="{FF2B5EF4-FFF2-40B4-BE49-F238E27FC236}">
                  <a16:creationId xmlns:a16="http://schemas.microsoft.com/office/drawing/2014/main" id="{F5C44E2F-5D0F-47AF-BC70-D7BD6D75F9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3850"/>
              <a:ext cx="1632" cy="32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>
              <a:outerShdw blurRad="63500" dist="38099" dir="2700000" algn="ctr" rotWithShape="0">
                <a:srgbClr val="000000">
                  <a:alpha val="74998"/>
                </a:srgbClr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1400">
                  <a:solidFill>
                    <a:srgbClr val="B025A6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Cannot expand </a:t>
              </a:r>
              <a:r>
                <a:rPr lang="en-US" sz="1400" i="1">
                  <a:solidFill>
                    <a:srgbClr val="B025A6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Factor</a:t>
              </a:r>
              <a:r>
                <a:rPr lang="en-US" sz="1400">
                  <a:solidFill>
                    <a:srgbClr val="B025A6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 into an operator </a:t>
              </a:r>
              <a:r>
                <a:rPr lang="en-US" sz="1400">
                  <a:solidFill>
                    <a:srgbClr val="B025A6"/>
                  </a:solidFill>
                  <a:latin typeface="Comic Sans MS" charset="0"/>
                  <a:ea typeface="ヒラギノ角ゴ Pro W3" charset="-128"/>
                  <a:cs typeface="ヒラギノ角ゴ Pro W3" charset="-128"/>
                  <a:sym typeface="Symbol" charset="2"/>
                </a:rPr>
                <a:t></a:t>
              </a:r>
              <a:r>
                <a:rPr lang="en-US" sz="1400">
                  <a:solidFill>
                    <a:srgbClr val="B025A6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 error </a:t>
              </a:r>
            </a:p>
          </p:txBody>
        </p:sp>
        <p:sp>
          <p:nvSpPr>
            <p:cNvPr id="25810" name="AutoShape 210">
              <a:extLst>
                <a:ext uri="{FF2B5EF4-FFF2-40B4-BE49-F238E27FC236}">
                  <a16:creationId xmlns:a16="http://schemas.microsoft.com/office/drawing/2014/main" id="{B13CD867-45B4-4527-8A52-6FD92407D3D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2232" y="3096"/>
              <a:ext cx="144" cy="1248"/>
            </a:xfrm>
            <a:prstGeom prst="rightBrace">
              <a:avLst>
                <a:gd name="adj1" fmla="val 72222"/>
                <a:gd name="adj2" fmla="val 50000"/>
              </a:avLst>
            </a:prstGeom>
            <a:solidFill>
              <a:schemeClr val="bg1"/>
            </a:solidFill>
            <a:ln w="19050">
              <a:solidFill>
                <a:srgbClr val="B025A6"/>
              </a:solidFill>
              <a:round/>
              <a:headEnd/>
              <a:tailEnd/>
            </a:ln>
            <a:effectLst>
              <a:outerShdw blurRad="63500" dist="38099" dir="2700000" algn="ctr" rotWithShape="0">
                <a:srgbClr val="000000">
                  <a:alpha val="74998"/>
                </a:srgbClr>
              </a:outerShdw>
            </a:effectLst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Footer Placeholder 3">
            <a:extLst>
              <a:ext uri="{FF2B5EF4-FFF2-40B4-BE49-F238E27FC236}">
                <a16:creationId xmlns:a16="http://schemas.microsoft.com/office/drawing/2014/main" id="{A59B170B-4003-44B7-B011-17B52D50A2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47106" name="Slide Number Placeholder 4">
            <a:extLst>
              <a:ext uri="{FF2B5EF4-FFF2-40B4-BE49-F238E27FC236}">
                <a16:creationId xmlns:a16="http://schemas.microsoft.com/office/drawing/2014/main" id="{40ADEF82-256A-4348-B885-4C17BFC424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4778408-BF21-401F-9DD2-576E0E52985B}" type="slidenum">
              <a:rPr lang="en-US" altLang="it-IT" sz="1200"/>
              <a:pPr/>
              <a:t>17</a:t>
            </a:fld>
            <a:endParaRPr lang="en-US" altLang="it-IT" sz="1200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BBA3E193-C4E9-4A0C-ABF8-DF3E389308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Building Top-down Parsers</a:t>
            </a: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A3044213-B163-415A-BA71-474C668D42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Building the complete table</a:t>
            </a:r>
          </a:p>
          <a:p>
            <a:pPr eaLnBrk="1" hangingPunct="1"/>
            <a:r>
              <a:rPr lang="en-US" altLang="it-IT"/>
              <a:t>Need a row for every </a:t>
            </a:r>
            <a:r>
              <a:rPr lang="en-US" altLang="it-IT" i="1"/>
              <a:t>NT</a:t>
            </a:r>
            <a:r>
              <a:rPr lang="en-US" altLang="it-IT"/>
              <a:t> &amp; a column for every </a:t>
            </a:r>
            <a:r>
              <a:rPr lang="en-US" altLang="it-IT" i="1"/>
              <a:t>T</a:t>
            </a:r>
            <a:endParaRPr lang="en-US" altLang="it-IT"/>
          </a:p>
        </p:txBody>
      </p:sp>
    </p:spTree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Footer Placeholder 2">
            <a:extLst>
              <a:ext uri="{FF2B5EF4-FFF2-40B4-BE49-F238E27FC236}">
                <a16:creationId xmlns:a16="http://schemas.microsoft.com/office/drawing/2014/main" id="{D999FF89-0E10-4585-92F4-0737160591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49154" name="Slide Number Placeholder 3">
            <a:extLst>
              <a:ext uri="{FF2B5EF4-FFF2-40B4-BE49-F238E27FC236}">
                <a16:creationId xmlns:a16="http://schemas.microsoft.com/office/drawing/2014/main" id="{9CA7F98A-67D0-4F55-BA51-D2900CD119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BE72816-01B1-49C7-953E-F1691C26DF6A}" type="slidenum">
              <a:rPr lang="en-US" altLang="it-IT" sz="1200"/>
              <a:pPr/>
              <a:t>18</a:t>
            </a:fld>
            <a:endParaRPr lang="en-US" altLang="it-IT" sz="120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7124CD85-57C2-4DAB-9482-DC24BD2892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LL(1) Expression Parsing Table</a:t>
            </a:r>
          </a:p>
        </p:txBody>
      </p:sp>
      <p:graphicFrame>
        <p:nvGraphicFramePr>
          <p:cNvPr id="34042" name="Group 250">
            <a:extLst>
              <a:ext uri="{FF2B5EF4-FFF2-40B4-BE49-F238E27FC236}">
                <a16:creationId xmlns:a16="http://schemas.microsoft.com/office/drawing/2014/main" id="{F3B34A8F-2201-4E81-B70B-CCA1FD08E264}"/>
              </a:ext>
            </a:extLst>
          </p:cNvPr>
          <p:cNvGraphicFramePr>
            <a:graphicFrameLocks noGrp="1"/>
          </p:cNvGraphicFramePr>
          <p:nvPr/>
        </p:nvGraphicFramePr>
        <p:xfrm>
          <a:off x="990600" y="1524000"/>
          <a:ext cx="7124700" cy="4064001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–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/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EOF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Expr’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Term’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9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—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AD963FE-7C61-4CB8-94AE-3F863BB8D1D8}"/>
              </a:ext>
            </a:extLst>
          </p:cNvPr>
          <p:cNvSpPr txBox="1"/>
          <p:nvPr/>
        </p:nvSpPr>
        <p:spPr>
          <a:xfrm>
            <a:off x="609600" y="5943600"/>
            <a:ext cx="4495800" cy="584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dirty="0">
                <a:solidFill>
                  <a:srgbClr val="FF0000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Table differs from 2e because order of productions in Factor differs.</a:t>
            </a:r>
          </a:p>
        </p:txBody>
      </p:sp>
      <p:grpSp>
        <p:nvGrpSpPr>
          <p:cNvPr id="49231" name="Group 9">
            <a:extLst>
              <a:ext uri="{FF2B5EF4-FFF2-40B4-BE49-F238E27FC236}">
                <a16:creationId xmlns:a16="http://schemas.microsoft.com/office/drawing/2014/main" id="{6A27B2D4-7FDF-42D3-BFAE-B034B91ADA0C}"/>
              </a:ext>
            </a:extLst>
          </p:cNvPr>
          <p:cNvGrpSpPr>
            <a:grpSpLocks/>
          </p:cNvGrpSpPr>
          <p:nvPr/>
        </p:nvGrpSpPr>
        <p:grpSpPr bwMode="auto">
          <a:xfrm>
            <a:off x="273050" y="4821238"/>
            <a:ext cx="7840663" cy="665162"/>
            <a:chOff x="273348" y="4821935"/>
            <a:chExt cx="7840094" cy="664465"/>
          </a:xfrm>
        </p:grpSpPr>
        <p:sp>
          <p:nvSpPr>
            <p:cNvPr id="49232" name="Rounded Rectangle 7">
              <a:extLst>
                <a:ext uri="{FF2B5EF4-FFF2-40B4-BE49-F238E27FC236}">
                  <a16:creationId xmlns:a16="http://schemas.microsoft.com/office/drawing/2014/main" id="{2E09667F-4157-40A0-95B1-F06E665C75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00" y="5105400"/>
              <a:ext cx="7122842" cy="381000"/>
            </a:xfrm>
            <a:prstGeom prst="roundRect">
              <a:avLst>
                <a:gd name="adj" fmla="val 16667"/>
              </a:avLst>
            </a:prstGeom>
            <a:noFill/>
            <a:ln w="19050" algn="ctr">
              <a:solidFill>
                <a:srgbClr val="B025A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49233" name="TextBox 8">
              <a:extLst>
                <a:ext uri="{FF2B5EF4-FFF2-40B4-BE49-F238E27FC236}">
                  <a16:creationId xmlns:a16="http://schemas.microsoft.com/office/drawing/2014/main" id="{9E71F6E0-7EFE-4620-B5D0-CC2B35D995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348" y="4821935"/>
              <a:ext cx="1066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r>
                <a:rPr lang="en-US" altLang="it-IT" sz="1200">
                  <a:solidFill>
                    <a:srgbClr val="B025A6"/>
                  </a:solidFill>
                </a:rPr>
                <a:t>Row we built earlier</a:t>
              </a:r>
            </a:p>
          </p:txBody>
        </p:sp>
      </p:grpSp>
    </p:spTree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Footer Placeholder 3">
            <a:extLst>
              <a:ext uri="{FF2B5EF4-FFF2-40B4-BE49-F238E27FC236}">
                <a16:creationId xmlns:a16="http://schemas.microsoft.com/office/drawing/2014/main" id="{F125083A-EE2B-4302-9836-ECEF0904AF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51202" name="Slide Number Placeholder 4">
            <a:extLst>
              <a:ext uri="{FF2B5EF4-FFF2-40B4-BE49-F238E27FC236}">
                <a16:creationId xmlns:a16="http://schemas.microsoft.com/office/drawing/2014/main" id="{12DDB543-BA65-4283-B04E-65CF99A895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86E413D-A0BC-4C4A-8F55-EDDF294EB54C}" type="slidenum">
              <a:rPr lang="en-US" altLang="it-IT" sz="1200"/>
              <a:pPr/>
              <a:t>19</a:t>
            </a:fld>
            <a:endParaRPr lang="en-US" altLang="it-IT" sz="1200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350C5AA3-F5E6-4A1A-951D-4B83E8F712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Building Top-down Parsers</a:t>
            </a:r>
          </a:p>
        </p:txBody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B2F32A57-0CEC-4F99-A5F5-9D5EA3E3E0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Building the complete table</a:t>
            </a:r>
          </a:p>
          <a:p>
            <a:pPr eaLnBrk="1" hangingPunct="1"/>
            <a:r>
              <a:rPr lang="en-US" altLang="it-IT"/>
              <a:t>Need a row for every </a:t>
            </a:r>
            <a:r>
              <a:rPr lang="en-US" altLang="it-IT" i="1"/>
              <a:t>NT</a:t>
            </a:r>
            <a:r>
              <a:rPr lang="en-US" altLang="it-IT"/>
              <a:t> &amp; a column for every </a:t>
            </a:r>
            <a:r>
              <a:rPr lang="en-US" altLang="it-IT" i="1"/>
              <a:t>T</a:t>
            </a:r>
            <a:endParaRPr lang="en-US" altLang="it-IT"/>
          </a:p>
          <a:p>
            <a:pPr eaLnBrk="1" hangingPunct="1"/>
            <a:r>
              <a:rPr lang="en-US" altLang="it-IT"/>
              <a:t>Need an interpreter for the table (</a:t>
            </a:r>
            <a:r>
              <a:rPr lang="en-US" altLang="it-IT" i="1"/>
              <a:t>skeleton parser</a:t>
            </a:r>
            <a:r>
              <a:rPr lang="en-US" altLang="it-IT"/>
              <a:t>)</a:t>
            </a:r>
          </a:p>
        </p:txBody>
      </p:sp>
    </p:spTree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Footer Placeholder 3">
            <a:extLst>
              <a:ext uri="{FF2B5EF4-FFF2-40B4-BE49-F238E27FC236}">
                <a16:creationId xmlns:a16="http://schemas.microsoft.com/office/drawing/2014/main" id="{5A9A2752-42A1-485D-B428-2B80C965F9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53250" name="Slide Number Placeholder 4">
            <a:extLst>
              <a:ext uri="{FF2B5EF4-FFF2-40B4-BE49-F238E27FC236}">
                <a16:creationId xmlns:a16="http://schemas.microsoft.com/office/drawing/2014/main" id="{6E6BFFEB-CA41-45AA-82C5-738D798BF4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FCACBCC-346B-4B74-AC5D-FE0FDF624EF3}" type="slidenum">
              <a:rPr lang="en-US" altLang="it-IT" sz="1200"/>
              <a:pPr/>
              <a:t>20</a:t>
            </a:fld>
            <a:endParaRPr lang="en-US" altLang="it-IT" sz="12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27F67774-DFC1-4330-BB32-2E923D855F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 sz="2200" i="1"/>
              <a:t>LL(1)</a:t>
            </a:r>
            <a:r>
              <a:rPr lang="en-US" altLang="it-IT"/>
              <a:t> Skeleton Parser</a:t>
            </a:r>
          </a:p>
        </p:txBody>
      </p:sp>
      <p:sp>
        <p:nvSpPr>
          <p:cNvPr id="53252" name="Text Box 3">
            <a:extLst>
              <a:ext uri="{FF2B5EF4-FFF2-40B4-BE49-F238E27FC236}">
                <a16:creationId xmlns:a16="http://schemas.microsoft.com/office/drawing/2014/main" id="{081B003F-7D7A-4D8C-92CB-41C7933F7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120775"/>
            <a:ext cx="6477000" cy="510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lnSpc>
                <a:spcPct val="95000"/>
              </a:lnSpc>
            </a:pPr>
            <a:r>
              <a:rPr lang="en-US" altLang="it-IT" sz="1800"/>
              <a:t>word </a:t>
            </a:r>
            <a:r>
              <a:rPr lang="en-US" altLang="it-IT" sz="1800">
                <a:sym typeface="Symbol" panose="05050102010706020507" pitchFamily="18" charset="2"/>
              </a:rPr>
              <a:t> NextWord()             </a:t>
            </a: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// Initial conditions, including </a:t>
            </a:r>
          </a:p>
          <a:p>
            <a:pPr>
              <a:lnSpc>
                <a:spcPct val="95000"/>
              </a:lnSpc>
            </a:pPr>
            <a:r>
              <a:rPr lang="en-US" altLang="it-IT" sz="1800"/>
              <a:t>push EOF onto Stack             </a:t>
            </a:r>
            <a:r>
              <a:rPr lang="en-US" altLang="it-IT" sz="1800">
                <a:solidFill>
                  <a:srgbClr val="003C75"/>
                </a:solidFill>
              </a:rPr>
              <a:t>// a stack to track local goals</a:t>
            </a:r>
          </a:p>
          <a:p>
            <a:pPr>
              <a:lnSpc>
                <a:spcPct val="95000"/>
              </a:lnSpc>
            </a:pPr>
            <a:r>
              <a:rPr lang="en-US" altLang="it-IT" sz="1800"/>
              <a:t>push the start symbol, </a:t>
            </a:r>
            <a:r>
              <a:rPr lang="en-US" altLang="it-IT" sz="1800" i="1"/>
              <a:t>S</a:t>
            </a:r>
            <a:r>
              <a:rPr lang="en-US" altLang="it-IT" sz="1800"/>
              <a:t>, onto Stack</a:t>
            </a:r>
          </a:p>
          <a:p>
            <a:pPr>
              <a:lnSpc>
                <a:spcPct val="95000"/>
              </a:lnSpc>
            </a:pPr>
            <a:r>
              <a:rPr lang="en-US" altLang="it-IT" sz="1800"/>
              <a:t>TOS </a:t>
            </a:r>
            <a:r>
              <a:rPr lang="en-US" altLang="it-IT" sz="1800">
                <a:sym typeface="Symbol" panose="05050102010706020507" pitchFamily="18" charset="2"/>
              </a:rPr>
              <a:t> top of Stack</a:t>
            </a:r>
          </a:p>
          <a:p>
            <a:pPr>
              <a:lnSpc>
                <a:spcPct val="95000"/>
              </a:lnSpc>
              <a:spcBef>
                <a:spcPct val="25000"/>
              </a:spcBef>
            </a:pPr>
            <a:r>
              <a:rPr lang="en-US" altLang="it-IT" sz="1800" i="1">
                <a:sym typeface="Symbol" panose="05050102010706020507" pitchFamily="18" charset="2"/>
              </a:rPr>
              <a:t>loop forever</a:t>
            </a:r>
            <a:endParaRPr lang="en-US" altLang="it-IT" sz="1800">
              <a:sym typeface="Symbol" panose="05050102010706020507" pitchFamily="18" charset="2"/>
            </a:endParaRPr>
          </a:p>
          <a:p>
            <a:pPr>
              <a:lnSpc>
                <a:spcPct val="95000"/>
              </a:lnSpc>
            </a:pPr>
            <a:r>
              <a:rPr lang="en-US" altLang="it-IT" sz="1800">
                <a:sym typeface="Symbol" panose="05050102010706020507" pitchFamily="18" charset="2"/>
              </a:rPr>
              <a:t>   if TOS = EOF and word = EOF then</a:t>
            </a:r>
          </a:p>
          <a:p>
            <a:pPr>
              <a:lnSpc>
                <a:spcPct val="95000"/>
              </a:lnSpc>
            </a:pPr>
            <a:r>
              <a:rPr lang="en-US" altLang="it-IT" sz="1800">
                <a:sym typeface="Symbol" panose="05050102010706020507" pitchFamily="18" charset="2"/>
              </a:rPr>
              <a:t>       break &amp; report success   </a:t>
            </a: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// exit on success</a:t>
            </a:r>
          </a:p>
          <a:p>
            <a:pPr>
              <a:lnSpc>
                <a:spcPct val="95000"/>
              </a:lnSpc>
              <a:spcBef>
                <a:spcPct val="25000"/>
              </a:spcBef>
            </a:pPr>
            <a:r>
              <a:rPr lang="en-US" altLang="it-IT" sz="1800">
                <a:sym typeface="Symbol" panose="05050102010706020507" pitchFamily="18" charset="2"/>
              </a:rPr>
              <a:t>    else if TOS is a terminal then</a:t>
            </a:r>
          </a:p>
          <a:p>
            <a:pPr>
              <a:lnSpc>
                <a:spcPct val="95000"/>
              </a:lnSpc>
            </a:pPr>
            <a:r>
              <a:rPr lang="en-US" altLang="it-IT" sz="1800">
                <a:sym typeface="Symbol" panose="05050102010706020507" pitchFamily="18" charset="2"/>
              </a:rPr>
              <a:t>       if TOS matches word then</a:t>
            </a:r>
          </a:p>
          <a:p>
            <a:pPr>
              <a:lnSpc>
                <a:spcPct val="95000"/>
              </a:lnSpc>
            </a:pPr>
            <a:r>
              <a:rPr lang="en-US" altLang="it-IT" sz="1800">
                <a:sym typeface="Symbol" panose="05050102010706020507" pitchFamily="18" charset="2"/>
              </a:rPr>
              <a:t>           pop Stack		      </a:t>
            </a: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// recognized TOS</a:t>
            </a:r>
          </a:p>
          <a:p>
            <a:pPr>
              <a:lnSpc>
                <a:spcPct val="95000"/>
              </a:lnSpc>
            </a:pPr>
            <a:r>
              <a:rPr lang="en-US" altLang="it-IT" sz="1800">
                <a:sym typeface="Symbol" panose="05050102010706020507" pitchFamily="18" charset="2"/>
              </a:rPr>
              <a:t>           word  NextWord()</a:t>
            </a:r>
          </a:p>
          <a:p>
            <a:pPr>
              <a:lnSpc>
                <a:spcPct val="95000"/>
              </a:lnSpc>
            </a:pPr>
            <a:r>
              <a:rPr lang="en-US" altLang="it-IT" sz="1800">
                <a:sym typeface="Symbol" panose="05050102010706020507" pitchFamily="18" charset="2"/>
              </a:rPr>
              <a:t>       else report error looking for TOS  </a:t>
            </a: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// error exit</a:t>
            </a:r>
          </a:p>
          <a:p>
            <a:pPr>
              <a:lnSpc>
                <a:spcPct val="95000"/>
              </a:lnSpc>
              <a:spcBef>
                <a:spcPct val="25000"/>
              </a:spcBef>
            </a:pPr>
            <a:r>
              <a:rPr lang="en-US" altLang="it-IT" sz="1800">
                <a:sym typeface="Symbol" panose="05050102010706020507" pitchFamily="18" charset="2"/>
              </a:rPr>
              <a:t>    else   			      </a:t>
            </a: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// TOS is a non-terminal</a:t>
            </a:r>
          </a:p>
          <a:p>
            <a:pPr>
              <a:lnSpc>
                <a:spcPct val="95000"/>
              </a:lnSpc>
            </a:pPr>
            <a:r>
              <a:rPr lang="en-US" altLang="it-IT" sz="1800">
                <a:sym typeface="Symbol" panose="05050102010706020507" pitchFamily="18" charset="2"/>
              </a:rPr>
              <a:t>       if TABLE[TOS,word] is A B</a:t>
            </a:r>
            <a:r>
              <a:rPr lang="en-US" altLang="it-IT" sz="1800" baseline="-25000">
                <a:sym typeface="Symbol" panose="05050102010706020507" pitchFamily="18" charset="2"/>
              </a:rPr>
              <a:t>1</a:t>
            </a:r>
            <a:r>
              <a:rPr lang="en-US" altLang="it-IT" sz="1800">
                <a:sym typeface="Symbol" panose="05050102010706020507" pitchFamily="18" charset="2"/>
              </a:rPr>
              <a:t>B</a:t>
            </a:r>
            <a:r>
              <a:rPr lang="en-US" altLang="it-IT" sz="1800" baseline="-25000">
                <a:sym typeface="Symbol" panose="05050102010706020507" pitchFamily="18" charset="2"/>
              </a:rPr>
              <a:t>2</a:t>
            </a:r>
            <a:r>
              <a:rPr lang="en-US" altLang="it-IT" sz="1800">
                <a:sym typeface="Symbol" panose="05050102010706020507" pitchFamily="18" charset="2"/>
              </a:rPr>
              <a:t>…B</a:t>
            </a:r>
            <a:r>
              <a:rPr lang="en-US" altLang="it-IT" sz="1800" baseline="-25000">
                <a:sym typeface="Symbol" panose="05050102010706020507" pitchFamily="18" charset="2"/>
              </a:rPr>
              <a:t>k</a:t>
            </a:r>
            <a:r>
              <a:rPr lang="en-US" altLang="it-IT" sz="1800">
                <a:sym typeface="Symbol" panose="05050102010706020507" pitchFamily="18" charset="2"/>
              </a:rPr>
              <a:t> then</a:t>
            </a:r>
          </a:p>
          <a:p>
            <a:pPr>
              <a:lnSpc>
                <a:spcPct val="95000"/>
              </a:lnSpc>
            </a:pPr>
            <a:r>
              <a:rPr lang="en-US" altLang="it-IT" sz="1800">
                <a:sym typeface="Symbol" panose="05050102010706020507" pitchFamily="18" charset="2"/>
              </a:rPr>
              <a:t>           pop Stack	           	     </a:t>
            </a: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// get rid of A</a:t>
            </a:r>
          </a:p>
          <a:p>
            <a:pPr>
              <a:lnSpc>
                <a:spcPct val="95000"/>
              </a:lnSpc>
            </a:pPr>
            <a:r>
              <a:rPr lang="en-US" altLang="it-IT" sz="1800">
                <a:sym typeface="Symbol" panose="05050102010706020507" pitchFamily="18" charset="2"/>
              </a:rPr>
              <a:t>           push B</a:t>
            </a:r>
            <a:r>
              <a:rPr lang="en-US" altLang="it-IT" sz="1800" baseline="-25000">
                <a:sym typeface="Symbol" panose="05050102010706020507" pitchFamily="18" charset="2"/>
              </a:rPr>
              <a:t>k</a:t>
            </a:r>
            <a:r>
              <a:rPr lang="en-US" altLang="it-IT" sz="1800">
                <a:sym typeface="Symbol" panose="05050102010706020507" pitchFamily="18" charset="2"/>
              </a:rPr>
              <a:t>, B</a:t>
            </a:r>
            <a:r>
              <a:rPr lang="en-US" altLang="it-IT" sz="1800" baseline="-25000">
                <a:sym typeface="Symbol" panose="05050102010706020507" pitchFamily="18" charset="2"/>
              </a:rPr>
              <a:t>k-1</a:t>
            </a:r>
            <a:r>
              <a:rPr lang="en-US" altLang="it-IT" sz="1800">
                <a:sym typeface="Symbol" panose="05050102010706020507" pitchFamily="18" charset="2"/>
              </a:rPr>
              <a:t>, …, B</a:t>
            </a:r>
            <a:r>
              <a:rPr lang="en-US" altLang="it-IT" sz="1800" baseline="-25000">
                <a:sym typeface="Symbol" panose="05050102010706020507" pitchFamily="18" charset="2"/>
              </a:rPr>
              <a:t>1 </a:t>
            </a:r>
            <a:r>
              <a:rPr lang="en-US" altLang="it-IT" sz="1800">
                <a:sym typeface="Symbol" panose="05050102010706020507" pitchFamily="18" charset="2"/>
              </a:rPr>
              <a:t>     </a:t>
            </a: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// in that order</a:t>
            </a:r>
          </a:p>
          <a:p>
            <a:pPr>
              <a:lnSpc>
                <a:spcPct val="95000"/>
              </a:lnSpc>
            </a:pPr>
            <a:r>
              <a:rPr lang="en-US" altLang="it-IT" sz="1800">
                <a:sym typeface="Symbol" panose="05050102010706020507" pitchFamily="18" charset="2"/>
              </a:rPr>
              <a:t>       else break &amp; report error expanding TOS</a:t>
            </a:r>
          </a:p>
          <a:p>
            <a:pPr>
              <a:lnSpc>
                <a:spcPct val="95000"/>
              </a:lnSpc>
              <a:spcBef>
                <a:spcPct val="25000"/>
              </a:spcBef>
            </a:pPr>
            <a:r>
              <a:rPr lang="en-US" altLang="it-IT" sz="1800">
                <a:sym typeface="Symbol" panose="05050102010706020507" pitchFamily="18" charset="2"/>
              </a:rPr>
              <a:t>   TOS  top of Stack</a:t>
            </a:r>
          </a:p>
        </p:txBody>
      </p:sp>
    </p:spTree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Footer Placeholder 3">
            <a:extLst>
              <a:ext uri="{FF2B5EF4-FFF2-40B4-BE49-F238E27FC236}">
                <a16:creationId xmlns:a16="http://schemas.microsoft.com/office/drawing/2014/main" id="{0F04C60A-013D-481B-A7BE-53B0C66423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55298" name="Slide Number Placeholder 4">
            <a:extLst>
              <a:ext uri="{FF2B5EF4-FFF2-40B4-BE49-F238E27FC236}">
                <a16:creationId xmlns:a16="http://schemas.microsoft.com/office/drawing/2014/main" id="{E8222519-97DB-42AA-804C-01EB4DD864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546EE93-0BB6-4826-9145-9A8A8BDB6280}" type="slidenum">
              <a:rPr lang="en-US" altLang="it-IT" sz="1200"/>
              <a:pPr/>
              <a:t>21</a:t>
            </a:fld>
            <a:endParaRPr lang="en-US" altLang="it-IT" sz="1200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74859A97-55C0-427E-B2E6-5AA9C11730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Building Top-down Parsers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F0CAFD25-C819-446F-8C88-36D634F620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81000" indent="-381000" eaLnBrk="1" hangingPunct="1">
              <a:buFont typeface="Times" panose="02020603050405020304" pitchFamily="18" charset="0"/>
              <a:buNone/>
            </a:pPr>
            <a:r>
              <a:rPr lang="en-US" altLang="it-IT"/>
              <a:t>Building the complete table</a:t>
            </a:r>
          </a:p>
          <a:p>
            <a:pPr marL="381000" indent="-381000" eaLnBrk="1" hangingPunct="1"/>
            <a:r>
              <a:rPr lang="en-US" altLang="it-IT"/>
              <a:t>Need a row for every </a:t>
            </a:r>
            <a:r>
              <a:rPr lang="en-US" altLang="it-IT" i="1"/>
              <a:t>NT</a:t>
            </a:r>
            <a:r>
              <a:rPr lang="en-US" altLang="it-IT"/>
              <a:t> &amp; a column for every </a:t>
            </a:r>
            <a:r>
              <a:rPr lang="en-US" altLang="it-IT" i="1"/>
              <a:t>T</a:t>
            </a:r>
            <a:endParaRPr lang="en-US" altLang="it-IT"/>
          </a:p>
          <a:p>
            <a:pPr marL="381000" indent="-381000" eaLnBrk="1" hangingPunct="1"/>
            <a:r>
              <a:rPr lang="en-US" altLang="it-IT"/>
              <a:t>Need a table-driven interpreter for the table</a:t>
            </a:r>
          </a:p>
          <a:p>
            <a:pPr marL="381000" indent="-381000" eaLnBrk="1" hangingPunct="1"/>
            <a:r>
              <a:rPr lang="en-US" altLang="it-IT"/>
              <a:t>Need an algorithm to build the table</a:t>
            </a:r>
          </a:p>
          <a:p>
            <a:pPr marL="381000" indent="-381000" eaLnBrk="1" hangingPunct="1">
              <a:spcBef>
                <a:spcPct val="150000"/>
              </a:spcBef>
              <a:buFont typeface="Times" panose="02020603050405020304" pitchFamily="18" charset="0"/>
              <a:buNone/>
            </a:pPr>
            <a:r>
              <a:rPr lang="en-US" altLang="it-IT"/>
              <a:t>Filling in TABLE[X,y], X </a:t>
            </a:r>
            <a:r>
              <a:rPr lang="en-US" altLang="it-IT">
                <a:sym typeface="Symbol" panose="05050102010706020507" pitchFamily="18" charset="2"/>
              </a:rPr>
              <a:t> </a:t>
            </a:r>
            <a:r>
              <a:rPr lang="en-US" altLang="it-IT" i="1">
                <a:sym typeface="Symbol" panose="05050102010706020507" pitchFamily="18" charset="2"/>
              </a:rPr>
              <a:t>NT</a:t>
            </a:r>
            <a:r>
              <a:rPr lang="en-US" altLang="it-IT">
                <a:sym typeface="Symbol" panose="05050102010706020507" pitchFamily="18" charset="2"/>
              </a:rPr>
              <a:t>, y  </a:t>
            </a:r>
            <a:r>
              <a:rPr lang="en-US" altLang="it-IT" i="1">
                <a:sym typeface="Symbol" panose="05050102010706020507" pitchFamily="18" charset="2"/>
              </a:rPr>
              <a:t>T</a:t>
            </a:r>
          </a:p>
          <a:p>
            <a:pPr marL="800100" lvl="1" indent="-342900" eaLnBrk="1" hangingPunct="1">
              <a:buSzPct val="90000"/>
              <a:buFont typeface="Times" panose="02020603050405020304" pitchFamily="18" charset="0"/>
              <a:buAutoNum type="arabicPeriod"/>
            </a:pPr>
            <a:r>
              <a:rPr lang="en-US" altLang="it-IT">
                <a:sym typeface="Symbol" panose="05050102010706020507" pitchFamily="18" charset="2"/>
              </a:rPr>
              <a:t>entry is the rule </a:t>
            </a:r>
            <a:r>
              <a:rPr lang="en-US" altLang="it-IT" i="1">
                <a:sym typeface="Symbol" panose="05050102010706020507" pitchFamily="18" charset="2"/>
              </a:rPr>
              <a:t>X , </a:t>
            </a:r>
            <a:r>
              <a:rPr lang="en-US" altLang="it-IT">
                <a:sym typeface="Symbol" panose="05050102010706020507" pitchFamily="18" charset="2"/>
              </a:rPr>
              <a:t>if y  F</a:t>
            </a:r>
            <a:r>
              <a:rPr lang="en-US" altLang="it-IT" sz="1600">
                <a:sym typeface="Symbol" panose="05050102010706020507" pitchFamily="18" charset="2"/>
              </a:rPr>
              <a:t>IRST</a:t>
            </a:r>
            <a:r>
              <a:rPr lang="en-US" altLang="it-IT" sz="2400" baseline="30000">
                <a:sym typeface="Symbol" panose="05050102010706020507" pitchFamily="18" charset="2"/>
              </a:rPr>
              <a:t>+</a:t>
            </a:r>
            <a:r>
              <a:rPr lang="en-US" altLang="it-IT">
                <a:sym typeface="Symbol" panose="05050102010706020507" pitchFamily="18" charset="2"/>
              </a:rPr>
              <a:t>(</a:t>
            </a:r>
            <a:r>
              <a:rPr lang="en-US" altLang="it-IT" i="1">
                <a:sym typeface="Symbol" panose="05050102010706020507" pitchFamily="18" charset="2"/>
              </a:rPr>
              <a:t>X </a:t>
            </a:r>
            <a:r>
              <a:rPr lang="en-US" altLang="it-IT">
                <a:sym typeface="Symbol" panose="05050102010706020507" pitchFamily="18" charset="2"/>
              </a:rPr>
              <a:t>)</a:t>
            </a:r>
          </a:p>
          <a:p>
            <a:pPr marL="800100" lvl="1" indent="-342900" eaLnBrk="1" hangingPunct="1">
              <a:buSzPct val="90000"/>
              <a:buFont typeface="Times" panose="02020603050405020304" pitchFamily="18" charset="0"/>
              <a:buAutoNum type="arabicPeriod"/>
            </a:pPr>
            <a:r>
              <a:rPr lang="en-US" altLang="it-IT">
                <a:sym typeface="Symbol" panose="05050102010706020507" pitchFamily="18" charset="2"/>
              </a:rPr>
              <a:t>entry is </a:t>
            </a:r>
            <a:r>
              <a:rPr lang="en-US" altLang="it-IT" i="1">
                <a:solidFill>
                  <a:srgbClr val="003C75"/>
                </a:solidFill>
                <a:sym typeface="Symbol" panose="05050102010706020507" pitchFamily="18" charset="2"/>
              </a:rPr>
              <a:t>error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if rule </a:t>
            </a:r>
            <a:r>
              <a:rPr lang="en-US" altLang="it-IT" sz="1600">
                <a:solidFill>
                  <a:srgbClr val="B025A6"/>
                </a:solidFill>
                <a:sym typeface="Symbol" panose="05050102010706020507" pitchFamily="18" charset="2"/>
              </a:rPr>
              <a:t>1</a:t>
            </a:r>
            <a:r>
              <a:rPr lang="en-US" altLang="it-IT">
                <a:sym typeface="Symbol" panose="05050102010706020507" pitchFamily="18" charset="2"/>
              </a:rPr>
              <a:t> does not define</a:t>
            </a:r>
          </a:p>
          <a:p>
            <a:pPr marL="381000" indent="-381000"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If any entry has more than one rule, G is not </a:t>
            </a:r>
            <a:r>
              <a:rPr lang="en-US" altLang="it-IT" sz="1800" i="1">
                <a:sym typeface="Symbol" panose="05050102010706020507" pitchFamily="18" charset="2"/>
              </a:rPr>
              <a:t>LL(1)</a:t>
            </a:r>
          </a:p>
          <a:p>
            <a:pPr marL="381000" indent="-381000" eaLnBrk="1" hangingPunct="1">
              <a:buFont typeface="Times" panose="02020603050405020304" pitchFamily="18" charset="0"/>
              <a:buNone/>
            </a:pPr>
            <a:endParaRPr lang="en-US" altLang="it-IT" sz="1800" i="1">
              <a:sym typeface="Symbol" panose="05050102010706020507" pitchFamily="18" charset="2"/>
            </a:endParaRPr>
          </a:p>
          <a:p>
            <a:pPr marL="381000" indent="-381000" eaLnBrk="1" hangingPunct="1">
              <a:buFont typeface="Times" panose="02020603050405020304" pitchFamily="18" charset="0"/>
              <a:buNone/>
            </a:pPr>
            <a:r>
              <a:rPr lang="en-US" altLang="it-IT" sz="1800">
                <a:solidFill>
                  <a:srgbClr val="003C75"/>
                </a:solidFill>
                <a:sym typeface="Symbol" panose="05050102010706020507" pitchFamily="18" charset="2"/>
              </a:rPr>
              <a:t>We call this algorithm the</a:t>
            </a:r>
            <a:r>
              <a:rPr lang="en-US" altLang="it-IT" sz="1800" i="1">
                <a:solidFill>
                  <a:srgbClr val="003C75"/>
                </a:solidFill>
                <a:sym typeface="Symbol" panose="05050102010706020507" pitchFamily="18" charset="2"/>
              </a:rPr>
              <a:t> LL(1)</a:t>
            </a:r>
            <a:r>
              <a:rPr lang="en-US" altLang="it-IT">
                <a:solidFill>
                  <a:srgbClr val="003C75"/>
                </a:solidFill>
                <a:sym typeface="Symbol" panose="05050102010706020507" pitchFamily="18" charset="2"/>
              </a:rPr>
              <a:t> table construction algorithm</a:t>
            </a:r>
          </a:p>
        </p:txBody>
      </p:sp>
    </p:spTree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Footer Placeholder 4">
            <a:extLst>
              <a:ext uri="{FF2B5EF4-FFF2-40B4-BE49-F238E27FC236}">
                <a16:creationId xmlns:a16="http://schemas.microsoft.com/office/drawing/2014/main" id="{1DC84A83-54B6-488E-A346-C185893A20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200"/>
              <a:t>Comp 412, Fall 2010</a:t>
            </a:r>
          </a:p>
        </p:txBody>
      </p:sp>
      <p:sp>
        <p:nvSpPr>
          <p:cNvPr id="57346" name="Slide Number Placeholder 5">
            <a:extLst>
              <a:ext uri="{FF2B5EF4-FFF2-40B4-BE49-F238E27FC236}">
                <a16:creationId xmlns:a16="http://schemas.microsoft.com/office/drawing/2014/main" id="{17CFBA7D-E5DE-4CEC-9702-706AA5895B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E57F879-A1A3-4EB4-A449-A5229086AC4C}" type="slidenum">
              <a:rPr lang="en-US" altLang="it-IT" sz="1200"/>
              <a:pPr/>
              <a:t>22</a:t>
            </a:fld>
            <a:endParaRPr lang="en-US" altLang="it-IT" sz="120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87605B4C-A5A2-4E14-926C-8EC6C8CD1A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Grammar and Sets for the LL(1) Construction </a:t>
            </a:r>
          </a:p>
        </p:txBody>
      </p:sp>
      <p:graphicFrame>
        <p:nvGraphicFramePr>
          <p:cNvPr id="69636" name="Group 4">
            <a:extLst>
              <a:ext uri="{FF2B5EF4-FFF2-40B4-BE49-F238E27FC236}">
                <a16:creationId xmlns:a16="http://schemas.microsoft.com/office/drawing/2014/main" id="{5C16750A-F1BD-4E1A-8F7E-6AE3BBF0DEDB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1447800"/>
          <a:ext cx="3276600" cy="405765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Goal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Expr’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Expr’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Expr’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 Expr’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1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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 Term’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Term’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 Term’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|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/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 Term’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1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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9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10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11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69902" name="Group 270">
            <a:extLst>
              <a:ext uri="{FF2B5EF4-FFF2-40B4-BE49-F238E27FC236}">
                <a16:creationId xmlns:a16="http://schemas.microsoft.com/office/drawing/2014/main" id="{83D57A8F-C0F0-4997-9258-6DF4EA219A79}"/>
              </a:ext>
            </a:extLst>
          </p:cNvPr>
          <p:cNvGraphicFramePr>
            <a:graphicFrameLocks noGrp="1"/>
          </p:cNvGraphicFramePr>
          <p:nvPr/>
        </p:nvGraphicFramePr>
        <p:xfrm>
          <a:off x="5105400" y="1371600"/>
          <a:ext cx="2514600" cy="4135540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Prod’n</a:t>
                      </a:r>
                    </a:p>
                  </a:txBody>
                  <a:tcPr marT="45715" marB="45715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FIRST+</a:t>
                      </a:r>
                    </a:p>
                  </a:txBody>
                  <a:tcPr marT="45715" marB="45715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15" marB="45715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</a:p>
                  </a:txBody>
                  <a:tcPr marT="45715" marB="45715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</a:p>
                  </a:txBody>
                  <a:tcPr marT="45715" marB="4571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</a:t>
                      </a:r>
                    </a:p>
                  </a:txBody>
                  <a:tcPr marT="45715" marB="4571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</a:p>
                  </a:txBody>
                  <a:tcPr marT="45715" marB="4571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2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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,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)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,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eof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3C7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1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,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</a:t>
                      </a:r>
                    </a:p>
                  </a:txBody>
                  <a:tcPr marT="45715" marB="4571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</a:t>
                      </a:r>
                    </a:p>
                  </a:txBody>
                  <a:tcPr marT="45715" marB="4571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</a:p>
                  </a:txBody>
                  <a:tcPr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/</a:t>
                      </a:r>
                    </a:p>
                  </a:txBody>
                  <a:tcPr marT="45715" marB="4571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2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1822CD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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,+,-, 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)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,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C75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eof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3C75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2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9</a:t>
                      </a:r>
                    </a:p>
                  </a:txBody>
                  <a:tcPr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27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10</a:t>
                      </a:r>
                    </a:p>
                  </a:txBody>
                  <a:tcPr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08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11</a:t>
                      </a:r>
                    </a:p>
                  </a:txBody>
                  <a:tcPr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</a:p>
                  </a:txBody>
                  <a:tcPr marT="45715" marB="4571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7427" name="Text Box 268">
            <a:extLst>
              <a:ext uri="{FF2B5EF4-FFF2-40B4-BE49-F238E27FC236}">
                <a16:creationId xmlns:a16="http://schemas.microsoft.com/office/drawing/2014/main" id="{438BA23B-923B-4C7F-BBD5-B9D0DC7CCD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715000"/>
            <a:ext cx="30480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/>
              <a:t>Right-recursive variant of the classic expression grammar</a:t>
            </a:r>
          </a:p>
        </p:txBody>
      </p:sp>
      <p:sp>
        <p:nvSpPr>
          <p:cNvPr id="57428" name="Text Box 269">
            <a:extLst>
              <a:ext uri="{FF2B5EF4-FFF2-40B4-BE49-F238E27FC236}">
                <a16:creationId xmlns:a16="http://schemas.microsoft.com/office/drawing/2014/main" id="{07E83035-010B-4731-8D02-C7D386248B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5715000"/>
            <a:ext cx="30480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/>
              <a:t>Augmented FIRST sets for the grammar</a:t>
            </a:r>
          </a:p>
        </p:txBody>
      </p:sp>
    </p:spTree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Comic Sans MS"/>
        <a:ea typeface="ヒラギノ角ゴ Pro W3"/>
        <a:cs typeface="ヒラギノ角ゴ Pro W3"/>
      </a:majorFont>
      <a:minorFont>
        <a:latin typeface="Comic Sans MS"/>
        <a:ea typeface="ヒラギノ角ゴ Pro W3"/>
        <a:cs typeface="ヒラギノ角ゴ Pro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ヒラギノ角ゴ Pro W3" charset="-128"/>
            <a:cs typeface="ヒラギノ角ゴ Pro W3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ヒラギノ角ゴ Pro W3" charset="-128"/>
            <a:cs typeface="ヒラギノ角ゴ Pro W3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</TotalTime>
  <Words>1874</Words>
  <Application>Microsoft Office PowerPoint</Application>
  <PresentationFormat>Presentazione su schermo (4:3)</PresentationFormat>
  <Paragraphs>765</Paragraphs>
  <Slides>23</Slides>
  <Notes>19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23</vt:i4>
      </vt:variant>
    </vt:vector>
  </HeadingPairs>
  <TitlesOfParts>
    <vt:vector size="24" baseType="lpstr">
      <vt:lpstr>Blank Presentation</vt:lpstr>
      <vt:lpstr>Top-down Parsing Recursive Descent &amp; LL(1)  Comp 412</vt:lpstr>
      <vt:lpstr>Roadmap  (Where are we?)</vt:lpstr>
      <vt:lpstr>Predictive Parsing</vt:lpstr>
      <vt:lpstr>Predictive Parsing</vt:lpstr>
      <vt:lpstr>What If My Grammar Is Not LL(1) ?</vt:lpstr>
      <vt:lpstr>What If My Grammar Is Not LL(1) ?</vt:lpstr>
      <vt:lpstr>Left Factoring Example</vt:lpstr>
      <vt:lpstr>Left Factoring Example</vt:lpstr>
      <vt:lpstr>FIRST and FOLLOW Sets</vt:lpstr>
      <vt:lpstr>Computing FIRST Sets</vt:lpstr>
      <vt:lpstr>Computing FIRST Sets</vt:lpstr>
      <vt:lpstr>Computing FIRST Sets</vt:lpstr>
      <vt:lpstr>Computing FOLLOW Sets</vt:lpstr>
      <vt:lpstr>Classic Expression Grammar</vt:lpstr>
      <vt:lpstr>Classic Expression Grammar</vt:lpstr>
      <vt:lpstr>Building Top-down Parsers for LL(1) Grammars</vt:lpstr>
      <vt:lpstr>Building Top-down Parsers</vt:lpstr>
      <vt:lpstr>Building Top-down Parsers</vt:lpstr>
      <vt:lpstr>LL(1) Expression Parsing Table</vt:lpstr>
      <vt:lpstr>Building Top-down Parsers</vt:lpstr>
      <vt:lpstr>LL(1) Skeleton Parser</vt:lpstr>
      <vt:lpstr>Building Top-down Parsers</vt:lpstr>
      <vt:lpstr>Grammar and Sets for the LL(1) Construction </vt:lpstr>
    </vt:vector>
  </TitlesOfParts>
  <Company>Rice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Keith Cooper</dc:creator>
  <cp:lastModifiedBy>Elsevier</cp:lastModifiedBy>
  <cp:revision>48</cp:revision>
  <cp:lastPrinted>2010-09-20T18:03:15Z</cp:lastPrinted>
  <dcterms:created xsi:type="dcterms:W3CDTF">2010-09-20T16:52:33Z</dcterms:created>
  <dcterms:modified xsi:type="dcterms:W3CDTF">2020-10-20T11:38:12Z</dcterms:modified>
</cp:coreProperties>
</file>