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9" r:id="rId3"/>
    <p:sldId id="260" r:id="rId4"/>
    <p:sldId id="261" r:id="rId5"/>
    <p:sldId id="262" r:id="rId6"/>
    <p:sldId id="280" r:id="rId7"/>
    <p:sldId id="281" r:id="rId8"/>
    <p:sldId id="282" r:id="rId9"/>
    <p:sldId id="263" r:id="rId10"/>
    <p:sldId id="264" r:id="rId11"/>
    <p:sldId id="283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9" r:id="rId21"/>
    <p:sldId id="273" r:id="rId22"/>
    <p:sldId id="274" r:id="rId23"/>
    <p:sldId id="275" r:id="rId24"/>
    <p:sldId id="276" r:id="rId25"/>
    <p:sldId id="277" r:id="rId26"/>
    <p:sldId id="278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E6E6E6"/>
    <a:srgbClr val="B025A6"/>
    <a:srgbClr val="FF0065"/>
    <a:srgbClr val="003C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15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53A4CC-E69B-436F-8A1D-47AF0803A0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A0F0B3-F948-420E-868F-1A0E5E8468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fld id="{2D3645AF-615E-49CC-86E6-5EF0FA36B993}" type="datetime1">
              <a:rPr lang="en-US"/>
              <a:pPr>
                <a:defRPr/>
              </a:pPr>
              <a:t>10/20/2020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91026E-5794-4C2E-8510-18B631AB24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48F8BF-D364-4288-9561-C5F3576E784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E8CBA00F-D821-4893-BA04-DDC4B1CD171A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1925B83-F64E-44EF-AEC1-8A5D71D495D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6BBAB56-27AB-425D-9862-8398C345DA9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0CE33BAE-03EA-4BF6-97F9-6212713BBBB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E89A9187-B072-4F95-87EF-3586447F931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F1AFF382-1592-46A2-9D7B-02EF0ABB695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0864B7-CEFB-456A-A2C4-0FBE637589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F886E16B-488B-42B9-B9F4-D001E7E55109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B5755476-C1CE-4712-BB77-454B37F684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FBC6198-37C4-42D1-B0DE-9059167220F7}" type="slidenum">
              <a:rPr lang="en-US" altLang="it-IT"/>
              <a:pPr/>
              <a:t>0</a:t>
            </a:fld>
            <a:endParaRPr lang="en-US" altLang="it-IT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9ADFDA4F-1EA1-4C5B-A0A8-F6D5916FDD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1394AB82-424B-49F9-96B7-E0CB83F0CE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95C068AE-0767-4295-A4E8-E95409DC58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69DA411-9CED-417A-B728-A0669741FC49}" type="slidenum">
              <a:rPr lang="en-US" altLang="it-IT"/>
              <a:pPr/>
              <a:t>1</a:t>
            </a:fld>
            <a:endParaRPr lang="en-US" altLang="it-IT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8E215AB0-B48A-4206-AB6D-6EA59E327F1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8357F76-E547-44B1-B99F-BA9D9750A4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102AF5AC-6CB9-47C0-ACA5-A42F415D36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3BD9AB4-CB18-4585-887D-A749745B98AF}" type="slidenum">
              <a:rPr lang="en-US" altLang="it-IT"/>
              <a:pPr/>
              <a:t>2</a:t>
            </a:fld>
            <a:endParaRPr lang="en-US" altLang="it-IT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83D168CA-0A6A-456F-AB9C-B0B06299E09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F98D351F-DB3D-4A4B-B2B6-BBF192754A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CB6636CB-83D7-4560-8BB3-BBC6048198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A274B17-10E1-4357-A682-B0118C16146F}" type="slidenum">
              <a:rPr lang="en-US" altLang="it-IT"/>
              <a:pPr/>
              <a:t>3</a:t>
            </a:fld>
            <a:endParaRPr lang="en-US" altLang="it-IT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41489CC5-75FB-4E01-87D9-FF2BDBC1DED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A8D87C1-B669-4E4D-A35D-381B54F4A5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AF0CBF93-15F5-4A92-80B5-14A7CA750F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AE712ED-FBE4-4C0E-A1E1-BE7CFB2F9B53}" type="slidenum">
              <a:rPr lang="en-US" altLang="it-IT"/>
              <a:pPr/>
              <a:t>4</a:t>
            </a:fld>
            <a:endParaRPr lang="en-US" altLang="it-IT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4119C96F-4F8B-4E77-AAEF-8B5F5136B24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3CCB5E5F-30CB-4A7E-AFCE-8F1440C686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8D891A96-6EF3-4C58-983F-BFDDA55CDC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DED553A-529C-471C-B74A-A7FE975F7510}" type="slidenum">
              <a:rPr lang="en-US" altLang="it-IT"/>
              <a:pPr/>
              <a:t>5</a:t>
            </a:fld>
            <a:endParaRPr lang="en-US" altLang="it-IT"/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CAF329D0-44F5-4292-BE4C-A862E6F2397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37B36EB5-6EDC-4B90-B433-0AE6D12579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2FC755AD-9CC7-4AF3-9420-A5FF298DDE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77A6010-7AB9-46FD-B5D8-FCE0DD6AF520}" type="slidenum">
              <a:rPr lang="en-US" altLang="it-IT"/>
              <a:pPr/>
              <a:t>6</a:t>
            </a:fld>
            <a:endParaRPr lang="en-US" altLang="it-IT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C384DB28-FE57-4BEF-9145-AE75D686C49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806D1100-5496-4E84-AA8B-3A938D6388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B7E5D88E-18C9-4244-AFE7-F23BA633FA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4BF63C2-C640-4D61-8E34-2797A8F8AAB4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4734E109-34AE-4770-B663-168542099CC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9C43C10F-0F3A-4346-94DA-A03E34A8E0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E808CA9F-A7B1-430D-AA6B-0A42D540D5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07DE1B5-BD2B-467D-9217-750C8AD67E90}" type="slidenum">
              <a:rPr lang="en-US" altLang="it-IT"/>
              <a:pPr/>
              <a:t>9</a:t>
            </a:fld>
            <a:endParaRPr lang="en-US" altLang="it-IT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8316C908-F546-4207-BFAC-43B05E5053E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437B334D-406F-494F-84C8-462B5AB2E5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572DA304-49FD-46F9-97DE-097B6DC11A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55E92B1-A267-40C8-B8A6-B74CDE2B919E}" type="slidenum">
              <a:rPr lang="en-US" altLang="it-IT"/>
              <a:pPr/>
              <a:t>10</a:t>
            </a:fld>
            <a:endParaRPr lang="en-US" altLang="it-IT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89BED3A3-33C3-440A-885A-71C0673266B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37AA8235-9C17-4A30-BC30-3260CFE238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1FFB8340-A233-41F6-BDEA-4C1DE5C80D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4D82E45-9109-4378-AAC4-E0CBCF5DD0B9}" type="slidenum">
              <a:rPr lang="en-US" altLang="it-IT"/>
              <a:pPr/>
              <a:t>11</a:t>
            </a:fld>
            <a:endParaRPr lang="en-US" altLang="it-IT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940731F8-FA9A-480A-A373-E73A38392C0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F7C26D20-0FE9-4A40-BCAE-0C301C6DC8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56C058F1-6BA5-40BF-87F0-0D3FAC031B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017BB74-73C5-4672-8ED6-E9B782A6B81D}" type="slidenum">
              <a:rPr lang="en-US" altLang="it-IT"/>
              <a:pPr/>
              <a:t>12</a:t>
            </a:fld>
            <a:endParaRPr lang="en-US" altLang="it-IT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7D664CAA-165B-48E1-A01B-1CAE4905D16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A6A9471F-B35C-4DC6-9A2A-E91BF13165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F98F6F96-0ED3-4705-852D-4EC27A9464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89B4732-A10F-4B21-8A73-0473787BC191}" type="slidenum">
              <a:rPr lang="en-US" altLang="it-IT"/>
              <a:pPr/>
              <a:t>13</a:t>
            </a:fld>
            <a:endParaRPr lang="en-US" altLang="it-IT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433B9CE9-2CC1-489E-92A0-E75A25A01635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370430CB-9A8F-4EA5-937E-AB8C7DA4ED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C49292D9-6039-4106-B0FE-B1436675CE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252CEC6-86B7-4A10-94AD-E0BB3FE1762E}" type="slidenum">
              <a:rPr lang="en-US" altLang="it-IT"/>
              <a:pPr/>
              <a:t>14</a:t>
            </a:fld>
            <a:endParaRPr lang="en-US" altLang="it-IT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C73E8A9B-2328-4079-9BAC-F6A83B70C955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A6F19E72-AEB4-4226-86FA-8666C0F40B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6ACFD79D-3882-4AED-82E3-E3B0502FB7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A150A49-D8FC-408D-A992-DC72710A52AE}" type="slidenum">
              <a:rPr lang="en-US" altLang="it-IT"/>
              <a:pPr/>
              <a:t>15</a:t>
            </a:fld>
            <a:endParaRPr lang="en-US" altLang="it-IT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EBC290BA-582D-47EF-9650-50D166F03BB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2193FA02-D767-45B0-8CD7-485D0126BA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7D7334FB-F78E-4795-AC6C-685B704DBC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091A4AB-0826-4BDE-A952-FE5009B6A3AC}" type="slidenum">
              <a:rPr lang="en-US" altLang="it-IT"/>
              <a:pPr/>
              <a:t>16</a:t>
            </a:fld>
            <a:endParaRPr lang="en-US" altLang="it-IT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60E10242-4DD6-434E-95E2-1C26A06FA8E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D19A9CC4-A253-4F6D-AD52-6A6B9B3763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2D69483A-89AA-4C2A-98DA-9B483872EF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94233E7-1BE4-4554-AF68-54D7160FC463}" type="slidenum">
              <a:rPr lang="en-US" altLang="it-IT"/>
              <a:pPr/>
              <a:t>17</a:t>
            </a:fld>
            <a:endParaRPr lang="en-US" altLang="it-IT"/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915B6D91-FFDF-4433-A117-EAE93172A36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2E98DF13-2F73-4416-9CC3-B5C3D292BD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This slide (and the next one) deal with the issue of how to choose the specific rewrite.</a:t>
            </a:r>
          </a:p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In the first step, we faced Expr as the leftmost NT and chose to expand by production 0.</a:t>
            </a:r>
          </a:p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In the second step, we faced Expr as the leftmost NT and chose to expand by production 2.</a:t>
            </a:r>
          </a:p>
          <a:p>
            <a:pPr eaLnBrk="1" hangingPunct="1"/>
            <a:endParaRPr lang="en-US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First time through, we glossed over this point.  However, a systematic (or algorithmic) construction</a:t>
            </a:r>
          </a:p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of the derivation would demand that we have a reason to justify this change in the choice.  </a:t>
            </a:r>
          </a:p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Non-determinism (construed as oracular choice) could account for it.  Other than oracular choice, </a:t>
            </a:r>
          </a:p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we would need some lookahead that let us know, in the first instance, that expansion by a </a:t>
            </a:r>
          </a:p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production other than 0 would lead to a single word sentence (and we have a five word</a:t>
            </a:r>
          </a:p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sentence). In the same vein, it would need to explain why the second step makes sense as </a:t>
            </a:r>
          </a:p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expansion by production 2, rather than, say by 0 to create &lt;Expr Op Expr Op Expr&gt;, which </a:t>
            </a:r>
          </a:p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is, after all, the final form of the sentence.  (That choice is explored on the next slide.)</a:t>
            </a:r>
          </a:p>
          <a:p>
            <a:pPr eaLnBrk="1" hangingPunct="1"/>
            <a:endParaRPr lang="en-US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C03427DB-2F97-4D65-ACBB-15B1D054E8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1E1A80A-5599-4827-BDAF-1720830731E8}" type="slidenum">
              <a:rPr lang="en-US" altLang="it-IT"/>
              <a:pPr/>
              <a:t>18</a:t>
            </a:fld>
            <a:endParaRPr lang="en-US" altLang="it-IT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3C192915-8F54-4CD9-AF01-33B4F2F72E5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5D17D463-695B-4844-9DDC-622CF97DEC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Here is another sequence of choices.  Again, if we chose production 0 at steps 1 and 2, why not at 3? And 4? And …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BF2ACCD5-E58F-4833-8A86-78D78A1415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9D52E7D-A840-4B09-A69E-BEED67D80341}" type="slidenum">
              <a:rPr lang="en-US" altLang="it-IT"/>
              <a:pPr/>
              <a:t>19</a:t>
            </a:fld>
            <a:endParaRPr lang="en-US" altLang="it-IT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28711FC9-5268-4632-8608-B317710B0F0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ED966643-BE08-400A-BD4D-684E23B64E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>
            <a:extLst>
              <a:ext uri="{FF2B5EF4-FFF2-40B4-BE49-F238E27FC236}">
                <a16:creationId xmlns:a16="http://schemas.microsoft.com/office/drawing/2014/main" id="{72A3A581-8C3D-4497-B2DE-ECD134E4BE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B3AF742-EE28-464C-9018-B9998152853F}" type="slidenum">
              <a:rPr lang="en-US" altLang="it-IT"/>
              <a:pPr/>
              <a:t>20</a:t>
            </a:fld>
            <a:endParaRPr lang="en-US" altLang="it-IT"/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751F6655-FBF5-4CEE-809E-2B4B1B0D5F05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BF1C48AC-084E-4F13-956A-EFE23D2621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E5FF0E34-D833-451A-9D31-E422AD8A82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F151EFD-4BF8-4B99-9AF3-B08AD72AC744}" type="slidenum">
              <a:rPr lang="en-US" altLang="it-IT"/>
              <a:pPr/>
              <a:t>21</a:t>
            </a:fld>
            <a:endParaRPr lang="en-US" altLang="it-IT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BA9B9D57-5641-4C8B-B72F-C5525F04B53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FC10B746-6417-4613-97DF-40A4FC2ECE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0EE7DF4B-AB67-49FF-8A5C-3C5BB01B2D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AC809C2-CBCA-45A6-B12E-0F5B58A8F119}" type="slidenum">
              <a:rPr lang="en-US" altLang="it-IT"/>
              <a:pPr/>
              <a:t>22</a:t>
            </a:fld>
            <a:endParaRPr lang="en-US" altLang="it-IT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FDD6E1D6-0AD2-41BD-80EE-4CF411BB8A5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9458E4B3-29EE-46F7-A4C9-EF4BB03374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>
            <a:extLst>
              <a:ext uri="{FF2B5EF4-FFF2-40B4-BE49-F238E27FC236}">
                <a16:creationId xmlns:a16="http://schemas.microsoft.com/office/drawing/2014/main" id="{28A6AA1A-ED56-4926-9947-7F42F4AE93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44F8463-EDFF-43B2-BA77-D7627E94153D}" type="slidenum">
              <a:rPr lang="en-US" altLang="it-IT"/>
              <a:pPr/>
              <a:t>23</a:t>
            </a:fld>
            <a:endParaRPr lang="en-US" altLang="it-IT"/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7600D6E5-A975-47D2-A420-995BD30534D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D1A1F7F4-987F-4DAC-8B7A-011E76FE96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>
            <a:extLst>
              <a:ext uri="{FF2B5EF4-FFF2-40B4-BE49-F238E27FC236}">
                <a16:creationId xmlns:a16="http://schemas.microsoft.com/office/drawing/2014/main" id="{B9CD5B6F-0661-401B-8F31-BC07839AC0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A9B3A36-45B5-4F69-BE0E-1B253F052EA2}" type="slidenum">
              <a:rPr lang="en-US" altLang="it-IT"/>
              <a:pPr/>
              <a:t>24</a:t>
            </a:fld>
            <a:endParaRPr lang="en-US" altLang="it-IT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FFB54B16-B42B-48F6-9662-00E3A150755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C9E9FE8F-38A4-4016-A670-E2277D044D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>
            <a:extLst>
              <a:ext uri="{FF2B5EF4-FFF2-40B4-BE49-F238E27FC236}">
                <a16:creationId xmlns:a16="http://schemas.microsoft.com/office/drawing/2014/main" id="{7CC0194D-61FD-44BF-A61F-C39E9C9796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7D0D10E-35B7-4F61-9972-9227A9441017}" type="slidenum">
              <a:rPr lang="en-US" altLang="it-IT"/>
              <a:pPr/>
              <a:t>25</a:t>
            </a:fld>
            <a:endParaRPr lang="en-US" altLang="it-IT"/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F6BFB944-564B-487C-83D8-73B3386BB4A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55BA5AED-A063-481A-A4FA-4D1B5DC077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6772936-3C38-4994-A75F-1217240DC3E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A138D6A-B9BF-4932-97F3-1CD6017377D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152280-DD14-420C-B474-A8C27B38C8C0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774694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6085B11-76DA-4F54-BE21-781B0A69001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65F1123-D1B7-4D59-A75A-9F9BFE918F7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E7B292-B25E-4D08-ACF5-DBF2E53A48C8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811625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21A9DF2-0EC0-47CD-B5BB-6AAC8397C63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2AEA99E-A08F-4A4F-80AE-F0579FF8715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37FB27-F0EB-4F1A-BCD8-EA3214700167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907872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2B37AAE-F1B4-4933-B9FE-6D2A4EA279D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DBC13B5-150F-47CD-BD9A-9DBFB4740EB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473BBD-EB18-448C-923B-21C48E71AEFA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557207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D3F5811-3442-4A38-9A3B-75A87B6C678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031525C5-FB04-4894-842E-28935EEEB84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AE54CD-442C-4035-B894-52E3E54D1FD8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152952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A6F7AEA-14A5-447A-80DD-D81D9D3364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8FD91A8-0F69-4704-AECC-B3F0438A340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51BC2B-59AF-40A9-B2B1-F591A900CF05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046642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F47C4821-07E1-49A2-B887-68CDC8CD92C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44AEE341-1BD4-4176-8232-054D0AAA1E2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D43B7-6DD2-45E9-9804-D817C6872017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784683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EB0FEC0-DBB9-40CC-B36A-6485E084D15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00F23CE-BEDF-48A4-9317-16EA6E2F8AD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6B358D-A228-4C68-8ED6-B4475DE41B7D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347053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A42AF7-BAE5-4B38-BF53-EE0EEAF259B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FC477E0-787B-48CD-B443-8390B9B5C53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A11CBA-8F8C-49BC-ABB4-569AB605EA8D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753581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04BE289-E7F7-42ED-9430-FF1FB18DADE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57B7E0F-1806-4CCF-A5DF-AD70D7D9BF2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ADA712-C138-4328-83E1-B4D6D6F05326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448894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533400"/>
            <a:ext cx="1943100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5676900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1248AD6-A651-485E-8E8C-BF0B392FED8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8F5E548-D9E8-4272-B1F5-3D1C176D323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37BEC1-6984-460B-8EED-69C11CAFD1AB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248579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B882FA1-A594-458A-93D4-B43012ECF2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1851550-515D-4563-92E9-9A193040A2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772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64F3806-F8C7-4EEA-A859-1FE278F7E78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535245D-EE4C-4B03-97F5-9EF5D7265B3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97224641-5FB0-4781-82F2-F402B7D7DD33}" type="slidenum">
              <a:rPr lang="en-US" altLang="it-IT"/>
              <a:pPr/>
              <a:t>‹N›</a:t>
            </a:fld>
            <a:endParaRPr lang="en-US" altLang="it-IT"/>
          </a:p>
        </p:txBody>
      </p:sp>
      <p:pic>
        <p:nvPicPr>
          <p:cNvPr id="2" name="Picture 7" descr="2007Shield">
            <a:extLst>
              <a:ext uri="{FF2B5EF4-FFF2-40B4-BE49-F238E27FC236}">
                <a16:creationId xmlns:a16="http://schemas.microsoft.com/office/drawing/2014/main" id="{71F19EA3-1BF6-4C69-B9F5-B281092527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28600"/>
            <a:ext cx="958850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8">
            <a:extLst>
              <a:ext uri="{FF2B5EF4-FFF2-40B4-BE49-F238E27FC236}">
                <a16:creationId xmlns:a16="http://schemas.microsoft.com/office/drawing/2014/main" id="{C1850939-199E-40F8-BC2F-00C6D88152A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85800" y="1066800"/>
            <a:ext cx="6858000" cy="0"/>
          </a:xfrm>
          <a:prstGeom prst="line">
            <a:avLst/>
          </a:prstGeom>
          <a:noFill/>
          <a:ln w="57150">
            <a:solidFill>
              <a:srgbClr val="003C75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SzPct val="12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—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SzPct val="90000"/>
        <a:buFont typeface="Symbol" panose="05050102010706020507" pitchFamily="18" charset="2"/>
        <a:buChar char="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–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25BCB424-69D5-489B-B2BA-E7157FF4754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1752600"/>
          </a:xfrm>
        </p:spPr>
        <p:txBody>
          <a:bodyPr/>
          <a:lstStyle/>
          <a:p>
            <a:pPr algn="ctr" eaLnBrk="1" hangingPunct="1"/>
            <a:r>
              <a:rPr lang="en-US" altLang="it-IT" sz="3200" i="1"/>
              <a:t>Introduction to Parsing</a:t>
            </a:r>
            <a:br>
              <a:rPr lang="en-US" altLang="it-IT" sz="3200" i="1"/>
            </a:br>
            <a:br>
              <a:rPr lang="en-US" altLang="it-IT" sz="3200" i="1"/>
            </a:br>
            <a:r>
              <a:rPr lang="en-US" altLang="it-IT" sz="3200" i="1"/>
              <a:t>Comp 412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666660E7-F65F-416A-8853-9C168DC480A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0" y="4953000"/>
            <a:ext cx="7772400" cy="1295400"/>
          </a:xfrm>
          <a:ln w="12700">
            <a:solidFill>
              <a:srgbClr val="003C75"/>
            </a:solidFill>
            <a:miter lim="800000"/>
            <a:headEnd/>
            <a:tailEnd/>
          </a:ln>
        </p:spPr>
        <p:txBody>
          <a:bodyPr/>
          <a:lstStyle/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Copyright 2010, Keith D. Cooper &amp; Linda Torczon, all rights reserved.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Students enrolled in Comp 412 at Rice University have explicit permission to make copies of these materials for their personal use.  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Faculty from other educational institutions may use these materials for nonprofit educational purposes, provided this copyright notice is preserved.</a:t>
            </a:r>
            <a:endParaRPr lang="en-US" altLang="it-IT">
              <a:solidFill>
                <a:srgbClr val="003C75"/>
              </a:solidFill>
            </a:endParaRPr>
          </a:p>
        </p:txBody>
      </p:sp>
      <p:pic>
        <p:nvPicPr>
          <p:cNvPr id="15363" name="Picture 4" descr="2007Logo">
            <a:extLst>
              <a:ext uri="{FF2B5EF4-FFF2-40B4-BE49-F238E27FC236}">
                <a16:creationId xmlns:a16="http://schemas.microsoft.com/office/drawing/2014/main" id="{2991F231-088F-40DA-99C6-BB916E35F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"/>
            <a:ext cx="2330450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Text Box 8">
            <a:extLst>
              <a:ext uri="{FF2B5EF4-FFF2-40B4-BE49-F238E27FC236}">
                <a16:creationId xmlns:a16="http://schemas.microsoft.com/office/drawing/2014/main" id="{CD838A6F-1591-47E6-B096-C96F0AE09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81000"/>
            <a:ext cx="2667000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COMP 412</a:t>
            </a:r>
          </a:p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FALL 2010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Footer Placeholder 1">
            <a:extLst>
              <a:ext uri="{FF2B5EF4-FFF2-40B4-BE49-F238E27FC236}">
                <a16:creationId xmlns:a16="http://schemas.microsoft.com/office/drawing/2014/main" id="{F7125D8C-8E7B-4C36-9BB5-91E1435C8A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7410" name="Slide Number Placeholder 2">
            <a:extLst>
              <a:ext uri="{FF2B5EF4-FFF2-40B4-BE49-F238E27FC236}">
                <a16:creationId xmlns:a16="http://schemas.microsoft.com/office/drawing/2014/main" id="{E6E0E678-97CF-4294-B834-83AEC4E2BC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15DE111-7A8B-45D8-8888-850B268F0F69}" type="slidenum">
              <a:rPr lang="en-US" altLang="it-IT"/>
              <a:pPr/>
              <a:t>1</a:t>
            </a:fld>
            <a:endParaRPr lang="en-US" altLang="it-IT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B6BF8394-E70F-48AC-A1FF-E480BC64D1A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Front End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D87A1D89-149E-4C02-9313-41A7634CABD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en-US" altLang="it-IT"/>
          </a:p>
          <a:p>
            <a:pPr eaLnBrk="1" hangingPunct="1">
              <a:spcBef>
                <a:spcPct val="500000"/>
              </a:spcBef>
              <a:buFont typeface="Times" panose="02020603050405020304" pitchFamily="18" charset="0"/>
              <a:buNone/>
            </a:pPr>
            <a:r>
              <a:rPr lang="en-US" altLang="it-IT"/>
              <a:t>Parser</a:t>
            </a:r>
          </a:p>
          <a:p>
            <a:pPr eaLnBrk="1" hangingPunct="1"/>
            <a:r>
              <a:rPr lang="en-US" altLang="it-IT"/>
              <a:t>Checks the stream of </a:t>
            </a:r>
            <a:r>
              <a:rPr lang="en-US" altLang="it-IT" u="sng"/>
              <a:t>words</a:t>
            </a:r>
            <a:r>
              <a:rPr lang="en-US" altLang="it-IT"/>
              <a:t> and their </a:t>
            </a:r>
            <a:r>
              <a:rPr lang="en-US" altLang="it-IT" u="sng"/>
              <a:t>parts of speech</a:t>
            </a:r>
            <a:r>
              <a:rPr lang="en-US" altLang="it-IT"/>
              <a:t> </a:t>
            </a:r>
            <a:r>
              <a:rPr lang="en-US" altLang="it-IT" sz="1800"/>
              <a:t>(produced by the scanner)</a:t>
            </a:r>
            <a:r>
              <a:rPr lang="en-US" altLang="it-IT"/>
              <a:t> for grammatical correctness</a:t>
            </a:r>
          </a:p>
          <a:p>
            <a:pPr eaLnBrk="1" hangingPunct="1"/>
            <a:r>
              <a:rPr lang="en-US" altLang="it-IT"/>
              <a:t>Determines if the input is syntactically well formed</a:t>
            </a:r>
          </a:p>
          <a:p>
            <a:pPr eaLnBrk="1" hangingPunct="1"/>
            <a:r>
              <a:rPr lang="en-US" altLang="it-IT"/>
              <a:t>Guides checking at deeper levels than syntax</a:t>
            </a:r>
          </a:p>
          <a:p>
            <a:pPr eaLnBrk="1" hangingPunct="1"/>
            <a:r>
              <a:rPr lang="en-US" altLang="it-IT"/>
              <a:t>Builds an </a:t>
            </a:r>
            <a:r>
              <a:rPr lang="en-US" altLang="it-IT" sz="1800"/>
              <a:t>IR</a:t>
            </a:r>
            <a:r>
              <a:rPr lang="en-US" altLang="it-IT"/>
              <a:t> representation of the code</a:t>
            </a:r>
          </a:p>
          <a:p>
            <a:pPr algn="ctr"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 sz="1800" i="1">
                <a:solidFill>
                  <a:srgbClr val="003C75"/>
                </a:solidFill>
              </a:rPr>
              <a:t>Think of this chapter as the mathematics of diagramming sentences</a:t>
            </a:r>
            <a:endParaRPr lang="en-US" altLang="it-IT">
              <a:solidFill>
                <a:srgbClr val="003C75"/>
              </a:solidFill>
            </a:endParaRPr>
          </a:p>
        </p:txBody>
      </p:sp>
      <p:grpSp>
        <p:nvGrpSpPr>
          <p:cNvPr id="17413" name="Group 19">
            <a:extLst>
              <a:ext uri="{FF2B5EF4-FFF2-40B4-BE49-F238E27FC236}">
                <a16:creationId xmlns:a16="http://schemas.microsoft.com/office/drawing/2014/main" id="{8053A846-D420-4519-9AB3-85836CC74538}"/>
              </a:ext>
            </a:extLst>
          </p:cNvPr>
          <p:cNvGrpSpPr>
            <a:grpSpLocks/>
          </p:cNvGrpSpPr>
          <p:nvPr/>
        </p:nvGrpSpPr>
        <p:grpSpPr bwMode="auto">
          <a:xfrm>
            <a:off x="836613" y="1524000"/>
            <a:ext cx="7316787" cy="1447800"/>
            <a:chOff x="527" y="960"/>
            <a:chExt cx="4609" cy="912"/>
          </a:xfrm>
        </p:grpSpPr>
        <p:sp>
          <p:nvSpPr>
            <p:cNvPr id="17414" name="Text Box 5">
              <a:extLst>
                <a:ext uri="{FF2B5EF4-FFF2-40B4-BE49-F238E27FC236}">
                  <a16:creationId xmlns:a16="http://schemas.microsoft.com/office/drawing/2014/main" id="{895466A4-5F1B-4DA1-B343-CE261FC4E1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" y="1056"/>
              <a:ext cx="564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 i="1">
                  <a:latin typeface="Arial Rounded MT Bold" panose="020F0704030504030204" pitchFamily="34" charset="0"/>
                </a:rPr>
                <a:t>Source</a:t>
              </a:r>
            </a:p>
            <a:p>
              <a:pPr algn="ctr"/>
              <a:r>
                <a:rPr lang="en-US" altLang="it-IT" sz="1600" i="1">
                  <a:latin typeface="Arial Rounded MT Bold" panose="020F0704030504030204" pitchFamily="34" charset="0"/>
                </a:rPr>
                <a:t>code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17415" name="Line 6">
              <a:extLst>
                <a:ext uri="{FF2B5EF4-FFF2-40B4-BE49-F238E27FC236}">
                  <a16:creationId xmlns:a16="http://schemas.microsoft.com/office/drawing/2014/main" id="{64E546AA-CE0B-406C-B73E-52DADA798D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248"/>
              <a:ext cx="10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7416" name="Rectangle 7">
              <a:extLst>
                <a:ext uri="{FF2B5EF4-FFF2-40B4-BE49-F238E27FC236}">
                  <a16:creationId xmlns:a16="http://schemas.microsoft.com/office/drawing/2014/main" id="{F17C72ED-6E3F-47D7-8B1B-75464C4CE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984"/>
              <a:ext cx="912" cy="52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17417" name="Text Box 8">
              <a:extLst>
                <a:ext uri="{FF2B5EF4-FFF2-40B4-BE49-F238E27FC236}">
                  <a16:creationId xmlns:a16="http://schemas.microsoft.com/office/drawing/2014/main" id="{2674F3B7-CC17-4D2F-AA0F-BD85DDC454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2" y="1142"/>
              <a:ext cx="6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>
                  <a:latin typeface="Arial Rounded MT Bold" panose="020F0704030504030204" pitchFamily="34" charset="0"/>
                </a:rPr>
                <a:t>Scanner</a:t>
              </a:r>
            </a:p>
          </p:txBody>
        </p:sp>
        <p:sp>
          <p:nvSpPr>
            <p:cNvPr id="17418" name="Line 9">
              <a:extLst>
                <a:ext uri="{FF2B5EF4-FFF2-40B4-BE49-F238E27FC236}">
                  <a16:creationId xmlns:a16="http://schemas.microsoft.com/office/drawing/2014/main" id="{8CBD7D8E-1880-489D-87FF-5A7A5BF0D2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1220"/>
              <a:ext cx="1008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7419" name="Text Box 10">
              <a:extLst>
                <a:ext uri="{FF2B5EF4-FFF2-40B4-BE49-F238E27FC236}">
                  <a16:creationId xmlns:a16="http://schemas.microsoft.com/office/drawing/2014/main" id="{0C6CC122-8B72-44F5-B66B-4DDAD3E021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1041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IR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17420" name="Rectangle 11">
              <a:extLst>
                <a:ext uri="{FF2B5EF4-FFF2-40B4-BE49-F238E27FC236}">
                  <a16:creationId xmlns:a16="http://schemas.microsoft.com/office/drawing/2014/main" id="{7BB58045-9B48-42D8-8BCB-21BC0234D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960"/>
              <a:ext cx="912" cy="528"/>
            </a:xfrm>
            <a:prstGeom prst="rect">
              <a:avLst/>
            </a:prstGeom>
            <a:noFill/>
            <a:ln w="28575">
              <a:solidFill>
                <a:srgbClr val="FF006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17421" name="Text Box 12">
              <a:extLst>
                <a:ext uri="{FF2B5EF4-FFF2-40B4-BE49-F238E27FC236}">
                  <a16:creationId xmlns:a16="http://schemas.microsoft.com/office/drawing/2014/main" id="{29B29F76-26D1-430B-8784-31B5E0DA3B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5" y="1118"/>
              <a:ext cx="53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>
                  <a:latin typeface="Arial Rounded MT Bold" panose="020F0704030504030204" pitchFamily="34" charset="0"/>
                </a:rPr>
                <a:t>Parser</a:t>
              </a:r>
            </a:p>
          </p:txBody>
        </p:sp>
        <p:sp>
          <p:nvSpPr>
            <p:cNvPr id="17422" name="Line 13">
              <a:extLst>
                <a:ext uri="{FF2B5EF4-FFF2-40B4-BE49-F238E27FC236}">
                  <a16:creationId xmlns:a16="http://schemas.microsoft.com/office/drawing/2014/main" id="{B882A933-B5EA-47AD-9541-DE111178B8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90" y="1536"/>
              <a:ext cx="1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7423" name="Line 14">
              <a:extLst>
                <a:ext uri="{FF2B5EF4-FFF2-40B4-BE49-F238E27FC236}">
                  <a16:creationId xmlns:a16="http://schemas.microsoft.com/office/drawing/2014/main" id="{3BF31676-B48F-4154-93B8-EC4A05D68C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4" y="1776"/>
              <a:ext cx="21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7424" name="Text Box 15">
              <a:extLst>
                <a:ext uri="{FF2B5EF4-FFF2-40B4-BE49-F238E27FC236}">
                  <a16:creationId xmlns:a16="http://schemas.microsoft.com/office/drawing/2014/main" id="{7658AE6C-9071-4CD1-8DE8-849D46B776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8" y="1680"/>
              <a:ext cx="49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 i="1">
                  <a:latin typeface="Arial Rounded MT Bold" panose="020F0704030504030204" pitchFamily="34" charset="0"/>
                </a:rPr>
                <a:t>Errors</a:t>
              </a:r>
              <a:r>
                <a:rPr lang="en-US" altLang="it-IT" sz="1400">
                  <a:latin typeface="Arial Rounded MT Bold" panose="020F0704030504030204" pitchFamily="34" charset="0"/>
                </a:rPr>
                <a:t> 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17425" name="Line 16">
              <a:extLst>
                <a:ext uri="{FF2B5EF4-FFF2-40B4-BE49-F238E27FC236}">
                  <a16:creationId xmlns:a16="http://schemas.microsoft.com/office/drawing/2014/main" id="{E1429F1F-BDFB-40F7-BA08-09C283317C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69" y="1488"/>
              <a:ext cx="3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7426" name="Line 17">
              <a:extLst>
                <a:ext uri="{FF2B5EF4-FFF2-40B4-BE49-F238E27FC236}">
                  <a16:creationId xmlns:a16="http://schemas.microsoft.com/office/drawing/2014/main" id="{4F96B24E-A6E3-4745-AD09-89069198FC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248"/>
              <a:ext cx="7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7427" name="Text Box 18">
              <a:extLst>
                <a:ext uri="{FF2B5EF4-FFF2-40B4-BE49-F238E27FC236}">
                  <a16:creationId xmlns:a16="http://schemas.microsoft.com/office/drawing/2014/main" id="{30B2F86A-5375-4D63-8D52-087DBFBD72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6" y="1056"/>
              <a:ext cx="48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tokens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Footer Placeholder 1">
            <a:extLst>
              <a:ext uri="{FF2B5EF4-FFF2-40B4-BE49-F238E27FC236}">
                <a16:creationId xmlns:a16="http://schemas.microsoft.com/office/drawing/2014/main" id="{133EBCD0-493E-4139-B879-09E1F84EEF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9458" name="Slide Number Placeholder 2">
            <a:extLst>
              <a:ext uri="{FF2B5EF4-FFF2-40B4-BE49-F238E27FC236}">
                <a16:creationId xmlns:a16="http://schemas.microsoft.com/office/drawing/2014/main" id="{C55DE7F7-30CE-4068-A79F-ADE2838A02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80497C9-C126-40D1-8992-784A326ACE3E}" type="slidenum">
              <a:rPr lang="en-US" altLang="it-IT"/>
              <a:pPr/>
              <a:t>2</a:t>
            </a:fld>
            <a:endParaRPr lang="en-US" altLang="it-IT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7F132532-8432-4E13-ABF6-4B2F2DDF28A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Study of Parsing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49558584-CDAC-457E-9B14-8A11CE6F835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The process of discovering a </a:t>
            </a:r>
            <a:r>
              <a:rPr lang="en-US" altLang="it-IT" i="1">
                <a:solidFill>
                  <a:srgbClr val="003C75"/>
                </a:solidFill>
              </a:rPr>
              <a:t>derivation</a:t>
            </a:r>
            <a:r>
              <a:rPr lang="en-US" altLang="it-IT">
                <a:solidFill>
                  <a:srgbClr val="003C75"/>
                </a:solidFill>
              </a:rPr>
              <a:t>  for some sentence</a:t>
            </a:r>
            <a:endParaRPr lang="en-US" altLang="it-IT"/>
          </a:p>
          <a:p>
            <a:pPr eaLnBrk="1" hangingPunct="1"/>
            <a:r>
              <a:rPr lang="en-US" altLang="it-IT"/>
              <a:t>Need a mathematical model of syntax — a grammar </a:t>
            </a:r>
            <a:r>
              <a:rPr lang="en-US" altLang="it-IT" i="1"/>
              <a:t>G</a:t>
            </a:r>
            <a:endParaRPr lang="en-US" altLang="it-IT"/>
          </a:p>
          <a:p>
            <a:pPr eaLnBrk="1" hangingPunct="1"/>
            <a:r>
              <a:rPr lang="en-US" altLang="it-IT"/>
              <a:t>Need an algorithm for testing membership in </a:t>
            </a:r>
            <a:r>
              <a:rPr lang="en-US" altLang="it-IT" i="1"/>
              <a:t>L(G)</a:t>
            </a:r>
            <a:r>
              <a:rPr lang="en-US" altLang="it-IT"/>
              <a:t> </a:t>
            </a:r>
          </a:p>
          <a:p>
            <a:pPr eaLnBrk="1" hangingPunct="1"/>
            <a:r>
              <a:rPr lang="en-US" altLang="it-IT"/>
              <a:t>Need to keep in mind that our goal is building parsers, not studying the mathematics of arbitrary languages</a:t>
            </a:r>
          </a:p>
          <a:p>
            <a:pPr eaLnBrk="1" hangingPunct="1">
              <a:spcBef>
                <a:spcPct val="15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Roadmap for our study of parsing</a:t>
            </a:r>
            <a:endParaRPr lang="en-US" altLang="it-IT"/>
          </a:p>
          <a:p>
            <a:pPr eaLnBrk="1" hangingPunct="1">
              <a:buSzPct val="90000"/>
              <a:buFontTx/>
              <a:buChar char="1"/>
            </a:pPr>
            <a:r>
              <a:rPr lang="en-US" altLang="it-IT"/>
              <a:t>Context-free grammars and derivations</a:t>
            </a:r>
          </a:p>
          <a:p>
            <a:pPr eaLnBrk="1" hangingPunct="1">
              <a:buSzPct val="90000"/>
              <a:buFontTx/>
              <a:buChar char="2"/>
            </a:pPr>
            <a:r>
              <a:rPr lang="en-US" altLang="it-IT"/>
              <a:t>Top-down parsing</a:t>
            </a:r>
          </a:p>
          <a:p>
            <a:pPr lvl="1" eaLnBrk="1" hangingPunct="1"/>
            <a:r>
              <a:rPr lang="en-US" altLang="it-IT"/>
              <a:t>Generated LL(1) parsers &amp; hand-coded recursive descent parsers</a:t>
            </a:r>
          </a:p>
          <a:p>
            <a:pPr eaLnBrk="1" hangingPunct="1">
              <a:buSzPct val="90000"/>
              <a:buFontTx/>
              <a:buChar char="3"/>
            </a:pPr>
            <a:r>
              <a:rPr lang="en-US" altLang="it-IT"/>
              <a:t>Bottom-up parsing</a:t>
            </a:r>
          </a:p>
          <a:p>
            <a:pPr lvl="1" eaLnBrk="1" hangingPunct="1"/>
            <a:r>
              <a:rPr lang="en-US" altLang="it-IT"/>
              <a:t>Generated LR(1) parsers</a:t>
            </a:r>
          </a:p>
        </p:txBody>
      </p:sp>
      <p:grpSp>
        <p:nvGrpSpPr>
          <p:cNvPr id="19461" name="Group 8">
            <a:extLst>
              <a:ext uri="{FF2B5EF4-FFF2-40B4-BE49-F238E27FC236}">
                <a16:creationId xmlns:a16="http://schemas.microsoft.com/office/drawing/2014/main" id="{715B97E6-7791-4BD2-BE9D-4D0F566448A2}"/>
              </a:ext>
            </a:extLst>
          </p:cNvPr>
          <p:cNvGrpSpPr>
            <a:grpSpLocks/>
          </p:cNvGrpSpPr>
          <p:nvPr/>
        </p:nvGrpSpPr>
        <p:grpSpPr bwMode="auto">
          <a:xfrm>
            <a:off x="3152775" y="4760913"/>
            <a:ext cx="4343400" cy="838200"/>
            <a:chOff x="1920" y="2976"/>
            <a:chExt cx="2736" cy="528"/>
          </a:xfrm>
        </p:grpSpPr>
        <p:sp>
          <p:nvSpPr>
            <p:cNvPr id="19464" name="Text Box 5">
              <a:extLst>
                <a:ext uri="{FF2B5EF4-FFF2-40B4-BE49-F238E27FC236}">
                  <a16:creationId xmlns:a16="http://schemas.microsoft.com/office/drawing/2014/main" id="{5F8A93EA-2D8B-4CCB-AAE2-F5B26D7AA1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3264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>
                  <a:solidFill>
                    <a:srgbClr val="B025A6"/>
                  </a:solidFill>
                </a:rPr>
                <a:t>Lab 2</a:t>
              </a:r>
            </a:p>
          </p:txBody>
        </p:sp>
        <p:sp>
          <p:nvSpPr>
            <p:cNvPr id="19465" name="Line 6">
              <a:extLst>
                <a:ext uri="{FF2B5EF4-FFF2-40B4-BE49-F238E27FC236}">
                  <a16:creationId xmlns:a16="http://schemas.microsoft.com/office/drawing/2014/main" id="{6A79B16B-D3C9-4419-B6A0-39E52C7F86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3264"/>
              <a:ext cx="0" cy="240"/>
            </a:xfrm>
            <a:prstGeom prst="line">
              <a:avLst/>
            </a:prstGeom>
            <a:noFill/>
            <a:ln w="1905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9466" name="Freeform 7">
              <a:extLst>
                <a:ext uri="{FF2B5EF4-FFF2-40B4-BE49-F238E27FC236}">
                  <a16:creationId xmlns:a16="http://schemas.microsoft.com/office/drawing/2014/main" id="{27788122-1712-409B-A0F6-495C883CE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2976"/>
              <a:ext cx="1968" cy="384"/>
            </a:xfrm>
            <a:custGeom>
              <a:avLst/>
              <a:gdLst>
                <a:gd name="T0" fmla="*/ 1968 w 1968"/>
                <a:gd name="T1" fmla="*/ 384 h 384"/>
                <a:gd name="T2" fmla="*/ 912 w 1968"/>
                <a:gd name="T3" fmla="*/ 96 h 384"/>
                <a:gd name="T4" fmla="*/ 912 w 1968"/>
                <a:gd name="T5" fmla="*/ 240 h 384"/>
                <a:gd name="T6" fmla="*/ 0 w 1968"/>
                <a:gd name="T7" fmla="*/ 0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68"/>
                <a:gd name="T13" fmla="*/ 0 h 384"/>
                <a:gd name="T14" fmla="*/ 1968 w 1968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68" h="384">
                  <a:moveTo>
                    <a:pt x="1968" y="384"/>
                  </a:moveTo>
                  <a:cubicBezTo>
                    <a:pt x="1528" y="252"/>
                    <a:pt x="1088" y="120"/>
                    <a:pt x="912" y="96"/>
                  </a:cubicBezTo>
                  <a:cubicBezTo>
                    <a:pt x="736" y="72"/>
                    <a:pt x="1064" y="256"/>
                    <a:pt x="912" y="240"/>
                  </a:cubicBezTo>
                  <a:cubicBezTo>
                    <a:pt x="760" y="224"/>
                    <a:pt x="380" y="112"/>
                    <a:pt x="0" y="0"/>
                  </a:cubicBezTo>
                </a:path>
              </a:pathLst>
            </a:custGeom>
            <a:noFill/>
            <a:ln w="9525">
              <a:solidFill>
                <a:srgbClr val="B025A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B7987C2-4C92-404D-9FDF-F53051E0B96C}"/>
              </a:ext>
            </a:extLst>
          </p:cNvPr>
          <p:cNvSpPr txBox="1"/>
          <p:nvPr/>
        </p:nvSpPr>
        <p:spPr>
          <a:xfrm>
            <a:off x="6629400" y="3687763"/>
            <a:ext cx="1066800" cy="36988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Today</a:t>
            </a:r>
          </a:p>
        </p:txBody>
      </p:sp>
      <p:sp>
        <p:nvSpPr>
          <p:cNvPr id="19463" name="TextBox 11">
            <a:extLst>
              <a:ext uri="{FF2B5EF4-FFF2-40B4-BE49-F238E27FC236}">
                <a16:creationId xmlns:a16="http://schemas.microsoft.com/office/drawing/2014/main" id="{CEE60E69-4B81-4EC2-A347-15E3F8A06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6096000"/>
            <a:ext cx="4114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>
                <a:solidFill>
                  <a:srgbClr val="003C75"/>
                </a:solidFill>
              </a:rPr>
              <a:t>We will define “context free” today.  I am just deferring the definition for a couple of slides.</a:t>
            </a:r>
          </a:p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Footer Placeholder 1">
            <a:extLst>
              <a:ext uri="{FF2B5EF4-FFF2-40B4-BE49-F238E27FC236}">
                <a16:creationId xmlns:a16="http://schemas.microsoft.com/office/drawing/2014/main" id="{792E8823-52B6-4488-8B07-457388E88C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1506" name="Slide Number Placeholder 2">
            <a:extLst>
              <a:ext uri="{FF2B5EF4-FFF2-40B4-BE49-F238E27FC236}">
                <a16:creationId xmlns:a16="http://schemas.microsoft.com/office/drawing/2014/main" id="{3E16B51E-EB1E-4C51-84BB-4ED4B330F9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F23EDFB-40A8-4FFF-A91A-42FD1342CBA3}" type="slidenum">
              <a:rPr lang="en-US" altLang="it-IT"/>
              <a:pPr/>
              <a:t>3</a:t>
            </a:fld>
            <a:endParaRPr lang="en-US" altLang="it-IT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9A5D718E-D0B7-48C8-8B0C-721848FB3F1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75000"/>
              </a:spcBef>
            </a:pPr>
            <a:r>
              <a:rPr lang="en-US" altLang="it-IT"/>
              <a:t>Specifying Syntax with a Grammar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5D362F0B-47FC-41FD-81BA-478151BA059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/>
              <a:t>Context-free syntax is specified with a context-free grammar</a:t>
            </a:r>
          </a:p>
          <a:p>
            <a:pPr eaLnBrk="1" hangingPunct="1"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/>
              <a:t>		</a:t>
            </a:r>
            <a:r>
              <a:rPr lang="en-US" altLang="it-IT" i="1"/>
              <a:t>SheepNoise</a:t>
            </a:r>
            <a:r>
              <a:rPr lang="en-US" altLang="it-IT"/>
              <a:t> </a:t>
            </a:r>
            <a:r>
              <a:rPr lang="en-US" altLang="it-IT" sz="1800">
                <a:sym typeface="Symbol" panose="05050102010706020507" pitchFamily="18" charset="2"/>
              </a:rPr>
              <a:t></a:t>
            </a:r>
            <a:r>
              <a:rPr lang="en-US" altLang="it-IT"/>
              <a:t> </a:t>
            </a:r>
            <a:r>
              <a:rPr lang="en-US" altLang="it-IT" i="1"/>
              <a:t>SheepNoise</a:t>
            </a:r>
            <a:r>
              <a:rPr lang="en-US" altLang="it-IT"/>
              <a:t>  </a:t>
            </a:r>
            <a:r>
              <a:rPr lang="en-US" altLang="it-IT" u="sng"/>
              <a:t>baa</a:t>
            </a:r>
            <a:endParaRPr lang="en-US" altLang="it-IT"/>
          </a:p>
          <a:p>
            <a:pPr eaLnBrk="1" hangingPunct="1">
              <a:spcBef>
                <a:spcPct val="0"/>
              </a:spcBef>
              <a:spcAft>
                <a:spcPts val="1200"/>
              </a:spcAft>
              <a:buFont typeface="Times" panose="02020603050405020304" pitchFamily="18" charset="0"/>
              <a:buNone/>
            </a:pPr>
            <a:r>
              <a:rPr lang="en-US" altLang="it-IT"/>
              <a:t>                                |   </a:t>
            </a:r>
            <a:r>
              <a:rPr lang="en-US" altLang="it-IT" u="sng"/>
              <a:t>baa</a:t>
            </a:r>
            <a:endParaRPr lang="en-US" altLang="it-IT"/>
          </a:p>
          <a:p>
            <a:pPr eaLnBrk="1" hangingPunct="1"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/>
              <a:t>This </a:t>
            </a:r>
            <a:r>
              <a:rPr lang="en-US" altLang="it-IT" i="1"/>
              <a:t>CFG</a:t>
            </a:r>
            <a:r>
              <a:rPr lang="en-US" altLang="it-IT"/>
              <a:t> defines the set of noises sheep normally make </a:t>
            </a:r>
          </a:p>
          <a:p>
            <a:pPr eaLnBrk="1" hangingPunct="1">
              <a:spcBef>
                <a:spcPct val="70000"/>
              </a:spcBef>
              <a:buFont typeface="Times" panose="02020603050405020304" pitchFamily="18" charset="0"/>
              <a:buNone/>
            </a:pPr>
            <a:r>
              <a:rPr lang="en-US" altLang="it-IT"/>
              <a:t>It is written in a variant of Backus–Naur form</a:t>
            </a:r>
          </a:p>
          <a:p>
            <a:pPr eaLnBrk="1" hangingPunct="1">
              <a:spcBef>
                <a:spcPct val="70000"/>
              </a:spcBef>
              <a:buFont typeface="Times" panose="02020603050405020304" pitchFamily="18" charset="0"/>
              <a:buNone/>
            </a:pPr>
            <a:r>
              <a:rPr lang="en-US" altLang="it-IT"/>
              <a:t>Formally, a grammar is a four tuple, </a:t>
            </a:r>
            <a:r>
              <a:rPr lang="en-US" altLang="it-IT" i="1"/>
              <a:t>G = (S,N,T,P)</a:t>
            </a:r>
            <a:endParaRPr lang="en-US" altLang="it-IT"/>
          </a:p>
          <a:p>
            <a:pPr eaLnBrk="1" hangingPunct="1"/>
            <a:r>
              <a:rPr lang="en-US" altLang="it-IT" i="1"/>
              <a:t>S</a:t>
            </a:r>
            <a:r>
              <a:rPr lang="en-US" altLang="it-IT"/>
              <a:t>  is the </a:t>
            </a:r>
            <a:r>
              <a:rPr lang="en-US" altLang="it-IT" i="1"/>
              <a:t>start symbol                         </a:t>
            </a:r>
            <a:r>
              <a:rPr lang="en-US" altLang="it-IT" i="1">
                <a:solidFill>
                  <a:srgbClr val="FF0065"/>
                </a:solidFill>
              </a:rPr>
              <a:t>(set of strings in L(G))</a:t>
            </a:r>
            <a:endParaRPr lang="en-US" altLang="it-IT" i="1"/>
          </a:p>
          <a:p>
            <a:pPr eaLnBrk="1" hangingPunct="1"/>
            <a:r>
              <a:rPr lang="en-US" altLang="it-IT" i="1"/>
              <a:t>N</a:t>
            </a:r>
            <a:r>
              <a:rPr lang="en-US" altLang="it-IT"/>
              <a:t>  is a set of </a:t>
            </a:r>
            <a:r>
              <a:rPr lang="en-US" altLang="it-IT" i="1"/>
              <a:t>nonterminal symbols         </a:t>
            </a:r>
            <a:r>
              <a:rPr lang="en-US" altLang="it-IT" i="1">
                <a:solidFill>
                  <a:srgbClr val="FF0065"/>
                </a:solidFill>
              </a:rPr>
              <a:t>(syntactic variables)</a:t>
            </a:r>
            <a:endParaRPr lang="en-US" altLang="it-IT" i="1"/>
          </a:p>
          <a:p>
            <a:pPr eaLnBrk="1" hangingPunct="1"/>
            <a:r>
              <a:rPr lang="en-US" altLang="it-IT" i="1"/>
              <a:t>T</a:t>
            </a:r>
            <a:r>
              <a:rPr lang="en-US" altLang="it-IT"/>
              <a:t>  is a set of </a:t>
            </a:r>
            <a:r>
              <a:rPr lang="en-US" altLang="it-IT" i="1"/>
              <a:t>terminal symbols                                   </a:t>
            </a:r>
            <a:r>
              <a:rPr lang="en-US" altLang="it-IT" i="1">
                <a:solidFill>
                  <a:srgbClr val="FF0065"/>
                </a:solidFill>
              </a:rPr>
              <a:t>(words)</a:t>
            </a:r>
          </a:p>
          <a:p>
            <a:pPr eaLnBrk="1" hangingPunct="1"/>
            <a:r>
              <a:rPr lang="en-US" altLang="it-IT" i="1"/>
              <a:t>P</a:t>
            </a:r>
            <a:r>
              <a:rPr lang="en-US" altLang="it-IT"/>
              <a:t>  is a set of </a:t>
            </a:r>
            <a:r>
              <a:rPr lang="en-US" altLang="it-IT" i="1"/>
              <a:t>productions</a:t>
            </a:r>
            <a:r>
              <a:rPr lang="en-US" altLang="it-IT"/>
              <a:t> or </a:t>
            </a:r>
            <a:r>
              <a:rPr lang="en-US" altLang="it-IT" i="1"/>
              <a:t>rewrite rules    </a:t>
            </a:r>
            <a:r>
              <a:rPr lang="en-US" altLang="it-IT" i="1">
                <a:solidFill>
                  <a:srgbClr val="FF0065"/>
                </a:solidFill>
              </a:rPr>
              <a:t>(P</a:t>
            </a:r>
            <a:r>
              <a:rPr lang="en-US" altLang="it-IT" sz="1000" i="1">
                <a:solidFill>
                  <a:srgbClr val="FF0065"/>
                </a:solidFill>
              </a:rPr>
              <a:t> </a:t>
            </a:r>
            <a:r>
              <a:rPr lang="en-US" altLang="it-IT" sz="1800" i="1">
                <a:solidFill>
                  <a:srgbClr val="FF0065"/>
                </a:solidFill>
              </a:rPr>
              <a:t>:</a:t>
            </a:r>
            <a:r>
              <a:rPr lang="en-US" altLang="it-IT" sz="1000" i="1">
                <a:solidFill>
                  <a:srgbClr val="FF0065"/>
                </a:solidFill>
              </a:rPr>
              <a:t> </a:t>
            </a:r>
            <a:r>
              <a:rPr lang="en-US" altLang="it-IT" i="1">
                <a:solidFill>
                  <a:srgbClr val="FF0065"/>
                </a:solidFill>
              </a:rPr>
              <a:t>N</a:t>
            </a:r>
            <a:r>
              <a:rPr lang="en-US" altLang="it-IT" sz="1000" i="1">
                <a:solidFill>
                  <a:srgbClr val="FF0065"/>
                </a:solidFill>
              </a:rPr>
              <a:t> </a:t>
            </a:r>
            <a:r>
              <a:rPr lang="en-US" altLang="it-IT" sz="1800">
                <a:solidFill>
                  <a:srgbClr val="FF0065"/>
                </a:solidFill>
                <a:sym typeface="Symbol" panose="05050102010706020507" pitchFamily="18" charset="2"/>
              </a:rPr>
              <a:t></a:t>
            </a:r>
            <a:r>
              <a:rPr lang="en-US" altLang="it-IT" sz="1000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sz="1800">
                <a:solidFill>
                  <a:srgbClr val="FF0065"/>
                </a:solidFill>
                <a:sym typeface="Symbol" panose="05050102010706020507" pitchFamily="18" charset="2"/>
              </a:rPr>
              <a:t>(</a:t>
            </a:r>
            <a:r>
              <a:rPr lang="en-US" altLang="it-IT" i="1">
                <a:solidFill>
                  <a:srgbClr val="FF0065"/>
                </a:solidFill>
                <a:sym typeface="Symbol" panose="05050102010706020507" pitchFamily="18" charset="2"/>
              </a:rPr>
              <a:t>N</a:t>
            </a:r>
            <a:r>
              <a:rPr lang="en-US" altLang="it-IT" sz="1200" i="1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sz="1800">
                <a:solidFill>
                  <a:srgbClr val="FF0065"/>
                </a:solidFill>
                <a:sym typeface="Symbol" panose="05050102010706020507" pitchFamily="18" charset="2"/>
              </a:rPr>
              <a:t></a:t>
            </a:r>
            <a:r>
              <a:rPr lang="en-US" altLang="it-IT" sz="1200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i="1">
                <a:solidFill>
                  <a:srgbClr val="FF0065"/>
                </a:solidFill>
                <a:sym typeface="Symbol" panose="05050102010706020507" pitchFamily="18" charset="2"/>
              </a:rPr>
              <a:t>T)</a:t>
            </a:r>
            <a:r>
              <a:rPr lang="en-US" altLang="it-IT" sz="2800" i="1" baseline="30000">
                <a:solidFill>
                  <a:srgbClr val="FF0065"/>
                </a:solidFill>
                <a:sym typeface="Symbol" panose="05050102010706020507" pitchFamily="18" charset="2"/>
              </a:rPr>
              <a:t>+</a:t>
            </a:r>
            <a:r>
              <a:rPr lang="en-US" altLang="it-IT" sz="1000" i="1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i="1">
                <a:solidFill>
                  <a:srgbClr val="FF0065"/>
                </a:solidFill>
                <a:sym typeface="Symbol" panose="05050102010706020507" pitchFamily="18" charset="2"/>
              </a:rPr>
              <a:t>)</a:t>
            </a:r>
            <a:endParaRPr lang="en-US" altLang="it-IT">
              <a:sym typeface="Symbol" panose="05050102010706020507" pitchFamily="18" charset="2"/>
            </a:endParaRPr>
          </a:p>
          <a:p>
            <a:pPr algn="ctr"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 i="1">
                <a:sym typeface="Symbol" panose="05050102010706020507" pitchFamily="18" charset="2"/>
              </a:rPr>
              <a:t>                                              </a:t>
            </a:r>
            <a:r>
              <a:rPr lang="en-US" altLang="it-IT" sz="1800" i="1">
                <a:sym typeface="Symbol" panose="05050102010706020507" pitchFamily="18" charset="2"/>
              </a:rPr>
              <a:t>Example due to Dr. Scott K. Warren</a:t>
            </a:r>
            <a:endParaRPr lang="en-US" altLang="it-IT" i="1">
              <a:sym typeface="Symbol" panose="05050102010706020507" pitchFamily="18" charset="2"/>
            </a:endParaRPr>
          </a:p>
        </p:txBody>
      </p:sp>
      <p:sp>
        <p:nvSpPr>
          <p:cNvPr id="21509" name="TextBox 5">
            <a:extLst>
              <a:ext uri="{FF2B5EF4-FFF2-40B4-BE49-F238E27FC236}">
                <a16:creationId xmlns:a16="http://schemas.microsoft.com/office/drawing/2014/main" id="{2AB485BF-D537-4A46-85DE-FD6703666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172200"/>
            <a:ext cx="1905000" cy="381000"/>
          </a:xfrm>
          <a:prstGeom prst="rect">
            <a:avLst/>
          </a:prstGeom>
          <a:solidFill>
            <a:srgbClr val="D9D9D9"/>
          </a:solidFill>
          <a:ln w="9525">
            <a:solidFill>
              <a:srgbClr val="7F7F7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>
                <a:solidFill>
                  <a:srgbClr val="003C75"/>
                </a:solidFill>
              </a:rPr>
              <a:t>From Lecture 1</a:t>
            </a:r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Footer Placeholder 1">
            <a:extLst>
              <a:ext uri="{FF2B5EF4-FFF2-40B4-BE49-F238E27FC236}">
                <a16:creationId xmlns:a16="http://schemas.microsoft.com/office/drawing/2014/main" id="{D7E30330-1F65-4A89-BFC5-D988BCBDD7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3558" name="Slide Number Placeholder 2">
            <a:extLst>
              <a:ext uri="{FF2B5EF4-FFF2-40B4-BE49-F238E27FC236}">
                <a16:creationId xmlns:a16="http://schemas.microsoft.com/office/drawing/2014/main" id="{D5921A65-B64D-4724-89C1-7B835EC506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994F77E-4206-4D51-AAC0-B7D973B2F487}" type="slidenum">
              <a:rPr lang="en-US" altLang="it-IT"/>
              <a:pPr/>
              <a:t>4</a:t>
            </a:fld>
            <a:endParaRPr lang="en-US" altLang="it-IT"/>
          </a:p>
        </p:txBody>
      </p:sp>
      <p:sp>
        <p:nvSpPr>
          <p:cNvPr id="23559" name="Rectangle 2">
            <a:extLst>
              <a:ext uri="{FF2B5EF4-FFF2-40B4-BE49-F238E27FC236}">
                <a16:creationId xmlns:a16="http://schemas.microsoft.com/office/drawing/2014/main" id="{8B84D20C-8250-4CF7-B42D-A9E7FA5C956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Deriving Syntax</a:t>
            </a:r>
          </a:p>
        </p:txBody>
      </p:sp>
      <p:sp>
        <p:nvSpPr>
          <p:cNvPr id="23560" name="Rectangle 3">
            <a:extLst>
              <a:ext uri="{FF2B5EF4-FFF2-40B4-BE49-F238E27FC236}">
                <a16:creationId xmlns:a16="http://schemas.microsoft.com/office/drawing/2014/main" id="{71764C47-F496-4B4D-920D-FFBFD90AE69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We can use the </a:t>
            </a:r>
            <a:r>
              <a:rPr lang="en-US" altLang="it-IT" i="1"/>
              <a:t>SheepNoise</a:t>
            </a:r>
            <a:r>
              <a:rPr lang="en-US" altLang="it-IT"/>
              <a:t>  grammar to create sentences</a:t>
            </a:r>
          </a:p>
          <a:p>
            <a:pPr lvl="1" eaLnBrk="1" hangingPunct="1"/>
            <a:r>
              <a:rPr lang="en-US" altLang="it-IT"/>
              <a:t>use the productions as </a:t>
            </a:r>
            <a:r>
              <a:rPr lang="en-US" altLang="it-IT" i="1"/>
              <a:t>rewriting rules</a:t>
            </a:r>
            <a:endParaRPr lang="en-US" altLang="it-IT"/>
          </a:p>
        </p:txBody>
      </p:sp>
      <p:graphicFrame>
        <p:nvGraphicFramePr>
          <p:cNvPr id="23554" name="AutoShape 2">
            <a:extLst>
              <a:ext uri="{FF2B5EF4-FFF2-40B4-BE49-F238E27FC236}">
                <a16:creationId xmlns:a16="http://schemas.microsoft.com/office/drawing/2014/main" id="{C3E33B91-0614-40F6-B7C4-38EAEF6DB2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2130425"/>
          <a:ext cx="2952750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4" name="Document" r:id="rId4" imgW="0" imgH="0" progId="Word.Document.8">
                  <p:embed/>
                </p:oleObj>
              </mc:Choice>
              <mc:Fallback>
                <p:oleObj name="Document" r:id="rId4" imgW="0" imgH="0" progId="Word.Document.8">
                  <p:embed/>
                  <p:pic>
                    <p:nvPicPr>
                      <p:cNvPr id="0" name="AutoShap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130425"/>
                        <a:ext cx="2952750" cy="1228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" name="AutoShape 3">
            <a:extLst>
              <a:ext uri="{FF2B5EF4-FFF2-40B4-BE49-F238E27FC236}">
                <a16:creationId xmlns:a16="http://schemas.microsoft.com/office/drawing/2014/main" id="{A6F2932F-4498-4C6F-BD7E-844BBC6EBF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3725863"/>
          <a:ext cx="2952750" cy="154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5" name="Document" r:id="rId5" imgW="0" imgH="0" progId="Word.Document.8">
                  <p:embed/>
                </p:oleObj>
              </mc:Choice>
              <mc:Fallback>
                <p:oleObj name="Document" r:id="rId5" imgW="0" imgH="0" progId="Word.Document.8">
                  <p:embed/>
                  <p:pic>
                    <p:nvPicPr>
                      <p:cNvPr id="0" name="AutoShap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725863"/>
                        <a:ext cx="2952750" cy="1544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AutoShape 4">
            <a:extLst>
              <a:ext uri="{FF2B5EF4-FFF2-40B4-BE49-F238E27FC236}">
                <a16:creationId xmlns:a16="http://schemas.microsoft.com/office/drawing/2014/main" id="{E2EBF530-BFE2-46EC-A6AF-AE6A2A9477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2117725"/>
          <a:ext cx="3502025" cy="186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6" name="Document" r:id="rId6" imgW="0" imgH="0" progId="Word.Document.8">
                  <p:embed/>
                </p:oleObj>
              </mc:Choice>
              <mc:Fallback>
                <p:oleObj name="Document" r:id="rId6" imgW="0" imgH="0" progId="Word.Document.8">
                  <p:embed/>
                  <p:pic>
                    <p:nvPicPr>
                      <p:cNvPr id="0" name="AutoShap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2117725"/>
                        <a:ext cx="3502025" cy="1865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1" name="Text Box 7">
            <a:extLst>
              <a:ext uri="{FF2B5EF4-FFF2-40B4-BE49-F238E27FC236}">
                <a16:creationId xmlns:a16="http://schemas.microsoft.com/office/drawing/2014/main" id="{007C4C94-D715-43E5-B8A2-13452686C8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3813" y="4313238"/>
            <a:ext cx="2590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2000" i="1">
                <a:solidFill>
                  <a:srgbClr val="FF0065"/>
                </a:solidFill>
              </a:rPr>
              <a:t>And so on </a:t>
            </a:r>
            <a:r>
              <a:rPr lang="en-US" altLang="it-IT" sz="2000" b="1" i="1">
                <a:solidFill>
                  <a:srgbClr val="FF0065"/>
                </a:solidFill>
              </a:rPr>
              <a:t>...</a:t>
            </a:r>
            <a:endParaRPr lang="en-US" altLang="it-IT" sz="1600">
              <a:solidFill>
                <a:srgbClr val="FF0065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562" name="Text Box 8">
            <a:extLst>
              <a:ext uri="{FF2B5EF4-FFF2-40B4-BE49-F238E27FC236}">
                <a16:creationId xmlns:a16="http://schemas.microsoft.com/office/drawing/2014/main" id="{ADC1D052-3741-497A-A1D4-F858F3295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84838"/>
            <a:ext cx="7772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i="1">
                <a:solidFill>
                  <a:srgbClr val="003C75"/>
                </a:solidFill>
              </a:rPr>
              <a:t>While this example is cute, </a:t>
            </a:r>
            <a:r>
              <a:rPr lang="en-US" altLang="it-IT" i="1">
                <a:solidFill>
                  <a:srgbClr val="003C75"/>
                </a:solidFill>
                <a:ea typeface="儷黑 Pro"/>
                <a:cs typeface="儷黑 Pro"/>
              </a:rPr>
              <a:t>it</a:t>
            </a:r>
            <a:r>
              <a:rPr lang="en-US" altLang="it-IT" i="1">
                <a:solidFill>
                  <a:srgbClr val="003C75"/>
                </a:solidFill>
              </a:rPr>
              <a:t> quickly runs out of intellectual steam ...</a:t>
            </a:r>
            <a:endParaRPr lang="en-US" altLang="it-IT" sz="1600" i="1">
              <a:solidFill>
                <a:srgbClr val="003C75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Footer Placeholder 3">
            <a:extLst>
              <a:ext uri="{FF2B5EF4-FFF2-40B4-BE49-F238E27FC236}">
                <a16:creationId xmlns:a16="http://schemas.microsoft.com/office/drawing/2014/main" id="{22F38CA2-D143-41E0-9D44-55836CC488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5602" name="Slide Number Placeholder 4">
            <a:extLst>
              <a:ext uri="{FF2B5EF4-FFF2-40B4-BE49-F238E27FC236}">
                <a16:creationId xmlns:a16="http://schemas.microsoft.com/office/drawing/2014/main" id="{171B3274-FA9B-4F38-9BA9-67581F8D8F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E0A5EB7-DE2C-4369-82B8-822192B5D62C}" type="slidenum">
              <a:rPr lang="en-US" altLang="it-IT"/>
              <a:pPr/>
              <a:t>5</a:t>
            </a:fld>
            <a:endParaRPr lang="en-US" altLang="it-IT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04123F7D-C479-42F5-9F71-68DB91780F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it-IT">
                <a:sym typeface="Symbol" panose="05050102010706020507" pitchFamily="18" charset="2"/>
              </a:rPr>
              <a:t>Why Not Use Regular Languages &amp; DFAs?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DE3D4476-8F71-4CF6-B136-774CEF432B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Not all languages are regular</a:t>
            </a:r>
            <a:r>
              <a:rPr lang="en-US" altLang="it-IT">
                <a:sym typeface="Symbol" panose="05050102010706020507" pitchFamily="18" charset="2"/>
              </a:rPr>
              <a:t>            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(</a:t>
            </a:r>
            <a:r>
              <a:rPr lang="en-US" altLang="it-IT" sz="1800">
                <a:solidFill>
                  <a:srgbClr val="FF0065"/>
                </a:solidFill>
                <a:sym typeface="Symbol" panose="05050102010706020507" pitchFamily="18" charset="2"/>
              </a:rPr>
              <a:t>RL’s  CFL’s   CSL’s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)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You cannot construct DFA’s to recognize these languages</a:t>
            </a:r>
          </a:p>
          <a:p>
            <a:pPr eaLnBrk="1" hangingPunct="1"/>
            <a:r>
              <a:rPr lang="en-US" altLang="it-IT" i="1">
                <a:sym typeface="Symbol" panose="05050102010706020507" pitchFamily="18" charset="2"/>
              </a:rPr>
              <a:t>L =  { p</a:t>
            </a:r>
            <a:r>
              <a:rPr lang="en-US" altLang="it-IT" i="1" baseline="30000">
                <a:sym typeface="Symbol" panose="05050102010706020507" pitchFamily="18" charset="2"/>
              </a:rPr>
              <a:t>k</a:t>
            </a:r>
            <a:r>
              <a:rPr lang="en-US" altLang="it-IT" i="1">
                <a:sym typeface="Symbol" panose="05050102010706020507" pitchFamily="18" charset="2"/>
              </a:rPr>
              <a:t>q</a:t>
            </a:r>
            <a:r>
              <a:rPr lang="en-US" altLang="it-IT" i="1" baseline="30000">
                <a:sym typeface="Symbol" panose="05050102010706020507" pitchFamily="18" charset="2"/>
              </a:rPr>
              <a:t>k</a:t>
            </a:r>
            <a:r>
              <a:rPr lang="en-US" altLang="it-IT" i="1">
                <a:sym typeface="Symbol" panose="05050102010706020507" pitchFamily="18" charset="2"/>
              </a:rPr>
              <a:t> }</a:t>
            </a:r>
            <a:r>
              <a:rPr lang="en-US" altLang="it-IT">
                <a:sym typeface="Symbol" panose="05050102010706020507" pitchFamily="18" charset="2"/>
              </a:rPr>
              <a:t>                                           </a:t>
            </a:r>
            <a:r>
              <a:rPr lang="en-US" altLang="it-IT" sz="1800" i="1">
                <a:solidFill>
                  <a:srgbClr val="FF0065"/>
                </a:solidFill>
                <a:sym typeface="Symbol" panose="05050102010706020507" pitchFamily="18" charset="2"/>
              </a:rPr>
              <a:t>(parenthesis languages)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/>
            <a:r>
              <a:rPr lang="en-US" altLang="it-IT" i="1">
                <a:sym typeface="Symbol" panose="05050102010706020507" pitchFamily="18" charset="2"/>
              </a:rPr>
              <a:t>L =  { wcw</a:t>
            </a:r>
            <a:r>
              <a:rPr lang="en-US" altLang="it-IT" i="1" baseline="30000">
                <a:sym typeface="Symbol" panose="05050102010706020507" pitchFamily="18" charset="2"/>
              </a:rPr>
              <a:t>r</a:t>
            </a:r>
            <a:r>
              <a:rPr lang="en-US" altLang="it-IT" i="1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| </a:t>
            </a:r>
            <a:r>
              <a:rPr lang="en-US" altLang="it-IT" i="1">
                <a:sym typeface="Symbol" panose="05050102010706020507" pitchFamily="18" charset="2"/>
              </a:rPr>
              <a:t>w </a:t>
            </a:r>
            <a:r>
              <a:rPr lang="en-US" altLang="it-IT">
                <a:sym typeface="Symbol" panose="05050102010706020507" pitchFamily="18" charset="2"/>
              </a:rPr>
              <a:t> </a:t>
            </a:r>
            <a:r>
              <a:rPr lang="en-US" altLang="it-IT" sz="2400">
                <a:sym typeface="Symbol" panose="05050102010706020507" pitchFamily="18" charset="2"/>
              </a:rPr>
              <a:t></a:t>
            </a:r>
            <a:r>
              <a:rPr lang="en-US" altLang="it-IT" sz="2400" baseline="30000">
                <a:sym typeface="Symbol" panose="05050102010706020507" pitchFamily="18" charset="2"/>
              </a:rPr>
              <a:t>*</a:t>
            </a:r>
            <a:r>
              <a:rPr lang="en-US" altLang="it-IT" i="1">
                <a:sym typeface="Symbol" panose="05050102010706020507" pitchFamily="18" charset="2"/>
              </a:rPr>
              <a:t>}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Neither of these is a regular language</a:t>
            </a:r>
            <a:r>
              <a:rPr lang="en-US" altLang="it-IT" i="1">
                <a:sym typeface="Symbol" panose="05050102010706020507" pitchFamily="18" charset="2"/>
              </a:rPr>
              <a:t>                      </a:t>
            </a:r>
            <a:r>
              <a:rPr lang="en-US" altLang="it-IT" sz="1800" i="1">
                <a:solidFill>
                  <a:srgbClr val="FF0065"/>
                </a:solidFill>
                <a:sym typeface="Symbol" panose="05050102010706020507" pitchFamily="18" charset="2"/>
              </a:rPr>
              <a:t>(nor an RE)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To recognize these features requires an arbitrary amount of context (left or right …)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But, this issue is somewhat subtle.  You </a:t>
            </a:r>
            <a:r>
              <a:rPr lang="en-US" altLang="it-IT" u="sng">
                <a:sym typeface="Symbol" panose="05050102010706020507" pitchFamily="18" charset="2"/>
              </a:rPr>
              <a:t>can</a:t>
            </a:r>
            <a:r>
              <a:rPr lang="en-US" altLang="it-IT">
                <a:sym typeface="Symbol" panose="05050102010706020507" pitchFamily="18" charset="2"/>
              </a:rPr>
              <a:t> construct </a:t>
            </a:r>
            <a:r>
              <a:rPr lang="en-US" altLang="it-IT" sz="1800">
                <a:sym typeface="Symbol" panose="05050102010706020507" pitchFamily="18" charset="2"/>
              </a:rPr>
              <a:t>DFA</a:t>
            </a:r>
            <a:r>
              <a:rPr lang="en-US" altLang="it-IT">
                <a:sym typeface="Symbol" panose="05050102010706020507" pitchFamily="18" charset="2"/>
              </a:rPr>
              <a:t>’s for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Strings with alternating 0’s and 1’s               </a:t>
            </a:r>
          </a:p>
          <a:p>
            <a:pPr lvl="1" eaLnBrk="1" hangingPunct="1">
              <a:spcBef>
                <a:spcPct val="10000"/>
              </a:spcBef>
              <a:buFontTx/>
              <a:buNone/>
            </a:pPr>
            <a:r>
              <a:rPr lang="en-US" altLang="it-IT" sz="1600">
                <a:sym typeface="Symbol" panose="05050102010706020507" pitchFamily="18" charset="2"/>
              </a:rPr>
              <a:t>( </a:t>
            </a:r>
            <a:r>
              <a:rPr lang="en-US" altLang="it-IT">
                <a:latin typeface="Symbol" panose="05050102010706020507" pitchFamily="18" charset="2"/>
                <a:sym typeface="Symbol" panose="05050102010706020507" pitchFamily="18" charset="2"/>
              </a:rPr>
              <a:t></a:t>
            </a:r>
            <a:r>
              <a:rPr lang="en-US" altLang="it-IT" sz="1600">
                <a:sym typeface="Symbol" panose="05050102010706020507" pitchFamily="18" charset="2"/>
              </a:rPr>
              <a:t> | 1 ) ( 01 )</a:t>
            </a:r>
            <a:r>
              <a:rPr lang="en-US" altLang="it-IT" sz="1600" baseline="30000">
                <a:sym typeface="Symbol" panose="05050102010706020507" pitchFamily="18" charset="2"/>
              </a:rPr>
              <a:t>* </a:t>
            </a:r>
            <a:r>
              <a:rPr lang="en-US" altLang="it-IT" sz="1600">
                <a:sym typeface="Symbol" panose="05050102010706020507" pitchFamily="18" charset="2"/>
              </a:rPr>
              <a:t>( </a:t>
            </a:r>
            <a:r>
              <a:rPr lang="en-US" altLang="it-IT">
                <a:latin typeface="Symbol" panose="05050102010706020507" pitchFamily="18" charset="2"/>
                <a:sym typeface="Symbol" panose="05050102010706020507" pitchFamily="18" charset="2"/>
              </a:rPr>
              <a:t></a:t>
            </a:r>
            <a:r>
              <a:rPr lang="en-US" altLang="it-IT" sz="1600">
                <a:sym typeface="Symbol" panose="05050102010706020507" pitchFamily="18" charset="2"/>
              </a:rPr>
              <a:t> | 0 ) 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Strings with an even number of 0’s and 1’s                      </a:t>
            </a:r>
          </a:p>
          <a:p>
            <a:pPr eaLnBrk="1" hangingPunct="1">
              <a:spcBef>
                <a:spcPct val="40000"/>
              </a:spcBef>
              <a:buFont typeface="Times" panose="02020603050405020304" pitchFamily="18" charset="0"/>
              <a:buNone/>
            </a:pPr>
            <a:r>
              <a:rPr lang="en-US" altLang="it-IT" sz="1800">
                <a:sym typeface="Symbol" panose="05050102010706020507" pitchFamily="18" charset="2"/>
              </a:rPr>
              <a:t>RE</a:t>
            </a:r>
            <a:r>
              <a:rPr lang="en-US" altLang="it-IT">
                <a:sym typeface="Symbol" panose="05050102010706020507" pitchFamily="18" charset="2"/>
              </a:rPr>
              <a:t>’s can count bounded sets and bounded differences</a:t>
            </a:r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Footer Placeholder 3">
            <a:extLst>
              <a:ext uri="{FF2B5EF4-FFF2-40B4-BE49-F238E27FC236}">
                <a16:creationId xmlns:a16="http://schemas.microsoft.com/office/drawing/2014/main" id="{F561C1E7-DDFB-47CB-B129-5151A18994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7650" name="Slide Number Placeholder 4">
            <a:extLst>
              <a:ext uri="{FF2B5EF4-FFF2-40B4-BE49-F238E27FC236}">
                <a16:creationId xmlns:a16="http://schemas.microsoft.com/office/drawing/2014/main" id="{61F6359B-A1DA-4AE4-9687-B5E0A9C8B5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12F4F9E-9A3C-428E-8CBF-C784FC978C9E}" type="slidenum">
              <a:rPr lang="en-US" altLang="it-IT"/>
              <a:pPr/>
              <a:t>6</a:t>
            </a:fld>
            <a:endParaRPr lang="en-US" altLang="it-IT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127BC3FD-4A8E-4F13-9102-94B76A82C2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600000"/>
              </a:spcBef>
            </a:pPr>
            <a:r>
              <a:rPr lang="en-US" altLang="it-IT">
                <a:sym typeface="Symbol" panose="05050102010706020507" pitchFamily="18" charset="2"/>
              </a:rPr>
              <a:t>Limits of Regular Languages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B6304634-2DB2-4A73-B3D4-EA4E8114CC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Advantages of Regular Expressions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</a:pPr>
            <a:r>
              <a:rPr lang="en-US" altLang="it-IT">
                <a:sym typeface="Symbol" panose="05050102010706020507" pitchFamily="18" charset="2"/>
              </a:rPr>
              <a:t>Simple &amp; powerful notation for specifying patterns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</a:pPr>
            <a:r>
              <a:rPr lang="en-US" altLang="it-IT">
                <a:sym typeface="Symbol" panose="05050102010706020507" pitchFamily="18" charset="2"/>
              </a:rPr>
              <a:t>Automatic construction of fast recognizers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</a:pPr>
            <a:r>
              <a:rPr lang="en-US" altLang="it-IT">
                <a:sym typeface="Symbol" panose="05050102010706020507" pitchFamily="18" charset="2"/>
              </a:rPr>
              <a:t>Many kinds of syntax can be specified with </a:t>
            </a:r>
            <a:r>
              <a:rPr lang="en-US" altLang="it-IT" sz="1800">
                <a:sym typeface="Symbol" panose="05050102010706020507" pitchFamily="18" charset="2"/>
              </a:rPr>
              <a:t>RE</a:t>
            </a:r>
            <a:r>
              <a:rPr lang="en-US" altLang="it-IT">
                <a:sym typeface="Symbol" panose="05050102010706020507" pitchFamily="18" charset="2"/>
              </a:rPr>
              <a:t>s</a:t>
            </a:r>
          </a:p>
          <a:p>
            <a:pPr eaLnBrk="1" hangingPunct="1">
              <a:lnSpc>
                <a:spcPct val="90000"/>
              </a:lnSpc>
              <a:spcBef>
                <a:spcPts val="24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Example — a regular expression for arithmetic expressions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buFontTx/>
              <a:buNone/>
            </a:pPr>
            <a:r>
              <a:rPr lang="en-US" altLang="it-IT" i="1">
                <a:sym typeface="Symbol" panose="05050102010706020507" pitchFamily="18" charset="2"/>
              </a:rPr>
              <a:t>Term </a:t>
            </a:r>
            <a:r>
              <a:rPr lang="en-US" altLang="it-IT" sz="1600" i="1">
                <a:sym typeface="Symbol" panose="05050102010706020507" pitchFamily="18" charset="2"/>
              </a:rPr>
              <a:t></a:t>
            </a:r>
            <a:r>
              <a:rPr lang="en-US" altLang="it-IT" i="1">
                <a:sym typeface="Symbol" panose="05050102010706020507" pitchFamily="18" charset="2"/>
              </a:rPr>
              <a:t>  </a:t>
            </a:r>
            <a:r>
              <a:rPr lang="en-US" altLang="it-IT">
                <a:sym typeface="Symbol" panose="05050102010706020507" pitchFamily="18" charset="2"/>
              </a:rPr>
              <a:t>[a-zA-Z] ([a-zA-Z] | [</a:t>
            </a:r>
            <a:r>
              <a:rPr lang="en-US" altLang="it-IT" u="sng">
                <a:sym typeface="Symbol" panose="05050102010706020507" pitchFamily="18" charset="2"/>
              </a:rPr>
              <a:t>0</a:t>
            </a:r>
            <a:r>
              <a:rPr lang="en-US" altLang="it-IT">
                <a:sym typeface="Symbol" panose="05050102010706020507" pitchFamily="18" charset="2"/>
              </a:rPr>
              <a:t>-</a:t>
            </a:r>
            <a:r>
              <a:rPr lang="en-US" altLang="it-IT" u="sng">
                <a:sym typeface="Symbol" panose="05050102010706020507" pitchFamily="18" charset="2"/>
              </a:rPr>
              <a:t>9</a:t>
            </a:r>
            <a:r>
              <a:rPr lang="en-US" altLang="it-IT">
                <a:sym typeface="Symbol" panose="05050102010706020507" pitchFamily="18" charset="2"/>
              </a:rPr>
              <a:t>])</a:t>
            </a:r>
            <a:r>
              <a:rPr lang="en-US" altLang="it-IT" baseline="30000">
                <a:sym typeface="Symbol" panose="05050102010706020507" pitchFamily="18" charset="2"/>
              </a:rPr>
              <a:t>*</a:t>
            </a:r>
            <a:endParaRPr lang="en-US" altLang="it-IT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buFontTx/>
              <a:buNone/>
            </a:pPr>
            <a:r>
              <a:rPr lang="en-US" altLang="it-IT" i="1">
                <a:sym typeface="Symbol" panose="05050102010706020507" pitchFamily="18" charset="2"/>
              </a:rPr>
              <a:t>Op</a:t>
            </a:r>
            <a:r>
              <a:rPr lang="en-US" altLang="it-IT">
                <a:sym typeface="Symbol" panose="05050102010706020507" pitchFamily="18" charset="2"/>
              </a:rPr>
              <a:t>      </a:t>
            </a:r>
            <a:r>
              <a:rPr lang="en-US" altLang="it-IT" sz="1600" i="1">
                <a:sym typeface="Symbol" panose="05050102010706020507" pitchFamily="18" charset="2"/>
              </a:rPr>
              <a:t>  </a:t>
            </a:r>
            <a:r>
              <a:rPr lang="en-US" altLang="it-IT" u="sng">
                <a:sym typeface="Symbol" panose="05050102010706020507" pitchFamily="18" charset="2"/>
              </a:rPr>
              <a:t>+</a:t>
            </a:r>
            <a:r>
              <a:rPr lang="en-US" altLang="it-IT">
                <a:sym typeface="Symbol" panose="05050102010706020507" pitchFamily="18" charset="2"/>
              </a:rPr>
              <a:t> | </a:t>
            </a:r>
            <a:r>
              <a:rPr lang="en-US" altLang="it-IT" u="sng">
                <a:sym typeface="Symbol" panose="05050102010706020507" pitchFamily="18" charset="2"/>
              </a:rPr>
              <a:t>-</a:t>
            </a:r>
            <a:r>
              <a:rPr lang="en-US" altLang="it-IT">
                <a:sym typeface="Symbol" panose="05050102010706020507" pitchFamily="18" charset="2"/>
              </a:rPr>
              <a:t> | </a:t>
            </a:r>
            <a:r>
              <a:rPr lang="en-US" altLang="it-IT" u="sng">
                <a:sym typeface="Symbol" panose="05050102010706020507" pitchFamily="18" charset="2"/>
              </a:rPr>
              <a:t></a:t>
            </a:r>
            <a:r>
              <a:rPr lang="en-US" altLang="it-IT">
                <a:sym typeface="Symbol" panose="05050102010706020507" pitchFamily="18" charset="2"/>
              </a:rPr>
              <a:t> | </a:t>
            </a:r>
            <a:r>
              <a:rPr lang="en-US" altLang="it-IT" u="sng">
                <a:sym typeface="Symbol" panose="05050102010706020507" pitchFamily="18" charset="2"/>
              </a:rPr>
              <a:t>/</a:t>
            </a:r>
            <a:endParaRPr lang="en-US" altLang="it-IT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buFontTx/>
              <a:buNone/>
            </a:pPr>
            <a:r>
              <a:rPr lang="en-US" altLang="it-IT" i="1">
                <a:sym typeface="Symbol" panose="05050102010706020507" pitchFamily="18" charset="2"/>
              </a:rPr>
              <a:t>Expr  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1600" i="1">
                <a:sym typeface="Symbol" panose="05050102010706020507" pitchFamily="18" charset="2"/>
              </a:rPr>
              <a:t></a:t>
            </a:r>
            <a:r>
              <a:rPr lang="en-US" altLang="it-IT" sz="1600">
                <a:sym typeface="Symbol" panose="05050102010706020507" pitchFamily="18" charset="2"/>
              </a:rPr>
              <a:t>  </a:t>
            </a:r>
            <a:r>
              <a:rPr lang="en-US" altLang="it-IT">
                <a:sym typeface="Symbol" panose="05050102010706020507" pitchFamily="18" charset="2"/>
              </a:rPr>
              <a:t>(</a:t>
            </a:r>
            <a:r>
              <a:rPr lang="en-US" altLang="it-IT" sz="1200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Term Op</a:t>
            </a:r>
            <a:r>
              <a:rPr lang="en-US" altLang="it-IT">
                <a:sym typeface="Symbol" panose="05050102010706020507" pitchFamily="18" charset="2"/>
              </a:rPr>
              <a:t> )</a:t>
            </a:r>
            <a:r>
              <a:rPr lang="en-US" altLang="it-IT" baseline="30000">
                <a:sym typeface="Symbol" panose="05050102010706020507" pitchFamily="18" charset="2"/>
              </a:rPr>
              <a:t>*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Term</a:t>
            </a:r>
            <a:endParaRPr lang="en-US" altLang="it-IT">
              <a:sym typeface="Symbol" panose="05050102010706020507" pitchFamily="18" charset="2"/>
            </a:endParaRPr>
          </a:p>
          <a:p>
            <a:pPr algn="ctr" eaLnBrk="1" hangingPunct="1">
              <a:lnSpc>
                <a:spcPct val="90000"/>
              </a:lnSpc>
              <a:spcBef>
                <a:spcPts val="1200"/>
              </a:spcBef>
              <a:buFontTx/>
              <a:buNone/>
            </a:pPr>
            <a:r>
              <a:rPr lang="en-US" altLang="it-IT" sz="1800">
                <a:sym typeface="Symbol" panose="05050102010706020507" pitchFamily="18" charset="2"/>
              </a:rPr>
              <a:t>([a-zA-Z] ([a-zA-Z]</a:t>
            </a:r>
            <a:r>
              <a:rPr lang="en-US" altLang="it-IT" sz="1200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|</a:t>
            </a:r>
            <a:r>
              <a:rPr lang="en-US" altLang="it-IT" sz="1200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[</a:t>
            </a:r>
            <a:r>
              <a:rPr lang="en-US" altLang="it-IT" sz="1800" u="sng">
                <a:sym typeface="Symbol" panose="05050102010706020507" pitchFamily="18" charset="2"/>
              </a:rPr>
              <a:t>0</a:t>
            </a:r>
            <a:r>
              <a:rPr lang="en-US" altLang="it-IT" sz="1800">
                <a:sym typeface="Symbol" panose="05050102010706020507" pitchFamily="18" charset="2"/>
              </a:rPr>
              <a:t>-</a:t>
            </a:r>
            <a:r>
              <a:rPr lang="en-US" altLang="it-IT" sz="1800" u="sng">
                <a:sym typeface="Symbol" panose="05050102010706020507" pitchFamily="18" charset="2"/>
              </a:rPr>
              <a:t>9</a:t>
            </a:r>
            <a:r>
              <a:rPr lang="en-US" altLang="it-IT" sz="1800">
                <a:sym typeface="Symbol" panose="05050102010706020507" pitchFamily="18" charset="2"/>
              </a:rPr>
              <a:t>])</a:t>
            </a:r>
            <a:r>
              <a:rPr lang="en-US" altLang="it-IT" sz="1800" baseline="30000">
                <a:sym typeface="Symbol" panose="05050102010706020507" pitchFamily="18" charset="2"/>
              </a:rPr>
              <a:t>*</a:t>
            </a:r>
            <a:r>
              <a:rPr lang="en-US" altLang="it-IT" sz="1800">
                <a:sym typeface="Symbol" panose="05050102010706020507" pitchFamily="18" charset="2"/>
              </a:rPr>
              <a:t> (</a:t>
            </a:r>
            <a:r>
              <a:rPr lang="en-US" altLang="it-IT" sz="1800" u="sng">
                <a:sym typeface="Symbol" panose="05050102010706020507" pitchFamily="18" charset="2"/>
              </a:rPr>
              <a:t>+</a:t>
            </a:r>
            <a:r>
              <a:rPr lang="en-US" altLang="it-IT" sz="1200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|</a:t>
            </a:r>
            <a:r>
              <a:rPr lang="en-US" altLang="it-IT" sz="1200">
                <a:sym typeface="Symbol" panose="05050102010706020507" pitchFamily="18" charset="2"/>
              </a:rPr>
              <a:t> </a:t>
            </a:r>
            <a:r>
              <a:rPr lang="en-US" altLang="it-IT" sz="1800" u="sng">
                <a:sym typeface="Symbol" panose="05050102010706020507" pitchFamily="18" charset="2"/>
              </a:rPr>
              <a:t>-</a:t>
            </a:r>
            <a:r>
              <a:rPr lang="en-US" altLang="it-IT" sz="1200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|</a:t>
            </a:r>
            <a:r>
              <a:rPr lang="en-US" altLang="it-IT" sz="1200">
                <a:sym typeface="Symbol" panose="05050102010706020507" pitchFamily="18" charset="2"/>
              </a:rPr>
              <a:t> </a:t>
            </a:r>
            <a:r>
              <a:rPr lang="en-US" altLang="it-IT" sz="1800" u="sng">
                <a:sym typeface="Symbol" panose="05050102010706020507" pitchFamily="18" charset="2"/>
              </a:rPr>
              <a:t></a:t>
            </a:r>
            <a:r>
              <a:rPr lang="en-US" altLang="it-IT" sz="1200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|</a:t>
            </a:r>
            <a:r>
              <a:rPr lang="en-US" altLang="it-IT" sz="1200">
                <a:sym typeface="Symbol" panose="05050102010706020507" pitchFamily="18" charset="2"/>
              </a:rPr>
              <a:t> </a:t>
            </a:r>
            <a:r>
              <a:rPr lang="en-US" altLang="it-IT" sz="1800" u="sng">
                <a:sym typeface="Symbol" panose="05050102010706020507" pitchFamily="18" charset="2"/>
              </a:rPr>
              <a:t>/</a:t>
            </a:r>
            <a:r>
              <a:rPr lang="en-US" altLang="it-IT" sz="1800">
                <a:sym typeface="Symbol" panose="05050102010706020507" pitchFamily="18" charset="2"/>
              </a:rPr>
              <a:t>))* [a-zA-Z] ([a-zA-Z]</a:t>
            </a:r>
            <a:r>
              <a:rPr lang="en-US" altLang="it-IT" sz="1200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|</a:t>
            </a:r>
            <a:r>
              <a:rPr lang="en-US" altLang="it-IT" sz="1200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[</a:t>
            </a:r>
            <a:r>
              <a:rPr lang="en-US" altLang="it-IT" sz="1800" u="sng">
                <a:sym typeface="Symbol" panose="05050102010706020507" pitchFamily="18" charset="2"/>
              </a:rPr>
              <a:t>0</a:t>
            </a:r>
            <a:r>
              <a:rPr lang="en-US" altLang="it-IT" sz="1800">
                <a:sym typeface="Symbol" panose="05050102010706020507" pitchFamily="18" charset="2"/>
              </a:rPr>
              <a:t>-</a:t>
            </a:r>
            <a:r>
              <a:rPr lang="en-US" altLang="it-IT" sz="1800" u="sng">
                <a:sym typeface="Symbol" panose="05050102010706020507" pitchFamily="18" charset="2"/>
              </a:rPr>
              <a:t>9</a:t>
            </a:r>
            <a:r>
              <a:rPr lang="en-US" altLang="it-IT" sz="1800">
                <a:sym typeface="Symbol" panose="05050102010706020507" pitchFamily="18" charset="2"/>
              </a:rPr>
              <a:t>])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Of course, this would generate a </a:t>
            </a:r>
            <a:r>
              <a:rPr lang="en-US" altLang="it-IT" sz="1800">
                <a:sym typeface="Symbol" panose="05050102010706020507" pitchFamily="18" charset="2"/>
              </a:rPr>
              <a:t>DFA</a:t>
            </a:r>
            <a:r>
              <a:rPr lang="en-US" altLang="it-IT">
                <a:sym typeface="Symbol" panose="05050102010706020507" pitchFamily="18" charset="2"/>
              </a:rPr>
              <a:t> …</a:t>
            </a:r>
          </a:p>
          <a:p>
            <a:pPr eaLnBrk="1" hangingPunct="1">
              <a:lnSpc>
                <a:spcPct val="90000"/>
              </a:lnSpc>
              <a:spcBef>
                <a:spcPts val="3000"/>
              </a:spcBef>
              <a:buFont typeface="Times" panose="02020603050405020304" pitchFamily="18" charset="0"/>
              <a:buNone/>
            </a:pPr>
            <a:r>
              <a:rPr lang="en-US" altLang="it-IT" sz="1800" i="1">
                <a:solidFill>
                  <a:srgbClr val="003C75"/>
                </a:solidFill>
                <a:sym typeface="Symbol" panose="05050102010706020507" pitchFamily="18" charset="2"/>
              </a:rPr>
              <a:t>If REs are so useful … Why not use them for everything?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buFont typeface="Times" panose="02020603050405020304" pitchFamily="18" charset="0"/>
              <a:buNone/>
            </a:pPr>
            <a:r>
              <a:rPr lang="en-US" altLang="it-IT" sz="1800" i="1">
                <a:solidFill>
                  <a:srgbClr val="003C75"/>
                </a:solidFill>
                <a:sym typeface="Symbol" panose="05050102010706020507" pitchFamily="18" charset="2"/>
              </a:rPr>
              <a:t> Cannot add parenthesis, brackets, begin-end pairs, …</a:t>
            </a:r>
          </a:p>
        </p:txBody>
      </p: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>
            <a:extLst>
              <a:ext uri="{FF2B5EF4-FFF2-40B4-BE49-F238E27FC236}">
                <a16:creationId xmlns:a16="http://schemas.microsoft.com/office/drawing/2014/main" id="{23875AE9-2426-4617-96C6-879D5D76F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Context-free Grammars</a:t>
            </a:r>
          </a:p>
        </p:txBody>
      </p:sp>
      <p:sp>
        <p:nvSpPr>
          <p:cNvPr id="29698" name="Content Placeholder 2">
            <a:extLst>
              <a:ext uri="{FF2B5EF4-FFF2-40B4-BE49-F238E27FC236}">
                <a16:creationId xmlns:a16="http://schemas.microsoft.com/office/drawing/2014/main" id="{36B383D0-C89D-4469-A169-D35B9739B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/>
              <a:t>What makes a grammar “context free”?</a:t>
            </a:r>
          </a:p>
          <a:p>
            <a:pPr>
              <a:spcBef>
                <a:spcPts val="2400"/>
              </a:spcBef>
              <a:buFont typeface="Times" panose="02020603050405020304" pitchFamily="18" charset="0"/>
              <a:buNone/>
            </a:pPr>
            <a:r>
              <a:rPr lang="en-US" altLang="it-IT"/>
              <a:t>The SheepNoise grammar has a specific form:</a:t>
            </a:r>
          </a:p>
          <a:p>
            <a:pPr eaLnBrk="1" hangingPunct="1"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/>
              <a:t>		</a:t>
            </a:r>
            <a:r>
              <a:rPr lang="en-US" altLang="it-IT" i="1"/>
              <a:t>SheepNoise</a:t>
            </a:r>
            <a:r>
              <a:rPr lang="en-US" altLang="it-IT"/>
              <a:t> </a:t>
            </a:r>
            <a:r>
              <a:rPr lang="en-US" altLang="it-IT" sz="1800">
                <a:sym typeface="Symbol" panose="05050102010706020507" pitchFamily="18" charset="2"/>
              </a:rPr>
              <a:t></a:t>
            </a:r>
            <a:r>
              <a:rPr lang="en-US" altLang="it-IT"/>
              <a:t> </a:t>
            </a:r>
            <a:r>
              <a:rPr lang="en-US" altLang="it-IT" i="1"/>
              <a:t>SheepNoise</a:t>
            </a:r>
            <a:r>
              <a:rPr lang="en-US" altLang="it-IT"/>
              <a:t>  </a:t>
            </a:r>
            <a:r>
              <a:rPr lang="en-US" altLang="it-IT" u="sng"/>
              <a:t>baa</a:t>
            </a:r>
            <a:endParaRPr lang="en-US" altLang="it-IT"/>
          </a:p>
          <a:p>
            <a:pPr eaLnBrk="1" hangingPunct="1"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/>
              <a:t>                                |   </a:t>
            </a:r>
            <a:r>
              <a:rPr lang="en-US" altLang="it-IT" u="sng"/>
              <a:t>baa</a:t>
            </a:r>
          </a:p>
          <a:p>
            <a:pPr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/>
              <a:t>Productions have a single nonterminal on the left hand side, which makes it impossible to encode left or right context.</a:t>
            </a:r>
          </a:p>
          <a:p>
            <a:pPr>
              <a:spcBef>
                <a:spcPts val="600"/>
              </a:spcBef>
              <a:buFont typeface="Symbol" panose="05050102010706020507" pitchFamily="18" charset="2"/>
              <a:buChar char="Þ"/>
            </a:pPr>
            <a:r>
              <a:rPr lang="en-US" altLang="it-IT">
                <a:sym typeface="Symbol" panose="05050102010706020507" pitchFamily="18" charset="2"/>
              </a:rPr>
              <a:t>The grammar is </a:t>
            </a:r>
            <a:r>
              <a:rPr lang="en-US" altLang="it-IT" u="sng">
                <a:sym typeface="Symbol" panose="05050102010706020507" pitchFamily="18" charset="2"/>
              </a:rPr>
              <a:t>context</a:t>
            </a:r>
            <a:r>
              <a:rPr lang="en-US" altLang="it-IT">
                <a:sym typeface="Symbol" panose="05050102010706020507" pitchFamily="18" charset="2"/>
              </a:rPr>
              <a:t> free.</a:t>
            </a:r>
          </a:p>
          <a:p>
            <a:pPr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A context-sensitive grammar can have ≥ 1 nonterminal on lhs.</a:t>
            </a:r>
          </a:p>
          <a:p>
            <a:pPr>
              <a:spcBef>
                <a:spcPts val="48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Notice that </a:t>
            </a:r>
            <a:r>
              <a:rPr lang="en-US" altLang="it-IT" i="1">
                <a:sym typeface="Symbol" panose="05050102010706020507" pitchFamily="18" charset="2"/>
              </a:rPr>
              <a:t>L(SheepNoise)</a:t>
            </a:r>
            <a:r>
              <a:rPr lang="en-US" altLang="it-IT">
                <a:sym typeface="Symbol" panose="05050102010706020507" pitchFamily="18" charset="2"/>
              </a:rPr>
              <a:t> is actually a regular language:  </a:t>
            </a:r>
            <a:r>
              <a:rPr lang="en-US" altLang="it-IT" u="sng">
                <a:sym typeface="Symbol" panose="05050102010706020507" pitchFamily="18" charset="2"/>
              </a:rPr>
              <a:t>baa</a:t>
            </a:r>
            <a:r>
              <a:rPr lang="en-US" altLang="it-IT" baseline="-25000">
                <a:sym typeface="Symbol" panose="05050102010706020507" pitchFamily="18" charset="2"/>
              </a:rPr>
              <a:t> </a:t>
            </a:r>
            <a:r>
              <a:rPr lang="en-US" altLang="it-IT" baseline="30000">
                <a:sym typeface="Symbol" panose="05050102010706020507" pitchFamily="18" charset="2"/>
              </a:rPr>
              <a:t>+</a:t>
            </a:r>
            <a:endParaRPr lang="en-US" altLang="it-IT" u="sng" baseline="30000"/>
          </a:p>
        </p:txBody>
      </p:sp>
      <p:sp>
        <p:nvSpPr>
          <p:cNvPr id="29699" name="Footer Placeholder 3">
            <a:extLst>
              <a:ext uri="{FF2B5EF4-FFF2-40B4-BE49-F238E27FC236}">
                <a16:creationId xmlns:a16="http://schemas.microsoft.com/office/drawing/2014/main" id="{54191E96-DDAD-442E-91F3-98F1382346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9700" name="Slide Number Placeholder 4">
            <a:extLst>
              <a:ext uri="{FF2B5EF4-FFF2-40B4-BE49-F238E27FC236}">
                <a16:creationId xmlns:a16="http://schemas.microsoft.com/office/drawing/2014/main" id="{D1E2648A-FFEA-4EE4-8753-E3025605C6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F16F31C-A488-4548-9C5C-3D0B6A3B3B15}" type="slidenum">
              <a:rPr lang="en-US" altLang="it-IT"/>
              <a:pPr/>
              <a:t>7</a:t>
            </a:fld>
            <a:endParaRPr lang="en-US" altLang="it-IT"/>
          </a:p>
        </p:txBody>
      </p:sp>
      <p:sp>
        <p:nvSpPr>
          <p:cNvPr id="29701" name="TextBox 5">
            <a:extLst>
              <a:ext uri="{FF2B5EF4-FFF2-40B4-BE49-F238E27FC236}">
                <a16:creationId xmlns:a16="http://schemas.microsoft.com/office/drawing/2014/main" id="{23BA6DD6-008F-4632-A9CD-E3B0EFDE9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6096000"/>
            <a:ext cx="4724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>
                <a:solidFill>
                  <a:srgbClr val="003C75"/>
                </a:solidFill>
              </a:rPr>
              <a:t>Classic definition: any language that can be recognized by a push-down automaton is a context-free language.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Footer Placeholder 1">
            <a:extLst>
              <a:ext uri="{FF2B5EF4-FFF2-40B4-BE49-F238E27FC236}">
                <a16:creationId xmlns:a16="http://schemas.microsoft.com/office/drawing/2014/main" id="{391A2F41-BA39-49C9-853C-1BA9DF246B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0722" name="Slide Number Placeholder 2">
            <a:extLst>
              <a:ext uri="{FF2B5EF4-FFF2-40B4-BE49-F238E27FC236}">
                <a16:creationId xmlns:a16="http://schemas.microsoft.com/office/drawing/2014/main" id="{23D48EED-1718-4D72-BAE9-557EDE6E10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7498123-AFAF-4F2C-B0DB-AD716E7410CF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743BCA31-C813-41E9-9FB9-853FC754600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A More Useful Grammar Than Sheep Noise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6FF02CC8-724B-46CD-B5BD-B81EDD828BF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  <a:buFont typeface="Times" panose="02020603050405020304" pitchFamily="18" charset="0"/>
              <a:buNone/>
            </a:pPr>
            <a:r>
              <a:rPr lang="en-US" altLang="it-IT"/>
              <a:t>To explore the uses of </a:t>
            </a:r>
            <a:r>
              <a:rPr lang="en-US" altLang="it-IT" sz="1800"/>
              <a:t>CFG</a:t>
            </a:r>
            <a:r>
              <a:rPr lang="en-US" altLang="it-IT"/>
              <a:t>s,we need a more complex grammar</a:t>
            </a:r>
          </a:p>
          <a:p>
            <a:pPr eaLnBrk="1" hangingPunct="1">
              <a:spcBef>
                <a:spcPct val="30000"/>
              </a:spcBef>
            </a:pPr>
            <a:endParaRPr lang="en-US" altLang="it-IT"/>
          </a:p>
          <a:p>
            <a:pPr eaLnBrk="1" hangingPunct="1">
              <a:spcBef>
                <a:spcPct val="750000"/>
              </a:spcBef>
            </a:pPr>
            <a:endParaRPr lang="en-US" altLang="it-IT"/>
          </a:p>
          <a:p>
            <a:pPr eaLnBrk="1" hangingPunct="1"/>
            <a:r>
              <a:rPr lang="en-US" altLang="it-IT"/>
              <a:t>Such a sequence of rewrites is called a </a:t>
            </a:r>
            <a:r>
              <a:rPr lang="en-US" altLang="it-IT" i="1"/>
              <a:t>derivation</a:t>
            </a:r>
            <a:endParaRPr lang="en-US" altLang="it-IT"/>
          </a:p>
          <a:p>
            <a:pPr eaLnBrk="1" hangingPunct="1"/>
            <a:r>
              <a:rPr lang="en-US" altLang="it-IT"/>
              <a:t>Process of discovering a derivation is called </a:t>
            </a:r>
            <a:r>
              <a:rPr lang="en-US" altLang="it-IT" i="1"/>
              <a:t>parsing</a:t>
            </a:r>
          </a:p>
        </p:txBody>
      </p:sp>
      <p:sp>
        <p:nvSpPr>
          <p:cNvPr id="30725" name="Text Box 4">
            <a:extLst>
              <a:ext uri="{FF2B5EF4-FFF2-40B4-BE49-F238E27FC236}">
                <a16:creationId xmlns:a16="http://schemas.microsoft.com/office/drawing/2014/main" id="{B89F3A42-692C-4411-95A2-A4CF362FF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0850" y="5595938"/>
            <a:ext cx="5638800" cy="37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>
                <a:solidFill>
                  <a:srgbClr val="003C75"/>
                </a:solidFill>
              </a:rPr>
              <a:t>We denote this derivation:  </a:t>
            </a:r>
            <a:r>
              <a:rPr lang="en-US" altLang="it-IT" i="1">
                <a:solidFill>
                  <a:srgbClr val="003C75"/>
                </a:solidFill>
              </a:rPr>
              <a:t>Expr </a:t>
            </a: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</a:t>
            </a:r>
            <a:r>
              <a:rPr lang="en-US" altLang="it-IT" i="1" baseline="30000">
                <a:solidFill>
                  <a:srgbClr val="003C75"/>
                </a:solidFill>
                <a:sym typeface="Symbol" panose="05050102010706020507" pitchFamily="18" charset="2"/>
              </a:rPr>
              <a:t>*</a:t>
            </a: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  </a:t>
            </a:r>
            <a:r>
              <a:rPr lang="en-US" altLang="it-IT" u="sng">
                <a:solidFill>
                  <a:srgbClr val="003C75"/>
                </a:solidFill>
                <a:sym typeface="Symbol" panose="05050102010706020507" pitchFamily="18" charset="2"/>
              </a:rPr>
              <a:t>id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 – </a:t>
            </a:r>
            <a:r>
              <a:rPr lang="en-US" altLang="it-IT" u="sng">
                <a:solidFill>
                  <a:srgbClr val="003C75"/>
                </a:solidFill>
                <a:sym typeface="Symbol" panose="05050102010706020507" pitchFamily="18" charset="2"/>
              </a:rPr>
              <a:t>num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 * </a:t>
            </a:r>
            <a:r>
              <a:rPr lang="en-US" altLang="it-IT" u="sng">
                <a:solidFill>
                  <a:srgbClr val="003C75"/>
                </a:solidFill>
                <a:sym typeface="Symbol" panose="05050102010706020507" pitchFamily="18" charset="2"/>
              </a:rPr>
              <a:t>id</a:t>
            </a:r>
            <a:endParaRPr lang="en-US" altLang="it-IT">
              <a:solidFill>
                <a:srgbClr val="003C75"/>
              </a:solidFill>
            </a:endParaRPr>
          </a:p>
        </p:txBody>
      </p:sp>
      <p:graphicFrame>
        <p:nvGraphicFramePr>
          <p:cNvPr id="15564" name="Group 204">
            <a:extLst>
              <a:ext uri="{FF2B5EF4-FFF2-40B4-BE49-F238E27FC236}">
                <a16:creationId xmlns:a16="http://schemas.microsoft.com/office/drawing/2014/main" id="{5A65C331-974E-4227-BAF5-CC4ACB2221BF}"/>
              </a:ext>
            </a:extLst>
          </p:cNvPr>
          <p:cNvGraphicFramePr>
            <a:graphicFrameLocks noGrp="1"/>
          </p:cNvGraphicFramePr>
          <p:nvPr/>
        </p:nvGraphicFramePr>
        <p:xfrm>
          <a:off x="4953000" y="1676400"/>
          <a:ext cx="3276600" cy="2684679"/>
        </p:xfrm>
        <a:graphic>
          <a:graphicData uri="http://schemas.openxmlformats.org/drawingml/2006/table">
            <a:tbl>
              <a:tblPr/>
              <a:tblGrid>
                <a:gridCol w="690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6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4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Rule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Sentential Form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1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Expr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1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5560" name="Group 200">
            <a:extLst>
              <a:ext uri="{FF2B5EF4-FFF2-40B4-BE49-F238E27FC236}">
                <a16:creationId xmlns:a16="http://schemas.microsoft.com/office/drawing/2014/main" id="{29FB90C8-EFAB-4A6E-82B7-E27A97E6DF46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1778000"/>
          <a:ext cx="3048000" cy="23368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Op Expr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Op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/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Footer Placeholder 1">
            <a:extLst>
              <a:ext uri="{FF2B5EF4-FFF2-40B4-BE49-F238E27FC236}">
                <a16:creationId xmlns:a16="http://schemas.microsoft.com/office/drawing/2014/main" id="{DBFD0963-9ED0-4BFB-96C1-1033219F8A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2770" name="Slide Number Placeholder 2">
            <a:extLst>
              <a:ext uri="{FF2B5EF4-FFF2-40B4-BE49-F238E27FC236}">
                <a16:creationId xmlns:a16="http://schemas.microsoft.com/office/drawing/2014/main" id="{EEE6413A-F29C-4D78-A13C-51430CEDFB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2004326-670E-4350-A30A-817B2AC0C605}" type="slidenum">
              <a:rPr lang="en-US" altLang="it-IT"/>
              <a:pPr/>
              <a:t>9</a:t>
            </a:fld>
            <a:endParaRPr lang="en-US" altLang="it-IT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E457C464-79A9-411F-A229-1F38C6C8076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Derivations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CA35FE99-5B04-4068-9E06-FE273A9A318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ctr" eaLnBrk="1" hangingPunct="1">
              <a:buFont typeface="Times" panose="02020603050405020304" pitchFamily="18" charset="0"/>
              <a:buNone/>
            </a:pPr>
            <a:r>
              <a:rPr lang="en-US" altLang="it-IT" i="1">
                <a:solidFill>
                  <a:srgbClr val="003C75"/>
                </a:solidFill>
              </a:rPr>
              <a:t>The point of parsing is to construct a derivation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it-IT"/>
              <a:t>At each step, we choose a nonterminal to replace</a:t>
            </a:r>
          </a:p>
          <a:p>
            <a:pPr eaLnBrk="1" hangingPunct="1"/>
            <a:r>
              <a:rPr lang="en-US" altLang="it-IT"/>
              <a:t>Different choices can lead to different derivations</a:t>
            </a:r>
          </a:p>
          <a:p>
            <a:pPr eaLnBrk="1" hangingPunct="1">
              <a:spcBef>
                <a:spcPct val="70000"/>
              </a:spcBef>
              <a:buFont typeface="Times" panose="02020603050405020304" pitchFamily="18" charset="0"/>
              <a:buNone/>
            </a:pPr>
            <a:r>
              <a:rPr lang="en-US" altLang="it-IT"/>
              <a:t>Two derivations are of interest</a:t>
            </a:r>
          </a:p>
          <a:p>
            <a:pPr eaLnBrk="1" hangingPunct="1"/>
            <a:r>
              <a:rPr lang="en-US" altLang="it-IT" i="1">
                <a:solidFill>
                  <a:srgbClr val="FF0065"/>
                </a:solidFill>
              </a:rPr>
              <a:t>Leftmost derivation</a:t>
            </a:r>
            <a:r>
              <a:rPr lang="en-US" altLang="it-IT"/>
              <a:t>  — replace leftmost </a:t>
            </a:r>
            <a:r>
              <a:rPr lang="en-US" altLang="it-IT" sz="1800"/>
              <a:t>NT</a:t>
            </a:r>
            <a:r>
              <a:rPr lang="en-US" altLang="it-IT"/>
              <a:t> at each step</a:t>
            </a:r>
          </a:p>
          <a:p>
            <a:pPr eaLnBrk="1" hangingPunct="1"/>
            <a:r>
              <a:rPr lang="en-US" altLang="it-IT" i="1">
                <a:solidFill>
                  <a:srgbClr val="FF0065"/>
                </a:solidFill>
              </a:rPr>
              <a:t>Rightmost derivation</a:t>
            </a:r>
            <a:r>
              <a:rPr lang="en-US" altLang="it-IT"/>
              <a:t> — replace rightmost </a:t>
            </a:r>
            <a:r>
              <a:rPr lang="en-US" altLang="it-IT" sz="1800"/>
              <a:t>NT</a:t>
            </a:r>
            <a:r>
              <a:rPr lang="en-US" altLang="it-IT"/>
              <a:t> at each step</a:t>
            </a:r>
          </a:p>
          <a:p>
            <a:pPr eaLnBrk="1" hangingPunct="1">
              <a:spcBef>
                <a:spcPct val="70000"/>
              </a:spcBef>
              <a:buFont typeface="Times" panose="02020603050405020304" pitchFamily="18" charset="0"/>
              <a:buNone/>
            </a:pPr>
            <a:r>
              <a:rPr lang="en-US" altLang="it-IT"/>
              <a:t>These are the two </a:t>
            </a:r>
            <a:r>
              <a:rPr lang="en-US" altLang="it-IT" i="1"/>
              <a:t>systematic</a:t>
            </a:r>
            <a:r>
              <a:rPr lang="en-US" altLang="it-IT"/>
              <a:t> derivations</a:t>
            </a:r>
          </a:p>
          <a:p>
            <a:pPr lvl="1" eaLnBrk="1" hangingPunct="1">
              <a:buFontTx/>
              <a:buNone/>
            </a:pPr>
            <a:r>
              <a:rPr lang="en-US" altLang="it-IT" i="1">
                <a:solidFill>
                  <a:srgbClr val="003C75"/>
                </a:solidFill>
              </a:rPr>
              <a:t>(We don’t care about randomly-ordered derivations!)</a:t>
            </a:r>
            <a:endParaRPr lang="en-US" altLang="it-IT">
              <a:solidFill>
                <a:srgbClr val="003C75"/>
              </a:solidFill>
            </a:endParaRPr>
          </a:p>
          <a:p>
            <a:pPr eaLnBrk="1" hangingPunct="1">
              <a:spcBef>
                <a:spcPct val="70000"/>
              </a:spcBef>
              <a:buFont typeface="Times" panose="02020603050405020304" pitchFamily="18" charset="0"/>
              <a:buNone/>
            </a:pPr>
            <a:r>
              <a:rPr lang="en-US" altLang="it-IT"/>
              <a:t>The example on the preceding slide was a </a:t>
            </a:r>
            <a:r>
              <a:rPr lang="en-US" altLang="it-IT" i="1"/>
              <a:t>leftmost </a:t>
            </a:r>
            <a:r>
              <a:rPr lang="en-US" altLang="it-IT"/>
              <a:t>derivation</a:t>
            </a:r>
          </a:p>
          <a:p>
            <a:pPr eaLnBrk="1" hangingPunct="1"/>
            <a:r>
              <a:rPr lang="en-US" altLang="it-IT"/>
              <a:t>Of course, there is also a </a:t>
            </a:r>
            <a:r>
              <a:rPr lang="en-US" altLang="it-IT" i="1"/>
              <a:t>rightmost</a:t>
            </a:r>
            <a:r>
              <a:rPr lang="en-US" altLang="it-IT"/>
              <a:t> derivation</a:t>
            </a:r>
          </a:p>
          <a:p>
            <a:pPr eaLnBrk="1" hangingPunct="1"/>
            <a:r>
              <a:rPr lang="en-US" altLang="it-IT"/>
              <a:t>Interestingly, it turns out to be different</a:t>
            </a:r>
          </a:p>
        </p:txBody>
      </p: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Footer Placeholder 3">
            <a:extLst>
              <a:ext uri="{FF2B5EF4-FFF2-40B4-BE49-F238E27FC236}">
                <a16:creationId xmlns:a16="http://schemas.microsoft.com/office/drawing/2014/main" id="{1012E96D-FAF2-47E7-B87C-2D474322FE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4818" name="Slide Number Placeholder 4">
            <a:extLst>
              <a:ext uri="{FF2B5EF4-FFF2-40B4-BE49-F238E27FC236}">
                <a16:creationId xmlns:a16="http://schemas.microsoft.com/office/drawing/2014/main" id="{88634AC3-C3BE-47B0-A6D3-AD9F3C43C3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389541B-5645-4F50-90A2-67C0921B9846}" type="slidenum">
              <a:rPr lang="en-US" altLang="it-IT"/>
              <a:pPr/>
              <a:t>10</a:t>
            </a:fld>
            <a:endParaRPr lang="en-US" altLang="it-IT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E27D0714-0C8D-414A-92F0-A0EB3E3A02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/>
              <a:t>Derivations</a:t>
            </a:r>
            <a:endParaRPr lang="en-US" altLang="it-IT" i="1"/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B4824C44-0232-4274-9F7E-8CECC99F66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The point of parsing is to construct a derivation</a:t>
            </a:r>
            <a:endParaRPr lang="en-US" altLang="it-IT">
              <a:solidFill>
                <a:srgbClr val="003C75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A derivation consists of a series of rewrite steps</a:t>
            </a:r>
          </a:p>
          <a:p>
            <a:pPr algn="ctr" eaLnBrk="1" hangingPunct="1"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 i="1">
                <a:sym typeface="Symbol" panose="05050102010706020507" pitchFamily="18" charset="2"/>
              </a:rPr>
              <a:t>S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</a:t>
            </a:r>
            <a:r>
              <a:rPr lang="en-US" altLang="it-IT" baseline="-25000">
                <a:sym typeface="Symbol" panose="05050102010706020507" pitchFamily="18" charset="2"/>
              </a:rPr>
              <a:t>0</a:t>
            </a:r>
            <a:r>
              <a:rPr lang="en-US" altLang="it-IT">
                <a:sym typeface="Symbol" panose="05050102010706020507" pitchFamily="18" charset="2"/>
              </a:rPr>
              <a:t> 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</a:t>
            </a:r>
            <a:r>
              <a:rPr lang="en-US" altLang="it-IT" baseline="-25000">
                <a:sym typeface="Symbol" panose="05050102010706020507" pitchFamily="18" charset="2"/>
              </a:rPr>
              <a:t>1</a:t>
            </a:r>
            <a:r>
              <a:rPr lang="en-US" altLang="it-IT">
                <a:sym typeface="Symbol" panose="05050102010706020507" pitchFamily="18" charset="2"/>
              </a:rPr>
              <a:t> 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</a:t>
            </a:r>
            <a:r>
              <a:rPr lang="en-US" altLang="it-IT" baseline="-25000">
                <a:sym typeface="Symbol" panose="05050102010706020507" pitchFamily="18" charset="2"/>
              </a:rPr>
              <a:t>2</a:t>
            </a:r>
            <a:r>
              <a:rPr lang="en-US" altLang="it-IT">
                <a:sym typeface="Symbol" panose="05050102010706020507" pitchFamily="18" charset="2"/>
              </a:rPr>
              <a:t> 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… 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</a:t>
            </a:r>
            <a:r>
              <a:rPr lang="en-US" altLang="it-IT" baseline="-25000">
                <a:sym typeface="Symbol" panose="05050102010706020507" pitchFamily="18" charset="2"/>
              </a:rPr>
              <a:t>n</a:t>
            </a:r>
            <a:r>
              <a:rPr lang="en-US" altLang="it-IT" i="1" baseline="-25000">
                <a:sym typeface="Symbol" panose="05050102010706020507" pitchFamily="18" charset="2"/>
              </a:rPr>
              <a:t>–</a:t>
            </a:r>
            <a:r>
              <a:rPr lang="en-US" altLang="it-IT" baseline="-25000">
                <a:sym typeface="Symbol" panose="05050102010706020507" pitchFamily="18" charset="2"/>
              </a:rPr>
              <a:t>1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</a:t>
            </a:r>
            <a:r>
              <a:rPr lang="en-US" altLang="it-IT" baseline="-25000">
                <a:sym typeface="Symbol" panose="05050102010706020507" pitchFamily="18" charset="2"/>
              </a:rPr>
              <a:t>n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1800" i="1">
                <a:sym typeface="Symbol" panose="05050102010706020507" pitchFamily="18" charset="2"/>
              </a:rPr>
              <a:t>sentence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it-IT">
                <a:sym typeface="Symbol" panose="05050102010706020507" pitchFamily="18" charset="2"/>
              </a:rPr>
              <a:t>Each </a:t>
            </a:r>
            <a:r>
              <a:rPr lang="en-US" altLang="it-IT" i="1" baseline="-25000">
                <a:sym typeface="Symbol" panose="05050102010706020507" pitchFamily="18" charset="2"/>
              </a:rPr>
              <a:t>i</a:t>
            </a:r>
            <a:r>
              <a:rPr lang="en-US" altLang="it-IT">
                <a:sym typeface="Symbol" panose="05050102010706020507" pitchFamily="18" charset="2"/>
              </a:rPr>
              <a:t> is a sentential form 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it-IT">
                <a:sym typeface="Symbol" panose="05050102010706020507" pitchFamily="18" charset="2"/>
              </a:rPr>
              <a:t>If  contains only terminal symbols,  is a 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sentence</a:t>
            </a:r>
            <a:r>
              <a:rPr lang="en-US" altLang="it-IT">
                <a:sym typeface="Symbol" panose="05050102010706020507" pitchFamily="18" charset="2"/>
              </a:rPr>
              <a:t> in </a:t>
            </a:r>
            <a:r>
              <a:rPr lang="en-US" altLang="it-IT" i="1">
                <a:sym typeface="Symbol" panose="05050102010706020507" pitchFamily="18" charset="2"/>
              </a:rPr>
              <a:t>L(G)</a:t>
            </a:r>
            <a:r>
              <a:rPr lang="en-US" altLang="it-IT">
                <a:sym typeface="Symbol" panose="05050102010706020507" pitchFamily="18" charset="2"/>
              </a:rPr>
              <a:t> 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it-IT">
                <a:sym typeface="Symbol" panose="05050102010706020507" pitchFamily="18" charset="2"/>
              </a:rPr>
              <a:t>If  contains 1 or more non-terminals,  is a 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sentential form</a:t>
            </a:r>
            <a:endParaRPr lang="en-US" altLang="it-IT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it-IT">
                <a:sym typeface="Symbol" panose="05050102010706020507" pitchFamily="18" charset="2"/>
              </a:rPr>
              <a:t>To get </a:t>
            </a:r>
            <a:r>
              <a:rPr lang="en-US" altLang="it-IT" baseline="-25000">
                <a:sym typeface="Symbol" panose="05050102010706020507" pitchFamily="18" charset="2"/>
              </a:rPr>
              <a:t>i</a:t>
            </a:r>
            <a:r>
              <a:rPr lang="en-US" altLang="it-IT">
                <a:sym typeface="Symbol" panose="05050102010706020507" pitchFamily="18" charset="2"/>
              </a:rPr>
              <a:t> from </a:t>
            </a:r>
            <a:r>
              <a:rPr lang="en-US" altLang="it-IT" baseline="-25000">
                <a:sym typeface="Symbol" panose="05050102010706020507" pitchFamily="18" charset="2"/>
              </a:rPr>
              <a:t>i–1</a:t>
            </a:r>
            <a:r>
              <a:rPr lang="en-US" altLang="it-IT">
                <a:sym typeface="Symbol" panose="05050102010706020507" pitchFamily="18" charset="2"/>
              </a:rPr>
              <a:t>, expand some </a:t>
            </a:r>
            <a:r>
              <a:rPr lang="en-US" altLang="it-IT" sz="1800" i="1">
                <a:sym typeface="Symbol" panose="05050102010706020507" pitchFamily="18" charset="2"/>
              </a:rPr>
              <a:t>NT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 sz="2400" i="1">
                <a:sym typeface="Symbol" panose="05050102010706020507" pitchFamily="18" charset="2"/>
              </a:rPr>
              <a:t> </a:t>
            </a:r>
            <a:r>
              <a:rPr lang="en-US" altLang="it-IT" sz="1600">
                <a:sym typeface="Symbol" panose="05050102010706020507" pitchFamily="18" charset="2"/>
              </a:rPr>
              <a:t></a:t>
            </a:r>
            <a:r>
              <a:rPr lang="en-US" altLang="it-IT" sz="18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</a:t>
            </a:r>
            <a:r>
              <a:rPr lang="en-US" altLang="it-IT" baseline="-25000">
                <a:sym typeface="Symbol" panose="05050102010706020507" pitchFamily="18" charset="2"/>
              </a:rPr>
              <a:t>i–1</a:t>
            </a:r>
            <a:r>
              <a:rPr lang="en-US" altLang="it-IT" i="1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by using 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 sz="2400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</a:t>
            </a:r>
            <a:r>
              <a:rPr lang="en-US" altLang="it-IT">
                <a:sym typeface="Symbol" panose="05050102010706020507" pitchFamily="18" charset="2"/>
              </a:rPr>
              <a:t>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it-IT">
                <a:sym typeface="Symbol" panose="05050102010706020507" pitchFamily="18" charset="2"/>
              </a:rPr>
              <a:t>Replace the occurrence of </a:t>
            </a:r>
            <a:r>
              <a:rPr lang="en-US" altLang="it-IT" i="1">
                <a:sym typeface="Symbol" panose="05050102010706020507" pitchFamily="18" charset="2"/>
              </a:rPr>
              <a:t>A </a:t>
            </a:r>
            <a:r>
              <a:rPr lang="en-US" altLang="it-IT" sz="1400">
                <a:sym typeface="Symbol" panose="05050102010706020507" pitchFamily="18" charset="2"/>
              </a:rPr>
              <a:t></a:t>
            </a:r>
            <a:r>
              <a:rPr lang="en-US" altLang="it-IT" sz="16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</a:t>
            </a:r>
            <a:r>
              <a:rPr lang="en-US" altLang="it-IT" baseline="-25000">
                <a:sym typeface="Symbol" panose="05050102010706020507" pitchFamily="18" charset="2"/>
              </a:rPr>
              <a:t>i–1</a:t>
            </a:r>
            <a:r>
              <a:rPr lang="en-US" altLang="it-IT" i="1" baseline="-250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with  to get </a:t>
            </a:r>
            <a:r>
              <a:rPr lang="en-US" altLang="it-IT" baseline="-25000">
                <a:sym typeface="Symbol" panose="05050102010706020507" pitchFamily="18" charset="2"/>
              </a:rPr>
              <a:t>i</a:t>
            </a:r>
            <a:r>
              <a:rPr lang="en-US" altLang="it-IT">
                <a:sym typeface="Symbol" panose="05050102010706020507" pitchFamily="18" charset="2"/>
              </a:rPr>
              <a:t> 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it-IT">
                <a:sym typeface="Symbol" panose="05050102010706020507" pitchFamily="18" charset="2"/>
              </a:rPr>
              <a:t>In a leftmost derivation, it would be the first </a:t>
            </a:r>
            <a:r>
              <a:rPr lang="en-US" altLang="it-IT" i="1">
                <a:sym typeface="Symbol" panose="05050102010706020507" pitchFamily="18" charset="2"/>
              </a:rPr>
              <a:t>NT</a:t>
            </a:r>
            <a:r>
              <a:rPr lang="en-US" altLang="it-IT" sz="2000">
                <a:sym typeface="Symbol" panose="05050102010706020507" pitchFamily="18" charset="2"/>
              </a:rPr>
              <a:t> </a:t>
            </a:r>
            <a:r>
              <a:rPr lang="en-US" altLang="it-IT" sz="2000" i="1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1400">
                <a:sym typeface="Symbol" panose="05050102010706020507" pitchFamily="18" charset="2"/>
              </a:rPr>
              <a:t></a:t>
            </a:r>
            <a:r>
              <a:rPr lang="en-US" altLang="it-IT" sz="16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</a:t>
            </a:r>
            <a:r>
              <a:rPr lang="en-US" altLang="it-IT" baseline="-25000">
                <a:sym typeface="Symbol" panose="05050102010706020507" pitchFamily="18" charset="2"/>
              </a:rPr>
              <a:t>i–1</a:t>
            </a:r>
            <a:r>
              <a:rPr lang="en-US" altLang="it-IT" sz="2000" i="1" baseline="-25000"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ts val="24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A </a:t>
            </a:r>
            <a:r>
              <a:rPr lang="en-US" altLang="it-IT" i="1">
                <a:solidFill>
                  <a:srgbClr val="FF0065"/>
                </a:solidFill>
                <a:sym typeface="Symbol" panose="05050102010706020507" pitchFamily="18" charset="2"/>
              </a:rPr>
              <a:t>left-sentential form</a:t>
            </a:r>
            <a:r>
              <a:rPr lang="en-US" altLang="it-IT" i="1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occurs in a </a:t>
            </a:r>
            <a:r>
              <a:rPr lang="en-US" altLang="it-IT" i="1" u="sng">
                <a:sym typeface="Symbol" panose="05050102010706020507" pitchFamily="18" charset="2"/>
              </a:rPr>
              <a:t>leftmost</a:t>
            </a:r>
            <a:r>
              <a:rPr lang="en-US" altLang="it-IT">
                <a:sym typeface="Symbol" panose="05050102010706020507" pitchFamily="18" charset="2"/>
              </a:rPr>
              <a:t> derivation</a:t>
            </a:r>
          </a:p>
          <a:p>
            <a:pPr eaLnBrk="1" hangingPunct="1"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A </a:t>
            </a:r>
            <a:r>
              <a:rPr lang="en-US" altLang="it-IT" i="1">
                <a:solidFill>
                  <a:srgbClr val="FF0065"/>
                </a:solidFill>
                <a:sym typeface="Symbol" panose="05050102010706020507" pitchFamily="18" charset="2"/>
              </a:rPr>
              <a:t>right-sentential form</a:t>
            </a:r>
            <a:r>
              <a:rPr lang="en-US" altLang="it-IT">
                <a:sym typeface="Symbol" panose="05050102010706020507" pitchFamily="18" charset="2"/>
              </a:rPr>
              <a:t> occurs in a </a:t>
            </a:r>
            <a:r>
              <a:rPr lang="en-US" altLang="it-IT" i="1" u="sng">
                <a:sym typeface="Symbol" panose="05050102010706020507" pitchFamily="18" charset="2"/>
              </a:rPr>
              <a:t>rightmost</a:t>
            </a:r>
            <a:r>
              <a:rPr lang="en-US" altLang="it-IT">
                <a:sym typeface="Symbol" panose="05050102010706020507" pitchFamily="18" charset="2"/>
              </a:rPr>
              <a:t> derivation</a:t>
            </a:r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Footer Placeholder 1">
            <a:extLst>
              <a:ext uri="{FF2B5EF4-FFF2-40B4-BE49-F238E27FC236}">
                <a16:creationId xmlns:a16="http://schemas.microsoft.com/office/drawing/2014/main" id="{379AA4AE-3D1E-4C4C-85AF-4F09726981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6866" name="Slide Number Placeholder 2">
            <a:extLst>
              <a:ext uri="{FF2B5EF4-FFF2-40B4-BE49-F238E27FC236}">
                <a16:creationId xmlns:a16="http://schemas.microsoft.com/office/drawing/2014/main" id="{6DD5EA57-803D-4A1A-8681-19FA2F7F9E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617039C-0744-4ABD-9F7D-AD1D0A10BBC2}" type="slidenum">
              <a:rPr lang="en-US" altLang="it-IT"/>
              <a:pPr/>
              <a:t>11</a:t>
            </a:fld>
            <a:endParaRPr lang="en-US" altLang="it-IT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720C99EB-2378-4330-9A64-8B3E7F80560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0"/>
              </a:spcBef>
            </a:pPr>
            <a:r>
              <a:rPr lang="en-US" altLang="it-IT"/>
              <a:t>The Two Derivations for  </a:t>
            </a:r>
            <a:r>
              <a:rPr lang="en-US" altLang="it-IT" i="1" u="sng"/>
              <a:t>x</a:t>
            </a:r>
            <a:r>
              <a:rPr lang="en-US" altLang="it-IT" i="1"/>
              <a:t> – </a:t>
            </a:r>
            <a:r>
              <a:rPr lang="en-US" altLang="it-IT" i="1" u="sng"/>
              <a:t>2</a:t>
            </a:r>
            <a:r>
              <a:rPr lang="en-US" altLang="it-IT" i="1"/>
              <a:t> * </a:t>
            </a:r>
            <a:r>
              <a:rPr lang="en-US" altLang="it-IT" i="1" u="sng"/>
              <a:t>y</a:t>
            </a:r>
            <a:r>
              <a:rPr lang="en-US" altLang="it-IT"/>
              <a:t> 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A8E485B4-F213-4A48-A72E-52D6FFFCA1E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ct val="20000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ct val="95000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In both cases, </a:t>
            </a:r>
            <a:r>
              <a:rPr lang="en-US" altLang="it-IT" i="1"/>
              <a:t>Expr </a:t>
            </a:r>
            <a:r>
              <a:rPr lang="en-US" altLang="it-IT" i="1">
                <a:sym typeface="Symbol" panose="05050102010706020507" pitchFamily="18" charset="2"/>
              </a:rPr>
              <a:t>*  </a:t>
            </a:r>
            <a:r>
              <a:rPr lang="en-US" altLang="it-IT" u="sng">
                <a:sym typeface="Symbol" panose="05050102010706020507" pitchFamily="18" charset="2"/>
              </a:rPr>
              <a:t>id</a:t>
            </a:r>
            <a:r>
              <a:rPr lang="en-US" altLang="it-IT">
                <a:sym typeface="Symbol" panose="05050102010706020507" pitchFamily="18" charset="2"/>
              </a:rPr>
              <a:t> – </a:t>
            </a:r>
            <a:r>
              <a:rPr lang="en-US" altLang="it-IT" u="sng">
                <a:sym typeface="Symbol" panose="05050102010706020507" pitchFamily="18" charset="2"/>
              </a:rPr>
              <a:t>num</a:t>
            </a:r>
            <a:r>
              <a:rPr lang="en-US" altLang="it-IT">
                <a:sym typeface="Symbol" panose="05050102010706020507" pitchFamily="18" charset="2"/>
              </a:rPr>
              <a:t> * </a:t>
            </a:r>
            <a:r>
              <a:rPr lang="en-US" altLang="it-IT" u="sng">
                <a:sym typeface="Symbol" panose="05050102010706020507" pitchFamily="18" charset="2"/>
              </a:rPr>
              <a:t>id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The two derivations produce different parse trees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The parse trees imply different evaluation orders! </a:t>
            </a:r>
          </a:p>
        </p:txBody>
      </p:sp>
      <p:sp>
        <p:nvSpPr>
          <p:cNvPr id="36869" name="Text Box 5">
            <a:extLst>
              <a:ext uri="{FF2B5EF4-FFF2-40B4-BE49-F238E27FC236}">
                <a16:creationId xmlns:a16="http://schemas.microsoft.com/office/drawing/2014/main" id="{9D55FF9D-F01F-4143-9AAD-9B96900ED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191000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i="1"/>
              <a:t>Leftmost derivation</a:t>
            </a:r>
            <a:endParaRPr lang="en-US" altLang="it-IT"/>
          </a:p>
        </p:txBody>
      </p:sp>
      <p:sp>
        <p:nvSpPr>
          <p:cNvPr id="36870" name="Text Box 6">
            <a:extLst>
              <a:ext uri="{FF2B5EF4-FFF2-40B4-BE49-F238E27FC236}">
                <a16:creationId xmlns:a16="http://schemas.microsoft.com/office/drawing/2014/main" id="{D1823B1F-8C74-4C71-8FBA-50F112121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0013" y="4191000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i="1"/>
              <a:t>Rightmost derivation</a:t>
            </a:r>
            <a:endParaRPr lang="en-US" altLang="it-IT"/>
          </a:p>
        </p:txBody>
      </p:sp>
      <p:graphicFrame>
        <p:nvGraphicFramePr>
          <p:cNvPr id="19506" name="Group 50">
            <a:extLst>
              <a:ext uri="{FF2B5EF4-FFF2-40B4-BE49-F238E27FC236}">
                <a16:creationId xmlns:a16="http://schemas.microsoft.com/office/drawing/2014/main" id="{B451A0E5-27E7-4700-B1E8-2F2F25E5B848}"/>
              </a:ext>
            </a:extLst>
          </p:cNvPr>
          <p:cNvGraphicFramePr>
            <a:graphicFrameLocks noGrp="1"/>
          </p:cNvGraphicFramePr>
          <p:nvPr/>
        </p:nvGraphicFramePr>
        <p:xfrm>
          <a:off x="4843463" y="1436688"/>
          <a:ext cx="3276600" cy="2684679"/>
        </p:xfrm>
        <a:graphic>
          <a:graphicData uri="http://schemas.openxmlformats.org/drawingml/2006/table">
            <a:tbl>
              <a:tblPr/>
              <a:tblGrid>
                <a:gridCol w="690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6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4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Rule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Sentential Form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Op Expr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Op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1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1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1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Op Expr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1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Op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1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1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1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9507" name="Group 51">
            <a:extLst>
              <a:ext uri="{FF2B5EF4-FFF2-40B4-BE49-F238E27FC236}">
                <a16:creationId xmlns:a16="http://schemas.microsoft.com/office/drawing/2014/main" id="{575D4026-5CFE-439B-B7BA-FB9E63A5AB0B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1447800"/>
          <a:ext cx="3276600" cy="2684679"/>
        </p:xfrm>
        <a:graphic>
          <a:graphicData uri="http://schemas.openxmlformats.org/drawingml/2006/table">
            <a:tbl>
              <a:tblPr/>
              <a:tblGrid>
                <a:gridCol w="690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6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4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Rule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Sentential Form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1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Expr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1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6915" name="Rectangle 91">
            <a:extLst>
              <a:ext uri="{FF2B5EF4-FFF2-40B4-BE49-F238E27FC236}">
                <a16:creationId xmlns:a16="http://schemas.microsoft.com/office/drawing/2014/main" id="{5ECB269A-75B1-42FB-8FE0-96EA6E364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75" y="46497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Footer Placeholder 1">
            <a:extLst>
              <a:ext uri="{FF2B5EF4-FFF2-40B4-BE49-F238E27FC236}">
                <a16:creationId xmlns:a16="http://schemas.microsoft.com/office/drawing/2014/main" id="{54CB2755-A09E-4E70-8122-961560729F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8914" name="Slide Number Placeholder 2">
            <a:extLst>
              <a:ext uri="{FF2B5EF4-FFF2-40B4-BE49-F238E27FC236}">
                <a16:creationId xmlns:a16="http://schemas.microsoft.com/office/drawing/2014/main" id="{80D6D81A-0C17-4998-896D-4F795A66A4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1CA7F05-CFA8-4DA6-93E0-29347D17ECDC}" type="slidenum">
              <a:rPr lang="en-US" altLang="it-IT"/>
              <a:pPr/>
              <a:t>12</a:t>
            </a:fld>
            <a:endParaRPr lang="en-US" altLang="it-IT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5DCE32C1-3AF0-43EC-953C-DA3F0C94F9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>
                <a:sym typeface="Symbol" panose="05050102010706020507" pitchFamily="18" charset="2"/>
              </a:rPr>
              <a:t>Derivations and Parse Trees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8C41A28D-56E2-4793-BC01-8D0982C5CAE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Leftmost derivation</a:t>
            </a:r>
          </a:p>
        </p:txBody>
      </p:sp>
      <p:grpSp>
        <p:nvGrpSpPr>
          <p:cNvPr id="38917" name="Group 77">
            <a:extLst>
              <a:ext uri="{FF2B5EF4-FFF2-40B4-BE49-F238E27FC236}">
                <a16:creationId xmlns:a16="http://schemas.microsoft.com/office/drawing/2014/main" id="{161314C7-4B58-4E7C-8379-6DB91CEC4634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1524000"/>
            <a:ext cx="3022600" cy="4067175"/>
            <a:chOff x="3264" y="960"/>
            <a:chExt cx="1904" cy="2562"/>
          </a:xfrm>
        </p:grpSpPr>
        <p:sp>
          <p:nvSpPr>
            <p:cNvPr id="38941" name="Line 7">
              <a:extLst>
                <a:ext uri="{FF2B5EF4-FFF2-40B4-BE49-F238E27FC236}">
                  <a16:creationId xmlns:a16="http://schemas.microsoft.com/office/drawing/2014/main" id="{92EFE572-7266-4D4A-96A5-23B0FF0091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2" y="124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8942" name="Oval 8">
              <a:extLst>
                <a:ext uri="{FF2B5EF4-FFF2-40B4-BE49-F238E27FC236}">
                  <a16:creationId xmlns:a16="http://schemas.microsoft.com/office/drawing/2014/main" id="{9A151C2C-7CE3-40D4-9253-98782BE2E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0" y="960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 i="1"/>
                <a:t>G</a:t>
              </a:r>
              <a:endParaRPr lang="en-US" altLang="it-IT" sz="1600"/>
            </a:p>
          </p:txBody>
        </p:sp>
        <p:sp>
          <p:nvSpPr>
            <p:cNvPr id="38943" name="Text Box 9">
              <a:extLst>
                <a:ext uri="{FF2B5EF4-FFF2-40B4-BE49-F238E27FC236}">
                  <a16:creationId xmlns:a16="http://schemas.microsoft.com/office/drawing/2014/main" id="{CFFC4A51-3E9B-4E56-8A8B-F7D914AD55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8" y="2651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600">
                  <a:solidFill>
                    <a:srgbClr val="FF0065"/>
                  </a:solidFill>
                </a:rPr>
                <a:t>x</a:t>
              </a:r>
            </a:p>
          </p:txBody>
        </p:sp>
        <p:sp>
          <p:nvSpPr>
            <p:cNvPr id="38944" name="Line 10">
              <a:extLst>
                <a:ext uri="{FF2B5EF4-FFF2-40B4-BE49-F238E27FC236}">
                  <a16:creationId xmlns:a16="http://schemas.microsoft.com/office/drawing/2014/main" id="{625CB9E8-E8B7-4040-A200-8BF8D31CA4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403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8945" name="Line 11">
              <a:extLst>
                <a:ext uri="{FF2B5EF4-FFF2-40B4-BE49-F238E27FC236}">
                  <a16:creationId xmlns:a16="http://schemas.microsoft.com/office/drawing/2014/main" id="{AA1AD258-697C-4EDE-B81B-D54BDE88F6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403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8946" name="Oval 12">
              <a:extLst>
                <a:ext uri="{FF2B5EF4-FFF2-40B4-BE49-F238E27FC236}">
                  <a16:creationId xmlns:a16="http://schemas.microsoft.com/office/drawing/2014/main" id="{763EE9C7-44BF-4436-92C5-3AFD21959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528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 i="1"/>
                <a:t>E</a:t>
              </a:r>
              <a:endParaRPr lang="en-US" altLang="it-IT" sz="1600"/>
            </a:p>
          </p:txBody>
        </p:sp>
        <p:sp>
          <p:nvSpPr>
            <p:cNvPr id="38947" name="Oval 13">
              <a:extLst>
                <a:ext uri="{FF2B5EF4-FFF2-40B4-BE49-F238E27FC236}">
                  <a16:creationId xmlns:a16="http://schemas.microsoft.com/office/drawing/2014/main" id="{D5C49BDD-DACD-42F4-92DF-D6FEB7C34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099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 i="1"/>
                <a:t>E</a:t>
              </a:r>
              <a:endParaRPr lang="en-US" altLang="it-IT" sz="1600"/>
            </a:p>
          </p:txBody>
        </p:sp>
        <p:sp>
          <p:nvSpPr>
            <p:cNvPr id="38948" name="Oval 14">
              <a:extLst>
                <a:ext uri="{FF2B5EF4-FFF2-40B4-BE49-F238E27FC236}">
                  <a16:creationId xmlns:a16="http://schemas.microsoft.com/office/drawing/2014/main" id="{AE0DA2AA-B265-41EE-A480-AFFCA79318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099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 i="1"/>
                <a:t>Op</a:t>
              </a:r>
              <a:endParaRPr lang="en-US" altLang="it-IT" sz="1600"/>
            </a:p>
          </p:txBody>
        </p:sp>
        <p:sp>
          <p:nvSpPr>
            <p:cNvPr id="38949" name="Line 15">
              <a:extLst>
                <a:ext uri="{FF2B5EF4-FFF2-40B4-BE49-F238E27FC236}">
                  <a16:creationId xmlns:a16="http://schemas.microsoft.com/office/drawing/2014/main" id="{C7F422C6-9602-457A-BF45-BBA27012E1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827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8950" name="Line 16">
              <a:extLst>
                <a:ext uri="{FF2B5EF4-FFF2-40B4-BE49-F238E27FC236}">
                  <a16:creationId xmlns:a16="http://schemas.microsoft.com/office/drawing/2014/main" id="{2084014F-3508-4894-98F2-A046E6EBCB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2" y="1779"/>
              <a:ext cx="528" cy="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8951" name="Line 17">
              <a:extLst>
                <a:ext uri="{FF2B5EF4-FFF2-40B4-BE49-F238E27FC236}">
                  <a16:creationId xmlns:a16="http://schemas.microsoft.com/office/drawing/2014/main" id="{114B6AF4-662A-40C5-AE40-368B832D8B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24" y="1787"/>
              <a:ext cx="304" cy="3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8952" name="Text Box 18">
              <a:extLst>
                <a:ext uri="{FF2B5EF4-FFF2-40B4-BE49-F238E27FC236}">
                  <a16:creationId xmlns:a16="http://schemas.microsoft.com/office/drawing/2014/main" id="{1BB2CF62-4EA6-4FC4-9B7B-D0108AB65A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667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solidFill>
                    <a:srgbClr val="FF0065"/>
                  </a:solidFill>
                </a:rPr>
                <a:t>–</a:t>
              </a:r>
            </a:p>
          </p:txBody>
        </p:sp>
        <p:sp>
          <p:nvSpPr>
            <p:cNvPr id="38953" name="Text Box 20">
              <a:extLst>
                <a:ext uri="{FF2B5EF4-FFF2-40B4-BE49-F238E27FC236}">
                  <a16:creationId xmlns:a16="http://schemas.microsoft.com/office/drawing/2014/main" id="{0D7B477E-7B7C-4D75-B43C-E9A1137AE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2" y="3233"/>
              <a:ext cx="1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600">
                  <a:solidFill>
                    <a:srgbClr val="FF0065"/>
                  </a:solidFill>
                </a:rPr>
                <a:t>2</a:t>
              </a:r>
            </a:p>
          </p:txBody>
        </p:sp>
        <p:sp>
          <p:nvSpPr>
            <p:cNvPr id="38954" name="Line 21">
              <a:extLst>
                <a:ext uri="{FF2B5EF4-FFF2-40B4-BE49-F238E27FC236}">
                  <a16:creationId xmlns:a16="http://schemas.microsoft.com/office/drawing/2014/main" id="{E08A309C-CA4E-437E-B901-50C669CCA8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2" y="2985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8955" name="Oval 22">
              <a:extLst>
                <a:ext uri="{FF2B5EF4-FFF2-40B4-BE49-F238E27FC236}">
                  <a16:creationId xmlns:a16="http://schemas.microsoft.com/office/drawing/2014/main" id="{AEF06DB9-1579-458E-B45F-B136E590F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8" y="2681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 i="1"/>
                <a:t>E</a:t>
              </a:r>
              <a:endParaRPr lang="en-US" altLang="it-IT" sz="1600"/>
            </a:p>
          </p:txBody>
        </p:sp>
        <p:sp>
          <p:nvSpPr>
            <p:cNvPr id="38956" name="Line 24">
              <a:extLst>
                <a:ext uri="{FF2B5EF4-FFF2-40B4-BE49-F238E27FC236}">
                  <a16:creationId xmlns:a16="http://schemas.microsoft.com/office/drawing/2014/main" id="{2EFDA282-5097-45BE-B66A-D48CBC6D08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6" y="239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8957" name="Oval 25">
              <a:extLst>
                <a:ext uri="{FF2B5EF4-FFF2-40B4-BE49-F238E27FC236}">
                  <a16:creationId xmlns:a16="http://schemas.microsoft.com/office/drawing/2014/main" id="{B85E0396-BB30-45C0-B41A-46DC5293B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2" y="2096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 i="1"/>
                <a:t>E</a:t>
              </a:r>
              <a:endParaRPr lang="en-US" altLang="it-IT" sz="1600"/>
            </a:p>
          </p:txBody>
        </p:sp>
        <p:sp>
          <p:nvSpPr>
            <p:cNvPr id="38958" name="Line 27">
              <a:extLst>
                <a:ext uri="{FF2B5EF4-FFF2-40B4-BE49-F238E27FC236}">
                  <a16:creationId xmlns:a16="http://schemas.microsoft.com/office/drawing/2014/main" id="{A7F01BE5-6B86-429C-AD92-0E28540783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2945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8959" name="Oval 28">
              <a:extLst>
                <a:ext uri="{FF2B5EF4-FFF2-40B4-BE49-F238E27FC236}">
                  <a16:creationId xmlns:a16="http://schemas.microsoft.com/office/drawing/2014/main" id="{776C4937-9B8F-4A28-AEA1-15928D793B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0" y="265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 i="1"/>
                <a:t>E</a:t>
              </a:r>
              <a:endParaRPr lang="en-US" altLang="it-IT" sz="1600"/>
            </a:p>
          </p:txBody>
        </p:sp>
        <p:sp>
          <p:nvSpPr>
            <p:cNvPr id="38960" name="Text Box 29">
              <a:extLst>
                <a:ext uri="{FF2B5EF4-FFF2-40B4-BE49-F238E27FC236}">
                  <a16:creationId xmlns:a16="http://schemas.microsoft.com/office/drawing/2014/main" id="{4B199F23-B3CC-4833-A924-FCFF88F872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3" y="3236"/>
              <a:ext cx="1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>
                  <a:solidFill>
                    <a:srgbClr val="FF0065"/>
                  </a:solidFill>
                </a:rPr>
                <a:t>y</a:t>
              </a:r>
            </a:p>
          </p:txBody>
        </p:sp>
        <p:sp>
          <p:nvSpPr>
            <p:cNvPr id="38961" name="Line 30">
              <a:extLst>
                <a:ext uri="{FF2B5EF4-FFF2-40B4-BE49-F238E27FC236}">
                  <a16:creationId xmlns:a16="http://schemas.microsoft.com/office/drawing/2014/main" id="{CFBD43FD-738F-483B-9EE6-794DCF282A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2318"/>
              <a:ext cx="232" cy="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8962" name="Line 32">
              <a:extLst>
                <a:ext uri="{FF2B5EF4-FFF2-40B4-BE49-F238E27FC236}">
                  <a16:creationId xmlns:a16="http://schemas.microsoft.com/office/drawing/2014/main" id="{166F725F-F8AE-4AF4-BCD8-64B59964CC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8" y="296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8963" name="Oval 33">
              <a:extLst>
                <a:ext uri="{FF2B5EF4-FFF2-40B4-BE49-F238E27FC236}">
                  <a16:creationId xmlns:a16="http://schemas.microsoft.com/office/drawing/2014/main" id="{C21AABCF-3CC7-429E-A074-E376207D2E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4" y="265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 i="1"/>
                <a:t>Op</a:t>
              </a:r>
              <a:endParaRPr lang="en-US" altLang="it-IT" sz="1600"/>
            </a:p>
          </p:txBody>
        </p:sp>
        <p:sp>
          <p:nvSpPr>
            <p:cNvPr id="38964" name="Text Box 34">
              <a:extLst>
                <a:ext uri="{FF2B5EF4-FFF2-40B4-BE49-F238E27FC236}">
                  <a16:creationId xmlns:a16="http://schemas.microsoft.com/office/drawing/2014/main" id="{1BA64F67-8CB7-4959-A1B1-7F61041C48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4" y="3310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solidFill>
                    <a:srgbClr val="FF0065"/>
                  </a:solidFill>
                </a:rPr>
                <a:t>*</a:t>
              </a:r>
            </a:p>
          </p:txBody>
        </p:sp>
        <p:sp>
          <p:nvSpPr>
            <p:cNvPr id="38965" name="Line 35">
              <a:extLst>
                <a:ext uri="{FF2B5EF4-FFF2-40B4-BE49-F238E27FC236}">
                  <a16:creationId xmlns:a16="http://schemas.microsoft.com/office/drawing/2014/main" id="{92BF2E71-6B12-4A0C-8C40-3036F39915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2" y="2318"/>
              <a:ext cx="232" cy="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38918" name="Text Box 36">
            <a:extLst>
              <a:ext uri="{FF2B5EF4-FFF2-40B4-BE49-F238E27FC236}">
                <a16:creationId xmlns:a16="http://schemas.microsoft.com/office/drawing/2014/main" id="{8A5EA464-3A25-45B0-8623-B9C70E0E1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5029200"/>
            <a:ext cx="3505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/>
              <a:t>This evaluates as   </a:t>
            </a:r>
            <a:r>
              <a:rPr lang="en-US" altLang="it-IT" u="sng"/>
              <a:t>x</a:t>
            </a:r>
            <a:r>
              <a:rPr lang="en-US" altLang="it-IT"/>
              <a:t>  – ( </a:t>
            </a:r>
            <a:r>
              <a:rPr lang="en-US" altLang="it-IT" u="sng"/>
              <a:t>2</a:t>
            </a:r>
            <a:r>
              <a:rPr lang="en-US" altLang="it-IT"/>
              <a:t> * </a:t>
            </a:r>
            <a:r>
              <a:rPr lang="en-US" altLang="it-IT" u="sng"/>
              <a:t>y </a:t>
            </a:r>
            <a:r>
              <a:rPr lang="en-US" altLang="it-IT"/>
              <a:t>)</a:t>
            </a:r>
          </a:p>
        </p:txBody>
      </p:sp>
      <p:graphicFrame>
        <p:nvGraphicFramePr>
          <p:cNvPr id="21541" name="Group 37">
            <a:extLst>
              <a:ext uri="{FF2B5EF4-FFF2-40B4-BE49-F238E27FC236}">
                <a16:creationId xmlns:a16="http://schemas.microsoft.com/office/drawing/2014/main" id="{C282096E-72EA-43A7-9B03-350B51EDC00F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1752600"/>
          <a:ext cx="3276600" cy="2684679"/>
        </p:xfrm>
        <a:graphic>
          <a:graphicData uri="http://schemas.openxmlformats.org/drawingml/2006/table">
            <a:tbl>
              <a:tblPr/>
              <a:tblGrid>
                <a:gridCol w="690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6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4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Rule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Sentential Form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1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Expr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1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Footer Placeholder 1">
            <a:extLst>
              <a:ext uri="{FF2B5EF4-FFF2-40B4-BE49-F238E27FC236}">
                <a16:creationId xmlns:a16="http://schemas.microsoft.com/office/drawing/2014/main" id="{3352649E-1347-4BD9-8C75-16584AD222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0962" name="Slide Number Placeholder 2">
            <a:extLst>
              <a:ext uri="{FF2B5EF4-FFF2-40B4-BE49-F238E27FC236}">
                <a16:creationId xmlns:a16="http://schemas.microsoft.com/office/drawing/2014/main" id="{334DBAA4-2C98-4E98-AD44-00AEEED67C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3541624-8416-41A0-BF57-0758820F1DB7}" type="slidenum">
              <a:rPr lang="en-US" altLang="it-IT"/>
              <a:pPr/>
              <a:t>13</a:t>
            </a:fld>
            <a:endParaRPr lang="en-US" altLang="it-IT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6D0B465E-6F6B-4FAC-BB22-BEFCD7E7140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>
                <a:sym typeface="Symbol" panose="05050102010706020507" pitchFamily="18" charset="2"/>
              </a:rPr>
              <a:t>Derivations and Parse Trees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6169D618-5245-4D43-9996-B39FEE8EDBE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Rightmost derivation</a:t>
            </a:r>
          </a:p>
        </p:txBody>
      </p:sp>
      <p:sp>
        <p:nvSpPr>
          <p:cNvPr id="40965" name="Text Box 6">
            <a:extLst>
              <a:ext uri="{FF2B5EF4-FFF2-40B4-BE49-F238E27FC236}">
                <a16:creationId xmlns:a16="http://schemas.microsoft.com/office/drawing/2014/main" id="{E211D7DA-4735-442A-A50B-3F5AFFC4B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25" y="5118100"/>
            <a:ext cx="304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600">
                <a:solidFill>
                  <a:srgbClr val="FF0065"/>
                </a:solidFill>
              </a:rPr>
              <a:t>x</a:t>
            </a:r>
          </a:p>
        </p:txBody>
      </p:sp>
      <p:sp>
        <p:nvSpPr>
          <p:cNvPr id="40966" name="Text Box 7">
            <a:extLst>
              <a:ext uri="{FF2B5EF4-FFF2-40B4-BE49-F238E27FC236}">
                <a16:creationId xmlns:a16="http://schemas.microsoft.com/office/drawing/2014/main" id="{5849C8DD-4B31-49F7-9027-6ADE1833D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7925" y="5118100"/>
            <a:ext cx="307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600">
                <a:solidFill>
                  <a:srgbClr val="FF0065"/>
                </a:solidFill>
              </a:rPr>
              <a:t>2</a:t>
            </a:r>
          </a:p>
        </p:txBody>
      </p:sp>
      <p:sp>
        <p:nvSpPr>
          <p:cNvPr id="40967" name="Line 8">
            <a:extLst>
              <a:ext uri="{FF2B5EF4-FFF2-40B4-BE49-F238E27FC236}">
                <a16:creationId xmlns:a16="http://schemas.microsoft.com/office/drawing/2014/main" id="{F585D394-252B-4DAF-B936-01296403D7B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8800" y="1981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40968" name="Line 9">
            <a:extLst>
              <a:ext uri="{FF2B5EF4-FFF2-40B4-BE49-F238E27FC236}">
                <a16:creationId xmlns:a16="http://schemas.microsoft.com/office/drawing/2014/main" id="{8401BB1C-9BD3-40FD-B6A0-C0D8C754E51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2895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40969" name="Line 10">
            <a:extLst>
              <a:ext uri="{FF2B5EF4-FFF2-40B4-BE49-F238E27FC236}">
                <a16:creationId xmlns:a16="http://schemas.microsoft.com/office/drawing/2014/main" id="{AF15C380-AF00-483D-B9E6-F3000D74F1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9600" y="3810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40970" name="Line 11">
            <a:extLst>
              <a:ext uri="{FF2B5EF4-FFF2-40B4-BE49-F238E27FC236}">
                <a16:creationId xmlns:a16="http://schemas.microsoft.com/office/drawing/2014/main" id="{90539C1D-0EBE-403B-B2D1-BBC45EAFE7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4724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40971" name="Line 12">
            <a:extLst>
              <a:ext uri="{FF2B5EF4-FFF2-40B4-BE49-F238E27FC236}">
                <a16:creationId xmlns:a16="http://schemas.microsoft.com/office/drawing/2014/main" id="{98F533BE-D450-475E-A194-3CD9BE6B0C5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724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40972" name="Line 13">
            <a:extLst>
              <a:ext uri="{FF2B5EF4-FFF2-40B4-BE49-F238E27FC236}">
                <a16:creationId xmlns:a16="http://schemas.microsoft.com/office/drawing/2014/main" id="{FE1A4FEE-030B-4C39-8FD1-60430B4DACD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4724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40973" name="Line 14">
            <a:extLst>
              <a:ext uri="{FF2B5EF4-FFF2-40B4-BE49-F238E27FC236}">
                <a16:creationId xmlns:a16="http://schemas.microsoft.com/office/drawing/2014/main" id="{44D5E25D-1AE2-4D35-BC3E-6A1066F201B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12100" y="37973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40974" name="Oval 16">
            <a:extLst>
              <a:ext uri="{FF2B5EF4-FFF2-40B4-BE49-F238E27FC236}">
                <a16:creationId xmlns:a16="http://schemas.microsoft.com/office/drawing/2014/main" id="{4BCFDAB5-C95B-47D3-A603-76BE69878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0" y="1524000"/>
            <a:ext cx="457200" cy="457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600" i="1"/>
              <a:t>G</a:t>
            </a:r>
            <a:endParaRPr lang="en-US" altLang="it-IT" sz="1600"/>
          </a:p>
        </p:txBody>
      </p:sp>
      <p:sp>
        <p:nvSpPr>
          <p:cNvPr id="40975" name="Oval 17">
            <a:extLst>
              <a:ext uri="{FF2B5EF4-FFF2-40B4-BE49-F238E27FC236}">
                <a16:creationId xmlns:a16="http://schemas.microsoft.com/office/drawing/2014/main" id="{487E8F2F-A442-4864-A223-EB66500A7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2428875"/>
            <a:ext cx="457200" cy="457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600" i="1"/>
              <a:t>E</a:t>
            </a:r>
            <a:endParaRPr lang="en-US" altLang="it-IT" sz="1600"/>
          </a:p>
        </p:txBody>
      </p:sp>
      <p:sp>
        <p:nvSpPr>
          <p:cNvPr id="40976" name="Oval 18">
            <a:extLst>
              <a:ext uri="{FF2B5EF4-FFF2-40B4-BE49-F238E27FC236}">
                <a16:creationId xmlns:a16="http://schemas.microsoft.com/office/drawing/2014/main" id="{89F8DF38-5899-4521-9DAA-0E3387116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3335338"/>
            <a:ext cx="457200" cy="457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600" i="1"/>
              <a:t>Op</a:t>
            </a:r>
            <a:endParaRPr lang="en-US" altLang="it-IT" sz="1600"/>
          </a:p>
        </p:txBody>
      </p:sp>
      <p:sp>
        <p:nvSpPr>
          <p:cNvPr id="40977" name="Oval 19">
            <a:extLst>
              <a:ext uri="{FF2B5EF4-FFF2-40B4-BE49-F238E27FC236}">
                <a16:creationId xmlns:a16="http://schemas.microsoft.com/office/drawing/2014/main" id="{1D264C86-779C-4A05-8648-EDB0ED6F3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8100" y="3335338"/>
            <a:ext cx="457200" cy="457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600" i="1"/>
              <a:t>E</a:t>
            </a:r>
            <a:endParaRPr lang="en-US" altLang="it-IT" sz="1600"/>
          </a:p>
        </p:txBody>
      </p:sp>
      <p:grpSp>
        <p:nvGrpSpPr>
          <p:cNvPr id="40978" name="Group 77">
            <a:extLst>
              <a:ext uri="{FF2B5EF4-FFF2-40B4-BE49-F238E27FC236}">
                <a16:creationId xmlns:a16="http://schemas.microsoft.com/office/drawing/2014/main" id="{DC6ABDF9-006A-404F-963A-3B17A931B1BB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3335338"/>
            <a:ext cx="1828800" cy="1363662"/>
            <a:chOff x="3024" y="2101"/>
            <a:chExt cx="1152" cy="859"/>
          </a:xfrm>
        </p:grpSpPr>
        <p:sp>
          <p:nvSpPr>
            <p:cNvPr id="41011" name="Oval 21">
              <a:extLst>
                <a:ext uri="{FF2B5EF4-FFF2-40B4-BE49-F238E27FC236}">
                  <a16:creationId xmlns:a16="http://schemas.microsoft.com/office/drawing/2014/main" id="{1F11609A-2E0C-4038-8E11-A0D4A6AF9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101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 i="1"/>
                <a:t>E</a:t>
              </a:r>
              <a:endParaRPr lang="en-US" altLang="it-IT" sz="1600"/>
            </a:p>
          </p:txBody>
        </p:sp>
        <p:grpSp>
          <p:nvGrpSpPr>
            <p:cNvPr id="41012" name="Group 76">
              <a:extLst>
                <a:ext uri="{FF2B5EF4-FFF2-40B4-BE49-F238E27FC236}">
                  <a16:creationId xmlns:a16="http://schemas.microsoft.com/office/drawing/2014/main" id="{EDC5B38E-BB41-4DF0-87CE-26A6140C47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2672"/>
              <a:ext cx="1152" cy="288"/>
              <a:chOff x="3024" y="2672"/>
              <a:chExt cx="1152" cy="288"/>
            </a:xfrm>
          </p:grpSpPr>
          <p:sp>
            <p:nvSpPr>
              <p:cNvPr id="41013" name="Oval 23">
                <a:extLst>
                  <a:ext uri="{FF2B5EF4-FFF2-40B4-BE49-F238E27FC236}">
                    <a16:creationId xmlns:a16="http://schemas.microsoft.com/office/drawing/2014/main" id="{186FDEF5-19AA-45C2-B1FE-EBED01C727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267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600" i="1"/>
                  <a:t>E</a:t>
                </a:r>
                <a:endParaRPr lang="en-US" altLang="it-IT" sz="1600"/>
              </a:p>
            </p:txBody>
          </p:sp>
          <p:sp>
            <p:nvSpPr>
              <p:cNvPr id="41014" name="Oval 24">
                <a:extLst>
                  <a:ext uri="{FF2B5EF4-FFF2-40B4-BE49-F238E27FC236}">
                    <a16:creationId xmlns:a16="http://schemas.microsoft.com/office/drawing/2014/main" id="{E6F69EB3-0F03-41E0-99B8-C29AA57987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267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600" i="1"/>
                  <a:t>Op</a:t>
                </a:r>
                <a:endParaRPr lang="en-US" altLang="it-IT" sz="1600"/>
              </a:p>
            </p:txBody>
          </p:sp>
          <p:sp>
            <p:nvSpPr>
              <p:cNvPr id="41015" name="Oval 25">
                <a:extLst>
                  <a:ext uri="{FF2B5EF4-FFF2-40B4-BE49-F238E27FC236}">
                    <a16:creationId xmlns:a16="http://schemas.microsoft.com/office/drawing/2014/main" id="{5189B390-9487-4A4D-9437-DB3B84E5F7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267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600" i="1"/>
                  <a:t>E</a:t>
                </a:r>
                <a:endParaRPr lang="en-US" altLang="it-IT" sz="1600"/>
              </a:p>
            </p:txBody>
          </p:sp>
        </p:grpSp>
      </p:grpSp>
      <p:sp>
        <p:nvSpPr>
          <p:cNvPr id="40979" name="Text Box 26">
            <a:extLst>
              <a:ext uri="{FF2B5EF4-FFF2-40B4-BE49-F238E27FC236}">
                <a16:creationId xmlns:a16="http://schemas.microsoft.com/office/drawing/2014/main" id="{1E7C641A-53E2-4B39-B670-DE8677837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3988" y="4259263"/>
            <a:ext cx="2905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600">
                <a:solidFill>
                  <a:srgbClr val="FF0065"/>
                </a:solidFill>
              </a:rPr>
              <a:t>y</a:t>
            </a:r>
          </a:p>
        </p:txBody>
      </p:sp>
      <p:sp>
        <p:nvSpPr>
          <p:cNvPr id="40980" name="Line 27">
            <a:extLst>
              <a:ext uri="{FF2B5EF4-FFF2-40B4-BE49-F238E27FC236}">
                <a16:creationId xmlns:a16="http://schemas.microsoft.com/office/drawing/2014/main" id="{DCA01200-FA6B-420B-AAFF-012507077BF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810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40981" name="Line 28">
            <a:extLst>
              <a:ext uri="{FF2B5EF4-FFF2-40B4-BE49-F238E27FC236}">
                <a16:creationId xmlns:a16="http://schemas.microsoft.com/office/drawing/2014/main" id="{E471A6D9-4CDD-4FDD-8BCD-9029F59D5A54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2000" y="28067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40982" name="Line 29">
            <a:extLst>
              <a:ext uri="{FF2B5EF4-FFF2-40B4-BE49-F238E27FC236}">
                <a16:creationId xmlns:a16="http://schemas.microsoft.com/office/drawing/2014/main" id="{B8AFABBC-49D5-461E-9E81-9F50B89F68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80100" y="2781300"/>
            <a:ext cx="86360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40983" name="Line 30">
            <a:extLst>
              <a:ext uri="{FF2B5EF4-FFF2-40B4-BE49-F238E27FC236}">
                <a16:creationId xmlns:a16="http://schemas.microsoft.com/office/drawing/2014/main" id="{1A5703AC-4A7A-408C-BBE4-28C3BF8156B4}"/>
              </a:ext>
            </a:extLst>
          </p:cNvPr>
          <p:cNvSpPr>
            <a:spLocks noChangeShapeType="1"/>
          </p:cNvSpPr>
          <p:nvPr/>
        </p:nvSpPr>
        <p:spPr bwMode="auto">
          <a:xfrm>
            <a:off x="5892800" y="3733800"/>
            <a:ext cx="520700" cy="520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40984" name="Line 31">
            <a:extLst>
              <a:ext uri="{FF2B5EF4-FFF2-40B4-BE49-F238E27FC236}">
                <a16:creationId xmlns:a16="http://schemas.microsoft.com/office/drawing/2014/main" id="{6C22C4FC-7F1D-47CE-A878-1733BA4C35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54600" y="3746500"/>
            <a:ext cx="482600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40985" name="Text Box 32">
            <a:extLst>
              <a:ext uri="{FF2B5EF4-FFF2-40B4-BE49-F238E27FC236}">
                <a16:creationId xmlns:a16="http://schemas.microsoft.com/office/drawing/2014/main" id="{D9D284B7-FA7B-4E77-B942-AF07F5F42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143500"/>
            <a:ext cx="457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sz="1600">
                <a:solidFill>
                  <a:srgbClr val="FF0065"/>
                </a:solidFill>
              </a:rPr>
              <a:t>–</a:t>
            </a:r>
          </a:p>
        </p:txBody>
      </p:sp>
      <p:sp>
        <p:nvSpPr>
          <p:cNvPr id="40986" name="Text Box 33">
            <a:extLst>
              <a:ext uri="{FF2B5EF4-FFF2-40B4-BE49-F238E27FC236}">
                <a16:creationId xmlns:a16="http://schemas.microsoft.com/office/drawing/2014/main" id="{9B898264-DF28-4375-BD50-9E85D835F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000" y="4356100"/>
            <a:ext cx="457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sz="1600">
                <a:solidFill>
                  <a:srgbClr val="FF0065"/>
                </a:solidFill>
              </a:rPr>
              <a:t>*</a:t>
            </a:r>
          </a:p>
        </p:txBody>
      </p:sp>
      <p:sp>
        <p:nvSpPr>
          <p:cNvPr id="40987" name="Text Box 34">
            <a:extLst>
              <a:ext uri="{FF2B5EF4-FFF2-40B4-BE49-F238E27FC236}">
                <a16:creationId xmlns:a16="http://schemas.microsoft.com/office/drawing/2014/main" id="{AACD9365-F2D5-4B9F-8682-1FACB2E2C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105400"/>
            <a:ext cx="34623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/>
              <a:t>This evaluates as   ( </a:t>
            </a:r>
            <a:r>
              <a:rPr lang="en-US" altLang="it-IT" u="sng"/>
              <a:t>x</a:t>
            </a:r>
            <a:r>
              <a:rPr lang="en-US" altLang="it-IT"/>
              <a:t> – </a:t>
            </a:r>
            <a:r>
              <a:rPr lang="en-US" altLang="it-IT" u="sng"/>
              <a:t>2 </a:t>
            </a:r>
            <a:r>
              <a:rPr lang="en-US" altLang="it-IT"/>
              <a:t>) * </a:t>
            </a:r>
            <a:r>
              <a:rPr lang="en-US" altLang="it-IT" u="sng"/>
              <a:t>y</a:t>
            </a:r>
            <a:endParaRPr lang="en-US" altLang="it-IT"/>
          </a:p>
        </p:txBody>
      </p:sp>
      <p:sp>
        <p:nvSpPr>
          <p:cNvPr id="40988" name="Text Box 35">
            <a:extLst>
              <a:ext uri="{FF2B5EF4-FFF2-40B4-BE49-F238E27FC236}">
                <a16:creationId xmlns:a16="http://schemas.microsoft.com/office/drawing/2014/main" id="{0AB10EC7-7F39-454C-A469-2F4ECB5CA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5867400"/>
            <a:ext cx="3657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>
                <a:solidFill>
                  <a:srgbClr val="FF0065"/>
                </a:solidFill>
              </a:rPr>
              <a:t>This ambiguity is </a:t>
            </a:r>
            <a:r>
              <a:rPr lang="en-US" altLang="it-IT" sz="1400" b="1" u="sng">
                <a:solidFill>
                  <a:srgbClr val="FF0065"/>
                </a:solidFill>
              </a:rPr>
              <a:t>NOT</a:t>
            </a:r>
            <a:r>
              <a:rPr lang="en-US" altLang="it-IT">
                <a:solidFill>
                  <a:srgbClr val="FF0065"/>
                </a:solidFill>
              </a:rPr>
              <a:t> good</a:t>
            </a:r>
          </a:p>
        </p:txBody>
      </p:sp>
      <p:graphicFrame>
        <p:nvGraphicFramePr>
          <p:cNvPr id="23632" name="Group 80">
            <a:extLst>
              <a:ext uri="{FF2B5EF4-FFF2-40B4-BE49-F238E27FC236}">
                <a16:creationId xmlns:a16="http://schemas.microsoft.com/office/drawing/2014/main" id="{3531A774-F739-4486-98A8-6A27970A6123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1735138"/>
          <a:ext cx="3276600" cy="2684679"/>
        </p:xfrm>
        <a:graphic>
          <a:graphicData uri="http://schemas.openxmlformats.org/drawingml/2006/table">
            <a:tbl>
              <a:tblPr/>
              <a:tblGrid>
                <a:gridCol w="690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6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4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Rule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Sentential Form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Op Expr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Op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1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1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1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Op Expr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1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Op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1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1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1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Footer Placeholder 1">
            <a:extLst>
              <a:ext uri="{FF2B5EF4-FFF2-40B4-BE49-F238E27FC236}">
                <a16:creationId xmlns:a16="http://schemas.microsoft.com/office/drawing/2014/main" id="{33E2974D-B7B7-4DB2-838D-CF98C9FB59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3010" name="Slide Number Placeholder 2">
            <a:extLst>
              <a:ext uri="{FF2B5EF4-FFF2-40B4-BE49-F238E27FC236}">
                <a16:creationId xmlns:a16="http://schemas.microsoft.com/office/drawing/2014/main" id="{509A913D-8AAB-4279-A6E3-1AE29A9B40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BABC47B-7892-412E-9073-990B6AF3EB05}" type="slidenum">
              <a:rPr lang="en-US" altLang="it-IT"/>
              <a:pPr/>
              <a:t>14</a:t>
            </a:fld>
            <a:endParaRPr lang="en-US" altLang="it-IT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3A19B24A-6AF0-42BD-97F9-828BE00F69F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>
                <a:sym typeface="Symbol" panose="05050102010706020507" pitchFamily="18" charset="2"/>
              </a:rPr>
              <a:t>Derivations and Precedence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EF9FF694-6799-414F-94C4-D2AC3079D20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46113" y="1066800"/>
            <a:ext cx="7848600" cy="49530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 i="1">
              <a:sym typeface="Symbol" panose="05050102010706020507" pitchFamily="18" charset="2"/>
            </a:endParaRP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 i="1">
                <a:sym typeface="Symbol" panose="05050102010706020507" pitchFamily="18" charset="2"/>
              </a:rPr>
              <a:t>These two derivations point out a problem with the grammar:</a:t>
            </a:r>
          </a:p>
          <a:p>
            <a:pPr algn="ctr" eaLnBrk="1" hangingPunct="1">
              <a:buFont typeface="Times" panose="02020603050405020304" pitchFamily="18" charset="0"/>
              <a:buNone/>
            </a:pPr>
            <a:r>
              <a:rPr lang="en-US" altLang="it-IT" i="1">
                <a:sym typeface="Symbol" panose="05050102010706020507" pitchFamily="18" charset="2"/>
              </a:rPr>
              <a:t>It has no notion of</a:t>
            </a:r>
            <a:r>
              <a:rPr lang="en-US" altLang="it-IT" sz="9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 </a:t>
            </a:r>
            <a:r>
              <a:rPr lang="en-US" altLang="it-IT" u="sng">
                <a:sym typeface="Symbol" panose="05050102010706020507" pitchFamily="18" charset="2"/>
              </a:rPr>
              <a:t>precedence</a:t>
            </a:r>
            <a:r>
              <a:rPr lang="en-US" altLang="it-IT" i="1">
                <a:sym typeface="Symbol" panose="05050102010706020507" pitchFamily="18" charset="2"/>
              </a:rPr>
              <a:t>, or implied order of evaluation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To add precedence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Create a nonterminal for each </a:t>
            </a:r>
            <a:r>
              <a:rPr lang="en-US" altLang="it-IT" i="1">
                <a:sym typeface="Symbol" panose="05050102010706020507" pitchFamily="18" charset="2"/>
              </a:rPr>
              <a:t>level of precedence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Isolate the corresponding part of the grammar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Force the parser to recognize high precedence subexpressions first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For algebraic expressions 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>
                <a:sym typeface="Symbol" panose="05050102010706020507" pitchFamily="18" charset="2"/>
              </a:rPr>
              <a:t>Parentheses first					    (</a:t>
            </a:r>
            <a:r>
              <a:rPr lang="en-US" altLang="it-IT" sz="1800" i="1">
                <a:sym typeface="Symbol" panose="05050102010706020507" pitchFamily="18" charset="2"/>
              </a:rPr>
              <a:t>level 1</a:t>
            </a:r>
            <a:r>
              <a:rPr lang="en-US" altLang="it-IT" sz="1200" i="1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)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>
                <a:sym typeface="Symbol" panose="05050102010706020507" pitchFamily="18" charset="2"/>
              </a:rPr>
              <a:t>Multiplication and division, next                                   (</a:t>
            </a:r>
            <a:r>
              <a:rPr lang="en-US" altLang="it-IT" sz="1800" i="1">
                <a:sym typeface="Symbol" panose="05050102010706020507" pitchFamily="18" charset="2"/>
              </a:rPr>
              <a:t>level 2</a:t>
            </a:r>
            <a:r>
              <a:rPr lang="en-US" altLang="it-IT">
                <a:sym typeface="Symbol" panose="05050102010706020507" pitchFamily="18" charset="2"/>
              </a:rPr>
              <a:t>)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>
                <a:sym typeface="Symbol" panose="05050102010706020507" pitchFamily="18" charset="2"/>
              </a:rPr>
              <a:t>Subtraction and addition, last                                      (</a:t>
            </a:r>
            <a:r>
              <a:rPr lang="en-US" altLang="it-IT" sz="1800" i="1">
                <a:sym typeface="Symbol" panose="05050102010706020507" pitchFamily="18" charset="2"/>
              </a:rPr>
              <a:t>level 3</a:t>
            </a:r>
            <a:r>
              <a:rPr lang="en-US" altLang="it-IT">
                <a:sym typeface="Symbol" panose="05050102010706020507" pitchFamily="18" charset="2"/>
              </a:rPr>
              <a:t>) </a:t>
            </a:r>
          </a:p>
        </p:txBody>
      </p: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3">
            <a:extLst>
              <a:ext uri="{FF2B5EF4-FFF2-40B4-BE49-F238E27FC236}">
                <a16:creationId xmlns:a16="http://schemas.microsoft.com/office/drawing/2014/main" id="{1E1E0D57-E225-4A13-9D7C-F8FBD44672B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Adding the standard algebraic precedence produces:</a:t>
            </a:r>
          </a:p>
        </p:txBody>
      </p:sp>
      <p:graphicFrame>
        <p:nvGraphicFramePr>
          <p:cNvPr id="27819" name="Group 171">
            <a:extLst>
              <a:ext uri="{FF2B5EF4-FFF2-40B4-BE49-F238E27FC236}">
                <a16:creationId xmlns:a16="http://schemas.microsoft.com/office/drawing/2014/main" id="{2ED0C0B1-7704-4BD6-BA11-C4BBCB636656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1676400"/>
          <a:ext cx="3276600" cy="3048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+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/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  <a:defRPr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  <a:defRPr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  <a:defRPr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5099" name="Footer Placeholder 1">
            <a:extLst>
              <a:ext uri="{FF2B5EF4-FFF2-40B4-BE49-F238E27FC236}">
                <a16:creationId xmlns:a16="http://schemas.microsoft.com/office/drawing/2014/main" id="{81DF962E-0DDA-4215-B871-DDDB787AB6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5100" name="Slide Number Placeholder 2">
            <a:extLst>
              <a:ext uri="{FF2B5EF4-FFF2-40B4-BE49-F238E27FC236}">
                <a16:creationId xmlns:a16="http://schemas.microsoft.com/office/drawing/2014/main" id="{3BE58C3C-7AAE-429F-A734-E263DC884D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31016DA-D58C-43FC-880D-D7ED73DE1345}" type="slidenum">
              <a:rPr lang="en-US" altLang="it-IT"/>
              <a:pPr/>
              <a:t>15</a:t>
            </a:fld>
            <a:endParaRPr lang="en-US" altLang="it-IT"/>
          </a:p>
        </p:txBody>
      </p:sp>
      <p:sp>
        <p:nvSpPr>
          <p:cNvPr id="45101" name="Rectangle 2">
            <a:extLst>
              <a:ext uri="{FF2B5EF4-FFF2-40B4-BE49-F238E27FC236}">
                <a16:creationId xmlns:a16="http://schemas.microsoft.com/office/drawing/2014/main" id="{858D2B1F-0C20-4EA1-A293-DDFF757166F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>
                <a:sym typeface="Symbol" panose="05050102010706020507" pitchFamily="18" charset="2"/>
              </a:rPr>
              <a:t>Derivations and Precedence</a:t>
            </a:r>
          </a:p>
        </p:txBody>
      </p:sp>
      <p:sp>
        <p:nvSpPr>
          <p:cNvPr id="41990" name="Text Box 5">
            <a:extLst>
              <a:ext uri="{FF2B5EF4-FFF2-40B4-BE49-F238E27FC236}">
                <a16:creationId xmlns:a16="http://schemas.microsoft.com/office/drawing/2014/main" id="{2CFFC0EE-98BD-47FF-9D32-EAB055483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1627188"/>
            <a:ext cx="3733800" cy="3305175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This grammar is slightly larger</a:t>
            </a:r>
          </a:p>
          <a:p>
            <a:pPr marL="171450" indent="-171450" eaLnBrk="0" hangingPunct="0">
              <a:spcBef>
                <a:spcPct val="30000"/>
              </a:spcBef>
              <a:buClr>
                <a:srgbClr val="003C75"/>
              </a:buClr>
              <a:buSzPct val="120000"/>
              <a:buFontTx/>
              <a:buChar char="•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Takes more rewriting to reach some of the terminal symbols</a:t>
            </a:r>
          </a:p>
          <a:p>
            <a:pPr marL="171450" indent="-171450" eaLnBrk="0" hangingPunct="0">
              <a:spcBef>
                <a:spcPct val="30000"/>
              </a:spcBef>
              <a:buClr>
                <a:srgbClr val="003C75"/>
              </a:buClr>
              <a:buSzPct val="120000"/>
              <a:buFontTx/>
              <a:buChar char="•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Encodes expected precedence</a:t>
            </a:r>
          </a:p>
          <a:p>
            <a:pPr marL="171450" indent="-171450" eaLnBrk="0" hangingPunct="0">
              <a:spcBef>
                <a:spcPct val="30000"/>
              </a:spcBef>
              <a:buClr>
                <a:srgbClr val="003C75"/>
              </a:buClr>
              <a:buSzPct val="120000"/>
              <a:buFontTx/>
              <a:buChar char="•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Produces same parse tree under leftmost &amp; rightmost derivations</a:t>
            </a:r>
          </a:p>
          <a:p>
            <a:pPr marL="171450" indent="-171450" eaLnBrk="0" hangingPunct="0">
              <a:lnSpc>
                <a:spcPct val="110000"/>
              </a:lnSpc>
              <a:buClr>
                <a:srgbClr val="003C75"/>
              </a:buClr>
              <a:buSzPct val="100000"/>
              <a:buFont typeface="Arial"/>
              <a:buChar char="•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Correctness trumps the speed of the parser</a:t>
            </a:r>
          </a:p>
          <a:p>
            <a:pPr eaLnBrk="0" hangingPunct="0">
              <a:spcBef>
                <a:spcPct val="50000"/>
              </a:spcBef>
              <a:buClr>
                <a:srgbClr val="0000CC"/>
              </a:buClr>
              <a:buSzPct val="120000"/>
              <a:defRPr/>
            </a:pPr>
            <a:r>
              <a:rPr lang="en-US" i="1" dirty="0">
                <a:latin typeface="Comic Sans MS" charset="0"/>
                <a:ea typeface="ヒラギノ角ゴ Pro W3" charset="-128"/>
                <a:cs typeface="ヒラギノ角ゴ Pro W3" charset="-128"/>
              </a:rPr>
              <a:t>Let’s see how it parses  </a:t>
            </a:r>
            <a:r>
              <a:rPr lang="en-US" i="1" dirty="0" err="1">
                <a:latin typeface="Comic Sans MS" charset="0"/>
                <a:ea typeface="ヒラギノ角ゴ Pro W3" charset="-128"/>
                <a:cs typeface="ヒラギノ角ゴ Pro W3" charset="-128"/>
              </a:rPr>
              <a:t>x</a:t>
            </a:r>
            <a:r>
              <a:rPr lang="en-US" i="1" dirty="0">
                <a:latin typeface="Comic Sans MS" charset="0"/>
                <a:ea typeface="ヒラギノ角ゴ Pro W3" charset="-128"/>
                <a:cs typeface="ヒラギノ角ゴ Pro W3" charset="-128"/>
              </a:rPr>
              <a:t> - 2 * </a:t>
            </a:r>
            <a:r>
              <a:rPr lang="en-US" i="1" dirty="0" err="1">
                <a:latin typeface="Comic Sans MS" charset="0"/>
                <a:ea typeface="ヒラギノ角ゴ Pro W3" charset="-128"/>
                <a:cs typeface="ヒラギノ角ゴ Pro W3" charset="-128"/>
              </a:rPr>
              <a:t>y</a:t>
            </a:r>
            <a:endParaRPr lang="en-US" dirty="0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45103" name="AutoShape 8">
            <a:extLst>
              <a:ext uri="{FF2B5EF4-FFF2-40B4-BE49-F238E27FC236}">
                <a16:creationId xmlns:a16="http://schemas.microsoft.com/office/drawing/2014/main" id="{10BF4600-BF0B-4FBE-A1A4-45B669BB0DE0}"/>
              </a:ext>
            </a:extLst>
          </p:cNvPr>
          <p:cNvSpPr>
            <a:spLocks/>
          </p:cNvSpPr>
          <p:nvPr/>
        </p:nvSpPr>
        <p:spPr bwMode="auto">
          <a:xfrm>
            <a:off x="685800" y="2916238"/>
            <a:ext cx="228600" cy="838200"/>
          </a:xfrm>
          <a:prstGeom prst="leftBrace">
            <a:avLst>
              <a:gd name="adj1" fmla="val 30556"/>
              <a:gd name="adj2" fmla="val 50000"/>
            </a:avLst>
          </a:prstGeom>
          <a:noFill/>
          <a:ln w="28575">
            <a:solidFill>
              <a:srgbClr val="003C7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45104" name="Text Box 9">
            <a:extLst>
              <a:ext uri="{FF2B5EF4-FFF2-40B4-BE49-F238E27FC236}">
                <a16:creationId xmlns:a16="http://schemas.microsoft.com/office/drawing/2014/main" id="{5D905853-BD58-4B2D-AA92-B778F1E0A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6200" y="3014663"/>
            <a:ext cx="914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i="1">
                <a:solidFill>
                  <a:srgbClr val="003C75"/>
                </a:solidFill>
              </a:rPr>
              <a:t>level</a:t>
            </a:r>
          </a:p>
          <a:p>
            <a:pPr algn="ctr"/>
            <a:r>
              <a:rPr lang="en-US" altLang="it-IT" i="1">
                <a:solidFill>
                  <a:srgbClr val="003C75"/>
                </a:solidFill>
              </a:rPr>
              <a:t>2</a:t>
            </a:r>
          </a:p>
        </p:txBody>
      </p:sp>
      <p:sp>
        <p:nvSpPr>
          <p:cNvPr id="45105" name="AutoShape 11">
            <a:extLst>
              <a:ext uri="{FF2B5EF4-FFF2-40B4-BE49-F238E27FC236}">
                <a16:creationId xmlns:a16="http://schemas.microsoft.com/office/drawing/2014/main" id="{0A695B68-1FD7-4975-9772-219BC8F2031B}"/>
              </a:ext>
            </a:extLst>
          </p:cNvPr>
          <p:cNvSpPr>
            <a:spLocks/>
          </p:cNvSpPr>
          <p:nvPr/>
        </p:nvSpPr>
        <p:spPr bwMode="auto">
          <a:xfrm>
            <a:off x="685800" y="1957388"/>
            <a:ext cx="228600" cy="838200"/>
          </a:xfrm>
          <a:prstGeom prst="leftBrace">
            <a:avLst>
              <a:gd name="adj1" fmla="val 30556"/>
              <a:gd name="adj2" fmla="val 50000"/>
            </a:avLst>
          </a:prstGeom>
          <a:noFill/>
          <a:ln w="28575">
            <a:solidFill>
              <a:srgbClr val="003C7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45106" name="Text Box 12">
            <a:extLst>
              <a:ext uri="{FF2B5EF4-FFF2-40B4-BE49-F238E27FC236}">
                <a16:creationId xmlns:a16="http://schemas.microsoft.com/office/drawing/2014/main" id="{A7D04B45-06FE-49DA-A106-38739CF7C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6200" y="2055813"/>
            <a:ext cx="914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i="1">
                <a:solidFill>
                  <a:srgbClr val="003C75"/>
                </a:solidFill>
              </a:rPr>
              <a:t>level</a:t>
            </a:r>
          </a:p>
          <a:p>
            <a:pPr algn="ctr"/>
            <a:r>
              <a:rPr lang="en-US" altLang="it-IT" i="1">
                <a:solidFill>
                  <a:srgbClr val="003C75"/>
                </a:solidFill>
              </a:rPr>
              <a:t>3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3C0C253-6C3A-488F-8A6D-EA4FE1B96E4D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3971925"/>
            <a:ext cx="7010400" cy="1895475"/>
            <a:chOff x="1066800" y="3971416"/>
            <a:chExt cx="7010400" cy="1895984"/>
          </a:xfrm>
        </p:grpSpPr>
        <p:sp>
          <p:nvSpPr>
            <p:cNvPr id="45111" name="Text Box 18">
              <a:extLst>
                <a:ext uri="{FF2B5EF4-FFF2-40B4-BE49-F238E27FC236}">
                  <a16:creationId xmlns:a16="http://schemas.microsoft.com/office/drawing/2014/main" id="{3ACD1060-0399-4A0A-8796-47BF855B2B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800" y="5181600"/>
              <a:ext cx="3124200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>
                  <a:solidFill>
                    <a:srgbClr val="003C75"/>
                  </a:solidFill>
                </a:rPr>
                <a:t>Cannot handle precedence in an RE for expressions</a:t>
              </a:r>
            </a:p>
          </p:txBody>
        </p:sp>
        <p:grpSp>
          <p:nvGrpSpPr>
            <p:cNvPr id="45112" name="Group 19">
              <a:extLst>
                <a:ext uri="{FF2B5EF4-FFF2-40B4-BE49-F238E27FC236}">
                  <a16:creationId xmlns:a16="http://schemas.microsoft.com/office/drawing/2014/main" id="{9401B70E-B950-48BE-B5E3-A4E700249B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97347" y="3971416"/>
              <a:ext cx="4579853" cy="1895984"/>
              <a:chOff x="3497347" y="3971416"/>
              <a:chExt cx="4579853" cy="1895984"/>
            </a:xfrm>
          </p:grpSpPr>
          <p:sp>
            <p:nvSpPr>
              <p:cNvPr id="45113" name="Text Box 14">
                <a:extLst>
                  <a:ext uri="{FF2B5EF4-FFF2-40B4-BE49-F238E27FC236}">
                    <a16:creationId xmlns:a16="http://schemas.microsoft.com/office/drawing/2014/main" id="{7D256B8A-8614-4E8D-949D-6393882DE3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8200" y="5181600"/>
                <a:ext cx="3429000" cy="62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it-IT">
                    <a:solidFill>
                      <a:srgbClr val="003C75"/>
                    </a:solidFill>
                  </a:rPr>
                  <a:t>Introduced parentheses, too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it-IT">
                    <a:solidFill>
                      <a:srgbClr val="003C75"/>
                    </a:solidFill>
                  </a:rPr>
                  <a:t>(beyond power of an RE)</a:t>
                </a:r>
              </a:p>
            </p:txBody>
          </p:sp>
          <p:sp>
            <p:nvSpPr>
              <p:cNvPr id="45114" name="Line 15">
                <a:extLst>
                  <a:ext uri="{FF2B5EF4-FFF2-40B4-BE49-F238E27FC236}">
                    <a16:creationId xmlns:a16="http://schemas.microsoft.com/office/drawing/2014/main" id="{CB94B313-6229-489E-8969-FC1A89510F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48200" y="5181600"/>
                <a:ext cx="0" cy="685800"/>
              </a:xfrm>
              <a:prstGeom prst="line">
                <a:avLst/>
              </a:prstGeom>
              <a:noFill/>
              <a:ln w="28575">
                <a:solidFill>
                  <a:srgbClr val="003C7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45115" name="Freeform 18">
                <a:extLst>
                  <a:ext uri="{FF2B5EF4-FFF2-40B4-BE49-F238E27FC236}">
                    <a16:creationId xmlns:a16="http://schemas.microsoft.com/office/drawing/2014/main" id="{20D06745-55F0-4793-9FEE-07F783D062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7347" y="3971416"/>
                <a:ext cx="1138905" cy="1431322"/>
              </a:xfrm>
              <a:custGeom>
                <a:avLst/>
                <a:gdLst>
                  <a:gd name="T0" fmla="*/ 1138905 w 1138905"/>
                  <a:gd name="T1" fmla="*/ 1431322 h 1431322"/>
                  <a:gd name="T2" fmla="*/ 151182 w 1138905"/>
                  <a:gd name="T3" fmla="*/ 594704 h 1431322"/>
                  <a:gd name="T4" fmla="*/ 534177 w 1138905"/>
                  <a:gd name="T5" fmla="*/ 473747 h 1431322"/>
                  <a:gd name="T6" fmla="*/ 272128 w 1138905"/>
                  <a:gd name="T7" fmla="*/ 151196 h 1431322"/>
                  <a:gd name="T8" fmla="*/ 0 w 1138905"/>
                  <a:gd name="T9" fmla="*/ 0 h 14313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38905"/>
                  <a:gd name="T16" fmla="*/ 0 h 1431322"/>
                  <a:gd name="T17" fmla="*/ 1138905 w 1138905"/>
                  <a:gd name="T18" fmla="*/ 1431322 h 143132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38905" h="1431322">
                    <a:moveTo>
                      <a:pt x="1138905" y="1431322"/>
                    </a:moveTo>
                    <a:cubicBezTo>
                      <a:pt x="695437" y="1092811"/>
                      <a:pt x="251970" y="754300"/>
                      <a:pt x="151182" y="594704"/>
                    </a:cubicBezTo>
                    <a:cubicBezTo>
                      <a:pt x="50394" y="435108"/>
                      <a:pt x="514019" y="547665"/>
                      <a:pt x="534177" y="473747"/>
                    </a:cubicBezTo>
                    <a:cubicBezTo>
                      <a:pt x="554335" y="399829"/>
                      <a:pt x="361157" y="230154"/>
                      <a:pt x="272128" y="151196"/>
                    </a:cubicBezTo>
                    <a:cubicBezTo>
                      <a:pt x="183099" y="72238"/>
                      <a:pt x="0" y="0"/>
                      <a:pt x="0" y="0"/>
                    </a:cubicBezTo>
                  </a:path>
                </a:pathLst>
              </a:custGeom>
              <a:noFill/>
              <a:ln w="6350" algn="ctr">
                <a:solidFill>
                  <a:srgbClr val="003C75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</p:grpSp>
      </p:grpSp>
      <p:sp>
        <p:nvSpPr>
          <p:cNvPr id="45108" name="AutoShape 8">
            <a:extLst>
              <a:ext uri="{FF2B5EF4-FFF2-40B4-BE49-F238E27FC236}">
                <a16:creationId xmlns:a16="http://schemas.microsoft.com/office/drawing/2014/main" id="{8801FDAB-99D9-41DC-BDCA-1503D61EB350}"/>
              </a:ext>
            </a:extLst>
          </p:cNvPr>
          <p:cNvSpPr>
            <a:spLocks/>
          </p:cNvSpPr>
          <p:nvPr/>
        </p:nvSpPr>
        <p:spPr bwMode="auto">
          <a:xfrm>
            <a:off x="685800" y="3830638"/>
            <a:ext cx="228600" cy="838200"/>
          </a:xfrm>
          <a:prstGeom prst="leftBrace">
            <a:avLst>
              <a:gd name="adj1" fmla="val 30556"/>
              <a:gd name="adj2" fmla="val 50000"/>
            </a:avLst>
          </a:prstGeom>
          <a:noFill/>
          <a:ln w="28575">
            <a:solidFill>
              <a:srgbClr val="003C7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45109" name="Text Box 9">
            <a:extLst>
              <a:ext uri="{FF2B5EF4-FFF2-40B4-BE49-F238E27FC236}">
                <a16:creationId xmlns:a16="http://schemas.microsoft.com/office/drawing/2014/main" id="{FF866FC3-CEF7-4A3E-B7E6-A393F86E5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6200" y="3929063"/>
            <a:ext cx="914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i="1">
                <a:solidFill>
                  <a:srgbClr val="003C75"/>
                </a:solidFill>
              </a:rPr>
              <a:t>level</a:t>
            </a:r>
          </a:p>
          <a:p>
            <a:pPr algn="ctr"/>
            <a:r>
              <a:rPr lang="en-US" altLang="it-IT" i="1">
                <a:solidFill>
                  <a:srgbClr val="003C75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DA6C28-7BF6-4361-9D58-E48D8888DB15}"/>
              </a:ext>
            </a:extLst>
          </p:cNvPr>
          <p:cNvSpPr txBox="1"/>
          <p:nvPr/>
        </p:nvSpPr>
        <p:spPr>
          <a:xfrm>
            <a:off x="4114800" y="6248400"/>
            <a:ext cx="4038600" cy="3079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One form of the “classic expression grammar”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Footer Placeholder 1">
            <a:extLst>
              <a:ext uri="{FF2B5EF4-FFF2-40B4-BE49-F238E27FC236}">
                <a16:creationId xmlns:a16="http://schemas.microsoft.com/office/drawing/2014/main" id="{C9F1D919-C0C1-4ED3-8CB7-2A8C398308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7106" name="Slide Number Placeholder 2">
            <a:extLst>
              <a:ext uri="{FF2B5EF4-FFF2-40B4-BE49-F238E27FC236}">
                <a16:creationId xmlns:a16="http://schemas.microsoft.com/office/drawing/2014/main" id="{1A9CB795-11D6-4E23-B248-974E1EDE28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333320D-7194-40B5-85C5-06412095FD60}" type="slidenum">
              <a:rPr lang="en-US" altLang="it-IT"/>
              <a:pPr/>
              <a:t>16</a:t>
            </a:fld>
            <a:endParaRPr lang="en-US" altLang="it-IT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D2F332BF-E544-407B-8958-400302665DE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>
                <a:sym typeface="Symbol" panose="05050102010706020507" pitchFamily="18" charset="2"/>
              </a:rPr>
              <a:t>Derivations and Precedence</a:t>
            </a:r>
          </a:p>
        </p:txBody>
      </p:sp>
      <p:sp>
        <p:nvSpPr>
          <p:cNvPr id="47108" name="Text Box 4">
            <a:extLst>
              <a:ext uri="{FF2B5EF4-FFF2-40B4-BE49-F238E27FC236}">
                <a16:creationId xmlns:a16="http://schemas.microsoft.com/office/drawing/2014/main" id="{C9B94073-406D-4272-85B6-714CB0D73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50" y="4541838"/>
            <a:ext cx="2895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i="1"/>
              <a:t>The rightmost derivation</a:t>
            </a:r>
            <a:endParaRPr lang="en-US" altLang="it-IT"/>
          </a:p>
        </p:txBody>
      </p:sp>
      <p:sp>
        <p:nvSpPr>
          <p:cNvPr id="47109" name="Text Box 5">
            <a:extLst>
              <a:ext uri="{FF2B5EF4-FFF2-40B4-BE49-F238E27FC236}">
                <a16:creationId xmlns:a16="http://schemas.microsoft.com/office/drawing/2014/main" id="{DB3C1E9C-C9F2-4248-8D8D-92FD15EC1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334000"/>
            <a:ext cx="77724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it-IT" sz="1600">
                <a:solidFill>
                  <a:srgbClr val="003C75"/>
                </a:solidFill>
              </a:rPr>
              <a:t>It derives </a:t>
            </a:r>
            <a:r>
              <a:rPr lang="en-US" altLang="it-IT" sz="1600" u="sng">
                <a:solidFill>
                  <a:srgbClr val="003C75"/>
                </a:solidFill>
              </a:rPr>
              <a:t>x</a:t>
            </a:r>
            <a:r>
              <a:rPr lang="en-US" altLang="it-IT" sz="1600">
                <a:solidFill>
                  <a:srgbClr val="003C75"/>
                </a:solidFill>
              </a:rPr>
              <a:t> – ( </a:t>
            </a:r>
            <a:r>
              <a:rPr lang="en-US" altLang="it-IT" sz="1600" u="sng">
                <a:solidFill>
                  <a:srgbClr val="003C75"/>
                </a:solidFill>
              </a:rPr>
              <a:t>2</a:t>
            </a:r>
            <a:r>
              <a:rPr lang="en-US" altLang="it-IT" sz="1600">
                <a:solidFill>
                  <a:srgbClr val="003C75"/>
                </a:solidFill>
              </a:rPr>
              <a:t> * </a:t>
            </a:r>
            <a:r>
              <a:rPr lang="en-US" altLang="it-IT" sz="1600" u="sng">
                <a:solidFill>
                  <a:srgbClr val="003C75"/>
                </a:solidFill>
              </a:rPr>
              <a:t>y </a:t>
            </a:r>
            <a:r>
              <a:rPr lang="en-US" altLang="it-IT" sz="1600">
                <a:solidFill>
                  <a:srgbClr val="003C75"/>
                </a:solidFill>
              </a:rPr>
              <a:t>), along with an appropriate parse tree.</a:t>
            </a:r>
          </a:p>
          <a:p>
            <a:pPr>
              <a:lnSpc>
                <a:spcPct val="95000"/>
              </a:lnSpc>
              <a:spcBef>
                <a:spcPct val="30000"/>
              </a:spcBef>
            </a:pPr>
            <a:r>
              <a:rPr lang="en-US" altLang="it-IT" sz="1600">
                <a:solidFill>
                  <a:srgbClr val="003C75"/>
                </a:solidFill>
              </a:rPr>
              <a:t>Both the leftmost and rightmost derivations give the same expression, because the grammar directly and explicitly encodes the desired precedence.</a:t>
            </a:r>
          </a:p>
        </p:txBody>
      </p:sp>
      <p:grpSp>
        <p:nvGrpSpPr>
          <p:cNvPr id="47110" name="Group 6">
            <a:extLst>
              <a:ext uri="{FF2B5EF4-FFF2-40B4-BE49-F238E27FC236}">
                <a16:creationId xmlns:a16="http://schemas.microsoft.com/office/drawing/2014/main" id="{ADE6D1D2-5910-4C78-B774-F93D575469E9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1219200"/>
            <a:ext cx="2930525" cy="3005138"/>
            <a:chOff x="2885" y="864"/>
            <a:chExt cx="1846" cy="1893"/>
          </a:xfrm>
        </p:grpSpPr>
        <p:sp>
          <p:nvSpPr>
            <p:cNvPr id="47138" name="Oval 7">
              <a:extLst>
                <a:ext uri="{FF2B5EF4-FFF2-40B4-BE49-F238E27FC236}">
                  <a16:creationId xmlns:a16="http://schemas.microsoft.com/office/drawing/2014/main" id="{E5DB05EC-FB63-4E67-B1C5-4AB8AEE0A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864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/>
                <a:t>G</a:t>
              </a:r>
              <a:endParaRPr lang="en-US" altLang="it-IT" sz="1600" i="1"/>
            </a:p>
          </p:txBody>
        </p:sp>
        <p:sp>
          <p:nvSpPr>
            <p:cNvPr id="47139" name="Oval 8">
              <a:extLst>
                <a:ext uri="{FF2B5EF4-FFF2-40B4-BE49-F238E27FC236}">
                  <a16:creationId xmlns:a16="http://schemas.microsoft.com/office/drawing/2014/main" id="{E3844686-D767-48BB-8C9D-62C2EE966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20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/>
                <a:t>E</a:t>
              </a:r>
              <a:endParaRPr lang="en-US" altLang="it-IT" sz="1600" i="1"/>
            </a:p>
          </p:txBody>
        </p:sp>
        <p:sp>
          <p:nvSpPr>
            <p:cNvPr id="47140" name="Oval 9">
              <a:extLst>
                <a:ext uri="{FF2B5EF4-FFF2-40B4-BE49-F238E27FC236}">
                  <a16:creationId xmlns:a16="http://schemas.microsoft.com/office/drawing/2014/main" id="{4BE3369B-15A7-4E81-851B-7D3897837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536"/>
              <a:ext cx="192" cy="192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>
                  <a:solidFill>
                    <a:srgbClr val="FF0065"/>
                  </a:solidFill>
                </a:rPr>
                <a:t>–</a:t>
              </a:r>
              <a:endParaRPr lang="en-US" altLang="it-IT" sz="1600"/>
            </a:p>
          </p:txBody>
        </p:sp>
        <p:sp>
          <p:nvSpPr>
            <p:cNvPr id="47141" name="Line 10">
              <a:extLst>
                <a:ext uri="{FF2B5EF4-FFF2-40B4-BE49-F238E27FC236}">
                  <a16:creationId xmlns:a16="http://schemas.microsoft.com/office/drawing/2014/main" id="{02EBBA32-E574-46DC-A1F5-D3E76B3E0D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0" y="1060"/>
              <a:ext cx="0" cy="1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7142" name="Oval 11">
              <a:extLst>
                <a:ext uri="{FF2B5EF4-FFF2-40B4-BE49-F238E27FC236}">
                  <a16:creationId xmlns:a16="http://schemas.microsoft.com/office/drawing/2014/main" id="{3E211927-90A2-489B-AB79-94F326962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536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/>
                <a:t>E</a:t>
              </a:r>
              <a:endParaRPr lang="en-US" altLang="it-IT" sz="1600" i="1"/>
            </a:p>
          </p:txBody>
        </p:sp>
        <p:sp>
          <p:nvSpPr>
            <p:cNvPr id="47143" name="Line 12">
              <a:extLst>
                <a:ext uri="{FF2B5EF4-FFF2-40B4-BE49-F238E27FC236}">
                  <a16:creationId xmlns:a16="http://schemas.microsoft.com/office/drawing/2014/main" id="{67853BA6-C621-48B6-AE0A-FF8F28CF57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728"/>
              <a:ext cx="0" cy="1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7144" name="Oval 13">
              <a:extLst>
                <a:ext uri="{FF2B5EF4-FFF2-40B4-BE49-F238E27FC236}">
                  <a16:creationId xmlns:a16="http://schemas.microsoft.com/office/drawing/2014/main" id="{123C2E15-7365-4561-9419-01F0D8EF2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87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/>
                <a:t>T</a:t>
              </a:r>
              <a:endParaRPr lang="en-US" altLang="it-IT" sz="1600" i="1"/>
            </a:p>
          </p:txBody>
        </p:sp>
        <p:sp>
          <p:nvSpPr>
            <p:cNvPr id="47145" name="Oval 14">
              <a:extLst>
                <a:ext uri="{FF2B5EF4-FFF2-40B4-BE49-F238E27FC236}">
                  <a16:creationId xmlns:a16="http://schemas.microsoft.com/office/drawing/2014/main" id="{BECCFA07-7260-48BD-A8F3-5C8FDADB8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208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/>
                <a:t>F</a:t>
              </a:r>
              <a:endParaRPr lang="en-US" altLang="it-IT" sz="1600" i="1"/>
            </a:p>
          </p:txBody>
        </p:sp>
        <p:sp>
          <p:nvSpPr>
            <p:cNvPr id="47146" name="Line 15">
              <a:extLst>
                <a:ext uri="{FF2B5EF4-FFF2-40B4-BE49-F238E27FC236}">
                  <a16:creationId xmlns:a16="http://schemas.microsoft.com/office/drawing/2014/main" id="{1944E758-3707-48CB-A503-E41CBF7F32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064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7147" name="Line 16">
              <a:extLst>
                <a:ext uri="{FF2B5EF4-FFF2-40B4-BE49-F238E27FC236}">
                  <a16:creationId xmlns:a16="http://schemas.microsoft.com/office/drawing/2014/main" id="{223CFB20-E68D-4A38-87B7-DE04B59868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392"/>
              <a:ext cx="0" cy="1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7148" name="Line 17">
              <a:extLst>
                <a:ext uri="{FF2B5EF4-FFF2-40B4-BE49-F238E27FC236}">
                  <a16:creationId xmlns:a16="http://schemas.microsoft.com/office/drawing/2014/main" id="{F4A8014B-BA4F-4A63-9907-5D68F5F48B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95" y="1351"/>
              <a:ext cx="275" cy="2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7149" name="Line 18">
              <a:extLst>
                <a:ext uri="{FF2B5EF4-FFF2-40B4-BE49-F238E27FC236}">
                  <a16:creationId xmlns:a16="http://schemas.microsoft.com/office/drawing/2014/main" id="{A6BAB2FB-EB7F-4DDC-B60C-4EE5444870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0" y="1330"/>
              <a:ext cx="391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7150" name="Line 19">
              <a:extLst>
                <a:ext uri="{FF2B5EF4-FFF2-40B4-BE49-F238E27FC236}">
                  <a16:creationId xmlns:a16="http://schemas.microsoft.com/office/drawing/2014/main" id="{4726D9BC-8729-4D5D-962B-EEAE446CD1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400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7151" name="Text Box 20">
              <a:extLst>
                <a:ext uri="{FF2B5EF4-FFF2-40B4-BE49-F238E27FC236}">
                  <a16:creationId xmlns:a16="http://schemas.microsoft.com/office/drawing/2014/main" id="{47F17A43-3C8A-4500-B30E-38D128899F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5" y="2545"/>
              <a:ext cx="4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400"/>
                <a:t>&lt;</a:t>
              </a:r>
              <a:r>
                <a:rPr lang="en-US" altLang="it-IT" sz="1600"/>
                <a:t>id,</a:t>
              </a:r>
              <a:r>
                <a:rPr lang="en-US" altLang="it-IT" sz="1600" u="sng">
                  <a:solidFill>
                    <a:srgbClr val="FF0065"/>
                  </a:solidFill>
                </a:rPr>
                <a:t>x</a:t>
              </a:r>
              <a:r>
                <a:rPr lang="en-US" altLang="it-IT" sz="1400"/>
                <a:t>&gt;</a:t>
              </a:r>
              <a:endParaRPr lang="en-US" altLang="it-IT" sz="1600"/>
            </a:p>
          </p:txBody>
        </p:sp>
        <p:grpSp>
          <p:nvGrpSpPr>
            <p:cNvPr id="47152" name="Group 21">
              <a:extLst>
                <a:ext uri="{FF2B5EF4-FFF2-40B4-BE49-F238E27FC236}">
                  <a16:creationId xmlns:a16="http://schemas.microsoft.com/office/drawing/2014/main" id="{480F5567-1ECA-4693-A056-F18F83DD2F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1536"/>
              <a:ext cx="1323" cy="1221"/>
              <a:chOff x="3717" y="1536"/>
              <a:chExt cx="1323" cy="1221"/>
            </a:xfrm>
          </p:grpSpPr>
          <p:sp>
            <p:nvSpPr>
              <p:cNvPr id="47153" name="Oval 22">
                <a:extLst>
                  <a:ext uri="{FF2B5EF4-FFF2-40B4-BE49-F238E27FC236}">
                    <a16:creationId xmlns:a16="http://schemas.microsoft.com/office/drawing/2014/main" id="{5E94A4E5-EC72-4BDE-BF89-8F272CF14F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4" y="1536"/>
                <a:ext cx="192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 i="1"/>
                  <a:t>T</a:t>
                </a:r>
                <a:endParaRPr lang="en-US" altLang="it-IT" sz="1600" i="1"/>
              </a:p>
            </p:txBody>
          </p:sp>
          <p:sp>
            <p:nvSpPr>
              <p:cNvPr id="47154" name="Oval 23">
                <a:extLst>
                  <a:ext uri="{FF2B5EF4-FFF2-40B4-BE49-F238E27FC236}">
                    <a16:creationId xmlns:a16="http://schemas.microsoft.com/office/drawing/2014/main" id="{80163A65-759C-4FAD-8F32-38CA39D49F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1872"/>
                <a:ext cx="192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 i="1"/>
                  <a:t>T</a:t>
                </a:r>
                <a:endParaRPr lang="en-US" altLang="it-IT" sz="1600" i="1"/>
              </a:p>
            </p:txBody>
          </p:sp>
          <p:sp>
            <p:nvSpPr>
              <p:cNvPr id="47155" name="Oval 24">
                <a:extLst>
                  <a:ext uri="{FF2B5EF4-FFF2-40B4-BE49-F238E27FC236}">
                    <a16:creationId xmlns:a16="http://schemas.microsoft.com/office/drawing/2014/main" id="{A187AE6A-E679-4130-B3C7-67F03969B2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2208"/>
                <a:ext cx="192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 i="1"/>
                  <a:t>F</a:t>
                </a:r>
                <a:endParaRPr lang="en-US" altLang="it-IT" sz="1600" i="1"/>
              </a:p>
            </p:txBody>
          </p:sp>
          <p:sp>
            <p:nvSpPr>
              <p:cNvPr id="47156" name="Oval 25">
                <a:extLst>
                  <a:ext uri="{FF2B5EF4-FFF2-40B4-BE49-F238E27FC236}">
                    <a16:creationId xmlns:a16="http://schemas.microsoft.com/office/drawing/2014/main" id="{4C288F9E-4E7F-4694-B663-5CBA25040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1872"/>
                <a:ext cx="192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 i="1"/>
                  <a:t>F</a:t>
                </a:r>
                <a:endParaRPr lang="en-US" altLang="it-IT" sz="1600" i="1"/>
              </a:p>
            </p:txBody>
          </p:sp>
          <p:sp>
            <p:nvSpPr>
              <p:cNvPr id="47157" name="Oval 26">
                <a:extLst>
                  <a:ext uri="{FF2B5EF4-FFF2-40B4-BE49-F238E27FC236}">
                    <a16:creationId xmlns:a16="http://schemas.microsoft.com/office/drawing/2014/main" id="{B6008DB4-B5EC-4252-9B90-D2C19031A0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4" y="1872"/>
                <a:ext cx="192" cy="192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 i="1">
                    <a:solidFill>
                      <a:srgbClr val="FF0065"/>
                    </a:solidFill>
                  </a:rPr>
                  <a:t>*</a:t>
                </a:r>
                <a:endParaRPr lang="en-US" altLang="it-IT" sz="1600" i="1"/>
              </a:p>
            </p:txBody>
          </p:sp>
          <p:sp>
            <p:nvSpPr>
              <p:cNvPr id="47158" name="Line 27">
                <a:extLst>
                  <a:ext uri="{FF2B5EF4-FFF2-40B4-BE49-F238E27FC236}">
                    <a16:creationId xmlns:a16="http://schemas.microsoft.com/office/drawing/2014/main" id="{0DD38763-AA54-44C2-8849-17BEB7C795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40" y="1731"/>
                <a:ext cx="0" cy="1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47159" name="Line 28">
                <a:extLst>
                  <a:ext uri="{FF2B5EF4-FFF2-40B4-BE49-F238E27FC236}">
                    <a16:creationId xmlns:a16="http://schemas.microsoft.com/office/drawing/2014/main" id="{13686963-0EEA-4A16-976B-40B2AA62ED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59" y="1701"/>
                <a:ext cx="206" cy="2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47160" name="Line 29">
                <a:extLst>
                  <a:ext uri="{FF2B5EF4-FFF2-40B4-BE49-F238E27FC236}">
                    <a16:creationId xmlns:a16="http://schemas.microsoft.com/office/drawing/2014/main" id="{007FC52D-BB2F-49AB-A8CB-B74EE174A4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9" y="1690"/>
                <a:ext cx="207" cy="2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47161" name="Line 30">
                <a:extLst>
                  <a:ext uri="{FF2B5EF4-FFF2-40B4-BE49-F238E27FC236}">
                    <a16:creationId xmlns:a16="http://schemas.microsoft.com/office/drawing/2014/main" id="{3351B6DC-C88F-4B8D-A6C8-DACBCDA01A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064"/>
                <a:ext cx="0" cy="1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47162" name="Line 31">
                <a:extLst>
                  <a:ext uri="{FF2B5EF4-FFF2-40B4-BE49-F238E27FC236}">
                    <a16:creationId xmlns:a16="http://schemas.microsoft.com/office/drawing/2014/main" id="{2EFA806E-BFFE-4779-8DC7-CB7AC1ED32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0" y="2064"/>
                <a:ext cx="0" cy="1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47163" name="Line 32">
                <a:extLst>
                  <a:ext uri="{FF2B5EF4-FFF2-40B4-BE49-F238E27FC236}">
                    <a16:creationId xmlns:a16="http://schemas.microsoft.com/office/drawing/2014/main" id="{D37BF8B0-9280-43B1-8B43-C688D0A9BF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400"/>
                <a:ext cx="0" cy="1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47164" name="Text Box 33">
                <a:extLst>
                  <a:ext uri="{FF2B5EF4-FFF2-40B4-BE49-F238E27FC236}">
                    <a16:creationId xmlns:a16="http://schemas.microsoft.com/office/drawing/2014/main" id="{DAF03147-AF97-410D-A497-28BCEA2F42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17" y="2545"/>
                <a:ext cx="72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400"/>
                  <a:t>&lt;</a:t>
                </a:r>
                <a:r>
                  <a:rPr lang="en-US" altLang="it-IT" sz="1600"/>
                  <a:t>num,</a:t>
                </a:r>
                <a:r>
                  <a:rPr lang="en-US" altLang="it-IT" sz="1600" u="sng">
                    <a:solidFill>
                      <a:srgbClr val="FF0065"/>
                    </a:solidFill>
                  </a:rPr>
                  <a:t>2</a:t>
                </a:r>
                <a:r>
                  <a:rPr lang="en-US" altLang="it-IT" sz="1400"/>
                  <a:t>&gt;</a:t>
                </a:r>
                <a:endParaRPr lang="en-US" altLang="it-IT" sz="1600"/>
              </a:p>
            </p:txBody>
          </p:sp>
          <p:sp>
            <p:nvSpPr>
              <p:cNvPr id="47165" name="Text Box 34">
                <a:extLst>
                  <a:ext uri="{FF2B5EF4-FFF2-40B4-BE49-F238E27FC236}">
                    <a16:creationId xmlns:a16="http://schemas.microsoft.com/office/drawing/2014/main" id="{E03DD741-CDB2-4912-9E57-F54FAF36B6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2219"/>
                <a:ext cx="4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400"/>
                  <a:t>&lt;</a:t>
                </a:r>
                <a:r>
                  <a:rPr lang="en-US" altLang="it-IT" sz="1600"/>
                  <a:t>id,</a:t>
                </a:r>
                <a:r>
                  <a:rPr lang="en-US" altLang="it-IT" sz="1600" u="sng">
                    <a:solidFill>
                      <a:srgbClr val="FF0065"/>
                    </a:solidFill>
                  </a:rPr>
                  <a:t>y</a:t>
                </a:r>
                <a:r>
                  <a:rPr lang="en-US" altLang="it-IT" sz="1400"/>
                  <a:t>&gt;</a:t>
                </a:r>
                <a:endParaRPr lang="en-US" altLang="it-IT" sz="1600"/>
              </a:p>
            </p:txBody>
          </p:sp>
        </p:grpSp>
      </p:grpSp>
      <p:sp>
        <p:nvSpPr>
          <p:cNvPr id="47111" name="Text Box 35">
            <a:extLst>
              <a:ext uri="{FF2B5EF4-FFF2-40B4-BE49-F238E27FC236}">
                <a16:creationId xmlns:a16="http://schemas.microsoft.com/office/drawing/2014/main" id="{46DD36B9-BEBC-4DD5-9579-86CE97638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9063" y="4419600"/>
            <a:ext cx="2895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i="1"/>
              <a:t>Its parse tree</a:t>
            </a:r>
            <a:endParaRPr lang="en-US" altLang="it-IT"/>
          </a:p>
        </p:txBody>
      </p:sp>
      <p:graphicFrame>
        <p:nvGraphicFramePr>
          <p:cNvPr id="29834" name="Group 138">
            <a:extLst>
              <a:ext uri="{FF2B5EF4-FFF2-40B4-BE49-F238E27FC236}">
                <a16:creationId xmlns:a16="http://schemas.microsoft.com/office/drawing/2014/main" id="{82F85319-271F-4412-AE97-584D78937FC2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1295400"/>
          <a:ext cx="3429000" cy="3200404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Rule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Sentential Form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Factor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&lt;num,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3">
            <a:extLst>
              <a:ext uri="{FF2B5EF4-FFF2-40B4-BE49-F238E27FC236}">
                <a16:creationId xmlns:a16="http://schemas.microsoft.com/office/drawing/2014/main" id="{04113B14-CFF2-4015-8AC1-5B0960148AF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066800"/>
            <a:ext cx="8077200" cy="49530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Let’s leap back to our original expression grammar.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It had other problems.</a:t>
            </a:r>
          </a:p>
          <a:p>
            <a:pPr eaLnBrk="1" hangingPunct="1">
              <a:spcBef>
                <a:spcPct val="950000"/>
              </a:spcBef>
            </a:pPr>
            <a:endParaRPr lang="en-US" altLang="it-IT"/>
          </a:p>
          <a:p>
            <a:pPr eaLnBrk="1" hangingPunct="1"/>
            <a:r>
              <a:rPr lang="en-US" altLang="it-IT"/>
              <a:t>This grammar allows multiple leftmost derivations for </a:t>
            </a:r>
            <a:r>
              <a:rPr lang="en-US" altLang="it-IT" u="sng"/>
              <a:t>x</a:t>
            </a:r>
            <a:r>
              <a:rPr lang="en-US" altLang="it-IT"/>
              <a:t> - </a:t>
            </a:r>
            <a:r>
              <a:rPr lang="en-US" altLang="it-IT" u="sng"/>
              <a:t>2</a:t>
            </a:r>
            <a:r>
              <a:rPr lang="en-US" altLang="it-IT"/>
              <a:t> * </a:t>
            </a:r>
            <a:r>
              <a:rPr lang="en-US" altLang="it-IT" u="sng"/>
              <a:t>y</a:t>
            </a:r>
            <a:r>
              <a:rPr lang="en-US" altLang="it-IT"/>
              <a:t> 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/>
              <a:t>Hard to automate derivation if &gt; 1 choice 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/>
              <a:t>The grammar is </a:t>
            </a:r>
            <a:r>
              <a:rPr lang="en-US" altLang="it-IT" i="1">
                <a:solidFill>
                  <a:srgbClr val="FF0065"/>
                </a:solidFill>
              </a:rPr>
              <a:t>ambiguous</a:t>
            </a:r>
            <a:endParaRPr lang="en-US" altLang="it-IT"/>
          </a:p>
        </p:txBody>
      </p:sp>
      <p:sp>
        <p:nvSpPr>
          <p:cNvPr id="49154" name="Footer Placeholder 1">
            <a:extLst>
              <a:ext uri="{FF2B5EF4-FFF2-40B4-BE49-F238E27FC236}">
                <a16:creationId xmlns:a16="http://schemas.microsoft.com/office/drawing/2014/main" id="{92E32664-6479-4394-8A25-2A72299F09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9155" name="Slide Number Placeholder 2">
            <a:extLst>
              <a:ext uri="{FF2B5EF4-FFF2-40B4-BE49-F238E27FC236}">
                <a16:creationId xmlns:a16="http://schemas.microsoft.com/office/drawing/2014/main" id="{90B3DE66-54F2-47D3-9F6F-4B87F7B3D2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09D424B-F971-44DD-BD9C-B4A00FFD7BE2}" type="slidenum">
              <a:rPr lang="en-US" altLang="it-IT"/>
              <a:pPr/>
              <a:t>17</a:t>
            </a:fld>
            <a:endParaRPr lang="en-US" altLang="it-IT"/>
          </a:p>
        </p:txBody>
      </p:sp>
      <p:sp>
        <p:nvSpPr>
          <p:cNvPr id="49156" name="Rectangle 2">
            <a:extLst>
              <a:ext uri="{FF2B5EF4-FFF2-40B4-BE49-F238E27FC236}">
                <a16:creationId xmlns:a16="http://schemas.microsoft.com/office/drawing/2014/main" id="{BA47CB3F-B9C2-4AA8-86E0-CDD73B60FB3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Ambiguous Grammars</a:t>
            </a:r>
          </a:p>
        </p:txBody>
      </p:sp>
      <p:graphicFrame>
        <p:nvGraphicFramePr>
          <p:cNvPr id="31752" name="Group 8">
            <a:extLst>
              <a:ext uri="{FF2B5EF4-FFF2-40B4-BE49-F238E27FC236}">
                <a16:creationId xmlns:a16="http://schemas.microsoft.com/office/drawing/2014/main" id="{D0B0B92E-9C29-4A70-B1F1-E2CED398251F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2174875"/>
          <a:ext cx="3048000" cy="23368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Op Expr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Op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/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1803" name="Group 59">
            <a:extLst>
              <a:ext uri="{FF2B5EF4-FFF2-40B4-BE49-F238E27FC236}">
                <a16:creationId xmlns:a16="http://schemas.microsoft.com/office/drawing/2014/main" id="{4EC6A5AE-9F99-4E89-86D2-480CD3AD645E}"/>
              </a:ext>
            </a:extLst>
          </p:cNvPr>
          <p:cNvGraphicFramePr>
            <a:graphicFrameLocks noGrp="1"/>
          </p:cNvGraphicFramePr>
          <p:nvPr/>
        </p:nvGraphicFramePr>
        <p:xfrm>
          <a:off x="4953000" y="1920875"/>
          <a:ext cx="3276600" cy="2684679"/>
        </p:xfrm>
        <a:graphic>
          <a:graphicData uri="http://schemas.openxmlformats.org/drawingml/2006/table">
            <a:tbl>
              <a:tblPr/>
              <a:tblGrid>
                <a:gridCol w="690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6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4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Rule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Sentential Form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1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Expr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1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9208" name="Oval 6">
            <a:extLst>
              <a:ext uri="{FF2B5EF4-FFF2-40B4-BE49-F238E27FC236}">
                <a16:creationId xmlns:a16="http://schemas.microsoft.com/office/drawing/2014/main" id="{7DDCE054-E5DB-48C5-BB68-AA4A83B0F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824163"/>
            <a:ext cx="228600" cy="228600"/>
          </a:xfrm>
          <a:prstGeom prst="ellipse">
            <a:avLst/>
          </a:prstGeom>
          <a:noFill/>
          <a:ln w="12700">
            <a:solidFill>
              <a:srgbClr val="003C7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>
              <a:solidFill>
                <a:srgbClr val="003C75"/>
              </a:solidFill>
            </a:endParaRPr>
          </a:p>
        </p:txBody>
      </p:sp>
      <p:sp>
        <p:nvSpPr>
          <p:cNvPr id="49209" name="AutoShape 7">
            <a:extLst>
              <a:ext uri="{FF2B5EF4-FFF2-40B4-BE49-F238E27FC236}">
                <a16:creationId xmlns:a16="http://schemas.microsoft.com/office/drawing/2014/main" id="{FA9568F1-B558-4F19-8AC1-CD35FF2C546B}"/>
              </a:ext>
            </a:extLst>
          </p:cNvPr>
          <p:cNvSpPr>
            <a:spLocks/>
          </p:cNvSpPr>
          <p:nvPr/>
        </p:nvSpPr>
        <p:spPr bwMode="auto">
          <a:xfrm>
            <a:off x="6705600" y="5578475"/>
            <a:ext cx="2028825" cy="593725"/>
          </a:xfrm>
          <a:prstGeom prst="accentBorderCallout1">
            <a:avLst>
              <a:gd name="adj1" fmla="val 19356"/>
              <a:gd name="adj2" fmla="val -3755"/>
              <a:gd name="adj3" fmla="val -428495"/>
              <a:gd name="adj4" fmla="val -66824"/>
            </a:avLst>
          </a:prstGeom>
          <a:noFill/>
          <a:ln w="12700">
            <a:solidFill>
              <a:srgbClr val="003C7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600">
                <a:solidFill>
                  <a:srgbClr val="003C75"/>
                </a:solidFill>
              </a:rPr>
              <a:t>Different choice than the first time</a:t>
            </a:r>
          </a:p>
        </p:txBody>
      </p:sp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Footer Placeholder 3">
            <a:extLst>
              <a:ext uri="{FF2B5EF4-FFF2-40B4-BE49-F238E27FC236}">
                <a16:creationId xmlns:a16="http://schemas.microsoft.com/office/drawing/2014/main" id="{35042A0B-CB32-4220-9807-91827EA30F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1202" name="Slide Number Placeholder 4">
            <a:extLst>
              <a:ext uri="{FF2B5EF4-FFF2-40B4-BE49-F238E27FC236}">
                <a16:creationId xmlns:a16="http://schemas.microsoft.com/office/drawing/2014/main" id="{76483C53-1CA4-4876-AE1F-4DACF1F3FC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EFD78B7-A172-4411-8EBB-822C236517F8}" type="slidenum">
              <a:rPr lang="en-US" altLang="it-IT"/>
              <a:pPr/>
              <a:t>18</a:t>
            </a:fld>
            <a:endParaRPr lang="en-US" altLang="it-IT"/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4AD8EEE3-734D-4D02-9B37-9F0DDEAD4C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The Difference: </a:t>
            </a:r>
          </a:p>
          <a:p>
            <a:pPr eaLnBrk="1" hangingPunct="1">
              <a:buFont typeface="Symbol" panose="05050102010706020507" pitchFamily="18" charset="2"/>
              <a:buChar char=""/>
            </a:pPr>
            <a:r>
              <a:rPr lang="en-US" altLang="it-IT"/>
              <a:t>Different productions chosen on the second step</a:t>
            </a:r>
          </a:p>
          <a:p>
            <a:pPr eaLnBrk="1" hangingPunct="1">
              <a:spcBef>
                <a:spcPct val="900000"/>
              </a:spcBef>
              <a:buFont typeface="Symbol" panose="05050102010706020507" pitchFamily="18" charset="2"/>
              <a:buChar char=""/>
            </a:pPr>
            <a:endParaRPr lang="en-US" altLang="it-IT"/>
          </a:p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Char char=""/>
            </a:pPr>
            <a:endParaRPr lang="en-US" altLang="it-IT"/>
          </a:p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Char char=""/>
            </a:pPr>
            <a:r>
              <a:rPr lang="en-US" altLang="it-IT"/>
              <a:t>Both derivations succeed in producing </a:t>
            </a:r>
            <a:r>
              <a:rPr lang="en-US" altLang="it-IT" i="1"/>
              <a:t>x - 2 * y</a:t>
            </a:r>
            <a:endParaRPr lang="en-US" altLang="it-IT"/>
          </a:p>
        </p:txBody>
      </p:sp>
      <p:graphicFrame>
        <p:nvGraphicFramePr>
          <p:cNvPr id="33802" name="Group 10">
            <a:extLst>
              <a:ext uri="{FF2B5EF4-FFF2-40B4-BE49-F238E27FC236}">
                <a16:creationId xmlns:a16="http://schemas.microsoft.com/office/drawing/2014/main" id="{FC3AD5F0-C444-457B-8F5E-E2433DDD64E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39938"/>
          <a:ext cx="3276600" cy="2684679"/>
        </p:xfrm>
        <a:graphic>
          <a:graphicData uri="http://schemas.openxmlformats.org/drawingml/2006/table">
            <a:tbl>
              <a:tblPr/>
              <a:tblGrid>
                <a:gridCol w="690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6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4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Rule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Sentential Form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1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Expr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1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1226" name="Rectangle 2">
            <a:extLst>
              <a:ext uri="{FF2B5EF4-FFF2-40B4-BE49-F238E27FC236}">
                <a16:creationId xmlns:a16="http://schemas.microsoft.com/office/drawing/2014/main" id="{B7DACBD0-0E67-4A94-BE46-D83173CD3D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Two Leftmost Derivations for </a:t>
            </a:r>
            <a:r>
              <a:rPr lang="en-US" altLang="it-IT" i="1"/>
              <a:t>x – 2 * y</a:t>
            </a:r>
            <a:endParaRPr lang="en-US" altLang="it-IT"/>
          </a:p>
        </p:txBody>
      </p:sp>
      <p:sp>
        <p:nvSpPr>
          <p:cNvPr id="51227" name="Text Box 6">
            <a:extLst>
              <a:ext uri="{FF2B5EF4-FFF2-40B4-BE49-F238E27FC236}">
                <a16:creationId xmlns:a16="http://schemas.microsoft.com/office/drawing/2014/main" id="{7A264694-76D7-45E6-B32F-3AAEE15E4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850" y="4800600"/>
            <a:ext cx="3048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i="1">
                <a:solidFill>
                  <a:srgbClr val="003C75"/>
                </a:solidFill>
              </a:rPr>
              <a:t>Original choice</a:t>
            </a:r>
          </a:p>
        </p:txBody>
      </p:sp>
      <p:sp>
        <p:nvSpPr>
          <p:cNvPr id="51228" name="Text Box 7">
            <a:extLst>
              <a:ext uri="{FF2B5EF4-FFF2-40B4-BE49-F238E27FC236}">
                <a16:creationId xmlns:a16="http://schemas.microsoft.com/office/drawing/2014/main" id="{E11FACDC-D72B-402A-8ACA-77E1F3595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4800600"/>
            <a:ext cx="3048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i="1">
                <a:solidFill>
                  <a:srgbClr val="003C75"/>
                </a:solidFill>
              </a:rPr>
              <a:t>New choice</a:t>
            </a:r>
          </a:p>
        </p:txBody>
      </p:sp>
      <p:sp>
        <p:nvSpPr>
          <p:cNvPr id="51229" name="Oval 8">
            <a:extLst>
              <a:ext uri="{FF2B5EF4-FFF2-40B4-BE49-F238E27FC236}">
                <a16:creationId xmlns:a16="http://schemas.microsoft.com/office/drawing/2014/main" id="{26EC5892-1E43-46FD-931A-D204AE312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3463" y="2895600"/>
            <a:ext cx="304800" cy="304800"/>
          </a:xfrm>
          <a:prstGeom prst="ellipse">
            <a:avLst/>
          </a:prstGeom>
          <a:noFill/>
          <a:ln w="19050">
            <a:solidFill>
              <a:srgbClr val="003C7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graphicFrame>
        <p:nvGraphicFramePr>
          <p:cNvPr id="33885" name="Group 93">
            <a:extLst>
              <a:ext uri="{FF2B5EF4-FFF2-40B4-BE49-F238E27FC236}">
                <a16:creationId xmlns:a16="http://schemas.microsoft.com/office/drawing/2014/main" id="{6AF662B5-B625-47D0-847D-30200D26D256}"/>
              </a:ext>
            </a:extLst>
          </p:cNvPr>
          <p:cNvGraphicFramePr>
            <a:graphicFrameLocks noGrp="1"/>
          </p:cNvGraphicFramePr>
          <p:nvPr/>
        </p:nvGraphicFramePr>
        <p:xfrm>
          <a:off x="4953000" y="2039938"/>
          <a:ext cx="3276600" cy="2684679"/>
        </p:xfrm>
        <a:graphic>
          <a:graphicData uri="http://schemas.openxmlformats.org/drawingml/2006/table">
            <a:tbl>
              <a:tblPr/>
              <a:tblGrid>
                <a:gridCol w="690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6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4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Rule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Sentential Form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Op Expr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Op Expr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1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Expr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1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1252" name="Oval 9">
            <a:extLst>
              <a:ext uri="{FF2B5EF4-FFF2-40B4-BE49-F238E27FC236}">
                <a16:creationId xmlns:a16="http://schemas.microsoft.com/office/drawing/2014/main" id="{BB8D2623-777E-4E06-8E81-2220EFD00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375" y="2889250"/>
            <a:ext cx="304800" cy="304800"/>
          </a:xfrm>
          <a:prstGeom prst="ellipse">
            <a:avLst/>
          </a:prstGeom>
          <a:noFill/>
          <a:ln w="19050">
            <a:solidFill>
              <a:srgbClr val="003C7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Footer Placeholder 3">
            <a:extLst>
              <a:ext uri="{FF2B5EF4-FFF2-40B4-BE49-F238E27FC236}">
                <a16:creationId xmlns:a16="http://schemas.microsoft.com/office/drawing/2014/main" id="{F77BDDE0-5B0F-4151-BE9C-D97C981F7B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3250" name="Slide Number Placeholder 4">
            <a:extLst>
              <a:ext uri="{FF2B5EF4-FFF2-40B4-BE49-F238E27FC236}">
                <a16:creationId xmlns:a16="http://schemas.microsoft.com/office/drawing/2014/main" id="{ADA122AC-D252-4992-800B-8BA9D0BF6D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69F25FD-0AA4-43CD-9602-E05074331CD3}" type="slidenum">
              <a:rPr lang="en-US" altLang="it-IT"/>
              <a:pPr/>
              <a:t>19</a:t>
            </a:fld>
            <a:endParaRPr lang="en-US" altLang="it-IT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8869922F-8103-4980-99EC-EA1FC2B288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The Difference: </a:t>
            </a:r>
          </a:p>
          <a:p>
            <a:pPr eaLnBrk="1" hangingPunct="1">
              <a:buFont typeface="Symbol" panose="05050102010706020507" pitchFamily="18" charset="2"/>
              <a:buChar char=""/>
            </a:pPr>
            <a:r>
              <a:rPr lang="en-US" altLang="it-IT"/>
              <a:t>Different productions chosen on the second step</a:t>
            </a:r>
          </a:p>
        </p:txBody>
      </p:sp>
      <p:graphicFrame>
        <p:nvGraphicFramePr>
          <p:cNvPr id="2" name="Group 3">
            <a:extLst>
              <a:ext uri="{FF2B5EF4-FFF2-40B4-BE49-F238E27FC236}">
                <a16:creationId xmlns:a16="http://schemas.microsoft.com/office/drawing/2014/main" id="{2F8D6067-D388-409D-81C8-FE1F4F512C1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39938"/>
          <a:ext cx="3276600" cy="2684679"/>
        </p:xfrm>
        <a:graphic>
          <a:graphicData uri="http://schemas.openxmlformats.org/drawingml/2006/table">
            <a:tbl>
              <a:tblPr/>
              <a:tblGrid>
                <a:gridCol w="690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6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4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Rule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Sentential Form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1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Expr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1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3274" name="Rectangle 43">
            <a:extLst>
              <a:ext uri="{FF2B5EF4-FFF2-40B4-BE49-F238E27FC236}">
                <a16:creationId xmlns:a16="http://schemas.microsoft.com/office/drawing/2014/main" id="{54602F0D-315C-40AA-9BEA-2B0C8F22B0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Two Leftmost Derivations for </a:t>
            </a:r>
            <a:r>
              <a:rPr lang="en-US" altLang="it-IT" i="1"/>
              <a:t>x – 2 * y</a:t>
            </a:r>
            <a:endParaRPr lang="en-US" altLang="it-IT"/>
          </a:p>
        </p:txBody>
      </p:sp>
      <p:sp>
        <p:nvSpPr>
          <p:cNvPr id="53275" name="Text Box 44">
            <a:extLst>
              <a:ext uri="{FF2B5EF4-FFF2-40B4-BE49-F238E27FC236}">
                <a16:creationId xmlns:a16="http://schemas.microsoft.com/office/drawing/2014/main" id="{EC5A85C9-8D29-4C41-A575-334111207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850" y="4800600"/>
            <a:ext cx="3048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i="1">
                <a:solidFill>
                  <a:srgbClr val="003C75"/>
                </a:solidFill>
              </a:rPr>
              <a:t>Original choice</a:t>
            </a:r>
          </a:p>
        </p:txBody>
      </p:sp>
      <p:sp>
        <p:nvSpPr>
          <p:cNvPr id="53276" name="Text Box 45">
            <a:extLst>
              <a:ext uri="{FF2B5EF4-FFF2-40B4-BE49-F238E27FC236}">
                <a16:creationId xmlns:a16="http://schemas.microsoft.com/office/drawing/2014/main" id="{A0518521-3B98-4515-90EE-D828B3759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4800600"/>
            <a:ext cx="3048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i="1">
                <a:solidFill>
                  <a:srgbClr val="003C75"/>
                </a:solidFill>
              </a:rPr>
              <a:t>New choice</a:t>
            </a:r>
          </a:p>
        </p:txBody>
      </p:sp>
      <p:graphicFrame>
        <p:nvGraphicFramePr>
          <p:cNvPr id="48175" name="Group 47">
            <a:extLst>
              <a:ext uri="{FF2B5EF4-FFF2-40B4-BE49-F238E27FC236}">
                <a16:creationId xmlns:a16="http://schemas.microsoft.com/office/drawing/2014/main" id="{4D141A90-A8F4-4027-9D46-B12B418AFA24}"/>
              </a:ext>
            </a:extLst>
          </p:cNvPr>
          <p:cNvGraphicFramePr>
            <a:graphicFrameLocks noGrp="1"/>
          </p:cNvGraphicFramePr>
          <p:nvPr/>
        </p:nvGraphicFramePr>
        <p:xfrm>
          <a:off x="4953000" y="2039938"/>
          <a:ext cx="3276600" cy="2684679"/>
        </p:xfrm>
        <a:graphic>
          <a:graphicData uri="http://schemas.openxmlformats.org/drawingml/2006/table">
            <a:tbl>
              <a:tblPr/>
              <a:tblGrid>
                <a:gridCol w="690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6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4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Rule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Sentential Form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Op Expr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Op Expr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1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Expr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Op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Expr</a:t>
                      </a: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669" marB="4566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1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69" marB="4566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53299" name="Group 89">
            <a:extLst>
              <a:ext uri="{FF2B5EF4-FFF2-40B4-BE49-F238E27FC236}">
                <a16:creationId xmlns:a16="http://schemas.microsoft.com/office/drawing/2014/main" id="{DFB70ED2-5AA5-4284-A424-7A790C682863}"/>
              </a:ext>
            </a:extLst>
          </p:cNvPr>
          <p:cNvGrpSpPr>
            <a:grpSpLocks/>
          </p:cNvGrpSpPr>
          <p:nvPr/>
        </p:nvGrpSpPr>
        <p:grpSpPr bwMode="auto">
          <a:xfrm>
            <a:off x="4511675" y="2900363"/>
            <a:ext cx="4457700" cy="3316287"/>
            <a:chOff x="2856" y="1820"/>
            <a:chExt cx="2808" cy="2089"/>
          </a:xfrm>
        </p:grpSpPr>
        <p:sp>
          <p:nvSpPr>
            <p:cNvPr id="48211" name="Oval 83">
              <a:extLst>
                <a:ext uri="{FF2B5EF4-FFF2-40B4-BE49-F238E27FC236}">
                  <a16:creationId xmlns:a16="http://schemas.microsoft.com/office/drawing/2014/main" id="{0144CFBF-F71E-48A9-BF0D-287C5C367D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7" y="1820"/>
              <a:ext cx="192" cy="388"/>
            </a:xfrm>
            <a:prstGeom prst="ellipse">
              <a:avLst/>
            </a:prstGeom>
            <a:noFill/>
            <a:ln w="19050">
              <a:solidFill>
                <a:srgbClr val="003C75"/>
              </a:solidFill>
              <a:round/>
              <a:headEnd/>
              <a:tailEnd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53301" name="Text Box 86">
              <a:extLst>
                <a:ext uri="{FF2B5EF4-FFF2-40B4-BE49-F238E27FC236}">
                  <a16:creationId xmlns:a16="http://schemas.microsoft.com/office/drawing/2014/main" id="{914437FA-0370-487C-B818-920BC918C5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312"/>
              <a:ext cx="1824" cy="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003C75"/>
                  </a:solidFill>
                </a:rPr>
                <a:t>Different choices in same situation, again</a:t>
              </a:r>
            </a:p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003C75"/>
                  </a:solidFill>
                </a:rPr>
                <a:t>Remember nondeterminism?</a:t>
              </a:r>
            </a:p>
          </p:txBody>
        </p:sp>
        <p:sp>
          <p:nvSpPr>
            <p:cNvPr id="48215" name="Line 87">
              <a:extLst>
                <a:ext uri="{FF2B5EF4-FFF2-40B4-BE49-F238E27FC236}">
                  <a16:creationId xmlns:a16="http://schemas.microsoft.com/office/drawing/2014/main" id="{E6155191-1545-4120-B757-0E290115E0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322"/>
              <a:ext cx="0" cy="576"/>
            </a:xfrm>
            <a:prstGeom prst="line">
              <a:avLst/>
            </a:prstGeom>
            <a:noFill/>
            <a:ln w="19050">
              <a:solidFill>
                <a:srgbClr val="003C75"/>
              </a:solidFill>
              <a:round/>
              <a:headEnd/>
              <a:tailEnd/>
            </a:ln>
            <a:effectLst>
              <a:outerShdw blurRad="63500" dist="38099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 eaLnBrk="0" hangingPunct="0">
                <a:defRPr/>
              </a:pPr>
              <a:endParaRPr lang="en-US" dirty="0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48216" name="Freeform 88">
              <a:extLst>
                <a:ext uri="{FF2B5EF4-FFF2-40B4-BE49-F238E27FC236}">
                  <a16:creationId xmlns:a16="http://schemas.microsoft.com/office/drawing/2014/main" id="{02417664-0FB5-4FBD-9E88-C7AFD25FF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6" y="1968"/>
              <a:ext cx="984" cy="1488"/>
            </a:xfrm>
            <a:custGeom>
              <a:avLst/>
              <a:gdLst/>
              <a:ahLst/>
              <a:cxnLst>
                <a:cxn ang="0">
                  <a:pos x="984" y="1488"/>
                </a:cxn>
                <a:cxn ang="0">
                  <a:pos x="264" y="1152"/>
                </a:cxn>
                <a:cxn ang="0">
                  <a:pos x="24" y="624"/>
                </a:cxn>
                <a:cxn ang="0">
                  <a:pos x="408" y="0"/>
                </a:cxn>
              </a:cxnLst>
              <a:rect l="0" t="0" r="r" b="b"/>
              <a:pathLst>
                <a:path w="984" h="1488">
                  <a:moveTo>
                    <a:pt x="984" y="1488"/>
                  </a:moveTo>
                  <a:cubicBezTo>
                    <a:pt x="704" y="1392"/>
                    <a:pt x="424" y="1296"/>
                    <a:pt x="264" y="1152"/>
                  </a:cubicBezTo>
                  <a:cubicBezTo>
                    <a:pt x="104" y="1008"/>
                    <a:pt x="0" y="816"/>
                    <a:pt x="24" y="624"/>
                  </a:cubicBezTo>
                  <a:cubicBezTo>
                    <a:pt x="48" y="432"/>
                    <a:pt x="228" y="216"/>
                    <a:pt x="408" y="0"/>
                  </a:cubicBezTo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/>
            </a:ln>
            <a:effectLst>
              <a:outerShdw blurRad="63500" dist="38099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 eaLnBrk="0" hangingPunct="0">
                <a:defRPr/>
              </a:pPr>
              <a:endParaRPr lang="en-US" dirty="0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Footer Placeholder 1">
            <a:extLst>
              <a:ext uri="{FF2B5EF4-FFF2-40B4-BE49-F238E27FC236}">
                <a16:creationId xmlns:a16="http://schemas.microsoft.com/office/drawing/2014/main" id="{8E2C013C-8E0D-4CDE-B1F8-C9E8A03243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5298" name="Slide Number Placeholder 2">
            <a:extLst>
              <a:ext uri="{FF2B5EF4-FFF2-40B4-BE49-F238E27FC236}">
                <a16:creationId xmlns:a16="http://schemas.microsoft.com/office/drawing/2014/main" id="{3687B920-D6BC-44D7-8CC3-AF6292A801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D505010-C7BB-40D0-87B7-B4B928D528FC}" type="slidenum">
              <a:rPr lang="en-US" altLang="it-IT"/>
              <a:pPr/>
              <a:t>20</a:t>
            </a:fld>
            <a:endParaRPr lang="en-US" altLang="it-IT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90AD3EC9-E150-4C66-BE1C-AA73C9852F3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>
                <a:sym typeface="Symbol" panose="05050102010706020507" pitchFamily="18" charset="2"/>
              </a:rPr>
              <a:t>Ambiguous Grammars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AA8D593B-C3FA-4928-8245-39A21957490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Definitions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>
                <a:sym typeface="Symbol" panose="05050102010706020507" pitchFamily="18" charset="2"/>
              </a:rPr>
              <a:t>If a grammar has more than one leftmost derivation for a single </a:t>
            </a:r>
            <a:r>
              <a:rPr lang="en-US" altLang="it-IT" i="1">
                <a:sym typeface="Symbol" panose="05050102010706020507" pitchFamily="18" charset="2"/>
              </a:rPr>
              <a:t>sentential form</a:t>
            </a:r>
            <a:r>
              <a:rPr lang="en-US" altLang="it-IT">
                <a:sym typeface="Symbol" panose="05050102010706020507" pitchFamily="18" charset="2"/>
              </a:rPr>
              <a:t>, the grammar is </a:t>
            </a: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ambiguous</a:t>
            </a:r>
          </a:p>
          <a:p>
            <a:pPr eaLnBrk="1" hangingPunct="1">
              <a:spcBef>
                <a:spcPts val="1200"/>
              </a:spcBef>
            </a:pPr>
            <a:r>
              <a:rPr lang="en-US" altLang="it-IT">
                <a:sym typeface="Symbol" panose="05050102010706020507" pitchFamily="18" charset="2"/>
              </a:rPr>
              <a:t>If a grammar has more than one rightmost derivation for a single sentential form, the grammar is </a:t>
            </a: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ambiguous</a:t>
            </a:r>
            <a:endParaRPr lang="en-US" altLang="it-IT">
              <a:solidFill>
                <a:srgbClr val="003C75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it-IT">
                <a:sym typeface="Symbol" panose="05050102010706020507" pitchFamily="18" charset="2"/>
              </a:rPr>
              <a:t>The leftmost and rightmost derivations for a sentential form may differ, even in an unambiguous grammar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However, they must have the same parse tree!</a:t>
            </a:r>
          </a:p>
          <a:p>
            <a:pPr eaLnBrk="1" hangingPunct="1">
              <a:spcBef>
                <a:spcPts val="24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Classic example — the </a:t>
            </a:r>
            <a:r>
              <a:rPr lang="en-US" altLang="it-IT" i="1" u="sng">
                <a:sym typeface="Symbol" panose="05050102010706020507" pitchFamily="18" charset="2"/>
              </a:rPr>
              <a:t>if</a:t>
            </a:r>
            <a:r>
              <a:rPr lang="en-US" altLang="it-IT" i="1">
                <a:sym typeface="Symbol" panose="05050102010706020507" pitchFamily="18" charset="2"/>
              </a:rPr>
              <a:t>-</a:t>
            </a:r>
            <a:r>
              <a:rPr lang="en-US" altLang="it-IT" i="1" u="sng">
                <a:sym typeface="Symbol" panose="05050102010706020507" pitchFamily="18" charset="2"/>
              </a:rPr>
              <a:t>then</a:t>
            </a:r>
            <a:r>
              <a:rPr lang="en-US" altLang="it-IT" i="1">
                <a:sym typeface="Symbol" panose="05050102010706020507" pitchFamily="18" charset="2"/>
              </a:rPr>
              <a:t>-</a:t>
            </a:r>
            <a:r>
              <a:rPr lang="en-US" altLang="it-IT" i="1" u="sng">
                <a:sym typeface="Symbol" panose="05050102010706020507" pitchFamily="18" charset="2"/>
              </a:rPr>
              <a:t>else</a:t>
            </a:r>
            <a:r>
              <a:rPr lang="en-US" altLang="it-IT">
                <a:sym typeface="Symbol" panose="05050102010706020507" pitchFamily="18" charset="2"/>
              </a:rPr>
              <a:t> problem</a:t>
            </a:r>
          </a:p>
          <a:p>
            <a:pPr lvl="1" eaLnBrk="1" hangingPunct="1">
              <a:spcBef>
                <a:spcPts val="600"/>
              </a:spcBef>
              <a:buFontTx/>
              <a:buNone/>
            </a:pPr>
            <a:r>
              <a:rPr lang="en-US" altLang="it-IT" i="1">
                <a:sym typeface="Symbol" panose="05050102010706020507" pitchFamily="18" charset="2"/>
              </a:rPr>
              <a:t>Stmt </a:t>
            </a:r>
            <a:r>
              <a:rPr lang="en-US" altLang="it-IT">
                <a:sym typeface="Symbol" panose="05050102010706020507" pitchFamily="18" charset="2"/>
              </a:rPr>
              <a:t>   </a:t>
            </a:r>
            <a:r>
              <a:rPr lang="en-US" altLang="it-IT" u="sng">
                <a:sym typeface="Symbol" panose="05050102010706020507" pitchFamily="18" charset="2"/>
              </a:rPr>
              <a:t>if</a:t>
            </a:r>
            <a:r>
              <a:rPr lang="en-US" altLang="it-IT">
                <a:sym typeface="Symbol" panose="05050102010706020507" pitchFamily="18" charset="2"/>
              </a:rPr>
              <a:t>  </a:t>
            </a:r>
            <a:r>
              <a:rPr lang="en-US" altLang="it-IT" i="1">
                <a:sym typeface="Symbol" panose="05050102010706020507" pitchFamily="18" charset="2"/>
              </a:rPr>
              <a:t>Expr</a:t>
            </a:r>
            <a:r>
              <a:rPr lang="en-US" altLang="it-IT">
                <a:sym typeface="Symbol" panose="05050102010706020507" pitchFamily="18" charset="2"/>
              </a:rPr>
              <a:t>  </a:t>
            </a:r>
            <a:r>
              <a:rPr lang="en-US" altLang="it-IT" u="sng">
                <a:sym typeface="Symbol" panose="05050102010706020507" pitchFamily="18" charset="2"/>
              </a:rPr>
              <a:t>then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Stmt</a:t>
            </a:r>
            <a:endParaRPr lang="en-US" altLang="it-IT">
              <a:sym typeface="Symbol" panose="05050102010706020507" pitchFamily="18" charset="2"/>
            </a:endParaRPr>
          </a:p>
          <a:p>
            <a:pPr lvl="1" eaLnBrk="1" hangingPunct="1">
              <a:spcBef>
                <a:spcPts val="600"/>
              </a:spcBef>
              <a:buFontTx/>
              <a:buNone/>
            </a:pPr>
            <a:r>
              <a:rPr lang="en-US" altLang="it-IT">
                <a:sym typeface="Symbol" panose="05050102010706020507" pitchFamily="18" charset="2"/>
              </a:rPr>
              <a:t>           |   </a:t>
            </a:r>
            <a:r>
              <a:rPr lang="en-US" altLang="it-IT" u="sng">
                <a:sym typeface="Symbol" panose="05050102010706020507" pitchFamily="18" charset="2"/>
              </a:rPr>
              <a:t>if</a:t>
            </a:r>
            <a:r>
              <a:rPr lang="en-US" altLang="it-IT">
                <a:sym typeface="Symbol" panose="05050102010706020507" pitchFamily="18" charset="2"/>
              </a:rPr>
              <a:t>  </a:t>
            </a:r>
            <a:r>
              <a:rPr lang="en-US" altLang="it-IT" i="1">
                <a:sym typeface="Symbol" panose="05050102010706020507" pitchFamily="18" charset="2"/>
              </a:rPr>
              <a:t>Expr</a:t>
            </a:r>
            <a:r>
              <a:rPr lang="en-US" altLang="it-IT">
                <a:sym typeface="Symbol" panose="05050102010706020507" pitchFamily="18" charset="2"/>
              </a:rPr>
              <a:t>  </a:t>
            </a:r>
            <a:r>
              <a:rPr lang="en-US" altLang="it-IT" u="sng">
                <a:sym typeface="Symbol" panose="05050102010706020507" pitchFamily="18" charset="2"/>
              </a:rPr>
              <a:t>then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Stmt  </a:t>
            </a:r>
            <a:r>
              <a:rPr lang="en-US" altLang="it-IT" u="sng">
                <a:sym typeface="Symbol" panose="05050102010706020507" pitchFamily="18" charset="2"/>
              </a:rPr>
              <a:t>else</a:t>
            </a:r>
            <a:r>
              <a:rPr lang="en-US" altLang="it-IT">
                <a:sym typeface="Symbol" panose="05050102010706020507" pitchFamily="18" charset="2"/>
              </a:rPr>
              <a:t>  </a:t>
            </a:r>
            <a:r>
              <a:rPr lang="en-US" altLang="it-IT" i="1">
                <a:sym typeface="Symbol" panose="05050102010706020507" pitchFamily="18" charset="2"/>
              </a:rPr>
              <a:t>Stmt</a:t>
            </a:r>
            <a:endParaRPr lang="en-US" altLang="it-IT">
              <a:sym typeface="Symbol" panose="05050102010706020507" pitchFamily="18" charset="2"/>
            </a:endParaRPr>
          </a:p>
          <a:p>
            <a:pPr lvl="1" eaLnBrk="1" hangingPunct="1">
              <a:spcBef>
                <a:spcPts val="600"/>
              </a:spcBef>
              <a:buFontTx/>
              <a:buNone/>
            </a:pPr>
            <a:r>
              <a:rPr lang="en-US" altLang="it-IT">
                <a:sym typeface="Symbol" panose="05050102010706020507" pitchFamily="18" charset="2"/>
              </a:rPr>
              <a:t>           |   </a:t>
            </a:r>
            <a:r>
              <a:rPr lang="en-US" altLang="it-IT" i="1">
                <a:sym typeface="Symbol" panose="05050102010706020507" pitchFamily="18" charset="2"/>
              </a:rPr>
              <a:t>… other stmts …</a:t>
            </a:r>
          </a:p>
          <a:p>
            <a:pPr eaLnBrk="1" hangingPunct="1">
              <a:spcBef>
                <a:spcPts val="1200"/>
              </a:spcBef>
              <a:buFont typeface="Times" panose="02020603050405020304" pitchFamily="18" charset="0"/>
              <a:buNone/>
            </a:pPr>
            <a:r>
              <a:rPr lang="en-US" altLang="it-IT" sz="1800" i="1">
                <a:solidFill>
                  <a:srgbClr val="003C75"/>
                </a:solidFill>
                <a:sym typeface="Symbol" panose="05050102010706020507" pitchFamily="18" charset="2"/>
              </a:rPr>
              <a:t>This ambiguity is inherent in the grammar</a:t>
            </a:r>
          </a:p>
        </p:txBody>
      </p:sp>
    </p:spTree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Footer Placeholder 1">
            <a:extLst>
              <a:ext uri="{FF2B5EF4-FFF2-40B4-BE49-F238E27FC236}">
                <a16:creationId xmlns:a16="http://schemas.microsoft.com/office/drawing/2014/main" id="{693B8DE9-A46E-4263-84C4-A40F8DB776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7346" name="Slide Number Placeholder 2">
            <a:extLst>
              <a:ext uri="{FF2B5EF4-FFF2-40B4-BE49-F238E27FC236}">
                <a16:creationId xmlns:a16="http://schemas.microsoft.com/office/drawing/2014/main" id="{4EF9C6E8-3E44-41FC-B08E-1FC7E4696E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3231C5D-C264-463C-818D-CED01D9A3BB0}" type="slidenum">
              <a:rPr lang="en-US" altLang="it-IT"/>
              <a:pPr/>
              <a:t>21</a:t>
            </a:fld>
            <a:endParaRPr lang="en-US" altLang="it-IT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09A3E4AD-62DA-4C5E-8AC9-5B5FAC86937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100000"/>
              </a:spcBef>
            </a:pPr>
            <a:r>
              <a:rPr lang="en-US" altLang="it-IT">
                <a:sym typeface="Symbol" panose="05050102010706020507" pitchFamily="18" charset="2"/>
              </a:rPr>
              <a:t>Ambiguity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0399EFF3-4FD4-4306-B268-FC7883D06D2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This sentential form has two derivations</a:t>
            </a:r>
          </a:p>
          <a:p>
            <a:pPr lvl="1" eaLnBrk="1" hangingPunct="1">
              <a:spcBef>
                <a:spcPct val="30000"/>
              </a:spcBef>
              <a:buFontTx/>
              <a:buNone/>
            </a:pPr>
            <a:r>
              <a:rPr lang="en-US" altLang="it-IT" u="sng">
                <a:sym typeface="Symbol" panose="05050102010706020507" pitchFamily="18" charset="2"/>
              </a:rPr>
              <a:t>if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Expr</a:t>
            </a:r>
            <a:r>
              <a:rPr lang="en-US" altLang="it-IT" i="1" baseline="-25000">
                <a:solidFill>
                  <a:srgbClr val="003C75"/>
                </a:solidFill>
                <a:sym typeface="Symbol" panose="05050102010706020507" pitchFamily="18" charset="2"/>
              </a:rPr>
              <a:t>1</a:t>
            </a: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ym typeface="Symbol" panose="05050102010706020507" pitchFamily="18" charset="2"/>
              </a:rPr>
              <a:t>then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u="sng">
                <a:sym typeface="Symbol" panose="05050102010706020507" pitchFamily="18" charset="2"/>
              </a:rPr>
              <a:t>if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Expr</a:t>
            </a:r>
            <a:r>
              <a:rPr lang="en-US" altLang="it-IT" i="1" baseline="-25000">
                <a:solidFill>
                  <a:srgbClr val="003C75"/>
                </a:solidFill>
                <a:sym typeface="Symbol" panose="05050102010706020507" pitchFamily="18" charset="2"/>
              </a:rPr>
              <a:t>2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ym typeface="Symbol" panose="05050102010706020507" pitchFamily="18" charset="2"/>
              </a:rPr>
              <a:t>then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Stmt</a:t>
            </a:r>
            <a:r>
              <a:rPr lang="en-US" altLang="it-IT" i="1" baseline="-25000">
                <a:solidFill>
                  <a:srgbClr val="003C75"/>
                </a:solidFill>
                <a:sym typeface="Symbol" panose="05050102010706020507" pitchFamily="18" charset="2"/>
              </a:rPr>
              <a:t>1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  </a:t>
            </a:r>
            <a:r>
              <a:rPr lang="en-US" altLang="it-IT" u="sng">
                <a:sym typeface="Symbol" panose="05050102010706020507" pitchFamily="18" charset="2"/>
              </a:rPr>
              <a:t>else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Stmt</a:t>
            </a:r>
            <a:r>
              <a:rPr lang="en-US" altLang="it-IT" i="1" baseline="-25000">
                <a:solidFill>
                  <a:srgbClr val="003C75"/>
                </a:solidFill>
                <a:sym typeface="Symbol" panose="05050102010706020507" pitchFamily="18" charset="2"/>
              </a:rPr>
              <a:t>2</a:t>
            </a:r>
            <a:endParaRPr lang="en-US" altLang="it-IT">
              <a:solidFill>
                <a:srgbClr val="003C75"/>
              </a:solidFill>
              <a:sym typeface="Symbol" panose="05050102010706020507" pitchFamily="18" charset="2"/>
            </a:endParaRPr>
          </a:p>
        </p:txBody>
      </p:sp>
      <p:grpSp>
        <p:nvGrpSpPr>
          <p:cNvPr id="57349" name="Group 46">
            <a:extLst>
              <a:ext uri="{FF2B5EF4-FFF2-40B4-BE49-F238E27FC236}">
                <a16:creationId xmlns:a16="http://schemas.microsoft.com/office/drawing/2014/main" id="{2B660AC6-EAF8-47BD-A7C1-5F76B1183719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305050"/>
            <a:ext cx="2125663" cy="3790950"/>
            <a:chOff x="1056" y="1452"/>
            <a:chExt cx="1339" cy="2388"/>
          </a:xfrm>
        </p:grpSpPr>
        <p:grpSp>
          <p:nvGrpSpPr>
            <p:cNvPr id="57372" name="Group 5">
              <a:extLst>
                <a:ext uri="{FF2B5EF4-FFF2-40B4-BE49-F238E27FC236}">
                  <a16:creationId xmlns:a16="http://schemas.microsoft.com/office/drawing/2014/main" id="{36DF6CAD-6912-46A9-B1EB-559F359B87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1452"/>
              <a:ext cx="1339" cy="1920"/>
              <a:chOff x="1040" y="1632"/>
              <a:chExt cx="1339" cy="1920"/>
            </a:xfrm>
          </p:grpSpPr>
          <p:sp>
            <p:nvSpPr>
              <p:cNvPr id="57374" name="Oval 6">
                <a:extLst>
                  <a:ext uri="{FF2B5EF4-FFF2-40B4-BE49-F238E27FC236}">
                    <a16:creationId xmlns:a16="http://schemas.microsoft.com/office/drawing/2014/main" id="{B88B3B0A-EFD6-4F8A-B810-C1F142EF75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928"/>
                <a:ext cx="288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 b="1"/>
                  <a:t>then</a:t>
                </a:r>
              </a:p>
            </p:txBody>
          </p:sp>
          <p:sp>
            <p:nvSpPr>
              <p:cNvPr id="57375" name="Oval 7">
                <a:extLst>
                  <a:ext uri="{FF2B5EF4-FFF2-40B4-BE49-F238E27FC236}">
                    <a16:creationId xmlns:a16="http://schemas.microsoft.com/office/drawing/2014/main" id="{2BC6FEE9-664E-4F6C-9B67-BDD75354F4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064"/>
                <a:ext cx="288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 b="1"/>
                  <a:t>else</a:t>
                </a:r>
              </a:p>
            </p:txBody>
          </p:sp>
          <p:sp>
            <p:nvSpPr>
              <p:cNvPr id="57376" name="Oval 8">
                <a:extLst>
                  <a:ext uri="{FF2B5EF4-FFF2-40B4-BE49-F238E27FC236}">
                    <a16:creationId xmlns:a16="http://schemas.microsoft.com/office/drawing/2014/main" id="{47199C4C-F688-47F0-806A-25F4417C3F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496"/>
                <a:ext cx="288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 b="1"/>
                  <a:t>if</a:t>
                </a:r>
              </a:p>
            </p:txBody>
          </p:sp>
          <p:sp>
            <p:nvSpPr>
              <p:cNvPr id="57377" name="Oval 9">
                <a:extLst>
                  <a:ext uri="{FF2B5EF4-FFF2-40B4-BE49-F238E27FC236}">
                    <a16:creationId xmlns:a16="http://schemas.microsoft.com/office/drawing/2014/main" id="{D1A1810B-D466-484A-9E70-257D9CE2B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064"/>
                <a:ext cx="288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 b="1"/>
                  <a:t>then</a:t>
                </a:r>
              </a:p>
            </p:txBody>
          </p:sp>
          <p:sp>
            <p:nvSpPr>
              <p:cNvPr id="57378" name="Oval 10">
                <a:extLst>
                  <a:ext uri="{FF2B5EF4-FFF2-40B4-BE49-F238E27FC236}">
                    <a16:creationId xmlns:a16="http://schemas.microsoft.com/office/drawing/2014/main" id="{5BCAB0EB-FE86-4481-A0C6-1EE89177FA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1632"/>
                <a:ext cx="288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 b="1"/>
                  <a:t>if</a:t>
                </a:r>
              </a:p>
            </p:txBody>
          </p:sp>
          <p:sp>
            <p:nvSpPr>
              <p:cNvPr id="57379" name="Text Box 11">
                <a:extLst>
                  <a:ext uri="{FF2B5EF4-FFF2-40B4-BE49-F238E27FC236}">
                    <a16:creationId xmlns:a16="http://schemas.microsoft.com/office/drawing/2014/main" id="{98D3D94E-54D8-4DBF-98E5-FA7C293EBD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0" y="2064"/>
                <a:ext cx="33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400" b="1" i="1">
                    <a:solidFill>
                      <a:srgbClr val="003C75"/>
                    </a:solidFill>
                  </a:rPr>
                  <a:t>E</a:t>
                </a:r>
                <a:r>
                  <a:rPr lang="en-US" altLang="it-IT" sz="1400" b="1" i="1" baseline="-25000">
                    <a:solidFill>
                      <a:srgbClr val="003C75"/>
                    </a:solidFill>
                  </a:rPr>
                  <a:t>1</a:t>
                </a:r>
                <a:endParaRPr lang="en-US" altLang="it-IT" sz="1400" b="1" i="1">
                  <a:solidFill>
                    <a:srgbClr val="003C75"/>
                  </a:solidFill>
                </a:endParaRPr>
              </a:p>
            </p:txBody>
          </p:sp>
          <p:sp>
            <p:nvSpPr>
              <p:cNvPr id="57380" name="Text Box 12">
                <a:extLst>
                  <a:ext uri="{FF2B5EF4-FFF2-40B4-BE49-F238E27FC236}">
                    <a16:creationId xmlns:a16="http://schemas.microsoft.com/office/drawing/2014/main" id="{51DE3F33-E660-4020-86F1-2597CBEF09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0" y="2956"/>
                <a:ext cx="33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400" b="1" i="1">
                    <a:solidFill>
                      <a:srgbClr val="003C75"/>
                    </a:solidFill>
                  </a:rPr>
                  <a:t>E</a:t>
                </a:r>
                <a:r>
                  <a:rPr lang="en-US" altLang="it-IT" sz="1400" b="1" i="1" baseline="-25000">
                    <a:solidFill>
                      <a:srgbClr val="003C75"/>
                    </a:solidFill>
                  </a:rPr>
                  <a:t>2</a:t>
                </a:r>
                <a:endParaRPr lang="en-US" altLang="it-IT" sz="1400" b="1" i="1">
                  <a:solidFill>
                    <a:srgbClr val="003C75"/>
                  </a:solidFill>
                </a:endParaRPr>
              </a:p>
            </p:txBody>
          </p:sp>
          <p:sp>
            <p:nvSpPr>
              <p:cNvPr id="57381" name="Text Box 13">
                <a:extLst>
                  <a:ext uri="{FF2B5EF4-FFF2-40B4-BE49-F238E27FC236}">
                    <a16:creationId xmlns:a16="http://schemas.microsoft.com/office/drawing/2014/main" id="{C53A5772-2D85-4D86-B683-5373B7E034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43" y="2496"/>
                <a:ext cx="33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400" b="1" i="1">
                    <a:solidFill>
                      <a:srgbClr val="003C75"/>
                    </a:solidFill>
                  </a:rPr>
                  <a:t>S</a:t>
                </a:r>
                <a:r>
                  <a:rPr lang="en-US" altLang="it-IT" sz="1400" b="1" i="1" baseline="-25000">
                    <a:solidFill>
                      <a:srgbClr val="003C75"/>
                    </a:solidFill>
                  </a:rPr>
                  <a:t>2</a:t>
                </a:r>
                <a:endParaRPr lang="en-US" altLang="it-IT" sz="1400" b="1" i="1">
                  <a:solidFill>
                    <a:srgbClr val="003C75"/>
                  </a:solidFill>
                </a:endParaRPr>
              </a:p>
            </p:txBody>
          </p:sp>
          <p:sp>
            <p:nvSpPr>
              <p:cNvPr id="57382" name="Text Box 14">
                <a:extLst>
                  <a:ext uri="{FF2B5EF4-FFF2-40B4-BE49-F238E27FC236}">
                    <a16:creationId xmlns:a16="http://schemas.microsoft.com/office/drawing/2014/main" id="{ED60F5F3-344C-43B7-A385-CB418F7884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3360"/>
                <a:ext cx="33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400" b="1" i="1">
                    <a:solidFill>
                      <a:srgbClr val="003C75"/>
                    </a:solidFill>
                  </a:rPr>
                  <a:t>S</a:t>
                </a:r>
                <a:r>
                  <a:rPr lang="en-US" altLang="it-IT" sz="1400" b="1" i="1" baseline="-25000">
                    <a:solidFill>
                      <a:srgbClr val="003C75"/>
                    </a:solidFill>
                  </a:rPr>
                  <a:t>1</a:t>
                </a:r>
                <a:endParaRPr lang="en-US" altLang="it-IT" sz="1400" b="1" i="1">
                  <a:solidFill>
                    <a:srgbClr val="003C75"/>
                  </a:solidFill>
                </a:endParaRPr>
              </a:p>
            </p:txBody>
          </p:sp>
          <p:sp>
            <p:nvSpPr>
              <p:cNvPr id="57383" name="Line 15">
                <a:extLst>
                  <a:ext uri="{FF2B5EF4-FFF2-40B4-BE49-F238E27FC236}">
                    <a16:creationId xmlns:a16="http://schemas.microsoft.com/office/drawing/2014/main" id="{932FC741-864F-4F71-9CD2-511F219902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5" y="1876"/>
                <a:ext cx="0" cy="1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57384" name="Line 16">
                <a:extLst>
                  <a:ext uri="{FF2B5EF4-FFF2-40B4-BE49-F238E27FC236}">
                    <a16:creationId xmlns:a16="http://schemas.microsoft.com/office/drawing/2014/main" id="{EE0CF102-BEE9-4427-B17B-0EDE163DFA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2304"/>
                <a:ext cx="0" cy="1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57385" name="Line 17">
                <a:extLst>
                  <a:ext uri="{FF2B5EF4-FFF2-40B4-BE49-F238E27FC236}">
                    <a16:creationId xmlns:a16="http://schemas.microsoft.com/office/drawing/2014/main" id="{21C5A09E-51A7-4E6B-9199-21EAB1BE72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5" y="2732"/>
                <a:ext cx="0" cy="1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57386" name="Line 18">
                <a:extLst>
                  <a:ext uri="{FF2B5EF4-FFF2-40B4-BE49-F238E27FC236}">
                    <a16:creationId xmlns:a16="http://schemas.microsoft.com/office/drawing/2014/main" id="{60AF36BF-764B-496F-A9BB-2EDBA30B53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0" y="3160"/>
                <a:ext cx="0" cy="1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57387" name="Line 19">
                <a:extLst>
                  <a:ext uri="{FF2B5EF4-FFF2-40B4-BE49-F238E27FC236}">
                    <a16:creationId xmlns:a16="http://schemas.microsoft.com/office/drawing/2014/main" id="{A7ACE8BE-FAAE-4E0C-AD04-67D56DD643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01" y="1817"/>
                <a:ext cx="308" cy="2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57388" name="Line 20">
                <a:extLst>
                  <a:ext uri="{FF2B5EF4-FFF2-40B4-BE49-F238E27FC236}">
                    <a16:creationId xmlns:a16="http://schemas.microsoft.com/office/drawing/2014/main" id="{2A2E2038-0ED5-4751-AD24-96120A502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2304"/>
                <a:ext cx="0" cy="1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57389" name="Line 21">
                <a:extLst>
                  <a:ext uri="{FF2B5EF4-FFF2-40B4-BE49-F238E27FC236}">
                    <a16:creationId xmlns:a16="http://schemas.microsoft.com/office/drawing/2014/main" id="{0334E00E-082B-4BBE-9BF8-BB43B558C1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67" y="1829"/>
                <a:ext cx="308" cy="2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57390" name="Line 22">
                <a:extLst>
                  <a:ext uri="{FF2B5EF4-FFF2-40B4-BE49-F238E27FC236}">
                    <a16:creationId xmlns:a16="http://schemas.microsoft.com/office/drawing/2014/main" id="{B854C182-70F0-4F3E-B1B3-3014ADF4FC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63" y="2709"/>
                <a:ext cx="308" cy="2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</p:grpSp>
        <p:sp>
          <p:nvSpPr>
            <p:cNvPr id="57373" name="Text Box 23">
              <a:extLst>
                <a:ext uri="{FF2B5EF4-FFF2-40B4-BE49-F238E27FC236}">
                  <a16:creationId xmlns:a16="http://schemas.microsoft.com/office/drawing/2014/main" id="{26C8B539-9B7A-402F-A327-A0B908B69F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7" y="3468"/>
              <a:ext cx="1296" cy="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 i="1">
                  <a:solidFill>
                    <a:srgbClr val="003C75"/>
                  </a:solidFill>
                </a:rPr>
                <a:t>production 2, then production 1</a:t>
              </a:r>
            </a:p>
          </p:txBody>
        </p:sp>
      </p:grpSp>
      <p:grpSp>
        <p:nvGrpSpPr>
          <p:cNvPr id="57350" name="Group 47">
            <a:extLst>
              <a:ext uri="{FF2B5EF4-FFF2-40B4-BE49-F238E27FC236}">
                <a16:creationId xmlns:a16="http://schemas.microsoft.com/office/drawing/2014/main" id="{61CC56EB-54F2-4A78-9A41-87C7BDBB8376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2305050"/>
            <a:ext cx="2160588" cy="3790950"/>
            <a:chOff x="3168" y="1452"/>
            <a:chExt cx="1361" cy="2388"/>
          </a:xfrm>
        </p:grpSpPr>
        <p:grpSp>
          <p:nvGrpSpPr>
            <p:cNvPr id="57352" name="Group 25">
              <a:extLst>
                <a:ext uri="{FF2B5EF4-FFF2-40B4-BE49-F238E27FC236}">
                  <a16:creationId xmlns:a16="http://schemas.microsoft.com/office/drawing/2014/main" id="{C817EF6F-3D97-4CE9-B36A-BB21204B2C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452"/>
              <a:ext cx="1361" cy="1920"/>
              <a:chOff x="3264" y="1632"/>
              <a:chExt cx="1361" cy="1920"/>
            </a:xfrm>
          </p:grpSpPr>
          <p:sp>
            <p:nvSpPr>
              <p:cNvPr id="57354" name="Oval 26">
                <a:extLst>
                  <a:ext uri="{FF2B5EF4-FFF2-40B4-BE49-F238E27FC236}">
                    <a16:creationId xmlns:a16="http://schemas.microsoft.com/office/drawing/2014/main" id="{493A3D43-0947-4123-A869-BEF933609D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0" y="2928"/>
                <a:ext cx="288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 b="1"/>
                  <a:t>then</a:t>
                </a:r>
              </a:p>
            </p:txBody>
          </p:sp>
          <p:sp>
            <p:nvSpPr>
              <p:cNvPr id="57355" name="Oval 27">
                <a:extLst>
                  <a:ext uri="{FF2B5EF4-FFF2-40B4-BE49-F238E27FC236}">
                    <a16:creationId xmlns:a16="http://schemas.microsoft.com/office/drawing/2014/main" id="{CC9B9257-DB69-451C-84E3-D82BA4E797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0" y="2496"/>
                <a:ext cx="288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 b="1"/>
                  <a:t>if</a:t>
                </a:r>
              </a:p>
            </p:txBody>
          </p:sp>
          <p:sp>
            <p:nvSpPr>
              <p:cNvPr id="57356" name="Oval 28">
                <a:extLst>
                  <a:ext uri="{FF2B5EF4-FFF2-40B4-BE49-F238E27FC236}">
                    <a16:creationId xmlns:a16="http://schemas.microsoft.com/office/drawing/2014/main" id="{BDAC3F45-1FFA-4A01-A8E7-CB1995F08A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0" y="2064"/>
                <a:ext cx="288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 b="1"/>
                  <a:t>then</a:t>
                </a:r>
              </a:p>
            </p:txBody>
          </p:sp>
          <p:sp>
            <p:nvSpPr>
              <p:cNvPr id="57357" name="Oval 29">
                <a:extLst>
                  <a:ext uri="{FF2B5EF4-FFF2-40B4-BE49-F238E27FC236}">
                    <a16:creationId xmlns:a16="http://schemas.microsoft.com/office/drawing/2014/main" id="{CF45434A-B5DE-4DDC-8187-BCBB2EA51E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0" y="1632"/>
                <a:ext cx="288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 b="1"/>
                  <a:t>if</a:t>
                </a:r>
              </a:p>
            </p:txBody>
          </p:sp>
          <p:sp>
            <p:nvSpPr>
              <p:cNvPr id="57358" name="Text Box 30">
                <a:extLst>
                  <a:ext uri="{FF2B5EF4-FFF2-40B4-BE49-F238E27FC236}">
                    <a16:creationId xmlns:a16="http://schemas.microsoft.com/office/drawing/2014/main" id="{51E88751-D3DC-413F-A2DD-DF6564B5F8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4" y="2064"/>
                <a:ext cx="33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400" b="1" i="1">
                    <a:solidFill>
                      <a:srgbClr val="003C75"/>
                    </a:solidFill>
                  </a:rPr>
                  <a:t>E</a:t>
                </a:r>
                <a:r>
                  <a:rPr lang="en-US" altLang="it-IT" sz="1400" b="1" i="1" baseline="-25000">
                    <a:solidFill>
                      <a:srgbClr val="003C75"/>
                    </a:solidFill>
                  </a:rPr>
                  <a:t>1</a:t>
                </a:r>
                <a:endParaRPr lang="en-US" altLang="it-IT" sz="1400" b="1" i="1">
                  <a:solidFill>
                    <a:srgbClr val="003C75"/>
                  </a:solidFill>
                </a:endParaRPr>
              </a:p>
            </p:txBody>
          </p:sp>
          <p:sp>
            <p:nvSpPr>
              <p:cNvPr id="57359" name="Text Box 31">
                <a:extLst>
                  <a:ext uri="{FF2B5EF4-FFF2-40B4-BE49-F238E27FC236}">
                    <a16:creationId xmlns:a16="http://schemas.microsoft.com/office/drawing/2014/main" id="{53EACFCF-9181-40EA-A75A-74CAF46B7D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4" y="2956"/>
                <a:ext cx="33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400" b="1" i="1">
                    <a:solidFill>
                      <a:srgbClr val="003C75"/>
                    </a:solidFill>
                  </a:rPr>
                  <a:t>E</a:t>
                </a:r>
                <a:r>
                  <a:rPr lang="en-US" altLang="it-IT" sz="1400" b="1" i="1" baseline="-25000">
                    <a:solidFill>
                      <a:srgbClr val="003C75"/>
                    </a:solidFill>
                  </a:rPr>
                  <a:t>2</a:t>
                </a:r>
                <a:endParaRPr lang="en-US" altLang="it-IT" sz="1400" b="1" i="1">
                  <a:solidFill>
                    <a:srgbClr val="003C75"/>
                  </a:solidFill>
                </a:endParaRPr>
              </a:p>
            </p:txBody>
          </p:sp>
          <p:sp>
            <p:nvSpPr>
              <p:cNvPr id="57360" name="Text Box 32">
                <a:extLst>
                  <a:ext uri="{FF2B5EF4-FFF2-40B4-BE49-F238E27FC236}">
                    <a16:creationId xmlns:a16="http://schemas.microsoft.com/office/drawing/2014/main" id="{CA551CAF-315F-41D4-9F74-1FB1748CE3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12" y="3360"/>
                <a:ext cx="33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400" b="1" i="1">
                    <a:solidFill>
                      <a:srgbClr val="003C75"/>
                    </a:solidFill>
                  </a:rPr>
                  <a:t>S</a:t>
                </a:r>
                <a:r>
                  <a:rPr lang="en-US" altLang="it-IT" sz="1400" b="1" i="1" baseline="-25000">
                    <a:solidFill>
                      <a:srgbClr val="003C75"/>
                    </a:solidFill>
                  </a:rPr>
                  <a:t>1</a:t>
                </a:r>
                <a:endParaRPr lang="en-US" altLang="it-IT" sz="1400" b="1" i="1">
                  <a:solidFill>
                    <a:srgbClr val="003C75"/>
                  </a:solidFill>
                </a:endParaRPr>
              </a:p>
            </p:txBody>
          </p:sp>
          <p:sp>
            <p:nvSpPr>
              <p:cNvPr id="57361" name="Line 33">
                <a:extLst>
                  <a:ext uri="{FF2B5EF4-FFF2-40B4-BE49-F238E27FC236}">
                    <a16:creationId xmlns:a16="http://schemas.microsoft.com/office/drawing/2014/main" id="{058A7617-09C7-4CB0-B1B9-B476213A30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09" y="1876"/>
                <a:ext cx="0" cy="1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57362" name="Line 34">
                <a:extLst>
                  <a:ext uri="{FF2B5EF4-FFF2-40B4-BE49-F238E27FC236}">
                    <a16:creationId xmlns:a16="http://schemas.microsoft.com/office/drawing/2014/main" id="{7DDB83EF-EF13-4C3A-90D2-EE752CF9FE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04" y="2304"/>
                <a:ext cx="0" cy="1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57363" name="Line 35">
                <a:extLst>
                  <a:ext uri="{FF2B5EF4-FFF2-40B4-BE49-F238E27FC236}">
                    <a16:creationId xmlns:a16="http://schemas.microsoft.com/office/drawing/2014/main" id="{ABC76565-8890-493C-851D-23010E3684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99" y="2732"/>
                <a:ext cx="0" cy="1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57364" name="Line 36">
                <a:extLst>
                  <a:ext uri="{FF2B5EF4-FFF2-40B4-BE49-F238E27FC236}">
                    <a16:creationId xmlns:a16="http://schemas.microsoft.com/office/drawing/2014/main" id="{99479F87-E7C4-4751-80A7-58FA508679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94" y="3160"/>
                <a:ext cx="0" cy="1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grpSp>
            <p:nvGrpSpPr>
              <p:cNvPr id="57365" name="Group 37">
                <a:extLst>
                  <a:ext uri="{FF2B5EF4-FFF2-40B4-BE49-F238E27FC236}">
                    <a16:creationId xmlns:a16="http://schemas.microsoft.com/office/drawing/2014/main" id="{10D7678D-4885-4508-8141-5697941B54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47" y="2677"/>
                <a:ext cx="578" cy="871"/>
                <a:chOff x="4025" y="1817"/>
                <a:chExt cx="578" cy="871"/>
              </a:xfrm>
            </p:grpSpPr>
            <p:sp>
              <p:nvSpPr>
                <p:cNvPr id="57368" name="Oval 38">
                  <a:extLst>
                    <a:ext uri="{FF2B5EF4-FFF2-40B4-BE49-F238E27FC236}">
                      <a16:creationId xmlns:a16="http://schemas.microsoft.com/office/drawing/2014/main" id="{FAB61626-B461-46F5-B172-001E1B03C5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88" y="2064"/>
                  <a:ext cx="288" cy="24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400" b="1"/>
                    <a:t>else</a:t>
                  </a:r>
                </a:p>
              </p:txBody>
            </p:sp>
            <p:sp>
              <p:nvSpPr>
                <p:cNvPr id="57369" name="Text Box 39">
                  <a:extLst>
                    <a:ext uri="{FF2B5EF4-FFF2-40B4-BE49-F238E27FC236}">
                      <a16:creationId xmlns:a16="http://schemas.microsoft.com/office/drawing/2014/main" id="{1E1161A5-BC84-45CA-B499-2EB5D4D3FBA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67" y="2496"/>
                  <a:ext cx="336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altLang="it-IT" sz="1400" b="1" i="1">
                      <a:solidFill>
                        <a:srgbClr val="003C75"/>
                      </a:solidFill>
                    </a:rPr>
                    <a:t>S</a:t>
                  </a:r>
                  <a:r>
                    <a:rPr lang="en-US" altLang="it-IT" sz="1400" b="1" i="1" baseline="-25000">
                      <a:solidFill>
                        <a:srgbClr val="003C75"/>
                      </a:solidFill>
                    </a:rPr>
                    <a:t>2</a:t>
                  </a:r>
                  <a:endParaRPr lang="en-US" altLang="it-IT" sz="1400" b="1" i="1">
                    <a:solidFill>
                      <a:srgbClr val="003C75"/>
                    </a:solidFill>
                  </a:endParaRPr>
                </a:p>
              </p:txBody>
            </p:sp>
            <p:sp>
              <p:nvSpPr>
                <p:cNvPr id="57370" name="Line 40">
                  <a:extLst>
                    <a:ext uri="{FF2B5EF4-FFF2-40B4-BE49-F238E27FC236}">
                      <a16:creationId xmlns:a16="http://schemas.microsoft.com/office/drawing/2014/main" id="{C035F238-BD38-4E8F-A853-1838C7875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25" y="1817"/>
                  <a:ext cx="308" cy="2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57371" name="Line 41">
                  <a:extLst>
                    <a:ext uri="{FF2B5EF4-FFF2-40B4-BE49-F238E27FC236}">
                      <a16:creationId xmlns:a16="http://schemas.microsoft.com/office/drawing/2014/main" id="{D33BF1C1-EF20-4317-8069-875AA8EB6F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32" y="2304"/>
                  <a:ext cx="0" cy="19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</p:grpSp>
          <p:sp>
            <p:nvSpPr>
              <p:cNvPr id="57366" name="Line 42">
                <a:extLst>
                  <a:ext uri="{FF2B5EF4-FFF2-40B4-BE49-F238E27FC236}">
                    <a16:creationId xmlns:a16="http://schemas.microsoft.com/office/drawing/2014/main" id="{42F8CF98-F799-4AEA-8FA5-7FDF3A02C1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91" y="1829"/>
                <a:ext cx="308" cy="2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57367" name="Line 43">
                <a:extLst>
                  <a:ext uri="{FF2B5EF4-FFF2-40B4-BE49-F238E27FC236}">
                    <a16:creationId xmlns:a16="http://schemas.microsoft.com/office/drawing/2014/main" id="{8076C524-C510-4270-9A78-7D1EEBB3C6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87" y="2709"/>
                <a:ext cx="308" cy="2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</p:grpSp>
        <p:sp>
          <p:nvSpPr>
            <p:cNvPr id="57353" name="Text Box 44">
              <a:extLst>
                <a:ext uri="{FF2B5EF4-FFF2-40B4-BE49-F238E27FC236}">
                  <a16:creationId xmlns:a16="http://schemas.microsoft.com/office/drawing/2014/main" id="{93739075-707C-4841-9D4A-5ADB4C80D1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1" y="3468"/>
              <a:ext cx="1296" cy="372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 i="1">
                  <a:solidFill>
                    <a:srgbClr val="003C75"/>
                  </a:solidFill>
                </a:rPr>
                <a:t>production 1, then production 2</a:t>
              </a:r>
              <a:endParaRPr lang="en-US" altLang="it-IT" sz="1400" i="1">
                <a:solidFill>
                  <a:srgbClr val="003C75"/>
                </a:solidFill>
              </a:endParaRPr>
            </a:p>
          </p:txBody>
        </p:sp>
      </p:grpSp>
      <p:sp>
        <p:nvSpPr>
          <p:cNvPr id="37933" name="Text Box 45">
            <a:extLst>
              <a:ext uri="{FF2B5EF4-FFF2-40B4-BE49-F238E27FC236}">
                <a16:creationId xmlns:a16="http://schemas.microsoft.com/office/drawing/2014/main" id="{32475F7C-9A03-4C42-91AF-DC53493EB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1524000"/>
            <a:ext cx="2286000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FF0065"/>
                </a:solidFill>
              </a:rPr>
              <a:t>Part of the problem is that the structure built by the parser will determine the interpretation of the code, and these two forms have different meanings!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9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33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Footer Placeholder 1">
            <a:extLst>
              <a:ext uri="{FF2B5EF4-FFF2-40B4-BE49-F238E27FC236}">
                <a16:creationId xmlns:a16="http://schemas.microsoft.com/office/drawing/2014/main" id="{0D96C8DF-588D-4BBE-836D-E8168356F7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9394" name="Slide Number Placeholder 2">
            <a:extLst>
              <a:ext uri="{FF2B5EF4-FFF2-40B4-BE49-F238E27FC236}">
                <a16:creationId xmlns:a16="http://schemas.microsoft.com/office/drawing/2014/main" id="{ECF22016-90E7-4340-B658-F7B9C5FDDC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050E8F3-4D70-4677-B445-22E48465CE4B}" type="slidenum">
              <a:rPr lang="en-US" altLang="it-IT"/>
              <a:pPr/>
              <a:t>22</a:t>
            </a:fld>
            <a:endParaRPr lang="en-US" altLang="it-IT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69DDFA96-A6CD-4F71-8434-ED16750072E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>
                <a:sym typeface="Symbol" panose="05050102010706020507" pitchFamily="18" charset="2"/>
              </a:rPr>
              <a:t>Ambiguity</a:t>
            </a: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610154FF-49B3-4F76-8690-129E6A3FE09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Removing the ambiguity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Must rewrite the grammar to avoid generating the problem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Match each </a:t>
            </a:r>
            <a:r>
              <a:rPr lang="en-US" altLang="it-IT" u="sng">
                <a:sym typeface="Symbol" panose="05050102010706020507" pitchFamily="18" charset="2"/>
              </a:rPr>
              <a:t>else</a:t>
            </a:r>
            <a:r>
              <a:rPr lang="en-US" altLang="it-IT">
                <a:sym typeface="Symbol" panose="05050102010706020507" pitchFamily="18" charset="2"/>
              </a:rPr>
              <a:t> to innermost unmatched </a:t>
            </a:r>
            <a:r>
              <a:rPr lang="en-US" altLang="it-IT" u="sng">
                <a:sym typeface="Symbol" panose="05050102010706020507" pitchFamily="18" charset="2"/>
              </a:rPr>
              <a:t>if</a:t>
            </a:r>
            <a:r>
              <a:rPr lang="en-US" altLang="it-IT">
                <a:sym typeface="Symbol" panose="05050102010706020507" pitchFamily="18" charset="2"/>
              </a:rPr>
              <a:t>  </a:t>
            </a:r>
            <a:r>
              <a:rPr lang="en-US" altLang="it-IT" sz="1800" i="1">
                <a:solidFill>
                  <a:srgbClr val="FF0065"/>
                </a:solidFill>
                <a:sym typeface="Symbol" panose="05050102010706020507" pitchFamily="18" charset="2"/>
              </a:rPr>
              <a:t>(</a:t>
            </a:r>
            <a:r>
              <a:rPr lang="en-US" altLang="it-IT" sz="1600" i="1">
                <a:solidFill>
                  <a:srgbClr val="FF0065"/>
                </a:solidFill>
                <a:sym typeface="Symbol" panose="05050102010706020507" pitchFamily="18" charset="2"/>
              </a:rPr>
              <a:t>common sense rule</a:t>
            </a:r>
            <a:r>
              <a:rPr lang="en-US" altLang="it-IT" sz="1800" i="1">
                <a:solidFill>
                  <a:srgbClr val="FF0065"/>
                </a:solidFill>
                <a:sym typeface="Symbol" panose="05050102010706020507" pitchFamily="18" charset="2"/>
              </a:rPr>
              <a:t>)</a:t>
            </a:r>
            <a:endParaRPr lang="en-US" altLang="it-IT">
              <a:solidFill>
                <a:srgbClr val="ED181E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90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With this grammar, example has only one rightmost derivation</a:t>
            </a:r>
          </a:p>
        </p:txBody>
      </p:sp>
      <p:graphicFrame>
        <p:nvGraphicFramePr>
          <p:cNvPr id="39989" name="Group 53">
            <a:extLst>
              <a:ext uri="{FF2B5EF4-FFF2-40B4-BE49-F238E27FC236}">
                <a16:creationId xmlns:a16="http://schemas.microsoft.com/office/drawing/2014/main" id="{BCFAF0A8-EE7E-4366-A82F-0F1AE0361D04}"/>
              </a:ext>
            </a:extLst>
          </p:cNvPr>
          <p:cNvGraphicFramePr>
            <a:graphicFrameLocks noGrp="1"/>
          </p:cNvGraphicFramePr>
          <p:nvPr/>
        </p:nvGraphicFramePr>
        <p:xfrm>
          <a:off x="1219200" y="2514600"/>
          <a:ext cx="6858000" cy="2108201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Stmt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if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</a:t>
                      </a: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then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Stmt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endParaRPr kumimoji="0" lang="en-US" sz="18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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if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</a:t>
                      </a: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then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WithElse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else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Stmt</a:t>
                      </a:r>
                      <a:endParaRPr kumimoji="0" lang="en-US" sz="18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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Other Statements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WithElse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if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then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WithElse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else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WithElse</a:t>
                      </a:r>
                      <a:endParaRPr kumimoji="0" lang="en-US" sz="18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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Other Statements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9418" name="Text Box 44">
            <a:extLst>
              <a:ext uri="{FF2B5EF4-FFF2-40B4-BE49-F238E27FC236}">
                <a16:creationId xmlns:a16="http://schemas.microsoft.com/office/drawing/2014/main" id="{E323C580-DCED-4332-9672-67F6164F6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410200"/>
            <a:ext cx="7620000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5000"/>
              </a:spcBef>
            </a:pPr>
            <a:r>
              <a:rPr lang="en-US" altLang="it-IT">
                <a:solidFill>
                  <a:srgbClr val="003C75"/>
                </a:solidFill>
              </a:rPr>
              <a:t>Intuition: once into </a:t>
            </a:r>
            <a:r>
              <a:rPr lang="en-US" altLang="it-IT" i="1">
                <a:solidFill>
                  <a:srgbClr val="003C75"/>
                </a:solidFill>
              </a:rPr>
              <a:t>WithElse</a:t>
            </a:r>
            <a:r>
              <a:rPr lang="en-US" altLang="it-IT">
                <a:solidFill>
                  <a:srgbClr val="003C75"/>
                </a:solidFill>
              </a:rPr>
              <a:t>, we cannot generate an unmatched </a:t>
            </a:r>
            <a:r>
              <a:rPr lang="en-US" altLang="it-IT" u="sng">
                <a:solidFill>
                  <a:srgbClr val="003C75"/>
                </a:solidFill>
              </a:rPr>
              <a:t>else</a:t>
            </a:r>
            <a:endParaRPr lang="en-US" altLang="it-IT">
              <a:solidFill>
                <a:srgbClr val="003C75"/>
              </a:solidFill>
            </a:endParaRPr>
          </a:p>
          <a:p>
            <a:pPr>
              <a:spcBef>
                <a:spcPct val="15000"/>
              </a:spcBef>
            </a:pPr>
            <a:r>
              <a:rPr lang="en-US" altLang="it-IT">
                <a:solidFill>
                  <a:srgbClr val="003C75"/>
                </a:solidFill>
              </a:rPr>
              <a:t>    … a final </a:t>
            </a:r>
            <a:r>
              <a:rPr lang="en-US" altLang="it-IT" u="sng">
                <a:solidFill>
                  <a:srgbClr val="003C75"/>
                </a:solidFill>
              </a:rPr>
              <a:t>if</a:t>
            </a:r>
            <a:r>
              <a:rPr lang="en-US" altLang="it-IT">
                <a:solidFill>
                  <a:srgbClr val="003C75"/>
                </a:solidFill>
              </a:rPr>
              <a:t> without an </a:t>
            </a:r>
            <a:r>
              <a:rPr lang="en-US" altLang="it-IT" u="sng">
                <a:solidFill>
                  <a:srgbClr val="003C75"/>
                </a:solidFill>
              </a:rPr>
              <a:t>else</a:t>
            </a:r>
            <a:r>
              <a:rPr lang="en-US" altLang="it-IT">
                <a:solidFill>
                  <a:srgbClr val="003C75"/>
                </a:solidFill>
              </a:rPr>
              <a:t> can only come through rule 2 …</a:t>
            </a:r>
          </a:p>
        </p:txBody>
      </p:sp>
      <p:sp>
        <p:nvSpPr>
          <p:cNvPr id="59419" name="Text Box 46">
            <a:extLst>
              <a:ext uri="{FF2B5EF4-FFF2-40B4-BE49-F238E27FC236}">
                <a16:creationId xmlns:a16="http://schemas.microsoft.com/office/drawing/2014/main" id="{A8B24A95-5CF1-4C6A-B739-18F148433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333375"/>
            <a:ext cx="3505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FF0065"/>
                </a:solidFill>
              </a:rPr>
              <a:t>The grammar forces the structure to match the desired meaning.</a:t>
            </a:r>
          </a:p>
        </p:txBody>
      </p:sp>
      <p:sp>
        <p:nvSpPr>
          <p:cNvPr id="39983" name="Freeform 47">
            <a:extLst>
              <a:ext uri="{FF2B5EF4-FFF2-40B4-BE49-F238E27FC236}">
                <a16:creationId xmlns:a16="http://schemas.microsoft.com/office/drawing/2014/main" id="{8159FFA3-C55F-4D86-81C9-56474F6D9603}"/>
              </a:ext>
            </a:extLst>
          </p:cNvPr>
          <p:cNvSpPr>
            <a:spLocks/>
          </p:cNvSpPr>
          <p:nvPr/>
        </p:nvSpPr>
        <p:spPr bwMode="auto">
          <a:xfrm>
            <a:off x="6324600" y="762000"/>
            <a:ext cx="901700" cy="1143000"/>
          </a:xfrm>
          <a:custGeom>
            <a:avLst/>
            <a:gdLst/>
            <a:ahLst/>
            <a:cxnLst>
              <a:cxn ang="0">
                <a:pos x="240" y="0"/>
              </a:cxn>
              <a:cxn ang="0">
                <a:pos x="528" y="192"/>
              </a:cxn>
              <a:cxn ang="0">
                <a:pos x="0" y="720"/>
              </a:cxn>
            </a:cxnLst>
            <a:rect l="0" t="0" r="r" b="b"/>
            <a:pathLst>
              <a:path w="568" h="720">
                <a:moveTo>
                  <a:pt x="240" y="0"/>
                </a:moveTo>
                <a:cubicBezTo>
                  <a:pt x="404" y="36"/>
                  <a:pt x="568" y="72"/>
                  <a:pt x="528" y="192"/>
                </a:cubicBezTo>
                <a:cubicBezTo>
                  <a:pt x="488" y="312"/>
                  <a:pt x="244" y="516"/>
                  <a:pt x="0" y="720"/>
                </a:cubicBezTo>
              </a:path>
            </a:pathLst>
          </a:custGeom>
          <a:noFill/>
          <a:ln w="12700" cmpd="sng">
            <a:solidFill>
              <a:srgbClr val="FF0065"/>
            </a:solidFill>
            <a:round/>
            <a:headEnd type="none" w="med" len="med"/>
            <a:tailEnd type="triangle" w="med" len="med"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Footer Placeholder 1">
            <a:extLst>
              <a:ext uri="{FF2B5EF4-FFF2-40B4-BE49-F238E27FC236}">
                <a16:creationId xmlns:a16="http://schemas.microsoft.com/office/drawing/2014/main" id="{BBCE07F1-6587-4C7C-87AA-5651902861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1442" name="Slide Number Placeholder 2">
            <a:extLst>
              <a:ext uri="{FF2B5EF4-FFF2-40B4-BE49-F238E27FC236}">
                <a16:creationId xmlns:a16="http://schemas.microsoft.com/office/drawing/2014/main" id="{6A0E94EF-70DD-4CEE-BB6A-C3C606D876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1796426-3CC9-4C69-B5C6-70C6818FA566}" type="slidenum">
              <a:rPr lang="en-US" altLang="it-IT"/>
              <a:pPr/>
              <a:t>23</a:t>
            </a:fld>
            <a:endParaRPr lang="en-US" altLang="it-IT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D2D28A08-7330-4E85-8709-D5459B2C4E8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800000"/>
              </a:spcBef>
            </a:pPr>
            <a:r>
              <a:rPr lang="en-US" altLang="it-IT">
                <a:sym typeface="Symbol" panose="05050102010706020507" pitchFamily="18" charset="2"/>
              </a:rPr>
              <a:t>Ambiguity </a:t>
            </a:r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A5CF5694-D89F-4D72-8B61-9B874C68492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066800"/>
            <a:ext cx="8001000" cy="4953000"/>
          </a:xfrm>
        </p:spPr>
        <p:txBody>
          <a:bodyPr/>
          <a:lstStyle/>
          <a:p>
            <a:pPr eaLnBrk="1" hangingPunct="1">
              <a:spcBef>
                <a:spcPct val="80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	</a:t>
            </a:r>
            <a:r>
              <a:rPr lang="en-US" altLang="it-IT" u="sng">
                <a:sym typeface="Symbol" panose="05050102010706020507" pitchFamily="18" charset="2"/>
              </a:rPr>
              <a:t>if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Expr</a:t>
            </a:r>
            <a:r>
              <a:rPr lang="en-US" altLang="it-IT" i="1" baseline="-25000">
                <a:solidFill>
                  <a:srgbClr val="003C75"/>
                </a:solidFill>
                <a:sym typeface="Symbol" panose="05050102010706020507" pitchFamily="18" charset="2"/>
              </a:rPr>
              <a:t>1</a:t>
            </a: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ym typeface="Symbol" panose="05050102010706020507" pitchFamily="18" charset="2"/>
              </a:rPr>
              <a:t>then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u="sng">
                <a:sym typeface="Symbol" panose="05050102010706020507" pitchFamily="18" charset="2"/>
              </a:rPr>
              <a:t>if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Expr</a:t>
            </a:r>
            <a:r>
              <a:rPr lang="en-US" altLang="it-IT" i="1" baseline="-25000">
                <a:solidFill>
                  <a:srgbClr val="003C75"/>
                </a:solidFill>
                <a:sym typeface="Symbol" panose="05050102010706020507" pitchFamily="18" charset="2"/>
              </a:rPr>
              <a:t>2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ym typeface="Symbol" panose="05050102010706020507" pitchFamily="18" charset="2"/>
              </a:rPr>
              <a:t>then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Stmt</a:t>
            </a:r>
            <a:r>
              <a:rPr lang="en-US" altLang="it-IT" i="1" baseline="-25000">
                <a:solidFill>
                  <a:srgbClr val="003C75"/>
                </a:solidFill>
                <a:sym typeface="Symbol" panose="05050102010706020507" pitchFamily="18" charset="2"/>
              </a:rPr>
              <a:t>1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  </a:t>
            </a:r>
            <a:r>
              <a:rPr lang="en-US" altLang="it-IT" u="sng">
                <a:sym typeface="Symbol" panose="05050102010706020507" pitchFamily="18" charset="2"/>
              </a:rPr>
              <a:t>else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Stmt</a:t>
            </a:r>
            <a:r>
              <a:rPr lang="en-US" altLang="it-IT" i="1" baseline="-25000">
                <a:solidFill>
                  <a:srgbClr val="003C75"/>
                </a:solidFill>
                <a:sym typeface="Symbol" panose="05050102010706020507" pitchFamily="18" charset="2"/>
              </a:rPr>
              <a:t>2 </a:t>
            </a:r>
            <a:endParaRPr lang="en-US" altLang="it-IT">
              <a:solidFill>
                <a:srgbClr val="003C75"/>
              </a:solidFill>
              <a:sym typeface="Symbol" panose="05050102010706020507" pitchFamily="18" charset="2"/>
            </a:endParaRPr>
          </a:p>
          <a:p>
            <a:pPr lvl="1" eaLnBrk="1" hangingPunct="1">
              <a:spcBef>
                <a:spcPct val="800000"/>
              </a:spcBef>
              <a:buFontTx/>
              <a:buNone/>
            </a:pP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50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This grammar has only one rightmost derivation for the example</a:t>
            </a:r>
          </a:p>
        </p:txBody>
      </p:sp>
      <p:graphicFrame>
        <p:nvGraphicFramePr>
          <p:cNvPr id="42076" name="Group 92">
            <a:extLst>
              <a:ext uri="{FF2B5EF4-FFF2-40B4-BE49-F238E27FC236}">
                <a16:creationId xmlns:a16="http://schemas.microsoft.com/office/drawing/2014/main" id="{E0160E02-B681-4072-B093-DA40F58D1A41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1701800"/>
          <a:ext cx="6858000" cy="29464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Rule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Sentential Form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Stmt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if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then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Stmt</a:t>
                      </a:r>
                      <a:endParaRPr kumimoji="0" lang="en-US" sz="18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if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Expr </a:t>
                      </a: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then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if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then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WithElse </a:t>
                      </a: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else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Stmt</a:t>
                      </a:r>
                      <a:endParaRPr kumimoji="0" lang="en-US" sz="1800" b="0" i="1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if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then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if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then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WithElse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else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</a:t>
                      </a:r>
                      <a:r>
                        <a:rPr kumimoji="0" lang="en-US" sz="1800" b="0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endParaRPr kumimoji="0" 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rgbClr val="003C7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if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then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if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then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   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025A6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</a:t>
                      </a:r>
                      <a:r>
                        <a:rPr kumimoji="0" lang="en-US" sz="1800" b="0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      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else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</a:t>
                      </a:r>
                      <a:r>
                        <a:rPr kumimoji="0" lang="en-US" sz="1800" b="0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?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if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then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if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 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</a:t>
                      </a:r>
                      <a:r>
                        <a:rPr kumimoji="0" lang="en-US" sz="1800" b="0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  </a:t>
                      </a:r>
                      <a:r>
                        <a:rPr kumimoji="0" lang="en-US" sz="1000" b="0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then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   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025A6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</a:t>
                      </a:r>
                      <a:r>
                        <a:rPr kumimoji="0" lang="en-US" sz="1800" b="0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      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else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</a:t>
                      </a:r>
                      <a:r>
                        <a:rPr kumimoji="0" lang="en-US" sz="1800" b="0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?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if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 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</a:t>
                      </a:r>
                      <a:r>
                        <a:rPr kumimoji="0" lang="en-US" sz="1800" b="0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800" b="0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B025A6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 </a:t>
                      </a:r>
                      <a:r>
                        <a:rPr kumimoji="0" lang="en-US" sz="1200" b="0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B025A6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then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if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 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</a:t>
                      </a:r>
                      <a:r>
                        <a:rPr kumimoji="0" lang="en-US" sz="1800" b="0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  </a:t>
                      </a:r>
                      <a:r>
                        <a:rPr kumimoji="0" lang="en-US" sz="1000" b="0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then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   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025A6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</a:t>
                      </a:r>
                      <a:r>
                        <a:rPr kumimoji="0" lang="en-US" sz="1800" b="0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      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else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</a:t>
                      </a:r>
                      <a:r>
                        <a:rPr kumimoji="0" lang="en-US" sz="1800" b="0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endParaRPr kumimoji="0" 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rgbClr val="003C7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61465" name="Group 99">
            <a:extLst>
              <a:ext uri="{FF2B5EF4-FFF2-40B4-BE49-F238E27FC236}">
                <a16:creationId xmlns:a16="http://schemas.microsoft.com/office/drawing/2014/main" id="{55C374A4-5968-433E-810C-D0CE4AA7DBE8}"/>
              </a:ext>
            </a:extLst>
          </p:cNvPr>
          <p:cNvGrpSpPr>
            <a:grpSpLocks/>
          </p:cNvGrpSpPr>
          <p:nvPr/>
        </p:nvGrpSpPr>
        <p:grpSpPr bwMode="auto">
          <a:xfrm>
            <a:off x="1247775" y="3886200"/>
            <a:ext cx="4848225" cy="1371600"/>
            <a:chOff x="786" y="2448"/>
            <a:chExt cx="3054" cy="864"/>
          </a:xfrm>
        </p:grpSpPr>
        <p:sp>
          <p:nvSpPr>
            <p:cNvPr id="61466" name="Oval 93">
              <a:extLst>
                <a:ext uri="{FF2B5EF4-FFF2-40B4-BE49-F238E27FC236}">
                  <a16:creationId xmlns:a16="http://schemas.microsoft.com/office/drawing/2014/main" id="{5B669229-E89B-483F-BE8D-2B34D0D04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" y="2448"/>
              <a:ext cx="192" cy="480"/>
            </a:xfrm>
            <a:prstGeom prst="ellipse">
              <a:avLst/>
            </a:prstGeom>
            <a:noFill/>
            <a:ln w="19050">
              <a:solidFill>
                <a:srgbClr val="FF006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61467" name="Text Box 96">
              <a:extLst>
                <a:ext uri="{FF2B5EF4-FFF2-40B4-BE49-F238E27FC236}">
                  <a16:creationId xmlns:a16="http://schemas.microsoft.com/office/drawing/2014/main" id="{F547E335-EB85-461D-A50B-D90A4B170F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3086"/>
              <a:ext cx="225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FF0065"/>
                  </a:solidFill>
                </a:rPr>
                <a:t>Other productions to derive </a:t>
              </a:r>
              <a:r>
                <a:rPr lang="en-US" altLang="it-IT" sz="1600" i="1">
                  <a:solidFill>
                    <a:srgbClr val="FF0065"/>
                  </a:solidFill>
                </a:rPr>
                <a:t>Expr</a:t>
              </a:r>
              <a:r>
                <a:rPr lang="en-US" altLang="it-IT" sz="800" i="1">
                  <a:solidFill>
                    <a:srgbClr val="FF0065"/>
                  </a:solidFill>
                </a:rPr>
                <a:t> </a:t>
              </a:r>
              <a:r>
                <a:rPr lang="en-US" altLang="it-IT" sz="1600">
                  <a:solidFill>
                    <a:srgbClr val="FF0065"/>
                  </a:solidFill>
                </a:rPr>
                <a:t>s</a:t>
              </a:r>
            </a:p>
          </p:txBody>
        </p:sp>
        <p:sp>
          <p:nvSpPr>
            <p:cNvPr id="61468" name="Line 97">
              <a:extLst>
                <a:ext uri="{FF2B5EF4-FFF2-40B4-BE49-F238E27FC236}">
                  <a16:creationId xmlns:a16="http://schemas.microsoft.com/office/drawing/2014/main" id="{79EA5866-AFD0-4226-9964-A03001CE06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3072"/>
              <a:ext cx="0" cy="240"/>
            </a:xfrm>
            <a:prstGeom prst="line">
              <a:avLst/>
            </a:prstGeom>
            <a:noFill/>
            <a:ln w="19050">
              <a:solidFill>
                <a:srgbClr val="FF006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1469" name="Freeform 98">
              <a:extLst>
                <a:ext uri="{FF2B5EF4-FFF2-40B4-BE49-F238E27FC236}">
                  <a16:creationId xmlns:a16="http://schemas.microsoft.com/office/drawing/2014/main" id="{2EA20AD4-2617-4FD1-BDA7-2B71FF7A4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2832"/>
              <a:ext cx="624" cy="392"/>
            </a:xfrm>
            <a:custGeom>
              <a:avLst/>
              <a:gdLst>
                <a:gd name="T0" fmla="*/ 624 w 624"/>
                <a:gd name="T1" fmla="*/ 336 h 392"/>
                <a:gd name="T2" fmla="*/ 192 w 624"/>
                <a:gd name="T3" fmla="*/ 336 h 392"/>
                <a:gd name="T4" fmla="*/ 0 w 624"/>
                <a:gd name="T5" fmla="*/ 0 h 392"/>
                <a:gd name="T6" fmla="*/ 0 60000 65536"/>
                <a:gd name="T7" fmla="*/ 0 60000 65536"/>
                <a:gd name="T8" fmla="*/ 0 60000 65536"/>
                <a:gd name="T9" fmla="*/ 0 w 624"/>
                <a:gd name="T10" fmla="*/ 0 h 392"/>
                <a:gd name="T11" fmla="*/ 624 w 624"/>
                <a:gd name="T12" fmla="*/ 392 h 3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4" h="392">
                  <a:moveTo>
                    <a:pt x="624" y="336"/>
                  </a:moveTo>
                  <a:cubicBezTo>
                    <a:pt x="460" y="364"/>
                    <a:pt x="296" y="392"/>
                    <a:pt x="192" y="336"/>
                  </a:cubicBezTo>
                  <a:cubicBezTo>
                    <a:pt x="88" y="280"/>
                    <a:pt x="44" y="140"/>
                    <a:pt x="0" y="0"/>
                  </a:cubicBezTo>
                </a:path>
              </a:pathLst>
            </a:custGeom>
            <a:noFill/>
            <a:ln w="19050">
              <a:solidFill>
                <a:srgbClr val="FF006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Footer Placeholder 1">
            <a:extLst>
              <a:ext uri="{FF2B5EF4-FFF2-40B4-BE49-F238E27FC236}">
                <a16:creationId xmlns:a16="http://schemas.microsoft.com/office/drawing/2014/main" id="{078D39E5-3EF8-4C0D-9465-11D758544E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3490" name="Slide Number Placeholder 2">
            <a:extLst>
              <a:ext uri="{FF2B5EF4-FFF2-40B4-BE49-F238E27FC236}">
                <a16:creationId xmlns:a16="http://schemas.microsoft.com/office/drawing/2014/main" id="{D6CB3FF1-71CA-4AF0-906C-18AC118F93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9EFB04C-B19F-40BB-8B6D-6E79B23C96FF}" type="slidenum">
              <a:rPr lang="en-US" altLang="it-IT"/>
              <a:pPr/>
              <a:t>24</a:t>
            </a:fld>
            <a:endParaRPr lang="en-US" altLang="it-IT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523A2B33-9A47-447E-B16F-BCE0C8E845A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500000"/>
              </a:spcBef>
            </a:pPr>
            <a:r>
              <a:rPr lang="en-US" altLang="it-IT">
                <a:sym typeface="Symbol" panose="05050102010706020507" pitchFamily="18" charset="2"/>
              </a:rPr>
              <a:t>Deeper Ambiguity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64953381-F56D-4153-8E66-C9FF2178766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Ambiguity usually  refers to confusion in the CFG</a:t>
            </a:r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Overloading can create deeper ambiguity</a:t>
            </a:r>
          </a:p>
          <a:p>
            <a:pPr lvl="1" eaLnBrk="1" hangingPunct="1">
              <a:buFontTx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a = f(17)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In many Algol-like languages, </a:t>
            </a:r>
            <a:r>
              <a:rPr lang="en-US" altLang="it-IT" u="sng">
                <a:sym typeface="Symbol" panose="05050102010706020507" pitchFamily="18" charset="2"/>
              </a:rPr>
              <a:t>f</a:t>
            </a:r>
            <a:r>
              <a:rPr lang="en-US" altLang="it-IT">
                <a:sym typeface="Symbol" panose="05050102010706020507" pitchFamily="18" charset="2"/>
              </a:rPr>
              <a:t> could be either a function or a subscripted variable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Disambiguating this one requires context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Need values of declarations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Really an issue of </a:t>
            </a:r>
            <a:r>
              <a:rPr lang="en-US" altLang="it-IT" i="1">
                <a:sym typeface="Symbol" panose="05050102010706020507" pitchFamily="18" charset="2"/>
              </a:rPr>
              <a:t>type</a:t>
            </a:r>
            <a:r>
              <a:rPr lang="en-US" altLang="it-IT">
                <a:sym typeface="Symbol" panose="05050102010706020507" pitchFamily="18" charset="2"/>
              </a:rPr>
              <a:t>, not context-free syntax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Requires an extra-grammatical solution (not in </a:t>
            </a:r>
            <a:r>
              <a:rPr lang="en-US" altLang="it-IT" sz="1800">
                <a:sym typeface="Symbol" panose="05050102010706020507" pitchFamily="18" charset="2"/>
              </a:rPr>
              <a:t>CFG</a:t>
            </a:r>
            <a:r>
              <a:rPr lang="en-US" altLang="it-IT"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Must handle these with a different mechanism</a:t>
            </a:r>
          </a:p>
          <a:p>
            <a:pPr lvl="1" eaLnBrk="1" hangingPunct="1"/>
            <a:r>
              <a:rPr lang="en-US" altLang="it-IT">
                <a:sym typeface="Symbol" panose="05050102010706020507" pitchFamily="18" charset="2"/>
              </a:rPr>
              <a:t>Step outside grammar rather than use a more complex grammar</a:t>
            </a:r>
          </a:p>
        </p:txBody>
      </p:sp>
    </p:spTree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Footer Placeholder 1">
            <a:extLst>
              <a:ext uri="{FF2B5EF4-FFF2-40B4-BE49-F238E27FC236}">
                <a16:creationId xmlns:a16="http://schemas.microsoft.com/office/drawing/2014/main" id="{DF9295FE-BAE8-41E1-8906-3BE2D27C05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5538" name="Slide Number Placeholder 2">
            <a:extLst>
              <a:ext uri="{FF2B5EF4-FFF2-40B4-BE49-F238E27FC236}">
                <a16:creationId xmlns:a16="http://schemas.microsoft.com/office/drawing/2014/main" id="{CB2B1780-C352-40AE-94FA-11180CF11B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45F8635-88EF-4B39-81FC-25839681ED1E}" type="slidenum">
              <a:rPr lang="en-US" altLang="it-IT"/>
              <a:pPr/>
              <a:t>25</a:t>
            </a:fld>
            <a:endParaRPr lang="en-US" altLang="it-IT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FFB84A93-2684-4DAD-AFED-B24B386D7BD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Ambiguity - the Final Word</a:t>
            </a:r>
          </a:p>
        </p:txBody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FC75FAFE-C661-415D-B856-88487B7A76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Ambiguity arises from two distinct sources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Confusion in the context-free syntax                </a:t>
            </a:r>
            <a:r>
              <a:rPr lang="en-US" altLang="it-IT" sz="1800">
                <a:solidFill>
                  <a:srgbClr val="FF0065"/>
                </a:solidFill>
                <a:sym typeface="Symbol" panose="05050102010706020507" pitchFamily="18" charset="2"/>
              </a:rPr>
              <a:t>(</a:t>
            </a:r>
            <a:r>
              <a:rPr lang="en-US" altLang="it-IT" sz="1600" i="1" u="sng">
                <a:solidFill>
                  <a:srgbClr val="FF0065"/>
                </a:solidFill>
                <a:sym typeface="Symbol" panose="05050102010706020507" pitchFamily="18" charset="2"/>
              </a:rPr>
              <a:t>if</a:t>
            </a:r>
            <a:r>
              <a:rPr lang="en-US" altLang="it-IT" sz="1600" i="1">
                <a:solidFill>
                  <a:srgbClr val="FF0065"/>
                </a:solidFill>
                <a:sym typeface="Symbol" panose="05050102010706020507" pitchFamily="18" charset="2"/>
              </a:rPr>
              <a:t>-</a:t>
            </a:r>
            <a:r>
              <a:rPr lang="en-US" altLang="it-IT" sz="1600" i="1" u="sng">
                <a:solidFill>
                  <a:srgbClr val="FF0065"/>
                </a:solidFill>
                <a:sym typeface="Symbol" panose="05050102010706020507" pitchFamily="18" charset="2"/>
              </a:rPr>
              <a:t>then</a:t>
            </a:r>
            <a:r>
              <a:rPr lang="en-US" altLang="it-IT" sz="1600" i="1">
                <a:solidFill>
                  <a:srgbClr val="FF0065"/>
                </a:solidFill>
                <a:sym typeface="Symbol" panose="05050102010706020507" pitchFamily="18" charset="2"/>
              </a:rPr>
              <a:t>-</a:t>
            </a:r>
            <a:r>
              <a:rPr lang="en-US" altLang="it-IT" sz="1600" i="1" u="sng">
                <a:solidFill>
                  <a:srgbClr val="FF0065"/>
                </a:solidFill>
                <a:sym typeface="Symbol" panose="05050102010706020507" pitchFamily="18" charset="2"/>
              </a:rPr>
              <a:t>else</a:t>
            </a:r>
            <a:r>
              <a:rPr lang="en-US" altLang="it-IT" sz="1800">
                <a:solidFill>
                  <a:srgbClr val="FF0065"/>
                </a:solidFill>
                <a:sym typeface="Symbol" panose="05050102010706020507" pitchFamily="18" charset="2"/>
              </a:rPr>
              <a:t>)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Confusion that requires context to resolve       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sz="1600">
                <a:solidFill>
                  <a:srgbClr val="FF0065"/>
                </a:solidFill>
                <a:sym typeface="Symbol" panose="05050102010706020507" pitchFamily="18" charset="2"/>
              </a:rPr>
              <a:t>(</a:t>
            </a:r>
            <a:r>
              <a:rPr lang="en-US" altLang="it-IT" sz="1600" i="1">
                <a:solidFill>
                  <a:srgbClr val="FF0065"/>
                </a:solidFill>
                <a:sym typeface="Symbol" panose="05050102010706020507" pitchFamily="18" charset="2"/>
              </a:rPr>
              <a:t>overloading</a:t>
            </a:r>
            <a:r>
              <a:rPr lang="en-US" altLang="it-IT" sz="1600">
                <a:solidFill>
                  <a:srgbClr val="FF0065"/>
                </a:solidFill>
                <a:sym typeface="Symbol" panose="05050102010706020507" pitchFamily="18" charset="2"/>
              </a:rPr>
              <a:t>)</a:t>
            </a:r>
            <a:endParaRPr lang="en-US" altLang="it-IT">
              <a:solidFill>
                <a:srgbClr val="FF0065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Resolving ambiguity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To remove context-free ambiguity, rewrite the grammar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To handle context-sensitive ambiguity takes cooperation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it-IT">
                <a:sym typeface="Symbol" panose="05050102010706020507" pitchFamily="18" charset="2"/>
              </a:rPr>
              <a:t>Knowledge of declarations, types, …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it-IT">
                <a:sym typeface="Symbol" panose="05050102010706020507" pitchFamily="18" charset="2"/>
              </a:rPr>
              <a:t>Accept a superset of </a:t>
            </a:r>
            <a:r>
              <a:rPr lang="en-US" altLang="it-IT" i="1">
                <a:sym typeface="Symbol" panose="05050102010706020507" pitchFamily="18" charset="2"/>
              </a:rPr>
              <a:t>L(G) </a:t>
            </a:r>
            <a:r>
              <a:rPr lang="en-US" altLang="it-IT">
                <a:sym typeface="Symbol" panose="05050102010706020507" pitchFamily="18" charset="2"/>
              </a:rPr>
              <a:t>&amp; check it by other means</a:t>
            </a:r>
            <a:r>
              <a:rPr lang="en-US" altLang="it-IT" sz="2000" baseline="30000">
                <a:solidFill>
                  <a:srgbClr val="003C75"/>
                </a:solidFill>
                <a:sym typeface="Symbol" panose="05050102010706020507" pitchFamily="18" charset="2"/>
              </a:rPr>
              <a:t>†</a:t>
            </a:r>
            <a:endParaRPr lang="en-US" altLang="it-IT">
              <a:solidFill>
                <a:srgbClr val="003C75"/>
              </a:solidFill>
              <a:sym typeface="Symbol" panose="05050102010706020507" pitchFamily="18" charset="2"/>
            </a:endParaRPr>
          </a:p>
          <a:p>
            <a:pPr lvl="1" eaLnBrk="1" hangingPunct="1">
              <a:spcBef>
                <a:spcPct val="10000"/>
              </a:spcBef>
            </a:pPr>
            <a:r>
              <a:rPr lang="en-US" altLang="it-IT">
                <a:sym typeface="Symbol" panose="05050102010706020507" pitchFamily="18" charset="2"/>
              </a:rPr>
              <a:t>This is a language design problem</a:t>
            </a:r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Sometimes, the compiler writer accepts an ambiguous grammar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it-IT">
                <a:sym typeface="Symbol" panose="05050102010706020507" pitchFamily="18" charset="2"/>
              </a:rPr>
              <a:t>Parsing techniques that “do the right thing”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it-IT" i="1">
                <a:sym typeface="Symbol" panose="05050102010706020507" pitchFamily="18" charset="2"/>
              </a:rPr>
              <a:t>i.e., </a:t>
            </a:r>
            <a:r>
              <a:rPr lang="en-US" altLang="it-IT">
                <a:sym typeface="Symbol" panose="05050102010706020507" pitchFamily="18" charset="2"/>
              </a:rPr>
              <a:t>always select the same derivation</a:t>
            </a:r>
            <a:endParaRPr lang="en-US" altLang="it-IT" baseline="30000">
              <a:sym typeface="Symbol" panose="05050102010706020507" pitchFamily="18" charset="2"/>
            </a:endParaRPr>
          </a:p>
        </p:txBody>
      </p:sp>
      <p:sp>
        <p:nvSpPr>
          <p:cNvPr id="65541" name="Text Box 4">
            <a:extLst>
              <a:ext uri="{FF2B5EF4-FFF2-40B4-BE49-F238E27FC236}">
                <a16:creationId xmlns:a16="http://schemas.microsoft.com/office/drawing/2014/main" id="{84BD0CE6-F0F1-4E85-98E7-A1F21F1007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6213475"/>
            <a:ext cx="2286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r">
              <a:spcBef>
                <a:spcPct val="25000"/>
              </a:spcBef>
            </a:pPr>
            <a:r>
              <a:rPr lang="en-US" altLang="it-IT" sz="1400" baseline="30000">
                <a:solidFill>
                  <a:srgbClr val="003C75"/>
                </a:solidFill>
                <a:sym typeface="Symbol" panose="05050102010706020507" pitchFamily="18" charset="2"/>
              </a:rPr>
              <a:t>†</a:t>
            </a:r>
            <a:r>
              <a:rPr lang="en-US" altLang="it-IT" sz="1400">
                <a:solidFill>
                  <a:srgbClr val="003C75"/>
                </a:solidFill>
                <a:sym typeface="Symbol" panose="05050102010706020507" pitchFamily="18" charset="2"/>
              </a:rPr>
              <a:t>See Chapter 4</a:t>
            </a:r>
            <a:endParaRPr lang="en-US" altLang="it-IT" sz="1400">
              <a:solidFill>
                <a:srgbClr val="003C75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Comic Sans MS"/>
        <a:ea typeface="ヒラギノ角ゴ Pro W3"/>
        <a:cs typeface="ヒラギノ角ゴ Pro W3"/>
      </a:majorFont>
      <a:minorFont>
        <a:latin typeface="Comic Sans MS"/>
        <a:ea typeface="ヒラギノ角ゴ Pro W3"/>
        <a:cs typeface="ヒラギノ角ゴ Pro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950</TotalTime>
  <Words>2465</Words>
  <Application>Microsoft Office PowerPoint</Application>
  <PresentationFormat>Presentazione su schermo (4:3)</PresentationFormat>
  <Paragraphs>708</Paragraphs>
  <Slides>26</Slides>
  <Notes>25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26</vt:i4>
      </vt:variant>
    </vt:vector>
  </HeadingPairs>
  <TitlesOfParts>
    <vt:vector size="27" baseType="lpstr">
      <vt:lpstr>Blank Presentation</vt:lpstr>
      <vt:lpstr>Introduction to Parsing  Comp 412</vt:lpstr>
      <vt:lpstr>The Front End</vt:lpstr>
      <vt:lpstr>The Study of Parsing</vt:lpstr>
      <vt:lpstr>Specifying Syntax with a Grammar</vt:lpstr>
      <vt:lpstr>Deriving Syntax</vt:lpstr>
      <vt:lpstr>Why Not Use Regular Languages &amp; DFAs?</vt:lpstr>
      <vt:lpstr>Limits of Regular Languages</vt:lpstr>
      <vt:lpstr>Context-free Grammars</vt:lpstr>
      <vt:lpstr>A More Useful Grammar Than Sheep Noise</vt:lpstr>
      <vt:lpstr>Derivations</vt:lpstr>
      <vt:lpstr>Derivations</vt:lpstr>
      <vt:lpstr>The Two Derivations for  x – 2 * y </vt:lpstr>
      <vt:lpstr>Derivations and Parse Trees</vt:lpstr>
      <vt:lpstr>Derivations and Parse Trees</vt:lpstr>
      <vt:lpstr>Derivations and Precedence</vt:lpstr>
      <vt:lpstr>Derivations and Precedence</vt:lpstr>
      <vt:lpstr>Derivations and Precedence</vt:lpstr>
      <vt:lpstr>Ambiguous Grammars</vt:lpstr>
      <vt:lpstr>Two Leftmost Derivations for x – 2 * y</vt:lpstr>
      <vt:lpstr>Two Leftmost Derivations for x – 2 * y</vt:lpstr>
      <vt:lpstr>Ambiguous Grammars</vt:lpstr>
      <vt:lpstr>Ambiguity</vt:lpstr>
      <vt:lpstr>Ambiguity</vt:lpstr>
      <vt:lpstr>Ambiguity </vt:lpstr>
      <vt:lpstr>Deeper Ambiguity</vt:lpstr>
      <vt:lpstr>Ambiguity - the Final Word</vt:lpstr>
    </vt:vector>
  </TitlesOfParts>
  <Company>Rice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Keith Cooper</dc:creator>
  <cp:lastModifiedBy>Elsevier</cp:lastModifiedBy>
  <cp:revision>35</cp:revision>
  <cp:lastPrinted>2010-09-15T13:11:26Z</cp:lastPrinted>
  <dcterms:created xsi:type="dcterms:W3CDTF">2010-09-15T13:10:42Z</dcterms:created>
  <dcterms:modified xsi:type="dcterms:W3CDTF">2020-10-20T11:38:54Z</dcterms:modified>
</cp:coreProperties>
</file>