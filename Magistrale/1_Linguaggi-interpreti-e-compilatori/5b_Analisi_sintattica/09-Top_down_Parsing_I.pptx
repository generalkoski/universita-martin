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259" r:id="rId4"/>
    <p:sldId id="260" r:id="rId5"/>
    <p:sldId id="261" r:id="rId6"/>
    <p:sldId id="28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1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3FD3A3-D621-463D-8558-B2A557E72C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CC3F8-DF72-49A2-B8DF-02281D434A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A41B768E-A55A-41BD-A6BE-04B3EAA0FFA1}" type="datetime1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C3451-A02A-49FD-A217-2FEC32DC1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2A693-C9AA-4650-B416-9433716A6C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73112887-006D-4613-A8CF-66A3410AA18B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3540F12-3E74-43E5-A0E5-0ACDB62C21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8806AD4-D7CE-43E4-8055-4545FF41177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B0E90C9-D79A-4DB7-997D-751445F66FF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AA46EA4-B145-4699-AD98-D5DAD6015B2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DBDFB0B-68AA-40F1-8FAC-0DCF2D22BA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8465C1F-E73D-4B90-8165-F12E726CBD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35AB066-2891-4AD0-9D4C-4724E46F9EC5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D3414731-EC0D-4FF4-A515-C50CFDC6DE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C9A011C-E094-486A-9276-B2819AFE7BCD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C16ABF8E-0AF3-4FAE-985B-05AB3F3ED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7289ECE-04FA-4449-B819-ABC273395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ABC493B4-92E4-4D65-AE9D-0B954FDA4B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1169E1B-BD0C-419F-8E9D-49611684C041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90FC2C3-6562-4E54-A06D-B0449F3126E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90D21BD-52F6-4FAA-821D-A376CA88B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D2898110-A6C8-42F7-B4D7-A8FC234772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EF77993-5322-4945-90C2-5D4BF6E46CE6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3E06BB70-F95D-42C1-B1A6-80689377D30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53628EE-9995-43A0-B8EE-F1510FEE4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89B1166D-2392-442A-9730-FEDD8A9D4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D77BF34-0854-4EF2-A54F-1EAD4C3D9975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F5B8B383-15AA-4D25-8D11-0C903D20097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CFB5391-A0C6-49EB-9098-357CE22AF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04882C75-C63C-46D1-AD9B-F01D53C462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DAD9BB2-D714-4382-8DEE-05D445E5EB0E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5C6E7D3E-C3F2-406B-9ABB-E574AF318D9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6BE6236-571E-4681-B51E-9B4969C4C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A3104B61-808F-419D-BA3D-6E7312E36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FF0D35E-1B97-4BFD-A461-1ABFB6F340F4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BB9D2185-954F-4010-8472-9DFF9CDDE93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57E9703-8F93-4BA6-810E-4CA71A55B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D6C51269-21D4-486A-A04B-110A34A338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6A36A6F-D430-418D-881C-034BF7294A00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C0C0D523-55EB-463C-B0EC-1DC86700C18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3367907-8985-4BA1-A6B6-F107AD8A9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042F1A5A-6C7D-4C0E-8709-5D852C6DA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BC6297B-3907-42CD-97AB-7EC3C906C501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28F6D8E-A529-448E-B354-6577A170EC1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51C85B5-7CFF-4802-8BBA-AB69972E7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C4DA15E-4EFF-44FF-8057-12399CBA7D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EEED18D-A9B1-494B-A764-1F11DBB94C72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B221849E-98AA-4916-9C16-C4DE7E9C18A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E0BDA2D-9645-4371-B6EB-D66A818BD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FB27B5B0-2F64-4014-93C7-16E743C7B0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C0A24CF-BFA1-460E-9324-A86123B81245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2CCC156-268B-4A44-9DEC-6ED77A4E90D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1DE0881-049F-4B77-8B3D-068B65EBB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38AC0FD2-BB61-4ECB-8FEB-DEA5BB51B6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8500E8D-0DBB-45B2-85E7-D12AB396A35D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AD443CF1-6778-4F60-9EAC-C454CF1E86E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F2ADF93-D74E-4D7E-9812-34A73262A2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831C644-9349-444A-A017-0D45ED9E6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C0A3177-2693-4E64-AE10-CCD297B8EE78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62796955-D1F3-40C2-8E3E-CDA856E27FC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831E56D-5009-4B6A-A4D2-0DD26CCA2B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0F4B585A-69E6-4EB6-ACB4-92D280B698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6CC1312-0272-4376-902E-519CF0B0A657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A02BA81-D8AA-4129-AD30-6D25CF4E3E9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8F3027B5-3465-47A7-936C-047C9747A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044434A1-4727-495B-8406-D62CBC9DC3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0746235-C14E-440F-AAE7-B64ACDE18D97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C5577365-70E4-4438-AC1F-A1ED562A1C8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E14B6C0-02EB-4757-8456-255C63D76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400CFB79-A907-4C61-984E-F50406777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9B07FA8-27F7-423F-8B75-F5DDC7275198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9315FDDA-39D7-46E5-8567-D06DAF7ACB3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1F0121F-4011-40BF-BED9-B838A4A4B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The restriction against a cycle in the grammar exists only because the case of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A =&gt; A must be handled carefully.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The diagonalization will eventually reduce it to the following form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A =&gt; A b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If b is not present, the grammar is not useful (in that it doesn’t terminate)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If b is present and another right hand side for A exists, then the standard transformation will fix it.  [It requires special case checking in the algorithm to handle it, but the basic idea is sound.]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D8947F5B-64C1-4784-B267-7F1D2732E7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70D22A5-F55B-4275-87AA-E321D5F91429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A858AD9-306C-46AD-9982-FD8A3C5CD95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6183F52-1B80-48BB-97B8-6F23BE367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306F88F1-B270-43F9-A799-E18506C559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FDDB6C4-38D8-4E10-982F-120E3C55DCC2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EC8C84F7-6CEF-4F42-8722-E56C787A8C7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D92ACB7-8E3A-478A-8CE6-358B3BC68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480701A6-0CCD-46D8-9432-2306015F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6107AA3-E800-468F-BD03-BAD3E07265D1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DB866D52-851C-4783-A7E6-EF5E3D9F3C3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33B3C7E-03A4-49DD-899A-3BEE510A8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C4788BC3-9226-4A6B-8009-16B4DB94B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824301E-845D-4F95-BCF1-C53E5B703727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9B3A9ABB-3FA9-4070-AA7E-FDD9B0BA6C7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D597635-3907-4842-BD92-C052E53E7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62A95A74-2625-478B-8B79-108600014D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0FC83D2-7A0B-4D78-BAA0-8428D29CC569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7D12B4A1-13DD-4516-A2F0-D764A44EADA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1E182CB-C725-4925-88C9-AA3D8BBF3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64E8DB5A-8753-47D6-8308-4B8EA6114F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5D72D04-ED60-41F3-9510-75C4B7E8EA01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F5B6D45C-E05D-41ED-8D9B-B801537A23D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AE95C61C-CF1E-4EAF-9AF1-8440624DA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531E5CAC-67ED-4C58-B92F-8C430EE7D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6523ADC-2551-4967-ABA3-ADA0567015C4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EC571B0C-F03A-4503-90A4-16B3D105858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6817FE7-B99E-41B4-B858-FDCD4A1A4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39800AD4-B45A-46CF-B451-6AA2C7CF85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8F6391B-77F7-4398-8DB3-522EAE01C200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7FF6D064-27E8-4D3F-A850-0AE532E3BF2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7E80992-B37F-4AF2-BF84-DA6071DB5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3657B43C-38D2-4779-9D48-006536CD4E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A389BF4-8FE8-40A4-9687-9019144960F2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35B44C7E-4DA9-41F4-9A6E-FCF6BD3AB5E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065BFB2-5534-4414-A330-9E3C97E8D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EA4E505D-DB94-453F-94D8-03A1CA914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1DBF811-3D47-4200-9CC5-18CD7C633FE6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2EA99563-E98C-4AFE-8E15-EC75FD5D19A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4D3422C-76B3-424B-8F6A-173996EB9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E797805-B452-4582-903D-379F8DB40AB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4FA3E9-D9AC-45EA-9965-964DE9149D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ED4E02-8495-4CEC-A7D9-862AAB65AE1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477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8B7EC8-9E39-498E-836F-23B084F36E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E1A3BC-18D2-4F9C-B42A-4804459D57A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38C36-B9F9-4444-ADAD-B0579B290EF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3026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084A31-9466-4112-8F8A-CF2DB2FBB6F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81DA27-D688-401E-8F80-F6EE24D574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D03E4B-CC12-44A7-9D11-CD332AC4626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2688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BEC2F0-4DA2-4C82-9622-5FACF56B4D6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154D9C-C586-44E5-ABE7-5D805D6D0F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87773A-B730-4957-AE02-067A4B0796D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2402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D967E08-9036-4063-9552-A308FF458A0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F873144-048D-438F-8ED6-CF9AA5C6C1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912BC9-57C1-4CAD-BFDB-C953AC97A8E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2634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193A6E6-B85B-4442-BACA-03029A7207D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5CAF7DE-EA87-46B2-A412-3C306F7B54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B5B663-B801-49A4-8B31-2C12125E960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1047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25D5C22-ECFD-4239-ADEC-3D483B4A0F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D37B671-2006-4761-B367-529C69FE6A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6FB88D-9108-4C64-BB8A-E073CA183CD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912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17FEDD-7117-432F-AA0A-B79E602553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850445-30D2-4084-BC59-B9EDCDBF69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98168-9E06-4B5E-A7BC-8FFEC9FBCE7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4278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B4F16C-F82F-47AB-97AB-4D270C0CB1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109F72-4B9F-4F1F-A9A1-147AF07E3D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5CFB97-09E3-4FD9-8179-64FC737C454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4578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BD2A1C7-9222-47B3-883F-9242B1B8291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F557D8-061B-404B-9340-D7A85E9867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CFCC97-4C11-4E7D-B4B5-DDDF9F3BE7A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0158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6D18F9-B06A-4B35-A3B1-F366EC55203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55F0D4-9C80-4285-88AF-1D2FDBB412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763E01-2CF0-4A0C-947A-F2BA6C6791A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0382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AA8FF7-6A81-4B69-935E-BD2B07538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0BF7BCC-7F00-4963-8FFE-9FF55C3B81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7822A6-0A2C-4C84-A6C5-4D743D067CF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57C2A5A-51A7-4821-B90F-DB7EA9631B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0BABE63-7FC7-4DC4-A0E3-10018585903F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E9C12C68-24DD-45D9-904D-6546086510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59F0A296-056C-46AF-950B-4DA37EACB07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5078AB96-3974-4F13-9027-B2F5A0A3B0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Top Down Parsing - Part I</a:t>
            </a:r>
            <a:br>
              <a:rPr lang="en-US" altLang="it-IT" sz="3200" i="1"/>
            </a:br>
            <a:br>
              <a:rPr lang="en-US" altLang="it-IT" sz="3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62BDA641-B0C4-40B1-BD03-45289F4F3F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064B37EA-BEEB-47EB-90A1-C632E7B30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46EF8C4B-BA9F-403B-8F02-5C55B55E9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1">
            <a:extLst>
              <a:ext uri="{FF2B5EF4-FFF2-40B4-BE49-F238E27FC236}">
                <a16:creationId xmlns:a16="http://schemas.microsoft.com/office/drawing/2014/main" id="{43ADAF7A-30C1-4F07-AEE1-63CE8F28A5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D82EFF66-984F-4061-B10B-4E7EC098E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2FCED9E-9EA0-4196-BCEC-D14CD09805D3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35BA645-FEE9-46A7-A6CF-8DDE139FAC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Parsing Techniques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6557AF7-0720-4881-8BAD-BB647C76262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Top-down parsers   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(LL(1), recursive descent)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Start at the root of the parse tree and grow toward leaves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Pick a production &amp; try to match the input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Bad “pick”  may need to backtrack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Some grammars are backtrack-free          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(predictive parsing)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Bottom-up parsers   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(LR(1), operator precedence)</a:t>
            </a:r>
            <a:endParaRPr lang="en-US" altLang="it-IT" i="1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Start at the leaves and grow toward root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As input is consumed, encode possibilities in an internal state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Start in a state valid for legal first tokens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Bottom-up parsers handle a large class of grammars</a:t>
            </a: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1">
            <a:extLst>
              <a:ext uri="{FF2B5EF4-FFF2-40B4-BE49-F238E27FC236}">
                <a16:creationId xmlns:a16="http://schemas.microsoft.com/office/drawing/2014/main" id="{74C32B71-53E2-4E31-BBFA-026E153EE3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58" name="Slide Number Placeholder 2">
            <a:extLst>
              <a:ext uri="{FF2B5EF4-FFF2-40B4-BE49-F238E27FC236}">
                <a16:creationId xmlns:a16="http://schemas.microsoft.com/office/drawing/2014/main" id="{979205A4-0AB9-463D-A9AA-DE9411E530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F067BCC-7E48-4CC6-AF0C-D7915C5ED169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6C363E6-0D72-455F-8C0C-5D427552D2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80772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A top-down parser starts with the root of the parse tree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The root node is labeled with the goal symbol of the grammar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Top-down parsing algorithm: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Construct the root node of the parse tree </a:t>
            </a:r>
          </a:p>
          <a:p>
            <a:pPr lvl="1" eaLnBrk="1" hangingPunct="1">
              <a:buFontTx/>
              <a:buNone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Repeat until lower fringe of the parse tree matches the input string</a:t>
            </a:r>
          </a:p>
          <a:p>
            <a:pPr lvl="1" eaLnBrk="1" hangingPunct="1">
              <a:buFontTx/>
              <a:buChar char="1"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At a node labeled A, select a production with A on its lhs and, for each symbol on its rhs, construct the appropriate child</a:t>
            </a:r>
          </a:p>
          <a:p>
            <a:pPr lvl="1" eaLnBrk="1" hangingPunct="1">
              <a:buFontTx/>
              <a:buChar char="2"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When a terminal symbol is added to the fringe and it doesn’t match the fringe, backtrack</a:t>
            </a:r>
          </a:p>
          <a:p>
            <a:pPr lvl="1" eaLnBrk="1" hangingPunct="1">
              <a:buFontTx/>
              <a:buChar char="3"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Find the next node to be expanded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 </a:t>
            </a:r>
            <a:r>
              <a:rPr lang="en-US" altLang="it-IT">
                <a:sym typeface="Symbol" panose="05050102010706020507" pitchFamily="18" charset="2"/>
              </a:rPr>
              <a:t>                            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(label </a:t>
            </a:r>
            <a:r>
              <a:rPr lang="en-US" altLang="it-IT" sz="1400" i="1">
                <a:solidFill>
                  <a:srgbClr val="FF0065"/>
                </a:solidFill>
                <a:sym typeface="Symbol" panose="05050102010706020507" pitchFamily="18" charset="2"/>
              </a:rPr>
              <a:t>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 NT)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key is picking the right production in step 1</a:t>
            </a:r>
          </a:p>
          <a:p>
            <a:pPr lvl="1" eaLnBrk="1" hangingPunct="1"/>
            <a:r>
              <a:rPr lang="en-US" altLang="it-IT" i="1">
                <a:sym typeface="Symbol" panose="05050102010706020507" pitchFamily="18" charset="2"/>
              </a:rPr>
              <a:t>That choice should be guided by the input string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5CCBEA8-BE33-4779-BD6D-C11BBD425FD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>
                <a:sym typeface="Symbol" panose="05050102010706020507" pitchFamily="18" charset="2"/>
              </a:rPr>
              <a:t>Top-down Parsing</a:t>
            </a: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1">
            <a:extLst>
              <a:ext uri="{FF2B5EF4-FFF2-40B4-BE49-F238E27FC236}">
                <a16:creationId xmlns:a16="http://schemas.microsoft.com/office/drawing/2014/main" id="{21BD43E1-8180-4919-AC43-995EB56E8F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6" name="Slide Number Placeholder 2">
            <a:extLst>
              <a:ext uri="{FF2B5EF4-FFF2-40B4-BE49-F238E27FC236}">
                <a16:creationId xmlns:a16="http://schemas.microsoft.com/office/drawing/2014/main" id="{2E2591BE-F470-48E3-974F-CFFFBBC958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7E196C8-FA19-491B-B694-2BE966472EFC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5FBF517-4903-4D90-89E9-3615536454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Remember the expression grammar?</a:t>
            </a:r>
          </a:p>
        </p:txBody>
      </p:sp>
      <p:sp>
        <p:nvSpPr>
          <p:cNvPr id="21508" name="Text Box 3">
            <a:extLst>
              <a:ext uri="{FF2B5EF4-FFF2-40B4-BE49-F238E27FC236}">
                <a16:creationId xmlns:a16="http://schemas.microsoft.com/office/drawing/2014/main" id="{FEEB2FE0-F193-4270-A153-0AEA18C54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3303588"/>
            <a:ext cx="2667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/>
              <a:t>And the input </a:t>
            </a:r>
            <a:r>
              <a:rPr lang="en-US" altLang="it-IT" u="sng"/>
              <a:t>x</a:t>
            </a:r>
            <a:r>
              <a:rPr lang="en-US" altLang="it-IT"/>
              <a:t> – </a:t>
            </a:r>
            <a:r>
              <a:rPr lang="en-US" altLang="it-IT" u="sng"/>
              <a:t>2</a:t>
            </a:r>
            <a:r>
              <a:rPr lang="en-US" altLang="it-IT"/>
              <a:t> * </a:t>
            </a:r>
            <a:r>
              <a:rPr lang="en-US" altLang="it-IT" u="sng"/>
              <a:t>y</a:t>
            </a:r>
            <a:r>
              <a:rPr lang="en-US" altLang="it-IT"/>
              <a:t> </a:t>
            </a:r>
            <a:endParaRPr lang="en-US" altLang="it-IT" i="1"/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68E5D312-CBC1-4391-8474-422BDD7B3F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We will call this version “the classic expression grammar”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from last lecture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9222" name="Group 6">
            <a:extLst>
              <a:ext uri="{FF2B5EF4-FFF2-40B4-BE49-F238E27FC236}">
                <a16:creationId xmlns:a16="http://schemas.microsoft.com/office/drawing/2014/main" id="{65291D19-544A-4111-92C4-2291E2F97EE2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133600"/>
          <a:ext cx="3276600" cy="3048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  <a:defRPr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7613A957-EB7B-4C8D-94D3-2AC5708E561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Let’s try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 – </a:t>
            </a:r>
            <a:r>
              <a:rPr lang="en-US" altLang="it-IT" u="sng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* </a:t>
            </a:r>
            <a:r>
              <a:rPr lang="en-US" altLang="it-IT" u="sng">
                <a:sym typeface="Symbol" panose="05050102010706020507" pitchFamily="18" charset="2"/>
              </a:rPr>
              <a:t>y</a:t>
            </a:r>
            <a:r>
              <a:rPr lang="en-US" altLang="it-IT">
                <a:sym typeface="Symbol" panose="05050102010706020507" pitchFamily="18" charset="2"/>
              </a:rPr>
              <a:t> :</a:t>
            </a:r>
            <a:endParaRPr lang="en-US" altLang="it-IT" i="1">
              <a:sym typeface="Symbol" panose="05050102010706020507" pitchFamily="18" charset="2"/>
            </a:endParaRPr>
          </a:p>
        </p:txBody>
      </p:sp>
      <p:sp>
        <p:nvSpPr>
          <p:cNvPr id="23554" name="Footer Placeholder 1">
            <a:extLst>
              <a:ext uri="{FF2B5EF4-FFF2-40B4-BE49-F238E27FC236}">
                <a16:creationId xmlns:a16="http://schemas.microsoft.com/office/drawing/2014/main" id="{034D81CA-8B2F-4A4E-8BD2-8113B66230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3555" name="Slide Number Placeholder 2">
            <a:extLst>
              <a:ext uri="{FF2B5EF4-FFF2-40B4-BE49-F238E27FC236}">
                <a16:creationId xmlns:a16="http://schemas.microsoft.com/office/drawing/2014/main" id="{6B8C4F40-12DF-4DE1-8693-5977A7FD15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CD86064-12F9-4080-9196-D80ABFF5C0FC}" type="slidenum">
              <a:rPr lang="en-US" altLang="it-IT"/>
              <a:pPr/>
              <a:t>4</a:t>
            </a:fld>
            <a:endParaRPr lang="en-US" altLang="it-IT"/>
          </a:p>
        </p:txBody>
      </p:sp>
      <p:graphicFrame>
        <p:nvGraphicFramePr>
          <p:cNvPr id="11411" name="Group 147">
            <a:extLst>
              <a:ext uri="{FF2B5EF4-FFF2-40B4-BE49-F238E27FC236}">
                <a16:creationId xmlns:a16="http://schemas.microsoft.com/office/drawing/2014/main" id="{27A2F4D1-767A-420D-9F17-1F6853B33348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828800"/>
          <a:ext cx="3581400" cy="635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566" name="Rectangle 3">
            <a:extLst>
              <a:ext uri="{FF2B5EF4-FFF2-40B4-BE49-F238E27FC236}">
                <a16:creationId xmlns:a16="http://schemas.microsoft.com/office/drawing/2014/main" id="{72018090-115D-4C28-BC23-221B3E357D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Example</a:t>
            </a:r>
          </a:p>
        </p:txBody>
      </p:sp>
      <p:sp>
        <p:nvSpPr>
          <p:cNvPr id="23567" name="Oval 6">
            <a:extLst>
              <a:ext uri="{FF2B5EF4-FFF2-40B4-BE49-F238E27FC236}">
                <a16:creationId xmlns:a16="http://schemas.microsoft.com/office/drawing/2014/main" id="{5AFB9C0F-AD44-472E-86A7-F4072F018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5" y="1371600"/>
            <a:ext cx="5334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400" i="1">
                <a:latin typeface="Arial Rounded MT Bold" panose="020F0704030504030204" pitchFamily="34" charset="0"/>
              </a:rPr>
              <a:t>Goal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23568" name="Oval 148">
            <a:extLst>
              <a:ext uri="{FF2B5EF4-FFF2-40B4-BE49-F238E27FC236}">
                <a16:creationId xmlns:a16="http://schemas.microsoft.com/office/drawing/2014/main" id="{4F76C736-DCED-4C32-B0BC-E4370B65C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724150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3569" name="Rectangle 25">
            <a:extLst>
              <a:ext uri="{FF2B5EF4-FFF2-40B4-BE49-F238E27FC236}">
                <a16:creationId xmlns:a16="http://schemas.microsoft.com/office/drawing/2014/main" id="{CEB65C32-9E29-4F5B-BAFD-002093042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486400"/>
            <a:ext cx="15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C6F2C5-5001-4003-B173-65D8C932E550}"/>
              </a:ext>
            </a:extLst>
          </p:cNvPr>
          <p:cNvSpPr txBox="1"/>
          <p:nvPr/>
        </p:nvSpPr>
        <p:spPr>
          <a:xfrm>
            <a:off x="4953000" y="6248400"/>
            <a:ext cx="3200400" cy="307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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is the position in the input buffer</a:t>
            </a:r>
            <a:endParaRPr lang="en-US" sz="1400" i="1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E010A898-1621-4B86-8EEB-84F9016430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Let’s try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 – </a:t>
            </a:r>
            <a:r>
              <a:rPr lang="en-US" altLang="it-IT" u="sng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* </a:t>
            </a:r>
            <a:r>
              <a:rPr lang="en-US" altLang="it-IT" u="sng">
                <a:sym typeface="Symbol" panose="05050102010706020507" pitchFamily="18" charset="2"/>
              </a:rPr>
              <a:t>y</a:t>
            </a:r>
            <a:r>
              <a:rPr lang="en-US" altLang="it-IT">
                <a:sym typeface="Symbol" panose="05050102010706020507" pitchFamily="18" charset="2"/>
              </a:rPr>
              <a:t> :</a:t>
            </a:r>
            <a:endParaRPr lang="en-US" altLang="it-IT" i="1">
              <a:sym typeface="Symbol" panose="05050102010706020507" pitchFamily="18" charset="2"/>
            </a:endParaRPr>
          </a:p>
        </p:txBody>
      </p:sp>
      <p:sp>
        <p:nvSpPr>
          <p:cNvPr id="25602" name="Footer Placeholder 1">
            <a:extLst>
              <a:ext uri="{FF2B5EF4-FFF2-40B4-BE49-F238E27FC236}">
                <a16:creationId xmlns:a16="http://schemas.microsoft.com/office/drawing/2014/main" id="{64F33032-0739-4CC2-B89F-CF9C902003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5603" name="Slide Number Placeholder 2">
            <a:extLst>
              <a:ext uri="{FF2B5EF4-FFF2-40B4-BE49-F238E27FC236}">
                <a16:creationId xmlns:a16="http://schemas.microsoft.com/office/drawing/2014/main" id="{17D325E7-5A68-4BE9-B717-22BE772A36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372634-8AAC-478B-A0BF-C2F2284DE86B}" type="slidenum">
              <a:rPr lang="en-US" altLang="it-IT"/>
              <a:pPr/>
              <a:t>5</a:t>
            </a:fld>
            <a:endParaRPr lang="en-US" altLang="it-IT"/>
          </a:p>
        </p:txBody>
      </p:sp>
      <p:graphicFrame>
        <p:nvGraphicFramePr>
          <p:cNvPr id="11411" name="Group 147">
            <a:extLst>
              <a:ext uri="{FF2B5EF4-FFF2-40B4-BE49-F238E27FC236}">
                <a16:creationId xmlns:a16="http://schemas.microsoft.com/office/drawing/2014/main" id="{789FA7A0-8E60-4779-825C-22A5190516B0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828800"/>
          <a:ext cx="3581400" cy="26241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-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632" name="Rectangle 3">
            <a:extLst>
              <a:ext uri="{FF2B5EF4-FFF2-40B4-BE49-F238E27FC236}">
                <a16:creationId xmlns:a16="http://schemas.microsoft.com/office/drawing/2014/main" id="{48EB9518-18F1-4EC3-824E-C095DCCCCF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Example</a:t>
            </a:r>
          </a:p>
        </p:txBody>
      </p:sp>
      <p:grpSp>
        <p:nvGrpSpPr>
          <p:cNvPr id="25633" name="Group 5">
            <a:extLst>
              <a:ext uri="{FF2B5EF4-FFF2-40B4-BE49-F238E27FC236}">
                <a16:creationId xmlns:a16="http://schemas.microsoft.com/office/drawing/2014/main" id="{1285B2BC-777C-4DC7-8B8A-7771C0CC8B76}"/>
              </a:ext>
            </a:extLst>
          </p:cNvPr>
          <p:cNvGrpSpPr>
            <a:grpSpLocks/>
          </p:cNvGrpSpPr>
          <p:nvPr/>
        </p:nvGrpSpPr>
        <p:grpSpPr bwMode="auto">
          <a:xfrm>
            <a:off x="5414963" y="1371600"/>
            <a:ext cx="1976437" cy="3265488"/>
            <a:chOff x="3411" y="864"/>
            <a:chExt cx="1245" cy="2057"/>
          </a:xfrm>
        </p:grpSpPr>
        <p:sp>
          <p:nvSpPr>
            <p:cNvPr id="25639" name="Oval 6">
              <a:extLst>
                <a:ext uri="{FF2B5EF4-FFF2-40B4-BE49-F238E27FC236}">
                  <a16:creationId xmlns:a16="http://schemas.microsoft.com/office/drawing/2014/main" id="{5ECF3260-1931-491F-BC2F-6A1D1075F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86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Goal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0" name="Oval 7">
              <a:extLst>
                <a:ext uri="{FF2B5EF4-FFF2-40B4-BE49-F238E27FC236}">
                  <a16:creationId xmlns:a16="http://schemas.microsoft.com/office/drawing/2014/main" id="{89B74327-E359-453C-9570-DFF71C224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124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1" name="Oval 8">
              <a:extLst>
                <a:ext uri="{FF2B5EF4-FFF2-40B4-BE49-F238E27FC236}">
                  <a16:creationId xmlns:a16="http://schemas.microsoft.com/office/drawing/2014/main" id="{7B2769EA-E62F-4ABB-A3BC-213E2E04A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2" name="Oval 9">
              <a:extLst>
                <a:ext uri="{FF2B5EF4-FFF2-40B4-BE49-F238E27FC236}">
                  <a16:creationId xmlns:a16="http://schemas.microsoft.com/office/drawing/2014/main" id="{299025E4-4999-4FEB-AE9D-6DE29E528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1584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+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3" name="Line 10">
              <a:extLst>
                <a:ext uri="{FF2B5EF4-FFF2-40B4-BE49-F238E27FC236}">
                  <a16:creationId xmlns:a16="http://schemas.microsoft.com/office/drawing/2014/main" id="{835109E0-1D7E-40E1-B4B0-9D41F93D5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1102"/>
              <a:ext cx="0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5644" name="Oval 11">
              <a:extLst>
                <a:ext uri="{FF2B5EF4-FFF2-40B4-BE49-F238E27FC236}">
                  <a16:creationId xmlns:a16="http://schemas.microsoft.com/office/drawing/2014/main" id="{B6287017-E44B-4F0E-8164-DAB18D3FE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5" name="Oval 12">
              <a:extLst>
                <a:ext uri="{FF2B5EF4-FFF2-40B4-BE49-F238E27FC236}">
                  <a16:creationId xmlns:a16="http://schemas.microsoft.com/office/drawing/2014/main" id="{D4B97CDB-8126-4F25-809D-ECE633BA1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196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6" name="Oval 13">
              <a:extLst>
                <a:ext uri="{FF2B5EF4-FFF2-40B4-BE49-F238E27FC236}">
                  <a16:creationId xmlns:a16="http://schemas.microsoft.com/office/drawing/2014/main" id="{5FC82B2C-695C-4C33-B86E-ADD035D0C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2352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Fact.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7" name="Oval 14">
              <a:extLst>
                <a:ext uri="{FF2B5EF4-FFF2-40B4-BE49-F238E27FC236}">
                  <a16:creationId xmlns:a16="http://schemas.microsoft.com/office/drawing/2014/main" id="{C11E6CC2-9567-437C-BB1C-085FD868A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2681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&lt;</a:t>
              </a:r>
              <a:r>
                <a:rPr lang="en-US" altLang="it-IT" sz="1600">
                  <a:latin typeface="Arial Rounded MT Bold" panose="020F0704030504030204" pitchFamily="34" charset="0"/>
                </a:rPr>
                <a:t>id,</a:t>
              </a:r>
              <a:r>
                <a:rPr lang="en-US" altLang="it-IT" sz="16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x</a:t>
              </a:r>
              <a:r>
                <a:rPr lang="en-US" altLang="it-IT" sz="1400">
                  <a:latin typeface="Arial Rounded MT Bold" panose="020F0704030504030204" pitchFamily="34" charset="0"/>
                </a:rPr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5648" name="Line 15">
              <a:extLst>
                <a:ext uri="{FF2B5EF4-FFF2-40B4-BE49-F238E27FC236}">
                  <a16:creationId xmlns:a16="http://schemas.microsoft.com/office/drawing/2014/main" id="{454893E6-E44D-4719-8C49-ECB9F768F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9" y="1825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5649" name="Line 16">
              <a:extLst>
                <a:ext uri="{FF2B5EF4-FFF2-40B4-BE49-F238E27FC236}">
                  <a16:creationId xmlns:a16="http://schemas.microsoft.com/office/drawing/2014/main" id="{548B2AA1-7153-496D-840E-642BE3F94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9" y="2208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5650" name="Line 17">
              <a:extLst>
                <a:ext uri="{FF2B5EF4-FFF2-40B4-BE49-F238E27FC236}">
                  <a16:creationId xmlns:a16="http://schemas.microsoft.com/office/drawing/2014/main" id="{E72678C2-A8E0-4D38-A2F6-60D55DC21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9" y="2591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5651" name="Line 18">
              <a:extLst>
                <a:ext uri="{FF2B5EF4-FFF2-40B4-BE49-F238E27FC236}">
                  <a16:creationId xmlns:a16="http://schemas.microsoft.com/office/drawing/2014/main" id="{3A0A956C-E5FD-46A9-9230-ABD20F47F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3" y="1430"/>
              <a:ext cx="186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5652" name="Line 19">
              <a:extLst>
                <a:ext uri="{FF2B5EF4-FFF2-40B4-BE49-F238E27FC236}">
                  <a16:creationId xmlns:a16="http://schemas.microsoft.com/office/drawing/2014/main" id="{51C940CE-E73A-486E-B67B-19A43DADD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440"/>
              <a:ext cx="18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5653" name="Line 20">
              <a:extLst>
                <a:ext uri="{FF2B5EF4-FFF2-40B4-BE49-F238E27FC236}">
                  <a16:creationId xmlns:a16="http://schemas.microsoft.com/office/drawing/2014/main" id="{7873928E-ABD6-431D-8F7D-2FF869EE7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500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cxnSp>
        <p:nvCxnSpPr>
          <p:cNvPr id="11285" name="AutoShape 21">
            <a:extLst>
              <a:ext uri="{FF2B5EF4-FFF2-40B4-BE49-F238E27FC236}">
                <a16:creationId xmlns:a16="http://schemas.microsoft.com/office/drawing/2014/main" id="{C20F9B11-BBCD-490F-8599-99882E55144D}"/>
              </a:ext>
            </a:extLst>
          </p:cNvPr>
          <p:cNvCxnSpPr>
            <a:cxnSpLocks noChangeShapeType="1"/>
            <a:stCxn id="25637" idx="3"/>
            <a:endCxn id="25636" idx="6"/>
          </p:cNvCxnSpPr>
          <p:nvPr/>
        </p:nvCxnSpPr>
        <p:spPr bwMode="auto">
          <a:xfrm flipH="1" flipV="1">
            <a:off x="4495800" y="2800350"/>
            <a:ext cx="533400" cy="2876550"/>
          </a:xfrm>
          <a:prstGeom prst="bentConnector3">
            <a:avLst>
              <a:gd name="adj1" fmla="val -42856"/>
            </a:avLst>
          </a:prstGeom>
          <a:noFill/>
          <a:ln w="9525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95" name="Text Box 31">
            <a:extLst>
              <a:ext uri="{FF2B5EF4-FFF2-40B4-BE49-F238E27FC236}">
                <a16:creationId xmlns:a16="http://schemas.microsoft.com/office/drawing/2014/main" id="{86331AAD-B01D-4516-89B2-F5CDDD204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5126038"/>
            <a:ext cx="62150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2000">
                <a:sym typeface="Symbol" panose="05050102010706020507" pitchFamily="18" charset="2"/>
              </a:rPr>
              <a:t>This worked well, except that “–” doesn’t match “+”</a:t>
            </a:r>
          </a:p>
          <a:p>
            <a:pPr eaLnBrk="1" hangingPunct="1">
              <a:spcBef>
                <a:spcPct val="2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2000">
                <a:sym typeface="Symbol" panose="05050102010706020507" pitchFamily="18" charset="2"/>
              </a:rPr>
              <a:t>The parser must backtrack to here</a:t>
            </a:r>
          </a:p>
        </p:txBody>
      </p:sp>
      <p:sp>
        <p:nvSpPr>
          <p:cNvPr id="25636" name="Oval 148">
            <a:extLst>
              <a:ext uri="{FF2B5EF4-FFF2-40B4-BE49-F238E27FC236}">
                <a16:creationId xmlns:a16="http://schemas.microsoft.com/office/drawing/2014/main" id="{F30C2F30-B9C2-4A57-A33F-AA9CDF2E1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724150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5637" name="Rectangle 25">
            <a:extLst>
              <a:ext uri="{FF2B5EF4-FFF2-40B4-BE49-F238E27FC236}">
                <a16:creationId xmlns:a16="http://schemas.microsoft.com/office/drawing/2014/main" id="{4EC63F55-3A2A-4EBB-B863-55A419DD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486400"/>
            <a:ext cx="15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F0E5C9-8D68-4ECE-BAFB-481D1F9FEDDA}"/>
              </a:ext>
            </a:extLst>
          </p:cNvPr>
          <p:cNvSpPr txBox="1"/>
          <p:nvPr/>
        </p:nvSpPr>
        <p:spPr>
          <a:xfrm>
            <a:off x="4953000" y="6248400"/>
            <a:ext cx="3200400" cy="307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</a:t>
            </a: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4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is the position in the input buffer</a:t>
            </a:r>
            <a:endParaRPr lang="en-US" sz="1400" i="1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1">
            <a:extLst>
              <a:ext uri="{FF2B5EF4-FFF2-40B4-BE49-F238E27FC236}">
                <a16:creationId xmlns:a16="http://schemas.microsoft.com/office/drawing/2014/main" id="{BA8FF23A-6209-49BF-9F5C-8361844849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7650" name="Slide Number Placeholder 2">
            <a:extLst>
              <a:ext uri="{FF2B5EF4-FFF2-40B4-BE49-F238E27FC236}">
                <a16:creationId xmlns:a16="http://schemas.microsoft.com/office/drawing/2014/main" id="{15AF18BC-A6AB-4255-9F05-A58387041B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EFE129B-8D4D-44E5-ACC9-B441BBC64545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466F84A-2C13-4466-9886-370DFCE3FE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Example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248E31F-7E67-460B-95CD-0A250B6B71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Continuing with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 – </a:t>
            </a:r>
            <a:r>
              <a:rPr lang="en-US" altLang="it-IT" u="sng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* </a:t>
            </a:r>
            <a:r>
              <a:rPr lang="en-US" altLang="it-IT" u="sng">
                <a:sym typeface="Symbol" panose="05050102010706020507" pitchFamily="18" charset="2"/>
              </a:rPr>
              <a:t>y</a:t>
            </a:r>
            <a:r>
              <a:rPr lang="en-US" altLang="it-IT">
                <a:sym typeface="Symbol" panose="05050102010706020507" pitchFamily="18" charset="2"/>
              </a:rPr>
              <a:t> :</a:t>
            </a:r>
          </a:p>
        </p:txBody>
      </p:sp>
      <p:grpSp>
        <p:nvGrpSpPr>
          <p:cNvPr id="27653" name="Group 5">
            <a:extLst>
              <a:ext uri="{FF2B5EF4-FFF2-40B4-BE49-F238E27FC236}">
                <a16:creationId xmlns:a16="http://schemas.microsoft.com/office/drawing/2014/main" id="{A197021F-F26B-49A4-B848-CA4D98C3D4C0}"/>
              </a:ext>
            </a:extLst>
          </p:cNvPr>
          <p:cNvGrpSpPr>
            <a:grpSpLocks/>
          </p:cNvGrpSpPr>
          <p:nvPr/>
        </p:nvGrpSpPr>
        <p:grpSpPr bwMode="auto">
          <a:xfrm>
            <a:off x="5414963" y="1371600"/>
            <a:ext cx="1976437" cy="3265488"/>
            <a:chOff x="3411" y="864"/>
            <a:chExt cx="1245" cy="2057"/>
          </a:xfrm>
        </p:grpSpPr>
        <p:sp>
          <p:nvSpPr>
            <p:cNvPr id="27701" name="Oval 6">
              <a:extLst>
                <a:ext uri="{FF2B5EF4-FFF2-40B4-BE49-F238E27FC236}">
                  <a16:creationId xmlns:a16="http://schemas.microsoft.com/office/drawing/2014/main" id="{74AEA662-C268-4A36-BC97-F58E14DCA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86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Goal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02" name="Oval 7">
              <a:extLst>
                <a:ext uri="{FF2B5EF4-FFF2-40B4-BE49-F238E27FC236}">
                  <a16:creationId xmlns:a16="http://schemas.microsoft.com/office/drawing/2014/main" id="{DB4CECDF-A419-4C98-8B57-77E38E9DF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124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03" name="Oval 8">
              <a:extLst>
                <a:ext uri="{FF2B5EF4-FFF2-40B4-BE49-F238E27FC236}">
                  <a16:creationId xmlns:a16="http://schemas.microsoft.com/office/drawing/2014/main" id="{744BB274-459A-4E4F-9FB7-93BAD2A8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04" name="Oval 9">
              <a:extLst>
                <a:ext uri="{FF2B5EF4-FFF2-40B4-BE49-F238E27FC236}">
                  <a16:creationId xmlns:a16="http://schemas.microsoft.com/office/drawing/2014/main" id="{3508DC22-1DED-4E0A-B400-2F433C15A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1584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–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05" name="Line 10">
              <a:extLst>
                <a:ext uri="{FF2B5EF4-FFF2-40B4-BE49-F238E27FC236}">
                  <a16:creationId xmlns:a16="http://schemas.microsoft.com/office/drawing/2014/main" id="{F9D7798A-B575-4AB3-8319-602CF7EA8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1102"/>
              <a:ext cx="0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706" name="Oval 11">
              <a:extLst>
                <a:ext uri="{FF2B5EF4-FFF2-40B4-BE49-F238E27FC236}">
                  <a16:creationId xmlns:a16="http://schemas.microsoft.com/office/drawing/2014/main" id="{903E46EE-D4C6-493A-8620-8C0B31424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07" name="Oval 12">
              <a:extLst>
                <a:ext uri="{FF2B5EF4-FFF2-40B4-BE49-F238E27FC236}">
                  <a16:creationId xmlns:a16="http://schemas.microsoft.com/office/drawing/2014/main" id="{DC5284C4-1A3A-4F19-A5C4-3E1FB0AC7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196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08" name="Oval 13">
              <a:extLst>
                <a:ext uri="{FF2B5EF4-FFF2-40B4-BE49-F238E27FC236}">
                  <a16:creationId xmlns:a16="http://schemas.microsoft.com/office/drawing/2014/main" id="{16CEF5FE-16F4-4CD2-BCC5-9AF88F3AA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2352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Fact.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09" name="Oval 14">
              <a:extLst>
                <a:ext uri="{FF2B5EF4-FFF2-40B4-BE49-F238E27FC236}">
                  <a16:creationId xmlns:a16="http://schemas.microsoft.com/office/drawing/2014/main" id="{EF0352DB-D756-4F08-A2E5-91FBE059D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2681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&lt;</a:t>
              </a:r>
              <a:r>
                <a:rPr lang="en-US" altLang="it-IT" sz="1600">
                  <a:latin typeface="Arial Rounded MT Bold" panose="020F0704030504030204" pitchFamily="34" charset="0"/>
                </a:rPr>
                <a:t>id,</a:t>
              </a:r>
              <a:r>
                <a:rPr lang="en-US" altLang="it-IT" sz="16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x</a:t>
              </a:r>
              <a:r>
                <a:rPr lang="en-US" altLang="it-IT" sz="1400">
                  <a:latin typeface="Arial Rounded MT Bold" panose="020F0704030504030204" pitchFamily="34" charset="0"/>
                </a:rPr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7710" name="Line 15">
              <a:extLst>
                <a:ext uri="{FF2B5EF4-FFF2-40B4-BE49-F238E27FC236}">
                  <a16:creationId xmlns:a16="http://schemas.microsoft.com/office/drawing/2014/main" id="{DB140B68-4071-4EFF-BA75-16D3BE205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9" y="1825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711" name="Line 16">
              <a:extLst>
                <a:ext uri="{FF2B5EF4-FFF2-40B4-BE49-F238E27FC236}">
                  <a16:creationId xmlns:a16="http://schemas.microsoft.com/office/drawing/2014/main" id="{5C71966E-ACDA-4CA9-8D50-8C536F039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9" y="2208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712" name="Line 17">
              <a:extLst>
                <a:ext uri="{FF2B5EF4-FFF2-40B4-BE49-F238E27FC236}">
                  <a16:creationId xmlns:a16="http://schemas.microsoft.com/office/drawing/2014/main" id="{3A06ECF8-CBFE-4534-ADD2-B8F14EE28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9" y="2591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713" name="Line 18">
              <a:extLst>
                <a:ext uri="{FF2B5EF4-FFF2-40B4-BE49-F238E27FC236}">
                  <a16:creationId xmlns:a16="http://schemas.microsoft.com/office/drawing/2014/main" id="{5E3590C4-EEB1-4F59-9DC6-489982D632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3" y="1430"/>
              <a:ext cx="186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714" name="Line 19">
              <a:extLst>
                <a:ext uri="{FF2B5EF4-FFF2-40B4-BE49-F238E27FC236}">
                  <a16:creationId xmlns:a16="http://schemas.microsoft.com/office/drawing/2014/main" id="{9235CD76-62F1-48B3-9EA8-237D087F4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440"/>
              <a:ext cx="18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715" name="Line 20">
              <a:extLst>
                <a:ext uri="{FF2B5EF4-FFF2-40B4-BE49-F238E27FC236}">
                  <a16:creationId xmlns:a16="http://schemas.microsoft.com/office/drawing/2014/main" id="{4DB0B72B-5ADE-446A-BDD8-13790CEDC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500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3342" name="Text Box 30">
            <a:extLst>
              <a:ext uri="{FF2B5EF4-FFF2-40B4-BE49-F238E27FC236}">
                <a16:creationId xmlns:a16="http://schemas.microsoft.com/office/drawing/2014/main" id="{50866095-5791-45E3-8755-2B8A42DCF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870575"/>
            <a:ext cx="709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buClr>
                <a:srgbClr val="003C75"/>
              </a:buClr>
              <a:buSzPct val="110000"/>
              <a:buFont typeface="Symbol" panose="05050102010706020507" pitchFamily="18" charset="2"/>
              <a:buChar char=""/>
            </a:pPr>
            <a:r>
              <a:rPr lang="en-US" altLang="it-IT" sz="1600">
                <a:latin typeface="Arial Rounded MT Bold" panose="020F0704030504030204" pitchFamily="34" charset="0"/>
              </a:rPr>
              <a:t>  </a:t>
            </a:r>
            <a:r>
              <a:rPr lang="en-US" altLang="it-IT"/>
              <a:t>Now, we need to expand </a:t>
            </a:r>
            <a:r>
              <a:rPr lang="en-US" altLang="it-IT" i="1"/>
              <a:t>Term</a:t>
            </a:r>
            <a:r>
              <a:rPr lang="en-US" altLang="it-IT"/>
              <a:t> - the last </a:t>
            </a:r>
            <a:r>
              <a:rPr lang="en-US" altLang="it-IT" i="1"/>
              <a:t>NT</a:t>
            </a:r>
            <a:r>
              <a:rPr lang="en-US" altLang="it-IT"/>
              <a:t> on the fringe</a:t>
            </a:r>
            <a:endParaRPr lang="en-US" altLang="it-IT">
              <a:latin typeface="Arial Rounded MT Bold" panose="020F0704030504030204" pitchFamily="34" charset="0"/>
            </a:endParaRPr>
          </a:p>
        </p:txBody>
      </p:sp>
      <p:graphicFrame>
        <p:nvGraphicFramePr>
          <p:cNvPr id="13509" name="Group 197">
            <a:extLst>
              <a:ext uri="{FF2B5EF4-FFF2-40B4-BE49-F238E27FC236}">
                <a16:creationId xmlns:a16="http://schemas.microsoft.com/office/drawing/2014/main" id="{FC7E9AC9-A656-42EA-BC01-97D5C41D0CDF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714500"/>
          <a:ext cx="3581400" cy="295592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-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" name="Group 182">
            <a:extLst>
              <a:ext uri="{FF2B5EF4-FFF2-40B4-BE49-F238E27FC236}">
                <a16:creationId xmlns:a16="http://schemas.microsoft.com/office/drawing/2014/main" id="{F508A52A-02A9-4EF1-80C8-5378906F025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081463"/>
            <a:ext cx="3257550" cy="1404937"/>
            <a:chOff x="384" y="2571"/>
            <a:chExt cx="2052" cy="885"/>
          </a:xfrm>
        </p:grpSpPr>
        <p:sp>
          <p:nvSpPr>
            <p:cNvPr id="27695" name="Text Box 174">
              <a:extLst>
                <a:ext uri="{FF2B5EF4-FFF2-40B4-BE49-F238E27FC236}">
                  <a16:creationId xmlns:a16="http://schemas.microsoft.com/office/drawing/2014/main" id="{47C33B8B-CC73-4FBA-829B-264E646EF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264"/>
              <a:ext cx="13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Now, “-” and “-” match</a:t>
              </a:r>
            </a:p>
          </p:txBody>
        </p:sp>
        <p:sp>
          <p:nvSpPr>
            <p:cNvPr id="27696" name="Oval 175">
              <a:extLst>
                <a:ext uri="{FF2B5EF4-FFF2-40B4-BE49-F238E27FC236}">
                  <a16:creationId xmlns:a16="http://schemas.microsoft.com/office/drawing/2014/main" id="{DC620CE7-407D-4E08-B92F-46F15BC8F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4" y="2571"/>
              <a:ext cx="96" cy="96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7697" name="Oval 176">
              <a:extLst>
                <a:ext uri="{FF2B5EF4-FFF2-40B4-BE49-F238E27FC236}">
                  <a16:creationId xmlns:a16="http://schemas.microsoft.com/office/drawing/2014/main" id="{15660F25-3BC3-48F5-AE6B-58BEEA5A8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2571"/>
              <a:ext cx="96" cy="96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7698" name="Line 178">
              <a:extLst>
                <a:ext uri="{FF2B5EF4-FFF2-40B4-BE49-F238E27FC236}">
                  <a16:creationId xmlns:a16="http://schemas.microsoft.com/office/drawing/2014/main" id="{D66FD8BE-F64F-4B57-A52D-827A23E45B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264"/>
              <a:ext cx="0" cy="192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699" name="Freeform 179">
              <a:extLst>
                <a:ext uri="{FF2B5EF4-FFF2-40B4-BE49-F238E27FC236}">
                  <a16:creationId xmlns:a16="http://schemas.microsoft.com/office/drawing/2014/main" id="{DD665B3D-4B15-4C57-A4EB-A255F0100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2640"/>
              <a:ext cx="448" cy="672"/>
            </a:xfrm>
            <a:custGeom>
              <a:avLst/>
              <a:gdLst>
                <a:gd name="T0" fmla="*/ 288 w 448"/>
                <a:gd name="T1" fmla="*/ 672 h 672"/>
                <a:gd name="T2" fmla="*/ 384 w 448"/>
                <a:gd name="T3" fmla="*/ 576 h 672"/>
                <a:gd name="T4" fmla="*/ 384 w 448"/>
                <a:gd name="T5" fmla="*/ 336 h 672"/>
                <a:gd name="T6" fmla="*/ 0 w 44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8"/>
                <a:gd name="T13" fmla="*/ 0 h 672"/>
                <a:gd name="T14" fmla="*/ 448 w 44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8" h="672">
                  <a:moveTo>
                    <a:pt x="288" y="672"/>
                  </a:moveTo>
                  <a:cubicBezTo>
                    <a:pt x="328" y="652"/>
                    <a:pt x="368" y="632"/>
                    <a:pt x="384" y="576"/>
                  </a:cubicBezTo>
                  <a:cubicBezTo>
                    <a:pt x="400" y="520"/>
                    <a:pt x="448" y="432"/>
                    <a:pt x="384" y="336"/>
                  </a:cubicBezTo>
                  <a:cubicBezTo>
                    <a:pt x="320" y="240"/>
                    <a:pt x="160" y="120"/>
                    <a:pt x="0" y="0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7700" name="Freeform 181">
              <a:extLst>
                <a:ext uri="{FF2B5EF4-FFF2-40B4-BE49-F238E27FC236}">
                  <a16:creationId xmlns:a16="http://schemas.microsoft.com/office/drawing/2014/main" id="{606075C5-24A3-41D9-826A-FD9181692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2688"/>
              <a:ext cx="624" cy="672"/>
            </a:xfrm>
            <a:custGeom>
              <a:avLst/>
              <a:gdLst>
                <a:gd name="T0" fmla="*/ 0 w 624"/>
                <a:gd name="T1" fmla="*/ 672 h 672"/>
                <a:gd name="T2" fmla="*/ 192 w 624"/>
                <a:gd name="T3" fmla="*/ 528 h 672"/>
                <a:gd name="T4" fmla="*/ 528 w 624"/>
                <a:gd name="T5" fmla="*/ 144 h 672"/>
                <a:gd name="T6" fmla="*/ 624 w 624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672"/>
                <a:gd name="T14" fmla="*/ 624 w 624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672">
                  <a:moveTo>
                    <a:pt x="0" y="672"/>
                  </a:moveTo>
                  <a:cubicBezTo>
                    <a:pt x="52" y="644"/>
                    <a:pt x="104" y="616"/>
                    <a:pt x="192" y="528"/>
                  </a:cubicBezTo>
                  <a:cubicBezTo>
                    <a:pt x="280" y="440"/>
                    <a:pt x="456" y="232"/>
                    <a:pt x="528" y="144"/>
                  </a:cubicBezTo>
                  <a:cubicBezTo>
                    <a:pt x="600" y="56"/>
                    <a:pt x="612" y="28"/>
                    <a:pt x="624" y="0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4" name="Group 196">
            <a:extLst>
              <a:ext uri="{FF2B5EF4-FFF2-40B4-BE49-F238E27FC236}">
                <a16:creationId xmlns:a16="http://schemas.microsoft.com/office/drawing/2014/main" id="{CE0C0D1B-9D13-4B18-ACD8-0546FFA984E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4324350"/>
            <a:ext cx="5257800" cy="1162050"/>
            <a:chOff x="1488" y="2724"/>
            <a:chExt cx="3312" cy="732"/>
          </a:xfrm>
        </p:grpSpPr>
        <p:sp>
          <p:nvSpPr>
            <p:cNvPr id="27689" name="Text Box 183">
              <a:extLst>
                <a:ext uri="{FF2B5EF4-FFF2-40B4-BE49-F238E27FC236}">
                  <a16:creationId xmlns:a16="http://schemas.microsoft.com/office/drawing/2014/main" id="{3BE5EC27-C1A6-4D2D-87E5-00E141443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2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Now we can expand Term to match “2”</a:t>
              </a:r>
            </a:p>
          </p:txBody>
        </p:sp>
        <p:sp>
          <p:nvSpPr>
            <p:cNvPr id="27690" name="Line 184">
              <a:extLst>
                <a:ext uri="{FF2B5EF4-FFF2-40B4-BE49-F238E27FC236}">
                  <a16:creationId xmlns:a16="http://schemas.microsoft.com/office/drawing/2014/main" id="{E46358B5-D046-4133-9BA6-287B478CE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264"/>
              <a:ext cx="0" cy="192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691" name="Oval 192">
              <a:extLst>
                <a:ext uri="{FF2B5EF4-FFF2-40B4-BE49-F238E27FC236}">
                  <a16:creationId xmlns:a16="http://schemas.microsoft.com/office/drawing/2014/main" id="{DCC66E94-26E9-4AB7-9E3B-D3B762210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724"/>
              <a:ext cx="336" cy="192"/>
            </a:xfrm>
            <a:prstGeom prst="ellipse">
              <a:avLst/>
            </a:pr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7692" name="Oval 193">
              <a:extLst>
                <a:ext uri="{FF2B5EF4-FFF2-40B4-BE49-F238E27FC236}">
                  <a16:creationId xmlns:a16="http://schemas.microsoft.com/office/drawing/2014/main" id="{4D05E4FB-E2FC-4D4E-8D62-6C6B90124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4" y="2724"/>
              <a:ext cx="192" cy="192"/>
            </a:xfrm>
            <a:prstGeom prst="ellipse">
              <a:avLst/>
            </a:prstGeom>
            <a:noFill/>
            <a:ln w="952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7693" name="Freeform 194">
              <a:extLst>
                <a:ext uri="{FF2B5EF4-FFF2-40B4-BE49-F238E27FC236}">
                  <a16:creationId xmlns:a16="http://schemas.microsoft.com/office/drawing/2014/main" id="{18AFD2A5-7A79-4CC5-871A-E353CB251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880"/>
              <a:ext cx="816" cy="480"/>
            </a:xfrm>
            <a:custGeom>
              <a:avLst/>
              <a:gdLst>
                <a:gd name="T0" fmla="*/ 0 w 816"/>
                <a:gd name="T1" fmla="*/ 0 h 432"/>
                <a:gd name="T2" fmla="*/ 336 w 816"/>
                <a:gd name="T3" fmla="*/ 631 h 432"/>
                <a:gd name="T4" fmla="*/ 384 w 816"/>
                <a:gd name="T5" fmla="*/ 453 h 432"/>
                <a:gd name="T6" fmla="*/ 816 w 816"/>
                <a:gd name="T7" fmla="*/ 81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6"/>
                <a:gd name="T13" fmla="*/ 0 h 432"/>
                <a:gd name="T14" fmla="*/ 816 w 816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6" h="432">
                  <a:moveTo>
                    <a:pt x="0" y="0"/>
                  </a:moveTo>
                  <a:cubicBezTo>
                    <a:pt x="136" y="148"/>
                    <a:pt x="272" y="296"/>
                    <a:pt x="336" y="336"/>
                  </a:cubicBezTo>
                  <a:cubicBezTo>
                    <a:pt x="400" y="376"/>
                    <a:pt x="304" y="224"/>
                    <a:pt x="384" y="240"/>
                  </a:cubicBezTo>
                  <a:cubicBezTo>
                    <a:pt x="464" y="256"/>
                    <a:pt x="640" y="344"/>
                    <a:pt x="816" y="432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7694" name="Freeform 195">
              <a:extLst>
                <a:ext uri="{FF2B5EF4-FFF2-40B4-BE49-F238E27FC236}">
                  <a16:creationId xmlns:a16="http://schemas.microsoft.com/office/drawing/2014/main" id="{6B244F4F-658A-4326-AF08-90AE77C25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880"/>
              <a:ext cx="312" cy="432"/>
            </a:xfrm>
            <a:custGeom>
              <a:avLst/>
              <a:gdLst>
                <a:gd name="T0" fmla="*/ 168 w 312"/>
                <a:gd name="T1" fmla="*/ 0 h 384"/>
                <a:gd name="T2" fmla="*/ 24 w 312"/>
                <a:gd name="T3" fmla="*/ 293 h 384"/>
                <a:gd name="T4" fmla="*/ 312 w 312"/>
                <a:gd name="T5" fmla="*/ 779 h 384"/>
                <a:gd name="T6" fmla="*/ 0 60000 65536"/>
                <a:gd name="T7" fmla="*/ 0 60000 65536"/>
                <a:gd name="T8" fmla="*/ 0 60000 65536"/>
                <a:gd name="T9" fmla="*/ 0 w 312"/>
                <a:gd name="T10" fmla="*/ 0 h 384"/>
                <a:gd name="T11" fmla="*/ 312 w 31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384">
                  <a:moveTo>
                    <a:pt x="168" y="0"/>
                  </a:moveTo>
                  <a:cubicBezTo>
                    <a:pt x="84" y="40"/>
                    <a:pt x="0" y="80"/>
                    <a:pt x="24" y="144"/>
                  </a:cubicBezTo>
                  <a:cubicBezTo>
                    <a:pt x="48" y="208"/>
                    <a:pt x="180" y="296"/>
                    <a:pt x="312" y="384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27688" name="Line 31">
            <a:extLst>
              <a:ext uri="{FF2B5EF4-FFF2-40B4-BE49-F238E27FC236}">
                <a16:creationId xmlns:a16="http://schemas.microsoft.com/office/drawing/2014/main" id="{A8BE903A-16F6-4313-A969-172BCB28E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" y="2667000"/>
            <a:ext cx="3924300" cy="0"/>
          </a:xfrm>
          <a:prstGeom prst="line">
            <a:avLst/>
          </a:prstGeom>
          <a:noFill/>
          <a:ln w="9525">
            <a:solidFill>
              <a:srgbClr val="B025A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1">
            <a:extLst>
              <a:ext uri="{FF2B5EF4-FFF2-40B4-BE49-F238E27FC236}">
                <a16:creationId xmlns:a16="http://schemas.microsoft.com/office/drawing/2014/main" id="{039D6322-2E3B-4484-94D5-0CBEB99358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9698" name="Slide Number Placeholder 2">
            <a:extLst>
              <a:ext uri="{FF2B5EF4-FFF2-40B4-BE49-F238E27FC236}">
                <a16:creationId xmlns:a16="http://schemas.microsoft.com/office/drawing/2014/main" id="{16DD7F0D-00E0-4ADB-9E38-1F6591238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59E162C-8DD9-4800-86D3-7CC53920F5C4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15394" name="Text Box 34">
            <a:extLst>
              <a:ext uri="{FF2B5EF4-FFF2-40B4-BE49-F238E27FC236}">
                <a16:creationId xmlns:a16="http://schemas.microsoft.com/office/drawing/2014/main" id="{EB9EDBE8-E0C6-43D3-9951-84E9E7AD3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3886200"/>
            <a:ext cx="643255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spcBef>
                <a:spcPct val="69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2000">
                <a:sym typeface="Symbol" panose="05050102010706020507" pitchFamily="18" charset="2"/>
              </a:rPr>
              <a:t>Where are we?</a:t>
            </a:r>
          </a:p>
          <a:p>
            <a:pPr eaLnBrk="1" hangingPunct="1">
              <a:spcBef>
                <a:spcPct val="2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2000">
                <a:sym typeface="Symbol" panose="05050102010706020507" pitchFamily="18" charset="2"/>
              </a:rPr>
              <a:t> “2” matches “2”</a:t>
            </a:r>
          </a:p>
          <a:p>
            <a:pPr eaLnBrk="1" hangingPunct="1">
              <a:spcBef>
                <a:spcPct val="2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2000">
                <a:sym typeface="Symbol" panose="05050102010706020507" pitchFamily="18" charset="2"/>
              </a:rPr>
              <a:t> We have more input, but no </a:t>
            </a:r>
            <a:r>
              <a:rPr lang="en-US" altLang="it-IT" i="1">
                <a:sym typeface="Symbol" panose="05050102010706020507" pitchFamily="18" charset="2"/>
              </a:rPr>
              <a:t>NT</a:t>
            </a:r>
            <a:r>
              <a:rPr lang="en-US" altLang="it-IT" sz="2000">
                <a:sym typeface="Symbol" panose="05050102010706020507" pitchFamily="18" charset="2"/>
              </a:rPr>
              <a:t>s left to expand</a:t>
            </a:r>
          </a:p>
          <a:p>
            <a:pPr eaLnBrk="1" hangingPunct="1">
              <a:spcBef>
                <a:spcPct val="20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2000">
                <a:sym typeface="Symbol" panose="05050102010706020507" pitchFamily="18" charset="2"/>
              </a:rPr>
              <a:t> The expansion terminated too soon</a:t>
            </a:r>
          </a:p>
          <a:p>
            <a:pPr eaLnBrk="1" hangingPunct="1">
              <a:spcBef>
                <a:spcPct val="20000"/>
              </a:spcBef>
              <a:buClr>
                <a:srgbClr val="003C75"/>
              </a:buClr>
              <a:buSzPct val="110000"/>
              <a:buFont typeface="Symbol" panose="05050102010706020507" pitchFamily="18" charset="2"/>
              <a:buChar char=""/>
            </a:pPr>
            <a:r>
              <a:rPr lang="en-US" altLang="it-IT" sz="2000">
                <a:sym typeface="Symbol" panose="05050102010706020507" pitchFamily="18" charset="2"/>
              </a:rPr>
              <a:t> Need to backtrack</a:t>
            </a:r>
          </a:p>
          <a:p>
            <a:endParaRPr lang="en-US" altLang="it-IT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3E6C1C19-2393-40F4-871F-FB400C432BC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Example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A347140F-CD1F-4140-A9EB-EB0ECFF91DF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Trying to match the “2” in 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 – </a:t>
            </a:r>
            <a:r>
              <a:rPr lang="en-US" altLang="it-IT" u="sng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* </a:t>
            </a:r>
            <a:r>
              <a:rPr lang="en-US" altLang="it-IT" u="sng">
                <a:sym typeface="Symbol" panose="05050102010706020507" pitchFamily="18" charset="2"/>
              </a:rPr>
              <a:t>y</a:t>
            </a:r>
            <a:r>
              <a:rPr lang="en-US" altLang="it-IT">
                <a:sym typeface="Symbol" panose="05050102010706020507" pitchFamily="18" charset="2"/>
              </a:rPr>
              <a:t> :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AFEA5F4-7097-45A2-AB8D-D3DD107D4436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371600"/>
            <a:ext cx="2008188" cy="3265488"/>
            <a:chOff x="3408" y="864"/>
            <a:chExt cx="1265" cy="2057"/>
          </a:xfrm>
        </p:grpSpPr>
        <p:sp>
          <p:nvSpPr>
            <p:cNvPr id="29722" name="Oval 5">
              <a:extLst>
                <a:ext uri="{FF2B5EF4-FFF2-40B4-BE49-F238E27FC236}">
                  <a16:creationId xmlns:a16="http://schemas.microsoft.com/office/drawing/2014/main" id="{826DFB5D-9DC0-41B5-850D-9BC98317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86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Goal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23" name="Oval 6">
              <a:extLst>
                <a:ext uri="{FF2B5EF4-FFF2-40B4-BE49-F238E27FC236}">
                  <a16:creationId xmlns:a16="http://schemas.microsoft.com/office/drawing/2014/main" id="{266B7A95-3CB1-4F76-A833-1D4D9751F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124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24" name="Oval 7">
              <a:extLst>
                <a:ext uri="{FF2B5EF4-FFF2-40B4-BE49-F238E27FC236}">
                  <a16:creationId xmlns:a16="http://schemas.microsoft.com/office/drawing/2014/main" id="{A9132B0C-6826-4C00-BA85-4288F92CA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25" name="Oval 8">
              <a:extLst>
                <a:ext uri="{FF2B5EF4-FFF2-40B4-BE49-F238E27FC236}">
                  <a16:creationId xmlns:a16="http://schemas.microsoft.com/office/drawing/2014/main" id="{FE0E1E81-C182-4409-8491-108BF4218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1584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-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26" name="Line 9">
              <a:extLst>
                <a:ext uri="{FF2B5EF4-FFF2-40B4-BE49-F238E27FC236}">
                  <a16:creationId xmlns:a16="http://schemas.microsoft.com/office/drawing/2014/main" id="{0A9B3170-AA19-4B9F-A511-0DBC87A56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102"/>
              <a:ext cx="0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27" name="Oval 10">
              <a:extLst>
                <a:ext uri="{FF2B5EF4-FFF2-40B4-BE49-F238E27FC236}">
                  <a16:creationId xmlns:a16="http://schemas.microsoft.com/office/drawing/2014/main" id="{0BA4F30A-7C61-41C3-9646-88999A213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28" name="Oval 11">
              <a:extLst>
                <a:ext uri="{FF2B5EF4-FFF2-40B4-BE49-F238E27FC236}">
                  <a16:creationId xmlns:a16="http://schemas.microsoft.com/office/drawing/2014/main" id="{C410E87D-5D5C-4BC8-9221-BE7FF7B5A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96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29" name="Oval 12">
              <a:extLst>
                <a:ext uri="{FF2B5EF4-FFF2-40B4-BE49-F238E27FC236}">
                  <a16:creationId xmlns:a16="http://schemas.microsoft.com/office/drawing/2014/main" id="{BE5F918E-5F7D-4930-A418-9FDF1972E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352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Fact.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30" name="Oval 13">
              <a:extLst>
                <a:ext uri="{FF2B5EF4-FFF2-40B4-BE49-F238E27FC236}">
                  <a16:creationId xmlns:a16="http://schemas.microsoft.com/office/drawing/2014/main" id="{8E815C9A-98CA-4E4F-84B2-BFAD9D812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681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&lt;</a:t>
              </a:r>
              <a:r>
                <a:rPr lang="en-US" altLang="it-IT" sz="1600">
                  <a:latin typeface="Arial Rounded MT Bold" panose="020F0704030504030204" pitchFamily="34" charset="0"/>
                </a:rPr>
                <a:t>id,</a:t>
              </a:r>
              <a:r>
                <a:rPr lang="en-US" altLang="it-IT" sz="16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x</a:t>
              </a:r>
              <a:r>
                <a:rPr lang="en-US" altLang="it-IT" sz="1400">
                  <a:latin typeface="Arial Rounded MT Bold" panose="020F0704030504030204" pitchFamily="34" charset="0"/>
                </a:rPr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31" name="Line 14">
              <a:extLst>
                <a:ext uri="{FF2B5EF4-FFF2-40B4-BE49-F238E27FC236}">
                  <a16:creationId xmlns:a16="http://schemas.microsoft.com/office/drawing/2014/main" id="{B505E325-B887-4D09-A928-8878DC523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1825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32" name="Line 15">
              <a:extLst>
                <a:ext uri="{FF2B5EF4-FFF2-40B4-BE49-F238E27FC236}">
                  <a16:creationId xmlns:a16="http://schemas.microsoft.com/office/drawing/2014/main" id="{F9E9F5C2-171C-4417-8DDB-637C8637D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2208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33" name="Line 16">
              <a:extLst>
                <a:ext uri="{FF2B5EF4-FFF2-40B4-BE49-F238E27FC236}">
                  <a16:creationId xmlns:a16="http://schemas.microsoft.com/office/drawing/2014/main" id="{FC90446D-E6CB-4B43-9A57-615CFE4FA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2591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34" name="Line 17">
              <a:extLst>
                <a:ext uri="{FF2B5EF4-FFF2-40B4-BE49-F238E27FC236}">
                  <a16:creationId xmlns:a16="http://schemas.microsoft.com/office/drawing/2014/main" id="{5C8F422D-CF34-4F62-B249-A3A0BBA05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0" y="1430"/>
              <a:ext cx="186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35" name="Line 18">
              <a:extLst>
                <a:ext uri="{FF2B5EF4-FFF2-40B4-BE49-F238E27FC236}">
                  <a16:creationId xmlns:a16="http://schemas.microsoft.com/office/drawing/2014/main" id="{735D90FE-4485-4B32-99FD-E72E26090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440"/>
              <a:ext cx="18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36" name="Line 19">
              <a:extLst>
                <a:ext uri="{FF2B5EF4-FFF2-40B4-BE49-F238E27FC236}">
                  <a16:creationId xmlns:a16="http://schemas.microsoft.com/office/drawing/2014/main" id="{866ADCB2-CE74-4A16-AAC7-D60B7F102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1500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37" name="Oval 20">
              <a:extLst>
                <a:ext uri="{FF2B5EF4-FFF2-40B4-BE49-F238E27FC236}">
                  <a16:creationId xmlns:a16="http://schemas.microsoft.com/office/drawing/2014/main" id="{1046D3DF-AF56-46D0-8EF5-3DFC6435C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" y="1971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Fact.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38" name="Line 21">
              <a:extLst>
                <a:ext uri="{FF2B5EF4-FFF2-40B4-BE49-F238E27FC236}">
                  <a16:creationId xmlns:a16="http://schemas.microsoft.com/office/drawing/2014/main" id="{4E3AA7C3-D898-433E-8378-230688AA7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4" y="1828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9739" name="Oval 22">
              <a:extLst>
                <a:ext uri="{FF2B5EF4-FFF2-40B4-BE49-F238E27FC236}">
                  <a16:creationId xmlns:a16="http://schemas.microsoft.com/office/drawing/2014/main" id="{9C6150C8-5D91-4C64-8315-58960752A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2305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&lt;</a:t>
              </a:r>
              <a:r>
                <a:rPr lang="en-US" altLang="it-IT" sz="1600">
                  <a:latin typeface="Arial Rounded MT Bold" panose="020F0704030504030204" pitchFamily="34" charset="0"/>
                </a:rPr>
                <a:t>num,</a:t>
              </a:r>
              <a:r>
                <a:rPr lang="en-US" altLang="it-IT" sz="16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2</a:t>
              </a:r>
              <a:r>
                <a:rPr lang="en-US" altLang="it-IT" sz="1400">
                  <a:latin typeface="Arial Rounded MT Bold" panose="020F0704030504030204" pitchFamily="34" charset="0"/>
                </a:rPr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9740" name="Line 23">
              <a:extLst>
                <a:ext uri="{FF2B5EF4-FFF2-40B4-BE49-F238E27FC236}">
                  <a16:creationId xmlns:a16="http://schemas.microsoft.com/office/drawing/2014/main" id="{779C4857-FB32-4674-B2EA-1AFAB1D22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5" y="2215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aphicFrame>
        <p:nvGraphicFramePr>
          <p:cNvPr id="15498" name="Group 138">
            <a:extLst>
              <a:ext uri="{FF2B5EF4-FFF2-40B4-BE49-F238E27FC236}">
                <a16:creationId xmlns:a16="http://schemas.microsoft.com/office/drawing/2014/main" id="{C621937D-A2D4-4890-8EF6-D298DBA84252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828800"/>
          <a:ext cx="3581400" cy="163195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* 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1">
            <a:extLst>
              <a:ext uri="{FF2B5EF4-FFF2-40B4-BE49-F238E27FC236}">
                <a16:creationId xmlns:a16="http://schemas.microsoft.com/office/drawing/2014/main" id="{61B32D65-4B92-4F89-876E-C17280513A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AEF8278F-930B-490E-ABE9-69177A3ECB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A0FB2CF-9F5B-43AA-84E2-B60C26D6F38E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1F5C8E2-6C94-4D14-B050-FAF3E98DB0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Example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D71C92B5-09DB-498F-BE80-AE1711F43B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Trying again with “2” in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>
                <a:sym typeface="Symbol" panose="05050102010706020507" pitchFamily="18" charset="2"/>
              </a:rPr>
              <a:t> – </a:t>
            </a:r>
            <a:r>
              <a:rPr lang="en-US" altLang="it-IT" u="sng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* </a:t>
            </a:r>
            <a:r>
              <a:rPr lang="en-US" altLang="it-IT" u="sng">
                <a:sym typeface="Symbol" panose="05050102010706020507" pitchFamily="18" charset="2"/>
              </a:rPr>
              <a:t>y</a:t>
            </a:r>
            <a:r>
              <a:rPr lang="en-US" altLang="it-IT">
                <a:sym typeface="Symbol" panose="05050102010706020507" pitchFamily="18" charset="2"/>
              </a:rPr>
              <a:t> :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17288669-450B-4B0F-9AC8-2B947732D549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371600"/>
            <a:ext cx="2693988" cy="3265488"/>
            <a:chOff x="3456" y="864"/>
            <a:chExt cx="1697" cy="2057"/>
          </a:xfrm>
        </p:grpSpPr>
        <p:sp>
          <p:nvSpPr>
            <p:cNvPr id="31786" name="Oval 6">
              <a:extLst>
                <a:ext uri="{FF2B5EF4-FFF2-40B4-BE49-F238E27FC236}">
                  <a16:creationId xmlns:a16="http://schemas.microsoft.com/office/drawing/2014/main" id="{2811C8AA-58BD-40AA-BA79-3775C6C4C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86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Goal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787" name="Oval 7">
              <a:extLst>
                <a:ext uri="{FF2B5EF4-FFF2-40B4-BE49-F238E27FC236}">
                  <a16:creationId xmlns:a16="http://schemas.microsoft.com/office/drawing/2014/main" id="{73531315-E318-4E9F-8508-892FE5976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124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788" name="Oval 8">
              <a:extLst>
                <a:ext uri="{FF2B5EF4-FFF2-40B4-BE49-F238E27FC236}">
                  <a16:creationId xmlns:a16="http://schemas.microsoft.com/office/drawing/2014/main" id="{6468BC24-4C53-4679-B160-5843CA832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5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789" name="Oval 9">
              <a:extLst>
                <a:ext uri="{FF2B5EF4-FFF2-40B4-BE49-F238E27FC236}">
                  <a16:creationId xmlns:a16="http://schemas.microsoft.com/office/drawing/2014/main" id="{3B17C6F4-1432-4BFB-B8E9-272F3DA57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1584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–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790" name="Line 10">
              <a:extLst>
                <a:ext uri="{FF2B5EF4-FFF2-40B4-BE49-F238E27FC236}">
                  <a16:creationId xmlns:a16="http://schemas.microsoft.com/office/drawing/2014/main" id="{77846426-4F91-4387-83CC-DE11C1FAB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8" y="1102"/>
              <a:ext cx="0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791" name="Oval 11">
              <a:extLst>
                <a:ext uri="{FF2B5EF4-FFF2-40B4-BE49-F238E27FC236}">
                  <a16:creationId xmlns:a16="http://schemas.microsoft.com/office/drawing/2014/main" id="{FA152FF4-1F59-4F8F-B2BD-1809BE575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792" name="Oval 12">
              <a:extLst>
                <a:ext uri="{FF2B5EF4-FFF2-40B4-BE49-F238E27FC236}">
                  <a16:creationId xmlns:a16="http://schemas.microsoft.com/office/drawing/2014/main" id="{4AC43358-BCFE-4CBF-A80D-A9FE7FF68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96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793" name="Oval 13">
              <a:extLst>
                <a:ext uri="{FF2B5EF4-FFF2-40B4-BE49-F238E27FC236}">
                  <a16:creationId xmlns:a16="http://schemas.microsoft.com/office/drawing/2014/main" id="{CFAB2659-3A90-4A77-8EAE-6DFAACF2F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352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Fact.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794" name="Oval 14">
              <a:extLst>
                <a:ext uri="{FF2B5EF4-FFF2-40B4-BE49-F238E27FC236}">
                  <a16:creationId xmlns:a16="http://schemas.microsoft.com/office/drawing/2014/main" id="{FD1511AE-CBBA-4DDF-8AD8-47465D5C8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81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/>
                <a:t>&lt;</a:t>
              </a:r>
              <a:r>
                <a:rPr lang="en-US" altLang="it-IT" sz="1600"/>
                <a:t>id,</a:t>
              </a:r>
              <a:r>
                <a:rPr lang="en-US" altLang="it-IT" sz="1600">
                  <a:solidFill>
                    <a:srgbClr val="FF0065"/>
                  </a:solidFill>
                </a:rPr>
                <a:t>x</a:t>
              </a:r>
              <a:r>
                <a:rPr lang="en-US" altLang="it-IT" sz="1400"/>
                <a:t>&gt;</a:t>
              </a:r>
              <a:endParaRPr lang="en-US" altLang="it-IT" sz="1600"/>
            </a:p>
          </p:txBody>
        </p:sp>
        <p:sp>
          <p:nvSpPr>
            <p:cNvPr id="31795" name="Line 15">
              <a:extLst>
                <a:ext uri="{FF2B5EF4-FFF2-40B4-BE49-F238E27FC236}">
                  <a16:creationId xmlns:a16="http://schemas.microsoft.com/office/drawing/2014/main" id="{7B2D8A14-6475-49DC-B0E2-9ACEEF9FB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1825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796" name="Line 16">
              <a:extLst>
                <a:ext uri="{FF2B5EF4-FFF2-40B4-BE49-F238E27FC236}">
                  <a16:creationId xmlns:a16="http://schemas.microsoft.com/office/drawing/2014/main" id="{C35FDD99-83FA-4D6A-B4A8-DA5E3C14C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2208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797" name="Line 17">
              <a:extLst>
                <a:ext uri="{FF2B5EF4-FFF2-40B4-BE49-F238E27FC236}">
                  <a16:creationId xmlns:a16="http://schemas.microsoft.com/office/drawing/2014/main" id="{83D1B5D0-2D9F-43FC-B41F-1506CD934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2591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798" name="Line 18">
              <a:extLst>
                <a:ext uri="{FF2B5EF4-FFF2-40B4-BE49-F238E27FC236}">
                  <a16:creationId xmlns:a16="http://schemas.microsoft.com/office/drawing/2014/main" id="{EA21BD72-871D-4590-8949-E3314B6492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8" y="1430"/>
              <a:ext cx="186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799" name="Line 19">
              <a:extLst>
                <a:ext uri="{FF2B5EF4-FFF2-40B4-BE49-F238E27FC236}">
                  <a16:creationId xmlns:a16="http://schemas.microsoft.com/office/drawing/2014/main" id="{F1C01136-25F8-4391-AEA1-737CB5688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1440"/>
              <a:ext cx="18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800" name="Line 20">
              <a:extLst>
                <a:ext uri="{FF2B5EF4-FFF2-40B4-BE49-F238E27FC236}">
                  <a16:creationId xmlns:a16="http://schemas.microsoft.com/office/drawing/2014/main" id="{88D4E4FE-9CF0-4C5B-97AC-97BBC9CA5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7" y="1500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801" name="Oval 21">
              <a:extLst>
                <a:ext uri="{FF2B5EF4-FFF2-40B4-BE49-F238E27FC236}">
                  <a16:creationId xmlns:a16="http://schemas.microsoft.com/office/drawing/2014/main" id="{5512A5DA-A145-4A5A-8FE9-2A3C2C6E4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968"/>
              <a:ext cx="336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Fact.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802" name="Line 22">
              <a:extLst>
                <a:ext uri="{FF2B5EF4-FFF2-40B4-BE49-F238E27FC236}">
                  <a16:creationId xmlns:a16="http://schemas.microsoft.com/office/drawing/2014/main" id="{D2FB9328-597C-45F2-B9ED-F16D06C6F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" y="1828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803" name="Oval 23">
              <a:extLst>
                <a:ext uri="{FF2B5EF4-FFF2-40B4-BE49-F238E27FC236}">
                  <a16:creationId xmlns:a16="http://schemas.microsoft.com/office/drawing/2014/main" id="{574EB414-7C7D-4695-828C-6905E5987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305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/>
                <a:t>&lt;</a:t>
              </a:r>
              <a:r>
                <a:rPr lang="en-US" altLang="it-IT" sz="1600"/>
                <a:t>id,</a:t>
              </a:r>
              <a:r>
                <a:rPr lang="en-US" altLang="it-IT" sz="1600">
                  <a:solidFill>
                    <a:srgbClr val="FF0065"/>
                  </a:solidFill>
                </a:rPr>
                <a:t>y</a:t>
              </a:r>
              <a:r>
                <a:rPr lang="en-US" altLang="it-IT" sz="1400"/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1804" name="Line 24">
              <a:extLst>
                <a:ext uri="{FF2B5EF4-FFF2-40B4-BE49-F238E27FC236}">
                  <a16:creationId xmlns:a16="http://schemas.microsoft.com/office/drawing/2014/main" id="{322F0D93-7D30-468F-B863-345B64CEB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5" y="2215"/>
              <a:ext cx="0" cy="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31805" name="Group 25">
              <a:extLst>
                <a:ext uri="{FF2B5EF4-FFF2-40B4-BE49-F238E27FC236}">
                  <a16:creationId xmlns:a16="http://schemas.microsoft.com/office/drawing/2014/main" id="{9A01E781-1772-43BE-887D-8483FA7B73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9" y="1968"/>
              <a:ext cx="342" cy="953"/>
              <a:chOff x="3930" y="1968"/>
              <a:chExt cx="342" cy="953"/>
            </a:xfrm>
          </p:grpSpPr>
          <p:sp>
            <p:nvSpPr>
              <p:cNvPr id="31809" name="Oval 26">
                <a:extLst>
                  <a:ext uri="{FF2B5EF4-FFF2-40B4-BE49-F238E27FC236}">
                    <a16:creationId xmlns:a16="http://schemas.microsoft.com/office/drawing/2014/main" id="{E6B39851-7E2D-4E15-B759-A878ED7E0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0" y="1968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>
                    <a:latin typeface="Arial Rounded MT Bold" panose="020F0704030504030204" pitchFamily="34" charset="0"/>
                  </a:rPr>
                  <a:t>Term</a:t>
                </a:r>
                <a:endParaRPr lang="en-US" altLang="it-IT" sz="16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1810" name="Oval 27">
                <a:extLst>
                  <a:ext uri="{FF2B5EF4-FFF2-40B4-BE49-F238E27FC236}">
                    <a16:creationId xmlns:a16="http://schemas.microsoft.com/office/drawing/2014/main" id="{39A20B2A-7042-4B98-98A2-922393EE8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352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>
                    <a:latin typeface="Arial Rounded MT Bold" panose="020F0704030504030204" pitchFamily="34" charset="0"/>
                  </a:rPr>
                  <a:t>Fact.</a:t>
                </a:r>
                <a:endParaRPr lang="en-US" altLang="it-IT" sz="16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1811" name="Oval 28">
                <a:extLst>
                  <a:ext uri="{FF2B5EF4-FFF2-40B4-BE49-F238E27FC236}">
                    <a16:creationId xmlns:a16="http://schemas.microsoft.com/office/drawing/2014/main" id="{F4C9313F-D869-4DB8-8EC5-DE8751BD0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681"/>
                <a:ext cx="336" cy="24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/>
                  <a:t>&lt;</a:t>
                </a:r>
                <a:r>
                  <a:rPr lang="en-US" altLang="it-IT" sz="1600"/>
                  <a:t>num,</a:t>
                </a:r>
                <a:r>
                  <a:rPr lang="en-US" altLang="it-IT" sz="1600">
                    <a:solidFill>
                      <a:srgbClr val="FF0065"/>
                    </a:solidFill>
                  </a:rPr>
                  <a:t>2</a:t>
                </a:r>
                <a:r>
                  <a:rPr lang="en-US" altLang="it-IT" sz="1400"/>
                  <a:t>&gt;</a:t>
                </a:r>
                <a:endParaRPr lang="en-US" altLang="it-IT" sz="16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1812" name="Line 29">
                <a:extLst>
                  <a:ext uri="{FF2B5EF4-FFF2-40B4-BE49-F238E27FC236}">
                    <a16:creationId xmlns:a16="http://schemas.microsoft.com/office/drawing/2014/main" id="{D4741248-122D-43FD-9AB7-F04C1C93E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4" y="2208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1813" name="Line 30">
                <a:extLst>
                  <a:ext uri="{FF2B5EF4-FFF2-40B4-BE49-F238E27FC236}">
                    <a16:creationId xmlns:a16="http://schemas.microsoft.com/office/drawing/2014/main" id="{AAFEDBC7-0108-441F-87F5-8FA4D1BDF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4" y="2591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31806" name="Line 31">
              <a:extLst>
                <a:ext uri="{FF2B5EF4-FFF2-40B4-BE49-F238E27FC236}">
                  <a16:creationId xmlns:a16="http://schemas.microsoft.com/office/drawing/2014/main" id="{FDBF0660-5953-46B8-B537-A872DCFCA0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09" y="1797"/>
              <a:ext cx="207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807" name="Line 32">
              <a:extLst>
                <a:ext uri="{FF2B5EF4-FFF2-40B4-BE49-F238E27FC236}">
                  <a16:creationId xmlns:a16="http://schemas.microsoft.com/office/drawing/2014/main" id="{FD3F58ED-2CC4-47C0-84A1-6DEC50E03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1803"/>
              <a:ext cx="203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808" name="Oval 33">
              <a:extLst>
                <a:ext uri="{FF2B5EF4-FFF2-40B4-BE49-F238E27FC236}">
                  <a16:creationId xmlns:a16="http://schemas.microsoft.com/office/drawing/2014/main" id="{50A97498-4704-42C8-BF7D-4B6467848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968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*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4" name="Group 34">
            <a:extLst>
              <a:ext uri="{FF2B5EF4-FFF2-40B4-BE49-F238E27FC236}">
                <a16:creationId xmlns:a16="http://schemas.microsoft.com/office/drawing/2014/main" id="{0E5CA531-EFB2-4C41-8068-16A99680A66C}"/>
              </a:ext>
            </a:extLst>
          </p:cNvPr>
          <p:cNvGrpSpPr>
            <a:grpSpLocks/>
          </p:cNvGrpSpPr>
          <p:nvPr/>
        </p:nvGrpSpPr>
        <p:grpSpPr bwMode="auto">
          <a:xfrm>
            <a:off x="4948238" y="4533900"/>
            <a:ext cx="614362" cy="784225"/>
            <a:chOff x="3072" y="2976"/>
            <a:chExt cx="387" cy="494"/>
          </a:xfrm>
        </p:grpSpPr>
        <p:sp>
          <p:nvSpPr>
            <p:cNvPr id="31784" name="Oval 35">
              <a:extLst>
                <a:ext uri="{FF2B5EF4-FFF2-40B4-BE49-F238E27FC236}">
                  <a16:creationId xmlns:a16="http://schemas.microsoft.com/office/drawing/2014/main" id="{901865A6-0A78-4B7B-A454-F4C37B114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976"/>
              <a:ext cx="192" cy="192"/>
            </a:xfrm>
            <a:prstGeom prst="ellips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1785" name="Line 36">
              <a:extLst>
                <a:ext uri="{FF2B5EF4-FFF2-40B4-BE49-F238E27FC236}">
                  <a16:creationId xmlns:a16="http://schemas.microsoft.com/office/drawing/2014/main" id="{18C772B0-EAB4-4AD0-9D9E-90F55CA76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08" y="3152"/>
              <a:ext cx="251" cy="318"/>
            </a:xfrm>
            <a:prstGeom prst="line">
              <a:avLst/>
            </a:pr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7445" name="Text Box 37">
            <a:extLst>
              <a:ext uri="{FF2B5EF4-FFF2-40B4-BE49-F238E27FC236}">
                <a16:creationId xmlns:a16="http://schemas.microsoft.com/office/drawing/2014/main" id="{A0489F46-9204-4E28-83BB-708FD1DB8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5257800"/>
            <a:ext cx="523875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0"/>
              </a:spcBef>
              <a:buClr>
                <a:srgbClr val="1822CD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This time, we matched &amp; consumed all the input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rgbClr val="003C75"/>
              </a:buClr>
              <a:buSzPct val="110000"/>
              <a:buFont typeface="Symbol" panose="05050102010706020507" pitchFamily="18" charset="2"/>
              <a:buChar char=""/>
            </a:pPr>
            <a:r>
              <a:rPr lang="en-US" altLang="it-IT">
                <a:sym typeface="Symbol" panose="05050102010706020507" pitchFamily="18" charset="2"/>
              </a:rPr>
              <a:t>Success!</a:t>
            </a:r>
          </a:p>
          <a:p>
            <a:endParaRPr lang="en-US" altLang="it-IT"/>
          </a:p>
        </p:txBody>
      </p:sp>
      <p:graphicFrame>
        <p:nvGraphicFramePr>
          <p:cNvPr id="17516" name="Group 108">
            <a:extLst>
              <a:ext uri="{FF2B5EF4-FFF2-40B4-BE49-F238E27FC236}">
                <a16:creationId xmlns:a16="http://schemas.microsoft.com/office/drawing/2014/main" id="{A262758C-AD15-4DDC-A658-7509263F8CE5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828800"/>
          <a:ext cx="4343400" cy="2983272"/>
        </p:xfrm>
        <a:graphic>
          <a:graphicData uri="http://schemas.openxmlformats.org/drawingml/2006/table">
            <a:tbl>
              <a:tblPr/>
              <a:tblGrid>
                <a:gridCol w="72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7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*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- 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num,</a:t>
                      </a:r>
                      <a:r>
                        <a:rPr kumimoji="0" lang="en-US" sz="1600" b="0" i="1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517" name="Text Box 109">
            <a:extLst>
              <a:ext uri="{FF2B5EF4-FFF2-40B4-BE49-F238E27FC236}">
                <a16:creationId xmlns:a16="http://schemas.microsoft.com/office/drawing/2014/main" id="{96ADE394-9F35-4C4F-9545-E8E8A9A57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029200"/>
            <a:ext cx="7467600" cy="1054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The Point:</a:t>
            </a:r>
            <a:endParaRPr lang="en-US" altLang="it-IT"/>
          </a:p>
          <a:p>
            <a:pPr>
              <a:spcBef>
                <a:spcPct val="50000"/>
              </a:spcBef>
            </a:pPr>
            <a:r>
              <a:rPr lang="en-US" altLang="it-IT"/>
              <a:t>The parser must make the right choice when it expands a NT.  Wrong choices lead to wasted effort.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5" grpId="0" autoUpdateAnimBg="0"/>
      <p:bldP spid="1751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1">
            <a:extLst>
              <a:ext uri="{FF2B5EF4-FFF2-40B4-BE49-F238E27FC236}">
                <a16:creationId xmlns:a16="http://schemas.microsoft.com/office/drawing/2014/main" id="{2AB8A694-CD60-44CE-A5C0-23D52731B1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3794" name="Slide Number Placeholder 2">
            <a:extLst>
              <a:ext uri="{FF2B5EF4-FFF2-40B4-BE49-F238E27FC236}">
                <a16:creationId xmlns:a16="http://schemas.microsoft.com/office/drawing/2014/main" id="{9DA526D4-0923-4151-B325-14F53B1EA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B7371E0-E6CF-444F-8A27-CA8CCB40DFA0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76E98D6-8BCA-4738-A82E-BB990786BE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Other choices for expansion are possible</a:t>
            </a:r>
          </a:p>
          <a:p>
            <a:pPr eaLnBrk="1" hangingPunct="1">
              <a:spcBef>
                <a:spcPct val="6000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This expansion doesn’t terminate                         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>
                <a:sym typeface="Symbol" panose="05050102010706020507" pitchFamily="18" charset="2"/>
              </a:rPr>
              <a:t>Wrong choice of expansion leads to non-termination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Non-termination is a bad property for a parser to have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Parser must make the right choice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A471637-9364-4C51-84A9-F0851FE11F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Another possible parse</a:t>
            </a:r>
          </a:p>
        </p:txBody>
      </p:sp>
      <p:graphicFrame>
        <p:nvGraphicFramePr>
          <p:cNvPr id="19513" name="Group 57">
            <a:extLst>
              <a:ext uri="{FF2B5EF4-FFF2-40B4-BE49-F238E27FC236}">
                <a16:creationId xmlns:a16="http://schemas.microsoft.com/office/drawing/2014/main" id="{255E89CF-0869-4CE4-992F-88A128FB91A0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752600"/>
          <a:ext cx="4800600" cy="229235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And so on ….  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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-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* 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y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3822" name="Group 62">
            <a:extLst>
              <a:ext uri="{FF2B5EF4-FFF2-40B4-BE49-F238E27FC236}">
                <a16:creationId xmlns:a16="http://schemas.microsoft.com/office/drawing/2014/main" id="{81E037A4-03CB-4835-88F4-36FC03A36441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2286000"/>
            <a:ext cx="3600450" cy="1828800"/>
            <a:chOff x="2964" y="1488"/>
            <a:chExt cx="2268" cy="1152"/>
          </a:xfrm>
        </p:grpSpPr>
        <p:sp>
          <p:nvSpPr>
            <p:cNvPr id="33823" name="Oval 58">
              <a:extLst>
                <a:ext uri="{FF2B5EF4-FFF2-40B4-BE49-F238E27FC236}">
                  <a16:creationId xmlns:a16="http://schemas.microsoft.com/office/drawing/2014/main" id="{77013D5F-F3D9-4B0B-9B54-D5D978C4E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4" y="1728"/>
              <a:ext cx="240" cy="912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/>
            </a:p>
          </p:txBody>
        </p:sp>
        <p:sp>
          <p:nvSpPr>
            <p:cNvPr id="33824" name="Text Box 59">
              <a:extLst>
                <a:ext uri="{FF2B5EF4-FFF2-40B4-BE49-F238E27FC236}">
                  <a16:creationId xmlns:a16="http://schemas.microsoft.com/office/drawing/2014/main" id="{DBC71466-3DF0-48BD-91A6-A65326EBD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488"/>
              <a:ext cx="14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Consumes no input!</a:t>
              </a:r>
              <a:endParaRPr lang="en-US" altLang="it-IT">
                <a:solidFill>
                  <a:srgbClr val="003C75"/>
                </a:solidFill>
              </a:endParaRPr>
            </a:p>
          </p:txBody>
        </p:sp>
        <p:sp>
          <p:nvSpPr>
            <p:cNvPr id="33825" name="Line 60">
              <a:extLst>
                <a:ext uri="{FF2B5EF4-FFF2-40B4-BE49-F238E27FC236}">
                  <a16:creationId xmlns:a16="http://schemas.microsoft.com/office/drawing/2014/main" id="{2FD9E3BE-1ADB-4782-B293-9F205ABEA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488"/>
              <a:ext cx="0" cy="192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3826" name="Freeform 61">
              <a:extLst>
                <a:ext uri="{FF2B5EF4-FFF2-40B4-BE49-F238E27FC236}">
                  <a16:creationId xmlns:a16="http://schemas.microsoft.com/office/drawing/2014/main" id="{66A42411-A900-4743-A8A7-4BB010561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1536"/>
              <a:ext cx="600" cy="432"/>
            </a:xfrm>
            <a:custGeom>
              <a:avLst/>
              <a:gdLst>
                <a:gd name="T0" fmla="*/ 576 w 600"/>
                <a:gd name="T1" fmla="*/ 0 h 432"/>
                <a:gd name="T2" fmla="*/ 432 w 600"/>
                <a:gd name="T3" fmla="*/ 96 h 432"/>
                <a:gd name="T4" fmla="*/ 528 w 600"/>
                <a:gd name="T5" fmla="*/ 144 h 432"/>
                <a:gd name="T6" fmla="*/ 0 w 600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0"/>
                <a:gd name="T13" fmla="*/ 0 h 432"/>
                <a:gd name="T14" fmla="*/ 600 w 600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0" h="432">
                  <a:moveTo>
                    <a:pt x="576" y="0"/>
                  </a:moveTo>
                  <a:cubicBezTo>
                    <a:pt x="508" y="36"/>
                    <a:pt x="440" y="72"/>
                    <a:pt x="432" y="96"/>
                  </a:cubicBezTo>
                  <a:cubicBezTo>
                    <a:pt x="424" y="120"/>
                    <a:pt x="600" y="88"/>
                    <a:pt x="528" y="144"/>
                  </a:cubicBezTo>
                  <a:cubicBezTo>
                    <a:pt x="456" y="200"/>
                    <a:pt x="228" y="316"/>
                    <a:pt x="0" y="432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1">
            <a:extLst>
              <a:ext uri="{FF2B5EF4-FFF2-40B4-BE49-F238E27FC236}">
                <a16:creationId xmlns:a16="http://schemas.microsoft.com/office/drawing/2014/main" id="{D6F93FD6-D1D4-4C17-9174-1B3EF5C35F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5842" name="Slide Number Placeholder 2">
            <a:extLst>
              <a:ext uri="{FF2B5EF4-FFF2-40B4-BE49-F238E27FC236}">
                <a16:creationId xmlns:a16="http://schemas.microsoft.com/office/drawing/2014/main" id="{11460A44-E78B-401E-A726-6FE4B6C5E5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EBB490D-45DD-4B31-8B64-E9F038E131EE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75EF2FC-2F93-4343-9AC3-2665E733E1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5000"/>
              </a:spcBef>
            </a:pPr>
            <a:r>
              <a:rPr lang="en-US" altLang="it-IT">
                <a:sym typeface="Symbol" panose="05050102010706020507" pitchFamily="18" charset="2"/>
              </a:rPr>
              <a:t>Left Recursion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F19D39B-B803-4D0D-B1D3-6D6698D765A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924800" cy="4953000"/>
          </a:xfrm>
        </p:spPr>
        <p:txBody>
          <a:bodyPr/>
          <a:lstStyle/>
          <a:p>
            <a:pPr algn="ctr" eaLnBrk="1" hangingPunct="1">
              <a:lnSpc>
                <a:spcPct val="3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 i="1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algn="ctr" eaLnBrk="1" hangingPunct="1">
              <a:spcBef>
                <a:spcPct val="3500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Top-down parsers cannot handle left-recursive grammars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Formally,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A grammar is </a:t>
            </a:r>
            <a:r>
              <a:rPr lang="en-US" altLang="it-IT" i="1">
                <a:sym typeface="Symbol" panose="05050102010706020507" pitchFamily="18" charset="2"/>
              </a:rPr>
              <a:t>left recursive</a:t>
            </a:r>
            <a:r>
              <a:rPr lang="en-US" altLang="it-IT">
                <a:sym typeface="Symbol" panose="05050102010706020507" pitchFamily="18" charset="2"/>
              </a:rPr>
              <a:t> if 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 sz="1600">
                <a:sym typeface="Symbol" panose="05050102010706020507" pitchFamily="18" charset="2"/>
              </a:rPr>
              <a:t> </a:t>
            </a:r>
            <a:r>
              <a:rPr lang="en-US" altLang="it-IT" sz="1600" i="1">
                <a:sym typeface="Symbol" panose="05050102010706020507" pitchFamily="18" charset="2"/>
              </a:rPr>
              <a:t>NT</a:t>
            </a:r>
            <a:r>
              <a:rPr lang="en-US" altLang="it-IT">
                <a:sym typeface="Symbol" panose="05050102010706020507" pitchFamily="18" charset="2"/>
              </a:rPr>
              <a:t> such that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 a derivation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>
                <a:sym typeface="Symbol" panose="05050102010706020507" pitchFamily="18" charset="2"/>
              </a:rPr>
              <a:t></a:t>
            </a:r>
            <a:r>
              <a:rPr lang="en-US" altLang="it-IT" baseline="30000">
                <a:sym typeface="Symbol" panose="05050102010706020507" pitchFamily="18" charset="2"/>
              </a:rPr>
              <a:t>+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A, </a:t>
            </a:r>
            <a:r>
              <a:rPr lang="en-US" altLang="it-IT">
                <a:sym typeface="Symbol" panose="05050102010706020507" pitchFamily="18" charset="2"/>
              </a:rPr>
              <a:t>for some string</a:t>
            </a:r>
            <a:r>
              <a:rPr lang="en-US" altLang="it-IT" i="1">
                <a:sym typeface="Symbol" panose="05050102010706020507" pitchFamily="18" charset="2"/>
              </a:rPr>
              <a:t>  </a:t>
            </a:r>
            <a:r>
              <a:rPr lang="en-US" altLang="it-IT" sz="1600">
                <a:sym typeface="Symbol" panose="05050102010706020507" pitchFamily="18" charset="2"/>
              </a:rPr>
              <a:t> (</a:t>
            </a:r>
            <a:r>
              <a:rPr lang="en-US" altLang="it-IT" sz="1600" i="1">
                <a:sym typeface="Symbol" panose="05050102010706020507" pitchFamily="18" charset="2"/>
              </a:rPr>
              <a:t>NT </a:t>
            </a:r>
            <a:r>
              <a:rPr lang="en-US" altLang="it-IT" sz="1600">
                <a:sym typeface="Symbol" panose="05050102010706020507" pitchFamily="18" charset="2"/>
              </a:rPr>
              <a:t> </a:t>
            </a:r>
            <a:r>
              <a:rPr lang="en-US" altLang="it-IT" sz="1600" i="1">
                <a:sym typeface="Symbol" panose="05050102010706020507" pitchFamily="18" charset="2"/>
              </a:rPr>
              <a:t>T </a:t>
            </a:r>
            <a:r>
              <a:rPr lang="en-US" altLang="it-IT" sz="1600">
                <a:sym typeface="Symbol" panose="05050102010706020507" pitchFamily="18" charset="2"/>
              </a:rPr>
              <a:t>)</a:t>
            </a:r>
            <a:r>
              <a:rPr lang="en-US" altLang="it-IT" sz="1600" baseline="30000">
                <a:sym typeface="Symbol" panose="05050102010706020507" pitchFamily="18" charset="2"/>
              </a:rPr>
              <a:t>+</a:t>
            </a:r>
            <a:endParaRPr lang="en-US" altLang="it-IT" sz="1600">
              <a:sym typeface="Symbol" panose="05050102010706020507" pitchFamily="18" charset="2"/>
            </a:endParaRPr>
          </a:p>
          <a:p>
            <a:pPr eaLnBrk="1" hangingPunct="1">
              <a:spcBef>
                <a:spcPct val="11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Our classic expression grammar is left recursive</a:t>
            </a:r>
            <a:endParaRPr lang="en-US" altLang="it-IT" sz="1800"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This can lead to non-termination in a top-down parser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In a top-down parser, any recursion must be right recursion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We would like to convert the left recursion to right recursion</a:t>
            </a:r>
          </a:p>
          <a:p>
            <a:pPr algn="ctr"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Non-termination is </a:t>
            </a:r>
            <a:r>
              <a:rPr lang="en-US" altLang="it-IT" i="1" u="sng">
                <a:solidFill>
                  <a:srgbClr val="FF0065"/>
                </a:solidFill>
                <a:sym typeface="Symbol" panose="05050102010706020507" pitchFamily="18" charset="2"/>
              </a:rPr>
              <a:t>always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 a bad property in a compiler</a:t>
            </a:r>
            <a:endParaRPr lang="en-US" altLang="it-IT">
              <a:solidFill>
                <a:srgbClr val="ED181E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1">
            <a:extLst>
              <a:ext uri="{FF2B5EF4-FFF2-40B4-BE49-F238E27FC236}">
                <a16:creationId xmlns:a16="http://schemas.microsoft.com/office/drawing/2014/main" id="{5E784CCC-580B-4165-A064-89BEC263CB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7890" name="Slide Number Placeholder 2">
            <a:extLst>
              <a:ext uri="{FF2B5EF4-FFF2-40B4-BE49-F238E27FC236}">
                <a16:creationId xmlns:a16="http://schemas.microsoft.com/office/drawing/2014/main" id="{2D8EE3ED-5C63-439B-9024-F8AE3E2B7B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561D376-9BC7-45B7-AA91-99B17874719D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40658790-062D-49EE-9387-9CB3A54BED5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5000"/>
              </a:spcBef>
            </a:pPr>
            <a:r>
              <a:rPr lang="en-US" altLang="it-IT">
                <a:sym typeface="Symbol" panose="05050102010706020507" pitchFamily="18" charset="2"/>
              </a:rPr>
              <a:t>Eliminating Left Recursion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5D1DC10-B0B1-4519-A48E-4B0B0F8EA1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To remove left recursion, we can transform the grammar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6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Consider a grammar fragment of the form</a:t>
            </a:r>
          </a:p>
          <a:p>
            <a:pPr lvl="1" eaLnBrk="1" hangingPunct="1"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Fee 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Fee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 sz="2000">
                <a:solidFill>
                  <a:srgbClr val="FF0065"/>
                </a:solidFill>
                <a:sym typeface="Symbol" panose="05050102010706020507" pitchFamily="18" charset="2"/>
              </a:rPr>
              <a:t>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   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     | 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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where neither  nor  start with </a:t>
            </a:r>
            <a:r>
              <a:rPr lang="en-US" altLang="it-IT" i="1">
                <a:sym typeface="Symbol" panose="05050102010706020507" pitchFamily="18" charset="2"/>
              </a:rPr>
              <a:t>Fee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We can rewrite this fragment as </a:t>
            </a:r>
          </a:p>
          <a:p>
            <a:pPr lvl="1" eaLnBrk="1" hangingPunct="1"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Fee </a:t>
            </a:r>
            <a:r>
              <a:rPr lang="en-US" altLang="it-IT" sz="1600">
                <a:sym typeface="Symbol" panose="05050102010706020507" pitchFamily="18" charset="2"/>
              </a:rPr>
              <a:t>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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Fie</a:t>
            </a:r>
          </a:p>
          <a:p>
            <a:pPr lvl="1" eaLnBrk="1" hangingPunct="1">
              <a:buFontTx/>
              <a:buNone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Fie</a:t>
            </a:r>
            <a:r>
              <a:rPr lang="en-US" altLang="it-IT" i="1">
                <a:solidFill>
                  <a:srgbClr val="1822CD"/>
                </a:solidFill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 </a:t>
            </a:r>
            <a:r>
              <a:rPr lang="en-US" altLang="it-IT" sz="2000">
                <a:solidFill>
                  <a:srgbClr val="FF0065"/>
                </a:solidFill>
                <a:sym typeface="Symbol" panose="05050102010706020507" pitchFamily="18" charset="2"/>
              </a:rPr>
              <a:t>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Fie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     |</a:t>
            </a:r>
            <a:r>
              <a:rPr lang="en-US" altLang="it-IT" sz="2000">
                <a:sym typeface="Symbol" panose="05050102010706020507" pitchFamily="18" charset="2"/>
              </a:rPr>
              <a:t>  </a:t>
            </a:r>
            <a:r>
              <a:rPr lang="en-US" altLang="it-IT" sz="2400">
                <a:sym typeface="Symbol" panose="05050102010706020507" pitchFamily="18" charset="2"/>
              </a:rPr>
              <a:t>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where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Fie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is a new non-terminal</a:t>
            </a:r>
            <a:endParaRPr lang="en-US" altLang="it-IT" sz="1800">
              <a:sym typeface="Symbol" panose="05050102010706020507" pitchFamily="18" charset="2"/>
            </a:endParaRPr>
          </a:p>
        </p:txBody>
      </p:sp>
      <p:grpSp>
        <p:nvGrpSpPr>
          <p:cNvPr id="37893" name="Group 11">
            <a:extLst>
              <a:ext uri="{FF2B5EF4-FFF2-40B4-BE49-F238E27FC236}">
                <a16:creationId xmlns:a16="http://schemas.microsoft.com/office/drawing/2014/main" id="{91744ED3-B22C-43C8-A74A-612C31459444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759200"/>
            <a:ext cx="6362700" cy="2501900"/>
            <a:chOff x="1488" y="2368"/>
            <a:chExt cx="4008" cy="1576"/>
          </a:xfrm>
        </p:grpSpPr>
        <p:sp>
          <p:nvSpPr>
            <p:cNvPr id="37894" name="Text Box 5">
              <a:extLst>
                <a:ext uri="{FF2B5EF4-FFF2-40B4-BE49-F238E27FC236}">
                  <a16:creationId xmlns:a16="http://schemas.microsoft.com/office/drawing/2014/main" id="{1F20E117-3614-484F-A695-221321A62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0" y="2368"/>
              <a:ext cx="1976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003C75"/>
                  </a:solidFill>
                </a:rPr>
                <a:t>The new grammar defines the same language as the old grammar, using only right recursion.</a:t>
              </a:r>
            </a:p>
          </p:txBody>
        </p:sp>
        <p:sp>
          <p:nvSpPr>
            <p:cNvPr id="37895" name="AutoShape 6">
              <a:extLst>
                <a:ext uri="{FF2B5EF4-FFF2-40B4-BE49-F238E27FC236}">
                  <a16:creationId xmlns:a16="http://schemas.microsoft.com/office/drawing/2014/main" id="{70A9B93D-82DE-4488-9143-455FE8181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387"/>
              <a:ext cx="168" cy="712"/>
            </a:xfrm>
            <a:prstGeom prst="rightBrace">
              <a:avLst>
                <a:gd name="adj1" fmla="val 35317"/>
                <a:gd name="adj2" fmla="val 50000"/>
              </a:avLst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7896" name="Text Box 8">
              <a:extLst>
                <a:ext uri="{FF2B5EF4-FFF2-40B4-BE49-F238E27FC236}">
                  <a16:creationId xmlns:a16="http://schemas.microsoft.com/office/drawing/2014/main" id="{9B28E4B9-795D-4E31-9B6B-BEE42ACC9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2" y="3528"/>
              <a:ext cx="153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003C75"/>
                  </a:solidFill>
                </a:rPr>
                <a:t>Added a reference to the empty string</a:t>
              </a:r>
            </a:p>
          </p:txBody>
        </p:sp>
        <p:sp>
          <p:nvSpPr>
            <p:cNvPr id="37897" name="Line 9">
              <a:extLst>
                <a:ext uri="{FF2B5EF4-FFF2-40B4-BE49-F238E27FC236}">
                  <a16:creationId xmlns:a16="http://schemas.microsoft.com/office/drawing/2014/main" id="{DAFDC3A8-2076-48B6-8729-98914B0E03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4" y="3528"/>
              <a:ext cx="8" cy="416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7898" name="Freeform 10">
              <a:extLst>
                <a:ext uri="{FF2B5EF4-FFF2-40B4-BE49-F238E27FC236}">
                  <a16:creationId xmlns:a16="http://schemas.microsoft.com/office/drawing/2014/main" id="{4DED2CA2-58B0-4B35-B046-831667C34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2764"/>
              <a:ext cx="2088" cy="884"/>
            </a:xfrm>
            <a:custGeom>
              <a:avLst/>
              <a:gdLst>
                <a:gd name="T0" fmla="*/ 2088 w 2088"/>
                <a:gd name="T1" fmla="*/ 884 h 884"/>
                <a:gd name="T2" fmla="*/ 1112 w 2088"/>
                <a:gd name="T3" fmla="*/ 108 h 884"/>
                <a:gd name="T4" fmla="*/ 1048 w 2088"/>
                <a:gd name="T5" fmla="*/ 236 h 884"/>
                <a:gd name="T6" fmla="*/ 0 w 2088"/>
                <a:gd name="T7" fmla="*/ 228 h 8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88"/>
                <a:gd name="T13" fmla="*/ 0 h 884"/>
                <a:gd name="T14" fmla="*/ 2088 w 2088"/>
                <a:gd name="T15" fmla="*/ 884 h 8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88" h="884">
                  <a:moveTo>
                    <a:pt x="2088" y="884"/>
                  </a:moveTo>
                  <a:cubicBezTo>
                    <a:pt x="1686" y="550"/>
                    <a:pt x="1285" y="216"/>
                    <a:pt x="1112" y="108"/>
                  </a:cubicBezTo>
                  <a:cubicBezTo>
                    <a:pt x="939" y="0"/>
                    <a:pt x="1233" y="216"/>
                    <a:pt x="1048" y="236"/>
                  </a:cubicBezTo>
                  <a:cubicBezTo>
                    <a:pt x="863" y="256"/>
                    <a:pt x="431" y="242"/>
                    <a:pt x="0" y="228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1">
            <a:extLst>
              <a:ext uri="{FF2B5EF4-FFF2-40B4-BE49-F238E27FC236}">
                <a16:creationId xmlns:a16="http://schemas.microsoft.com/office/drawing/2014/main" id="{B9688679-A48C-4B5F-8B74-B12658E86E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9938" name="Slide Number Placeholder 2">
            <a:extLst>
              <a:ext uri="{FF2B5EF4-FFF2-40B4-BE49-F238E27FC236}">
                <a16:creationId xmlns:a16="http://schemas.microsoft.com/office/drawing/2014/main" id="{E912C75A-65EA-496A-BA3A-89ABFA29A2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EE67048-CF19-4405-9ECC-CB5774AED358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731608D-EDB1-4635-997A-8469F354381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150000"/>
              </a:spcBef>
            </a:pPr>
            <a:r>
              <a:rPr lang="en-US" altLang="it-IT">
                <a:sym typeface="Symbol" panose="05050102010706020507" pitchFamily="18" charset="2"/>
              </a:rPr>
              <a:t>Eliminating Left Recursion</a:t>
            </a:r>
          </a:p>
        </p:txBody>
      </p:sp>
      <p:graphicFrame>
        <p:nvGraphicFramePr>
          <p:cNvPr id="25676" name="Group 76">
            <a:extLst>
              <a:ext uri="{FF2B5EF4-FFF2-40B4-BE49-F238E27FC236}">
                <a16:creationId xmlns:a16="http://schemas.microsoft.com/office/drawing/2014/main" id="{42DA7582-1AE9-40D5-8123-341D6DA788D0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568450"/>
          <a:ext cx="2971800" cy="1211407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96" marB="4569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96" marB="4569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Term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96" marB="456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Term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96" marB="456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675" name="Group 75">
            <a:extLst>
              <a:ext uri="{FF2B5EF4-FFF2-40B4-BE49-F238E27FC236}">
                <a16:creationId xmlns:a16="http://schemas.microsoft.com/office/drawing/2014/main" id="{6D739FD0-06C6-4630-9B52-F9C21193D582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568450"/>
          <a:ext cx="2971800" cy="1211407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696" marB="4569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96" marB="4569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Factor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96" marB="456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* Factor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96" marB="4569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696" marB="4569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707" name="Group 107">
            <a:extLst>
              <a:ext uri="{FF2B5EF4-FFF2-40B4-BE49-F238E27FC236}">
                <a16:creationId xmlns:a16="http://schemas.microsoft.com/office/drawing/2014/main" id="{2A4522BB-34D7-461B-B665-5A457AF4892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505200"/>
          <a:ext cx="3200400" cy="1608138"/>
        </p:xfrm>
        <a:graphic>
          <a:graphicData uri="http://schemas.openxmlformats.org/drawingml/2006/table">
            <a:tbl>
              <a:tblPr/>
              <a:tblGrid>
                <a:gridCol w="902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737" name="Group 137">
            <a:extLst>
              <a:ext uri="{FF2B5EF4-FFF2-40B4-BE49-F238E27FC236}">
                <a16:creationId xmlns:a16="http://schemas.microsoft.com/office/drawing/2014/main" id="{FAB84E37-580E-4BD1-91C8-BF1DCA75AFF7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3505200"/>
          <a:ext cx="3276600" cy="1641718"/>
        </p:xfrm>
        <a:graphic>
          <a:graphicData uri="http://schemas.openxmlformats.org/drawingml/2006/table">
            <a:tbl>
              <a:tblPr/>
              <a:tblGrid>
                <a:gridCol w="87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01" marB="4570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7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01" marB="4570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B025A6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01" marB="4570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1" marB="4570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986" name="Rectangle 9">
            <a:extLst>
              <a:ext uri="{FF2B5EF4-FFF2-40B4-BE49-F238E27FC236}">
                <a16:creationId xmlns:a16="http://schemas.microsoft.com/office/drawing/2014/main" id="{10C0E2CD-A05A-4F36-92A2-7E5CD6E4F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172200"/>
            <a:ext cx="2286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9987" name="Rectangle 10">
            <a:extLst>
              <a:ext uri="{FF2B5EF4-FFF2-40B4-BE49-F238E27FC236}">
                <a16:creationId xmlns:a16="http://schemas.microsoft.com/office/drawing/2014/main" id="{D995AE99-6B62-472B-9989-266CD1326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248400"/>
            <a:ext cx="304800" cy="304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39988" name="Rectangle 3">
            <a:extLst>
              <a:ext uri="{FF2B5EF4-FFF2-40B4-BE49-F238E27FC236}">
                <a16:creationId xmlns:a16="http://schemas.microsoft.com/office/drawing/2014/main" id="{999B30D7-4E47-4755-BE64-FAE23E6B98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410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expression grammar contains two cases of left recursion</a:t>
            </a:r>
          </a:p>
          <a:p>
            <a:pPr eaLnBrk="1" hangingPunct="1">
              <a:spcBef>
                <a:spcPts val="12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Applying the transformation yields</a:t>
            </a:r>
          </a:p>
          <a:p>
            <a:pPr eaLnBrk="1" hangingPunct="1">
              <a:spcBef>
                <a:spcPts val="162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These fragments use only right recursion </a:t>
            </a:r>
          </a:p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Right recursion often means right associativity.  In this case, the grammar does not display any particular associative bias.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1">
            <a:extLst>
              <a:ext uri="{FF2B5EF4-FFF2-40B4-BE49-F238E27FC236}">
                <a16:creationId xmlns:a16="http://schemas.microsoft.com/office/drawing/2014/main" id="{70451EF1-BFF5-49F5-B52A-BA2C80DCC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1986" name="Slide Number Placeholder 2">
            <a:extLst>
              <a:ext uri="{FF2B5EF4-FFF2-40B4-BE49-F238E27FC236}">
                <a16:creationId xmlns:a16="http://schemas.microsoft.com/office/drawing/2014/main" id="{308CE1F8-0CA9-43BD-A561-D5E6100C28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BEE325-3FA2-4641-8B57-BAB30B631455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505A91D3-5012-4594-B59B-62E965B8F7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Eliminating Left Recursion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633B7B2-DEB1-40D2-9277-61A3ABF407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Substituting them back into the grammar yields</a:t>
            </a: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A5CA3413-34BD-4217-B2F4-91C02BC4A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784350"/>
            <a:ext cx="3973513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9863" indent="-16986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515938" indent="-287338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Tx/>
              <a:buChar char="•"/>
            </a:pPr>
            <a:r>
              <a:rPr lang="en-US" altLang="it-IT" sz="2000"/>
              <a:t>This grammar is correct,  if somewhat non-intuitive.</a:t>
            </a:r>
          </a:p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Tx/>
              <a:buChar char="•"/>
            </a:pPr>
            <a:r>
              <a:rPr lang="en-US" altLang="it-IT" sz="2000"/>
              <a:t>It is left associative, as was the original</a:t>
            </a:r>
          </a:p>
          <a:p>
            <a:pPr lvl="1">
              <a:spcBef>
                <a:spcPts val="600"/>
              </a:spcBef>
              <a:buClr>
                <a:srgbClr val="003C75"/>
              </a:buClr>
              <a:buSzPct val="110000"/>
              <a:buFont typeface="Lucida Grande"/>
              <a:buChar char="⇒"/>
            </a:pPr>
            <a:r>
              <a:rPr lang="en-US" altLang="it-IT"/>
              <a:t>The naïve transformation yields a right recursive grammar, which changes the implicit associativity</a:t>
            </a:r>
          </a:p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Tx/>
              <a:buChar char="•"/>
            </a:pPr>
            <a:r>
              <a:rPr lang="en-US" altLang="it-IT" sz="2000"/>
              <a:t>A top-down parser will terminate using it.</a:t>
            </a:r>
          </a:p>
          <a:p>
            <a:pPr>
              <a:spcBef>
                <a:spcPts val="600"/>
              </a:spcBef>
              <a:buClr>
                <a:srgbClr val="003C75"/>
              </a:buClr>
              <a:buSzPct val="120000"/>
              <a:buFontTx/>
              <a:buChar char="•"/>
            </a:pPr>
            <a:r>
              <a:rPr lang="en-US" altLang="it-IT" sz="2000"/>
              <a:t>A top-down parser may need to backtrack with it.</a:t>
            </a:r>
          </a:p>
        </p:txBody>
      </p:sp>
      <p:graphicFrame>
        <p:nvGraphicFramePr>
          <p:cNvPr id="27754" name="Group 106">
            <a:extLst>
              <a:ext uri="{FF2B5EF4-FFF2-40B4-BE49-F238E27FC236}">
                <a16:creationId xmlns:a16="http://schemas.microsoft.com/office/drawing/2014/main" id="{E29B8BC2-868D-4811-998B-C00976E455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6400"/>
          <a:ext cx="3276600" cy="40576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  <a:defRPr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1">
            <a:extLst>
              <a:ext uri="{FF2B5EF4-FFF2-40B4-BE49-F238E27FC236}">
                <a16:creationId xmlns:a16="http://schemas.microsoft.com/office/drawing/2014/main" id="{29C6749E-538C-4ACE-AB39-22FFD7394C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4034" name="Slide Number Placeholder 2">
            <a:extLst>
              <a:ext uri="{FF2B5EF4-FFF2-40B4-BE49-F238E27FC236}">
                <a16:creationId xmlns:a16="http://schemas.microsoft.com/office/drawing/2014/main" id="{CD6230A8-3662-46C3-B414-E5144F4164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EEB2401-E837-4F48-AE7A-6A8D222D2017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1BF77CB-1DC9-4B6F-8CA6-B23A06190F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Eliminating Left Recursion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0D84D51-7756-474E-B524-D4F70DCF5A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7924800" cy="4953000"/>
          </a:xfrm>
        </p:spPr>
        <p:txBody>
          <a:bodyPr/>
          <a:lstStyle/>
          <a:p>
            <a:pPr defTabSz="457200"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transformation eliminates immediate left recursion</a:t>
            </a:r>
          </a:p>
          <a:p>
            <a:pPr defTabSz="457200"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What about more general, indirect left recursion ?</a:t>
            </a:r>
          </a:p>
          <a:p>
            <a:pPr defTabSz="457200"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general algorithm:</a:t>
            </a:r>
          </a:p>
          <a:p>
            <a:pPr lvl="1" defTabSz="457200" eaLnBrk="1" hangingPunct="1">
              <a:buFontTx/>
              <a:buNone/>
            </a:pP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arrange the NTs into some order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1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,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2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, …,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n</a:t>
            </a:r>
            <a:endParaRPr lang="en-US" altLang="it-IT" i="1">
              <a:solidFill>
                <a:srgbClr val="B025A6"/>
              </a:solidFill>
              <a:sym typeface="Symbol" panose="05050102010706020507" pitchFamily="18" charset="2"/>
            </a:endParaRPr>
          </a:p>
          <a:p>
            <a:pPr lvl="1" defTabSz="457200" eaLnBrk="1" hangingPunct="1">
              <a:buFontTx/>
              <a:buNone/>
            </a:pP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for i  1 to n</a:t>
            </a:r>
          </a:p>
          <a:p>
            <a:pPr lvl="1" defTabSz="457200" eaLnBrk="1" hangingPunct="1">
              <a:spcBef>
                <a:spcPct val="0"/>
              </a:spcBef>
              <a:buFontTx/>
              <a:buNone/>
            </a:pP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	for s  1 to i – 1 </a:t>
            </a:r>
          </a:p>
          <a:p>
            <a:pPr marL="1085850" lvl="2" defTabSz="457200" eaLnBrk="1" hangingPunct="1">
              <a:buFont typeface="Symbol" panose="05050102010706020507" pitchFamily="18" charset="2"/>
              <a:buNone/>
            </a:pP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replace each production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i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 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s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 with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i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  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1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</a:t>
            </a:r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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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2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</a:t>
            </a:r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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</a:t>
            </a:r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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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k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,  </a:t>
            </a:r>
          </a:p>
          <a:p>
            <a:pPr marL="1085850" lvl="2" defTabSz="457200" eaLnBrk="1" hangingPunct="1">
              <a:spcBef>
                <a:spcPct val="10000"/>
              </a:spcBef>
              <a:buFont typeface="Symbol" panose="05050102010706020507" pitchFamily="18" charset="2"/>
              <a:buNone/>
            </a:pP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	where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s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  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1</a:t>
            </a:r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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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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</a:t>
            </a:r>
            <a:r>
              <a:rPr lang="en-US" altLang="it-IT">
                <a:solidFill>
                  <a:srgbClr val="B025A6"/>
                </a:solidFill>
                <a:sym typeface="Symbol" panose="05050102010706020507" pitchFamily="18" charset="2"/>
              </a:rPr>
              <a:t>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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k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 are all the current productions for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s</a:t>
            </a:r>
          </a:p>
          <a:p>
            <a:pPr lvl="1" defTabSz="457200" eaLnBrk="1" hangingPunct="1">
              <a:spcBef>
                <a:spcPct val="10000"/>
              </a:spcBef>
              <a:buFontTx/>
              <a:buNone/>
            </a:pP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	eliminate any immediate left recursion on A</a:t>
            </a:r>
            <a:r>
              <a:rPr lang="en-US" altLang="it-IT" i="1" baseline="-25000">
                <a:solidFill>
                  <a:srgbClr val="B025A6"/>
                </a:solidFill>
                <a:sym typeface="Symbol" panose="05050102010706020507" pitchFamily="18" charset="2"/>
              </a:rPr>
              <a:t>i</a:t>
            </a: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 </a:t>
            </a:r>
          </a:p>
          <a:p>
            <a:pPr lvl="1" defTabSz="457200" eaLnBrk="1" hangingPunct="1">
              <a:spcBef>
                <a:spcPct val="10000"/>
              </a:spcBef>
              <a:buFontTx/>
              <a:buNone/>
            </a:pPr>
            <a:r>
              <a:rPr lang="en-US" altLang="it-IT" i="1">
                <a:solidFill>
                  <a:srgbClr val="B025A6"/>
                </a:solidFill>
                <a:sym typeface="Symbol" panose="05050102010706020507" pitchFamily="18" charset="2"/>
              </a:rPr>
              <a:t>		using the direct transformation</a:t>
            </a:r>
            <a:endParaRPr lang="en-US" altLang="it-IT">
              <a:solidFill>
                <a:srgbClr val="B025A6"/>
              </a:solidFill>
              <a:sym typeface="Symbol" panose="05050102010706020507" pitchFamily="18" charset="2"/>
            </a:endParaRPr>
          </a:p>
          <a:p>
            <a:pPr defTabSz="457200" eaLnBrk="1" hangingPunct="1">
              <a:spcBef>
                <a:spcPct val="6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This assumes that the initial grammar has no cycles 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 i="1" baseline="-25000">
                <a:sym typeface="Symbol" panose="05050102010706020507" pitchFamily="18" charset="2"/>
              </a:rPr>
              <a:t>i</a:t>
            </a:r>
            <a:r>
              <a:rPr lang="en-US" altLang="it-IT" sz="1800" i="1">
                <a:sym typeface="Symbol" panose="05050102010706020507" pitchFamily="18" charset="2"/>
              </a:rPr>
              <a:t> </a:t>
            </a:r>
            <a:r>
              <a:rPr lang="en-US" altLang="it-IT" sz="1800" baseline="30000">
                <a:sym typeface="Symbol" panose="05050102010706020507" pitchFamily="18" charset="2"/>
              </a:rPr>
              <a:t>+</a:t>
            </a:r>
            <a:r>
              <a:rPr lang="en-US" altLang="it-IT" sz="1800" i="1">
                <a:sym typeface="Symbol" panose="05050102010706020507" pitchFamily="18" charset="2"/>
              </a:rPr>
              <a:t> A</a:t>
            </a:r>
            <a:r>
              <a:rPr lang="en-US" altLang="it-IT" sz="1800" i="1" baseline="-25000">
                <a:sym typeface="Symbol" panose="05050102010706020507" pitchFamily="18" charset="2"/>
              </a:rPr>
              <a:t>i </a:t>
            </a:r>
            <a:r>
              <a:rPr lang="en-US" altLang="it-IT" sz="1800">
                <a:sym typeface="Symbol" panose="05050102010706020507" pitchFamily="18" charset="2"/>
              </a:rPr>
              <a:t>),  </a:t>
            </a:r>
          </a:p>
          <a:p>
            <a:pPr defTabSz="457200"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	and no epsilon productions 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4037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98074FA7-5B11-44A9-97E3-173E92F07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791200"/>
            <a:ext cx="152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4038" name="Text Box 5">
            <a:hlinkClick r:id="rId4" action="ppaction://hlinksldjump"/>
            <a:extLst>
              <a:ext uri="{FF2B5EF4-FFF2-40B4-BE49-F238E27FC236}">
                <a16:creationId xmlns:a16="http://schemas.microsoft.com/office/drawing/2014/main" id="{5BC4640B-6ECC-4DE0-9C4F-A2F00CABD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61722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FF0065"/>
                </a:solidFill>
              </a:rPr>
              <a:t>And back</a:t>
            </a:r>
            <a:endParaRPr lang="en-US" altLang="it-IT">
              <a:solidFill>
                <a:srgbClr val="1822CD"/>
              </a:solidFill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3856015F-2AE5-436B-AD7D-FEDF1FE168A9}"/>
              </a:ext>
            </a:extLst>
          </p:cNvPr>
          <p:cNvGrpSpPr>
            <a:grpSpLocks/>
          </p:cNvGrpSpPr>
          <p:nvPr/>
        </p:nvGrpSpPr>
        <p:grpSpPr bwMode="auto">
          <a:xfrm>
            <a:off x="2312988" y="2670175"/>
            <a:ext cx="6575425" cy="593725"/>
            <a:chOff x="1457" y="1682"/>
            <a:chExt cx="4142" cy="374"/>
          </a:xfrm>
        </p:grpSpPr>
        <p:sp>
          <p:nvSpPr>
            <p:cNvPr id="29703" name="AutoShape 7">
              <a:extLst>
                <a:ext uri="{FF2B5EF4-FFF2-40B4-BE49-F238E27FC236}">
                  <a16:creationId xmlns:a16="http://schemas.microsoft.com/office/drawing/2014/main" id="{5C484EE8-6398-40ED-ADDF-C3015E44A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" y="1682"/>
              <a:ext cx="2156" cy="374"/>
            </a:xfrm>
            <a:prstGeom prst="borderCallout1">
              <a:avLst>
                <a:gd name="adj1" fmla="val 19250"/>
                <a:gd name="adj2" fmla="val -2227"/>
                <a:gd name="adj3" fmla="val 47593"/>
                <a:gd name="adj4" fmla="val -84370"/>
              </a:avLst>
            </a:prstGeom>
            <a:solidFill>
              <a:srgbClr val="EEEEEE"/>
            </a:solidFill>
            <a:ln w="12700">
              <a:solidFill>
                <a:srgbClr val="B025A6"/>
              </a:solidFill>
              <a:miter lim="800000"/>
              <a:headEnd/>
              <a:tailEnd type="triangle" w="med" len="med"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6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Must start with 1 to ensure that A</a:t>
              </a:r>
              <a:r>
                <a:rPr lang="en-US" sz="1600" baseline="-250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1</a:t>
              </a:r>
              <a:r>
                <a:rPr lang="en-US" sz="16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</a:t>
              </a:r>
              <a:r>
                <a:rPr lang="en-US" sz="16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  <a:sym typeface="Symbol" charset="2"/>
                </a:rPr>
                <a:t> A</a:t>
              </a:r>
              <a:r>
                <a:rPr lang="en-US" sz="1600" baseline="-250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  <a:sym typeface="Symbol" charset="2"/>
                </a:rPr>
                <a:t>1</a:t>
              </a:r>
              <a:r>
                <a:rPr lang="en-US" sz="16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  <a:sym typeface="Symbol" charset="2"/>
                </a:rPr>
                <a:t>  is transformed</a:t>
              </a:r>
              <a:endParaRPr lang="en-US" sz="1600">
                <a:solidFill>
                  <a:srgbClr val="B025A6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29704" name="Oval 8">
              <a:extLst>
                <a:ext uri="{FF2B5EF4-FFF2-40B4-BE49-F238E27FC236}">
                  <a16:creationId xmlns:a16="http://schemas.microsoft.com/office/drawing/2014/main" id="{B1A37F81-AD66-43D4-9E99-E107E6FAF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841"/>
              <a:ext cx="192" cy="192"/>
            </a:xfrm>
            <a:prstGeom prst="ellipse">
              <a:avLst/>
            </a:prstGeom>
            <a:noFill/>
            <a:ln w="12700">
              <a:solidFill>
                <a:srgbClr val="B025A6"/>
              </a:solidFill>
              <a:round/>
              <a:headEnd/>
              <a:tailEnd/>
            </a:ln>
            <a:effectLst>
              <a:outerShdw blurRad="63500" dist="38099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Footer Placeholder 1">
            <a:extLst>
              <a:ext uri="{FF2B5EF4-FFF2-40B4-BE49-F238E27FC236}">
                <a16:creationId xmlns:a16="http://schemas.microsoft.com/office/drawing/2014/main" id="{3DCC7EE5-5805-43A2-AE24-346DF8EEE6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6082" name="Slide Number Placeholder 2">
            <a:extLst>
              <a:ext uri="{FF2B5EF4-FFF2-40B4-BE49-F238E27FC236}">
                <a16:creationId xmlns:a16="http://schemas.microsoft.com/office/drawing/2014/main" id="{0D167713-BF8F-4900-BD1D-71135BC9AA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D259CA9-ED7C-4CF6-80CA-F7F8B0E0F539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2AFB5C1-7A76-42EA-8E30-558FA4CF33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Eliminating Left Recursion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0562D93-D245-4153-B2FC-1FE00560E7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How does this algorithm work?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1.  Impose arbitrary order on the non-terminals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2.  Outer loop cycles through </a:t>
            </a:r>
            <a:r>
              <a:rPr lang="en-US" altLang="it-IT" sz="1800">
                <a:sym typeface="Symbol" panose="05050102010706020507" pitchFamily="18" charset="2"/>
              </a:rPr>
              <a:t>NT</a:t>
            </a:r>
            <a:r>
              <a:rPr lang="en-US" altLang="it-IT">
                <a:sym typeface="Symbol" panose="05050102010706020507" pitchFamily="18" charset="2"/>
              </a:rPr>
              <a:t> in order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3.  Inner loop ensures that a production expanding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has no non-terminal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i="1" baseline="-25000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in its </a:t>
            </a:r>
            <a:r>
              <a:rPr lang="en-US" altLang="it-IT" i="1">
                <a:sym typeface="Symbol" panose="05050102010706020507" pitchFamily="18" charset="2"/>
              </a:rPr>
              <a:t>rhs, </a:t>
            </a:r>
            <a:r>
              <a:rPr lang="en-US" altLang="it-IT">
                <a:sym typeface="Symbol" panose="05050102010706020507" pitchFamily="18" charset="2"/>
              </a:rPr>
              <a:t>for </a:t>
            </a:r>
            <a:r>
              <a:rPr lang="en-US" altLang="it-IT" i="1">
                <a:sym typeface="Symbol" panose="05050102010706020507" pitchFamily="18" charset="2"/>
              </a:rPr>
              <a:t>s </a:t>
            </a:r>
            <a:r>
              <a:rPr lang="en-US" altLang="it-IT">
                <a:sym typeface="Symbol" panose="05050102010706020507" pitchFamily="18" charset="2"/>
              </a:rPr>
              <a:t>&lt;</a:t>
            </a:r>
            <a:r>
              <a:rPr lang="en-US" altLang="it-IT" i="1">
                <a:sym typeface="Symbol" panose="05050102010706020507" pitchFamily="18" charset="2"/>
              </a:rPr>
              <a:t> i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4.  Last step in outer loop converts any direct recursion on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 to right recursion using the transformation showed earlier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5.  New non-terminals are added at the end of the order &amp; have no left recursion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 At the start of the </a:t>
            </a:r>
            <a:r>
              <a:rPr lang="en-US" altLang="it-IT" i="1">
                <a:sym typeface="Symbol" panose="05050102010706020507" pitchFamily="18" charset="2"/>
              </a:rPr>
              <a:t>i</a:t>
            </a:r>
            <a:r>
              <a:rPr lang="en-US" altLang="it-IT" i="1" baseline="30000">
                <a:sym typeface="Symbol" panose="05050102010706020507" pitchFamily="18" charset="2"/>
              </a:rPr>
              <a:t>th</a:t>
            </a:r>
            <a:r>
              <a:rPr lang="en-US" altLang="it-IT">
                <a:sym typeface="Symbol" panose="05050102010706020507" pitchFamily="18" charset="2"/>
              </a:rPr>
              <a:t>  outer loop iteration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For all k &lt; i, no production that expands A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 contains a non-terminal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i="1" baseline="-25000">
                <a:sym typeface="Symbol" panose="05050102010706020507" pitchFamily="18" charset="2"/>
              </a:rPr>
              <a:t>s</a:t>
            </a:r>
            <a:r>
              <a:rPr lang="en-US" altLang="it-IT" i="1">
                <a:sym typeface="Symbol" panose="05050102010706020507" pitchFamily="18" charset="2"/>
              </a:rPr>
              <a:t> in its rhs, for s &lt; k</a:t>
            </a: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6">
            <a:extLst>
              <a:ext uri="{FF2B5EF4-FFF2-40B4-BE49-F238E27FC236}">
                <a16:creationId xmlns:a16="http://schemas.microsoft.com/office/drawing/2014/main" id="{513DFFE5-22DC-4D76-943A-B81AAA69C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Order of symbols: </a:t>
            </a:r>
            <a:r>
              <a:rPr lang="en-US" altLang="it-IT" i="1"/>
              <a:t>G, E, T</a:t>
            </a:r>
            <a:endParaRPr lang="en-US" altLang="it-IT"/>
          </a:p>
        </p:txBody>
      </p:sp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2A77D1D4-A573-403B-9200-8741835C7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8131" name="Slide Number Placeholder 4">
            <a:extLst>
              <a:ext uri="{FF2B5EF4-FFF2-40B4-BE49-F238E27FC236}">
                <a16:creationId xmlns:a16="http://schemas.microsoft.com/office/drawing/2014/main" id="{0EAC0B81-ABC9-4597-9BCE-EC2AC830EF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A60A087-3392-4745-84CB-7D5D5CF59145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3F9B07FA-BBFC-452B-8579-0D44CFB17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Example</a:t>
            </a:r>
          </a:p>
        </p:txBody>
      </p:sp>
      <p:sp>
        <p:nvSpPr>
          <p:cNvPr id="48133" name="Text Box 3">
            <a:extLst>
              <a:ext uri="{FF2B5EF4-FFF2-40B4-BE49-F238E27FC236}">
                <a16:creationId xmlns:a16="http://schemas.microsoft.com/office/drawing/2014/main" id="{F9DFE76A-F4B5-41B9-BAFC-E75940280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057400"/>
            <a:ext cx="12192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</a:pP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1. A</a:t>
            </a:r>
            <a:r>
              <a:rPr lang="en-US" altLang="it-IT" sz="1600" i="1" baseline="-25000">
                <a:solidFill>
                  <a:srgbClr val="003C75"/>
                </a:solidFill>
                <a:latin typeface="Arial Rounded MT Bold" panose="020F0704030504030204" pitchFamily="34" charset="0"/>
              </a:rPr>
              <a:t>i  </a:t>
            </a: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= G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G </a:t>
            </a:r>
            <a:r>
              <a:rPr lang="en-US" altLang="it-IT" sz="1600">
                <a:latin typeface="Symbol" panose="05050102010706020507" pitchFamily="18" charset="2"/>
              </a:rPr>
              <a:t> </a:t>
            </a: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  <a:r>
              <a:rPr lang="en-US" altLang="it-IT" sz="1600">
                <a:latin typeface="Arial Rounded MT Bold" panose="020F0704030504030204" pitchFamily="34" charset="0"/>
              </a:rPr>
              <a:t> + </a:t>
            </a: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latin typeface="Arial Rounded MT Bold" panose="020F0704030504030204" pitchFamily="34" charset="0"/>
              </a:rPr>
              <a:t>E  </a:t>
            </a:r>
            <a:r>
              <a:rPr lang="en-US" altLang="it-IT" sz="1600">
                <a:latin typeface="Arial Rounded MT Bold" panose="020F0704030504030204" pitchFamily="34" charset="0"/>
              </a:rPr>
              <a:t>* </a:t>
            </a: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endParaRPr lang="en-US" altLang="it-IT" sz="1600">
              <a:latin typeface="Arial Rounded MT Bold" panose="020F07040305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u="sng">
                <a:latin typeface="Arial Rounded MT Bold" panose="020F0704030504030204" pitchFamily="34" charset="0"/>
              </a:rPr>
              <a:t>id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9CDB5CBB-0FAC-4F46-9DE1-B0FDB0BB1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113" y="2057400"/>
            <a:ext cx="137160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</a:pP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2. A</a:t>
            </a:r>
            <a:r>
              <a:rPr lang="en-US" altLang="it-IT" sz="1600" i="1" baseline="-25000">
                <a:solidFill>
                  <a:srgbClr val="003C75"/>
                </a:solidFill>
                <a:latin typeface="Arial Rounded MT Bold" panose="020F0704030504030204" pitchFamily="34" charset="0"/>
              </a:rPr>
              <a:t>i  </a:t>
            </a: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= E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G </a:t>
            </a:r>
            <a:r>
              <a:rPr lang="en-US" altLang="it-IT" sz="1600">
                <a:latin typeface="Symbol" panose="05050102010706020507" pitchFamily="18" charset="2"/>
              </a:rPr>
              <a:t> </a:t>
            </a: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E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solidFill>
                  <a:srgbClr val="FF0065"/>
                </a:solidFill>
                <a:latin typeface="Symbol" panose="05050102010706020507" pitchFamily="18" charset="2"/>
              </a:rPr>
              <a:t>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 E'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E'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solidFill>
                  <a:srgbClr val="FF0065"/>
                </a:solidFill>
                <a:latin typeface="Symbol" panose="05050102010706020507" pitchFamily="18" charset="2"/>
              </a:rPr>
              <a:t>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+ </a:t>
            </a: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 E'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E' </a:t>
            </a:r>
            <a:r>
              <a:rPr lang="en-US" altLang="it-IT" sz="1600">
                <a:solidFill>
                  <a:srgbClr val="FF0065"/>
                </a:solidFill>
                <a:latin typeface="Symbol" panose="05050102010706020507" pitchFamily="18" charset="2"/>
              </a:rPr>
              <a:t> </a:t>
            </a:r>
            <a:r>
              <a:rPr lang="en-US" altLang="it-IT">
                <a:solidFill>
                  <a:srgbClr val="FF0065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</a:t>
            </a:r>
            <a:endParaRPr lang="en-US" altLang="it-IT" sz="1600">
              <a:solidFill>
                <a:srgbClr val="FF0065"/>
              </a:solidFill>
              <a:latin typeface="Arial Rounded MT Bold" panose="020F07040305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latin typeface="Arial Rounded MT Bold" panose="020F0704030504030204" pitchFamily="34" charset="0"/>
              </a:rPr>
              <a:t> E</a:t>
            </a:r>
            <a:r>
              <a:rPr lang="en-US" altLang="it-IT" sz="1600">
                <a:latin typeface="Arial Rounded MT Bold" panose="020F0704030504030204" pitchFamily="34" charset="0"/>
              </a:rPr>
              <a:t>  * </a:t>
            </a: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endParaRPr lang="en-US" altLang="it-IT" sz="1600">
              <a:latin typeface="Arial Rounded MT Bold" panose="020F07040305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u="sng">
                <a:latin typeface="Arial Rounded MT Bold" panose="020F0704030504030204" pitchFamily="34" charset="0"/>
              </a:rPr>
              <a:t>id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04B59D44-35F4-433A-B434-4780933D0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225" y="2057400"/>
            <a:ext cx="1719263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</a:pP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3. A</a:t>
            </a:r>
            <a:r>
              <a:rPr lang="en-US" altLang="it-IT" sz="1600" i="1" baseline="-25000">
                <a:solidFill>
                  <a:srgbClr val="003C75"/>
                </a:solidFill>
                <a:latin typeface="Arial Rounded MT Bold" panose="020F0704030504030204" pitchFamily="34" charset="0"/>
              </a:rPr>
              <a:t>i  </a:t>
            </a: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= T, A</a:t>
            </a:r>
            <a:r>
              <a:rPr lang="en-US" altLang="it-IT" sz="1600" i="1" baseline="-25000">
                <a:solidFill>
                  <a:srgbClr val="003C75"/>
                </a:solidFill>
                <a:latin typeface="Arial Rounded MT Bold" panose="020F0704030504030204" pitchFamily="34" charset="0"/>
              </a:rPr>
              <a:t>s </a:t>
            </a: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= E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G </a:t>
            </a:r>
            <a:r>
              <a:rPr lang="en-US" altLang="it-IT" sz="1600">
                <a:latin typeface="Symbol" panose="05050102010706020507" pitchFamily="18" charset="2"/>
              </a:rPr>
              <a:t> </a:t>
            </a: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latin typeface="Arial Rounded MT Bold" panose="020F0704030504030204" pitchFamily="34" charset="0"/>
              </a:rPr>
              <a:t>T E'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E'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+ </a:t>
            </a:r>
            <a:r>
              <a:rPr lang="en-US" altLang="it-IT" sz="1600" i="1">
                <a:latin typeface="Arial Rounded MT Bold" panose="020F0704030504030204" pitchFamily="34" charset="0"/>
              </a:rPr>
              <a:t>T E'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E' </a:t>
            </a:r>
            <a:r>
              <a:rPr lang="en-US" altLang="it-IT" sz="1600">
                <a:latin typeface="Symbol" panose="05050102010706020507" pitchFamily="18" charset="2"/>
              </a:rPr>
              <a:t> 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</a:t>
            </a:r>
            <a:endParaRPr lang="en-US" altLang="it-IT" sz="1600">
              <a:latin typeface="Arial Rounded MT Bold" panose="020F07040305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solidFill>
                  <a:srgbClr val="FF0065"/>
                </a:solidFill>
                <a:latin typeface="Symbol" panose="05050102010706020507" pitchFamily="18" charset="2"/>
              </a:rPr>
              <a:t>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 T E'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 * </a:t>
            </a: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</a:t>
            </a:r>
            <a:endParaRPr lang="en-US" altLang="it-IT" sz="160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u="sng">
                <a:latin typeface="Arial Rounded MT Bold" panose="020F0704030504030204" pitchFamily="34" charset="0"/>
              </a:rPr>
              <a:t>id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48136" name="Text Box 7">
            <a:hlinkClick r:id="rId3" action="ppaction://hlinksldjump"/>
            <a:extLst>
              <a:ext uri="{FF2B5EF4-FFF2-40B4-BE49-F238E27FC236}">
                <a16:creationId xmlns:a16="http://schemas.microsoft.com/office/drawing/2014/main" id="{C96127D8-E840-4F43-8BA8-15D8E2699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863" y="6034088"/>
            <a:ext cx="1447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Go to Algorithm</a:t>
            </a:r>
          </a:p>
        </p:txBody>
      </p:sp>
      <p:sp>
        <p:nvSpPr>
          <p:cNvPr id="33800" name="Text Box 8">
            <a:extLst>
              <a:ext uri="{FF2B5EF4-FFF2-40B4-BE49-F238E27FC236}">
                <a16:creationId xmlns:a16="http://schemas.microsoft.com/office/drawing/2014/main" id="{37F6B9BF-D96C-417D-B8C3-96661AE7D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057400"/>
            <a:ext cx="1600200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</a:pP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4. A</a:t>
            </a:r>
            <a:r>
              <a:rPr lang="en-US" altLang="it-IT" sz="1600" i="1" baseline="-25000">
                <a:solidFill>
                  <a:srgbClr val="003C75"/>
                </a:solidFill>
                <a:latin typeface="Arial Rounded MT Bold" panose="020F0704030504030204" pitchFamily="34" charset="0"/>
              </a:rPr>
              <a:t>i  </a:t>
            </a:r>
            <a:r>
              <a:rPr lang="en-US" altLang="it-IT" sz="1600" i="1">
                <a:solidFill>
                  <a:srgbClr val="003C75"/>
                </a:solidFill>
                <a:latin typeface="Arial Rounded MT Bold" panose="020F0704030504030204" pitchFamily="34" charset="0"/>
              </a:rPr>
              <a:t>= T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G </a:t>
            </a:r>
            <a:r>
              <a:rPr lang="en-US" altLang="it-IT" sz="1600">
                <a:latin typeface="Symbol" panose="05050102010706020507" pitchFamily="18" charset="2"/>
              </a:rPr>
              <a:t> </a:t>
            </a: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	</a:t>
            </a:r>
            <a:r>
              <a:rPr lang="en-US" altLang="it-IT" sz="1600" i="1">
                <a:latin typeface="Arial Rounded MT Bold" panose="020F0704030504030204" pitchFamily="34" charset="0"/>
              </a:rPr>
              <a:t>T E'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E'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latin typeface="Symbol" panose="05050102010706020507" pitchFamily="18" charset="2"/>
              </a:rPr>
              <a:t></a:t>
            </a:r>
            <a:r>
              <a:rPr lang="en-US" altLang="it-IT" sz="1600">
                <a:latin typeface="Arial Rounded MT Bold" panose="020F0704030504030204" pitchFamily="34" charset="0"/>
              </a:rPr>
              <a:t> + </a:t>
            </a:r>
            <a:r>
              <a:rPr lang="en-US" altLang="it-IT" sz="1600" i="1">
                <a:latin typeface="Arial Rounded MT Bold" panose="020F0704030504030204" pitchFamily="34" charset="0"/>
              </a:rPr>
              <a:t>T E'</a:t>
            </a:r>
            <a:r>
              <a:rPr lang="en-US" altLang="it-IT" sz="160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latin typeface="Arial Rounded MT Bold" panose="020F0704030504030204" pitchFamily="34" charset="0"/>
              </a:rPr>
              <a:t>E' </a:t>
            </a:r>
            <a:r>
              <a:rPr lang="en-US" altLang="it-IT" sz="1600">
                <a:latin typeface="Symbol" panose="05050102010706020507" pitchFamily="18" charset="2"/>
              </a:rPr>
              <a:t> </a:t>
            </a:r>
            <a:r>
              <a:rPr lang="en-US" altLang="it-IT">
                <a:latin typeface="Symbol" panose="05050102010706020507" pitchFamily="18" charset="2"/>
                <a:sym typeface="Symbol" panose="05050102010706020507" pitchFamily="18" charset="2"/>
              </a:rPr>
              <a:t></a:t>
            </a:r>
            <a:endParaRPr lang="en-US" altLang="it-IT" sz="1600">
              <a:latin typeface="Arial Rounded MT Bold" panose="020F07040305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solidFill>
                  <a:srgbClr val="FF0065"/>
                </a:solidFill>
                <a:latin typeface="Symbol" panose="05050102010706020507" pitchFamily="18" charset="2"/>
              </a:rPr>
              <a:t>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	 </a:t>
            </a:r>
            <a:r>
              <a:rPr lang="en-US" altLang="it-IT" sz="1600" u="sng">
                <a:solidFill>
                  <a:srgbClr val="FF0065"/>
                </a:solidFill>
                <a:latin typeface="Arial Rounded MT Bold" panose="020F0704030504030204" pitchFamily="34" charset="0"/>
              </a:rPr>
              <a:t>id</a:t>
            </a: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 T'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T'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solidFill>
                  <a:srgbClr val="FF0065"/>
                </a:solidFill>
                <a:latin typeface="Symbol" panose="05050102010706020507" pitchFamily="18" charset="2"/>
              </a:rPr>
              <a:t>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E</a:t>
            </a:r>
            <a:r>
              <a:rPr lang="en-US" altLang="it-IT" sz="1100" i="1">
                <a:solidFill>
                  <a:srgbClr val="FF0065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' * </a:t>
            </a: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 T'</a:t>
            </a:r>
          </a:p>
          <a:p>
            <a:pPr>
              <a:spcBef>
                <a:spcPct val="50000"/>
              </a:spcBef>
            </a:pPr>
            <a:r>
              <a:rPr lang="en-US" altLang="it-IT" sz="1600" i="1">
                <a:solidFill>
                  <a:srgbClr val="FF0065"/>
                </a:solidFill>
                <a:latin typeface="Arial Rounded MT Bold" panose="020F0704030504030204" pitchFamily="34" charset="0"/>
              </a:rPr>
              <a:t>T' </a:t>
            </a:r>
            <a:r>
              <a:rPr lang="en-US" altLang="it-IT" sz="1600">
                <a:solidFill>
                  <a:srgbClr val="FF0065"/>
                </a:solidFill>
                <a:latin typeface="Symbol" panose="05050102010706020507" pitchFamily="18" charset="2"/>
              </a:rPr>
              <a:t> </a:t>
            </a:r>
            <a:r>
              <a:rPr lang="en-US" altLang="it-IT">
                <a:solidFill>
                  <a:srgbClr val="FF0065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</a:t>
            </a:r>
            <a:endParaRPr lang="en-US" altLang="it-IT" sz="1600">
              <a:solidFill>
                <a:srgbClr val="FF0065"/>
              </a:solidFill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  <p:bldP spid="33797" grpId="0" autoUpdateAnimBg="0"/>
      <p:bldP spid="3380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Footer Placeholder 1">
            <a:extLst>
              <a:ext uri="{FF2B5EF4-FFF2-40B4-BE49-F238E27FC236}">
                <a16:creationId xmlns:a16="http://schemas.microsoft.com/office/drawing/2014/main" id="{FE48545B-DC47-4CDA-B77F-A40AEF2308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0178" name="Slide Number Placeholder 2">
            <a:extLst>
              <a:ext uri="{FF2B5EF4-FFF2-40B4-BE49-F238E27FC236}">
                <a16:creationId xmlns:a16="http://schemas.microsoft.com/office/drawing/2014/main" id="{2EBD19E3-1E24-480B-9A78-23F97AA66B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29CCC5C-DA4A-4676-BBB2-CB686FAEBEA6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2A53CC0-DAD2-4C43-833D-17C1DF2F8B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tx1"/>
                </a:solidFill>
              </a:rPr>
              <a:t>Picking the “Right” Production</a:t>
            </a:r>
            <a:endParaRPr lang="en-US" altLang="it-IT">
              <a:solidFill>
                <a:srgbClr val="FF0000"/>
              </a:solidFill>
            </a:endParaRP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0D61C187-27EE-4651-A067-67A547C254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20000"/>
              </a:lnSpc>
              <a:buFont typeface="Times" panose="02020603050405020304" pitchFamily="18" charset="0"/>
              <a:buNone/>
            </a:pPr>
            <a:endParaRPr lang="en-US" altLang="it-IT" sz="1600" i="1"/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</a:rPr>
              <a:t>If it picks the wrong production, a top-down parser may backtrack </a:t>
            </a:r>
          </a:p>
          <a:p>
            <a:pPr algn="ctr"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</a:rPr>
              <a:t>Alternative is to look ahead in input &amp; use context to pick correctly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How much lookahead is needed?</a:t>
            </a:r>
          </a:p>
          <a:p>
            <a:pPr eaLnBrk="1" hangingPunct="1"/>
            <a:r>
              <a:rPr lang="en-US" altLang="it-IT" sz="1800"/>
              <a:t>In general, an arbitrarily large amount</a:t>
            </a:r>
          </a:p>
          <a:p>
            <a:pPr eaLnBrk="1" hangingPunct="1"/>
            <a:r>
              <a:rPr lang="en-US" altLang="it-IT" sz="1800"/>
              <a:t>Use the Cocke-Younger, Kasami algorithm or Earley’s algorithm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Fortunately,</a:t>
            </a:r>
          </a:p>
          <a:p>
            <a:pPr eaLnBrk="1" hangingPunct="1"/>
            <a:r>
              <a:rPr lang="en-US" altLang="it-IT" sz="1800"/>
              <a:t>Large subclasses of CFGs can be parsed with limited lookahead</a:t>
            </a:r>
          </a:p>
          <a:p>
            <a:pPr eaLnBrk="1" hangingPunct="1"/>
            <a:r>
              <a:rPr lang="en-US" altLang="it-IT" sz="1800"/>
              <a:t>Most programming language constructs fall in those subclasses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Among the interesting subclasses are </a:t>
            </a:r>
            <a:r>
              <a:rPr lang="en-US" altLang="it-IT" sz="1800" i="1"/>
              <a:t>LL(1)</a:t>
            </a:r>
            <a:r>
              <a:rPr lang="en-US" altLang="it-IT"/>
              <a:t>  and </a:t>
            </a:r>
            <a:r>
              <a:rPr lang="en-US" altLang="it-IT" sz="1800" i="1"/>
              <a:t>LR(1)</a:t>
            </a:r>
            <a:r>
              <a:rPr lang="en-US" altLang="it-IT"/>
              <a:t>  grammars</a:t>
            </a:r>
          </a:p>
          <a:p>
            <a:pPr algn="ctr" eaLnBrk="1" hangingPunct="1">
              <a:spcBef>
                <a:spcPts val="42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olidFill>
                  <a:srgbClr val="003C75"/>
                </a:solidFill>
              </a:rPr>
              <a:t>We will focus, for now, on LL(1) grammars &amp; predictive parsing</a:t>
            </a:r>
            <a:endParaRPr lang="en-US" altLang="it-IT" i="1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Footer Placeholder 1">
            <a:extLst>
              <a:ext uri="{FF2B5EF4-FFF2-40B4-BE49-F238E27FC236}">
                <a16:creationId xmlns:a16="http://schemas.microsoft.com/office/drawing/2014/main" id="{6AB0DF1E-CD7D-4A66-9A55-B8B7D93ACA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2226" name="Slide Number Placeholder 2">
            <a:extLst>
              <a:ext uri="{FF2B5EF4-FFF2-40B4-BE49-F238E27FC236}">
                <a16:creationId xmlns:a16="http://schemas.microsoft.com/office/drawing/2014/main" id="{5B7B3A55-F490-4B66-ACDA-C394AA7845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80239B1-6269-4AD1-AF90-DAC45CE21C08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6B35317-36CB-4F07-931A-5B0EA109171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Predictive Parsing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4D72A555-B050-4EBE-A6C4-C52A421807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Basic idea</a:t>
            </a:r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sz="1800" i="1"/>
              <a:t>Given A </a:t>
            </a:r>
            <a:r>
              <a:rPr lang="en-US" altLang="it-IT" sz="1600">
                <a:sym typeface="Symbol" panose="05050102010706020507" pitchFamily="18" charset="2"/>
              </a:rPr>
              <a:t> </a:t>
            </a:r>
            <a:r>
              <a:rPr lang="en-US" altLang="it-IT">
                <a:sym typeface="Symbol" panose="05050102010706020507" pitchFamily="18" charset="2"/>
              </a:rPr>
              <a:t> </a:t>
            </a:r>
            <a:r>
              <a:rPr lang="en-US" altLang="it-IT" sz="1800">
                <a:sym typeface="Symbol" panose="05050102010706020507" pitchFamily="18" charset="2"/>
              </a:rPr>
              <a:t> </a:t>
            </a:r>
            <a:r>
              <a:rPr lang="en-US" altLang="it-IT" sz="1800" i="1">
                <a:sym typeface="Symbol" panose="05050102010706020507" pitchFamily="18" charset="2"/>
              </a:rPr>
              <a:t>, the parser should be able to choose between </a:t>
            </a:r>
            <a:r>
              <a:rPr lang="en-US" altLang="it-IT">
                <a:sym typeface="Symbol" panose="05050102010706020507" pitchFamily="18" charset="2"/>
              </a:rPr>
              <a:t>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&amp;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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 sets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For some </a:t>
            </a:r>
            <a:r>
              <a:rPr lang="en-US" altLang="it-IT" i="1"/>
              <a:t>rhs</a:t>
            </a:r>
            <a:r>
              <a:rPr lang="en-US" altLang="it-IT"/>
              <a:t>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 sz="1600">
                <a:sym typeface="Symbol" panose="05050102010706020507" pitchFamily="18" charset="2"/>
              </a:rPr>
              <a:t></a:t>
            </a:r>
            <a:r>
              <a:rPr lang="en-US" altLang="it-IT" i="1">
                <a:sym typeface="Symbol" panose="05050102010706020507" pitchFamily="18" charset="2"/>
              </a:rPr>
              <a:t>G</a:t>
            </a:r>
            <a:r>
              <a:rPr lang="en-US" altLang="it-IT">
                <a:sym typeface="Symbol" panose="05050102010706020507" pitchFamily="18" charset="2"/>
              </a:rPr>
              <a:t>, define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IRST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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</a:t>
            </a:r>
            <a:r>
              <a:rPr lang="en-US" altLang="it-IT">
                <a:sym typeface="Symbol" panose="05050102010706020507" pitchFamily="18" charset="2"/>
              </a:rPr>
              <a:t>as the set of tokens that appear as the first symbol in some string that derives from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That is,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 </a:t>
            </a: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) </a:t>
            </a:r>
            <a:r>
              <a:rPr lang="en-US" altLang="it-IT" i="1">
                <a:sym typeface="Symbol" panose="05050102010706020507" pitchFamily="18" charset="2"/>
              </a:rPr>
              <a:t>iff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 baseline="30000">
                <a:sym typeface="Symbol" panose="05050102010706020507" pitchFamily="18" charset="2"/>
              </a:rPr>
              <a:t>*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2000">
                <a:sym typeface="Symbol" panose="05050102010706020507" pitchFamily="18" charset="2"/>
              </a:rPr>
              <a:t>, </a:t>
            </a:r>
            <a:r>
              <a:rPr lang="en-US" altLang="it-IT">
                <a:sym typeface="Symbol" panose="05050102010706020507" pitchFamily="18" charset="2"/>
              </a:rPr>
              <a:t> for some </a:t>
            </a:r>
            <a:r>
              <a:rPr lang="en-US" altLang="it-IT" sz="2000" i="1">
                <a:sym typeface="Symbol" panose="05050102010706020507" pitchFamily="18" charset="2"/>
              </a:rPr>
              <a:t>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We will defer the problem of how to compute F</a:t>
            </a:r>
            <a:r>
              <a:rPr lang="en-US" altLang="it-IT" sz="18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 sets for the moment.</a:t>
            </a:r>
            <a:endParaRPr lang="en-US" altLang="it-IT" i="1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Footer Placeholder 1">
            <a:extLst>
              <a:ext uri="{FF2B5EF4-FFF2-40B4-BE49-F238E27FC236}">
                <a16:creationId xmlns:a16="http://schemas.microsoft.com/office/drawing/2014/main" id="{519A4AC8-F3DB-43D7-9B16-CEC8B929A4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4274" name="Slide Number Placeholder 2">
            <a:extLst>
              <a:ext uri="{FF2B5EF4-FFF2-40B4-BE49-F238E27FC236}">
                <a16:creationId xmlns:a16="http://schemas.microsoft.com/office/drawing/2014/main" id="{F3C0B7A2-8111-4181-9831-012ADF466F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02BA49D-69C9-4855-84B4-37D5CB783E54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CB32BC3-5677-4E21-BD54-A675126FE4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Predictive Parsing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AB98A5B9-F82F-43AF-B00F-4836B5C477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Basic idea</a:t>
            </a:r>
            <a:endParaRPr lang="en-US" altLang="it-IT"/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sz="1800" i="1"/>
              <a:t>Given A </a:t>
            </a:r>
            <a:r>
              <a:rPr lang="en-US" altLang="it-IT" sz="1600">
                <a:sym typeface="Symbol" panose="05050102010706020507" pitchFamily="18" charset="2"/>
              </a:rPr>
              <a:t> </a:t>
            </a:r>
            <a:r>
              <a:rPr lang="en-US" altLang="it-IT">
                <a:sym typeface="Symbol" panose="05050102010706020507" pitchFamily="18" charset="2"/>
              </a:rPr>
              <a:t> </a:t>
            </a:r>
            <a:r>
              <a:rPr lang="en-US" altLang="it-IT" sz="1800">
                <a:sym typeface="Symbol" panose="05050102010706020507" pitchFamily="18" charset="2"/>
              </a:rPr>
              <a:t> </a:t>
            </a:r>
            <a:r>
              <a:rPr lang="en-US" altLang="it-IT" sz="1800" i="1">
                <a:sym typeface="Symbol" panose="05050102010706020507" pitchFamily="18" charset="2"/>
              </a:rPr>
              <a:t>, the parser should be able to choose between </a:t>
            </a:r>
            <a:r>
              <a:rPr lang="en-US" altLang="it-IT">
                <a:sym typeface="Symbol" panose="05050102010706020507" pitchFamily="18" charset="2"/>
              </a:rPr>
              <a:t>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&amp;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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 sets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For some </a:t>
            </a:r>
            <a:r>
              <a:rPr lang="en-US" altLang="it-IT" i="1"/>
              <a:t>rhs</a:t>
            </a:r>
            <a:r>
              <a:rPr lang="en-US" altLang="it-IT"/>
              <a:t>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 sz="1600">
                <a:sym typeface="Symbol" panose="05050102010706020507" pitchFamily="18" charset="2"/>
              </a:rPr>
              <a:t></a:t>
            </a:r>
            <a:r>
              <a:rPr lang="en-US" altLang="it-IT" i="1">
                <a:sym typeface="Symbol" panose="05050102010706020507" pitchFamily="18" charset="2"/>
              </a:rPr>
              <a:t>G</a:t>
            </a:r>
            <a:r>
              <a:rPr lang="en-US" altLang="it-IT">
                <a:sym typeface="Symbol" panose="05050102010706020507" pitchFamily="18" charset="2"/>
              </a:rPr>
              <a:t>, define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IRST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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</a:t>
            </a:r>
            <a:r>
              <a:rPr lang="en-US" altLang="it-IT">
                <a:sym typeface="Symbol" panose="05050102010706020507" pitchFamily="18" charset="2"/>
              </a:rPr>
              <a:t>as the set of tokens that appear as the first symbol in some string that derives from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That is,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 </a:t>
            </a: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) </a:t>
            </a:r>
            <a:r>
              <a:rPr lang="en-US" altLang="it-IT" i="1">
                <a:sym typeface="Symbol" panose="05050102010706020507" pitchFamily="18" charset="2"/>
              </a:rPr>
              <a:t>iff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 baseline="30000">
                <a:sym typeface="Symbol" panose="05050102010706020507" pitchFamily="18" charset="2"/>
              </a:rPr>
              <a:t>*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2000">
                <a:sym typeface="Symbol" panose="05050102010706020507" pitchFamily="18" charset="2"/>
              </a:rPr>
              <a:t>, </a:t>
            </a:r>
            <a:r>
              <a:rPr lang="en-US" altLang="it-IT">
                <a:sym typeface="Symbol" panose="05050102010706020507" pitchFamily="18" charset="2"/>
              </a:rPr>
              <a:t> for some </a:t>
            </a:r>
            <a:r>
              <a:rPr lang="en-US" altLang="it-IT" sz="2000" i="1">
                <a:sym typeface="Symbol" panose="05050102010706020507" pitchFamily="18" charset="2"/>
              </a:rPr>
              <a:t>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The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LL(1)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 Property</a:t>
            </a:r>
            <a:r>
              <a:rPr lang="en-US" altLang="it-IT">
                <a:sym typeface="Symbol" panose="05050102010706020507" pitchFamily="18" charset="2"/>
              </a:rPr>
              <a:t>  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If </a:t>
            </a:r>
            <a:r>
              <a:rPr lang="en-US" altLang="it-IT" sz="1800" i="1">
                <a:sym typeface="Symbol" panose="05050102010706020507" pitchFamily="18" charset="2"/>
              </a:rPr>
              <a:t>A </a:t>
            </a:r>
            <a:r>
              <a:rPr lang="en-US" altLang="it-IT" sz="1800">
                <a:sym typeface="Symbol" panose="05050102010706020507" pitchFamily="18" charset="2"/>
              </a:rPr>
              <a:t>  and 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  both appear in the grammar, we would like </a:t>
            </a:r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sz="24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) 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() = 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This would allow the parser to make a correct choice with a lookahead of exactly one symbol !</a:t>
            </a:r>
          </a:p>
        </p:txBody>
      </p:sp>
      <p:sp>
        <p:nvSpPr>
          <p:cNvPr id="54277" name="Text Box 4">
            <a:extLst>
              <a:ext uri="{FF2B5EF4-FFF2-40B4-BE49-F238E27FC236}">
                <a16:creationId xmlns:a16="http://schemas.microsoft.com/office/drawing/2014/main" id="{533C53B4-413A-4E57-B31B-762F9995B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410200"/>
            <a:ext cx="2819400" cy="660400"/>
          </a:xfrm>
          <a:prstGeom prst="rect">
            <a:avLst/>
          </a:prstGeom>
          <a:noFill/>
          <a:ln w="19050">
            <a:solidFill>
              <a:srgbClr val="ED181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FF0065"/>
                </a:solidFill>
              </a:rPr>
              <a:t>This is almost correct</a:t>
            </a:r>
          </a:p>
          <a:p>
            <a:r>
              <a:rPr lang="en-US" altLang="it-IT">
                <a:solidFill>
                  <a:srgbClr val="FF0065"/>
                </a:solidFill>
              </a:rPr>
              <a:t>See the next slide</a:t>
            </a:r>
          </a:p>
        </p:txBody>
      </p:sp>
      <p:sp>
        <p:nvSpPr>
          <p:cNvPr id="54278" name="Rectangle 5">
            <a:extLst>
              <a:ext uri="{FF2B5EF4-FFF2-40B4-BE49-F238E27FC236}">
                <a16:creationId xmlns:a16="http://schemas.microsoft.com/office/drawing/2014/main" id="{6457ECE1-FED6-4FD7-B0B1-5DBCF3200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495800"/>
            <a:ext cx="304800" cy="457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cxnSp>
        <p:nvCxnSpPr>
          <p:cNvPr id="54279" name="AutoShape 6">
            <a:extLst>
              <a:ext uri="{FF2B5EF4-FFF2-40B4-BE49-F238E27FC236}">
                <a16:creationId xmlns:a16="http://schemas.microsoft.com/office/drawing/2014/main" id="{6C94C1E3-BE72-44B1-A209-015950C9C11E}"/>
              </a:ext>
            </a:extLst>
          </p:cNvPr>
          <p:cNvCxnSpPr>
            <a:cxnSpLocks noChangeShapeType="1"/>
            <a:stCxn id="54277" idx="3"/>
            <a:endCxn id="54278" idx="3"/>
          </p:cNvCxnSpPr>
          <p:nvPr/>
        </p:nvCxnSpPr>
        <p:spPr bwMode="auto">
          <a:xfrm flipH="1" flipV="1">
            <a:off x="6096000" y="4724400"/>
            <a:ext cx="2066925" cy="1016000"/>
          </a:xfrm>
          <a:prstGeom prst="curvedConnector3">
            <a:avLst>
              <a:gd name="adj1" fmla="val -25810"/>
            </a:avLst>
          </a:prstGeom>
          <a:noFill/>
          <a:ln w="19050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Footer Placeholder 1">
            <a:extLst>
              <a:ext uri="{FF2B5EF4-FFF2-40B4-BE49-F238E27FC236}">
                <a16:creationId xmlns:a16="http://schemas.microsoft.com/office/drawing/2014/main" id="{6E5F488B-F1CD-43DD-9FF3-66DAE2D11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6322" name="Slide Number Placeholder 2">
            <a:extLst>
              <a:ext uri="{FF2B5EF4-FFF2-40B4-BE49-F238E27FC236}">
                <a16:creationId xmlns:a16="http://schemas.microsoft.com/office/drawing/2014/main" id="{D0DE3EE2-6C81-42CB-B20E-833C55B6F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B2F69CD-3707-4923-95ED-6F13ACE9A5D8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9FE0723-C098-4280-B1B7-0992A1658B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Predictive Parsing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C420120F-10EC-4CA9-804D-C99B2F91BD6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it-IT"/>
              <a:t>What about </a:t>
            </a:r>
            <a:r>
              <a:rPr lang="en-US" altLang="it-IT" sz="2400">
                <a:sym typeface="Symbol" panose="05050102010706020507" pitchFamily="18" charset="2"/>
              </a:rPr>
              <a:t></a:t>
            </a:r>
            <a:r>
              <a:rPr lang="en-US" altLang="it-IT">
                <a:sym typeface="Symbol" panose="05050102010706020507" pitchFamily="18" charset="2"/>
              </a:rPr>
              <a:t>-productions?</a:t>
            </a:r>
            <a:endParaRPr lang="en-US" altLang="it-IT"/>
          </a:p>
          <a:p>
            <a:pPr eaLnBrk="1" hangingPunct="1">
              <a:lnSpc>
                <a:spcPct val="90000"/>
              </a:lnSpc>
              <a:buSzPct val="90000"/>
              <a:buFont typeface="Symbol" panose="05050102010706020507" pitchFamily="18" charset="2"/>
              <a:buChar char=""/>
            </a:pPr>
            <a:r>
              <a:rPr lang="en-US" altLang="it-IT"/>
              <a:t>They complicate the definition of LL(1)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If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>
                <a:sym typeface="Symbol" panose="05050102010706020507" pitchFamily="18" charset="2"/>
              </a:rPr>
              <a:t>  and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  and </a:t>
            </a:r>
            <a:r>
              <a:rPr lang="en-US" altLang="it-IT" sz="2400">
                <a:sym typeface="Symbol" panose="05050102010706020507" pitchFamily="18" charset="2"/>
              </a:rPr>
              <a:t> </a:t>
            </a:r>
            <a:r>
              <a:rPr lang="en-US" altLang="it-IT">
                <a:sym typeface="Symbol" panose="05050102010706020507" pitchFamily="18" charset="2"/>
              </a:rPr>
              <a:t></a:t>
            </a:r>
            <a:r>
              <a:rPr lang="en-US" altLang="it-IT" sz="24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(), then we need to ensure that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() is disjoint from F</a:t>
            </a:r>
            <a:r>
              <a:rPr lang="en-US" altLang="it-IT" sz="1600">
                <a:sym typeface="Symbol" panose="05050102010706020507" pitchFamily="18" charset="2"/>
              </a:rPr>
              <a:t>OLLOW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), too, where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OLLOW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A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</a:t>
            </a:r>
            <a:r>
              <a:rPr lang="en-US" altLang="it-IT">
                <a:sym typeface="Symbol" panose="05050102010706020507" pitchFamily="18" charset="2"/>
              </a:rPr>
              <a:t>= the set of terminal symbols that can immediately follow A in a sentential form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Define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IRST</a:t>
            </a:r>
            <a:r>
              <a:rPr lang="en-US" altLang="it-IT" sz="2400" baseline="30000">
                <a:solidFill>
                  <a:srgbClr val="003C75"/>
                </a:solidFill>
                <a:sym typeface="Symbol" panose="05050102010706020507" pitchFamily="18" charset="2"/>
              </a:rPr>
              <a:t>+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A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) </a:t>
            </a:r>
            <a:r>
              <a:rPr lang="en-US" altLang="it-IT">
                <a:sym typeface="Symbol" panose="05050102010706020507" pitchFamily="18" charset="2"/>
              </a:rPr>
              <a:t>as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  F</a:t>
            </a:r>
            <a:r>
              <a:rPr lang="en-US" altLang="it-IT" sz="1600">
                <a:sym typeface="Symbol" panose="05050102010706020507" pitchFamily="18" charset="2"/>
              </a:rPr>
              <a:t>OLLOW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),  if </a:t>
            </a:r>
            <a:r>
              <a:rPr lang="en-US" altLang="it-IT" sz="2400">
                <a:sym typeface="Symbol" panose="05050102010706020507" pitchFamily="18" charset="2"/>
              </a:rPr>
              <a:t></a:t>
            </a:r>
            <a:r>
              <a:rPr lang="en-US" altLang="it-IT">
                <a:sym typeface="Symbol" panose="05050102010706020507" pitchFamily="18" charset="2"/>
              </a:rPr>
              <a:t> 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(), otherwise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Then, a grammar is </a:t>
            </a:r>
            <a:r>
              <a:rPr lang="en-US" altLang="it-IT" i="1">
                <a:sym typeface="Symbol" panose="05050102010706020507" pitchFamily="18" charset="2"/>
              </a:rPr>
              <a:t>LL(1)</a:t>
            </a:r>
            <a:r>
              <a:rPr lang="en-US" altLang="it-IT">
                <a:sym typeface="Symbol" panose="05050102010706020507" pitchFamily="18" charset="2"/>
              </a:rPr>
              <a:t> iff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>
                <a:sym typeface="Symbol" panose="05050102010706020507" pitchFamily="18" charset="2"/>
              </a:rPr>
              <a:t>  and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  implies 		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	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 sz="2400" baseline="30000">
                <a:sym typeface="Symbol" panose="05050102010706020507" pitchFamily="18" charset="2"/>
              </a:rPr>
              <a:t>+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) 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 sz="2400" baseline="30000">
                <a:sym typeface="Symbol" panose="05050102010706020507" pitchFamily="18" charset="2"/>
              </a:rPr>
              <a:t>+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) = </a:t>
            </a: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Footer Placeholder 1">
            <a:extLst>
              <a:ext uri="{FF2B5EF4-FFF2-40B4-BE49-F238E27FC236}">
                <a16:creationId xmlns:a16="http://schemas.microsoft.com/office/drawing/2014/main" id="{5BD9E1A0-B8E6-4427-93AA-2D702D462B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8370" name="Slide Number Placeholder 2">
            <a:extLst>
              <a:ext uri="{FF2B5EF4-FFF2-40B4-BE49-F238E27FC236}">
                <a16:creationId xmlns:a16="http://schemas.microsoft.com/office/drawing/2014/main" id="{758A3F98-B377-4CD9-95C2-C1E617BCC4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F7F345F-2A0B-49C4-A8BE-FF168A2704EC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7CFF5229-9C60-4E15-B357-016098F318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Predictive Parsing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92BAF8D6-6DA5-46EB-BB7E-3CE6D6791A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Given a grammar that has the </a:t>
            </a:r>
            <a:r>
              <a:rPr lang="en-US" altLang="it-IT" sz="1800" i="1">
                <a:sym typeface="Symbol" panose="05050102010706020507" pitchFamily="18" charset="2"/>
              </a:rPr>
              <a:t>LL(1)</a:t>
            </a:r>
            <a:r>
              <a:rPr lang="en-US" altLang="it-IT">
                <a:sym typeface="Symbol" panose="05050102010706020507" pitchFamily="18" charset="2"/>
              </a:rPr>
              <a:t> property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Can write a simple routine to recognize each </a:t>
            </a:r>
            <a:r>
              <a:rPr lang="en-US" altLang="it-IT" i="1">
                <a:sym typeface="Symbol" panose="05050102010706020507" pitchFamily="18" charset="2"/>
              </a:rPr>
              <a:t>lhs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Code is both simple &amp; fast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Consider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 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| 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| </a:t>
            </a:r>
            <a:r>
              <a:rPr lang="en-US" altLang="it-IT" baseline="-25000">
                <a:sym typeface="Symbol" panose="05050102010706020507" pitchFamily="18" charset="2"/>
              </a:rPr>
              <a:t>3</a:t>
            </a:r>
            <a:r>
              <a:rPr lang="en-US" altLang="it-IT">
                <a:sym typeface="Symbol" panose="05050102010706020507" pitchFamily="18" charset="2"/>
              </a:rPr>
              <a:t>, with </a:t>
            </a:r>
          </a:p>
          <a:p>
            <a:pPr lvl="1" eaLnBrk="1" hangingPunct="1">
              <a:buFontTx/>
              <a:buNone/>
            </a:pPr>
            <a:r>
              <a:rPr lang="en-US" altLang="it-IT" sz="1500">
                <a:sym typeface="Symbol" panose="05050102010706020507" pitchFamily="18" charset="2"/>
              </a:rPr>
              <a:t>FIRST</a:t>
            </a:r>
            <a:r>
              <a:rPr lang="en-US" altLang="it-IT" sz="1500" baseline="30000">
                <a:sym typeface="Symbol" panose="05050102010706020507" pitchFamily="18" charset="2"/>
              </a:rPr>
              <a:t>+</a:t>
            </a:r>
            <a:r>
              <a:rPr lang="en-US" altLang="it-IT" sz="1500">
                <a:sym typeface="Symbol" panose="05050102010706020507" pitchFamily="18" charset="2"/>
              </a:rPr>
              <a:t>(</a:t>
            </a:r>
            <a:r>
              <a:rPr lang="en-US" altLang="it-IT" sz="1500" i="1">
                <a:sym typeface="Symbol" panose="05050102010706020507" pitchFamily="18" charset="2"/>
              </a:rPr>
              <a:t>A</a:t>
            </a:r>
            <a:r>
              <a:rPr lang="en-US" altLang="it-IT" sz="1500">
                <a:sym typeface="Symbol" panose="05050102010706020507" pitchFamily="18" charset="2"/>
              </a:rPr>
              <a:t></a:t>
            </a:r>
            <a:r>
              <a:rPr lang="en-US" altLang="it-IT" sz="1500" baseline="-25000">
                <a:sym typeface="Symbol" panose="05050102010706020507" pitchFamily="18" charset="2"/>
              </a:rPr>
              <a:t>i</a:t>
            </a:r>
            <a:r>
              <a:rPr lang="en-US" altLang="it-IT" sz="1500">
                <a:sym typeface="Symbol" panose="05050102010706020507" pitchFamily="18" charset="2"/>
              </a:rPr>
              <a:t>)  FIRST</a:t>
            </a:r>
            <a:r>
              <a:rPr lang="en-US" altLang="it-IT" sz="1500" baseline="30000">
                <a:sym typeface="Symbol" panose="05050102010706020507" pitchFamily="18" charset="2"/>
              </a:rPr>
              <a:t>+</a:t>
            </a:r>
            <a:r>
              <a:rPr lang="en-US" altLang="it-IT" sz="1500">
                <a:sym typeface="Symbol" panose="05050102010706020507" pitchFamily="18" charset="2"/>
              </a:rPr>
              <a:t> (</a:t>
            </a:r>
            <a:r>
              <a:rPr lang="en-US" altLang="it-IT" sz="1500" i="1">
                <a:sym typeface="Symbol" panose="05050102010706020507" pitchFamily="18" charset="2"/>
              </a:rPr>
              <a:t>A</a:t>
            </a:r>
            <a:r>
              <a:rPr lang="en-US" altLang="it-IT" sz="1500">
                <a:sym typeface="Symbol" panose="05050102010706020507" pitchFamily="18" charset="2"/>
              </a:rPr>
              <a:t></a:t>
            </a:r>
            <a:r>
              <a:rPr lang="en-US" altLang="it-IT" sz="1500" baseline="-25000">
                <a:sym typeface="Symbol" panose="05050102010706020507" pitchFamily="18" charset="2"/>
              </a:rPr>
              <a:t>j</a:t>
            </a:r>
            <a:r>
              <a:rPr lang="en-US" altLang="it-IT" sz="1500">
                <a:sym typeface="Symbol" panose="05050102010706020507" pitchFamily="18" charset="2"/>
              </a:rPr>
              <a:t>) =  if i ≠ j</a:t>
            </a:r>
          </a:p>
        </p:txBody>
      </p:sp>
      <p:sp>
        <p:nvSpPr>
          <p:cNvPr id="58373" name="Text Box 4">
            <a:extLst>
              <a:ext uri="{FF2B5EF4-FFF2-40B4-BE49-F238E27FC236}">
                <a16:creationId xmlns:a16="http://schemas.microsoft.com/office/drawing/2014/main" id="{B50E5FB5-CAFB-45EC-B6CA-2DDA7B146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524033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B559285A-9516-4EFB-BAC8-4E03BFAE5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52800"/>
            <a:ext cx="3962400" cy="2305050"/>
          </a:xfrm>
          <a:prstGeom prst="rect">
            <a:avLst/>
          </a:prstGeom>
          <a:noFill/>
          <a:ln w="1270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/>
              <a:t>/* find an </a:t>
            </a:r>
            <a:r>
              <a:rPr lang="en-US" altLang="it-IT" sz="1600" i="1"/>
              <a:t>A</a:t>
            </a:r>
            <a:r>
              <a:rPr lang="en-US" altLang="it-IT" sz="1600"/>
              <a:t> */</a:t>
            </a:r>
          </a:p>
          <a:p>
            <a:r>
              <a:rPr lang="en-US" altLang="it-IT" sz="1600"/>
              <a:t>if (current_word </a:t>
            </a:r>
            <a:r>
              <a:rPr lang="en-US" altLang="it-IT" sz="1600">
                <a:sym typeface="Symbol" panose="05050102010706020507" pitchFamily="18" charset="2"/>
              </a:rPr>
              <a:t> 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 sz="1600">
                <a:sym typeface="Symbol" panose="05050102010706020507" pitchFamily="18" charset="2"/>
              </a:rPr>
              <a:t>(</a:t>
            </a:r>
            <a:r>
              <a:rPr lang="en-US" altLang="it-IT" sz="1600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</a:t>
            </a:r>
            <a:r>
              <a:rPr lang="en-US" altLang="it-IT" sz="1600" baseline="-25000">
                <a:sym typeface="Symbol" panose="05050102010706020507" pitchFamily="18" charset="2"/>
              </a:rPr>
              <a:t>1</a:t>
            </a:r>
            <a:r>
              <a:rPr lang="en-US" altLang="it-IT" sz="1600">
                <a:sym typeface="Symbol" panose="05050102010706020507" pitchFamily="18" charset="2"/>
              </a:rPr>
              <a:t>))</a:t>
            </a:r>
          </a:p>
          <a:p>
            <a:r>
              <a:rPr lang="en-US" altLang="it-IT" sz="1600">
                <a:sym typeface="Symbol" panose="05050102010706020507" pitchFamily="18" charset="2"/>
              </a:rPr>
              <a:t>    find a </a:t>
            </a:r>
            <a:r>
              <a:rPr lang="en-US" altLang="it-IT" sz="1600" baseline="-25000">
                <a:sym typeface="Symbol" panose="05050102010706020507" pitchFamily="18" charset="2"/>
              </a:rPr>
              <a:t>1</a:t>
            </a:r>
            <a:r>
              <a:rPr lang="en-US" altLang="it-IT" sz="1600">
                <a:sym typeface="Symbol" panose="05050102010706020507" pitchFamily="18" charset="2"/>
              </a:rPr>
              <a:t> and return true</a:t>
            </a:r>
          </a:p>
          <a:p>
            <a:r>
              <a:rPr lang="en-US" altLang="it-IT" sz="1600">
                <a:sym typeface="Symbol" panose="05050102010706020507" pitchFamily="18" charset="2"/>
              </a:rPr>
              <a:t>else if </a:t>
            </a:r>
            <a:r>
              <a:rPr lang="en-US" altLang="it-IT" sz="1600"/>
              <a:t>(current_word </a:t>
            </a:r>
            <a:r>
              <a:rPr lang="en-US" altLang="it-IT" sz="1600">
                <a:sym typeface="Symbol" panose="05050102010706020507" pitchFamily="18" charset="2"/>
              </a:rPr>
              <a:t> 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 sz="1600">
                <a:sym typeface="Symbol" panose="05050102010706020507" pitchFamily="18" charset="2"/>
              </a:rPr>
              <a:t>(</a:t>
            </a:r>
            <a:r>
              <a:rPr lang="en-US" altLang="it-IT" sz="1600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</a:t>
            </a:r>
            <a:r>
              <a:rPr lang="en-US" altLang="it-IT" sz="1600" baseline="-25000">
                <a:sym typeface="Symbol" panose="05050102010706020507" pitchFamily="18" charset="2"/>
              </a:rPr>
              <a:t>2</a:t>
            </a:r>
            <a:r>
              <a:rPr lang="en-US" altLang="it-IT" sz="1600">
                <a:sym typeface="Symbol" panose="05050102010706020507" pitchFamily="18" charset="2"/>
              </a:rPr>
              <a:t>))</a:t>
            </a:r>
          </a:p>
          <a:p>
            <a:r>
              <a:rPr lang="en-US" altLang="it-IT" sz="1600">
                <a:sym typeface="Symbol" panose="05050102010706020507" pitchFamily="18" charset="2"/>
              </a:rPr>
              <a:t>    find a </a:t>
            </a:r>
            <a:r>
              <a:rPr lang="en-US" altLang="it-IT" sz="1600" baseline="-25000">
                <a:sym typeface="Symbol" panose="05050102010706020507" pitchFamily="18" charset="2"/>
              </a:rPr>
              <a:t>2</a:t>
            </a:r>
            <a:r>
              <a:rPr lang="en-US" altLang="it-IT" sz="1600">
                <a:sym typeface="Symbol" panose="05050102010706020507" pitchFamily="18" charset="2"/>
              </a:rPr>
              <a:t> and return true</a:t>
            </a:r>
          </a:p>
          <a:p>
            <a:r>
              <a:rPr lang="en-US" altLang="it-IT" sz="1600">
                <a:sym typeface="Symbol" panose="05050102010706020507" pitchFamily="18" charset="2"/>
              </a:rPr>
              <a:t>else if </a:t>
            </a:r>
            <a:r>
              <a:rPr lang="en-US" altLang="it-IT" sz="1600"/>
              <a:t>(current_word </a:t>
            </a:r>
            <a:r>
              <a:rPr lang="en-US" altLang="it-IT" sz="1600">
                <a:sym typeface="Symbol" panose="05050102010706020507" pitchFamily="18" charset="2"/>
              </a:rPr>
              <a:t> 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 sz="1600">
                <a:sym typeface="Symbol" panose="05050102010706020507" pitchFamily="18" charset="2"/>
              </a:rPr>
              <a:t>(</a:t>
            </a:r>
            <a:r>
              <a:rPr lang="en-US" altLang="it-IT" sz="1600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</a:t>
            </a:r>
            <a:r>
              <a:rPr lang="en-US" altLang="it-IT" sz="1600" baseline="-25000">
                <a:sym typeface="Symbol" panose="05050102010706020507" pitchFamily="18" charset="2"/>
              </a:rPr>
              <a:t>3</a:t>
            </a:r>
            <a:r>
              <a:rPr lang="en-US" altLang="it-IT" sz="1600">
                <a:sym typeface="Symbol" panose="05050102010706020507" pitchFamily="18" charset="2"/>
              </a:rPr>
              <a:t>))</a:t>
            </a:r>
          </a:p>
          <a:p>
            <a:r>
              <a:rPr lang="en-US" altLang="it-IT" sz="1600">
                <a:sym typeface="Symbol" panose="05050102010706020507" pitchFamily="18" charset="2"/>
              </a:rPr>
              <a:t>    find a </a:t>
            </a:r>
            <a:r>
              <a:rPr lang="en-US" altLang="it-IT" sz="1600" baseline="-25000">
                <a:sym typeface="Symbol" panose="05050102010706020507" pitchFamily="18" charset="2"/>
              </a:rPr>
              <a:t>3</a:t>
            </a:r>
            <a:r>
              <a:rPr lang="en-US" altLang="it-IT" sz="1600">
                <a:sym typeface="Symbol" panose="05050102010706020507" pitchFamily="18" charset="2"/>
              </a:rPr>
              <a:t> and return true</a:t>
            </a:r>
          </a:p>
          <a:p>
            <a:r>
              <a:rPr lang="en-US" altLang="it-IT" sz="1600">
                <a:sym typeface="Symbol" panose="05050102010706020507" pitchFamily="18" charset="2"/>
              </a:rPr>
              <a:t>else </a:t>
            </a:r>
          </a:p>
          <a:p>
            <a:r>
              <a:rPr lang="en-US" altLang="it-IT" sz="1600">
                <a:sym typeface="Symbol" panose="05050102010706020507" pitchFamily="18" charset="2"/>
              </a:rPr>
              <a:t>    report an error and return false</a:t>
            </a:r>
          </a:p>
        </p:txBody>
      </p:sp>
      <p:sp>
        <p:nvSpPr>
          <p:cNvPr id="46086" name="AutoShape 6">
            <a:extLst>
              <a:ext uri="{FF2B5EF4-FFF2-40B4-BE49-F238E27FC236}">
                <a16:creationId xmlns:a16="http://schemas.microsoft.com/office/drawing/2014/main" id="{F9A6F888-09DD-4F83-999B-833902A1F6FA}"/>
              </a:ext>
            </a:extLst>
          </p:cNvPr>
          <p:cNvSpPr>
            <a:spLocks/>
          </p:cNvSpPr>
          <p:nvPr/>
        </p:nvSpPr>
        <p:spPr bwMode="auto">
          <a:xfrm>
            <a:off x="5105400" y="5791200"/>
            <a:ext cx="3124200" cy="530225"/>
          </a:xfrm>
          <a:prstGeom prst="accentBorderCallout1">
            <a:avLst>
              <a:gd name="adj1" fmla="val 21556"/>
              <a:gd name="adj2" fmla="val -2440"/>
              <a:gd name="adj3" fmla="val -131736"/>
              <a:gd name="adj4" fmla="val -101931"/>
            </a:avLst>
          </a:prstGeom>
          <a:noFill/>
          <a:ln w="12700">
            <a:solidFill>
              <a:srgbClr val="003C7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003C75"/>
                </a:solidFill>
                <a:latin typeface="Arial Rounded MT Bold" panose="020F0704030504030204" pitchFamily="34" charset="0"/>
              </a:rPr>
              <a:t>Of course, there is more detail to “find a </a:t>
            </a:r>
            <a:r>
              <a:rPr lang="en-US" altLang="it-IT" sz="14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</a:t>
            </a:r>
            <a:r>
              <a:rPr lang="en-US" altLang="it-IT" sz="1400" baseline="-250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i</a:t>
            </a:r>
            <a:r>
              <a:rPr lang="en-US" altLang="it-IT" sz="14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”   (</a:t>
            </a:r>
            <a:r>
              <a:rPr lang="en-US" altLang="it-IT" sz="12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p. 103</a:t>
            </a:r>
            <a:r>
              <a:rPr lang="en-US" altLang="it-IT" sz="14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 in </a:t>
            </a:r>
            <a:r>
              <a:rPr lang="en-US" altLang="it-IT" sz="12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EAC, 1</a:t>
            </a:r>
            <a:r>
              <a:rPr lang="en-US" altLang="it-IT" sz="1200" baseline="300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st</a:t>
            </a:r>
            <a:r>
              <a:rPr lang="en-US" altLang="it-IT" sz="12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 Ed.</a:t>
            </a:r>
            <a:r>
              <a:rPr lang="en-US" altLang="it-IT" sz="1400">
                <a:solidFill>
                  <a:srgbClr val="003C75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6087" name="Text Box 7">
            <a:extLst>
              <a:ext uri="{FF2B5EF4-FFF2-40B4-BE49-F238E27FC236}">
                <a16:creationId xmlns:a16="http://schemas.microsoft.com/office/drawing/2014/main" id="{6BAC3834-4B45-49CD-97AF-BD88D2D1F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057400"/>
            <a:ext cx="3124200" cy="3130550"/>
          </a:xfrm>
          <a:prstGeom prst="rect">
            <a:avLst/>
          </a:prstGeom>
          <a:noFill/>
          <a:ln w="12700">
            <a:solidFill>
              <a:srgbClr val="003C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Grammars with the </a:t>
            </a:r>
            <a:r>
              <a:rPr lang="en-US" altLang="it-IT" sz="1600" i="1">
                <a:solidFill>
                  <a:srgbClr val="003C75"/>
                </a:solidFill>
              </a:rPr>
              <a:t>LL(1)</a:t>
            </a:r>
            <a:r>
              <a:rPr lang="en-US" altLang="it-IT" sz="1600">
                <a:solidFill>
                  <a:srgbClr val="003C75"/>
                </a:solidFill>
              </a:rPr>
              <a:t> property are called </a:t>
            </a:r>
            <a:r>
              <a:rPr lang="en-US" altLang="it-IT" sz="1600" i="1" u="sng">
                <a:solidFill>
                  <a:srgbClr val="003C75"/>
                </a:solidFill>
              </a:rPr>
              <a:t>predictive grammars</a:t>
            </a:r>
            <a:r>
              <a:rPr lang="en-US" altLang="it-IT" sz="1600">
                <a:solidFill>
                  <a:srgbClr val="003C75"/>
                </a:solidFill>
              </a:rPr>
              <a:t> because the parser can “predict” the correct expansion at each point in the parse.</a:t>
            </a:r>
          </a:p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Parsers that capitalize on the </a:t>
            </a:r>
            <a:r>
              <a:rPr lang="en-US" altLang="it-IT" sz="1600" i="1">
                <a:solidFill>
                  <a:srgbClr val="003C75"/>
                </a:solidFill>
              </a:rPr>
              <a:t>LL(1)</a:t>
            </a:r>
            <a:r>
              <a:rPr lang="en-US" altLang="it-IT" sz="1600">
                <a:solidFill>
                  <a:srgbClr val="003C75"/>
                </a:solidFill>
              </a:rPr>
              <a:t> property are called </a:t>
            </a:r>
            <a:r>
              <a:rPr lang="en-US" altLang="it-IT" sz="1600" i="1" u="sng">
                <a:solidFill>
                  <a:srgbClr val="003C75"/>
                </a:solidFill>
              </a:rPr>
              <a:t>predictive parsers</a:t>
            </a:r>
            <a:r>
              <a:rPr lang="en-US" altLang="it-IT" sz="1600">
                <a:solidFill>
                  <a:srgbClr val="003C75"/>
                </a:solidFill>
              </a:rPr>
              <a:t>.</a:t>
            </a:r>
          </a:p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One kind of predictive parser is the </a:t>
            </a:r>
            <a:r>
              <a:rPr lang="en-US" altLang="it-IT" sz="1600" i="1" u="sng">
                <a:solidFill>
                  <a:srgbClr val="003C75"/>
                </a:solidFill>
              </a:rPr>
              <a:t>recursive descent</a:t>
            </a:r>
            <a:r>
              <a:rPr lang="en-US" altLang="it-IT" sz="1600">
                <a:solidFill>
                  <a:srgbClr val="003C75"/>
                </a:solidFill>
              </a:rPr>
              <a:t> parser</a:t>
            </a:r>
            <a:r>
              <a:rPr lang="en-US" altLang="it-IT" sz="1600" i="1">
                <a:solidFill>
                  <a:srgbClr val="003C75"/>
                </a:solidFill>
              </a:rPr>
              <a:t>.</a:t>
            </a:r>
            <a:endParaRPr lang="en-US" altLang="it-IT" sz="1600">
              <a:solidFill>
                <a:srgbClr val="003C75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animBg="1" autoUpdateAnimBg="0"/>
      <p:bldP spid="46086" grpId="0" animBg="1" autoUpdateAnimBg="0"/>
      <p:bldP spid="46087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Footer Placeholder 1">
            <a:extLst>
              <a:ext uri="{FF2B5EF4-FFF2-40B4-BE49-F238E27FC236}">
                <a16:creationId xmlns:a16="http://schemas.microsoft.com/office/drawing/2014/main" id="{8BDE3B9E-863B-4AEE-80F5-ABDD86B9A2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0418" name="Slide Number Placeholder 2">
            <a:extLst>
              <a:ext uri="{FF2B5EF4-FFF2-40B4-BE49-F238E27FC236}">
                <a16:creationId xmlns:a16="http://schemas.microsoft.com/office/drawing/2014/main" id="{A8BFEBF0-1403-4BD7-907E-D966FE3BB1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8D58827-3E27-4C40-AF1B-95DE93FF954F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F67FC05-1F1B-41DE-B7BD-E78ED39CB0B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Recursive Descent Parsing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4A8548C4-4EC4-49B0-B3F4-B34A0BAC36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Recall the expression grammar, after transformation</a:t>
            </a:r>
          </a:p>
        </p:txBody>
      </p:sp>
      <p:sp>
        <p:nvSpPr>
          <p:cNvPr id="60421" name="Text Box 4">
            <a:extLst>
              <a:ext uri="{FF2B5EF4-FFF2-40B4-BE49-F238E27FC236}">
                <a16:creationId xmlns:a16="http://schemas.microsoft.com/office/drawing/2014/main" id="{A2BC4E35-6FFD-49C0-B590-E0E6EEADC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676400"/>
            <a:ext cx="381000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This produces a parser with six </a:t>
            </a:r>
            <a:r>
              <a:rPr lang="en-US" altLang="it-IT" i="1" u="sng"/>
              <a:t>mutually recursive</a:t>
            </a:r>
            <a:r>
              <a:rPr lang="en-US" altLang="it-IT"/>
              <a:t> routines:</a:t>
            </a:r>
          </a:p>
          <a:p>
            <a:pPr>
              <a:spcBef>
                <a:spcPct val="1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</a:t>
            </a:r>
            <a:r>
              <a:rPr lang="en-US" altLang="it-IT" i="1"/>
              <a:t>Goal</a:t>
            </a:r>
            <a:endParaRPr lang="en-US" altLang="it-IT"/>
          </a:p>
          <a:p>
            <a:pPr>
              <a:spcBef>
                <a:spcPct val="1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</a:t>
            </a:r>
            <a:r>
              <a:rPr lang="en-US" altLang="it-IT" i="1"/>
              <a:t>Expr</a:t>
            </a:r>
            <a:endParaRPr lang="en-US" altLang="it-IT"/>
          </a:p>
          <a:p>
            <a:pPr>
              <a:spcBef>
                <a:spcPct val="1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</a:t>
            </a:r>
            <a:r>
              <a:rPr lang="en-US" altLang="it-IT" i="1"/>
              <a:t>EPrime</a:t>
            </a:r>
            <a:endParaRPr lang="en-US" altLang="it-IT"/>
          </a:p>
          <a:p>
            <a:pPr>
              <a:spcBef>
                <a:spcPct val="1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</a:t>
            </a:r>
            <a:r>
              <a:rPr lang="en-US" altLang="it-IT" i="1"/>
              <a:t>Term</a:t>
            </a:r>
            <a:endParaRPr lang="en-US" altLang="it-IT"/>
          </a:p>
          <a:p>
            <a:pPr>
              <a:spcBef>
                <a:spcPct val="1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</a:t>
            </a:r>
            <a:r>
              <a:rPr lang="en-US" altLang="it-IT" i="1"/>
              <a:t>TPrime</a:t>
            </a:r>
            <a:endParaRPr lang="en-US" altLang="it-IT"/>
          </a:p>
          <a:p>
            <a:pPr>
              <a:spcBef>
                <a:spcPct val="1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/>
              <a:t> </a:t>
            </a:r>
            <a:r>
              <a:rPr lang="en-US" altLang="it-IT" i="1"/>
              <a:t>Factor</a:t>
            </a:r>
            <a:endParaRPr lang="en-US" altLang="it-IT"/>
          </a:p>
          <a:p>
            <a:pPr>
              <a:spcBef>
                <a:spcPct val="20000"/>
              </a:spcBef>
              <a:buClr>
                <a:srgbClr val="0000CC"/>
              </a:buClr>
              <a:buSzPct val="120000"/>
            </a:pPr>
            <a:r>
              <a:rPr lang="en-US" altLang="it-IT"/>
              <a:t>Each recognizes one </a:t>
            </a:r>
            <a:r>
              <a:rPr lang="en-US" altLang="it-IT" i="1"/>
              <a:t>NT</a:t>
            </a:r>
            <a:r>
              <a:rPr lang="en-US" altLang="it-IT"/>
              <a:t> or </a:t>
            </a:r>
            <a:r>
              <a:rPr lang="en-US" altLang="it-IT" i="1"/>
              <a:t>T</a:t>
            </a:r>
          </a:p>
          <a:p>
            <a:pPr>
              <a:spcBef>
                <a:spcPct val="50000"/>
              </a:spcBef>
              <a:buClr>
                <a:srgbClr val="0000CC"/>
              </a:buClr>
              <a:buSzPct val="120000"/>
            </a:pPr>
            <a:r>
              <a:rPr lang="en-US" altLang="it-IT"/>
              <a:t>The term </a:t>
            </a:r>
            <a:r>
              <a:rPr lang="en-US" altLang="it-IT" i="1" u="sng"/>
              <a:t>descent</a:t>
            </a:r>
            <a:r>
              <a:rPr lang="en-US" altLang="it-IT"/>
              <a:t> refers to the direction in which the parse tree is built.</a:t>
            </a:r>
          </a:p>
        </p:txBody>
      </p:sp>
      <p:graphicFrame>
        <p:nvGraphicFramePr>
          <p:cNvPr id="48134" name="Group 6">
            <a:extLst>
              <a:ext uri="{FF2B5EF4-FFF2-40B4-BE49-F238E27FC236}">
                <a16:creationId xmlns:a16="http://schemas.microsoft.com/office/drawing/2014/main" id="{317A35F1-614F-4D68-ABBB-9495376C16DF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752600"/>
          <a:ext cx="3276600" cy="40576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  <a:defRPr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Footer Placeholder 1">
            <a:extLst>
              <a:ext uri="{FF2B5EF4-FFF2-40B4-BE49-F238E27FC236}">
                <a16:creationId xmlns:a16="http://schemas.microsoft.com/office/drawing/2014/main" id="{A4AB5188-8DB2-42D3-B844-4D2307149D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2466" name="Slide Number Placeholder 2">
            <a:extLst>
              <a:ext uri="{FF2B5EF4-FFF2-40B4-BE49-F238E27FC236}">
                <a16:creationId xmlns:a16="http://schemas.microsoft.com/office/drawing/2014/main" id="{76E1CABA-AC37-4473-99C5-B926CB4E7E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33E7CC3-F4C0-400F-96C2-E8755C603084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C65585D5-AEA4-484E-8AA5-16F11E7D35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Recursive Descent Parsing            (Procedural)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C39A8A53-64AE-412E-8422-5433E6D728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couple of routines from the expression parser</a:t>
            </a:r>
          </a:p>
        </p:txBody>
      </p:sp>
      <p:sp>
        <p:nvSpPr>
          <p:cNvPr id="62469" name="Text Box 4">
            <a:extLst>
              <a:ext uri="{FF2B5EF4-FFF2-40B4-BE49-F238E27FC236}">
                <a16:creationId xmlns:a16="http://schemas.microsoft.com/office/drawing/2014/main" id="{2107CE0F-76D0-498C-9A5D-C8DA3E69C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00200"/>
            <a:ext cx="350520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</a:rPr>
              <a:t>Goal( )</a:t>
            </a:r>
          </a:p>
          <a:p>
            <a:r>
              <a:rPr lang="en-US" altLang="it-IT" b="1" i="1">
                <a:latin typeface="Arial Narrow" panose="020B0606020202030204" pitchFamily="34" charset="0"/>
              </a:rPr>
              <a:t>     token </a:t>
            </a:r>
            <a:r>
              <a:rPr lang="en-US" altLang="it-IT" b="1">
                <a:latin typeface="Arial Narrow" panose="020B0606020202030204" pitchFamily="34" charset="0"/>
                <a:sym typeface="Symbol" panose="05050102010706020507" pitchFamily="18" charset="2"/>
              </a:rPr>
              <a:t>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next_token( );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if (</a:t>
            </a:r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Expr( </a:t>
            </a:r>
            <a:r>
              <a:rPr lang="en-US" altLang="it-IT" b="1" i="1">
                <a:solidFill>
                  <a:srgbClr val="B025A6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= true &amp; token = EOF) 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 then next compilation step;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 else 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      report syntax error;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      return false;</a:t>
            </a:r>
          </a:p>
          <a:p>
            <a:endParaRPr lang="en-US" altLang="it-IT" b="1" i="1"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Expr( )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if (</a:t>
            </a:r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Term( ) 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= false) 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then return false;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else return </a:t>
            </a:r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Eprime( )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39E8B9AB-A3D7-4354-9481-2F863719D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609725"/>
            <a:ext cx="43434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</a:rPr>
              <a:t>Factor( )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if (token = Number) then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token </a:t>
            </a:r>
            <a:r>
              <a:rPr lang="en-US" altLang="it-IT" b="1">
                <a:latin typeface="Arial Narrow" panose="020B0606020202030204" pitchFamily="34" charset="0"/>
                <a:sym typeface="Symbol" panose="05050102010706020507" pitchFamily="18" charset="2"/>
              </a:rPr>
              <a:t> 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next_token( );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return true;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else if (token = Identifier) then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token </a:t>
            </a:r>
            <a:r>
              <a:rPr lang="en-US" altLang="it-IT" b="1">
                <a:latin typeface="Arial Narrow" panose="020B0606020202030204" pitchFamily="34" charset="0"/>
                <a:sym typeface="Symbol" panose="05050102010706020507" pitchFamily="18" charset="2"/>
              </a:rPr>
              <a:t> 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next_token( );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return true;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else if (token = Lparen)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token </a:t>
            </a:r>
            <a:r>
              <a:rPr lang="en-US" altLang="it-IT" b="1">
                <a:latin typeface="Arial Narrow" panose="020B0606020202030204" pitchFamily="34" charset="0"/>
                <a:sym typeface="Symbol" panose="05050102010706020507" pitchFamily="18" charset="2"/>
              </a:rPr>
              <a:t> 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next_token( );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if (</a:t>
            </a:r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Expr( </a:t>
            </a:r>
            <a:r>
              <a:rPr lang="en-US" altLang="it-IT" b="1" i="1">
                <a:solidFill>
                  <a:srgbClr val="B025A6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)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= true &amp; token = Rparen) then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    token </a:t>
            </a:r>
            <a:r>
              <a:rPr lang="en-US" altLang="it-IT" b="1">
                <a:latin typeface="Arial Narrow" panose="020B0606020202030204" pitchFamily="34" charset="0"/>
                <a:sym typeface="Symbol" panose="05050102010706020507" pitchFamily="18" charset="2"/>
              </a:rPr>
              <a:t> 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next_token( );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    return true;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</a:t>
            </a:r>
            <a:r>
              <a:rPr lang="en-US" altLang="it-IT" b="1" i="1">
                <a:solidFill>
                  <a:srgbClr val="ED181E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/</a:t>
            </a:r>
            <a:r>
              <a:rPr lang="en-US" altLang="it-IT" b="1" i="1">
                <a:solidFill>
                  <a:srgbClr val="FF006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/ fall out of if statement</a:t>
            </a:r>
            <a:endParaRPr lang="en-US" altLang="it-IT" b="1" i="1"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report syntax error;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       return false;</a:t>
            </a:r>
          </a:p>
          <a:p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  </a:t>
            </a:r>
            <a:endParaRPr lang="en-US" altLang="it-IT" i="1">
              <a:latin typeface="Arial Narrow Bold" panose="020B07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50182" name="AutoShape 6">
            <a:extLst>
              <a:ext uri="{FF2B5EF4-FFF2-40B4-BE49-F238E27FC236}">
                <a16:creationId xmlns:a16="http://schemas.microsoft.com/office/drawing/2014/main" id="{E74C1061-535E-494E-B247-3ED66D7E3B0E}"/>
              </a:ext>
            </a:extLst>
          </p:cNvPr>
          <p:cNvSpPr>
            <a:spLocks/>
          </p:cNvSpPr>
          <p:nvPr/>
        </p:nvSpPr>
        <p:spPr bwMode="auto">
          <a:xfrm>
            <a:off x="762000" y="5105400"/>
            <a:ext cx="3429000" cy="838200"/>
          </a:xfrm>
          <a:prstGeom prst="accentBorderCallout1">
            <a:avLst>
              <a:gd name="adj1" fmla="val 12000"/>
              <a:gd name="adj2" fmla="val 102222"/>
              <a:gd name="adj3" fmla="val 28167"/>
              <a:gd name="adj4" fmla="val 117546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looking for Number, Identifier, or “(“, found token instead, or failed to find Expr or “)” after “(”</a:t>
            </a:r>
          </a:p>
        </p:txBody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0CE035CC-34A4-40B6-9681-428F31376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867400"/>
            <a:ext cx="3848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EPrime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, </a:t>
            </a:r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Term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, &amp; </a:t>
            </a:r>
            <a:r>
              <a:rPr lang="en-US" altLang="it-IT" b="1" i="1">
                <a:solidFill>
                  <a:srgbClr val="003C75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TPrime 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follow the same basic lines (Figure 3.7, EAC)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utoUpdateAnimBg="0"/>
      <p:bldP spid="50182" grpId="0" animBg="1" autoUpdateAnimBg="0"/>
      <p:bldP spid="5018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Footer Placeholder 1">
            <a:extLst>
              <a:ext uri="{FF2B5EF4-FFF2-40B4-BE49-F238E27FC236}">
                <a16:creationId xmlns:a16="http://schemas.microsoft.com/office/drawing/2014/main" id="{B9D1C0B2-59DE-42D2-9392-A172EF5934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4514" name="Slide Number Placeholder 2">
            <a:extLst>
              <a:ext uri="{FF2B5EF4-FFF2-40B4-BE49-F238E27FC236}">
                <a16:creationId xmlns:a16="http://schemas.microsoft.com/office/drawing/2014/main" id="{3BCF4E16-317C-4D30-B073-AA2DF53292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D1B0FD3-FFA0-4CC5-91C3-17DB4DA62A60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4515" name="TextBox 3">
            <a:extLst>
              <a:ext uri="{FF2B5EF4-FFF2-40B4-BE49-F238E27FC236}">
                <a16:creationId xmlns:a16="http://schemas.microsoft.com/office/drawing/2014/main" id="{CA21A669-9D9C-4319-B3B4-54435ECA3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362200"/>
            <a:ext cx="518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3200">
                <a:solidFill>
                  <a:srgbClr val="FF0065"/>
                </a:solidFill>
              </a:rPr>
              <a:t>Extra Slides Start Here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1">
            <a:extLst>
              <a:ext uri="{FF2B5EF4-FFF2-40B4-BE49-F238E27FC236}">
                <a16:creationId xmlns:a16="http://schemas.microsoft.com/office/drawing/2014/main" id="{A5D2F397-26F7-4521-9814-B98A4F4A65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5538" name="Slide Number Placeholder 2">
            <a:extLst>
              <a:ext uri="{FF2B5EF4-FFF2-40B4-BE49-F238E27FC236}">
                <a16:creationId xmlns:a16="http://schemas.microsoft.com/office/drawing/2014/main" id="{ABF8748D-25C4-4692-A731-D23AFE1B07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D973EE5-84E6-450D-94C9-2CB1FD53BAA6}" type="slidenum">
              <a:rPr lang="en-US" altLang="it-IT"/>
              <a:pPr/>
              <a:t>25</a:t>
            </a:fld>
            <a:endParaRPr lang="en-US" altLang="it-IT"/>
          </a:p>
        </p:txBody>
      </p:sp>
      <p:graphicFrame>
        <p:nvGraphicFramePr>
          <p:cNvPr id="11411" name="Group 147">
            <a:extLst>
              <a:ext uri="{FF2B5EF4-FFF2-40B4-BE49-F238E27FC236}">
                <a16:creationId xmlns:a16="http://schemas.microsoft.com/office/drawing/2014/main" id="{A336D1A7-A656-4271-A0CA-D436E1FE7D2F}"/>
              </a:ext>
            </a:extLst>
          </p:cNvPr>
          <p:cNvGraphicFramePr>
            <a:graphicFrameLocks noGrp="1"/>
          </p:cNvGraphicFramePr>
          <p:nvPr/>
        </p:nvGraphicFramePr>
        <p:xfrm>
          <a:off x="5448300" y="2111375"/>
          <a:ext cx="2590800" cy="2914651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Rule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+ 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+ &lt;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5561" name="Rectangle 3">
            <a:extLst>
              <a:ext uri="{FF2B5EF4-FFF2-40B4-BE49-F238E27FC236}">
                <a16:creationId xmlns:a16="http://schemas.microsoft.com/office/drawing/2014/main" id="{7E7AFB77-5C10-4B7A-A1FC-655A4CBDE4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Left Recursion Creates Left Associative Trees</a:t>
            </a:r>
          </a:p>
        </p:txBody>
      </p:sp>
      <p:sp>
        <p:nvSpPr>
          <p:cNvPr id="65562" name="Oval 148">
            <a:extLst>
              <a:ext uri="{FF2B5EF4-FFF2-40B4-BE49-F238E27FC236}">
                <a16:creationId xmlns:a16="http://schemas.microsoft.com/office/drawing/2014/main" id="{587F6E79-D4B6-4CF9-8C55-45A3F6027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724150"/>
            <a:ext cx="152400" cy="1524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5563" name="Rectangle 25">
            <a:extLst>
              <a:ext uri="{FF2B5EF4-FFF2-40B4-BE49-F238E27FC236}">
                <a16:creationId xmlns:a16="http://schemas.microsoft.com/office/drawing/2014/main" id="{E638350C-E5D9-4EA3-AB21-F2B488609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486400"/>
            <a:ext cx="15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aphicFrame>
        <p:nvGraphicFramePr>
          <p:cNvPr id="27" name="Group 6">
            <a:extLst>
              <a:ext uri="{FF2B5EF4-FFF2-40B4-BE49-F238E27FC236}">
                <a16:creationId xmlns:a16="http://schemas.microsoft.com/office/drawing/2014/main" id="{92CA1E6F-B136-4831-B290-A1573E4E3FB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19200"/>
          <a:ext cx="3276600" cy="152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 Trivial Expression Grammar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  <a:defRPr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44">
            <a:extLst>
              <a:ext uri="{FF2B5EF4-FFF2-40B4-BE49-F238E27FC236}">
                <a16:creationId xmlns:a16="http://schemas.microsoft.com/office/drawing/2014/main" id="{ACBAA202-887B-4075-9014-E6678C0E38E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971800"/>
            <a:ext cx="2667000" cy="3178175"/>
            <a:chOff x="5257800" y="1611312"/>
            <a:chExt cx="2667000" cy="3178176"/>
          </a:xfrm>
        </p:grpSpPr>
        <p:sp>
          <p:nvSpPr>
            <p:cNvPr id="65585" name="Oval 6">
              <a:extLst>
                <a:ext uri="{FF2B5EF4-FFF2-40B4-BE49-F238E27FC236}">
                  <a16:creationId xmlns:a16="http://schemas.microsoft.com/office/drawing/2014/main" id="{DA2CCC4B-F87B-44EC-92AC-A821A0A4E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1611312"/>
              <a:ext cx="5334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Goal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586" name="Oval 7">
              <a:extLst>
                <a:ext uri="{FF2B5EF4-FFF2-40B4-BE49-F238E27FC236}">
                  <a16:creationId xmlns:a16="http://schemas.microsoft.com/office/drawing/2014/main" id="{0FCC1774-AAB3-45CC-9236-981036D8B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0" y="2220912"/>
              <a:ext cx="5334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587" name="Oval 8">
              <a:extLst>
                <a:ext uri="{FF2B5EF4-FFF2-40B4-BE49-F238E27FC236}">
                  <a16:creationId xmlns:a16="http://schemas.microsoft.com/office/drawing/2014/main" id="{2ED3D90C-AE30-48B9-9070-A4024AD8D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2754312"/>
              <a:ext cx="5334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588" name="Oval 9">
              <a:extLst>
                <a:ext uri="{FF2B5EF4-FFF2-40B4-BE49-F238E27FC236}">
                  <a16:creationId xmlns:a16="http://schemas.microsoft.com/office/drawing/2014/main" id="{87027AC6-CD4A-4508-81D7-AA232CCCB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7500" y="2754312"/>
              <a:ext cx="533400" cy="3810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+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589" name="Line 10">
              <a:extLst>
                <a:ext uri="{FF2B5EF4-FFF2-40B4-BE49-F238E27FC236}">
                  <a16:creationId xmlns:a16="http://schemas.microsoft.com/office/drawing/2014/main" id="{5FCC2479-D76C-4D4A-A8E4-CB75C7BB3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5788" y="1989137"/>
              <a:ext cx="0" cy="233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590" name="Oval 11">
              <a:extLst>
                <a:ext uri="{FF2B5EF4-FFF2-40B4-BE49-F238E27FC236}">
                  <a16:creationId xmlns:a16="http://schemas.microsoft.com/office/drawing/2014/main" id="{5B14DEA1-A99E-4B02-AE22-17E9F2921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8363" y="2754312"/>
              <a:ext cx="5334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591" name="Oval 13">
              <a:extLst>
                <a:ext uri="{FF2B5EF4-FFF2-40B4-BE49-F238E27FC236}">
                  <a16:creationId xmlns:a16="http://schemas.microsoft.com/office/drawing/2014/main" id="{6333C792-BB5D-4F04-B7E1-7602477BE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886200"/>
              <a:ext cx="5334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592" name="Oval 14">
              <a:extLst>
                <a:ext uri="{FF2B5EF4-FFF2-40B4-BE49-F238E27FC236}">
                  <a16:creationId xmlns:a16="http://schemas.microsoft.com/office/drawing/2014/main" id="{7EFE438F-324A-4EF1-B16A-97009EA99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408488"/>
              <a:ext cx="533400" cy="3810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&lt;</a:t>
              </a:r>
              <a:r>
                <a:rPr lang="en-US" altLang="it-IT" sz="1600">
                  <a:latin typeface="Arial Rounded MT Bold" panose="020F0704030504030204" pitchFamily="34" charset="0"/>
                </a:rPr>
                <a:t>id</a:t>
              </a:r>
              <a:r>
                <a:rPr lang="en-US" altLang="it-IT" sz="1400">
                  <a:latin typeface="Arial Rounded MT Bold" panose="020F0704030504030204" pitchFamily="34" charset="0"/>
                </a:rPr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593" name="Line 15">
              <a:extLst>
                <a:ext uri="{FF2B5EF4-FFF2-40B4-BE49-F238E27FC236}">
                  <a16:creationId xmlns:a16="http://schemas.microsoft.com/office/drawing/2014/main" id="{65FE130B-EC47-441A-92F6-FC0672020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063" y="3136900"/>
              <a:ext cx="0" cy="22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594" name="Line 16">
              <a:extLst>
                <a:ext uri="{FF2B5EF4-FFF2-40B4-BE49-F238E27FC236}">
                  <a16:creationId xmlns:a16="http://schemas.microsoft.com/office/drawing/2014/main" id="{0F54E917-E934-49E9-A927-3FB3DCA13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4500" y="3657600"/>
              <a:ext cx="0" cy="22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595" name="Line 17">
              <a:extLst>
                <a:ext uri="{FF2B5EF4-FFF2-40B4-BE49-F238E27FC236}">
                  <a16:creationId xmlns:a16="http://schemas.microsoft.com/office/drawing/2014/main" id="{6D3E0F2B-6C0D-4DFC-8B2E-700C33387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4500" y="4265613"/>
              <a:ext cx="0" cy="22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596" name="Line 18">
              <a:extLst>
                <a:ext uri="{FF2B5EF4-FFF2-40B4-BE49-F238E27FC236}">
                  <a16:creationId xmlns:a16="http://schemas.microsoft.com/office/drawing/2014/main" id="{EBE0CB86-7AFC-4BEB-8361-597050CB7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96038" y="2509837"/>
              <a:ext cx="295275" cy="295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597" name="Line 19">
              <a:extLst>
                <a:ext uri="{FF2B5EF4-FFF2-40B4-BE49-F238E27FC236}">
                  <a16:creationId xmlns:a16="http://schemas.microsoft.com/office/drawing/2014/main" id="{52CA0707-E793-4FBC-99C5-827C460BF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2800" y="2525712"/>
              <a:ext cx="28575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598" name="Line 20">
              <a:extLst>
                <a:ext uri="{FF2B5EF4-FFF2-40B4-BE49-F238E27FC236}">
                  <a16:creationId xmlns:a16="http://schemas.microsoft.com/office/drawing/2014/main" id="{B2BBA477-9283-4C57-8168-312420B9E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2620962"/>
              <a:ext cx="0" cy="22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599" name="Oval 14">
              <a:extLst>
                <a:ext uri="{FF2B5EF4-FFF2-40B4-BE49-F238E27FC236}">
                  <a16:creationId xmlns:a16="http://schemas.microsoft.com/office/drawing/2014/main" id="{7FEA3A87-4330-42F5-A9AA-EFF9F1AE1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3352800"/>
              <a:ext cx="533400" cy="3810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&lt;</a:t>
              </a:r>
              <a:r>
                <a:rPr lang="en-US" altLang="it-IT" sz="1600">
                  <a:latin typeface="Arial Rounded MT Bold" panose="020F0704030504030204" pitchFamily="34" charset="0"/>
                </a:rPr>
                <a:t>id</a:t>
              </a:r>
              <a:r>
                <a:rPr lang="en-US" altLang="it-IT" sz="1400">
                  <a:latin typeface="Arial Rounded MT Bold" panose="020F0704030504030204" pitchFamily="34" charset="0"/>
                </a:rPr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600" name="Oval 8">
              <a:extLst>
                <a:ext uri="{FF2B5EF4-FFF2-40B4-BE49-F238E27FC236}">
                  <a16:creationId xmlns:a16="http://schemas.microsoft.com/office/drawing/2014/main" id="{F81BB3F3-32E8-4296-83A4-EB66EB7B4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732" y="3276600"/>
              <a:ext cx="5334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Term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601" name="Oval 9">
              <a:extLst>
                <a:ext uri="{FF2B5EF4-FFF2-40B4-BE49-F238E27FC236}">
                  <a16:creationId xmlns:a16="http://schemas.microsoft.com/office/drawing/2014/main" id="{4A2B9C97-0FB3-420C-9BB2-C4E0D0913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7832" y="3276600"/>
              <a:ext cx="533400" cy="3810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+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602" name="Oval 11">
              <a:extLst>
                <a:ext uri="{FF2B5EF4-FFF2-40B4-BE49-F238E27FC236}">
                  <a16:creationId xmlns:a16="http://schemas.microsoft.com/office/drawing/2014/main" id="{5F872D0D-B889-48FD-8C61-A66CA552C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276600"/>
              <a:ext cx="533400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 i="1">
                  <a:latin typeface="Arial Rounded MT Bold" panose="020F0704030504030204" pitchFamily="34" charset="0"/>
                </a:rPr>
                <a:t>Expr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603" name="Oval 14">
              <a:extLst>
                <a:ext uri="{FF2B5EF4-FFF2-40B4-BE49-F238E27FC236}">
                  <a16:creationId xmlns:a16="http://schemas.microsoft.com/office/drawing/2014/main" id="{1ABA4C55-C04D-4D0C-B555-699F565B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732" y="3800475"/>
              <a:ext cx="533400" cy="38100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&lt;</a:t>
              </a:r>
              <a:r>
                <a:rPr lang="en-US" altLang="it-IT" sz="1600">
                  <a:latin typeface="Arial Rounded MT Bold" panose="020F0704030504030204" pitchFamily="34" charset="0"/>
                </a:rPr>
                <a:t>id</a:t>
              </a:r>
              <a:r>
                <a:rPr lang="en-US" altLang="it-IT" sz="1400">
                  <a:latin typeface="Arial Rounded MT Bold" panose="020F0704030504030204" pitchFamily="34" charset="0"/>
                </a:rPr>
                <a:t>&gt;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5604" name="Line 17">
              <a:extLst>
                <a:ext uri="{FF2B5EF4-FFF2-40B4-BE49-F238E27FC236}">
                  <a16:creationId xmlns:a16="http://schemas.microsoft.com/office/drawing/2014/main" id="{0C92FD85-3CC9-432F-A2DA-5753151AC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8432" y="3657600"/>
              <a:ext cx="0" cy="22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5605" name="Line 17">
              <a:extLst>
                <a:ext uri="{FF2B5EF4-FFF2-40B4-BE49-F238E27FC236}">
                  <a16:creationId xmlns:a16="http://schemas.microsoft.com/office/drawing/2014/main" id="{FCDD91E9-6FE7-4E58-8D22-DAFCAC5FA9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58100" y="3124200"/>
              <a:ext cx="0" cy="22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cxnSp>
          <p:nvCxnSpPr>
            <p:cNvPr id="65606" name="Straight Arrow Connector 38">
              <a:extLst>
                <a:ext uri="{FF2B5EF4-FFF2-40B4-BE49-F238E27FC236}">
                  <a16:creationId xmlns:a16="http://schemas.microsoft.com/office/drawing/2014/main" id="{ED62421B-A15C-4F13-8781-0D56E03393C8}"/>
                </a:ext>
              </a:extLst>
            </p:cNvPr>
            <p:cNvCxnSpPr>
              <a:cxnSpLocks noChangeShapeType="1"/>
              <a:stCxn id="65590" idx="3"/>
              <a:endCxn id="65602" idx="7"/>
            </p:cNvCxnSpPr>
            <p:nvPr/>
          </p:nvCxnSpPr>
          <p:spPr bwMode="auto">
            <a:xfrm rot="5400000">
              <a:off x="5743342" y="3049260"/>
              <a:ext cx="252880" cy="31339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607" name="Straight Arrow Connector 43">
              <a:extLst>
                <a:ext uri="{FF2B5EF4-FFF2-40B4-BE49-F238E27FC236}">
                  <a16:creationId xmlns:a16="http://schemas.microsoft.com/office/drawing/2014/main" id="{332CEBF1-7B78-430F-BF53-C868570A8769}"/>
                </a:ext>
              </a:extLst>
            </p:cNvPr>
            <p:cNvCxnSpPr>
              <a:cxnSpLocks noChangeShapeType="1"/>
              <a:stCxn id="65590" idx="5"/>
              <a:endCxn id="65600" idx="1"/>
            </p:cNvCxnSpPr>
            <p:nvPr/>
          </p:nvCxnSpPr>
          <p:spPr bwMode="auto">
            <a:xfrm rot="16200000" flipH="1">
              <a:off x="6450307" y="3032856"/>
              <a:ext cx="252880" cy="34619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E18FE4F-DF05-4520-B7F8-06CBD1D1A286}"/>
              </a:ext>
            </a:extLst>
          </p:cNvPr>
          <p:cNvSpPr txBox="1"/>
          <p:nvPr/>
        </p:nvSpPr>
        <p:spPr>
          <a:xfrm>
            <a:off x="5257800" y="1577975"/>
            <a:ext cx="2971800" cy="368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Derivation of id + id +id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79F455-4A81-4A9B-82B5-22186C43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757863"/>
            <a:ext cx="2549525" cy="338137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Evaluates as (id + id) + id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2262</Words>
  <Application>Microsoft Office PowerPoint</Application>
  <PresentationFormat>Presentazione su schermo (4:3)</PresentationFormat>
  <Paragraphs>709</Paragraphs>
  <Slides>26</Slides>
  <Notes>25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7" baseType="lpstr">
      <vt:lpstr>Blank Presentation</vt:lpstr>
      <vt:lpstr>Top Down Parsing - Part I  Comp 412</vt:lpstr>
      <vt:lpstr>Parsing Techniques</vt:lpstr>
      <vt:lpstr>Top-down Parsing</vt:lpstr>
      <vt:lpstr>Remember the expression grammar?</vt:lpstr>
      <vt:lpstr>Example</vt:lpstr>
      <vt:lpstr>Example</vt:lpstr>
      <vt:lpstr>Example</vt:lpstr>
      <vt:lpstr>Example</vt:lpstr>
      <vt:lpstr>Example</vt:lpstr>
      <vt:lpstr>Another possible parse</vt:lpstr>
      <vt:lpstr>Left Recursion</vt:lpstr>
      <vt:lpstr>Eliminating Left Recursion</vt:lpstr>
      <vt:lpstr>Eliminating Left Recursion</vt:lpstr>
      <vt:lpstr>Eliminating Left Recursion</vt:lpstr>
      <vt:lpstr>Eliminating Left Recursion</vt:lpstr>
      <vt:lpstr>Eliminating Left Recursion</vt:lpstr>
      <vt:lpstr>Example</vt:lpstr>
      <vt:lpstr>Picking the “Right” Production</vt:lpstr>
      <vt:lpstr>Predictive Parsing</vt:lpstr>
      <vt:lpstr>Predictive Parsing</vt:lpstr>
      <vt:lpstr>Predictive Parsing</vt:lpstr>
      <vt:lpstr>Predictive Parsing</vt:lpstr>
      <vt:lpstr>Recursive Descent Parsing</vt:lpstr>
      <vt:lpstr>Recursive Descent Parsing            (Procedural)</vt:lpstr>
      <vt:lpstr>Presentazione standard di PowerPoint</vt:lpstr>
      <vt:lpstr>Left Recursion Creates Left Associative Trees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35</cp:revision>
  <cp:lastPrinted>2007-09-21T15:39:58Z</cp:lastPrinted>
  <dcterms:created xsi:type="dcterms:W3CDTF">2010-09-17T15:24:14Z</dcterms:created>
  <dcterms:modified xsi:type="dcterms:W3CDTF">2020-10-20T11:38:45Z</dcterms:modified>
</cp:coreProperties>
</file>