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85" r:id="rId10"/>
    <p:sldId id="283" r:id="rId11"/>
    <p:sldId id="284" r:id="rId12"/>
    <p:sldId id="272" r:id="rId13"/>
    <p:sldId id="273" r:id="rId14"/>
    <p:sldId id="274" r:id="rId15"/>
    <p:sldId id="275" r:id="rId16"/>
    <p:sldId id="276" r:id="rId17"/>
    <p:sldId id="286" r:id="rId18"/>
    <p:sldId id="277" r:id="rId19"/>
    <p:sldId id="289" r:id="rId20"/>
    <p:sldId id="290" r:id="rId21"/>
    <p:sldId id="278" r:id="rId22"/>
    <p:sldId id="291" r:id="rId23"/>
    <p:sldId id="282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0"/>
    <a:srgbClr val="02386E"/>
    <a:srgbClr val="808080"/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05370E-F4E1-C474-1050-15169C119C96}" v="1" dt="2020-10-19T08:05:05.5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ea ZAFFANELLA" userId="S::enea.zaffanella@unipr.it::e0834c8d-620f-46c1-8044-129dd5b73e66" providerId="AD" clId="Web-{DB05370E-F4E1-C474-1050-15169C119C96}"/>
    <pc:docChg chg="delSld">
      <pc:chgData name="Enea ZAFFANELLA" userId="S::enea.zaffanella@unipr.it::e0834c8d-620f-46c1-8044-129dd5b73e66" providerId="AD" clId="Web-{DB05370E-F4E1-C474-1050-15169C119C96}" dt="2020-10-19T08:05:05.550" v="0"/>
      <pc:docMkLst>
        <pc:docMk/>
      </pc:docMkLst>
      <pc:sldChg chg="del">
        <pc:chgData name="Enea ZAFFANELLA" userId="S::enea.zaffanella@unipr.it::e0834c8d-620f-46c1-8044-129dd5b73e66" providerId="AD" clId="Web-{DB05370E-F4E1-C474-1050-15169C119C96}" dt="2020-10-19T08:05:05.550" v="0"/>
        <pc:sldMkLst>
          <pc:docMk/>
          <pc:sldMk cId="0" sldId="2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BAB4E2-D1E7-4E46-B38F-D40A7EA5A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F1DB3-CE4F-4434-8EEF-B00C2D9E24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F7C28899-40BE-4406-AD0E-1BCDCFF56BC4}" type="datetime1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4C52D-51A7-4731-BFC0-877E268E7A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0A603-5378-4F00-8808-8338CA7944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519D4C77-6950-4B4F-8CAD-0020059A9FD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553CDE3-6A80-425F-A4F7-BED4750196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AF37554-899D-42C8-A552-51CCD69D839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B37FA2A-EF9D-419A-B132-25CDD7B782E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76B8F4B-E32B-4422-86AE-E147D8588D0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D25AFAB-DD86-4CB1-8857-603D2C4DC69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52E88016-4461-4941-86C9-81E349D707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3DAF794C-5071-4625-90CB-C89DDBC05B10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F057944D-CB93-42B7-A6FA-C27C7D8DA6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6D2BA64-39EB-43AF-839D-A06F61D02F8A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F15839A0-3BD3-454B-BA5C-5907727F39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4B1FE3D-60D0-4667-9F7B-029BEFAC6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14DFF4FA-0A82-4A52-90DE-EF1293A5D6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87B0AE8-2BB6-433B-A26A-230D434A2E4B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1C03529A-D652-42E6-A4EE-A5A6BA8BDC6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C6E9D35-5974-4826-8A55-5C7250E4B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E9D848A8-0F00-4A33-B683-750D0DE445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E2A2CC6-5B86-4F34-BBF4-FB55AEA35C72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93D41ED4-9C7F-45A4-98CE-F3F2717ABB9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D71E197-A644-42A3-893E-66B587E5FE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3B192E69-4304-43D8-9757-8548D70BC5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E76990C-8B78-4705-AC64-22156595EAEE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436693E-8BF0-4057-95A8-0AAD3C97593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2C49F60-0904-4A1A-99D4-A13E6AC3A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EFF070C0-6486-49EE-8696-741786907A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0888751-EBBC-431C-8129-ED7440857648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EB8DDC8C-CEF4-4553-ABC7-2041A66FBEE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8E44C73-D515-475F-9F59-A168FCB33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7C5C8D9F-0347-4A5B-A24C-E6DD33E0FC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36C70E1-5F78-4104-9C48-811862EF1507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824B5007-E7C8-47D8-9D67-6E155A72790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F820A5B-F8B4-4947-A882-6667BDCB93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60FA391-9113-4B24-88F3-4FD236638B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067A643-94D7-4DFE-87EB-94391D828FFC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FF120AB-55BA-4CAB-8289-53553499567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E354105-7BB2-45E6-A8BB-FF03DCAC6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3DAB8770-F437-43F5-90E5-43F0BA88DE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9A3FAE9-6501-4072-8D4B-C97F3C7A3619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DC52E14-CC3B-48A1-8ABC-7970AC48876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23E03A2-8E1E-4394-BBB0-D655489EF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B7B4892C-8064-4BE7-A521-3C369B2C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D0DAFDD-F2F4-419F-8961-242BA9F55EC7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050A3095-7750-41AD-9EFA-6B710798C0E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05772E4-95B1-4668-AF3E-C40A50CA36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C7F11343-89CF-4A52-A679-BD3596B2C1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8AE0240-2B80-4E36-858C-C8895CEEF452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31C61A9-984B-478F-94D3-D7F614DEB8B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206838FD-00C4-4CD0-BB2F-7DBFAAE9E0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CAAD641A-925A-4555-963A-B9378FCB6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1DC73BD-4D41-4B90-84C9-0F9A9052BF38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55A69C5E-A256-45FA-AFC3-6765064A030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EA84784-5376-4A9A-9BC1-24C162397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646BFD5-4549-431D-BA33-1613DD2C4E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F59B614-E63C-46FB-9EAE-83DAF1C1E101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D93D5A6D-6462-4B32-B1A1-A7C882A530B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D6A5B2B-739D-44E7-A0A6-49440D042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B397614D-B94E-4B54-8ECA-AEA6FFD3EF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6D1851A-ED61-4A70-9575-6705168A37D2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D537CC8-A41F-40D7-A603-E6CF0518322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7BE2504-AD35-4025-9EEA-0DA69F3D70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73B6A6CD-83EB-40D2-B8BF-7D0A6F55FE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0566BBC-4993-484A-9C25-215201F13062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3A82DA2-F99A-43DC-B298-76555083AE3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4452FD7-7653-4D6F-820F-B64FC9773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A322EE4E-076D-4400-8A87-323C02FF6C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A60BA84-75BC-4BE4-AE4C-09FEE44D644D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C67855BC-BC7D-4C16-952E-E0F1F76100F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32D6589-34B4-4096-98D0-47F818E00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98E6E556-C0EB-481A-B9E0-E80B5DCD89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13B60B3-5C05-4EB6-BDE0-6D37B9A74CDB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B64A81F4-4A6B-466C-BDCE-8172B789664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1C6D3B8-E08E-4F90-812C-CF8A6D035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B311A6F4-3AF9-4A57-9F93-FFD2D529E8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2A0EF1F-51CA-423F-B0B6-82C9B110B5F0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4C6229B3-7D29-4F0A-9FB9-0A454F5D779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45A7EDE-EC06-441C-B6A4-4FB2982A2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8ADABFCF-63B8-440B-A785-4646F72707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D4E4CE5-E4EF-45AC-B940-F62A4CEEF02A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534F977D-CE3A-4376-B9D4-982B96E9B0E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5D5C07F-5021-4AB5-B6CB-985004CE5B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C3F0F5A8-A174-4D90-9493-E33D248B9A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95C54B5-0DC3-4B75-B27D-399FCDE25EDF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3DA6374D-8C0B-42C6-8C66-AD5A56A53AF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D0E36D5-E752-4F51-9564-BD2D709E6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B6621EB0-7CB3-4E59-9323-148C400BBC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2976976-16A7-4C9A-973B-F190C5CF43F0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11275782-1741-4D76-85D0-E98A27EDA03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ADD0B1D9-AB87-45EF-818F-0C1EC23D5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BE5BEE3C-5CF6-417D-AA58-19A52BA679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B82B729-34CB-471C-B222-C51C4954F5AA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40AF55FE-3AAD-4E3C-8028-A5EA7A153B1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23E8DE5-3EC3-4A3D-971A-A019B0957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8EEA4073-B140-4755-A62F-236D09AB40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CFC7C67-EE33-4A1E-A61D-221F9A76582B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80AE62AF-1144-40BE-81C2-682FB1E20D5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C00631F-5AC2-4E88-8E3D-25EB4F23C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087D000F-ED96-4EEA-B1F3-5F224D2FC3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808C187-54C7-4B2E-9B02-3CD31609FAC6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52FC14F1-9AEE-472E-A4A6-AAC6CE991CD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FBF8D36A-4725-4759-B503-AA4D126F5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DD4D84AA-0C0C-4E46-BA97-DF6983300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E3B01B3-596A-4280-B8FC-C9C11B254509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9EABB228-77A2-4F68-A41B-B53903D24FD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726536C2-849E-41C2-BA62-C3488179E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5104D36D-D850-491E-AD67-31CE472686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C31B935-E793-46E5-8C37-B6897637AD56}" type="slidenum">
              <a:rPr lang="en-US" altLang="it-IT"/>
              <a:pPr/>
              <a:t>26</a:t>
            </a:fld>
            <a:endParaRPr lang="en-US" altLang="it-IT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7CBE033C-F36D-4F14-857F-EDA2E4982E6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EBDC7677-D126-4E16-9B4C-0EE509F5D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C2F82D-BB79-49B7-ACED-2B9543B6671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8135A6C-5BEA-474C-8F60-FF34092603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F56DDD-2414-4C7F-9C03-38F706C6BBB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90894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002C334-AD15-4736-B842-B8B16BACABE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798CC2-64C9-4F00-8A76-EE3C791E34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551146-5EC7-4CC3-B832-F036595278E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91836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6B980C-1B30-4BC1-B744-85583717F7C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154B105-D309-4B90-B6E2-66ED382965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B0081D-5D87-4BC2-9192-92A68578EC2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1193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5427CE-2365-428F-9A27-0490F121CEB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77440-66DA-4BBA-A800-D24EF57D8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A768D2-458D-4FC6-9580-CD8D509173E9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2370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11718FE-9E29-486C-ADC8-83CEA848D8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996C9AF-1833-447D-8585-9D9998FE91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863862-CAC3-40BD-9025-4A8D252C6B0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9916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FC41A7F-BD45-4B6E-A362-10AF748674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5E4D5A-F6A4-413B-BB75-0CCA98B19CD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349D57-AB71-406F-8A11-295CFB9EBD3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68130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E2F7C4C-ED93-47D1-97E7-1607D2DEB7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4C400EC-6867-4D1F-9EE3-97E4B3F487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F49320-F9DB-41F3-B0ED-AF7E8218C6E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33228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124025-28F9-45E5-AB58-4CF6F020C50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7F62DE-34A6-4DEE-AB8F-340F5CA88BC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212EDF-5F35-4B3F-AF46-583859E0A91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3705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2F9AEC-BABC-427C-AC2B-F5BBFA9C635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C713C4-D256-4199-903A-B17A1E66AF5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FA9E01-A76D-4DF1-8156-55E52DA4FF5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4023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5EEB9A5-64B6-44AC-86F1-53FC1247B6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173634-21A7-4BBD-A335-D919305093D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21D944-DB7B-42CE-8ECD-3D8B6AF5A4E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9337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FE2DA9E-D5B3-4142-BE94-9CBD7F34603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2EE6F0-58E5-473A-9659-6371BCDFCB8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FF4F6B-B51C-4F3A-B46A-C3BD26DADF0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8346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14316F0-278C-48F4-9077-8D2B6E8EF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A12ABC-4B1F-4BF8-87B7-6EA223E1B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9FBFD2F-F7F4-4B1A-9123-6236539C41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47F43A5-F3EF-45A2-9895-A4949A4265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AB229E51-DCB5-4030-BE83-48F38266986A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355D39ED-46DD-48F0-92A7-E94511D62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B0BBF905-AC68-4C0D-B91A-ED1F4592E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92B1F391-79DA-494A-90EE-8EE18DD25B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Context-sensitive Analysis, Part II</a:t>
            </a:r>
            <a:br>
              <a:rPr lang="en-US" altLang="it-IT" sz="3200" i="1"/>
            </a:br>
            <a:r>
              <a:rPr lang="en-US" altLang="it-IT" sz="3200" i="1"/>
              <a:t>From AGs to ad-hoc methods</a:t>
            </a:r>
            <a:br>
              <a:rPr lang="en-US" altLang="it-IT" sz="3200" i="1"/>
            </a:br>
            <a:br>
              <a:rPr lang="en-US" altLang="it-IT" sz="1200" i="1"/>
            </a:br>
            <a:r>
              <a:rPr lang="en-US" altLang="it-IT" sz="3200" i="1"/>
              <a:t>Comp 412 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67580AF1-D2D0-49A4-BBC2-3D3DEF149F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30BD9C81-1B61-4D49-B411-FB339833F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747190FD-48D5-438D-A53A-6F03CCB86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3">
            <a:extLst>
              <a:ext uri="{FF2B5EF4-FFF2-40B4-BE49-F238E27FC236}">
                <a16:creationId xmlns:a16="http://schemas.microsoft.com/office/drawing/2014/main" id="{7A240F64-DA7F-47E5-BAAB-3AC70DE500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606644A9-3AF6-4C37-8F54-671B1F059E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0974DDD-4324-46F9-8A23-9BE7BCA950B4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8B7B3D5-0CAF-493D-8F4A-6411D5C3D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Moral of the Story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9B1F07E-08A2-4B0E-BC3E-B8A8C45ED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Non-local computation needed lots of supporting rules</a:t>
            </a:r>
          </a:p>
          <a:p>
            <a:pPr eaLnBrk="1" hangingPunct="1"/>
            <a:r>
              <a:rPr lang="en-US" altLang="it-IT"/>
              <a:t>Complex local computation was relatively easy</a:t>
            </a:r>
          </a:p>
          <a:p>
            <a:pPr eaLnBrk="1" hangingPunct="1">
              <a:spcBef>
                <a:spcPct val="200000"/>
              </a:spcBef>
              <a:buFont typeface="Times" panose="02020603050405020304" pitchFamily="18" charset="0"/>
              <a:buNone/>
            </a:pPr>
            <a:r>
              <a:rPr lang="en-US" altLang="it-IT"/>
              <a:t>The Problems</a:t>
            </a:r>
          </a:p>
          <a:p>
            <a:pPr eaLnBrk="1" hangingPunct="1"/>
            <a:r>
              <a:rPr lang="en-US" altLang="it-IT"/>
              <a:t>Copy rules increase cognitive overhead</a:t>
            </a:r>
          </a:p>
          <a:p>
            <a:pPr eaLnBrk="1" hangingPunct="1"/>
            <a:r>
              <a:rPr lang="en-US" altLang="it-IT"/>
              <a:t>Copy rules increase space requirements</a:t>
            </a:r>
          </a:p>
          <a:p>
            <a:pPr lvl="1" eaLnBrk="1" hangingPunct="1"/>
            <a:r>
              <a:rPr lang="en-US" altLang="it-IT"/>
              <a:t>Need copies of attributes</a:t>
            </a:r>
          </a:p>
          <a:p>
            <a:pPr lvl="1" eaLnBrk="1" hangingPunct="1"/>
            <a:r>
              <a:rPr lang="en-US" altLang="it-IT"/>
              <a:t>Can use pointers, for even more cognitive overhead</a:t>
            </a:r>
          </a:p>
          <a:p>
            <a:pPr eaLnBrk="1" hangingPunct="1"/>
            <a:r>
              <a:rPr lang="en-US" altLang="it-IT"/>
              <a:t>Result is an attributed tree              </a:t>
            </a:r>
            <a:r>
              <a:rPr lang="en-US" altLang="it-IT" i="1">
                <a:solidFill>
                  <a:srgbClr val="FF0065"/>
                </a:solidFill>
              </a:rPr>
              <a:t>(</a:t>
            </a:r>
            <a:r>
              <a:rPr lang="en-US" altLang="it-IT" sz="1800" i="1">
                <a:solidFill>
                  <a:srgbClr val="FF0065"/>
                </a:solidFill>
              </a:rPr>
              <a:t>somewhat subtle points</a:t>
            </a:r>
            <a:r>
              <a:rPr lang="en-US" altLang="it-IT" i="1">
                <a:solidFill>
                  <a:srgbClr val="FF0065"/>
                </a:solidFill>
              </a:rPr>
              <a:t>)</a:t>
            </a:r>
            <a:endParaRPr lang="en-US" altLang="it-IT"/>
          </a:p>
          <a:p>
            <a:pPr lvl="1" eaLnBrk="1" hangingPunct="1"/>
            <a:r>
              <a:rPr lang="en-US" altLang="it-IT"/>
              <a:t>Must build the parse tree</a:t>
            </a:r>
          </a:p>
          <a:p>
            <a:pPr lvl="1" eaLnBrk="1" hangingPunct="1"/>
            <a:r>
              <a:rPr lang="en-US" altLang="it-IT"/>
              <a:t>Either search tree for answers or copy them to the root</a:t>
            </a:r>
          </a:p>
        </p:txBody>
      </p:sp>
      <p:grpSp>
        <p:nvGrpSpPr>
          <p:cNvPr id="18437" name="Group 8">
            <a:extLst>
              <a:ext uri="{FF2B5EF4-FFF2-40B4-BE49-F238E27FC236}">
                <a16:creationId xmlns:a16="http://schemas.microsoft.com/office/drawing/2014/main" id="{250626A5-2B53-43EB-AE9C-519ACE71E309}"/>
              </a:ext>
            </a:extLst>
          </p:cNvPr>
          <p:cNvGrpSpPr>
            <a:grpSpLocks/>
          </p:cNvGrpSpPr>
          <p:nvPr/>
        </p:nvGrpSpPr>
        <p:grpSpPr bwMode="auto">
          <a:xfrm>
            <a:off x="5859463" y="2095500"/>
            <a:ext cx="3098800" cy="1077913"/>
            <a:chOff x="3691" y="1320"/>
            <a:chExt cx="1952" cy="679"/>
          </a:xfrm>
        </p:grpSpPr>
        <p:sp>
          <p:nvSpPr>
            <p:cNvPr id="18438" name="Text Box 5">
              <a:extLst>
                <a:ext uri="{FF2B5EF4-FFF2-40B4-BE49-F238E27FC236}">
                  <a16:creationId xmlns:a16="http://schemas.microsoft.com/office/drawing/2014/main" id="{ABA5CB11-A1F8-476B-AFBE-7B2BCD656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" y="1320"/>
              <a:ext cx="1721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A good rule of thumb is that the compiler touches all the space it allocates, usually multiple times</a:t>
              </a:r>
            </a:p>
          </p:txBody>
        </p:sp>
        <p:sp>
          <p:nvSpPr>
            <p:cNvPr id="18439" name="Line 6">
              <a:extLst>
                <a:ext uri="{FF2B5EF4-FFF2-40B4-BE49-F238E27FC236}">
                  <a16:creationId xmlns:a16="http://schemas.microsoft.com/office/drawing/2014/main" id="{630C17A5-7E0E-43C9-A87C-E83482137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5" y="1320"/>
              <a:ext cx="0" cy="662"/>
            </a:xfrm>
            <a:prstGeom prst="line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440" name="Freeform 7">
              <a:extLst>
                <a:ext uri="{FF2B5EF4-FFF2-40B4-BE49-F238E27FC236}">
                  <a16:creationId xmlns:a16="http://schemas.microsoft.com/office/drawing/2014/main" id="{99EF8B2F-C9D8-4DDC-9882-A2495948A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526"/>
              <a:ext cx="223" cy="473"/>
            </a:xfrm>
            <a:custGeom>
              <a:avLst/>
              <a:gdLst>
                <a:gd name="T0" fmla="*/ 223 w 223"/>
                <a:gd name="T1" fmla="*/ 0 h 473"/>
                <a:gd name="T2" fmla="*/ 17 w 223"/>
                <a:gd name="T3" fmla="*/ 292 h 473"/>
                <a:gd name="T4" fmla="*/ 120 w 223"/>
                <a:gd name="T5" fmla="*/ 267 h 473"/>
                <a:gd name="T6" fmla="*/ 0 w 223"/>
                <a:gd name="T7" fmla="*/ 473 h 47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3"/>
                <a:gd name="T13" fmla="*/ 0 h 473"/>
                <a:gd name="T14" fmla="*/ 223 w 223"/>
                <a:gd name="T15" fmla="*/ 473 h 47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3" h="473">
                  <a:moveTo>
                    <a:pt x="223" y="0"/>
                  </a:moveTo>
                  <a:cubicBezTo>
                    <a:pt x="128" y="124"/>
                    <a:pt x="34" y="248"/>
                    <a:pt x="17" y="292"/>
                  </a:cubicBezTo>
                  <a:cubicBezTo>
                    <a:pt x="0" y="336"/>
                    <a:pt x="123" y="237"/>
                    <a:pt x="120" y="267"/>
                  </a:cubicBezTo>
                  <a:cubicBezTo>
                    <a:pt x="117" y="297"/>
                    <a:pt x="58" y="385"/>
                    <a:pt x="0" y="473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>
            <a:extLst>
              <a:ext uri="{FF2B5EF4-FFF2-40B4-BE49-F238E27FC236}">
                <a16:creationId xmlns:a16="http://schemas.microsoft.com/office/drawing/2014/main" id="{44422CAB-011F-41EA-A6A8-B06F5521CB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61C641B6-647F-4FDC-A0C9-BF3778CECD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0BF3968-BA1E-498B-AF43-A3A42AECFFB2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8249456-4147-4761-8A78-E6A32B7B2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Addressing the Problem 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17214C1-A4C3-41F2-B5B0-1A29C038A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52525"/>
            <a:ext cx="7772400" cy="4953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If you gave the problem of estimating cycle counts to a competent junior or senior CS major, …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Introduce a central repository for facts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Table of names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Field in table for loaded/not loaded state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Avoids all the copy rules, allocation &amp; storage headaches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All inter-assignment attribute flow is through table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Clean, efficient implementation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Good techniques for implementing the table        </a:t>
            </a:r>
            <a:r>
              <a:rPr lang="en-US" altLang="it-IT" sz="1600" i="1">
                <a:solidFill>
                  <a:srgbClr val="FF0065"/>
                </a:solidFill>
              </a:rPr>
              <a:t>(hashing,</a:t>
            </a:r>
            <a:r>
              <a:rPr lang="en-US" altLang="it-IT" sz="1000" i="1">
                <a:solidFill>
                  <a:srgbClr val="FF0065"/>
                </a:solidFill>
              </a:rPr>
              <a:t> </a:t>
            </a:r>
            <a:r>
              <a:rPr lang="en-US" altLang="it-IT" sz="1600" i="1">
                <a:solidFill>
                  <a:srgbClr val="FF0065"/>
                </a:solidFill>
              </a:rPr>
              <a:t>§</a:t>
            </a:r>
            <a:r>
              <a:rPr lang="en-US" altLang="it-IT" sz="1200" i="1">
                <a:solidFill>
                  <a:srgbClr val="FF0065"/>
                </a:solidFill>
              </a:rPr>
              <a:t> </a:t>
            </a:r>
            <a:r>
              <a:rPr lang="en-US" altLang="it-IT" sz="1600" i="1">
                <a:solidFill>
                  <a:srgbClr val="FF0065"/>
                </a:solidFill>
              </a:rPr>
              <a:t>B.3)</a:t>
            </a:r>
            <a:endParaRPr lang="en-US" altLang="it-IT" b="1"/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When it is done, information is in the table !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Cures most of the problems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AF975-BC33-4476-9514-06E3BC369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257800"/>
            <a:ext cx="754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solidFill>
                  <a:srgbClr val="003C75"/>
                </a:solidFill>
              </a:rPr>
              <a:t>Unfortunately, this design violates the functional paradigm of an AG.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EBD30-7B27-4DF9-B149-92EE6CFCA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38800"/>
            <a:ext cx="3581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solidFill>
                  <a:srgbClr val="003C75"/>
                </a:solidFill>
              </a:rPr>
              <a:t>Do we care?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9EFF2A72-9388-4189-9105-FBCB970E5C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4172D15C-CAA1-455D-B0F8-D3553B3B41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F0BF1A6-6A60-4D4F-B234-3C4DDF247E5D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0F32415-2AE4-43C1-83E8-C9EC2FB1A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Realist’s Alternative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9FDB48D-1E1D-465E-B6DF-6245BC7CB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003C75"/>
                </a:solidFill>
              </a:rPr>
              <a:t>Ad-hoc </a:t>
            </a:r>
            <a:r>
              <a:rPr lang="en-US" altLang="it-IT">
                <a:solidFill>
                  <a:srgbClr val="003C75"/>
                </a:solidFill>
              </a:rPr>
              <a:t>syntax-directed translation</a:t>
            </a:r>
          </a:p>
          <a:p>
            <a:pPr eaLnBrk="1" hangingPunct="1"/>
            <a:r>
              <a:rPr lang="en-US" altLang="it-IT"/>
              <a:t>Build on bottom-up, shift-reduce parser</a:t>
            </a:r>
          </a:p>
          <a:p>
            <a:pPr eaLnBrk="1" hangingPunct="1"/>
            <a:r>
              <a:rPr lang="en-US" altLang="it-IT"/>
              <a:t>Associate a snippet of code with each production</a:t>
            </a:r>
          </a:p>
          <a:p>
            <a:pPr eaLnBrk="1" hangingPunct="1"/>
            <a:r>
              <a:rPr lang="en-US" altLang="it-IT"/>
              <a:t>At each reduction, the corresponding snippet runs</a:t>
            </a:r>
          </a:p>
          <a:p>
            <a:pPr eaLnBrk="1" hangingPunct="1"/>
            <a:r>
              <a:rPr lang="en-US" altLang="it-IT"/>
              <a:t>Allowing arbitrary code provides complete flexibility</a:t>
            </a:r>
          </a:p>
          <a:p>
            <a:pPr lvl="1" eaLnBrk="1" hangingPunct="1"/>
            <a:r>
              <a:rPr lang="en-US" altLang="it-IT"/>
              <a:t>Includes ability to do tasteless &amp; bad things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To make this work</a:t>
            </a:r>
          </a:p>
          <a:p>
            <a:pPr eaLnBrk="1" hangingPunct="1"/>
            <a:r>
              <a:rPr lang="en-US" altLang="it-IT"/>
              <a:t>Need names for attributes of each symbol on </a:t>
            </a:r>
            <a:r>
              <a:rPr lang="en-US" altLang="it-IT" i="1"/>
              <a:t>lhs </a:t>
            </a:r>
            <a:r>
              <a:rPr lang="en-US" altLang="it-IT"/>
              <a:t>&amp; </a:t>
            </a:r>
            <a:r>
              <a:rPr lang="en-US" altLang="it-IT" i="1"/>
              <a:t>rhs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Typically, one attribute passed through parser + arbitrary code (structures, globals, statics, …)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Yacc introduced </a:t>
            </a:r>
            <a:r>
              <a:rPr lang="en-US" altLang="it-IT" sz="1600" b="1"/>
              <a:t>$$, $1,  $2, … $n</a:t>
            </a:r>
            <a:r>
              <a:rPr lang="en-US" altLang="it-IT"/>
              <a:t>, left to right</a:t>
            </a:r>
          </a:p>
          <a:p>
            <a:pPr eaLnBrk="1" hangingPunct="1"/>
            <a:r>
              <a:rPr lang="en-US" altLang="it-IT"/>
              <a:t>Need an evaluation scheme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Fits nicely into </a:t>
            </a:r>
            <a:r>
              <a:rPr lang="en-US" altLang="it-IT" sz="1600" b="1"/>
              <a:t>LR(1)</a:t>
            </a:r>
            <a:r>
              <a:rPr lang="en-US" altLang="it-IT" b="1"/>
              <a:t> </a:t>
            </a:r>
            <a:r>
              <a:rPr lang="en-US" altLang="it-IT"/>
              <a:t>parsing 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19A1B-8F1D-4BFA-B7B1-6CE8C7FA769B}"/>
              </a:ext>
            </a:extLst>
          </p:cNvPr>
          <p:cNvSpPr txBox="1"/>
          <p:nvPr/>
        </p:nvSpPr>
        <p:spPr>
          <a:xfrm>
            <a:off x="7543800" y="1371600"/>
            <a:ext cx="1447800" cy="738188"/>
          </a:xfrm>
          <a:prstGeom prst="rect">
            <a:avLst/>
          </a:prstGeom>
          <a:solidFill>
            <a:srgbClr val="FFFFFF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Similar ideas work for top-down parsers…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>
            <a:extLst>
              <a:ext uri="{FF2B5EF4-FFF2-40B4-BE49-F238E27FC236}">
                <a16:creationId xmlns:a16="http://schemas.microsoft.com/office/drawing/2014/main" id="{B60F86FC-232D-4324-B52E-0ED13C4104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E73ADBDD-F4BB-44D3-AE92-A05A21768E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7EEF69D-6294-4A4D-A985-6DD20D70312D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EAD8D09-7444-435A-89C8-F64B4007D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Reworking the Example          </a:t>
            </a:r>
            <a:r>
              <a:rPr lang="en-US" altLang="it-IT" sz="2000"/>
              <a:t>(</a:t>
            </a:r>
            <a:r>
              <a:rPr lang="en-US" altLang="it-IT" sz="2000" i="1"/>
              <a:t>with load tracking</a:t>
            </a:r>
            <a:r>
              <a:rPr lang="en-US" altLang="it-IT" sz="2000"/>
              <a:t>)</a:t>
            </a:r>
            <a:endParaRPr lang="en-US" altLang="it-IT"/>
          </a:p>
        </p:txBody>
      </p:sp>
      <p:graphicFrame>
        <p:nvGraphicFramePr>
          <p:cNvPr id="25717" name="Group 117">
            <a:extLst>
              <a:ext uri="{FF2B5EF4-FFF2-40B4-BE49-F238E27FC236}">
                <a16:creationId xmlns:a16="http://schemas.microsoft.com/office/drawing/2014/main" id="{656D2A3C-4948-4165-945F-033993265FEB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82688"/>
          <a:ext cx="6629400" cy="4828032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Assign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=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cost +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(store)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cost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cost +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(add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cost +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(sub)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cost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cost +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(mult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cost +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(div)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cost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cost +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(loadI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hash(Ident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if (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Table[i].loaded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= false)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then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     cost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cost +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(load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Table[i].loaded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}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604" name="Text Box 4">
            <a:extLst>
              <a:ext uri="{FF2B5EF4-FFF2-40B4-BE49-F238E27FC236}">
                <a16:creationId xmlns:a16="http://schemas.microsoft.com/office/drawing/2014/main" id="{E0655CCF-B2E2-4C55-85F9-AECA51845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787525"/>
            <a:ext cx="19050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looks cleaner &amp; simpler than the AG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sol’n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! </a:t>
            </a:r>
          </a:p>
        </p:txBody>
      </p:sp>
      <p:sp>
        <p:nvSpPr>
          <p:cNvPr id="24582" name="Text Box 5">
            <a:extLst>
              <a:ext uri="{FF2B5EF4-FFF2-40B4-BE49-F238E27FC236}">
                <a16:creationId xmlns:a16="http://schemas.microsoft.com/office/drawing/2014/main" id="{1763810F-40CA-400C-84CC-C6A12840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969000"/>
            <a:ext cx="1981200" cy="584200"/>
          </a:xfrm>
          <a:prstGeom prst="rect">
            <a:avLst/>
          </a:prstGeom>
          <a:solidFill>
            <a:srgbClr val="BFBFB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>
                <a:solidFill>
                  <a:srgbClr val="003C75"/>
                </a:solidFill>
              </a:rPr>
              <a:t>One missing detail: initializing cost </a:t>
            </a: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9AD74FFF-A525-4511-A513-6BEB929992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DD0A1885-AB5D-4F0C-AE4F-6BA65E8A96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9775110-4778-48F7-8CAA-C0ED6D88085B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6F185D0-C345-48C4-8C65-A6611ECD0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Reworking the Example          </a:t>
            </a:r>
            <a:r>
              <a:rPr lang="en-US" altLang="it-IT" sz="2000"/>
              <a:t>(</a:t>
            </a:r>
            <a:r>
              <a:rPr lang="en-US" altLang="it-IT" sz="2000" i="1"/>
              <a:t>with load tracking</a:t>
            </a:r>
            <a:r>
              <a:rPr lang="en-US" altLang="it-IT" sz="2000"/>
              <a:t>)</a:t>
            </a:r>
            <a:endParaRPr lang="en-US" altLang="it-IT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A4D91712-0A7E-4275-BA59-92C0D6AF1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4290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C8FEFF1B-B806-4120-90E4-8D879FD9F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35413"/>
            <a:ext cx="76962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Before parser can reach Block, it must reduce Init</a:t>
            </a:r>
          </a:p>
          <a:p>
            <a:pPr>
              <a:spcBef>
                <a:spcPct val="5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Reduction by Init sets cost to zero</a:t>
            </a:r>
          </a:p>
          <a:p>
            <a:pPr>
              <a:spcBef>
                <a:spcPct val="5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/>
              <a:t>We split the production to create a reduction in the middle — for the sole purpose of hanging an action there. This trick has many uses.</a:t>
            </a:r>
          </a:p>
        </p:txBody>
      </p:sp>
      <p:graphicFrame>
        <p:nvGraphicFramePr>
          <p:cNvPr id="27792" name="Group 144">
            <a:extLst>
              <a:ext uri="{FF2B5EF4-FFF2-40B4-BE49-F238E27FC236}">
                <a16:creationId xmlns:a16="http://schemas.microsoft.com/office/drawing/2014/main" id="{81C1730A-A17A-4914-A9A7-1ADDCA6CCEBF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447800"/>
          <a:ext cx="6629400" cy="1554734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Start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Init Block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Assign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=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cost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cost +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(store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31" name="TextBox 8">
            <a:extLst>
              <a:ext uri="{FF2B5EF4-FFF2-40B4-BE49-F238E27FC236}">
                <a16:creationId xmlns:a16="http://schemas.microsoft.com/office/drawing/2014/main" id="{676904DA-A8A2-4B02-A5DF-1F97F4CBA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200400"/>
            <a:ext cx="4800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i="1">
                <a:solidFill>
                  <a:srgbClr val="B025A6"/>
                </a:solidFill>
              </a:rPr>
              <a:t>and so on as shown on previous slide…</a:t>
            </a:r>
            <a:endParaRPr lang="en-US" altLang="it-IT"/>
          </a:p>
          <a:p>
            <a:pPr algn="ctr"/>
            <a:endParaRPr lang="en-US" altLang="it-IT"/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EDC076B2-81F9-4137-82C6-07C91A8ED2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5D0887EF-AD75-4E24-A36E-9BB0AEF0C3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2866250-2E78-4538-A524-3D384D0CB9E2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61BCB50-3C02-4E86-819D-F1EC6A0CD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Reworking the Example          </a:t>
            </a:r>
            <a:r>
              <a:rPr lang="en-US" altLang="it-IT" sz="2000"/>
              <a:t>(</a:t>
            </a:r>
            <a:r>
              <a:rPr lang="en-US" altLang="it-IT" sz="2000" i="1"/>
              <a:t>with load tracking</a:t>
            </a:r>
            <a:r>
              <a:rPr lang="en-US" altLang="it-IT" sz="2000"/>
              <a:t>)</a:t>
            </a:r>
            <a:endParaRPr lang="en-US" altLang="it-IT"/>
          </a:p>
        </p:txBody>
      </p:sp>
      <p:graphicFrame>
        <p:nvGraphicFramePr>
          <p:cNvPr id="29798" name="Group 102">
            <a:extLst>
              <a:ext uri="{FF2B5EF4-FFF2-40B4-BE49-F238E27FC236}">
                <a16:creationId xmlns:a16="http://schemas.microsoft.com/office/drawing/2014/main" id="{C94E81DF-4F42-4D04-9191-F93E1A0C0AAA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193799"/>
          <a:ext cx="6629400" cy="5047488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Assign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$1 + $2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$1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=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(store) + $3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$1 +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(add) + $3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$1 +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(sub) + $3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$1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$1 +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(mult) + $3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$1 +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(div) + $3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$1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$2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(loadI)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hash(Ident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if (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Table[i].loaded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= false)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then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     $$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(load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Table[i].loaded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else $$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677" name="Text Box 4">
            <a:extLst>
              <a:ext uri="{FF2B5EF4-FFF2-40B4-BE49-F238E27FC236}">
                <a16:creationId xmlns:a16="http://schemas.microsoft.com/office/drawing/2014/main" id="{0DE8025C-7095-4EF3-96EF-5CF9E358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787525"/>
            <a:ext cx="1905000" cy="1169988"/>
          </a:xfrm>
          <a:prstGeom prst="rect">
            <a:avLst/>
          </a:prstGeom>
          <a:solidFill>
            <a:srgbClr val="BFBFB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003C75"/>
                </a:solidFill>
              </a:rPr>
              <a:t>This version passes the values through attributes.  It avoids the need to initialize “cost”</a:t>
            </a: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4424B033-40C7-42CE-AA4D-96CD8728DF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2263619C-1575-45FC-95F5-2AA6EC9937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0560A39-2D90-4623-9E05-EBF61D230D63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601F0B1-70AC-47A3-B5AB-5A6C9804F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it-IT"/>
              <a:t>Example — Assigning Types in </a:t>
            </a:r>
            <a:br>
              <a:rPr lang="en-US" altLang="it-IT"/>
            </a:br>
            <a:r>
              <a:rPr lang="en-US" altLang="it-IT"/>
              <a:t>                  Expression Nodes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B133607-D976-4DB7-86B8-0F4295F43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Assume typing functions or tables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i="1"/>
              <a:t>     F</a:t>
            </a:r>
            <a:r>
              <a:rPr lang="en-US" altLang="it-IT" i="1" baseline="-25000"/>
              <a:t>+</a:t>
            </a:r>
            <a:r>
              <a:rPr lang="en-US" altLang="it-IT" i="1"/>
              <a:t>, F</a:t>
            </a:r>
            <a:r>
              <a:rPr lang="en-US" altLang="it-IT" i="1" baseline="-25000"/>
              <a:t>−</a:t>
            </a:r>
            <a:r>
              <a:rPr lang="en-US" altLang="it-IT" i="1"/>
              <a:t>, F</a:t>
            </a:r>
            <a:r>
              <a:rPr lang="en-US" altLang="it-IT" i="1" baseline="-25000"/>
              <a:t>×</a:t>
            </a:r>
            <a:r>
              <a:rPr lang="en-US" altLang="it-IT" i="1"/>
              <a:t>, </a:t>
            </a:r>
            <a:r>
              <a:rPr lang="en-US" altLang="it-IT"/>
              <a:t>and</a:t>
            </a:r>
            <a:r>
              <a:rPr lang="en-US" altLang="it-IT" i="1"/>
              <a:t> F</a:t>
            </a:r>
            <a:r>
              <a:rPr lang="en-US" altLang="it-IT" i="1" baseline="-25000"/>
              <a:t>÷</a:t>
            </a:r>
            <a:endParaRPr lang="en-US" altLang="it-IT"/>
          </a:p>
        </p:txBody>
      </p:sp>
      <p:graphicFrame>
        <p:nvGraphicFramePr>
          <p:cNvPr id="32084" name="Group 340">
            <a:extLst>
              <a:ext uri="{FF2B5EF4-FFF2-40B4-BE49-F238E27FC236}">
                <a16:creationId xmlns:a16="http://schemas.microsoft.com/office/drawing/2014/main" id="{0C704D19-2596-42E0-8FF7-B367E82F4231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2616196"/>
          <a:ext cx="6629400" cy="3479804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88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($1,$3);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</a:t>
                      </a:r>
                      <a:r>
                        <a:rPr kumimoji="0" 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−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($1,$3);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×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($1,$3);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</a:t>
                      </a:r>
                      <a:r>
                        <a:rPr kumimoji="0" 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÷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($1,$3);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$2;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type of num;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type of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993257-A32B-44F2-84D7-CAAA65382203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245531"/>
          <a:ext cx="3581400" cy="2057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tableStyleId>{5C22544A-7EE6-4342-B048-85BDC9FD1C3A}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sz="2000" b="1" baseline="-25000" dirty="0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sz="14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 16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 32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 16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err="1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 16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err="1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 32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 32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err="1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 32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err="1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 32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Float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Float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Double</a:t>
                      </a:r>
                      <a:r>
                        <a:rPr lang="en-US" sz="1200" b="0" i="0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Double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Double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000000"/>
                          </a:solidFill>
                        </a:rPr>
                        <a:t>Double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23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>
            <a:extLst>
              <a:ext uri="{FF2B5EF4-FFF2-40B4-BE49-F238E27FC236}">
                <a16:creationId xmlns:a16="http://schemas.microsoft.com/office/drawing/2014/main" id="{8171DF7F-A1CD-4011-8E42-E7C3EA40C8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12B41AB6-921D-43F1-8E78-12D6FD9DF8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0D41550-B3A6-4606-A641-B02EE4379966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B6F45E0A-649E-43A9-896C-7CFF561D9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— Building an Abstract Syntax Tree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508DCD39-9A72-4410-B000-BD295CDEB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Assume constructors for each node</a:t>
            </a:r>
          </a:p>
          <a:p>
            <a:pPr eaLnBrk="1" hangingPunct="1"/>
            <a:r>
              <a:rPr lang="en-US" altLang="it-IT"/>
              <a:t>Assume stack holds pointers to nodes</a:t>
            </a:r>
          </a:p>
          <a:p>
            <a:pPr eaLnBrk="1" hangingPunct="1"/>
            <a:r>
              <a:rPr lang="en-US" altLang="it-IT"/>
              <a:t>Assume yacc syntax</a:t>
            </a:r>
          </a:p>
        </p:txBody>
      </p:sp>
      <p:graphicFrame>
        <p:nvGraphicFramePr>
          <p:cNvPr id="32084" name="Group 340">
            <a:extLst>
              <a:ext uri="{FF2B5EF4-FFF2-40B4-BE49-F238E27FC236}">
                <a16:creationId xmlns:a16="http://schemas.microsoft.com/office/drawing/2014/main" id="{DE8B6732-9439-45A2-99DF-BDDBA2F4447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7239000" cy="3479804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MakeAddNode($1,$3);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MakeSubNode($1,$3);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MakeMulNode($1,$3);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MakeDivNode($1,$3);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$2;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MakeNumNode(token);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MakeIdNode(token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8F9809AA-1A81-4CDB-AF0F-07CA8E1BA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23444C05-AA1D-44CF-9DC1-546DE0692E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8467C47-F6C7-4241-AAAA-5E65FCC58EF4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6BF2A73E-C64E-4AB2-9B38-4C85A942D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— Emitting ILOC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527C076-050F-4AC5-A200-D074410EDB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Assume </a:t>
            </a:r>
            <a:r>
              <a:rPr lang="en-US" altLang="it-IT" i="1"/>
              <a:t>NextRegister() </a:t>
            </a:r>
            <a:r>
              <a:rPr lang="en-US" altLang="it-IT"/>
              <a:t>returns a virtual register name</a:t>
            </a:r>
          </a:p>
          <a:p>
            <a:pPr eaLnBrk="1" hangingPunct="1"/>
            <a:r>
              <a:rPr lang="en-US" altLang="it-IT"/>
              <a:t>Assume </a:t>
            </a:r>
            <a:r>
              <a:rPr lang="en-US" altLang="it-IT" i="1"/>
              <a:t>Emit()</a:t>
            </a:r>
            <a:r>
              <a:rPr lang="en-US" altLang="it-IT"/>
              <a:t> can format assembly code</a:t>
            </a:r>
            <a:endParaRPr lang="en-US" altLang="it-IT" i="1"/>
          </a:p>
        </p:txBody>
      </p:sp>
      <p:graphicFrame>
        <p:nvGraphicFramePr>
          <p:cNvPr id="32084" name="Group 340">
            <a:extLst>
              <a:ext uri="{FF2B5EF4-FFF2-40B4-BE49-F238E27FC236}">
                <a16:creationId xmlns:a16="http://schemas.microsoft.com/office/drawing/2014/main" id="{4EB48202-1936-4FB5-9EF7-06AD5C173D7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264283"/>
          <a:ext cx="6629400" cy="3374518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88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NextRegister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Emit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(add, $1,$3, $$);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NextRegister();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Emit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(sub, $1, $3, $$);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NextRegister()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Emit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(mult,$1, $3, $$)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NextRegister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()’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Emit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(div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 $1, $3, $$);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DA29D7-4B50-4C51-A2D6-FE8CDBCAB6D4}"/>
              </a:ext>
            </a:extLst>
          </p:cNvPr>
          <p:cNvSpPr/>
          <p:nvPr/>
        </p:nvSpPr>
        <p:spPr bwMode="auto">
          <a:xfrm>
            <a:off x="609600" y="1905000"/>
            <a:ext cx="7924800" cy="8382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36866" name="Footer Placeholder 3">
            <a:extLst>
              <a:ext uri="{FF2B5EF4-FFF2-40B4-BE49-F238E27FC236}">
                <a16:creationId xmlns:a16="http://schemas.microsoft.com/office/drawing/2014/main" id="{341B978B-FF27-403B-8860-3367064CD0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7" name="Slide Number Placeholder 4">
            <a:extLst>
              <a:ext uri="{FF2B5EF4-FFF2-40B4-BE49-F238E27FC236}">
                <a16:creationId xmlns:a16="http://schemas.microsoft.com/office/drawing/2014/main" id="{C06B758E-554D-4FD0-B541-681039513C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BDBB529-CEE9-40B8-8438-F12C9A0DD643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8C429B3A-3FFD-4B30-B5EC-70AC0639FD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— Emitting ILOC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6F897467-5CB9-487E-A47F-419A11AA9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olidFill>
                  <a:srgbClr val="7F7F7F"/>
                </a:solidFill>
              </a:rPr>
              <a:t>Assume </a:t>
            </a:r>
            <a:r>
              <a:rPr lang="en-US" altLang="it-IT" i="1">
                <a:solidFill>
                  <a:srgbClr val="7F7F7F"/>
                </a:solidFill>
              </a:rPr>
              <a:t>NextRegister() </a:t>
            </a:r>
            <a:r>
              <a:rPr lang="en-US" altLang="it-IT">
                <a:solidFill>
                  <a:srgbClr val="7F7F7F"/>
                </a:solidFill>
              </a:rPr>
              <a:t>returns a virtual register name</a:t>
            </a:r>
          </a:p>
          <a:p>
            <a:pPr eaLnBrk="1" hangingPunct="1"/>
            <a:r>
              <a:rPr lang="en-US" altLang="it-IT">
                <a:solidFill>
                  <a:srgbClr val="7F7F7F"/>
                </a:solidFill>
              </a:rPr>
              <a:t>Assume </a:t>
            </a:r>
            <a:r>
              <a:rPr lang="en-US" altLang="it-IT" i="1">
                <a:solidFill>
                  <a:srgbClr val="7F7F7F"/>
                </a:solidFill>
              </a:rPr>
              <a:t>Emit()</a:t>
            </a:r>
            <a:r>
              <a:rPr lang="en-US" altLang="it-IT">
                <a:solidFill>
                  <a:srgbClr val="7F7F7F"/>
                </a:solidFill>
              </a:rPr>
              <a:t> can format assembly code</a:t>
            </a:r>
          </a:p>
          <a:p>
            <a:pPr eaLnBrk="1" hangingPunct="1"/>
            <a:r>
              <a:rPr lang="en-US" altLang="it-IT"/>
              <a:t>Assume </a:t>
            </a:r>
            <a:r>
              <a:rPr lang="en-US" altLang="it-IT" i="1"/>
              <a:t>EmitLoad() </a:t>
            </a:r>
            <a:r>
              <a:rPr lang="en-US" altLang="it-IT"/>
              <a:t>handles addressability &amp; gets a value into a register</a:t>
            </a:r>
          </a:p>
        </p:txBody>
      </p:sp>
      <p:graphicFrame>
        <p:nvGraphicFramePr>
          <p:cNvPr id="32084" name="Group 340">
            <a:extLst>
              <a:ext uri="{FF2B5EF4-FFF2-40B4-BE49-F238E27FC236}">
                <a16:creationId xmlns:a16="http://schemas.microsoft.com/office/drawing/2014/main" id="{A99272F6-9D16-43C3-83F8-28B62B53DB3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81400"/>
          <a:ext cx="6629400" cy="1519682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88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$2;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NextRegister()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Emit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(loadi,Value(lexeme),$$);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NextRegister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()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EmitLoad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(ident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,$$);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>
            <a:extLst>
              <a:ext uri="{FF2B5EF4-FFF2-40B4-BE49-F238E27FC236}">
                <a16:creationId xmlns:a16="http://schemas.microsoft.com/office/drawing/2014/main" id="{FD3136D7-0B01-4DA7-88AE-EBA8BC5809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27D1992E-AD6F-4193-8C71-4E0788259A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FB9D507-4524-428A-B0B2-38E1B792FC11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603CDFFF-AA11-4B7F-8DD3-4B5BD3FF3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Reality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379C12F1-E9CC-4B30-996C-4F7ECEB19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Most parsers are based on this </a:t>
            </a:r>
            <a:r>
              <a:rPr lang="en-US" altLang="it-IT" i="1"/>
              <a:t>ad-hoc </a:t>
            </a:r>
            <a:r>
              <a:rPr lang="en-US" altLang="it-IT"/>
              <a:t>style of context-sensitive analysis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Advantages</a:t>
            </a:r>
          </a:p>
          <a:p>
            <a:pPr eaLnBrk="1" hangingPunct="1"/>
            <a:r>
              <a:rPr lang="en-US" altLang="it-IT"/>
              <a:t>Addresses the shortcomings of the AG paradigm</a:t>
            </a:r>
          </a:p>
          <a:p>
            <a:pPr eaLnBrk="1" hangingPunct="1"/>
            <a:r>
              <a:rPr lang="en-US" altLang="it-IT"/>
              <a:t>Efficient, flexible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Disadvantages</a:t>
            </a:r>
          </a:p>
          <a:p>
            <a:pPr eaLnBrk="1" hangingPunct="1"/>
            <a:r>
              <a:rPr lang="en-US" altLang="it-IT"/>
              <a:t>Must write the code with little assistance</a:t>
            </a:r>
          </a:p>
          <a:p>
            <a:pPr eaLnBrk="1" hangingPunct="1"/>
            <a:r>
              <a:rPr lang="en-US" altLang="it-IT"/>
              <a:t>Programmer deals directly with the details</a:t>
            </a:r>
          </a:p>
          <a:p>
            <a:pPr eaLnBrk="1" hangingPunct="1">
              <a:spcBef>
                <a:spcPct val="200000"/>
              </a:spcBef>
              <a:buFont typeface="Times" panose="02020603050405020304" pitchFamily="18" charset="0"/>
              <a:buNone/>
            </a:pPr>
            <a:r>
              <a:rPr lang="en-US" altLang="it-IT"/>
              <a:t>Most parser generators support a yacc-like notation </a:t>
            </a: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3">
            <a:extLst>
              <a:ext uri="{FF2B5EF4-FFF2-40B4-BE49-F238E27FC236}">
                <a16:creationId xmlns:a16="http://schemas.microsoft.com/office/drawing/2014/main" id="{A7DC5F53-1646-4454-9298-FAD40A1E93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37C9947C-1031-44B4-BC4A-DB5CA67BB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68AAECC-C435-476F-8AB2-0D5C4D1C6C0F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BE8F7D86-BEE8-4A6C-8918-5D0515C7F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0"/>
              </a:spcBef>
            </a:pPr>
            <a:r>
              <a:rPr lang="en-US" altLang="it-IT">
                <a:solidFill>
                  <a:schemeClr val="tx1"/>
                </a:solidFill>
              </a:rPr>
              <a:t>Typical Uses 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A24E258F-A00D-4A50-9AEC-7453A0B522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it-IT"/>
              <a:t>Building a symbol table</a:t>
            </a:r>
          </a:p>
          <a:p>
            <a:pPr lvl="1" eaLnBrk="1" hangingPunct="1"/>
            <a:r>
              <a:rPr lang="en-US" altLang="it-IT"/>
              <a:t>Enter declaration information as processed</a:t>
            </a:r>
          </a:p>
          <a:p>
            <a:pPr lvl="1" eaLnBrk="1" hangingPunct="1"/>
            <a:r>
              <a:rPr lang="en-US" altLang="it-IT"/>
              <a:t>At end of declaration syntax, do some post processing</a:t>
            </a:r>
          </a:p>
          <a:p>
            <a:pPr lvl="1" eaLnBrk="1" hangingPunct="1"/>
            <a:r>
              <a:rPr lang="en-US" altLang="it-IT"/>
              <a:t>Use table to check errors as parsing progresses</a:t>
            </a:r>
          </a:p>
          <a:p>
            <a:pPr eaLnBrk="1" hangingPunct="1">
              <a:spcBef>
                <a:spcPct val="150000"/>
              </a:spcBef>
            </a:pPr>
            <a:r>
              <a:rPr lang="en-US" altLang="it-IT"/>
              <a:t>Simple error checking/type checking</a:t>
            </a:r>
          </a:p>
          <a:p>
            <a:pPr lvl="1" eaLnBrk="1" hangingPunct="1"/>
            <a:r>
              <a:rPr lang="en-US" altLang="it-IT"/>
              <a:t>Define before use </a:t>
            </a:r>
            <a:r>
              <a:rPr lang="en-US" altLang="it-IT">
                <a:sym typeface="Symbol" panose="05050102010706020507" pitchFamily="18" charset="2"/>
              </a:rPr>
              <a:t> lookup on reference</a:t>
            </a:r>
            <a:endParaRPr lang="en-US" altLang="it-IT"/>
          </a:p>
          <a:p>
            <a:pPr lvl="1" eaLnBrk="1" hangingPunct="1"/>
            <a:r>
              <a:rPr lang="en-US" altLang="it-IT"/>
              <a:t>Dimension, type, ... </a:t>
            </a:r>
            <a:r>
              <a:rPr lang="en-US" altLang="it-IT">
                <a:sym typeface="Symbol" panose="05050102010706020507" pitchFamily="18" charset="2"/>
              </a:rPr>
              <a:t> check as encountered</a:t>
            </a:r>
            <a:endParaRPr lang="en-US" altLang="it-IT"/>
          </a:p>
          <a:p>
            <a:pPr lvl="1" eaLnBrk="1" hangingPunct="1"/>
            <a:r>
              <a:rPr lang="en-US" altLang="it-IT"/>
              <a:t>Type conformability of expression </a:t>
            </a:r>
            <a:r>
              <a:rPr lang="en-US" altLang="it-IT">
                <a:sym typeface="Symbol" panose="05050102010706020507" pitchFamily="18" charset="2"/>
              </a:rPr>
              <a:t></a:t>
            </a:r>
            <a:r>
              <a:rPr lang="en-US" altLang="it-IT"/>
              <a:t> bottom-up walk</a:t>
            </a:r>
          </a:p>
          <a:p>
            <a:pPr lvl="1" eaLnBrk="1" hangingPunct="1"/>
            <a:r>
              <a:rPr lang="en-US" altLang="it-IT"/>
              <a:t>Procedure interfaces </a:t>
            </a:r>
            <a:r>
              <a:rPr lang="en-US" altLang="it-IT">
                <a:sym typeface="Symbol" panose="05050102010706020507" pitchFamily="18" charset="2"/>
              </a:rPr>
              <a:t>are harder</a:t>
            </a:r>
          </a:p>
          <a:p>
            <a:pPr lvl="2" eaLnBrk="1" hangingPunct="1"/>
            <a:r>
              <a:rPr lang="en-US" altLang="it-IT">
                <a:sym typeface="Symbol" panose="05050102010706020507" pitchFamily="18" charset="2"/>
              </a:rPr>
              <a:t>Build a representation for parameter list &amp; types</a:t>
            </a:r>
          </a:p>
          <a:p>
            <a:pPr lvl="2" eaLnBrk="1" hangingPunct="1"/>
            <a:r>
              <a:rPr lang="en-US" altLang="it-IT">
                <a:sym typeface="Symbol" panose="05050102010706020507" pitchFamily="18" charset="2"/>
              </a:rPr>
              <a:t>Create list of sites to check</a:t>
            </a:r>
          </a:p>
          <a:p>
            <a:pPr lvl="2" eaLnBrk="1" hangingPunct="1"/>
            <a:r>
              <a:rPr lang="en-US" altLang="it-IT">
                <a:sym typeface="Symbol" panose="05050102010706020507" pitchFamily="18" charset="2"/>
              </a:rPr>
              <a:t>Check offline, or handle the cases for arbitrary orderings</a:t>
            </a:r>
          </a:p>
        </p:txBody>
      </p:sp>
      <p:sp>
        <p:nvSpPr>
          <p:cNvPr id="40965" name="AutoShape 4">
            <a:extLst>
              <a:ext uri="{FF2B5EF4-FFF2-40B4-BE49-F238E27FC236}">
                <a16:creationId xmlns:a16="http://schemas.microsoft.com/office/drawing/2014/main" id="{3B025737-4A20-4A98-A736-9C49484C4BD8}"/>
              </a:ext>
            </a:extLst>
          </p:cNvPr>
          <p:cNvSpPr>
            <a:spLocks/>
          </p:cNvSpPr>
          <p:nvPr/>
        </p:nvSpPr>
        <p:spPr bwMode="auto">
          <a:xfrm>
            <a:off x="6864350" y="2720975"/>
            <a:ext cx="1517650" cy="584200"/>
          </a:xfrm>
          <a:prstGeom prst="accentBorderCallout1">
            <a:avLst>
              <a:gd name="adj1" fmla="val 15255"/>
              <a:gd name="adj2" fmla="val -4181"/>
              <a:gd name="adj3" fmla="val -34958"/>
              <a:gd name="adj4" fmla="val -65708"/>
            </a:avLst>
          </a:prstGeom>
          <a:solidFill>
            <a:srgbClr val="EEEEEE"/>
          </a:solidFill>
          <a:ln w="19050">
            <a:solidFill>
              <a:srgbClr val="7F7F7F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003C75"/>
                </a:solidFill>
              </a:rPr>
              <a:t>assumes table is global</a:t>
            </a: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>
            <a:extLst>
              <a:ext uri="{FF2B5EF4-FFF2-40B4-BE49-F238E27FC236}">
                <a16:creationId xmlns:a16="http://schemas.microsoft.com/office/drawing/2014/main" id="{3926B699-48B6-4A7D-855B-17286D69FA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8A066C62-0C75-4B2A-89DF-03EA78DD3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6EE7566-2D49-4791-B8EC-EEE6B71C453B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4420763-E8F7-4B7E-9F10-29A429E29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0"/>
              </a:spcBef>
            </a:pPr>
            <a:r>
              <a:rPr lang="en-US" altLang="it-IT"/>
              <a:t>Is This Really “Ad-hoc” ?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234F9FD-A56B-4268-B61A-960AC890E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00000"/>
              </a:spcBef>
              <a:buFont typeface="Times" panose="02020603050405020304" pitchFamily="18" charset="0"/>
              <a:buNone/>
            </a:pPr>
            <a:r>
              <a:rPr lang="en-US" altLang="it-IT"/>
              <a:t>Relationship between practice and attribute grammars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Similarities</a:t>
            </a:r>
          </a:p>
          <a:p>
            <a:pPr eaLnBrk="1" hangingPunct="1"/>
            <a:r>
              <a:rPr lang="en-US" altLang="it-IT"/>
              <a:t>Both rules &amp; actions associated with productions</a:t>
            </a:r>
          </a:p>
          <a:p>
            <a:pPr eaLnBrk="1" hangingPunct="1"/>
            <a:r>
              <a:rPr lang="en-US" altLang="it-IT"/>
              <a:t>Application order determined by tools, not author</a:t>
            </a:r>
          </a:p>
          <a:p>
            <a:pPr eaLnBrk="1" hangingPunct="1"/>
            <a:r>
              <a:rPr lang="en-US" altLang="it-IT"/>
              <a:t>(Somewhat) abstract names for symbols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Differences</a:t>
            </a:r>
          </a:p>
          <a:p>
            <a:pPr eaLnBrk="1" hangingPunct="1"/>
            <a:r>
              <a:rPr lang="en-US" altLang="it-IT"/>
              <a:t>Actions applied as a unit; not true for AG rules</a:t>
            </a:r>
          </a:p>
          <a:p>
            <a:pPr eaLnBrk="1" hangingPunct="1"/>
            <a:r>
              <a:rPr lang="en-US" altLang="it-IT"/>
              <a:t>Anything goes in </a:t>
            </a:r>
            <a:r>
              <a:rPr lang="en-US" altLang="it-IT" i="1"/>
              <a:t>ad-hoc </a:t>
            </a:r>
            <a:r>
              <a:rPr lang="en-US" altLang="it-IT"/>
              <a:t>actions; AG rules are functional</a:t>
            </a:r>
          </a:p>
          <a:p>
            <a:pPr eaLnBrk="1" hangingPunct="1"/>
            <a:r>
              <a:rPr lang="en-US" altLang="it-IT"/>
              <a:t>AG rules are higher level than </a:t>
            </a:r>
            <a:r>
              <a:rPr lang="en-US" altLang="it-IT" i="1"/>
              <a:t>ad-hoc </a:t>
            </a:r>
            <a:r>
              <a:rPr lang="en-US" altLang="it-IT"/>
              <a:t>actions</a:t>
            </a:r>
          </a:p>
          <a:p>
            <a:pPr eaLnBrk="1" hangingPunct="1"/>
            <a:endParaRPr lang="en-US" altLang="it-IT"/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3">
            <a:extLst>
              <a:ext uri="{FF2B5EF4-FFF2-40B4-BE49-F238E27FC236}">
                <a16:creationId xmlns:a16="http://schemas.microsoft.com/office/drawing/2014/main" id="{FFBEF8EA-F502-40C4-A9D4-89A2A16050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D739B1D8-B96C-496C-AE0A-7CADE73D23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1E756B4-8A9B-40C4-A58E-5540F000789A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4658A63E-17F2-4D38-948D-F98B150B9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Limitations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98653A3E-68FC-4EAD-892D-1921E26BF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Forced to evaluate in a given order: </a:t>
            </a:r>
            <a:r>
              <a:rPr lang="en-US" altLang="it-IT" i="1">
                <a:solidFill>
                  <a:srgbClr val="003C75"/>
                </a:solidFill>
              </a:rPr>
              <a:t>postorder</a:t>
            </a:r>
            <a:endParaRPr lang="en-US" altLang="it-IT">
              <a:solidFill>
                <a:srgbClr val="003C75"/>
              </a:solidFill>
            </a:endParaRPr>
          </a:p>
          <a:p>
            <a:pPr lvl="1" eaLnBrk="1" hangingPunct="1"/>
            <a:r>
              <a:rPr lang="en-US" altLang="it-IT"/>
              <a:t>Left to right only</a:t>
            </a:r>
          </a:p>
          <a:p>
            <a:pPr lvl="1" eaLnBrk="1" hangingPunct="1"/>
            <a:r>
              <a:rPr lang="en-US" altLang="it-IT"/>
              <a:t>Bottom up only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it-IT"/>
              <a:t>Implications</a:t>
            </a:r>
          </a:p>
          <a:p>
            <a:pPr lvl="1" eaLnBrk="1" hangingPunct="1"/>
            <a:r>
              <a:rPr lang="en-US" altLang="it-IT"/>
              <a:t>Declarations before uses</a:t>
            </a:r>
          </a:p>
          <a:p>
            <a:pPr lvl="1" eaLnBrk="1" hangingPunct="1"/>
            <a:r>
              <a:rPr lang="en-US" altLang="it-IT"/>
              <a:t>Context information cannot be passed down</a:t>
            </a:r>
          </a:p>
          <a:p>
            <a:pPr lvl="2" eaLnBrk="1" hangingPunct="1"/>
            <a:r>
              <a:rPr lang="en-US" altLang="it-IT"/>
              <a:t>How do you know what rule you are called from within?</a:t>
            </a:r>
          </a:p>
          <a:p>
            <a:pPr lvl="2" eaLnBrk="1" hangingPunct="1"/>
            <a:r>
              <a:rPr lang="en-US" altLang="it-IT"/>
              <a:t>Example: cannot pass bit position from right down</a:t>
            </a:r>
          </a:p>
          <a:p>
            <a:pPr lvl="1" eaLnBrk="1" hangingPunct="1"/>
            <a:r>
              <a:rPr lang="en-US" altLang="it-IT"/>
              <a:t>Could you use globals?</a:t>
            </a:r>
          </a:p>
          <a:p>
            <a:pPr lvl="2" eaLnBrk="1" hangingPunct="1"/>
            <a:r>
              <a:rPr lang="en-US" altLang="it-IT"/>
              <a:t>Requires initialization &amp; some re-thinking of the solution</a:t>
            </a:r>
          </a:p>
          <a:p>
            <a:pPr lvl="1" eaLnBrk="1" hangingPunct="1">
              <a:buSzPct val="90000"/>
            </a:pPr>
            <a:r>
              <a:rPr lang="en-US" altLang="it-IT"/>
              <a:t>Can we rewrite it in a form that is better for the ad-hoc sol’n</a:t>
            </a: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>
            <a:extLst>
              <a:ext uri="{FF2B5EF4-FFF2-40B4-BE49-F238E27FC236}">
                <a16:creationId xmlns:a16="http://schemas.microsoft.com/office/drawing/2014/main" id="{3890C6D9-44EE-4F92-AAF8-06214EE628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7106" name="Slide Number Placeholder 4">
            <a:extLst>
              <a:ext uri="{FF2B5EF4-FFF2-40B4-BE49-F238E27FC236}">
                <a16:creationId xmlns:a16="http://schemas.microsoft.com/office/drawing/2014/main" id="{DDF1D57F-709D-4766-BE65-A98B3698C9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C53CAC2-3A21-4291-8970-38364B92F4A7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00F9F73-81ED-47C4-861E-B198911C43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Limitations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C0C38BA7-47B4-43E8-ABC8-89E07E85B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Can often rewrite the problem to fit S-attributed model</a:t>
            </a:r>
          </a:p>
        </p:txBody>
      </p:sp>
      <p:sp>
        <p:nvSpPr>
          <p:cNvPr id="47109" name="Text Box 35">
            <a:extLst>
              <a:ext uri="{FF2B5EF4-FFF2-40B4-BE49-F238E27FC236}">
                <a16:creationId xmlns:a16="http://schemas.microsoft.com/office/drawing/2014/main" id="{3BC1E518-71CD-4910-B3C3-31EFC82EB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825" y="5181600"/>
            <a:ext cx="4267200" cy="654050"/>
          </a:xfrm>
          <a:prstGeom prst="rect">
            <a:avLst/>
          </a:prstGeom>
          <a:solidFill>
            <a:srgbClr val="D9D9D9"/>
          </a:solidFill>
          <a:ln w="19050" algn="ctr">
            <a:solidFill>
              <a:srgbClr val="A6A6A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Of course, you can rewrite the AG in this same S-attributed style</a:t>
            </a:r>
          </a:p>
        </p:txBody>
      </p:sp>
      <p:graphicFrame>
        <p:nvGraphicFramePr>
          <p:cNvPr id="42146" name="Group 162">
            <a:extLst>
              <a:ext uri="{FF2B5EF4-FFF2-40B4-BE49-F238E27FC236}">
                <a16:creationId xmlns:a16="http://schemas.microsoft.com/office/drawing/2014/main" id="{AF700FEB-1FC9-45A2-AB7E-EC082C6DDB56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05000"/>
          <a:ext cx="5486400" cy="3048003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 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 x $2;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1;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-1;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2 * $1 + $2;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$1;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0;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$$ =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" name="Group 163">
            <a:extLst>
              <a:ext uri="{FF2B5EF4-FFF2-40B4-BE49-F238E27FC236}">
                <a16:creationId xmlns:a16="http://schemas.microsoft.com/office/drawing/2014/main" id="{12AF3348-30AB-4EF0-B130-33F72A636592}"/>
              </a:ext>
            </a:extLst>
          </p:cNvPr>
          <p:cNvGrpSpPr>
            <a:grpSpLocks/>
          </p:cNvGrpSpPr>
          <p:nvPr/>
        </p:nvGrpSpPr>
        <p:grpSpPr bwMode="auto">
          <a:xfrm>
            <a:off x="4460875" y="1905000"/>
            <a:ext cx="3997325" cy="1647825"/>
            <a:chOff x="2810" y="1200"/>
            <a:chExt cx="2518" cy="1038"/>
          </a:xfrm>
        </p:grpSpPr>
        <p:sp>
          <p:nvSpPr>
            <p:cNvPr id="47112" name="Oval 32">
              <a:extLst>
                <a:ext uri="{FF2B5EF4-FFF2-40B4-BE49-F238E27FC236}">
                  <a16:creationId xmlns:a16="http://schemas.microsoft.com/office/drawing/2014/main" id="{2CA60C0B-01B8-4941-B3BB-930C522EB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0" y="1998"/>
              <a:ext cx="993" cy="240"/>
            </a:xfrm>
            <a:prstGeom prst="ellipse">
              <a:avLst/>
            </a:prstGeom>
            <a:noFill/>
            <a:ln w="1270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60462" name="Text Box 33">
              <a:extLst>
                <a:ext uri="{FF2B5EF4-FFF2-40B4-BE49-F238E27FC236}">
                  <a16:creationId xmlns:a16="http://schemas.microsoft.com/office/drawing/2014/main" id="{64CAC319-B6F4-4657-83DD-E48AF819E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5" y="1200"/>
              <a:ext cx="1093" cy="2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solidFill>
                <a:srgbClr val="A6A6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The key step</a:t>
              </a:r>
            </a:p>
          </p:txBody>
        </p:sp>
        <p:cxnSp>
          <p:nvCxnSpPr>
            <p:cNvPr id="60463" name="AutoShape 34">
              <a:extLst>
                <a:ext uri="{FF2B5EF4-FFF2-40B4-BE49-F238E27FC236}">
                  <a16:creationId xmlns:a16="http://schemas.microsoft.com/office/drawing/2014/main" id="{585CD493-0971-4C9B-B7BD-0431DC945530}"/>
                </a:ext>
              </a:extLst>
            </p:cNvPr>
            <p:cNvCxnSpPr>
              <a:cxnSpLocks noChangeShapeType="1"/>
              <a:stCxn id="60462" idx="1"/>
              <a:endCxn id="47112" idx="7"/>
            </p:cNvCxnSpPr>
            <p:nvPr/>
          </p:nvCxnSpPr>
          <p:spPr bwMode="auto">
            <a:xfrm flipH="1">
              <a:off x="3658" y="1320"/>
              <a:ext cx="577" cy="713"/>
            </a:xfrm>
            <a:prstGeom prst="straightConnector1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>
            <a:extLst>
              <a:ext uri="{FF2B5EF4-FFF2-40B4-BE49-F238E27FC236}">
                <a16:creationId xmlns:a16="http://schemas.microsoft.com/office/drawing/2014/main" id="{76673339-FB12-4969-9208-DC22E3DED4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9154" name="Slide Number Placeholder 4">
            <a:extLst>
              <a:ext uri="{FF2B5EF4-FFF2-40B4-BE49-F238E27FC236}">
                <a16:creationId xmlns:a16="http://schemas.microsoft.com/office/drawing/2014/main" id="{B156A9A5-19D2-427E-9CB2-80E9960997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036C4FC-DD9E-45DF-B947-61A25BD1A368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60E72421-1454-4261-B092-988EE5E82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Limitations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F5D2E611-F283-44B6-8456-2327FFFBC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Of course, the same scheme works in an attribute grammar</a:t>
            </a:r>
          </a:p>
        </p:txBody>
      </p:sp>
      <p:sp>
        <p:nvSpPr>
          <p:cNvPr id="42014" name="Text Box 30">
            <a:extLst>
              <a:ext uri="{FF2B5EF4-FFF2-40B4-BE49-F238E27FC236}">
                <a16:creationId xmlns:a16="http://schemas.microsoft.com/office/drawing/2014/main" id="{37490BD5-AD41-411E-A897-34B12C7BB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41938"/>
            <a:ext cx="6781800" cy="830262"/>
          </a:xfrm>
          <a:prstGeom prst="rect">
            <a:avLst/>
          </a:prstGeom>
          <a:solidFill>
            <a:srgbClr val="D9D9D9"/>
          </a:solidFill>
          <a:ln w="19050" algn="ctr">
            <a:solidFill>
              <a:srgbClr val="A6A6A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We picked the original attribution rules to highlight features of attribute grammars, rather than to show you the most efficient way to compute the answer!</a:t>
            </a:r>
          </a:p>
        </p:txBody>
      </p:sp>
      <p:graphicFrame>
        <p:nvGraphicFramePr>
          <p:cNvPr id="42146" name="Group 162">
            <a:extLst>
              <a:ext uri="{FF2B5EF4-FFF2-40B4-BE49-F238E27FC236}">
                <a16:creationId xmlns:a16="http://schemas.microsoft.com/office/drawing/2014/main" id="{E3A6A59F-5D20-45D5-9D83-40DD5AFDC8B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05000"/>
          <a:ext cx="6781800" cy="3048003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659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 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Number.val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←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Sign.neg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List.val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Sign.neg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← 1;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Sign.neg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← -1;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.val ← 2 * List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.val +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List.val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←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← 0;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←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4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>
            <a:extLst>
              <a:ext uri="{FF2B5EF4-FFF2-40B4-BE49-F238E27FC236}">
                <a16:creationId xmlns:a16="http://schemas.microsoft.com/office/drawing/2014/main" id="{8473E37E-713F-43B3-B06B-C9842DF911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1202" name="Slide Number Placeholder 4">
            <a:extLst>
              <a:ext uri="{FF2B5EF4-FFF2-40B4-BE49-F238E27FC236}">
                <a16:creationId xmlns:a16="http://schemas.microsoft.com/office/drawing/2014/main" id="{97612FC0-9E60-4F3B-B362-50C321C14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B8AFC8A-2B1E-400F-847A-86994777A1CB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B58A337C-8FCE-4E39-AE47-CBFBE8D90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Making Ad-hoc SDT Work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26C5E48E-BB6C-4ED9-8C64-7805B70E1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How do we fit this into an LR(1) parser?</a:t>
            </a:r>
          </a:p>
          <a:p>
            <a:pPr eaLnBrk="1" hangingPunct="1"/>
            <a:endParaRPr lang="en-US" altLang="it-IT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8DAC81C-24B0-4A82-8B86-1D6D18155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74800"/>
            <a:ext cx="4800600" cy="4521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stack.push(</a:t>
            </a:r>
            <a:r>
              <a:rPr lang="en-US" sz="12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INVALID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);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stack.push(</a:t>
            </a:r>
            <a:r>
              <a:rPr lang="en-US" sz="1400" i="1" dirty="0">
                <a:latin typeface="Comic Sans MS" charset="0"/>
                <a:ea typeface="ヒラギノ角ゴ Pro W3" charset="-128"/>
                <a:cs typeface="ヒラギノ角ゴ Pro W3" charset="-128"/>
              </a:rPr>
              <a:t>s</a:t>
            </a:r>
            <a:r>
              <a:rPr lang="en-US" sz="1400" i="1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0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);                            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// initial state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token 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=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scanner.next_token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defTabSz="457200" eaLnBrk="0" hangingPunct="0">
              <a:lnSpc>
                <a:spcPct val="95000"/>
              </a:lnSpc>
              <a:spcBef>
                <a:spcPct val="2000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loop forever {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=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stack.top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if (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ACTION[s,token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 == </a:t>
            </a:r>
            <a:r>
              <a:rPr lang="en-US" sz="14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“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reduce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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” ) then {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    stack.popnum(2*|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|);      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pop 2*|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 symbols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=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stack.top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 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</a:t>
            </a:r>
            <a:r>
              <a:rPr lang="en-US" sz="14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);                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push A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stack.push(GOTO[s,</a:t>
            </a:r>
            <a:r>
              <a:rPr lang="en-US" sz="14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]);</a:t>
            </a:r>
            <a:r>
              <a:rPr lang="en-US" sz="1400" dirty="0">
                <a:solidFill>
                  <a:srgbClr val="FF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push next state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}</a:t>
            </a:r>
          </a:p>
          <a:p>
            <a:pPr defTabSz="457200" eaLnBrk="0" hangingPunct="0">
              <a:lnSpc>
                <a:spcPct val="95000"/>
              </a:lnSpc>
              <a:spcBef>
                <a:spcPct val="2000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else if (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ACTION[s,token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 == “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shift </a:t>
            </a:r>
            <a:r>
              <a:rPr lang="en-US" sz="1400" i="1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i="1" baseline="-250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” ) then {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);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</a:t>
            </a:r>
            <a:r>
              <a:rPr lang="en-US" sz="14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i="1" baseline="-250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token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scanner.next_token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}</a:t>
            </a:r>
          </a:p>
          <a:p>
            <a:pPr defTabSz="457200" eaLnBrk="0" hangingPunct="0">
              <a:lnSpc>
                <a:spcPct val="95000"/>
              </a:lnSpc>
              <a:spcBef>
                <a:spcPct val="2000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else if (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ACTION[s,token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 == “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accept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”  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		&amp; token == EOF )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then break; 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else throw a syntax error;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} 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report success;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6D1D0-77F6-43CB-B7D3-8F92641478E9}"/>
              </a:ext>
            </a:extLst>
          </p:cNvPr>
          <p:cNvSpPr txBox="1"/>
          <p:nvPr/>
        </p:nvSpPr>
        <p:spPr>
          <a:xfrm>
            <a:off x="5791200" y="1851025"/>
            <a:ext cx="2819400" cy="3381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7F7F7F"/>
            </a:solidFill>
          </a:ln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From an earlier lecture</a:t>
            </a: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1">
            <a:extLst>
              <a:ext uri="{FF2B5EF4-FFF2-40B4-BE49-F238E27FC236}">
                <a16:creationId xmlns:a16="http://schemas.microsoft.com/office/drawing/2014/main" id="{8120E1EC-2537-4D3D-B916-38A8A9E431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3250" name="Slide Number Placeholder 2">
            <a:extLst>
              <a:ext uri="{FF2B5EF4-FFF2-40B4-BE49-F238E27FC236}">
                <a16:creationId xmlns:a16="http://schemas.microsoft.com/office/drawing/2014/main" id="{A02FC73D-3256-47E0-84B7-471C82EC38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B2FE439-EEFF-4D97-B056-83E4F7F32057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79BF9A87-D040-4B1C-879E-1E403251EE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Augmented LR(1)</a:t>
            </a:r>
            <a:r>
              <a:rPr lang="en-US" altLang="it-IT">
                <a:sym typeface="Symbol" panose="05050102010706020507" pitchFamily="18" charset="2"/>
              </a:rPr>
              <a:t> Skeleton Parser</a:t>
            </a:r>
            <a:endParaRPr lang="en-US" altLang="it-IT" sz="2000">
              <a:sym typeface="Symbol" panose="05050102010706020507" pitchFamily="18" charset="2"/>
            </a:endParaRPr>
          </a:p>
        </p:txBody>
      </p:sp>
      <p:sp>
        <p:nvSpPr>
          <p:cNvPr id="62469" name="Text Box 3">
            <a:extLst>
              <a:ext uri="{FF2B5EF4-FFF2-40B4-BE49-F238E27FC236}">
                <a16:creationId xmlns:a16="http://schemas.microsoft.com/office/drawing/2014/main" id="{450F06BC-3145-487B-8741-B45A24C57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143000"/>
            <a:ext cx="4800600" cy="516096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stack.push(</a:t>
            </a:r>
            <a:r>
              <a:rPr lang="en-US" sz="12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INVALID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);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 err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stack.push(</a:t>
            </a:r>
            <a:r>
              <a:rPr lang="en-US" sz="1200" dirty="0" err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NULL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)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stack.push(</a:t>
            </a:r>
            <a:r>
              <a:rPr lang="en-US" sz="1400" i="1" dirty="0">
                <a:latin typeface="Comic Sans MS" charset="0"/>
                <a:ea typeface="ヒラギノ角ゴ Pro W3" charset="-128"/>
                <a:cs typeface="ヒラギノ角ゴ Pro W3" charset="-128"/>
              </a:rPr>
              <a:t>s</a:t>
            </a:r>
            <a:r>
              <a:rPr lang="en-US" sz="1400" i="1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0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);                            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// initial state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token 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=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scanner.next_token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defTabSz="457200" eaLnBrk="0" hangingPunct="0">
              <a:lnSpc>
                <a:spcPct val="95000"/>
              </a:lnSpc>
              <a:spcBef>
                <a:spcPct val="2000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loop forever {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=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stack.top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if (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ACTION[s,token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 == </a:t>
            </a:r>
            <a:r>
              <a:rPr lang="en-US" sz="14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“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reduce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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” ) then {</a:t>
            </a:r>
          </a:p>
          <a:p>
            <a:pPr defTabSz="457200" eaLnBrk="0" hangingPunct="0">
              <a:lnSpc>
                <a:spcPct val="95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    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/* insert case statement here */</a:t>
            </a:r>
          </a:p>
          <a:p>
            <a:pPr defTabSz="457200" eaLnBrk="0" hangingPunct="0">
              <a:lnSpc>
                <a:spcPct val="95000"/>
              </a:lnSpc>
              <a:spcBef>
                <a:spcPts val="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    stack.popnum(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3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*|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|);      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pop 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3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*|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 symbols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=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stack.top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 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</a:t>
            </a:r>
            <a:r>
              <a:rPr lang="en-US" sz="14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);                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push A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stack.push(GOTO[s,</a:t>
            </a:r>
            <a:r>
              <a:rPr lang="en-US" sz="14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]);</a:t>
            </a:r>
            <a:r>
              <a:rPr lang="en-US" sz="1400" dirty="0">
                <a:solidFill>
                  <a:srgbClr val="FF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push next state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}</a:t>
            </a:r>
          </a:p>
          <a:p>
            <a:pPr defTabSz="457200" eaLnBrk="0" hangingPunct="0">
              <a:lnSpc>
                <a:spcPct val="95000"/>
              </a:lnSpc>
              <a:spcBef>
                <a:spcPct val="2000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else if (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ACTION[s,token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 == “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shift </a:t>
            </a:r>
            <a:r>
              <a:rPr lang="en-US" sz="1400" i="1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i="1" baseline="-250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” ) then {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);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</a:t>
            </a:r>
            <a:r>
              <a:rPr lang="en-US" sz="14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i="1" baseline="-250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token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scanner.next_token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}</a:t>
            </a:r>
          </a:p>
          <a:p>
            <a:pPr defTabSz="457200" eaLnBrk="0" hangingPunct="0">
              <a:lnSpc>
                <a:spcPct val="95000"/>
              </a:lnSpc>
              <a:spcBef>
                <a:spcPct val="2000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else if (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ACTION[s,token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 == “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accept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”  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		&amp; token == EOF )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then break; 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else throw a syntax error;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} </a:t>
            </a:r>
          </a:p>
          <a:p>
            <a:pPr defTabSz="457200" eaLnBrk="0" hangingPunct="0">
              <a:lnSpc>
                <a:spcPct val="95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report success;</a:t>
            </a:r>
          </a:p>
        </p:txBody>
      </p:sp>
      <p:sp>
        <p:nvSpPr>
          <p:cNvPr id="62470" name="Text Box 6">
            <a:extLst>
              <a:ext uri="{FF2B5EF4-FFF2-40B4-BE49-F238E27FC236}">
                <a16:creationId xmlns:a16="http://schemas.microsoft.com/office/drawing/2014/main" id="{810288DF-FF3E-485F-A562-BD034C0EE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520825"/>
            <a:ext cx="3124200" cy="3970338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73038" indent="-173038" eaLnBrk="0" hangingPunct="0">
              <a:spcBef>
                <a:spcPct val="50000"/>
              </a:spcBef>
              <a:buClr>
                <a:srgbClr val="0000CC"/>
              </a:buClr>
              <a:buSzPct val="120000"/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</a:rPr>
              <a:t>To add </a:t>
            </a:r>
            <a:r>
              <a:rPr lang="en-US" sz="16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yacc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</a:rPr>
              <a:t>-like actions</a:t>
            </a:r>
            <a:endParaRPr lang="en-US" sz="16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Stack 3 items per symbol rather than 2   (3</a:t>
            </a:r>
            <a:r>
              <a:rPr lang="en-US" sz="1600" baseline="30000" dirty="0">
                <a:latin typeface="Comic Sans MS" charset="0"/>
                <a:ea typeface="ヒラギノ角ゴ Pro W3" charset="-128"/>
                <a:cs typeface="ヒラギノ角ゴ Pro W3" charset="-128"/>
              </a:rPr>
              <a:t>rd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is 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$$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)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Add case statement to the reduction processing section</a:t>
            </a:r>
          </a:p>
          <a:p>
            <a:pPr marL="455613" lvl="1" indent="-280988" eaLnBrk="0" hangingPunct="0">
              <a:spcBef>
                <a:spcPct val="25000"/>
              </a:spcBef>
              <a:buClr>
                <a:srgbClr val="003C75"/>
              </a:buClr>
              <a:buSzPct val="100000"/>
              <a:buFont typeface="Lucida Grande"/>
              <a:buChar char="→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Case switches on production number </a:t>
            </a:r>
          </a:p>
          <a:p>
            <a:pPr marL="455613" lvl="1" indent="-280988" eaLnBrk="0" hangingPunct="0">
              <a:spcBef>
                <a:spcPct val="25000"/>
              </a:spcBef>
              <a:buClr>
                <a:srgbClr val="003C75"/>
              </a:buClr>
              <a:buSzPct val="100000"/>
              <a:buFont typeface="Lucida Grande"/>
              <a:buChar char="→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Each case clause holds the code snippet for that  production </a:t>
            </a:r>
          </a:p>
          <a:p>
            <a:pPr marL="455613" lvl="1" indent="-280988" eaLnBrk="0" hangingPunct="0">
              <a:spcBef>
                <a:spcPct val="25000"/>
              </a:spcBef>
              <a:buClr>
                <a:srgbClr val="003C75"/>
              </a:buClr>
              <a:buSzPct val="100000"/>
              <a:buFont typeface="Lucida Grande"/>
              <a:buChar char="→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Substitute appropriate names for 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$$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$1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$2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…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Slight increase in parse time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50% increase in stack space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3">
            <a:extLst>
              <a:ext uri="{FF2B5EF4-FFF2-40B4-BE49-F238E27FC236}">
                <a16:creationId xmlns:a16="http://schemas.microsoft.com/office/drawing/2014/main" id="{FF2FDA8F-4F07-4999-A299-CDBC5B5159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5298" name="Slide Number Placeholder 4">
            <a:extLst>
              <a:ext uri="{FF2B5EF4-FFF2-40B4-BE49-F238E27FC236}">
                <a16:creationId xmlns:a16="http://schemas.microsoft.com/office/drawing/2014/main" id="{9FAB969A-DF06-4C51-BE7A-FBA7EF27F2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820D660-31FD-41EA-818F-80399E68172A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5F543094-B181-4E18-A45F-D6B9A8FFF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Making Ad-hoc SDT Work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6BCA561F-B205-40C2-BA39-0F8AB0B15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How do we fit this into an LR(1) parser?</a:t>
            </a:r>
          </a:p>
          <a:p>
            <a:pPr eaLnBrk="1" hangingPunct="1"/>
            <a:r>
              <a:rPr lang="en-US" altLang="it-IT"/>
              <a:t>Need a place to store the attributes</a:t>
            </a:r>
          </a:p>
          <a:p>
            <a:pPr lvl="1" eaLnBrk="1" hangingPunct="1"/>
            <a:r>
              <a:rPr lang="en-US" altLang="it-IT"/>
              <a:t>Stash them in the stack, along with state and symbol</a:t>
            </a:r>
          </a:p>
          <a:p>
            <a:pPr lvl="1" eaLnBrk="1" hangingPunct="1"/>
            <a:r>
              <a:rPr lang="en-US" altLang="it-IT"/>
              <a:t>Push three items each time, pop 3 x |</a:t>
            </a:r>
            <a:r>
              <a:rPr lang="en-US" altLang="it-IT" sz="2000" i="1">
                <a:sym typeface="Symbol" panose="05050102010706020507" pitchFamily="18" charset="2"/>
              </a:rPr>
              <a:t></a:t>
            </a:r>
            <a:r>
              <a:rPr lang="en-US" altLang="it-IT">
                <a:sym typeface="Symbol" panose="05050102010706020507" pitchFamily="18" charset="2"/>
              </a:rPr>
              <a:t>| symbols</a:t>
            </a:r>
            <a:endParaRPr lang="en-US" altLang="it-IT"/>
          </a:p>
          <a:p>
            <a:pPr eaLnBrk="1" hangingPunct="1"/>
            <a:r>
              <a:rPr lang="en-US" altLang="it-IT"/>
              <a:t>Need a naming scheme to access them</a:t>
            </a:r>
          </a:p>
          <a:p>
            <a:pPr lvl="1" eaLnBrk="1" hangingPunct="1"/>
            <a:r>
              <a:rPr lang="en-US" altLang="it-IT"/>
              <a:t>$n translates into stack location (top - 3n)  </a:t>
            </a:r>
          </a:p>
          <a:p>
            <a:pPr eaLnBrk="1" hangingPunct="1"/>
            <a:r>
              <a:rPr lang="en-US" altLang="it-IT"/>
              <a:t>Need to sequence rule applications</a:t>
            </a:r>
          </a:p>
          <a:p>
            <a:pPr lvl="1" eaLnBrk="1" hangingPunct="1"/>
            <a:r>
              <a:rPr lang="en-US" altLang="it-IT"/>
              <a:t>On every reduce action, perform the action rule</a:t>
            </a:r>
          </a:p>
          <a:p>
            <a:pPr lvl="1" eaLnBrk="1" hangingPunct="1"/>
            <a:r>
              <a:rPr lang="en-US" altLang="it-IT"/>
              <a:t>Add a giant case statement to the parser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Adds a rule evaluation to each reduction</a:t>
            </a:r>
          </a:p>
          <a:p>
            <a:pPr lvl="1" eaLnBrk="1" hangingPunct="1"/>
            <a:r>
              <a:rPr lang="en-US" altLang="it-IT"/>
              <a:t>Usually the code snippets are relatively cheap </a:t>
            </a:r>
          </a:p>
        </p:txBody>
      </p:sp>
      <p:grpSp>
        <p:nvGrpSpPr>
          <p:cNvPr id="55301" name="Group 7">
            <a:extLst>
              <a:ext uri="{FF2B5EF4-FFF2-40B4-BE49-F238E27FC236}">
                <a16:creationId xmlns:a16="http://schemas.microsoft.com/office/drawing/2014/main" id="{BD7EA8CA-76EF-4FBA-9792-C0DA8C14904F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590800"/>
            <a:ext cx="2411413" cy="544513"/>
            <a:chOff x="6199352" y="2590800"/>
            <a:chExt cx="2411248" cy="54478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D34FDFE-358A-443F-8385-677F6B976700}"/>
                </a:ext>
              </a:extLst>
            </p:cNvPr>
            <p:cNvSpPr txBox="1"/>
            <p:nvPr/>
          </p:nvSpPr>
          <p:spPr>
            <a:xfrm>
              <a:off x="7162899" y="2590800"/>
              <a:ext cx="1447701" cy="33830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Use macros</a:t>
              </a:r>
            </a:p>
          </p:txBody>
        </p:sp>
        <p:sp>
          <p:nvSpPr>
            <p:cNvPr id="55303" name="Freeform 6">
              <a:extLst>
                <a:ext uri="{FF2B5EF4-FFF2-40B4-BE49-F238E27FC236}">
                  <a16:creationId xmlns:a16="http://schemas.microsoft.com/office/drawing/2014/main" id="{8F99639E-C8A8-42B0-9362-9DEFE2535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9352" y="2706414"/>
              <a:ext cx="963448" cy="429172"/>
            </a:xfrm>
            <a:custGeom>
              <a:avLst/>
              <a:gdLst>
                <a:gd name="T0" fmla="*/ 963448 w 963448"/>
                <a:gd name="T1" fmla="*/ 0 h 429172"/>
                <a:gd name="T2" fmla="*/ 376620 w 963448"/>
                <a:gd name="T3" fmla="*/ 201448 h 429172"/>
                <a:gd name="T4" fmla="*/ 586827 w 963448"/>
                <a:gd name="T5" fmla="*/ 306552 h 429172"/>
                <a:gd name="T6" fmla="*/ 0 w 963448"/>
                <a:gd name="T7" fmla="*/ 429172 h 4291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3448"/>
                <a:gd name="T13" fmla="*/ 0 h 429172"/>
                <a:gd name="T14" fmla="*/ 963448 w 963448"/>
                <a:gd name="T15" fmla="*/ 429172 h 4291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3448" h="429172">
                  <a:moveTo>
                    <a:pt x="963448" y="0"/>
                  </a:moveTo>
                  <a:cubicBezTo>
                    <a:pt x="701419" y="75178"/>
                    <a:pt x="439390" y="150356"/>
                    <a:pt x="376620" y="201448"/>
                  </a:cubicBezTo>
                  <a:cubicBezTo>
                    <a:pt x="313850" y="252540"/>
                    <a:pt x="649597" y="268598"/>
                    <a:pt x="586827" y="306552"/>
                  </a:cubicBezTo>
                  <a:cubicBezTo>
                    <a:pt x="524057" y="344506"/>
                    <a:pt x="0" y="429172"/>
                    <a:pt x="0" y="429172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3">
            <a:extLst>
              <a:ext uri="{FF2B5EF4-FFF2-40B4-BE49-F238E27FC236}">
                <a16:creationId xmlns:a16="http://schemas.microsoft.com/office/drawing/2014/main" id="{E1490159-97BB-4E4D-BC7E-0F91C4EA57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7346" name="Slide Number Placeholder 4">
            <a:extLst>
              <a:ext uri="{FF2B5EF4-FFF2-40B4-BE49-F238E27FC236}">
                <a16:creationId xmlns:a16="http://schemas.microsoft.com/office/drawing/2014/main" id="{BE0B8DCF-78E0-49F1-95A1-4045F197D8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568D36A-359A-40B1-9706-3E077E4A9EAE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A2A22DC-BDCF-4215-83A8-E69FCCBD8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Making Ad-hoc SDT Work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657EF16D-846D-4497-9C0A-702DCA8295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What about a rule that must work in mid-production?</a:t>
            </a:r>
          </a:p>
          <a:p>
            <a:pPr eaLnBrk="1" hangingPunct="1"/>
            <a:r>
              <a:rPr lang="en-US" altLang="it-IT"/>
              <a:t>Can transform the grammar </a:t>
            </a:r>
          </a:p>
          <a:p>
            <a:pPr lvl="1" eaLnBrk="1" hangingPunct="1"/>
            <a:r>
              <a:rPr lang="en-US" altLang="it-IT"/>
              <a:t>Split it into two parts at the point where rule must go</a:t>
            </a:r>
          </a:p>
          <a:p>
            <a:pPr lvl="1" eaLnBrk="1" hangingPunct="1"/>
            <a:r>
              <a:rPr lang="en-US" altLang="it-IT"/>
              <a:t>Apply the rule on reduction to the appropriate part</a:t>
            </a:r>
          </a:p>
          <a:p>
            <a:pPr eaLnBrk="1" hangingPunct="1"/>
            <a:r>
              <a:rPr lang="en-US" altLang="it-IT"/>
              <a:t>Can also handle reductions on shift actions</a:t>
            </a:r>
          </a:p>
          <a:p>
            <a:pPr lvl="1" eaLnBrk="1" hangingPunct="1"/>
            <a:r>
              <a:rPr lang="en-US" altLang="it-IT"/>
              <a:t>Add a production to create a reduction </a:t>
            </a:r>
          </a:p>
          <a:p>
            <a:pPr lvl="2" eaLnBrk="1" hangingPunct="1"/>
            <a:r>
              <a:rPr lang="en-US" altLang="it-IT"/>
              <a:t>Was:  </a:t>
            </a:r>
            <a:r>
              <a:rPr lang="en-US" altLang="it-IT" i="1"/>
              <a:t>fee </a:t>
            </a:r>
            <a:r>
              <a:rPr lang="en-US" altLang="it-IT" i="1">
                <a:sym typeface="Symbol" panose="05050102010706020507" pitchFamily="18" charset="2"/>
              </a:rPr>
              <a:t> </a:t>
            </a:r>
            <a:r>
              <a:rPr lang="en-US" altLang="it-IT" i="1" u="sng">
                <a:sym typeface="Symbol" panose="05050102010706020507" pitchFamily="18" charset="2"/>
              </a:rPr>
              <a:t>fum</a:t>
            </a:r>
            <a:endParaRPr lang="en-US" altLang="it-IT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it-IT">
                <a:sym typeface="Symbol" panose="05050102010706020507" pitchFamily="18" charset="2"/>
              </a:rPr>
              <a:t>Make it:  </a:t>
            </a:r>
            <a:r>
              <a:rPr lang="en-US" altLang="it-IT" i="1">
                <a:sym typeface="Symbol" panose="05050102010706020507" pitchFamily="18" charset="2"/>
              </a:rPr>
              <a:t>fee  fie  </a:t>
            </a:r>
            <a:r>
              <a:rPr lang="en-US" altLang="it-IT" i="1" u="sng">
                <a:sym typeface="Symbol" panose="05050102010706020507" pitchFamily="18" charset="2"/>
              </a:rPr>
              <a:t>fum 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2" eaLnBrk="1" hangingPunct="1"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   and tie the action to this new reduction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Together, these let us apply rule at any point in the parse</a:t>
            </a:r>
          </a:p>
        </p:txBody>
      </p:sp>
      <p:sp>
        <p:nvSpPr>
          <p:cNvPr id="57349" name="Oval 4">
            <a:extLst>
              <a:ext uri="{FF2B5EF4-FFF2-40B4-BE49-F238E27FC236}">
                <a16:creationId xmlns:a16="http://schemas.microsoft.com/office/drawing/2014/main" id="{D04E7580-421F-4A78-9316-7C9A80996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962400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7350" name="Oval 5">
            <a:extLst>
              <a:ext uri="{FF2B5EF4-FFF2-40B4-BE49-F238E27FC236}">
                <a16:creationId xmlns:a16="http://schemas.microsoft.com/office/drawing/2014/main" id="{BF688A46-CF36-4E4F-B1C1-EEA71F1F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010025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7351" name="Oval 6">
            <a:extLst>
              <a:ext uri="{FF2B5EF4-FFF2-40B4-BE49-F238E27FC236}">
                <a16:creationId xmlns:a16="http://schemas.microsoft.com/office/drawing/2014/main" id="{C31FF06C-0F8C-4F34-9A62-99007E208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3435350"/>
            <a:ext cx="1393825" cy="477838"/>
          </a:xfrm>
          <a:prstGeom prst="ellipse">
            <a:avLst/>
          </a:prstGeom>
          <a:noFill/>
          <a:ln w="9525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7352" name="Freeform 7">
            <a:extLst>
              <a:ext uri="{FF2B5EF4-FFF2-40B4-BE49-F238E27FC236}">
                <a16:creationId xmlns:a16="http://schemas.microsoft.com/office/drawing/2014/main" id="{EF7878BF-C2FE-46E1-8F0F-342C680529CE}"/>
              </a:ext>
            </a:extLst>
          </p:cNvPr>
          <p:cNvSpPr>
            <a:spLocks/>
          </p:cNvSpPr>
          <p:nvPr/>
        </p:nvSpPr>
        <p:spPr bwMode="auto">
          <a:xfrm>
            <a:off x="4637088" y="3581400"/>
            <a:ext cx="1992312" cy="395288"/>
          </a:xfrm>
          <a:custGeom>
            <a:avLst/>
            <a:gdLst>
              <a:gd name="T0" fmla="*/ 2147483647 w 833"/>
              <a:gd name="T1" fmla="*/ 2147483647 h 249"/>
              <a:gd name="T2" fmla="*/ 2147483647 w 833"/>
              <a:gd name="T3" fmla="*/ 2147483647 h 249"/>
              <a:gd name="T4" fmla="*/ 0 w 833"/>
              <a:gd name="T5" fmla="*/ 0 h 249"/>
              <a:gd name="T6" fmla="*/ 0 60000 65536"/>
              <a:gd name="T7" fmla="*/ 0 60000 65536"/>
              <a:gd name="T8" fmla="*/ 0 60000 65536"/>
              <a:gd name="T9" fmla="*/ 0 w 833"/>
              <a:gd name="T10" fmla="*/ 0 h 249"/>
              <a:gd name="T11" fmla="*/ 833 w 833"/>
              <a:gd name="T12" fmla="*/ 249 h 2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3" h="249">
                <a:moveTo>
                  <a:pt x="508" y="249"/>
                </a:moveTo>
                <a:cubicBezTo>
                  <a:pt x="670" y="218"/>
                  <a:pt x="833" y="187"/>
                  <a:pt x="748" y="146"/>
                </a:cubicBezTo>
                <a:cubicBezTo>
                  <a:pt x="663" y="105"/>
                  <a:pt x="331" y="52"/>
                  <a:pt x="0" y="0"/>
                </a:cubicBezTo>
              </a:path>
            </a:pathLst>
          </a:custGeom>
          <a:noFill/>
          <a:ln w="9525">
            <a:solidFill>
              <a:srgbClr val="B025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7353" name="AutoShape 8">
            <a:extLst>
              <a:ext uri="{FF2B5EF4-FFF2-40B4-BE49-F238E27FC236}">
                <a16:creationId xmlns:a16="http://schemas.microsoft.com/office/drawing/2014/main" id="{002920A6-33FC-462A-95B5-290BA48A0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5422900"/>
            <a:ext cx="660400" cy="660400"/>
          </a:xfrm>
          <a:prstGeom prst="octagon">
            <a:avLst>
              <a:gd name="adj" fmla="val 29287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>
                <a:solidFill>
                  <a:schemeClr val="bg1"/>
                </a:solidFill>
              </a:rPr>
              <a:t>STOP</a:t>
            </a: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527E6B97-F621-4F68-8FB0-C34FF5C2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Alternative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81D90-E90F-4D19-BED8-61312B842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88" indent="-1588">
              <a:buFont typeface="Times" charset="0"/>
              <a:buNone/>
              <a:defRPr/>
            </a:pPr>
            <a:r>
              <a:rPr lang="en-US" i="1" dirty="0">
                <a:solidFill>
                  <a:srgbClr val="003C75"/>
                </a:solidFill>
              </a:rPr>
              <a:t>What if you </a:t>
            </a:r>
            <a:r>
              <a:rPr lang="en-US" i="1" u="sng" dirty="0">
                <a:solidFill>
                  <a:srgbClr val="003C75"/>
                </a:solidFill>
              </a:rPr>
              <a:t>need</a:t>
            </a:r>
            <a:r>
              <a:rPr lang="en-US" i="1" dirty="0">
                <a:solidFill>
                  <a:srgbClr val="003C75"/>
                </a:solidFill>
              </a:rPr>
              <a:t> to perform actions that do not fit well into the Ad-hoc Syntax-Directed Translation framework?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Build the abstract syntax tree using SDT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Perform the actions during one or more </a:t>
            </a:r>
            <a:r>
              <a:rPr lang="en-US" dirty="0" err="1"/>
              <a:t>treewalks</a:t>
            </a:r>
            <a:endParaRPr lang="en-US" dirty="0"/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In an OOL, think of this problem as a classic application of the visitor pattern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Perform arbitrary computation in </a:t>
            </a:r>
            <a:r>
              <a:rPr lang="en-US" dirty="0" err="1"/>
              <a:t>treewalk</a:t>
            </a:r>
            <a:r>
              <a:rPr lang="en-US" dirty="0"/>
              <a:t> order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Make multiple passes if necessary</a:t>
            </a:r>
          </a:p>
          <a:p>
            <a:pPr marL="0" indent="0">
              <a:spcBef>
                <a:spcPts val="9000"/>
              </a:spcBef>
              <a:buFont typeface="Times" charset="0"/>
              <a:buNone/>
              <a:defRPr/>
            </a:pPr>
            <a:r>
              <a:rPr lang="en-US" i="1" dirty="0"/>
              <a:t>Again, a competent junior or senior CS major would derive this solution after a couple of minutes of thought.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endParaRPr lang="en-US" dirty="0"/>
          </a:p>
          <a:p>
            <a:pPr>
              <a:buFont typeface="Times" charset="0"/>
              <a:buChar char="•"/>
              <a:defRPr/>
            </a:pPr>
            <a:endParaRPr lang="en-US" dirty="0"/>
          </a:p>
        </p:txBody>
      </p:sp>
      <p:sp>
        <p:nvSpPr>
          <p:cNvPr id="59395" name="Footer Placeholder 3">
            <a:extLst>
              <a:ext uri="{FF2B5EF4-FFF2-40B4-BE49-F238E27FC236}">
                <a16:creationId xmlns:a16="http://schemas.microsoft.com/office/drawing/2014/main" id="{AB2D6A13-15CE-4136-A975-FF9A18786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9396" name="Slide Number Placeholder 4">
            <a:extLst>
              <a:ext uri="{FF2B5EF4-FFF2-40B4-BE49-F238E27FC236}">
                <a16:creationId xmlns:a16="http://schemas.microsoft.com/office/drawing/2014/main" id="{AF5B52B6-C95A-424D-B58D-B1B9D2FD56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0F937D2-A41D-48B4-81E8-DF3859680B82}" type="slidenum">
              <a:rPr lang="en-US" altLang="it-IT"/>
              <a:pPr/>
              <a:t>21</a:t>
            </a:fld>
            <a:endParaRPr lang="en-US" altLang="it-I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Footer Placeholder 3">
            <a:extLst>
              <a:ext uri="{FF2B5EF4-FFF2-40B4-BE49-F238E27FC236}">
                <a16:creationId xmlns:a16="http://schemas.microsoft.com/office/drawing/2014/main" id="{02D3BA4B-DB2F-4F20-BB1C-0368091CA6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0418" name="Slide Number Placeholder 4">
            <a:extLst>
              <a:ext uri="{FF2B5EF4-FFF2-40B4-BE49-F238E27FC236}">
                <a16:creationId xmlns:a16="http://schemas.microsoft.com/office/drawing/2014/main" id="{A3DB0308-894E-42CD-BDCD-41911016F3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75065CA-AD17-43DF-9B47-EA9373DAF5FB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C4501D9-B79C-4E3D-A63A-60E9449AA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Summary: Strategies for C-S Analysis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87DC8947-E96F-48B9-B947-506F6F3BB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77200" cy="4953000"/>
          </a:xfrm>
        </p:spPr>
        <p:txBody>
          <a:bodyPr/>
          <a:lstStyle/>
          <a:p>
            <a:pPr eaLnBrk="1" hangingPunct="1"/>
            <a:r>
              <a:rPr lang="en-US" altLang="it-IT"/>
              <a:t>Attribute Grammars</a:t>
            </a:r>
          </a:p>
          <a:p>
            <a:pPr lvl="1" eaLnBrk="1" hangingPunct="1"/>
            <a:r>
              <a:rPr lang="en-US" altLang="it-IT">
                <a:solidFill>
                  <a:srgbClr val="003C75"/>
                </a:solidFill>
              </a:rPr>
              <a:t>Pros</a:t>
            </a:r>
            <a:r>
              <a:rPr lang="en-US" altLang="it-IT">
                <a:solidFill>
                  <a:srgbClr val="B025A6"/>
                </a:solidFill>
              </a:rPr>
              <a:t>:</a:t>
            </a:r>
            <a:r>
              <a:rPr lang="en-US" altLang="it-IT"/>
              <a:t> Formal, powerful, can deal with propagation strategies</a:t>
            </a:r>
          </a:p>
          <a:p>
            <a:pPr lvl="1" eaLnBrk="1" hangingPunct="1"/>
            <a:r>
              <a:rPr lang="en-US" altLang="it-IT">
                <a:solidFill>
                  <a:srgbClr val="FF0065"/>
                </a:solidFill>
              </a:rPr>
              <a:t>Cons:</a:t>
            </a:r>
            <a:r>
              <a:rPr lang="en-US" altLang="it-IT"/>
              <a:t>  Too many copy rules, no global tables, works on parse tree</a:t>
            </a:r>
          </a:p>
          <a:p>
            <a:pPr eaLnBrk="1" hangingPunct="1"/>
            <a:r>
              <a:rPr lang="en-US" altLang="it-IT"/>
              <a:t>Postorder Code Execution</a:t>
            </a:r>
          </a:p>
          <a:p>
            <a:pPr lvl="1" eaLnBrk="1" hangingPunct="1"/>
            <a:r>
              <a:rPr lang="en-US" altLang="it-IT">
                <a:solidFill>
                  <a:srgbClr val="003C75"/>
                </a:solidFill>
              </a:rPr>
              <a:t>Pros</a:t>
            </a:r>
            <a:r>
              <a:rPr lang="en-US" altLang="it-IT">
                <a:solidFill>
                  <a:srgbClr val="B025A6"/>
                </a:solidFill>
              </a:rPr>
              <a:t>:</a:t>
            </a:r>
            <a:r>
              <a:rPr lang="en-US" altLang="it-IT"/>
              <a:t> Simple and functional, can be specified in grammar (Yacc) but does not require parse tree</a:t>
            </a:r>
          </a:p>
          <a:p>
            <a:pPr lvl="1" eaLnBrk="1" hangingPunct="1"/>
            <a:r>
              <a:rPr lang="en-US" altLang="it-IT">
                <a:solidFill>
                  <a:srgbClr val="FF0065"/>
                </a:solidFill>
              </a:rPr>
              <a:t>Cons:</a:t>
            </a:r>
            <a:r>
              <a:rPr lang="en-US" altLang="it-IT"/>
              <a:t> Rigid evaluation order, no context inheritance</a:t>
            </a:r>
          </a:p>
          <a:p>
            <a:pPr eaLnBrk="1" hangingPunct="1"/>
            <a:r>
              <a:rPr lang="en-US" altLang="it-IT"/>
              <a:t>Generalized Tree Walk</a:t>
            </a:r>
          </a:p>
          <a:p>
            <a:pPr lvl="1" eaLnBrk="1" hangingPunct="1"/>
            <a:r>
              <a:rPr lang="en-US" altLang="it-IT">
                <a:solidFill>
                  <a:srgbClr val="003C75"/>
                </a:solidFill>
              </a:rPr>
              <a:t>Pros</a:t>
            </a:r>
            <a:r>
              <a:rPr lang="en-US" altLang="it-IT">
                <a:solidFill>
                  <a:srgbClr val="B025A6"/>
                </a:solidFill>
              </a:rPr>
              <a:t>:</a:t>
            </a:r>
            <a:r>
              <a:rPr lang="en-US" altLang="it-IT"/>
              <a:t> Full power and generality, operates on abstract syntax tree (using Visitor pattern)</a:t>
            </a:r>
          </a:p>
          <a:p>
            <a:pPr lvl="1" eaLnBrk="1" hangingPunct="1"/>
            <a:r>
              <a:rPr lang="en-US" altLang="it-IT">
                <a:solidFill>
                  <a:srgbClr val="FF0065"/>
                </a:solidFill>
              </a:rPr>
              <a:t>Cons:</a:t>
            </a:r>
            <a:r>
              <a:rPr lang="en-US" altLang="it-IT"/>
              <a:t> Requires specific code for each tree node type, more complicated</a:t>
            </a:r>
            <a:endParaRPr lang="en-US" altLang="it-IT">
              <a:solidFill>
                <a:srgbClr val="FF0000"/>
              </a:solidFill>
            </a:endParaRPr>
          </a:p>
          <a:p>
            <a:pPr lvl="1" eaLnBrk="1" hangingPunct="1"/>
            <a:endParaRPr lang="en-US" altLang="it-IT"/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Footer Placeholder 3">
            <a:extLst>
              <a:ext uri="{FF2B5EF4-FFF2-40B4-BE49-F238E27FC236}">
                <a16:creationId xmlns:a16="http://schemas.microsoft.com/office/drawing/2014/main" id="{F13C21AE-F2B0-40F5-9556-8A4C1D5F0D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2466" name="Slide Number Placeholder 4">
            <a:extLst>
              <a:ext uri="{FF2B5EF4-FFF2-40B4-BE49-F238E27FC236}">
                <a16:creationId xmlns:a16="http://schemas.microsoft.com/office/drawing/2014/main" id="{6DD09BEE-3802-4642-9435-CB97B2EB3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E130F22-CB55-4EC4-B66C-4E80AEAC1ECA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BCA79A3-79DF-4BB5-BDF1-D7B3D3AB7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Alternative Strategy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DF092138-71B6-4053-B6C6-E42E4A6C0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1816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Use SDT to build an abstract syntax tree &amp; do complex work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in a tree walk</a:t>
            </a:r>
            <a:endParaRPr lang="en-US" altLang="it-IT" sz="1800"/>
          </a:p>
          <a:p>
            <a:pPr eaLnBrk="1" hangingPunct="1"/>
            <a:r>
              <a:rPr lang="en-US" altLang="it-IT"/>
              <a:t>Use tree walk routines</a:t>
            </a:r>
          </a:p>
          <a:p>
            <a:pPr eaLnBrk="1" hangingPunct="1"/>
            <a:r>
              <a:rPr lang="en-US" altLang="it-IT"/>
              <a:t>Use “visitor” design pattern to add functionality</a:t>
            </a:r>
          </a:p>
        </p:txBody>
      </p:sp>
      <p:grpSp>
        <p:nvGrpSpPr>
          <p:cNvPr id="62469" name="Group 22">
            <a:extLst>
              <a:ext uri="{FF2B5EF4-FFF2-40B4-BE49-F238E27FC236}">
                <a16:creationId xmlns:a16="http://schemas.microsoft.com/office/drawing/2014/main" id="{33938B99-093C-489D-88A3-7BB10E807917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663825"/>
            <a:ext cx="7543800" cy="3349625"/>
            <a:chOff x="528" y="1678"/>
            <a:chExt cx="4752" cy="2110"/>
          </a:xfrm>
        </p:grpSpPr>
        <p:sp>
          <p:nvSpPr>
            <p:cNvPr id="62470" name="Rectangle 5">
              <a:extLst>
                <a:ext uri="{FF2B5EF4-FFF2-40B4-BE49-F238E27FC236}">
                  <a16:creationId xmlns:a16="http://schemas.microsoft.com/office/drawing/2014/main" id="{5FF33283-725C-4D15-AAE8-2178ED020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678"/>
              <a:ext cx="2160" cy="344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2471" name="Text Box 6">
              <a:extLst>
                <a:ext uri="{FF2B5EF4-FFF2-40B4-BE49-F238E27FC236}">
                  <a16:creationId xmlns:a16="http://schemas.microsoft.com/office/drawing/2014/main" id="{5728B145-E429-4C5E-9FE1-E53A52DC3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5" y="1734"/>
              <a:ext cx="11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TreeNodeVisitor</a:t>
              </a:r>
            </a:p>
          </p:txBody>
        </p:sp>
        <p:sp>
          <p:nvSpPr>
            <p:cNvPr id="62472" name="Rectangle 7">
              <a:extLst>
                <a:ext uri="{FF2B5EF4-FFF2-40B4-BE49-F238E27FC236}">
                  <a16:creationId xmlns:a16="http://schemas.microsoft.com/office/drawing/2014/main" id="{3281EA62-C7DB-4136-B1C2-EEB204CA0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22"/>
              <a:ext cx="2160" cy="577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2473" name="Text Box 8">
              <a:extLst>
                <a:ext uri="{FF2B5EF4-FFF2-40B4-BE49-F238E27FC236}">
                  <a16:creationId xmlns:a16="http://schemas.microsoft.com/office/drawing/2014/main" id="{834D059C-DFB8-4EBE-9C6E-ABD6A823A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2091"/>
              <a:ext cx="20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VisitAssignment(AssignmentNode)</a:t>
              </a:r>
            </a:p>
          </p:txBody>
        </p:sp>
        <p:sp>
          <p:nvSpPr>
            <p:cNvPr id="62474" name="Text Box 9">
              <a:extLst>
                <a:ext uri="{FF2B5EF4-FFF2-40B4-BE49-F238E27FC236}">
                  <a16:creationId xmlns:a16="http://schemas.microsoft.com/office/drawing/2014/main" id="{8E610B87-6F75-4A0A-8371-E44A77559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0" y="2343"/>
              <a:ext cx="20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VisitVariableRef(VariableRefNode)</a:t>
              </a:r>
            </a:p>
          </p:txBody>
        </p:sp>
        <p:sp>
          <p:nvSpPr>
            <p:cNvPr id="62475" name="Rectangle 10">
              <a:extLst>
                <a:ext uri="{FF2B5EF4-FFF2-40B4-BE49-F238E27FC236}">
                  <a16:creationId xmlns:a16="http://schemas.microsoft.com/office/drawing/2014/main" id="{31303309-E9A7-4667-8C52-3FC7D9D71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892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2476" name="Text Box 11">
              <a:extLst>
                <a:ext uri="{FF2B5EF4-FFF2-40B4-BE49-F238E27FC236}">
                  <a16:creationId xmlns:a16="http://schemas.microsoft.com/office/drawing/2014/main" id="{5DAF39A5-717D-4599-8E4A-48C321D38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" y="2940"/>
              <a:ext cx="122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TypeCheckVisitor</a:t>
              </a:r>
            </a:p>
          </p:txBody>
        </p:sp>
        <p:sp>
          <p:nvSpPr>
            <p:cNvPr id="62477" name="Rectangle 12">
              <a:extLst>
                <a:ext uri="{FF2B5EF4-FFF2-40B4-BE49-F238E27FC236}">
                  <a16:creationId xmlns:a16="http://schemas.microsoft.com/office/drawing/2014/main" id="{8117F348-8478-436D-A2A3-E959722CD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228"/>
              <a:ext cx="2160" cy="560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2478" name="Text Box 13">
              <a:extLst>
                <a:ext uri="{FF2B5EF4-FFF2-40B4-BE49-F238E27FC236}">
                  <a16:creationId xmlns:a16="http://schemas.microsoft.com/office/drawing/2014/main" id="{8C14F233-FAD8-4BE0-97A5-CACA70E62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" y="3288"/>
              <a:ext cx="20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VisitAssignment(AssignmentNode)</a:t>
              </a:r>
            </a:p>
          </p:txBody>
        </p:sp>
        <p:sp>
          <p:nvSpPr>
            <p:cNvPr id="62479" name="Text Box 14">
              <a:extLst>
                <a:ext uri="{FF2B5EF4-FFF2-40B4-BE49-F238E27FC236}">
                  <a16:creationId xmlns:a16="http://schemas.microsoft.com/office/drawing/2014/main" id="{3D4931BB-BD14-426E-AA9B-DE49541A5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" y="3540"/>
              <a:ext cx="20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VisitVariableRef(VariableRefNode)</a:t>
              </a:r>
            </a:p>
          </p:txBody>
        </p:sp>
        <p:sp>
          <p:nvSpPr>
            <p:cNvPr id="62480" name="Rectangle 15">
              <a:extLst>
                <a:ext uri="{FF2B5EF4-FFF2-40B4-BE49-F238E27FC236}">
                  <a16:creationId xmlns:a16="http://schemas.microsoft.com/office/drawing/2014/main" id="{727C92E2-766C-4368-807F-A0FB0D2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892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2481" name="Text Box 16">
              <a:extLst>
                <a:ext uri="{FF2B5EF4-FFF2-40B4-BE49-F238E27FC236}">
                  <a16:creationId xmlns:a16="http://schemas.microsoft.com/office/drawing/2014/main" id="{C8811863-6B84-43E5-A491-085D2F20E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1" y="2940"/>
              <a:ext cx="10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AnalysisVisitor</a:t>
              </a:r>
            </a:p>
          </p:txBody>
        </p:sp>
        <p:sp>
          <p:nvSpPr>
            <p:cNvPr id="62482" name="Rectangle 17">
              <a:extLst>
                <a:ext uri="{FF2B5EF4-FFF2-40B4-BE49-F238E27FC236}">
                  <a16:creationId xmlns:a16="http://schemas.microsoft.com/office/drawing/2014/main" id="{975630E0-8DC8-47C6-996A-0E39942B7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228"/>
              <a:ext cx="2160" cy="560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2483" name="Text Box 18">
              <a:extLst>
                <a:ext uri="{FF2B5EF4-FFF2-40B4-BE49-F238E27FC236}">
                  <a16:creationId xmlns:a16="http://schemas.microsoft.com/office/drawing/2014/main" id="{05F7B61A-B6BA-47A2-BEC1-E6CD2A14D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3" y="3288"/>
              <a:ext cx="20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VisitAssignment(AssignmentNode)</a:t>
              </a:r>
            </a:p>
          </p:txBody>
        </p:sp>
        <p:sp>
          <p:nvSpPr>
            <p:cNvPr id="62484" name="Text Box 19">
              <a:extLst>
                <a:ext uri="{FF2B5EF4-FFF2-40B4-BE49-F238E27FC236}">
                  <a16:creationId xmlns:a16="http://schemas.microsoft.com/office/drawing/2014/main" id="{A0D37EC6-F178-4FFA-8F43-BFA5A01C4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6" y="3540"/>
              <a:ext cx="20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VisitVariableRef(VariableRefNode)</a:t>
              </a:r>
            </a:p>
          </p:txBody>
        </p:sp>
        <p:sp>
          <p:nvSpPr>
            <p:cNvPr id="62485" name="Line 20">
              <a:extLst>
                <a:ext uri="{FF2B5EF4-FFF2-40B4-BE49-F238E27FC236}">
                  <a16:creationId xmlns:a16="http://schemas.microsoft.com/office/drawing/2014/main" id="{024277A5-DD8F-450F-8049-91C1BEEBB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604"/>
              <a:ext cx="0" cy="288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486" name="Line 21">
              <a:extLst>
                <a:ext uri="{FF2B5EF4-FFF2-40B4-BE49-F238E27FC236}">
                  <a16:creationId xmlns:a16="http://schemas.microsoft.com/office/drawing/2014/main" id="{CD161707-F4FA-43FC-9B62-A3645AE89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04"/>
              <a:ext cx="0" cy="288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Footer Placeholder 3">
            <a:extLst>
              <a:ext uri="{FF2B5EF4-FFF2-40B4-BE49-F238E27FC236}">
                <a16:creationId xmlns:a16="http://schemas.microsoft.com/office/drawing/2014/main" id="{DAA11EC0-A154-4BC7-926D-5D9656F473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4514" name="Slide Number Placeholder 4">
            <a:extLst>
              <a:ext uri="{FF2B5EF4-FFF2-40B4-BE49-F238E27FC236}">
                <a16:creationId xmlns:a16="http://schemas.microsoft.com/office/drawing/2014/main" id="{38827D63-C47F-43C1-910B-CE04615CDE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21888F3-C2B3-430D-BDF7-476EF25507BB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2EFDF12-0922-4757-AD42-602983D3C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Visitor Treewalk I</a:t>
            </a:r>
          </a:p>
        </p:txBody>
      </p:sp>
      <p:grpSp>
        <p:nvGrpSpPr>
          <p:cNvPr id="64516" name="Group 23">
            <a:extLst>
              <a:ext uri="{FF2B5EF4-FFF2-40B4-BE49-F238E27FC236}">
                <a16:creationId xmlns:a16="http://schemas.microsoft.com/office/drawing/2014/main" id="{536E5434-AA18-43A0-89E1-343FFFDAE190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835275"/>
            <a:ext cx="7543800" cy="3124200"/>
            <a:chOff x="528" y="1786"/>
            <a:chExt cx="4752" cy="1968"/>
          </a:xfrm>
        </p:grpSpPr>
        <p:sp>
          <p:nvSpPr>
            <p:cNvPr id="64518" name="Rectangle 4">
              <a:extLst>
                <a:ext uri="{FF2B5EF4-FFF2-40B4-BE49-F238E27FC236}">
                  <a16:creationId xmlns:a16="http://schemas.microsoft.com/office/drawing/2014/main" id="{564C59E4-2C95-4022-9232-4C839ACD2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786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4519" name="Text Box 5">
              <a:extLst>
                <a:ext uri="{FF2B5EF4-FFF2-40B4-BE49-F238E27FC236}">
                  <a16:creationId xmlns:a16="http://schemas.microsoft.com/office/drawing/2014/main" id="{C57A3962-A7F7-422E-AE1C-E9C88F792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7" y="1834"/>
              <a:ext cx="7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TreeNode</a:t>
              </a:r>
            </a:p>
          </p:txBody>
        </p:sp>
        <p:sp>
          <p:nvSpPr>
            <p:cNvPr id="64520" name="Rectangle 6">
              <a:extLst>
                <a:ext uri="{FF2B5EF4-FFF2-40B4-BE49-F238E27FC236}">
                  <a16:creationId xmlns:a16="http://schemas.microsoft.com/office/drawing/2014/main" id="{FCF8682B-3E8F-4C97-9B87-B273EB459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122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4521" name="Text Box 7">
              <a:extLst>
                <a:ext uri="{FF2B5EF4-FFF2-40B4-BE49-F238E27FC236}">
                  <a16:creationId xmlns:a16="http://schemas.microsoft.com/office/drawing/2014/main" id="{A07810A1-0882-49F4-8B8A-D5C5DD816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7" y="2170"/>
              <a:ext cx="122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Accept(NodeVisitor)</a:t>
              </a:r>
            </a:p>
          </p:txBody>
        </p:sp>
        <p:sp>
          <p:nvSpPr>
            <p:cNvPr id="64522" name="Rectangle 8">
              <a:extLst>
                <a:ext uri="{FF2B5EF4-FFF2-40B4-BE49-F238E27FC236}">
                  <a16:creationId xmlns:a16="http://schemas.microsoft.com/office/drawing/2014/main" id="{805F805C-4C34-4DFF-81AE-FF9CFD23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746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4523" name="Text Box 9">
              <a:extLst>
                <a:ext uri="{FF2B5EF4-FFF2-40B4-BE49-F238E27FC236}">
                  <a16:creationId xmlns:a16="http://schemas.microsoft.com/office/drawing/2014/main" id="{FCFABCC5-FD4A-4AB6-AB5A-1416360BD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9" y="2794"/>
              <a:ext cx="11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AssignmentNode</a:t>
              </a:r>
            </a:p>
          </p:txBody>
        </p:sp>
        <p:sp>
          <p:nvSpPr>
            <p:cNvPr id="64524" name="Rectangle 10">
              <a:extLst>
                <a:ext uri="{FF2B5EF4-FFF2-40B4-BE49-F238E27FC236}">
                  <a16:creationId xmlns:a16="http://schemas.microsoft.com/office/drawing/2014/main" id="{0A463247-64EB-4869-A9D8-80BF84DE9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082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4525" name="Text Box 11">
              <a:extLst>
                <a:ext uri="{FF2B5EF4-FFF2-40B4-BE49-F238E27FC236}">
                  <a16:creationId xmlns:a16="http://schemas.microsoft.com/office/drawing/2014/main" id="{99D4DFA8-DC90-4318-A588-10A488399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7" y="3130"/>
              <a:ext cx="1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Accept(NodeVisitor v)</a:t>
              </a:r>
            </a:p>
          </p:txBody>
        </p:sp>
        <p:sp>
          <p:nvSpPr>
            <p:cNvPr id="64526" name="Text Box 12">
              <a:extLst>
                <a:ext uri="{FF2B5EF4-FFF2-40B4-BE49-F238E27FC236}">
                  <a16:creationId xmlns:a16="http://schemas.microsoft.com/office/drawing/2014/main" id="{179DD193-27C7-4C4C-9500-61F7FC4FF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" y="3466"/>
              <a:ext cx="137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v.VisitAssignment(this)</a:t>
              </a:r>
            </a:p>
          </p:txBody>
        </p:sp>
        <p:sp>
          <p:nvSpPr>
            <p:cNvPr id="64527" name="Rectangle 13">
              <a:extLst>
                <a:ext uri="{FF2B5EF4-FFF2-40B4-BE49-F238E27FC236}">
                  <a16:creationId xmlns:a16="http://schemas.microsoft.com/office/drawing/2014/main" id="{96AFDBB7-87EB-4177-9B99-F234478A2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746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4528" name="Text Box 14">
              <a:extLst>
                <a:ext uri="{FF2B5EF4-FFF2-40B4-BE49-F238E27FC236}">
                  <a16:creationId xmlns:a16="http://schemas.microsoft.com/office/drawing/2014/main" id="{A7BF4B29-1396-4012-818C-05B7315DF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1" y="2794"/>
              <a:ext cx="11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VariableRefNode</a:t>
              </a:r>
            </a:p>
          </p:txBody>
        </p:sp>
        <p:sp>
          <p:nvSpPr>
            <p:cNvPr id="64529" name="Rectangle 15">
              <a:extLst>
                <a:ext uri="{FF2B5EF4-FFF2-40B4-BE49-F238E27FC236}">
                  <a16:creationId xmlns:a16="http://schemas.microsoft.com/office/drawing/2014/main" id="{66E3C1FC-50BE-4E19-90A8-1AAAC8727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082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4530" name="Line 16">
              <a:extLst>
                <a:ext uri="{FF2B5EF4-FFF2-40B4-BE49-F238E27FC236}">
                  <a16:creationId xmlns:a16="http://schemas.microsoft.com/office/drawing/2014/main" id="{656D673B-B629-468A-B776-368C37A9E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458"/>
              <a:ext cx="0" cy="288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31" name="Line 17">
              <a:extLst>
                <a:ext uri="{FF2B5EF4-FFF2-40B4-BE49-F238E27FC236}">
                  <a16:creationId xmlns:a16="http://schemas.microsoft.com/office/drawing/2014/main" id="{66537EA1-990A-4066-B65D-394A07424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458"/>
              <a:ext cx="0" cy="288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32" name="Rectangle 18">
              <a:extLst>
                <a:ext uri="{FF2B5EF4-FFF2-40B4-BE49-F238E27FC236}">
                  <a16:creationId xmlns:a16="http://schemas.microsoft.com/office/drawing/2014/main" id="{E43D36A7-5F7E-4B2C-A419-7722E431D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418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4533" name="Text Box 19">
              <a:extLst>
                <a:ext uri="{FF2B5EF4-FFF2-40B4-BE49-F238E27FC236}">
                  <a16:creationId xmlns:a16="http://schemas.microsoft.com/office/drawing/2014/main" id="{C8E99716-E57B-40A1-8605-60B1D81BD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9" y="3130"/>
              <a:ext cx="1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Accept(NodeVisitor v)</a:t>
              </a:r>
            </a:p>
          </p:txBody>
        </p:sp>
        <p:sp>
          <p:nvSpPr>
            <p:cNvPr id="64534" name="Rectangle 20">
              <a:extLst>
                <a:ext uri="{FF2B5EF4-FFF2-40B4-BE49-F238E27FC236}">
                  <a16:creationId xmlns:a16="http://schemas.microsoft.com/office/drawing/2014/main" id="{786BA065-5454-480F-AE5B-9EAD2FA6E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418"/>
              <a:ext cx="2160" cy="336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  <p:sp>
          <p:nvSpPr>
            <p:cNvPr id="64535" name="Text Box 21">
              <a:extLst>
                <a:ext uri="{FF2B5EF4-FFF2-40B4-BE49-F238E27FC236}">
                  <a16:creationId xmlns:a16="http://schemas.microsoft.com/office/drawing/2014/main" id="{F7BDD0BE-D35D-4AE9-91A9-1870D76A1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3459"/>
              <a:ext cx="13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v.VisitVariableRef(this)</a:t>
              </a:r>
            </a:p>
          </p:txBody>
        </p:sp>
      </p:grpSp>
      <p:sp>
        <p:nvSpPr>
          <p:cNvPr id="64517" name="Rectangle 22">
            <a:extLst>
              <a:ext uri="{FF2B5EF4-FFF2-40B4-BE49-F238E27FC236}">
                <a16:creationId xmlns:a16="http://schemas.microsoft.com/office/drawing/2014/main" id="{985C0862-3213-434A-A249-D2BBC9654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Code parallels the tree’s structure:</a:t>
            </a:r>
          </a:p>
          <a:p>
            <a:pPr eaLnBrk="1" hangingPunct="1"/>
            <a:r>
              <a:rPr lang="en-US" altLang="it-IT"/>
              <a:t>Separates treewalk code from node handling code</a:t>
            </a:r>
          </a:p>
          <a:p>
            <a:pPr eaLnBrk="1" hangingPunct="1"/>
            <a:r>
              <a:rPr lang="en-US" altLang="it-IT"/>
              <a:t>Facilitates change in processing without change to tree structure</a:t>
            </a: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Footer Placeholder 2">
            <a:extLst>
              <a:ext uri="{FF2B5EF4-FFF2-40B4-BE49-F238E27FC236}">
                <a16:creationId xmlns:a16="http://schemas.microsoft.com/office/drawing/2014/main" id="{F5220658-CC52-4913-A91D-A1BD8A1128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6562" name="Slide Number Placeholder 3">
            <a:extLst>
              <a:ext uri="{FF2B5EF4-FFF2-40B4-BE49-F238E27FC236}">
                <a16:creationId xmlns:a16="http://schemas.microsoft.com/office/drawing/2014/main" id="{7A39BEFA-A4D8-4A54-9FF8-63436F3B06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DC95718-1BCF-4DA5-AE0D-0833A579CF56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1BBA81FB-F1B3-4960-BACB-2AF80178F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Visitor Treewalk II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D9F57738-EDDA-4115-8AB0-22612F2BE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76400"/>
            <a:ext cx="55626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latin typeface="LucidaSansTypewriter"/>
              </a:rPr>
              <a:t>VisitAssignment(aNodePtr)</a:t>
            </a:r>
          </a:p>
          <a:p>
            <a:pPr>
              <a:spcBef>
                <a:spcPct val="50000"/>
              </a:spcBef>
            </a:pPr>
            <a:r>
              <a:rPr lang="en-US" altLang="it-IT" sz="1600">
                <a:latin typeface="LucidaSansTypewriter"/>
              </a:rPr>
              <a:t>	</a:t>
            </a:r>
            <a:r>
              <a:rPr lang="en-US" altLang="it-IT" sz="1600">
                <a:solidFill>
                  <a:srgbClr val="B025A6"/>
                </a:solidFill>
                <a:latin typeface="LucidaSansTypewriter"/>
              </a:rPr>
              <a:t>// preprocess assignment</a:t>
            </a:r>
          </a:p>
          <a:p>
            <a:pPr>
              <a:spcBef>
                <a:spcPct val="50000"/>
              </a:spcBef>
            </a:pPr>
            <a:r>
              <a:rPr lang="en-US" altLang="it-IT" sz="1600">
                <a:latin typeface="LucidaSansTypewriter"/>
              </a:rPr>
              <a:t>	(aNodePtr-&gt;rhs)-&gt;Accept(this);</a:t>
            </a:r>
          </a:p>
          <a:p>
            <a:pPr>
              <a:spcBef>
                <a:spcPct val="50000"/>
              </a:spcBef>
            </a:pPr>
            <a:r>
              <a:rPr lang="en-US" altLang="it-IT" sz="1600">
                <a:latin typeface="LucidaSansTypewriter"/>
              </a:rPr>
              <a:t>	</a:t>
            </a:r>
            <a:r>
              <a:rPr lang="en-US" altLang="it-IT" sz="1600">
                <a:solidFill>
                  <a:srgbClr val="B025A6"/>
                </a:solidFill>
                <a:latin typeface="LucidaSansTypewriter"/>
              </a:rPr>
              <a:t>// postprocess rhs info;</a:t>
            </a:r>
            <a:endParaRPr lang="en-US" altLang="it-IT" sz="1600">
              <a:solidFill>
                <a:schemeClr val="accent2"/>
              </a:solidFill>
              <a:latin typeface="LucidaSansTypewriter"/>
            </a:endParaRPr>
          </a:p>
          <a:p>
            <a:pPr>
              <a:spcBef>
                <a:spcPct val="50000"/>
              </a:spcBef>
            </a:pPr>
            <a:r>
              <a:rPr lang="en-US" altLang="it-IT" sz="1600">
                <a:latin typeface="LucidaSansTypewriter"/>
              </a:rPr>
              <a:t>	(aNodePtr-&gt;lhs)-&gt;Accept(this);</a:t>
            </a:r>
          </a:p>
          <a:p>
            <a:pPr>
              <a:spcBef>
                <a:spcPct val="50000"/>
              </a:spcBef>
            </a:pPr>
            <a:r>
              <a:rPr lang="en-US" altLang="it-IT" sz="1600">
                <a:latin typeface="LucidaSansTypewriter"/>
              </a:rPr>
              <a:t>	</a:t>
            </a:r>
            <a:r>
              <a:rPr lang="en-US" altLang="it-IT" sz="1600">
                <a:solidFill>
                  <a:srgbClr val="B025A6"/>
                </a:solidFill>
                <a:latin typeface="LucidaSansTypewriter"/>
              </a:rPr>
              <a:t>// postprocess assignment;</a:t>
            </a:r>
          </a:p>
          <a:p>
            <a:pPr>
              <a:spcBef>
                <a:spcPct val="50000"/>
              </a:spcBef>
            </a:pPr>
            <a:r>
              <a:rPr lang="en-US" altLang="it-IT" sz="1600">
                <a:latin typeface="Arial Rounded MT Bold" panose="020F0704030504030204" pitchFamily="34" charset="0"/>
              </a:rPr>
              <a:t>	</a:t>
            </a:r>
          </a:p>
        </p:txBody>
      </p:sp>
      <p:sp>
        <p:nvSpPr>
          <p:cNvPr id="66565" name="Text Box 4">
            <a:extLst>
              <a:ext uri="{FF2B5EF4-FFF2-40B4-BE49-F238E27FC236}">
                <a16:creationId xmlns:a16="http://schemas.microsoft.com/office/drawing/2014/main" id="{32E48E64-29C0-4631-BD10-A392C1309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4783138"/>
            <a:ext cx="45942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To start the process:</a:t>
            </a:r>
            <a:endParaRPr lang="en-US" altLang="it-IT" sz="1600">
              <a:solidFill>
                <a:srgbClr val="996600"/>
              </a:solidFill>
              <a:latin typeface="Arial Rounded MT Bold" panose="020F0704030504030204" pitchFamily="34" charset="0"/>
            </a:endParaRPr>
          </a:p>
          <a:p>
            <a:r>
              <a:rPr lang="en-US" altLang="it-IT" sz="1600">
                <a:latin typeface="Arial Rounded MT Bold" panose="020F0704030504030204" pitchFamily="34" charset="0"/>
              </a:rPr>
              <a:t>	</a:t>
            </a:r>
          </a:p>
          <a:p>
            <a:r>
              <a:rPr lang="en-US" altLang="it-IT" sz="1600">
                <a:latin typeface="Arial Rounded MT Bold" panose="020F0704030504030204" pitchFamily="34" charset="0"/>
              </a:rPr>
              <a:t>	</a:t>
            </a:r>
            <a:r>
              <a:rPr lang="en-US" altLang="it-IT" sz="1600">
                <a:latin typeface="LucidaSansTypewriter"/>
              </a:rPr>
              <a:t>AnalysisVisitor a; treeRoot-&gt;Accept(a);</a:t>
            </a:r>
            <a:endParaRPr lang="en-US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66566" name="Text Box 5">
            <a:extLst>
              <a:ext uri="{FF2B5EF4-FFF2-40B4-BE49-F238E27FC236}">
                <a16:creationId xmlns:a16="http://schemas.microsoft.com/office/drawing/2014/main" id="{0235D236-1871-4518-B9C3-F98423C5A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74320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Refers to current visitor!</a:t>
            </a:r>
          </a:p>
        </p:txBody>
      </p:sp>
      <p:sp>
        <p:nvSpPr>
          <p:cNvPr id="66567" name="Line 6">
            <a:extLst>
              <a:ext uri="{FF2B5EF4-FFF2-40B4-BE49-F238E27FC236}">
                <a16:creationId xmlns:a16="http://schemas.microsoft.com/office/drawing/2014/main" id="{7F59FAC4-75C5-409F-AE62-5FEE42A5E9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2550" y="2943225"/>
            <a:ext cx="762000" cy="0"/>
          </a:xfrm>
          <a:prstGeom prst="line">
            <a:avLst/>
          </a:prstGeom>
          <a:noFill/>
          <a:ln w="19050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6568" name="Line 7">
            <a:extLst>
              <a:ext uri="{FF2B5EF4-FFF2-40B4-BE49-F238E27FC236}">
                <a16:creationId xmlns:a16="http://schemas.microsoft.com/office/drawing/2014/main" id="{11A87AA0-7BC7-4DB1-87E0-262A456E8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2550" y="2667000"/>
            <a:ext cx="0" cy="533400"/>
          </a:xfrm>
          <a:prstGeom prst="line">
            <a:avLst/>
          </a:prstGeom>
          <a:noFill/>
          <a:ln w="19050">
            <a:solidFill>
              <a:srgbClr val="FF0065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1643</Words>
  <Application>Microsoft Office PowerPoint</Application>
  <PresentationFormat>Presentazione su schermo (4:3)</PresentationFormat>
  <Paragraphs>387</Paragraphs>
  <Slides>26</Slides>
  <Notes>25</Notes>
  <HiddenSlides>3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27" baseType="lpstr">
      <vt:lpstr>Blank Presentation</vt:lpstr>
      <vt:lpstr>Context-sensitive Analysis, Part II From AGs to ad-hoc methods  Comp 412 </vt:lpstr>
      <vt:lpstr>The Moral of the Story</vt:lpstr>
      <vt:lpstr>Addressing the Problem </vt:lpstr>
      <vt:lpstr>The Realist’s Alternative</vt:lpstr>
      <vt:lpstr>Reworking the Example          (with load tracking)</vt:lpstr>
      <vt:lpstr>Reworking the Example          (with load tracking)</vt:lpstr>
      <vt:lpstr>Reworking the Example          (with load tracking)</vt:lpstr>
      <vt:lpstr>Example — Assigning Types in                    Expression Nodes</vt:lpstr>
      <vt:lpstr>Example — Building an Abstract Syntax Tree</vt:lpstr>
      <vt:lpstr>Example — Emitting ILOC</vt:lpstr>
      <vt:lpstr>Example — Emitting ILOC</vt:lpstr>
      <vt:lpstr>Reality</vt:lpstr>
      <vt:lpstr>Typical Uses </vt:lpstr>
      <vt:lpstr>Is This Really “Ad-hoc” ?</vt:lpstr>
      <vt:lpstr>Limitations</vt:lpstr>
      <vt:lpstr>Limitations</vt:lpstr>
      <vt:lpstr>Limitations</vt:lpstr>
      <vt:lpstr>Making Ad-hoc SDT Work</vt:lpstr>
      <vt:lpstr>Augmented LR(1) Skeleton Parser</vt:lpstr>
      <vt:lpstr>Making Ad-hoc SDT Work</vt:lpstr>
      <vt:lpstr>Making Ad-hoc SDT Work</vt:lpstr>
      <vt:lpstr>Alternative Strategy</vt:lpstr>
      <vt:lpstr>Summary: Strategies for C-S Analysis</vt:lpstr>
      <vt:lpstr>Alternative Strategy</vt:lpstr>
      <vt:lpstr>Visitor Treewalk I</vt:lpstr>
      <vt:lpstr>Visitor Treewalk II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Context-sensitive Analysis, Part II From AGs to ad-hoc methods  Comp 412 </dc:title>
  <dc:creator>Keith Cooper</dc:creator>
  <cp:lastModifiedBy>Elsevier</cp:lastModifiedBy>
  <cp:revision>28</cp:revision>
  <dcterms:created xsi:type="dcterms:W3CDTF">2010-10-06T15:29:12Z</dcterms:created>
  <dcterms:modified xsi:type="dcterms:W3CDTF">2020-10-19T08:05:06Z</dcterms:modified>
</cp:coreProperties>
</file>