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saveSubsetFonts="1" autoCompressPictures="0">
  <p:sldMasterIdLst>
    <p:sldMasterId id="2147483648" r:id="rId1"/>
  </p:sldMasterIdLst>
  <p:notesMasterIdLst>
    <p:notesMasterId r:id="rId40"/>
  </p:notesMasterIdLst>
  <p:handoutMasterIdLst>
    <p:handoutMasterId r:id="rId41"/>
  </p:handoutMasterIdLst>
  <p:sldIdLst>
    <p:sldId id="256" r:id="rId2"/>
    <p:sldId id="288" r:id="rId3"/>
    <p:sldId id="293" r:id="rId4"/>
    <p:sldId id="259" r:id="rId5"/>
    <p:sldId id="258" r:id="rId6"/>
    <p:sldId id="294" r:id="rId7"/>
    <p:sldId id="290" r:id="rId8"/>
    <p:sldId id="291" r:id="rId9"/>
    <p:sldId id="292" r:id="rId10"/>
    <p:sldId id="260" r:id="rId11"/>
    <p:sldId id="261" r:id="rId12"/>
    <p:sldId id="289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84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5" r:id="rId37"/>
    <p:sldId id="286" r:id="rId38"/>
    <p:sldId id="287" r:id="rId3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1pPr>
    <a:lvl2pPr marL="4572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2pPr>
    <a:lvl3pPr marL="9144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3pPr>
    <a:lvl4pPr marL="13716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4pPr>
    <a:lvl5pPr marL="18288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E6E6"/>
    <a:srgbClr val="B025A6"/>
    <a:srgbClr val="FF0065"/>
    <a:srgbClr val="003C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210" y="-1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141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0" d="100"/>
          <a:sy n="80" d="100"/>
        </p:scale>
        <p:origin x="-2096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B19F406-E98F-40BD-B967-86CDD0A4CD2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0" hangingPunct="0">
              <a:defRPr sz="1200">
                <a:latin typeface="Comic Sans MS" charset="0"/>
                <a:ea typeface="ヒラギノ角ゴ Pro W3" charset="-128"/>
                <a:cs typeface="ヒラギノ角ゴ Pro W3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B27DC1-86A4-4DFA-A1D9-44B1C0801F7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0" hangingPunct="0">
              <a:defRPr sz="1200">
                <a:latin typeface="Comic Sans MS" charset="0"/>
                <a:ea typeface="ヒラギノ角ゴ Pro W3" charset="-128"/>
                <a:cs typeface="ヒラギノ角ゴ Pro W3" charset="-128"/>
              </a:defRPr>
            </a:lvl1pPr>
          </a:lstStyle>
          <a:p>
            <a:pPr>
              <a:defRPr/>
            </a:pPr>
            <a:fld id="{585C0DCC-196A-499D-98A0-45514DE41F91}" type="datetime1">
              <a:rPr lang="en-US"/>
              <a:pPr>
                <a:defRPr/>
              </a:pPr>
              <a:t>10/20/2020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0EF6F9-A9FC-4669-922F-96D8A61DBF8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0" hangingPunct="0">
              <a:defRPr sz="1200">
                <a:latin typeface="Comic Sans MS" charset="0"/>
                <a:ea typeface="ヒラギノ角ゴ Pro W3" charset="-128"/>
                <a:cs typeface="ヒラギノ角ゴ Pro W3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3EF09C-5EDB-4F58-91DD-B668CF939E7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8C88627F-A0B6-4422-8EBE-2772CF252196}" type="slidenum">
              <a:rPr lang="en-US" altLang="it-IT"/>
              <a:pPr/>
              <a:t>‹N›</a:t>
            </a:fld>
            <a:endParaRPr lang="en-US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3EFF7783-B6C9-4A15-82E8-CE4528F93AF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Comic Sans MS" charset="0"/>
                <a:ea typeface="ヒラギノ角ゴ Pro W3" charset="-128"/>
                <a:cs typeface="ヒラギノ角ゴ Pro W3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24CDA4AF-18B7-4609-BAF9-67BBDA92D668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Comic Sans MS" charset="0"/>
                <a:ea typeface="ヒラギノ角ゴ Pro W3" charset="-128"/>
                <a:cs typeface="ヒラギノ角ゴ Pro W3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5DD7045E-199D-490D-A258-4E807824E323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F0F70F66-1DB3-4B17-A27C-3079C46895A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97745B0A-AE47-4CFF-9ED7-592BABA9C39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Comic Sans MS" charset="0"/>
                <a:ea typeface="ヒラギノ角ゴ Pro W3" charset="-128"/>
                <a:cs typeface="ヒラギノ角ゴ Pro W3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CA239817-12F4-479A-AD02-17DA518A3A0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3EF1EA15-2ECE-4738-91BF-B4D3794BB51C}" type="slidenum">
              <a:rPr lang="en-US" altLang="it-IT"/>
              <a:pPr/>
              <a:t>‹N›</a:t>
            </a:fld>
            <a:endParaRPr lang="en-US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 charset="-128"/>
        <a:cs typeface="ヒラギノ角ゴ Pro W3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 charset="-128"/>
        <a:cs typeface="ヒラギノ角ゴ Pro W3" charset="-128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 charset="-128"/>
        <a:cs typeface="ヒラギノ角ゴ Pro W3" charset="-128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 charset="-128"/>
        <a:cs typeface="ヒラギノ角ゴ Pro W3" charset="-128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 charset="-128"/>
        <a:cs typeface="ヒラギノ角ゴ Pro W3" charset="-128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>
            <a:extLst>
              <a:ext uri="{FF2B5EF4-FFF2-40B4-BE49-F238E27FC236}">
                <a16:creationId xmlns:a16="http://schemas.microsoft.com/office/drawing/2014/main" id="{664BEF05-625D-41EF-8A76-7CB695DCA59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646DD348-164D-4541-B8CF-1E5A34F89B10}" type="slidenum">
              <a:rPr lang="en-US" altLang="it-IT" sz="1200"/>
              <a:pPr/>
              <a:t>0</a:t>
            </a:fld>
            <a:endParaRPr lang="en-US" altLang="it-IT" sz="1200"/>
          </a:p>
        </p:txBody>
      </p:sp>
      <p:sp>
        <p:nvSpPr>
          <p:cNvPr id="16386" name="Rectangle 2">
            <a:extLst>
              <a:ext uri="{FF2B5EF4-FFF2-40B4-BE49-F238E27FC236}">
                <a16:creationId xmlns:a16="http://schemas.microsoft.com/office/drawing/2014/main" id="{041FCA4D-DF63-4008-97A0-3DB0F8C8674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660F6E40-C417-4E77-B684-A668B922C7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>
            <a:extLst>
              <a:ext uri="{FF2B5EF4-FFF2-40B4-BE49-F238E27FC236}">
                <a16:creationId xmlns:a16="http://schemas.microsoft.com/office/drawing/2014/main" id="{87C8F96D-8554-4FB6-AD7E-F51A04DBED5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67C0C1CE-71BF-4064-B097-4BD51576B7C3}" type="slidenum">
              <a:rPr lang="en-US" altLang="it-IT" sz="1200"/>
              <a:pPr/>
              <a:t>1</a:t>
            </a:fld>
            <a:endParaRPr lang="en-US" altLang="it-IT" sz="1200"/>
          </a:p>
        </p:txBody>
      </p:sp>
      <p:sp>
        <p:nvSpPr>
          <p:cNvPr id="18434" name="Rectangle 2">
            <a:extLst>
              <a:ext uri="{FF2B5EF4-FFF2-40B4-BE49-F238E27FC236}">
                <a16:creationId xmlns:a16="http://schemas.microsoft.com/office/drawing/2014/main" id="{7857EC11-4999-422E-ACC2-909F4C00689F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56A1F6D8-DD01-42EE-8BE8-DD3D2A7597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7">
            <a:extLst>
              <a:ext uri="{FF2B5EF4-FFF2-40B4-BE49-F238E27FC236}">
                <a16:creationId xmlns:a16="http://schemas.microsoft.com/office/drawing/2014/main" id="{9DDFE4A8-A72E-4501-B5DB-7C97666812A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0622B90C-2C8B-4B6B-9629-AE7ACAF596F1}" type="slidenum">
              <a:rPr lang="en-US" altLang="it-IT" sz="1200"/>
              <a:pPr/>
              <a:t>2</a:t>
            </a:fld>
            <a:endParaRPr lang="en-US" altLang="it-IT" sz="1200"/>
          </a:p>
        </p:txBody>
      </p:sp>
      <p:sp>
        <p:nvSpPr>
          <p:cNvPr id="20482" name="Rectangle 2">
            <a:extLst>
              <a:ext uri="{FF2B5EF4-FFF2-40B4-BE49-F238E27FC236}">
                <a16:creationId xmlns:a16="http://schemas.microsoft.com/office/drawing/2014/main" id="{EB3BF8D0-9F22-482A-B12E-FE64769181A3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96AC3690-2B1D-4767-BAC4-2EC4FD57E7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7">
            <a:extLst>
              <a:ext uri="{FF2B5EF4-FFF2-40B4-BE49-F238E27FC236}">
                <a16:creationId xmlns:a16="http://schemas.microsoft.com/office/drawing/2014/main" id="{1C68B4BF-0AF2-49E1-9D41-5DF40C442FE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38F28612-C1DB-480D-80BB-9F492E893D39}" type="slidenum">
              <a:rPr lang="en-US" altLang="it-IT" sz="1200"/>
              <a:pPr/>
              <a:t>3</a:t>
            </a:fld>
            <a:endParaRPr lang="en-US" altLang="it-IT" sz="1200"/>
          </a:p>
        </p:txBody>
      </p:sp>
      <p:sp>
        <p:nvSpPr>
          <p:cNvPr id="22530" name="Rectangle 2">
            <a:extLst>
              <a:ext uri="{FF2B5EF4-FFF2-40B4-BE49-F238E27FC236}">
                <a16:creationId xmlns:a16="http://schemas.microsoft.com/office/drawing/2014/main" id="{BEF1B80B-7FF3-430F-A425-E9959256AD69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965C4BB9-8A73-4789-98CB-73246737E7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7">
            <a:extLst>
              <a:ext uri="{FF2B5EF4-FFF2-40B4-BE49-F238E27FC236}">
                <a16:creationId xmlns:a16="http://schemas.microsoft.com/office/drawing/2014/main" id="{79A1446E-7B82-4284-8AC2-279AA77683F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6AF180F8-9DF3-4F99-8261-69E576EBC5F8}" type="slidenum">
              <a:rPr lang="en-US" altLang="it-IT" sz="1200"/>
              <a:pPr/>
              <a:t>4</a:t>
            </a:fld>
            <a:endParaRPr lang="en-US" altLang="it-IT" sz="1200"/>
          </a:p>
        </p:txBody>
      </p:sp>
      <p:sp>
        <p:nvSpPr>
          <p:cNvPr id="24578" name="Rectangle 2">
            <a:extLst>
              <a:ext uri="{FF2B5EF4-FFF2-40B4-BE49-F238E27FC236}">
                <a16:creationId xmlns:a16="http://schemas.microsoft.com/office/drawing/2014/main" id="{E8AAEBE1-72E1-41DC-AA37-E8735E36886D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5EA02445-F9F4-490B-9D71-5132F8BEAF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7">
            <a:extLst>
              <a:ext uri="{FF2B5EF4-FFF2-40B4-BE49-F238E27FC236}">
                <a16:creationId xmlns:a16="http://schemas.microsoft.com/office/drawing/2014/main" id="{B2CEFBD3-75E3-4420-9665-4F1E29E807D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B009C2D9-FE4A-4BBD-92ED-C0A29CDC69F6}" type="slidenum">
              <a:rPr lang="en-US" altLang="it-IT" sz="1200"/>
              <a:pPr/>
              <a:t>6</a:t>
            </a:fld>
            <a:endParaRPr lang="en-US" altLang="it-IT" sz="1200"/>
          </a:p>
        </p:txBody>
      </p:sp>
      <p:sp>
        <p:nvSpPr>
          <p:cNvPr id="27650" name="Rectangle 2">
            <a:extLst>
              <a:ext uri="{FF2B5EF4-FFF2-40B4-BE49-F238E27FC236}">
                <a16:creationId xmlns:a16="http://schemas.microsoft.com/office/drawing/2014/main" id="{F8BA8B57-475F-46B3-AB6C-895D93E8533E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6EA47D8F-6874-4FD0-8A3A-39C64070D2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7">
            <a:extLst>
              <a:ext uri="{FF2B5EF4-FFF2-40B4-BE49-F238E27FC236}">
                <a16:creationId xmlns:a16="http://schemas.microsoft.com/office/drawing/2014/main" id="{DDA82E0E-AC94-4E9D-BFBF-B8F9502A2C2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CA35343D-488B-47BA-95F4-C0F4D6996712}" type="slidenum">
              <a:rPr lang="en-US" altLang="it-IT" sz="1200"/>
              <a:pPr/>
              <a:t>7</a:t>
            </a:fld>
            <a:endParaRPr lang="en-US" altLang="it-IT" sz="1200"/>
          </a:p>
        </p:txBody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D8CB7C63-AE73-41F9-ABC6-E976A03E1104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CA3A1525-E75C-428F-815E-630C9B0D11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r>
              <a:rPr lang="en-US" altLang="it-IT">
                <a:latin typeface="Arial" panose="020B0604020202020204" pitchFamily="34" charset="0"/>
                <a:ea typeface="ヒラギノ角ゴ Pro W3"/>
                <a:cs typeface="ヒラギノ角ゴ Pro W3"/>
              </a:rPr>
              <a:t>Note that the diagram shows multiple virtual address space</a:t>
            </a:r>
            <a:r>
              <a:rPr lang="en-US" altLang="it-IT" i="1" u="sng">
                <a:latin typeface="Arial" panose="020B0604020202020204" pitchFamily="34" charset="0"/>
                <a:ea typeface="ヒラギノ角ゴ Pro W3"/>
                <a:cs typeface="ヒラギノ角ゴ Pro W3"/>
              </a:rPr>
              <a:t>s</a:t>
            </a:r>
            <a:r>
              <a:rPr lang="en-US" altLang="it-IT">
                <a:latin typeface="Arial" panose="020B0604020202020204" pitchFamily="34" charset="0"/>
                <a:ea typeface="ヒラギノ角ゴ Pro W3"/>
                <a:cs typeface="ヒラギノ角ゴ Pro W3"/>
              </a:rPr>
              <a:t>, but only one physical address space.</a:t>
            </a:r>
          </a:p>
          <a:p>
            <a:pPr eaLnBrk="1" hangingPunct="1"/>
            <a:r>
              <a:rPr lang="en-US" altLang="it-IT">
                <a:latin typeface="Arial" panose="020B0604020202020204" pitchFamily="34" charset="0"/>
                <a:ea typeface="ヒラギノ角ゴ Pro W3"/>
                <a:cs typeface="ヒラギノ角ゴ Pro W3"/>
              </a:rPr>
              <a:t>The TLB is “a mysterious data structure consulted by the operating system at a page fault”.  In truth, it is a simple single word cache, addressed by virtual address. Each entry contains a single physical address — the start of the page frame in physical memory that currently holds data for that virtual address. Due to the limited size of the TLB, it may hold a subset of the data kept in physical memory.</a:t>
            </a:r>
            <a:endParaRPr lang="en-US" altLang="it-IT" i="1" u="sng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>
            <a:extLst>
              <a:ext uri="{FF2B5EF4-FFF2-40B4-BE49-F238E27FC236}">
                <a16:creationId xmlns:a16="http://schemas.microsoft.com/office/drawing/2014/main" id="{CAD05481-6CD8-4EC0-88D7-65E3AB0760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31746" name="Notes Placeholder 2">
            <a:extLst>
              <a:ext uri="{FF2B5EF4-FFF2-40B4-BE49-F238E27FC236}">
                <a16:creationId xmlns:a16="http://schemas.microsoft.com/office/drawing/2014/main" id="{87931B91-10B8-4255-88BD-C3083E4CA0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it-IT">
                <a:latin typeface="Arial" panose="020B0604020202020204" pitchFamily="34" charset="0"/>
                <a:ea typeface="ヒラギノ角ゴ Pro W3"/>
                <a:cs typeface="ヒラギノ角ゴ Pro W3"/>
              </a:rPr>
              <a:t>In practice, the TLB may hold a subset of the data kept in cache!</a:t>
            </a:r>
          </a:p>
        </p:txBody>
      </p:sp>
      <p:sp>
        <p:nvSpPr>
          <p:cNvPr id="31747" name="Slide Number Placeholder 3">
            <a:extLst>
              <a:ext uri="{FF2B5EF4-FFF2-40B4-BE49-F238E27FC236}">
                <a16:creationId xmlns:a16="http://schemas.microsoft.com/office/drawing/2014/main" id="{9FEFCC9F-34EC-4F16-A305-FF4C9BB052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1FEE81E7-3884-4598-87E2-6C7E47BF9135}" type="slidenum">
              <a:rPr lang="en-US" altLang="it-IT" sz="1200"/>
              <a:pPr/>
              <a:t>8</a:t>
            </a:fld>
            <a:endParaRPr lang="en-US" altLang="it-IT" sz="12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>
            <a:extLst>
              <a:ext uri="{FF2B5EF4-FFF2-40B4-BE49-F238E27FC236}">
                <a16:creationId xmlns:a16="http://schemas.microsoft.com/office/drawing/2014/main" id="{80635C70-AAD3-4A77-9095-31BBAEF2D9D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9AA94BB4-B310-439A-ADB9-070A33D35055}" type="slidenum">
              <a:rPr lang="en-US" altLang="it-IT" sz="1200"/>
              <a:pPr/>
              <a:t>9</a:t>
            </a:fld>
            <a:endParaRPr lang="en-US" altLang="it-IT" sz="1200"/>
          </a:p>
        </p:txBody>
      </p:sp>
      <p:sp>
        <p:nvSpPr>
          <p:cNvPr id="33794" name="Rectangle 2">
            <a:extLst>
              <a:ext uri="{FF2B5EF4-FFF2-40B4-BE49-F238E27FC236}">
                <a16:creationId xmlns:a16="http://schemas.microsoft.com/office/drawing/2014/main" id="{1995063C-484C-4164-8E74-39369DB0E9E3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E90DFB80-A383-460D-8F36-AD01364748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7">
            <a:extLst>
              <a:ext uri="{FF2B5EF4-FFF2-40B4-BE49-F238E27FC236}">
                <a16:creationId xmlns:a16="http://schemas.microsoft.com/office/drawing/2014/main" id="{6115C823-2526-4AD4-9D39-6B376451E27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1C826727-9184-4B62-80F7-96AD2CAE01A9}" type="slidenum">
              <a:rPr lang="en-US" altLang="it-IT" sz="1200"/>
              <a:pPr/>
              <a:t>10</a:t>
            </a:fld>
            <a:endParaRPr lang="en-US" altLang="it-IT" sz="1200"/>
          </a:p>
        </p:txBody>
      </p:sp>
      <p:sp>
        <p:nvSpPr>
          <p:cNvPr id="35842" name="Rectangle 2">
            <a:extLst>
              <a:ext uri="{FF2B5EF4-FFF2-40B4-BE49-F238E27FC236}">
                <a16:creationId xmlns:a16="http://schemas.microsoft.com/office/drawing/2014/main" id="{CBC305A2-7F5D-4025-900B-70AA1B1BE737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C8C3B5E6-0C6F-4ECB-8900-2F84DFD621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7">
            <a:extLst>
              <a:ext uri="{FF2B5EF4-FFF2-40B4-BE49-F238E27FC236}">
                <a16:creationId xmlns:a16="http://schemas.microsoft.com/office/drawing/2014/main" id="{9A5864AE-765F-47A7-939F-9DE3C97E93A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07703379-3E5E-44B2-B283-2B96D53B0D15}" type="slidenum">
              <a:rPr lang="en-US" altLang="it-IT" sz="1200"/>
              <a:pPr/>
              <a:t>11</a:t>
            </a:fld>
            <a:endParaRPr lang="en-US" altLang="it-IT" sz="1200"/>
          </a:p>
        </p:txBody>
      </p:sp>
      <p:sp>
        <p:nvSpPr>
          <p:cNvPr id="37890" name="Rectangle 2">
            <a:extLst>
              <a:ext uri="{FF2B5EF4-FFF2-40B4-BE49-F238E27FC236}">
                <a16:creationId xmlns:a16="http://schemas.microsoft.com/office/drawing/2014/main" id="{3B3F422E-81F4-4F6C-8658-AF22456A579A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55EE8970-D810-4829-B04D-B3E3D9730F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7">
            <a:extLst>
              <a:ext uri="{FF2B5EF4-FFF2-40B4-BE49-F238E27FC236}">
                <a16:creationId xmlns:a16="http://schemas.microsoft.com/office/drawing/2014/main" id="{190A2A57-FF1D-4359-B50B-B2AB562ED74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6079559F-B9BA-4E4D-863E-F025874A86CF}" type="slidenum">
              <a:rPr lang="en-US" altLang="it-IT" sz="1200"/>
              <a:pPr/>
              <a:t>12</a:t>
            </a:fld>
            <a:endParaRPr lang="en-US" altLang="it-IT" sz="1200"/>
          </a:p>
        </p:txBody>
      </p:sp>
      <p:sp>
        <p:nvSpPr>
          <p:cNvPr id="39938" name="Rectangle 2">
            <a:extLst>
              <a:ext uri="{FF2B5EF4-FFF2-40B4-BE49-F238E27FC236}">
                <a16:creationId xmlns:a16="http://schemas.microsoft.com/office/drawing/2014/main" id="{075C45AA-73C0-46D4-B4BB-6C913FEC5058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50CB6AEF-F67C-4D6D-AF54-2020E4D4BF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r>
              <a:rPr lang="en-US" altLang="it-IT" sz="1600">
                <a:latin typeface="Arial" panose="020B0604020202020204" pitchFamily="34" charset="0"/>
                <a:ea typeface="ヒラギノ角ゴ Pro W3"/>
                <a:cs typeface="ヒラギノ角ゴ Pro W3"/>
              </a:rPr>
              <a:t>Here, we would access  y at an offset from the start of the data area for local variables</a:t>
            </a:r>
          </a:p>
          <a:p>
            <a:pPr eaLnBrk="1" hangingPunct="1"/>
            <a:r>
              <a:rPr lang="en-US" altLang="it-IT" sz="1600">
                <a:latin typeface="Arial" panose="020B0604020202020204" pitchFamily="34" charset="0"/>
                <a:ea typeface="ヒラギノ角ゴ Pro W3"/>
                <a:cs typeface="ヒラギノ角ゴ Pro W3"/>
              </a:rPr>
              <a:t>To access v, we would access the descriptor using an offset from the start of the data area for local variables and that descriptor would take use to v(0).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7">
            <a:extLst>
              <a:ext uri="{FF2B5EF4-FFF2-40B4-BE49-F238E27FC236}">
                <a16:creationId xmlns:a16="http://schemas.microsoft.com/office/drawing/2014/main" id="{E4E29368-8DFD-4D42-B967-D2BF394D2AF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1EA3F4AA-D9E7-494B-9833-92DA1B76228F}" type="slidenum">
              <a:rPr lang="en-US" altLang="it-IT" sz="1200"/>
              <a:pPr/>
              <a:t>13</a:t>
            </a:fld>
            <a:endParaRPr lang="en-US" altLang="it-IT" sz="1200"/>
          </a:p>
        </p:txBody>
      </p:sp>
      <p:sp>
        <p:nvSpPr>
          <p:cNvPr id="41986" name="Rectangle 2">
            <a:extLst>
              <a:ext uri="{FF2B5EF4-FFF2-40B4-BE49-F238E27FC236}">
                <a16:creationId xmlns:a16="http://schemas.microsoft.com/office/drawing/2014/main" id="{53843B4A-71BA-47EB-9D30-4577E834FD6A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5E4AF4DE-7FB9-4846-924C-96D9B79CBB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r>
              <a:rPr lang="en-US" altLang="it-IT">
                <a:latin typeface="Arial" panose="020B0604020202020204" pitchFamily="34" charset="0"/>
                <a:ea typeface="ヒラギノ角ゴ Pro W3"/>
                <a:cs typeface="ヒラギノ角ゴ Pro W3"/>
              </a:rPr>
              <a:t>All access becomes relative to the ARP.</a:t>
            </a:r>
          </a:p>
          <a:p>
            <a:pPr eaLnBrk="1" hangingPunct="1"/>
            <a:r>
              <a:rPr lang="en-US" altLang="it-IT">
                <a:latin typeface="Arial" panose="020B0604020202020204" pitchFamily="34" charset="0"/>
                <a:ea typeface="ヒラギノ角ゴ Pro W3"/>
                <a:cs typeface="ヒラギノ角ゴ Pro W3"/>
              </a:rPr>
              <a:t>The ARP is stored in a (dedicated?) register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7">
            <a:extLst>
              <a:ext uri="{FF2B5EF4-FFF2-40B4-BE49-F238E27FC236}">
                <a16:creationId xmlns:a16="http://schemas.microsoft.com/office/drawing/2014/main" id="{371393A1-5747-420D-B1BA-59821DE9B27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474A81E2-5C41-4872-91B6-6FEB654B1B9D}" type="slidenum">
              <a:rPr lang="en-US" altLang="it-IT" sz="1200"/>
              <a:pPr/>
              <a:t>14</a:t>
            </a:fld>
            <a:endParaRPr lang="en-US" altLang="it-IT" sz="1200"/>
          </a:p>
        </p:txBody>
      </p:sp>
      <p:sp>
        <p:nvSpPr>
          <p:cNvPr id="44034" name="Rectangle 2">
            <a:extLst>
              <a:ext uri="{FF2B5EF4-FFF2-40B4-BE49-F238E27FC236}">
                <a16:creationId xmlns:a16="http://schemas.microsoft.com/office/drawing/2014/main" id="{8663E74F-FA19-4F3B-8338-C4B0DCD57356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BB451D62-3647-4561-A460-D8F4D20A75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7">
            <a:extLst>
              <a:ext uri="{FF2B5EF4-FFF2-40B4-BE49-F238E27FC236}">
                <a16:creationId xmlns:a16="http://schemas.microsoft.com/office/drawing/2014/main" id="{B115BF66-BFCA-488F-872D-6DD31C5B4ED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CD14C23E-9760-4F20-9855-EDCB24AC0CA9}" type="slidenum">
              <a:rPr lang="en-US" altLang="it-IT" sz="1200"/>
              <a:pPr/>
              <a:t>15</a:t>
            </a:fld>
            <a:endParaRPr lang="en-US" altLang="it-IT" sz="1200"/>
          </a:p>
        </p:txBody>
      </p:sp>
      <p:sp>
        <p:nvSpPr>
          <p:cNvPr id="46082" name="Rectangle 2">
            <a:extLst>
              <a:ext uri="{FF2B5EF4-FFF2-40B4-BE49-F238E27FC236}">
                <a16:creationId xmlns:a16="http://schemas.microsoft.com/office/drawing/2014/main" id="{71CBE470-0319-4A14-A4F6-907F2F26054F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254AEB7A-3BB6-4312-BEB3-9B39384D4C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7">
            <a:extLst>
              <a:ext uri="{FF2B5EF4-FFF2-40B4-BE49-F238E27FC236}">
                <a16:creationId xmlns:a16="http://schemas.microsoft.com/office/drawing/2014/main" id="{DD55F262-8287-4A1A-BAEA-D6F864C1EBB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D976206B-2B47-44C8-AA47-55A4D282A9AB}" type="slidenum">
              <a:rPr lang="en-US" altLang="it-IT" sz="1200"/>
              <a:pPr/>
              <a:t>16</a:t>
            </a:fld>
            <a:endParaRPr lang="en-US" altLang="it-IT" sz="1200"/>
          </a:p>
        </p:txBody>
      </p:sp>
      <p:sp>
        <p:nvSpPr>
          <p:cNvPr id="48130" name="Rectangle 2">
            <a:extLst>
              <a:ext uri="{FF2B5EF4-FFF2-40B4-BE49-F238E27FC236}">
                <a16:creationId xmlns:a16="http://schemas.microsoft.com/office/drawing/2014/main" id="{79443BAC-EA67-4484-96A4-85E505F9CCB1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BFD2B5E0-7B29-4928-9DA8-C42882CA9B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7">
            <a:extLst>
              <a:ext uri="{FF2B5EF4-FFF2-40B4-BE49-F238E27FC236}">
                <a16:creationId xmlns:a16="http://schemas.microsoft.com/office/drawing/2014/main" id="{013717C4-2736-40FE-9B52-4B2BBEAA004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ED70DD1F-C0A0-4979-BB05-64CAA1C76F17}" type="slidenum">
              <a:rPr lang="en-US" altLang="it-IT" sz="1200"/>
              <a:pPr/>
              <a:t>17</a:t>
            </a:fld>
            <a:endParaRPr lang="en-US" altLang="it-IT" sz="1200"/>
          </a:p>
        </p:txBody>
      </p:sp>
      <p:sp>
        <p:nvSpPr>
          <p:cNvPr id="50178" name="Rectangle 2">
            <a:extLst>
              <a:ext uri="{FF2B5EF4-FFF2-40B4-BE49-F238E27FC236}">
                <a16:creationId xmlns:a16="http://schemas.microsoft.com/office/drawing/2014/main" id="{3C727797-DBCC-4E7E-8026-7BC6CDE48EDD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CCCCDB8E-4687-492B-AF27-6E4EF928E7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7">
            <a:extLst>
              <a:ext uri="{FF2B5EF4-FFF2-40B4-BE49-F238E27FC236}">
                <a16:creationId xmlns:a16="http://schemas.microsoft.com/office/drawing/2014/main" id="{37E2D4C1-4545-4E2F-9DE2-9845FBBED81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651A3869-BB3E-40E9-96B3-5C2BCC243666}" type="slidenum">
              <a:rPr lang="en-US" altLang="it-IT" sz="1200"/>
              <a:pPr/>
              <a:t>18</a:t>
            </a:fld>
            <a:endParaRPr lang="en-US" altLang="it-IT" sz="1200"/>
          </a:p>
        </p:txBody>
      </p:sp>
      <p:sp>
        <p:nvSpPr>
          <p:cNvPr id="52226" name="Rectangle 2">
            <a:extLst>
              <a:ext uri="{FF2B5EF4-FFF2-40B4-BE49-F238E27FC236}">
                <a16:creationId xmlns:a16="http://schemas.microsoft.com/office/drawing/2014/main" id="{4AED5733-560C-46E9-9B61-1F634CDA44BE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8CFEBC33-D204-4CF3-A22C-504C4FBB08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7">
            <a:extLst>
              <a:ext uri="{FF2B5EF4-FFF2-40B4-BE49-F238E27FC236}">
                <a16:creationId xmlns:a16="http://schemas.microsoft.com/office/drawing/2014/main" id="{4CF48C1F-D800-42E3-8F74-BFF1D5D00AA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F5CC8777-AFAF-4A3D-9778-AA6280DB294D}" type="slidenum">
              <a:rPr lang="en-US" altLang="it-IT" sz="1200"/>
              <a:pPr/>
              <a:t>19</a:t>
            </a:fld>
            <a:endParaRPr lang="en-US" altLang="it-IT" sz="1200"/>
          </a:p>
        </p:txBody>
      </p:sp>
      <p:sp>
        <p:nvSpPr>
          <p:cNvPr id="54274" name="Rectangle 2">
            <a:extLst>
              <a:ext uri="{FF2B5EF4-FFF2-40B4-BE49-F238E27FC236}">
                <a16:creationId xmlns:a16="http://schemas.microsoft.com/office/drawing/2014/main" id="{967DD5A6-0BC8-40DE-8723-8D5A634BB593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4D7FF08C-0A02-45A2-B5DB-7843E8C316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7">
            <a:extLst>
              <a:ext uri="{FF2B5EF4-FFF2-40B4-BE49-F238E27FC236}">
                <a16:creationId xmlns:a16="http://schemas.microsoft.com/office/drawing/2014/main" id="{AEBF4C14-7271-467D-8297-F18143DD900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C33B7564-CB40-499E-8C9A-6B7F68A258CF}" type="slidenum">
              <a:rPr lang="en-US" altLang="it-IT" sz="1200"/>
              <a:pPr/>
              <a:t>20</a:t>
            </a:fld>
            <a:endParaRPr lang="en-US" altLang="it-IT" sz="1200"/>
          </a:p>
        </p:txBody>
      </p:sp>
      <p:sp>
        <p:nvSpPr>
          <p:cNvPr id="56322" name="Rectangle 2">
            <a:extLst>
              <a:ext uri="{FF2B5EF4-FFF2-40B4-BE49-F238E27FC236}">
                <a16:creationId xmlns:a16="http://schemas.microsoft.com/office/drawing/2014/main" id="{4B1AB355-42C1-467C-9B48-037F1D45C95D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7E3AA839-84CE-4256-A055-4B4DAE21DB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7">
            <a:extLst>
              <a:ext uri="{FF2B5EF4-FFF2-40B4-BE49-F238E27FC236}">
                <a16:creationId xmlns:a16="http://schemas.microsoft.com/office/drawing/2014/main" id="{2441EEC4-0C20-431C-AF27-2AE36020323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D59AB95C-D0F6-4D94-8856-309B70335AB8}" type="slidenum">
              <a:rPr lang="en-US" altLang="it-IT" sz="1200"/>
              <a:pPr/>
              <a:t>21</a:t>
            </a:fld>
            <a:endParaRPr lang="en-US" altLang="it-IT" sz="1200"/>
          </a:p>
        </p:txBody>
      </p:sp>
      <p:sp>
        <p:nvSpPr>
          <p:cNvPr id="58370" name="Rectangle 2">
            <a:extLst>
              <a:ext uri="{FF2B5EF4-FFF2-40B4-BE49-F238E27FC236}">
                <a16:creationId xmlns:a16="http://schemas.microsoft.com/office/drawing/2014/main" id="{F2E28864-13EF-491B-95CE-4AB37AD1BAA1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A1D0B259-8A1A-44F4-B776-D24D2E0446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7">
            <a:extLst>
              <a:ext uri="{FF2B5EF4-FFF2-40B4-BE49-F238E27FC236}">
                <a16:creationId xmlns:a16="http://schemas.microsoft.com/office/drawing/2014/main" id="{24716BC1-30E0-4845-BA0B-B6221823C25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DB8DEA67-CFCB-4DEA-B37D-AF878FB30E08}" type="slidenum">
              <a:rPr lang="en-US" altLang="it-IT" sz="1200"/>
              <a:pPr/>
              <a:t>22</a:t>
            </a:fld>
            <a:endParaRPr lang="en-US" altLang="it-IT" sz="1200"/>
          </a:p>
        </p:txBody>
      </p:sp>
      <p:sp>
        <p:nvSpPr>
          <p:cNvPr id="60418" name="Rectangle 2">
            <a:extLst>
              <a:ext uri="{FF2B5EF4-FFF2-40B4-BE49-F238E27FC236}">
                <a16:creationId xmlns:a16="http://schemas.microsoft.com/office/drawing/2014/main" id="{868718B6-B111-4538-8DCD-B53F734B31BF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CE13D12B-1330-4024-8E63-402E0FE9EE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7">
            <a:extLst>
              <a:ext uri="{FF2B5EF4-FFF2-40B4-BE49-F238E27FC236}">
                <a16:creationId xmlns:a16="http://schemas.microsoft.com/office/drawing/2014/main" id="{1B9E4F78-DAF1-478C-B34E-7F4ECD6EF8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83D58DC2-DE97-4942-8DCE-8A5713BAEE47}" type="slidenum">
              <a:rPr lang="en-US" altLang="it-IT" sz="1200"/>
              <a:pPr/>
              <a:t>23</a:t>
            </a:fld>
            <a:endParaRPr lang="en-US" altLang="it-IT" sz="1200"/>
          </a:p>
        </p:txBody>
      </p:sp>
      <p:sp>
        <p:nvSpPr>
          <p:cNvPr id="62466" name="Rectangle 2">
            <a:extLst>
              <a:ext uri="{FF2B5EF4-FFF2-40B4-BE49-F238E27FC236}">
                <a16:creationId xmlns:a16="http://schemas.microsoft.com/office/drawing/2014/main" id="{35621A1A-9423-4F8C-BBE4-F7D8E1DF8E38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0F6805F6-4937-40EF-B7EE-074A879139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7">
            <a:extLst>
              <a:ext uri="{FF2B5EF4-FFF2-40B4-BE49-F238E27FC236}">
                <a16:creationId xmlns:a16="http://schemas.microsoft.com/office/drawing/2014/main" id="{019A089A-6C12-4DE8-B4C9-D696CA0E8DF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98F728CA-CE1E-4799-9452-2809DBF08121}" type="slidenum">
              <a:rPr lang="en-US" altLang="it-IT" sz="1200"/>
              <a:pPr/>
              <a:t>24</a:t>
            </a:fld>
            <a:endParaRPr lang="en-US" altLang="it-IT" sz="1200"/>
          </a:p>
        </p:txBody>
      </p:sp>
      <p:sp>
        <p:nvSpPr>
          <p:cNvPr id="64514" name="Rectangle 2">
            <a:extLst>
              <a:ext uri="{FF2B5EF4-FFF2-40B4-BE49-F238E27FC236}">
                <a16:creationId xmlns:a16="http://schemas.microsoft.com/office/drawing/2014/main" id="{07455085-DFDE-4693-9714-B89061E8309C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6217B192-1BE7-4B54-BCB7-D3C6EB06D7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7">
            <a:extLst>
              <a:ext uri="{FF2B5EF4-FFF2-40B4-BE49-F238E27FC236}">
                <a16:creationId xmlns:a16="http://schemas.microsoft.com/office/drawing/2014/main" id="{73318C0E-B1E9-4591-883C-C0FC105ADBD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8F09F650-8C1D-47D1-84C9-6C358E47E40F}" type="slidenum">
              <a:rPr lang="en-US" altLang="it-IT" sz="1200"/>
              <a:pPr/>
              <a:t>25</a:t>
            </a:fld>
            <a:endParaRPr lang="en-US" altLang="it-IT" sz="1200"/>
          </a:p>
        </p:txBody>
      </p:sp>
      <p:sp>
        <p:nvSpPr>
          <p:cNvPr id="66562" name="Rectangle 2">
            <a:extLst>
              <a:ext uri="{FF2B5EF4-FFF2-40B4-BE49-F238E27FC236}">
                <a16:creationId xmlns:a16="http://schemas.microsoft.com/office/drawing/2014/main" id="{A72D9A69-22C0-48E0-AD71-7A2BE54DD284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5E33A7DC-4A86-4758-876A-08F1F9F9F6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r>
              <a:rPr lang="en-US" altLang="it-IT" sz="1600">
                <a:latin typeface="Arial" panose="020B0604020202020204" pitchFamily="34" charset="0"/>
                <a:ea typeface="ヒラギノ角ゴ Pro W3"/>
                <a:cs typeface="ヒラギノ角ゴ Pro W3"/>
              </a:rPr>
              <a:t>Three abstractions are control abstraction, name space, external interfaces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7">
            <a:extLst>
              <a:ext uri="{FF2B5EF4-FFF2-40B4-BE49-F238E27FC236}">
                <a16:creationId xmlns:a16="http://schemas.microsoft.com/office/drawing/2014/main" id="{3A671FE9-E8E6-4FAB-BAAA-B59E672D5A1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1C392A07-E373-4382-A05C-8934CCD3DCB0}" type="slidenum">
              <a:rPr lang="en-US" altLang="it-IT" sz="1200"/>
              <a:pPr/>
              <a:t>26</a:t>
            </a:fld>
            <a:endParaRPr lang="en-US" altLang="it-IT" sz="1200"/>
          </a:p>
        </p:txBody>
      </p:sp>
      <p:sp>
        <p:nvSpPr>
          <p:cNvPr id="68610" name="Rectangle 2">
            <a:extLst>
              <a:ext uri="{FF2B5EF4-FFF2-40B4-BE49-F238E27FC236}">
                <a16:creationId xmlns:a16="http://schemas.microsoft.com/office/drawing/2014/main" id="{2FB0F734-287C-4087-A108-8FC9CBE975AD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A25F99A3-EB03-4B39-AD9D-79D377EB5C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7">
            <a:extLst>
              <a:ext uri="{FF2B5EF4-FFF2-40B4-BE49-F238E27FC236}">
                <a16:creationId xmlns:a16="http://schemas.microsoft.com/office/drawing/2014/main" id="{914171D3-F184-4E39-8BD8-4A5224A6B00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3F9C91DD-941C-4817-A5B4-71F781ADFAA1}" type="slidenum">
              <a:rPr lang="en-US" altLang="it-IT" sz="1200"/>
              <a:pPr/>
              <a:t>27</a:t>
            </a:fld>
            <a:endParaRPr lang="en-US" altLang="it-IT" sz="1200"/>
          </a:p>
        </p:txBody>
      </p:sp>
      <p:sp>
        <p:nvSpPr>
          <p:cNvPr id="70658" name="Rectangle 2">
            <a:extLst>
              <a:ext uri="{FF2B5EF4-FFF2-40B4-BE49-F238E27FC236}">
                <a16:creationId xmlns:a16="http://schemas.microsoft.com/office/drawing/2014/main" id="{11649609-6C48-407F-AE02-78868FBB0FA6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90C2A056-9B77-461A-93FA-128DA51DB1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7">
            <a:extLst>
              <a:ext uri="{FF2B5EF4-FFF2-40B4-BE49-F238E27FC236}">
                <a16:creationId xmlns:a16="http://schemas.microsoft.com/office/drawing/2014/main" id="{666C42C5-3430-4D5B-AE1E-E61B2D8D294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ADC04542-2592-4E2E-9FC3-1DA0F82D4012}" type="slidenum">
              <a:rPr lang="en-US" altLang="it-IT" sz="1200"/>
              <a:pPr/>
              <a:t>28</a:t>
            </a:fld>
            <a:endParaRPr lang="en-US" altLang="it-IT" sz="1200"/>
          </a:p>
        </p:txBody>
      </p:sp>
      <p:sp>
        <p:nvSpPr>
          <p:cNvPr id="72706" name="Rectangle 2">
            <a:extLst>
              <a:ext uri="{FF2B5EF4-FFF2-40B4-BE49-F238E27FC236}">
                <a16:creationId xmlns:a16="http://schemas.microsoft.com/office/drawing/2014/main" id="{D797AF98-D651-4F36-BA47-B421B4A8CEFC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31189C33-F8DB-41EF-9D7E-799B971849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7">
            <a:extLst>
              <a:ext uri="{FF2B5EF4-FFF2-40B4-BE49-F238E27FC236}">
                <a16:creationId xmlns:a16="http://schemas.microsoft.com/office/drawing/2014/main" id="{66AA643F-2673-4DB4-A3D2-43676AD4E4E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A47800FA-38B2-4888-B264-4EDC54DD6C09}" type="slidenum">
              <a:rPr lang="en-US" altLang="it-IT" sz="1200"/>
              <a:pPr/>
              <a:t>29</a:t>
            </a:fld>
            <a:endParaRPr lang="en-US" altLang="it-IT" sz="1200"/>
          </a:p>
        </p:txBody>
      </p:sp>
      <p:sp>
        <p:nvSpPr>
          <p:cNvPr id="74754" name="Rectangle 2">
            <a:extLst>
              <a:ext uri="{FF2B5EF4-FFF2-40B4-BE49-F238E27FC236}">
                <a16:creationId xmlns:a16="http://schemas.microsoft.com/office/drawing/2014/main" id="{FDB12791-19A1-486F-97C8-ACC9892EB116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204AF65E-7512-41A2-89BB-74286C6E80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r>
              <a:rPr lang="en-US" altLang="it-IT">
                <a:latin typeface="Arial" panose="020B0604020202020204" pitchFamily="34" charset="0"/>
                <a:ea typeface="ヒラギノ角ゴ Pro W3"/>
                <a:cs typeface="ヒラギノ角ゴ Pro W3"/>
              </a:rPr>
              <a:t>(CW) means “conventional wisdom”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Rectangle 7">
            <a:extLst>
              <a:ext uri="{FF2B5EF4-FFF2-40B4-BE49-F238E27FC236}">
                <a16:creationId xmlns:a16="http://schemas.microsoft.com/office/drawing/2014/main" id="{6F991DAC-308F-4AC3-AFF1-DC7DA032562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A23E5D56-B4E5-4232-B2E0-5545C75E7CB2}" type="slidenum">
              <a:rPr lang="en-US" altLang="it-IT" sz="1200"/>
              <a:pPr/>
              <a:t>30</a:t>
            </a:fld>
            <a:endParaRPr lang="en-US" altLang="it-IT" sz="1200"/>
          </a:p>
        </p:txBody>
      </p:sp>
      <p:sp>
        <p:nvSpPr>
          <p:cNvPr id="76802" name="Rectangle 2">
            <a:extLst>
              <a:ext uri="{FF2B5EF4-FFF2-40B4-BE49-F238E27FC236}">
                <a16:creationId xmlns:a16="http://schemas.microsoft.com/office/drawing/2014/main" id="{A66EC752-721B-40A0-86AE-6156A437959E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DFFDF46D-2531-41EE-9083-874CFF30B4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7">
            <a:extLst>
              <a:ext uri="{FF2B5EF4-FFF2-40B4-BE49-F238E27FC236}">
                <a16:creationId xmlns:a16="http://schemas.microsoft.com/office/drawing/2014/main" id="{08EE7CEB-282A-4653-AAEA-E0CE1C252D3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53F4F624-C341-4A63-8BDB-CAE18AB673C7}" type="slidenum">
              <a:rPr lang="en-US" altLang="it-IT" sz="1200"/>
              <a:pPr/>
              <a:t>31</a:t>
            </a:fld>
            <a:endParaRPr lang="en-US" altLang="it-IT" sz="1200"/>
          </a:p>
        </p:txBody>
      </p:sp>
      <p:sp>
        <p:nvSpPr>
          <p:cNvPr id="78850" name="Rectangle 2">
            <a:extLst>
              <a:ext uri="{FF2B5EF4-FFF2-40B4-BE49-F238E27FC236}">
                <a16:creationId xmlns:a16="http://schemas.microsoft.com/office/drawing/2014/main" id="{EE9B5EF4-DEED-41AE-961C-1554D28023F8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8851" name="Rectangle 3">
            <a:extLst>
              <a:ext uri="{FF2B5EF4-FFF2-40B4-BE49-F238E27FC236}">
                <a16:creationId xmlns:a16="http://schemas.microsoft.com/office/drawing/2014/main" id="{52A5A719-FE95-4DF0-AEA1-E5D68D5063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7">
            <a:extLst>
              <a:ext uri="{FF2B5EF4-FFF2-40B4-BE49-F238E27FC236}">
                <a16:creationId xmlns:a16="http://schemas.microsoft.com/office/drawing/2014/main" id="{F3DE036F-EE0A-440C-980C-A23E5D8170A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05A66F73-4B87-43F8-A3E1-D764D3C747D5}" type="slidenum">
              <a:rPr lang="en-US" altLang="it-IT" sz="1200"/>
              <a:pPr/>
              <a:t>32</a:t>
            </a:fld>
            <a:endParaRPr lang="en-US" altLang="it-IT" sz="1200"/>
          </a:p>
        </p:txBody>
      </p:sp>
      <p:sp>
        <p:nvSpPr>
          <p:cNvPr id="80898" name="Rectangle 2">
            <a:extLst>
              <a:ext uri="{FF2B5EF4-FFF2-40B4-BE49-F238E27FC236}">
                <a16:creationId xmlns:a16="http://schemas.microsoft.com/office/drawing/2014/main" id="{D43FAA27-29D2-4C15-A2D3-365499D35FFD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2EF097CE-CDCA-4EA7-AD0E-4297D0571A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7">
            <a:extLst>
              <a:ext uri="{FF2B5EF4-FFF2-40B4-BE49-F238E27FC236}">
                <a16:creationId xmlns:a16="http://schemas.microsoft.com/office/drawing/2014/main" id="{17BB0036-205B-44E6-B051-83E1BB6E088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911B6E9E-2CF7-4F19-86F9-E6F9E3FCAE36}" type="slidenum">
              <a:rPr lang="en-US" altLang="it-IT" sz="1200"/>
              <a:pPr/>
              <a:t>33</a:t>
            </a:fld>
            <a:endParaRPr lang="en-US" altLang="it-IT" sz="1200"/>
          </a:p>
        </p:txBody>
      </p:sp>
      <p:sp>
        <p:nvSpPr>
          <p:cNvPr id="82946" name="Rectangle 2">
            <a:extLst>
              <a:ext uri="{FF2B5EF4-FFF2-40B4-BE49-F238E27FC236}">
                <a16:creationId xmlns:a16="http://schemas.microsoft.com/office/drawing/2014/main" id="{5AD7DF53-5AF3-4D3C-8B6D-F23ECCC41A72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6A4C44FF-74B1-4575-BFEE-D847949D11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Rectangle 7">
            <a:extLst>
              <a:ext uri="{FF2B5EF4-FFF2-40B4-BE49-F238E27FC236}">
                <a16:creationId xmlns:a16="http://schemas.microsoft.com/office/drawing/2014/main" id="{961D77B3-017B-45E0-AEB7-D088EA09950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72CDF913-9956-4B16-9863-EC739DB65833}" type="slidenum">
              <a:rPr lang="en-US" altLang="it-IT" sz="1200"/>
              <a:pPr/>
              <a:t>34</a:t>
            </a:fld>
            <a:endParaRPr lang="en-US" altLang="it-IT" sz="1200"/>
          </a:p>
        </p:txBody>
      </p:sp>
      <p:sp>
        <p:nvSpPr>
          <p:cNvPr id="84994" name="Rectangle 2">
            <a:extLst>
              <a:ext uri="{FF2B5EF4-FFF2-40B4-BE49-F238E27FC236}">
                <a16:creationId xmlns:a16="http://schemas.microsoft.com/office/drawing/2014/main" id="{BD1B6052-C42F-4A11-9272-B43093A3D297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E4731374-7417-4462-8478-6B4F00C2BD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Rectangle 7">
            <a:extLst>
              <a:ext uri="{FF2B5EF4-FFF2-40B4-BE49-F238E27FC236}">
                <a16:creationId xmlns:a16="http://schemas.microsoft.com/office/drawing/2014/main" id="{4F81FBC6-39E0-46B7-B71B-48E38248A0D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79ADBE7F-4909-4F6C-9B59-A37B4FBAC636}" type="slidenum">
              <a:rPr lang="en-US" altLang="it-IT" sz="1200"/>
              <a:pPr/>
              <a:t>35</a:t>
            </a:fld>
            <a:endParaRPr lang="en-US" altLang="it-IT" sz="1200"/>
          </a:p>
        </p:txBody>
      </p:sp>
      <p:sp>
        <p:nvSpPr>
          <p:cNvPr id="87042" name="Rectangle 2">
            <a:extLst>
              <a:ext uri="{FF2B5EF4-FFF2-40B4-BE49-F238E27FC236}">
                <a16:creationId xmlns:a16="http://schemas.microsoft.com/office/drawing/2014/main" id="{DEEC0DF3-129B-472B-BA36-94A145CCED3F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7043" name="Rectangle 3">
            <a:extLst>
              <a:ext uri="{FF2B5EF4-FFF2-40B4-BE49-F238E27FC236}">
                <a16:creationId xmlns:a16="http://schemas.microsoft.com/office/drawing/2014/main" id="{A814E4E8-EAE7-4D4C-9BFE-6042B1E026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Rectangle 7">
            <a:extLst>
              <a:ext uri="{FF2B5EF4-FFF2-40B4-BE49-F238E27FC236}">
                <a16:creationId xmlns:a16="http://schemas.microsoft.com/office/drawing/2014/main" id="{93BA8240-2068-4B91-8EC4-8D65C3D402A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6F36CB29-3F3C-453F-8324-DCEE40AD605D}" type="slidenum">
              <a:rPr lang="en-US" altLang="it-IT" sz="1200"/>
              <a:pPr/>
              <a:t>36</a:t>
            </a:fld>
            <a:endParaRPr lang="en-US" altLang="it-IT" sz="1200"/>
          </a:p>
        </p:txBody>
      </p:sp>
      <p:sp>
        <p:nvSpPr>
          <p:cNvPr id="89090" name="Rectangle 2">
            <a:extLst>
              <a:ext uri="{FF2B5EF4-FFF2-40B4-BE49-F238E27FC236}">
                <a16:creationId xmlns:a16="http://schemas.microsoft.com/office/drawing/2014/main" id="{2C5DE413-75ED-4A36-A97E-95B08C16A97A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33FA3B86-2ECE-4066-85A7-D3DB9E8242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Rectangle 7">
            <a:extLst>
              <a:ext uri="{FF2B5EF4-FFF2-40B4-BE49-F238E27FC236}">
                <a16:creationId xmlns:a16="http://schemas.microsoft.com/office/drawing/2014/main" id="{718D32C1-576A-4E7C-968A-840D9D2CBD4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25A106B2-CF2D-42D8-B850-440F5649B91F}" type="slidenum">
              <a:rPr lang="en-US" altLang="it-IT" sz="1200"/>
              <a:pPr/>
              <a:t>37</a:t>
            </a:fld>
            <a:endParaRPr lang="en-US" altLang="it-IT" sz="1200"/>
          </a:p>
        </p:txBody>
      </p:sp>
      <p:sp>
        <p:nvSpPr>
          <p:cNvPr id="91138" name="Rectangle 2">
            <a:extLst>
              <a:ext uri="{FF2B5EF4-FFF2-40B4-BE49-F238E27FC236}">
                <a16:creationId xmlns:a16="http://schemas.microsoft.com/office/drawing/2014/main" id="{BDCCC9CA-04B7-41D5-9416-B86B448535B1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1139" name="Rectangle 3">
            <a:extLst>
              <a:ext uri="{FF2B5EF4-FFF2-40B4-BE49-F238E27FC236}">
                <a16:creationId xmlns:a16="http://schemas.microsoft.com/office/drawing/2014/main" id="{8AF60E1E-8FEC-4F9F-AEF5-EFD2AE277F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B63A9E9-823A-49EE-A554-0839AF7644B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C356CBF-2D2C-4FBD-94C8-DC98A4CA3B1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911C1FB-A2E8-4835-A499-645BCFC33ADA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29718290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CDCF65C-14BB-460F-BDAB-56EE33FEC99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A6438C90-7B7F-4C2D-B93D-6338F7A58FD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2919F1-4165-4447-A104-F55B0EF881DF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2024830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F4D1535F-FEB2-4358-A847-76050B06256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0D033A9-0593-48AA-A7CB-129CF35E6EB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8A07C3F-EFF6-471C-B692-851DBBA04E2A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964873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143000"/>
            <a:ext cx="38100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43000"/>
            <a:ext cx="38100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2CE41E9-8EA6-4F70-880E-784EB0F8C07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44E6E8B-8152-48F6-A97F-4778518A79D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DD450D4-D531-41CA-A785-C0533952D4C6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2063759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FEF1E352-E723-406D-BD59-8A296231736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C0902EE6-7354-4CAF-8B35-7D4D064B39E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D01D428-395E-4758-90E8-ECB669E45F2A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3695586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19CDAFD6-0072-496B-B95C-C068B64C52F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BA267817-E719-4B68-8B09-12CFE8D2915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1041395-BBCB-4FFE-B72C-DFF964388A94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4153887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55841EF7-BC92-41C6-850D-F84F1095A6A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575CC95C-68A3-41EE-9739-765E08470CD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E330B6A-1911-4C38-8B77-AFE65A51A93F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735423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C2F709C-F1E0-4321-876A-0D07B3A731E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9FC74B0-263A-44AE-81B5-429BCF57375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4E0C27B-B879-4BDB-B45B-B091CE137E05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2791769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A861A5D-B509-470F-8200-E0F0C775A18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ABD24BF-4422-45E1-930C-6F00BFBC674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622839F-4193-4D61-ABA9-63B8C87C9FF4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474455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89774E75-2BB3-484A-8B57-C58D16465A4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BEA0246-D709-4112-A30B-68E0A94EF48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3691B63-826D-465C-B92D-CC1F41508621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8289849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533400"/>
            <a:ext cx="1943100" cy="5562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533400"/>
            <a:ext cx="5676900" cy="5562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5F4B6D0-6C48-467A-BB1B-5C32A8F8257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80CEEDA-E15C-4AF3-9EA1-0375CF370CA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6C92C61-C039-4F61-99DC-53ACC1A043BC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2827200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DBF60BE-3682-4319-8CE5-48CC8D2C95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533400"/>
            <a:ext cx="7772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it-IT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FAB5EFA-D27A-4A9E-A35E-4375E9E96A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143000"/>
            <a:ext cx="77724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it-IT"/>
              <a:t>Click to edit Master text styles</a:t>
            </a:r>
          </a:p>
          <a:p>
            <a:pPr lvl="1"/>
            <a:r>
              <a:rPr lang="en-US" altLang="it-IT"/>
              <a:t>Second level</a:t>
            </a:r>
          </a:p>
          <a:p>
            <a:pPr lvl="2"/>
            <a:r>
              <a:rPr lang="en-US" altLang="it-IT"/>
              <a:t>Third level</a:t>
            </a:r>
          </a:p>
          <a:p>
            <a:pPr lvl="3"/>
            <a:r>
              <a:rPr lang="en-US" altLang="it-IT"/>
              <a:t>Fourth level</a:t>
            </a:r>
          </a:p>
          <a:p>
            <a:pPr lvl="4"/>
            <a:r>
              <a:rPr lang="en-US" altLang="it-IT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B06D2095-B4F2-4191-83F4-03532201BCA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858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 smtClean="0">
                <a:latin typeface="Comic Sans MS" charset="0"/>
                <a:ea typeface="ヒラギノ角ゴ Pro W3" charset="-128"/>
                <a:cs typeface="ヒラギノ角ゴ Pro W3" charset="-128"/>
              </a:defRPr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E56026C2-208D-4326-B5BA-42857421DCB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27F0726A-41AB-41F2-BCA6-7BA0951DF044}" type="slidenum">
              <a:rPr lang="en-US" altLang="it-IT"/>
              <a:pPr/>
              <a:t>‹N›</a:t>
            </a:fld>
            <a:endParaRPr lang="en-US" altLang="it-IT"/>
          </a:p>
        </p:txBody>
      </p:sp>
      <p:pic>
        <p:nvPicPr>
          <p:cNvPr id="2" name="Picture 7" descr="2007Shield">
            <a:extLst>
              <a:ext uri="{FF2B5EF4-FFF2-40B4-BE49-F238E27FC236}">
                <a16:creationId xmlns:a16="http://schemas.microsoft.com/office/drawing/2014/main" id="{F6E7DFC2-EBF4-4DF9-B82C-35375E4769A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228600"/>
            <a:ext cx="958850" cy="112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2" name="Line 8">
            <a:extLst>
              <a:ext uri="{FF2B5EF4-FFF2-40B4-BE49-F238E27FC236}">
                <a16:creationId xmlns:a16="http://schemas.microsoft.com/office/drawing/2014/main" id="{0677E105-395D-47C6-A1B7-4A59ABD7A448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85800" y="1066800"/>
            <a:ext cx="6858000" cy="0"/>
          </a:xfrm>
          <a:prstGeom prst="line">
            <a:avLst/>
          </a:prstGeom>
          <a:noFill/>
          <a:ln w="57150">
            <a:solidFill>
              <a:srgbClr val="003C75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>
              <a:defRPr/>
            </a:pPr>
            <a:endParaRPr lang="en-US">
              <a:latin typeface="Comic Sans MS" charset="0"/>
              <a:ea typeface="ヒラギノ角ゴ Pro W3" charset="-128"/>
              <a:cs typeface="ヒラギノ角ゴ Pro W3" charset="-128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6pPr>
      <a:lvl7pPr marL="9144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3C75"/>
        </a:buClr>
        <a:buSzPct val="12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03C75"/>
        </a:buClr>
        <a:buChar char="—"/>
        <a:defRPr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3C75"/>
        </a:buClr>
        <a:buSzPct val="90000"/>
        <a:buFont typeface="Symbol" panose="05050102010706020507" pitchFamily="18" charset="2"/>
        <a:buChar char=""/>
        <a:defRPr sz="16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03C75"/>
        </a:buClr>
        <a:buChar char="–"/>
        <a:defRPr sz="16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03C75"/>
        </a:buClr>
        <a:buChar char="»"/>
        <a:defRPr sz="16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003C75"/>
        </a:buClr>
        <a:buChar char="»"/>
        <a:defRPr sz="16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003C75"/>
        </a:buClr>
        <a:buChar char="»"/>
        <a:defRPr sz="16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003C75"/>
        </a:buClr>
        <a:buChar char="»"/>
        <a:defRPr sz="16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003C75"/>
        </a:buClr>
        <a:buChar char="»"/>
        <a:defRPr sz="16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>
            <a:extLst>
              <a:ext uri="{FF2B5EF4-FFF2-40B4-BE49-F238E27FC236}">
                <a16:creationId xmlns:a16="http://schemas.microsoft.com/office/drawing/2014/main" id="{678862CB-3664-45E6-BC53-31D17ADF8F5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447800"/>
            <a:ext cx="7772400" cy="1752600"/>
          </a:xfrm>
        </p:spPr>
        <p:txBody>
          <a:bodyPr/>
          <a:lstStyle/>
          <a:p>
            <a:pPr algn="ctr" eaLnBrk="1" hangingPunct="1"/>
            <a:r>
              <a:rPr lang="en-US" altLang="it-IT" sz="3200" i="1"/>
              <a:t>The Procedure Abstraction, Part III</a:t>
            </a:r>
            <a:br>
              <a:rPr lang="en-US" altLang="it-IT" sz="3200" i="1"/>
            </a:br>
            <a:r>
              <a:rPr lang="en-US" altLang="it-IT" sz="3200" i="1"/>
              <a:t>Storage Layout &amp; Addressability</a:t>
            </a:r>
            <a:br>
              <a:rPr lang="en-US" altLang="it-IT" sz="3200" i="1"/>
            </a:br>
            <a:br>
              <a:rPr lang="en-US" altLang="it-IT" sz="1200" i="1"/>
            </a:br>
            <a:r>
              <a:rPr lang="en-US" altLang="it-IT" sz="3200" i="1"/>
              <a:t>Comp 412</a:t>
            </a:r>
          </a:p>
        </p:txBody>
      </p:sp>
      <p:sp>
        <p:nvSpPr>
          <p:cNvPr id="15362" name="Rectangle 3">
            <a:extLst>
              <a:ext uri="{FF2B5EF4-FFF2-40B4-BE49-F238E27FC236}">
                <a16:creationId xmlns:a16="http://schemas.microsoft.com/office/drawing/2014/main" id="{6FDFCD42-D888-4EB4-9EA8-921D27EC76B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762000" y="4953000"/>
            <a:ext cx="7772400" cy="1295400"/>
          </a:xfrm>
          <a:ln w="12700">
            <a:solidFill>
              <a:srgbClr val="003C75"/>
            </a:solidFill>
            <a:miter lim="800000"/>
            <a:headEnd/>
            <a:tailEnd/>
          </a:ln>
        </p:spPr>
        <p:txBody>
          <a:bodyPr/>
          <a:lstStyle/>
          <a:p>
            <a:pPr algn="l" eaLnBrk="1" hangingPunct="1"/>
            <a:r>
              <a:rPr lang="en-US" altLang="it-IT" sz="1400">
                <a:solidFill>
                  <a:srgbClr val="003C75"/>
                </a:solidFill>
              </a:rPr>
              <a:t>Copyright 2010, Keith D. Cooper &amp; Linda Torczon, all rights reserved.</a:t>
            </a:r>
          </a:p>
          <a:p>
            <a:pPr algn="l" eaLnBrk="1" hangingPunct="1"/>
            <a:r>
              <a:rPr lang="en-US" altLang="it-IT" sz="1400">
                <a:solidFill>
                  <a:srgbClr val="003C75"/>
                </a:solidFill>
              </a:rPr>
              <a:t>Students enrolled in Comp 412 at Rice University have explicit permission to make copies of these materials for their personal use.  </a:t>
            </a:r>
          </a:p>
          <a:p>
            <a:pPr algn="l" eaLnBrk="1" hangingPunct="1"/>
            <a:r>
              <a:rPr lang="en-US" altLang="it-IT" sz="1400">
                <a:solidFill>
                  <a:srgbClr val="003C75"/>
                </a:solidFill>
              </a:rPr>
              <a:t>Faculty from other educational institutions may use these materials for nonprofit educational purposes, provided this copyright notice is preserved.</a:t>
            </a:r>
            <a:endParaRPr lang="en-US" altLang="it-IT">
              <a:solidFill>
                <a:srgbClr val="003C75"/>
              </a:solidFill>
            </a:endParaRPr>
          </a:p>
        </p:txBody>
      </p:sp>
      <p:pic>
        <p:nvPicPr>
          <p:cNvPr id="15363" name="Picture 4" descr="2007Logo">
            <a:extLst>
              <a:ext uri="{FF2B5EF4-FFF2-40B4-BE49-F238E27FC236}">
                <a16:creationId xmlns:a16="http://schemas.microsoft.com/office/drawing/2014/main" id="{C11F7E67-4B25-4B6C-A848-335BA271A4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04800"/>
            <a:ext cx="2330450" cy="94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4" name="Text Box 8">
            <a:extLst>
              <a:ext uri="{FF2B5EF4-FFF2-40B4-BE49-F238E27FC236}">
                <a16:creationId xmlns:a16="http://schemas.microsoft.com/office/drawing/2014/main" id="{0E7DCDA3-76E3-4A74-A18E-5DE48A912D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381000"/>
            <a:ext cx="2667000" cy="84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r">
              <a:spcBef>
                <a:spcPct val="5000"/>
              </a:spcBef>
            </a:pPr>
            <a:r>
              <a:rPr lang="en-US" altLang="it-IT" sz="2400">
                <a:solidFill>
                  <a:srgbClr val="003C75"/>
                </a:solidFill>
                <a:latin typeface="Utopia Std"/>
              </a:rPr>
              <a:t>COMP 412</a:t>
            </a:r>
          </a:p>
          <a:p>
            <a:pPr algn="r">
              <a:spcBef>
                <a:spcPct val="5000"/>
              </a:spcBef>
            </a:pPr>
            <a:r>
              <a:rPr lang="en-US" altLang="it-IT" sz="2400">
                <a:solidFill>
                  <a:srgbClr val="003C75"/>
                </a:solidFill>
                <a:latin typeface="Utopia Std"/>
              </a:rPr>
              <a:t>FALL 2010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Footer Placeholder 3">
            <a:extLst>
              <a:ext uri="{FF2B5EF4-FFF2-40B4-BE49-F238E27FC236}">
                <a16:creationId xmlns:a16="http://schemas.microsoft.com/office/drawing/2014/main" id="{A8F6C5EE-9FE9-4107-A024-0B61A22DA00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200"/>
              <a:t>Comp 412, Fall 2010</a:t>
            </a:r>
          </a:p>
        </p:txBody>
      </p:sp>
      <p:sp>
        <p:nvSpPr>
          <p:cNvPr id="17410" name="Slide Number Placeholder 4">
            <a:extLst>
              <a:ext uri="{FF2B5EF4-FFF2-40B4-BE49-F238E27FC236}">
                <a16:creationId xmlns:a16="http://schemas.microsoft.com/office/drawing/2014/main" id="{A871D0E4-1AF1-4F64-B4F3-482D47A066E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C4EA783F-F16A-4B10-B38D-60BC0995E867}" type="slidenum">
              <a:rPr lang="en-US" altLang="it-IT" sz="1200"/>
              <a:pPr/>
              <a:t>1</a:t>
            </a:fld>
            <a:endParaRPr lang="en-US" altLang="it-IT" sz="1200"/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A058C1D9-EF0A-4756-A6AE-055DE34334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Example 			</a:t>
            </a:r>
          </a:p>
        </p:txBody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99444E4E-B05B-4948-9D9F-AE7E8AD0BA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143000"/>
            <a:ext cx="3886200" cy="4953000"/>
          </a:xfrm>
        </p:spPr>
        <p:txBody>
          <a:bodyPr/>
          <a:lstStyle/>
          <a:p>
            <a:pPr defTabSz="457200" eaLnBrk="1" hangingPunct="1">
              <a:buFont typeface="Times" panose="02020603050405020304" pitchFamily="18" charset="0"/>
              <a:buNone/>
            </a:pPr>
            <a:r>
              <a:rPr lang="en-US" altLang="it-IT" sz="1600">
                <a:latin typeface="Geneva"/>
              </a:rPr>
              <a:t>procedure </a:t>
            </a:r>
            <a:r>
              <a:rPr lang="en-US" altLang="it-IT" sz="1600" i="1">
                <a:latin typeface="Geneva"/>
              </a:rPr>
              <a:t>p</a:t>
            </a:r>
            <a:r>
              <a:rPr lang="en-US" altLang="it-IT" sz="1600">
                <a:latin typeface="Geneva"/>
              </a:rPr>
              <a:t> {</a:t>
            </a:r>
          </a:p>
          <a:p>
            <a:pPr defTabSz="457200" eaLnBrk="1" hangingPunct="1">
              <a:buFont typeface="Times" panose="02020603050405020304" pitchFamily="18" charset="0"/>
              <a:buNone/>
            </a:pPr>
            <a:r>
              <a:rPr lang="en-US" altLang="it-IT" sz="1600">
                <a:latin typeface="Geneva"/>
              </a:rPr>
              <a:t>		int </a:t>
            </a:r>
            <a:r>
              <a:rPr lang="en-US" altLang="it-IT" sz="1600" i="1">
                <a:solidFill>
                  <a:srgbClr val="003C75"/>
                </a:solidFill>
                <a:latin typeface="Geneva"/>
              </a:rPr>
              <a:t>a</a:t>
            </a:r>
            <a:r>
              <a:rPr lang="en-US" altLang="it-IT" sz="1600" i="1">
                <a:latin typeface="Geneva"/>
              </a:rPr>
              <a:t>, </a:t>
            </a:r>
            <a:r>
              <a:rPr lang="en-US" altLang="it-IT" sz="1600" i="1">
                <a:solidFill>
                  <a:srgbClr val="B025A6"/>
                </a:solidFill>
                <a:latin typeface="Geneva"/>
              </a:rPr>
              <a:t>b</a:t>
            </a:r>
            <a:r>
              <a:rPr lang="en-US" altLang="it-IT" sz="1600" i="1">
                <a:latin typeface="Geneva"/>
              </a:rPr>
              <a:t>, c</a:t>
            </a:r>
            <a:endParaRPr lang="en-US" altLang="it-IT" sz="1600">
              <a:latin typeface="Geneva"/>
            </a:endParaRPr>
          </a:p>
          <a:p>
            <a:pPr defTabSz="457200" eaLnBrk="1" hangingPunct="1">
              <a:buFont typeface="Times" panose="02020603050405020304" pitchFamily="18" charset="0"/>
              <a:buNone/>
            </a:pPr>
            <a:r>
              <a:rPr lang="en-US" altLang="it-IT" sz="1600">
                <a:latin typeface="Geneva"/>
              </a:rPr>
              <a:t>		procedure </a:t>
            </a:r>
            <a:r>
              <a:rPr lang="en-US" altLang="it-IT" sz="1600" i="1">
                <a:latin typeface="Geneva"/>
              </a:rPr>
              <a:t>q</a:t>
            </a:r>
            <a:r>
              <a:rPr lang="en-US" altLang="it-IT" sz="1600">
                <a:latin typeface="Geneva"/>
              </a:rPr>
              <a:t> {</a:t>
            </a:r>
          </a:p>
          <a:p>
            <a:pPr defTabSz="457200" eaLnBrk="1" hangingPunct="1">
              <a:buFont typeface="Times" panose="02020603050405020304" pitchFamily="18" charset="0"/>
              <a:buNone/>
            </a:pPr>
            <a:r>
              <a:rPr lang="en-US" altLang="it-IT" sz="1600">
                <a:latin typeface="Geneva"/>
              </a:rPr>
              <a:t>			int </a:t>
            </a:r>
            <a:r>
              <a:rPr lang="en-US" altLang="it-IT" sz="1600" i="1">
                <a:latin typeface="Geneva"/>
              </a:rPr>
              <a:t>v, </a:t>
            </a:r>
            <a:r>
              <a:rPr lang="en-US" altLang="it-IT" sz="1600" i="1">
                <a:solidFill>
                  <a:srgbClr val="B025A6"/>
                </a:solidFill>
                <a:latin typeface="Geneva"/>
              </a:rPr>
              <a:t>b</a:t>
            </a:r>
            <a:r>
              <a:rPr lang="en-US" altLang="it-IT" sz="1600" i="1">
                <a:latin typeface="Geneva"/>
              </a:rPr>
              <a:t>, </a:t>
            </a:r>
            <a:r>
              <a:rPr lang="en-US" altLang="it-IT" sz="1600" i="1">
                <a:solidFill>
                  <a:srgbClr val="FF0065"/>
                </a:solidFill>
                <a:latin typeface="Geneva"/>
              </a:rPr>
              <a:t>x</a:t>
            </a:r>
            <a:r>
              <a:rPr lang="en-US" altLang="it-IT" sz="1600" i="1">
                <a:latin typeface="Geneva"/>
              </a:rPr>
              <a:t>, w</a:t>
            </a:r>
            <a:endParaRPr lang="en-US" altLang="it-IT" sz="1600">
              <a:latin typeface="Geneva"/>
            </a:endParaRPr>
          </a:p>
          <a:p>
            <a:pPr defTabSz="457200" eaLnBrk="1" hangingPunct="1">
              <a:buFont typeface="Times" panose="02020603050405020304" pitchFamily="18" charset="0"/>
              <a:buNone/>
            </a:pPr>
            <a:r>
              <a:rPr lang="en-US" altLang="it-IT" sz="1600">
                <a:latin typeface="Geneva"/>
              </a:rPr>
              <a:t>			procedure  </a:t>
            </a:r>
            <a:r>
              <a:rPr lang="en-US" altLang="it-IT" sz="1600" i="1">
                <a:latin typeface="Geneva"/>
              </a:rPr>
              <a:t>r</a:t>
            </a:r>
            <a:r>
              <a:rPr lang="en-US" altLang="it-IT" sz="1600">
                <a:latin typeface="Geneva"/>
              </a:rPr>
              <a:t> {</a:t>
            </a:r>
          </a:p>
          <a:p>
            <a:pPr defTabSz="457200" eaLnBrk="1" hangingPunct="1">
              <a:buFont typeface="Times" panose="02020603050405020304" pitchFamily="18" charset="0"/>
              <a:buNone/>
            </a:pPr>
            <a:r>
              <a:rPr lang="en-US" altLang="it-IT" sz="1600">
                <a:latin typeface="Geneva"/>
              </a:rPr>
              <a:t>				int </a:t>
            </a:r>
            <a:r>
              <a:rPr lang="en-US" altLang="it-IT" sz="1600" i="1">
                <a:solidFill>
                  <a:srgbClr val="FF0065"/>
                </a:solidFill>
                <a:latin typeface="Geneva"/>
              </a:rPr>
              <a:t>x</a:t>
            </a:r>
            <a:r>
              <a:rPr lang="en-US" altLang="it-IT" sz="1600" i="1">
                <a:latin typeface="Geneva"/>
              </a:rPr>
              <a:t>, y, z</a:t>
            </a:r>
          </a:p>
          <a:p>
            <a:pPr defTabSz="457200" eaLnBrk="1" hangingPunct="1">
              <a:buFont typeface="Times" panose="02020603050405020304" pitchFamily="18" charset="0"/>
              <a:buNone/>
            </a:pPr>
            <a:r>
              <a:rPr lang="en-US" altLang="it-IT" sz="1600">
                <a:latin typeface="Geneva"/>
              </a:rPr>
              <a:t>				….</a:t>
            </a:r>
          </a:p>
          <a:p>
            <a:pPr defTabSz="457200" eaLnBrk="1" hangingPunct="1">
              <a:buFont typeface="Times" panose="02020603050405020304" pitchFamily="18" charset="0"/>
              <a:buNone/>
            </a:pPr>
            <a:r>
              <a:rPr lang="en-US" altLang="it-IT" sz="1600">
                <a:latin typeface="Geneva"/>
              </a:rPr>
              <a:t>			}</a:t>
            </a:r>
          </a:p>
          <a:p>
            <a:pPr defTabSz="457200" eaLnBrk="1" hangingPunct="1">
              <a:buFont typeface="Times" panose="02020603050405020304" pitchFamily="18" charset="0"/>
              <a:buNone/>
            </a:pPr>
            <a:r>
              <a:rPr lang="en-US" altLang="it-IT" sz="1600">
                <a:latin typeface="Geneva"/>
              </a:rPr>
              <a:t>			procedure </a:t>
            </a:r>
            <a:r>
              <a:rPr lang="en-US" altLang="it-IT" sz="1600" i="1">
                <a:latin typeface="Geneva"/>
              </a:rPr>
              <a:t>s</a:t>
            </a:r>
            <a:r>
              <a:rPr lang="en-US" altLang="it-IT" sz="1600">
                <a:latin typeface="Geneva"/>
              </a:rPr>
              <a:t> {</a:t>
            </a:r>
          </a:p>
          <a:p>
            <a:pPr defTabSz="457200" eaLnBrk="1" hangingPunct="1">
              <a:buFont typeface="Times" panose="02020603050405020304" pitchFamily="18" charset="0"/>
              <a:buNone/>
            </a:pPr>
            <a:r>
              <a:rPr lang="en-US" altLang="it-IT" sz="1600">
                <a:latin typeface="Geneva"/>
              </a:rPr>
              <a:t>				int </a:t>
            </a:r>
            <a:r>
              <a:rPr lang="en-US" altLang="it-IT" sz="1600" i="1">
                <a:solidFill>
                  <a:srgbClr val="FF0065"/>
                </a:solidFill>
                <a:latin typeface="Geneva"/>
              </a:rPr>
              <a:t>x</a:t>
            </a:r>
            <a:r>
              <a:rPr lang="en-US" altLang="it-IT" sz="1600" i="1">
                <a:latin typeface="Geneva"/>
              </a:rPr>
              <a:t>, </a:t>
            </a:r>
            <a:r>
              <a:rPr lang="en-US" altLang="it-IT" sz="1600" i="1">
                <a:solidFill>
                  <a:srgbClr val="003C75"/>
                </a:solidFill>
                <a:latin typeface="Geneva"/>
              </a:rPr>
              <a:t>a</a:t>
            </a:r>
            <a:r>
              <a:rPr lang="en-US" altLang="it-IT" sz="1600" i="1">
                <a:latin typeface="Geneva"/>
              </a:rPr>
              <a:t>, v</a:t>
            </a:r>
          </a:p>
          <a:p>
            <a:pPr defTabSz="457200" eaLnBrk="1" hangingPunct="1">
              <a:buFont typeface="Times" panose="02020603050405020304" pitchFamily="18" charset="0"/>
              <a:buNone/>
            </a:pPr>
            <a:r>
              <a:rPr lang="en-US" altLang="it-IT" sz="1600">
                <a:latin typeface="Geneva"/>
              </a:rPr>
              <a:t>				…</a:t>
            </a:r>
          </a:p>
          <a:p>
            <a:pPr defTabSz="457200" eaLnBrk="1" hangingPunct="1">
              <a:buFont typeface="Times" panose="02020603050405020304" pitchFamily="18" charset="0"/>
              <a:buNone/>
            </a:pPr>
            <a:r>
              <a:rPr lang="en-US" altLang="it-IT" sz="1600">
                <a:latin typeface="Geneva"/>
              </a:rPr>
              <a:t>			}</a:t>
            </a:r>
          </a:p>
          <a:p>
            <a:pPr defTabSz="457200" eaLnBrk="1" hangingPunct="1">
              <a:buFont typeface="Times" panose="02020603050405020304" pitchFamily="18" charset="0"/>
              <a:buNone/>
            </a:pPr>
            <a:r>
              <a:rPr lang="en-US" altLang="it-IT" sz="1600">
                <a:latin typeface="Geneva"/>
              </a:rPr>
              <a:t>			… </a:t>
            </a:r>
            <a:r>
              <a:rPr lang="en-US" altLang="it-IT" sz="1600" i="1">
                <a:latin typeface="Geneva"/>
              </a:rPr>
              <a:t>r</a:t>
            </a:r>
            <a:r>
              <a:rPr lang="en-US" altLang="it-IT" sz="1600">
                <a:latin typeface="Geneva"/>
              </a:rPr>
              <a:t> … </a:t>
            </a:r>
            <a:r>
              <a:rPr lang="en-US" altLang="it-IT" sz="1600" i="1">
                <a:latin typeface="Geneva"/>
              </a:rPr>
              <a:t>s</a:t>
            </a:r>
            <a:endParaRPr lang="en-US" altLang="it-IT" sz="1600">
              <a:latin typeface="Geneva"/>
            </a:endParaRPr>
          </a:p>
          <a:p>
            <a:pPr defTabSz="457200" eaLnBrk="1" hangingPunct="1">
              <a:buFont typeface="Times" panose="02020603050405020304" pitchFamily="18" charset="0"/>
              <a:buNone/>
            </a:pPr>
            <a:r>
              <a:rPr lang="en-US" altLang="it-IT" sz="1600">
                <a:latin typeface="Geneva"/>
              </a:rPr>
              <a:t>		}</a:t>
            </a:r>
          </a:p>
          <a:p>
            <a:pPr defTabSz="457200" eaLnBrk="1" hangingPunct="1">
              <a:buFont typeface="Times" panose="02020603050405020304" pitchFamily="18" charset="0"/>
              <a:buNone/>
            </a:pPr>
            <a:r>
              <a:rPr lang="en-US" altLang="it-IT" sz="1600">
                <a:latin typeface="Geneva"/>
              </a:rPr>
              <a:t>	… </a:t>
            </a:r>
            <a:r>
              <a:rPr lang="en-US" altLang="it-IT" sz="1600" i="1">
                <a:latin typeface="Geneva"/>
              </a:rPr>
              <a:t>q …</a:t>
            </a:r>
            <a:endParaRPr lang="en-US" altLang="it-IT" sz="1600">
              <a:latin typeface="Geneva"/>
            </a:endParaRPr>
          </a:p>
          <a:p>
            <a:pPr defTabSz="457200" eaLnBrk="1" hangingPunct="1">
              <a:buFont typeface="Times" panose="02020603050405020304" pitchFamily="18" charset="0"/>
              <a:buNone/>
            </a:pPr>
            <a:r>
              <a:rPr lang="en-US" altLang="it-IT" sz="1600">
                <a:latin typeface="Geneva"/>
              </a:rPr>
              <a:t>}</a:t>
            </a:r>
          </a:p>
        </p:txBody>
      </p:sp>
      <p:sp>
        <p:nvSpPr>
          <p:cNvPr id="17413" name="Rectangle 4">
            <a:extLst>
              <a:ext uri="{FF2B5EF4-FFF2-40B4-BE49-F238E27FC236}">
                <a16:creationId xmlns:a16="http://schemas.microsoft.com/office/drawing/2014/main" id="{6D0D798C-C3B9-401C-B5A2-C7813F71BF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1143000"/>
            <a:ext cx="38862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4572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defTabSz="4572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defTabSz="4572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defTabSz="4572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defTabSz="4572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15000"/>
              </a:spcBef>
            </a:pPr>
            <a:r>
              <a:rPr lang="en-US" altLang="it-IT">
                <a:latin typeface="Geneva"/>
              </a:rPr>
              <a:t>B0: {</a:t>
            </a:r>
          </a:p>
          <a:p>
            <a:pPr>
              <a:spcBef>
                <a:spcPct val="15000"/>
              </a:spcBef>
            </a:pPr>
            <a:r>
              <a:rPr lang="en-US" altLang="it-IT">
                <a:latin typeface="Geneva"/>
              </a:rPr>
              <a:t>		int </a:t>
            </a:r>
            <a:r>
              <a:rPr lang="en-US" altLang="it-IT" i="1">
                <a:solidFill>
                  <a:srgbClr val="FF00FF"/>
                </a:solidFill>
                <a:latin typeface="Geneva"/>
              </a:rPr>
              <a:t>a</a:t>
            </a:r>
            <a:r>
              <a:rPr lang="en-US" altLang="it-IT" i="1">
                <a:latin typeface="Geneva"/>
              </a:rPr>
              <a:t>, </a:t>
            </a:r>
            <a:r>
              <a:rPr lang="en-US" altLang="it-IT" i="1">
                <a:solidFill>
                  <a:srgbClr val="B025A6"/>
                </a:solidFill>
                <a:latin typeface="Geneva"/>
              </a:rPr>
              <a:t>b</a:t>
            </a:r>
            <a:r>
              <a:rPr lang="en-US" altLang="it-IT" i="1">
                <a:latin typeface="Geneva"/>
              </a:rPr>
              <a:t>, c</a:t>
            </a:r>
            <a:endParaRPr lang="en-US" altLang="it-IT">
              <a:latin typeface="Geneva"/>
            </a:endParaRPr>
          </a:p>
          <a:p>
            <a:pPr>
              <a:spcBef>
                <a:spcPct val="15000"/>
              </a:spcBef>
            </a:pPr>
            <a:r>
              <a:rPr lang="en-US" altLang="it-IT">
                <a:latin typeface="Geneva"/>
              </a:rPr>
              <a:t>B1:		 {</a:t>
            </a:r>
          </a:p>
          <a:p>
            <a:pPr>
              <a:spcBef>
                <a:spcPct val="15000"/>
              </a:spcBef>
            </a:pPr>
            <a:r>
              <a:rPr lang="en-US" altLang="it-IT">
                <a:latin typeface="Geneva"/>
              </a:rPr>
              <a:t>			int </a:t>
            </a:r>
            <a:r>
              <a:rPr lang="en-US" altLang="it-IT" i="1">
                <a:latin typeface="Geneva"/>
              </a:rPr>
              <a:t>v, </a:t>
            </a:r>
            <a:r>
              <a:rPr lang="en-US" altLang="it-IT" i="1">
                <a:solidFill>
                  <a:srgbClr val="B025A6"/>
                </a:solidFill>
                <a:latin typeface="Geneva"/>
              </a:rPr>
              <a:t>b</a:t>
            </a:r>
            <a:r>
              <a:rPr lang="en-US" altLang="it-IT" i="1">
                <a:latin typeface="Geneva"/>
              </a:rPr>
              <a:t>, </a:t>
            </a:r>
            <a:r>
              <a:rPr lang="en-US" altLang="it-IT" i="1">
                <a:solidFill>
                  <a:srgbClr val="FF0065"/>
                </a:solidFill>
                <a:latin typeface="Geneva"/>
              </a:rPr>
              <a:t>x</a:t>
            </a:r>
            <a:r>
              <a:rPr lang="en-US" altLang="it-IT" i="1">
                <a:latin typeface="Geneva"/>
              </a:rPr>
              <a:t>, w</a:t>
            </a:r>
            <a:endParaRPr lang="en-US" altLang="it-IT">
              <a:latin typeface="Geneva"/>
            </a:endParaRPr>
          </a:p>
          <a:p>
            <a:pPr>
              <a:spcBef>
                <a:spcPct val="15000"/>
              </a:spcBef>
            </a:pPr>
            <a:r>
              <a:rPr lang="en-US" altLang="it-IT">
                <a:latin typeface="Geneva"/>
              </a:rPr>
              <a:t>B2:			{</a:t>
            </a:r>
          </a:p>
          <a:p>
            <a:pPr>
              <a:spcBef>
                <a:spcPct val="15000"/>
              </a:spcBef>
            </a:pPr>
            <a:r>
              <a:rPr lang="en-US" altLang="it-IT">
                <a:latin typeface="Geneva"/>
              </a:rPr>
              <a:t>				int </a:t>
            </a:r>
            <a:r>
              <a:rPr lang="en-US" altLang="it-IT" i="1">
                <a:solidFill>
                  <a:srgbClr val="FF0065"/>
                </a:solidFill>
                <a:latin typeface="Geneva"/>
              </a:rPr>
              <a:t>x</a:t>
            </a:r>
            <a:r>
              <a:rPr lang="en-US" altLang="it-IT" i="1">
                <a:latin typeface="Geneva"/>
              </a:rPr>
              <a:t>, y, z</a:t>
            </a:r>
          </a:p>
          <a:p>
            <a:pPr>
              <a:spcBef>
                <a:spcPct val="15000"/>
              </a:spcBef>
            </a:pPr>
            <a:r>
              <a:rPr lang="en-US" altLang="it-IT">
                <a:latin typeface="Geneva"/>
              </a:rPr>
              <a:t>				….</a:t>
            </a:r>
          </a:p>
          <a:p>
            <a:pPr>
              <a:spcBef>
                <a:spcPct val="15000"/>
              </a:spcBef>
            </a:pPr>
            <a:r>
              <a:rPr lang="en-US" altLang="it-IT">
                <a:latin typeface="Geneva"/>
              </a:rPr>
              <a:t>			}</a:t>
            </a:r>
          </a:p>
          <a:p>
            <a:pPr>
              <a:spcBef>
                <a:spcPct val="15000"/>
              </a:spcBef>
            </a:pPr>
            <a:r>
              <a:rPr lang="en-US" altLang="it-IT">
                <a:latin typeface="Geneva"/>
              </a:rPr>
              <a:t>B3:			{</a:t>
            </a:r>
          </a:p>
          <a:p>
            <a:pPr>
              <a:spcBef>
                <a:spcPct val="15000"/>
              </a:spcBef>
            </a:pPr>
            <a:r>
              <a:rPr lang="en-US" altLang="it-IT">
                <a:latin typeface="Geneva"/>
              </a:rPr>
              <a:t>				int </a:t>
            </a:r>
            <a:r>
              <a:rPr lang="en-US" altLang="it-IT" i="1">
                <a:solidFill>
                  <a:srgbClr val="FF0065"/>
                </a:solidFill>
                <a:latin typeface="Geneva"/>
              </a:rPr>
              <a:t>x</a:t>
            </a:r>
            <a:r>
              <a:rPr lang="en-US" altLang="it-IT" i="1">
                <a:latin typeface="Geneva"/>
              </a:rPr>
              <a:t>, </a:t>
            </a:r>
            <a:r>
              <a:rPr lang="en-US" altLang="it-IT" i="1">
                <a:solidFill>
                  <a:srgbClr val="003C75"/>
                </a:solidFill>
                <a:latin typeface="Geneva"/>
              </a:rPr>
              <a:t>a</a:t>
            </a:r>
            <a:r>
              <a:rPr lang="en-US" altLang="it-IT" i="1">
                <a:latin typeface="Geneva"/>
              </a:rPr>
              <a:t>, v</a:t>
            </a:r>
          </a:p>
          <a:p>
            <a:pPr>
              <a:spcBef>
                <a:spcPct val="15000"/>
              </a:spcBef>
            </a:pPr>
            <a:r>
              <a:rPr lang="en-US" altLang="it-IT">
                <a:latin typeface="Geneva"/>
              </a:rPr>
              <a:t>				…</a:t>
            </a:r>
          </a:p>
          <a:p>
            <a:pPr>
              <a:spcBef>
                <a:spcPct val="15000"/>
              </a:spcBef>
            </a:pPr>
            <a:r>
              <a:rPr lang="en-US" altLang="it-IT">
                <a:latin typeface="Geneva"/>
              </a:rPr>
              <a:t>			}</a:t>
            </a:r>
          </a:p>
          <a:p>
            <a:pPr>
              <a:spcBef>
                <a:spcPct val="15000"/>
              </a:spcBef>
            </a:pPr>
            <a:r>
              <a:rPr lang="en-US" altLang="it-IT">
                <a:latin typeface="Geneva"/>
              </a:rPr>
              <a:t>			…</a:t>
            </a:r>
          </a:p>
          <a:p>
            <a:pPr>
              <a:spcBef>
                <a:spcPct val="15000"/>
              </a:spcBef>
            </a:pPr>
            <a:r>
              <a:rPr lang="en-US" altLang="it-IT">
                <a:latin typeface="Geneva"/>
              </a:rPr>
              <a:t>		}</a:t>
            </a:r>
          </a:p>
          <a:p>
            <a:pPr>
              <a:spcBef>
                <a:spcPct val="15000"/>
              </a:spcBef>
            </a:pPr>
            <a:r>
              <a:rPr lang="en-US" altLang="it-IT">
                <a:latin typeface="Geneva"/>
              </a:rPr>
              <a:t>	…</a:t>
            </a:r>
          </a:p>
          <a:p>
            <a:pPr>
              <a:spcBef>
                <a:spcPct val="15000"/>
              </a:spcBef>
            </a:pPr>
            <a:r>
              <a:rPr lang="en-US" altLang="it-IT">
                <a:latin typeface="Geneva"/>
              </a:rPr>
              <a:t>}</a:t>
            </a:r>
          </a:p>
        </p:txBody>
      </p:sp>
      <p:sp>
        <p:nvSpPr>
          <p:cNvPr id="66565" name="Text Box 5">
            <a:extLst>
              <a:ext uri="{FF2B5EF4-FFF2-40B4-BE49-F238E27FC236}">
                <a16:creationId xmlns:a16="http://schemas.microsoft.com/office/drawing/2014/main" id="{C20D6DFA-D57C-45C1-AA9B-EAB628F9A5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6019800"/>
            <a:ext cx="5943600" cy="523875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14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This example is included to remind you of the many different scopes in which names can live. It does not show global or static names.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489DF0-A623-4FE8-BDF6-8A44B58A9B51}"/>
              </a:ext>
            </a:extLst>
          </p:cNvPr>
          <p:cNvSpPr txBox="1"/>
          <p:nvPr/>
        </p:nvSpPr>
        <p:spPr>
          <a:xfrm>
            <a:off x="5715000" y="330200"/>
            <a:ext cx="1676400" cy="584200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en-US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Reminder from last lecture</a:t>
            </a:r>
          </a:p>
        </p:txBody>
      </p:sp>
    </p:spTree>
  </p:cSld>
  <p:clrMapOvr>
    <a:masterClrMapping/>
  </p:clrMapOvr>
  <p:transition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Footer Placeholder 1">
            <a:extLst>
              <a:ext uri="{FF2B5EF4-FFF2-40B4-BE49-F238E27FC236}">
                <a16:creationId xmlns:a16="http://schemas.microsoft.com/office/drawing/2014/main" id="{8275F5BE-B3A3-4A30-AE9B-B305335E7F8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200"/>
              <a:t>Comp 412, Fall 2010</a:t>
            </a:r>
          </a:p>
        </p:txBody>
      </p:sp>
      <p:sp>
        <p:nvSpPr>
          <p:cNvPr id="19458" name="Slide Number Placeholder 2">
            <a:extLst>
              <a:ext uri="{FF2B5EF4-FFF2-40B4-BE49-F238E27FC236}">
                <a16:creationId xmlns:a16="http://schemas.microsoft.com/office/drawing/2014/main" id="{CA0B8522-D976-4E1B-8E78-8135A693A07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CE6E9720-C044-4121-83D3-26A215AEB503}" type="slidenum">
              <a:rPr lang="en-US" altLang="it-IT" sz="1200"/>
              <a:pPr/>
              <a:t>2</a:t>
            </a:fld>
            <a:endParaRPr lang="en-US" altLang="it-IT" sz="1200"/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EB1F186E-C88A-4180-AA49-94DCCD747F7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Lexically-scoped Symbol Tables</a:t>
            </a:r>
          </a:p>
        </p:txBody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8EC2492A-2253-4AA7-B7DA-E162B619356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/>
              <a:t>High-level idea</a:t>
            </a:r>
          </a:p>
          <a:p>
            <a:pPr eaLnBrk="1" hangingPunct="1">
              <a:spcBef>
                <a:spcPts val="600"/>
              </a:spcBef>
            </a:pPr>
            <a:r>
              <a:rPr lang="en-US" altLang="it-IT"/>
              <a:t>Create a new table for each scope</a:t>
            </a:r>
          </a:p>
          <a:p>
            <a:pPr eaLnBrk="1" hangingPunct="1">
              <a:spcBef>
                <a:spcPts val="600"/>
              </a:spcBef>
            </a:pPr>
            <a:r>
              <a:rPr lang="en-US" altLang="it-IT"/>
              <a:t>Chain them together for lookup</a:t>
            </a:r>
          </a:p>
        </p:txBody>
      </p:sp>
      <p:sp>
        <p:nvSpPr>
          <p:cNvPr id="62470" name="Text Box 4">
            <a:extLst>
              <a:ext uri="{FF2B5EF4-FFF2-40B4-BE49-F238E27FC236}">
                <a16:creationId xmlns:a16="http://schemas.microsoft.com/office/drawing/2014/main" id="{587EB9FB-D34E-4374-BCC5-20D428C3EA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2438400"/>
            <a:ext cx="4038600" cy="3581400"/>
          </a:xfrm>
          <a:prstGeom prst="rect">
            <a:avLst/>
          </a:prstGeom>
          <a:solidFill>
            <a:srgbClr val="FFFFFF"/>
          </a:solidFill>
          <a:ln w="28575">
            <a:solidFill>
              <a:srgbClr val="7F7F7F"/>
            </a:solidFill>
            <a:miter lim="800000"/>
            <a:headEnd/>
            <a:tailEnd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>
                <a:latin typeface="Comic Sans MS" charset="0"/>
                <a:ea typeface="ヒラギノ角ゴ Pro W3" charset="-128"/>
                <a:cs typeface="ヒラギノ角ゴ Pro W3" charset="-128"/>
              </a:rPr>
              <a:t>“Sheaf of tables” implementation</a:t>
            </a:r>
          </a:p>
          <a:p>
            <a:pPr eaLnBrk="0" hangingPunct="0">
              <a:spcBef>
                <a:spcPct val="15000"/>
              </a:spcBef>
              <a:buClr>
                <a:srgbClr val="003C75"/>
              </a:buClr>
              <a:buSzPct val="120000"/>
              <a:buFont typeface="Symbol" charset="2"/>
              <a:buChar char=""/>
              <a:defRPr/>
            </a:pPr>
            <a:r>
              <a:rPr lang="en-US">
                <a:latin typeface="Comic Sans MS" charset="0"/>
                <a:ea typeface="ヒラギノ角ゴ Pro W3" charset="-128"/>
                <a:cs typeface="ヒラギノ角ゴ Pro W3" charset="-128"/>
              </a:rPr>
              <a:t> </a:t>
            </a:r>
            <a:r>
              <a:rPr lang="en-US" i="1">
                <a:solidFill>
                  <a:srgbClr val="FF006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insert</a:t>
            </a:r>
            <a:r>
              <a:rPr lang="en-US">
                <a:solidFill>
                  <a:srgbClr val="FF006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()</a:t>
            </a:r>
            <a:r>
              <a:rPr lang="en-US">
                <a:latin typeface="Comic Sans MS" charset="0"/>
                <a:ea typeface="ヒラギノ角ゴ Pro W3" charset="-128"/>
                <a:cs typeface="ヒラギノ角ゴ Pro W3" charset="-128"/>
              </a:rPr>
              <a:t> may need to create table</a:t>
            </a:r>
          </a:p>
          <a:p>
            <a:pPr eaLnBrk="0" hangingPunct="0">
              <a:spcBef>
                <a:spcPct val="15000"/>
              </a:spcBef>
              <a:buClr>
                <a:srgbClr val="003C75"/>
              </a:buClr>
              <a:buSzPct val="120000"/>
              <a:buFont typeface="Symbol" charset="2"/>
              <a:buChar char=""/>
              <a:defRPr/>
            </a:pPr>
            <a:r>
              <a:rPr lang="en-US">
                <a:latin typeface="Comic Sans MS" charset="0"/>
                <a:ea typeface="ヒラギノ角ゴ Pro W3" charset="-128"/>
                <a:cs typeface="ヒラギノ角ゴ Pro W3" charset="-128"/>
              </a:rPr>
              <a:t> it always inserts at current level</a:t>
            </a:r>
          </a:p>
          <a:p>
            <a:pPr eaLnBrk="0" hangingPunct="0">
              <a:spcBef>
                <a:spcPct val="15000"/>
              </a:spcBef>
              <a:buClr>
                <a:srgbClr val="003C75"/>
              </a:buClr>
              <a:buSzPct val="120000"/>
              <a:buFont typeface="Symbol" charset="2"/>
              <a:buChar char=""/>
              <a:defRPr/>
            </a:pPr>
            <a:r>
              <a:rPr lang="en-US">
                <a:latin typeface="Comic Sans MS" charset="0"/>
                <a:ea typeface="ヒラギノ角ゴ Pro W3" charset="-128"/>
                <a:cs typeface="ヒラギノ角ゴ Pro W3" charset="-128"/>
              </a:rPr>
              <a:t> </a:t>
            </a:r>
            <a:r>
              <a:rPr lang="en-US" i="1">
                <a:solidFill>
                  <a:srgbClr val="FF006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lookup</a:t>
            </a:r>
            <a:r>
              <a:rPr lang="en-US">
                <a:solidFill>
                  <a:srgbClr val="FF006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()</a:t>
            </a:r>
            <a:r>
              <a:rPr lang="en-US">
                <a:latin typeface="Comic Sans MS" charset="0"/>
                <a:ea typeface="ヒラギノ角ゴ Pro W3" charset="-128"/>
                <a:cs typeface="ヒラギノ角ゴ Pro W3" charset="-128"/>
              </a:rPr>
              <a:t> walks chain of tables &amp; </a:t>
            </a:r>
          </a:p>
          <a:p>
            <a:pPr eaLnBrk="0" hangingPunct="0">
              <a:buClr>
                <a:srgbClr val="0000FF"/>
              </a:buClr>
              <a:buSzPct val="90000"/>
              <a:buFont typeface="Symbol" charset="2"/>
              <a:buNone/>
              <a:defRPr/>
            </a:pPr>
            <a:r>
              <a:rPr lang="en-US">
                <a:latin typeface="Comic Sans MS" charset="0"/>
                <a:ea typeface="ヒラギノ角ゴ Pro W3" charset="-128"/>
                <a:cs typeface="ヒラギノ角ゴ Pro W3" charset="-128"/>
              </a:rPr>
              <a:t>   returns first occurrence of name</a:t>
            </a:r>
          </a:p>
          <a:p>
            <a:pPr eaLnBrk="0" hangingPunct="0">
              <a:spcBef>
                <a:spcPct val="15000"/>
              </a:spcBef>
              <a:buClr>
                <a:srgbClr val="003C75"/>
              </a:buClr>
              <a:buSzPct val="120000"/>
              <a:buFont typeface="Symbol" charset="2"/>
              <a:buChar char=""/>
              <a:defRPr/>
            </a:pPr>
            <a:r>
              <a:rPr lang="en-US">
                <a:latin typeface="Comic Sans MS" charset="0"/>
                <a:ea typeface="ヒラギノ角ゴ Pro W3" charset="-128"/>
                <a:cs typeface="ヒラギノ角ゴ Pro W3" charset="-128"/>
              </a:rPr>
              <a:t> </a:t>
            </a:r>
            <a:r>
              <a:rPr lang="en-US" i="1">
                <a:solidFill>
                  <a:srgbClr val="FF006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delete</a:t>
            </a:r>
            <a:r>
              <a:rPr lang="en-US">
                <a:solidFill>
                  <a:srgbClr val="FF006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()</a:t>
            </a:r>
            <a:r>
              <a:rPr lang="en-US">
                <a:latin typeface="Comic Sans MS" charset="0"/>
                <a:ea typeface="ヒラギノ角ゴ Pro W3" charset="-128"/>
                <a:cs typeface="ヒラギノ角ゴ Pro W3" charset="-128"/>
              </a:rPr>
              <a:t> throws away level </a:t>
            </a:r>
            <a:r>
              <a:rPr lang="en-US" i="1">
                <a:latin typeface="Comic Sans MS" charset="0"/>
                <a:ea typeface="ヒラギノ角ゴ Pro W3" charset="-128"/>
                <a:cs typeface="ヒラギノ角ゴ Pro W3" charset="-128"/>
              </a:rPr>
              <a:t>p </a:t>
            </a:r>
            <a:r>
              <a:rPr lang="en-US">
                <a:latin typeface="Comic Sans MS" charset="0"/>
                <a:ea typeface="ヒラギノ角ゴ Pro W3" charset="-128"/>
                <a:cs typeface="ヒラギノ角ゴ Pro W3" charset="-128"/>
              </a:rPr>
              <a:t>table </a:t>
            </a:r>
          </a:p>
          <a:p>
            <a:pPr eaLnBrk="0" hangingPunct="0">
              <a:buClr>
                <a:srgbClr val="0000FF"/>
              </a:buClr>
              <a:buSzPct val="90000"/>
              <a:buFont typeface="Symbol" charset="2"/>
              <a:buNone/>
              <a:defRPr/>
            </a:pPr>
            <a:r>
              <a:rPr lang="en-US">
                <a:latin typeface="Comic Sans MS" charset="0"/>
                <a:ea typeface="ヒラギノ角ゴ Pro W3" charset="-128"/>
                <a:cs typeface="ヒラギノ角ゴ Pro W3" charset="-128"/>
              </a:rPr>
              <a:t>  </a:t>
            </a:r>
            <a:r>
              <a:rPr lang="en-US" i="1">
                <a:latin typeface="Comic Sans MS" charset="0"/>
                <a:ea typeface="ヒラギノ角ゴ Pro W3" charset="-128"/>
                <a:cs typeface="ヒラギノ角ゴ Pro W3" charset="-128"/>
              </a:rPr>
              <a:t> </a:t>
            </a:r>
            <a:r>
              <a:rPr lang="en-US">
                <a:latin typeface="Comic Sans MS" charset="0"/>
                <a:ea typeface="ヒラギノ角ゴ Pro W3" charset="-128"/>
                <a:cs typeface="ヒラギノ角ゴ Pro W3" charset="-128"/>
              </a:rPr>
              <a:t>if it is top table in the chain</a:t>
            </a:r>
          </a:p>
          <a:p>
            <a:pPr eaLnBrk="0" hangingPunct="0">
              <a:spcBef>
                <a:spcPct val="30000"/>
              </a:spcBef>
              <a:buClr>
                <a:srgbClr val="0000CC"/>
              </a:buClr>
              <a:buSzPct val="120000"/>
              <a:defRPr/>
            </a:pPr>
            <a:r>
              <a:rPr lang="en-US">
                <a:latin typeface="Comic Sans MS" charset="0"/>
                <a:ea typeface="ヒラギノ角ゴ Pro W3" charset="-128"/>
                <a:cs typeface="ヒラギノ角ゴ Pro W3" charset="-128"/>
              </a:rPr>
              <a:t>If the compiler must preserve the table (</a:t>
            </a:r>
            <a:r>
              <a:rPr lang="en-US" i="1">
                <a:latin typeface="Comic Sans MS" charset="0"/>
                <a:ea typeface="ヒラギノ角ゴ Pro W3" charset="-128"/>
                <a:cs typeface="ヒラギノ角ゴ Pro W3" charset="-128"/>
              </a:rPr>
              <a:t>for, say, the debugger </a:t>
            </a:r>
            <a:r>
              <a:rPr lang="en-US">
                <a:latin typeface="Comic Sans MS" charset="0"/>
                <a:ea typeface="ヒラギノ角ゴ Pro W3" charset="-128"/>
                <a:cs typeface="ヒラギノ角ゴ Pro W3" charset="-128"/>
              </a:rPr>
              <a:t>), this idea is actually practical.</a:t>
            </a:r>
          </a:p>
          <a:p>
            <a:pPr eaLnBrk="0" hangingPunct="0">
              <a:spcBef>
                <a:spcPct val="30000"/>
              </a:spcBef>
              <a:buClr>
                <a:srgbClr val="0000CC"/>
              </a:buClr>
              <a:buSzPct val="120000"/>
              <a:defRPr/>
            </a:pPr>
            <a:r>
              <a:rPr lang="en-US">
                <a:latin typeface="Comic Sans MS" charset="0"/>
                <a:ea typeface="ヒラギノ角ゴ Pro W3" charset="-128"/>
                <a:cs typeface="ヒラギノ角ゴ Pro W3" charset="-128"/>
              </a:rPr>
              <a:t>Individual tables are hash tables.</a:t>
            </a:r>
          </a:p>
        </p:txBody>
      </p:sp>
      <p:grpSp>
        <p:nvGrpSpPr>
          <p:cNvPr id="2" name="Group 51">
            <a:extLst>
              <a:ext uri="{FF2B5EF4-FFF2-40B4-BE49-F238E27FC236}">
                <a16:creationId xmlns:a16="http://schemas.microsoft.com/office/drawing/2014/main" id="{1450B296-137D-4064-B2AA-EFFDB97EF19D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2438400"/>
            <a:ext cx="3886200" cy="3581400"/>
            <a:chOff x="432" y="1488"/>
            <a:chExt cx="2448" cy="2256"/>
          </a:xfrm>
          <a:effectLst>
            <a:outerShdw blurRad="50800" dist="38100" dir="2700000">
              <a:srgbClr val="000000">
                <a:alpha val="43000"/>
              </a:srgbClr>
            </a:outerShdw>
          </a:effectLst>
        </p:grpSpPr>
        <p:sp>
          <p:nvSpPr>
            <p:cNvPr id="62511" name="Rectangle 46">
              <a:extLst>
                <a:ext uri="{FF2B5EF4-FFF2-40B4-BE49-F238E27FC236}">
                  <a16:creationId xmlns:a16="http://schemas.microsoft.com/office/drawing/2014/main" id="{7B2CF3C0-5DA9-42AE-85AF-820322A07E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1488"/>
              <a:ext cx="2448" cy="225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7F7F7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2472" name="Rectangle 6">
              <a:extLst>
                <a:ext uri="{FF2B5EF4-FFF2-40B4-BE49-F238E27FC236}">
                  <a16:creationId xmlns:a16="http://schemas.microsoft.com/office/drawing/2014/main" id="{F6ACCD10-4047-4D9D-9A6A-2C3B618295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2160"/>
              <a:ext cx="432" cy="14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2473" name="Rectangle 7">
              <a:extLst>
                <a:ext uri="{FF2B5EF4-FFF2-40B4-BE49-F238E27FC236}">
                  <a16:creationId xmlns:a16="http://schemas.microsoft.com/office/drawing/2014/main" id="{1D34E146-C4E0-47A2-81A8-4E3C204AED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2160"/>
              <a:ext cx="43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2474" name="Rectangle 8">
              <a:extLst>
                <a:ext uri="{FF2B5EF4-FFF2-40B4-BE49-F238E27FC236}">
                  <a16:creationId xmlns:a16="http://schemas.microsoft.com/office/drawing/2014/main" id="{86B1A159-8C77-478D-858F-1F020227D7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2304"/>
              <a:ext cx="43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sz="1400">
                  <a:solidFill>
                    <a:srgbClr val="FF0065"/>
                  </a:solidFill>
                  <a:latin typeface="Arial Rounded MT Bold" charset="0"/>
                  <a:ea typeface="ヒラギノ角ゴ Pro W3" charset="-128"/>
                  <a:cs typeface="ヒラギノ角ゴ Pro W3" charset="-128"/>
                </a:rPr>
                <a:t>x</a:t>
              </a:r>
              <a:endParaRPr lang="en-US">
                <a:solidFill>
                  <a:srgbClr val="FF0065"/>
                </a:solidFill>
                <a:latin typeface="Arial Rounded MT Bold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2475" name="Rectangle 9">
              <a:extLst>
                <a:ext uri="{FF2B5EF4-FFF2-40B4-BE49-F238E27FC236}">
                  <a16:creationId xmlns:a16="http://schemas.microsoft.com/office/drawing/2014/main" id="{87E8BD6A-2AF5-49F1-8322-B72DA7E33A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2448"/>
              <a:ext cx="43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2476" name="Rectangle 10">
              <a:extLst>
                <a:ext uri="{FF2B5EF4-FFF2-40B4-BE49-F238E27FC236}">
                  <a16:creationId xmlns:a16="http://schemas.microsoft.com/office/drawing/2014/main" id="{4E958692-ADAD-4571-98F0-594865464C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2592"/>
              <a:ext cx="43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2477" name="Rectangle 11">
              <a:extLst>
                <a:ext uri="{FF2B5EF4-FFF2-40B4-BE49-F238E27FC236}">
                  <a16:creationId xmlns:a16="http://schemas.microsoft.com/office/drawing/2014/main" id="{5BF7257A-4C41-43B3-879F-50D8312936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2736"/>
              <a:ext cx="43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sz="1400">
                  <a:latin typeface="Arial Rounded MT Bold" charset="0"/>
                  <a:ea typeface="ヒラギノ角ゴ Pro W3" charset="-128"/>
                  <a:cs typeface="ヒラギノ角ゴ Pro W3" charset="-128"/>
                </a:rPr>
                <a:t>y</a:t>
              </a:r>
              <a:endParaRPr lang="en-US">
                <a:latin typeface="Arial Rounded MT Bold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2478" name="Rectangle 12">
              <a:extLst>
                <a:ext uri="{FF2B5EF4-FFF2-40B4-BE49-F238E27FC236}">
                  <a16:creationId xmlns:a16="http://schemas.microsoft.com/office/drawing/2014/main" id="{F193F3FC-0317-4C9E-9C27-38C297BB4C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2880"/>
              <a:ext cx="43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2479" name="Rectangle 13">
              <a:extLst>
                <a:ext uri="{FF2B5EF4-FFF2-40B4-BE49-F238E27FC236}">
                  <a16:creationId xmlns:a16="http://schemas.microsoft.com/office/drawing/2014/main" id="{93B1478B-370E-4E35-9E7A-726CD79142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3024"/>
              <a:ext cx="43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2480" name="Rectangle 14">
              <a:extLst>
                <a:ext uri="{FF2B5EF4-FFF2-40B4-BE49-F238E27FC236}">
                  <a16:creationId xmlns:a16="http://schemas.microsoft.com/office/drawing/2014/main" id="{B00442D8-D0DD-4692-90FC-5D9B611BEE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3168"/>
              <a:ext cx="43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2481" name="Rectangle 15">
              <a:extLst>
                <a:ext uri="{FF2B5EF4-FFF2-40B4-BE49-F238E27FC236}">
                  <a16:creationId xmlns:a16="http://schemas.microsoft.com/office/drawing/2014/main" id="{F257582C-0961-4679-A610-20ABFF47BC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3312"/>
              <a:ext cx="43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sz="1400">
                  <a:latin typeface="Arial Rounded MT Bold" charset="0"/>
                  <a:ea typeface="ヒラギノ角ゴ Pro W3" charset="-128"/>
                  <a:cs typeface="ヒラギノ角ゴ Pro W3" charset="-128"/>
                </a:rPr>
                <a:t>z</a:t>
              </a:r>
              <a:endParaRPr lang="en-US">
                <a:latin typeface="Arial Rounded MT Bold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2482" name="Rectangle 16">
              <a:extLst>
                <a:ext uri="{FF2B5EF4-FFF2-40B4-BE49-F238E27FC236}">
                  <a16:creationId xmlns:a16="http://schemas.microsoft.com/office/drawing/2014/main" id="{53DDB5B5-0DE4-4282-BC33-5B3B5007EC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3456"/>
              <a:ext cx="43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2483" name="Rectangle 17">
              <a:extLst>
                <a:ext uri="{FF2B5EF4-FFF2-40B4-BE49-F238E27FC236}">
                  <a16:creationId xmlns:a16="http://schemas.microsoft.com/office/drawing/2014/main" id="{B01CF869-2FA6-4B48-A3E5-1E6FD16F5D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2015"/>
              <a:ext cx="432" cy="14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2484" name="Rectangle 18">
              <a:extLst>
                <a:ext uri="{FF2B5EF4-FFF2-40B4-BE49-F238E27FC236}">
                  <a16:creationId xmlns:a16="http://schemas.microsoft.com/office/drawing/2014/main" id="{7E62D370-9862-4DBA-A866-7136F5D4B1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2015"/>
              <a:ext cx="43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2485" name="Rectangle 19">
              <a:extLst>
                <a:ext uri="{FF2B5EF4-FFF2-40B4-BE49-F238E27FC236}">
                  <a16:creationId xmlns:a16="http://schemas.microsoft.com/office/drawing/2014/main" id="{730011F7-55F5-4C6A-AEAE-A07623B0DE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2159"/>
              <a:ext cx="43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2486" name="Rectangle 20">
              <a:extLst>
                <a:ext uri="{FF2B5EF4-FFF2-40B4-BE49-F238E27FC236}">
                  <a16:creationId xmlns:a16="http://schemas.microsoft.com/office/drawing/2014/main" id="{4B8CD145-FA05-4505-B31E-94A2ECB283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2303"/>
              <a:ext cx="43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2487" name="Rectangle 21">
              <a:extLst>
                <a:ext uri="{FF2B5EF4-FFF2-40B4-BE49-F238E27FC236}">
                  <a16:creationId xmlns:a16="http://schemas.microsoft.com/office/drawing/2014/main" id="{DF317446-7A51-4A1B-8458-6BF0B09DB3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2447"/>
              <a:ext cx="43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sz="1400">
                  <a:latin typeface="Arial Rounded MT Bold" charset="0"/>
                  <a:ea typeface="ヒラギノ角ゴ Pro W3" charset="-128"/>
                  <a:cs typeface="ヒラギノ角ゴ Pro W3" charset="-128"/>
                </a:rPr>
                <a:t>v</a:t>
              </a:r>
              <a:endParaRPr lang="en-US">
                <a:latin typeface="Arial Rounded MT Bold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2488" name="Rectangle 22">
              <a:extLst>
                <a:ext uri="{FF2B5EF4-FFF2-40B4-BE49-F238E27FC236}">
                  <a16:creationId xmlns:a16="http://schemas.microsoft.com/office/drawing/2014/main" id="{4879C9AC-220F-4335-AE45-7E891D73B4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2591"/>
              <a:ext cx="43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2489" name="Rectangle 23">
              <a:extLst>
                <a:ext uri="{FF2B5EF4-FFF2-40B4-BE49-F238E27FC236}">
                  <a16:creationId xmlns:a16="http://schemas.microsoft.com/office/drawing/2014/main" id="{4D7E188D-139E-445C-92CF-7B48CAF45D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2735"/>
              <a:ext cx="43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sz="1400">
                  <a:solidFill>
                    <a:srgbClr val="B025A6"/>
                  </a:solidFill>
                  <a:latin typeface="Arial Rounded MT Bold" charset="0"/>
                  <a:ea typeface="ヒラギノ角ゴ Pro W3" charset="-128"/>
                  <a:cs typeface="ヒラギノ角ゴ Pro W3" charset="-128"/>
                </a:rPr>
                <a:t>b</a:t>
              </a:r>
              <a:endParaRPr lang="en-US">
                <a:solidFill>
                  <a:srgbClr val="B025A6"/>
                </a:solidFill>
                <a:latin typeface="Arial Rounded MT Bold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2490" name="Rectangle 24">
              <a:extLst>
                <a:ext uri="{FF2B5EF4-FFF2-40B4-BE49-F238E27FC236}">
                  <a16:creationId xmlns:a16="http://schemas.microsoft.com/office/drawing/2014/main" id="{84A061CD-963F-4CEA-BF3A-5294E43548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2879"/>
              <a:ext cx="43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sz="1400">
                  <a:solidFill>
                    <a:srgbClr val="FF0065"/>
                  </a:solidFill>
                  <a:latin typeface="Arial Rounded MT Bold" charset="0"/>
                  <a:ea typeface="ヒラギノ角ゴ Pro W3" charset="-128"/>
                  <a:cs typeface="ヒラギノ角ゴ Pro W3" charset="-128"/>
                </a:rPr>
                <a:t>x</a:t>
              </a:r>
              <a:endParaRPr lang="en-US">
                <a:solidFill>
                  <a:srgbClr val="FF0065"/>
                </a:solidFill>
                <a:latin typeface="Arial Rounded MT Bold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2491" name="Rectangle 25">
              <a:extLst>
                <a:ext uri="{FF2B5EF4-FFF2-40B4-BE49-F238E27FC236}">
                  <a16:creationId xmlns:a16="http://schemas.microsoft.com/office/drawing/2014/main" id="{E32A716C-47F4-4654-BF5C-F6ABA8B8A2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3023"/>
              <a:ext cx="43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sz="1400">
                  <a:latin typeface="Arial Rounded MT Bold" charset="0"/>
                  <a:ea typeface="ヒラギノ角ゴ Pro W3" charset="-128"/>
                  <a:cs typeface="ヒラギノ角ゴ Pro W3" charset="-128"/>
                </a:rPr>
                <a:t>w</a:t>
              </a:r>
              <a:endParaRPr lang="en-US">
                <a:latin typeface="Arial Rounded MT Bold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2492" name="Rectangle 26">
              <a:extLst>
                <a:ext uri="{FF2B5EF4-FFF2-40B4-BE49-F238E27FC236}">
                  <a16:creationId xmlns:a16="http://schemas.microsoft.com/office/drawing/2014/main" id="{51C69CB2-537B-4E13-A145-6BA8BB13EF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3167"/>
              <a:ext cx="43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2493" name="Rectangle 27">
              <a:extLst>
                <a:ext uri="{FF2B5EF4-FFF2-40B4-BE49-F238E27FC236}">
                  <a16:creationId xmlns:a16="http://schemas.microsoft.com/office/drawing/2014/main" id="{986F6D30-1B52-4A3C-8797-B7C2811662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3311"/>
              <a:ext cx="43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2494" name="Rectangle 28">
              <a:extLst>
                <a:ext uri="{FF2B5EF4-FFF2-40B4-BE49-F238E27FC236}">
                  <a16:creationId xmlns:a16="http://schemas.microsoft.com/office/drawing/2014/main" id="{F06556C2-D32A-434B-9B81-49F4CCC01F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" y="1869"/>
              <a:ext cx="432" cy="14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2495" name="Rectangle 29">
              <a:extLst>
                <a:ext uri="{FF2B5EF4-FFF2-40B4-BE49-F238E27FC236}">
                  <a16:creationId xmlns:a16="http://schemas.microsoft.com/office/drawing/2014/main" id="{B83BFC8E-4916-4D77-BAFE-DB333FDA48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" y="2448"/>
              <a:ext cx="43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sz="1400">
                  <a:solidFill>
                    <a:srgbClr val="003C75"/>
                  </a:solidFill>
                  <a:latin typeface="Arial Rounded MT Bold" charset="0"/>
                  <a:ea typeface="ヒラギノ角ゴ Pro W3" charset="-128"/>
                  <a:cs typeface="ヒラギノ角ゴ Pro W3" charset="-128"/>
                </a:rPr>
                <a:t>a</a:t>
              </a:r>
              <a:endParaRPr lang="en-US">
                <a:solidFill>
                  <a:srgbClr val="003C75"/>
                </a:solidFill>
                <a:latin typeface="Arial Rounded MT Bold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2496" name="Rectangle 30">
              <a:extLst>
                <a:ext uri="{FF2B5EF4-FFF2-40B4-BE49-F238E27FC236}">
                  <a16:creationId xmlns:a16="http://schemas.microsoft.com/office/drawing/2014/main" id="{880DBA7C-70A5-4174-ABA4-4464703177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" y="2013"/>
              <a:ext cx="43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2497" name="Rectangle 31">
              <a:extLst>
                <a:ext uri="{FF2B5EF4-FFF2-40B4-BE49-F238E27FC236}">
                  <a16:creationId xmlns:a16="http://schemas.microsoft.com/office/drawing/2014/main" id="{0EC749D0-0756-4615-A20A-7DEAD58ECA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" y="2157"/>
              <a:ext cx="43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sz="1400">
                  <a:solidFill>
                    <a:srgbClr val="B025A6"/>
                  </a:solidFill>
                  <a:latin typeface="Arial Rounded MT Bold" charset="0"/>
                  <a:ea typeface="ヒラギノ角ゴ Pro W3" charset="-128"/>
                  <a:cs typeface="ヒラギノ角ゴ Pro W3" charset="-128"/>
                </a:rPr>
                <a:t>b</a:t>
              </a:r>
              <a:endParaRPr lang="en-US">
                <a:solidFill>
                  <a:srgbClr val="B025A6"/>
                </a:solidFill>
                <a:latin typeface="Arial Rounded MT Bold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2498" name="Rectangle 32">
              <a:extLst>
                <a:ext uri="{FF2B5EF4-FFF2-40B4-BE49-F238E27FC236}">
                  <a16:creationId xmlns:a16="http://schemas.microsoft.com/office/drawing/2014/main" id="{3946E133-142F-41A6-9AB1-3B09F112F9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" y="2301"/>
              <a:ext cx="43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2499" name="Rectangle 33">
              <a:extLst>
                <a:ext uri="{FF2B5EF4-FFF2-40B4-BE49-F238E27FC236}">
                  <a16:creationId xmlns:a16="http://schemas.microsoft.com/office/drawing/2014/main" id="{0D9B87B3-8C47-414D-B2F9-16E71FD5D7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" y="2445"/>
              <a:ext cx="43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2500" name="Rectangle 34">
              <a:extLst>
                <a:ext uri="{FF2B5EF4-FFF2-40B4-BE49-F238E27FC236}">
                  <a16:creationId xmlns:a16="http://schemas.microsoft.com/office/drawing/2014/main" id="{221614D0-7B4B-4CAD-A4EE-9EB7FEA406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" y="2589"/>
              <a:ext cx="43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2501" name="Rectangle 35">
              <a:extLst>
                <a:ext uri="{FF2B5EF4-FFF2-40B4-BE49-F238E27FC236}">
                  <a16:creationId xmlns:a16="http://schemas.microsoft.com/office/drawing/2014/main" id="{67BDFF5C-A2FF-4B2C-85D2-9608788C1F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" y="2733"/>
              <a:ext cx="43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sz="1400">
                  <a:latin typeface="Arial Rounded MT Bold" charset="0"/>
                  <a:ea typeface="ヒラギノ角ゴ Pro W3" charset="-128"/>
                  <a:cs typeface="ヒラギノ角ゴ Pro W3" charset="-128"/>
                </a:rPr>
                <a:t>c</a:t>
              </a:r>
              <a:endParaRPr lang="en-US">
                <a:latin typeface="Arial Rounded MT Bold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2502" name="Rectangle 36">
              <a:extLst>
                <a:ext uri="{FF2B5EF4-FFF2-40B4-BE49-F238E27FC236}">
                  <a16:creationId xmlns:a16="http://schemas.microsoft.com/office/drawing/2014/main" id="{66A5037E-ADC1-45A6-9500-1D18AE19DE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" y="2877"/>
              <a:ext cx="43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2503" name="Rectangle 37">
              <a:extLst>
                <a:ext uri="{FF2B5EF4-FFF2-40B4-BE49-F238E27FC236}">
                  <a16:creationId xmlns:a16="http://schemas.microsoft.com/office/drawing/2014/main" id="{9B94A1E3-1574-4483-B8CE-BE3757F10F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" y="3021"/>
              <a:ext cx="43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2504" name="Rectangle 38">
              <a:extLst>
                <a:ext uri="{FF2B5EF4-FFF2-40B4-BE49-F238E27FC236}">
                  <a16:creationId xmlns:a16="http://schemas.microsoft.com/office/drawing/2014/main" id="{B0A0B660-09BB-4B25-811E-72D01C6455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" y="3165"/>
              <a:ext cx="432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2505" name="Rectangle 39">
              <a:extLst>
                <a:ext uri="{FF2B5EF4-FFF2-40B4-BE49-F238E27FC236}">
                  <a16:creationId xmlns:a16="http://schemas.microsoft.com/office/drawing/2014/main" id="{EC3F5126-AC13-42A6-976C-4D2D241F7C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3" y="2369"/>
              <a:ext cx="144" cy="14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>
                  <a:latin typeface="Arial Rounded MT Bold" charset="0"/>
                  <a:ea typeface="ヒラギノ角ゴ Pro W3" charset="-128"/>
                  <a:cs typeface="ヒラギノ角ゴ Pro W3" charset="-128"/>
                </a:rPr>
                <a:t>•</a:t>
              </a:r>
            </a:p>
          </p:txBody>
        </p:sp>
        <p:sp>
          <p:nvSpPr>
            <p:cNvPr id="62506" name="Line 40">
              <a:extLst>
                <a:ext uri="{FF2B5EF4-FFF2-40B4-BE49-F238E27FC236}">
                  <a16:creationId xmlns:a16="http://schemas.microsoft.com/office/drawing/2014/main" id="{83D3B960-7B97-4753-9201-F2B0E3ABC6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67" y="2155"/>
              <a:ext cx="289" cy="29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2507" name="Text Box 41">
              <a:extLst>
                <a:ext uri="{FF2B5EF4-FFF2-40B4-BE49-F238E27FC236}">
                  <a16:creationId xmlns:a16="http://schemas.microsoft.com/office/drawing/2014/main" id="{2B1F07D5-6702-4AF1-B3E7-D0A56B83ED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6" y="2016"/>
              <a:ext cx="240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  <a:defRPr/>
              </a:pPr>
              <a:r>
                <a:rPr lang="en-US" sz="1000" i="1">
                  <a:latin typeface="Arial Rounded MT Bold" charset="0"/>
                  <a:ea typeface="ヒラギノ角ゴ Pro W3" charset="-128"/>
                  <a:cs typeface="ヒラギノ角ゴ Pro W3" charset="-128"/>
                </a:rPr>
                <a:t>r</a:t>
              </a:r>
              <a:endParaRPr lang="en-US" i="1">
                <a:latin typeface="Arial Rounded MT Bold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2508" name="Text Box 42">
              <a:extLst>
                <a:ext uri="{FF2B5EF4-FFF2-40B4-BE49-F238E27FC236}">
                  <a16:creationId xmlns:a16="http://schemas.microsoft.com/office/drawing/2014/main" id="{DC3FF70B-4C78-4C40-85EA-AA022DC914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4" y="1872"/>
              <a:ext cx="336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  <a:defRPr/>
              </a:pPr>
              <a:r>
                <a:rPr lang="en-US" sz="1000" i="1">
                  <a:latin typeface="Arial Rounded MT Bold" charset="0"/>
                  <a:ea typeface="ヒラギノ角ゴ Pro W3" charset="-128"/>
                  <a:cs typeface="ヒラギノ角ゴ Pro W3" charset="-128"/>
                </a:rPr>
                <a:t>q</a:t>
              </a:r>
              <a:endParaRPr lang="en-US" i="1">
                <a:latin typeface="Arial Rounded MT Bold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2509" name="Text Box 43">
              <a:extLst>
                <a:ext uri="{FF2B5EF4-FFF2-40B4-BE49-F238E27FC236}">
                  <a16:creationId xmlns:a16="http://schemas.microsoft.com/office/drawing/2014/main" id="{4C4D10DA-CC82-4AA7-A547-EB2E9A8ED2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2" y="1728"/>
              <a:ext cx="336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  <a:defRPr/>
              </a:pPr>
              <a:r>
                <a:rPr lang="en-US" sz="1000" i="1">
                  <a:latin typeface="Arial Rounded MT Bold" charset="0"/>
                  <a:ea typeface="ヒラギノ角ゴ Pro W3" charset="-128"/>
                  <a:cs typeface="ヒラギノ角ゴ Pro W3" charset="-128"/>
                </a:rPr>
                <a:t>p</a:t>
              </a:r>
              <a:endParaRPr lang="en-US" i="1">
                <a:latin typeface="Arial Rounded MT Bold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2510" name="Text Box 45">
              <a:extLst>
                <a:ext uri="{FF2B5EF4-FFF2-40B4-BE49-F238E27FC236}">
                  <a16:creationId xmlns:a16="http://schemas.microsoft.com/office/drawing/2014/main" id="{46BD6078-4F1E-416F-996E-30C28D45B9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2448"/>
              <a:ext cx="288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  <a:defRPr/>
              </a:pPr>
              <a:r>
                <a:rPr lang="en-US">
                  <a:latin typeface="Arial Rounded MT Bold" charset="0"/>
                  <a:ea typeface="ヒラギノ角ゴ Pro W3" charset="-128"/>
                  <a:cs typeface="ヒラギノ角ゴ Pro W3" charset="-128"/>
                </a:rPr>
                <a:t>...</a:t>
              </a:r>
            </a:p>
          </p:txBody>
        </p:sp>
        <p:sp>
          <p:nvSpPr>
            <p:cNvPr id="62512" name="Line 47">
              <a:extLst>
                <a:ext uri="{FF2B5EF4-FFF2-40B4-BE49-F238E27FC236}">
                  <a16:creationId xmlns:a16="http://schemas.microsoft.com/office/drawing/2014/main" id="{4730438F-752D-4407-A441-936B7260DC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96" y="2016"/>
              <a:ext cx="288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2513" name="Line 48">
              <a:extLst>
                <a:ext uri="{FF2B5EF4-FFF2-40B4-BE49-F238E27FC236}">
                  <a16:creationId xmlns:a16="http://schemas.microsoft.com/office/drawing/2014/main" id="{83ADBFED-EBE5-4FF5-90B2-1BF21A0F34E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24" y="1872"/>
              <a:ext cx="288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2514" name="Line 49">
              <a:extLst>
                <a:ext uri="{FF2B5EF4-FFF2-40B4-BE49-F238E27FC236}">
                  <a16:creationId xmlns:a16="http://schemas.microsoft.com/office/drawing/2014/main" id="{ADFEDA22-6B58-4527-B937-F2EDC1DAC2C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52" y="1728"/>
              <a:ext cx="288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2515" name="Text Box 50">
              <a:extLst>
                <a:ext uri="{FF2B5EF4-FFF2-40B4-BE49-F238E27FC236}">
                  <a16:creationId xmlns:a16="http://schemas.microsoft.com/office/drawing/2014/main" id="{ABAE6FAC-4652-48E8-84F9-68A82FB9D1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1564"/>
              <a:ext cx="288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  <a:defRPr/>
              </a:pPr>
              <a:r>
                <a:rPr lang="en-US">
                  <a:latin typeface="Arial Rounded MT Bold" charset="0"/>
                  <a:ea typeface="ヒラギノ角ゴ Pro W3" charset="-128"/>
                  <a:cs typeface="ヒラギノ角ゴ Pro W3" charset="-128"/>
                </a:rPr>
                <a:t>...</a:t>
              </a:r>
            </a:p>
          </p:txBody>
        </p: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CC6F3D48-FF03-4589-941A-29831EB67B9C}"/>
              </a:ext>
            </a:extLst>
          </p:cNvPr>
          <p:cNvSpPr txBox="1"/>
          <p:nvPr/>
        </p:nvSpPr>
        <p:spPr>
          <a:xfrm>
            <a:off x="2687638" y="6181725"/>
            <a:ext cx="5410200" cy="52387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en-US" sz="14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This high-level idea can be implemented as shown, or it can be implemented in more space-efficient (albeit complex) ways.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ECDFEBB-9A7D-4E1C-BA15-F692A43F75BB}"/>
              </a:ext>
            </a:extLst>
          </p:cNvPr>
          <p:cNvSpPr txBox="1"/>
          <p:nvPr/>
        </p:nvSpPr>
        <p:spPr>
          <a:xfrm>
            <a:off x="5715000" y="330200"/>
            <a:ext cx="1676400" cy="584200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en-US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Reminder from last lecture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Footer Placeholder 1">
            <a:extLst>
              <a:ext uri="{FF2B5EF4-FFF2-40B4-BE49-F238E27FC236}">
                <a16:creationId xmlns:a16="http://schemas.microsoft.com/office/drawing/2014/main" id="{BDA4CFE2-B359-4D44-B7ED-8EE720A2712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200"/>
              <a:t>Comp 412, Fall 2010</a:t>
            </a:r>
          </a:p>
        </p:txBody>
      </p:sp>
      <p:sp>
        <p:nvSpPr>
          <p:cNvPr id="21506" name="Slide Number Placeholder 2">
            <a:extLst>
              <a:ext uri="{FF2B5EF4-FFF2-40B4-BE49-F238E27FC236}">
                <a16:creationId xmlns:a16="http://schemas.microsoft.com/office/drawing/2014/main" id="{E7E37AA3-D71B-4FFF-9461-E9ECB286CE1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B28E8DD8-666B-40E7-8070-16042884F81A}" type="slidenum">
              <a:rPr lang="en-US" altLang="it-IT" sz="1200"/>
              <a:pPr/>
              <a:t>3</a:t>
            </a:fld>
            <a:endParaRPr lang="en-US" altLang="it-IT" sz="1200"/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287878B9-1700-4B59-A979-9065ACB392B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spcBef>
                <a:spcPct val="30000"/>
              </a:spcBef>
            </a:pPr>
            <a:r>
              <a:rPr lang="en-US" altLang="it-IT"/>
              <a:t>Where Do Local Variables Live?</a:t>
            </a:r>
          </a:p>
        </p:txBody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EE3BBE8D-A65F-400A-A6EA-9989642A136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spcBef>
                <a:spcPct val="15000"/>
              </a:spcBef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A Simplistic Model </a:t>
            </a:r>
            <a:r>
              <a:rPr lang="en-US" altLang="it-IT"/>
              <a:t>			      (</a:t>
            </a:r>
            <a:r>
              <a:rPr lang="en-US" altLang="it-IT" sz="1800" i="1"/>
              <a:t>the obvious model</a:t>
            </a:r>
            <a:r>
              <a:rPr lang="en-US" altLang="it-IT" sz="1200" i="1"/>
              <a:t> </a:t>
            </a:r>
            <a:r>
              <a:rPr lang="en-US" altLang="it-IT"/>
              <a:t>)</a:t>
            </a:r>
          </a:p>
          <a:p>
            <a:pPr eaLnBrk="1" hangingPunct="1">
              <a:spcBef>
                <a:spcPts val="600"/>
              </a:spcBef>
            </a:pPr>
            <a:r>
              <a:rPr lang="en-US" altLang="it-IT"/>
              <a:t>Allocate a data area for each distinct scope</a:t>
            </a:r>
          </a:p>
          <a:p>
            <a:pPr eaLnBrk="1" hangingPunct="1">
              <a:spcBef>
                <a:spcPts val="600"/>
              </a:spcBef>
            </a:pPr>
            <a:r>
              <a:rPr lang="en-US" altLang="it-IT"/>
              <a:t>One data area per “sheaf” in scoped table</a:t>
            </a:r>
          </a:p>
          <a:p>
            <a:pPr eaLnBrk="1" hangingPunct="1">
              <a:spcBef>
                <a:spcPts val="1200"/>
              </a:spcBef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What about recursion?</a:t>
            </a:r>
          </a:p>
          <a:p>
            <a:pPr eaLnBrk="1" hangingPunct="1">
              <a:spcBef>
                <a:spcPts val="600"/>
              </a:spcBef>
            </a:pPr>
            <a:r>
              <a:rPr lang="en-US" altLang="it-IT"/>
              <a:t>Need a data area per invocation (or activation) of a </a:t>
            </a:r>
            <a:r>
              <a:rPr lang="en-US" altLang="it-IT" i="1">
                <a:solidFill>
                  <a:srgbClr val="FF0065"/>
                </a:solidFill>
              </a:rPr>
              <a:t>scope</a:t>
            </a:r>
          </a:p>
          <a:p>
            <a:pPr eaLnBrk="1" hangingPunct="1">
              <a:spcBef>
                <a:spcPts val="600"/>
              </a:spcBef>
            </a:pPr>
            <a:r>
              <a:rPr lang="en-US" altLang="it-IT"/>
              <a:t>We call this data area the scope’s </a:t>
            </a:r>
            <a:r>
              <a:rPr lang="en-US" altLang="it-IT">
                <a:solidFill>
                  <a:srgbClr val="FF0065"/>
                </a:solidFill>
              </a:rPr>
              <a:t>activation record</a:t>
            </a:r>
            <a:endParaRPr lang="en-US" altLang="it-IT"/>
          </a:p>
          <a:p>
            <a:pPr eaLnBrk="1" hangingPunct="1">
              <a:spcBef>
                <a:spcPts val="600"/>
              </a:spcBef>
            </a:pPr>
            <a:r>
              <a:rPr lang="en-US" altLang="it-IT"/>
              <a:t>The compiler can also store control information there</a:t>
            </a:r>
            <a:r>
              <a:rPr lang="en-US" altLang="it-IT" sz="900"/>
              <a:t> </a:t>
            </a:r>
            <a:r>
              <a:rPr lang="en-US" altLang="it-IT"/>
              <a:t>!</a:t>
            </a:r>
          </a:p>
          <a:p>
            <a:pPr eaLnBrk="1" hangingPunct="1">
              <a:spcBef>
                <a:spcPts val="1200"/>
              </a:spcBef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More complex scheme</a:t>
            </a:r>
          </a:p>
          <a:p>
            <a:pPr eaLnBrk="1" hangingPunct="1">
              <a:spcBef>
                <a:spcPts val="600"/>
              </a:spcBef>
            </a:pPr>
            <a:r>
              <a:rPr lang="en-US" altLang="it-IT"/>
              <a:t>One </a:t>
            </a:r>
            <a:r>
              <a:rPr lang="en-US" altLang="it-IT">
                <a:solidFill>
                  <a:srgbClr val="FF0065"/>
                </a:solidFill>
              </a:rPr>
              <a:t>activation record</a:t>
            </a:r>
            <a:r>
              <a:rPr lang="en-US" altLang="it-IT">
                <a:solidFill>
                  <a:srgbClr val="FF0000"/>
                </a:solidFill>
              </a:rPr>
              <a:t> </a:t>
            </a:r>
            <a:r>
              <a:rPr lang="en-US" altLang="it-IT"/>
              <a:t>(</a:t>
            </a:r>
            <a:r>
              <a:rPr lang="en-US" altLang="it-IT" sz="1800">
                <a:solidFill>
                  <a:srgbClr val="FF0065"/>
                </a:solidFill>
              </a:rPr>
              <a:t>AR</a:t>
            </a:r>
            <a:r>
              <a:rPr lang="en-US" altLang="it-IT"/>
              <a:t>) per </a:t>
            </a:r>
            <a:r>
              <a:rPr lang="en-US" altLang="it-IT">
                <a:solidFill>
                  <a:srgbClr val="FF0065"/>
                </a:solidFill>
              </a:rPr>
              <a:t>procedure instance</a:t>
            </a:r>
            <a:endParaRPr lang="en-US" altLang="it-IT"/>
          </a:p>
          <a:p>
            <a:pPr eaLnBrk="1" hangingPunct="1">
              <a:spcBef>
                <a:spcPts val="600"/>
              </a:spcBef>
            </a:pPr>
            <a:r>
              <a:rPr lang="en-US" altLang="it-IT"/>
              <a:t>All the procedure’s scopes share a single </a:t>
            </a:r>
            <a:r>
              <a:rPr lang="en-US" altLang="it-IT" sz="1800"/>
              <a:t>AR</a:t>
            </a:r>
            <a:r>
              <a:rPr lang="en-US" altLang="it-IT"/>
              <a:t> </a:t>
            </a:r>
            <a:r>
              <a:rPr lang="en-US" altLang="it-IT" sz="1800" i="1">
                <a:solidFill>
                  <a:srgbClr val="FF0065"/>
                </a:solidFill>
              </a:rPr>
              <a:t>(may share space)</a:t>
            </a:r>
            <a:endParaRPr lang="en-US" altLang="it-IT"/>
          </a:p>
          <a:p>
            <a:pPr eaLnBrk="1" hangingPunct="1">
              <a:spcBef>
                <a:spcPts val="600"/>
              </a:spcBef>
            </a:pPr>
            <a:r>
              <a:rPr lang="en-US" altLang="it-IT"/>
              <a:t>Static relationship between scopes in single procedure </a:t>
            </a:r>
          </a:p>
        </p:txBody>
      </p:sp>
      <p:sp>
        <p:nvSpPr>
          <p:cNvPr id="7172" name="AutoShape 4">
            <a:extLst>
              <a:ext uri="{FF2B5EF4-FFF2-40B4-BE49-F238E27FC236}">
                <a16:creationId xmlns:a16="http://schemas.microsoft.com/office/drawing/2014/main" id="{2CAF6256-7AFE-4A66-A5F2-1A4617B9C31E}"/>
              </a:ext>
            </a:extLst>
          </p:cNvPr>
          <p:cNvSpPr>
            <a:spLocks/>
          </p:cNvSpPr>
          <p:nvPr/>
        </p:nvSpPr>
        <p:spPr bwMode="auto">
          <a:xfrm>
            <a:off x="2667000" y="5768975"/>
            <a:ext cx="4572000" cy="631825"/>
          </a:xfrm>
          <a:prstGeom prst="accentBorderCallout1">
            <a:avLst>
              <a:gd name="adj1" fmla="val 18093"/>
              <a:gd name="adj2" fmla="val -1611"/>
              <a:gd name="adj3" fmla="val -47491"/>
              <a:gd name="adj4" fmla="val -18120"/>
            </a:avLst>
          </a:prstGeom>
          <a:solidFill>
            <a:srgbClr val="BFBFBF"/>
          </a:solidFill>
          <a:ln w="19050">
            <a:solidFill>
              <a:srgbClr val="7F7F7F"/>
            </a:solidFill>
            <a:miter lim="800000"/>
            <a:headEnd/>
            <a:tailEnd type="triangle" w="med" len="med"/>
          </a:ln>
        </p:spPr>
        <p:txBody>
          <a:bodyPr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>
              <a:lnSpc>
                <a:spcPct val="95000"/>
              </a:lnSpc>
            </a:pPr>
            <a:r>
              <a:rPr lang="en-US" altLang="it-IT" sz="1800">
                <a:solidFill>
                  <a:srgbClr val="FF0065"/>
                </a:solidFill>
              </a:rPr>
              <a:t>Used this way, “static” means knowable at </a:t>
            </a:r>
            <a:r>
              <a:rPr lang="en-US" altLang="it-IT" sz="1800" i="1" u="sng">
                <a:solidFill>
                  <a:srgbClr val="FF0065"/>
                </a:solidFill>
              </a:rPr>
              <a:t>compile time</a:t>
            </a:r>
            <a:r>
              <a:rPr lang="en-US" altLang="it-IT" sz="1000">
                <a:solidFill>
                  <a:srgbClr val="FF0065"/>
                </a:solidFill>
              </a:rPr>
              <a:t>  </a:t>
            </a:r>
            <a:r>
              <a:rPr lang="en-US" altLang="it-IT" sz="1800">
                <a:solidFill>
                  <a:srgbClr val="FF0065"/>
                </a:solidFill>
              </a:rPr>
              <a:t>(and, therefore, fixed).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Footer Placeholder 3">
            <a:extLst>
              <a:ext uri="{FF2B5EF4-FFF2-40B4-BE49-F238E27FC236}">
                <a16:creationId xmlns:a16="http://schemas.microsoft.com/office/drawing/2014/main" id="{B4A186AC-3AC3-456C-806F-427E34D0622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200"/>
              <a:t>Comp 412, Fall 2010</a:t>
            </a:r>
          </a:p>
        </p:txBody>
      </p:sp>
      <p:sp>
        <p:nvSpPr>
          <p:cNvPr id="23554" name="Slide Number Placeholder 4">
            <a:extLst>
              <a:ext uri="{FF2B5EF4-FFF2-40B4-BE49-F238E27FC236}">
                <a16:creationId xmlns:a16="http://schemas.microsoft.com/office/drawing/2014/main" id="{A03D5F4A-02F5-4B0B-BE30-2CC16900A5B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4BF6DD49-F3B8-40A1-AD21-587A5C48177B}" type="slidenum">
              <a:rPr lang="en-US" altLang="it-IT" sz="1200"/>
              <a:pPr/>
              <a:t>4</a:t>
            </a:fld>
            <a:endParaRPr lang="en-US" altLang="it-IT" sz="1200"/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030DD43B-5574-4E08-A84E-B4688BA148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Where Do All These Variables Go?</a:t>
            </a:r>
          </a:p>
        </p:txBody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21578CF7-6876-4864-941A-F667B8C23E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144588"/>
            <a:ext cx="8001000" cy="4875212"/>
          </a:xfrm>
        </p:spPr>
        <p:txBody>
          <a:bodyPr/>
          <a:lstStyle/>
          <a:p>
            <a:pPr eaLnBrk="1" hangingPunct="1">
              <a:spcBef>
                <a:spcPct val="15000"/>
              </a:spcBef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Automatic &amp; Local</a:t>
            </a:r>
          </a:p>
          <a:p>
            <a:pPr eaLnBrk="1" hangingPunct="1">
              <a:spcBef>
                <a:spcPct val="15000"/>
              </a:spcBef>
            </a:pPr>
            <a:r>
              <a:rPr lang="en-US" altLang="it-IT"/>
              <a:t>Automatic </a:t>
            </a:r>
            <a:r>
              <a:rPr lang="en-US" altLang="it-IT">
                <a:sym typeface="Symbol" panose="05050102010706020507" pitchFamily="18" charset="2"/>
              </a:rPr>
              <a:t> lifetime matches procedure’s lifetime</a:t>
            </a:r>
            <a:endParaRPr lang="en-US" altLang="it-IT"/>
          </a:p>
          <a:p>
            <a:pPr eaLnBrk="1" hangingPunct="1">
              <a:spcBef>
                <a:spcPct val="15000"/>
              </a:spcBef>
            </a:pPr>
            <a:r>
              <a:rPr lang="en-US" altLang="it-IT"/>
              <a:t>Keep them in the procedure’s activation record or in a register</a:t>
            </a:r>
          </a:p>
          <a:p>
            <a:pPr eaLnBrk="1" hangingPunct="1">
              <a:spcBef>
                <a:spcPct val="50000"/>
              </a:spcBef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Static </a:t>
            </a:r>
            <a:endParaRPr lang="en-US" altLang="it-IT">
              <a:solidFill>
                <a:srgbClr val="003C75"/>
              </a:solidFill>
              <a:sym typeface="Symbol" panose="05050102010706020507" pitchFamily="18" charset="2"/>
            </a:endParaRPr>
          </a:p>
          <a:p>
            <a:pPr eaLnBrk="1" hangingPunct="1">
              <a:spcBef>
                <a:spcPct val="15000"/>
              </a:spcBef>
            </a:pPr>
            <a:r>
              <a:rPr lang="en-US" altLang="it-IT">
                <a:sym typeface="Symbol" panose="05050102010706020507" pitchFamily="18" charset="2"/>
              </a:rPr>
              <a:t>Procedure scope  name a storage area for the procedure </a:t>
            </a:r>
          </a:p>
          <a:p>
            <a:pPr marL="850900" lvl="1" eaLnBrk="1" hangingPunct="1">
              <a:spcBef>
                <a:spcPct val="15000"/>
              </a:spcBef>
              <a:buFontTx/>
              <a:buNone/>
            </a:pPr>
            <a:r>
              <a:rPr lang="en-US" altLang="it-IT">
                <a:solidFill>
                  <a:srgbClr val="003C75"/>
                </a:solidFill>
              </a:rPr>
              <a:t>&amp;_p.x</a:t>
            </a:r>
            <a:r>
              <a:rPr lang="en-US" altLang="it-IT">
                <a:solidFill>
                  <a:srgbClr val="B025A6"/>
                </a:solidFill>
              </a:rPr>
              <a:t> </a:t>
            </a:r>
            <a:r>
              <a:rPr lang="en-US" altLang="it-IT"/>
              <a:t>for variable </a:t>
            </a:r>
            <a:r>
              <a:rPr lang="en-US" altLang="it-IT">
                <a:solidFill>
                  <a:srgbClr val="003C75"/>
                </a:solidFill>
              </a:rPr>
              <a:t>x</a:t>
            </a:r>
            <a:r>
              <a:rPr lang="en-US" altLang="it-IT">
                <a:solidFill>
                  <a:srgbClr val="B025A6"/>
                </a:solidFill>
              </a:rPr>
              <a:t> </a:t>
            </a:r>
            <a:r>
              <a:rPr lang="en-US" altLang="it-IT"/>
              <a:t>in procedure </a:t>
            </a:r>
            <a:r>
              <a:rPr lang="en-US" altLang="it-IT">
                <a:solidFill>
                  <a:srgbClr val="003C75"/>
                </a:solidFill>
              </a:rPr>
              <a:t>p</a:t>
            </a:r>
            <a:r>
              <a:rPr lang="en-US" altLang="it-IT">
                <a:solidFill>
                  <a:srgbClr val="B025A6"/>
                </a:solidFill>
              </a:rPr>
              <a:t> </a:t>
            </a:r>
          </a:p>
          <a:p>
            <a:pPr eaLnBrk="1" hangingPunct="1">
              <a:spcBef>
                <a:spcPct val="15000"/>
              </a:spcBef>
            </a:pPr>
            <a:r>
              <a:rPr lang="en-US" altLang="it-IT"/>
              <a:t>File scope (</a:t>
            </a:r>
            <a:r>
              <a:rPr lang="en-US" altLang="it-IT" sz="600"/>
              <a:t> </a:t>
            </a:r>
            <a:r>
              <a:rPr lang="en-US" altLang="it-IT" sz="1800"/>
              <a:t>C</a:t>
            </a:r>
            <a:r>
              <a:rPr lang="en-US" altLang="it-IT" sz="600"/>
              <a:t> </a:t>
            </a:r>
            <a:r>
              <a:rPr lang="en-US" altLang="it-IT"/>
              <a:t>) </a:t>
            </a:r>
            <a:r>
              <a:rPr lang="en-US" altLang="it-IT">
                <a:sym typeface="Symbol" panose="05050102010706020507" pitchFamily="18" charset="2"/>
              </a:rPr>
              <a:t> name a storage area for file name</a:t>
            </a:r>
          </a:p>
          <a:p>
            <a:pPr eaLnBrk="1" hangingPunct="1">
              <a:spcBef>
                <a:spcPct val="15000"/>
              </a:spcBef>
            </a:pPr>
            <a:r>
              <a:rPr lang="en-US" altLang="it-IT">
                <a:sym typeface="Symbol" panose="05050102010706020507" pitchFamily="18" charset="2"/>
              </a:rPr>
              <a:t>Lifetime is entire execution</a:t>
            </a:r>
            <a:endParaRPr lang="en-US" altLang="it-IT"/>
          </a:p>
          <a:p>
            <a:pPr eaLnBrk="1" hangingPunct="1">
              <a:spcBef>
                <a:spcPct val="50000"/>
              </a:spcBef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Global</a:t>
            </a:r>
          </a:p>
          <a:p>
            <a:pPr eaLnBrk="1" hangingPunct="1">
              <a:spcBef>
                <a:spcPct val="15000"/>
              </a:spcBef>
            </a:pPr>
            <a:r>
              <a:rPr lang="en-US" altLang="it-IT"/>
              <a:t>One or more named global data areas</a:t>
            </a:r>
          </a:p>
          <a:p>
            <a:pPr eaLnBrk="1" hangingPunct="1">
              <a:spcBef>
                <a:spcPct val="15000"/>
              </a:spcBef>
            </a:pPr>
            <a:r>
              <a:rPr lang="en-US" altLang="it-IT"/>
              <a:t>One per variable, or per file, or per program, …</a:t>
            </a:r>
          </a:p>
          <a:p>
            <a:pPr eaLnBrk="1" hangingPunct="1">
              <a:spcBef>
                <a:spcPct val="15000"/>
              </a:spcBef>
            </a:pPr>
            <a:r>
              <a:rPr lang="en-US" altLang="it-IT"/>
              <a:t>Lifetime is entire execution</a:t>
            </a:r>
          </a:p>
          <a:p>
            <a:pPr eaLnBrk="1" hangingPunct="1">
              <a:spcBef>
                <a:spcPct val="15000"/>
              </a:spcBef>
              <a:buFont typeface="Times" panose="02020603050405020304" pitchFamily="18" charset="0"/>
              <a:buNone/>
            </a:pPr>
            <a:endParaRPr lang="en-US" altLang="it-IT"/>
          </a:p>
          <a:p>
            <a:pPr eaLnBrk="1" hangingPunct="1">
              <a:spcBef>
                <a:spcPct val="15000"/>
              </a:spcBef>
              <a:buFont typeface="Times" panose="02020603050405020304" pitchFamily="18" charset="0"/>
              <a:buNone/>
            </a:pPr>
            <a:endParaRPr lang="en-US" altLang="it-IT"/>
          </a:p>
        </p:txBody>
      </p:sp>
      <p:sp>
        <p:nvSpPr>
          <p:cNvPr id="5124" name="Text Box 4">
            <a:extLst>
              <a:ext uri="{FF2B5EF4-FFF2-40B4-BE49-F238E27FC236}">
                <a16:creationId xmlns:a16="http://schemas.microsoft.com/office/drawing/2014/main" id="{4F85D0DA-4F06-4CDA-8096-6F2C5C544E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6215063"/>
            <a:ext cx="7391400" cy="338137"/>
          </a:xfrm>
          <a:prstGeom prst="rect">
            <a:avLst/>
          </a:prstGeom>
          <a:solidFill>
            <a:srgbClr val="BFBFBF"/>
          </a:solidFill>
          <a:ln w="9525">
            <a:solidFill>
              <a:srgbClr val="7F7F7F"/>
            </a:solidFill>
            <a:miter lim="800000"/>
            <a:headEnd/>
            <a:tailEnd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Lifetime does not match procedure’s lifetime </a:t>
            </a:r>
            <a:r>
              <a:rPr lang="en-US" dirty="0" err="1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</a:t>
            </a:r>
            <a:r>
              <a:rPr lang="en-US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 allocate it on the heap</a:t>
            </a:r>
            <a:endParaRPr lang="en-US" dirty="0">
              <a:solidFill>
                <a:srgbClr val="003C75"/>
              </a:solidFill>
              <a:latin typeface="Comic Sans MS" charset="0"/>
              <a:ea typeface="ヒラギノ角ゴ Pro W3" charset="-128"/>
              <a:cs typeface="ヒラギノ角ゴ Pro W3" charset="-128"/>
            </a:endParaRPr>
          </a:p>
        </p:txBody>
      </p:sp>
    </p:spTree>
  </p:cSld>
  <p:clrMapOvr>
    <a:masterClrMapping/>
  </p:clrMapOvr>
  <p:transition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Title 1">
            <a:extLst>
              <a:ext uri="{FF2B5EF4-FFF2-40B4-BE49-F238E27FC236}">
                <a16:creationId xmlns:a16="http://schemas.microsoft.com/office/drawing/2014/main" id="{2EB89978-454E-4DA0-9F51-E5F716D1C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/>
              <a:t>Data Areas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9A5D7-CF11-4B64-908E-A1CF70BE4F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buFont typeface="Times" charset="0"/>
              <a:buNone/>
              <a:defRPr/>
            </a:pPr>
            <a:r>
              <a:rPr lang="en-US" dirty="0">
                <a:solidFill>
                  <a:srgbClr val="003C75"/>
                </a:solidFill>
              </a:rPr>
              <a:t>If variables go into data areas, where do data areas go</a:t>
            </a:r>
          </a:p>
          <a:p>
            <a:pPr marL="0" indent="0">
              <a:spcBef>
                <a:spcPts val="2400"/>
              </a:spcBef>
              <a:buFont typeface="Times" charset="0"/>
              <a:buNone/>
              <a:defRPr/>
            </a:pPr>
            <a:r>
              <a:rPr lang="en-US" dirty="0"/>
              <a:t>If lifetime of data area matches procedure invocation </a:t>
            </a:r>
            <a:r>
              <a:rPr lang="en-US" sz="1800" i="1" dirty="0"/>
              <a:t>AND </a:t>
            </a:r>
            <a:r>
              <a:rPr lang="en-US" dirty="0"/>
              <a:t>if procedures normally return then</a:t>
            </a:r>
          </a:p>
          <a:p>
            <a:pPr>
              <a:spcBef>
                <a:spcPts val="600"/>
              </a:spcBef>
              <a:buFont typeface="Lucida Grande"/>
              <a:buChar char="⇒"/>
              <a:defRPr/>
            </a:pPr>
            <a:r>
              <a:rPr lang="en-US" dirty="0"/>
              <a:t>Stack them with control information (return addresses)</a:t>
            </a:r>
          </a:p>
          <a:p>
            <a:pPr>
              <a:spcBef>
                <a:spcPts val="2400"/>
              </a:spcBef>
              <a:buFont typeface="Times" charset="0"/>
              <a:buNone/>
              <a:defRPr/>
            </a:pPr>
            <a:r>
              <a:rPr lang="en-US" dirty="0"/>
              <a:t>If lifetime of data area is entire execution then</a:t>
            </a:r>
          </a:p>
          <a:p>
            <a:pPr>
              <a:spcBef>
                <a:spcPts val="600"/>
              </a:spcBef>
              <a:buFont typeface="Lucida Grande"/>
              <a:buChar char="⇒"/>
              <a:defRPr/>
            </a:pPr>
            <a:r>
              <a:rPr lang="en-US" dirty="0"/>
              <a:t>Allocate space for data area statically (assembler directive)</a:t>
            </a:r>
          </a:p>
          <a:p>
            <a:pPr>
              <a:spcBef>
                <a:spcPts val="2400"/>
              </a:spcBef>
              <a:buFont typeface="Times" charset="0"/>
              <a:buNone/>
              <a:defRPr/>
            </a:pPr>
            <a:r>
              <a:rPr lang="en-US" dirty="0"/>
              <a:t>If lifetime of data is less than entire execution </a:t>
            </a:r>
            <a:r>
              <a:rPr lang="en-US" i="1" dirty="0"/>
              <a:t>BUT</a:t>
            </a:r>
            <a:r>
              <a:rPr lang="en-US" dirty="0"/>
              <a:t> longer than procedure invocation then</a:t>
            </a:r>
          </a:p>
          <a:p>
            <a:pPr>
              <a:spcBef>
                <a:spcPts val="600"/>
              </a:spcBef>
              <a:buFont typeface="Lucida Grande"/>
              <a:buChar char="⇒"/>
              <a:defRPr/>
            </a:pPr>
            <a:r>
              <a:rPr lang="en-US" dirty="0"/>
              <a:t>Allocate space for data area on the heap</a:t>
            </a:r>
          </a:p>
          <a:p>
            <a:pPr>
              <a:spcBef>
                <a:spcPts val="600"/>
              </a:spcBef>
              <a:buFont typeface="Times" charset="0"/>
              <a:buNone/>
              <a:defRPr/>
            </a:pPr>
            <a:endParaRPr lang="en-US" dirty="0"/>
          </a:p>
        </p:txBody>
      </p:sp>
      <p:sp>
        <p:nvSpPr>
          <p:cNvPr id="25603" name="Footer Placeholder 3">
            <a:extLst>
              <a:ext uri="{FF2B5EF4-FFF2-40B4-BE49-F238E27FC236}">
                <a16:creationId xmlns:a16="http://schemas.microsoft.com/office/drawing/2014/main" id="{163C9F9D-E9C8-4209-B506-C8768DB2735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200"/>
              <a:t>Comp 412, Fall 2010</a:t>
            </a:r>
          </a:p>
        </p:txBody>
      </p:sp>
      <p:sp>
        <p:nvSpPr>
          <p:cNvPr id="25604" name="Slide Number Placeholder 4">
            <a:extLst>
              <a:ext uri="{FF2B5EF4-FFF2-40B4-BE49-F238E27FC236}">
                <a16:creationId xmlns:a16="http://schemas.microsoft.com/office/drawing/2014/main" id="{F67B5251-DFB5-457A-835C-C12F487073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0FDBA517-E9D4-4018-8C02-7D5C07E5BB1D}" type="slidenum">
              <a:rPr lang="en-US" altLang="it-IT" sz="1200"/>
              <a:pPr/>
              <a:t>5</a:t>
            </a:fld>
            <a:endParaRPr lang="en-US" altLang="it-IT" sz="12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39983E-01C0-4CD0-A82F-477E84CFDD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5619750"/>
            <a:ext cx="7848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2000">
                <a:solidFill>
                  <a:srgbClr val="003C75"/>
                </a:solidFill>
              </a:rPr>
              <a:t>Where do the stack, the heap, and static data areas go?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Footer Placeholder 3">
            <a:extLst>
              <a:ext uri="{FF2B5EF4-FFF2-40B4-BE49-F238E27FC236}">
                <a16:creationId xmlns:a16="http://schemas.microsoft.com/office/drawing/2014/main" id="{E5A03632-5CD4-4F26-B47E-571753C9CA4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200"/>
              <a:t>Comp 412, Fall 2010</a:t>
            </a:r>
          </a:p>
        </p:txBody>
      </p:sp>
      <p:sp>
        <p:nvSpPr>
          <p:cNvPr id="26626" name="Slide Number Placeholder 4">
            <a:extLst>
              <a:ext uri="{FF2B5EF4-FFF2-40B4-BE49-F238E27FC236}">
                <a16:creationId xmlns:a16="http://schemas.microsoft.com/office/drawing/2014/main" id="{FFDE5F3D-12BB-41A4-8C8C-FEF1BC24241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CB4CC7FD-9A18-401E-9BEC-EFEF0482F439}" type="slidenum">
              <a:rPr lang="en-US" altLang="it-IT" sz="1200"/>
              <a:pPr/>
              <a:t>6</a:t>
            </a:fld>
            <a:endParaRPr lang="en-US" altLang="it-IT" sz="1200"/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40694907-D62B-408D-B772-1C3EFE1A5A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Placing Run-time Data Structures</a:t>
            </a:r>
          </a:p>
        </p:txBody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8EF66BDB-7736-4060-8796-6AF049B800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Classic Organization </a:t>
            </a:r>
          </a:p>
        </p:txBody>
      </p:sp>
      <p:sp>
        <p:nvSpPr>
          <p:cNvPr id="26629" name="Text Box 4">
            <a:extLst>
              <a:ext uri="{FF2B5EF4-FFF2-40B4-BE49-F238E27FC236}">
                <a16:creationId xmlns:a16="http://schemas.microsoft.com/office/drawing/2014/main" id="{4DAC3D54-C265-4C40-B018-88140EBFBF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94200"/>
            <a:ext cx="5334000" cy="143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77800" indent="-1778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342900" indent="-1778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ts val="600"/>
              </a:spcBef>
              <a:buClr>
                <a:srgbClr val="003C75"/>
              </a:buClr>
              <a:buSzPct val="120000"/>
              <a:buFont typeface="Times" panose="02020603050405020304" pitchFamily="18" charset="0"/>
              <a:buChar char="•"/>
            </a:pPr>
            <a:r>
              <a:rPr lang="en-US" altLang="it-IT" sz="1800"/>
              <a:t>Code, static, &amp; global data have known size</a:t>
            </a:r>
          </a:p>
          <a:p>
            <a:pPr lvl="1">
              <a:spcBef>
                <a:spcPts val="600"/>
              </a:spcBef>
              <a:buClr>
                <a:srgbClr val="003C75"/>
              </a:buClr>
              <a:buSzPct val="80000"/>
              <a:buFontTx/>
              <a:buChar char="—"/>
            </a:pPr>
            <a:r>
              <a:rPr lang="en-US" altLang="it-IT" sz="1800"/>
              <a:t> Use symbolic labels in the code</a:t>
            </a:r>
          </a:p>
          <a:p>
            <a:pPr>
              <a:spcBef>
                <a:spcPts val="600"/>
              </a:spcBef>
              <a:buClr>
                <a:srgbClr val="003C75"/>
              </a:buClr>
              <a:buSzPct val="120000"/>
              <a:buFont typeface="Times" panose="02020603050405020304" pitchFamily="18" charset="0"/>
              <a:buChar char="•"/>
            </a:pPr>
            <a:r>
              <a:rPr lang="en-US" altLang="it-IT" sz="1800"/>
              <a:t>Heap &amp; stack both grow &amp; shrink over time</a:t>
            </a:r>
          </a:p>
          <a:p>
            <a:pPr>
              <a:spcBef>
                <a:spcPts val="600"/>
              </a:spcBef>
              <a:buClr>
                <a:srgbClr val="003C75"/>
              </a:buClr>
              <a:buSzPct val="120000"/>
              <a:buFont typeface="Times" panose="02020603050405020304" pitchFamily="18" charset="0"/>
              <a:buChar char="•"/>
            </a:pPr>
            <a:r>
              <a:rPr lang="en-US" altLang="it-IT" sz="1800"/>
              <a:t>This is a </a:t>
            </a:r>
            <a:r>
              <a:rPr lang="en-US" altLang="it-IT" sz="1800" i="1" u="sng"/>
              <a:t>virtual</a:t>
            </a:r>
            <a:r>
              <a:rPr lang="en-US" altLang="it-IT" sz="1800"/>
              <a:t>  address space </a:t>
            </a:r>
          </a:p>
        </p:txBody>
      </p:sp>
      <p:sp>
        <p:nvSpPr>
          <p:cNvPr id="72711" name="Text Box 5">
            <a:extLst>
              <a:ext uri="{FF2B5EF4-FFF2-40B4-BE49-F238E27FC236}">
                <a16:creationId xmlns:a16="http://schemas.microsoft.com/office/drawing/2014/main" id="{D6942DCC-10FE-4110-B18C-5F319CFB2A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1371600"/>
            <a:ext cx="3124200" cy="2538413"/>
          </a:xfrm>
          <a:prstGeom prst="rect">
            <a:avLst/>
          </a:prstGeom>
          <a:solidFill>
            <a:schemeClr val="bg1"/>
          </a:solidFill>
          <a:ln w="9525">
            <a:solidFill>
              <a:srgbClr val="7F7F7F"/>
            </a:solidFill>
            <a:miter lim="800000"/>
            <a:headEnd/>
            <a:tailEnd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marL="182563" indent="-169863" eaLnBrk="0" hangingPunct="0">
              <a:spcBef>
                <a:spcPts val="600"/>
              </a:spcBef>
              <a:buClr>
                <a:srgbClr val="003C75"/>
              </a:buClr>
              <a:buSzPct val="120000"/>
              <a:buFont typeface="Symbol" charset="2"/>
              <a:buChar char=""/>
              <a:defRPr/>
            </a:pPr>
            <a:r>
              <a:rPr lang="en-US" dirty="0">
                <a:latin typeface="Comic Sans MS" charset="0"/>
                <a:ea typeface="ヒラギノ角ゴ Pro W3" charset="-128"/>
                <a:cs typeface="ヒラギノ角ゴ Pro W3" charset="-128"/>
              </a:rPr>
              <a:t>Better </a:t>
            </a:r>
            <a:r>
              <a:rPr lang="en-US" sz="1800" dirty="0">
                <a:latin typeface="Comic Sans MS" charset="0"/>
                <a:ea typeface="ヒラギノ角ゴ Pro W3" charset="-128"/>
                <a:cs typeface="ヒラギノ角ゴ Pro W3" charset="-128"/>
              </a:rPr>
              <a:t>utilization if stack &amp; heap grow toward each other </a:t>
            </a:r>
          </a:p>
          <a:p>
            <a:pPr marL="182563" indent="-169863" eaLnBrk="0" hangingPunct="0">
              <a:spcBef>
                <a:spcPts val="600"/>
              </a:spcBef>
              <a:buClr>
                <a:srgbClr val="003C75"/>
              </a:buClr>
              <a:buSzPct val="120000"/>
              <a:buFont typeface="Symbol" charset="2"/>
              <a:buChar char=""/>
              <a:defRPr/>
            </a:pPr>
            <a:r>
              <a:rPr lang="en-US" sz="1800" dirty="0">
                <a:latin typeface="Comic Sans MS" charset="0"/>
                <a:ea typeface="ヒラギノ角ゴ Pro W3" charset="-128"/>
                <a:cs typeface="ヒラギノ角ゴ Pro W3" charset="-128"/>
              </a:rPr>
              <a:t>Very old result     (Knuth)</a:t>
            </a:r>
          </a:p>
          <a:p>
            <a:pPr marL="182563" indent="-169863" eaLnBrk="0" hangingPunct="0">
              <a:spcBef>
                <a:spcPts val="600"/>
              </a:spcBef>
              <a:buClr>
                <a:srgbClr val="003C75"/>
              </a:buClr>
              <a:buSzPct val="120000"/>
              <a:buFont typeface="Symbol" charset="2"/>
              <a:buChar char=""/>
              <a:defRPr/>
            </a:pPr>
            <a:r>
              <a:rPr lang="en-US" sz="1800" dirty="0">
                <a:latin typeface="Comic Sans MS" charset="0"/>
                <a:ea typeface="ヒラギノ角ゴ Pro W3" charset="-128"/>
                <a:cs typeface="ヒラギノ角ゴ Pro W3" charset="-128"/>
              </a:rPr>
              <a:t>Code &amp; data separate or interleaved</a:t>
            </a:r>
          </a:p>
          <a:p>
            <a:pPr marL="182563" indent="-169863" eaLnBrk="0" hangingPunct="0">
              <a:spcBef>
                <a:spcPts val="600"/>
              </a:spcBef>
              <a:buClr>
                <a:srgbClr val="003C75"/>
              </a:buClr>
              <a:buSzPct val="120000"/>
              <a:buFont typeface="Symbol" charset="2"/>
              <a:buChar char=""/>
              <a:defRPr/>
            </a:pPr>
            <a:r>
              <a:rPr lang="en-US" sz="1800" dirty="0">
                <a:latin typeface="Comic Sans MS" charset="0"/>
                <a:ea typeface="ヒラギノ角ゴ Pro W3" charset="-128"/>
                <a:cs typeface="ヒラギノ角ゴ Pro W3" charset="-128"/>
              </a:rPr>
              <a:t>Uses address space, not allocated memory</a:t>
            </a:r>
          </a:p>
        </p:txBody>
      </p:sp>
      <p:grpSp>
        <p:nvGrpSpPr>
          <p:cNvPr id="2" name="Group 6">
            <a:extLst>
              <a:ext uri="{FF2B5EF4-FFF2-40B4-BE49-F238E27FC236}">
                <a16:creationId xmlns:a16="http://schemas.microsoft.com/office/drawing/2014/main" id="{32D3001B-D11A-4DAB-A96B-9ACFD166E673}"/>
              </a:ext>
            </a:extLst>
          </p:cNvPr>
          <p:cNvGrpSpPr>
            <a:grpSpLocks/>
          </p:cNvGrpSpPr>
          <p:nvPr/>
        </p:nvGrpSpPr>
        <p:grpSpPr bwMode="auto">
          <a:xfrm>
            <a:off x="977900" y="1873250"/>
            <a:ext cx="4127500" cy="2089150"/>
            <a:chOff x="640" y="1152"/>
            <a:chExt cx="2600" cy="1316"/>
          </a:xfrm>
          <a:noFill/>
        </p:grpSpPr>
        <p:grpSp>
          <p:nvGrpSpPr>
            <p:cNvPr id="3" name="Group 7">
              <a:extLst>
                <a:ext uri="{FF2B5EF4-FFF2-40B4-BE49-F238E27FC236}">
                  <a16:creationId xmlns:a16="http://schemas.microsoft.com/office/drawing/2014/main" id="{E551D25E-CF20-414E-8B74-E7B20AF0B7F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8" y="1152"/>
              <a:ext cx="2304" cy="960"/>
              <a:chOff x="912" y="1152"/>
              <a:chExt cx="2304" cy="960"/>
            </a:xfrm>
            <a:grpFill/>
          </p:grpSpPr>
          <p:sp>
            <p:nvSpPr>
              <p:cNvPr id="72717" name="Rectangle 8">
                <a:extLst>
                  <a:ext uri="{FF2B5EF4-FFF2-40B4-BE49-F238E27FC236}">
                    <a16:creationId xmlns:a16="http://schemas.microsoft.com/office/drawing/2014/main" id="{901D9B5B-EC69-48EE-8650-B0F879B1F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1152"/>
                <a:ext cx="2304" cy="960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en-US">
                  <a:latin typeface="Comic Sans MS" charset="0"/>
                  <a:ea typeface="ヒラギノ角ゴ Pro W3" charset="-128"/>
                  <a:cs typeface="ヒラギノ角ゴ Pro W3" charset="-128"/>
                </a:endParaRPr>
              </a:p>
            </p:txBody>
          </p:sp>
          <p:sp>
            <p:nvSpPr>
              <p:cNvPr id="72718" name="Rectangle 9">
                <a:extLst>
                  <a:ext uri="{FF2B5EF4-FFF2-40B4-BE49-F238E27FC236}">
                    <a16:creationId xmlns:a16="http://schemas.microsoft.com/office/drawing/2014/main" id="{DBC8BADD-A7F5-4587-8692-FB14B0F758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1152"/>
                <a:ext cx="384" cy="960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r>
                  <a:rPr lang="en-US" sz="1400" b="1" dirty="0">
                    <a:latin typeface="Geneva"/>
                    <a:ea typeface="ヒラギノ角ゴ Pro W3" charset="-128"/>
                    <a:cs typeface="Geneva"/>
                  </a:rPr>
                  <a:t>C</a:t>
                </a:r>
              </a:p>
              <a:p>
                <a:pPr algn="ctr" eaLnBrk="0" hangingPunct="0">
                  <a:defRPr/>
                </a:pPr>
                <a:r>
                  <a:rPr lang="en-US" sz="1400" b="1" dirty="0" err="1">
                    <a:latin typeface="Geneva"/>
                    <a:ea typeface="ヒラギノ角ゴ Pro W3" charset="-128"/>
                    <a:cs typeface="Geneva"/>
                  </a:rPr>
                  <a:t>o</a:t>
                </a:r>
                <a:endParaRPr lang="en-US" sz="1400" b="1" dirty="0">
                  <a:latin typeface="Geneva"/>
                  <a:ea typeface="ヒラギノ角ゴ Pro W3" charset="-128"/>
                  <a:cs typeface="Geneva"/>
                </a:endParaRPr>
              </a:p>
              <a:p>
                <a:pPr algn="ctr" eaLnBrk="0" hangingPunct="0">
                  <a:defRPr/>
                </a:pPr>
                <a:r>
                  <a:rPr lang="en-US" sz="1400" b="1" dirty="0" err="1">
                    <a:latin typeface="Geneva"/>
                    <a:ea typeface="ヒラギノ角ゴ Pro W3" charset="-128"/>
                    <a:cs typeface="Geneva"/>
                  </a:rPr>
                  <a:t>d</a:t>
                </a:r>
                <a:endParaRPr lang="en-US" sz="1400" b="1" dirty="0">
                  <a:latin typeface="Geneva"/>
                  <a:ea typeface="ヒラギノ角ゴ Pro W3" charset="-128"/>
                  <a:cs typeface="Geneva"/>
                </a:endParaRPr>
              </a:p>
              <a:p>
                <a:pPr algn="ctr" eaLnBrk="0" hangingPunct="0">
                  <a:defRPr/>
                </a:pPr>
                <a:r>
                  <a:rPr lang="en-US" sz="1400" b="1" dirty="0" err="1">
                    <a:latin typeface="Geneva"/>
                    <a:ea typeface="ヒラギノ角ゴ Pro W3" charset="-128"/>
                    <a:cs typeface="Geneva"/>
                  </a:rPr>
                  <a:t>e</a:t>
                </a:r>
                <a:endParaRPr lang="en-US" sz="1400" b="1" dirty="0">
                  <a:latin typeface="Geneva"/>
                  <a:ea typeface="ヒラギノ角ゴ Pro W3" charset="-128"/>
                  <a:cs typeface="Geneva"/>
                </a:endParaRPr>
              </a:p>
            </p:txBody>
          </p:sp>
          <p:sp>
            <p:nvSpPr>
              <p:cNvPr id="72719" name="Rectangle 10">
                <a:extLst>
                  <a:ext uri="{FF2B5EF4-FFF2-40B4-BE49-F238E27FC236}">
                    <a16:creationId xmlns:a16="http://schemas.microsoft.com/office/drawing/2014/main" id="{CD1D370A-2364-4A53-BB12-1868892919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96" y="1152"/>
                <a:ext cx="432" cy="960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r>
                  <a:rPr lang="en-US" sz="1400" b="1">
                    <a:latin typeface="Geneva"/>
                    <a:ea typeface="ヒラギノ角ゴ Pro W3" charset="-128"/>
                    <a:cs typeface="Geneva"/>
                  </a:rPr>
                  <a:t>S    G</a:t>
                </a:r>
              </a:p>
              <a:p>
                <a:pPr algn="ctr" eaLnBrk="0" hangingPunct="0">
                  <a:defRPr/>
                </a:pPr>
                <a:r>
                  <a:rPr lang="en-US" sz="1400" b="1">
                    <a:latin typeface="Geneva"/>
                    <a:ea typeface="ヒラギノ角ゴ Pro W3" charset="-128"/>
                    <a:cs typeface="Geneva"/>
                  </a:rPr>
                  <a:t>t      l</a:t>
                </a:r>
              </a:p>
              <a:p>
                <a:pPr algn="ctr" eaLnBrk="0" hangingPunct="0">
                  <a:defRPr/>
                </a:pPr>
                <a:r>
                  <a:rPr lang="en-US" sz="1400" b="1">
                    <a:latin typeface="Geneva"/>
                    <a:ea typeface="ヒラギノ角ゴ Pro W3" charset="-128"/>
                    <a:cs typeface="Geneva"/>
                  </a:rPr>
                  <a:t>a &amp; o</a:t>
                </a:r>
              </a:p>
              <a:p>
                <a:pPr algn="ctr" eaLnBrk="0" hangingPunct="0">
                  <a:defRPr/>
                </a:pPr>
                <a:r>
                  <a:rPr lang="en-US" sz="1400" b="1">
                    <a:latin typeface="Geneva"/>
                    <a:ea typeface="ヒラギノ角ゴ Pro W3" charset="-128"/>
                    <a:cs typeface="Geneva"/>
                  </a:rPr>
                  <a:t>t     b</a:t>
                </a:r>
              </a:p>
              <a:p>
                <a:pPr algn="ctr" eaLnBrk="0" hangingPunct="0">
                  <a:defRPr/>
                </a:pPr>
                <a:r>
                  <a:rPr lang="en-US" sz="1400" b="1">
                    <a:latin typeface="Geneva"/>
                    <a:ea typeface="ヒラギノ角ゴ Pro W3" charset="-128"/>
                    <a:cs typeface="Geneva"/>
                  </a:rPr>
                  <a:t>i     a</a:t>
                </a:r>
              </a:p>
              <a:p>
                <a:pPr algn="ctr" eaLnBrk="0" hangingPunct="0">
                  <a:defRPr/>
                </a:pPr>
                <a:r>
                  <a:rPr lang="en-US" sz="1400" b="1">
                    <a:latin typeface="Geneva"/>
                    <a:ea typeface="ヒラギノ角ゴ Pro W3" charset="-128"/>
                    <a:cs typeface="Geneva"/>
                  </a:rPr>
                  <a:t>c     l </a:t>
                </a:r>
              </a:p>
            </p:txBody>
          </p:sp>
          <p:sp>
            <p:nvSpPr>
              <p:cNvPr id="72720" name="Rectangle 11">
                <a:extLst>
                  <a:ext uri="{FF2B5EF4-FFF2-40B4-BE49-F238E27FC236}">
                    <a16:creationId xmlns:a16="http://schemas.microsoft.com/office/drawing/2014/main" id="{B7CDC1FF-D8EE-4320-8A20-E4353A4583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28" y="1152"/>
                <a:ext cx="432" cy="960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endParaRPr lang="en-US" sz="1400" b="1">
                  <a:latin typeface="Geneva"/>
                  <a:ea typeface="ヒラギノ角ゴ Pro W3" charset="-128"/>
                  <a:cs typeface="Geneva"/>
                </a:endParaRPr>
              </a:p>
              <a:p>
                <a:pPr algn="ctr" eaLnBrk="0" hangingPunct="0">
                  <a:defRPr/>
                </a:pPr>
                <a:r>
                  <a:rPr lang="en-US" sz="1400" b="1">
                    <a:latin typeface="Geneva"/>
                    <a:ea typeface="ヒラギノ角ゴ Pro W3" charset="-128"/>
                    <a:cs typeface="Geneva"/>
                  </a:rPr>
                  <a:t>S</a:t>
                </a:r>
              </a:p>
              <a:p>
                <a:pPr algn="ctr" eaLnBrk="0" hangingPunct="0">
                  <a:defRPr/>
                </a:pPr>
                <a:r>
                  <a:rPr lang="en-US" sz="1400" b="1">
                    <a:latin typeface="Geneva"/>
                    <a:ea typeface="ヒラギノ角ゴ Pro W3" charset="-128"/>
                    <a:cs typeface="Geneva"/>
                  </a:rPr>
                  <a:t>t</a:t>
                </a:r>
              </a:p>
              <a:p>
                <a:pPr algn="ctr" eaLnBrk="0" hangingPunct="0">
                  <a:defRPr/>
                </a:pPr>
                <a:r>
                  <a:rPr lang="en-US" sz="1400" b="1">
                    <a:latin typeface="Geneva"/>
                    <a:ea typeface="ヒラギノ角ゴ Pro W3" charset="-128"/>
                    <a:cs typeface="Geneva"/>
                  </a:rPr>
                  <a:t>a</a:t>
                </a:r>
              </a:p>
              <a:p>
                <a:pPr algn="ctr" eaLnBrk="0" hangingPunct="0">
                  <a:defRPr/>
                </a:pPr>
                <a:r>
                  <a:rPr lang="en-US" sz="1400" b="1">
                    <a:latin typeface="Geneva"/>
                    <a:ea typeface="ヒラギノ角ゴ Pro W3" charset="-128"/>
                    <a:cs typeface="Geneva"/>
                  </a:rPr>
                  <a:t>c</a:t>
                </a:r>
              </a:p>
              <a:p>
                <a:pPr algn="ctr" eaLnBrk="0" hangingPunct="0">
                  <a:defRPr/>
                </a:pPr>
                <a:r>
                  <a:rPr lang="en-US" sz="1400" b="1">
                    <a:latin typeface="Geneva"/>
                    <a:ea typeface="ヒラギノ角ゴ Pro W3" charset="-128"/>
                    <a:cs typeface="Geneva"/>
                  </a:rPr>
                  <a:t>k</a:t>
                </a:r>
              </a:p>
              <a:p>
                <a:pPr algn="ctr" eaLnBrk="0" hangingPunct="0">
                  <a:defRPr/>
                </a:pPr>
                <a:endParaRPr lang="en-US" sz="1400" b="1">
                  <a:latin typeface="Geneva"/>
                  <a:ea typeface="ヒラギノ角ゴ Pro W3" charset="-128"/>
                  <a:cs typeface="Geneva"/>
                </a:endParaRPr>
              </a:p>
            </p:txBody>
          </p:sp>
          <p:sp>
            <p:nvSpPr>
              <p:cNvPr id="72721" name="Rectangle 12">
                <a:extLst>
                  <a:ext uri="{FF2B5EF4-FFF2-40B4-BE49-F238E27FC236}">
                    <a16:creationId xmlns:a16="http://schemas.microsoft.com/office/drawing/2014/main" id="{E427F67F-F56A-4387-A51E-CBFC604EC2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92" y="1152"/>
                <a:ext cx="424" cy="960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endParaRPr lang="en-US" sz="1400" b="1">
                  <a:latin typeface="Geneva"/>
                  <a:ea typeface="ヒラギノ角ゴ Pro W3" charset="-128"/>
                  <a:cs typeface="Geneva"/>
                </a:endParaRPr>
              </a:p>
              <a:p>
                <a:pPr algn="ctr" eaLnBrk="0" hangingPunct="0">
                  <a:defRPr/>
                </a:pPr>
                <a:r>
                  <a:rPr lang="en-US" sz="1400" b="1">
                    <a:latin typeface="Geneva"/>
                    <a:ea typeface="ヒラギノ角ゴ Pro W3" charset="-128"/>
                    <a:cs typeface="Geneva"/>
                  </a:rPr>
                  <a:t>H</a:t>
                </a:r>
              </a:p>
              <a:p>
                <a:pPr algn="ctr" eaLnBrk="0" hangingPunct="0">
                  <a:defRPr/>
                </a:pPr>
                <a:r>
                  <a:rPr lang="en-US" sz="1400" b="1">
                    <a:latin typeface="Geneva"/>
                    <a:ea typeface="ヒラギノ角ゴ Pro W3" charset="-128"/>
                    <a:cs typeface="Geneva"/>
                  </a:rPr>
                  <a:t>e</a:t>
                </a:r>
              </a:p>
              <a:p>
                <a:pPr algn="ctr" eaLnBrk="0" hangingPunct="0">
                  <a:defRPr/>
                </a:pPr>
                <a:r>
                  <a:rPr lang="en-US" sz="1400" b="1">
                    <a:latin typeface="Geneva"/>
                    <a:ea typeface="ヒラギノ角ゴ Pro W3" charset="-128"/>
                    <a:cs typeface="Geneva"/>
                  </a:rPr>
                  <a:t>a</a:t>
                </a:r>
              </a:p>
              <a:p>
                <a:pPr algn="ctr" eaLnBrk="0" hangingPunct="0">
                  <a:defRPr/>
                </a:pPr>
                <a:r>
                  <a:rPr lang="en-US" sz="1400" b="1">
                    <a:latin typeface="Geneva"/>
                    <a:ea typeface="ヒラギノ角ゴ Pro W3" charset="-128"/>
                    <a:cs typeface="Geneva"/>
                  </a:rPr>
                  <a:t>p</a:t>
                </a:r>
              </a:p>
              <a:p>
                <a:pPr algn="ctr" eaLnBrk="0" hangingPunct="0">
                  <a:defRPr/>
                </a:pPr>
                <a:endParaRPr lang="en-US" sz="1400" b="1">
                  <a:latin typeface="Geneva"/>
                  <a:ea typeface="ヒラギノ角ゴ Pro W3" charset="-128"/>
                  <a:cs typeface="Geneva"/>
                </a:endParaRPr>
              </a:p>
            </p:txBody>
          </p:sp>
          <p:sp>
            <p:nvSpPr>
              <p:cNvPr id="72722" name="Line 13">
                <a:extLst>
                  <a:ext uri="{FF2B5EF4-FFF2-40B4-BE49-F238E27FC236}">
                    <a16:creationId xmlns:a16="http://schemas.microsoft.com/office/drawing/2014/main" id="{253BBC4F-19AC-41BF-95B5-89BDB5FFDE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66" y="1631"/>
                <a:ext cx="278" cy="1"/>
              </a:xfrm>
              <a:prstGeom prst="line">
                <a:avLst/>
              </a:prstGeom>
              <a:grp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en-US">
                  <a:latin typeface="Comic Sans MS" charset="0"/>
                  <a:ea typeface="ヒラギノ角ゴ Pro W3" charset="-128"/>
                  <a:cs typeface="ヒラギノ角ゴ Pro W3" charset="-128"/>
                </a:endParaRPr>
              </a:p>
            </p:txBody>
          </p:sp>
          <p:sp>
            <p:nvSpPr>
              <p:cNvPr id="72723" name="Line 14">
                <a:extLst>
                  <a:ext uri="{FF2B5EF4-FFF2-40B4-BE49-F238E27FC236}">
                    <a16:creationId xmlns:a16="http://schemas.microsoft.com/office/drawing/2014/main" id="{60F3152D-B572-457C-A3E0-7E5467FCA0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85" y="1632"/>
                <a:ext cx="300" cy="0"/>
              </a:xfrm>
              <a:prstGeom prst="line">
                <a:avLst/>
              </a:prstGeom>
              <a:grpFill/>
              <a:ln w="38100">
                <a:solidFill>
                  <a:schemeClr val="tx1"/>
                </a:solidFill>
                <a:round/>
                <a:headEnd type="triangle" w="med" len="med"/>
                <a:tailEnd/>
              </a:ln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en-US">
                  <a:latin typeface="Comic Sans MS" charset="0"/>
                  <a:ea typeface="ヒラギノ角ゴ Pro W3" charset="-128"/>
                  <a:cs typeface="ヒラギノ角ゴ Pro W3" charset="-128"/>
                </a:endParaRPr>
              </a:p>
            </p:txBody>
          </p:sp>
        </p:grpSp>
        <p:sp>
          <p:nvSpPr>
            <p:cNvPr id="72714" name="Text Box 15">
              <a:extLst>
                <a:ext uri="{FF2B5EF4-FFF2-40B4-BE49-F238E27FC236}">
                  <a16:creationId xmlns:a16="http://schemas.microsoft.com/office/drawing/2014/main" id="{7ED7CFB7-F952-41A6-B05D-5B098368DC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4" y="2256"/>
              <a:ext cx="1992" cy="21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  <a:defRPr/>
              </a:pPr>
              <a:r>
                <a:rPr lang="en-US" b="1" dirty="0">
                  <a:latin typeface="Geneva"/>
                  <a:ea typeface="ヒラギノ角ゴ Pro W3" charset="-128"/>
                  <a:cs typeface="Geneva"/>
                </a:rPr>
                <a:t>Single Logical Address Space</a:t>
              </a:r>
            </a:p>
          </p:txBody>
        </p:sp>
        <p:sp>
          <p:nvSpPr>
            <p:cNvPr id="72715" name="Text Box 16">
              <a:extLst>
                <a:ext uri="{FF2B5EF4-FFF2-40B4-BE49-F238E27FC236}">
                  <a16:creationId xmlns:a16="http://schemas.microsoft.com/office/drawing/2014/main" id="{376462EA-ECAE-402A-A25A-82731AC73C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0" y="2104"/>
              <a:ext cx="288" cy="19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  <a:defRPr/>
              </a:pPr>
              <a:r>
                <a:rPr lang="en-US" sz="1400" dirty="0">
                  <a:solidFill>
                    <a:srgbClr val="003C75"/>
                  </a:solidFill>
                  <a:latin typeface="Times" charset="0"/>
                  <a:ea typeface="ヒラギノ角ゴ Pro W3" charset="-128"/>
                  <a:cs typeface="ヒラギノ角ゴ Pro W3" charset="-128"/>
                </a:rPr>
                <a:t>0</a:t>
              </a:r>
              <a:endParaRPr lang="en-US" dirty="0">
                <a:solidFill>
                  <a:srgbClr val="003C75"/>
                </a:solidFill>
                <a:latin typeface="Arial Rounded MT Bold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72716" name="Text Box 17">
              <a:extLst>
                <a:ext uri="{FF2B5EF4-FFF2-40B4-BE49-F238E27FC236}">
                  <a16:creationId xmlns:a16="http://schemas.microsoft.com/office/drawing/2014/main" id="{81636E36-E16B-4CA3-8B8A-8E0D15E6A1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56" y="2096"/>
              <a:ext cx="384" cy="19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  <a:defRPr/>
              </a:pPr>
              <a:r>
                <a:rPr lang="en-US" sz="1400" i="1" dirty="0">
                  <a:solidFill>
                    <a:srgbClr val="003C75"/>
                  </a:solidFill>
                  <a:latin typeface="Times" charset="0"/>
                  <a:ea typeface="ヒラギノ角ゴ Pro W3" charset="-128"/>
                  <a:cs typeface="ヒラギノ角ゴ Pro W3" charset="-128"/>
                </a:rPr>
                <a:t>high</a:t>
              </a:r>
              <a:endParaRPr lang="en-US" dirty="0">
                <a:solidFill>
                  <a:srgbClr val="003C75"/>
                </a:solidFill>
                <a:latin typeface="Arial Rounded MT Bold" charset="0"/>
                <a:ea typeface="ヒラギノ角ゴ Pro W3" charset="-128"/>
                <a:cs typeface="ヒラギノ角ゴ Pro W3" charset="-128"/>
              </a:endParaRPr>
            </a:p>
          </p:txBody>
        </p:sp>
      </p:grpSp>
    </p:spTree>
  </p:cSld>
  <p:clrMapOvr>
    <a:masterClrMapping/>
  </p:clrMapOvr>
  <p:transition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Footer Placeholder 3">
            <a:extLst>
              <a:ext uri="{FF2B5EF4-FFF2-40B4-BE49-F238E27FC236}">
                <a16:creationId xmlns:a16="http://schemas.microsoft.com/office/drawing/2014/main" id="{6C77D07D-3987-4C07-B2C4-7B8EB1A1437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200"/>
              <a:t>Comp 412, Fall 2010</a:t>
            </a:r>
          </a:p>
        </p:txBody>
      </p:sp>
      <p:sp>
        <p:nvSpPr>
          <p:cNvPr id="28674" name="Slide Number Placeholder 4">
            <a:extLst>
              <a:ext uri="{FF2B5EF4-FFF2-40B4-BE49-F238E27FC236}">
                <a16:creationId xmlns:a16="http://schemas.microsoft.com/office/drawing/2014/main" id="{D997E51C-0D1E-401E-958E-2F577F386FB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F90AC55D-EDFF-4ECB-8F43-7B9B79CBC241}" type="slidenum">
              <a:rPr lang="en-US" altLang="it-IT" sz="1200"/>
              <a:pPr/>
              <a:t>7</a:t>
            </a:fld>
            <a:endParaRPr lang="en-US" altLang="it-IT" sz="1200"/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5D46E13D-B25C-47A5-856A-B932AC1F39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How Does This Really Work?</a:t>
            </a:r>
          </a:p>
        </p:txBody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268C3C31-41E6-473A-8CAC-3911D228F8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The Big Picture</a:t>
            </a:r>
          </a:p>
        </p:txBody>
      </p:sp>
      <p:sp>
        <p:nvSpPr>
          <p:cNvPr id="28677" name="Line 43">
            <a:extLst>
              <a:ext uri="{FF2B5EF4-FFF2-40B4-BE49-F238E27FC236}">
                <a16:creationId xmlns:a16="http://schemas.microsoft.com/office/drawing/2014/main" id="{E572E6B6-DFC2-45D9-B14C-8F1C7086C6DB}"/>
              </a:ext>
            </a:extLst>
          </p:cNvPr>
          <p:cNvSpPr>
            <a:spLocks noChangeShapeType="1"/>
          </p:cNvSpPr>
          <p:nvPr/>
        </p:nvSpPr>
        <p:spPr bwMode="auto">
          <a:xfrm>
            <a:off x="768350" y="3100388"/>
            <a:ext cx="1295400" cy="13192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28678" name="Line 44">
            <a:extLst>
              <a:ext uri="{FF2B5EF4-FFF2-40B4-BE49-F238E27FC236}">
                <a16:creationId xmlns:a16="http://schemas.microsoft.com/office/drawing/2014/main" id="{0BE1E40F-FAA6-4E09-B413-AD5CBA3A999C}"/>
              </a:ext>
            </a:extLst>
          </p:cNvPr>
          <p:cNvSpPr>
            <a:spLocks noChangeShapeType="1"/>
          </p:cNvSpPr>
          <p:nvPr/>
        </p:nvSpPr>
        <p:spPr bwMode="auto">
          <a:xfrm>
            <a:off x="2532063" y="3089275"/>
            <a:ext cx="1512887" cy="13303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28679" name="Line 45">
            <a:extLst>
              <a:ext uri="{FF2B5EF4-FFF2-40B4-BE49-F238E27FC236}">
                <a16:creationId xmlns:a16="http://schemas.microsoft.com/office/drawing/2014/main" id="{87C81BD2-E2BC-4912-BFC4-F4BC592D3C1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55775" y="3090863"/>
            <a:ext cx="1211263" cy="13287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28680" name="Line 46">
            <a:extLst>
              <a:ext uri="{FF2B5EF4-FFF2-40B4-BE49-F238E27FC236}">
                <a16:creationId xmlns:a16="http://schemas.microsoft.com/office/drawing/2014/main" id="{9907AE7E-A8DE-4A63-A99A-0E3808BAB54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29000" y="3090863"/>
            <a:ext cx="677863" cy="13287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28681" name="Line 47">
            <a:extLst>
              <a:ext uri="{FF2B5EF4-FFF2-40B4-BE49-F238E27FC236}">
                <a16:creationId xmlns:a16="http://schemas.microsoft.com/office/drawing/2014/main" id="{313154E4-C5B5-4AF2-BDE8-003748E31D22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1525" y="3090863"/>
            <a:ext cx="1435100" cy="13287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28682" name="Line 48">
            <a:extLst>
              <a:ext uri="{FF2B5EF4-FFF2-40B4-BE49-F238E27FC236}">
                <a16:creationId xmlns:a16="http://schemas.microsoft.com/office/drawing/2014/main" id="{02079BF9-2B57-423F-AD1C-E4434EAE8DB3}"/>
              </a:ext>
            </a:extLst>
          </p:cNvPr>
          <p:cNvSpPr>
            <a:spLocks noChangeShapeType="1"/>
          </p:cNvSpPr>
          <p:nvPr/>
        </p:nvSpPr>
        <p:spPr bwMode="auto">
          <a:xfrm>
            <a:off x="6183313" y="3090863"/>
            <a:ext cx="593725" cy="13414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28683" name="Line 49">
            <a:extLst>
              <a:ext uri="{FF2B5EF4-FFF2-40B4-BE49-F238E27FC236}">
                <a16:creationId xmlns:a16="http://schemas.microsoft.com/office/drawing/2014/main" id="{3EA2258D-E519-4CB3-9B3C-4285C68733B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497388" y="3090863"/>
            <a:ext cx="2587625" cy="13287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28684" name="Line 50">
            <a:extLst>
              <a:ext uri="{FF2B5EF4-FFF2-40B4-BE49-F238E27FC236}">
                <a16:creationId xmlns:a16="http://schemas.microsoft.com/office/drawing/2014/main" id="{D450EB20-54C1-4119-BCB6-AD03C0E61DE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40588" y="3090863"/>
            <a:ext cx="1316037" cy="13287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28685" name="Text Box 57">
            <a:extLst>
              <a:ext uri="{FF2B5EF4-FFF2-40B4-BE49-F238E27FC236}">
                <a16:creationId xmlns:a16="http://schemas.microsoft.com/office/drawing/2014/main" id="{DF41EA70-3858-4268-A6A9-EC2122430E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1063" y="5573713"/>
            <a:ext cx="25844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it-IT">
                <a:solidFill>
                  <a:srgbClr val="003C75"/>
                </a:solidFill>
              </a:rPr>
              <a:t>1980 Hardware view</a:t>
            </a:r>
          </a:p>
        </p:txBody>
      </p:sp>
      <p:grpSp>
        <p:nvGrpSpPr>
          <p:cNvPr id="28686" name="Group 58">
            <a:extLst>
              <a:ext uri="{FF2B5EF4-FFF2-40B4-BE49-F238E27FC236}">
                <a16:creationId xmlns:a16="http://schemas.microsoft.com/office/drawing/2014/main" id="{CD63DA80-878F-4137-9FAE-AB356FB87BE0}"/>
              </a:ext>
            </a:extLst>
          </p:cNvPr>
          <p:cNvGrpSpPr>
            <a:grpSpLocks/>
          </p:cNvGrpSpPr>
          <p:nvPr/>
        </p:nvGrpSpPr>
        <p:grpSpPr bwMode="auto">
          <a:xfrm>
            <a:off x="1225550" y="1763713"/>
            <a:ext cx="600075" cy="314325"/>
            <a:chOff x="768" y="1106"/>
            <a:chExt cx="378" cy="198"/>
          </a:xfrm>
        </p:grpSpPr>
        <p:sp>
          <p:nvSpPr>
            <p:cNvPr id="28793" name="Line 59">
              <a:extLst>
                <a:ext uri="{FF2B5EF4-FFF2-40B4-BE49-F238E27FC236}">
                  <a16:creationId xmlns:a16="http://schemas.microsoft.com/office/drawing/2014/main" id="{C49D7BE4-835C-4736-A1C3-463CA1B69B4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768" y="1106"/>
              <a:ext cx="193" cy="193"/>
            </a:xfrm>
            <a:prstGeom prst="line">
              <a:avLst/>
            </a:prstGeom>
            <a:noFill/>
            <a:ln w="12700">
              <a:solidFill>
                <a:srgbClr val="003C7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28794" name="Line 60">
              <a:extLst>
                <a:ext uri="{FF2B5EF4-FFF2-40B4-BE49-F238E27FC236}">
                  <a16:creationId xmlns:a16="http://schemas.microsoft.com/office/drawing/2014/main" id="{6A15E872-F4DC-4745-8ED7-A9347B60A89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959" y="1111"/>
              <a:ext cx="187" cy="193"/>
            </a:xfrm>
            <a:prstGeom prst="line">
              <a:avLst/>
            </a:prstGeom>
            <a:noFill/>
            <a:ln w="12700">
              <a:solidFill>
                <a:srgbClr val="003C7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28795" name="Line 61">
              <a:extLst>
                <a:ext uri="{FF2B5EF4-FFF2-40B4-BE49-F238E27FC236}">
                  <a16:creationId xmlns:a16="http://schemas.microsoft.com/office/drawing/2014/main" id="{D2D7CE32-7A67-4091-97EE-B30D0A10413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960" y="1111"/>
              <a:ext cx="110" cy="107"/>
            </a:xfrm>
            <a:prstGeom prst="line">
              <a:avLst/>
            </a:prstGeom>
            <a:noFill/>
            <a:ln w="12700">
              <a:solidFill>
                <a:srgbClr val="003C7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28796" name="Line 62">
              <a:extLst>
                <a:ext uri="{FF2B5EF4-FFF2-40B4-BE49-F238E27FC236}">
                  <a16:creationId xmlns:a16="http://schemas.microsoft.com/office/drawing/2014/main" id="{80CC55FB-AB26-4DDE-A232-A0F292790AB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850" y="1106"/>
              <a:ext cx="111" cy="107"/>
            </a:xfrm>
            <a:prstGeom prst="line">
              <a:avLst/>
            </a:prstGeom>
            <a:noFill/>
            <a:ln w="12700">
              <a:solidFill>
                <a:srgbClr val="003C7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cxnSp>
          <p:nvCxnSpPr>
            <p:cNvPr id="28797" name="AutoShape 63">
              <a:extLst>
                <a:ext uri="{FF2B5EF4-FFF2-40B4-BE49-F238E27FC236}">
                  <a16:creationId xmlns:a16="http://schemas.microsoft.com/office/drawing/2014/main" id="{64508F54-E4A5-4AF8-BAEB-C102D88D82E3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 rot="5400000" flipH="1">
              <a:off x="957" y="1106"/>
              <a:ext cx="5" cy="220"/>
            </a:xfrm>
            <a:prstGeom prst="curvedConnector3">
              <a:avLst>
                <a:gd name="adj1" fmla="val -1440000"/>
              </a:avLst>
            </a:prstGeom>
            <a:noFill/>
            <a:ln w="12700">
              <a:solidFill>
                <a:srgbClr val="003C7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8687" name="Text Box 64">
            <a:extLst>
              <a:ext uri="{FF2B5EF4-FFF2-40B4-BE49-F238E27FC236}">
                <a16:creationId xmlns:a16="http://schemas.microsoft.com/office/drawing/2014/main" id="{87A4C307-CC8E-4A89-83FF-AD5E61ED16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1676400"/>
            <a:ext cx="1828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it-IT">
                <a:solidFill>
                  <a:srgbClr val="003C75"/>
                </a:solidFill>
              </a:rPr>
              <a:t>Compiler’s view</a:t>
            </a:r>
          </a:p>
        </p:txBody>
      </p:sp>
      <p:grpSp>
        <p:nvGrpSpPr>
          <p:cNvPr id="28688" name="Group 65">
            <a:extLst>
              <a:ext uri="{FF2B5EF4-FFF2-40B4-BE49-F238E27FC236}">
                <a16:creationId xmlns:a16="http://schemas.microsoft.com/office/drawing/2014/main" id="{C5E7DB4E-A338-4726-ADA0-44E585BC44B5}"/>
              </a:ext>
            </a:extLst>
          </p:cNvPr>
          <p:cNvGrpSpPr>
            <a:grpSpLocks/>
          </p:cNvGrpSpPr>
          <p:nvPr/>
        </p:nvGrpSpPr>
        <p:grpSpPr bwMode="auto">
          <a:xfrm>
            <a:off x="300038" y="3276600"/>
            <a:ext cx="322262" cy="617538"/>
            <a:chOff x="185" y="2339"/>
            <a:chExt cx="203" cy="389"/>
          </a:xfrm>
        </p:grpSpPr>
        <p:sp>
          <p:nvSpPr>
            <p:cNvPr id="28788" name="Line 66">
              <a:extLst>
                <a:ext uri="{FF2B5EF4-FFF2-40B4-BE49-F238E27FC236}">
                  <a16:creationId xmlns:a16="http://schemas.microsoft.com/office/drawing/2014/main" id="{F932B140-A16C-4588-BE30-079C51592C8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rot="16200000" flipV="1">
              <a:off x="185" y="2535"/>
              <a:ext cx="193" cy="193"/>
            </a:xfrm>
            <a:prstGeom prst="line">
              <a:avLst/>
            </a:prstGeom>
            <a:noFill/>
            <a:ln w="12700">
              <a:solidFill>
                <a:srgbClr val="003C7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28789" name="Line 67">
              <a:extLst>
                <a:ext uri="{FF2B5EF4-FFF2-40B4-BE49-F238E27FC236}">
                  <a16:creationId xmlns:a16="http://schemas.microsoft.com/office/drawing/2014/main" id="{42F0469E-427E-473C-94A2-5920662489C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rot="-5400000" flipH="1" flipV="1">
              <a:off x="198" y="2336"/>
              <a:ext cx="187" cy="193"/>
            </a:xfrm>
            <a:prstGeom prst="line">
              <a:avLst/>
            </a:prstGeom>
            <a:noFill/>
            <a:ln w="12700">
              <a:solidFill>
                <a:srgbClr val="003C7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28790" name="Line 68">
              <a:extLst>
                <a:ext uri="{FF2B5EF4-FFF2-40B4-BE49-F238E27FC236}">
                  <a16:creationId xmlns:a16="http://schemas.microsoft.com/office/drawing/2014/main" id="{24BE8E1E-063E-4996-82CB-33CBC323E0D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rot="-5400000" flipH="1" flipV="1">
              <a:off x="189" y="2428"/>
              <a:ext cx="110" cy="107"/>
            </a:xfrm>
            <a:prstGeom prst="line">
              <a:avLst/>
            </a:prstGeom>
            <a:noFill/>
            <a:ln w="12700">
              <a:solidFill>
                <a:srgbClr val="003C7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28791" name="Line 69">
              <a:extLst>
                <a:ext uri="{FF2B5EF4-FFF2-40B4-BE49-F238E27FC236}">
                  <a16:creationId xmlns:a16="http://schemas.microsoft.com/office/drawing/2014/main" id="{3D5AD632-555A-483D-A51C-2A1367938DE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rot="16200000" flipV="1">
              <a:off x="183" y="2537"/>
              <a:ext cx="111" cy="107"/>
            </a:xfrm>
            <a:prstGeom prst="line">
              <a:avLst/>
            </a:prstGeom>
            <a:noFill/>
            <a:ln w="12700">
              <a:solidFill>
                <a:srgbClr val="003C7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cxnSp>
          <p:nvCxnSpPr>
            <p:cNvPr id="28792" name="AutoShape 70">
              <a:extLst>
                <a:ext uri="{FF2B5EF4-FFF2-40B4-BE49-F238E27FC236}">
                  <a16:creationId xmlns:a16="http://schemas.microsoft.com/office/drawing/2014/main" id="{AFFA1C73-76A7-4579-8CA1-125FF5E06BD9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 flipH="1">
              <a:off x="292" y="2427"/>
              <a:ext cx="5" cy="220"/>
            </a:xfrm>
            <a:prstGeom prst="curvedConnector3">
              <a:avLst>
                <a:gd name="adj1" fmla="val -1440000"/>
              </a:avLst>
            </a:prstGeom>
            <a:noFill/>
            <a:ln w="12700">
              <a:solidFill>
                <a:srgbClr val="003C7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8689" name="Text Box 71">
            <a:extLst>
              <a:ext uri="{FF2B5EF4-FFF2-40B4-BE49-F238E27FC236}">
                <a16:creationId xmlns:a16="http://schemas.microsoft.com/office/drawing/2014/main" id="{89BF9C41-328C-44AF-99E3-12594878C3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962400"/>
            <a:ext cx="1295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it-IT">
                <a:solidFill>
                  <a:srgbClr val="003C75"/>
                </a:solidFill>
              </a:rPr>
              <a:t>OS’  view</a:t>
            </a:r>
          </a:p>
        </p:txBody>
      </p:sp>
      <p:sp>
        <p:nvSpPr>
          <p:cNvPr id="74776" name="AutoShape 72">
            <a:extLst>
              <a:ext uri="{FF2B5EF4-FFF2-40B4-BE49-F238E27FC236}">
                <a16:creationId xmlns:a16="http://schemas.microsoft.com/office/drawing/2014/main" id="{52F6B3E4-5DB1-4D32-806F-9F5069E87A8E}"/>
              </a:ext>
            </a:extLst>
          </p:cNvPr>
          <p:cNvSpPr>
            <a:spLocks/>
          </p:cNvSpPr>
          <p:nvPr/>
        </p:nvSpPr>
        <p:spPr bwMode="auto">
          <a:xfrm>
            <a:off x="6610350" y="5483225"/>
            <a:ext cx="2006600" cy="593725"/>
          </a:xfrm>
          <a:prstGeom prst="accentBorderCallout1">
            <a:avLst>
              <a:gd name="adj1" fmla="val 19250"/>
              <a:gd name="adj2" fmla="val -3796"/>
              <a:gd name="adj3" fmla="val -54546"/>
              <a:gd name="adj4" fmla="val -35204"/>
            </a:avLst>
          </a:prstGeom>
          <a:solidFill>
            <a:schemeClr val="bg1"/>
          </a:solidFill>
          <a:ln w="12700">
            <a:solidFill>
              <a:srgbClr val="FF0065"/>
            </a:solidFill>
            <a:miter lim="800000"/>
            <a:headEnd/>
            <a:tailEnd type="triangle" w="med" len="med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algn="ctr" eaLnBrk="0" hangingPunct="0">
              <a:defRPr/>
            </a:pPr>
            <a:r>
              <a:rPr lang="en-US" dirty="0">
                <a:solidFill>
                  <a:srgbClr val="FF006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Physical address space</a:t>
            </a:r>
            <a:endParaRPr lang="en-US" dirty="0">
              <a:solidFill>
                <a:srgbClr val="FF0065"/>
              </a:solidFill>
              <a:latin typeface="Arial Rounded MT Bold" charset="0"/>
              <a:ea typeface="ヒラギノ角ゴ Pro W3" charset="-128"/>
              <a:cs typeface="ヒラギノ角ゴ Pro W3" charset="-128"/>
            </a:endParaRPr>
          </a:p>
        </p:txBody>
      </p:sp>
      <p:sp>
        <p:nvSpPr>
          <p:cNvPr id="74777" name="AutoShape 73">
            <a:extLst>
              <a:ext uri="{FF2B5EF4-FFF2-40B4-BE49-F238E27FC236}">
                <a16:creationId xmlns:a16="http://schemas.microsoft.com/office/drawing/2014/main" id="{EC5F0422-A87E-407F-BFAC-96B80AAE4CF1}"/>
              </a:ext>
            </a:extLst>
          </p:cNvPr>
          <p:cNvSpPr>
            <a:spLocks/>
          </p:cNvSpPr>
          <p:nvPr/>
        </p:nvSpPr>
        <p:spPr bwMode="auto">
          <a:xfrm>
            <a:off x="6254750" y="1524000"/>
            <a:ext cx="2006600" cy="593725"/>
          </a:xfrm>
          <a:prstGeom prst="accentBorderCallout1">
            <a:avLst>
              <a:gd name="adj1" fmla="val 19250"/>
              <a:gd name="adj2" fmla="val -3796"/>
              <a:gd name="adj3" fmla="val 135560"/>
              <a:gd name="adj4" fmla="val -108463"/>
            </a:avLst>
          </a:prstGeom>
          <a:solidFill>
            <a:srgbClr val="FFFFFF"/>
          </a:solidFill>
          <a:ln w="12700">
            <a:solidFill>
              <a:srgbClr val="FF0065"/>
            </a:solidFill>
            <a:miter lim="800000"/>
            <a:headEnd/>
            <a:tailEnd type="triangle" w="med" len="med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algn="ctr" eaLnBrk="0" hangingPunct="0">
              <a:defRPr/>
            </a:pPr>
            <a:r>
              <a:rPr lang="en-US" dirty="0">
                <a:solidFill>
                  <a:srgbClr val="FF006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virtual address space</a:t>
            </a:r>
            <a:r>
              <a:rPr lang="en-US" u="sng" dirty="0">
                <a:solidFill>
                  <a:srgbClr val="FF006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s</a:t>
            </a:r>
            <a:endParaRPr lang="en-US" dirty="0">
              <a:solidFill>
                <a:srgbClr val="FF0065"/>
              </a:solidFill>
              <a:latin typeface="Arial Rounded MT Bold" charset="0"/>
              <a:ea typeface="ヒラギノ角ゴ Pro W3" charset="-128"/>
              <a:cs typeface="ヒラギノ角ゴ Pro W3" charset="-128"/>
            </a:endParaRPr>
          </a:p>
        </p:txBody>
      </p:sp>
      <p:sp>
        <p:nvSpPr>
          <p:cNvPr id="74778" name="Line 74">
            <a:extLst>
              <a:ext uri="{FF2B5EF4-FFF2-40B4-BE49-F238E27FC236}">
                <a16:creationId xmlns:a16="http://schemas.microsoft.com/office/drawing/2014/main" id="{478F9F48-75D4-4B56-8E05-04C5A84EE21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35550" y="1635125"/>
            <a:ext cx="1138238" cy="727075"/>
          </a:xfrm>
          <a:prstGeom prst="line">
            <a:avLst/>
          </a:prstGeom>
          <a:noFill/>
          <a:ln w="9525">
            <a:solidFill>
              <a:srgbClr val="FF0065"/>
            </a:solidFill>
            <a:round/>
            <a:headEnd/>
            <a:tailEnd type="triangle" w="med" len="med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endParaRPr lang="en-US">
              <a:latin typeface="Comic Sans MS" charset="0"/>
              <a:ea typeface="ヒラギノ角ゴ Pro W3" charset="-128"/>
              <a:cs typeface="ヒラギノ角ゴ Pro W3" charset="-128"/>
            </a:endParaRPr>
          </a:p>
        </p:txBody>
      </p:sp>
      <p:sp>
        <p:nvSpPr>
          <p:cNvPr id="74779" name="Line 75">
            <a:extLst>
              <a:ext uri="{FF2B5EF4-FFF2-40B4-BE49-F238E27FC236}">
                <a16:creationId xmlns:a16="http://schemas.microsoft.com/office/drawing/2014/main" id="{E4E25F56-EC71-4541-A7B8-F4C9C468E6E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82825" y="1652588"/>
            <a:ext cx="3903663" cy="669925"/>
          </a:xfrm>
          <a:prstGeom prst="line">
            <a:avLst/>
          </a:prstGeom>
          <a:noFill/>
          <a:ln w="9525">
            <a:solidFill>
              <a:srgbClr val="FF0065"/>
            </a:solidFill>
            <a:round/>
            <a:headEnd/>
            <a:tailEnd type="triangle" w="med" len="med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endParaRPr lang="en-US">
              <a:latin typeface="Comic Sans MS" charset="0"/>
              <a:ea typeface="ヒラギノ角ゴ Pro W3" charset="-128"/>
              <a:cs typeface="ヒラギノ角ゴ Pro W3" charset="-128"/>
            </a:endParaRPr>
          </a:p>
        </p:txBody>
      </p:sp>
      <p:sp>
        <p:nvSpPr>
          <p:cNvPr id="74780" name="Line 76">
            <a:extLst>
              <a:ext uri="{FF2B5EF4-FFF2-40B4-BE49-F238E27FC236}">
                <a16:creationId xmlns:a16="http://schemas.microsoft.com/office/drawing/2014/main" id="{1E922756-5E18-4A95-A021-0C2EC80E633D}"/>
              </a:ext>
            </a:extLst>
          </p:cNvPr>
          <p:cNvSpPr>
            <a:spLocks noChangeShapeType="1"/>
          </p:cNvSpPr>
          <p:nvPr/>
        </p:nvSpPr>
        <p:spPr bwMode="auto">
          <a:xfrm>
            <a:off x="6175375" y="2122488"/>
            <a:ext cx="620713" cy="276225"/>
          </a:xfrm>
          <a:prstGeom prst="line">
            <a:avLst/>
          </a:prstGeom>
          <a:noFill/>
          <a:ln w="9525">
            <a:solidFill>
              <a:srgbClr val="FF0065"/>
            </a:solidFill>
            <a:round/>
            <a:headEnd/>
            <a:tailEnd type="triangle" w="med" len="med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endParaRPr lang="en-US">
              <a:latin typeface="Comic Sans MS" charset="0"/>
              <a:ea typeface="ヒラギノ角ゴ Pro W3" charset="-128"/>
              <a:cs typeface="ヒラギノ角ゴ Pro W3" charset="-128"/>
            </a:endParaRPr>
          </a:p>
        </p:txBody>
      </p:sp>
      <p:grpSp>
        <p:nvGrpSpPr>
          <p:cNvPr id="28695" name="Group 132">
            <a:extLst>
              <a:ext uri="{FF2B5EF4-FFF2-40B4-BE49-F238E27FC236}">
                <a16:creationId xmlns:a16="http://schemas.microsoft.com/office/drawing/2014/main" id="{9E791588-7186-4C49-914E-0469DD35F848}"/>
              </a:ext>
            </a:extLst>
          </p:cNvPr>
          <p:cNvGrpSpPr>
            <a:grpSpLocks/>
          </p:cNvGrpSpPr>
          <p:nvPr/>
        </p:nvGrpSpPr>
        <p:grpSpPr bwMode="auto">
          <a:xfrm>
            <a:off x="1447800" y="4419600"/>
            <a:ext cx="6705600" cy="990600"/>
            <a:chOff x="1301750" y="4419600"/>
            <a:chExt cx="6705600" cy="990600"/>
          </a:xfrm>
        </p:grpSpPr>
        <p:grpSp>
          <p:nvGrpSpPr>
            <p:cNvPr id="28746" name="Group 131">
              <a:extLst>
                <a:ext uri="{FF2B5EF4-FFF2-40B4-BE49-F238E27FC236}">
                  <a16:creationId xmlns:a16="http://schemas.microsoft.com/office/drawing/2014/main" id="{1BA864D8-87C0-4C0B-9101-40F6908C60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00200" y="4419600"/>
              <a:ext cx="6096000" cy="728663"/>
              <a:chOff x="1600200" y="4419600"/>
              <a:chExt cx="6096000" cy="728663"/>
            </a:xfrm>
          </p:grpSpPr>
          <p:grpSp>
            <p:nvGrpSpPr>
              <p:cNvPr id="28749" name="Group 4">
                <a:extLst>
                  <a:ext uri="{FF2B5EF4-FFF2-40B4-BE49-F238E27FC236}">
                    <a16:creationId xmlns:a16="http://schemas.microsoft.com/office/drawing/2014/main" id="{DD4B6010-DEA7-48C1-B96F-0C4B93645D0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00200" y="4419600"/>
                <a:ext cx="3498850" cy="728663"/>
                <a:chOff x="960" y="2400"/>
                <a:chExt cx="2204" cy="459"/>
              </a:xfrm>
            </p:grpSpPr>
            <p:sp>
              <p:nvSpPr>
                <p:cNvPr id="28765" name="Rectangle 5">
                  <a:extLst>
                    <a:ext uri="{FF2B5EF4-FFF2-40B4-BE49-F238E27FC236}">
                      <a16:creationId xmlns:a16="http://schemas.microsoft.com/office/drawing/2014/main" id="{A7A80E5B-B7A3-4837-8447-C1BE0D04E10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0" y="2400"/>
                  <a:ext cx="92" cy="459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28766" name="Rectangle 6">
                  <a:extLst>
                    <a:ext uri="{FF2B5EF4-FFF2-40B4-BE49-F238E27FC236}">
                      <a16:creationId xmlns:a16="http://schemas.microsoft.com/office/drawing/2014/main" id="{0E3B1E34-96CA-4CB5-8B15-51CA7575997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56" y="2400"/>
                  <a:ext cx="92" cy="459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28767" name="Rectangle 7">
                  <a:extLst>
                    <a:ext uri="{FF2B5EF4-FFF2-40B4-BE49-F238E27FC236}">
                      <a16:creationId xmlns:a16="http://schemas.microsoft.com/office/drawing/2014/main" id="{149ED7D0-A247-4FCB-A486-078E902CD72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52" y="2400"/>
                  <a:ext cx="92" cy="459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28768" name="Rectangle 8">
                  <a:extLst>
                    <a:ext uri="{FF2B5EF4-FFF2-40B4-BE49-F238E27FC236}">
                      <a16:creationId xmlns:a16="http://schemas.microsoft.com/office/drawing/2014/main" id="{4D9C3B24-9312-4284-90C4-0E1214BFE1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48" y="2400"/>
                  <a:ext cx="92" cy="459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28769" name="Rectangle 9">
                  <a:extLst>
                    <a:ext uri="{FF2B5EF4-FFF2-40B4-BE49-F238E27FC236}">
                      <a16:creationId xmlns:a16="http://schemas.microsoft.com/office/drawing/2014/main" id="{4221F48C-FCF0-41DA-9A00-2DF240F99A8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44" y="2400"/>
                  <a:ext cx="92" cy="459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28770" name="Rectangle 10">
                  <a:extLst>
                    <a:ext uri="{FF2B5EF4-FFF2-40B4-BE49-F238E27FC236}">
                      <a16:creationId xmlns:a16="http://schemas.microsoft.com/office/drawing/2014/main" id="{409F1EC3-2538-4E00-8279-282F211109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40" y="2400"/>
                  <a:ext cx="92" cy="459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28771" name="Rectangle 11">
                  <a:extLst>
                    <a:ext uri="{FF2B5EF4-FFF2-40B4-BE49-F238E27FC236}">
                      <a16:creationId xmlns:a16="http://schemas.microsoft.com/office/drawing/2014/main" id="{2668A617-44B6-4413-ABCF-A43F224AE2A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36" y="2400"/>
                  <a:ext cx="92" cy="459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28772" name="Rectangle 12">
                  <a:extLst>
                    <a:ext uri="{FF2B5EF4-FFF2-40B4-BE49-F238E27FC236}">
                      <a16:creationId xmlns:a16="http://schemas.microsoft.com/office/drawing/2014/main" id="{7FB225CE-0086-4EF9-9E7A-D82F7DBCF0B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2400"/>
                  <a:ext cx="92" cy="459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28773" name="Rectangle 13">
                  <a:extLst>
                    <a:ext uri="{FF2B5EF4-FFF2-40B4-BE49-F238E27FC236}">
                      <a16:creationId xmlns:a16="http://schemas.microsoft.com/office/drawing/2014/main" id="{6C151094-6E24-4AE3-87A5-8AD33FF3D41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28" y="2400"/>
                  <a:ext cx="92" cy="459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28774" name="Rectangle 14">
                  <a:extLst>
                    <a:ext uri="{FF2B5EF4-FFF2-40B4-BE49-F238E27FC236}">
                      <a16:creationId xmlns:a16="http://schemas.microsoft.com/office/drawing/2014/main" id="{4F46FC58-5304-4207-B7C8-7DD32887F86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24" y="2400"/>
                  <a:ext cx="92" cy="459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28775" name="Rectangle 15">
                  <a:extLst>
                    <a:ext uri="{FF2B5EF4-FFF2-40B4-BE49-F238E27FC236}">
                      <a16:creationId xmlns:a16="http://schemas.microsoft.com/office/drawing/2014/main" id="{4BA32AB3-97F9-4B97-BD81-DAD7E758DFE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20" y="2400"/>
                  <a:ext cx="92" cy="459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28776" name="Rectangle 16">
                  <a:extLst>
                    <a:ext uri="{FF2B5EF4-FFF2-40B4-BE49-F238E27FC236}">
                      <a16:creationId xmlns:a16="http://schemas.microsoft.com/office/drawing/2014/main" id="{5D0A6B41-23A6-4011-811F-03A4D9D33CB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16" y="2400"/>
                  <a:ext cx="92" cy="459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28777" name="Rectangle 17">
                  <a:extLst>
                    <a:ext uri="{FF2B5EF4-FFF2-40B4-BE49-F238E27FC236}">
                      <a16:creationId xmlns:a16="http://schemas.microsoft.com/office/drawing/2014/main" id="{CB6B751D-D60F-4068-ACF8-61459E83F36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12" y="2400"/>
                  <a:ext cx="92" cy="459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28778" name="Rectangle 18">
                  <a:extLst>
                    <a:ext uri="{FF2B5EF4-FFF2-40B4-BE49-F238E27FC236}">
                      <a16:creationId xmlns:a16="http://schemas.microsoft.com/office/drawing/2014/main" id="{5F1F7ACF-7B19-47E9-8D44-73B39C4D3A0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08" y="2400"/>
                  <a:ext cx="92" cy="459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28779" name="Rectangle 19">
                  <a:extLst>
                    <a:ext uri="{FF2B5EF4-FFF2-40B4-BE49-F238E27FC236}">
                      <a16:creationId xmlns:a16="http://schemas.microsoft.com/office/drawing/2014/main" id="{C9247A30-3A55-4DC4-84EB-A5814863511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04" y="2400"/>
                  <a:ext cx="92" cy="459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28780" name="Rectangle 20">
                  <a:extLst>
                    <a:ext uri="{FF2B5EF4-FFF2-40B4-BE49-F238E27FC236}">
                      <a16:creationId xmlns:a16="http://schemas.microsoft.com/office/drawing/2014/main" id="{C31647D6-8616-47AB-8568-5343FF6EE8C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00" y="2400"/>
                  <a:ext cx="92" cy="459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28781" name="Rectangle 21">
                  <a:extLst>
                    <a:ext uri="{FF2B5EF4-FFF2-40B4-BE49-F238E27FC236}">
                      <a16:creationId xmlns:a16="http://schemas.microsoft.com/office/drawing/2014/main" id="{27FE4C9D-2466-4C6C-9629-2134C13880B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96" y="2400"/>
                  <a:ext cx="92" cy="459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28782" name="Rectangle 22">
                  <a:extLst>
                    <a:ext uri="{FF2B5EF4-FFF2-40B4-BE49-F238E27FC236}">
                      <a16:creationId xmlns:a16="http://schemas.microsoft.com/office/drawing/2014/main" id="{871BAC53-2675-4E0B-A011-B92CA38C1D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92" y="2400"/>
                  <a:ext cx="92" cy="459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28783" name="Rectangle 23">
                  <a:extLst>
                    <a:ext uri="{FF2B5EF4-FFF2-40B4-BE49-F238E27FC236}">
                      <a16:creationId xmlns:a16="http://schemas.microsoft.com/office/drawing/2014/main" id="{E7CF93BD-EB34-4A46-B227-A952DB10999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88" y="2400"/>
                  <a:ext cx="92" cy="459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pPr algn="ctr"/>
                  <a:endParaRPr lang="en-GB" altLang="it-IT"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28784" name="Rectangle 24">
                  <a:extLst>
                    <a:ext uri="{FF2B5EF4-FFF2-40B4-BE49-F238E27FC236}">
                      <a16:creationId xmlns:a16="http://schemas.microsoft.com/office/drawing/2014/main" id="{9A6594FB-A8F9-48EA-A42B-4C6A6A119FF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84" y="2400"/>
                  <a:ext cx="92" cy="459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pPr algn="ctr"/>
                  <a:endParaRPr lang="en-GB" altLang="it-IT"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28785" name="Rectangle 25">
                  <a:extLst>
                    <a:ext uri="{FF2B5EF4-FFF2-40B4-BE49-F238E27FC236}">
                      <a16:creationId xmlns:a16="http://schemas.microsoft.com/office/drawing/2014/main" id="{44A2E1C9-676F-4673-A53E-CD32EC5F86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0" y="2400"/>
                  <a:ext cx="92" cy="459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pPr algn="ctr"/>
                  <a:endParaRPr lang="en-GB" altLang="it-IT"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28786" name="Rectangle 26">
                  <a:extLst>
                    <a:ext uri="{FF2B5EF4-FFF2-40B4-BE49-F238E27FC236}">
                      <a16:creationId xmlns:a16="http://schemas.microsoft.com/office/drawing/2014/main" id="{3DD6A13F-F0DF-467C-AD9E-22EA5F5E3E4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76" y="2400"/>
                  <a:ext cx="92" cy="459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pPr algn="ctr"/>
                  <a:endParaRPr lang="en-GB" altLang="it-IT"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28787" name="Rectangle 27">
                  <a:extLst>
                    <a:ext uri="{FF2B5EF4-FFF2-40B4-BE49-F238E27FC236}">
                      <a16:creationId xmlns:a16="http://schemas.microsoft.com/office/drawing/2014/main" id="{B8F75DA5-4955-4171-9A5D-41AFDE2C3A1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72" y="2400"/>
                  <a:ext cx="92" cy="459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pPr algn="ctr"/>
                  <a:endParaRPr lang="en-GB" altLang="it-IT">
                    <a:latin typeface="Arial Rounded MT Bold" panose="020F0704030504030204" pitchFamily="34" charset="0"/>
                  </a:endParaRPr>
                </a:p>
              </p:txBody>
            </p:sp>
          </p:grpSp>
          <p:grpSp>
            <p:nvGrpSpPr>
              <p:cNvPr id="28750" name="Group 28">
                <a:extLst>
                  <a:ext uri="{FF2B5EF4-FFF2-40B4-BE49-F238E27FC236}">
                    <a16:creationId xmlns:a16="http://schemas.microsoft.com/office/drawing/2014/main" id="{A6509263-6684-4ECD-B6B1-59BD27142FD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873750" y="4419600"/>
                <a:ext cx="1822450" cy="728663"/>
                <a:chOff x="3168" y="2400"/>
                <a:chExt cx="1148" cy="459"/>
              </a:xfrm>
            </p:grpSpPr>
            <p:sp>
              <p:nvSpPr>
                <p:cNvPr id="28753" name="Rectangle 29">
                  <a:extLst>
                    <a:ext uri="{FF2B5EF4-FFF2-40B4-BE49-F238E27FC236}">
                      <a16:creationId xmlns:a16="http://schemas.microsoft.com/office/drawing/2014/main" id="{14BD0ADF-699D-412E-BD53-74E46629393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68" y="2400"/>
                  <a:ext cx="92" cy="459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pPr algn="ctr"/>
                  <a:endParaRPr lang="en-GB" altLang="it-IT"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28754" name="Rectangle 30">
                  <a:extLst>
                    <a:ext uri="{FF2B5EF4-FFF2-40B4-BE49-F238E27FC236}">
                      <a16:creationId xmlns:a16="http://schemas.microsoft.com/office/drawing/2014/main" id="{0D078599-6844-4E5E-8F2F-709DCA0303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64" y="2400"/>
                  <a:ext cx="92" cy="459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pPr algn="ctr"/>
                  <a:endParaRPr lang="en-GB" altLang="it-IT"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28755" name="Rectangle 31">
                  <a:extLst>
                    <a:ext uri="{FF2B5EF4-FFF2-40B4-BE49-F238E27FC236}">
                      <a16:creationId xmlns:a16="http://schemas.microsoft.com/office/drawing/2014/main" id="{87156D2A-582F-423F-8280-9C37B46C735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60" y="2400"/>
                  <a:ext cx="92" cy="459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pPr algn="ctr"/>
                  <a:endParaRPr lang="en-GB" altLang="it-IT"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28756" name="Rectangle 32">
                  <a:extLst>
                    <a:ext uri="{FF2B5EF4-FFF2-40B4-BE49-F238E27FC236}">
                      <a16:creationId xmlns:a16="http://schemas.microsoft.com/office/drawing/2014/main" id="{E305DC77-F358-40A9-94A4-3431C575557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456" y="2400"/>
                  <a:ext cx="92" cy="459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pPr algn="ctr"/>
                  <a:endParaRPr lang="en-GB" altLang="it-IT"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28757" name="Rectangle 33">
                  <a:extLst>
                    <a:ext uri="{FF2B5EF4-FFF2-40B4-BE49-F238E27FC236}">
                      <a16:creationId xmlns:a16="http://schemas.microsoft.com/office/drawing/2014/main" id="{5E97710B-D784-42CB-9F88-46414152BD7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52" y="2400"/>
                  <a:ext cx="92" cy="459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pPr algn="ctr"/>
                  <a:endParaRPr lang="en-GB" altLang="it-IT"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28758" name="Rectangle 34">
                  <a:extLst>
                    <a:ext uri="{FF2B5EF4-FFF2-40B4-BE49-F238E27FC236}">
                      <a16:creationId xmlns:a16="http://schemas.microsoft.com/office/drawing/2014/main" id="{EAF03412-674D-44F4-BDDC-BB48EA170F4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48" y="2400"/>
                  <a:ext cx="92" cy="459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pPr algn="ctr"/>
                  <a:endParaRPr lang="en-GB" altLang="it-IT"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28759" name="Rectangle 35">
                  <a:extLst>
                    <a:ext uri="{FF2B5EF4-FFF2-40B4-BE49-F238E27FC236}">
                      <a16:creationId xmlns:a16="http://schemas.microsoft.com/office/drawing/2014/main" id="{28A0289D-DE3C-4DA1-A7BE-164E9DE9E3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44" y="2400"/>
                  <a:ext cx="92" cy="459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pPr algn="ctr"/>
                  <a:endParaRPr lang="en-GB" altLang="it-IT"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28760" name="Rectangle 36">
                  <a:extLst>
                    <a:ext uri="{FF2B5EF4-FFF2-40B4-BE49-F238E27FC236}">
                      <a16:creationId xmlns:a16="http://schemas.microsoft.com/office/drawing/2014/main" id="{E4922E6E-373D-40C2-9FA9-B6342BB2535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40" y="2400"/>
                  <a:ext cx="92" cy="459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pPr algn="ctr"/>
                  <a:endParaRPr lang="en-GB" altLang="it-IT"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28761" name="Rectangle 37">
                  <a:extLst>
                    <a:ext uri="{FF2B5EF4-FFF2-40B4-BE49-F238E27FC236}">
                      <a16:creationId xmlns:a16="http://schemas.microsoft.com/office/drawing/2014/main" id="{D940B7D4-1303-4534-8B6A-879458D334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36" y="2400"/>
                  <a:ext cx="92" cy="459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pPr algn="ctr"/>
                  <a:endParaRPr lang="en-GB" altLang="it-IT"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28762" name="Rectangle 38">
                  <a:extLst>
                    <a:ext uri="{FF2B5EF4-FFF2-40B4-BE49-F238E27FC236}">
                      <a16:creationId xmlns:a16="http://schemas.microsoft.com/office/drawing/2014/main" id="{8085B873-AAEB-4BE9-AB6A-48D54C7E91D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32" y="2400"/>
                  <a:ext cx="92" cy="459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pPr algn="ctr"/>
                  <a:endParaRPr lang="en-GB" altLang="it-IT"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28763" name="Rectangle 39">
                  <a:extLst>
                    <a:ext uri="{FF2B5EF4-FFF2-40B4-BE49-F238E27FC236}">
                      <a16:creationId xmlns:a16="http://schemas.microsoft.com/office/drawing/2014/main" id="{43822F88-AD9B-4FC4-A717-E5D40327F08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28" y="2400"/>
                  <a:ext cx="92" cy="459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pPr algn="ctr"/>
                  <a:endParaRPr lang="en-GB" altLang="it-IT"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28764" name="Rectangle 40">
                  <a:extLst>
                    <a:ext uri="{FF2B5EF4-FFF2-40B4-BE49-F238E27FC236}">
                      <a16:creationId xmlns:a16="http://schemas.microsoft.com/office/drawing/2014/main" id="{3FEB2B5B-DD2D-4B88-A1D8-4518776D86C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4" y="2400"/>
                  <a:ext cx="92" cy="459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pPr algn="ctr"/>
                  <a:endParaRPr lang="en-GB" altLang="it-IT">
                    <a:latin typeface="Arial Rounded MT Bold" panose="020F0704030504030204" pitchFamily="34" charset="0"/>
                  </a:endParaRPr>
                </a:p>
              </p:txBody>
            </p:sp>
          </p:grpSp>
          <p:sp>
            <p:nvSpPr>
              <p:cNvPr id="28751" name="Rectangle 41">
                <a:extLst>
                  <a:ext uri="{FF2B5EF4-FFF2-40B4-BE49-F238E27FC236}">
                    <a16:creationId xmlns:a16="http://schemas.microsoft.com/office/drawing/2014/main" id="{070FC186-3C1E-454E-B9EC-AF73324E6B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03813" y="4419600"/>
                <a:ext cx="771525" cy="7286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endParaRPr lang="en-GB" altLang="it-IT"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28752" name="Text Box 42">
                <a:extLst>
                  <a:ext uri="{FF2B5EF4-FFF2-40B4-BE49-F238E27FC236}">
                    <a16:creationId xmlns:a16="http://schemas.microsoft.com/office/drawing/2014/main" id="{0C1B3CFD-C084-4702-A38A-CE297868984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10175" y="4430713"/>
                <a:ext cx="533400" cy="5191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it-IT" sz="2800">
                    <a:latin typeface="Arial Rounded MT Bold" panose="020F0704030504030204" pitchFamily="34" charset="0"/>
                  </a:rPr>
                  <a:t>...</a:t>
                </a:r>
              </a:p>
            </p:txBody>
          </p:sp>
        </p:grpSp>
        <p:sp>
          <p:nvSpPr>
            <p:cNvPr id="28747" name="Text Box 77">
              <a:extLst>
                <a:ext uri="{FF2B5EF4-FFF2-40B4-BE49-F238E27FC236}">
                  <a16:creationId xmlns:a16="http://schemas.microsoft.com/office/drawing/2014/main" id="{838719C8-94FD-4945-9EA6-AA12AB2626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1750" y="5105400"/>
              <a:ext cx="60960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 sz="1200">
                  <a:latin typeface="Times" panose="02020603050405020304" pitchFamily="18" charset="0"/>
                </a:rPr>
                <a:t>0</a:t>
              </a:r>
              <a:endParaRPr lang="en-US" altLang="it-IT" sz="1400">
                <a:latin typeface="Arial Rounded MT Bold" panose="020F0704030504030204" pitchFamily="34" charset="0"/>
              </a:endParaRPr>
            </a:p>
          </p:txBody>
        </p:sp>
        <p:sp>
          <p:nvSpPr>
            <p:cNvPr id="28748" name="Text Box 78">
              <a:extLst>
                <a:ext uri="{FF2B5EF4-FFF2-40B4-BE49-F238E27FC236}">
                  <a16:creationId xmlns:a16="http://schemas.microsoft.com/office/drawing/2014/main" id="{D7B6CAB0-6633-435B-B6BB-2F0BF04AEE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97750" y="5105400"/>
              <a:ext cx="609600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 sz="1400" i="1">
                  <a:latin typeface="Times" panose="02020603050405020304" pitchFamily="18" charset="0"/>
                </a:rPr>
                <a:t>high</a:t>
              </a:r>
              <a:endParaRPr lang="en-US" altLang="it-IT">
                <a:latin typeface="Arial Rounded MT Bold" panose="020F0704030504030204" pitchFamily="34" charset="0"/>
              </a:endParaRPr>
            </a:p>
          </p:txBody>
        </p:sp>
      </p:grpSp>
      <p:grpSp>
        <p:nvGrpSpPr>
          <p:cNvPr id="28696" name="Group 81">
            <a:extLst>
              <a:ext uri="{FF2B5EF4-FFF2-40B4-BE49-F238E27FC236}">
                <a16:creationId xmlns:a16="http://schemas.microsoft.com/office/drawing/2014/main" id="{181C0C74-C7E7-4BCC-BCD1-42211DE7FFD5}"/>
              </a:ext>
            </a:extLst>
          </p:cNvPr>
          <p:cNvGrpSpPr>
            <a:grpSpLocks/>
          </p:cNvGrpSpPr>
          <p:nvPr/>
        </p:nvGrpSpPr>
        <p:grpSpPr bwMode="auto">
          <a:xfrm>
            <a:off x="2663825" y="2362200"/>
            <a:ext cx="5870575" cy="731838"/>
            <a:chOff x="1684" y="1488"/>
            <a:chExt cx="3698" cy="461"/>
          </a:xfrm>
        </p:grpSpPr>
        <p:grpSp>
          <p:nvGrpSpPr>
            <p:cNvPr id="28721" name="Group 82">
              <a:extLst>
                <a:ext uri="{FF2B5EF4-FFF2-40B4-BE49-F238E27FC236}">
                  <a16:creationId xmlns:a16="http://schemas.microsoft.com/office/drawing/2014/main" id="{FD3BBBED-C9CE-48D9-B2A0-4602A9ED627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684" y="1488"/>
              <a:ext cx="1106" cy="461"/>
              <a:chOff x="912" y="1152"/>
              <a:chExt cx="2304" cy="960"/>
            </a:xfrm>
          </p:grpSpPr>
          <p:sp>
            <p:nvSpPr>
              <p:cNvPr id="28739" name="Rectangle 83">
                <a:extLst>
                  <a:ext uri="{FF2B5EF4-FFF2-40B4-BE49-F238E27FC236}">
                    <a16:creationId xmlns:a16="http://schemas.microsoft.com/office/drawing/2014/main" id="{140BD061-FED4-4C3A-B2B1-2A080DD8396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912" y="1152"/>
                <a:ext cx="2304" cy="96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endParaRPr lang="en-GB" altLang="it-IT"/>
              </a:p>
            </p:txBody>
          </p:sp>
          <p:sp>
            <p:nvSpPr>
              <p:cNvPr id="28740" name="Rectangle 84">
                <a:extLst>
                  <a:ext uri="{FF2B5EF4-FFF2-40B4-BE49-F238E27FC236}">
                    <a16:creationId xmlns:a16="http://schemas.microsoft.com/office/drawing/2014/main" id="{D6654245-F16D-40FC-8D1D-9ACA7DDEC49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912" y="1152"/>
                <a:ext cx="384" cy="96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800">
                    <a:latin typeface="Arial Rounded MT Bold" panose="020F0704030504030204" pitchFamily="34" charset="0"/>
                  </a:rPr>
                  <a:t>C</a:t>
                </a:r>
              </a:p>
              <a:p>
                <a:pPr algn="ctr"/>
                <a:r>
                  <a:rPr lang="en-US" altLang="it-IT" sz="800">
                    <a:latin typeface="Arial Rounded MT Bold" panose="020F0704030504030204" pitchFamily="34" charset="0"/>
                  </a:rPr>
                  <a:t>o</a:t>
                </a:r>
              </a:p>
              <a:p>
                <a:pPr algn="ctr"/>
                <a:r>
                  <a:rPr lang="en-US" altLang="it-IT" sz="800">
                    <a:latin typeface="Arial Rounded MT Bold" panose="020F0704030504030204" pitchFamily="34" charset="0"/>
                  </a:rPr>
                  <a:t>d</a:t>
                </a:r>
              </a:p>
              <a:p>
                <a:pPr algn="ctr"/>
                <a:r>
                  <a:rPr lang="en-US" altLang="it-IT" sz="800">
                    <a:latin typeface="Arial Rounded MT Bold" panose="020F0704030504030204" pitchFamily="34" charset="0"/>
                  </a:rPr>
                  <a:t>e</a:t>
                </a:r>
              </a:p>
            </p:txBody>
          </p:sp>
          <p:sp>
            <p:nvSpPr>
              <p:cNvPr id="28741" name="Rectangle 85">
                <a:extLst>
                  <a:ext uri="{FF2B5EF4-FFF2-40B4-BE49-F238E27FC236}">
                    <a16:creationId xmlns:a16="http://schemas.microsoft.com/office/drawing/2014/main" id="{880C41A7-5785-44EC-AF60-91E154DEFAA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296" y="1152"/>
                <a:ext cx="432" cy="96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800">
                    <a:latin typeface="Arial Rounded MT Bold" panose="020F0704030504030204" pitchFamily="34" charset="0"/>
                  </a:rPr>
                  <a:t>S    G</a:t>
                </a:r>
              </a:p>
              <a:p>
                <a:pPr algn="ctr"/>
                <a:r>
                  <a:rPr lang="en-US" altLang="it-IT" sz="800">
                    <a:latin typeface="Arial Rounded MT Bold" panose="020F0704030504030204" pitchFamily="34" charset="0"/>
                  </a:rPr>
                  <a:t>t      l</a:t>
                </a:r>
              </a:p>
              <a:p>
                <a:pPr algn="ctr"/>
                <a:r>
                  <a:rPr lang="en-US" altLang="it-IT" sz="800">
                    <a:latin typeface="Arial Rounded MT Bold" panose="020F0704030504030204" pitchFamily="34" charset="0"/>
                  </a:rPr>
                  <a:t>a &amp; o</a:t>
                </a:r>
              </a:p>
              <a:p>
                <a:pPr algn="ctr"/>
                <a:r>
                  <a:rPr lang="en-US" altLang="it-IT" sz="800">
                    <a:latin typeface="Arial Rounded MT Bold" panose="020F0704030504030204" pitchFamily="34" charset="0"/>
                  </a:rPr>
                  <a:t>t     b</a:t>
                </a:r>
              </a:p>
              <a:p>
                <a:pPr algn="ctr"/>
                <a:r>
                  <a:rPr lang="en-US" altLang="it-IT" sz="800">
                    <a:latin typeface="Arial Rounded MT Bold" panose="020F0704030504030204" pitchFamily="34" charset="0"/>
                  </a:rPr>
                  <a:t>i     a</a:t>
                </a:r>
              </a:p>
              <a:p>
                <a:pPr algn="ctr"/>
                <a:r>
                  <a:rPr lang="en-US" altLang="it-IT" sz="800">
                    <a:latin typeface="Arial Rounded MT Bold" panose="020F0704030504030204" pitchFamily="34" charset="0"/>
                  </a:rPr>
                  <a:t>c     l </a:t>
                </a:r>
              </a:p>
            </p:txBody>
          </p:sp>
          <p:sp>
            <p:nvSpPr>
              <p:cNvPr id="28742" name="Rectangle 86">
                <a:extLst>
                  <a:ext uri="{FF2B5EF4-FFF2-40B4-BE49-F238E27FC236}">
                    <a16:creationId xmlns:a16="http://schemas.microsoft.com/office/drawing/2014/main" id="{A7059D33-9323-450F-A4F3-A437BD9CCE2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728" y="1152"/>
                <a:ext cx="432" cy="96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800">
                    <a:latin typeface="Arial Rounded MT Bold" panose="020F0704030504030204" pitchFamily="34" charset="0"/>
                  </a:rPr>
                  <a:t>S</a:t>
                </a:r>
              </a:p>
              <a:p>
                <a:pPr algn="ctr"/>
                <a:r>
                  <a:rPr lang="en-US" altLang="it-IT" sz="800">
                    <a:latin typeface="Arial Rounded MT Bold" panose="020F0704030504030204" pitchFamily="34" charset="0"/>
                  </a:rPr>
                  <a:t>t</a:t>
                </a:r>
              </a:p>
              <a:p>
                <a:pPr algn="ctr"/>
                <a:r>
                  <a:rPr lang="en-US" altLang="it-IT" sz="800">
                    <a:latin typeface="Arial Rounded MT Bold" panose="020F0704030504030204" pitchFamily="34" charset="0"/>
                  </a:rPr>
                  <a:t>a</a:t>
                </a:r>
              </a:p>
              <a:p>
                <a:pPr algn="ctr"/>
                <a:r>
                  <a:rPr lang="en-US" altLang="it-IT" sz="800">
                    <a:latin typeface="Arial Rounded MT Bold" panose="020F0704030504030204" pitchFamily="34" charset="0"/>
                  </a:rPr>
                  <a:t>c</a:t>
                </a:r>
              </a:p>
              <a:p>
                <a:pPr algn="ctr"/>
                <a:r>
                  <a:rPr lang="en-US" altLang="it-IT" sz="800">
                    <a:latin typeface="Arial Rounded MT Bold" panose="020F0704030504030204" pitchFamily="34" charset="0"/>
                  </a:rPr>
                  <a:t>k</a:t>
                </a:r>
              </a:p>
            </p:txBody>
          </p:sp>
          <p:sp>
            <p:nvSpPr>
              <p:cNvPr id="28743" name="Rectangle 87">
                <a:extLst>
                  <a:ext uri="{FF2B5EF4-FFF2-40B4-BE49-F238E27FC236}">
                    <a16:creationId xmlns:a16="http://schemas.microsoft.com/office/drawing/2014/main" id="{DF83F100-0DFC-45EC-9A38-A43E76B40B6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792" y="1152"/>
                <a:ext cx="424" cy="96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800">
                    <a:latin typeface="Arial Rounded MT Bold" panose="020F0704030504030204" pitchFamily="34" charset="0"/>
                  </a:rPr>
                  <a:t>H</a:t>
                </a:r>
              </a:p>
              <a:p>
                <a:pPr algn="ctr"/>
                <a:r>
                  <a:rPr lang="en-US" altLang="it-IT" sz="800">
                    <a:latin typeface="Arial Rounded MT Bold" panose="020F0704030504030204" pitchFamily="34" charset="0"/>
                  </a:rPr>
                  <a:t>e</a:t>
                </a:r>
              </a:p>
              <a:p>
                <a:pPr algn="ctr"/>
                <a:r>
                  <a:rPr lang="en-US" altLang="it-IT" sz="800">
                    <a:latin typeface="Arial Rounded MT Bold" panose="020F0704030504030204" pitchFamily="34" charset="0"/>
                  </a:rPr>
                  <a:t>a</a:t>
                </a:r>
              </a:p>
              <a:p>
                <a:pPr algn="ctr"/>
                <a:r>
                  <a:rPr lang="en-US" altLang="it-IT" sz="800">
                    <a:latin typeface="Arial Rounded MT Bold" panose="020F0704030504030204" pitchFamily="34" charset="0"/>
                  </a:rPr>
                  <a:t>p</a:t>
                </a:r>
              </a:p>
            </p:txBody>
          </p:sp>
          <p:sp>
            <p:nvSpPr>
              <p:cNvPr id="28744" name="Line 88">
                <a:extLst>
                  <a:ext uri="{FF2B5EF4-FFF2-40B4-BE49-F238E27FC236}">
                    <a16:creationId xmlns:a16="http://schemas.microsoft.com/office/drawing/2014/main" id="{702F5891-5002-4122-B626-F5C6AFAD2A7F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166" y="1631"/>
                <a:ext cx="278" cy="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  <p:sp>
            <p:nvSpPr>
              <p:cNvPr id="28745" name="Line 89">
                <a:extLst>
                  <a:ext uri="{FF2B5EF4-FFF2-40B4-BE49-F238E27FC236}">
                    <a16:creationId xmlns:a16="http://schemas.microsoft.com/office/drawing/2014/main" id="{CC519A3E-95B0-481F-8E63-582E9A93EB48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485" y="1632"/>
                <a:ext cx="3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</p:grpSp>
        <p:grpSp>
          <p:nvGrpSpPr>
            <p:cNvPr id="28722" name="Group 90">
              <a:extLst>
                <a:ext uri="{FF2B5EF4-FFF2-40B4-BE49-F238E27FC236}">
                  <a16:creationId xmlns:a16="http://schemas.microsoft.com/office/drawing/2014/main" id="{2ED3F9A0-3168-48C9-BED5-EBED7140197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2884" y="1488"/>
              <a:ext cx="1106" cy="461"/>
              <a:chOff x="912" y="1152"/>
              <a:chExt cx="2304" cy="960"/>
            </a:xfrm>
          </p:grpSpPr>
          <p:sp>
            <p:nvSpPr>
              <p:cNvPr id="28732" name="Rectangle 91">
                <a:extLst>
                  <a:ext uri="{FF2B5EF4-FFF2-40B4-BE49-F238E27FC236}">
                    <a16:creationId xmlns:a16="http://schemas.microsoft.com/office/drawing/2014/main" id="{AE9C1FFB-D97E-47AD-89C7-1804E2EB41A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912" y="1152"/>
                <a:ext cx="2304" cy="96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endParaRPr lang="en-GB" altLang="it-IT"/>
              </a:p>
            </p:txBody>
          </p:sp>
          <p:sp>
            <p:nvSpPr>
              <p:cNvPr id="28733" name="Rectangle 92">
                <a:extLst>
                  <a:ext uri="{FF2B5EF4-FFF2-40B4-BE49-F238E27FC236}">
                    <a16:creationId xmlns:a16="http://schemas.microsoft.com/office/drawing/2014/main" id="{A54D1436-73FD-460D-8CB2-6AF1C8875C2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912" y="1152"/>
                <a:ext cx="384" cy="96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800">
                    <a:latin typeface="Arial Rounded MT Bold" panose="020F0704030504030204" pitchFamily="34" charset="0"/>
                  </a:rPr>
                  <a:t>C</a:t>
                </a:r>
              </a:p>
              <a:p>
                <a:pPr algn="ctr"/>
                <a:r>
                  <a:rPr lang="en-US" altLang="it-IT" sz="800">
                    <a:latin typeface="Arial Rounded MT Bold" panose="020F0704030504030204" pitchFamily="34" charset="0"/>
                  </a:rPr>
                  <a:t>o</a:t>
                </a:r>
              </a:p>
              <a:p>
                <a:pPr algn="ctr"/>
                <a:r>
                  <a:rPr lang="en-US" altLang="it-IT" sz="800">
                    <a:latin typeface="Arial Rounded MT Bold" panose="020F0704030504030204" pitchFamily="34" charset="0"/>
                  </a:rPr>
                  <a:t>d</a:t>
                </a:r>
              </a:p>
              <a:p>
                <a:pPr algn="ctr"/>
                <a:r>
                  <a:rPr lang="en-US" altLang="it-IT" sz="800">
                    <a:latin typeface="Arial Rounded MT Bold" panose="020F0704030504030204" pitchFamily="34" charset="0"/>
                  </a:rPr>
                  <a:t>e</a:t>
                </a:r>
              </a:p>
            </p:txBody>
          </p:sp>
          <p:sp>
            <p:nvSpPr>
              <p:cNvPr id="28734" name="Rectangle 93">
                <a:extLst>
                  <a:ext uri="{FF2B5EF4-FFF2-40B4-BE49-F238E27FC236}">
                    <a16:creationId xmlns:a16="http://schemas.microsoft.com/office/drawing/2014/main" id="{2B404FB5-59FE-401F-90C5-9491F89C2A2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296" y="1152"/>
                <a:ext cx="432" cy="96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800">
                    <a:latin typeface="Arial Rounded MT Bold" panose="020F0704030504030204" pitchFamily="34" charset="0"/>
                  </a:rPr>
                  <a:t>S    G</a:t>
                </a:r>
              </a:p>
              <a:p>
                <a:pPr algn="ctr"/>
                <a:r>
                  <a:rPr lang="en-US" altLang="it-IT" sz="800">
                    <a:latin typeface="Arial Rounded MT Bold" panose="020F0704030504030204" pitchFamily="34" charset="0"/>
                  </a:rPr>
                  <a:t>t      l</a:t>
                </a:r>
              </a:p>
              <a:p>
                <a:pPr algn="ctr"/>
                <a:r>
                  <a:rPr lang="en-US" altLang="it-IT" sz="800">
                    <a:latin typeface="Arial Rounded MT Bold" panose="020F0704030504030204" pitchFamily="34" charset="0"/>
                  </a:rPr>
                  <a:t>a &amp; o</a:t>
                </a:r>
              </a:p>
              <a:p>
                <a:pPr algn="ctr"/>
                <a:r>
                  <a:rPr lang="en-US" altLang="it-IT" sz="800">
                    <a:latin typeface="Arial Rounded MT Bold" panose="020F0704030504030204" pitchFamily="34" charset="0"/>
                  </a:rPr>
                  <a:t>t     b</a:t>
                </a:r>
              </a:p>
              <a:p>
                <a:pPr algn="ctr"/>
                <a:r>
                  <a:rPr lang="en-US" altLang="it-IT" sz="800">
                    <a:latin typeface="Arial Rounded MT Bold" panose="020F0704030504030204" pitchFamily="34" charset="0"/>
                  </a:rPr>
                  <a:t>i     a</a:t>
                </a:r>
              </a:p>
              <a:p>
                <a:pPr algn="ctr"/>
                <a:r>
                  <a:rPr lang="en-US" altLang="it-IT" sz="800">
                    <a:latin typeface="Arial Rounded MT Bold" panose="020F0704030504030204" pitchFamily="34" charset="0"/>
                  </a:rPr>
                  <a:t>c     l </a:t>
                </a:r>
              </a:p>
            </p:txBody>
          </p:sp>
          <p:sp>
            <p:nvSpPr>
              <p:cNvPr id="28735" name="Rectangle 94">
                <a:extLst>
                  <a:ext uri="{FF2B5EF4-FFF2-40B4-BE49-F238E27FC236}">
                    <a16:creationId xmlns:a16="http://schemas.microsoft.com/office/drawing/2014/main" id="{8235F35B-21E4-420E-980C-0A4B52404DA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728" y="1152"/>
                <a:ext cx="432" cy="96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endParaRPr lang="en-US" altLang="it-IT" sz="800">
                  <a:latin typeface="Arial Rounded MT Bold" panose="020F0704030504030204" pitchFamily="34" charset="0"/>
                </a:endParaRPr>
              </a:p>
              <a:p>
                <a:pPr algn="ctr"/>
                <a:r>
                  <a:rPr lang="en-US" altLang="it-IT" sz="800">
                    <a:latin typeface="Arial Rounded MT Bold" panose="020F0704030504030204" pitchFamily="34" charset="0"/>
                  </a:rPr>
                  <a:t>S</a:t>
                </a:r>
              </a:p>
              <a:p>
                <a:pPr algn="ctr"/>
                <a:r>
                  <a:rPr lang="en-US" altLang="it-IT" sz="800">
                    <a:latin typeface="Arial Rounded MT Bold" panose="020F0704030504030204" pitchFamily="34" charset="0"/>
                  </a:rPr>
                  <a:t>t</a:t>
                </a:r>
              </a:p>
              <a:p>
                <a:pPr algn="ctr"/>
                <a:r>
                  <a:rPr lang="en-US" altLang="it-IT" sz="800">
                    <a:latin typeface="Arial Rounded MT Bold" panose="020F0704030504030204" pitchFamily="34" charset="0"/>
                  </a:rPr>
                  <a:t>a</a:t>
                </a:r>
              </a:p>
              <a:p>
                <a:pPr algn="ctr"/>
                <a:r>
                  <a:rPr lang="en-US" altLang="it-IT" sz="800">
                    <a:latin typeface="Arial Rounded MT Bold" panose="020F0704030504030204" pitchFamily="34" charset="0"/>
                  </a:rPr>
                  <a:t>c</a:t>
                </a:r>
              </a:p>
              <a:p>
                <a:pPr algn="ctr"/>
                <a:r>
                  <a:rPr lang="en-US" altLang="it-IT" sz="800">
                    <a:latin typeface="Arial Rounded MT Bold" panose="020F0704030504030204" pitchFamily="34" charset="0"/>
                  </a:rPr>
                  <a:t>k</a:t>
                </a:r>
              </a:p>
              <a:p>
                <a:pPr algn="ctr"/>
                <a:endParaRPr lang="en-US" altLang="it-IT" sz="800"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28736" name="Rectangle 95">
                <a:extLst>
                  <a:ext uri="{FF2B5EF4-FFF2-40B4-BE49-F238E27FC236}">
                    <a16:creationId xmlns:a16="http://schemas.microsoft.com/office/drawing/2014/main" id="{260033AB-F6D6-4113-AE26-6C053D88C8C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792" y="1152"/>
                <a:ext cx="424" cy="96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800">
                    <a:latin typeface="Arial Rounded MT Bold" panose="020F0704030504030204" pitchFamily="34" charset="0"/>
                  </a:rPr>
                  <a:t>H</a:t>
                </a:r>
              </a:p>
              <a:p>
                <a:pPr algn="ctr"/>
                <a:r>
                  <a:rPr lang="en-US" altLang="it-IT" sz="800">
                    <a:latin typeface="Arial Rounded MT Bold" panose="020F0704030504030204" pitchFamily="34" charset="0"/>
                  </a:rPr>
                  <a:t>e</a:t>
                </a:r>
              </a:p>
              <a:p>
                <a:pPr algn="ctr"/>
                <a:r>
                  <a:rPr lang="en-US" altLang="it-IT" sz="800">
                    <a:latin typeface="Arial Rounded MT Bold" panose="020F0704030504030204" pitchFamily="34" charset="0"/>
                  </a:rPr>
                  <a:t>a</a:t>
                </a:r>
              </a:p>
              <a:p>
                <a:pPr algn="ctr"/>
                <a:r>
                  <a:rPr lang="en-US" altLang="it-IT" sz="800">
                    <a:latin typeface="Arial Rounded MT Bold" panose="020F0704030504030204" pitchFamily="34" charset="0"/>
                  </a:rPr>
                  <a:t>p</a:t>
                </a:r>
              </a:p>
            </p:txBody>
          </p:sp>
          <p:sp>
            <p:nvSpPr>
              <p:cNvPr id="28737" name="Line 96">
                <a:extLst>
                  <a:ext uri="{FF2B5EF4-FFF2-40B4-BE49-F238E27FC236}">
                    <a16:creationId xmlns:a16="http://schemas.microsoft.com/office/drawing/2014/main" id="{42C630AC-436C-4B88-89BB-656C4485BA47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166" y="1631"/>
                <a:ext cx="278" cy="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  <p:sp>
            <p:nvSpPr>
              <p:cNvPr id="28738" name="Line 97">
                <a:extLst>
                  <a:ext uri="{FF2B5EF4-FFF2-40B4-BE49-F238E27FC236}">
                    <a16:creationId xmlns:a16="http://schemas.microsoft.com/office/drawing/2014/main" id="{02BE40F0-9461-4486-B677-4730A049A1C8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485" y="1632"/>
                <a:ext cx="3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</p:grpSp>
        <p:grpSp>
          <p:nvGrpSpPr>
            <p:cNvPr id="28723" name="Group 98">
              <a:extLst>
                <a:ext uri="{FF2B5EF4-FFF2-40B4-BE49-F238E27FC236}">
                  <a16:creationId xmlns:a16="http://schemas.microsoft.com/office/drawing/2014/main" id="{4DC91900-9F3F-4A86-AD3E-537FC08FF74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276" y="1488"/>
              <a:ext cx="1106" cy="461"/>
              <a:chOff x="912" y="1152"/>
              <a:chExt cx="2304" cy="960"/>
            </a:xfrm>
          </p:grpSpPr>
          <p:sp>
            <p:nvSpPr>
              <p:cNvPr id="28725" name="Rectangle 99">
                <a:extLst>
                  <a:ext uri="{FF2B5EF4-FFF2-40B4-BE49-F238E27FC236}">
                    <a16:creationId xmlns:a16="http://schemas.microsoft.com/office/drawing/2014/main" id="{E19A9128-CE0B-4F0A-A0D7-41590F5EF33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912" y="1152"/>
                <a:ext cx="2304" cy="96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endParaRPr lang="en-GB" altLang="it-IT"/>
              </a:p>
            </p:txBody>
          </p:sp>
          <p:sp>
            <p:nvSpPr>
              <p:cNvPr id="28726" name="Rectangle 100">
                <a:extLst>
                  <a:ext uri="{FF2B5EF4-FFF2-40B4-BE49-F238E27FC236}">
                    <a16:creationId xmlns:a16="http://schemas.microsoft.com/office/drawing/2014/main" id="{003EBAA7-AED3-4596-B85B-FB1492F2D22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912" y="1152"/>
                <a:ext cx="384" cy="96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800">
                    <a:latin typeface="Arial Rounded MT Bold" panose="020F0704030504030204" pitchFamily="34" charset="0"/>
                  </a:rPr>
                  <a:t>C</a:t>
                </a:r>
              </a:p>
              <a:p>
                <a:pPr algn="ctr"/>
                <a:r>
                  <a:rPr lang="en-US" altLang="it-IT" sz="800">
                    <a:latin typeface="Arial Rounded MT Bold" panose="020F0704030504030204" pitchFamily="34" charset="0"/>
                  </a:rPr>
                  <a:t>o</a:t>
                </a:r>
              </a:p>
              <a:p>
                <a:pPr algn="ctr"/>
                <a:r>
                  <a:rPr lang="en-US" altLang="it-IT" sz="800">
                    <a:latin typeface="Arial Rounded MT Bold" panose="020F0704030504030204" pitchFamily="34" charset="0"/>
                  </a:rPr>
                  <a:t>d</a:t>
                </a:r>
              </a:p>
              <a:p>
                <a:pPr algn="ctr"/>
                <a:r>
                  <a:rPr lang="en-US" altLang="it-IT" sz="800">
                    <a:latin typeface="Arial Rounded MT Bold" panose="020F0704030504030204" pitchFamily="34" charset="0"/>
                  </a:rPr>
                  <a:t>e</a:t>
                </a:r>
              </a:p>
            </p:txBody>
          </p:sp>
          <p:sp>
            <p:nvSpPr>
              <p:cNvPr id="28727" name="Rectangle 101">
                <a:extLst>
                  <a:ext uri="{FF2B5EF4-FFF2-40B4-BE49-F238E27FC236}">
                    <a16:creationId xmlns:a16="http://schemas.microsoft.com/office/drawing/2014/main" id="{921D4491-C446-49C1-B9BC-A19331648C3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296" y="1152"/>
                <a:ext cx="432" cy="96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800">
                    <a:latin typeface="Arial Rounded MT Bold" panose="020F0704030504030204" pitchFamily="34" charset="0"/>
                  </a:rPr>
                  <a:t>S    G</a:t>
                </a:r>
              </a:p>
              <a:p>
                <a:pPr algn="ctr"/>
                <a:r>
                  <a:rPr lang="en-US" altLang="it-IT" sz="800">
                    <a:latin typeface="Arial Rounded MT Bold" panose="020F0704030504030204" pitchFamily="34" charset="0"/>
                  </a:rPr>
                  <a:t>t      l</a:t>
                </a:r>
              </a:p>
              <a:p>
                <a:pPr algn="ctr"/>
                <a:r>
                  <a:rPr lang="en-US" altLang="it-IT" sz="800">
                    <a:latin typeface="Arial Rounded MT Bold" panose="020F0704030504030204" pitchFamily="34" charset="0"/>
                  </a:rPr>
                  <a:t>a &amp; o</a:t>
                </a:r>
              </a:p>
              <a:p>
                <a:pPr algn="ctr"/>
                <a:r>
                  <a:rPr lang="en-US" altLang="it-IT" sz="800">
                    <a:latin typeface="Arial Rounded MT Bold" panose="020F0704030504030204" pitchFamily="34" charset="0"/>
                  </a:rPr>
                  <a:t>t     b</a:t>
                </a:r>
              </a:p>
              <a:p>
                <a:pPr algn="ctr"/>
                <a:r>
                  <a:rPr lang="en-US" altLang="it-IT" sz="800">
                    <a:latin typeface="Arial Rounded MT Bold" panose="020F0704030504030204" pitchFamily="34" charset="0"/>
                  </a:rPr>
                  <a:t>i     a</a:t>
                </a:r>
              </a:p>
              <a:p>
                <a:pPr algn="ctr"/>
                <a:r>
                  <a:rPr lang="en-US" altLang="it-IT" sz="800">
                    <a:latin typeface="Arial Rounded MT Bold" panose="020F0704030504030204" pitchFamily="34" charset="0"/>
                  </a:rPr>
                  <a:t>c     l </a:t>
                </a:r>
              </a:p>
            </p:txBody>
          </p:sp>
          <p:sp>
            <p:nvSpPr>
              <p:cNvPr id="28728" name="Rectangle 102">
                <a:extLst>
                  <a:ext uri="{FF2B5EF4-FFF2-40B4-BE49-F238E27FC236}">
                    <a16:creationId xmlns:a16="http://schemas.microsoft.com/office/drawing/2014/main" id="{F1C91B83-E7BB-473C-BECC-9A1EF9BC77B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728" y="1152"/>
                <a:ext cx="432" cy="96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800">
                    <a:latin typeface="Arial Rounded MT Bold" panose="020F0704030504030204" pitchFamily="34" charset="0"/>
                  </a:rPr>
                  <a:t> S</a:t>
                </a:r>
              </a:p>
              <a:p>
                <a:pPr algn="ctr"/>
                <a:r>
                  <a:rPr lang="en-US" altLang="it-IT" sz="800">
                    <a:latin typeface="Arial Rounded MT Bold" panose="020F0704030504030204" pitchFamily="34" charset="0"/>
                  </a:rPr>
                  <a:t>t</a:t>
                </a:r>
              </a:p>
              <a:p>
                <a:pPr algn="ctr"/>
                <a:r>
                  <a:rPr lang="en-US" altLang="it-IT" sz="800">
                    <a:latin typeface="Arial Rounded MT Bold" panose="020F0704030504030204" pitchFamily="34" charset="0"/>
                  </a:rPr>
                  <a:t>a</a:t>
                </a:r>
              </a:p>
              <a:p>
                <a:pPr algn="ctr"/>
                <a:r>
                  <a:rPr lang="en-US" altLang="it-IT" sz="800">
                    <a:latin typeface="Arial Rounded MT Bold" panose="020F0704030504030204" pitchFamily="34" charset="0"/>
                  </a:rPr>
                  <a:t>c</a:t>
                </a:r>
              </a:p>
              <a:p>
                <a:pPr algn="ctr"/>
                <a:r>
                  <a:rPr lang="en-US" altLang="it-IT" sz="800">
                    <a:latin typeface="Arial Rounded MT Bold" panose="020F0704030504030204" pitchFamily="34" charset="0"/>
                  </a:rPr>
                  <a:t>k</a:t>
                </a:r>
              </a:p>
            </p:txBody>
          </p:sp>
          <p:sp>
            <p:nvSpPr>
              <p:cNvPr id="28729" name="Rectangle 103">
                <a:extLst>
                  <a:ext uri="{FF2B5EF4-FFF2-40B4-BE49-F238E27FC236}">
                    <a16:creationId xmlns:a16="http://schemas.microsoft.com/office/drawing/2014/main" id="{472C84EB-3690-4368-83CC-667C579F934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792" y="1152"/>
                <a:ext cx="424" cy="96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800">
                    <a:latin typeface="Arial Rounded MT Bold" panose="020F0704030504030204" pitchFamily="34" charset="0"/>
                  </a:rPr>
                  <a:t>H</a:t>
                </a:r>
              </a:p>
              <a:p>
                <a:pPr algn="ctr"/>
                <a:r>
                  <a:rPr lang="en-US" altLang="it-IT" sz="800">
                    <a:latin typeface="Arial Rounded MT Bold" panose="020F0704030504030204" pitchFamily="34" charset="0"/>
                  </a:rPr>
                  <a:t>e</a:t>
                </a:r>
              </a:p>
              <a:p>
                <a:pPr algn="ctr"/>
                <a:r>
                  <a:rPr lang="en-US" altLang="it-IT" sz="800">
                    <a:latin typeface="Arial Rounded MT Bold" panose="020F0704030504030204" pitchFamily="34" charset="0"/>
                  </a:rPr>
                  <a:t>a</a:t>
                </a:r>
              </a:p>
              <a:p>
                <a:pPr algn="ctr"/>
                <a:r>
                  <a:rPr lang="en-US" altLang="it-IT" sz="800">
                    <a:latin typeface="Arial Rounded MT Bold" panose="020F0704030504030204" pitchFamily="34" charset="0"/>
                  </a:rPr>
                  <a:t>p</a:t>
                </a:r>
              </a:p>
            </p:txBody>
          </p:sp>
          <p:sp>
            <p:nvSpPr>
              <p:cNvPr id="28730" name="Line 104">
                <a:extLst>
                  <a:ext uri="{FF2B5EF4-FFF2-40B4-BE49-F238E27FC236}">
                    <a16:creationId xmlns:a16="http://schemas.microsoft.com/office/drawing/2014/main" id="{26510888-1EC1-42DD-96F7-4E6CDF1A18AF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166" y="1631"/>
                <a:ext cx="278" cy="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  <p:sp>
            <p:nvSpPr>
              <p:cNvPr id="28731" name="Line 105">
                <a:extLst>
                  <a:ext uri="{FF2B5EF4-FFF2-40B4-BE49-F238E27FC236}">
                    <a16:creationId xmlns:a16="http://schemas.microsoft.com/office/drawing/2014/main" id="{EE843691-03A6-4A2E-9B52-D02E3CC33D80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485" y="1632"/>
                <a:ext cx="3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</p:grpSp>
        <p:sp>
          <p:nvSpPr>
            <p:cNvPr id="28724" name="Text Box 106">
              <a:extLst>
                <a:ext uri="{FF2B5EF4-FFF2-40B4-BE49-F238E27FC236}">
                  <a16:creationId xmlns:a16="http://schemas.microsoft.com/office/drawing/2014/main" id="{14E550D8-096A-4F1A-BF08-98790790FC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8" y="1584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>
                  <a:latin typeface="Arial Rounded MT Bold" panose="020F0704030504030204" pitchFamily="34" charset="0"/>
                </a:rPr>
                <a:t>...</a:t>
              </a:r>
            </a:p>
          </p:txBody>
        </p:sp>
      </p:grpSp>
      <p:grpSp>
        <p:nvGrpSpPr>
          <p:cNvPr id="28697" name="Group 107">
            <a:extLst>
              <a:ext uri="{FF2B5EF4-FFF2-40B4-BE49-F238E27FC236}">
                <a16:creationId xmlns:a16="http://schemas.microsoft.com/office/drawing/2014/main" id="{BC9E90FB-216C-43CB-95F7-6F56DE0B8FD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52475" y="2362200"/>
            <a:ext cx="1755775" cy="731838"/>
            <a:chOff x="912" y="1152"/>
            <a:chExt cx="2304" cy="960"/>
          </a:xfrm>
        </p:grpSpPr>
        <p:sp>
          <p:nvSpPr>
            <p:cNvPr id="28714" name="Rectangle 108">
              <a:extLst>
                <a:ext uri="{FF2B5EF4-FFF2-40B4-BE49-F238E27FC236}">
                  <a16:creationId xmlns:a16="http://schemas.microsoft.com/office/drawing/2014/main" id="{316CCBAD-78FD-4762-B3FC-41EB981B305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912" y="1152"/>
              <a:ext cx="2304" cy="96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28715" name="Rectangle 109">
              <a:extLst>
                <a:ext uri="{FF2B5EF4-FFF2-40B4-BE49-F238E27FC236}">
                  <a16:creationId xmlns:a16="http://schemas.microsoft.com/office/drawing/2014/main" id="{C82D25B2-E08D-4520-A420-DD912997E22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912" y="1152"/>
              <a:ext cx="384" cy="96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800">
                  <a:latin typeface="Arial Rounded MT Bold" panose="020F0704030504030204" pitchFamily="34" charset="0"/>
                </a:rPr>
                <a:t>C</a:t>
              </a:r>
            </a:p>
            <a:p>
              <a:pPr algn="ctr"/>
              <a:r>
                <a:rPr lang="en-US" altLang="it-IT" sz="800">
                  <a:latin typeface="Arial Rounded MT Bold" panose="020F0704030504030204" pitchFamily="34" charset="0"/>
                </a:rPr>
                <a:t>o</a:t>
              </a:r>
            </a:p>
            <a:p>
              <a:pPr algn="ctr"/>
              <a:r>
                <a:rPr lang="en-US" altLang="it-IT" sz="800">
                  <a:latin typeface="Arial Rounded MT Bold" panose="020F0704030504030204" pitchFamily="34" charset="0"/>
                </a:rPr>
                <a:t>d</a:t>
              </a:r>
            </a:p>
            <a:p>
              <a:pPr algn="ctr"/>
              <a:r>
                <a:rPr lang="en-US" altLang="it-IT" sz="800">
                  <a:latin typeface="Arial Rounded MT Bold" panose="020F0704030504030204" pitchFamily="34" charset="0"/>
                </a:rPr>
                <a:t>e</a:t>
              </a:r>
            </a:p>
          </p:txBody>
        </p:sp>
        <p:sp>
          <p:nvSpPr>
            <p:cNvPr id="28716" name="Rectangle 110">
              <a:extLst>
                <a:ext uri="{FF2B5EF4-FFF2-40B4-BE49-F238E27FC236}">
                  <a16:creationId xmlns:a16="http://schemas.microsoft.com/office/drawing/2014/main" id="{97D5AF6D-D50B-4AD3-A18C-DD519C33783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296" y="1152"/>
              <a:ext cx="432" cy="96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800">
                  <a:latin typeface="Arial Rounded MT Bold" panose="020F0704030504030204" pitchFamily="34" charset="0"/>
                </a:rPr>
                <a:t>S    G</a:t>
              </a:r>
            </a:p>
            <a:p>
              <a:pPr algn="ctr"/>
              <a:r>
                <a:rPr lang="en-US" altLang="it-IT" sz="800">
                  <a:latin typeface="Arial Rounded MT Bold" panose="020F0704030504030204" pitchFamily="34" charset="0"/>
                </a:rPr>
                <a:t>t      l</a:t>
              </a:r>
            </a:p>
            <a:p>
              <a:pPr algn="ctr"/>
              <a:r>
                <a:rPr lang="en-US" altLang="it-IT" sz="800">
                  <a:latin typeface="Arial Rounded MT Bold" panose="020F0704030504030204" pitchFamily="34" charset="0"/>
                </a:rPr>
                <a:t>a &amp; o</a:t>
              </a:r>
            </a:p>
            <a:p>
              <a:pPr algn="ctr"/>
              <a:r>
                <a:rPr lang="en-US" altLang="it-IT" sz="800">
                  <a:latin typeface="Arial Rounded MT Bold" panose="020F0704030504030204" pitchFamily="34" charset="0"/>
                </a:rPr>
                <a:t>t     b</a:t>
              </a:r>
            </a:p>
            <a:p>
              <a:pPr algn="ctr"/>
              <a:r>
                <a:rPr lang="en-US" altLang="it-IT" sz="800">
                  <a:latin typeface="Arial Rounded MT Bold" panose="020F0704030504030204" pitchFamily="34" charset="0"/>
                </a:rPr>
                <a:t>i     a</a:t>
              </a:r>
            </a:p>
            <a:p>
              <a:pPr algn="ctr"/>
              <a:r>
                <a:rPr lang="en-US" altLang="it-IT" sz="800">
                  <a:latin typeface="Arial Rounded MT Bold" panose="020F0704030504030204" pitchFamily="34" charset="0"/>
                </a:rPr>
                <a:t>c     l </a:t>
              </a:r>
            </a:p>
          </p:txBody>
        </p:sp>
        <p:sp>
          <p:nvSpPr>
            <p:cNvPr id="28717" name="Rectangle 111">
              <a:extLst>
                <a:ext uri="{FF2B5EF4-FFF2-40B4-BE49-F238E27FC236}">
                  <a16:creationId xmlns:a16="http://schemas.microsoft.com/office/drawing/2014/main" id="{C88820D1-FB81-468A-AA13-A97BD5690EB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728" y="1152"/>
              <a:ext cx="432" cy="96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800">
                  <a:latin typeface="Arial Rounded MT Bold" panose="020F0704030504030204" pitchFamily="34" charset="0"/>
                </a:rPr>
                <a:t>S</a:t>
              </a:r>
            </a:p>
            <a:p>
              <a:pPr algn="ctr"/>
              <a:r>
                <a:rPr lang="en-US" altLang="it-IT" sz="800">
                  <a:latin typeface="Arial Rounded MT Bold" panose="020F0704030504030204" pitchFamily="34" charset="0"/>
                </a:rPr>
                <a:t>t</a:t>
              </a:r>
            </a:p>
            <a:p>
              <a:pPr algn="ctr"/>
              <a:r>
                <a:rPr lang="en-US" altLang="it-IT" sz="800">
                  <a:latin typeface="Arial Rounded MT Bold" panose="020F0704030504030204" pitchFamily="34" charset="0"/>
                </a:rPr>
                <a:t>a</a:t>
              </a:r>
            </a:p>
            <a:p>
              <a:pPr algn="ctr"/>
              <a:r>
                <a:rPr lang="en-US" altLang="it-IT" sz="800">
                  <a:latin typeface="Arial Rounded MT Bold" panose="020F0704030504030204" pitchFamily="34" charset="0"/>
                </a:rPr>
                <a:t>c</a:t>
              </a:r>
            </a:p>
            <a:p>
              <a:pPr algn="ctr"/>
              <a:r>
                <a:rPr lang="en-US" altLang="it-IT" sz="800">
                  <a:latin typeface="Arial Rounded MT Bold" panose="020F0704030504030204" pitchFamily="34" charset="0"/>
                </a:rPr>
                <a:t>k</a:t>
              </a:r>
            </a:p>
          </p:txBody>
        </p:sp>
        <p:sp>
          <p:nvSpPr>
            <p:cNvPr id="28718" name="Rectangle 112">
              <a:extLst>
                <a:ext uri="{FF2B5EF4-FFF2-40B4-BE49-F238E27FC236}">
                  <a16:creationId xmlns:a16="http://schemas.microsoft.com/office/drawing/2014/main" id="{1300BFE8-17E7-4FE3-9EE4-B0D9BAE8A79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792" y="1152"/>
              <a:ext cx="424" cy="96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endParaRPr lang="en-US" altLang="it-IT" sz="80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altLang="it-IT" sz="800">
                  <a:latin typeface="Arial Rounded MT Bold" panose="020F0704030504030204" pitchFamily="34" charset="0"/>
                </a:rPr>
                <a:t>H</a:t>
              </a:r>
            </a:p>
            <a:p>
              <a:pPr algn="ctr"/>
              <a:r>
                <a:rPr lang="en-US" altLang="it-IT" sz="800">
                  <a:latin typeface="Arial Rounded MT Bold" panose="020F0704030504030204" pitchFamily="34" charset="0"/>
                </a:rPr>
                <a:t>e</a:t>
              </a:r>
            </a:p>
            <a:p>
              <a:pPr algn="ctr"/>
              <a:r>
                <a:rPr lang="en-US" altLang="it-IT" sz="800">
                  <a:latin typeface="Arial Rounded MT Bold" panose="020F0704030504030204" pitchFamily="34" charset="0"/>
                </a:rPr>
                <a:t>a</a:t>
              </a:r>
            </a:p>
            <a:p>
              <a:pPr algn="ctr"/>
              <a:r>
                <a:rPr lang="en-US" altLang="it-IT" sz="800">
                  <a:latin typeface="Arial Rounded MT Bold" panose="020F0704030504030204" pitchFamily="34" charset="0"/>
                </a:rPr>
                <a:t>p</a:t>
              </a:r>
            </a:p>
            <a:p>
              <a:pPr algn="ctr"/>
              <a:endParaRPr lang="en-US" altLang="it-IT" sz="800">
                <a:latin typeface="Arial Rounded MT Bold" panose="020F0704030504030204" pitchFamily="34" charset="0"/>
              </a:endParaRPr>
            </a:p>
          </p:txBody>
        </p:sp>
        <p:sp>
          <p:nvSpPr>
            <p:cNvPr id="28719" name="Line 113">
              <a:extLst>
                <a:ext uri="{FF2B5EF4-FFF2-40B4-BE49-F238E27FC236}">
                  <a16:creationId xmlns:a16="http://schemas.microsoft.com/office/drawing/2014/main" id="{7198D1E5-0005-4BB8-91CC-4B8B7680AF7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66" y="1631"/>
              <a:ext cx="278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28720" name="Line 114">
              <a:extLst>
                <a:ext uri="{FF2B5EF4-FFF2-40B4-BE49-F238E27FC236}">
                  <a16:creationId xmlns:a16="http://schemas.microsoft.com/office/drawing/2014/main" id="{E22F59C3-7DE2-42B8-9871-252E3B4FB07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485" y="1632"/>
              <a:ext cx="3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</p:grpSp>
      <p:sp>
        <p:nvSpPr>
          <p:cNvPr id="74787" name="Text Box 115">
            <a:extLst>
              <a:ext uri="{FF2B5EF4-FFF2-40B4-BE49-F238E27FC236}">
                <a16:creationId xmlns:a16="http://schemas.microsoft.com/office/drawing/2014/main" id="{D90A5D29-E8B5-428B-BD1B-221DD2A95A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5638800"/>
            <a:ext cx="2133600" cy="1016000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 cap="flat" cmpd="sng" algn="ctr">
            <a:solidFill>
              <a:srgbClr val="7F7F7F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12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TLB is a single word cache used by the OS to speed  virtual-to-physical address translation. A processor may have &gt; 1 level of TLB.</a:t>
            </a:r>
          </a:p>
        </p:txBody>
      </p:sp>
      <p:grpSp>
        <p:nvGrpSpPr>
          <p:cNvPr id="28699" name="Group 119">
            <a:extLst>
              <a:ext uri="{FF2B5EF4-FFF2-40B4-BE49-F238E27FC236}">
                <a16:creationId xmlns:a16="http://schemas.microsoft.com/office/drawing/2014/main" id="{133B4CF1-E332-4CD6-B57E-3488ED9941A2}"/>
              </a:ext>
            </a:extLst>
          </p:cNvPr>
          <p:cNvGrpSpPr>
            <a:grpSpLocks/>
          </p:cNvGrpSpPr>
          <p:nvPr/>
        </p:nvGrpSpPr>
        <p:grpSpPr bwMode="auto">
          <a:xfrm>
            <a:off x="2741613" y="5595938"/>
            <a:ext cx="612775" cy="314325"/>
            <a:chOff x="2741612" y="5596464"/>
            <a:chExt cx="612776" cy="314076"/>
          </a:xfrm>
        </p:grpSpPr>
        <p:sp>
          <p:nvSpPr>
            <p:cNvPr id="28711" name="Line 52">
              <a:extLst>
                <a:ext uri="{FF2B5EF4-FFF2-40B4-BE49-F238E27FC236}">
                  <a16:creationId xmlns:a16="http://schemas.microsoft.com/office/drawing/2014/main" id="{02015B46-DB3C-49FC-B5F3-0CBE263A2D6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741612" y="5604153"/>
              <a:ext cx="306388" cy="306387"/>
            </a:xfrm>
            <a:prstGeom prst="line">
              <a:avLst/>
            </a:prstGeom>
            <a:noFill/>
            <a:ln w="12700">
              <a:solidFill>
                <a:srgbClr val="003C7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cxnSp>
          <p:nvCxnSpPr>
            <p:cNvPr id="28712" name="AutoShape 56">
              <a:extLst>
                <a:ext uri="{FF2B5EF4-FFF2-40B4-BE49-F238E27FC236}">
                  <a16:creationId xmlns:a16="http://schemas.microsoft.com/office/drawing/2014/main" id="{C0F1A668-FCA5-4F57-8DB3-2AEC8960DDC8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 rot="-5400000" flipH="1" flipV="1">
              <a:off x="3043238" y="5562878"/>
              <a:ext cx="7937" cy="349250"/>
            </a:xfrm>
            <a:prstGeom prst="curvedConnector3">
              <a:avLst>
                <a:gd name="adj1" fmla="val -1440000"/>
              </a:avLst>
            </a:prstGeom>
            <a:noFill/>
            <a:ln w="12700">
              <a:solidFill>
                <a:srgbClr val="003C7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8713" name="Line 52">
              <a:extLst>
                <a:ext uri="{FF2B5EF4-FFF2-40B4-BE49-F238E27FC236}">
                  <a16:creationId xmlns:a16="http://schemas.microsoft.com/office/drawing/2014/main" id="{F8375DBA-0465-45BD-ABB4-BA931D98004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3048000" y="5596464"/>
              <a:ext cx="306388" cy="306387"/>
            </a:xfrm>
            <a:prstGeom prst="line">
              <a:avLst/>
            </a:prstGeom>
            <a:noFill/>
            <a:ln w="12700">
              <a:solidFill>
                <a:srgbClr val="003C7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</p:grpSp>
      <p:grpSp>
        <p:nvGrpSpPr>
          <p:cNvPr id="28700" name="Group 133">
            <a:extLst>
              <a:ext uri="{FF2B5EF4-FFF2-40B4-BE49-F238E27FC236}">
                <a16:creationId xmlns:a16="http://schemas.microsoft.com/office/drawing/2014/main" id="{5DF9ACE5-E795-46EF-940A-7868E0F798DB}"/>
              </a:ext>
            </a:extLst>
          </p:cNvPr>
          <p:cNvGrpSpPr>
            <a:grpSpLocks/>
          </p:cNvGrpSpPr>
          <p:nvPr/>
        </p:nvGrpSpPr>
        <p:grpSpPr bwMode="auto">
          <a:xfrm>
            <a:off x="1028700" y="3924300"/>
            <a:ext cx="609600" cy="1482725"/>
            <a:chOff x="152400" y="4508500"/>
            <a:chExt cx="609600" cy="1483499"/>
          </a:xfrm>
        </p:grpSpPr>
        <p:grpSp>
          <p:nvGrpSpPr>
            <p:cNvPr id="28701" name="Group 127">
              <a:extLst>
                <a:ext uri="{FF2B5EF4-FFF2-40B4-BE49-F238E27FC236}">
                  <a16:creationId xmlns:a16="http://schemas.microsoft.com/office/drawing/2014/main" id="{2EFDD40D-D533-494A-B573-0184A382444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1000" y="4508500"/>
              <a:ext cx="152400" cy="1219200"/>
              <a:chOff x="8382000" y="3352800"/>
              <a:chExt cx="152400" cy="1219200"/>
            </a:xfrm>
          </p:grpSpPr>
          <p:sp>
            <p:nvSpPr>
              <p:cNvPr id="28703" name="Rectangle 115">
                <a:extLst>
                  <a:ext uri="{FF2B5EF4-FFF2-40B4-BE49-F238E27FC236}">
                    <a16:creationId xmlns:a16="http://schemas.microsoft.com/office/drawing/2014/main" id="{A2A724FA-25D2-47E2-BA09-78C757E14E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82000" y="3352800"/>
                <a:ext cx="152400" cy="152400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endParaRPr lang="en-GB" altLang="it-IT"/>
              </a:p>
            </p:txBody>
          </p:sp>
          <p:sp>
            <p:nvSpPr>
              <p:cNvPr id="28704" name="Rectangle 116">
                <a:extLst>
                  <a:ext uri="{FF2B5EF4-FFF2-40B4-BE49-F238E27FC236}">
                    <a16:creationId xmlns:a16="http://schemas.microsoft.com/office/drawing/2014/main" id="{A09DD9AD-A9C3-4891-BD9B-E6241BAADD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82000" y="3505200"/>
                <a:ext cx="152400" cy="152400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endParaRPr lang="en-GB" altLang="it-IT"/>
              </a:p>
            </p:txBody>
          </p:sp>
          <p:sp>
            <p:nvSpPr>
              <p:cNvPr id="28705" name="Rectangle 117">
                <a:extLst>
                  <a:ext uri="{FF2B5EF4-FFF2-40B4-BE49-F238E27FC236}">
                    <a16:creationId xmlns:a16="http://schemas.microsoft.com/office/drawing/2014/main" id="{190949CE-2CC3-4856-90D9-75E7540044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82000" y="3657600"/>
                <a:ext cx="152400" cy="152400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endParaRPr lang="en-GB" altLang="it-IT"/>
              </a:p>
            </p:txBody>
          </p:sp>
          <p:sp>
            <p:nvSpPr>
              <p:cNvPr id="28706" name="Rectangle 119">
                <a:extLst>
                  <a:ext uri="{FF2B5EF4-FFF2-40B4-BE49-F238E27FC236}">
                    <a16:creationId xmlns:a16="http://schemas.microsoft.com/office/drawing/2014/main" id="{E9630214-BDDB-4756-9CF3-1ABAEBDD2C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82000" y="3810000"/>
                <a:ext cx="152400" cy="152400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endParaRPr lang="en-GB" altLang="it-IT"/>
              </a:p>
            </p:txBody>
          </p:sp>
          <p:sp>
            <p:nvSpPr>
              <p:cNvPr id="28707" name="Rectangle 120">
                <a:extLst>
                  <a:ext uri="{FF2B5EF4-FFF2-40B4-BE49-F238E27FC236}">
                    <a16:creationId xmlns:a16="http://schemas.microsoft.com/office/drawing/2014/main" id="{97A796EA-C062-4AD2-B0A7-460F22029E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82000" y="3962400"/>
                <a:ext cx="152400" cy="152400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endParaRPr lang="en-GB" altLang="it-IT"/>
              </a:p>
            </p:txBody>
          </p:sp>
          <p:sp>
            <p:nvSpPr>
              <p:cNvPr id="28708" name="Rectangle 121">
                <a:extLst>
                  <a:ext uri="{FF2B5EF4-FFF2-40B4-BE49-F238E27FC236}">
                    <a16:creationId xmlns:a16="http://schemas.microsoft.com/office/drawing/2014/main" id="{EE50BE5A-1F8D-4ABC-BD4E-18E300B786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82000" y="4114800"/>
                <a:ext cx="152400" cy="152400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endParaRPr lang="en-GB" altLang="it-IT"/>
              </a:p>
            </p:txBody>
          </p:sp>
          <p:sp>
            <p:nvSpPr>
              <p:cNvPr id="28709" name="Rectangle 122">
                <a:extLst>
                  <a:ext uri="{FF2B5EF4-FFF2-40B4-BE49-F238E27FC236}">
                    <a16:creationId xmlns:a16="http://schemas.microsoft.com/office/drawing/2014/main" id="{A1EC8D74-9929-463D-9CB6-B93D20E10C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82000" y="4267200"/>
                <a:ext cx="152400" cy="152400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endParaRPr lang="en-GB" altLang="it-IT"/>
              </a:p>
            </p:txBody>
          </p:sp>
          <p:sp>
            <p:nvSpPr>
              <p:cNvPr id="28710" name="Rectangle 123">
                <a:extLst>
                  <a:ext uri="{FF2B5EF4-FFF2-40B4-BE49-F238E27FC236}">
                    <a16:creationId xmlns:a16="http://schemas.microsoft.com/office/drawing/2014/main" id="{022A54EC-12D6-4E48-8409-FCEE1F07C9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82000" y="4419600"/>
                <a:ext cx="152400" cy="152400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endParaRPr lang="en-GB" altLang="it-IT"/>
              </a:p>
            </p:txBody>
          </p:sp>
        </p:grpSp>
        <p:sp>
          <p:nvSpPr>
            <p:cNvPr id="28702" name="TextBox 128">
              <a:extLst>
                <a:ext uri="{FF2B5EF4-FFF2-40B4-BE49-F238E27FC236}">
                  <a16:creationId xmlns:a16="http://schemas.microsoft.com/office/drawing/2014/main" id="{471EC5C2-A4A7-4BD7-A9EA-8E8F25B1F1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400" y="5715000"/>
              <a:ext cx="60960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200">
                  <a:latin typeface="Geneva"/>
                  <a:ea typeface="Geneva"/>
                  <a:cs typeface="Geneva"/>
                </a:rPr>
                <a:t>TLB</a:t>
              </a:r>
            </a:p>
          </p:txBody>
        </p:sp>
      </p:grpSp>
    </p:spTree>
  </p:cSld>
  <p:clrMapOvr>
    <a:masterClrMapping/>
  </p:clrMapOvr>
  <p:transition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Title 1">
            <a:extLst>
              <a:ext uri="{FF2B5EF4-FFF2-40B4-BE49-F238E27FC236}">
                <a16:creationId xmlns:a16="http://schemas.microsoft.com/office/drawing/2014/main" id="{7D4B25B4-7324-4C1D-9DA4-0C1FD24EC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/>
              <a:t>How Does This Really Work?</a:t>
            </a:r>
          </a:p>
        </p:txBody>
      </p:sp>
      <p:sp>
        <p:nvSpPr>
          <p:cNvPr id="30722" name="Content Placeholder 2">
            <a:extLst>
              <a:ext uri="{FF2B5EF4-FFF2-40B4-BE49-F238E27FC236}">
                <a16:creationId xmlns:a16="http://schemas.microsoft.com/office/drawing/2014/main" id="{5D248CD7-8076-4CDC-9B4A-ACE29DE791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066800"/>
            <a:ext cx="7772400" cy="457200"/>
          </a:xfrm>
        </p:spPr>
        <p:txBody>
          <a:bodyPr/>
          <a:lstStyle/>
          <a:p>
            <a:pPr>
              <a:buFont typeface="Times" panose="02020603050405020304" pitchFamily="18" charset="0"/>
              <a:buNone/>
            </a:pPr>
            <a:r>
              <a:rPr lang="en-US" altLang="it-IT" sz="1800"/>
              <a:t>Of course, the “Hardware view” is no longer that simple</a:t>
            </a:r>
          </a:p>
        </p:txBody>
      </p:sp>
      <p:sp>
        <p:nvSpPr>
          <p:cNvPr id="30723" name="Footer Placeholder 3">
            <a:extLst>
              <a:ext uri="{FF2B5EF4-FFF2-40B4-BE49-F238E27FC236}">
                <a16:creationId xmlns:a16="http://schemas.microsoft.com/office/drawing/2014/main" id="{DCEE5FCC-968B-4B38-B884-C3ADC580A2A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200"/>
              <a:t>Comp 412, Fall 2010</a:t>
            </a:r>
          </a:p>
        </p:txBody>
      </p:sp>
      <p:sp>
        <p:nvSpPr>
          <p:cNvPr id="30724" name="Slide Number Placeholder 4">
            <a:extLst>
              <a:ext uri="{FF2B5EF4-FFF2-40B4-BE49-F238E27FC236}">
                <a16:creationId xmlns:a16="http://schemas.microsoft.com/office/drawing/2014/main" id="{04DA0B99-02C0-4069-8337-E6726934554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47CDA008-BE51-4781-9E7A-AF3C7EEC3D04}" type="slidenum">
              <a:rPr lang="en-US" altLang="it-IT" sz="1200"/>
              <a:pPr/>
              <a:t>8</a:t>
            </a:fld>
            <a:endParaRPr lang="en-US" altLang="it-IT" sz="1200"/>
          </a:p>
        </p:txBody>
      </p:sp>
      <p:grpSp>
        <p:nvGrpSpPr>
          <p:cNvPr id="30725" name="Group 259">
            <a:extLst>
              <a:ext uri="{FF2B5EF4-FFF2-40B4-BE49-F238E27FC236}">
                <a16:creationId xmlns:a16="http://schemas.microsoft.com/office/drawing/2014/main" id="{514BE5E8-F43A-499A-B8CE-2E4ED47F007F}"/>
              </a:ext>
            </a:extLst>
          </p:cNvPr>
          <p:cNvGrpSpPr>
            <a:grpSpLocks/>
          </p:cNvGrpSpPr>
          <p:nvPr/>
        </p:nvGrpSpPr>
        <p:grpSpPr bwMode="auto">
          <a:xfrm>
            <a:off x="1524000" y="1600200"/>
            <a:ext cx="6705600" cy="990600"/>
            <a:chOff x="1676400" y="1828800"/>
            <a:chExt cx="6705600" cy="990600"/>
          </a:xfrm>
        </p:grpSpPr>
        <p:grpSp>
          <p:nvGrpSpPr>
            <p:cNvPr id="30910" name="Group 75">
              <a:extLst>
                <a:ext uri="{FF2B5EF4-FFF2-40B4-BE49-F238E27FC236}">
                  <a16:creationId xmlns:a16="http://schemas.microsoft.com/office/drawing/2014/main" id="{E91BE3DC-2769-45AE-A8CB-58A99D41436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76400" y="1828800"/>
              <a:ext cx="6705600" cy="990600"/>
              <a:chOff x="1301750" y="4724400"/>
              <a:chExt cx="6705600" cy="990600"/>
            </a:xfrm>
          </p:grpSpPr>
          <p:sp>
            <p:nvSpPr>
              <p:cNvPr id="30912" name="Rectangle 29">
                <a:extLst>
                  <a:ext uri="{FF2B5EF4-FFF2-40B4-BE49-F238E27FC236}">
                    <a16:creationId xmlns:a16="http://schemas.microsoft.com/office/drawing/2014/main" id="{56DB2903-6185-4868-990A-817B6D7890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73750" y="4724400"/>
                <a:ext cx="146050" cy="7286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endParaRPr lang="en-GB" altLang="it-IT"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30913" name="Rectangle 30">
                <a:extLst>
                  <a:ext uri="{FF2B5EF4-FFF2-40B4-BE49-F238E27FC236}">
                    <a16:creationId xmlns:a16="http://schemas.microsoft.com/office/drawing/2014/main" id="{31EA0ACE-8484-4F8A-AD34-63255449B2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26150" y="4724400"/>
                <a:ext cx="146050" cy="7286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endParaRPr lang="en-GB" altLang="it-IT"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30914" name="Rectangle 31">
                <a:extLst>
                  <a:ext uri="{FF2B5EF4-FFF2-40B4-BE49-F238E27FC236}">
                    <a16:creationId xmlns:a16="http://schemas.microsoft.com/office/drawing/2014/main" id="{F5C63B5D-BA65-4D79-BF17-0091301D3A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8550" y="4724400"/>
                <a:ext cx="146050" cy="7286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endParaRPr lang="en-GB" altLang="it-IT"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30915" name="Rectangle 32">
                <a:extLst>
                  <a:ext uri="{FF2B5EF4-FFF2-40B4-BE49-F238E27FC236}">
                    <a16:creationId xmlns:a16="http://schemas.microsoft.com/office/drawing/2014/main" id="{8A7401B9-25C5-4579-9FA5-8D8FAB0B1A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0950" y="4724400"/>
                <a:ext cx="146050" cy="7286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endParaRPr lang="en-GB" altLang="it-IT"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30916" name="Rectangle 33">
                <a:extLst>
                  <a:ext uri="{FF2B5EF4-FFF2-40B4-BE49-F238E27FC236}">
                    <a16:creationId xmlns:a16="http://schemas.microsoft.com/office/drawing/2014/main" id="{4B9EECE2-27BF-4AAA-90F2-89D4D7DC45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83350" y="4724400"/>
                <a:ext cx="146050" cy="7286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endParaRPr lang="en-GB" altLang="it-IT"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30917" name="Rectangle 34">
                <a:extLst>
                  <a:ext uri="{FF2B5EF4-FFF2-40B4-BE49-F238E27FC236}">
                    <a16:creationId xmlns:a16="http://schemas.microsoft.com/office/drawing/2014/main" id="{525ADFB8-4688-4EBE-90B8-E98A6E5356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35750" y="4724400"/>
                <a:ext cx="146050" cy="7286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endParaRPr lang="en-GB" altLang="it-IT"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30918" name="Rectangle 35">
                <a:extLst>
                  <a:ext uri="{FF2B5EF4-FFF2-40B4-BE49-F238E27FC236}">
                    <a16:creationId xmlns:a16="http://schemas.microsoft.com/office/drawing/2014/main" id="{A83DF523-CD90-44AA-9582-C09D806DFF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88150" y="4724400"/>
                <a:ext cx="146050" cy="7286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endParaRPr lang="en-GB" altLang="it-IT"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30919" name="Rectangle 36">
                <a:extLst>
                  <a:ext uri="{FF2B5EF4-FFF2-40B4-BE49-F238E27FC236}">
                    <a16:creationId xmlns:a16="http://schemas.microsoft.com/office/drawing/2014/main" id="{C15B73B9-56EB-4953-B2BF-E617D91B0A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40550" y="4724400"/>
                <a:ext cx="146050" cy="7286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endParaRPr lang="en-GB" altLang="it-IT"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30920" name="Rectangle 37">
                <a:extLst>
                  <a:ext uri="{FF2B5EF4-FFF2-40B4-BE49-F238E27FC236}">
                    <a16:creationId xmlns:a16="http://schemas.microsoft.com/office/drawing/2014/main" id="{743DD8A8-A1CA-4032-8E9D-1A48AA576A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92950" y="4724400"/>
                <a:ext cx="146050" cy="7286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endParaRPr lang="en-GB" altLang="it-IT"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30921" name="Rectangle 38">
                <a:extLst>
                  <a:ext uri="{FF2B5EF4-FFF2-40B4-BE49-F238E27FC236}">
                    <a16:creationId xmlns:a16="http://schemas.microsoft.com/office/drawing/2014/main" id="{CC9453F2-4801-4086-9D26-F04643AAE7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45350" y="4724400"/>
                <a:ext cx="146050" cy="7286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endParaRPr lang="en-GB" altLang="it-IT"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30922" name="Rectangle 39">
                <a:extLst>
                  <a:ext uri="{FF2B5EF4-FFF2-40B4-BE49-F238E27FC236}">
                    <a16:creationId xmlns:a16="http://schemas.microsoft.com/office/drawing/2014/main" id="{54641510-7181-418A-91DD-A0F1931AE2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97750" y="4724400"/>
                <a:ext cx="146050" cy="7286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endParaRPr lang="en-GB" altLang="it-IT"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30923" name="Rectangle 40">
                <a:extLst>
                  <a:ext uri="{FF2B5EF4-FFF2-40B4-BE49-F238E27FC236}">
                    <a16:creationId xmlns:a16="http://schemas.microsoft.com/office/drawing/2014/main" id="{76835606-C673-4E55-B026-04B414C161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50150" y="4724400"/>
                <a:ext cx="146050" cy="7286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endParaRPr lang="en-GB" altLang="it-IT">
                  <a:latin typeface="Arial Rounded MT Bold" panose="020F0704030504030204" pitchFamily="34" charset="0"/>
                </a:endParaRPr>
              </a:p>
            </p:txBody>
          </p:sp>
          <p:grpSp>
            <p:nvGrpSpPr>
              <p:cNvPr id="30924" name="Group 4">
                <a:extLst>
                  <a:ext uri="{FF2B5EF4-FFF2-40B4-BE49-F238E27FC236}">
                    <a16:creationId xmlns:a16="http://schemas.microsoft.com/office/drawing/2014/main" id="{853ADB9F-34D2-482E-81AC-CCB71294172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06550" y="4724400"/>
                <a:ext cx="3498850" cy="728663"/>
                <a:chOff x="960" y="2400"/>
                <a:chExt cx="2204" cy="459"/>
              </a:xfrm>
            </p:grpSpPr>
            <p:sp>
              <p:nvSpPr>
                <p:cNvPr id="30928" name="Rectangle 5">
                  <a:extLst>
                    <a:ext uri="{FF2B5EF4-FFF2-40B4-BE49-F238E27FC236}">
                      <a16:creationId xmlns:a16="http://schemas.microsoft.com/office/drawing/2014/main" id="{6679D06C-741C-4A27-A0DD-E77ABB3517F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0" y="2400"/>
                  <a:ext cx="92" cy="459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0929" name="Rectangle 6">
                  <a:extLst>
                    <a:ext uri="{FF2B5EF4-FFF2-40B4-BE49-F238E27FC236}">
                      <a16:creationId xmlns:a16="http://schemas.microsoft.com/office/drawing/2014/main" id="{3FB2DF42-27F2-44DD-A3D6-4EC7C0C6E5D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56" y="2400"/>
                  <a:ext cx="92" cy="459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0930" name="Rectangle 7">
                  <a:extLst>
                    <a:ext uri="{FF2B5EF4-FFF2-40B4-BE49-F238E27FC236}">
                      <a16:creationId xmlns:a16="http://schemas.microsoft.com/office/drawing/2014/main" id="{B79A31EB-BDD0-4E2C-B234-6098718D7BF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52" y="2400"/>
                  <a:ext cx="92" cy="459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0931" name="Rectangle 8">
                  <a:extLst>
                    <a:ext uri="{FF2B5EF4-FFF2-40B4-BE49-F238E27FC236}">
                      <a16:creationId xmlns:a16="http://schemas.microsoft.com/office/drawing/2014/main" id="{DF7EE733-AB15-4687-8F31-FD948B0D464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48" y="2400"/>
                  <a:ext cx="92" cy="459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0932" name="Rectangle 9">
                  <a:extLst>
                    <a:ext uri="{FF2B5EF4-FFF2-40B4-BE49-F238E27FC236}">
                      <a16:creationId xmlns:a16="http://schemas.microsoft.com/office/drawing/2014/main" id="{13DDF3E3-2802-467A-AE81-31333DC504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44" y="2400"/>
                  <a:ext cx="92" cy="459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0933" name="Rectangle 10">
                  <a:extLst>
                    <a:ext uri="{FF2B5EF4-FFF2-40B4-BE49-F238E27FC236}">
                      <a16:creationId xmlns:a16="http://schemas.microsoft.com/office/drawing/2014/main" id="{C1DDF43C-885C-477A-B912-14E73B9A9BC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40" y="2400"/>
                  <a:ext cx="92" cy="459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0934" name="Rectangle 11">
                  <a:extLst>
                    <a:ext uri="{FF2B5EF4-FFF2-40B4-BE49-F238E27FC236}">
                      <a16:creationId xmlns:a16="http://schemas.microsoft.com/office/drawing/2014/main" id="{0542B7C5-FA8E-48B4-A612-7425A6E605C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36" y="2400"/>
                  <a:ext cx="92" cy="459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0935" name="Rectangle 12">
                  <a:extLst>
                    <a:ext uri="{FF2B5EF4-FFF2-40B4-BE49-F238E27FC236}">
                      <a16:creationId xmlns:a16="http://schemas.microsoft.com/office/drawing/2014/main" id="{3F33A4DE-6851-480F-9B88-52B185FE30C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2400"/>
                  <a:ext cx="92" cy="459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0936" name="Rectangle 13">
                  <a:extLst>
                    <a:ext uri="{FF2B5EF4-FFF2-40B4-BE49-F238E27FC236}">
                      <a16:creationId xmlns:a16="http://schemas.microsoft.com/office/drawing/2014/main" id="{A7FF4C7D-57BE-4C3E-8D70-DFFBE3F83D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28" y="2400"/>
                  <a:ext cx="92" cy="459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0937" name="Rectangle 14">
                  <a:extLst>
                    <a:ext uri="{FF2B5EF4-FFF2-40B4-BE49-F238E27FC236}">
                      <a16:creationId xmlns:a16="http://schemas.microsoft.com/office/drawing/2014/main" id="{9F3D1A0D-B7AF-433C-ADAB-F9A2650DBD6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24" y="2400"/>
                  <a:ext cx="92" cy="459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0938" name="Rectangle 15">
                  <a:extLst>
                    <a:ext uri="{FF2B5EF4-FFF2-40B4-BE49-F238E27FC236}">
                      <a16:creationId xmlns:a16="http://schemas.microsoft.com/office/drawing/2014/main" id="{89A68445-0A34-42BB-812A-5602B2239D8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20" y="2400"/>
                  <a:ext cx="92" cy="459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0939" name="Rectangle 16">
                  <a:extLst>
                    <a:ext uri="{FF2B5EF4-FFF2-40B4-BE49-F238E27FC236}">
                      <a16:creationId xmlns:a16="http://schemas.microsoft.com/office/drawing/2014/main" id="{2E4873ED-9C27-4DC9-82C8-5FA97E743CE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16" y="2400"/>
                  <a:ext cx="92" cy="459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0940" name="Rectangle 17">
                  <a:extLst>
                    <a:ext uri="{FF2B5EF4-FFF2-40B4-BE49-F238E27FC236}">
                      <a16:creationId xmlns:a16="http://schemas.microsoft.com/office/drawing/2014/main" id="{BFE42A35-D26A-40F8-9FF2-D6FE4AB212E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12" y="2400"/>
                  <a:ext cx="92" cy="459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0941" name="Rectangle 18">
                  <a:extLst>
                    <a:ext uri="{FF2B5EF4-FFF2-40B4-BE49-F238E27FC236}">
                      <a16:creationId xmlns:a16="http://schemas.microsoft.com/office/drawing/2014/main" id="{B9341141-6C9E-4876-810F-F985D163A1D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08" y="2400"/>
                  <a:ext cx="92" cy="459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0942" name="Rectangle 19">
                  <a:extLst>
                    <a:ext uri="{FF2B5EF4-FFF2-40B4-BE49-F238E27FC236}">
                      <a16:creationId xmlns:a16="http://schemas.microsoft.com/office/drawing/2014/main" id="{EE906E5C-0952-4032-9697-B38A5EC4185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04" y="2400"/>
                  <a:ext cx="92" cy="459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0943" name="Rectangle 20">
                  <a:extLst>
                    <a:ext uri="{FF2B5EF4-FFF2-40B4-BE49-F238E27FC236}">
                      <a16:creationId xmlns:a16="http://schemas.microsoft.com/office/drawing/2014/main" id="{A7D190BD-6005-4427-8D45-A0681069D65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00" y="2400"/>
                  <a:ext cx="92" cy="459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0944" name="Rectangle 21">
                  <a:extLst>
                    <a:ext uri="{FF2B5EF4-FFF2-40B4-BE49-F238E27FC236}">
                      <a16:creationId xmlns:a16="http://schemas.microsoft.com/office/drawing/2014/main" id="{62645012-CA3E-447B-84D2-B49F0BEAB90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96" y="2400"/>
                  <a:ext cx="92" cy="459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0945" name="Rectangle 22">
                  <a:extLst>
                    <a:ext uri="{FF2B5EF4-FFF2-40B4-BE49-F238E27FC236}">
                      <a16:creationId xmlns:a16="http://schemas.microsoft.com/office/drawing/2014/main" id="{5EE235C1-DB15-47DA-A937-EB0497D43B2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92" y="2400"/>
                  <a:ext cx="92" cy="459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0946" name="Rectangle 23">
                  <a:extLst>
                    <a:ext uri="{FF2B5EF4-FFF2-40B4-BE49-F238E27FC236}">
                      <a16:creationId xmlns:a16="http://schemas.microsoft.com/office/drawing/2014/main" id="{A0F42178-7FA3-4867-B416-379E333B1E0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88" y="2400"/>
                  <a:ext cx="92" cy="459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pPr algn="ctr"/>
                  <a:endParaRPr lang="en-GB" altLang="it-IT"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30947" name="Rectangle 24">
                  <a:extLst>
                    <a:ext uri="{FF2B5EF4-FFF2-40B4-BE49-F238E27FC236}">
                      <a16:creationId xmlns:a16="http://schemas.microsoft.com/office/drawing/2014/main" id="{9E5C73FC-2F81-4204-AF13-2128BC1AE67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84" y="2400"/>
                  <a:ext cx="92" cy="459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pPr algn="ctr"/>
                  <a:endParaRPr lang="en-GB" altLang="it-IT"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30948" name="Rectangle 25">
                  <a:extLst>
                    <a:ext uri="{FF2B5EF4-FFF2-40B4-BE49-F238E27FC236}">
                      <a16:creationId xmlns:a16="http://schemas.microsoft.com/office/drawing/2014/main" id="{6A81941B-2036-40F8-ACEE-40321027211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0" y="2400"/>
                  <a:ext cx="92" cy="459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pPr algn="ctr"/>
                  <a:endParaRPr lang="en-GB" altLang="it-IT"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30949" name="Rectangle 26">
                  <a:extLst>
                    <a:ext uri="{FF2B5EF4-FFF2-40B4-BE49-F238E27FC236}">
                      <a16:creationId xmlns:a16="http://schemas.microsoft.com/office/drawing/2014/main" id="{81134C12-B3B0-4E5B-84A9-06BDB0F9F80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76" y="2400"/>
                  <a:ext cx="92" cy="459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pPr algn="ctr"/>
                  <a:endParaRPr lang="en-GB" altLang="it-IT"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30950" name="Rectangle 27">
                  <a:extLst>
                    <a:ext uri="{FF2B5EF4-FFF2-40B4-BE49-F238E27FC236}">
                      <a16:creationId xmlns:a16="http://schemas.microsoft.com/office/drawing/2014/main" id="{0BCD145F-AE21-4239-9D0C-0443962FA82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72" y="2400"/>
                  <a:ext cx="92" cy="459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pPr algn="ctr"/>
                  <a:endParaRPr lang="en-GB" altLang="it-IT">
                    <a:latin typeface="Arial Rounded MT Bold" panose="020F0704030504030204" pitchFamily="34" charset="0"/>
                  </a:endParaRPr>
                </a:p>
              </p:txBody>
            </p:sp>
          </p:grpSp>
          <p:sp>
            <p:nvSpPr>
              <p:cNvPr id="30925" name="Text Box 42">
                <a:extLst>
                  <a:ext uri="{FF2B5EF4-FFF2-40B4-BE49-F238E27FC236}">
                    <a16:creationId xmlns:a16="http://schemas.microsoft.com/office/drawing/2014/main" id="{D231247B-3A73-4F79-9C79-AB89E8CDC70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10175" y="4735513"/>
                <a:ext cx="533400" cy="5191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it-IT" sz="2800">
                    <a:latin typeface="Arial Rounded MT Bold" panose="020F0704030504030204" pitchFamily="34" charset="0"/>
                  </a:rPr>
                  <a:t>...</a:t>
                </a:r>
              </a:p>
            </p:txBody>
          </p:sp>
          <p:sp>
            <p:nvSpPr>
              <p:cNvPr id="30926" name="Text Box 77">
                <a:extLst>
                  <a:ext uri="{FF2B5EF4-FFF2-40B4-BE49-F238E27FC236}">
                    <a16:creationId xmlns:a16="http://schemas.microsoft.com/office/drawing/2014/main" id="{F098D63F-A6E6-4DAB-841D-3837F6B818B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01750" y="5410200"/>
                <a:ext cx="609600" cy="304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it-IT" sz="1400">
                    <a:solidFill>
                      <a:srgbClr val="003C75"/>
                    </a:solidFill>
                    <a:latin typeface="Times" panose="02020603050405020304" pitchFamily="18" charset="0"/>
                  </a:rPr>
                  <a:t>0</a:t>
                </a:r>
                <a:endParaRPr lang="en-US" altLang="it-IT">
                  <a:solidFill>
                    <a:srgbClr val="003C75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30927" name="Text Box 78">
                <a:extLst>
                  <a:ext uri="{FF2B5EF4-FFF2-40B4-BE49-F238E27FC236}">
                    <a16:creationId xmlns:a16="http://schemas.microsoft.com/office/drawing/2014/main" id="{8D633135-B1A8-4E58-9C70-7D7847765DA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397750" y="5410200"/>
                <a:ext cx="609600" cy="304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it-IT" sz="1400" i="1">
                    <a:solidFill>
                      <a:srgbClr val="003C75"/>
                    </a:solidFill>
                    <a:latin typeface="Times" panose="02020603050405020304" pitchFamily="18" charset="0"/>
                  </a:rPr>
                  <a:t>high</a:t>
                </a:r>
                <a:endParaRPr lang="en-US" altLang="it-IT">
                  <a:solidFill>
                    <a:srgbClr val="003C75"/>
                  </a:solidFill>
                  <a:latin typeface="Arial Rounded MT Bold" panose="020F0704030504030204" pitchFamily="34" charset="0"/>
                </a:endParaRPr>
              </a:p>
            </p:txBody>
          </p:sp>
        </p:grpSp>
        <p:sp>
          <p:nvSpPr>
            <p:cNvPr id="30911" name="Rectangle 73">
              <a:extLst>
                <a:ext uri="{FF2B5EF4-FFF2-40B4-BE49-F238E27FC236}">
                  <a16:creationId xmlns:a16="http://schemas.microsoft.com/office/drawing/2014/main" id="{1AED4C30-2527-4C51-9982-6ACB5D128F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4850" y="1828800"/>
              <a:ext cx="6104467" cy="72813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</p:grpSp>
      <p:sp>
        <p:nvSpPr>
          <p:cNvPr id="30726" name="TextBox 76">
            <a:extLst>
              <a:ext uri="{FF2B5EF4-FFF2-40B4-BE49-F238E27FC236}">
                <a16:creationId xmlns:a16="http://schemas.microsoft.com/office/drawing/2014/main" id="{2A24590E-A0D4-4460-B329-974F43D59E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" y="1676400"/>
            <a:ext cx="1371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/>
            <a:r>
              <a:rPr lang="en-US" altLang="it-IT" sz="1400">
                <a:solidFill>
                  <a:srgbClr val="003C75"/>
                </a:solidFill>
              </a:rPr>
              <a:t>Main</a:t>
            </a:r>
          </a:p>
          <a:p>
            <a:pPr algn="ctr"/>
            <a:r>
              <a:rPr lang="en-US" altLang="it-IT" sz="1400">
                <a:solidFill>
                  <a:srgbClr val="003C75"/>
                </a:solidFill>
              </a:rPr>
              <a:t>Memory</a:t>
            </a:r>
          </a:p>
        </p:txBody>
      </p:sp>
      <p:grpSp>
        <p:nvGrpSpPr>
          <p:cNvPr id="30727" name="Group 229">
            <a:extLst>
              <a:ext uri="{FF2B5EF4-FFF2-40B4-BE49-F238E27FC236}">
                <a16:creationId xmlns:a16="http://schemas.microsoft.com/office/drawing/2014/main" id="{29BAF207-A224-49DB-9399-24239930E98C}"/>
              </a:ext>
            </a:extLst>
          </p:cNvPr>
          <p:cNvGrpSpPr>
            <a:grpSpLocks/>
          </p:cNvGrpSpPr>
          <p:nvPr/>
        </p:nvGrpSpPr>
        <p:grpSpPr bwMode="auto">
          <a:xfrm>
            <a:off x="3124200" y="2590800"/>
            <a:ext cx="3505200" cy="671513"/>
            <a:chOff x="3124200" y="2590800"/>
            <a:chExt cx="3505200" cy="671512"/>
          </a:xfrm>
        </p:grpSpPr>
        <p:sp>
          <p:nvSpPr>
            <p:cNvPr id="30871" name="Rectangle 108">
              <a:extLst>
                <a:ext uri="{FF2B5EF4-FFF2-40B4-BE49-F238E27FC236}">
                  <a16:creationId xmlns:a16="http://schemas.microsoft.com/office/drawing/2014/main" id="{4825DD13-D07B-4BFC-856B-49E0D153F4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4200" y="2652712"/>
              <a:ext cx="3505200" cy="6096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30872" name="Rectangle 109">
              <a:extLst>
                <a:ext uri="{FF2B5EF4-FFF2-40B4-BE49-F238E27FC236}">
                  <a16:creationId xmlns:a16="http://schemas.microsoft.com/office/drawing/2014/main" id="{D99BF4C4-1B6D-474A-807C-E31CB37720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4200" y="2652712"/>
              <a:ext cx="76200" cy="6096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30873" name="Rectangle 110">
              <a:extLst>
                <a:ext uri="{FF2B5EF4-FFF2-40B4-BE49-F238E27FC236}">
                  <a16:creationId xmlns:a16="http://schemas.microsoft.com/office/drawing/2014/main" id="{D8DF33E6-8FFA-4B83-9D12-B2778D52B4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0400" y="2652712"/>
              <a:ext cx="76200" cy="6096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30874" name="Rectangle 111">
              <a:extLst>
                <a:ext uri="{FF2B5EF4-FFF2-40B4-BE49-F238E27FC236}">
                  <a16:creationId xmlns:a16="http://schemas.microsoft.com/office/drawing/2014/main" id="{3FF0474B-24D1-41FE-8EE8-EE0CECC8DC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6600" y="2652712"/>
              <a:ext cx="76200" cy="6096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30875" name="Rectangle 112">
              <a:extLst>
                <a:ext uri="{FF2B5EF4-FFF2-40B4-BE49-F238E27FC236}">
                  <a16:creationId xmlns:a16="http://schemas.microsoft.com/office/drawing/2014/main" id="{CEB108D4-9DFA-4221-99A5-BC0D2E7505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2800" y="2652712"/>
              <a:ext cx="76200" cy="6096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30876" name="Rectangle 113">
              <a:extLst>
                <a:ext uri="{FF2B5EF4-FFF2-40B4-BE49-F238E27FC236}">
                  <a16:creationId xmlns:a16="http://schemas.microsoft.com/office/drawing/2014/main" id="{72211DB8-851E-4B90-A9C3-6076712249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9000" y="2652712"/>
              <a:ext cx="76200" cy="6096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30877" name="Rectangle 114">
              <a:extLst>
                <a:ext uri="{FF2B5EF4-FFF2-40B4-BE49-F238E27FC236}">
                  <a16:creationId xmlns:a16="http://schemas.microsoft.com/office/drawing/2014/main" id="{ABCDC6CE-0E02-4C2E-A06C-82F933A652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5200" y="2652712"/>
              <a:ext cx="76200" cy="6096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30878" name="Rectangle 115">
              <a:extLst>
                <a:ext uri="{FF2B5EF4-FFF2-40B4-BE49-F238E27FC236}">
                  <a16:creationId xmlns:a16="http://schemas.microsoft.com/office/drawing/2014/main" id="{1B96C5A8-9B65-47DD-92D6-D58744CCB9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1400" y="2652712"/>
              <a:ext cx="76200" cy="6096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30879" name="Rectangle 116">
              <a:extLst>
                <a:ext uri="{FF2B5EF4-FFF2-40B4-BE49-F238E27FC236}">
                  <a16:creationId xmlns:a16="http://schemas.microsoft.com/office/drawing/2014/main" id="{E10CFC3A-9C57-4347-A6BB-0B9AE8B2C8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7600" y="2652712"/>
              <a:ext cx="76200" cy="6096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30880" name="Rectangle 117">
              <a:extLst>
                <a:ext uri="{FF2B5EF4-FFF2-40B4-BE49-F238E27FC236}">
                  <a16:creationId xmlns:a16="http://schemas.microsoft.com/office/drawing/2014/main" id="{B8590CAA-02F5-4443-B71A-39C6A70DAA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3800" y="2652712"/>
              <a:ext cx="76200" cy="6096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30881" name="Rectangle 118">
              <a:extLst>
                <a:ext uri="{FF2B5EF4-FFF2-40B4-BE49-F238E27FC236}">
                  <a16:creationId xmlns:a16="http://schemas.microsoft.com/office/drawing/2014/main" id="{0AFE08EE-E583-4755-BE06-2127F64775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0" y="2652712"/>
              <a:ext cx="76200" cy="6096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30882" name="Rectangle 119">
              <a:extLst>
                <a:ext uri="{FF2B5EF4-FFF2-40B4-BE49-F238E27FC236}">
                  <a16:creationId xmlns:a16="http://schemas.microsoft.com/office/drawing/2014/main" id="{475EF047-779A-4373-A744-81B86D0459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6200" y="2652712"/>
              <a:ext cx="76200" cy="6096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30883" name="Rectangle 120">
              <a:extLst>
                <a:ext uri="{FF2B5EF4-FFF2-40B4-BE49-F238E27FC236}">
                  <a16:creationId xmlns:a16="http://schemas.microsoft.com/office/drawing/2014/main" id="{0A932A59-3366-4BFC-BC06-A223352D4F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2400" y="2652712"/>
              <a:ext cx="76200" cy="6096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30884" name="Rectangle 121">
              <a:extLst>
                <a:ext uri="{FF2B5EF4-FFF2-40B4-BE49-F238E27FC236}">
                  <a16:creationId xmlns:a16="http://schemas.microsoft.com/office/drawing/2014/main" id="{7F84112B-DE0A-466B-A7FF-A01DE85D93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8600" y="2652712"/>
              <a:ext cx="76200" cy="6096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30885" name="Rectangle 122">
              <a:extLst>
                <a:ext uri="{FF2B5EF4-FFF2-40B4-BE49-F238E27FC236}">
                  <a16:creationId xmlns:a16="http://schemas.microsoft.com/office/drawing/2014/main" id="{456266D7-156D-44EE-A0BC-A2A6E09F15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4800" y="2652712"/>
              <a:ext cx="76200" cy="6096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30886" name="Rectangle 123">
              <a:extLst>
                <a:ext uri="{FF2B5EF4-FFF2-40B4-BE49-F238E27FC236}">
                  <a16:creationId xmlns:a16="http://schemas.microsoft.com/office/drawing/2014/main" id="{9839A906-D722-4402-BBC2-86852E7965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1000" y="2652712"/>
              <a:ext cx="76200" cy="6096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30887" name="Rectangle 124">
              <a:extLst>
                <a:ext uri="{FF2B5EF4-FFF2-40B4-BE49-F238E27FC236}">
                  <a16:creationId xmlns:a16="http://schemas.microsoft.com/office/drawing/2014/main" id="{2D400985-D4B9-4619-94A6-37041BAC26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7200" y="2652712"/>
              <a:ext cx="76200" cy="6096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30888" name="Rectangle 125">
              <a:extLst>
                <a:ext uri="{FF2B5EF4-FFF2-40B4-BE49-F238E27FC236}">
                  <a16:creationId xmlns:a16="http://schemas.microsoft.com/office/drawing/2014/main" id="{E4004D22-AF60-4FA3-97C6-85E6262DBF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3400" y="2652712"/>
              <a:ext cx="76200" cy="6096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30889" name="Rectangle 126">
              <a:extLst>
                <a:ext uri="{FF2B5EF4-FFF2-40B4-BE49-F238E27FC236}">
                  <a16:creationId xmlns:a16="http://schemas.microsoft.com/office/drawing/2014/main" id="{1C37DD61-53D7-4221-BBB7-A9B784B47A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9600" y="2652712"/>
              <a:ext cx="76200" cy="6096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30890" name="Rectangle 127">
              <a:extLst>
                <a:ext uri="{FF2B5EF4-FFF2-40B4-BE49-F238E27FC236}">
                  <a16:creationId xmlns:a16="http://schemas.microsoft.com/office/drawing/2014/main" id="{7031DE88-4441-4C1A-A98B-B9CBEA7C5C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5800" y="2652712"/>
              <a:ext cx="76200" cy="6096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30891" name="Rectangle 128">
              <a:extLst>
                <a:ext uri="{FF2B5EF4-FFF2-40B4-BE49-F238E27FC236}">
                  <a16:creationId xmlns:a16="http://schemas.microsoft.com/office/drawing/2014/main" id="{0AFC768F-09D6-4D8D-8A35-8E32A2C46B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2000" y="2652712"/>
              <a:ext cx="76200" cy="6096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30892" name="Rectangle 129">
              <a:extLst>
                <a:ext uri="{FF2B5EF4-FFF2-40B4-BE49-F238E27FC236}">
                  <a16:creationId xmlns:a16="http://schemas.microsoft.com/office/drawing/2014/main" id="{DD78D897-9028-42C9-8DD3-93696D4D4B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8200" y="2652712"/>
              <a:ext cx="76200" cy="6096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30893" name="Rectangle 130">
              <a:extLst>
                <a:ext uri="{FF2B5EF4-FFF2-40B4-BE49-F238E27FC236}">
                  <a16:creationId xmlns:a16="http://schemas.microsoft.com/office/drawing/2014/main" id="{001535E9-57D5-421F-9122-95EC669292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4400" y="2652712"/>
              <a:ext cx="76200" cy="6096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30894" name="Rectangle 131">
              <a:extLst>
                <a:ext uri="{FF2B5EF4-FFF2-40B4-BE49-F238E27FC236}">
                  <a16:creationId xmlns:a16="http://schemas.microsoft.com/office/drawing/2014/main" id="{FD32F3C9-E7AF-42D6-A5D2-18804FE1CF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600" y="2652712"/>
              <a:ext cx="76200" cy="6096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30895" name="Rectangle 132">
              <a:extLst>
                <a:ext uri="{FF2B5EF4-FFF2-40B4-BE49-F238E27FC236}">
                  <a16:creationId xmlns:a16="http://schemas.microsoft.com/office/drawing/2014/main" id="{2E2152FF-4C98-4278-8763-3E7044342F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53200" y="2652712"/>
              <a:ext cx="76200" cy="6096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30896" name="Rectangle 133">
              <a:extLst>
                <a:ext uri="{FF2B5EF4-FFF2-40B4-BE49-F238E27FC236}">
                  <a16:creationId xmlns:a16="http://schemas.microsoft.com/office/drawing/2014/main" id="{0CF44CEE-DF77-43CB-B2CD-57382CD6DD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77000" y="2652712"/>
              <a:ext cx="76200" cy="6096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30897" name="Rectangle 134">
              <a:extLst>
                <a:ext uri="{FF2B5EF4-FFF2-40B4-BE49-F238E27FC236}">
                  <a16:creationId xmlns:a16="http://schemas.microsoft.com/office/drawing/2014/main" id="{15FB2D1C-36B4-4612-ACAB-C282847B70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00800" y="2652712"/>
              <a:ext cx="76200" cy="6096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30898" name="Rectangle 135">
              <a:extLst>
                <a:ext uri="{FF2B5EF4-FFF2-40B4-BE49-F238E27FC236}">
                  <a16:creationId xmlns:a16="http://schemas.microsoft.com/office/drawing/2014/main" id="{598BECBE-106E-4FBF-80B3-BC0E56DB26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24600" y="2652712"/>
              <a:ext cx="76200" cy="6096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30899" name="Rectangle 136">
              <a:extLst>
                <a:ext uri="{FF2B5EF4-FFF2-40B4-BE49-F238E27FC236}">
                  <a16:creationId xmlns:a16="http://schemas.microsoft.com/office/drawing/2014/main" id="{588F72C5-6D7B-4CD0-B449-61F721EA49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8400" y="2652712"/>
              <a:ext cx="76200" cy="6096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30900" name="Rectangle 137">
              <a:extLst>
                <a:ext uri="{FF2B5EF4-FFF2-40B4-BE49-F238E27FC236}">
                  <a16:creationId xmlns:a16="http://schemas.microsoft.com/office/drawing/2014/main" id="{2921C216-9246-4AB3-94EA-42E86409F6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72200" y="2652712"/>
              <a:ext cx="76200" cy="6096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30901" name="Rectangle 138">
              <a:extLst>
                <a:ext uri="{FF2B5EF4-FFF2-40B4-BE49-F238E27FC236}">
                  <a16:creationId xmlns:a16="http://schemas.microsoft.com/office/drawing/2014/main" id="{C6D3A988-2141-49CE-A821-98BD149F58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6000" y="2652712"/>
              <a:ext cx="76200" cy="6096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30902" name="Rectangle 139">
              <a:extLst>
                <a:ext uri="{FF2B5EF4-FFF2-40B4-BE49-F238E27FC236}">
                  <a16:creationId xmlns:a16="http://schemas.microsoft.com/office/drawing/2014/main" id="{CDC3A4F8-49BB-45A3-A2CE-BD9A4EAD1B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19800" y="2652712"/>
              <a:ext cx="76200" cy="6096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30903" name="Rectangle 140">
              <a:extLst>
                <a:ext uri="{FF2B5EF4-FFF2-40B4-BE49-F238E27FC236}">
                  <a16:creationId xmlns:a16="http://schemas.microsoft.com/office/drawing/2014/main" id="{EE35B18C-1FBE-4165-83D0-FFF05738F8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43600" y="2652712"/>
              <a:ext cx="76200" cy="6096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30904" name="Rectangle 141">
              <a:extLst>
                <a:ext uri="{FF2B5EF4-FFF2-40B4-BE49-F238E27FC236}">
                  <a16:creationId xmlns:a16="http://schemas.microsoft.com/office/drawing/2014/main" id="{5FE59F28-2FFF-47A8-AA8B-8513C2DEBA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67400" y="2652712"/>
              <a:ext cx="76200" cy="6096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30905" name="Rectangle 142">
              <a:extLst>
                <a:ext uri="{FF2B5EF4-FFF2-40B4-BE49-F238E27FC236}">
                  <a16:creationId xmlns:a16="http://schemas.microsoft.com/office/drawing/2014/main" id="{00035483-5996-4316-AE25-D05F316308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91200" y="2652712"/>
              <a:ext cx="76200" cy="6096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30906" name="Rectangle 143">
              <a:extLst>
                <a:ext uri="{FF2B5EF4-FFF2-40B4-BE49-F238E27FC236}">
                  <a16:creationId xmlns:a16="http://schemas.microsoft.com/office/drawing/2014/main" id="{6D12D29F-6B5F-4F53-9AB3-83449E6787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5000" y="2652712"/>
              <a:ext cx="76200" cy="6096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30907" name="Rectangle 144">
              <a:extLst>
                <a:ext uri="{FF2B5EF4-FFF2-40B4-BE49-F238E27FC236}">
                  <a16:creationId xmlns:a16="http://schemas.microsoft.com/office/drawing/2014/main" id="{C48C2DE7-7E71-4FB5-AF5E-968EC81736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8800" y="2652712"/>
              <a:ext cx="76200" cy="6096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30908" name="Rectangle 145">
              <a:extLst>
                <a:ext uri="{FF2B5EF4-FFF2-40B4-BE49-F238E27FC236}">
                  <a16:creationId xmlns:a16="http://schemas.microsoft.com/office/drawing/2014/main" id="{1C0008EB-0DD1-4E13-BAE1-BA585C198F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2652712"/>
              <a:ext cx="76200" cy="6096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30909" name="Text Box 42">
              <a:extLst>
                <a:ext uri="{FF2B5EF4-FFF2-40B4-BE49-F238E27FC236}">
                  <a16:creationId xmlns:a16="http://schemas.microsoft.com/office/drawing/2014/main" id="{37934127-AD24-4587-8471-8F48E76CED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53000" y="2590800"/>
              <a:ext cx="533400" cy="519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 sz="2800">
                  <a:latin typeface="Arial Rounded MT Bold" panose="020F0704030504030204" pitchFamily="34" charset="0"/>
                </a:rPr>
                <a:t>...</a:t>
              </a:r>
            </a:p>
          </p:txBody>
        </p:sp>
      </p:grpSp>
      <p:sp>
        <p:nvSpPr>
          <p:cNvPr id="30728" name="TextBox 252">
            <a:extLst>
              <a:ext uri="{FF2B5EF4-FFF2-40B4-BE49-F238E27FC236}">
                <a16:creationId xmlns:a16="http://schemas.microsoft.com/office/drawing/2014/main" id="{34A94BD8-932C-45ED-915D-3B8A48E37D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" y="5232400"/>
            <a:ext cx="13716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/>
            <a:r>
              <a:rPr lang="en-US" altLang="it-IT" sz="1400">
                <a:solidFill>
                  <a:srgbClr val="003C75"/>
                </a:solidFill>
              </a:rPr>
              <a:t>Processor Cores</a:t>
            </a:r>
          </a:p>
        </p:txBody>
      </p:sp>
      <p:cxnSp>
        <p:nvCxnSpPr>
          <p:cNvPr id="30729" name="Straight Arrow Connector 261">
            <a:extLst>
              <a:ext uri="{FF2B5EF4-FFF2-40B4-BE49-F238E27FC236}">
                <a16:creationId xmlns:a16="http://schemas.microsoft.com/office/drawing/2014/main" id="{55D0C220-9758-4F02-A3E8-7821CF1D462F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H="1">
            <a:off x="4714082" y="2489994"/>
            <a:ext cx="323850" cy="1587"/>
          </a:xfrm>
          <a:prstGeom prst="straightConnector1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730" name="Curved Connector 265">
            <a:extLst>
              <a:ext uri="{FF2B5EF4-FFF2-40B4-BE49-F238E27FC236}">
                <a16:creationId xmlns:a16="http://schemas.microsoft.com/office/drawing/2014/main" id="{9AF96E18-AC10-4F77-B7A6-074297CF7DFB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3364706" y="2336007"/>
            <a:ext cx="471487" cy="2324100"/>
          </a:xfrm>
          <a:prstGeom prst="curvedConnector3">
            <a:avLst>
              <a:gd name="adj1" fmla="val 50000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731" name="Curved Connector 268">
            <a:extLst>
              <a:ext uri="{FF2B5EF4-FFF2-40B4-BE49-F238E27FC236}">
                <a16:creationId xmlns:a16="http://schemas.microsoft.com/office/drawing/2014/main" id="{DF9F8356-663C-4DB4-888B-8AF452D94171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4088606" y="2983707"/>
            <a:ext cx="471487" cy="1028700"/>
          </a:xfrm>
          <a:prstGeom prst="curvedConnector3">
            <a:avLst>
              <a:gd name="adj1" fmla="val 50000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732" name="Curved Connector 270">
            <a:extLst>
              <a:ext uri="{FF2B5EF4-FFF2-40B4-BE49-F238E27FC236}">
                <a16:creationId xmlns:a16="http://schemas.microsoft.com/office/drawing/2014/main" id="{A89A0F09-8BA1-42B4-9785-9028EE62A458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H="1">
            <a:off x="6260306" y="2678907"/>
            <a:ext cx="471487" cy="1638300"/>
          </a:xfrm>
          <a:prstGeom prst="curvedConnector3">
            <a:avLst>
              <a:gd name="adj1" fmla="val 50000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733" name="Curved Connector 272">
            <a:extLst>
              <a:ext uri="{FF2B5EF4-FFF2-40B4-BE49-F238E27FC236}">
                <a16:creationId xmlns:a16="http://schemas.microsoft.com/office/drawing/2014/main" id="{F50E37D1-6955-4FDF-9547-E1BC6E4B3701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H="1">
            <a:off x="5536406" y="3326607"/>
            <a:ext cx="471487" cy="342900"/>
          </a:xfrm>
          <a:prstGeom prst="curvedConnector3">
            <a:avLst>
              <a:gd name="adj1" fmla="val 50000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30734" name="Group 233">
            <a:extLst>
              <a:ext uri="{FF2B5EF4-FFF2-40B4-BE49-F238E27FC236}">
                <a16:creationId xmlns:a16="http://schemas.microsoft.com/office/drawing/2014/main" id="{A7C20DDA-D75B-455F-A7DF-CF34FCA6F670}"/>
              </a:ext>
            </a:extLst>
          </p:cNvPr>
          <p:cNvGrpSpPr>
            <a:grpSpLocks/>
          </p:cNvGrpSpPr>
          <p:nvPr/>
        </p:nvGrpSpPr>
        <p:grpSpPr bwMode="auto">
          <a:xfrm>
            <a:off x="1524000" y="4876800"/>
            <a:ext cx="3124200" cy="1295400"/>
            <a:chOff x="1524000" y="4876800"/>
            <a:chExt cx="3124200" cy="1295400"/>
          </a:xfrm>
        </p:grpSpPr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1D2CB0FA-7EA2-49E6-87CC-C6ACAEB6D701}"/>
                </a:ext>
              </a:extLst>
            </p:cNvPr>
            <p:cNvSpPr/>
            <p:nvPr/>
          </p:nvSpPr>
          <p:spPr bwMode="auto">
            <a:xfrm>
              <a:off x="1676400" y="5562600"/>
              <a:ext cx="838200" cy="457200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 eaLnBrk="0" hangingPunct="0">
                <a:defRPr/>
              </a:pPr>
              <a:r>
                <a:rPr lang="en-US" sz="1050" dirty="0">
                  <a:solidFill>
                    <a:srgbClr val="003C75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Functional unit</a:t>
              </a: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BCF2624F-AB9F-4A2C-8EC7-536DE7864B4A}"/>
                </a:ext>
              </a:extLst>
            </p:cNvPr>
            <p:cNvSpPr/>
            <p:nvPr/>
          </p:nvSpPr>
          <p:spPr bwMode="auto">
            <a:xfrm>
              <a:off x="1676400" y="4991100"/>
              <a:ext cx="838200" cy="457200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 eaLnBrk="0" hangingPunct="0">
                <a:defRPr/>
              </a:pPr>
              <a:r>
                <a:rPr lang="en-US" sz="1050" dirty="0">
                  <a:solidFill>
                    <a:srgbClr val="003C75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Functional unit</a:t>
              </a:r>
            </a:p>
          </p:txBody>
        </p:sp>
        <p:sp>
          <p:nvSpPr>
            <p:cNvPr id="30851" name="Rectangle 82">
              <a:extLst>
                <a:ext uri="{FF2B5EF4-FFF2-40B4-BE49-F238E27FC236}">
                  <a16:creationId xmlns:a16="http://schemas.microsoft.com/office/drawing/2014/main" id="{70CBF072-A50D-4539-AF17-170F4C9649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9400" y="5029200"/>
              <a:ext cx="609600" cy="76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30852" name="Rectangle 83">
              <a:extLst>
                <a:ext uri="{FF2B5EF4-FFF2-40B4-BE49-F238E27FC236}">
                  <a16:creationId xmlns:a16="http://schemas.microsoft.com/office/drawing/2014/main" id="{5182214D-4DDE-4D01-BD7B-135686D495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9400" y="5105400"/>
              <a:ext cx="609600" cy="76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30853" name="Rectangle 84">
              <a:extLst>
                <a:ext uri="{FF2B5EF4-FFF2-40B4-BE49-F238E27FC236}">
                  <a16:creationId xmlns:a16="http://schemas.microsoft.com/office/drawing/2014/main" id="{D72C3DAE-6371-4F14-86C4-4D51D10F67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9400" y="5181600"/>
              <a:ext cx="609600" cy="76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30854" name="Rectangle 85">
              <a:extLst>
                <a:ext uri="{FF2B5EF4-FFF2-40B4-BE49-F238E27FC236}">
                  <a16:creationId xmlns:a16="http://schemas.microsoft.com/office/drawing/2014/main" id="{54A02F9A-EF3F-4F8F-86CC-979A63521B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9400" y="5257800"/>
              <a:ext cx="609600" cy="76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30855" name="Rectangle 86">
              <a:extLst>
                <a:ext uri="{FF2B5EF4-FFF2-40B4-BE49-F238E27FC236}">
                  <a16:creationId xmlns:a16="http://schemas.microsoft.com/office/drawing/2014/main" id="{C334A041-93B5-44FE-AD27-CFF530ACA9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9400" y="5334000"/>
              <a:ext cx="609600" cy="76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30856" name="Rectangle 87">
              <a:extLst>
                <a:ext uri="{FF2B5EF4-FFF2-40B4-BE49-F238E27FC236}">
                  <a16:creationId xmlns:a16="http://schemas.microsoft.com/office/drawing/2014/main" id="{3175CE5C-0576-44C0-84E2-3F06BF25B1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9400" y="5410200"/>
              <a:ext cx="609600" cy="76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30857" name="Rectangle 88">
              <a:extLst>
                <a:ext uri="{FF2B5EF4-FFF2-40B4-BE49-F238E27FC236}">
                  <a16:creationId xmlns:a16="http://schemas.microsoft.com/office/drawing/2014/main" id="{0A4F56BE-FC76-4C5C-8D4E-7348582E30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9400" y="5486400"/>
              <a:ext cx="609600" cy="76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30858" name="Rectangle 89">
              <a:extLst>
                <a:ext uri="{FF2B5EF4-FFF2-40B4-BE49-F238E27FC236}">
                  <a16:creationId xmlns:a16="http://schemas.microsoft.com/office/drawing/2014/main" id="{04B7C5A1-ECA3-4F08-A28C-ADA3591C36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9400" y="5562600"/>
              <a:ext cx="609600" cy="76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30859" name="Rectangle 90">
              <a:extLst>
                <a:ext uri="{FF2B5EF4-FFF2-40B4-BE49-F238E27FC236}">
                  <a16:creationId xmlns:a16="http://schemas.microsoft.com/office/drawing/2014/main" id="{681E8EF1-7007-45FB-AEEE-E80C05764E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9400" y="5638800"/>
              <a:ext cx="609600" cy="76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30860" name="Rectangle 91">
              <a:extLst>
                <a:ext uri="{FF2B5EF4-FFF2-40B4-BE49-F238E27FC236}">
                  <a16:creationId xmlns:a16="http://schemas.microsoft.com/office/drawing/2014/main" id="{3E9139F8-7A3D-42A5-8EC6-F946C345A0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9400" y="5715000"/>
              <a:ext cx="609600" cy="76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30861" name="Rectangle 92">
              <a:extLst>
                <a:ext uri="{FF2B5EF4-FFF2-40B4-BE49-F238E27FC236}">
                  <a16:creationId xmlns:a16="http://schemas.microsoft.com/office/drawing/2014/main" id="{1D7FEB0A-264E-4E44-AEF8-EEB91FB935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9400" y="5791200"/>
              <a:ext cx="609600" cy="76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30862" name="Rectangle 93">
              <a:extLst>
                <a:ext uri="{FF2B5EF4-FFF2-40B4-BE49-F238E27FC236}">
                  <a16:creationId xmlns:a16="http://schemas.microsoft.com/office/drawing/2014/main" id="{CD92BD83-3AF5-4337-9DD3-762D95E4D6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9400" y="5867400"/>
              <a:ext cx="609600" cy="76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30863" name="Rectangle 94">
              <a:extLst>
                <a:ext uri="{FF2B5EF4-FFF2-40B4-BE49-F238E27FC236}">
                  <a16:creationId xmlns:a16="http://schemas.microsoft.com/office/drawing/2014/main" id="{C3D1A8E3-51E8-46A2-9DE1-6974718552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9400" y="5943600"/>
              <a:ext cx="609600" cy="76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cxnSp>
          <p:nvCxnSpPr>
            <p:cNvPr id="30864" name="Straight Arrow Connector 103">
              <a:extLst>
                <a:ext uri="{FF2B5EF4-FFF2-40B4-BE49-F238E27FC236}">
                  <a16:creationId xmlns:a16="http://schemas.microsoft.com/office/drawing/2014/main" id="{D72AF72D-4E90-404D-99A8-3799E994866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514600" y="5237956"/>
              <a:ext cx="304800" cy="158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865" name="Straight Arrow Connector 104">
              <a:extLst>
                <a:ext uri="{FF2B5EF4-FFF2-40B4-BE49-F238E27FC236}">
                  <a16:creationId xmlns:a16="http://schemas.microsoft.com/office/drawing/2014/main" id="{F06575FF-E7F7-418B-AEB6-02721816DEC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514600" y="5790406"/>
              <a:ext cx="304800" cy="158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866" name="Straight Arrow Connector 105">
              <a:extLst>
                <a:ext uri="{FF2B5EF4-FFF2-40B4-BE49-F238E27FC236}">
                  <a16:creationId xmlns:a16="http://schemas.microsoft.com/office/drawing/2014/main" id="{0F12EBB3-52F0-47D8-AFEF-68C149653B8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429000" y="5790406"/>
              <a:ext cx="304800" cy="158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867" name="Straight Arrow Connector 106">
              <a:extLst>
                <a:ext uri="{FF2B5EF4-FFF2-40B4-BE49-F238E27FC236}">
                  <a16:creationId xmlns:a16="http://schemas.microsoft.com/office/drawing/2014/main" id="{732ADFC9-EA2D-4C6E-BB02-662624FB596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429000" y="5237956"/>
              <a:ext cx="304800" cy="158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77" name="Rectangle 276">
              <a:extLst>
                <a:ext uri="{FF2B5EF4-FFF2-40B4-BE49-F238E27FC236}">
                  <a16:creationId xmlns:a16="http://schemas.microsoft.com/office/drawing/2014/main" id="{88EC12F0-6160-4D32-B8DE-E500A0937BFF}"/>
                </a:ext>
              </a:extLst>
            </p:cNvPr>
            <p:cNvSpPr/>
            <p:nvPr/>
          </p:nvSpPr>
          <p:spPr bwMode="auto">
            <a:xfrm>
              <a:off x="3733800" y="5562600"/>
              <a:ext cx="838200" cy="457200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 eaLnBrk="0" hangingPunct="0">
                <a:defRPr/>
              </a:pPr>
              <a:r>
                <a:rPr lang="en-US" sz="1050" dirty="0">
                  <a:solidFill>
                    <a:srgbClr val="003C75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Functional unit</a:t>
              </a:r>
            </a:p>
          </p:txBody>
        </p:sp>
        <p:sp>
          <p:nvSpPr>
            <p:cNvPr id="278" name="Rectangle 277">
              <a:extLst>
                <a:ext uri="{FF2B5EF4-FFF2-40B4-BE49-F238E27FC236}">
                  <a16:creationId xmlns:a16="http://schemas.microsoft.com/office/drawing/2014/main" id="{AC95240E-3F3A-4C22-9ABE-41CCAE6D39FA}"/>
                </a:ext>
              </a:extLst>
            </p:cNvPr>
            <p:cNvSpPr/>
            <p:nvPr/>
          </p:nvSpPr>
          <p:spPr bwMode="auto">
            <a:xfrm>
              <a:off x="3733800" y="4991100"/>
              <a:ext cx="838200" cy="457200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 eaLnBrk="0" hangingPunct="0">
                <a:defRPr/>
              </a:pPr>
              <a:r>
                <a:rPr lang="en-US" sz="1050" dirty="0">
                  <a:solidFill>
                    <a:srgbClr val="003C75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Functional unit</a:t>
              </a:r>
            </a:p>
          </p:txBody>
        </p:sp>
        <p:sp>
          <p:nvSpPr>
            <p:cNvPr id="30870" name="Rounded Rectangle 278">
              <a:extLst>
                <a:ext uri="{FF2B5EF4-FFF2-40B4-BE49-F238E27FC236}">
                  <a16:creationId xmlns:a16="http://schemas.microsoft.com/office/drawing/2014/main" id="{55996FB4-EDE4-4EB8-A91C-6FBCD4203D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4000" y="4876800"/>
              <a:ext cx="3124200" cy="1295400"/>
            </a:xfrm>
            <a:prstGeom prst="roundRect">
              <a:avLst>
                <a:gd name="adj" fmla="val 16667"/>
              </a:avLst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</p:grpSp>
      <p:grpSp>
        <p:nvGrpSpPr>
          <p:cNvPr id="30735" name="Group 232">
            <a:extLst>
              <a:ext uri="{FF2B5EF4-FFF2-40B4-BE49-F238E27FC236}">
                <a16:creationId xmlns:a16="http://schemas.microsoft.com/office/drawing/2014/main" id="{5303BF23-803D-4F31-BA31-52B25BEAE9F6}"/>
              </a:ext>
            </a:extLst>
          </p:cNvPr>
          <p:cNvGrpSpPr>
            <a:grpSpLocks/>
          </p:cNvGrpSpPr>
          <p:nvPr/>
        </p:nvGrpSpPr>
        <p:grpSpPr bwMode="auto">
          <a:xfrm>
            <a:off x="5105400" y="4876800"/>
            <a:ext cx="3124200" cy="1295400"/>
            <a:chOff x="5105400" y="4876800"/>
            <a:chExt cx="3124200" cy="1295400"/>
          </a:xfrm>
        </p:grpSpPr>
        <p:sp>
          <p:nvSpPr>
            <p:cNvPr id="282" name="Rectangle 281">
              <a:extLst>
                <a:ext uri="{FF2B5EF4-FFF2-40B4-BE49-F238E27FC236}">
                  <a16:creationId xmlns:a16="http://schemas.microsoft.com/office/drawing/2014/main" id="{1C7BDCAE-32B2-4E1E-8022-D52194239DD5}"/>
                </a:ext>
              </a:extLst>
            </p:cNvPr>
            <p:cNvSpPr/>
            <p:nvPr/>
          </p:nvSpPr>
          <p:spPr bwMode="auto">
            <a:xfrm>
              <a:off x="5257800" y="5562600"/>
              <a:ext cx="838200" cy="457200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 eaLnBrk="0" hangingPunct="0">
                <a:defRPr/>
              </a:pPr>
              <a:r>
                <a:rPr lang="en-US" sz="1050" dirty="0">
                  <a:solidFill>
                    <a:srgbClr val="003C75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Functional unit</a:t>
              </a:r>
            </a:p>
          </p:txBody>
        </p:sp>
        <p:sp>
          <p:nvSpPr>
            <p:cNvPr id="283" name="Rectangle 282">
              <a:extLst>
                <a:ext uri="{FF2B5EF4-FFF2-40B4-BE49-F238E27FC236}">
                  <a16:creationId xmlns:a16="http://schemas.microsoft.com/office/drawing/2014/main" id="{37C04B30-EB9A-4D41-9628-0B0ED444E104}"/>
                </a:ext>
              </a:extLst>
            </p:cNvPr>
            <p:cNvSpPr/>
            <p:nvPr/>
          </p:nvSpPr>
          <p:spPr bwMode="auto">
            <a:xfrm>
              <a:off x="5257800" y="4991100"/>
              <a:ext cx="838200" cy="457200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 eaLnBrk="0" hangingPunct="0">
                <a:defRPr/>
              </a:pPr>
              <a:r>
                <a:rPr lang="en-US" sz="1050" dirty="0">
                  <a:solidFill>
                    <a:srgbClr val="003C75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Functional unit</a:t>
              </a:r>
            </a:p>
          </p:txBody>
        </p:sp>
        <p:sp>
          <p:nvSpPr>
            <p:cNvPr id="30829" name="Rectangle 283">
              <a:extLst>
                <a:ext uri="{FF2B5EF4-FFF2-40B4-BE49-F238E27FC236}">
                  <a16:creationId xmlns:a16="http://schemas.microsoft.com/office/drawing/2014/main" id="{9D7AF6A0-BEA2-4F51-9530-4425535543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00800" y="5029200"/>
              <a:ext cx="609600" cy="76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30830" name="Rectangle 284">
              <a:extLst>
                <a:ext uri="{FF2B5EF4-FFF2-40B4-BE49-F238E27FC236}">
                  <a16:creationId xmlns:a16="http://schemas.microsoft.com/office/drawing/2014/main" id="{2E713905-6726-4DF1-8503-6A01F4AF3E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00800" y="5105400"/>
              <a:ext cx="609600" cy="76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30831" name="Rectangle 285">
              <a:extLst>
                <a:ext uri="{FF2B5EF4-FFF2-40B4-BE49-F238E27FC236}">
                  <a16:creationId xmlns:a16="http://schemas.microsoft.com/office/drawing/2014/main" id="{C960A4DF-3A50-4D26-9537-E59734B8CD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00800" y="5181600"/>
              <a:ext cx="609600" cy="76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30832" name="Rectangle 286">
              <a:extLst>
                <a:ext uri="{FF2B5EF4-FFF2-40B4-BE49-F238E27FC236}">
                  <a16:creationId xmlns:a16="http://schemas.microsoft.com/office/drawing/2014/main" id="{49284CB9-71A9-496A-82DD-EF75219A87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00800" y="5257800"/>
              <a:ext cx="609600" cy="76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30833" name="Rectangle 287">
              <a:extLst>
                <a:ext uri="{FF2B5EF4-FFF2-40B4-BE49-F238E27FC236}">
                  <a16:creationId xmlns:a16="http://schemas.microsoft.com/office/drawing/2014/main" id="{403595AD-C722-4811-865B-573803E526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00800" y="5334000"/>
              <a:ext cx="609600" cy="76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30834" name="Rectangle 288">
              <a:extLst>
                <a:ext uri="{FF2B5EF4-FFF2-40B4-BE49-F238E27FC236}">
                  <a16:creationId xmlns:a16="http://schemas.microsoft.com/office/drawing/2014/main" id="{382D0F2A-FA78-4376-B76C-FBAFAAC23E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00800" y="5410200"/>
              <a:ext cx="609600" cy="76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30835" name="Rectangle 289">
              <a:extLst>
                <a:ext uri="{FF2B5EF4-FFF2-40B4-BE49-F238E27FC236}">
                  <a16:creationId xmlns:a16="http://schemas.microsoft.com/office/drawing/2014/main" id="{82ADC63D-D854-4B85-BED5-6EB2343178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00800" y="5486400"/>
              <a:ext cx="609600" cy="76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30836" name="Rectangle 290">
              <a:extLst>
                <a:ext uri="{FF2B5EF4-FFF2-40B4-BE49-F238E27FC236}">
                  <a16:creationId xmlns:a16="http://schemas.microsoft.com/office/drawing/2014/main" id="{967BCC37-D7F1-432A-BB84-D1B13D3067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00800" y="5562600"/>
              <a:ext cx="609600" cy="76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30837" name="Rectangle 291">
              <a:extLst>
                <a:ext uri="{FF2B5EF4-FFF2-40B4-BE49-F238E27FC236}">
                  <a16:creationId xmlns:a16="http://schemas.microsoft.com/office/drawing/2014/main" id="{DB559179-2835-4017-9EDD-27A3132DB7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00800" y="5638800"/>
              <a:ext cx="609600" cy="76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30838" name="Rectangle 292">
              <a:extLst>
                <a:ext uri="{FF2B5EF4-FFF2-40B4-BE49-F238E27FC236}">
                  <a16:creationId xmlns:a16="http://schemas.microsoft.com/office/drawing/2014/main" id="{06935D4D-B56E-47BD-B4D8-5B5075716E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00800" y="5715000"/>
              <a:ext cx="609600" cy="76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30839" name="Rectangle 293">
              <a:extLst>
                <a:ext uri="{FF2B5EF4-FFF2-40B4-BE49-F238E27FC236}">
                  <a16:creationId xmlns:a16="http://schemas.microsoft.com/office/drawing/2014/main" id="{563E7DA0-CFB8-406D-BB82-E987506E0E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00800" y="5791200"/>
              <a:ext cx="609600" cy="76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30840" name="Rectangle 294">
              <a:extLst>
                <a:ext uri="{FF2B5EF4-FFF2-40B4-BE49-F238E27FC236}">
                  <a16:creationId xmlns:a16="http://schemas.microsoft.com/office/drawing/2014/main" id="{39DC2026-CD5A-4CBE-82A9-ED17DDB5AB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00800" y="5867400"/>
              <a:ext cx="609600" cy="76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30841" name="Rectangle 295">
              <a:extLst>
                <a:ext uri="{FF2B5EF4-FFF2-40B4-BE49-F238E27FC236}">
                  <a16:creationId xmlns:a16="http://schemas.microsoft.com/office/drawing/2014/main" id="{FED17D32-4CBB-4B7E-AD1D-2282E55F44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00800" y="5943600"/>
              <a:ext cx="609600" cy="76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cxnSp>
          <p:nvCxnSpPr>
            <p:cNvPr id="30842" name="Straight Arrow Connector 296">
              <a:extLst>
                <a:ext uri="{FF2B5EF4-FFF2-40B4-BE49-F238E27FC236}">
                  <a16:creationId xmlns:a16="http://schemas.microsoft.com/office/drawing/2014/main" id="{9CB54653-3902-4F7E-B34F-8686B1F7994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096000" y="5237956"/>
              <a:ext cx="304800" cy="158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843" name="Straight Arrow Connector 297">
              <a:extLst>
                <a:ext uri="{FF2B5EF4-FFF2-40B4-BE49-F238E27FC236}">
                  <a16:creationId xmlns:a16="http://schemas.microsoft.com/office/drawing/2014/main" id="{A3B458BE-B91F-4941-BE19-47AAEAC01C7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096000" y="5790406"/>
              <a:ext cx="304800" cy="158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844" name="Straight Arrow Connector 298">
              <a:extLst>
                <a:ext uri="{FF2B5EF4-FFF2-40B4-BE49-F238E27FC236}">
                  <a16:creationId xmlns:a16="http://schemas.microsoft.com/office/drawing/2014/main" id="{E6CE844A-D007-4741-9E60-479E38023B2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010400" y="5790406"/>
              <a:ext cx="304800" cy="158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845" name="Straight Arrow Connector 299">
              <a:extLst>
                <a:ext uri="{FF2B5EF4-FFF2-40B4-BE49-F238E27FC236}">
                  <a16:creationId xmlns:a16="http://schemas.microsoft.com/office/drawing/2014/main" id="{B22FF6C4-C08C-4656-8E1D-F97AB0374E1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010400" y="5237956"/>
              <a:ext cx="304800" cy="158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01" name="Rectangle 300">
              <a:extLst>
                <a:ext uri="{FF2B5EF4-FFF2-40B4-BE49-F238E27FC236}">
                  <a16:creationId xmlns:a16="http://schemas.microsoft.com/office/drawing/2014/main" id="{DA9AA67D-2055-43BA-B8A3-8741CAC85163}"/>
                </a:ext>
              </a:extLst>
            </p:cNvPr>
            <p:cNvSpPr/>
            <p:nvPr/>
          </p:nvSpPr>
          <p:spPr bwMode="auto">
            <a:xfrm>
              <a:off x="7315200" y="5562600"/>
              <a:ext cx="838200" cy="457200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 eaLnBrk="0" hangingPunct="0">
                <a:defRPr/>
              </a:pPr>
              <a:r>
                <a:rPr lang="en-US" sz="1050" dirty="0">
                  <a:solidFill>
                    <a:srgbClr val="003C75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Functional unit</a:t>
              </a:r>
            </a:p>
          </p:txBody>
        </p:sp>
        <p:sp>
          <p:nvSpPr>
            <p:cNvPr id="302" name="Rectangle 301">
              <a:extLst>
                <a:ext uri="{FF2B5EF4-FFF2-40B4-BE49-F238E27FC236}">
                  <a16:creationId xmlns:a16="http://schemas.microsoft.com/office/drawing/2014/main" id="{E819BCD5-231D-4707-B799-0DC736E203C3}"/>
                </a:ext>
              </a:extLst>
            </p:cNvPr>
            <p:cNvSpPr/>
            <p:nvPr/>
          </p:nvSpPr>
          <p:spPr bwMode="auto">
            <a:xfrm>
              <a:off x="7315200" y="4991100"/>
              <a:ext cx="838200" cy="457200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 eaLnBrk="0" hangingPunct="0">
                <a:defRPr/>
              </a:pPr>
              <a:r>
                <a:rPr lang="en-US" sz="1050" dirty="0">
                  <a:solidFill>
                    <a:srgbClr val="003C75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Functional unit</a:t>
              </a:r>
            </a:p>
          </p:txBody>
        </p:sp>
        <p:sp>
          <p:nvSpPr>
            <p:cNvPr id="30848" name="Rounded Rectangle 302">
              <a:extLst>
                <a:ext uri="{FF2B5EF4-FFF2-40B4-BE49-F238E27FC236}">
                  <a16:creationId xmlns:a16="http://schemas.microsoft.com/office/drawing/2014/main" id="{034990AD-3AD1-479F-B1C5-1E1D3B4F7D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5400" y="4876800"/>
              <a:ext cx="3124200" cy="1295400"/>
            </a:xfrm>
            <a:prstGeom prst="roundRect">
              <a:avLst>
                <a:gd name="adj" fmla="val 16667"/>
              </a:avLst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</p:grpSp>
      <p:grpSp>
        <p:nvGrpSpPr>
          <p:cNvPr id="30736" name="Group 308">
            <a:extLst>
              <a:ext uri="{FF2B5EF4-FFF2-40B4-BE49-F238E27FC236}">
                <a16:creationId xmlns:a16="http://schemas.microsoft.com/office/drawing/2014/main" id="{FA54ECEB-57DE-43A7-B879-8CA3A3AB598A}"/>
              </a:ext>
            </a:extLst>
          </p:cNvPr>
          <p:cNvGrpSpPr>
            <a:grpSpLocks/>
          </p:cNvGrpSpPr>
          <p:nvPr/>
        </p:nvGrpSpPr>
        <p:grpSpPr bwMode="auto">
          <a:xfrm>
            <a:off x="1866900" y="3733800"/>
            <a:ext cx="2514600" cy="609600"/>
            <a:chOff x="2019300" y="3962400"/>
            <a:chExt cx="2514600" cy="609600"/>
          </a:xfrm>
        </p:grpSpPr>
        <p:grpSp>
          <p:nvGrpSpPr>
            <p:cNvPr id="30790" name="Group 216">
              <a:extLst>
                <a:ext uri="{FF2B5EF4-FFF2-40B4-BE49-F238E27FC236}">
                  <a16:creationId xmlns:a16="http://schemas.microsoft.com/office/drawing/2014/main" id="{473C29EB-81ED-430E-BE8F-F4B1B8460E3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19300" y="3962400"/>
              <a:ext cx="2514600" cy="609600"/>
              <a:chOff x="1828800" y="4038600"/>
              <a:chExt cx="2514600" cy="609600"/>
            </a:xfrm>
          </p:grpSpPr>
          <p:grpSp>
            <p:nvGrpSpPr>
              <p:cNvPr id="30793" name="Group 198">
                <a:extLst>
                  <a:ext uri="{FF2B5EF4-FFF2-40B4-BE49-F238E27FC236}">
                    <a16:creationId xmlns:a16="http://schemas.microsoft.com/office/drawing/2014/main" id="{EDF340CB-B09F-4DBF-836D-F68F1D7C133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28800" y="4038600"/>
                <a:ext cx="1143000" cy="609600"/>
                <a:chOff x="1981200" y="4038600"/>
                <a:chExt cx="1143000" cy="609600"/>
              </a:xfrm>
            </p:grpSpPr>
            <p:sp>
              <p:nvSpPr>
                <p:cNvPr id="30811" name="Rectangle 179">
                  <a:extLst>
                    <a:ext uri="{FF2B5EF4-FFF2-40B4-BE49-F238E27FC236}">
                      <a16:creationId xmlns:a16="http://schemas.microsoft.com/office/drawing/2014/main" id="{336B1852-ABDA-4336-97EF-6F07E00DFC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81200" y="4038600"/>
                  <a:ext cx="762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0812" name="Rectangle 180">
                  <a:extLst>
                    <a:ext uri="{FF2B5EF4-FFF2-40B4-BE49-F238E27FC236}">
                      <a16:creationId xmlns:a16="http://schemas.microsoft.com/office/drawing/2014/main" id="{CC995553-AF47-4842-9F20-007911D3048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57400" y="4038600"/>
                  <a:ext cx="762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0813" name="Rectangle 181">
                  <a:extLst>
                    <a:ext uri="{FF2B5EF4-FFF2-40B4-BE49-F238E27FC236}">
                      <a16:creationId xmlns:a16="http://schemas.microsoft.com/office/drawing/2014/main" id="{0E4C1451-9013-4B78-8DE1-706814E7EF7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33600" y="4038600"/>
                  <a:ext cx="762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0814" name="Rectangle 182">
                  <a:extLst>
                    <a:ext uri="{FF2B5EF4-FFF2-40B4-BE49-F238E27FC236}">
                      <a16:creationId xmlns:a16="http://schemas.microsoft.com/office/drawing/2014/main" id="{2B15A82E-3161-4C7A-AA84-4CD372516A6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09800" y="4038600"/>
                  <a:ext cx="762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0815" name="Rectangle 183">
                  <a:extLst>
                    <a:ext uri="{FF2B5EF4-FFF2-40B4-BE49-F238E27FC236}">
                      <a16:creationId xmlns:a16="http://schemas.microsoft.com/office/drawing/2014/main" id="{C0BB6BF3-75B6-4521-B220-E0E191455DA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86000" y="4038600"/>
                  <a:ext cx="762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0816" name="Rectangle 184">
                  <a:extLst>
                    <a:ext uri="{FF2B5EF4-FFF2-40B4-BE49-F238E27FC236}">
                      <a16:creationId xmlns:a16="http://schemas.microsoft.com/office/drawing/2014/main" id="{3DE5F97D-4936-49B1-89FE-9D306D74642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62200" y="4038600"/>
                  <a:ext cx="762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0817" name="Rectangle 185">
                  <a:extLst>
                    <a:ext uri="{FF2B5EF4-FFF2-40B4-BE49-F238E27FC236}">
                      <a16:creationId xmlns:a16="http://schemas.microsoft.com/office/drawing/2014/main" id="{25FD168C-C227-446E-A02A-8D3D7A558D3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38400" y="4038600"/>
                  <a:ext cx="762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0818" name="Rectangle 186">
                  <a:extLst>
                    <a:ext uri="{FF2B5EF4-FFF2-40B4-BE49-F238E27FC236}">
                      <a16:creationId xmlns:a16="http://schemas.microsoft.com/office/drawing/2014/main" id="{F83EF323-F6B9-4F80-BC7E-7F2253461D2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14600" y="4038600"/>
                  <a:ext cx="762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0819" name="Rectangle 187">
                  <a:extLst>
                    <a:ext uri="{FF2B5EF4-FFF2-40B4-BE49-F238E27FC236}">
                      <a16:creationId xmlns:a16="http://schemas.microsoft.com/office/drawing/2014/main" id="{7B6F21A7-2106-492A-80E0-E5583CDD139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90800" y="4038600"/>
                  <a:ext cx="762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0820" name="Rectangle 188">
                  <a:extLst>
                    <a:ext uri="{FF2B5EF4-FFF2-40B4-BE49-F238E27FC236}">
                      <a16:creationId xmlns:a16="http://schemas.microsoft.com/office/drawing/2014/main" id="{608D0901-2574-4FC8-A592-D07962E5BA7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67000" y="4038600"/>
                  <a:ext cx="762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0821" name="Rectangle 189">
                  <a:extLst>
                    <a:ext uri="{FF2B5EF4-FFF2-40B4-BE49-F238E27FC236}">
                      <a16:creationId xmlns:a16="http://schemas.microsoft.com/office/drawing/2014/main" id="{0A1DDC90-43B1-46D7-BF08-94F7EBCF7CE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43200" y="4038600"/>
                  <a:ext cx="762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0822" name="Rectangle 190">
                  <a:extLst>
                    <a:ext uri="{FF2B5EF4-FFF2-40B4-BE49-F238E27FC236}">
                      <a16:creationId xmlns:a16="http://schemas.microsoft.com/office/drawing/2014/main" id="{F3C707A5-C2BA-4BE5-9A8F-1F5C02B48FD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19400" y="4038600"/>
                  <a:ext cx="762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0823" name="Rectangle 191">
                  <a:extLst>
                    <a:ext uri="{FF2B5EF4-FFF2-40B4-BE49-F238E27FC236}">
                      <a16:creationId xmlns:a16="http://schemas.microsoft.com/office/drawing/2014/main" id="{F52F3D81-6DBC-4F58-AE32-69411FD1CA8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95600" y="4038600"/>
                  <a:ext cx="762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0824" name="Rectangle 192">
                  <a:extLst>
                    <a:ext uri="{FF2B5EF4-FFF2-40B4-BE49-F238E27FC236}">
                      <a16:creationId xmlns:a16="http://schemas.microsoft.com/office/drawing/2014/main" id="{CF5F3067-F582-409D-B085-9D5670DC291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71800" y="4038600"/>
                  <a:ext cx="762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0825" name="Rectangle 193">
                  <a:extLst>
                    <a:ext uri="{FF2B5EF4-FFF2-40B4-BE49-F238E27FC236}">
                      <a16:creationId xmlns:a16="http://schemas.microsoft.com/office/drawing/2014/main" id="{8C9D7E32-3D1C-4652-B214-B43DFF74125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48000" y="4038600"/>
                  <a:ext cx="762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0826" name="Rectangle 197">
                  <a:extLst>
                    <a:ext uri="{FF2B5EF4-FFF2-40B4-BE49-F238E27FC236}">
                      <a16:creationId xmlns:a16="http://schemas.microsoft.com/office/drawing/2014/main" id="{8515E134-683B-43CB-980E-75D04573D8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81200" y="4038600"/>
                  <a:ext cx="11430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</p:grpSp>
          <p:grpSp>
            <p:nvGrpSpPr>
              <p:cNvPr id="30794" name="Group 199">
                <a:extLst>
                  <a:ext uri="{FF2B5EF4-FFF2-40B4-BE49-F238E27FC236}">
                    <a16:creationId xmlns:a16="http://schemas.microsoft.com/office/drawing/2014/main" id="{24362EA8-BAE2-4CF7-8B45-F196365BA79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00400" y="4038600"/>
                <a:ext cx="1143000" cy="609600"/>
                <a:chOff x="1981200" y="4038600"/>
                <a:chExt cx="1143000" cy="609600"/>
              </a:xfrm>
            </p:grpSpPr>
            <p:sp>
              <p:nvSpPr>
                <p:cNvPr id="30795" name="Rectangle 200">
                  <a:extLst>
                    <a:ext uri="{FF2B5EF4-FFF2-40B4-BE49-F238E27FC236}">
                      <a16:creationId xmlns:a16="http://schemas.microsoft.com/office/drawing/2014/main" id="{CCFA54D6-0D75-4AED-9827-1366A37E07F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81200" y="4038600"/>
                  <a:ext cx="762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0796" name="Rectangle 201">
                  <a:extLst>
                    <a:ext uri="{FF2B5EF4-FFF2-40B4-BE49-F238E27FC236}">
                      <a16:creationId xmlns:a16="http://schemas.microsoft.com/office/drawing/2014/main" id="{24F57AA4-3E46-4898-8E80-2D293C0A597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57400" y="4038600"/>
                  <a:ext cx="762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0797" name="Rectangle 202">
                  <a:extLst>
                    <a:ext uri="{FF2B5EF4-FFF2-40B4-BE49-F238E27FC236}">
                      <a16:creationId xmlns:a16="http://schemas.microsoft.com/office/drawing/2014/main" id="{7481ADE1-F520-47E2-B207-3ACFB40A170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33600" y="4038600"/>
                  <a:ext cx="762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0798" name="Rectangle 203">
                  <a:extLst>
                    <a:ext uri="{FF2B5EF4-FFF2-40B4-BE49-F238E27FC236}">
                      <a16:creationId xmlns:a16="http://schemas.microsoft.com/office/drawing/2014/main" id="{8DAB59C1-EB91-445D-89D9-7CE6C169A31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09800" y="4038600"/>
                  <a:ext cx="762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0799" name="Rectangle 204">
                  <a:extLst>
                    <a:ext uri="{FF2B5EF4-FFF2-40B4-BE49-F238E27FC236}">
                      <a16:creationId xmlns:a16="http://schemas.microsoft.com/office/drawing/2014/main" id="{E2C89318-6091-460B-999B-2D470536109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86000" y="4038600"/>
                  <a:ext cx="762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0800" name="Rectangle 205">
                  <a:extLst>
                    <a:ext uri="{FF2B5EF4-FFF2-40B4-BE49-F238E27FC236}">
                      <a16:creationId xmlns:a16="http://schemas.microsoft.com/office/drawing/2014/main" id="{BBFD6294-BFCD-47DC-8315-2F13C602AA7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62200" y="4038600"/>
                  <a:ext cx="762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0801" name="Rectangle 206">
                  <a:extLst>
                    <a:ext uri="{FF2B5EF4-FFF2-40B4-BE49-F238E27FC236}">
                      <a16:creationId xmlns:a16="http://schemas.microsoft.com/office/drawing/2014/main" id="{09ABF328-908D-490D-8593-F8E7872ADF4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38400" y="4038600"/>
                  <a:ext cx="762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0802" name="Rectangle 207">
                  <a:extLst>
                    <a:ext uri="{FF2B5EF4-FFF2-40B4-BE49-F238E27FC236}">
                      <a16:creationId xmlns:a16="http://schemas.microsoft.com/office/drawing/2014/main" id="{98C8BC13-3C63-422D-B955-B7D8F3D46A5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14600" y="4038600"/>
                  <a:ext cx="762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0803" name="Rectangle 208">
                  <a:extLst>
                    <a:ext uri="{FF2B5EF4-FFF2-40B4-BE49-F238E27FC236}">
                      <a16:creationId xmlns:a16="http://schemas.microsoft.com/office/drawing/2014/main" id="{75336835-C5B8-48F0-88F5-A1C560F2FBC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90800" y="4038600"/>
                  <a:ext cx="762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0804" name="Rectangle 209">
                  <a:extLst>
                    <a:ext uri="{FF2B5EF4-FFF2-40B4-BE49-F238E27FC236}">
                      <a16:creationId xmlns:a16="http://schemas.microsoft.com/office/drawing/2014/main" id="{DC5C2849-2648-4394-9141-7BA7872D67F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67000" y="4038600"/>
                  <a:ext cx="762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0805" name="Rectangle 210">
                  <a:extLst>
                    <a:ext uri="{FF2B5EF4-FFF2-40B4-BE49-F238E27FC236}">
                      <a16:creationId xmlns:a16="http://schemas.microsoft.com/office/drawing/2014/main" id="{88DBC03E-C385-4D77-AA77-8466D01D642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43200" y="4038600"/>
                  <a:ext cx="762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0806" name="Rectangle 211">
                  <a:extLst>
                    <a:ext uri="{FF2B5EF4-FFF2-40B4-BE49-F238E27FC236}">
                      <a16:creationId xmlns:a16="http://schemas.microsoft.com/office/drawing/2014/main" id="{BDDEB2C6-E30A-4176-84C3-05221BEA019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19400" y="4038600"/>
                  <a:ext cx="762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0807" name="Rectangle 212">
                  <a:extLst>
                    <a:ext uri="{FF2B5EF4-FFF2-40B4-BE49-F238E27FC236}">
                      <a16:creationId xmlns:a16="http://schemas.microsoft.com/office/drawing/2014/main" id="{47D2CA17-247D-4508-8886-DAED3D069A3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95600" y="4038600"/>
                  <a:ext cx="762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0808" name="Rectangle 213">
                  <a:extLst>
                    <a:ext uri="{FF2B5EF4-FFF2-40B4-BE49-F238E27FC236}">
                      <a16:creationId xmlns:a16="http://schemas.microsoft.com/office/drawing/2014/main" id="{E1EAB3FF-740B-4E7B-991A-D3C2DDA61CC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71800" y="4038600"/>
                  <a:ext cx="762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0809" name="Rectangle 214">
                  <a:extLst>
                    <a:ext uri="{FF2B5EF4-FFF2-40B4-BE49-F238E27FC236}">
                      <a16:creationId xmlns:a16="http://schemas.microsoft.com/office/drawing/2014/main" id="{634348DE-F3C8-4EFA-8747-BDF4FB7C84C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48000" y="4038600"/>
                  <a:ext cx="762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0810" name="Rectangle 215">
                  <a:extLst>
                    <a:ext uri="{FF2B5EF4-FFF2-40B4-BE49-F238E27FC236}">
                      <a16:creationId xmlns:a16="http://schemas.microsoft.com/office/drawing/2014/main" id="{513BBFE9-91D9-437B-BF9C-A90D1FC6178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81200" y="4038600"/>
                  <a:ext cx="11430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</p:grpSp>
        </p:grpSp>
        <p:sp>
          <p:nvSpPr>
            <p:cNvPr id="30791" name="TextBox 253">
              <a:extLst>
                <a:ext uri="{FF2B5EF4-FFF2-40B4-BE49-F238E27FC236}">
                  <a16:creationId xmlns:a16="http://schemas.microsoft.com/office/drawing/2014/main" id="{BAE975F2-9B90-463D-9187-71F0581E8A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28335" y="4114800"/>
              <a:ext cx="533400" cy="27699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200"/>
                <a:t>Code</a:t>
              </a:r>
            </a:p>
          </p:txBody>
        </p:sp>
        <p:sp>
          <p:nvSpPr>
            <p:cNvPr id="30792" name="TextBox 305">
              <a:extLst>
                <a:ext uri="{FF2B5EF4-FFF2-40B4-BE49-F238E27FC236}">
                  <a16:creationId xmlns:a16="http://schemas.microsoft.com/office/drawing/2014/main" id="{ADAF0A7E-F4CA-4EC2-9F17-DE4753D200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9935" y="4114800"/>
              <a:ext cx="533400" cy="27699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200"/>
                <a:t>Data</a:t>
              </a:r>
            </a:p>
          </p:txBody>
        </p:sp>
      </p:grpSp>
      <p:grpSp>
        <p:nvGrpSpPr>
          <p:cNvPr id="30737" name="Group 309">
            <a:extLst>
              <a:ext uri="{FF2B5EF4-FFF2-40B4-BE49-F238E27FC236}">
                <a16:creationId xmlns:a16="http://schemas.microsoft.com/office/drawing/2014/main" id="{AE8D77AE-7748-4517-9872-417C7FA7804F}"/>
              </a:ext>
            </a:extLst>
          </p:cNvPr>
          <p:cNvGrpSpPr>
            <a:grpSpLocks/>
          </p:cNvGrpSpPr>
          <p:nvPr/>
        </p:nvGrpSpPr>
        <p:grpSpPr bwMode="auto">
          <a:xfrm>
            <a:off x="5372100" y="3733800"/>
            <a:ext cx="2514600" cy="609600"/>
            <a:chOff x="5524500" y="3962400"/>
            <a:chExt cx="2514600" cy="609600"/>
          </a:xfrm>
        </p:grpSpPr>
        <p:grpSp>
          <p:nvGrpSpPr>
            <p:cNvPr id="30753" name="Group 217">
              <a:extLst>
                <a:ext uri="{FF2B5EF4-FFF2-40B4-BE49-F238E27FC236}">
                  <a16:creationId xmlns:a16="http://schemas.microsoft.com/office/drawing/2014/main" id="{ABC1FD60-2230-4BE2-8EBF-B86223CAC88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24500" y="3962400"/>
              <a:ext cx="2514600" cy="609600"/>
              <a:chOff x="1828800" y="4038600"/>
              <a:chExt cx="2514600" cy="609600"/>
            </a:xfrm>
          </p:grpSpPr>
          <p:grpSp>
            <p:nvGrpSpPr>
              <p:cNvPr id="30756" name="Group 218">
                <a:extLst>
                  <a:ext uri="{FF2B5EF4-FFF2-40B4-BE49-F238E27FC236}">
                    <a16:creationId xmlns:a16="http://schemas.microsoft.com/office/drawing/2014/main" id="{8B31CD2F-DE3B-4FDE-B047-69C03164A8B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28800" y="4038600"/>
                <a:ext cx="1143000" cy="609600"/>
                <a:chOff x="1981200" y="4038600"/>
                <a:chExt cx="1143000" cy="609600"/>
              </a:xfrm>
            </p:grpSpPr>
            <p:sp>
              <p:nvSpPr>
                <p:cNvPr id="30774" name="Rectangle 236">
                  <a:extLst>
                    <a:ext uri="{FF2B5EF4-FFF2-40B4-BE49-F238E27FC236}">
                      <a16:creationId xmlns:a16="http://schemas.microsoft.com/office/drawing/2014/main" id="{9FA4F2CB-7BDB-443B-ABD0-DB5BA80C1D0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81200" y="4038600"/>
                  <a:ext cx="762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0775" name="Rectangle 237">
                  <a:extLst>
                    <a:ext uri="{FF2B5EF4-FFF2-40B4-BE49-F238E27FC236}">
                      <a16:creationId xmlns:a16="http://schemas.microsoft.com/office/drawing/2014/main" id="{801490D7-660C-4CE0-AB01-57845088D31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57400" y="4038600"/>
                  <a:ext cx="762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0776" name="Rectangle 238">
                  <a:extLst>
                    <a:ext uri="{FF2B5EF4-FFF2-40B4-BE49-F238E27FC236}">
                      <a16:creationId xmlns:a16="http://schemas.microsoft.com/office/drawing/2014/main" id="{028F6A10-C755-40F6-B5FF-6EB7D146EE8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33600" y="4038600"/>
                  <a:ext cx="762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0777" name="Rectangle 239">
                  <a:extLst>
                    <a:ext uri="{FF2B5EF4-FFF2-40B4-BE49-F238E27FC236}">
                      <a16:creationId xmlns:a16="http://schemas.microsoft.com/office/drawing/2014/main" id="{98436C64-F433-42C9-90AE-E758E0C0FDE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09800" y="4038600"/>
                  <a:ext cx="762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0778" name="Rectangle 240">
                  <a:extLst>
                    <a:ext uri="{FF2B5EF4-FFF2-40B4-BE49-F238E27FC236}">
                      <a16:creationId xmlns:a16="http://schemas.microsoft.com/office/drawing/2014/main" id="{FA0DB7D8-77BC-43A3-89B8-982CB787005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86000" y="4038600"/>
                  <a:ext cx="762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0779" name="Rectangle 241">
                  <a:extLst>
                    <a:ext uri="{FF2B5EF4-FFF2-40B4-BE49-F238E27FC236}">
                      <a16:creationId xmlns:a16="http://schemas.microsoft.com/office/drawing/2014/main" id="{EC03BCE2-625B-4F91-AB14-CAD2AA588BB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62200" y="4038600"/>
                  <a:ext cx="762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0780" name="Rectangle 242">
                  <a:extLst>
                    <a:ext uri="{FF2B5EF4-FFF2-40B4-BE49-F238E27FC236}">
                      <a16:creationId xmlns:a16="http://schemas.microsoft.com/office/drawing/2014/main" id="{41A45032-7E42-4359-B295-36019FE07A9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38400" y="4038600"/>
                  <a:ext cx="762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0781" name="Rectangle 243">
                  <a:extLst>
                    <a:ext uri="{FF2B5EF4-FFF2-40B4-BE49-F238E27FC236}">
                      <a16:creationId xmlns:a16="http://schemas.microsoft.com/office/drawing/2014/main" id="{3875D3FE-0BCC-4DD3-B79E-84ECF04AA08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14600" y="4038600"/>
                  <a:ext cx="762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0782" name="Rectangle 244">
                  <a:extLst>
                    <a:ext uri="{FF2B5EF4-FFF2-40B4-BE49-F238E27FC236}">
                      <a16:creationId xmlns:a16="http://schemas.microsoft.com/office/drawing/2014/main" id="{A3E4C5B3-BEA3-4D60-B320-13A7F56F571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90800" y="4038600"/>
                  <a:ext cx="762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0783" name="Rectangle 245">
                  <a:extLst>
                    <a:ext uri="{FF2B5EF4-FFF2-40B4-BE49-F238E27FC236}">
                      <a16:creationId xmlns:a16="http://schemas.microsoft.com/office/drawing/2014/main" id="{D93AC643-EF54-4DBF-AC81-A34656577CC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67000" y="4038600"/>
                  <a:ext cx="762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0784" name="Rectangle 246">
                  <a:extLst>
                    <a:ext uri="{FF2B5EF4-FFF2-40B4-BE49-F238E27FC236}">
                      <a16:creationId xmlns:a16="http://schemas.microsoft.com/office/drawing/2014/main" id="{045B32EE-3A75-4078-B528-CBEA0840A73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43200" y="4038600"/>
                  <a:ext cx="762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0785" name="Rectangle 247">
                  <a:extLst>
                    <a:ext uri="{FF2B5EF4-FFF2-40B4-BE49-F238E27FC236}">
                      <a16:creationId xmlns:a16="http://schemas.microsoft.com/office/drawing/2014/main" id="{88E2ED62-FB38-4BF8-837D-1C26F6049EE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19400" y="4038600"/>
                  <a:ext cx="762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0786" name="Rectangle 248">
                  <a:extLst>
                    <a:ext uri="{FF2B5EF4-FFF2-40B4-BE49-F238E27FC236}">
                      <a16:creationId xmlns:a16="http://schemas.microsoft.com/office/drawing/2014/main" id="{C7244CA2-EC6C-4EA2-87FE-2DDFFE3165B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95600" y="4038600"/>
                  <a:ext cx="762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0787" name="Rectangle 249">
                  <a:extLst>
                    <a:ext uri="{FF2B5EF4-FFF2-40B4-BE49-F238E27FC236}">
                      <a16:creationId xmlns:a16="http://schemas.microsoft.com/office/drawing/2014/main" id="{8DAEFEF7-CB79-4AC7-9C88-4BD2943DAB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71800" y="4038600"/>
                  <a:ext cx="762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0788" name="Rectangle 250">
                  <a:extLst>
                    <a:ext uri="{FF2B5EF4-FFF2-40B4-BE49-F238E27FC236}">
                      <a16:creationId xmlns:a16="http://schemas.microsoft.com/office/drawing/2014/main" id="{03C1559F-0B18-497F-A7EF-63FE5DED88E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48000" y="4038600"/>
                  <a:ext cx="762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0789" name="Rectangle 251">
                  <a:extLst>
                    <a:ext uri="{FF2B5EF4-FFF2-40B4-BE49-F238E27FC236}">
                      <a16:creationId xmlns:a16="http://schemas.microsoft.com/office/drawing/2014/main" id="{98106964-299A-46D1-9031-B57A7231E97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81200" y="4038600"/>
                  <a:ext cx="11430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</p:grpSp>
          <p:grpSp>
            <p:nvGrpSpPr>
              <p:cNvPr id="30757" name="Group 219">
                <a:extLst>
                  <a:ext uri="{FF2B5EF4-FFF2-40B4-BE49-F238E27FC236}">
                    <a16:creationId xmlns:a16="http://schemas.microsoft.com/office/drawing/2014/main" id="{55C3963B-5AB0-4236-A77F-1E2A9871565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00400" y="4038600"/>
                <a:ext cx="1143000" cy="609600"/>
                <a:chOff x="1981200" y="4038600"/>
                <a:chExt cx="1143000" cy="609600"/>
              </a:xfrm>
            </p:grpSpPr>
            <p:sp>
              <p:nvSpPr>
                <p:cNvPr id="30758" name="Rectangle 220">
                  <a:extLst>
                    <a:ext uri="{FF2B5EF4-FFF2-40B4-BE49-F238E27FC236}">
                      <a16:creationId xmlns:a16="http://schemas.microsoft.com/office/drawing/2014/main" id="{0A44E3ED-7A0C-47EB-BA86-7B2AEC1F231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81200" y="4038600"/>
                  <a:ext cx="762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0759" name="Rectangle 221">
                  <a:extLst>
                    <a:ext uri="{FF2B5EF4-FFF2-40B4-BE49-F238E27FC236}">
                      <a16:creationId xmlns:a16="http://schemas.microsoft.com/office/drawing/2014/main" id="{87FFC5A7-44E0-40CC-8BE9-A81AA59EC5B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57400" y="4038600"/>
                  <a:ext cx="762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0760" name="Rectangle 222">
                  <a:extLst>
                    <a:ext uri="{FF2B5EF4-FFF2-40B4-BE49-F238E27FC236}">
                      <a16:creationId xmlns:a16="http://schemas.microsoft.com/office/drawing/2014/main" id="{891C7459-147B-43F5-82E9-A32025F10FE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33600" y="4038600"/>
                  <a:ext cx="762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0761" name="Rectangle 223">
                  <a:extLst>
                    <a:ext uri="{FF2B5EF4-FFF2-40B4-BE49-F238E27FC236}">
                      <a16:creationId xmlns:a16="http://schemas.microsoft.com/office/drawing/2014/main" id="{EF827224-39B6-458C-8CB1-2ED91BC9B27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09800" y="4038600"/>
                  <a:ext cx="762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0762" name="Rectangle 224">
                  <a:extLst>
                    <a:ext uri="{FF2B5EF4-FFF2-40B4-BE49-F238E27FC236}">
                      <a16:creationId xmlns:a16="http://schemas.microsoft.com/office/drawing/2014/main" id="{10848B58-C73E-4AC2-9D30-E90E10C7052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86000" y="4038600"/>
                  <a:ext cx="762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0763" name="Rectangle 225">
                  <a:extLst>
                    <a:ext uri="{FF2B5EF4-FFF2-40B4-BE49-F238E27FC236}">
                      <a16:creationId xmlns:a16="http://schemas.microsoft.com/office/drawing/2014/main" id="{E339E1A2-4249-45E7-AE04-745B64C5FE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62200" y="4038600"/>
                  <a:ext cx="762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0764" name="Rectangle 226">
                  <a:extLst>
                    <a:ext uri="{FF2B5EF4-FFF2-40B4-BE49-F238E27FC236}">
                      <a16:creationId xmlns:a16="http://schemas.microsoft.com/office/drawing/2014/main" id="{AAD1080D-3342-4667-A903-177D841FD1F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38400" y="4038600"/>
                  <a:ext cx="762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0765" name="Rectangle 227">
                  <a:extLst>
                    <a:ext uri="{FF2B5EF4-FFF2-40B4-BE49-F238E27FC236}">
                      <a16:creationId xmlns:a16="http://schemas.microsoft.com/office/drawing/2014/main" id="{4174A9BF-6538-40B3-A2FB-9E2742B947F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14600" y="4038600"/>
                  <a:ext cx="762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0766" name="Rectangle 228">
                  <a:extLst>
                    <a:ext uri="{FF2B5EF4-FFF2-40B4-BE49-F238E27FC236}">
                      <a16:creationId xmlns:a16="http://schemas.microsoft.com/office/drawing/2014/main" id="{D74ABBAE-C346-42F4-961B-DAF6B764C43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90800" y="4038600"/>
                  <a:ext cx="762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0767" name="Rectangle 229">
                  <a:extLst>
                    <a:ext uri="{FF2B5EF4-FFF2-40B4-BE49-F238E27FC236}">
                      <a16:creationId xmlns:a16="http://schemas.microsoft.com/office/drawing/2014/main" id="{F30B9050-6DF4-4A9C-8903-3164BF1E5A1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67000" y="4038600"/>
                  <a:ext cx="762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0768" name="Rectangle 230">
                  <a:extLst>
                    <a:ext uri="{FF2B5EF4-FFF2-40B4-BE49-F238E27FC236}">
                      <a16:creationId xmlns:a16="http://schemas.microsoft.com/office/drawing/2014/main" id="{AFF7AB1A-BF23-4561-9CF9-5CE69A3153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43200" y="4038600"/>
                  <a:ext cx="762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0769" name="Rectangle 231">
                  <a:extLst>
                    <a:ext uri="{FF2B5EF4-FFF2-40B4-BE49-F238E27FC236}">
                      <a16:creationId xmlns:a16="http://schemas.microsoft.com/office/drawing/2014/main" id="{7E5180C5-009D-4A3A-AF58-87B8248E3E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19400" y="4038600"/>
                  <a:ext cx="762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0770" name="Rectangle 232">
                  <a:extLst>
                    <a:ext uri="{FF2B5EF4-FFF2-40B4-BE49-F238E27FC236}">
                      <a16:creationId xmlns:a16="http://schemas.microsoft.com/office/drawing/2014/main" id="{1737DC39-C303-4DA2-8B34-AA8786354D5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95600" y="4038600"/>
                  <a:ext cx="762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0771" name="Rectangle 233">
                  <a:extLst>
                    <a:ext uri="{FF2B5EF4-FFF2-40B4-BE49-F238E27FC236}">
                      <a16:creationId xmlns:a16="http://schemas.microsoft.com/office/drawing/2014/main" id="{57C7CF6E-F8BE-4A43-A385-67ED37391C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71800" y="4038600"/>
                  <a:ext cx="762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0772" name="Rectangle 234">
                  <a:extLst>
                    <a:ext uri="{FF2B5EF4-FFF2-40B4-BE49-F238E27FC236}">
                      <a16:creationId xmlns:a16="http://schemas.microsoft.com/office/drawing/2014/main" id="{29E7C2C7-F7AB-4FE3-8FE7-4325C9F72B2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48000" y="4038600"/>
                  <a:ext cx="762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0773" name="Rectangle 235">
                  <a:extLst>
                    <a:ext uri="{FF2B5EF4-FFF2-40B4-BE49-F238E27FC236}">
                      <a16:creationId xmlns:a16="http://schemas.microsoft.com/office/drawing/2014/main" id="{63B859A1-EEB5-43D3-8CEB-B285274A5E5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81200" y="4038600"/>
                  <a:ext cx="114300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</p:grpSp>
        </p:grpSp>
        <p:sp>
          <p:nvSpPr>
            <p:cNvPr id="30754" name="TextBox 306">
              <a:extLst>
                <a:ext uri="{FF2B5EF4-FFF2-40B4-BE49-F238E27FC236}">
                  <a16:creationId xmlns:a16="http://schemas.microsoft.com/office/drawing/2014/main" id="{CA9108FC-3B74-4C02-B633-F89EE04A14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33535" y="4125667"/>
              <a:ext cx="533400" cy="27699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200"/>
                <a:t>Code</a:t>
              </a:r>
            </a:p>
          </p:txBody>
        </p:sp>
        <p:sp>
          <p:nvSpPr>
            <p:cNvPr id="30755" name="TextBox 307">
              <a:extLst>
                <a:ext uri="{FF2B5EF4-FFF2-40B4-BE49-F238E27FC236}">
                  <a16:creationId xmlns:a16="http://schemas.microsoft.com/office/drawing/2014/main" id="{E95005AE-FC1D-49BB-A90B-DC88DC90CB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5135" y="4125667"/>
              <a:ext cx="533400" cy="27699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200"/>
                <a:t>Data</a:t>
              </a:r>
            </a:p>
          </p:txBody>
        </p:sp>
      </p:grpSp>
      <p:cxnSp>
        <p:nvCxnSpPr>
          <p:cNvPr id="30738" name="Curved Connector 311">
            <a:extLst>
              <a:ext uri="{FF2B5EF4-FFF2-40B4-BE49-F238E27FC236}">
                <a16:creationId xmlns:a16="http://schemas.microsoft.com/office/drawing/2014/main" id="{D2080865-C15D-4548-8949-5D773E47B878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H="1">
            <a:off x="2495550" y="4286250"/>
            <a:ext cx="533400" cy="647700"/>
          </a:xfrm>
          <a:prstGeom prst="curvedConnector3">
            <a:avLst>
              <a:gd name="adj1" fmla="val 50000"/>
            </a:avLst>
          </a:prstGeom>
          <a:noFill/>
          <a:ln w="25400">
            <a:solidFill>
              <a:schemeClr val="tx1"/>
            </a:solidFill>
            <a:round/>
            <a:headEnd/>
            <a:tailEnd type="triangl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739" name="Curved Connector 313">
            <a:extLst>
              <a:ext uri="{FF2B5EF4-FFF2-40B4-BE49-F238E27FC236}">
                <a16:creationId xmlns:a16="http://schemas.microsoft.com/office/drawing/2014/main" id="{B282C030-F1D9-46DD-A935-1B3819507AD0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3181350" y="4248150"/>
            <a:ext cx="533400" cy="723900"/>
          </a:xfrm>
          <a:prstGeom prst="curvedConnector3">
            <a:avLst>
              <a:gd name="adj1" fmla="val 50000"/>
            </a:avLst>
          </a:prstGeom>
          <a:noFill/>
          <a:ln w="25400">
            <a:solidFill>
              <a:schemeClr val="tx1"/>
            </a:solidFill>
            <a:round/>
            <a:headEnd/>
            <a:tailEnd type="triangl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740" name="Curved Connector 315">
            <a:extLst>
              <a:ext uri="{FF2B5EF4-FFF2-40B4-BE49-F238E27FC236}">
                <a16:creationId xmlns:a16="http://schemas.microsoft.com/office/drawing/2014/main" id="{3985DD61-A729-4A43-8BF2-82695C8D54E8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H="1">
            <a:off x="6038850" y="4248150"/>
            <a:ext cx="533400" cy="723900"/>
          </a:xfrm>
          <a:prstGeom prst="curvedConnector3">
            <a:avLst>
              <a:gd name="adj1" fmla="val 50000"/>
            </a:avLst>
          </a:prstGeom>
          <a:noFill/>
          <a:ln w="25400">
            <a:solidFill>
              <a:schemeClr val="tx1"/>
            </a:solidFill>
            <a:round/>
            <a:headEnd/>
            <a:tailEnd type="triangl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741" name="Curved Connector 317">
            <a:extLst>
              <a:ext uri="{FF2B5EF4-FFF2-40B4-BE49-F238E27FC236}">
                <a16:creationId xmlns:a16="http://schemas.microsoft.com/office/drawing/2014/main" id="{87763311-991B-4E58-8C90-A96F4BA8A589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6724650" y="4286250"/>
            <a:ext cx="533400" cy="647700"/>
          </a:xfrm>
          <a:prstGeom prst="curvedConnector3">
            <a:avLst>
              <a:gd name="adj1" fmla="val 50000"/>
            </a:avLst>
          </a:prstGeom>
          <a:noFill/>
          <a:ln w="25400">
            <a:solidFill>
              <a:schemeClr val="tx1"/>
            </a:solidFill>
            <a:round/>
            <a:headEnd/>
            <a:tailEnd type="triangl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21" name="TextBox 320">
            <a:extLst>
              <a:ext uri="{FF2B5EF4-FFF2-40B4-BE49-F238E27FC236}">
                <a16:creationId xmlns:a16="http://schemas.microsoft.com/office/drawing/2014/main" id="{F391CCD6-9BFB-4D63-98AA-FFB927E183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152400"/>
            <a:ext cx="1752600" cy="738188"/>
          </a:xfrm>
          <a:prstGeom prst="rect">
            <a:avLst/>
          </a:prstGeom>
          <a:solidFill>
            <a:srgbClr val="BFBFBF"/>
          </a:solidFill>
          <a:ln w="9525">
            <a:solidFill>
              <a:srgbClr val="7F7F7F"/>
            </a:solidFill>
            <a:miter lim="800000"/>
            <a:headEnd/>
            <a:tailEnd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algn="ctr" eaLnBrk="0" hangingPunct="0">
              <a:defRPr/>
            </a:pPr>
            <a:r>
              <a:rPr lang="en-US" sz="14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Most systems now include L3 caches. L4 is on its way.</a:t>
            </a:r>
          </a:p>
        </p:txBody>
      </p:sp>
      <p:sp>
        <p:nvSpPr>
          <p:cNvPr id="30743" name="TextBox 177">
            <a:extLst>
              <a:ext uri="{FF2B5EF4-FFF2-40B4-BE49-F238E27FC236}">
                <a16:creationId xmlns:a16="http://schemas.microsoft.com/office/drawing/2014/main" id="{4EBF6883-065F-4415-8036-1034FE8493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" y="2590800"/>
            <a:ext cx="13716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/>
            <a:r>
              <a:rPr lang="en-US" altLang="it-IT" sz="1400">
                <a:solidFill>
                  <a:srgbClr val="003C75"/>
                </a:solidFill>
              </a:rPr>
              <a:t>L2 Cache</a:t>
            </a:r>
          </a:p>
        </p:txBody>
      </p:sp>
      <p:sp>
        <p:nvSpPr>
          <p:cNvPr id="30744" name="TextBox 178">
            <a:extLst>
              <a:ext uri="{FF2B5EF4-FFF2-40B4-BE49-F238E27FC236}">
                <a16:creationId xmlns:a16="http://schemas.microsoft.com/office/drawing/2014/main" id="{EF9EAADF-EF9E-4229-ACC1-4EF7EF7F80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" y="3657600"/>
            <a:ext cx="13716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/>
            <a:r>
              <a:rPr lang="en-US" altLang="it-IT" sz="1400">
                <a:solidFill>
                  <a:srgbClr val="003C75"/>
                </a:solidFill>
              </a:rPr>
              <a:t>L1 Caches</a:t>
            </a:r>
          </a:p>
        </p:txBody>
      </p:sp>
      <p:sp>
        <p:nvSpPr>
          <p:cNvPr id="46110" name="TextBox 321">
            <a:extLst>
              <a:ext uri="{FF2B5EF4-FFF2-40B4-BE49-F238E27FC236}">
                <a16:creationId xmlns:a16="http://schemas.microsoft.com/office/drawing/2014/main" id="{96049390-0FBE-4C87-8AC2-1BE6198AAB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6800" y="6324600"/>
            <a:ext cx="5359400" cy="304800"/>
          </a:xfrm>
          <a:prstGeom prst="rect">
            <a:avLst/>
          </a:prstGeom>
          <a:solidFill>
            <a:srgbClr val="BFBFBF"/>
          </a:solidFill>
          <a:ln w="9525">
            <a:solidFill>
              <a:srgbClr val="7F7F7F"/>
            </a:solidFill>
            <a:miter lim="800000"/>
            <a:headEnd/>
            <a:tailEnd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algn="ctr" eaLnBrk="0" hangingPunct="0">
              <a:defRPr/>
            </a:pPr>
            <a:r>
              <a:rPr lang="en-US" sz="14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Cache structure matters for performance, not correctness</a:t>
            </a:r>
          </a:p>
        </p:txBody>
      </p:sp>
      <p:grpSp>
        <p:nvGrpSpPr>
          <p:cNvPr id="239" name="Group 238">
            <a:extLst>
              <a:ext uri="{FF2B5EF4-FFF2-40B4-BE49-F238E27FC236}">
                <a16:creationId xmlns:a16="http://schemas.microsoft.com/office/drawing/2014/main" id="{B1166365-870B-4133-84B6-843C33954739}"/>
              </a:ext>
            </a:extLst>
          </p:cNvPr>
          <p:cNvGrpSpPr>
            <a:grpSpLocks/>
          </p:cNvGrpSpPr>
          <p:nvPr/>
        </p:nvGrpSpPr>
        <p:grpSpPr bwMode="auto">
          <a:xfrm>
            <a:off x="114300" y="2590800"/>
            <a:ext cx="8877300" cy="1814513"/>
            <a:chOff x="114300" y="2590800"/>
            <a:chExt cx="8877300" cy="1814085"/>
          </a:xfrm>
        </p:grpSpPr>
        <p:sp>
          <p:nvSpPr>
            <p:cNvPr id="320" name="TextBox 319">
              <a:extLst>
                <a:ext uri="{FF2B5EF4-FFF2-40B4-BE49-F238E27FC236}">
                  <a16:creationId xmlns:a16="http://schemas.microsoft.com/office/drawing/2014/main" id="{47161C86-5BD9-415F-B287-9E3EE1E0069C}"/>
                </a:ext>
              </a:extLst>
            </p:cNvPr>
            <p:cNvSpPr txBox="1"/>
            <p:nvPr/>
          </p:nvSpPr>
          <p:spPr bwMode="auto">
            <a:xfrm>
              <a:off x="7315200" y="2590800"/>
              <a:ext cx="1676400" cy="1041154"/>
            </a:xfrm>
            <a:prstGeom prst="rect">
              <a:avLst/>
            </a:prstGeom>
            <a:solidFill>
              <a:srgbClr val="BFBFBF"/>
            </a:solidFill>
            <a:ln>
              <a:solidFill>
                <a:srgbClr val="7F7F7F"/>
              </a:solidFill>
            </a:ln>
            <a:effectLst>
              <a:outerShdw blurRad="50800" dist="38100" dir="2700000">
                <a:srgbClr val="000000">
                  <a:alpha val="43000"/>
                </a:srgbClr>
              </a:outerShdw>
            </a:effectLst>
          </p:spPr>
          <p:txBody>
            <a:bodyPr>
              <a:spAutoFit/>
            </a:bodyPr>
            <a:lstStyle/>
            <a:p>
              <a:pPr eaLnBrk="0" hangingPunct="0">
                <a:spcBef>
                  <a:spcPts val="400"/>
                </a:spcBef>
                <a:defRPr/>
              </a:pPr>
              <a:r>
                <a:rPr lang="en-US" sz="1050" dirty="0">
                  <a:solidFill>
                    <a:srgbClr val="003C75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Caches can use physical or virtual addresses</a:t>
              </a:r>
            </a:p>
            <a:p>
              <a:pPr eaLnBrk="0" hangingPunct="0">
                <a:spcBef>
                  <a:spcPts val="400"/>
                </a:spcBef>
                <a:defRPr/>
              </a:pPr>
              <a:r>
                <a:rPr lang="en-US" sz="1050" dirty="0">
                  <a:solidFill>
                    <a:srgbClr val="003C75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Caches can be inclusive or exclusive</a:t>
              </a:r>
            </a:p>
            <a:p>
              <a:pPr eaLnBrk="0" hangingPunct="0">
                <a:spcBef>
                  <a:spcPts val="400"/>
                </a:spcBef>
                <a:defRPr/>
              </a:pPr>
              <a:r>
                <a:rPr lang="en-US" sz="1050" dirty="0">
                  <a:solidFill>
                    <a:srgbClr val="003C75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Caches can be shared</a:t>
              </a:r>
            </a:p>
          </p:txBody>
        </p:sp>
        <p:sp>
          <p:nvSpPr>
            <p:cNvPr id="227" name="TextBox 226">
              <a:extLst>
                <a:ext uri="{FF2B5EF4-FFF2-40B4-BE49-F238E27FC236}">
                  <a16:creationId xmlns:a16="http://schemas.microsoft.com/office/drawing/2014/main" id="{75366DD7-35F1-41EA-A1C7-AA137F82F78F}"/>
                </a:ext>
              </a:extLst>
            </p:cNvPr>
            <p:cNvSpPr txBox="1"/>
            <p:nvPr/>
          </p:nvSpPr>
          <p:spPr>
            <a:xfrm>
              <a:off x="114300" y="2919335"/>
              <a:ext cx="1524000" cy="41582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>
                <a:srgbClr val="000000">
                  <a:alpha val="43000"/>
                </a:srgbClr>
              </a:outerShdw>
            </a:effectLst>
          </p:spPr>
          <p:txBody>
            <a:bodyPr>
              <a:spAutoFit/>
            </a:bodyPr>
            <a:lstStyle/>
            <a:p>
              <a:pPr algn="ctr" eaLnBrk="0" hangingPunct="0">
                <a:defRPr/>
              </a:pPr>
              <a:r>
                <a:rPr lang="en-US" sz="1050" dirty="0">
                  <a:solidFill>
                    <a:srgbClr val="003C75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Typically indexed by virtual address</a:t>
              </a:r>
            </a:p>
          </p:txBody>
        </p:sp>
        <p:sp>
          <p:nvSpPr>
            <p:cNvPr id="228" name="TextBox 227">
              <a:extLst>
                <a:ext uri="{FF2B5EF4-FFF2-40B4-BE49-F238E27FC236}">
                  <a16:creationId xmlns:a16="http://schemas.microsoft.com/office/drawing/2014/main" id="{74CF59F0-37BB-49CB-B5BC-D14E950915AD}"/>
                </a:ext>
              </a:extLst>
            </p:cNvPr>
            <p:cNvSpPr txBox="1"/>
            <p:nvPr/>
          </p:nvSpPr>
          <p:spPr>
            <a:xfrm>
              <a:off x="114300" y="3989058"/>
              <a:ext cx="1524000" cy="41582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>
                <a:srgbClr val="000000">
                  <a:alpha val="43000"/>
                </a:srgbClr>
              </a:outerShdw>
            </a:effectLst>
          </p:spPr>
          <p:txBody>
            <a:bodyPr>
              <a:spAutoFit/>
            </a:bodyPr>
            <a:lstStyle/>
            <a:p>
              <a:pPr algn="ctr" eaLnBrk="0" hangingPunct="0">
                <a:defRPr/>
              </a:pPr>
              <a:r>
                <a:rPr lang="en-US" sz="1050" dirty="0">
                  <a:solidFill>
                    <a:srgbClr val="003C75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Typically indexed by physical address</a:t>
              </a:r>
            </a:p>
          </p:txBody>
        </p:sp>
      </p:grpSp>
      <p:sp>
        <p:nvSpPr>
          <p:cNvPr id="30747" name="TextBox 228">
            <a:extLst>
              <a:ext uri="{FF2B5EF4-FFF2-40B4-BE49-F238E27FC236}">
                <a16:creationId xmlns:a16="http://schemas.microsoft.com/office/drawing/2014/main" id="{B004B58B-CFB9-4CC3-B613-CA33F92E1A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94100" y="2809875"/>
            <a:ext cx="1066800" cy="2762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200"/>
              <a:t>Code &amp; Data</a:t>
            </a: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9EA95CA8-567F-42F3-A73F-A7E3AE75DB5B}"/>
              </a:ext>
            </a:extLst>
          </p:cNvPr>
          <p:cNvSpPr txBox="1"/>
          <p:nvPr/>
        </p:nvSpPr>
        <p:spPr>
          <a:xfrm>
            <a:off x="2921000" y="5105400"/>
            <a:ext cx="369332" cy="838200"/>
          </a:xfrm>
          <a:prstGeom prst="rect">
            <a:avLst/>
          </a:prstGeom>
          <a:solidFill>
            <a:srgbClr val="FFFFFF"/>
          </a:solidFill>
        </p:spPr>
        <p:txBody>
          <a:bodyPr vert="vert270">
            <a:spAutoFit/>
          </a:bodyPr>
          <a:lstStyle/>
          <a:p>
            <a:pPr eaLnBrk="0" hangingPunct="0">
              <a:defRPr/>
            </a:pPr>
            <a:r>
              <a:rPr lang="en-US" sz="1200" dirty="0">
                <a:latin typeface="Comic Sans MS" charset="0"/>
                <a:ea typeface="ヒラギノ角ゴ Pro W3" charset="-128"/>
                <a:cs typeface="ヒラギノ角ゴ Pro W3" charset="-128"/>
              </a:rPr>
              <a:t>Registers</a:t>
            </a: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D53B4ADD-CD32-4122-81E3-94AEE45B0615}"/>
              </a:ext>
            </a:extLst>
          </p:cNvPr>
          <p:cNvSpPr txBox="1"/>
          <p:nvPr/>
        </p:nvSpPr>
        <p:spPr>
          <a:xfrm>
            <a:off x="6515100" y="5105400"/>
            <a:ext cx="369332" cy="838200"/>
          </a:xfrm>
          <a:prstGeom prst="rect">
            <a:avLst/>
          </a:prstGeom>
          <a:solidFill>
            <a:srgbClr val="FFFFFF"/>
          </a:solidFill>
        </p:spPr>
        <p:txBody>
          <a:bodyPr vert="vert270">
            <a:spAutoFit/>
          </a:bodyPr>
          <a:lstStyle/>
          <a:p>
            <a:pPr eaLnBrk="0" hangingPunct="0">
              <a:defRPr/>
            </a:pPr>
            <a:r>
              <a:rPr lang="en-US" sz="1200" dirty="0">
                <a:latin typeface="Comic Sans MS" charset="0"/>
                <a:ea typeface="ヒラギノ角ゴ Pro W3" charset="-128"/>
                <a:cs typeface="ヒラギノ角ゴ Pro W3" charset="-128"/>
              </a:rPr>
              <a:t>Registers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Footer Placeholder 1">
            <a:extLst>
              <a:ext uri="{FF2B5EF4-FFF2-40B4-BE49-F238E27FC236}">
                <a16:creationId xmlns:a16="http://schemas.microsoft.com/office/drawing/2014/main" id="{FFF44DCB-2E43-45C2-9E55-101EE13BD27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200"/>
              <a:t>Comp 412, Fall 2010</a:t>
            </a:r>
          </a:p>
        </p:txBody>
      </p:sp>
      <p:sp>
        <p:nvSpPr>
          <p:cNvPr id="32770" name="Slide Number Placeholder 2">
            <a:extLst>
              <a:ext uri="{FF2B5EF4-FFF2-40B4-BE49-F238E27FC236}">
                <a16:creationId xmlns:a16="http://schemas.microsoft.com/office/drawing/2014/main" id="{A7435D2F-232B-4F1F-BC0C-0739E7B6FC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6C902ADC-E8DD-45E2-A728-87ED9D8FAC2D}" type="slidenum">
              <a:rPr lang="en-US" altLang="it-IT" sz="1200"/>
              <a:pPr/>
              <a:t>9</a:t>
            </a:fld>
            <a:endParaRPr lang="en-US" altLang="it-IT" sz="1200"/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39506838-C117-46DD-A035-F39E3B7B223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spcBef>
                <a:spcPct val="30000"/>
              </a:spcBef>
            </a:pPr>
            <a:r>
              <a:rPr lang="en-US" altLang="it-IT"/>
              <a:t>Translating Local Names </a:t>
            </a:r>
          </a:p>
        </p:txBody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2ACF7CBA-E881-4292-8856-0AB4E576AF5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066800"/>
            <a:ext cx="7772400" cy="5257800"/>
          </a:xfrm>
        </p:spPr>
        <p:txBody>
          <a:bodyPr/>
          <a:lstStyle/>
          <a:p>
            <a:pPr eaLnBrk="1" hangingPunct="1">
              <a:spcBef>
                <a:spcPct val="15000"/>
              </a:spcBef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How does the compiler represent a specific instance of </a:t>
            </a:r>
            <a:r>
              <a:rPr lang="en-US" altLang="it-IT" i="1">
                <a:solidFill>
                  <a:srgbClr val="003C75"/>
                </a:solidFill>
              </a:rPr>
              <a:t>x</a:t>
            </a:r>
            <a:r>
              <a:rPr lang="en-US" altLang="it-IT" sz="1200">
                <a:solidFill>
                  <a:srgbClr val="003C75"/>
                </a:solidFill>
              </a:rPr>
              <a:t> </a:t>
            </a:r>
            <a:r>
              <a:rPr lang="en-US" altLang="it-IT">
                <a:solidFill>
                  <a:srgbClr val="003C75"/>
                </a:solidFill>
              </a:rPr>
              <a:t>?</a:t>
            </a:r>
          </a:p>
          <a:p>
            <a:pPr eaLnBrk="1" hangingPunct="1">
              <a:spcBef>
                <a:spcPts val="1200"/>
              </a:spcBef>
            </a:pPr>
            <a:r>
              <a:rPr lang="en-US" altLang="it-IT"/>
              <a:t>Name is translated into a </a:t>
            </a:r>
            <a:r>
              <a:rPr lang="en-US" altLang="it-IT" i="1">
                <a:solidFill>
                  <a:srgbClr val="FF0065"/>
                </a:solidFill>
              </a:rPr>
              <a:t>static coordinate</a:t>
            </a:r>
            <a:endParaRPr lang="en-US" altLang="it-IT" i="1"/>
          </a:p>
          <a:p>
            <a:pPr lvl="1" eaLnBrk="1" hangingPunct="1">
              <a:spcBef>
                <a:spcPts val="600"/>
              </a:spcBef>
            </a:pPr>
            <a:r>
              <a:rPr lang="en-US" altLang="it-IT" sz="1600"/>
              <a:t>&lt;</a:t>
            </a:r>
            <a:r>
              <a:rPr lang="en-US" altLang="it-IT" sz="1600">
                <a:solidFill>
                  <a:srgbClr val="996600"/>
                </a:solidFill>
              </a:rPr>
              <a:t> </a:t>
            </a:r>
            <a:r>
              <a:rPr lang="en-US" altLang="it-IT" i="1">
                <a:solidFill>
                  <a:srgbClr val="FF0065"/>
                </a:solidFill>
              </a:rPr>
              <a:t>level</a:t>
            </a:r>
            <a:r>
              <a:rPr lang="en-US" altLang="it-IT" i="1"/>
              <a:t>,</a:t>
            </a:r>
            <a:r>
              <a:rPr lang="en-US" altLang="it-IT" i="1">
                <a:solidFill>
                  <a:srgbClr val="FF0065"/>
                </a:solidFill>
              </a:rPr>
              <a:t>offset</a:t>
            </a:r>
            <a:r>
              <a:rPr lang="en-US" altLang="it-IT" i="1">
                <a:solidFill>
                  <a:srgbClr val="996600"/>
                </a:solidFill>
              </a:rPr>
              <a:t> </a:t>
            </a:r>
            <a:r>
              <a:rPr lang="en-US" altLang="it-IT" sz="1600"/>
              <a:t>&gt;</a:t>
            </a:r>
            <a:r>
              <a:rPr lang="en-US" altLang="it-IT"/>
              <a:t> pair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it-IT" i="1"/>
              <a:t>“</a:t>
            </a:r>
            <a:r>
              <a:rPr lang="en-US" altLang="it-IT" i="1">
                <a:solidFill>
                  <a:srgbClr val="FF0065"/>
                </a:solidFill>
              </a:rPr>
              <a:t>level</a:t>
            </a:r>
            <a:r>
              <a:rPr lang="en-US" altLang="it-IT" i="1"/>
              <a:t>” </a:t>
            </a:r>
            <a:r>
              <a:rPr lang="en-US" altLang="it-IT"/>
              <a:t>is lexical nesting level of the procedure</a:t>
            </a:r>
            <a:endParaRPr lang="en-US" altLang="it-IT" i="1"/>
          </a:p>
          <a:p>
            <a:pPr lvl="1" eaLnBrk="1" hangingPunct="1">
              <a:spcBef>
                <a:spcPts val="600"/>
              </a:spcBef>
            </a:pPr>
            <a:r>
              <a:rPr lang="en-US" altLang="it-IT" i="1"/>
              <a:t>“</a:t>
            </a:r>
            <a:r>
              <a:rPr lang="en-US" altLang="it-IT" i="1">
                <a:solidFill>
                  <a:srgbClr val="FF0065"/>
                </a:solidFill>
              </a:rPr>
              <a:t>offset</a:t>
            </a:r>
            <a:r>
              <a:rPr lang="en-US" altLang="it-IT" i="1"/>
              <a:t>” </a:t>
            </a:r>
            <a:r>
              <a:rPr lang="en-US" altLang="it-IT"/>
              <a:t>is</a:t>
            </a:r>
            <a:r>
              <a:rPr lang="en-US" altLang="it-IT" i="1"/>
              <a:t> unique </a:t>
            </a:r>
            <a:r>
              <a:rPr lang="en-US" altLang="it-IT"/>
              <a:t>within that scope</a:t>
            </a:r>
          </a:p>
          <a:p>
            <a:pPr eaLnBrk="1" hangingPunct="1">
              <a:spcBef>
                <a:spcPts val="1200"/>
              </a:spcBef>
            </a:pPr>
            <a:r>
              <a:rPr lang="en-US" altLang="it-IT"/>
              <a:t>Subsequent code will use the static coordinate to generate addresses and references</a:t>
            </a:r>
          </a:p>
          <a:p>
            <a:pPr eaLnBrk="1" hangingPunct="1">
              <a:spcBef>
                <a:spcPts val="1200"/>
              </a:spcBef>
            </a:pPr>
            <a:r>
              <a:rPr lang="en-US" altLang="it-IT" i="1"/>
              <a:t>“</a:t>
            </a:r>
            <a:r>
              <a:rPr lang="en-US" altLang="it-IT" i="1">
                <a:solidFill>
                  <a:srgbClr val="FF0065"/>
                </a:solidFill>
              </a:rPr>
              <a:t>level</a:t>
            </a:r>
            <a:r>
              <a:rPr lang="en-US" altLang="it-IT" i="1"/>
              <a:t>” </a:t>
            </a:r>
            <a:r>
              <a:rPr lang="en-US" altLang="it-IT"/>
              <a:t>is a function of the table in which </a:t>
            </a:r>
            <a:r>
              <a:rPr lang="en-US" altLang="it-IT" i="1"/>
              <a:t>x</a:t>
            </a:r>
            <a:r>
              <a:rPr lang="en-US" altLang="it-IT"/>
              <a:t> is found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it-IT"/>
              <a:t>Stored in the entry for each </a:t>
            </a:r>
            <a:r>
              <a:rPr lang="en-US" altLang="it-IT" i="1"/>
              <a:t>x</a:t>
            </a:r>
            <a:endParaRPr lang="en-US" altLang="it-IT"/>
          </a:p>
          <a:p>
            <a:pPr eaLnBrk="1" hangingPunct="1">
              <a:spcBef>
                <a:spcPts val="600"/>
              </a:spcBef>
            </a:pPr>
            <a:r>
              <a:rPr lang="en-US" altLang="it-IT" i="1"/>
              <a:t>“</a:t>
            </a:r>
            <a:r>
              <a:rPr lang="en-US" altLang="it-IT" i="1">
                <a:solidFill>
                  <a:srgbClr val="FF0065"/>
                </a:solidFill>
              </a:rPr>
              <a:t>offset</a:t>
            </a:r>
            <a:r>
              <a:rPr lang="en-US" altLang="it-IT" i="1"/>
              <a:t>” </a:t>
            </a:r>
            <a:r>
              <a:rPr lang="en-US" altLang="it-IT"/>
              <a:t>must be assigned and stored in the symbol table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it-IT"/>
              <a:t>Assigned at </a:t>
            </a:r>
            <a:r>
              <a:rPr lang="en-US" altLang="it-IT" i="1" u="sng"/>
              <a:t>compile time</a:t>
            </a:r>
            <a:endParaRPr lang="en-US" altLang="it-IT"/>
          </a:p>
          <a:p>
            <a:pPr lvl="1" eaLnBrk="1" hangingPunct="1">
              <a:spcBef>
                <a:spcPts val="600"/>
              </a:spcBef>
            </a:pPr>
            <a:r>
              <a:rPr lang="en-US" altLang="it-IT"/>
              <a:t>Known at </a:t>
            </a:r>
            <a:r>
              <a:rPr lang="en-US" altLang="it-IT" i="1" u="sng"/>
              <a:t>compile time</a:t>
            </a:r>
            <a:endParaRPr lang="en-US" altLang="it-IT"/>
          </a:p>
          <a:p>
            <a:pPr lvl="1" eaLnBrk="1" hangingPunct="1">
              <a:spcBef>
                <a:spcPts val="600"/>
              </a:spcBef>
            </a:pPr>
            <a:r>
              <a:rPr lang="en-US" altLang="it-IT"/>
              <a:t>Used to generate code that </a:t>
            </a:r>
            <a:r>
              <a:rPr lang="en-US" altLang="it-IT" i="1" u="sng"/>
              <a:t>executes</a:t>
            </a:r>
            <a:r>
              <a:rPr lang="en-US" altLang="it-IT"/>
              <a:t> at </a:t>
            </a:r>
            <a:r>
              <a:rPr lang="en-US" altLang="it-IT" i="1" u="sng"/>
              <a:t>run-time</a:t>
            </a:r>
            <a:endParaRPr lang="en-US" altLang="it-IT"/>
          </a:p>
        </p:txBody>
      </p:sp>
    </p:spTree>
  </p:cSld>
  <p:clrMapOvr>
    <a:masterClrMapping/>
  </p:clrMapOvr>
  <p:transition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Footer Placeholder 3">
            <a:extLst>
              <a:ext uri="{FF2B5EF4-FFF2-40B4-BE49-F238E27FC236}">
                <a16:creationId xmlns:a16="http://schemas.microsoft.com/office/drawing/2014/main" id="{F1ED46D3-0635-45A6-937C-0AB56EDBD5E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200"/>
              <a:t>Comp 412, Fall 2010</a:t>
            </a:r>
          </a:p>
        </p:txBody>
      </p:sp>
      <p:sp>
        <p:nvSpPr>
          <p:cNvPr id="34818" name="Slide Number Placeholder 4">
            <a:extLst>
              <a:ext uri="{FF2B5EF4-FFF2-40B4-BE49-F238E27FC236}">
                <a16:creationId xmlns:a16="http://schemas.microsoft.com/office/drawing/2014/main" id="{131D0EDB-7CEE-4C17-A506-4A070B0A44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2668B628-F417-47E8-89D3-6B6475E72A26}" type="slidenum">
              <a:rPr lang="en-US" altLang="it-IT" sz="1200"/>
              <a:pPr/>
              <a:t>10</a:t>
            </a:fld>
            <a:endParaRPr lang="en-US" altLang="it-IT" sz="1200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22176061-3C0F-4E2D-9ABD-EC3B3E5B1A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Storage for Blocks within a Single Procedure</a:t>
            </a:r>
          </a:p>
        </p:txBody>
      </p:sp>
      <p:sp>
        <p:nvSpPr>
          <p:cNvPr id="25605" name="Rectangle 3">
            <a:extLst>
              <a:ext uri="{FF2B5EF4-FFF2-40B4-BE49-F238E27FC236}">
                <a16:creationId xmlns:a16="http://schemas.microsoft.com/office/drawing/2014/main" id="{234294A9-6D10-4BC8-B7B9-0451855046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581400" y="1244600"/>
            <a:ext cx="4964113" cy="3835400"/>
          </a:xfrm>
          <a:solidFill>
            <a:schemeClr val="bg1"/>
          </a:solidFill>
          <a:ln w="19050">
            <a:solidFill>
              <a:srgbClr val="7F7F7F"/>
            </a:solidFill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/>
          <a:lstStyle/>
          <a:p>
            <a:pPr marL="0" indent="6350" eaLnBrk="1" hangingPunct="1">
              <a:spcBef>
                <a:spcPct val="0"/>
              </a:spcBef>
              <a:buFont typeface="Times" charset="0"/>
              <a:buNone/>
              <a:defRPr/>
            </a:pPr>
            <a:r>
              <a:rPr lang="en-US" sz="1800" dirty="0"/>
              <a:t>Fixed length data can always be at a constant offset from the beginning of a procedure’s data area</a:t>
            </a:r>
          </a:p>
          <a:p>
            <a:pPr marL="223838" indent="-223838" eaLnBrk="1" hangingPunct="1">
              <a:spcBef>
                <a:spcPct val="15000"/>
              </a:spcBef>
              <a:buFont typeface="Times" charset="0"/>
              <a:buChar char="•"/>
              <a:defRPr/>
            </a:pPr>
            <a:r>
              <a:rPr lang="en-US" sz="1600" dirty="0"/>
              <a:t>In our example, the </a:t>
            </a:r>
            <a:r>
              <a:rPr lang="en-US" sz="1600" i="1" dirty="0">
                <a:solidFill>
                  <a:srgbClr val="003C75"/>
                </a:solidFill>
              </a:rPr>
              <a:t>a</a:t>
            </a:r>
            <a:r>
              <a:rPr lang="en-US" sz="1600" dirty="0"/>
              <a:t> declared at </a:t>
            </a:r>
            <a:r>
              <a:rPr lang="en-US" sz="1600" dirty="0">
                <a:solidFill>
                  <a:srgbClr val="FF0065"/>
                </a:solidFill>
              </a:rPr>
              <a:t>level 0</a:t>
            </a:r>
            <a:r>
              <a:rPr lang="en-US" sz="1600" dirty="0"/>
              <a:t> will always be the first data element, stored at byte 0 in the fixed-length data area</a:t>
            </a:r>
          </a:p>
          <a:p>
            <a:pPr marL="223838" indent="-223838" eaLnBrk="1" hangingPunct="1">
              <a:spcBef>
                <a:spcPct val="15000"/>
              </a:spcBef>
              <a:buFont typeface="Times" charset="0"/>
              <a:buChar char="•"/>
              <a:defRPr/>
            </a:pPr>
            <a:r>
              <a:rPr lang="en-US" sz="1600" dirty="0"/>
              <a:t>The </a:t>
            </a:r>
            <a:r>
              <a:rPr lang="en-US" sz="1600" i="1" dirty="0" err="1">
                <a:solidFill>
                  <a:srgbClr val="FF0065"/>
                </a:solidFill>
              </a:rPr>
              <a:t>x</a:t>
            </a:r>
            <a:r>
              <a:rPr lang="en-US" sz="1600" dirty="0"/>
              <a:t> declared at </a:t>
            </a:r>
            <a:r>
              <a:rPr lang="en-US" sz="1600" dirty="0">
                <a:solidFill>
                  <a:srgbClr val="FF0065"/>
                </a:solidFill>
              </a:rPr>
              <a:t>level </a:t>
            </a:r>
            <a:r>
              <a:rPr lang="en-US" sz="1600" dirty="0">
                <a:solidFill>
                  <a:srgbClr val="FF0000"/>
                </a:solidFill>
              </a:rPr>
              <a:t>1</a:t>
            </a:r>
            <a:r>
              <a:rPr lang="en-US" sz="1600" dirty="0"/>
              <a:t> will always be the sixth data item, stored at byte 20 in the fixed data area</a:t>
            </a:r>
          </a:p>
          <a:p>
            <a:pPr marL="223838" indent="-223838" eaLnBrk="1" hangingPunct="1">
              <a:spcBef>
                <a:spcPct val="15000"/>
              </a:spcBef>
              <a:buFont typeface="Times" charset="0"/>
              <a:buChar char="•"/>
              <a:defRPr/>
            </a:pPr>
            <a:r>
              <a:rPr lang="en-US" sz="1600" dirty="0"/>
              <a:t>The </a:t>
            </a:r>
            <a:r>
              <a:rPr lang="en-US" sz="1600" i="1" dirty="0" err="1">
                <a:solidFill>
                  <a:srgbClr val="FF0065"/>
                </a:solidFill>
              </a:rPr>
              <a:t>x</a:t>
            </a:r>
            <a:r>
              <a:rPr lang="en-US" sz="1600" dirty="0"/>
              <a:t> declared at </a:t>
            </a:r>
            <a:r>
              <a:rPr lang="en-US" sz="1600" dirty="0">
                <a:solidFill>
                  <a:srgbClr val="FF0065"/>
                </a:solidFill>
              </a:rPr>
              <a:t>level 2</a:t>
            </a:r>
            <a:r>
              <a:rPr lang="en-US" sz="1600" dirty="0"/>
              <a:t> will always be the eighth data item, stored at byte 28 in the fixed data area</a:t>
            </a:r>
          </a:p>
          <a:p>
            <a:pPr marL="223838" indent="-223838" eaLnBrk="1" hangingPunct="1">
              <a:spcBef>
                <a:spcPct val="15000"/>
              </a:spcBef>
              <a:buFont typeface="Times" charset="0"/>
              <a:buChar char="•"/>
              <a:defRPr/>
            </a:pPr>
            <a:r>
              <a:rPr lang="en-US" sz="1600" dirty="0"/>
              <a:t>But what about the </a:t>
            </a:r>
            <a:r>
              <a:rPr lang="en-US" sz="1600" dirty="0">
                <a:solidFill>
                  <a:srgbClr val="003C75"/>
                </a:solidFill>
              </a:rPr>
              <a:t>a</a:t>
            </a:r>
            <a:r>
              <a:rPr lang="en-US" sz="1600" dirty="0">
                <a:solidFill>
                  <a:srgbClr val="FF0000"/>
                </a:solidFill>
              </a:rPr>
              <a:t> </a:t>
            </a:r>
            <a:r>
              <a:rPr lang="en-US" sz="1600" dirty="0"/>
              <a:t>declared in block </a:t>
            </a:r>
            <a:r>
              <a:rPr lang="en-US" sz="1600" dirty="0">
                <a:latin typeface="Geneva" charset="0"/>
              </a:rPr>
              <a:t>B3</a:t>
            </a:r>
            <a:r>
              <a:rPr lang="en-US" sz="1600" dirty="0"/>
              <a:t>, the second block at </a:t>
            </a:r>
            <a:r>
              <a:rPr lang="en-US" sz="1600" dirty="0">
                <a:solidFill>
                  <a:srgbClr val="FF0065"/>
                </a:solidFill>
              </a:rPr>
              <a:t>level 2</a:t>
            </a:r>
            <a:r>
              <a:rPr lang="en-US" sz="1600" dirty="0"/>
              <a:t>?</a:t>
            </a:r>
          </a:p>
        </p:txBody>
      </p:sp>
      <p:sp>
        <p:nvSpPr>
          <p:cNvPr id="25606" name="Rectangle 4">
            <a:extLst>
              <a:ext uri="{FF2B5EF4-FFF2-40B4-BE49-F238E27FC236}">
                <a16:creationId xmlns:a16="http://schemas.microsoft.com/office/drawing/2014/main" id="{03D2F232-00C6-4690-89EE-C7BB26EFCA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550" y="1244600"/>
            <a:ext cx="2736850" cy="48768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chemeClr val="bg1">
                <a:lumMod val="5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/>
          <a:lstStyle/>
          <a:p>
            <a:pPr defTabSz="225425" eaLnBrk="0" hangingPunct="0">
              <a:spcBef>
                <a:spcPct val="15000"/>
              </a:spcBef>
              <a:defRPr/>
            </a:pPr>
            <a:r>
              <a:rPr lang="en-US" dirty="0">
                <a:latin typeface="Geneva" charset="0"/>
                <a:ea typeface="ヒラギノ角ゴ Pro W3" charset="-128"/>
                <a:cs typeface="ヒラギノ角ゴ Pro W3" charset="-128"/>
              </a:rPr>
              <a:t>B0:	{</a:t>
            </a:r>
          </a:p>
          <a:p>
            <a:pPr defTabSz="225425" eaLnBrk="0" hangingPunct="0">
              <a:spcBef>
                <a:spcPct val="15000"/>
              </a:spcBef>
              <a:defRPr/>
            </a:pPr>
            <a:r>
              <a:rPr lang="en-US" dirty="0">
                <a:latin typeface="Geneva" charset="0"/>
                <a:ea typeface="ヒラギノ角ゴ Pro W3" charset="-128"/>
                <a:cs typeface="ヒラギノ角ゴ Pro W3" charset="-128"/>
              </a:rPr>
              <a:t>			</a:t>
            </a:r>
            <a:r>
              <a:rPr lang="en-US" dirty="0" err="1">
                <a:latin typeface="Geneva" charset="0"/>
                <a:ea typeface="ヒラギノ角ゴ Pro W3" charset="-128"/>
                <a:cs typeface="ヒラギノ角ゴ Pro W3" charset="-128"/>
              </a:rPr>
              <a:t>int</a:t>
            </a:r>
            <a:r>
              <a:rPr lang="en-US" dirty="0">
                <a:latin typeface="Geneva" charset="0"/>
                <a:ea typeface="ヒラギノ角ゴ Pro W3" charset="-128"/>
                <a:cs typeface="ヒラギノ角ゴ Pro W3" charset="-128"/>
              </a:rPr>
              <a:t> </a:t>
            </a:r>
            <a:r>
              <a:rPr lang="en-US" i="1" dirty="0">
                <a:solidFill>
                  <a:srgbClr val="003C75"/>
                </a:solidFill>
                <a:latin typeface="Geneva" charset="0"/>
                <a:ea typeface="ヒラギノ角ゴ Pro W3" charset="-128"/>
                <a:cs typeface="ヒラギノ角ゴ Pro W3" charset="-128"/>
              </a:rPr>
              <a:t>a</a:t>
            </a:r>
            <a:r>
              <a:rPr lang="en-US" i="1" dirty="0">
                <a:latin typeface="Geneva" charset="0"/>
                <a:ea typeface="ヒラギノ角ゴ Pro W3" charset="-128"/>
                <a:cs typeface="ヒラギノ角ゴ Pro W3" charset="-128"/>
              </a:rPr>
              <a:t>, </a:t>
            </a:r>
            <a:r>
              <a:rPr lang="en-US" i="1" dirty="0" err="1">
                <a:solidFill>
                  <a:srgbClr val="B025A6"/>
                </a:solidFill>
                <a:latin typeface="Geneva" charset="0"/>
                <a:ea typeface="ヒラギノ角ゴ Pro W3" charset="-128"/>
                <a:cs typeface="ヒラギノ角ゴ Pro W3" charset="-128"/>
              </a:rPr>
              <a:t>b</a:t>
            </a:r>
            <a:r>
              <a:rPr lang="en-US" i="1" dirty="0">
                <a:latin typeface="Geneva" charset="0"/>
                <a:ea typeface="ヒラギノ角ゴ Pro W3" charset="-128"/>
                <a:cs typeface="ヒラギノ角ゴ Pro W3" charset="-128"/>
              </a:rPr>
              <a:t>, </a:t>
            </a:r>
            <a:r>
              <a:rPr lang="en-US" i="1" dirty="0" err="1">
                <a:latin typeface="Geneva" charset="0"/>
                <a:ea typeface="ヒラギノ角ゴ Pro W3" charset="-128"/>
                <a:cs typeface="ヒラギノ角ゴ Pro W3" charset="-128"/>
              </a:rPr>
              <a:t>c</a:t>
            </a:r>
            <a:endParaRPr lang="en-US" dirty="0">
              <a:latin typeface="Geneva" charset="0"/>
              <a:ea typeface="ヒラギノ角ゴ Pro W3" charset="-128"/>
              <a:cs typeface="ヒラギノ角ゴ Pro W3" charset="-128"/>
            </a:endParaRPr>
          </a:p>
          <a:p>
            <a:pPr defTabSz="225425" eaLnBrk="0" hangingPunct="0">
              <a:spcBef>
                <a:spcPct val="15000"/>
              </a:spcBef>
              <a:defRPr/>
            </a:pPr>
            <a:r>
              <a:rPr lang="en-US" dirty="0">
                <a:latin typeface="Geneva" charset="0"/>
                <a:ea typeface="ヒラギノ角ゴ Pro W3" charset="-128"/>
                <a:cs typeface="ヒラギノ角ゴ Pro W3" charset="-128"/>
              </a:rPr>
              <a:t>B1:		{</a:t>
            </a:r>
          </a:p>
          <a:p>
            <a:pPr defTabSz="225425" eaLnBrk="0" hangingPunct="0">
              <a:spcBef>
                <a:spcPct val="15000"/>
              </a:spcBef>
              <a:defRPr/>
            </a:pPr>
            <a:r>
              <a:rPr lang="en-US" dirty="0">
                <a:latin typeface="Geneva" charset="0"/>
                <a:ea typeface="ヒラギノ角ゴ Pro W3" charset="-128"/>
                <a:cs typeface="ヒラギノ角ゴ Pro W3" charset="-128"/>
              </a:rPr>
              <a:t>				</a:t>
            </a:r>
            <a:r>
              <a:rPr lang="en-US" dirty="0" err="1">
                <a:latin typeface="Geneva" charset="0"/>
                <a:ea typeface="ヒラギノ角ゴ Pro W3" charset="-128"/>
                <a:cs typeface="ヒラギノ角ゴ Pro W3" charset="-128"/>
              </a:rPr>
              <a:t>int</a:t>
            </a:r>
            <a:r>
              <a:rPr lang="en-US" dirty="0">
                <a:latin typeface="Geneva" charset="0"/>
                <a:ea typeface="ヒラギノ角ゴ Pro W3" charset="-128"/>
                <a:cs typeface="ヒラギノ角ゴ Pro W3" charset="-128"/>
              </a:rPr>
              <a:t> </a:t>
            </a:r>
            <a:r>
              <a:rPr lang="en-US" i="1" dirty="0" err="1">
                <a:latin typeface="Geneva" charset="0"/>
                <a:ea typeface="ヒラギノ角ゴ Pro W3" charset="-128"/>
                <a:cs typeface="ヒラギノ角ゴ Pro W3" charset="-128"/>
              </a:rPr>
              <a:t>v</a:t>
            </a:r>
            <a:r>
              <a:rPr lang="en-US" i="1" dirty="0">
                <a:latin typeface="Geneva" charset="0"/>
                <a:ea typeface="ヒラギノ角ゴ Pro W3" charset="-128"/>
                <a:cs typeface="ヒラギノ角ゴ Pro W3" charset="-128"/>
              </a:rPr>
              <a:t>, </a:t>
            </a:r>
            <a:r>
              <a:rPr lang="en-US" i="1" dirty="0" err="1">
                <a:solidFill>
                  <a:srgbClr val="B025A6"/>
                </a:solidFill>
                <a:latin typeface="Geneva" charset="0"/>
                <a:ea typeface="ヒラギノ角ゴ Pro W3" charset="-128"/>
                <a:cs typeface="ヒラギノ角ゴ Pro W3" charset="-128"/>
              </a:rPr>
              <a:t>b</a:t>
            </a:r>
            <a:r>
              <a:rPr lang="en-US" i="1" dirty="0">
                <a:latin typeface="Geneva" charset="0"/>
                <a:ea typeface="ヒラギノ角ゴ Pro W3" charset="-128"/>
                <a:cs typeface="ヒラギノ角ゴ Pro W3" charset="-128"/>
              </a:rPr>
              <a:t>, </a:t>
            </a:r>
            <a:r>
              <a:rPr lang="en-US" i="1" dirty="0" err="1">
                <a:solidFill>
                  <a:srgbClr val="FF0065"/>
                </a:solidFill>
                <a:latin typeface="Geneva" charset="0"/>
                <a:ea typeface="ヒラギノ角ゴ Pro W3" charset="-128"/>
                <a:cs typeface="ヒラギノ角ゴ Pro W3" charset="-128"/>
              </a:rPr>
              <a:t>x</a:t>
            </a:r>
            <a:r>
              <a:rPr lang="en-US" i="1" dirty="0">
                <a:latin typeface="Geneva" charset="0"/>
                <a:ea typeface="ヒラギノ角ゴ Pro W3" charset="-128"/>
                <a:cs typeface="ヒラギノ角ゴ Pro W3" charset="-128"/>
              </a:rPr>
              <a:t>, </a:t>
            </a:r>
            <a:r>
              <a:rPr lang="en-US" i="1" dirty="0" err="1">
                <a:latin typeface="Geneva" charset="0"/>
                <a:ea typeface="ヒラギノ角ゴ Pro W3" charset="-128"/>
                <a:cs typeface="ヒラギノ角ゴ Pro W3" charset="-128"/>
              </a:rPr>
              <a:t>w</a:t>
            </a:r>
            <a:endParaRPr lang="en-US" dirty="0">
              <a:latin typeface="Geneva" charset="0"/>
              <a:ea typeface="ヒラギノ角ゴ Pro W3" charset="-128"/>
              <a:cs typeface="ヒラギノ角ゴ Pro W3" charset="-128"/>
            </a:endParaRPr>
          </a:p>
          <a:p>
            <a:pPr defTabSz="225425" eaLnBrk="0" hangingPunct="0">
              <a:spcBef>
                <a:spcPct val="15000"/>
              </a:spcBef>
              <a:defRPr/>
            </a:pPr>
            <a:r>
              <a:rPr lang="en-US" dirty="0">
                <a:latin typeface="Geneva" charset="0"/>
                <a:ea typeface="ヒラギノ角ゴ Pro W3" charset="-128"/>
                <a:cs typeface="ヒラギノ角ゴ Pro W3" charset="-128"/>
              </a:rPr>
              <a:t>B2:			{</a:t>
            </a:r>
          </a:p>
          <a:p>
            <a:pPr defTabSz="225425" eaLnBrk="0" hangingPunct="0">
              <a:spcBef>
                <a:spcPct val="15000"/>
              </a:spcBef>
              <a:defRPr/>
            </a:pPr>
            <a:r>
              <a:rPr lang="en-US" dirty="0">
                <a:latin typeface="Geneva" charset="0"/>
                <a:ea typeface="ヒラギノ角ゴ Pro W3" charset="-128"/>
                <a:cs typeface="ヒラギノ角ゴ Pro W3" charset="-128"/>
              </a:rPr>
              <a:t>					</a:t>
            </a:r>
            <a:r>
              <a:rPr lang="en-US" dirty="0" err="1">
                <a:latin typeface="Geneva" charset="0"/>
                <a:ea typeface="ヒラギノ角ゴ Pro W3" charset="-128"/>
                <a:cs typeface="ヒラギノ角ゴ Pro W3" charset="-128"/>
              </a:rPr>
              <a:t>int</a:t>
            </a:r>
            <a:r>
              <a:rPr lang="en-US" dirty="0">
                <a:latin typeface="Geneva" charset="0"/>
                <a:ea typeface="ヒラギノ角ゴ Pro W3" charset="-128"/>
                <a:cs typeface="ヒラギノ角ゴ Pro W3" charset="-128"/>
              </a:rPr>
              <a:t> </a:t>
            </a:r>
            <a:r>
              <a:rPr lang="en-US" i="1" dirty="0" err="1">
                <a:solidFill>
                  <a:srgbClr val="FF0065"/>
                </a:solidFill>
                <a:latin typeface="Geneva" charset="0"/>
                <a:ea typeface="ヒラギノ角ゴ Pro W3" charset="-128"/>
                <a:cs typeface="ヒラギノ角ゴ Pro W3" charset="-128"/>
              </a:rPr>
              <a:t>x</a:t>
            </a:r>
            <a:r>
              <a:rPr lang="en-US" i="1" dirty="0">
                <a:latin typeface="Geneva" charset="0"/>
                <a:ea typeface="ヒラギノ角ゴ Pro W3" charset="-128"/>
                <a:cs typeface="ヒラギノ角ゴ Pro W3" charset="-128"/>
              </a:rPr>
              <a:t>, </a:t>
            </a:r>
            <a:r>
              <a:rPr lang="en-US" i="1" dirty="0" err="1">
                <a:latin typeface="Geneva" charset="0"/>
                <a:ea typeface="ヒラギノ角ゴ Pro W3" charset="-128"/>
                <a:cs typeface="ヒラギノ角ゴ Pro W3" charset="-128"/>
              </a:rPr>
              <a:t>y</a:t>
            </a:r>
            <a:r>
              <a:rPr lang="en-US" i="1" dirty="0">
                <a:latin typeface="Geneva" charset="0"/>
                <a:ea typeface="ヒラギノ角ゴ Pro W3" charset="-128"/>
                <a:cs typeface="ヒラギノ角ゴ Pro W3" charset="-128"/>
              </a:rPr>
              <a:t>, </a:t>
            </a:r>
            <a:r>
              <a:rPr lang="en-US" i="1" dirty="0" err="1">
                <a:latin typeface="Geneva" charset="0"/>
                <a:ea typeface="ヒラギノ角ゴ Pro W3" charset="-128"/>
                <a:cs typeface="ヒラギノ角ゴ Pro W3" charset="-128"/>
              </a:rPr>
              <a:t>z</a:t>
            </a:r>
            <a:endParaRPr lang="en-US" i="1" dirty="0">
              <a:latin typeface="Geneva" charset="0"/>
              <a:ea typeface="ヒラギノ角ゴ Pro W3" charset="-128"/>
              <a:cs typeface="ヒラギノ角ゴ Pro W3" charset="-128"/>
            </a:endParaRPr>
          </a:p>
          <a:p>
            <a:pPr defTabSz="225425" eaLnBrk="0" hangingPunct="0">
              <a:spcBef>
                <a:spcPct val="15000"/>
              </a:spcBef>
              <a:defRPr/>
            </a:pPr>
            <a:r>
              <a:rPr lang="en-US" dirty="0">
                <a:latin typeface="Geneva" charset="0"/>
                <a:ea typeface="ヒラギノ角ゴ Pro W3" charset="-128"/>
                <a:cs typeface="ヒラギノ角ゴ Pro W3" charset="-128"/>
              </a:rPr>
              <a:t>					…</a:t>
            </a:r>
          </a:p>
          <a:p>
            <a:pPr defTabSz="225425" eaLnBrk="0" hangingPunct="0">
              <a:spcBef>
                <a:spcPct val="15000"/>
              </a:spcBef>
              <a:defRPr/>
            </a:pPr>
            <a:r>
              <a:rPr lang="en-US" dirty="0">
                <a:latin typeface="Geneva" charset="0"/>
                <a:ea typeface="ヒラギノ角ゴ Pro W3" charset="-128"/>
                <a:cs typeface="ヒラギノ角ゴ Pro W3" charset="-128"/>
              </a:rPr>
              <a:t>				}</a:t>
            </a:r>
          </a:p>
          <a:p>
            <a:pPr defTabSz="225425" eaLnBrk="0" hangingPunct="0">
              <a:spcBef>
                <a:spcPct val="15000"/>
              </a:spcBef>
              <a:defRPr/>
            </a:pPr>
            <a:r>
              <a:rPr lang="en-US" dirty="0">
                <a:latin typeface="Geneva" charset="0"/>
                <a:ea typeface="ヒラギノ角ゴ Pro W3" charset="-128"/>
                <a:cs typeface="ヒラギノ角ゴ Pro W3" charset="-128"/>
              </a:rPr>
              <a:t>B3:			{</a:t>
            </a:r>
          </a:p>
          <a:p>
            <a:pPr defTabSz="225425" eaLnBrk="0" hangingPunct="0">
              <a:spcBef>
                <a:spcPct val="15000"/>
              </a:spcBef>
              <a:defRPr/>
            </a:pPr>
            <a:r>
              <a:rPr lang="en-US" dirty="0">
                <a:latin typeface="Geneva" charset="0"/>
                <a:ea typeface="ヒラギノ角ゴ Pro W3" charset="-128"/>
                <a:cs typeface="ヒラギノ角ゴ Pro W3" charset="-128"/>
              </a:rPr>
              <a:t>					</a:t>
            </a:r>
            <a:r>
              <a:rPr lang="en-US" dirty="0" err="1">
                <a:latin typeface="Geneva" charset="0"/>
                <a:ea typeface="ヒラギノ角ゴ Pro W3" charset="-128"/>
                <a:cs typeface="ヒラギノ角ゴ Pro W3" charset="-128"/>
              </a:rPr>
              <a:t>int</a:t>
            </a:r>
            <a:r>
              <a:rPr lang="en-US" dirty="0">
                <a:latin typeface="Geneva" charset="0"/>
                <a:ea typeface="ヒラギノ角ゴ Pro W3" charset="-128"/>
                <a:cs typeface="ヒラギノ角ゴ Pro W3" charset="-128"/>
              </a:rPr>
              <a:t> </a:t>
            </a:r>
            <a:r>
              <a:rPr lang="en-US" i="1" dirty="0" err="1">
                <a:solidFill>
                  <a:srgbClr val="FF0065"/>
                </a:solidFill>
                <a:latin typeface="Geneva" charset="0"/>
                <a:ea typeface="ヒラギノ角ゴ Pro W3" charset="-128"/>
                <a:cs typeface="ヒラギノ角ゴ Pro W3" charset="-128"/>
              </a:rPr>
              <a:t>x</a:t>
            </a:r>
            <a:r>
              <a:rPr lang="en-US" i="1" dirty="0">
                <a:latin typeface="Geneva" charset="0"/>
                <a:ea typeface="ヒラギノ角ゴ Pro W3" charset="-128"/>
                <a:cs typeface="ヒラギノ角ゴ Pro W3" charset="-128"/>
              </a:rPr>
              <a:t>, </a:t>
            </a:r>
            <a:r>
              <a:rPr lang="en-US" i="1" dirty="0">
                <a:solidFill>
                  <a:srgbClr val="003C75"/>
                </a:solidFill>
                <a:latin typeface="Geneva" charset="0"/>
                <a:ea typeface="ヒラギノ角ゴ Pro W3" charset="-128"/>
                <a:cs typeface="ヒラギノ角ゴ Pro W3" charset="-128"/>
              </a:rPr>
              <a:t>a</a:t>
            </a:r>
            <a:r>
              <a:rPr lang="en-US" i="1" dirty="0">
                <a:latin typeface="Geneva" charset="0"/>
                <a:ea typeface="ヒラギノ角ゴ Pro W3" charset="-128"/>
                <a:cs typeface="ヒラギノ角ゴ Pro W3" charset="-128"/>
              </a:rPr>
              <a:t>, </a:t>
            </a:r>
            <a:r>
              <a:rPr lang="en-US" i="1" dirty="0" err="1">
                <a:latin typeface="Geneva" charset="0"/>
                <a:ea typeface="ヒラギノ角ゴ Pro W3" charset="-128"/>
                <a:cs typeface="ヒラギノ角ゴ Pro W3" charset="-128"/>
              </a:rPr>
              <a:t>v</a:t>
            </a:r>
            <a:endParaRPr lang="en-US" i="1" dirty="0">
              <a:latin typeface="Geneva" charset="0"/>
              <a:ea typeface="ヒラギノ角ゴ Pro W3" charset="-128"/>
              <a:cs typeface="ヒラギノ角ゴ Pro W3" charset="-128"/>
            </a:endParaRPr>
          </a:p>
          <a:p>
            <a:pPr defTabSz="225425" eaLnBrk="0" hangingPunct="0">
              <a:spcBef>
                <a:spcPct val="15000"/>
              </a:spcBef>
              <a:defRPr/>
            </a:pPr>
            <a:r>
              <a:rPr lang="en-US" dirty="0">
                <a:latin typeface="Geneva" charset="0"/>
                <a:ea typeface="ヒラギノ角ゴ Pro W3" charset="-128"/>
                <a:cs typeface="ヒラギノ角ゴ Pro W3" charset="-128"/>
              </a:rPr>
              <a:t>					…</a:t>
            </a:r>
          </a:p>
          <a:p>
            <a:pPr defTabSz="225425" eaLnBrk="0" hangingPunct="0">
              <a:spcBef>
                <a:spcPct val="15000"/>
              </a:spcBef>
              <a:defRPr/>
            </a:pPr>
            <a:r>
              <a:rPr lang="en-US" dirty="0">
                <a:latin typeface="Geneva" charset="0"/>
                <a:ea typeface="ヒラギノ角ゴ Pro W3" charset="-128"/>
                <a:cs typeface="ヒラギノ角ゴ Pro W3" charset="-128"/>
              </a:rPr>
              <a:t>				}</a:t>
            </a:r>
          </a:p>
          <a:p>
            <a:pPr defTabSz="225425" eaLnBrk="0" hangingPunct="0">
              <a:spcBef>
                <a:spcPct val="15000"/>
              </a:spcBef>
              <a:defRPr/>
            </a:pPr>
            <a:r>
              <a:rPr lang="en-US" dirty="0">
                <a:latin typeface="Geneva" charset="0"/>
                <a:ea typeface="ヒラギノ角ゴ Pro W3" charset="-128"/>
                <a:cs typeface="ヒラギノ角ゴ Pro W3" charset="-128"/>
              </a:rPr>
              <a:t>				…</a:t>
            </a:r>
          </a:p>
          <a:p>
            <a:pPr defTabSz="225425" eaLnBrk="0" hangingPunct="0">
              <a:spcBef>
                <a:spcPct val="15000"/>
              </a:spcBef>
              <a:defRPr/>
            </a:pPr>
            <a:r>
              <a:rPr lang="en-US" dirty="0">
                <a:latin typeface="Geneva" charset="0"/>
                <a:ea typeface="ヒラギノ角ゴ Pro W3" charset="-128"/>
                <a:cs typeface="ヒラギノ角ゴ Pro W3" charset="-128"/>
              </a:rPr>
              <a:t>			}</a:t>
            </a:r>
          </a:p>
          <a:p>
            <a:pPr defTabSz="225425" eaLnBrk="0" hangingPunct="0">
              <a:spcBef>
                <a:spcPct val="15000"/>
              </a:spcBef>
              <a:defRPr/>
            </a:pPr>
            <a:r>
              <a:rPr lang="en-US" dirty="0">
                <a:latin typeface="Geneva" charset="0"/>
                <a:ea typeface="ヒラギノ角ゴ Pro W3" charset="-128"/>
                <a:cs typeface="ヒラギノ角ゴ Pro W3" charset="-128"/>
              </a:rPr>
              <a:t>			…</a:t>
            </a:r>
          </a:p>
          <a:p>
            <a:pPr defTabSz="225425" eaLnBrk="0" hangingPunct="0">
              <a:spcBef>
                <a:spcPct val="15000"/>
              </a:spcBef>
              <a:defRPr/>
            </a:pPr>
            <a:r>
              <a:rPr lang="en-US" dirty="0">
                <a:latin typeface="Geneva" charset="0"/>
                <a:ea typeface="ヒラギノ角ゴ Pro W3" charset="-128"/>
                <a:cs typeface="ヒラギノ角ゴ Pro W3" charset="-128"/>
              </a:rPr>
              <a:t>		}</a:t>
            </a:r>
          </a:p>
        </p:txBody>
      </p:sp>
      <p:grpSp>
        <p:nvGrpSpPr>
          <p:cNvPr id="34822" name="Group 28">
            <a:extLst>
              <a:ext uri="{FF2B5EF4-FFF2-40B4-BE49-F238E27FC236}">
                <a16:creationId xmlns:a16="http://schemas.microsoft.com/office/drawing/2014/main" id="{D475DFAE-2C99-4CE0-A4C5-0E4F9087195F}"/>
              </a:ext>
            </a:extLst>
          </p:cNvPr>
          <p:cNvGrpSpPr>
            <a:grpSpLocks/>
          </p:cNvGrpSpPr>
          <p:nvPr/>
        </p:nvGrpSpPr>
        <p:grpSpPr bwMode="auto">
          <a:xfrm>
            <a:off x="2971800" y="2971800"/>
            <a:ext cx="4564063" cy="3429000"/>
            <a:chOff x="1872" y="1872"/>
            <a:chExt cx="2875" cy="2160"/>
          </a:xfrm>
        </p:grpSpPr>
        <p:grpSp>
          <p:nvGrpSpPr>
            <p:cNvPr id="34823" name="Group 22">
              <a:extLst>
                <a:ext uri="{FF2B5EF4-FFF2-40B4-BE49-F238E27FC236}">
                  <a16:creationId xmlns:a16="http://schemas.microsoft.com/office/drawing/2014/main" id="{0C17E62B-4C94-41C3-AE76-5F2553C634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72" y="1872"/>
              <a:ext cx="2688" cy="2160"/>
              <a:chOff x="1872" y="1824"/>
              <a:chExt cx="2688" cy="2160"/>
            </a:xfrm>
          </p:grpSpPr>
          <p:sp>
            <p:nvSpPr>
              <p:cNvPr id="34840" name="Text Box 16">
                <a:extLst>
                  <a:ext uri="{FF2B5EF4-FFF2-40B4-BE49-F238E27FC236}">
                    <a16:creationId xmlns:a16="http://schemas.microsoft.com/office/drawing/2014/main" id="{2313CCE7-7BFA-499D-BBD1-150680877AE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24" y="3772"/>
                <a:ext cx="1536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it-IT" i="1">
                    <a:solidFill>
                      <a:srgbClr val="003C75"/>
                    </a:solidFill>
                  </a:rPr>
                  <a:t>Storage in block</a:t>
                </a:r>
                <a:r>
                  <a:rPr lang="en-US" altLang="it-IT">
                    <a:solidFill>
                      <a:srgbClr val="003C75"/>
                    </a:solidFill>
                  </a:rPr>
                  <a:t> </a:t>
                </a:r>
                <a:r>
                  <a:rPr lang="en-US" altLang="it-IT" sz="900">
                    <a:solidFill>
                      <a:srgbClr val="003C75"/>
                    </a:solidFill>
                  </a:rPr>
                  <a:t> </a:t>
                </a:r>
                <a:r>
                  <a:rPr lang="en-US" altLang="it-IT">
                    <a:solidFill>
                      <a:srgbClr val="003C75"/>
                    </a:solidFill>
                    <a:latin typeface="Geneva"/>
                  </a:rPr>
                  <a:t>B2</a:t>
                </a:r>
                <a:endParaRPr lang="en-US" altLang="it-IT">
                  <a:solidFill>
                    <a:srgbClr val="003C75"/>
                  </a:solidFill>
                </a:endParaRPr>
              </a:p>
            </p:txBody>
          </p:sp>
          <p:sp>
            <p:nvSpPr>
              <p:cNvPr id="34841" name="Freeform 19">
                <a:extLst>
                  <a:ext uri="{FF2B5EF4-FFF2-40B4-BE49-F238E27FC236}">
                    <a16:creationId xmlns:a16="http://schemas.microsoft.com/office/drawing/2014/main" id="{12EB35F8-FBFD-46A9-A3A8-ADA7F25B67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72" y="1824"/>
                <a:ext cx="1248" cy="2064"/>
              </a:xfrm>
              <a:custGeom>
                <a:avLst/>
                <a:gdLst>
                  <a:gd name="T0" fmla="*/ 1248 w 1248"/>
                  <a:gd name="T1" fmla="*/ 2064 h 2064"/>
                  <a:gd name="T2" fmla="*/ 528 w 1248"/>
                  <a:gd name="T3" fmla="*/ 1968 h 2064"/>
                  <a:gd name="T4" fmla="*/ 384 w 1248"/>
                  <a:gd name="T5" fmla="*/ 1536 h 2064"/>
                  <a:gd name="T6" fmla="*/ 192 w 1248"/>
                  <a:gd name="T7" fmla="*/ 1152 h 2064"/>
                  <a:gd name="T8" fmla="*/ 144 w 1248"/>
                  <a:gd name="T9" fmla="*/ 240 h 2064"/>
                  <a:gd name="T10" fmla="*/ 96 w 1248"/>
                  <a:gd name="T11" fmla="*/ 48 h 2064"/>
                  <a:gd name="T12" fmla="*/ 0 w 1248"/>
                  <a:gd name="T13" fmla="*/ 0 h 206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48"/>
                  <a:gd name="T22" fmla="*/ 0 h 2064"/>
                  <a:gd name="T23" fmla="*/ 1248 w 1248"/>
                  <a:gd name="T24" fmla="*/ 2064 h 206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48" h="2064">
                    <a:moveTo>
                      <a:pt x="1248" y="2064"/>
                    </a:moveTo>
                    <a:cubicBezTo>
                      <a:pt x="960" y="2060"/>
                      <a:pt x="672" y="2056"/>
                      <a:pt x="528" y="1968"/>
                    </a:cubicBezTo>
                    <a:cubicBezTo>
                      <a:pt x="384" y="1880"/>
                      <a:pt x="440" y="1672"/>
                      <a:pt x="384" y="1536"/>
                    </a:cubicBezTo>
                    <a:cubicBezTo>
                      <a:pt x="328" y="1400"/>
                      <a:pt x="232" y="1368"/>
                      <a:pt x="192" y="1152"/>
                    </a:cubicBezTo>
                    <a:cubicBezTo>
                      <a:pt x="152" y="936"/>
                      <a:pt x="160" y="424"/>
                      <a:pt x="144" y="240"/>
                    </a:cubicBezTo>
                    <a:cubicBezTo>
                      <a:pt x="128" y="56"/>
                      <a:pt x="120" y="88"/>
                      <a:pt x="96" y="48"/>
                    </a:cubicBezTo>
                    <a:cubicBezTo>
                      <a:pt x="72" y="8"/>
                      <a:pt x="36" y="4"/>
                      <a:pt x="0" y="0"/>
                    </a:cubicBezTo>
                  </a:path>
                </a:pathLst>
              </a:custGeom>
              <a:noFill/>
              <a:ln w="12700" algn="ctr">
                <a:solidFill>
                  <a:srgbClr val="003C75"/>
                </a:solidFill>
                <a:prstDash val="dash"/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endParaRPr lang="en-GB" altLang="it-IT"/>
              </a:p>
            </p:txBody>
          </p:sp>
        </p:grpSp>
        <p:grpSp>
          <p:nvGrpSpPr>
            <p:cNvPr id="34824" name="Group 27">
              <a:extLst>
                <a:ext uri="{FF2B5EF4-FFF2-40B4-BE49-F238E27FC236}">
                  <a16:creationId xmlns:a16="http://schemas.microsoft.com/office/drawing/2014/main" id="{C608CDC8-8B30-4707-BC95-FE345763FC9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79" y="3264"/>
              <a:ext cx="1968" cy="577"/>
              <a:chOff x="2784" y="3264"/>
              <a:chExt cx="1968" cy="577"/>
            </a:xfrm>
          </p:grpSpPr>
          <p:sp>
            <p:nvSpPr>
              <p:cNvPr id="34825" name="Rectangle 6">
                <a:extLst>
                  <a:ext uri="{FF2B5EF4-FFF2-40B4-BE49-F238E27FC236}">
                    <a16:creationId xmlns:a16="http://schemas.microsoft.com/office/drawing/2014/main" id="{0171CADE-DBA6-409B-86A1-2F2E312829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2" y="3340"/>
                <a:ext cx="192" cy="384"/>
              </a:xfrm>
              <a:prstGeom prst="rect">
                <a:avLst/>
              </a:prstGeom>
              <a:solidFill>
                <a:srgbClr val="E6E6E6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>
                    <a:solidFill>
                      <a:srgbClr val="003C75"/>
                    </a:solidFill>
                    <a:latin typeface="Geneva"/>
                  </a:rPr>
                  <a:t>a</a:t>
                </a:r>
              </a:p>
            </p:txBody>
          </p:sp>
          <p:sp>
            <p:nvSpPr>
              <p:cNvPr id="34826" name="Rectangle 7">
                <a:extLst>
                  <a:ext uri="{FF2B5EF4-FFF2-40B4-BE49-F238E27FC236}">
                    <a16:creationId xmlns:a16="http://schemas.microsoft.com/office/drawing/2014/main" id="{93BEB51C-55D5-41C8-94C4-689C9C2F99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24" y="3340"/>
                <a:ext cx="192" cy="384"/>
              </a:xfrm>
              <a:prstGeom prst="rect">
                <a:avLst/>
              </a:prstGeom>
              <a:solidFill>
                <a:srgbClr val="E6E6E6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>
                    <a:solidFill>
                      <a:srgbClr val="B025A6"/>
                    </a:solidFill>
                    <a:latin typeface="Geneva"/>
                  </a:rPr>
                  <a:t>b</a:t>
                </a:r>
              </a:p>
            </p:txBody>
          </p:sp>
          <p:sp>
            <p:nvSpPr>
              <p:cNvPr id="34827" name="Rectangle 8">
                <a:extLst>
                  <a:ext uri="{FF2B5EF4-FFF2-40B4-BE49-F238E27FC236}">
                    <a16:creationId xmlns:a16="http://schemas.microsoft.com/office/drawing/2014/main" id="{26E7791C-10A3-4BE3-9B8D-FED94DF718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16" y="3340"/>
                <a:ext cx="192" cy="384"/>
              </a:xfrm>
              <a:prstGeom prst="rect">
                <a:avLst/>
              </a:prstGeom>
              <a:solidFill>
                <a:srgbClr val="E6E6E6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>
                    <a:latin typeface="Geneva"/>
                  </a:rPr>
                  <a:t>c</a:t>
                </a:r>
              </a:p>
            </p:txBody>
          </p:sp>
          <p:sp>
            <p:nvSpPr>
              <p:cNvPr id="34828" name="Rectangle 9">
                <a:extLst>
                  <a:ext uri="{FF2B5EF4-FFF2-40B4-BE49-F238E27FC236}">
                    <a16:creationId xmlns:a16="http://schemas.microsoft.com/office/drawing/2014/main" id="{E9F6941C-8C67-4C36-B582-0ECA9B5A5F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8" y="3340"/>
                <a:ext cx="192" cy="384"/>
              </a:xfrm>
              <a:prstGeom prst="rect">
                <a:avLst/>
              </a:prstGeom>
              <a:solidFill>
                <a:srgbClr val="E6E6E6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>
                    <a:latin typeface="Geneva"/>
                  </a:rPr>
                  <a:t>v</a:t>
                </a:r>
              </a:p>
            </p:txBody>
          </p:sp>
          <p:sp>
            <p:nvSpPr>
              <p:cNvPr id="34829" name="Rectangle 10">
                <a:extLst>
                  <a:ext uri="{FF2B5EF4-FFF2-40B4-BE49-F238E27FC236}">
                    <a16:creationId xmlns:a16="http://schemas.microsoft.com/office/drawing/2014/main" id="{95651D3F-5E28-4E85-A9EC-44AFCEB9AB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3340"/>
                <a:ext cx="192" cy="384"/>
              </a:xfrm>
              <a:prstGeom prst="rect">
                <a:avLst/>
              </a:prstGeom>
              <a:solidFill>
                <a:srgbClr val="E6E6E6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>
                    <a:solidFill>
                      <a:srgbClr val="B025A6"/>
                    </a:solidFill>
                    <a:latin typeface="Geneva"/>
                  </a:rPr>
                  <a:t>b</a:t>
                </a:r>
              </a:p>
            </p:txBody>
          </p:sp>
          <p:sp>
            <p:nvSpPr>
              <p:cNvPr id="34830" name="Rectangle 11">
                <a:extLst>
                  <a:ext uri="{FF2B5EF4-FFF2-40B4-BE49-F238E27FC236}">
                    <a16:creationId xmlns:a16="http://schemas.microsoft.com/office/drawing/2014/main" id="{3D679D61-6D90-40C7-8A4D-CAF5EB9C64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92" y="3340"/>
                <a:ext cx="192" cy="384"/>
              </a:xfrm>
              <a:prstGeom prst="rect">
                <a:avLst/>
              </a:prstGeom>
              <a:solidFill>
                <a:srgbClr val="E6E6E6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>
                    <a:solidFill>
                      <a:srgbClr val="FF0065"/>
                    </a:solidFill>
                    <a:latin typeface="Geneva"/>
                  </a:rPr>
                  <a:t>x</a:t>
                </a:r>
              </a:p>
            </p:txBody>
          </p:sp>
          <p:sp>
            <p:nvSpPr>
              <p:cNvPr id="34831" name="Rectangle 12">
                <a:extLst>
                  <a:ext uri="{FF2B5EF4-FFF2-40B4-BE49-F238E27FC236}">
                    <a16:creationId xmlns:a16="http://schemas.microsoft.com/office/drawing/2014/main" id="{CB34F07F-24AC-45BC-8FFF-9ED5336F68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84" y="3340"/>
                <a:ext cx="192" cy="384"/>
              </a:xfrm>
              <a:prstGeom prst="rect">
                <a:avLst/>
              </a:prstGeom>
              <a:solidFill>
                <a:srgbClr val="E6E6E6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>
                    <a:latin typeface="Geneva"/>
                  </a:rPr>
                  <a:t>w</a:t>
                </a:r>
              </a:p>
            </p:txBody>
          </p:sp>
          <p:sp>
            <p:nvSpPr>
              <p:cNvPr id="34832" name="Rectangle 13">
                <a:extLst>
                  <a:ext uri="{FF2B5EF4-FFF2-40B4-BE49-F238E27FC236}">
                    <a16:creationId xmlns:a16="http://schemas.microsoft.com/office/drawing/2014/main" id="{12644625-AA35-4F70-8312-467ED5667A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76" y="3340"/>
                <a:ext cx="192" cy="384"/>
              </a:xfrm>
              <a:prstGeom prst="rect">
                <a:avLst/>
              </a:prstGeom>
              <a:solidFill>
                <a:srgbClr val="E6E6E6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>
                    <a:solidFill>
                      <a:srgbClr val="FF0065"/>
                    </a:solidFill>
                    <a:latin typeface="Geneva"/>
                  </a:rPr>
                  <a:t>x</a:t>
                </a:r>
              </a:p>
            </p:txBody>
          </p:sp>
          <p:sp>
            <p:nvSpPr>
              <p:cNvPr id="34833" name="Rectangle 14">
                <a:extLst>
                  <a:ext uri="{FF2B5EF4-FFF2-40B4-BE49-F238E27FC236}">
                    <a16:creationId xmlns:a16="http://schemas.microsoft.com/office/drawing/2014/main" id="{3A8112CC-7676-447D-B28B-52C49023F0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68" y="3340"/>
                <a:ext cx="192" cy="384"/>
              </a:xfrm>
              <a:prstGeom prst="rect">
                <a:avLst/>
              </a:prstGeom>
              <a:solidFill>
                <a:srgbClr val="E6E6E6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>
                    <a:latin typeface="Geneva"/>
                  </a:rPr>
                  <a:t>y</a:t>
                </a:r>
              </a:p>
            </p:txBody>
          </p:sp>
          <p:sp>
            <p:nvSpPr>
              <p:cNvPr id="34834" name="Rectangle 15">
                <a:extLst>
                  <a:ext uri="{FF2B5EF4-FFF2-40B4-BE49-F238E27FC236}">
                    <a16:creationId xmlns:a16="http://schemas.microsoft.com/office/drawing/2014/main" id="{70927FBC-B00C-4D0E-8DB0-4D6BC55347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60" y="3340"/>
                <a:ext cx="192" cy="384"/>
              </a:xfrm>
              <a:prstGeom prst="rect">
                <a:avLst/>
              </a:prstGeom>
              <a:solidFill>
                <a:srgbClr val="E6E6E6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>
                    <a:latin typeface="Geneva"/>
                  </a:rPr>
                  <a:t>z</a:t>
                </a:r>
              </a:p>
            </p:txBody>
          </p:sp>
          <p:sp>
            <p:nvSpPr>
              <p:cNvPr id="34835" name="Line 20">
                <a:extLst>
                  <a:ext uri="{FF2B5EF4-FFF2-40B4-BE49-F238E27FC236}">
                    <a16:creationId xmlns:a16="http://schemas.microsoft.com/office/drawing/2014/main" id="{D619D263-96F2-4F35-9645-D9AE06FAE5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3264"/>
                <a:ext cx="0" cy="528"/>
              </a:xfrm>
              <a:prstGeom prst="line">
                <a:avLst/>
              </a:prstGeom>
              <a:noFill/>
              <a:ln w="19050">
                <a:solidFill>
                  <a:srgbClr val="003C75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  <p:sp>
            <p:nvSpPr>
              <p:cNvPr id="34836" name="Line 21">
                <a:extLst>
                  <a:ext uri="{FF2B5EF4-FFF2-40B4-BE49-F238E27FC236}">
                    <a16:creationId xmlns:a16="http://schemas.microsoft.com/office/drawing/2014/main" id="{28E9BF99-0949-4B6C-BF36-733082A2C6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76" y="3264"/>
                <a:ext cx="0" cy="528"/>
              </a:xfrm>
              <a:prstGeom prst="line">
                <a:avLst/>
              </a:prstGeom>
              <a:noFill/>
              <a:ln w="19050">
                <a:solidFill>
                  <a:srgbClr val="003C75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  <p:sp>
            <p:nvSpPr>
              <p:cNvPr id="34837" name="Text Box 23">
                <a:extLst>
                  <a:ext uri="{FF2B5EF4-FFF2-40B4-BE49-F238E27FC236}">
                    <a16:creationId xmlns:a16="http://schemas.microsoft.com/office/drawing/2014/main" id="{DE27F5A0-8439-420A-AB01-3A3E4F15760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83" y="3706"/>
                <a:ext cx="192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it-IT" sz="800"/>
                  <a:t>L1</a:t>
                </a:r>
              </a:p>
            </p:txBody>
          </p:sp>
          <p:sp>
            <p:nvSpPr>
              <p:cNvPr id="34838" name="Text Box 24">
                <a:extLst>
                  <a:ext uri="{FF2B5EF4-FFF2-40B4-BE49-F238E27FC236}">
                    <a16:creationId xmlns:a16="http://schemas.microsoft.com/office/drawing/2014/main" id="{59425061-032B-45DF-8716-61685CB1026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53" y="3706"/>
                <a:ext cx="192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it-IT" sz="800"/>
                  <a:t>L2</a:t>
                </a:r>
              </a:p>
            </p:txBody>
          </p:sp>
          <p:sp>
            <p:nvSpPr>
              <p:cNvPr id="34839" name="Text Box 25">
                <a:extLst>
                  <a:ext uri="{FF2B5EF4-FFF2-40B4-BE49-F238E27FC236}">
                    <a16:creationId xmlns:a16="http://schemas.microsoft.com/office/drawing/2014/main" id="{E9819128-42E7-4D41-B76F-D27C958A1F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84" y="3706"/>
                <a:ext cx="192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it-IT" sz="800"/>
                  <a:t>L0</a:t>
                </a:r>
              </a:p>
            </p:txBody>
          </p:sp>
        </p:grpSp>
      </p:grpSp>
    </p:spTree>
  </p:cSld>
  <p:clrMapOvr>
    <a:masterClrMapping/>
  </p:clrMapOvr>
  <p:transition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Footer Placeholder 1">
            <a:extLst>
              <a:ext uri="{FF2B5EF4-FFF2-40B4-BE49-F238E27FC236}">
                <a16:creationId xmlns:a16="http://schemas.microsoft.com/office/drawing/2014/main" id="{E7DED8F2-CDB6-4094-B1A2-5BC8B69EA61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200"/>
              <a:t>Comp 412, Fall 2010</a:t>
            </a:r>
          </a:p>
        </p:txBody>
      </p:sp>
      <p:sp>
        <p:nvSpPr>
          <p:cNvPr id="36866" name="Slide Number Placeholder 2">
            <a:extLst>
              <a:ext uri="{FF2B5EF4-FFF2-40B4-BE49-F238E27FC236}">
                <a16:creationId xmlns:a16="http://schemas.microsoft.com/office/drawing/2014/main" id="{644D54C0-6E1D-4415-AA1B-FCF238ECCE1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2DC419FE-5FF4-4D7B-A253-F27268A05DFE}" type="slidenum">
              <a:rPr lang="en-US" altLang="it-IT" sz="1200"/>
              <a:pPr/>
              <a:t>11</a:t>
            </a:fld>
            <a:endParaRPr lang="en-US" altLang="it-IT" sz="1200"/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68976993-DCC8-47BB-9C14-F66251B16C0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Tying It Back to the Scoped Symbol Table</a:t>
            </a:r>
          </a:p>
        </p:txBody>
      </p:sp>
      <p:grpSp>
        <p:nvGrpSpPr>
          <p:cNvPr id="36868" name="Group 71">
            <a:extLst>
              <a:ext uri="{FF2B5EF4-FFF2-40B4-BE49-F238E27FC236}">
                <a16:creationId xmlns:a16="http://schemas.microsoft.com/office/drawing/2014/main" id="{0959A444-709A-44AC-BC08-B701B0A4C4D8}"/>
              </a:ext>
            </a:extLst>
          </p:cNvPr>
          <p:cNvGrpSpPr>
            <a:grpSpLocks/>
          </p:cNvGrpSpPr>
          <p:nvPr/>
        </p:nvGrpSpPr>
        <p:grpSpPr bwMode="auto">
          <a:xfrm>
            <a:off x="914400" y="1676400"/>
            <a:ext cx="3124200" cy="1219200"/>
            <a:chOff x="667" y="1968"/>
            <a:chExt cx="1968" cy="768"/>
          </a:xfrm>
        </p:grpSpPr>
        <p:sp>
          <p:nvSpPr>
            <p:cNvPr id="36921" name="Text Box 53">
              <a:extLst>
                <a:ext uri="{FF2B5EF4-FFF2-40B4-BE49-F238E27FC236}">
                  <a16:creationId xmlns:a16="http://schemas.microsoft.com/office/drawing/2014/main" id="{B7161339-10F7-4EB8-BE71-62F4385448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" y="2524"/>
              <a:ext cx="15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 i="1">
                  <a:solidFill>
                    <a:srgbClr val="003C75"/>
                  </a:solidFill>
                </a:rPr>
                <a:t>Storage in block</a:t>
              </a:r>
              <a:r>
                <a:rPr lang="en-US" altLang="it-IT">
                  <a:solidFill>
                    <a:srgbClr val="003C75"/>
                  </a:solidFill>
                </a:rPr>
                <a:t> </a:t>
              </a:r>
              <a:r>
                <a:rPr lang="en-US" altLang="it-IT" sz="900">
                  <a:solidFill>
                    <a:srgbClr val="003C75"/>
                  </a:solidFill>
                </a:rPr>
                <a:t> </a:t>
              </a:r>
              <a:r>
                <a:rPr lang="en-US" altLang="it-IT">
                  <a:solidFill>
                    <a:srgbClr val="003C75"/>
                  </a:solidFill>
                  <a:latin typeface="Geneva"/>
                </a:rPr>
                <a:t>B2</a:t>
              </a:r>
              <a:endParaRPr lang="en-US" altLang="it-IT">
                <a:solidFill>
                  <a:srgbClr val="003C75"/>
                </a:solidFill>
              </a:endParaRPr>
            </a:p>
          </p:txBody>
        </p:sp>
        <p:grpSp>
          <p:nvGrpSpPr>
            <p:cNvPr id="36922" name="Group 55">
              <a:extLst>
                <a:ext uri="{FF2B5EF4-FFF2-40B4-BE49-F238E27FC236}">
                  <a16:creationId xmlns:a16="http://schemas.microsoft.com/office/drawing/2014/main" id="{643143F3-54FA-472C-8EE5-E22B0F91027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67" y="1968"/>
              <a:ext cx="1968" cy="577"/>
              <a:chOff x="2784" y="3264"/>
              <a:chExt cx="1968" cy="577"/>
            </a:xfrm>
          </p:grpSpPr>
          <p:sp>
            <p:nvSpPr>
              <p:cNvPr id="36923" name="Rectangle 56">
                <a:extLst>
                  <a:ext uri="{FF2B5EF4-FFF2-40B4-BE49-F238E27FC236}">
                    <a16:creationId xmlns:a16="http://schemas.microsoft.com/office/drawing/2014/main" id="{6213FB8F-F5E7-4CB3-90B0-EAAD534432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2" y="3340"/>
                <a:ext cx="192" cy="384"/>
              </a:xfrm>
              <a:prstGeom prst="rect">
                <a:avLst/>
              </a:prstGeom>
              <a:solidFill>
                <a:srgbClr val="E6E6E6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>
                    <a:solidFill>
                      <a:srgbClr val="003C75"/>
                    </a:solidFill>
                    <a:latin typeface="Geneva"/>
                  </a:rPr>
                  <a:t>a</a:t>
                </a:r>
              </a:p>
            </p:txBody>
          </p:sp>
          <p:sp>
            <p:nvSpPr>
              <p:cNvPr id="36924" name="Rectangle 57">
                <a:extLst>
                  <a:ext uri="{FF2B5EF4-FFF2-40B4-BE49-F238E27FC236}">
                    <a16:creationId xmlns:a16="http://schemas.microsoft.com/office/drawing/2014/main" id="{EEB87FCC-53AF-499D-A7D7-8CE964D7A0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24" y="3340"/>
                <a:ext cx="192" cy="384"/>
              </a:xfrm>
              <a:prstGeom prst="rect">
                <a:avLst/>
              </a:prstGeom>
              <a:solidFill>
                <a:srgbClr val="E6E6E6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>
                    <a:solidFill>
                      <a:srgbClr val="B025A6"/>
                    </a:solidFill>
                    <a:latin typeface="Geneva"/>
                  </a:rPr>
                  <a:t>b</a:t>
                </a:r>
              </a:p>
            </p:txBody>
          </p:sp>
          <p:sp>
            <p:nvSpPr>
              <p:cNvPr id="36925" name="Rectangle 58">
                <a:extLst>
                  <a:ext uri="{FF2B5EF4-FFF2-40B4-BE49-F238E27FC236}">
                    <a16:creationId xmlns:a16="http://schemas.microsoft.com/office/drawing/2014/main" id="{E75AC841-E6E7-4844-8945-CFB4FA89EA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16" y="3340"/>
                <a:ext cx="192" cy="384"/>
              </a:xfrm>
              <a:prstGeom prst="rect">
                <a:avLst/>
              </a:prstGeom>
              <a:solidFill>
                <a:srgbClr val="E6E6E6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>
                    <a:latin typeface="Geneva"/>
                  </a:rPr>
                  <a:t>c</a:t>
                </a:r>
              </a:p>
            </p:txBody>
          </p:sp>
          <p:sp>
            <p:nvSpPr>
              <p:cNvPr id="36926" name="Rectangle 59">
                <a:extLst>
                  <a:ext uri="{FF2B5EF4-FFF2-40B4-BE49-F238E27FC236}">
                    <a16:creationId xmlns:a16="http://schemas.microsoft.com/office/drawing/2014/main" id="{F1CF482D-16D1-4C27-9B8F-1E4343FD6C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8" y="3340"/>
                <a:ext cx="192" cy="384"/>
              </a:xfrm>
              <a:prstGeom prst="rect">
                <a:avLst/>
              </a:prstGeom>
              <a:solidFill>
                <a:srgbClr val="E6E6E6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>
                    <a:latin typeface="Geneva"/>
                  </a:rPr>
                  <a:t>v</a:t>
                </a:r>
              </a:p>
            </p:txBody>
          </p:sp>
          <p:sp>
            <p:nvSpPr>
              <p:cNvPr id="36927" name="Rectangle 60">
                <a:extLst>
                  <a:ext uri="{FF2B5EF4-FFF2-40B4-BE49-F238E27FC236}">
                    <a16:creationId xmlns:a16="http://schemas.microsoft.com/office/drawing/2014/main" id="{19F4D627-9CDB-4D7D-9F92-25BC5FAAD7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3340"/>
                <a:ext cx="192" cy="384"/>
              </a:xfrm>
              <a:prstGeom prst="rect">
                <a:avLst/>
              </a:prstGeom>
              <a:solidFill>
                <a:srgbClr val="E6E6E6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>
                    <a:solidFill>
                      <a:srgbClr val="B025A6"/>
                    </a:solidFill>
                    <a:latin typeface="Geneva"/>
                  </a:rPr>
                  <a:t>b</a:t>
                </a:r>
              </a:p>
            </p:txBody>
          </p:sp>
          <p:sp>
            <p:nvSpPr>
              <p:cNvPr id="36928" name="Rectangle 61">
                <a:extLst>
                  <a:ext uri="{FF2B5EF4-FFF2-40B4-BE49-F238E27FC236}">
                    <a16:creationId xmlns:a16="http://schemas.microsoft.com/office/drawing/2014/main" id="{821BB316-9CC4-420E-93C3-1D4B0EC9B1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92" y="3340"/>
                <a:ext cx="192" cy="384"/>
              </a:xfrm>
              <a:prstGeom prst="rect">
                <a:avLst/>
              </a:prstGeom>
              <a:solidFill>
                <a:srgbClr val="E6E6E6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>
                    <a:solidFill>
                      <a:srgbClr val="FF0065"/>
                    </a:solidFill>
                    <a:latin typeface="Geneva"/>
                  </a:rPr>
                  <a:t>x</a:t>
                </a:r>
              </a:p>
            </p:txBody>
          </p:sp>
          <p:sp>
            <p:nvSpPr>
              <p:cNvPr id="36929" name="Rectangle 62">
                <a:extLst>
                  <a:ext uri="{FF2B5EF4-FFF2-40B4-BE49-F238E27FC236}">
                    <a16:creationId xmlns:a16="http://schemas.microsoft.com/office/drawing/2014/main" id="{68380E25-0C2F-415F-8E23-35B3F72180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84" y="3340"/>
                <a:ext cx="192" cy="384"/>
              </a:xfrm>
              <a:prstGeom prst="rect">
                <a:avLst/>
              </a:prstGeom>
              <a:solidFill>
                <a:srgbClr val="E6E6E6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>
                    <a:latin typeface="Geneva"/>
                  </a:rPr>
                  <a:t>w</a:t>
                </a:r>
              </a:p>
            </p:txBody>
          </p:sp>
          <p:sp>
            <p:nvSpPr>
              <p:cNvPr id="36930" name="Rectangle 63">
                <a:extLst>
                  <a:ext uri="{FF2B5EF4-FFF2-40B4-BE49-F238E27FC236}">
                    <a16:creationId xmlns:a16="http://schemas.microsoft.com/office/drawing/2014/main" id="{6C9180BA-F035-4466-AFB1-4A1A040A05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76" y="3340"/>
                <a:ext cx="192" cy="384"/>
              </a:xfrm>
              <a:prstGeom prst="rect">
                <a:avLst/>
              </a:prstGeom>
              <a:solidFill>
                <a:srgbClr val="E6E6E6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>
                    <a:solidFill>
                      <a:srgbClr val="FF0065"/>
                    </a:solidFill>
                    <a:latin typeface="Geneva"/>
                  </a:rPr>
                  <a:t>x</a:t>
                </a:r>
              </a:p>
            </p:txBody>
          </p:sp>
          <p:sp>
            <p:nvSpPr>
              <p:cNvPr id="36931" name="Rectangle 64">
                <a:extLst>
                  <a:ext uri="{FF2B5EF4-FFF2-40B4-BE49-F238E27FC236}">
                    <a16:creationId xmlns:a16="http://schemas.microsoft.com/office/drawing/2014/main" id="{E6ACC304-654B-4FA6-A526-376B03061D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68" y="3340"/>
                <a:ext cx="192" cy="384"/>
              </a:xfrm>
              <a:prstGeom prst="rect">
                <a:avLst/>
              </a:prstGeom>
              <a:solidFill>
                <a:srgbClr val="E6E6E6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>
                    <a:latin typeface="Geneva"/>
                  </a:rPr>
                  <a:t>y</a:t>
                </a:r>
              </a:p>
            </p:txBody>
          </p:sp>
          <p:sp>
            <p:nvSpPr>
              <p:cNvPr id="36932" name="Rectangle 65">
                <a:extLst>
                  <a:ext uri="{FF2B5EF4-FFF2-40B4-BE49-F238E27FC236}">
                    <a16:creationId xmlns:a16="http://schemas.microsoft.com/office/drawing/2014/main" id="{58064BF8-A214-4681-AE52-F6235DC4EF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60" y="3340"/>
                <a:ext cx="192" cy="384"/>
              </a:xfrm>
              <a:prstGeom prst="rect">
                <a:avLst/>
              </a:prstGeom>
              <a:solidFill>
                <a:srgbClr val="E6E6E6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>
                    <a:latin typeface="Geneva"/>
                  </a:rPr>
                  <a:t>z</a:t>
                </a:r>
              </a:p>
            </p:txBody>
          </p:sp>
          <p:sp>
            <p:nvSpPr>
              <p:cNvPr id="36933" name="Line 66">
                <a:extLst>
                  <a:ext uri="{FF2B5EF4-FFF2-40B4-BE49-F238E27FC236}">
                    <a16:creationId xmlns:a16="http://schemas.microsoft.com/office/drawing/2014/main" id="{CC938579-AFB2-4D6A-AC1A-D3D47F8414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3264"/>
                <a:ext cx="0" cy="528"/>
              </a:xfrm>
              <a:prstGeom prst="line">
                <a:avLst/>
              </a:prstGeom>
              <a:noFill/>
              <a:ln w="19050">
                <a:solidFill>
                  <a:srgbClr val="003C75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  <p:sp>
            <p:nvSpPr>
              <p:cNvPr id="36934" name="Line 67">
                <a:extLst>
                  <a:ext uri="{FF2B5EF4-FFF2-40B4-BE49-F238E27FC236}">
                    <a16:creationId xmlns:a16="http://schemas.microsoft.com/office/drawing/2014/main" id="{45572890-DEA1-4069-9C94-CAD33D9DFF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76" y="3264"/>
                <a:ext cx="0" cy="528"/>
              </a:xfrm>
              <a:prstGeom prst="line">
                <a:avLst/>
              </a:prstGeom>
              <a:noFill/>
              <a:ln w="19050">
                <a:solidFill>
                  <a:srgbClr val="003C75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  <p:sp>
            <p:nvSpPr>
              <p:cNvPr id="36935" name="Text Box 68">
                <a:extLst>
                  <a:ext uri="{FF2B5EF4-FFF2-40B4-BE49-F238E27FC236}">
                    <a16:creationId xmlns:a16="http://schemas.microsoft.com/office/drawing/2014/main" id="{D625C9DA-E656-45C9-A83D-4978DEC21B4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83" y="3706"/>
                <a:ext cx="192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it-IT" sz="800"/>
                  <a:t>L1</a:t>
                </a:r>
              </a:p>
            </p:txBody>
          </p:sp>
          <p:sp>
            <p:nvSpPr>
              <p:cNvPr id="36936" name="Text Box 69">
                <a:extLst>
                  <a:ext uri="{FF2B5EF4-FFF2-40B4-BE49-F238E27FC236}">
                    <a16:creationId xmlns:a16="http://schemas.microsoft.com/office/drawing/2014/main" id="{0C446FC9-1D9D-4DC6-B240-ADD181F82A0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53" y="3706"/>
                <a:ext cx="192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it-IT" sz="800"/>
                  <a:t>L2</a:t>
                </a:r>
              </a:p>
            </p:txBody>
          </p:sp>
          <p:sp>
            <p:nvSpPr>
              <p:cNvPr id="36937" name="Text Box 70">
                <a:extLst>
                  <a:ext uri="{FF2B5EF4-FFF2-40B4-BE49-F238E27FC236}">
                    <a16:creationId xmlns:a16="http://schemas.microsoft.com/office/drawing/2014/main" id="{13AD27F6-CE6D-4441-9292-488A7633E32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84" y="3706"/>
                <a:ext cx="192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it-IT" sz="800"/>
                  <a:t>L0</a:t>
                </a:r>
              </a:p>
            </p:txBody>
          </p:sp>
        </p:grpSp>
      </p:grpSp>
      <p:grpSp>
        <p:nvGrpSpPr>
          <p:cNvPr id="36869" name="Group 78">
            <a:extLst>
              <a:ext uri="{FF2B5EF4-FFF2-40B4-BE49-F238E27FC236}">
                <a16:creationId xmlns:a16="http://schemas.microsoft.com/office/drawing/2014/main" id="{8C58C9CE-8AA9-48D2-9737-420F7AF9B6A6}"/>
              </a:ext>
            </a:extLst>
          </p:cNvPr>
          <p:cNvGrpSpPr>
            <a:grpSpLocks/>
          </p:cNvGrpSpPr>
          <p:nvPr/>
        </p:nvGrpSpPr>
        <p:grpSpPr bwMode="auto">
          <a:xfrm>
            <a:off x="4495800" y="1676400"/>
            <a:ext cx="3886200" cy="3581400"/>
            <a:chOff x="2832" y="1104"/>
            <a:chExt cx="2448" cy="2256"/>
          </a:xfrm>
        </p:grpSpPr>
        <p:grpSp>
          <p:nvGrpSpPr>
            <p:cNvPr id="36870" name="Group 5">
              <a:extLst>
                <a:ext uri="{FF2B5EF4-FFF2-40B4-BE49-F238E27FC236}">
                  <a16:creationId xmlns:a16="http://schemas.microsoft.com/office/drawing/2014/main" id="{43412EA7-E6FB-406F-BA67-B7F8079D89E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32" y="1104"/>
              <a:ext cx="2448" cy="2256"/>
              <a:chOff x="432" y="1488"/>
              <a:chExt cx="2448" cy="2256"/>
            </a:xfrm>
          </p:grpSpPr>
          <p:sp>
            <p:nvSpPr>
              <p:cNvPr id="27701" name="Rectangle 45">
                <a:extLst>
                  <a:ext uri="{FF2B5EF4-FFF2-40B4-BE49-F238E27FC236}">
                    <a16:creationId xmlns:a16="http://schemas.microsoft.com/office/drawing/2014/main" id="{94226D00-0D5C-419F-B8F0-19A0CBA0ED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" y="1488"/>
                <a:ext cx="2448" cy="2256"/>
              </a:xfrm>
              <a:prstGeom prst="rect">
                <a:avLst/>
              </a:prstGeom>
              <a:solidFill>
                <a:srgbClr val="FFFFFF"/>
              </a:solidFill>
              <a:ln w="19050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>
                <a:outerShdw blurRad="50800" dist="38100" dir="2700000">
                  <a:srgbClr val="000000">
                    <a:alpha val="43000"/>
                  </a:srgbClr>
                </a:outerShdw>
              </a:effectLst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en-US">
                  <a:latin typeface="Comic Sans MS" charset="0"/>
                  <a:ea typeface="ヒラギノ角ゴ Pro W3" charset="-128"/>
                  <a:cs typeface="ヒラギノ角ゴ Pro W3" charset="-128"/>
                </a:endParaRPr>
              </a:p>
            </p:txBody>
          </p:sp>
          <p:sp>
            <p:nvSpPr>
              <p:cNvPr id="36878" name="Rectangle 6">
                <a:extLst>
                  <a:ext uri="{FF2B5EF4-FFF2-40B4-BE49-F238E27FC236}">
                    <a16:creationId xmlns:a16="http://schemas.microsoft.com/office/drawing/2014/main" id="{349C994A-EA7E-4563-A91E-3301361CF6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2160"/>
                <a:ext cx="432" cy="14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endParaRPr lang="en-GB" altLang="it-IT"/>
              </a:p>
            </p:txBody>
          </p:sp>
          <p:sp>
            <p:nvSpPr>
              <p:cNvPr id="36879" name="Rectangle 7">
                <a:extLst>
                  <a:ext uri="{FF2B5EF4-FFF2-40B4-BE49-F238E27FC236}">
                    <a16:creationId xmlns:a16="http://schemas.microsoft.com/office/drawing/2014/main" id="{FC17B00D-1D94-440F-8CA3-CA514D7EC5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2160"/>
                <a:ext cx="432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endParaRPr lang="en-GB" altLang="it-IT"/>
              </a:p>
            </p:txBody>
          </p:sp>
          <p:sp>
            <p:nvSpPr>
              <p:cNvPr id="36880" name="Rectangle 8">
                <a:extLst>
                  <a:ext uri="{FF2B5EF4-FFF2-40B4-BE49-F238E27FC236}">
                    <a16:creationId xmlns:a16="http://schemas.microsoft.com/office/drawing/2014/main" id="{522CFBD7-FD00-4288-8F75-E97E2E2F1B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2304"/>
                <a:ext cx="432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endParaRPr lang="en-GB" altLang="it-IT">
                  <a:solidFill>
                    <a:srgbClr val="FF0065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36881" name="Rectangle 9">
                <a:extLst>
                  <a:ext uri="{FF2B5EF4-FFF2-40B4-BE49-F238E27FC236}">
                    <a16:creationId xmlns:a16="http://schemas.microsoft.com/office/drawing/2014/main" id="{F0AD8EB8-5A13-4E1D-B791-A04168A6B6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2448"/>
                <a:ext cx="432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endParaRPr lang="en-GB" altLang="it-IT"/>
              </a:p>
            </p:txBody>
          </p:sp>
          <p:sp>
            <p:nvSpPr>
              <p:cNvPr id="36882" name="Rectangle 10">
                <a:extLst>
                  <a:ext uri="{FF2B5EF4-FFF2-40B4-BE49-F238E27FC236}">
                    <a16:creationId xmlns:a16="http://schemas.microsoft.com/office/drawing/2014/main" id="{D900BA32-64C9-4067-90C2-AC72B2A0EA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2592"/>
                <a:ext cx="432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endParaRPr lang="en-GB" altLang="it-IT"/>
              </a:p>
            </p:txBody>
          </p:sp>
          <p:sp>
            <p:nvSpPr>
              <p:cNvPr id="36883" name="Rectangle 11">
                <a:extLst>
                  <a:ext uri="{FF2B5EF4-FFF2-40B4-BE49-F238E27FC236}">
                    <a16:creationId xmlns:a16="http://schemas.microsoft.com/office/drawing/2014/main" id="{17127CA7-02B1-4296-8E77-CF0C962FAD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2736"/>
                <a:ext cx="432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400">
                    <a:latin typeface="Arial Rounded MT Bold" panose="020F0704030504030204" pitchFamily="34" charset="0"/>
                  </a:rPr>
                  <a:t>y</a:t>
                </a:r>
                <a:endParaRPr lang="en-US" altLang="it-IT"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36884" name="Rectangle 12">
                <a:extLst>
                  <a:ext uri="{FF2B5EF4-FFF2-40B4-BE49-F238E27FC236}">
                    <a16:creationId xmlns:a16="http://schemas.microsoft.com/office/drawing/2014/main" id="{297C1F20-9B0F-414A-8EC8-A69EF188F5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2880"/>
                <a:ext cx="432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endParaRPr lang="en-GB" altLang="it-IT"/>
              </a:p>
            </p:txBody>
          </p:sp>
          <p:sp>
            <p:nvSpPr>
              <p:cNvPr id="36885" name="Rectangle 13">
                <a:extLst>
                  <a:ext uri="{FF2B5EF4-FFF2-40B4-BE49-F238E27FC236}">
                    <a16:creationId xmlns:a16="http://schemas.microsoft.com/office/drawing/2014/main" id="{8DDA1C64-80E1-49C9-B110-9D1DA1EFDC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024"/>
                <a:ext cx="432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endParaRPr lang="en-GB" altLang="it-IT"/>
              </a:p>
            </p:txBody>
          </p:sp>
          <p:sp>
            <p:nvSpPr>
              <p:cNvPr id="36886" name="Rectangle 14">
                <a:extLst>
                  <a:ext uri="{FF2B5EF4-FFF2-40B4-BE49-F238E27FC236}">
                    <a16:creationId xmlns:a16="http://schemas.microsoft.com/office/drawing/2014/main" id="{F87A52D1-3AF4-4CB8-BE4E-CC006753AB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168"/>
                <a:ext cx="432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endParaRPr lang="en-GB" altLang="it-IT"/>
              </a:p>
            </p:txBody>
          </p:sp>
          <p:sp>
            <p:nvSpPr>
              <p:cNvPr id="36887" name="Rectangle 15">
                <a:extLst>
                  <a:ext uri="{FF2B5EF4-FFF2-40B4-BE49-F238E27FC236}">
                    <a16:creationId xmlns:a16="http://schemas.microsoft.com/office/drawing/2014/main" id="{AE934DE6-D738-4D98-9F0F-58DBEE3140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12"/>
                <a:ext cx="432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endParaRPr lang="en-GB" altLang="it-IT"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36888" name="Rectangle 16">
                <a:extLst>
                  <a:ext uri="{FF2B5EF4-FFF2-40B4-BE49-F238E27FC236}">
                    <a16:creationId xmlns:a16="http://schemas.microsoft.com/office/drawing/2014/main" id="{D71AB32A-EC91-4E5D-9EB9-01BCE9A101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456"/>
                <a:ext cx="432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endParaRPr lang="en-GB" altLang="it-IT"/>
              </a:p>
            </p:txBody>
          </p:sp>
          <p:sp>
            <p:nvSpPr>
              <p:cNvPr id="36889" name="Rectangle 17">
                <a:extLst>
                  <a:ext uri="{FF2B5EF4-FFF2-40B4-BE49-F238E27FC236}">
                    <a16:creationId xmlns:a16="http://schemas.microsoft.com/office/drawing/2014/main" id="{E95C0616-0B87-47EB-97BA-63C581B793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84" y="2015"/>
                <a:ext cx="432" cy="14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endParaRPr lang="en-GB" altLang="it-IT"/>
              </a:p>
            </p:txBody>
          </p:sp>
          <p:sp>
            <p:nvSpPr>
              <p:cNvPr id="36890" name="Rectangle 18">
                <a:extLst>
                  <a:ext uri="{FF2B5EF4-FFF2-40B4-BE49-F238E27FC236}">
                    <a16:creationId xmlns:a16="http://schemas.microsoft.com/office/drawing/2014/main" id="{096D6DEB-E077-4811-B9E4-018E9F7475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84" y="2015"/>
                <a:ext cx="432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endParaRPr lang="en-GB" altLang="it-IT"/>
              </a:p>
            </p:txBody>
          </p:sp>
          <p:sp>
            <p:nvSpPr>
              <p:cNvPr id="36891" name="Rectangle 19">
                <a:extLst>
                  <a:ext uri="{FF2B5EF4-FFF2-40B4-BE49-F238E27FC236}">
                    <a16:creationId xmlns:a16="http://schemas.microsoft.com/office/drawing/2014/main" id="{91AEF6AD-8934-4F57-8EE8-588381647B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84" y="2159"/>
                <a:ext cx="432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endParaRPr lang="en-GB" altLang="it-IT"/>
              </a:p>
            </p:txBody>
          </p:sp>
          <p:sp>
            <p:nvSpPr>
              <p:cNvPr id="36892" name="Rectangle 20">
                <a:extLst>
                  <a:ext uri="{FF2B5EF4-FFF2-40B4-BE49-F238E27FC236}">
                    <a16:creationId xmlns:a16="http://schemas.microsoft.com/office/drawing/2014/main" id="{3ED5BD02-379B-4945-9042-61AD2D1037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84" y="2303"/>
                <a:ext cx="432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endParaRPr lang="en-GB" altLang="it-IT"/>
              </a:p>
            </p:txBody>
          </p:sp>
          <p:sp>
            <p:nvSpPr>
              <p:cNvPr id="36893" name="Rectangle 21">
                <a:extLst>
                  <a:ext uri="{FF2B5EF4-FFF2-40B4-BE49-F238E27FC236}">
                    <a16:creationId xmlns:a16="http://schemas.microsoft.com/office/drawing/2014/main" id="{F822BFB6-DA30-44F8-86A2-AC9A58907B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84" y="2447"/>
                <a:ext cx="432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400">
                    <a:latin typeface="Arial Rounded MT Bold" panose="020F0704030504030204" pitchFamily="34" charset="0"/>
                  </a:rPr>
                  <a:t>v</a:t>
                </a:r>
                <a:endParaRPr lang="en-US" altLang="it-IT"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36894" name="Rectangle 22">
                <a:extLst>
                  <a:ext uri="{FF2B5EF4-FFF2-40B4-BE49-F238E27FC236}">
                    <a16:creationId xmlns:a16="http://schemas.microsoft.com/office/drawing/2014/main" id="{86A00861-3A86-453E-A0FF-CE05231181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84" y="2591"/>
                <a:ext cx="432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endParaRPr lang="en-GB" altLang="it-IT"/>
              </a:p>
            </p:txBody>
          </p:sp>
          <p:sp>
            <p:nvSpPr>
              <p:cNvPr id="36895" name="Rectangle 23">
                <a:extLst>
                  <a:ext uri="{FF2B5EF4-FFF2-40B4-BE49-F238E27FC236}">
                    <a16:creationId xmlns:a16="http://schemas.microsoft.com/office/drawing/2014/main" id="{F324A68A-77A7-46BD-A170-377D8B043C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84" y="2735"/>
                <a:ext cx="432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400">
                    <a:solidFill>
                      <a:srgbClr val="B025A6"/>
                    </a:solidFill>
                    <a:latin typeface="Arial Rounded MT Bold" panose="020F0704030504030204" pitchFamily="34" charset="0"/>
                  </a:rPr>
                  <a:t>b</a:t>
                </a:r>
                <a:endParaRPr lang="en-US" altLang="it-IT">
                  <a:solidFill>
                    <a:srgbClr val="B025A6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36896" name="Rectangle 24">
                <a:extLst>
                  <a:ext uri="{FF2B5EF4-FFF2-40B4-BE49-F238E27FC236}">
                    <a16:creationId xmlns:a16="http://schemas.microsoft.com/office/drawing/2014/main" id="{54AB61EE-A298-4F52-BBD1-BBC1AF3456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84" y="2879"/>
                <a:ext cx="432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endParaRPr lang="en-GB" altLang="it-IT">
                  <a:solidFill>
                    <a:srgbClr val="FF0065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36897" name="Rectangle 25">
                <a:extLst>
                  <a:ext uri="{FF2B5EF4-FFF2-40B4-BE49-F238E27FC236}">
                    <a16:creationId xmlns:a16="http://schemas.microsoft.com/office/drawing/2014/main" id="{BF8DD96F-B4C0-44FB-8192-F98E83E4A6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84" y="3023"/>
                <a:ext cx="432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400">
                    <a:latin typeface="Arial Rounded MT Bold" panose="020F0704030504030204" pitchFamily="34" charset="0"/>
                  </a:rPr>
                  <a:t>w</a:t>
                </a:r>
                <a:endParaRPr lang="en-US" altLang="it-IT"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36898" name="Rectangle 26">
                <a:extLst>
                  <a:ext uri="{FF2B5EF4-FFF2-40B4-BE49-F238E27FC236}">
                    <a16:creationId xmlns:a16="http://schemas.microsoft.com/office/drawing/2014/main" id="{FC610FC3-D94A-4871-A641-0261DD0C86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84" y="3167"/>
                <a:ext cx="432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endParaRPr lang="en-GB" altLang="it-IT"/>
              </a:p>
            </p:txBody>
          </p:sp>
          <p:sp>
            <p:nvSpPr>
              <p:cNvPr id="36899" name="Rectangle 27">
                <a:extLst>
                  <a:ext uri="{FF2B5EF4-FFF2-40B4-BE49-F238E27FC236}">
                    <a16:creationId xmlns:a16="http://schemas.microsoft.com/office/drawing/2014/main" id="{96D11FDF-982A-4059-9ECB-E3AFF6BA1D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84" y="3311"/>
                <a:ext cx="432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endParaRPr lang="en-GB" altLang="it-IT"/>
              </a:p>
            </p:txBody>
          </p:sp>
          <p:sp>
            <p:nvSpPr>
              <p:cNvPr id="36900" name="Rectangle 28">
                <a:extLst>
                  <a:ext uri="{FF2B5EF4-FFF2-40B4-BE49-F238E27FC236}">
                    <a16:creationId xmlns:a16="http://schemas.microsoft.com/office/drawing/2014/main" id="{CE16BFE2-3C75-4BB5-9F0B-72AE4CC507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12" y="1869"/>
                <a:ext cx="432" cy="14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endParaRPr lang="en-GB" altLang="it-IT"/>
              </a:p>
            </p:txBody>
          </p:sp>
          <p:sp>
            <p:nvSpPr>
              <p:cNvPr id="36901" name="Rectangle 29">
                <a:extLst>
                  <a:ext uri="{FF2B5EF4-FFF2-40B4-BE49-F238E27FC236}">
                    <a16:creationId xmlns:a16="http://schemas.microsoft.com/office/drawing/2014/main" id="{B8FE2A21-B18C-454B-856C-A63FD93FF5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12" y="2448"/>
                <a:ext cx="432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400">
                    <a:solidFill>
                      <a:srgbClr val="003C75"/>
                    </a:solidFill>
                    <a:latin typeface="Arial Rounded MT Bold" panose="020F0704030504030204" pitchFamily="34" charset="0"/>
                  </a:rPr>
                  <a:t>a</a:t>
                </a:r>
                <a:endParaRPr lang="en-US" altLang="it-IT">
                  <a:solidFill>
                    <a:srgbClr val="003C75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36902" name="Rectangle 30">
                <a:extLst>
                  <a:ext uri="{FF2B5EF4-FFF2-40B4-BE49-F238E27FC236}">
                    <a16:creationId xmlns:a16="http://schemas.microsoft.com/office/drawing/2014/main" id="{E45B9904-235D-446C-AC46-3951C3CE8C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12" y="2013"/>
                <a:ext cx="432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endParaRPr lang="en-GB" altLang="it-IT"/>
              </a:p>
            </p:txBody>
          </p:sp>
          <p:sp>
            <p:nvSpPr>
              <p:cNvPr id="36903" name="Rectangle 31">
                <a:extLst>
                  <a:ext uri="{FF2B5EF4-FFF2-40B4-BE49-F238E27FC236}">
                    <a16:creationId xmlns:a16="http://schemas.microsoft.com/office/drawing/2014/main" id="{9F84D3E1-FC56-4113-B122-6EB28CE696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12" y="2157"/>
                <a:ext cx="432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400">
                    <a:solidFill>
                      <a:srgbClr val="B025A6"/>
                    </a:solidFill>
                    <a:latin typeface="Arial Rounded MT Bold" panose="020F0704030504030204" pitchFamily="34" charset="0"/>
                  </a:rPr>
                  <a:t>b</a:t>
                </a:r>
                <a:endParaRPr lang="en-US" altLang="it-IT">
                  <a:solidFill>
                    <a:srgbClr val="B025A6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36904" name="Rectangle 32">
                <a:extLst>
                  <a:ext uri="{FF2B5EF4-FFF2-40B4-BE49-F238E27FC236}">
                    <a16:creationId xmlns:a16="http://schemas.microsoft.com/office/drawing/2014/main" id="{248F3EC6-67F8-4834-A242-004D60D7A3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12" y="2301"/>
                <a:ext cx="432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endParaRPr lang="en-GB" altLang="it-IT"/>
              </a:p>
            </p:txBody>
          </p:sp>
          <p:sp>
            <p:nvSpPr>
              <p:cNvPr id="36905" name="Rectangle 33">
                <a:extLst>
                  <a:ext uri="{FF2B5EF4-FFF2-40B4-BE49-F238E27FC236}">
                    <a16:creationId xmlns:a16="http://schemas.microsoft.com/office/drawing/2014/main" id="{5CE686BF-12A8-4721-AF85-FA76AF79EA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12" y="2445"/>
                <a:ext cx="432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endParaRPr lang="en-GB" altLang="it-IT"/>
              </a:p>
            </p:txBody>
          </p:sp>
          <p:sp>
            <p:nvSpPr>
              <p:cNvPr id="36906" name="Rectangle 34">
                <a:extLst>
                  <a:ext uri="{FF2B5EF4-FFF2-40B4-BE49-F238E27FC236}">
                    <a16:creationId xmlns:a16="http://schemas.microsoft.com/office/drawing/2014/main" id="{B4A002B6-B51D-44F1-BC76-940FB39DAF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12" y="2589"/>
                <a:ext cx="432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endParaRPr lang="en-GB" altLang="it-IT"/>
              </a:p>
            </p:txBody>
          </p:sp>
          <p:sp>
            <p:nvSpPr>
              <p:cNvPr id="36907" name="Rectangle 35">
                <a:extLst>
                  <a:ext uri="{FF2B5EF4-FFF2-40B4-BE49-F238E27FC236}">
                    <a16:creationId xmlns:a16="http://schemas.microsoft.com/office/drawing/2014/main" id="{999FF758-F20C-4B58-B736-F4D7BE7CF1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12" y="2733"/>
                <a:ext cx="432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400">
                    <a:latin typeface="Arial Rounded MT Bold" panose="020F0704030504030204" pitchFamily="34" charset="0"/>
                  </a:rPr>
                  <a:t>c</a:t>
                </a:r>
                <a:endParaRPr lang="en-US" altLang="it-IT"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36908" name="Rectangle 36">
                <a:extLst>
                  <a:ext uri="{FF2B5EF4-FFF2-40B4-BE49-F238E27FC236}">
                    <a16:creationId xmlns:a16="http://schemas.microsoft.com/office/drawing/2014/main" id="{0BED4FB9-864E-4AC0-8760-CF4F2AA253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12" y="2877"/>
                <a:ext cx="432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endParaRPr lang="en-GB" altLang="it-IT"/>
              </a:p>
            </p:txBody>
          </p:sp>
          <p:sp>
            <p:nvSpPr>
              <p:cNvPr id="36909" name="Rectangle 37">
                <a:extLst>
                  <a:ext uri="{FF2B5EF4-FFF2-40B4-BE49-F238E27FC236}">
                    <a16:creationId xmlns:a16="http://schemas.microsoft.com/office/drawing/2014/main" id="{59DBE5F8-F452-46FE-9663-73A2E81154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12" y="3021"/>
                <a:ext cx="432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endParaRPr lang="en-GB" altLang="it-IT"/>
              </a:p>
            </p:txBody>
          </p:sp>
          <p:sp>
            <p:nvSpPr>
              <p:cNvPr id="36910" name="Rectangle 38">
                <a:extLst>
                  <a:ext uri="{FF2B5EF4-FFF2-40B4-BE49-F238E27FC236}">
                    <a16:creationId xmlns:a16="http://schemas.microsoft.com/office/drawing/2014/main" id="{2B109A89-B656-41BF-AAE1-4E7DCD0B90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12" y="3165"/>
                <a:ext cx="432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endParaRPr lang="en-GB" altLang="it-IT"/>
              </a:p>
            </p:txBody>
          </p:sp>
          <p:sp>
            <p:nvSpPr>
              <p:cNvPr id="36911" name="Rectangle 39">
                <a:extLst>
                  <a:ext uri="{FF2B5EF4-FFF2-40B4-BE49-F238E27FC236}">
                    <a16:creationId xmlns:a16="http://schemas.microsoft.com/office/drawing/2014/main" id="{E55873D8-1323-4CEE-84BC-6DF62B4548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3" y="2369"/>
                <a:ext cx="144" cy="14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>
                    <a:latin typeface="Arial Rounded MT Bold" panose="020F0704030504030204" pitchFamily="34" charset="0"/>
                  </a:rPr>
                  <a:t>•</a:t>
                </a:r>
              </a:p>
            </p:txBody>
          </p:sp>
          <p:sp>
            <p:nvSpPr>
              <p:cNvPr id="36912" name="Line 40">
                <a:extLst>
                  <a:ext uri="{FF2B5EF4-FFF2-40B4-BE49-F238E27FC236}">
                    <a16:creationId xmlns:a16="http://schemas.microsoft.com/office/drawing/2014/main" id="{0C1A648D-6E29-4B7B-BC52-3EFF3440C1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67" y="2155"/>
                <a:ext cx="289" cy="29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  <p:sp>
            <p:nvSpPr>
              <p:cNvPr id="36913" name="Text Box 41">
                <a:extLst>
                  <a:ext uri="{FF2B5EF4-FFF2-40B4-BE49-F238E27FC236}">
                    <a16:creationId xmlns:a16="http://schemas.microsoft.com/office/drawing/2014/main" id="{1B99E34E-5606-4101-9C03-318DDE475B7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56" y="2016"/>
                <a:ext cx="240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it-IT" sz="1000" i="1">
                    <a:latin typeface="Arial Rounded MT Bold" panose="020F0704030504030204" pitchFamily="34" charset="0"/>
                  </a:rPr>
                  <a:t>r</a:t>
                </a:r>
                <a:endParaRPr lang="en-US" altLang="it-IT" i="1"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36914" name="Text Box 42">
                <a:extLst>
                  <a:ext uri="{FF2B5EF4-FFF2-40B4-BE49-F238E27FC236}">
                    <a16:creationId xmlns:a16="http://schemas.microsoft.com/office/drawing/2014/main" id="{E4E7D5E8-AD8D-4695-B57C-40A092912D9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84" y="1872"/>
                <a:ext cx="336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it-IT" sz="1000" i="1">
                    <a:latin typeface="Arial Rounded MT Bold" panose="020F0704030504030204" pitchFamily="34" charset="0"/>
                  </a:rPr>
                  <a:t>q</a:t>
                </a:r>
                <a:endParaRPr lang="en-US" altLang="it-IT" i="1"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36915" name="Text Box 43">
                <a:extLst>
                  <a:ext uri="{FF2B5EF4-FFF2-40B4-BE49-F238E27FC236}">
                    <a16:creationId xmlns:a16="http://schemas.microsoft.com/office/drawing/2014/main" id="{819CB0D8-E43C-456A-BC2A-F4CA92ECE65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12" y="1728"/>
                <a:ext cx="336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it-IT" sz="1000" i="1">
                    <a:latin typeface="Arial Rounded MT Bold" panose="020F0704030504030204" pitchFamily="34" charset="0"/>
                  </a:rPr>
                  <a:t>p</a:t>
                </a:r>
                <a:endParaRPr lang="en-US" altLang="it-IT" i="1"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36916" name="Text Box 44">
                <a:extLst>
                  <a:ext uri="{FF2B5EF4-FFF2-40B4-BE49-F238E27FC236}">
                    <a16:creationId xmlns:a16="http://schemas.microsoft.com/office/drawing/2014/main" id="{C334F0EB-33E9-4044-BD21-6D3B839CD41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92" y="2448"/>
                <a:ext cx="288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it-IT">
                    <a:latin typeface="Arial Rounded MT Bold" panose="020F0704030504030204" pitchFamily="34" charset="0"/>
                  </a:rPr>
                  <a:t>...</a:t>
                </a:r>
              </a:p>
            </p:txBody>
          </p:sp>
          <p:sp>
            <p:nvSpPr>
              <p:cNvPr id="36917" name="Line 46">
                <a:extLst>
                  <a:ext uri="{FF2B5EF4-FFF2-40B4-BE49-F238E27FC236}">
                    <a16:creationId xmlns:a16="http://schemas.microsoft.com/office/drawing/2014/main" id="{C09D72E0-611C-4912-924A-A5F20EFDFD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96" y="2016"/>
                <a:ext cx="288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  <p:sp>
            <p:nvSpPr>
              <p:cNvPr id="36918" name="Line 47">
                <a:extLst>
                  <a:ext uri="{FF2B5EF4-FFF2-40B4-BE49-F238E27FC236}">
                    <a16:creationId xmlns:a16="http://schemas.microsoft.com/office/drawing/2014/main" id="{9146F342-F93D-4B07-9663-6689416625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24" y="1872"/>
                <a:ext cx="288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  <p:sp>
            <p:nvSpPr>
              <p:cNvPr id="36919" name="Line 48">
                <a:extLst>
                  <a:ext uri="{FF2B5EF4-FFF2-40B4-BE49-F238E27FC236}">
                    <a16:creationId xmlns:a16="http://schemas.microsoft.com/office/drawing/2014/main" id="{DF3F5139-1642-41E4-B9DB-C795BA56F4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352" y="1728"/>
                <a:ext cx="288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  <p:sp>
            <p:nvSpPr>
              <p:cNvPr id="36920" name="Text Box 49">
                <a:extLst>
                  <a:ext uri="{FF2B5EF4-FFF2-40B4-BE49-F238E27FC236}">
                    <a16:creationId xmlns:a16="http://schemas.microsoft.com/office/drawing/2014/main" id="{430F8940-3003-4061-BD89-C6EF6005DDB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92" y="1564"/>
                <a:ext cx="288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it-IT">
                    <a:latin typeface="Arial Rounded MT Bold" panose="020F0704030504030204" pitchFamily="34" charset="0"/>
                  </a:rPr>
                  <a:t>...</a:t>
                </a:r>
              </a:p>
            </p:txBody>
          </p:sp>
        </p:grpSp>
        <p:sp>
          <p:nvSpPr>
            <p:cNvPr id="36871" name="Text Box 72">
              <a:extLst>
                <a:ext uri="{FF2B5EF4-FFF2-40B4-BE49-F238E27FC236}">
                  <a16:creationId xmlns:a16="http://schemas.microsoft.com/office/drawing/2014/main" id="{33243627-CFDE-4082-9C2D-9E8F669CAD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93" y="2923"/>
              <a:ext cx="24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 sz="900">
                  <a:solidFill>
                    <a:srgbClr val="FF0065"/>
                  </a:solidFill>
                </a:rPr>
                <a:t>L0</a:t>
              </a:r>
            </a:p>
          </p:txBody>
        </p:sp>
        <p:sp>
          <p:nvSpPr>
            <p:cNvPr id="36872" name="Text Box 73">
              <a:extLst>
                <a:ext uri="{FF2B5EF4-FFF2-40B4-BE49-F238E27FC236}">
                  <a16:creationId xmlns:a16="http://schemas.microsoft.com/office/drawing/2014/main" id="{1A5B446E-618D-4D2F-8865-629EC128AB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45" y="3068"/>
              <a:ext cx="24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 sz="900">
                  <a:solidFill>
                    <a:srgbClr val="FF0065"/>
                  </a:solidFill>
                </a:rPr>
                <a:t>L1</a:t>
              </a:r>
            </a:p>
          </p:txBody>
        </p:sp>
        <p:sp>
          <p:nvSpPr>
            <p:cNvPr id="36873" name="Text Box 74">
              <a:extLst>
                <a:ext uri="{FF2B5EF4-FFF2-40B4-BE49-F238E27FC236}">
                  <a16:creationId xmlns:a16="http://schemas.microsoft.com/office/drawing/2014/main" id="{D8254C11-9C5B-47C7-AF7B-CE3AB6B6A0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7" y="3213"/>
              <a:ext cx="24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 sz="900">
                  <a:solidFill>
                    <a:srgbClr val="FF0065"/>
                  </a:solidFill>
                </a:rPr>
                <a:t>L2</a:t>
              </a:r>
            </a:p>
          </p:txBody>
        </p:sp>
        <p:sp>
          <p:nvSpPr>
            <p:cNvPr id="36874" name="Rectangle 75">
              <a:extLst>
                <a:ext uri="{FF2B5EF4-FFF2-40B4-BE49-F238E27FC236}">
                  <a16:creationId xmlns:a16="http://schemas.microsoft.com/office/drawing/2014/main" id="{ABCF1859-C686-4B65-94B4-CBC4AD657E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8" y="2466"/>
              <a:ext cx="17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r>
                <a:rPr lang="en-US" altLang="it-IT" sz="1400">
                  <a:solidFill>
                    <a:srgbClr val="FF0065"/>
                  </a:solidFill>
                  <a:latin typeface="Arial Rounded MT Bold" panose="020F0704030504030204" pitchFamily="34" charset="0"/>
                </a:rPr>
                <a:t>x</a:t>
              </a:r>
            </a:p>
          </p:txBody>
        </p:sp>
        <p:sp>
          <p:nvSpPr>
            <p:cNvPr id="36875" name="Rectangle 76">
              <a:extLst>
                <a:ext uri="{FF2B5EF4-FFF2-40B4-BE49-F238E27FC236}">
                  <a16:creationId xmlns:a16="http://schemas.microsoft.com/office/drawing/2014/main" id="{B11DD1E1-FAE8-485F-A6F1-FA863910A4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2043"/>
              <a:ext cx="17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r>
                <a:rPr lang="en-US" altLang="it-IT" sz="1400">
                  <a:latin typeface="Arial Rounded MT Bold" panose="020F0704030504030204" pitchFamily="34" charset="0"/>
                </a:rPr>
                <a:t>z</a:t>
              </a:r>
            </a:p>
          </p:txBody>
        </p:sp>
        <p:sp>
          <p:nvSpPr>
            <p:cNvPr id="36876" name="Rectangle 77">
              <a:extLst>
                <a:ext uri="{FF2B5EF4-FFF2-40B4-BE49-F238E27FC236}">
                  <a16:creationId xmlns:a16="http://schemas.microsoft.com/office/drawing/2014/main" id="{64F16C74-D531-444F-A0C0-E15E34DDE6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1" y="2914"/>
              <a:ext cx="17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r>
                <a:rPr lang="en-US" altLang="it-IT" sz="1400">
                  <a:solidFill>
                    <a:srgbClr val="FF0065"/>
                  </a:solidFill>
                  <a:latin typeface="Arial Rounded MT Bold" panose="020F0704030504030204" pitchFamily="34" charset="0"/>
                </a:rPr>
                <a:t>x</a:t>
              </a:r>
            </a:p>
          </p:txBody>
        </p:sp>
      </p:grpSp>
    </p:spTree>
  </p:cSld>
  <p:clrMapOvr>
    <a:masterClrMapping/>
  </p:clrMapOvr>
  <p:transition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Footer Placeholder 4">
            <a:extLst>
              <a:ext uri="{FF2B5EF4-FFF2-40B4-BE49-F238E27FC236}">
                <a16:creationId xmlns:a16="http://schemas.microsoft.com/office/drawing/2014/main" id="{957C4259-B6F2-446D-9325-93312BE3755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200"/>
              <a:t>Comp 412, Fall 2010</a:t>
            </a:r>
          </a:p>
        </p:txBody>
      </p:sp>
      <p:sp>
        <p:nvSpPr>
          <p:cNvPr id="38914" name="Slide Number Placeholder 5">
            <a:extLst>
              <a:ext uri="{FF2B5EF4-FFF2-40B4-BE49-F238E27FC236}">
                <a16:creationId xmlns:a16="http://schemas.microsoft.com/office/drawing/2014/main" id="{98C12A3F-42BA-4973-A873-18B4FD62D87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9F46768B-7DE1-4169-9C1F-142830E1A9B2}" type="slidenum">
              <a:rPr lang="en-US" altLang="it-IT" sz="1200"/>
              <a:pPr/>
              <a:t>12</a:t>
            </a:fld>
            <a:endParaRPr lang="en-US" altLang="it-IT" sz="1200"/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35DD3478-7B07-4EDF-AB1D-6F0D9C3174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Variable-length Data</a:t>
            </a:r>
          </a:p>
        </p:txBody>
      </p:sp>
      <p:sp>
        <p:nvSpPr>
          <p:cNvPr id="29701" name="Rectangle 3">
            <a:extLst>
              <a:ext uri="{FF2B5EF4-FFF2-40B4-BE49-F238E27FC236}">
                <a16:creationId xmlns:a16="http://schemas.microsoft.com/office/drawing/2014/main" id="{9E896C81-0A45-486C-9DF8-FF1387C93920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581400" y="1219200"/>
            <a:ext cx="5105400" cy="3022600"/>
          </a:xfrm>
          <a:solidFill>
            <a:srgbClr val="FFFFFF"/>
          </a:solidFill>
          <a:ln w="19050" cap="flat" algn="ctr">
            <a:solidFill>
              <a:srgbClr val="7F7F7F"/>
            </a:solidFill>
            <a:headEnd type="none" w="med" len="med"/>
            <a:tailEnd type="none" w="med" len="med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/>
          <a:lstStyle/>
          <a:p>
            <a:pPr eaLnBrk="1" hangingPunct="1">
              <a:spcBef>
                <a:spcPts val="600"/>
              </a:spcBef>
              <a:buFont typeface="Times" charset="0"/>
              <a:buNone/>
              <a:defRPr/>
            </a:pPr>
            <a:r>
              <a:rPr lang="en-US" sz="1700" dirty="0"/>
              <a:t>Arrays</a:t>
            </a:r>
          </a:p>
          <a:p>
            <a:pPr eaLnBrk="1" hangingPunct="1">
              <a:spcBef>
                <a:spcPts val="600"/>
              </a:spcBef>
              <a:buSzPct val="90000"/>
              <a:buFont typeface="Symbol" charset="2"/>
              <a:buChar char="®"/>
              <a:defRPr/>
            </a:pPr>
            <a:r>
              <a:rPr lang="en-US" sz="1700" dirty="0"/>
              <a:t>If size is fixed at compile time, store in fixed-length data area</a:t>
            </a:r>
          </a:p>
          <a:p>
            <a:pPr eaLnBrk="1" hangingPunct="1">
              <a:spcBef>
                <a:spcPts val="600"/>
              </a:spcBef>
              <a:buSzPct val="90000"/>
              <a:buFont typeface="Symbol" charset="2"/>
              <a:buChar char="®"/>
              <a:defRPr/>
            </a:pPr>
            <a:r>
              <a:rPr lang="en-US" sz="1700" dirty="0"/>
              <a:t>If size is variable, store </a:t>
            </a:r>
            <a:r>
              <a:rPr lang="en-US" sz="1700" dirty="0">
                <a:solidFill>
                  <a:srgbClr val="FF0065"/>
                </a:solidFill>
              </a:rPr>
              <a:t>descriptor</a:t>
            </a:r>
            <a:r>
              <a:rPr lang="en-US" sz="1700" dirty="0"/>
              <a:t> in fixed length area, with pointer to variable length area</a:t>
            </a:r>
          </a:p>
          <a:p>
            <a:pPr eaLnBrk="1" hangingPunct="1">
              <a:spcBef>
                <a:spcPts val="600"/>
              </a:spcBef>
              <a:buSzPct val="90000"/>
              <a:buFont typeface="Symbol" charset="2"/>
              <a:buChar char="®"/>
              <a:defRPr/>
            </a:pPr>
            <a:r>
              <a:rPr lang="en-US" sz="1700" dirty="0">
                <a:solidFill>
                  <a:srgbClr val="FF0065"/>
                </a:solidFill>
              </a:rPr>
              <a:t>Variable-length data area</a:t>
            </a:r>
            <a:r>
              <a:rPr lang="en-US" sz="1700" dirty="0"/>
              <a:t> is assigned at the </a:t>
            </a:r>
            <a:r>
              <a:rPr lang="en-US" sz="1700" dirty="0">
                <a:solidFill>
                  <a:srgbClr val="FF0065"/>
                </a:solidFill>
              </a:rPr>
              <a:t>end of the fixed length area</a:t>
            </a:r>
            <a:r>
              <a:rPr lang="en-US" sz="1700" dirty="0"/>
              <a:t> for the block in which it is allocated (including all contained blocks)</a:t>
            </a:r>
          </a:p>
        </p:txBody>
      </p:sp>
      <p:sp>
        <p:nvSpPr>
          <p:cNvPr id="29702" name="Rectangle 4">
            <a:extLst>
              <a:ext uri="{FF2B5EF4-FFF2-40B4-BE49-F238E27FC236}">
                <a16:creationId xmlns:a16="http://schemas.microsoft.com/office/drawing/2014/main" id="{35330C3A-5858-4808-BD37-0C298BEA17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219200"/>
            <a:ext cx="2895600" cy="3017838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7F7F7F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/>
          <a:lstStyle/>
          <a:p>
            <a:pPr defTabSz="231775" eaLnBrk="0" hangingPunct="0">
              <a:spcBef>
                <a:spcPct val="10000"/>
              </a:spcBef>
              <a:defRPr/>
            </a:pPr>
            <a:r>
              <a:rPr lang="en-US" dirty="0">
                <a:latin typeface="Geneva" charset="0"/>
                <a:ea typeface="ヒラギノ角ゴ Pro W3" charset="-128"/>
                <a:cs typeface="ヒラギノ角ゴ Pro W3" charset="-128"/>
              </a:rPr>
              <a:t>B0: {	</a:t>
            </a:r>
            <a:r>
              <a:rPr lang="en-US" dirty="0" err="1">
                <a:latin typeface="Geneva" charset="0"/>
                <a:ea typeface="ヒラギノ角ゴ Pro W3" charset="-128"/>
                <a:cs typeface="ヒラギノ角ゴ Pro W3" charset="-128"/>
              </a:rPr>
              <a:t>int</a:t>
            </a:r>
            <a:r>
              <a:rPr lang="en-US" dirty="0">
                <a:latin typeface="Geneva" charset="0"/>
                <a:ea typeface="ヒラギノ角ゴ Pro W3" charset="-128"/>
                <a:cs typeface="ヒラギノ角ゴ Pro W3" charset="-128"/>
              </a:rPr>
              <a:t> </a:t>
            </a:r>
            <a:r>
              <a:rPr lang="en-US" i="1" dirty="0">
                <a:latin typeface="Geneva" charset="0"/>
                <a:ea typeface="ヒラギノ角ゴ Pro W3" charset="-128"/>
                <a:cs typeface="ヒラギノ角ゴ Pro W3" charset="-128"/>
              </a:rPr>
              <a:t>a, </a:t>
            </a:r>
            <a:r>
              <a:rPr lang="en-US" i="1" dirty="0" err="1">
                <a:solidFill>
                  <a:srgbClr val="003C75"/>
                </a:solidFill>
                <a:latin typeface="Geneva" charset="0"/>
                <a:ea typeface="ヒラギノ角ゴ Pro W3" charset="-128"/>
                <a:cs typeface="ヒラギノ角ゴ Pro W3" charset="-128"/>
              </a:rPr>
              <a:t>b</a:t>
            </a:r>
            <a:endParaRPr lang="en-US" i="1" dirty="0">
              <a:solidFill>
                <a:schemeClr val="accent2"/>
              </a:solidFill>
              <a:latin typeface="Geneva" charset="0"/>
              <a:ea typeface="ヒラギノ角ゴ Pro W3" charset="-128"/>
              <a:cs typeface="ヒラギノ角ゴ Pro W3" charset="-128"/>
            </a:endParaRPr>
          </a:p>
          <a:p>
            <a:pPr defTabSz="231775" eaLnBrk="0" hangingPunct="0">
              <a:spcBef>
                <a:spcPct val="10000"/>
              </a:spcBef>
              <a:defRPr/>
            </a:pPr>
            <a:r>
              <a:rPr lang="en-US" i="1" dirty="0">
                <a:solidFill>
                  <a:schemeClr val="accent2"/>
                </a:solidFill>
                <a:latin typeface="Geneva" charset="0"/>
                <a:ea typeface="ヒラギノ角ゴ Pro W3" charset="-128"/>
                <a:cs typeface="ヒラギノ角ゴ Pro W3" charset="-128"/>
              </a:rPr>
              <a:t>			</a:t>
            </a:r>
            <a:r>
              <a:rPr lang="en-US" i="1" dirty="0">
                <a:latin typeface="Geneva" charset="0"/>
                <a:ea typeface="ヒラギノ角ゴ Pro W3" charset="-128"/>
                <a:cs typeface="ヒラギノ角ゴ Pro W3" charset="-128"/>
              </a:rPr>
              <a:t>…</a:t>
            </a:r>
          </a:p>
          <a:p>
            <a:pPr defTabSz="231775" eaLnBrk="0" hangingPunct="0">
              <a:spcBef>
                <a:spcPct val="10000"/>
              </a:spcBef>
              <a:defRPr/>
            </a:pPr>
            <a:r>
              <a:rPr lang="en-US" i="1" dirty="0">
                <a:latin typeface="Geneva" charset="0"/>
                <a:ea typeface="ヒラギノ角ゴ Pro W3" charset="-128"/>
                <a:cs typeface="ヒラギノ角ゴ Pro W3" charset="-128"/>
              </a:rPr>
              <a:t>			assign value to a</a:t>
            </a:r>
          </a:p>
          <a:p>
            <a:pPr defTabSz="231775" eaLnBrk="0" hangingPunct="0">
              <a:spcBef>
                <a:spcPct val="10000"/>
              </a:spcBef>
              <a:defRPr/>
            </a:pPr>
            <a:r>
              <a:rPr lang="en-US" i="1" dirty="0">
                <a:latin typeface="Geneva" charset="0"/>
                <a:ea typeface="ヒラギノ角ゴ Pro W3" charset="-128"/>
                <a:cs typeface="ヒラギノ角ゴ Pro W3" charset="-128"/>
              </a:rPr>
              <a:t>			…</a:t>
            </a:r>
            <a:endParaRPr lang="en-US" dirty="0">
              <a:latin typeface="Geneva" charset="0"/>
              <a:ea typeface="ヒラギノ角ゴ Pro W3" charset="-128"/>
              <a:cs typeface="ヒラギノ角ゴ Pro W3" charset="-128"/>
            </a:endParaRPr>
          </a:p>
          <a:p>
            <a:pPr defTabSz="231775" eaLnBrk="0" hangingPunct="0">
              <a:spcBef>
                <a:spcPct val="10000"/>
              </a:spcBef>
              <a:defRPr/>
            </a:pPr>
            <a:r>
              <a:rPr lang="en-US" dirty="0">
                <a:latin typeface="Geneva" charset="0"/>
                <a:ea typeface="ヒラギノ角ゴ Pro W3" charset="-128"/>
                <a:cs typeface="ヒラギノ角ゴ Pro W3" charset="-128"/>
              </a:rPr>
              <a:t>B1:		{	</a:t>
            </a:r>
            <a:r>
              <a:rPr lang="en-US" dirty="0" err="1">
                <a:latin typeface="Geneva" charset="0"/>
                <a:ea typeface="ヒラギノ角ゴ Pro W3" charset="-128"/>
                <a:cs typeface="ヒラギノ角ゴ Pro W3" charset="-128"/>
              </a:rPr>
              <a:t>int</a:t>
            </a:r>
            <a:r>
              <a:rPr lang="en-US" dirty="0">
                <a:latin typeface="Geneva" charset="0"/>
                <a:ea typeface="ヒラギノ角ゴ Pro W3" charset="-128"/>
                <a:cs typeface="ヒラギノ角ゴ Pro W3" charset="-128"/>
              </a:rPr>
              <a:t> </a:t>
            </a:r>
            <a:r>
              <a:rPr lang="en-US" i="1" dirty="0" err="1">
                <a:solidFill>
                  <a:srgbClr val="FF0065"/>
                </a:solidFill>
                <a:latin typeface="Geneva" charset="0"/>
                <a:ea typeface="ヒラギノ角ゴ Pro W3" charset="-128"/>
                <a:cs typeface="ヒラギノ角ゴ Pro W3" charset="-128"/>
              </a:rPr>
              <a:t>v(a</a:t>
            </a:r>
            <a:r>
              <a:rPr lang="en-US" i="1" dirty="0">
                <a:solidFill>
                  <a:srgbClr val="FF0065"/>
                </a:solidFill>
                <a:latin typeface="Geneva" charset="0"/>
                <a:ea typeface="ヒラギノ角ゴ Pro W3" charset="-128"/>
                <a:cs typeface="ヒラギノ角ゴ Pro W3" charset="-128"/>
              </a:rPr>
              <a:t>)</a:t>
            </a:r>
            <a:r>
              <a:rPr lang="en-US" i="1" dirty="0">
                <a:latin typeface="Geneva" charset="0"/>
                <a:ea typeface="ヒラギノ角ゴ Pro W3" charset="-128"/>
                <a:cs typeface="ヒラギノ角ゴ Pro W3" charset="-128"/>
              </a:rPr>
              <a:t>, </a:t>
            </a:r>
            <a:r>
              <a:rPr lang="en-US" i="1" dirty="0" err="1">
                <a:solidFill>
                  <a:srgbClr val="003C75"/>
                </a:solidFill>
                <a:latin typeface="Geneva" charset="0"/>
                <a:ea typeface="ヒラギノ角ゴ Pro W3" charset="-128"/>
                <a:cs typeface="ヒラギノ角ゴ Pro W3" charset="-128"/>
              </a:rPr>
              <a:t>b</a:t>
            </a:r>
            <a:r>
              <a:rPr lang="en-US" i="1" dirty="0">
                <a:latin typeface="Geneva" charset="0"/>
                <a:ea typeface="ヒラギノ角ゴ Pro W3" charset="-128"/>
                <a:cs typeface="ヒラギノ角ゴ Pro W3" charset="-128"/>
              </a:rPr>
              <a:t>, </a:t>
            </a:r>
            <a:r>
              <a:rPr lang="en-US" i="1" dirty="0" err="1">
                <a:solidFill>
                  <a:srgbClr val="B025A6"/>
                </a:solidFill>
                <a:latin typeface="Geneva" charset="0"/>
                <a:ea typeface="ヒラギノ角ゴ Pro W3" charset="-128"/>
                <a:cs typeface="ヒラギノ角ゴ Pro W3" charset="-128"/>
              </a:rPr>
              <a:t>x</a:t>
            </a:r>
            <a:endParaRPr lang="en-US" i="1" dirty="0">
              <a:solidFill>
                <a:srgbClr val="FF0000"/>
              </a:solidFill>
              <a:latin typeface="Geneva" charset="0"/>
              <a:ea typeface="ヒラギノ角ゴ Pro W3" charset="-128"/>
              <a:cs typeface="ヒラギノ角ゴ Pro W3" charset="-128"/>
            </a:endParaRPr>
          </a:p>
          <a:p>
            <a:pPr defTabSz="231775" eaLnBrk="0" hangingPunct="0">
              <a:spcBef>
                <a:spcPct val="10000"/>
              </a:spcBef>
              <a:defRPr/>
            </a:pPr>
            <a:r>
              <a:rPr lang="en-US" i="1" dirty="0">
                <a:solidFill>
                  <a:srgbClr val="FF0000"/>
                </a:solidFill>
                <a:latin typeface="Geneva" charset="0"/>
                <a:ea typeface="ヒラギノ角ゴ Pro W3" charset="-128"/>
                <a:cs typeface="ヒラギノ角ゴ Pro W3" charset="-128"/>
              </a:rPr>
              <a:t>				</a:t>
            </a:r>
            <a:r>
              <a:rPr lang="en-US" i="1" dirty="0">
                <a:latin typeface="Geneva" charset="0"/>
                <a:ea typeface="ヒラギノ角ゴ Pro W3" charset="-128"/>
                <a:cs typeface="ヒラギノ角ゴ Pro W3" charset="-128"/>
              </a:rPr>
              <a:t>…</a:t>
            </a:r>
            <a:endParaRPr lang="en-US" dirty="0">
              <a:latin typeface="Geneva" charset="0"/>
              <a:ea typeface="ヒラギノ角ゴ Pro W3" charset="-128"/>
              <a:cs typeface="ヒラギノ角ゴ Pro W3" charset="-128"/>
            </a:endParaRPr>
          </a:p>
          <a:p>
            <a:pPr defTabSz="231775" eaLnBrk="0" hangingPunct="0">
              <a:spcBef>
                <a:spcPct val="10000"/>
              </a:spcBef>
              <a:defRPr/>
            </a:pPr>
            <a:r>
              <a:rPr lang="en-US" dirty="0">
                <a:latin typeface="Geneva" charset="0"/>
                <a:ea typeface="ヒラギノ角ゴ Pro W3" charset="-128"/>
                <a:cs typeface="ヒラギノ角ゴ Pro W3" charset="-128"/>
              </a:rPr>
              <a:t>B2:			{	</a:t>
            </a:r>
            <a:r>
              <a:rPr lang="en-US" dirty="0" err="1">
                <a:latin typeface="Geneva" charset="0"/>
                <a:ea typeface="ヒラギノ角ゴ Pro W3" charset="-128"/>
                <a:cs typeface="ヒラギノ角ゴ Pro W3" charset="-128"/>
              </a:rPr>
              <a:t>int</a:t>
            </a:r>
            <a:r>
              <a:rPr lang="en-US" dirty="0">
                <a:latin typeface="Geneva" charset="0"/>
                <a:ea typeface="ヒラギノ角ゴ Pro W3" charset="-128"/>
                <a:cs typeface="ヒラギノ角ゴ Pro W3" charset="-128"/>
              </a:rPr>
              <a:t> </a:t>
            </a:r>
            <a:r>
              <a:rPr lang="en-US" i="1" dirty="0" err="1">
                <a:solidFill>
                  <a:srgbClr val="B025A6"/>
                </a:solidFill>
                <a:latin typeface="Geneva" charset="0"/>
                <a:ea typeface="ヒラギノ角ゴ Pro W3" charset="-128"/>
                <a:cs typeface="ヒラギノ角ゴ Pro W3" charset="-128"/>
              </a:rPr>
              <a:t>x</a:t>
            </a:r>
            <a:r>
              <a:rPr lang="en-US" i="1" dirty="0">
                <a:latin typeface="Geneva" charset="0"/>
                <a:ea typeface="ヒラギノ角ゴ Pro W3" charset="-128"/>
                <a:cs typeface="ヒラギノ角ゴ Pro W3" charset="-128"/>
              </a:rPr>
              <a:t>, </a:t>
            </a:r>
            <a:r>
              <a:rPr lang="en-US" i="1" dirty="0">
                <a:solidFill>
                  <a:srgbClr val="003C75"/>
                </a:solidFill>
                <a:latin typeface="Geneva" charset="0"/>
                <a:ea typeface="ヒラギノ角ゴ Pro W3" charset="-128"/>
                <a:cs typeface="ヒラギノ角ゴ Pro W3" charset="-128"/>
              </a:rPr>
              <a:t>y(8)</a:t>
            </a:r>
            <a:endParaRPr lang="en-US" i="1" dirty="0">
              <a:latin typeface="Geneva" charset="0"/>
              <a:ea typeface="ヒラギノ角ゴ Pro W3" charset="-128"/>
              <a:cs typeface="ヒラギノ角ゴ Pro W3" charset="-128"/>
            </a:endParaRPr>
          </a:p>
          <a:p>
            <a:pPr defTabSz="231775" eaLnBrk="0" hangingPunct="0">
              <a:spcBef>
                <a:spcPct val="10000"/>
              </a:spcBef>
              <a:defRPr/>
            </a:pPr>
            <a:r>
              <a:rPr lang="en-US" dirty="0">
                <a:latin typeface="Geneva" charset="0"/>
                <a:ea typeface="ヒラギノ角ゴ Pro W3" charset="-128"/>
                <a:cs typeface="ヒラギノ角ゴ Pro W3" charset="-128"/>
              </a:rPr>
              <a:t>					…</a:t>
            </a:r>
          </a:p>
          <a:p>
            <a:pPr defTabSz="231775" eaLnBrk="0" hangingPunct="0">
              <a:spcBef>
                <a:spcPct val="10000"/>
              </a:spcBef>
              <a:defRPr/>
            </a:pPr>
            <a:r>
              <a:rPr lang="en-US" dirty="0">
                <a:latin typeface="Geneva" charset="0"/>
                <a:ea typeface="ヒラギノ角ゴ Pro W3" charset="-128"/>
                <a:cs typeface="ヒラギノ角ゴ Pro W3" charset="-128"/>
              </a:rPr>
              <a:t>				}</a:t>
            </a:r>
          </a:p>
          <a:p>
            <a:pPr defTabSz="231775" eaLnBrk="0" hangingPunct="0">
              <a:spcBef>
                <a:spcPct val="10000"/>
              </a:spcBef>
              <a:defRPr/>
            </a:pPr>
            <a:r>
              <a:rPr lang="en-US" dirty="0">
                <a:latin typeface="Geneva" charset="0"/>
                <a:ea typeface="ヒラギノ角ゴ Pro W3" charset="-128"/>
                <a:cs typeface="ヒラギノ角ゴ Pro W3" charset="-128"/>
              </a:rPr>
              <a:t>			}</a:t>
            </a:r>
          </a:p>
          <a:p>
            <a:pPr defTabSz="231775" eaLnBrk="0" hangingPunct="0">
              <a:spcBef>
                <a:spcPct val="10000"/>
              </a:spcBef>
              <a:defRPr/>
            </a:pPr>
            <a:r>
              <a:rPr lang="en-US" dirty="0">
                <a:latin typeface="Geneva" charset="0"/>
                <a:ea typeface="ヒラギノ角ゴ Pro W3" charset="-128"/>
                <a:cs typeface="ヒラギノ角ゴ Pro W3" charset="-128"/>
              </a:rPr>
              <a:t>		}</a:t>
            </a:r>
          </a:p>
        </p:txBody>
      </p:sp>
      <p:sp>
        <p:nvSpPr>
          <p:cNvPr id="38918" name="Text Box 5">
            <a:extLst>
              <a:ext uri="{FF2B5EF4-FFF2-40B4-BE49-F238E27FC236}">
                <a16:creationId xmlns:a16="http://schemas.microsoft.com/office/drawing/2014/main" id="{24BE2C3C-1BE4-453E-94B5-761198E660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5105400"/>
            <a:ext cx="2968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it-IT" i="1">
                <a:latin typeface="Geneva"/>
              </a:rPr>
              <a:t>a</a:t>
            </a:r>
          </a:p>
        </p:txBody>
      </p:sp>
      <p:sp>
        <p:nvSpPr>
          <p:cNvPr id="38919" name="Text Box 6">
            <a:extLst>
              <a:ext uri="{FF2B5EF4-FFF2-40B4-BE49-F238E27FC236}">
                <a16:creationId xmlns:a16="http://schemas.microsoft.com/office/drawing/2014/main" id="{E3BBBB0D-9E70-4E52-B66B-134A4F14FA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5105400"/>
            <a:ext cx="2968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it-IT" i="1">
                <a:solidFill>
                  <a:srgbClr val="003C75"/>
                </a:solidFill>
                <a:latin typeface="Geneva"/>
              </a:rPr>
              <a:t>b</a:t>
            </a:r>
          </a:p>
        </p:txBody>
      </p:sp>
      <p:sp>
        <p:nvSpPr>
          <p:cNvPr id="38920" name="Text Box 8">
            <a:extLst>
              <a:ext uri="{FF2B5EF4-FFF2-40B4-BE49-F238E27FC236}">
                <a16:creationId xmlns:a16="http://schemas.microsoft.com/office/drawing/2014/main" id="{A15CFA4E-EA51-4BBF-A17E-02ECC103CE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1538" y="5105400"/>
            <a:ext cx="2968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it-IT" i="1">
                <a:solidFill>
                  <a:srgbClr val="003C75"/>
                </a:solidFill>
                <a:latin typeface="Geneva"/>
              </a:rPr>
              <a:t>b</a:t>
            </a:r>
            <a:endParaRPr lang="en-US" altLang="it-IT" i="1">
              <a:latin typeface="Geneva"/>
            </a:endParaRPr>
          </a:p>
        </p:txBody>
      </p:sp>
      <p:sp>
        <p:nvSpPr>
          <p:cNvPr id="38921" name="Rectangle 9">
            <a:extLst>
              <a:ext uri="{FF2B5EF4-FFF2-40B4-BE49-F238E27FC236}">
                <a16:creationId xmlns:a16="http://schemas.microsoft.com/office/drawing/2014/main" id="{8DD18B63-5B81-49CB-B99B-8E33242F37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4648200"/>
            <a:ext cx="457200" cy="1295400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endParaRPr lang="en-GB" altLang="it-IT"/>
          </a:p>
        </p:txBody>
      </p:sp>
      <p:sp>
        <p:nvSpPr>
          <p:cNvPr id="38922" name="Rectangle 10">
            <a:extLst>
              <a:ext uri="{FF2B5EF4-FFF2-40B4-BE49-F238E27FC236}">
                <a16:creationId xmlns:a16="http://schemas.microsoft.com/office/drawing/2014/main" id="{7C8396E8-B4AD-4A84-B63D-69232F6FE1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4648200"/>
            <a:ext cx="457200" cy="1295400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endParaRPr lang="en-GB" altLang="it-IT"/>
          </a:p>
        </p:txBody>
      </p:sp>
      <p:sp>
        <p:nvSpPr>
          <p:cNvPr id="38923" name="Rectangle 11">
            <a:extLst>
              <a:ext uri="{FF2B5EF4-FFF2-40B4-BE49-F238E27FC236}">
                <a16:creationId xmlns:a16="http://schemas.microsoft.com/office/drawing/2014/main" id="{36091576-52FF-4E9E-82FE-DDE85D57EC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4648200"/>
            <a:ext cx="457200" cy="1295400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endParaRPr lang="en-GB" altLang="it-IT"/>
          </a:p>
        </p:txBody>
      </p:sp>
      <p:sp>
        <p:nvSpPr>
          <p:cNvPr id="38924" name="Rectangle 12">
            <a:extLst>
              <a:ext uri="{FF2B5EF4-FFF2-40B4-BE49-F238E27FC236}">
                <a16:creationId xmlns:a16="http://schemas.microsoft.com/office/drawing/2014/main" id="{2FBF4309-AAA8-47D1-BE82-BC435DF643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4648200"/>
            <a:ext cx="457200" cy="1295400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endParaRPr lang="en-GB" altLang="it-IT"/>
          </a:p>
        </p:txBody>
      </p:sp>
      <p:sp>
        <p:nvSpPr>
          <p:cNvPr id="38925" name="Rectangle 13">
            <a:extLst>
              <a:ext uri="{FF2B5EF4-FFF2-40B4-BE49-F238E27FC236}">
                <a16:creationId xmlns:a16="http://schemas.microsoft.com/office/drawing/2014/main" id="{98B7F82C-5E9E-4381-A0A9-0DBA34E99F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4648200"/>
            <a:ext cx="457200" cy="1295400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endParaRPr lang="en-GB" altLang="it-IT"/>
          </a:p>
        </p:txBody>
      </p:sp>
      <p:sp>
        <p:nvSpPr>
          <p:cNvPr id="38926" name="Rectangle 14">
            <a:extLst>
              <a:ext uri="{FF2B5EF4-FFF2-40B4-BE49-F238E27FC236}">
                <a16:creationId xmlns:a16="http://schemas.microsoft.com/office/drawing/2014/main" id="{6A3C1D20-6ADA-4A1E-B762-51300989DA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4648200"/>
            <a:ext cx="457200" cy="1295400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endParaRPr lang="en-GB" altLang="it-IT"/>
          </a:p>
        </p:txBody>
      </p:sp>
      <p:sp>
        <p:nvSpPr>
          <p:cNvPr id="38927" name="Rectangle 15">
            <a:extLst>
              <a:ext uri="{FF2B5EF4-FFF2-40B4-BE49-F238E27FC236}">
                <a16:creationId xmlns:a16="http://schemas.microsoft.com/office/drawing/2014/main" id="{A9100C3B-7FDA-4DDE-92FF-7FBCFD46EA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4648200"/>
            <a:ext cx="1752600" cy="1295400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endParaRPr lang="en-GB" altLang="it-IT"/>
          </a:p>
        </p:txBody>
      </p:sp>
      <p:sp>
        <p:nvSpPr>
          <p:cNvPr id="38928" name="Text Box 16">
            <a:extLst>
              <a:ext uri="{FF2B5EF4-FFF2-40B4-BE49-F238E27FC236}">
                <a16:creationId xmlns:a16="http://schemas.microsoft.com/office/drawing/2014/main" id="{D804D18D-BB5D-444D-88CE-26E32BDC15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2863" y="5105400"/>
            <a:ext cx="2968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it-IT" i="1">
                <a:solidFill>
                  <a:srgbClr val="B025A6"/>
                </a:solidFill>
                <a:latin typeface="Geneva"/>
              </a:rPr>
              <a:t>x</a:t>
            </a:r>
          </a:p>
        </p:txBody>
      </p:sp>
      <p:sp>
        <p:nvSpPr>
          <p:cNvPr id="38929" name="Text Box 17">
            <a:extLst>
              <a:ext uri="{FF2B5EF4-FFF2-40B4-BE49-F238E27FC236}">
                <a16:creationId xmlns:a16="http://schemas.microsoft.com/office/drawing/2014/main" id="{DFBFFF2B-A857-4BA0-AF3E-C7EE430CD8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5105400"/>
            <a:ext cx="2968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it-IT" i="1">
                <a:solidFill>
                  <a:srgbClr val="B025A6"/>
                </a:solidFill>
                <a:latin typeface="Geneva"/>
              </a:rPr>
              <a:t>x</a:t>
            </a:r>
          </a:p>
        </p:txBody>
      </p:sp>
      <p:sp>
        <p:nvSpPr>
          <p:cNvPr id="38930" name="Text Box 18">
            <a:extLst>
              <a:ext uri="{FF2B5EF4-FFF2-40B4-BE49-F238E27FC236}">
                <a16:creationId xmlns:a16="http://schemas.microsoft.com/office/drawing/2014/main" id="{F2C09EDE-C206-4A7D-B620-B63D402E4A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5105400"/>
            <a:ext cx="6858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it-IT" i="1">
                <a:solidFill>
                  <a:srgbClr val="003C75"/>
                </a:solidFill>
                <a:latin typeface="Geneva"/>
              </a:rPr>
              <a:t>y(8)</a:t>
            </a:r>
          </a:p>
        </p:txBody>
      </p:sp>
      <p:sp>
        <p:nvSpPr>
          <p:cNvPr id="38931" name="Rectangle 19">
            <a:extLst>
              <a:ext uri="{FF2B5EF4-FFF2-40B4-BE49-F238E27FC236}">
                <a16:creationId xmlns:a16="http://schemas.microsoft.com/office/drawing/2014/main" id="{548E5A33-4C43-4D82-A9B6-5A4040519D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4648200"/>
            <a:ext cx="2743200" cy="1295400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endParaRPr lang="en-GB" altLang="it-IT"/>
          </a:p>
        </p:txBody>
      </p:sp>
      <p:sp>
        <p:nvSpPr>
          <p:cNvPr id="38932" name="Text Box 20">
            <a:extLst>
              <a:ext uri="{FF2B5EF4-FFF2-40B4-BE49-F238E27FC236}">
                <a16:creationId xmlns:a16="http://schemas.microsoft.com/office/drawing/2014/main" id="{DAC61BE9-5A87-49A4-978C-82E417D048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5105400"/>
            <a:ext cx="609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it-IT" i="1">
                <a:solidFill>
                  <a:srgbClr val="FF0065"/>
                </a:solidFill>
                <a:latin typeface="Geneva"/>
              </a:rPr>
              <a:t>v(a)</a:t>
            </a:r>
            <a:endParaRPr lang="en-US" altLang="it-IT" i="1">
              <a:latin typeface="Geneva"/>
            </a:endParaRPr>
          </a:p>
        </p:txBody>
      </p:sp>
      <p:cxnSp>
        <p:nvCxnSpPr>
          <p:cNvPr id="38933" name="AutoShape 21">
            <a:extLst>
              <a:ext uri="{FF2B5EF4-FFF2-40B4-BE49-F238E27FC236}">
                <a16:creationId xmlns:a16="http://schemas.microsoft.com/office/drawing/2014/main" id="{4FAA7309-BA41-4DBC-A7CE-C95F1913E087}"/>
              </a:ext>
            </a:extLst>
          </p:cNvPr>
          <p:cNvCxnSpPr>
            <a:cxnSpLocks noChangeShapeType="1"/>
            <a:stCxn id="38938" idx="0"/>
            <a:endCxn id="38935" idx="0"/>
          </p:cNvCxnSpPr>
          <p:nvPr/>
        </p:nvCxnSpPr>
        <p:spPr bwMode="auto">
          <a:xfrm rot="5400000" flipH="1" flipV="1">
            <a:off x="3275013" y="3198812"/>
            <a:ext cx="457200" cy="3355975"/>
          </a:xfrm>
          <a:prstGeom prst="bentConnector5">
            <a:avLst>
              <a:gd name="adj1" fmla="val 164861"/>
              <a:gd name="adj2" fmla="val 52213"/>
              <a:gd name="adj3" fmla="val 164861"/>
            </a:avLst>
          </a:prstGeom>
          <a:noFill/>
          <a:ln w="19050" algn="ctr">
            <a:solidFill>
              <a:srgbClr val="FF0065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8934" name="Text Box 22">
            <a:extLst>
              <a:ext uri="{FF2B5EF4-FFF2-40B4-BE49-F238E27FC236}">
                <a16:creationId xmlns:a16="http://schemas.microsoft.com/office/drawing/2014/main" id="{4FF42CDB-9714-4F77-953B-A556D8686F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0388" y="5943600"/>
            <a:ext cx="1827212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/>
            <a:r>
              <a:rPr lang="en-US" altLang="it-IT" sz="1800" i="1">
                <a:solidFill>
                  <a:srgbClr val="FF0065"/>
                </a:solidFill>
              </a:rPr>
              <a:t>Variable-length</a:t>
            </a:r>
          </a:p>
          <a:p>
            <a:pPr algn="ctr"/>
            <a:r>
              <a:rPr lang="en-US" altLang="it-IT" sz="1800" i="1">
                <a:solidFill>
                  <a:srgbClr val="FF0065"/>
                </a:solidFill>
              </a:rPr>
              <a:t>data area</a:t>
            </a:r>
          </a:p>
        </p:txBody>
      </p:sp>
      <p:sp>
        <p:nvSpPr>
          <p:cNvPr id="38935" name="Line 23">
            <a:extLst>
              <a:ext uri="{FF2B5EF4-FFF2-40B4-BE49-F238E27FC236}">
                <a16:creationId xmlns:a16="http://schemas.microsoft.com/office/drawing/2014/main" id="{2CF0AD43-FF90-4ABC-BCAE-78B522E7D893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1600" y="4648200"/>
            <a:ext cx="0" cy="129540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38936" name="Text Box 24">
            <a:extLst>
              <a:ext uri="{FF2B5EF4-FFF2-40B4-BE49-F238E27FC236}">
                <a16:creationId xmlns:a16="http://schemas.microsoft.com/office/drawing/2014/main" id="{E9986691-A6EA-4F7E-915C-16F31589BD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6019800"/>
            <a:ext cx="3505200" cy="6207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lnSpc>
                <a:spcPct val="95000"/>
              </a:lnSpc>
            </a:pPr>
            <a:r>
              <a:rPr lang="en-US" altLang="it-IT" sz="1800">
                <a:solidFill>
                  <a:srgbClr val="003C75"/>
                </a:solidFill>
              </a:rPr>
              <a:t>Includes fixed length data for all blocks in the procedure …</a:t>
            </a:r>
          </a:p>
        </p:txBody>
      </p:sp>
      <p:cxnSp>
        <p:nvCxnSpPr>
          <p:cNvPr id="38937" name="AutoShape 25">
            <a:extLst>
              <a:ext uri="{FF2B5EF4-FFF2-40B4-BE49-F238E27FC236}">
                <a16:creationId xmlns:a16="http://schemas.microsoft.com/office/drawing/2014/main" id="{C323405E-D3C8-43E6-936E-058E872A0187}"/>
              </a:ext>
            </a:extLst>
          </p:cNvPr>
          <p:cNvCxnSpPr>
            <a:cxnSpLocks noChangeShapeType="1"/>
            <a:stCxn id="38936" idx="3"/>
            <a:endCxn id="38935" idx="1"/>
          </p:cNvCxnSpPr>
          <p:nvPr/>
        </p:nvCxnSpPr>
        <p:spPr bwMode="auto">
          <a:xfrm flipV="1">
            <a:off x="4495800" y="5943600"/>
            <a:ext cx="685800" cy="387350"/>
          </a:xfrm>
          <a:prstGeom prst="curvedConnector4">
            <a:avLst>
              <a:gd name="adj1" fmla="val 50000"/>
              <a:gd name="adj2" fmla="val -2005"/>
            </a:avLst>
          </a:prstGeom>
          <a:noFill/>
          <a:ln w="19050">
            <a:solidFill>
              <a:srgbClr val="003C7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8938" name="Text Box 7">
            <a:extLst>
              <a:ext uri="{FF2B5EF4-FFF2-40B4-BE49-F238E27FC236}">
                <a16:creationId xmlns:a16="http://schemas.microsoft.com/office/drawing/2014/main" id="{6A71BEA2-0169-43EA-AB4E-3E7CAEB913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5105400"/>
            <a:ext cx="2968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it-IT" i="1">
                <a:solidFill>
                  <a:srgbClr val="FF0065"/>
                </a:solidFill>
                <a:latin typeface="Geneva"/>
              </a:rPr>
              <a:t>v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E73ADE2-BD25-4C18-9B3F-539895ECDFCD}"/>
              </a:ext>
            </a:extLst>
          </p:cNvPr>
          <p:cNvSpPr txBox="1"/>
          <p:nvPr/>
        </p:nvSpPr>
        <p:spPr>
          <a:xfrm>
            <a:off x="4876800" y="390525"/>
            <a:ext cx="2590800" cy="52387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7F7F7F"/>
            </a:solidFill>
          </a:ln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en-US" sz="14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Note: The example code has changed from last slide. </a:t>
            </a:r>
          </a:p>
        </p:txBody>
      </p:sp>
    </p:spTree>
  </p:cSld>
  <p:clrMapOvr>
    <a:masterClrMapping/>
  </p:clrMapOvr>
  <p:transition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Footer Placeholder 1">
            <a:extLst>
              <a:ext uri="{FF2B5EF4-FFF2-40B4-BE49-F238E27FC236}">
                <a16:creationId xmlns:a16="http://schemas.microsoft.com/office/drawing/2014/main" id="{1AA0A02B-C1A4-4D12-BC7B-07A1625DFEA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200"/>
              <a:t>Comp 412, Fall 2010</a:t>
            </a:r>
          </a:p>
        </p:txBody>
      </p:sp>
      <p:sp>
        <p:nvSpPr>
          <p:cNvPr id="40962" name="Slide Number Placeholder 2">
            <a:extLst>
              <a:ext uri="{FF2B5EF4-FFF2-40B4-BE49-F238E27FC236}">
                <a16:creationId xmlns:a16="http://schemas.microsoft.com/office/drawing/2014/main" id="{93D3FAE2-3103-4703-B597-921F53F663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DCD07062-0B8A-4AE8-93D4-5FF56EF5AED3}" type="slidenum">
              <a:rPr lang="en-US" altLang="it-IT" sz="1200"/>
              <a:pPr/>
              <a:t>13</a:t>
            </a:fld>
            <a:endParaRPr lang="en-US" altLang="it-IT" sz="1200"/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30A553D1-9A46-4AE6-A913-D4E4B2C3FC8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Activation Record Basics</a:t>
            </a:r>
          </a:p>
        </p:txBody>
      </p:sp>
      <p:grpSp>
        <p:nvGrpSpPr>
          <p:cNvPr id="40964" name="Group 24">
            <a:extLst>
              <a:ext uri="{FF2B5EF4-FFF2-40B4-BE49-F238E27FC236}">
                <a16:creationId xmlns:a16="http://schemas.microsoft.com/office/drawing/2014/main" id="{0C154978-B292-475E-A627-78835C76255B}"/>
              </a:ext>
            </a:extLst>
          </p:cNvPr>
          <p:cNvGrpSpPr>
            <a:grpSpLocks/>
          </p:cNvGrpSpPr>
          <p:nvPr/>
        </p:nvGrpSpPr>
        <p:grpSpPr bwMode="auto">
          <a:xfrm>
            <a:off x="838200" y="1654175"/>
            <a:ext cx="3084513" cy="3497263"/>
            <a:chOff x="528" y="1042"/>
            <a:chExt cx="1943" cy="2203"/>
          </a:xfrm>
        </p:grpSpPr>
        <p:sp>
          <p:nvSpPr>
            <p:cNvPr id="40974" name="Rectangle 4">
              <a:extLst>
                <a:ext uri="{FF2B5EF4-FFF2-40B4-BE49-F238E27FC236}">
                  <a16:creationId xmlns:a16="http://schemas.microsoft.com/office/drawing/2014/main" id="{D0399157-66D2-4AE3-BAEA-E6CA8B4408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4" y="1056"/>
              <a:ext cx="1008" cy="21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40975" name="Rectangle 5">
              <a:extLst>
                <a:ext uri="{FF2B5EF4-FFF2-40B4-BE49-F238E27FC236}">
                  <a16:creationId xmlns:a16="http://schemas.microsoft.com/office/drawing/2014/main" id="{32574C85-E255-4869-8C60-70C75FAC7E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1042"/>
              <a:ext cx="1008" cy="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400" i="1">
                  <a:latin typeface="Geneva"/>
                </a:rPr>
                <a:t>parameters</a:t>
              </a:r>
              <a:endParaRPr lang="en-US" altLang="it-IT" sz="1400">
                <a:latin typeface="Geneva"/>
              </a:endParaRPr>
            </a:p>
          </p:txBody>
        </p:sp>
        <p:sp>
          <p:nvSpPr>
            <p:cNvPr id="40976" name="Rectangle 6">
              <a:extLst>
                <a:ext uri="{FF2B5EF4-FFF2-40B4-BE49-F238E27FC236}">
                  <a16:creationId xmlns:a16="http://schemas.microsoft.com/office/drawing/2014/main" id="{8DC83BCE-2E74-4A42-BBB8-147A88B932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4" y="1415"/>
              <a:ext cx="1008" cy="36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400" i="1">
                  <a:latin typeface="Geneva"/>
                </a:rPr>
                <a:t>register </a:t>
              </a:r>
            </a:p>
            <a:p>
              <a:pPr algn="ctr"/>
              <a:r>
                <a:rPr lang="en-US" altLang="it-IT" sz="1400" i="1">
                  <a:latin typeface="Geneva"/>
                </a:rPr>
                <a:t>save area</a:t>
              </a:r>
              <a:endParaRPr lang="en-US" altLang="it-IT" sz="1400">
                <a:latin typeface="Geneva"/>
              </a:endParaRPr>
            </a:p>
          </p:txBody>
        </p:sp>
        <p:sp>
          <p:nvSpPr>
            <p:cNvPr id="40977" name="Rectangle 7">
              <a:extLst>
                <a:ext uri="{FF2B5EF4-FFF2-40B4-BE49-F238E27FC236}">
                  <a16:creationId xmlns:a16="http://schemas.microsoft.com/office/drawing/2014/main" id="{25A65C19-7052-4DC0-8D40-0D2F65BA6A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4" y="1788"/>
              <a:ext cx="1008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400" i="1">
                  <a:latin typeface="Geneva"/>
                </a:rPr>
                <a:t>return value</a:t>
              </a:r>
              <a:endParaRPr lang="en-US" altLang="it-IT" sz="1400">
                <a:latin typeface="Geneva"/>
              </a:endParaRPr>
            </a:p>
          </p:txBody>
        </p:sp>
        <p:sp>
          <p:nvSpPr>
            <p:cNvPr id="40978" name="Rectangle 8">
              <a:extLst>
                <a:ext uri="{FF2B5EF4-FFF2-40B4-BE49-F238E27FC236}">
                  <a16:creationId xmlns:a16="http://schemas.microsoft.com/office/drawing/2014/main" id="{C9D206CF-24BE-4B83-AA93-165919CB29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4" y="2032"/>
              <a:ext cx="1008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400" i="1">
                  <a:solidFill>
                    <a:srgbClr val="FF0065"/>
                  </a:solidFill>
                  <a:latin typeface="Geneva"/>
                </a:rPr>
                <a:t>return address</a:t>
              </a:r>
              <a:endParaRPr lang="en-US" altLang="it-IT" sz="1400" i="1">
                <a:latin typeface="Geneva"/>
              </a:endParaRPr>
            </a:p>
          </p:txBody>
        </p:sp>
        <p:sp>
          <p:nvSpPr>
            <p:cNvPr id="40979" name="Rectangle 9">
              <a:extLst>
                <a:ext uri="{FF2B5EF4-FFF2-40B4-BE49-F238E27FC236}">
                  <a16:creationId xmlns:a16="http://schemas.microsoft.com/office/drawing/2014/main" id="{798DBC8D-FCF8-49FB-8BAE-A87CB66FB0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4" y="2276"/>
              <a:ext cx="1008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400" i="1">
                  <a:latin typeface="Geneva"/>
                </a:rPr>
                <a:t>addressability</a:t>
              </a:r>
              <a:endParaRPr lang="en-US" altLang="it-IT" sz="1400">
                <a:latin typeface="Geneva"/>
              </a:endParaRPr>
            </a:p>
          </p:txBody>
        </p:sp>
        <p:sp>
          <p:nvSpPr>
            <p:cNvPr id="40980" name="Rectangle 10">
              <a:extLst>
                <a:ext uri="{FF2B5EF4-FFF2-40B4-BE49-F238E27FC236}">
                  <a16:creationId xmlns:a16="http://schemas.microsoft.com/office/drawing/2014/main" id="{400894B1-5299-4CCF-9F2A-120A88A073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4" y="2520"/>
              <a:ext cx="1008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400" i="1">
                  <a:solidFill>
                    <a:srgbClr val="FF0065"/>
                  </a:solidFill>
                  <a:latin typeface="Geneva"/>
                </a:rPr>
                <a:t>caller’s ARP</a:t>
              </a:r>
              <a:endParaRPr lang="en-US" altLang="it-IT" sz="1400">
                <a:solidFill>
                  <a:srgbClr val="FF0065"/>
                </a:solidFill>
                <a:latin typeface="Geneva"/>
              </a:endParaRPr>
            </a:p>
          </p:txBody>
        </p:sp>
        <p:sp>
          <p:nvSpPr>
            <p:cNvPr id="40981" name="Rectangle 11">
              <a:extLst>
                <a:ext uri="{FF2B5EF4-FFF2-40B4-BE49-F238E27FC236}">
                  <a16:creationId xmlns:a16="http://schemas.microsoft.com/office/drawing/2014/main" id="{666F1E3B-621A-42B5-8820-766D0D56F4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4" y="2764"/>
              <a:ext cx="1008" cy="48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400" i="1">
                  <a:latin typeface="Geneva"/>
                </a:rPr>
                <a:t>local </a:t>
              </a:r>
            </a:p>
            <a:p>
              <a:pPr algn="ctr"/>
              <a:r>
                <a:rPr lang="en-US" altLang="it-IT" sz="1400" i="1">
                  <a:latin typeface="Geneva"/>
                </a:rPr>
                <a:t>variables</a:t>
              </a:r>
              <a:endParaRPr lang="en-US" altLang="it-IT" sz="1400">
                <a:latin typeface="Geneva"/>
              </a:endParaRPr>
            </a:p>
          </p:txBody>
        </p:sp>
        <p:sp>
          <p:nvSpPr>
            <p:cNvPr id="40982" name="Text Box 12">
              <a:extLst>
                <a:ext uri="{FF2B5EF4-FFF2-40B4-BE49-F238E27FC236}">
                  <a16:creationId xmlns:a16="http://schemas.microsoft.com/office/drawing/2014/main" id="{26370119-C768-4BF7-BBFE-BB2E87867C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2422"/>
              <a:ext cx="384" cy="19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 sz="1400">
                  <a:solidFill>
                    <a:srgbClr val="003C75"/>
                  </a:solidFill>
                  <a:latin typeface="Geneva"/>
                </a:rPr>
                <a:t>ARP</a:t>
              </a:r>
            </a:p>
          </p:txBody>
        </p:sp>
        <p:sp>
          <p:nvSpPr>
            <p:cNvPr id="40983" name="Line 13">
              <a:extLst>
                <a:ext uri="{FF2B5EF4-FFF2-40B4-BE49-F238E27FC236}">
                  <a16:creationId xmlns:a16="http://schemas.microsoft.com/office/drawing/2014/main" id="{25787310-AF10-490B-A1F2-B48A3C0905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2518"/>
              <a:ext cx="339" cy="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40984" name="Line 14">
              <a:extLst>
                <a:ext uri="{FF2B5EF4-FFF2-40B4-BE49-F238E27FC236}">
                  <a16:creationId xmlns:a16="http://schemas.microsoft.com/office/drawing/2014/main" id="{69FF8687-6CFB-49D2-A2DB-9372E8A629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2" y="2646"/>
              <a:ext cx="339" cy="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</p:grpSp>
      <p:sp>
        <p:nvSpPr>
          <p:cNvPr id="40965" name="AutoShape 15">
            <a:extLst>
              <a:ext uri="{FF2B5EF4-FFF2-40B4-BE49-F238E27FC236}">
                <a16:creationId xmlns:a16="http://schemas.microsoft.com/office/drawing/2014/main" id="{015744AA-4DD5-4C56-95CA-2F220495294B}"/>
              </a:ext>
            </a:extLst>
          </p:cNvPr>
          <p:cNvSpPr>
            <a:spLocks/>
          </p:cNvSpPr>
          <p:nvPr/>
        </p:nvSpPr>
        <p:spPr bwMode="auto">
          <a:xfrm>
            <a:off x="5181600" y="1300163"/>
            <a:ext cx="2836863" cy="590550"/>
          </a:xfrm>
          <a:prstGeom prst="accentBorderCallout1">
            <a:avLst>
              <a:gd name="adj1" fmla="val 19356"/>
              <a:gd name="adj2" fmla="val -2685"/>
              <a:gd name="adj3" fmla="val 116130"/>
              <a:gd name="adj4" fmla="val -65194"/>
            </a:avLst>
          </a:prstGeom>
          <a:noFill/>
          <a:ln w="19050" algn="ctr">
            <a:solidFill>
              <a:srgbClr val="003C75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Space for parameters to the current routine</a:t>
            </a:r>
          </a:p>
        </p:txBody>
      </p:sp>
      <p:sp>
        <p:nvSpPr>
          <p:cNvPr id="40966" name="AutoShape 16">
            <a:extLst>
              <a:ext uri="{FF2B5EF4-FFF2-40B4-BE49-F238E27FC236}">
                <a16:creationId xmlns:a16="http://schemas.microsoft.com/office/drawing/2014/main" id="{2FABBA3E-77A4-4C55-8017-1C03C76A7B81}"/>
              </a:ext>
            </a:extLst>
          </p:cNvPr>
          <p:cNvSpPr>
            <a:spLocks/>
          </p:cNvSpPr>
          <p:nvPr/>
        </p:nvSpPr>
        <p:spPr bwMode="auto">
          <a:xfrm>
            <a:off x="5181600" y="1933575"/>
            <a:ext cx="2836863" cy="346075"/>
          </a:xfrm>
          <a:prstGeom prst="accentBorderCallout1">
            <a:avLst>
              <a:gd name="adj1" fmla="val 33028"/>
              <a:gd name="adj2" fmla="val -2685"/>
              <a:gd name="adj3" fmla="val 163759"/>
              <a:gd name="adj4" fmla="val -66255"/>
            </a:avLst>
          </a:prstGeom>
          <a:noFill/>
          <a:ln w="19050" algn="ctr">
            <a:solidFill>
              <a:srgbClr val="003C75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Saved register contents</a:t>
            </a:r>
          </a:p>
        </p:txBody>
      </p:sp>
      <p:sp>
        <p:nvSpPr>
          <p:cNvPr id="40967" name="AutoShape 17">
            <a:extLst>
              <a:ext uri="{FF2B5EF4-FFF2-40B4-BE49-F238E27FC236}">
                <a16:creationId xmlns:a16="http://schemas.microsoft.com/office/drawing/2014/main" id="{ED06EE7D-27EE-4B57-928D-0BFB64595AAD}"/>
              </a:ext>
            </a:extLst>
          </p:cNvPr>
          <p:cNvSpPr>
            <a:spLocks/>
          </p:cNvSpPr>
          <p:nvPr/>
        </p:nvSpPr>
        <p:spPr bwMode="auto">
          <a:xfrm>
            <a:off x="5181600" y="2362200"/>
            <a:ext cx="2836863" cy="590550"/>
          </a:xfrm>
          <a:prstGeom prst="accentBorderCallout1">
            <a:avLst>
              <a:gd name="adj1" fmla="val 19356"/>
              <a:gd name="adj2" fmla="val -2685"/>
              <a:gd name="adj3" fmla="val 115727"/>
              <a:gd name="adj4" fmla="val -64329"/>
            </a:avLst>
          </a:prstGeom>
          <a:noFill/>
          <a:ln w="19050" algn="ctr">
            <a:solidFill>
              <a:srgbClr val="003C75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If function, space for return value</a:t>
            </a:r>
          </a:p>
        </p:txBody>
      </p:sp>
      <p:sp>
        <p:nvSpPr>
          <p:cNvPr id="40968" name="AutoShape 18">
            <a:extLst>
              <a:ext uri="{FF2B5EF4-FFF2-40B4-BE49-F238E27FC236}">
                <a16:creationId xmlns:a16="http://schemas.microsoft.com/office/drawing/2014/main" id="{927D3B2D-2FE7-4930-97A5-451BCCF6708B}"/>
              </a:ext>
            </a:extLst>
          </p:cNvPr>
          <p:cNvSpPr>
            <a:spLocks/>
          </p:cNvSpPr>
          <p:nvPr/>
        </p:nvSpPr>
        <p:spPr bwMode="auto">
          <a:xfrm>
            <a:off x="5181600" y="3076575"/>
            <a:ext cx="2836863" cy="346075"/>
          </a:xfrm>
          <a:prstGeom prst="accentBorderCallout1">
            <a:avLst>
              <a:gd name="adj1" fmla="val 33028"/>
              <a:gd name="adj2" fmla="val -2685"/>
              <a:gd name="adj3" fmla="val 105278"/>
              <a:gd name="adj4" fmla="val -62648"/>
            </a:avLst>
          </a:prstGeom>
          <a:noFill/>
          <a:ln w="19050" algn="ctr">
            <a:solidFill>
              <a:srgbClr val="003C75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Address to resume caller</a:t>
            </a:r>
          </a:p>
        </p:txBody>
      </p:sp>
      <p:sp>
        <p:nvSpPr>
          <p:cNvPr id="40969" name="AutoShape 19">
            <a:extLst>
              <a:ext uri="{FF2B5EF4-FFF2-40B4-BE49-F238E27FC236}">
                <a16:creationId xmlns:a16="http://schemas.microsoft.com/office/drawing/2014/main" id="{87C67B02-8AEC-4F58-B8D4-0D6D05D6F80F}"/>
              </a:ext>
            </a:extLst>
          </p:cNvPr>
          <p:cNvSpPr>
            <a:spLocks/>
          </p:cNvSpPr>
          <p:nvPr/>
        </p:nvSpPr>
        <p:spPr bwMode="auto">
          <a:xfrm>
            <a:off x="5181600" y="3657600"/>
            <a:ext cx="2836863" cy="346075"/>
          </a:xfrm>
          <a:prstGeom prst="accentBorderCallout1">
            <a:avLst>
              <a:gd name="adj1" fmla="val 33028"/>
              <a:gd name="adj2" fmla="val -2685"/>
              <a:gd name="adj3" fmla="val 33486"/>
              <a:gd name="adj4" fmla="val -62370"/>
            </a:avLst>
          </a:prstGeom>
          <a:noFill/>
          <a:ln w="19050" algn="ctr">
            <a:solidFill>
              <a:srgbClr val="003C75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Help with non-local access</a:t>
            </a:r>
          </a:p>
        </p:txBody>
      </p:sp>
      <p:sp>
        <p:nvSpPr>
          <p:cNvPr id="40970" name="AutoShape 20">
            <a:extLst>
              <a:ext uri="{FF2B5EF4-FFF2-40B4-BE49-F238E27FC236}">
                <a16:creationId xmlns:a16="http://schemas.microsoft.com/office/drawing/2014/main" id="{E210F4DD-9880-4517-82EC-785BFAA27A13}"/>
              </a:ext>
            </a:extLst>
          </p:cNvPr>
          <p:cNvSpPr>
            <a:spLocks/>
          </p:cNvSpPr>
          <p:nvPr/>
        </p:nvSpPr>
        <p:spPr bwMode="auto">
          <a:xfrm>
            <a:off x="5189538" y="4157663"/>
            <a:ext cx="2836862" cy="590550"/>
          </a:xfrm>
          <a:prstGeom prst="accentBorderCallout1">
            <a:avLst>
              <a:gd name="adj1" fmla="val 19356"/>
              <a:gd name="adj2" fmla="val -2685"/>
              <a:gd name="adj3" fmla="val 18546"/>
              <a:gd name="adj4" fmla="val -66310"/>
            </a:avLst>
          </a:prstGeom>
          <a:noFill/>
          <a:ln w="19050" algn="ctr">
            <a:solidFill>
              <a:srgbClr val="003C75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To restore caller’s AR on a </a:t>
            </a:r>
          </a:p>
          <a:p>
            <a:r>
              <a:rPr lang="en-US" altLang="it-IT"/>
              <a:t>return</a:t>
            </a:r>
          </a:p>
        </p:txBody>
      </p:sp>
      <p:sp>
        <p:nvSpPr>
          <p:cNvPr id="40971" name="AutoShape 21">
            <a:extLst>
              <a:ext uri="{FF2B5EF4-FFF2-40B4-BE49-F238E27FC236}">
                <a16:creationId xmlns:a16="http://schemas.microsoft.com/office/drawing/2014/main" id="{2110A929-2FB1-401F-AC90-EF521E0BE510}"/>
              </a:ext>
            </a:extLst>
          </p:cNvPr>
          <p:cNvSpPr>
            <a:spLocks/>
          </p:cNvSpPr>
          <p:nvPr/>
        </p:nvSpPr>
        <p:spPr bwMode="auto">
          <a:xfrm>
            <a:off x="5181600" y="4876800"/>
            <a:ext cx="2836863" cy="590550"/>
          </a:xfrm>
          <a:prstGeom prst="accentBorderCallout1">
            <a:avLst>
              <a:gd name="adj1" fmla="val 19356"/>
              <a:gd name="adj2" fmla="val -2685"/>
              <a:gd name="adj3" fmla="val -36292"/>
              <a:gd name="adj4" fmla="val -70620"/>
            </a:avLst>
          </a:prstGeom>
          <a:noFill/>
          <a:ln w="19050" algn="ctr">
            <a:solidFill>
              <a:srgbClr val="003C75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Space for local values &amp; variables (including spills)</a:t>
            </a:r>
          </a:p>
        </p:txBody>
      </p:sp>
      <p:sp>
        <p:nvSpPr>
          <p:cNvPr id="31757" name="Text Box 22">
            <a:extLst>
              <a:ext uri="{FF2B5EF4-FFF2-40B4-BE49-F238E27FC236}">
                <a16:creationId xmlns:a16="http://schemas.microsoft.com/office/drawing/2014/main" id="{607A1772-2901-4156-9000-91E750A478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5638800"/>
            <a:ext cx="5181600" cy="369888"/>
          </a:xfrm>
          <a:prstGeom prst="rect">
            <a:avLst/>
          </a:prstGeom>
          <a:solidFill>
            <a:srgbClr val="BFBFBF"/>
          </a:solidFill>
          <a:ln w="19050" cap="flat" cmpd="sng" algn="ctr">
            <a:solidFill>
              <a:schemeClr val="bg1">
                <a:lumMod val="5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  <a:defRPr/>
            </a:pPr>
            <a:r>
              <a:rPr lang="en-US" sz="180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One </a:t>
            </a:r>
            <a:r>
              <a:rPr lang="en-US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AR</a:t>
            </a:r>
            <a:r>
              <a:rPr lang="en-US" sz="180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 for each invocation of a procedure</a:t>
            </a:r>
          </a:p>
        </p:txBody>
      </p:sp>
      <p:sp>
        <p:nvSpPr>
          <p:cNvPr id="31758" name="Text Box 23">
            <a:extLst>
              <a:ext uri="{FF2B5EF4-FFF2-40B4-BE49-F238E27FC236}">
                <a16:creationId xmlns:a16="http://schemas.microsoft.com/office/drawing/2014/main" id="{A110F3C8-FDAA-433E-AC1F-E808D8FA97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6215063"/>
            <a:ext cx="3048000" cy="366712"/>
          </a:xfrm>
          <a:prstGeom prst="rect">
            <a:avLst/>
          </a:prstGeom>
          <a:solidFill>
            <a:srgbClr val="BFBFBF"/>
          </a:solidFill>
          <a:ln w="19050" cap="flat" cmpd="sng" algn="ctr">
            <a:solidFill>
              <a:srgbClr val="7F7F7F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  <a:defRPr/>
            </a:pPr>
            <a:r>
              <a:rPr lang="en-US" sz="14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ARP </a:t>
            </a:r>
            <a:r>
              <a:rPr lang="en-US" sz="1800" dirty="0" err="1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</a:t>
            </a:r>
            <a:r>
              <a:rPr lang="en-US" sz="14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 </a:t>
            </a:r>
            <a:r>
              <a:rPr lang="en-US" sz="1400" u="sng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A</a:t>
            </a:r>
            <a:r>
              <a:rPr lang="en-US" sz="14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ctivation </a:t>
            </a:r>
            <a:r>
              <a:rPr lang="en-US" sz="1400" u="sng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R</a:t>
            </a:r>
            <a:r>
              <a:rPr lang="en-US" sz="14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ecord </a:t>
            </a:r>
            <a:r>
              <a:rPr lang="en-US" sz="1400" u="sng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P</a:t>
            </a:r>
            <a:r>
              <a:rPr lang="en-US" sz="14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ointer</a:t>
            </a:r>
            <a:endParaRPr lang="en-US" sz="1400" dirty="0">
              <a:solidFill>
                <a:srgbClr val="003C75"/>
              </a:solidFill>
              <a:latin typeface="Comic Sans MS" charset="0"/>
              <a:ea typeface="ヒラギノ角ゴ Pro W3" charset="-128"/>
              <a:cs typeface="ヒラギノ角ゴ Pro W3" charset="-128"/>
            </a:endParaRPr>
          </a:p>
        </p:txBody>
      </p:sp>
    </p:spTree>
  </p:cSld>
  <p:clrMapOvr>
    <a:masterClrMapping/>
  </p:clrMapOvr>
  <p:transition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Footer Placeholder 1">
            <a:extLst>
              <a:ext uri="{FF2B5EF4-FFF2-40B4-BE49-F238E27FC236}">
                <a16:creationId xmlns:a16="http://schemas.microsoft.com/office/drawing/2014/main" id="{A52D3BB2-A541-4AD2-894D-3537564C933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200"/>
              <a:t>Comp 412, Fall 2010</a:t>
            </a:r>
          </a:p>
        </p:txBody>
      </p:sp>
      <p:sp>
        <p:nvSpPr>
          <p:cNvPr id="43010" name="Slide Number Placeholder 2">
            <a:extLst>
              <a:ext uri="{FF2B5EF4-FFF2-40B4-BE49-F238E27FC236}">
                <a16:creationId xmlns:a16="http://schemas.microsoft.com/office/drawing/2014/main" id="{7891E27F-02AE-4AC9-8C21-1379ED3CDFF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52B4CC95-3342-4E3A-9445-3869E824B666}" type="slidenum">
              <a:rPr lang="en-US" altLang="it-IT" sz="1200"/>
              <a:pPr/>
              <a:t>14</a:t>
            </a:fld>
            <a:endParaRPr lang="en-US" altLang="it-IT" sz="1200"/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1C7D39CA-1988-4951-BFA6-CF118D7C36B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Activation Record Details</a:t>
            </a:r>
          </a:p>
        </p:txBody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43319C4E-72B0-4F9F-AE9B-012202E02D2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How does the compiler find the variables?</a:t>
            </a:r>
          </a:p>
          <a:p>
            <a:pPr eaLnBrk="1" hangingPunct="1"/>
            <a:r>
              <a:rPr lang="en-US" altLang="it-IT"/>
              <a:t>They are at known offsets from the </a:t>
            </a:r>
            <a:r>
              <a:rPr lang="en-US" altLang="it-IT" sz="1800"/>
              <a:t>AR pointer </a:t>
            </a:r>
          </a:p>
          <a:p>
            <a:pPr eaLnBrk="1" hangingPunct="1"/>
            <a:r>
              <a:rPr lang="en-US" altLang="it-IT"/>
              <a:t>The static coordinate leads to a “loadAI” operation</a:t>
            </a:r>
          </a:p>
          <a:p>
            <a:pPr lvl="1" eaLnBrk="1" hangingPunct="1"/>
            <a:r>
              <a:rPr lang="en-US" altLang="it-IT">
                <a:solidFill>
                  <a:srgbClr val="FF0065"/>
                </a:solidFill>
              </a:rPr>
              <a:t>Level</a:t>
            </a:r>
            <a:r>
              <a:rPr lang="en-US" altLang="it-IT"/>
              <a:t> specifies an ARP, </a:t>
            </a:r>
            <a:r>
              <a:rPr lang="en-US" altLang="it-IT">
                <a:solidFill>
                  <a:srgbClr val="FF0065"/>
                </a:solidFill>
              </a:rPr>
              <a:t>offset</a:t>
            </a:r>
            <a:r>
              <a:rPr lang="en-US" altLang="it-IT"/>
              <a:t> is the constant</a:t>
            </a:r>
          </a:p>
          <a:p>
            <a:pPr eaLnBrk="1" hangingPunct="1">
              <a:spcBef>
                <a:spcPct val="75000"/>
              </a:spcBef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Variable-length data</a:t>
            </a:r>
          </a:p>
          <a:p>
            <a:pPr eaLnBrk="1" hangingPunct="1"/>
            <a:r>
              <a:rPr lang="en-US" altLang="it-IT"/>
              <a:t>If </a:t>
            </a:r>
            <a:r>
              <a:rPr lang="en-US" altLang="it-IT" sz="1800"/>
              <a:t>AR </a:t>
            </a:r>
            <a:r>
              <a:rPr lang="en-US" altLang="it-IT"/>
              <a:t>can be extended, put it above local variables</a:t>
            </a:r>
          </a:p>
          <a:p>
            <a:pPr eaLnBrk="1" hangingPunct="1"/>
            <a:r>
              <a:rPr lang="en-US" altLang="it-IT"/>
              <a:t>Leave a pointer at a known offset from ARP</a:t>
            </a:r>
          </a:p>
          <a:p>
            <a:pPr eaLnBrk="1" hangingPunct="1"/>
            <a:r>
              <a:rPr lang="en-US" altLang="it-IT"/>
              <a:t>Otherwise, put variable-length data on the heap</a:t>
            </a:r>
          </a:p>
          <a:p>
            <a:pPr eaLnBrk="1" hangingPunct="1">
              <a:spcBef>
                <a:spcPct val="75000"/>
              </a:spcBef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Initializing local variables</a:t>
            </a:r>
          </a:p>
          <a:p>
            <a:pPr eaLnBrk="1" hangingPunct="1"/>
            <a:r>
              <a:rPr lang="en-US" altLang="it-IT"/>
              <a:t>Must generate explicit code to store the values</a:t>
            </a:r>
          </a:p>
          <a:p>
            <a:pPr eaLnBrk="1" hangingPunct="1"/>
            <a:r>
              <a:rPr lang="en-US" altLang="it-IT"/>
              <a:t>Among the procedure’s first actions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4D9ABC-FB01-470C-ACBE-4639106DDF1A}"/>
              </a:ext>
            </a:extLst>
          </p:cNvPr>
          <p:cNvSpPr txBox="1"/>
          <p:nvPr/>
        </p:nvSpPr>
        <p:spPr>
          <a:xfrm>
            <a:off x="7010400" y="4759325"/>
            <a:ext cx="1447800" cy="1184275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eaLnBrk="0" hangingPunct="0"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1400" dirty="0" err="1">
                <a:latin typeface="Geneva"/>
                <a:ea typeface="ヒラギノ角ゴ Pro W3" charset="-128"/>
                <a:cs typeface="Geneva"/>
              </a:rPr>
              <a:t>int</a:t>
            </a:r>
            <a:r>
              <a:rPr lang="en-US" sz="1400" dirty="0">
                <a:latin typeface="Geneva"/>
                <a:ea typeface="ヒラギノ角ゴ Pro W3" charset="-128"/>
                <a:cs typeface="Geneva"/>
              </a:rPr>
              <a:t> </a:t>
            </a:r>
            <a:r>
              <a:rPr lang="en-US" sz="1400" dirty="0" err="1">
                <a:latin typeface="Geneva"/>
                <a:ea typeface="ヒラギノ角ゴ Pro W3" charset="-128"/>
                <a:cs typeface="Geneva"/>
              </a:rPr>
              <a:t>x</a:t>
            </a:r>
            <a:r>
              <a:rPr lang="en-US" sz="1400" dirty="0">
                <a:latin typeface="Geneva"/>
                <a:ea typeface="ヒラギノ角ゴ Pro W3" charset="-128"/>
                <a:cs typeface="Geneva"/>
              </a:rPr>
              <a:t> = 0;</a:t>
            </a:r>
            <a:endParaRPr lang="en-US" sz="1400" i="1" dirty="0">
              <a:solidFill>
                <a:srgbClr val="003C75"/>
              </a:solidFill>
              <a:latin typeface="+mn-lt"/>
              <a:ea typeface="ヒラギノ角ゴ Pro W3" charset="-128"/>
              <a:cs typeface="Geneva"/>
            </a:endParaRPr>
          </a:p>
          <a:p>
            <a:pPr eaLnBrk="0" hangingPunct="0"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1400" i="1" dirty="0">
                <a:solidFill>
                  <a:srgbClr val="003C75"/>
                </a:solidFill>
                <a:latin typeface="+mn-lt"/>
                <a:ea typeface="ヒラギノ角ゴ Pro W3" charset="-128"/>
                <a:cs typeface="Geneva"/>
              </a:rPr>
              <a:t>is the same as</a:t>
            </a:r>
          </a:p>
          <a:p>
            <a:pPr eaLnBrk="0" hangingPunct="0">
              <a:defRPr/>
            </a:pPr>
            <a:r>
              <a:rPr lang="en-US" sz="1400" dirty="0" err="1">
                <a:latin typeface="Geneva"/>
                <a:ea typeface="ヒラギノ角ゴ Pro W3" charset="-128"/>
                <a:cs typeface="Geneva"/>
              </a:rPr>
              <a:t>int</a:t>
            </a:r>
            <a:r>
              <a:rPr lang="en-US" sz="1400" dirty="0">
                <a:latin typeface="Geneva"/>
                <a:ea typeface="ヒラギノ角ゴ Pro W3" charset="-128"/>
                <a:cs typeface="Geneva"/>
              </a:rPr>
              <a:t> </a:t>
            </a:r>
            <a:r>
              <a:rPr lang="en-US" sz="1400" dirty="0" err="1">
                <a:latin typeface="Geneva"/>
                <a:ea typeface="ヒラギノ角ゴ Pro W3" charset="-128"/>
                <a:cs typeface="Geneva"/>
              </a:rPr>
              <a:t>x</a:t>
            </a:r>
            <a:r>
              <a:rPr lang="en-US" sz="1400" dirty="0">
                <a:latin typeface="Geneva"/>
                <a:ea typeface="ヒラギノ角ゴ Pro W3" charset="-128"/>
                <a:cs typeface="Geneva"/>
              </a:rPr>
              <a:t>;</a:t>
            </a:r>
          </a:p>
          <a:p>
            <a:pPr eaLnBrk="0" hangingPunct="0">
              <a:defRPr/>
            </a:pPr>
            <a:r>
              <a:rPr lang="en-US" sz="1400" dirty="0" err="1">
                <a:latin typeface="Geneva"/>
                <a:ea typeface="ヒラギノ角ゴ Pro W3" charset="-128"/>
                <a:cs typeface="Geneva"/>
              </a:rPr>
              <a:t>x</a:t>
            </a:r>
            <a:r>
              <a:rPr lang="en-US" sz="1400" dirty="0">
                <a:latin typeface="Geneva"/>
                <a:ea typeface="ヒラギノ角ゴ Pro W3" charset="-128"/>
                <a:cs typeface="Geneva"/>
              </a:rPr>
              <a:t> = 0;</a:t>
            </a:r>
          </a:p>
        </p:txBody>
      </p:sp>
    </p:spTree>
  </p:cSld>
  <p:clrMapOvr>
    <a:masterClrMapping/>
  </p:clrMapOvr>
  <p:transition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Footer Placeholder 1">
            <a:extLst>
              <a:ext uri="{FF2B5EF4-FFF2-40B4-BE49-F238E27FC236}">
                <a16:creationId xmlns:a16="http://schemas.microsoft.com/office/drawing/2014/main" id="{0F188BE6-16DB-4F3C-AE96-702DBA7D70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200"/>
              <a:t>Comp 412, Fall 2010</a:t>
            </a:r>
          </a:p>
        </p:txBody>
      </p:sp>
      <p:sp>
        <p:nvSpPr>
          <p:cNvPr id="45058" name="Slide Number Placeholder 2">
            <a:extLst>
              <a:ext uri="{FF2B5EF4-FFF2-40B4-BE49-F238E27FC236}">
                <a16:creationId xmlns:a16="http://schemas.microsoft.com/office/drawing/2014/main" id="{DE60F376-1970-40B4-BC2E-CB7BE51BFC6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D22AF104-DF2F-43F8-A030-8C37BB5D7EC3}" type="slidenum">
              <a:rPr lang="en-US" altLang="it-IT" sz="1200"/>
              <a:pPr/>
              <a:t>15</a:t>
            </a:fld>
            <a:endParaRPr lang="en-US" altLang="it-IT" sz="1200"/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003B5F42-E8FD-4DA7-9DB6-95642558A67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Activation Record Details</a:t>
            </a:r>
          </a:p>
        </p:txBody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2800D0D5-D91A-4CDF-9110-8E9114DF09E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Where do activation records live?</a:t>
            </a:r>
          </a:p>
          <a:p>
            <a:pPr eaLnBrk="1" hangingPunct="1"/>
            <a:r>
              <a:rPr lang="en-US" altLang="it-IT"/>
              <a:t>If lifetime of </a:t>
            </a:r>
            <a:r>
              <a:rPr lang="en-US" altLang="it-IT" sz="1800"/>
              <a:t>AR</a:t>
            </a:r>
            <a:r>
              <a:rPr lang="en-US" altLang="it-IT"/>
              <a:t> matches lifetime of invocation, </a:t>
            </a:r>
            <a:r>
              <a:rPr lang="en-US" altLang="it-IT" sz="1600" i="1"/>
              <a:t>AND</a:t>
            </a:r>
            <a:endParaRPr lang="en-US" altLang="it-IT"/>
          </a:p>
          <a:p>
            <a:pPr eaLnBrk="1" hangingPunct="1"/>
            <a:r>
              <a:rPr lang="en-US" altLang="it-IT"/>
              <a:t>If code normally executes a “return”</a:t>
            </a:r>
          </a:p>
          <a:p>
            <a:pPr eaLnBrk="1" hangingPunct="1">
              <a:buSzTx/>
              <a:buFont typeface="Symbol" panose="05050102010706020507" pitchFamily="18" charset="2"/>
              <a:buChar char="Þ"/>
            </a:pPr>
            <a:r>
              <a:rPr lang="en-US" altLang="it-IT"/>
              <a:t>Keep </a:t>
            </a:r>
            <a:r>
              <a:rPr lang="en-US" altLang="it-IT" sz="1800"/>
              <a:t>AR</a:t>
            </a:r>
            <a:r>
              <a:rPr lang="en-US" altLang="it-IT"/>
              <a:t>s on a stack</a:t>
            </a:r>
          </a:p>
          <a:p>
            <a:pPr eaLnBrk="1" hangingPunct="1">
              <a:spcBef>
                <a:spcPct val="100000"/>
              </a:spcBef>
            </a:pPr>
            <a:r>
              <a:rPr lang="en-US" altLang="it-IT"/>
              <a:t>If a procedure can outlive its caller, </a:t>
            </a:r>
            <a:r>
              <a:rPr lang="en-US" altLang="it-IT" sz="1600" i="1"/>
              <a:t>OR</a:t>
            </a:r>
            <a:endParaRPr lang="en-US" altLang="it-IT"/>
          </a:p>
          <a:p>
            <a:pPr eaLnBrk="1" hangingPunct="1">
              <a:spcBef>
                <a:spcPct val="15000"/>
              </a:spcBef>
            </a:pPr>
            <a:r>
              <a:rPr lang="en-US" altLang="it-IT"/>
              <a:t>If it can return an object that can reference its execution state</a:t>
            </a:r>
          </a:p>
          <a:p>
            <a:pPr eaLnBrk="1" hangingPunct="1">
              <a:spcBef>
                <a:spcPct val="15000"/>
              </a:spcBef>
              <a:buSzTx/>
              <a:buFont typeface="Symbol" panose="05050102010706020507" pitchFamily="18" charset="2"/>
              <a:buChar char="Þ"/>
            </a:pPr>
            <a:r>
              <a:rPr lang="en-US" altLang="it-IT" sz="1800"/>
              <a:t>AR</a:t>
            </a:r>
            <a:r>
              <a:rPr lang="en-US" altLang="it-IT"/>
              <a:t>s </a:t>
            </a:r>
            <a:r>
              <a:rPr lang="en-US" altLang="it-IT" u="sng"/>
              <a:t>must</a:t>
            </a:r>
            <a:r>
              <a:rPr lang="en-US" altLang="it-IT"/>
              <a:t> be kept in the heap</a:t>
            </a:r>
          </a:p>
          <a:p>
            <a:pPr eaLnBrk="1" hangingPunct="1">
              <a:spcBef>
                <a:spcPct val="100000"/>
              </a:spcBef>
            </a:pPr>
            <a:r>
              <a:rPr lang="en-US" altLang="it-IT"/>
              <a:t>If a procedure makes no calls</a:t>
            </a:r>
          </a:p>
          <a:p>
            <a:pPr eaLnBrk="1" hangingPunct="1">
              <a:spcBef>
                <a:spcPct val="15000"/>
              </a:spcBef>
              <a:buSzTx/>
              <a:buFont typeface="Symbol" panose="05050102010706020507" pitchFamily="18" charset="2"/>
              <a:buChar char="Þ"/>
            </a:pPr>
            <a:r>
              <a:rPr lang="en-US" altLang="it-IT" sz="1800"/>
              <a:t>AR</a:t>
            </a:r>
            <a:r>
              <a:rPr lang="en-US" altLang="it-IT"/>
              <a:t> can be allocated statically</a:t>
            </a:r>
          </a:p>
          <a:p>
            <a:pPr eaLnBrk="1" hangingPunct="1">
              <a:spcBef>
                <a:spcPts val="3000"/>
              </a:spcBef>
              <a:buFontTx/>
              <a:buNone/>
            </a:pPr>
            <a:r>
              <a:rPr lang="en-US" altLang="it-IT">
                <a:solidFill>
                  <a:srgbClr val="003C75"/>
                </a:solidFill>
              </a:rPr>
              <a:t>Efficiency prefers static, stack, then heap</a:t>
            </a:r>
          </a:p>
        </p:txBody>
      </p:sp>
      <p:grpSp>
        <p:nvGrpSpPr>
          <p:cNvPr id="45061" name="Group 21">
            <a:extLst>
              <a:ext uri="{FF2B5EF4-FFF2-40B4-BE49-F238E27FC236}">
                <a16:creationId xmlns:a16="http://schemas.microsoft.com/office/drawing/2014/main" id="{8DDCAFF7-4426-45AF-AC83-CDBB762C458F}"/>
              </a:ext>
            </a:extLst>
          </p:cNvPr>
          <p:cNvGrpSpPr>
            <a:grpSpLocks/>
          </p:cNvGrpSpPr>
          <p:nvPr/>
        </p:nvGrpSpPr>
        <p:grpSpPr bwMode="auto">
          <a:xfrm>
            <a:off x="2768600" y="2535238"/>
            <a:ext cx="685800" cy="76200"/>
            <a:chOff x="1744" y="1584"/>
            <a:chExt cx="432" cy="48"/>
          </a:xfrm>
        </p:grpSpPr>
        <p:sp>
          <p:nvSpPr>
            <p:cNvPr id="45080" name="Line 13">
              <a:extLst>
                <a:ext uri="{FF2B5EF4-FFF2-40B4-BE49-F238E27FC236}">
                  <a16:creationId xmlns:a16="http://schemas.microsoft.com/office/drawing/2014/main" id="{DCB69062-198E-436E-88E0-D4374F13DA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92" y="1602"/>
              <a:ext cx="384" cy="0"/>
            </a:xfrm>
            <a:prstGeom prst="line">
              <a:avLst/>
            </a:prstGeom>
            <a:noFill/>
            <a:ln w="28575">
              <a:solidFill>
                <a:srgbClr val="003C7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45081" name="Rectangle 14">
              <a:extLst>
                <a:ext uri="{FF2B5EF4-FFF2-40B4-BE49-F238E27FC236}">
                  <a16:creationId xmlns:a16="http://schemas.microsoft.com/office/drawing/2014/main" id="{BD3943C1-A880-469B-B562-C9C2D128F4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4" y="1584"/>
              <a:ext cx="432" cy="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</p:grpSp>
      <p:cxnSp>
        <p:nvCxnSpPr>
          <p:cNvPr id="45062" name="AutoShape 15">
            <a:extLst>
              <a:ext uri="{FF2B5EF4-FFF2-40B4-BE49-F238E27FC236}">
                <a16:creationId xmlns:a16="http://schemas.microsoft.com/office/drawing/2014/main" id="{C1372763-9B58-498A-9153-DDAF37564EBD}"/>
              </a:ext>
            </a:extLst>
          </p:cNvPr>
          <p:cNvCxnSpPr>
            <a:cxnSpLocks noChangeShapeType="1"/>
            <a:stCxn id="45081" idx="2"/>
            <a:endCxn id="45075" idx="2"/>
          </p:cNvCxnSpPr>
          <p:nvPr/>
        </p:nvCxnSpPr>
        <p:spPr bwMode="auto">
          <a:xfrm rot="16200000" flipH="1">
            <a:off x="5022057" y="700881"/>
            <a:ext cx="25400" cy="3846513"/>
          </a:xfrm>
          <a:prstGeom prst="curvedConnector3">
            <a:avLst>
              <a:gd name="adj1" fmla="val 1000000"/>
            </a:avLst>
          </a:prstGeom>
          <a:noFill/>
          <a:ln w="19050">
            <a:solidFill>
              <a:srgbClr val="003C75"/>
            </a:solidFill>
            <a:round/>
            <a:headEnd type="triangl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5063" name="Text Box 16">
            <a:extLst>
              <a:ext uri="{FF2B5EF4-FFF2-40B4-BE49-F238E27FC236}">
                <a16:creationId xmlns:a16="http://schemas.microsoft.com/office/drawing/2014/main" id="{432BAB41-6AF6-481F-8705-2B147504B8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9400" y="2743200"/>
            <a:ext cx="1981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it-IT" sz="1800">
                <a:solidFill>
                  <a:srgbClr val="003C75"/>
                </a:solidFill>
              </a:rPr>
              <a:t>Yes!  That stack.</a:t>
            </a:r>
          </a:p>
        </p:txBody>
      </p:sp>
      <p:grpSp>
        <p:nvGrpSpPr>
          <p:cNvPr id="45064" name="Group 20">
            <a:extLst>
              <a:ext uri="{FF2B5EF4-FFF2-40B4-BE49-F238E27FC236}">
                <a16:creationId xmlns:a16="http://schemas.microsoft.com/office/drawing/2014/main" id="{1E6135EE-570C-4CAE-83DF-0F7B24BAB106}"/>
              </a:ext>
            </a:extLst>
          </p:cNvPr>
          <p:cNvGrpSpPr>
            <a:grpSpLocks/>
          </p:cNvGrpSpPr>
          <p:nvPr/>
        </p:nvGrpSpPr>
        <p:grpSpPr bwMode="auto">
          <a:xfrm>
            <a:off x="6172200" y="1905000"/>
            <a:ext cx="1755775" cy="731838"/>
            <a:chOff x="3886" y="1200"/>
            <a:chExt cx="1106" cy="461"/>
          </a:xfrm>
        </p:grpSpPr>
        <p:sp>
          <p:nvSpPr>
            <p:cNvPr id="45071" name="Rectangle 17">
              <a:extLst>
                <a:ext uri="{FF2B5EF4-FFF2-40B4-BE49-F238E27FC236}">
                  <a16:creationId xmlns:a16="http://schemas.microsoft.com/office/drawing/2014/main" id="{2507CC4F-4A4C-494C-964B-7E63713CD0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7" y="1200"/>
              <a:ext cx="159" cy="443"/>
            </a:xfrm>
            <a:prstGeom prst="rect">
              <a:avLst/>
            </a:prstGeom>
            <a:noFill/>
            <a:ln w="12700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800">
                  <a:solidFill>
                    <a:srgbClr val="B025A6"/>
                  </a:solidFill>
                  <a:latin typeface="Arial Rounded MT Bold" panose="020F0704030504030204" pitchFamily="34" charset="0"/>
                </a:rPr>
                <a:t>S</a:t>
              </a:r>
            </a:p>
            <a:p>
              <a:pPr algn="ctr"/>
              <a:r>
                <a:rPr lang="en-US" altLang="it-IT" sz="800">
                  <a:solidFill>
                    <a:srgbClr val="B025A6"/>
                  </a:solidFill>
                  <a:latin typeface="Arial Rounded MT Bold" panose="020F0704030504030204" pitchFamily="34" charset="0"/>
                </a:rPr>
                <a:t>t</a:t>
              </a:r>
            </a:p>
            <a:p>
              <a:pPr algn="ctr"/>
              <a:r>
                <a:rPr lang="en-US" altLang="it-IT" sz="800">
                  <a:solidFill>
                    <a:srgbClr val="B025A6"/>
                  </a:solidFill>
                  <a:latin typeface="Arial Rounded MT Bold" panose="020F0704030504030204" pitchFamily="34" charset="0"/>
                </a:rPr>
                <a:t>a</a:t>
              </a:r>
            </a:p>
            <a:p>
              <a:pPr algn="ctr"/>
              <a:r>
                <a:rPr lang="en-US" altLang="it-IT" sz="800">
                  <a:solidFill>
                    <a:srgbClr val="B025A6"/>
                  </a:solidFill>
                  <a:latin typeface="Arial Rounded MT Bold" panose="020F0704030504030204" pitchFamily="34" charset="0"/>
                </a:rPr>
                <a:t>c</a:t>
              </a:r>
            </a:p>
            <a:p>
              <a:pPr algn="ctr"/>
              <a:r>
                <a:rPr lang="en-US" altLang="it-IT" sz="800">
                  <a:solidFill>
                    <a:srgbClr val="B025A6"/>
                  </a:solidFill>
                  <a:latin typeface="Arial Rounded MT Bold" panose="020F0704030504030204" pitchFamily="34" charset="0"/>
                </a:rPr>
                <a:t>k</a:t>
              </a:r>
            </a:p>
          </p:txBody>
        </p:sp>
        <p:sp>
          <p:nvSpPr>
            <p:cNvPr id="45072" name="Rectangle 5">
              <a:extLst>
                <a:ext uri="{FF2B5EF4-FFF2-40B4-BE49-F238E27FC236}">
                  <a16:creationId xmlns:a16="http://schemas.microsoft.com/office/drawing/2014/main" id="{12DE06AF-2A6A-451F-BA81-44431D8458B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86" y="1200"/>
              <a:ext cx="1106" cy="461"/>
            </a:xfrm>
            <a:prstGeom prst="rect">
              <a:avLst/>
            </a:prstGeom>
            <a:noFill/>
            <a:ln w="12700">
              <a:solidFill>
                <a:srgbClr val="003C75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45073" name="Rectangle 6">
              <a:extLst>
                <a:ext uri="{FF2B5EF4-FFF2-40B4-BE49-F238E27FC236}">
                  <a16:creationId xmlns:a16="http://schemas.microsoft.com/office/drawing/2014/main" id="{2748BD0D-8DD4-4053-92B2-CB38628BCFD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86" y="1200"/>
              <a:ext cx="184" cy="461"/>
            </a:xfrm>
            <a:prstGeom prst="rect">
              <a:avLst/>
            </a:prstGeom>
            <a:noFill/>
            <a:ln w="12700">
              <a:solidFill>
                <a:srgbClr val="003C75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800">
                  <a:solidFill>
                    <a:srgbClr val="B025A6"/>
                  </a:solidFill>
                  <a:latin typeface="Arial Rounded MT Bold" panose="020F0704030504030204" pitchFamily="34" charset="0"/>
                </a:rPr>
                <a:t>C</a:t>
              </a:r>
            </a:p>
            <a:p>
              <a:pPr algn="ctr"/>
              <a:r>
                <a:rPr lang="en-US" altLang="it-IT" sz="800">
                  <a:solidFill>
                    <a:srgbClr val="B025A6"/>
                  </a:solidFill>
                  <a:latin typeface="Arial Rounded MT Bold" panose="020F0704030504030204" pitchFamily="34" charset="0"/>
                </a:rPr>
                <a:t>o</a:t>
              </a:r>
            </a:p>
            <a:p>
              <a:pPr algn="ctr"/>
              <a:r>
                <a:rPr lang="en-US" altLang="it-IT" sz="800">
                  <a:solidFill>
                    <a:srgbClr val="B025A6"/>
                  </a:solidFill>
                  <a:latin typeface="Arial Rounded MT Bold" panose="020F0704030504030204" pitchFamily="34" charset="0"/>
                </a:rPr>
                <a:t>d</a:t>
              </a:r>
            </a:p>
            <a:p>
              <a:pPr algn="ctr"/>
              <a:r>
                <a:rPr lang="en-US" altLang="it-IT" sz="800">
                  <a:solidFill>
                    <a:srgbClr val="B025A6"/>
                  </a:solidFill>
                  <a:latin typeface="Arial Rounded MT Bold" panose="020F0704030504030204" pitchFamily="34" charset="0"/>
                </a:rPr>
                <a:t>e</a:t>
              </a:r>
            </a:p>
          </p:txBody>
        </p:sp>
        <p:sp>
          <p:nvSpPr>
            <p:cNvPr id="45074" name="Rectangle 7">
              <a:extLst>
                <a:ext uri="{FF2B5EF4-FFF2-40B4-BE49-F238E27FC236}">
                  <a16:creationId xmlns:a16="http://schemas.microsoft.com/office/drawing/2014/main" id="{CD9A7CAA-65E8-4312-92A3-2EB83EE9714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070" y="1200"/>
              <a:ext cx="208" cy="461"/>
            </a:xfrm>
            <a:prstGeom prst="rect">
              <a:avLst/>
            </a:prstGeom>
            <a:noFill/>
            <a:ln w="12700">
              <a:solidFill>
                <a:srgbClr val="003C75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800">
                  <a:solidFill>
                    <a:srgbClr val="B025A6"/>
                  </a:solidFill>
                  <a:latin typeface="Arial Rounded MT Bold" panose="020F0704030504030204" pitchFamily="34" charset="0"/>
                </a:rPr>
                <a:t>S    G</a:t>
              </a:r>
            </a:p>
            <a:p>
              <a:pPr algn="ctr"/>
              <a:r>
                <a:rPr lang="en-US" altLang="it-IT" sz="800">
                  <a:solidFill>
                    <a:srgbClr val="B025A6"/>
                  </a:solidFill>
                  <a:latin typeface="Arial Rounded MT Bold" panose="020F0704030504030204" pitchFamily="34" charset="0"/>
                </a:rPr>
                <a:t>t      l</a:t>
              </a:r>
            </a:p>
            <a:p>
              <a:pPr algn="ctr"/>
              <a:r>
                <a:rPr lang="en-US" altLang="it-IT" sz="800">
                  <a:solidFill>
                    <a:srgbClr val="B025A6"/>
                  </a:solidFill>
                  <a:latin typeface="Arial Rounded MT Bold" panose="020F0704030504030204" pitchFamily="34" charset="0"/>
                </a:rPr>
                <a:t>a &amp; o</a:t>
              </a:r>
            </a:p>
            <a:p>
              <a:pPr algn="ctr"/>
              <a:r>
                <a:rPr lang="en-US" altLang="it-IT" sz="800">
                  <a:solidFill>
                    <a:srgbClr val="B025A6"/>
                  </a:solidFill>
                  <a:latin typeface="Arial Rounded MT Bold" panose="020F0704030504030204" pitchFamily="34" charset="0"/>
                </a:rPr>
                <a:t>t     b</a:t>
              </a:r>
            </a:p>
            <a:p>
              <a:pPr algn="ctr"/>
              <a:r>
                <a:rPr lang="en-US" altLang="it-IT" sz="800">
                  <a:solidFill>
                    <a:srgbClr val="B025A6"/>
                  </a:solidFill>
                  <a:latin typeface="Arial Rounded MT Bold" panose="020F0704030504030204" pitchFamily="34" charset="0"/>
                </a:rPr>
                <a:t>i     a</a:t>
              </a:r>
            </a:p>
            <a:p>
              <a:pPr algn="ctr"/>
              <a:r>
                <a:rPr lang="en-US" altLang="it-IT" sz="800">
                  <a:solidFill>
                    <a:srgbClr val="B025A6"/>
                  </a:solidFill>
                  <a:latin typeface="Arial Rounded MT Bold" panose="020F0704030504030204" pitchFamily="34" charset="0"/>
                </a:rPr>
                <a:t>c     l </a:t>
              </a:r>
            </a:p>
          </p:txBody>
        </p:sp>
        <p:sp>
          <p:nvSpPr>
            <p:cNvPr id="45075" name="Rectangle 8">
              <a:extLst>
                <a:ext uri="{FF2B5EF4-FFF2-40B4-BE49-F238E27FC236}">
                  <a16:creationId xmlns:a16="http://schemas.microsoft.com/office/drawing/2014/main" id="{7A322E01-8EC8-4082-B5E8-FAB551BC2C5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278" y="1200"/>
              <a:ext cx="207" cy="461"/>
            </a:xfrm>
            <a:prstGeom prst="rect">
              <a:avLst/>
            </a:prstGeom>
            <a:noFill/>
            <a:ln w="12700">
              <a:solidFill>
                <a:srgbClr val="003C75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endParaRPr lang="en-GB" altLang="it-IT" sz="800">
                <a:solidFill>
                  <a:srgbClr val="B025A6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45076" name="Rectangle 9">
              <a:extLst>
                <a:ext uri="{FF2B5EF4-FFF2-40B4-BE49-F238E27FC236}">
                  <a16:creationId xmlns:a16="http://schemas.microsoft.com/office/drawing/2014/main" id="{8042F347-AEBE-4D49-8209-0B8C6554F88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788" y="1200"/>
              <a:ext cx="204" cy="461"/>
            </a:xfrm>
            <a:prstGeom prst="rect">
              <a:avLst/>
            </a:prstGeom>
            <a:noFill/>
            <a:ln w="12700">
              <a:solidFill>
                <a:srgbClr val="003C75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endParaRPr lang="en-US" altLang="it-IT" sz="800">
                <a:solidFill>
                  <a:srgbClr val="B025A6"/>
                </a:solidFill>
                <a:latin typeface="Arial Rounded MT Bold" panose="020F0704030504030204" pitchFamily="34" charset="0"/>
              </a:endParaRPr>
            </a:p>
            <a:p>
              <a:pPr algn="ctr"/>
              <a:endParaRPr lang="en-US" altLang="it-IT" sz="800">
                <a:solidFill>
                  <a:srgbClr val="B025A6"/>
                </a:solidFill>
                <a:latin typeface="Arial Rounded MT Bold" panose="020F0704030504030204" pitchFamily="34" charset="0"/>
              </a:endParaRPr>
            </a:p>
            <a:p>
              <a:pPr algn="ctr"/>
              <a:endParaRPr lang="en-US" altLang="it-IT" sz="800">
                <a:solidFill>
                  <a:srgbClr val="B025A6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45077" name="Line 10">
              <a:extLst>
                <a:ext uri="{FF2B5EF4-FFF2-40B4-BE49-F238E27FC236}">
                  <a16:creationId xmlns:a16="http://schemas.microsoft.com/office/drawing/2014/main" id="{8F6E0034-C85F-4B54-B89B-B066E7BB3C0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488" y="1430"/>
              <a:ext cx="133" cy="1"/>
            </a:xfrm>
            <a:prstGeom prst="line">
              <a:avLst/>
            </a:prstGeom>
            <a:noFill/>
            <a:ln w="12700">
              <a:solidFill>
                <a:srgbClr val="003C75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45078" name="Line 11">
              <a:extLst>
                <a:ext uri="{FF2B5EF4-FFF2-40B4-BE49-F238E27FC236}">
                  <a16:creationId xmlns:a16="http://schemas.microsoft.com/office/drawing/2014/main" id="{3C5D3C95-E0A9-4899-B6C0-0C3A26772E5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641" y="1431"/>
              <a:ext cx="144" cy="0"/>
            </a:xfrm>
            <a:prstGeom prst="line">
              <a:avLst/>
            </a:prstGeom>
            <a:noFill/>
            <a:ln w="12700">
              <a:solidFill>
                <a:srgbClr val="003C75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45079" name="Rectangle 18">
              <a:extLst>
                <a:ext uri="{FF2B5EF4-FFF2-40B4-BE49-F238E27FC236}">
                  <a16:creationId xmlns:a16="http://schemas.microsoft.com/office/drawing/2014/main" id="{A8FB6673-F912-4841-B327-F3ACBFFCA4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" y="1248"/>
              <a:ext cx="165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800">
                  <a:solidFill>
                    <a:srgbClr val="B025A6"/>
                  </a:solidFill>
                  <a:latin typeface="Arial Rounded MT Bold" panose="020F0704030504030204" pitchFamily="34" charset="0"/>
                </a:rPr>
                <a:t>H</a:t>
              </a:r>
            </a:p>
            <a:p>
              <a:pPr algn="ctr"/>
              <a:r>
                <a:rPr lang="en-US" altLang="it-IT" sz="800">
                  <a:solidFill>
                    <a:srgbClr val="B025A6"/>
                  </a:solidFill>
                  <a:latin typeface="Arial Rounded MT Bold" panose="020F0704030504030204" pitchFamily="34" charset="0"/>
                </a:rPr>
                <a:t>e</a:t>
              </a:r>
            </a:p>
            <a:p>
              <a:pPr algn="ctr"/>
              <a:r>
                <a:rPr lang="en-US" altLang="it-IT" sz="800">
                  <a:solidFill>
                    <a:srgbClr val="B025A6"/>
                  </a:solidFill>
                  <a:latin typeface="Arial Rounded MT Bold" panose="020F0704030504030204" pitchFamily="34" charset="0"/>
                </a:rPr>
                <a:t>a</a:t>
              </a:r>
            </a:p>
            <a:p>
              <a:pPr algn="ctr"/>
              <a:r>
                <a:rPr lang="en-US" altLang="it-IT" sz="800">
                  <a:solidFill>
                    <a:srgbClr val="B025A6"/>
                  </a:solidFill>
                  <a:latin typeface="Arial Rounded MT Bold" panose="020F0704030504030204" pitchFamily="34" charset="0"/>
                </a:rPr>
                <a:t>p</a:t>
              </a:r>
            </a:p>
          </p:txBody>
        </p:sp>
      </p:grpSp>
      <p:sp>
        <p:nvSpPr>
          <p:cNvPr id="35850" name="TextBox 20">
            <a:extLst>
              <a:ext uri="{FF2B5EF4-FFF2-40B4-BE49-F238E27FC236}">
                <a16:creationId xmlns:a16="http://schemas.microsoft.com/office/drawing/2014/main" id="{9157588D-F06F-4DEB-AC3C-C437C6AFB7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0" y="1524000"/>
            <a:ext cx="1219200" cy="261938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 cap="flat" cmpd="sng" algn="ctr">
            <a:solidFill>
              <a:schemeClr val="bg1">
                <a:lumMod val="5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algn="ctr" eaLnBrk="0" hangingPunct="0">
              <a:defRPr/>
            </a:pPr>
            <a:r>
              <a:rPr lang="en-US" sz="110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Algol-60 rules</a:t>
            </a:r>
          </a:p>
        </p:txBody>
      </p:sp>
      <p:sp>
        <p:nvSpPr>
          <p:cNvPr id="35851" name="TextBox 21">
            <a:extLst>
              <a:ext uri="{FF2B5EF4-FFF2-40B4-BE49-F238E27FC236}">
                <a16:creationId xmlns:a16="http://schemas.microsoft.com/office/drawing/2014/main" id="{CC1FE94B-6E18-4562-B12E-36986F1FFF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0" y="3852863"/>
            <a:ext cx="1219200" cy="261937"/>
          </a:xfrm>
          <a:prstGeom prst="rect">
            <a:avLst/>
          </a:prstGeom>
          <a:solidFill>
            <a:srgbClr val="BFBFBF"/>
          </a:solidFill>
          <a:ln w="19050" cap="flat" cmpd="sng" algn="ctr">
            <a:solidFill>
              <a:srgbClr val="7F7F7F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algn="ctr" eaLnBrk="0" hangingPunct="0">
              <a:defRPr/>
            </a:pPr>
            <a:r>
              <a:rPr lang="en-US" sz="110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ML rules</a:t>
            </a:r>
          </a:p>
        </p:txBody>
      </p:sp>
      <p:sp>
        <p:nvSpPr>
          <p:cNvPr id="35852" name="TextBox 22">
            <a:extLst>
              <a:ext uri="{FF2B5EF4-FFF2-40B4-BE49-F238E27FC236}">
                <a16:creationId xmlns:a16="http://schemas.microsoft.com/office/drawing/2014/main" id="{1761B85D-48F1-43D9-A8C7-92B107F888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0" y="4843463"/>
            <a:ext cx="1371600" cy="261937"/>
          </a:xfrm>
          <a:prstGeom prst="rect">
            <a:avLst/>
          </a:prstGeom>
          <a:solidFill>
            <a:srgbClr val="BFBFBF"/>
          </a:solidFill>
          <a:ln w="19050" cap="flat" cmpd="sng" algn="ctr">
            <a:solidFill>
              <a:srgbClr val="7F7F7F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algn="ctr" eaLnBrk="0" hangingPunct="0">
              <a:defRPr/>
            </a:pPr>
            <a:r>
              <a:rPr lang="en-US" sz="110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Fortran 66 &amp; 77</a:t>
            </a:r>
          </a:p>
        </p:txBody>
      </p:sp>
      <p:grpSp>
        <p:nvGrpSpPr>
          <p:cNvPr id="45068" name="Group 23">
            <a:extLst>
              <a:ext uri="{FF2B5EF4-FFF2-40B4-BE49-F238E27FC236}">
                <a16:creationId xmlns:a16="http://schemas.microsoft.com/office/drawing/2014/main" id="{1B864B07-096F-4505-8AD4-96F1373D2E69}"/>
              </a:ext>
            </a:extLst>
          </p:cNvPr>
          <p:cNvGrpSpPr>
            <a:grpSpLocks/>
          </p:cNvGrpSpPr>
          <p:nvPr/>
        </p:nvGrpSpPr>
        <p:grpSpPr bwMode="auto">
          <a:xfrm>
            <a:off x="7747000" y="5867400"/>
            <a:ext cx="990600" cy="762000"/>
            <a:chOff x="7747000" y="5867400"/>
            <a:chExt cx="990600" cy="762000"/>
          </a:xfrm>
        </p:grpSpPr>
        <p:sp>
          <p:nvSpPr>
            <p:cNvPr id="45069" name="Octagon 24">
              <a:extLst>
                <a:ext uri="{FF2B5EF4-FFF2-40B4-BE49-F238E27FC236}">
                  <a16:creationId xmlns:a16="http://schemas.microsoft.com/office/drawing/2014/main" id="{EA8303B6-DF68-46A1-9D40-C70ADC45D2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48600" y="5867400"/>
              <a:ext cx="762000" cy="7620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US" altLang="it-IT" sz="1000">
                <a:solidFill>
                  <a:srgbClr val="FFFFFF"/>
                </a:solidFill>
              </a:endParaRPr>
            </a:p>
            <a:p>
              <a:endParaRPr lang="en-US" altLang="it-IT" sz="1000">
                <a:solidFill>
                  <a:srgbClr val="FFFFFF"/>
                </a:solidFill>
                <a:latin typeface="Helvetica" panose="020B0604020202020204" pitchFamily="34" charset="0"/>
                <a:ea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45070" name="TextBox 25">
              <a:extLst>
                <a:ext uri="{FF2B5EF4-FFF2-40B4-BE49-F238E27FC236}">
                  <a16:creationId xmlns:a16="http://schemas.microsoft.com/office/drawing/2014/main" id="{5C6029E0-20E2-44E7-976D-9BA29D70C0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47000" y="6069568"/>
              <a:ext cx="99060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>
                  <a:solidFill>
                    <a:srgbClr val="FFFFFF"/>
                  </a:solidFill>
                  <a:latin typeface="Helvetica" panose="020B0604020202020204" pitchFamily="34" charset="0"/>
                  <a:ea typeface="Helvetica" panose="020B0604020202020204" pitchFamily="34" charset="0"/>
                  <a:cs typeface="Helvetica" panose="020B0604020202020204" pitchFamily="34" charset="0"/>
                </a:rPr>
                <a:t>STOP</a:t>
              </a:r>
            </a:p>
          </p:txBody>
        </p:sp>
      </p:grpSp>
    </p:spTree>
  </p:cSld>
  <p:clrMapOvr>
    <a:masterClrMapping/>
  </p:clrMapOvr>
  <p:transition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Footer Placeholder 3">
            <a:extLst>
              <a:ext uri="{FF2B5EF4-FFF2-40B4-BE49-F238E27FC236}">
                <a16:creationId xmlns:a16="http://schemas.microsoft.com/office/drawing/2014/main" id="{12CE3E82-0D57-4563-89A4-186028357BD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200"/>
              <a:t>Comp 412, Fall 2010</a:t>
            </a:r>
          </a:p>
        </p:txBody>
      </p:sp>
      <p:sp>
        <p:nvSpPr>
          <p:cNvPr id="47106" name="Slide Number Placeholder 4">
            <a:extLst>
              <a:ext uri="{FF2B5EF4-FFF2-40B4-BE49-F238E27FC236}">
                <a16:creationId xmlns:a16="http://schemas.microsoft.com/office/drawing/2014/main" id="{6B999C46-6D6C-4B25-9473-785734B1505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CF168C47-3CCE-4B92-BFB0-E8033F9F3B62}" type="slidenum">
              <a:rPr lang="en-US" altLang="it-IT" sz="1200"/>
              <a:pPr/>
              <a:t>16</a:t>
            </a:fld>
            <a:endParaRPr lang="en-US" altLang="it-IT" sz="1200"/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48158661-5487-407F-AC60-A51318702D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Bef>
                <a:spcPct val="100000"/>
              </a:spcBef>
            </a:pPr>
            <a:r>
              <a:rPr lang="en-US" altLang="it-IT"/>
              <a:t>Establishing Addressability </a:t>
            </a:r>
          </a:p>
        </p:txBody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14DBCF59-F30C-46A5-8EF8-9AC5FD6897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Must create base addresses</a:t>
            </a:r>
          </a:p>
          <a:p>
            <a:pPr eaLnBrk="1" hangingPunct="1">
              <a:spcBef>
                <a:spcPts val="1200"/>
              </a:spcBef>
            </a:pPr>
            <a:r>
              <a:rPr lang="en-US" altLang="it-IT"/>
              <a:t>Local variables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it-IT"/>
              <a:t>Convert to static data coordinate and use </a:t>
            </a:r>
            <a:r>
              <a:rPr lang="en-US" altLang="it-IT" sz="1600"/>
              <a:t>ARP</a:t>
            </a:r>
            <a:r>
              <a:rPr lang="en-US" altLang="it-IT"/>
              <a:t> + offset</a:t>
            </a:r>
          </a:p>
          <a:p>
            <a:pPr eaLnBrk="1" hangingPunct="1">
              <a:spcBef>
                <a:spcPts val="1200"/>
              </a:spcBef>
            </a:pPr>
            <a:r>
              <a:rPr lang="en-US" altLang="it-IT"/>
              <a:t>Global &amp; static variables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it-IT"/>
              <a:t>Construct a label by mangling names (</a:t>
            </a:r>
            <a:r>
              <a:rPr lang="en-US" altLang="it-IT" i="1"/>
              <a:t>i.e., </a:t>
            </a:r>
            <a:r>
              <a:rPr lang="en-US" altLang="it-IT"/>
              <a:t>&amp;_fee)</a:t>
            </a:r>
          </a:p>
          <a:p>
            <a:pPr eaLnBrk="1" hangingPunct="1">
              <a:spcBef>
                <a:spcPts val="1200"/>
              </a:spcBef>
            </a:pPr>
            <a:r>
              <a:rPr lang="en-US" altLang="it-IT"/>
              <a:t>Local variables of other procedures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it-IT"/>
              <a:t>Convert to static coordinates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it-IT"/>
              <a:t>Find appropriate </a:t>
            </a:r>
            <a:r>
              <a:rPr lang="en-US" altLang="it-IT" sz="1600"/>
              <a:t>ARP</a:t>
            </a:r>
            <a:endParaRPr lang="en-US" altLang="it-IT"/>
          </a:p>
          <a:p>
            <a:pPr lvl="1" eaLnBrk="1" hangingPunct="1">
              <a:spcBef>
                <a:spcPts val="600"/>
              </a:spcBef>
            </a:pPr>
            <a:r>
              <a:rPr lang="en-US" altLang="it-IT"/>
              <a:t>Use that </a:t>
            </a:r>
            <a:r>
              <a:rPr lang="en-US" altLang="it-IT" sz="1600"/>
              <a:t>ARP</a:t>
            </a:r>
            <a:r>
              <a:rPr lang="en-US" altLang="it-IT"/>
              <a:t> + offset</a:t>
            </a:r>
          </a:p>
        </p:txBody>
      </p:sp>
      <p:grpSp>
        <p:nvGrpSpPr>
          <p:cNvPr id="3" name="Group 13">
            <a:extLst>
              <a:ext uri="{FF2B5EF4-FFF2-40B4-BE49-F238E27FC236}">
                <a16:creationId xmlns:a16="http://schemas.microsoft.com/office/drawing/2014/main" id="{875D0CBC-1ACA-4D1D-8586-99C03CE4A0B6}"/>
              </a:ext>
            </a:extLst>
          </p:cNvPr>
          <p:cNvGrpSpPr>
            <a:grpSpLocks/>
          </p:cNvGrpSpPr>
          <p:nvPr/>
        </p:nvGrpSpPr>
        <p:grpSpPr bwMode="auto">
          <a:xfrm>
            <a:off x="111125" y="2759075"/>
            <a:ext cx="5603875" cy="3417888"/>
            <a:chOff x="111401" y="2759432"/>
            <a:chExt cx="5603629" cy="3416936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509B65A-60A8-411B-958E-477731FCC7D5}"/>
                </a:ext>
              </a:extLst>
            </p:cNvPr>
            <p:cNvSpPr txBox="1"/>
            <p:nvPr/>
          </p:nvSpPr>
          <p:spPr>
            <a:xfrm>
              <a:off x="838444" y="5714534"/>
              <a:ext cx="4876586" cy="46183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 cap="flat" cmpd="sng" algn="ctr">
              <a:solidFill>
                <a:srgbClr val="003C75"/>
              </a:solidFill>
              <a:prstDash val="solid"/>
              <a:round/>
              <a:headEnd type="none" w="med" len="med"/>
              <a:tailEnd w="med" len="med"/>
            </a:ln>
          </p:spPr>
          <p:txBody>
            <a:bodyPr>
              <a:spAutoFit/>
            </a:bodyPr>
            <a:lstStyle/>
            <a:p>
              <a:pPr eaLnBrk="0" hangingPunct="0">
                <a:defRPr/>
              </a:pPr>
              <a:r>
                <a:rPr lang="en-US" sz="1200" dirty="0">
                  <a:solidFill>
                    <a:srgbClr val="003C75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The “free variables” mentioned earlier; Lexical scoping has replaced deep binding for these variables with efficient lookups.</a:t>
              </a:r>
            </a:p>
          </p:txBody>
        </p:sp>
        <p:sp>
          <p:nvSpPr>
            <p:cNvPr id="47114" name="Freeform 11">
              <a:extLst>
                <a:ext uri="{FF2B5EF4-FFF2-40B4-BE49-F238E27FC236}">
                  <a16:creationId xmlns:a16="http://schemas.microsoft.com/office/drawing/2014/main" id="{846E55FF-3F57-44A9-A0D9-39EBA66DB9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636" y="3589536"/>
              <a:ext cx="588937" cy="2339527"/>
            </a:xfrm>
            <a:custGeom>
              <a:avLst/>
              <a:gdLst>
                <a:gd name="T0" fmla="*/ 369871 w 590424"/>
                <a:gd name="T1" fmla="*/ 2339527 h 2339311"/>
                <a:gd name="T2" fmla="*/ 36511 w 590424"/>
                <a:gd name="T3" fmla="*/ 802123 h 2339311"/>
                <a:gd name="T4" fmla="*/ 588937 w 590424"/>
                <a:gd name="T5" fmla="*/ 0 h 2339311"/>
                <a:gd name="T6" fmla="*/ 0 60000 65536"/>
                <a:gd name="T7" fmla="*/ 0 60000 65536"/>
                <a:gd name="T8" fmla="*/ 0 60000 65536"/>
                <a:gd name="T9" fmla="*/ 0 w 590424"/>
                <a:gd name="T10" fmla="*/ 0 h 2339311"/>
                <a:gd name="T11" fmla="*/ 590424 w 590424"/>
                <a:gd name="T12" fmla="*/ 2339311 h 233931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90424" h="2339311">
                  <a:moveTo>
                    <a:pt x="370805" y="2339311"/>
                  </a:moveTo>
                  <a:cubicBezTo>
                    <a:pt x="185402" y="1765622"/>
                    <a:pt x="0" y="1191934"/>
                    <a:pt x="36603" y="802049"/>
                  </a:cubicBezTo>
                  <a:cubicBezTo>
                    <a:pt x="73206" y="412164"/>
                    <a:pt x="590424" y="0"/>
                    <a:pt x="590424" y="0"/>
                  </a:cubicBezTo>
                </a:path>
              </a:pathLst>
            </a:custGeom>
            <a:noFill/>
            <a:ln w="19050" algn="ctr">
              <a:solidFill>
                <a:srgbClr val="003C75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47115" name="Freeform 12">
              <a:extLst>
                <a:ext uri="{FF2B5EF4-FFF2-40B4-BE49-F238E27FC236}">
                  <a16:creationId xmlns:a16="http://schemas.microsoft.com/office/drawing/2014/main" id="{EF90B16E-DEAD-4C35-8959-96EA50ECEC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401" y="2759432"/>
              <a:ext cx="968333" cy="3179154"/>
            </a:xfrm>
            <a:custGeom>
              <a:avLst/>
              <a:gdLst>
                <a:gd name="T0" fmla="*/ 719879 w 967593"/>
                <a:gd name="T1" fmla="*/ 3179154 h 3179553"/>
                <a:gd name="T2" fmla="*/ 41409 w 967593"/>
                <a:gd name="T3" fmla="*/ 1393864 h 3179553"/>
                <a:gd name="T4" fmla="*/ 968333 w 967593"/>
                <a:gd name="T5" fmla="*/ 0 h 3179553"/>
                <a:gd name="T6" fmla="*/ 0 60000 65536"/>
                <a:gd name="T7" fmla="*/ 0 60000 65536"/>
                <a:gd name="T8" fmla="*/ 0 60000 65536"/>
                <a:gd name="T9" fmla="*/ 0 w 967593"/>
                <a:gd name="T10" fmla="*/ 0 h 3179553"/>
                <a:gd name="T11" fmla="*/ 967593 w 967593"/>
                <a:gd name="T12" fmla="*/ 3179553 h 317955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67593" h="3179553">
                  <a:moveTo>
                    <a:pt x="719329" y="3179553"/>
                  </a:moveTo>
                  <a:cubicBezTo>
                    <a:pt x="359664" y="2551758"/>
                    <a:pt x="0" y="1923963"/>
                    <a:pt x="41377" y="1394038"/>
                  </a:cubicBezTo>
                  <a:cubicBezTo>
                    <a:pt x="82754" y="864113"/>
                    <a:pt x="967593" y="0"/>
                    <a:pt x="967593" y="0"/>
                  </a:cubicBezTo>
                </a:path>
              </a:pathLst>
            </a:custGeom>
            <a:noFill/>
            <a:ln w="19050" algn="ctr">
              <a:solidFill>
                <a:srgbClr val="003C75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</p:grpSp>
      <p:grpSp>
        <p:nvGrpSpPr>
          <p:cNvPr id="47110" name="Group 14">
            <a:extLst>
              <a:ext uri="{FF2B5EF4-FFF2-40B4-BE49-F238E27FC236}">
                <a16:creationId xmlns:a16="http://schemas.microsoft.com/office/drawing/2014/main" id="{74FA0CAC-5983-4373-837E-F57B3007528D}"/>
              </a:ext>
            </a:extLst>
          </p:cNvPr>
          <p:cNvGrpSpPr>
            <a:grpSpLocks/>
          </p:cNvGrpSpPr>
          <p:nvPr/>
        </p:nvGrpSpPr>
        <p:grpSpPr bwMode="auto">
          <a:xfrm>
            <a:off x="5105400" y="3863975"/>
            <a:ext cx="3581400" cy="685800"/>
            <a:chOff x="5105400" y="3810000"/>
            <a:chExt cx="3581400" cy="685800"/>
          </a:xfrm>
        </p:grpSpPr>
        <p:sp>
          <p:nvSpPr>
            <p:cNvPr id="47111" name="Text Box 6">
              <a:extLst>
                <a:ext uri="{FF2B5EF4-FFF2-40B4-BE49-F238E27FC236}">
                  <a16:creationId xmlns:a16="http://schemas.microsoft.com/office/drawing/2014/main" id="{25D05A94-F7DD-425D-A475-9814F0D0DB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57800" y="3836659"/>
              <a:ext cx="3429000" cy="6324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>
                <a:lnSpc>
                  <a:spcPct val="70000"/>
                </a:lnSpc>
                <a:spcBef>
                  <a:spcPct val="50000"/>
                </a:spcBef>
                <a:buClr>
                  <a:srgbClr val="0000CC"/>
                </a:buClr>
                <a:buSzPct val="120000"/>
              </a:pPr>
              <a:r>
                <a:rPr lang="en-US" altLang="it-IT" sz="1800">
                  <a:solidFill>
                    <a:srgbClr val="003C75"/>
                  </a:solidFill>
                  <a:latin typeface="Arial Rounded MT Bold" panose="020F0704030504030204" pitchFamily="34" charset="0"/>
                </a:rPr>
                <a:t> </a:t>
              </a:r>
              <a:r>
                <a:rPr lang="en-US" altLang="it-IT" sz="1800">
                  <a:solidFill>
                    <a:srgbClr val="003C75"/>
                  </a:solidFill>
                </a:rPr>
                <a:t>Must find the right </a:t>
              </a:r>
              <a:r>
                <a:rPr lang="en-US" altLang="it-IT">
                  <a:solidFill>
                    <a:srgbClr val="003C75"/>
                  </a:solidFill>
                </a:rPr>
                <a:t>AR</a:t>
              </a:r>
              <a:endParaRPr lang="en-US" altLang="it-IT" sz="1800">
                <a:solidFill>
                  <a:srgbClr val="003C75"/>
                </a:solidFill>
              </a:endParaRPr>
            </a:p>
            <a:p>
              <a:pPr>
                <a:lnSpc>
                  <a:spcPct val="70000"/>
                </a:lnSpc>
                <a:spcBef>
                  <a:spcPct val="50000"/>
                </a:spcBef>
                <a:buClr>
                  <a:srgbClr val="0000CC"/>
                </a:buClr>
                <a:buSzPct val="120000"/>
              </a:pPr>
              <a:r>
                <a:rPr lang="en-US" altLang="it-IT" sz="1800">
                  <a:solidFill>
                    <a:srgbClr val="003C75"/>
                  </a:solidFill>
                </a:rPr>
                <a:t> Need links to nameable </a:t>
              </a:r>
              <a:r>
                <a:rPr lang="en-US" altLang="it-IT">
                  <a:solidFill>
                    <a:srgbClr val="003C75"/>
                  </a:solidFill>
                </a:rPr>
                <a:t>AR</a:t>
              </a:r>
              <a:r>
                <a:rPr lang="en-US" altLang="it-IT" sz="1800">
                  <a:solidFill>
                    <a:srgbClr val="003C75"/>
                  </a:solidFill>
                </a:rPr>
                <a:t>s </a:t>
              </a:r>
            </a:p>
          </p:txBody>
        </p:sp>
        <p:sp>
          <p:nvSpPr>
            <p:cNvPr id="47112" name="Left Brace 13">
              <a:extLst>
                <a:ext uri="{FF2B5EF4-FFF2-40B4-BE49-F238E27FC236}">
                  <a16:creationId xmlns:a16="http://schemas.microsoft.com/office/drawing/2014/main" id="{F785DE4D-3FE9-4443-84A3-0DCA532DFA07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5400" y="3810000"/>
              <a:ext cx="228600" cy="685800"/>
            </a:xfrm>
            <a:prstGeom prst="leftBrace">
              <a:avLst>
                <a:gd name="adj1" fmla="val 8333"/>
                <a:gd name="adj2" fmla="val 50000"/>
              </a:avLst>
            </a:prstGeom>
            <a:noFill/>
            <a:ln w="28575" algn="ctr">
              <a:solidFill>
                <a:srgbClr val="003C7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Footer Placeholder 3">
            <a:extLst>
              <a:ext uri="{FF2B5EF4-FFF2-40B4-BE49-F238E27FC236}">
                <a16:creationId xmlns:a16="http://schemas.microsoft.com/office/drawing/2014/main" id="{3562EDA8-FEA0-4112-BAF5-953F451A793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200"/>
              <a:t>Comp 412, Fall 2010</a:t>
            </a:r>
          </a:p>
        </p:txBody>
      </p:sp>
      <p:sp>
        <p:nvSpPr>
          <p:cNvPr id="49154" name="Slide Number Placeholder 4">
            <a:extLst>
              <a:ext uri="{FF2B5EF4-FFF2-40B4-BE49-F238E27FC236}">
                <a16:creationId xmlns:a16="http://schemas.microsoft.com/office/drawing/2014/main" id="{07CDF368-1CE4-40B9-83EA-FD4F11DA9BE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70B4F484-DB3E-43AB-A6D3-1FACE3160D3C}" type="slidenum">
              <a:rPr lang="en-US" altLang="it-IT" sz="1200"/>
              <a:pPr/>
              <a:t>17</a:t>
            </a:fld>
            <a:endParaRPr lang="en-US" altLang="it-IT" sz="1200"/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1FDFF8D6-FD5B-4B4F-8FD7-B9C8774BEF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Bef>
                <a:spcPct val="30000"/>
              </a:spcBef>
            </a:pPr>
            <a:r>
              <a:rPr lang="en-US" altLang="it-IT"/>
              <a:t>Establishing Addressability</a:t>
            </a:r>
          </a:p>
        </p:txBody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69C6EBF7-571C-4957-BA43-7C195FE578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Using Access Links to Find an ARP for a Non-Local Variable</a:t>
            </a:r>
          </a:p>
          <a:p>
            <a:pPr eaLnBrk="1" hangingPunct="1"/>
            <a:r>
              <a:rPr lang="en-US" altLang="it-IT"/>
              <a:t>Each AR has a pointer to AR of </a:t>
            </a:r>
            <a:r>
              <a:rPr lang="en-US" altLang="it-IT">
                <a:solidFill>
                  <a:srgbClr val="FF0065"/>
                </a:solidFill>
              </a:rPr>
              <a:t>lexical</a:t>
            </a:r>
            <a:r>
              <a:rPr lang="en-US" altLang="it-IT"/>
              <a:t> ancestor</a:t>
            </a:r>
          </a:p>
          <a:p>
            <a:pPr eaLnBrk="1" hangingPunct="1"/>
            <a:r>
              <a:rPr lang="en-US" altLang="it-IT"/>
              <a:t>Lexical ancestor need not be the caller</a:t>
            </a:r>
          </a:p>
          <a:p>
            <a:pPr eaLnBrk="1" hangingPunct="1">
              <a:spcBef>
                <a:spcPct val="700000"/>
              </a:spcBef>
            </a:pPr>
            <a:endParaRPr lang="en-US" altLang="it-IT"/>
          </a:p>
          <a:p>
            <a:pPr eaLnBrk="1" hangingPunct="1"/>
            <a:endParaRPr lang="en-US" altLang="it-IT"/>
          </a:p>
          <a:p>
            <a:pPr eaLnBrk="1" hangingPunct="1"/>
            <a:r>
              <a:rPr lang="en-US" altLang="it-IT"/>
              <a:t>Reference to </a:t>
            </a:r>
            <a:r>
              <a:rPr lang="en-US" altLang="it-IT" sz="1800"/>
              <a:t>&lt;</a:t>
            </a:r>
            <a:r>
              <a:rPr lang="en-US" altLang="it-IT" i="1"/>
              <a:t>p</a:t>
            </a:r>
            <a:r>
              <a:rPr lang="en-US" altLang="it-IT"/>
              <a:t>,16</a:t>
            </a:r>
            <a:r>
              <a:rPr lang="en-US" altLang="it-IT" sz="1800"/>
              <a:t>&gt;</a:t>
            </a:r>
            <a:r>
              <a:rPr lang="en-US" altLang="it-IT"/>
              <a:t> runs up access link chain to </a:t>
            </a:r>
            <a:r>
              <a:rPr lang="en-US" altLang="it-IT" i="1"/>
              <a:t>p</a:t>
            </a:r>
            <a:endParaRPr lang="en-US" altLang="it-IT"/>
          </a:p>
          <a:p>
            <a:pPr eaLnBrk="1" hangingPunct="1"/>
            <a:r>
              <a:rPr lang="en-US" altLang="it-IT"/>
              <a:t>Cost of access is proportional to lexical distance</a:t>
            </a:r>
          </a:p>
        </p:txBody>
      </p:sp>
      <p:grpSp>
        <p:nvGrpSpPr>
          <p:cNvPr id="49157" name="Group 39">
            <a:extLst>
              <a:ext uri="{FF2B5EF4-FFF2-40B4-BE49-F238E27FC236}">
                <a16:creationId xmlns:a16="http://schemas.microsoft.com/office/drawing/2014/main" id="{9390F41D-3F77-4EC6-8E22-100BF6F2597B}"/>
              </a:ext>
            </a:extLst>
          </p:cNvPr>
          <p:cNvGrpSpPr>
            <a:grpSpLocks/>
          </p:cNvGrpSpPr>
          <p:nvPr/>
        </p:nvGrpSpPr>
        <p:grpSpPr bwMode="auto">
          <a:xfrm>
            <a:off x="1371600" y="2514600"/>
            <a:ext cx="4876800" cy="2327275"/>
            <a:chOff x="864" y="1584"/>
            <a:chExt cx="3072" cy="1466"/>
          </a:xfrm>
        </p:grpSpPr>
        <p:sp>
          <p:nvSpPr>
            <p:cNvPr id="49159" name="Rectangle 5">
              <a:extLst>
                <a:ext uri="{FF2B5EF4-FFF2-40B4-BE49-F238E27FC236}">
                  <a16:creationId xmlns:a16="http://schemas.microsoft.com/office/drawing/2014/main" id="{0E0E1FA7-AAA8-4D43-A06E-41505749B50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336" y="1740"/>
              <a:ext cx="603" cy="1309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49160" name="Rectangle 6">
              <a:extLst>
                <a:ext uri="{FF2B5EF4-FFF2-40B4-BE49-F238E27FC236}">
                  <a16:creationId xmlns:a16="http://schemas.microsoft.com/office/drawing/2014/main" id="{C06DE33F-1458-4DED-B74F-34C2ADEFDCC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336" y="1740"/>
              <a:ext cx="603" cy="20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000" i="1">
                  <a:latin typeface="Arial Rounded MT Bold" panose="020F0704030504030204" pitchFamily="34" charset="0"/>
                </a:rPr>
                <a:t>parameters</a:t>
              </a:r>
              <a:endParaRPr lang="en-US" altLang="it-IT" sz="1000">
                <a:latin typeface="Arial Rounded MT Bold" panose="020F0704030504030204" pitchFamily="34" charset="0"/>
              </a:endParaRPr>
            </a:p>
          </p:txBody>
        </p:sp>
        <p:sp>
          <p:nvSpPr>
            <p:cNvPr id="49161" name="Rectangle 7">
              <a:extLst>
                <a:ext uri="{FF2B5EF4-FFF2-40B4-BE49-F238E27FC236}">
                  <a16:creationId xmlns:a16="http://schemas.microsoft.com/office/drawing/2014/main" id="{21C76607-753B-49CC-B9AD-A1DB1F8EFB1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336" y="1955"/>
              <a:ext cx="603" cy="22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000" i="1">
                  <a:latin typeface="Arial Rounded MT Bold" panose="020F0704030504030204" pitchFamily="34" charset="0"/>
                </a:rPr>
                <a:t>register </a:t>
              </a:r>
            </a:p>
            <a:p>
              <a:pPr algn="ctr"/>
              <a:r>
                <a:rPr lang="en-US" altLang="it-IT" sz="1000" i="1">
                  <a:latin typeface="Arial Rounded MT Bold" panose="020F0704030504030204" pitchFamily="34" charset="0"/>
                </a:rPr>
                <a:t>save area</a:t>
              </a:r>
              <a:endParaRPr lang="en-US" altLang="it-IT" sz="1000">
                <a:latin typeface="Arial Rounded MT Bold" panose="020F0704030504030204" pitchFamily="34" charset="0"/>
              </a:endParaRPr>
            </a:p>
          </p:txBody>
        </p:sp>
        <p:sp>
          <p:nvSpPr>
            <p:cNvPr id="49162" name="Rectangle 8">
              <a:extLst>
                <a:ext uri="{FF2B5EF4-FFF2-40B4-BE49-F238E27FC236}">
                  <a16:creationId xmlns:a16="http://schemas.microsoft.com/office/drawing/2014/main" id="{ADD1D378-2D36-4D5B-86EB-1F77AE89394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336" y="2178"/>
              <a:ext cx="603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000" i="1">
                  <a:latin typeface="Arial Rounded MT Bold" panose="020F0704030504030204" pitchFamily="34" charset="0"/>
                </a:rPr>
                <a:t>return value</a:t>
              </a:r>
              <a:endParaRPr lang="en-US" altLang="it-IT" sz="1000">
                <a:latin typeface="Arial Rounded MT Bold" panose="020F0704030504030204" pitchFamily="34" charset="0"/>
              </a:endParaRPr>
            </a:p>
          </p:txBody>
        </p:sp>
        <p:sp>
          <p:nvSpPr>
            <p:cNvPr id="49163" name="Rectangle 9">
              <a:extLst>
                <a:ext uri="{FF2B5EF4-FFF2-40B4-BE49-F238E27FC236}">
                  <a16:creationId xmlns:a16="http://schemas.microsoft.com/office/drawing/2014/main" id="{39C5BE46-C6E0-408C-94F1-64AA5F768F7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336" y="2324"/>
              <a:ext cx="603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000" i="1">
                  <a:latin typeface="Arial Rounded MT Bold" panose="020F0704030504030204" pitchFamily="34" charset="0"/>
                </a:rPr>
                <a:t>return address</a:t>
              </a:r>
            </a:p>
          </p:txBody>
        </p:sp>
        <p:sp>
          <p:nvSpPr>
            <p:cNvPr id="49164" name="Rectangle 10">
              <a:extLst>
                <a:ext uri="{FF2B5EF4-FFF2-40B4-BE49-F238E27FC236}">
                  <a16:creationId xmlns:a16="http://schemas.microsoft.com/office/drawing/2014/main" id="{F6A9C473-CC11-4652-80F9-E7CD5A90FD0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336" y="2470"/>
              <a:ext cx="603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000" i="1">
                  <a:latin typeface="Arial Rounded MT Bold" panose="020F0704030504030204" pitchFamily="34" charset="0"/>
                </a:rPr>
                <a:t>access link</a:t>
              </a:r>
              <a:endParaRPr lang="en-US" altLang="it-IT" sz="1000">
                <a:latin typeface="Arial Rounded MT Bold" panose="020F0704030504030204" pitchFamily="34" charset="0"/>
              </a:endParaRPr>
            </a:p>
          </p:txBody>
        </p:sp>
        <p:sp>
          <p:nvSpPr>
            <p:cNvPr id="49165" name="Rectangle 11">
              <a:extLst>
                <a:ext uri="{FF2B5EF4-FFF2-40B4-BE49-F238E27FC236}">
                  <a16:creationId xmlns:a16="http://schemas.microsoft.com/office/drawing/2014/main" id="{FEDB16E5-E1E7-4738-9695-EF6AD04FFC7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336" y="2616"/>
              <a:ext cx="603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000" i="1">
                  <a:latin typeface="Arial Rounded MT Bold" panose="020F0704030504030204" pitchFamily="34" charset="0"/>
                </a:rPr>
                <a:t>caller’s ARP</a:t>
              </a:r>
              <a:endParaRPr lang="en-US" altLang="it-IT" sz="1000">
                <a:latin typeface="Arial Rounded MT Bold" panose="020F0704030504030204" pitchFamily="34" charset="0"/>
              </a:endParaRPr>
            </a:p>
          </p:txBody>
        </p:sp>
        <p:sp>
          <p:nvSpPr>
            <p:cNvPr id="49166" name="Rectangle 12">
              <a:extLst>
                <a:ext uri="{FF2B5EF4-FFF2-40B4-BE49-F238E27FC236}">
                  <a16:creationId xmlns:a16="http://schemas.microsoft.com/office/drawing/2014/main" id="{9E391209-E794-452D-8201-C642EF5342B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336" y="2762"/>
              <a:ext cx="603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000" i="1">
                  <a:latin typeface="Arial Rounded MT Bold" panose="020F0704030504030204" pitchFamily="34" charset="0"/>
                </a:rPr>
                <a:t>local </a:t>
              </a:r>
            </a:p>
            <a:p>
              <a:pPr algn="ctr"/>
              <a:r>
                <a:rPr lang="en-US" altLang="it-IT" sz="1000" i="1">
                  <a:latin typeface="Arial Rounded MT Bold" panose="020F0704030504030204" pitchFamily="34" charset="0"/>
                </a:rPr>
                <a:t>variables</a:t>
              </a:r>
              <a:endParaRPr lang="en-US" altLang="it-IT" sz="1000">
                <a:latin typeface="Arial Rounded MT Bold" panose="020F0704030504030204" pitchFamily="34" charset="0"/>
              </a:endParaRPr>
            </a:p>
          </p:txBody>
        </p:sp>
        <p:sp>
          <p:nvSpPr>
            <p:cNvPr id="49167" name="Text Box 13">
              <a:extLst>
                <a:ext uri="{FF2B5EF4-FFF2-40B4-BE49-F238E27FC236}">
                  <a16:creationId xmlns:a16="http://schemas.microsoft.com/office/drawing/2014/main" id="{1361944F-A4BD-420F-9AA0-E20A4996BC64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864" y="2529"/>
              <a:ext cx="326" cy="16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 sz="1000">
                  <a:solidFill>
                    <a:srgbClr val="003C75"/>
                  </a:solidFill>
                  <a:latin typeface="Arial Rounded MT Bold" panose="020F0704030504030204" pitchFamily="34" charset="0"/>
                </a:rPr>
                <a:t>ARP</a:t>
              </a:r>
            </a:p>
          </p:txBody>
        </p:sp>
        <p:sp>
          <p:nvSpPr>
            <p:cNvPr id="49168" name="Line 14">
              <a:extLst>
                <a:ext uri="{FF2B5EF4-FFF2-40B4-BE49-F238E27FC236}">
                  <a16:creationId xmlns:a16="http://schemas.microsoft.com/office/drawing/2014/main" id="{652C9F21-2C01-4C3A-A535-96EFCDF724A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132" y="2615"/>
              <a:ext cx="203" cy="2"/>
            </a:xfrm>
            <a:prstGeom prst="line">
              <a:avLst/>
            </a:prstGeom>
            <a:noFill/>
            <a:ln w="9525">
              <a:solidFill>
                <a:srgbClr val="B025A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49169" name="Line 15">
              <a:extLst>
                <a:ext uri="{FF2B5EF4-FFF2-40B4-BE49-F238E27FC236}">
                  <a16:creationId xmlns:a16="http://schemas.microsoft.com/office/drawing/2014/main" id="{0E42321A-1F1B-4A79-9CD3-05C268688AA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891" y="2692"/>
              <a:ext cx="203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49170" name="Rectangle 16">
              <a:extLst>
                <a:ext uri="{FF2B5EF4-FFF2-40B4-BE49-F238E27FC236}">
                  <a16:creationId xmlns:a16="http://schemas.microsoft.com/office/drawing/2014/main" id="{12B55DEB-7101-47B6-BA37-A5178753F30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228" y="1676"/>
              <a:ext cx="603" cy="1309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49171" name="Rectangle 17">
              <a:extLst>
                <a:ext uri="{FF2B5EF4-FFF2-40B4-BE49-F238E27FC236}">
                  <a16:creationId xmlns:a16="http://schemas.microsoft.com/office/drawing/2014/main" id="{EF000B30-2E42-448F-A28D-7D6642AB2A9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228" y="1676"/>
              <a:ext cx="603" cy="20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000" i="1">
                  <a:latin typeface="Arial Rounded MT Bold" panose="020F0704030504030204" pitchFamily="34" charset="0"/>
                </a:rPr>
                <a:t>parameters</a:t>
              </a:r>
              <a:endParaRPr lang="en-US" altLang="it-IT" sz="1000">
                <a:latin typeface="Arial Rounded MT Bold" panose="020F0704030504030204" pitchFamily="34" charset="0"/>
              </a:endParaRPr>
            </a:p>
          </p:txBody>
        </p:sp>
        <p:sp>
          <p:nvSpPr>
            <p:cNvPr id="49172" name="Rectangle 18">
              <a:extLst>
                <a:ext uri="{FF2B5EF4-FFF2-40B4-BE49-F238E27FC236}">
                  <a16:creationId xmlns:a16="http://schemas.microsoft.com/office/drawing/2014/main" id="{B0F888B3-AE29-481A-BDE1-51ADD36696C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228" y="1891"/>
              <a:ext cx="603" cy="22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000" i="1">
                  <a:latin typeface="Arial Rounded MT Bold" panose="020F0704030504030204" pitchFamily="34" charset="0"/>
                </a:rPr>
                <a:t>register </a:t>
              </a:r>
            </a:p>
            <a:p>
              <a:pPr algn="ctr"/>
              <a:r>
                <a:rPr lang="en-US" altLang="it-IT" sz="1000" i="1">
                  <a:latin typeface="Arial Rounded MT Bold" panose="020F0704030504030204" pitchFamily="34" charset="0"/>
                </a:rPr>
                <a:t>save area</a:t>
              </a:r>
              <a:endParaRPr lang="en-US" altLang="it-IT" sz="1000">
                <a:latin typeface="Arial Rounded MT Bold" panose="020F0704030504030204" pitchFamily="34" charset="0"/>
              </a:endParaRPr>
            </a:p>
          </p:txBody>
        </p:sp>
        <p:sp>
          <p:nvSpPr>
            <p:cNvPr id="49173" name="Rectangle 19">
              <a:extLst>
                <a:ext uri="{FF2B5EF4-FFF2-40B4-BE49-F238E27FC236}">
                  <a16:creationId xmlns:a16="http://schemas.microsoft.com/office/drawing/2014/main" id="{158187E7-4A38-4108-B517-369C454DFAA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228" y="2114"/>
              <a:ext cx="603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000" i="1">
                  <a:latin typeface="Arial Rounded MT Bold" panose="020F0704030504030204" pitchFamily="34" charset="0"/>
                </a:rPr>
                <a:t>return value</a:t>
              </a:r>
              <a:endParaRPr lang="en-US" altLang="it-IT" sz="1000">
                <a:latin typeface="Arial Rounded MT Bold" panose="020F0704030504030204" pitchFamily="34" charset="0"/>
              </a:endParaRPr>
            </a:p>
          </p:txBody>
        </p:sp>
        <p:sp>
          <p:nvSpPr>
            <p:cNvPr id="49174" name="Rectangle 20">
              <a:extLst>
                <a:ext uri="{FF2B5EF4-FFF2-40B4-BE49-F238E27FC236}">
                  <a16:creationId xmlns:a16="http://schemas.microsoft.com/office/drawing/2014/main" id="{105D78C1-1121-4586-BCD7-BD3CB9BE9CC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228" y="2260"/>
              <a:ext cx="603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000" i="1">
                  <a:latin typeface="Arial Rounded MT Bold" panose="020F0704030504030204" pitchFamily="34" charset="0"/>
                </a:rPr>
                <a:t>return address</a:t>
              </a:r>
            </a:p>
          </p:txBody>
        </p:sp>
        <p:sp>
          <p:nvSpPr>
            <p:cNvPr id="49175" name="Rectangle 21">
              <a:extLst>
                <a:ext uri="{FF2B5EF4-FFF2-40B4-BE49-F238E27FC236}">
                  <a16:creationId xmlns:a16="http://schemas.microsoft.com/office/drawing/2014/main" id="{9AB85900-BC8A-4076-8576-467231D710E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228" y="2406"/>
              <a:ext cx="603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000" i="1">
                  <a:latin typeface="Arial Rounded MT Bold" panose="020F0704030504030204" pitchFamily="34" charset="0"/>
                </a:rPr>
                <a:t>access link</a:t>
              </a:r>
              <a:endParaRPr lang="en-US" altLang="it-IT" sz="1000">
                <a:latin typeface="Arial Rounded MT Bold" panose="020F0704030504030204" pitchFamily="34" charset="0"/>
              </a:endParaRPr>
            </a:p>
          </p:txBody>
        </p:sp>
        <p:sp>
          <p:nvSpPr>
            <p:cNvPr id="49176" name="Rectangle 22">
              <a:extLst>
                <a:ext uri="{FF2B5EF4-FFF2-40B4-BE49-F238E27FC236}">
                  <a16:creationId xmlns:a16="http://schemas.microsoft.com/office/drawing/2014/main" id="{AB1CA3B2-00A9-469D-82DB-8C40E904BDE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228" y="2552"/>
              <a:ext cx="603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000" i="1">
                  <a:latin typeface="Arial Rounded MT Bold" panose="020F0704030504030204" pitchFamily="34" charset="0"/>
                </a:rPr>
                <a:t>caller’s ARP</a:t>
              </a:r>
              <a:endParaRPr lang="en-US" altLang="it-IT" sz="1000">
                <a:latin typeface="Arial Rounded MT Bold" panose="020F0704030504030204" pitchFamily="34" charset="0"/>
              </a:endParaRPr>
            </a:p>
          </p:txBody>
        </p:sp>
        <p:sp>
          <p:nvSpPr>
            <p:cNvPr id="49177" name="Rectangle 23">
              <a:extLst>
                <a:ext uri="{FF2B5EF4-FFF2-40B4-BE49-F238E27FC236}">
                  <a16:creationId xmlns:a16="http://schemas.microsoft.com/office/drawing/2014/main" id="{A2A61F93-3463-42F9-AA60-4E5C5D5FB00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228" y="2698"/>
              <a:ext cx="603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000" i="1">
                  <a:latin typeface="Arial Rounded MT Bold" panose="020F0704030504030204" pitchFamily="34" charset="0"/>
                </a:rPr>
                <a:t>local </a:t>
              </a:r>
            </a:p>
            <a:p>
              <a:pPr algn="ctr"/>
              <a:r>
                <a:rPr lang="en-US" altLang="it-IT" sz="1000" i="1">
                  <a:latin typeface="Arial Rounded MT Bold" panose="020F0704030504030204" pitchFamily="34" charset="0"/>
                </a:rPr>
                <a:t>variables</a:t>
              </a:r>
              <a:endParaRPr lang="en-US" altLang="it-IT" sz="1000">
                <a:latin typeface="Arial Rounded MT Bold" panose="020F0704030504030204" pitchFamily="34" charset="0"/>
              </a:endParaRPr>
            </a:p>
          </p:txBody>
        </p:sp>
        <p:sp>
          <p:nvSpPr>
            <p:cNvPr id="49178" name="Line 24">
              <a:extLst>
                <a:ext uri="{FF2B5EF4-FFF2-40B4-BE49-F238E27FC236}">
                  <a16:creationId xmlns:a16="http://schemas.microsoft.com/office/drawing/2014/main" id="{D046E725-DF3B-4020-A9AD-A5AFA5268A3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783" y="2628"/>
              <a:ext cx="203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49179" name="Rectangle 25">
              <a:extLst>
                <a:ext uri="{FF2B5EF4-FFF2-40B4-BE49-F238E27FC236}">
                  <a16:creationId xmlns:a16="http://schemas.microsoft.com/office/drawing/2014/main" id="{2D146197-055D-42D4-B75B-9B78755A84A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124" y="1584"/>
              <a:ext cx="603" cy="1309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49180" name="Rectangle 26">
              <a:extLst>
                <a:ext uri="{FF2B5EF4-FFF2-40B4-BE49-F238E27FC236}">
                  <a16:creationId xmlns:a16="http://schemas.microsoft.com/office/drawing/2014/main" id="{D2CA5115-2F5A-416F-BB40-197BF730E32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120" y="1594"/>
              <a:ext cx="603" cy="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000" i="1">
                  <a:latin typeface="Arial Rounded MT Bold" panose="020F0704030504030204" pitchFamily="34" charset="0"/>
                </a:rPr>
                <a:t>parameters</a:t>
              </a:r>
              <a:endParaRPr lang="en-US" altLang="it-IT" sz="1000">
                <a:latin typeface="Arial Rounded MT Bold" panose="020F0704030504030204" pitchFamily="34" charset="0"/>
              </a:endParaRPr>
            </a:p>
          </p:txBody>
        </p:sp>
        <p:sp>
          <p:nvSpPr>
            <p:cNvPr id="49181" name="Rectangle 27">
              <a:extLst>
                <a:ext uri="{FF2B5EF4-FFF2-40B4-BE49-F238E27FC236}">
                  <a16:creationId xmlns:a16="http://schemas.microsoft.com/office/drawing/2014/main" id="{18B8FF65-7758-4A3B-B61A-17AD9FCDE25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124" y="1799"/>
              <a:ext cx="603" cy="22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000" i="1">
                  <a:latin typeface="Arial Rounded MT Bold" panose="020F0704030504030204" pitchFamily="34" charset="0"/>
                </a:rPr>
                <a:t>register </a:t>
              </a:r>
            </a:p>
            <a:p>
              <a:pPr algn="ctr"/>
              <a:r>
                <a:rPr lang="en-US" altLang="it-IT" sz="1000" i="1">
                  <a:latin typeface="Arial Rounded MT Bold" panose="020F0704030504030204" pitchFamily="34" charset="0"/>
                </a:rPr>
                <a:t>save area</a:t>
              </a:r>
              <a:endParaRPr lang="en-US" altLang="it-IT" sz="1000">
                <a:latin typeface="Arial Rounded MT Bold" panose="020F0704030504030204" pitchFamily="34" charset="0"/>
              </a:endParaRPr>
            </a:p>
          </p:txBody>
        </p:sp>
        <p:sp>
          <p:nvSpPr>
            <p:cNvPr id="49182" name="Rectangle 28">
              <a:extLst>
                <a:ext uri="{FF2B5EF4-FFF2-40B4-BE49-F238E27FC236}">
                  <a16:creationId xmlns:a16="http://schemas.microsoft.com/office/drawing/2014/main" id="{7195E5A0-E9C9-4BC8-AC7D-988C1870C50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124" y="2022"/>
              <a:ext cx="603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000" i="1">
                  <a:latin typeface="Arial Rounded MT Bold" panose="020F0704030504030204" pitchFamily="34" charset="0"/>
                </a:rPr>
                <a:t>return value</a:t>
              </a:r>
              <a:endParaRPr lang="en-US" altLang="it-IT" sz="1000">
                <a:latin typeface="Arial Rounded MT Bold" panose="020F0704030504030204" pitchFamily="34" charset="0"/>
              </a:endParaRPr>
            </a:p>
          </p:txBody>
        </p:sp>
        <p:sp>
          <p:nvSpPr>
            <p:cNvPr id="49183" name="Rectangle 29">
              <a:extLst>
                <a:ext uri="{FF2B5EF4-FFF2-40B4-BE49-F238E27FC236}">
                  <a16:creationId xmlns:a16="http://schemas.microsoft.com/office/drawing/2014/main" id="{0FD25F89-E4FE-4420-8312-3887F7ADC9E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124" y="2168"/>
              <a:ext cx="603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000" i="1">
                  <a:latin typeface="Arial Rounded MT Bold" panose="020F0704030504030204" pitchFamily="34" charset="0"/>
                </a:rPr>
                <a:t>return address</a:t>
              </a:r>
            </a:p>
          </p:txBody>
        </p:sp>
        <p:sp>
          <p:nvSpPr>
            <p:cNvPr id="49184" name="Rectangle 30">
              <a:extLst>
                <a:ext uri="{FF2B5EF4-FFF2-40B4-BE49-F238E27FC236}">
                  <a16:creationId xmlns:a16="http://schemas.microsoft.com/office/drawing/2014/main" id="{D1C64CBE-EE85-4FFC-8C1A-9E066FF9679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124" y="2314"/>
              <a:ext cx="603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000" i="1">
                  <a:latin typeface="Arial Rounded MT Bold" panose="020F0704030504030204" pitchFamily="34" charset="0"/>
                </a:rPr>
                <a:t>access link</a:t>
              </a:r>
              <a:endParaRPr lang="en-US" altLang="it-IT" sz="1000">
                <a:latin typeface="Arial Rounded MT Bold" panose="020F0704030504030204" pitchFamily="34" charset="0"/>
              </a:endParaRPr>
            </a:p>
          </p:txBody>
        </p:sp>
        <p:sp>
          <p:nvSpPr>
            <p:cNvPr id="49185" name="Rectangle 31">
              <a:extLst>
                <a:ext uri="{FF2B5EF4-FFF2-40B4-BE49-F238E27FC236}">
                  <a16:creationId xmlns:a16="http://schemas.microsoft.com/office/drawing/2014/main" id="{D455EA30-78DB-4153-9F05-53A2608EA8F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124" y="2460"/>
              <a:ext cx="603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000" i="1">
                  <a:latin typeface="Arial Rounded MT Bold" panose="020F0704030504030204" pitchFamily="34" charset="0"/>
                </a:rPr>
                <a:t>caller’s ARP</a:t>
              </a:r>
              <a:endParaRPr lang="en-US" altLang="it-IT" sz="1000">
                <a:latin typeface="Arial Rounded MT Bold" panose="020F0704030504030204" pitchFamily="34" charset="0"/>
              </a:endParaRPr>
            </a:p>
          </p:txBody>
        </p:sp>
        <p:sp>
          <p:nvSpPr>
            <p:cNvPr id="49186" name="Rectangle 32">
              <a:extLst>
                <a:ext uri="{FF2B5EF4-FFF2-40B4-BE49-F238E27FC236}">
                  <a16:creationId xmlns:a16="http://schemas.microsoft.com/office/drawing/2014/main" id="{90BA8BD6-B540-4DF5-A5D0-148437630CD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124" y="2606"/>
              <a:ext cx="603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000" i="1">
                  <a:latin typeface="Arial Rounded MT Bold" panose="020F0704030504030204" pitchFamily="34" charset="0"/>
                </a:rPr>
                <a:t>local </a:t>
              </a:r>
            </a:p>
            <a:p>
              <a:pPr algn="ctr"/>
              <a:r>
                <a:rPr lang="en-US" altLang="it-IT" sz="1000" i="1">
                  <a:latin typeface="Arial Rounded MT Bold" panose="020F0704030504030204" pitchFamily="34" charset="0"/>
                </a:rPr>
                <a:t>variables</a:t>
              </a:r>
              <a:endParaRPr lang="en-US" altLang="it-IT" sz="1000">
                <a:latin typeface="Arial Rounded MT Bold" panose="020F0704030504030204" pitchFamily="34" charset="0"/>
              </a:endParaRPr>
            </a:p>
          </p:txBody>
        </p:sp>
        <p:sp>
          <p:nvSpPr>
            <p:cNvPr id="49187" name="Line 33">
              <a:extLst>
                <a:ext uri="{FF2B5EF4-FFF2-40B4-BE49-F238E27FC236}">
                  <a16:creationId xmlns:a16="http://schemas.microsoft.com/office/drawing/2014/main" id="{44141609-66C6-45A1-93FD-F15A1739524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679" y="2536"/>
              <a:ext cx="203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49188" name="Line 34">
              <a:extLst>
                <a:ext uri="{FF2B5EF4-FFF2-40B4-BE49-F238E27FC236}">
                  <a16:creationId xmlns:a16="http://schemas.microsoft.com/office/drawing/2014/main" id="{AB449F53-9DE9-4895-AE35-0474735B22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44" y="2548"/>
              <a:ext cx="280" cy="0"/>
            </a:xfrm>
            <a:prstGeom prst="line">
              <a:avLst/>
            </a:prstGeom>
            <a:noFill/>
            <a:ln w="9525">
              <a:solidFill>
                <a:srgbClr val="B025A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49189" name="Line 35">
              <a:extLst>
                <a:ext uri="{FF2B5EF4-FFF2-40B4-BE49-F238E27FC236}">
                  <a16:creationId xmlns:a16="http://schemas.microsoft.com/office/drawing/2014/main" id="{242E1222-BBF5-4C1C-BB36-40CD0374F7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40" y="2460"/>
              <a:ext cx="288" cy="0"/>
            </a:xfrm>
            <a:prstGeom prst="line">
              <a:avLst/>
            </a:prstGeom>
            <a:noFill/>
            <a:ln w="9525">
              <a:solidFill>
                <a:srgbClr val="B025A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49190" name="Line 36">
              <a:extLst>
                <a:ext uri="{FF2B5EF4-FFF2-40B4-BE49-F238E27FC236}">
                  <a16:creationId xmlns:a16="http://schemas.microsoft.com/office/drawing/2014/main" id="{3A26B6AC-F0A7-49DE-A62F-88B8A0FDA4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28" y="2400"/>
              <a:ext cx="208" cy="0"/>
            </a:xfrm>
            <a:prstGeom prst="line">
              <a:avLst/>
            </a:prstGeom>
            <a:noFill/>
            <a:ln w="9525">
              <a:solidFill>
                <a:srgbClr val="B025A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</p:grpSp>
      <p:sp>
        <p:nvSpPr>
          <p:cNvPr id="39943" name="Text Box 37">
            <a:extLst>
              <a:ext uri="{FF2B5EF4-FFF2-40B4-BE49-F238E27FC236}">
                <a16:creationId xmlns:a16="http://schemas.microsoft.com/office/drawing/2014/main" id="{C3BD9B2A-A351-490B-AD7D-F79ECE2902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1800" y="2286000"/>
            <a:ext cx="1828800" cy="623888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 cap="flat" cmpd="sng" algn="ctr">
            <a:solidFill>
              <a:schemeClr val="bg1">
                <a:lumMod val="5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  <a:defRPr/>
            </a:pPr>
            <a:r>
              <a:rPr lang="en-US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Some setup cost</a:t>
            </a:r>
          </a:p>
          <a:p>
            <a:pPr algn="ctr" eaLnBrk="0" hangingPunct="0">
              <a:spcBef>
                <a:spcPct val="10000"/>
              </a:spcBef>
              <a:defRPr/>
            </a:pPr>
            <a:r>
              <a:rPr lang="en-US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on each call</a:t>
            </a:r>
          </a:p>
        </p:txBody>
      </p:sp>
    </p:spTree>
  </p:cSld>
  <p:clrMapOvr>
    <a:masterClrMapping/>
  </p:clrMapOvr>
  <p:transition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Footer Placeholder 3">
            <a:extLst>
              <a:ext uri="{FF2B5EF4-FFF2-40B4-BE49-F238E27FC236}">
                <a16:creationId xmlns:a16="http://schemas.microsoft.com/office/drawing/2014/main" id="{532E9F21-8DEC-4775-AD14-2D8B259E1E2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200"/>
              <a:t>Comp 412, Fall 2010</a:t>
            </a:r>
          </a:p>
        </p:txBody>
      </p:sp>
      <p:sp>
        <p:nvSpPr>
          <p:cNvPr id="51202" name="Slide Number Placeholder 4">
            <a:extLst>
              <a:ext uri="{FF2B5EF4-FFF2-40B4-BE49-F238E27FC236}">
                <a16:creationId xmlns:a16="http://schemas.microsoft.com/office/drawing/2014/main" id="{4758588E-AC29-4578-844F-009BFB44212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BA89AFAE-C16A-46AF-B606-76E982D33A1C}" type="slidenum">
              <a:rPr lang="en-US" altLang="it-IT" sz="1200"/>
              <a:pPr/>
              <a:t>18</a:t>
            </a:fld>
            <a:endParaRPr lang="en-US" altLang="it-IT" sz="1200"/>
          </a:p>
        </p:txBody>
      </p:sp>
      <p:sp>
        <p:nvSpPr>
          <p:cNvPr id="51203" name="Rectangle 2">
            <a:extLst>
              <a:ext uri="{FF2B5EF4-FFF2-40B4-BE49-F238E27FC236}">
                <a16:creationId xmlns:a16="http://schemas.microsoft.com/office/drawing/2014/main" id="{3BDECB98-7C4A-4D57-BB42-30B563000A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Establishing Addressability</a:t>
            </a:r>
          </a:p>
        </p:txBody>
      </p:sp>
      <p:sp>
        <p:nvSpPr>
          <p:cNvPr id="51204" name="Rectangle 3">
            <a:extLst>
              <a:ext uri="{FF2B5EF4-FFF2-40B4-BE49-F238E27FC236}">
                <a16:creationId xmlns:a16="http://schemas.microsoft.com/office/drawing/2014/main" id="{CB3C18A8-BC68-4AD8-B112-9912F5E989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Using Access Links</a:t>
            </a:r>
          </a:p>
          <a:p>
            <a:pPr eaLnBrk="1" hangingPunct="1">
              <a:buFont typeface="Times" panose="02020603050405020304" pitchFamily="18" charset="0"/>
              <a:buNone/>
            </a:pPr>
            <a:endParaRPr lang="en-US" altLang="it-IT"/>
          </a:p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 i="1"/>
              <a:t>Access &amp; maintenance cost varies with level</a:t>
            </a:r>
          </a:p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 i="1"/>
              <a:t>All accesses are relative to </a:t>
            </a:r>
            <a:r>
              <a:rPr lang="en-US" altLang="it-IT" sz="1800" i="1"/>
              <a:t>ARP</a:t>
            </a:r>
            <a:r>
              <a:rPr lang="en-US" altLang="it-IT" i="1"/>
              <a:t>  </a:t>
            </a:r>
            <a:r>
              <a:rPr lang="en-US" altLang="it-IT" sz="1800"/>
              <a:t>(</a:t>
            </a:r>
            <a:r>
              <a:rPr lang="en-US" altLang="it-IT" sz="1600">
                <a:latin typeface="Geneva"/>
              </a:rPr>
              <a:t>r</a:t>
            </a:r>
            <a:r>
              <a:rPr lang="en-US" altLang="it-IT" sz="1600" baseline="-25000">
                <a:latin typeface="Geneva"/>
              </a:rPr>
              <a:t>0</a:t>
            </a:r>
            <a:r>
              <a:rPr lang="en-US" altLang="it-IT" sz="1800"/>
              <a:t>)</a:t>
            </a:r>
            <a:endParaRPr lang="en-US" altLang="it-IT"/>
          </a:p>
        </p:txBody>
      </p:sp>
      <p:sp>
        <p:nvSpPr>
          <p:cNvPr id="41990" name="Text Box 5">
            <a:extLst>
              <a:ext uri="{FF2B5EF4-FFF2-40B4-BE49-F238E27FC236}">
                <a16:creationId xmlns:a16="http://schemas.microsoft.com/office/drawing/2014/main" id="{1B1E991B-D38A-4321-99D4-15CEABDBC7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1295400"/>
            <a:ext cx="3352800" cy="3443288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chemeClr val="bg1">
                <a:lumMod val="5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marL="112713" indent="-112713" eaLnBrk="0" hangingPunct="0">
              <a:spcBef>
                <a:spcPct val="20000"/>
              </a:spcBef>
              <a:defRPr/>
            </a:pPr>
            <a:r>
              <a:rPr lang="en-US" sz="1800" dirty="0">
                <a:latin typeface="Comic Sans MS" charset="0"/>
                <a:ea typeface="ヒラギノ角ゴ Pro W3" charset="-128"/>
                <a:cs typeface="ヒラギノ角ゴ Pro W3" charset="-128"/>
              </a:rPr>
              <a:t>Assume</a:t>
            </a:r>
          </a:p>
          <a:p>
            <a:pPr marL="234950" indent="-234950" eaLnBrk="0" hangingPunct="0">
              <a:spcBef>
                <a:spcPct val="20000"/>
              </a:spcBef>
              <a:buClr>
                <a:srgbClr val="003C75"/>
              </a:buClr>
              <a:buSzPct val="120000"/>
              <a:buFont typeface="Times" charset="0"/>
              <a:buChar char="•"/>
              <a:defRPr/>
            </a:pPr>
            <a:r>
              <a:rPr lang="en-US" sz="1800" dirty="0">
                <a:latin typeface="Comic Sans MS" charset="0"/>
                <a:ea typeface="ヒラギノ角ゴ Pro W3" charset="-128"/>
                <a:cs typeface="ヒラギノ角ゴ Pro W3" charset="-128"/>
              </a:rPr>
              <a:t>Current lexical level is 2</a:t>
            </a:r>
          </a:p>
          <a:p>
            <a:pPr marL="234950" indent="-234950" eaLnBrk="0" hangingPunct="0">
              <a:spcBef>
                <a:spcPct val="20000"/>
              </a:spcBef>
              <a:buClr>
                <a:srgbClr val="003C75"/>
              </a:buClr>
              <a:buSzPct val="120000"/>
              <a:buFont typeface="Times" charset="0"/>
              <a:buChar char="•"/>
              <a:defRPr/>
            </a:pPr>
            <a:r>
              <a:rPr lang="en-US" sz="1800" dirty="0">
                <a:latin typeface="Comic Sans MS" charset="0"/>
                <a:ea typeface="ヒラギノ角ゴ Pro W3" charset="-128"/>
                <a:cs typeface="ヒラギノ角ゴ Pro W3" charset="-128"/>
              </a:rPr>
              <a:t>Access link is at </a:t>
            </a:r>
            <a:r>
              <a:rPr lang="en-US" dirty="0">
                <a:latin typeface="Comic Sans MS" charset="0"/>
                <a:ea typeface="ヒラギノ角ゴ Pro W3" charset="-128"/>
                <a:cs typeface="ヒラギノ角ゴ Pro W3" charset="-128"/>
              </a:rPr>
              <a:t>ARP</a:t>
            </a:r>
            <a:r>
              <a:rPr lang="en-US" sz="1800" dirty="0">
                <a:latin typeface="Comic Sans MS" charset="0"/>
                <a:ea typeface="ヒラギノ角ゴ Pro W3" charset="-128"/>
                <a:cs typeface="ヒラギノ角ゴ Pro W3" charset="-128"/>
              </a:rPr>
              <a:t> – 4</a:t>
            </a:r>
          </a:p>
          <a:p>
            <a:pPr marL="234950" indent="-234950" eaLnBrk="0" hangingPunct="0">
              <a:spcBef>
                <a:spcPct val="20000"/>
              </a:spcBef>
              <a:buClr>
                <a:srgbClr val="003C75"/>
              </a:buClr>
              <a:buSzPct val="120000"/>
              <a:buFont typeface="Times" charset="0"/>
              <a:buChar char="•"/>
              <a:defRPr/>
            </a:pPr>
            <a:r>
              <a:rPr lang="en-US" sz="1800" dirty="0">
                <a:latin typeface="Comic Sans MS" charset="0"/>
                <a:ea typeface="ヒラギノ角ゴ Pro W3" charset="-128"/>
                <a:cs typeface="ヒラギノ角ゴ Pro W3" charset="-128"/>
              </a:rPr>
              <a:t>ARP is in r</a:t>
            </a:r>
            <a:r>
              <a:rPr lang="en-US" sz="1800" baseline="-25000" dirty="0">
                <a:latin typeface="Comic Sans MS" charset="0"/>
                <a:ea typeface="ヒラギノ角ゴ Pro W3" charset="-128"/>
                <a:cs typeface="ヒラギノ角ゴ Pro W3" charset="-128"/>
              </a:rPr>
              <a:t>0</a:t>
            </a:r>
            <a:endParaRPr lang="en-US" sz="1800" dirty="0">
              <a:latin typeface="Comic Sans MS" charset="0"/>
              <a:ea typeface="ヒラギノ角ゴ Pro W3" charset="-128"/>
              <a:cs typeface="ヒラギノ角ゴ Pro W3" charset="-128"/>
            </a:endParaRPr>
          </a:p>
          <a:p>
            <a:pPr marL="234950" indent="-234950" eaLnBrk="0" hangingPunct="0">
              <a:spcBef>
                <a:spcPct val="50000"/>
              </a:spcBef>
              <a:buClr>
                <a:srgbClr val="0000CC"/>
              </a:buClr>
              <a:buSzPct val="120000"/>
              <a:defRPr/>
            </a:pPr>
            <a:r>
              <a:rPr lang="en-US" sz="1800" dirty="0">
                <a:latin typeface="Comic Sans MS" charset="0"/>
                <a:ea typeface="ヒラギノ角ゴ Pro W3" charset="-128"/>
                <a:cs typeface="ヒラギノ角ゴ Pro W3" charset="-128"/>
              </a:rPr>
              <a:t>Maintaining access link</a:t>
            </a:r>
          </a:p>
          <a:p>
            <a:pPr marL="234950" indent="-234950" eaLnBrk="0" hangingPunct="0">
              <a:spcBef>
                <a:spcPct val="20000"/>
              </a:spcBef>
              <a:buClr>
                <a:srgbClr val="003C75"/>
              </a:buClr>
              <a:buSzPct val="120000"/>
              <a:buFont typeface="Times" charset="0"/>
              <a:buChar char="•"/>
              <a:defRPr/>
            </a:pPr>
            <a:r>
              <a:rPr lang="en-US" sz="1800" dirty="0">
                <a:latin typeface="Comic Sans MS" charset="0"/>
                <a:ea typeface="ヒラギノ角ゴ Pro W3" charset="-128"/>
                <a:cs typeface="ヒラギノ角ゴ Pro W3" charset="-128"/>
              </a:rPr>
              <a:t>Calling level </a:t>
            </a:r>
            <a:r>
              <a:rPr lang="en-US" sz="1800" i="1" dirty="0">
                <a:latin typeface="Comic Sans MS" charset="0"/>
                <a:ea typeface="ヒラギノ角ゴ Pro W3" charset="-128"/>
                <a:cs typeface="ヒラギノ角ゴ Pro W3" charset="-128"/>
              </a:rPr>
              <a:t>k</a:t>
            </a:r>
            <a:r>
              <a:rPr lang="en-US" sz="1800" dirty="0">
                <a:latin typeface="Comic Sans MS" charset="0"/>
                <a:ea typeface="ヒラギノ角ゴ Pro W3" charset="-128"/>
                <a:cs typeface="ヒラギノ角ゴ Pro W3" charset="-128"/>
              </a:rPr>
              <a:t>+1</a:t>
            </a:r>
          </a:p>
          <a:p>
            <a:pPr marL="234950" indent="-234950" eaLnBrk="0" hangingPunct="0">
              <a:spcBef>
                <a:spcPct val="20000"/>
              </a:spcBef>
              <a:buClr>
                <a:srgbClr val="003C75"/>
              </a:buClr>
              <a:buSzPct val="90000"/>
              <a:buFont typeface="Symbol" charset="2"/>
              <a:buChar char=""/>
              <a:defRPr/>
            </a:pPr>
            <a:r>
              <a:rPr lang="en-US" sz="1800" dirty="0">
                <a:latin typeface="Comic Sans MS" charset="0"/>
                <a:ea typeface="ヒラギノ角ゴ Pro W3" charset="-128"/>
                <a:cs typeface="ヒラギノ角ゴ Pro W3" charset="-128"/>
              </a:rPr>
              <a:t> Use current </a:t>
            </a:r>
            <a:r>
              <a:rPr lang="en-US" dirty="0">
                <a:latin typeface="Comic Sans MS" charset="0"/>
                <a:ea typeface="ヒラギノ角ゴ Pro W3" charset="-128"/>
                <a:cs typeface="ヒラギノ角ゴ Pro W3" charset="-128"/>
              </a:rPr>
              <a:t>ARP</a:t>
            </a:r>
            <a:r>
              <a:rPr lang="en-US" sz="1800" dirty="0">
                <a:latin typeface="Comic Sans MS" charset="0"/>
                <a:ea typeface="ヒラギノ角ゴ Pro W3" charset="-128"/>
                <a:cs typeface="ヒラギノ角ゴ Pro W3" charset="-128"/>
              </a:rPr>
              <a:t> as link</a:t>
            </a:r>
          </a:p>
          <a:p>
            <a:pPr marL="234950" indent="-234950" eaLnBrk="0" hangingPunct="0">
              <a:spcBef>
                <a:spcPct val="20000"/>
              </a:spcBef>
              <a:buClr>
                <a:srgbClr val="003C75"/>
              </a:buClr>
              <a:buSzPct val="120000"/>
              <a:buFont typeface="Times" charset="0"/>
              <a:buChar char="•"/>
              <a:defRPr/>
            </a:pPr>
            <a:r>
              <a:rPr lang="en-US" sz="1800" dirty="0">
                <a:latin typeface="Comic Sans MS" charset="0"/>
                <a:ea typeface="ヒラギノ角ゴ Pro W3" charset="-128"/>
                <a:cs typeface="ヒラギノ角ゴ Pro W3" charset="-128"/>
              </a:rPr>
              <a:t>Calling level </a:t>
            </a:r>
            <a:r>
              <a:rPr lang="en-US" sz="1800" i="1" dirty="0" err="1">
                <a:latin typeface="Comic Sans MS" charset="0"/>
                <a:ea typeface="ヒラギノ角ゴ Pro W3" charset="-128"/>
                <a:cs typeface="ヒラギノ角ゴ Pro W3" charset="-128"/>
              </a:rPr>
              <a:t>j</a:t>
            </a:r>
            <a:r>
              <a:rPr lang="en-US" sz="1800" dirty="0">
                <a:latin typeface="Comic Sans MS" charset="0"/>
                <a:ea typeface="ヒラギノ角ゴ Pro W3" charset="-128"/>
                <a:cs typeface="ヒラギノ角ゴ Pro W3" charset="-128"/>
              </a:rPr>
              <a:t> ≤ </a:t>
            </a:r>
            <a:r>
              <a:rPr lang="en-US" sz="1800" i="1" dirty="0" err="1">
                <a:latin typeface="Comic Sans MS" charset="0"/>
                <a:ea typeface="ヒラギノ角ゴ Pro W3" charset="-128"/>
                <a:cs typeface="ヒラギノ角ゴ Pro W3" charset="-128"/>
              </a:rPr>
              <a:t>k</a:t>
            </a:r>
            <a:endParaRPr lang="en-US" sz="1800" dirty="0">
              <a:latin typeface="Comic Sans MS" charset="0"/>
              <a:ea typeface="ヒラギノ角ゴ Pro W3" charset="-128"/>
              <a:cs typeface="ヒラギノ角ゴ Pro W3" charset="-128"/>
            </a:endParaRPr>
          </a:p>
          <a:p>
            <a:pPr marL="234950" indent="-234950" eaLnBrk="0" hangingPunct="0">
              <a:spcBef>
                <a:spcPct val="20000"/>
              </a:spcBef>
              <a:buClr>
                <a:srgbClr val="003C75"/>
              </a:buClr>
              <a:buSzPct val="90000"/>
              <a:buFont typeface="Symbol" charset="2"/>
              <a:buChar char=""/>
              <a:defRPr/>
            </a:pPr>
            <a:r>
              <a:rPr lang="en-US" sz="1800" dirty="0">
                <a:latin typeface="Comic Sans MS" charset="0"/>
                <a:ea typeface="ヒラギノ角ゴ Pro W3" charset="-128"/>
                <a:cs typeface="ヒラギノ角ゴ Pro W3" charset="-128"/>
              </a:rPr>
              <a:t> </a:t>
            </a:r>
            <a:r>
              <a:rPr lang="en-US" sz="1800" u="sng" dirty="0">
                <a:latin typeface="Comic Sans MS" charset="0"/>
                <a:ea typeface="ヒラギノ角ゴ Pro W3" charset="-128"/>
                <a:cs typeface="ヒラギノ角ゴ Pro W3" charset="-128"/>
              </a:rPr>
              <a:t>Find ARP for level </a:t>
            </a:r>
            <a:r>
              <a:rPr lang="en-US" sz="1800" i="1" u="sng" dirty="0" err="1">
                <a:latin typeface="Comic Sans MS" charset="0"/>
                <a:ea typeface="ヒラギノ角ゴ Pro W3" charset="-128"/>
                <a:cs typeface="ヒラギノ角ゴ Pro W3" charset="-128"/>
              </a:rPr>
              <a:t>j</a:t>
            </a:r>
            <a:r>
              <a:rPr lang="en-US" sz="1800" u="sng" dirty="0">
                <a:latin typeface="Comic Sans MS" charset="0"/>
                <a:ea typeface="ヒラギノ角ゴ Pro W3" charset="-128"/>
                <a:cs typeface="ヒラギノ角ゴ Pro W3" charset="-128"/>
              </a:rPr>
              <a:t> –1</a:t>
            </a:r>
          </a:p>
          <a:p>
            <a:pPr marL="234950" indent="-234950" eaLnBrk="0" hangingPunct="0">
              <a:spcBef>
                <a:spcPct val="20000"/>
              </a:spcBef>
              <a:spcAft>
                <a:spcPts val="600"/>
              </a:spcAft>
              <a:buClr>
                <a:srgbClr val="003C75"/>
              </a:buClr>
              <a:buSzPct val="90000"/>
              <a:buFont typeface="Symbol" charset="2"/>
              <a:buChar char=""/>
              <a:defRPr/>
            </a:pPr>
            <a:r>
              <a:rPr lang="en-US" sz="1800" dirty="0">
                <a:latin typeface="Comic Sans MS" charset="0"/>
                <a:ea typeface="ヒラギノ角ゴ Pro W3" charset="-128"/>
                <a:cs typeface="ヒラギノ角ゴ Pro W3" charset="-128"/>
              </a:rPr>
              <a:t> </a:t>
            </a:r>
            <a:r>
              <a:rPr lang="en-US" sz="1800" u="sng" dirty="0">
                <a:latin typeface="Comic Sans MS" charset="0"/>
                <a:ea typeface="ヒラギノ角ゴ Pro W3" charset="-128"/>
                <a:cs typeface="ヒラギノ角ゴ Pro W3" charset="-128"/>
              </a:rPr>
              <a:t>Use that</a:t>
            </a:r>
            <a:r>
              <a:rPr lang="en-US" sz="1800" dirty="0">
                <a:latin typeface="Comic Sans MS" charset="0"/>
                <a:ea typeface="ヒラギノ角ゴ Pro W3" charset="-128"/>
                <a:cs typeface="ヒラギノ角ゴ Pro W3" charset="-128"/>
              </a:rPr>
              <a:t> ARP as link</a:t>
            </a:r>
          </a:p>
        </p:txBody>
      </p:sp>
      <p:graphicFrame>
        <p:nvGraphicFramePr>
          <p:cNvPr id="25761" name="Group 161">
            <a:extLst>
              <a:ext uri="{FF2B5EF4-FFF2-40B4-BE49-F238E27FC236}">
                <a16:creationId xmlns:a16="http://schemas.microsoft.com/office/drawing/2014/main" id="{E113B699-1B89-47A3-AE35-83E84C1EF9DB}"/>
              </a:ext>
            </a:extLst>
          </p:cNvPr>
          <p:cNvGraphicFramePr>
            <a:graphicFrameLocks noGrp="1"/>
          </p:cNvGraphicFramePr>
          <p:nvPr/>
        </p:nvGraphicFramePr>
        <p:xfrm>
          <a:off x="914400" y="1676400"/>
          <a:ext cx="3124200" cy="2560635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80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SC</a:t>
                      </a:r>
                    </a:p>
                  </a:txBody>
                  <a:tcPr marT="45726" marB="45726" horzOverflow="overflow">
                    <a:lnL cap="flat"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Generated Code</a:t>
                      </a:r>
                    </a:p>
                  </a:txBody>
                  <a:tcPr marT="45726" marB="45726" horzOverflow="overflow">
                    <a:lnL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80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&lt;2,8&gt;</a:t>
                      </a:r>
                    </a:p>
                  </a:txBody>
                  <a:tcPr marT="45726" marB="45726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neva" charset="0"/>
                          <a:ea typeface="ヒラギノ角ゴ Pro W3" charset="-128"/>
                          <a:cs typeface="ヒラギノ角ゴ Pro W3" charset="-128"/>
                        </a:rPr>
                        <a:t>loadAI r</a:t>
                      </a:r>
                      <a:r>
                        <a:rPr kumimoji="0" lang="en-US" sz="16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neva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neva" charset="0"/>
                          <a:ea typeface="ヒラギノ角ゴ Pro W3" charset="-128"/>
                          <a:cs typeface="ヒラギノ角ゴ Pro W3" charset="-128"/>
                        </a:rPr>
                        <a:t>,8</a:t>
                      </a:r>
                    </a:p>
                  </a:txBody>
                  <a:tcPr marT="45726" marB="45726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neva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 r</a:t>
                      </a:r>
                      <a:r>
                        <a:rPr kumimoji="0" lang="en-US" sz="16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neva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10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eneva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6" marB="45726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80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&lt;1,12&gt;</a:t>
                      </a:r>
                    </a:p>
                  </a:txBody>
                  <a:tcPr marT="45726" marB="45726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neva" charset="0"/>
                          <a:ea typeface="ヒラギノ角ゴ Pro W3" charset="-128"/>
                          <a:cs typeface="ヒラギノ角ゴ Pro W3" charset="-128"/>
                        </a:rPr>
                        <a:t>loadAI r</a:t>
                      </a:r>
                      <a:r>
                        <a:rPr kumimoji="0" lang="en-US" sz="16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neva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neva" charset="0"/>
                          <a:ea typeface="ヒラギノ角ゴ Pro W3" charset="-128"/>
                          <a:cs typeface="ヒラギノ角ゴ Pro W3" charset="-128"/>
                        </a:rPr>
                        <a:t>,-4</a:t>
                      </a:r>
                    </a:p>
                  </a:txBody>
                  <a:tcPr marT="45726" marB="45726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neva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 r</a:t>
                      </a:r>
                      <a:r>
                        <a:rPr kumimoji="0" lang="en-US" sz="16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neva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1</a:t>
                      </a:r>
                    </a:p>
                  </a:txBody>
                  <a:tcPr marT="45726" marB="45726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80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6" marB="4572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neva" charset="0"/>
                          <a:ea typeface="ヒラギノ角ゴ Pro W3" charset="-128"/>
                          <a:cs typeface="ヒラギノ角ゴ Pro W3" charset="-128"/>
                        </a:rPr>
                        <a:t>loadAI r</a:t>
                      </a:r>
                      <a:r>
                        <a:rPr kumimoji="0" lang="en-US" sz="16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neva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neva" charset="0"/>
                          <a:ea typeface="ヒラギノ角ゴ Pro W3" charset="-128"/>
                          <a:cs typeface="ヒラギノ角ゴ Pro W3" charset="-128"/>
                        </a:rPr>
                        <a:t>,12</a:t>
                      </a:r>
                    </a:p>
                  </a:txBody>
                  <a:tcPr marT="45726" marB="4572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neva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 r</a:t>
                      </a:r>
                      <a:r>
                        <a:rPr kumimoji="0" lang="en-US" sz="16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neva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10</a:t>
                      </a:r>
                    </a:p>
                  </a:txBody>
                  <a:tcPr marT="45726" marB="4572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80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&lt;0,16&gt;</a:t>
                      </a:r>
                    </a:p>
                  </a:txBody>
                  <a:tcPr marT="45726" marB="45726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neva" charset="0"/>
                          <a:ea typeface="ヒラギノ角ゴ Pro W3" charset="-128"/>
                          <a:cs typeface="ヒラギノ角ゴ Pro W3" charset="-128"/>
                        </a:rPr>
                        <a:t>loadAI r</a:t>
                      </a:r>
                      <a:r>
                        <a:rPr kumimoji="0" lang="en-US" sz="16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neva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neva" charset="0"/>
                          <a:ea typeface="ヒラギノ角ゴ Pro W3" charset="-128"/>
                          <a:cs typeface="ヒラギノ角ゴ Pro W3" charset="-128"/>
                        </a:rPr>
                        <a:t>,-4</a:t>
                      </a:r>
                    </a:p>
                  </a:txBody>
                  <a:tcPr marT="45726" marB="45726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neva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 r</a:t>
                      </a:r>
                      <a:r>
                        <a:rPr kumimoji="0" lang="en-US" sz="16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neva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1</a:t>
                      </a:r>
                    </a:p>
                  </a:txBody>
                  <a:tcPr marT="45726" marB="45726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80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6" marB="4572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neva" charset="0"/>
                          <a:ea typeface="ヒラギノ角ゴ Pro W3" charset="-128"/>
                          <a:cs typeface="ヒラギノ角ゴ Pro W3" charset="-128"/>
                        </a:rPr>
                        <a:t>loadAI r</a:t>
                      </a:r>
                      <a:r>
                        <a:rPr kumimoji="0" lang="en-US" sz="16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neva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neva" charset="0"/>
                          <a:ea typeface="ヒラギノ角ゴ Pro W3" charset="-128"/>
                          <a:cs typeface="ヒラギノ角ゴ Pro W3" charset="-128"/>
                        </a:rPr>
                        <a:t>,-4</a:t>
                      </a:r>
                    </a:p>
                  </a:txBody>
                  <a:tcPr marT="45726" marB="4572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neva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 r</a:t>
                      </a:r>
                      <a:r>
                        <a:rPr kumimoji="0" lang="en-US" sz="16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neva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1</a:t>
                      </a:r>
                    </a:p>
                  </a:txBody>
                  <a:tcPr marT="45726" marB="4572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80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6" marB="4572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neva" charset="0"/>
                          <a:ea typeface="ヒラギノ角ゴ Pro W3" charset="-128"/>
                          <a:cs typeface="ヒラギノ角ゴ Pro W3" charset="-128"/>
                        </a:rPr>
                        <a:t>loadAI r</a:t>
                      </a:r>
                      <a:r>
                        <a:rPr kumimoji="0" lang="en-US" sz="16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neva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neva" charset="0"/>
                          <a:ea typeface="ヒラギノ角ゴ Pro W3" charset="-128"/>
                          <a:cs typeface="ヒラギノ角ゴ Pro W3" charset="-128"/>
                        </a:rPr>
                        <a:t>,16</a:t>
                      </a:r>
                    </a:p>
                  </a:txBody>
                  <a:tcPr marT="45726" marB="4572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neva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 r</a:t>
                      </a:r>
                      <a:r>
                        <a:rPr kumimoji="0" lang="en-US" sz="16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neva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10</a:t>
                      </a:r>
                    </a:p>
                  </a:txBody>
                  <a:tcPr marT="45726" marB="4572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Footer Placeholder 3">
            <a:extLst>
              <a:ext uri="{FF2B5EF4-FFF2-40B4-BE49-F238E27FC236}">
                <a16:creationId xmlns:a16="http://schemas.microsoft.com/office/drawing/2014/main" id="{0C9F5604-2E38-4F3F-B8DE-5F1B68B0530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200"/>
              <a:t>Comp 412, Fall 2010</a:t>
            </a:r>
          </a:p>
        </p:txBody>
      </p:sp>
      <p:sp>
        <p:nvSpPr>
          <p:cNvPr id="53250" name="Slide Number Placeholder 4">
            <a:extLst>
              <a:ext uri="{FF2B5EF4-FFF2-40B4-BE49-F238E27FC236}">
                <a16:creationId xmlns:a16="http://schemas.microsoft.com/office/drawing/2014/main" id="{1ADBDEE1-162A-4D7D-8FE9-A24712DC7FC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47630C05-74C9-45CC-998F-2F2EE5283587}" type="slidenum">
              <a:rPr lang="en-US" altLang="it-IT" sz="1200"/>
              <a:pPr/>
              <a:t>19</a:t>
            </a:fld>
            <a:endParaRPr lang="en-US" altLang="it-IT" sz="1200"/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4911F7A8-1F8A-4FC1-B7E5-F4401BF71C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Establishing Addressibility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F4AD0E6D-0DA2-4873-B369-137B3017C5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Why does it work?</a:t>
            </a:r>
          </a:p>
          <a:p>
            <a:pPr eaLnBrk="1" hangingPunct="1"/>
            <a:endParaRPr lang="en-US" altLang="it-IT"/>
          </a:p>
          <a:p>
            <a:pPr eaLnBrk="1" hangingPunct="1"/>
            <a:endParaRPr lang="en-US" altLang="it-IT"/>
          </a:p>
          <a:p>
            <a:pPr eaLnBrk="1" hangingPunct="1"/>
            <a:endParaRPr lang="en-US" altLang="it-IT"/>
          </a:p>
          <a:p>
            <a:pPr eaLnBrk="1" hangingPunct="1"/>
            <a:endParaRPr lang="en-US" altLang="it-IT"/>
          </a:p>
          <a:p>
            <a:pPr eaLnBrk="1" hangingPunct="1"/>
            <a:endParaRPr lang="en-US" altLang="it-IT"/>
          </a:p>
          <a:p>
            <a:pPr eaLnBrk="1" hangingPunct="1"/>
            <a:endParaRPr lang="en-US" altLang="it-IT"/>
          </a:p>
          <a:p>
            <a:pPr eaLnBrk="1" hangingPunct="1">
              <a:spcBef>
                <a:spcPts val="1075"/>
              </a:spcBef>
            </a:pPr>
            <a:endParaRPr lang="en-US" altLang="it-IT"/>
          </a:p>
          <a:p>
            <a:pPr eaLnBrk="1" hangingPunct="1">
              <a:spcBef>
                <a:spcPts val="1200"/>
              </a:spcBef>
            </a:pPr>
            <a:r>
              <a:rPr lang="en-US" altLang="it-IT"/>
              <a:t>If the call is to level k+1 the called procedure must be nested within the calling procedure</a:t>
            </a:r>
          </a:p>
          <a:p>
            <a:pPr lvl="1" eaLnBrk="1" hangingPunct="1"/>
            <a:r>
              <a:rPr lang="en-US" altLang="it-IT" i="1"/>
              <a:t>Otherwise, we could not see it!</a:t>
            </a:r>
          </a:p>
          <a:p>
            <a:pPr eaLnBrk="1" hangingPunct="1">
              <a:spcBef>
                <a:spcPts val="900"/>
              </a:spcBef>
            </a:pPr>
            <a:r>
              <a:rPr lang="en-US" altLang="it-IT"/>
              <a:t>If the call is to level j&gt;k, the called procedure must be nested within the containing procedure at level j-1</a:t>
            </a:r>
            <a:endParaRPr lang="en-US" altLang="it-IT">
              <a:solidFill>
                <a:srgbClr val="FF0000"/>
              </a:solidFill>
            </a:endParaRPr>
          </a:p>
        </p:txBody>
      </p:sp>
      <p:sp>
        <p:nvSpPr>
          <p:cNvPr id="44038" name="Text Box 37">
            <a:extLst>
              <a:ext uri="{FF2B5EF4-FFF2-40B4-BE49-F238E27FC236}">
                <a16:creationId xmlns:a16="http://schemas.microsoft.com/office/drawing/2014/main" id="{D3154395-078D-4BFF-9125-46171C9D88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1549400"/>
            <a:ext cx="2971800" cy="2032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7F7F7F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  <a:defRPr/>
            </a:pPr>
            <a:r>
              <a:rPr lang="en-US" sz="1800" dirty="0">
                <a:latin typeface="Comic Sans MS" charset="0"/>
                <a:ea typeface="ヒラギノ角ゴ Pro W3" charset="-128"/>
                <a:cs typeface="ヒラギノ角ゴ Pro W3" charset="-128"/>
              </a:rPr>
              <a:t>Maintaining access links</a:t>
            </a:r>
          </a:p>
          <a:p>
            <a:pPr eaLnBrk="0" hangingPunct="0">
              <a:spcBef>
                <a:spcPct val="20000"/>
              </a:spcBef>
              <a:buClr>
                <a:srgbClr val="003C75"/>
              </a:buClr>
              <a:buSzPct val="120000"/>
              <a:buFont typeface="Times" charset="0"/>
              <a:buChar char="•"/>
              <a:defRPr/>
            </a:pPr>
            <a:r>
              <a:rPr lang="en-US" sz="1800" dirty="0">
                <a:latin typeface="Comic Sans MS" charset="0"/>
                <a:ea typeface="ヒラギノ角ゴ Pro W3" charset="-128"/>
                <a:cs typeface="ヒラギノ角ゴ Pro W3" charset="-128"/>
              </a:rPr>
              <a:t> Calling level </a:t>
            </a:r>
            <a:r>
              <a:rPr lang="en-US" sz="1800" i="1" dirty="0">
                <a:latin typeface="Comic Sans MS" charset="0"/>
                <a:ea typeface="ヒラギノ角ゴ Pro W3" charset="-128"/>
                <a:cs typeface="ヒラギノ角ゴ Pro W3" charset="-128"/>
              </a:rPr>
              <a:t>k</a:t>
            </a:r>
            <a:r>
              <a:rPr lang="en-US" sz="1800" dirty="0">
                <a:latin typeface="Comic Sans MS" charset="0"/>
                <a:ea typeface="ヒラギノ角ゴ Pro W3" charset="-128"/>
                <a:cs typeface="ヒラギノ角ゴ Pro W3" charset="-128"/>
              </a:rPr>
              <a:t>+1</a:t>
            </a:r>
          </a:p>
          <a:p>
            <a:pPr eaLnBrk="0" hangingPunct="0">
              <a:spcBef>
                <a:spcPct val="20000"/>
              </a:spcBef>
              <a:buClr>
                <a:srgbClr val="003C75"/>
              </a:buClr>
              <a:buSzPct val="90000"/>
              <a:buFont typeface="Symbol" charset="2"/>
              <a:buChar char=""/>
              <a:defRPr/>
            </a:pPr>
            <a:r>
              <a:rPr lang="en-US" sz="1800" dirty="0">
                <a:latin typeface="Comic Sans MS" charset="0"/>
                <a:ea typeface="ヒラギノ角ゴ Pro W3" charset="-128"/>
                <a:cs typeface="ヒラギノ角ゴ Pro W3" charset="-128"/>
              </a:rPr>
              <a:t> Use current </a:t>
            </a:r>
            <a:r>
              <a:rPr lang="en-US" dirty="0">
                <a:latin typeface="Comic Sans MS" charset="0"/>
                <a:ea typeface="ヒラギノ角ゴ Pro W3" charset="-128"/>
                <a:cs typeface="ヒラギノ角ゴ Pro W3" charset="-128"/>
              </a:rPr>
              <a:t>ARP</a:t>
            </a:r>
            <a:r>
              <a:rPr lang="en-US" sz="1800" dirty="0">
                <a:latin typeface="Comic Sans MS" charset="0"/>
                <a:ea typeface="ヒラギノ角ゴ Pro W3" charset="-128"/>
                <a:cs typeface="ヒラギノ角ゴ Pro W3" charset="-128"/>
              </a:rPr>
              <a:t> as link</a:t>
            </a:r>
          </a:p>
          <a:p>
            <a:pPr eaLnBrk="0" hangingPunct="0">
              <a:spcBef>
                <a:spcPct val="20000"/>
              </a:spcBef>
              <a:buClr>
                <a:srgbClr val="003C75"/>
              </a:buClr>
              <a:buSzPct val="120000"/>
              <a:buFont typeface="Times" charset="0"/>
              <a:buChar char="•"/>
              <a:defRPr/>
            </a:pPr>
            <a:r>
              <a:rPr lang="en-US" sz="1800" dirty="0">
                <a:latin typeface="Comic Sans MS" charset="0"/>
                <a:ea typeface="ヒラギノ角ゴ Pro W3" charset="-128"/>
                <a:cs typeface="ヒラギノ角ゴ Pro W3" charset="-128"/>
              </a:rPr>
              <a:t> Calling level </a:t>
            </a:r>
            <a:r>
              <a:rPr lang="en-US" sz="1800" i="1" dirty="0" err="1">
                <a:latin typeface="Comic Sans MS" charset="0"/>
                <a:ea typeface="ヒラギノ角ゴ Pro W3" charset="-128"/>
                <a:cs typeface="ヒラギノ角ゴ Pro W3" charset="-128"/>
              </a:rPr>
              <a:t>j</a:t>
            </a:r>
            <a:r>
              <a:rPr lang="en-US" sz="1800" dirty="0">
                <a:latin typeface="Comic Sans MS" charset="0"/>
                <a:ea typeface="ヒラギノ角ゴ Pro W3" charset="-128"/>
                <a:cs typeface="ヒラギノ角ゴ Pro W3" charset="-128"/>
              </a:rPr>
              <a:t> ≤ </a:t>
            </a:r>
            <a:r>
              <a:rPr lang="en-US" sz="1800" i="1" dirty="0" err="1">
                <a:latin typeface="Comic Sans MS" charset="0"/>
                <a:ea typeface="ヒラギノ角ゴ Pro W3" charset="-128"/>
                <a:cs typeface="ヒラギノ角ゴ Pro W3" charset="-128"/>
              </a:rPr>
              <a:t>k</a:t>
            </a:r>
            <a:endParaRPr lang="en-US" sz="1800" dirty="0">
              <a:latin typeface="Comic Sans MS" charset="0"/>
              <a:ea typeface="ヒラギノ角ゴ Pro W3" charset="-128"/>
              <a:cs typeface="ヒラギノ角ゴ Pro W3" charset="-128"/>
            </a:endParaRPr>
          </a:p>
          <a:p>
            <a:pPr eaLnBrk="0" hangingPunct="0">
              <a:spcBef>
                <a:spcPct val="20000"/>
              </a:spcBef>
              <a:buClr>
                <a:srgbClr val="003C75"/>
              </a:buClr>
              <a:buSzPct val="90000"/>
              <a:buFont typeface="Symbol" charset="2"/>
              <a:buChar char=""/>
              <a:defRPr/>
            </a:pPr>
            <a:r>
              <a:rPr lang="en-US" sz="1800" dirty="0">
                <a:latin typeface="Comic Sans MS" charset="0"/>
                <a:ea typeface="ヒラギノ角ゴ Pro W3" charset="-128"/>
                <a:cs typeface="ヒラギノ角ゴ Pro W3" charset="-128"/>
              </a:rPr>
              <a:t> </a:t>
            </a:r>
            <a:r>
              <a:rPr lang="en-US" sz="1800" u="sng" dirty="0">
                <a:latin typeface="Comic Sans MS" charset="0"/>
                <a:ea typeface="ヒラギノ角ゴ Pro W3" charset="-128"/>
                <a:cs typeface="ヒラギノ角ゴ Pro W3" charset="-128"/>
              </a:rPr>
              <a:t>Find ARP for level </a:t>
            </a:r>
            <a:r>
              <a:rPr lang="en-US" sz="1800" i="1" u="sng" dirty="0" err="1">
                <a:latin typeface="Comic Sans MS" charset="0"/>
                <a:ea typeface="ヒラギノ角ゴ Pro W3" charset="-128"/>
                <a:cs typeface="ヒラギノ角ゴ Pro W3" charset="-128"/>
              </a:rPr>
              <a:t>j</a:t>
            </a:r>
            <a:r>
              <a:rPr lang="en-US" sz="1800" u="sng" dirty="0">
                <a:latin typeface="Comic Sans MS" charset="0"/>
                <a:ea typeface="ヒラギノ角ゴ Pro W3" charset="-128"/>
                <a:cs typeface="ヒラギノ角ゴ Pro W3" charset="-128"/>
              </a:rPr>
              <a:t> –1</a:t>
            </a:r>
          </a:p>
          <a:p>
            <a:pPr eaLnBrk="0" hangingPunct="0">
              <a:spcBef>
                <a:spcPct val="20000"/>
              </a:spcBef>
              <a:spcAft>
                <a:spcPts val="600"/>
              </a:spcAft>
              <a:buClr>
                <a:srgbClr val="003C75"/>
              </a:buClr>
              <a:buSzPct val="90000"/>
              <a:buFont typeface="Symbol" charset="2"/>
              <a:buChar char=""/>
              <a:defRPr/>
            </a:pPr>
            <a:r>
              <a:rPr lang="en-US" sz="1800" dirty="0">
                <a:latin typeface="Comic Sans MS" charset="0"/>
                <a:ea typeface="ヒラギノ角ゴ Pro W3" charset="-128"/>
                <a:cs typeface="ヒラギノ角ゴ Pro W3" charset="-128"/>
              </a:rPr>
              <a:t> </a:t>
            </a:r>
            <a:r>
              <a:rPr lang="en-US" sz="1800" u="sng" dirty="0">
                <a:latin typeface="Comic Sans MS" charset="0"/>
                <a:ea typeface="ヒラギノ角ゴ Pro W3" charset="-128"/>
                <a:cs typeface="ヒラギノ角ゴ Pro W3" charset="-128"/>
              </a:rPr>
              <a:t>Use that</a:t>
            </a:r>
            <a:r>
              <a:rPr lang="en-US" sz="1800" dirty="0">
                <a:latin typeface="Comic Sans MS" charset="0"/>
                <a:ea typeface="ヒラギノ角ゴ Pro W3" charset="-128"/>
                <a:cs typeface="ヒラギノ角ゴ Pro W3" charset="-128"/>
              </a:rPr>
              <a:t> ARP as link</a:t>
            </a:r>
          </a:p>
        </p:txBody>
      </p:sp>
      <p:grpSp>
        <p:nvGrpSpPr>
          <p:cNvPr id="53254" name="Group 38">
            <a:extLst>
              <a:ext uri="{FF2B5EF4-FFF2-40B4-BE49-F238E27FC236}">
                <a16:creationId xmlns:a16="http://schemas.microsoft.com/office/drawing/2014/main" id="{C07C8904-A7A8-43D1-9EA3-DFE21EA4C4A4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1676400"/>
            <a:ext cx="4876800" cy="2327275"/>
            <a:chOff x="864" y="1584"/>
            <a:chExt cx="3072" cy="1466"/>
          </a:xfrm>
        </p:grpSpPr>
        <p:sp>
          <p:nvSpPr>
            <p:cNvPr id="53255" name="Rectangle 39">
              <a:extLst>
                <a:ext uri="{FF2B5EF4-FFF2-40B4-BE49-F238E27FC236}">
                  <a16:creationId xmlns:a16="http://schemas.microsoft.com/office/drawing/2014/main" id="{C6B6A237-E275-4FD7-8F6D-FF5D065D0E6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336" y="1740"/>
              <a:ext cx="603" cy="1309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53256" name="Rectangle 40">
              <a:extLst>
                <a:ext uri="{FF2B5EF4-FFF2-40B4-BE49-F238E27FC236}">
                  <a16:creationId xmlns:a16="http://schemas.microsoft.com/office/drawing/2014/main" id="{ABBD3312-BF7B-494F-8D7E-910F8355275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336" y="1740"/>
              <a:ext cx="603" cy="20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000" i="1">
                  <a:latin typeface="Arial Rounded MT Bold" panose="020F0704030504030204" pitchFamily="34" charset="0"/>
                </a:rPr>
                <a:t>parameters</a:t>
              </a:r>
              <a:endParaRPr lang="en-US" altLang="it-IT" sz="1000">
                <a:latin typeface="Arial Rounded MT Bold" panose="020F0704030504030204" pitchFamily="34" charset="0"/>
              </a:endParaRPr>
            </a:p>
          </p:txBody>
        </p:sp>
        <p:sp>
          <p:nvSpPr>
            <p:cNvPr id="53257" name="Rectangle 41">
              <a:extLst>
                <a:ext uri="{FF2B5EF4-FFF2-40B4-BE49-F238E27FC236}">
                  <a16:creationId xmlns:a16="http://schemas.microsoft.com/office/drawing/2014/main" id="{E5C42185-BA1B-4E9B-8B1A-2A4D3934712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336" y="1955"/>
              <a:ext cx="603" cy="22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000" i="1">
                  <a:latin typeface="Arial Rounded MT Bold" panose="020F0704030504030204" pitchFamily="34" charset="0"/>
                </a:rPr>
                <a:t>register </a:t>
              </a:r>
            </a:p>
            <a:p>
              <a:pPr algn="ctr"/>
              <a:r>
                <a:rPr lang="en-US" altLang="it-IT" sz="1000" i="1">
                  <a:latin typeface="Arial Rounded MT Bold" panose="020F0704030504030204" pitchFamily="34" charset="0"/>
                </a:rPr>
                <a:t>save area</a:t>
              </a:r>
              <a:endParaRPr lang="en-US" altLang="it-IT" sz="1000">
                <a:latin typeface="Arial Rounded MT Bold" panose="020F0704030504030204" pitchFamily="34" charset="0"/>
              </a:endParaRPr>
            </a:p>
          </p:txBody>
        </p:sp>
        <p:sp>
          <p:nvSpPr>
            <p:cNvPr id="53258" name="Rectangle 42">
              <a:extLst>
                <a:ext uri="{FF2B5EF4-FFF2-40B4-BE49-F238E27FC236}">
                  <a16:creationId xmlns:a16="http://schemas.microsoft.com/office/drawing/2014/main" id="{503E5C02-4899-4671-9D76-2E29CD63F27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336" y="2178"/>
              <a:ext cx="603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000" i="1">
                  <a:latin typeface="Arial Rounded MT Bold" panose="020F0704030504030204" pitchFamily="34" charset="0"/>
                </a:rPr>
                <a:t>return value</a:t>
              </a:r>
              <a:endParaRPr lang="en-US" altLang="it-IT" sz="1000">
                <a:latin typeface="Arial Rounded MT Bold" panose="020F0704030504030204" pitchFamily="34" charset="0"/>
              </a:endParaRPr>
            </a:p>
          </p:txBody>
        </p:sp>
        <p:sp>
          <p:nvSpPr>
            <p:cNvPr id="53259" name="Rectangle 43">
              <a:extLst>
                <a:ext uri="{FF2B5EF4-FFF2-40B4-BE49-F238E27FC236}">
                  <a16:creationId xmlns:a16="http://schemas.microsoft.com/office/drawing/2014/main" id="{DC4DE9ED-DE10-4FED-BBE8-58731D73506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336" y="2324"/>
              <a:ext cx="603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000" i="1">
                  <a:latin typeface="Arial Rounded MT Bold" panose="020F0704030504030204" pitchFamily="34" charset="0"/>
                </a:rPr>
                <a:t>return address</a:t>
              </a:r>
            </a:p>
          </p:txBody>
        </p:sp>
        <p:sp>
          <p:nvSpPr>
            <p:cNvPr id="53260" name="Rectangle 44">
              <a:extLst>
                <a:ext uri="{FF2B5EF4-FFF2-40B4-BE49-F238E27FC236}">
                  <a16:creationId xmlns:a16="http://schemas.microsoft.com/office/drawing/2014/main" id="{5A9A1046-E54A-47F5-9F5A-B595D7E531F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336" y="2470"/>
              <a:ext cx="603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000" i="1">
                  <a:latin typeface="Arial Rounded MT Bold" panose="020F0704030504030204" pitchFamily="34" charset="0"/>
                </a:rPr>
                <a:t>access link</a:t>
              </a:r>
              <a:endParaRPr lang="en-US" altLang="it-IT" sz="1000">
                <a:latin typeface="Arial Rounded MT Bold" panose="020F0704030504030204" pitchFamily="34" charset="0"/>
              </a:endParaRPr>
            </a:p>
          </p:txBody>
        </p:sp>
        <p:sp>
          <p:nvSpPr>
            <p:cNvPr id="53261" name="Rectangle 45">
              <a:extLst>
                <a:ext uri="{FF2B5EF4-FFF2-40B4-BE49-F238E27FC236}">
                  <a16:creationId xmlns:a16="http://schemas.microsoft.com/office/drawing/2014/main" id="{B9296DE3-B771-4C0D-AE9F-BE94C788AAF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336" y="2616"/>
              <a:ext cx="603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000" i="1">
                  <a:latin typeface="Arial Rounded MT Bold" panose="020F0704030504030204" pitchFamily="34" charset="0"/>
                </a:rPr>
                <a:t>caller’s ARP</a:t>
              </a:r>
              <a:endParaRPr lang="en-US" altLang="it-IT" sz="1000">
                <a:latin typeface="Arial Rounded MT Bold" panose="020F0704030504030204" pitchFamily="34" charset="0"/>
              </a:endParaRPr>
            </a:p>
          </p:txBody>
        </p:sp>
        <p:sp>
          <p:nvSpPr>
            <p:cNvPr id="53262" name="Rectangle 46">
              <a:extLst>
                <a:ext uri="{FF2B5EF4-FFF2-40B4-BE49-F238E27FC236}">
                  <a16:creationId xmlns:a16="http://schemas.microsoft.com/office/drawing/2014/main" id="{84E0DFF6-CC6E-4D4A-AB26-9707C620930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336" y="2762"/>
              <a:ext cx="603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000" i="1">
                  <a:latin typeface="Arial Rounded MT Bold" panose="020F0704030504030204" pitchFamily="34" charset="0"/>
                </a:rPr>
                <a:t>local </a:t>
              </a:r>
            </a:p>
            <a:p>
              <a:pPr algn="ctr"/>
              <a:r>
                <a:rPr lang="en-US" altLang="it-IT" sz="1000" i="1">
                  <a:latin typeface="Arial Rounded MT Bold" panose="020F0704030504030204" pitchFamily="34" charset="0"/>
                </a:rPr>
                <a:t>variables</a:t>
              </a:r>
              <a:endParaRPr lang="en-US" altLang="it-IT" sz="1000">
                <a:latin typeface="Arial Rounded MT Bold" panose="020F0704030504030204" pitchFamily="34" charset="0"/>
              </a:endParaRPr>
            </a:p>
          </p:txBody>
        </p:sp>
        <p:sp>
          <p:nvSpPr>
            <p:cNvPr id="53263" name="Text Box 47">
              <a:extLst>
                <a:ext uri="{FF2B5EF4-FFF2-40B4-BE49-F238E27FC236}">
                  <a16:creationId xmlns:a16="http://schemas.microsoft.com/office/drawing/2014/main" id="{ADE76DA1-556D-417F-AA4E-47161DCFC5C6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864" y="2529"/>
              <a:ext cx="326" cy="16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 sz="1000">
                  <a:latin typeface="Arial Rounded MT Bold" panose="020F0704030504030204" pitchFamily="34" charset="0"/>
                </a:rPr>
                <a:t>ARP</a:t>
              </a:r>
            </a:p>
          </p:txBody>
        </p:sp>
        <p:sp>
          <p:nvSpPr>
            <p:cNvPr id="53264" name="Line 48">
              <a:extLst>
                <a:ext uri="{FF2B5EF4-FFF2-40B4-BE49-F238E27FC236}">
                  <a16:creationId xmlns:a16="http://schemas.microsoft.com/office/drawing/2014/main" id="{7D13F4CB-B55D-4273-A4A5-F94B64EDDA3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132" y="2615"/>
              <a:ext cx="203" cy="2"/>
            </a:xfrm>
            <a:prstGeom prst="line">
              <a:avLst/>
            </a:prstGeom>
            <a:noFill/>
            <a:ln w="9525">
              <a:solidFill>
                <a:srgbClr val="B025A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53265" name="Line 49">
              <a:extLst>
                <a:ext uri="{FF2B5EF4-FFF2-40B4-BE49-F238E27FC236}">
                  <a16:creationId xmlns:a16="http://schemas.microsoft.com/office/drawing/2014/main" id="{2E324FAD-9CB6-4B3D-ACA2-4E0A7483999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891" y="2692"/>
              <a:ext cx="203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53266" name="Rectangle 50">
              <a:extLst>
                <a:ext uri="{FF2B5EF4-FFF2-40B4-BE49-F238E27FC236}">
                  <a16:creationId xmlns:a16="http://schemas.microsoft.com/office/drawing/2014/main" id="{C47183C3-4507-483C-97FC-CD9CF54118E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228" y="1676"/>
              <a:ext cx="603" cy="1309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53267" name="Rectangle 51">
              <a:extLst>
                <a:ext uri="{FF2B5EF4-FFF2-40B4-BE49-F238E27FC236}">
                  <a16:creationId xmlns:a16="http://schemas.microsoft.com/office/drawing/2014/main" id="{A4E8A40D-3C7A-492D-AB9F-74690F09247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228" y="1676"/>
              <a:ext cx="603" cy="20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000" i="1">
                  <a:latin typeface="Arial Rounded MT Bold" panose="020F0704030504030204" pitchFamily="34" charset="0"/>
                </a:rPr>
                <a:t>parameters</a:t>
              </a:r>
              <a:endParaRPr lang="en-US" altLang="it-IT" sz="1000">
                <a:latin typeface="Arial Rounded MT Bold" panose="020F0704030504030204" pitchFamily="34" charset="0"/>
              </a:endParaRPr>
            </a:p>
          </p:txBody>
        </p:sp>
        <p:sp>
          <p:nvSpPr>
            <p:cNvPr id="53268" name="Rectangle 52">
              <a:extLst>
                <a:ext uri="{FF2B5EF4-FFF2-40B4-BE49-F238E27FC236}">
                  <a16:creationId xmlns:a16="http://schemas.microsoft.com/office/drawing/2014/main" id="{CB602E69-DFA5-4E3A-83DA-8E9B23BC859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228" y="1891"/>
              <a:ext cx="603" cy="22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000" i="1">
                  <a:latin typeface="Arial Rounded MT Bold" panose="020F0704030504030204" pitchFamily="34" charset="0"/>
                </a:rPr>
                <a:t>register </a:t>
              </a:r>
            </a:p>
            <a:p>
              <a:pPr algn="ctr"/>
              <a:r>
                <a:rPr lang="en-US" altLang="it-IT" sz="1000" i="1">
                  <a:latin typeface="Arial Rounded MT Bold" panose="020F0704030504030204" pitchFamily="34" charset="0"/>
                </a:rPr>
                <a:t>save area</a:t>
              </a:r>
              <a:endParaRPr lang="en-US" altLang="it-IT" sz="1000">
                <a:latin typeface="Arial Rounded MT Bold" panose="020F0704030504030204" pitchFamily="34" charset="0"/>
              </a:endParaRPr>
            </a:p>
          </p:txBody>
        </p:sp>
        <p:sp>
          <p:nvSpPr>
            <p:cNvPr id="53269" name="Rectangle 53">
              <a:extLst>
                <a:ext uri="{FF2B5EF4-FFF2-40B4-BE49-F238E27FC236}">
                  <a16:creationId xmlns:a16="http://schemas.microsoft.com/office/drawing/2014/main" id="{ED37B864-8A63-4DEB-B193-760C5A9FA5C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228" y="2114"/>
              <a:ext cx="603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000" i="1">
                  <a:latin typeface="Arial Rounded MT Bold" panose="020F0704030504030204" pitchFamily="34" charset="0"/>
                </a:rPr>
                <a:t>return value</a:t>
              </a:r>
              <a:endParaRPr lang="en-US" altLang="it-IT" sz="1000">
                <a:latin typeface="Arial Rounded MT Bold" panose="020F0704030504030204" pitchFamily="34" charset="0"/>
              </a:endParaRPr>
            </a:p>
          </p:txBody>
        </p:sp>
        <p:sp>
          <p:nvSpPr>
            <p:cNvPr id="53270" name="Rectangle 54">
              <a:extLst>
                <a:ext uri="{FF2B5EF4-FFF2-40B4-BE49-F238E27FC236}">
                  <a16:creationId xmlns:a16="http://schemas.microsoft.com/office/drawing/2014/main" id="{812E057F-43D1-46F2-87C9-2DB996EF58E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228" y="2260"/>
              <a:ext cx="603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000" i="1">
                  <a:latin typeface="Arial Rounded MT Bold" panose="020F0704030504030204" pitchFamily="34" charset="0"/>
                </a:rPr>
                <a:t>return address</a:t>
              </a:r>
            </a:p>
          </p:txBody>
        </p:sp>
        <p:sp>
          <p:nvSpPr>
            <p:cNvPr id="53271" name="Rectangle 55">
              <a:extLst>
                <a:ext uri="{FF2B5EF4-FFF2-40B4-BE49-F238E27FC236}">
                  <a16:creationId xmlns:a16="http://schemas.microsoft.com/office/drawing/2014/main" id="{5DEFB757-5C6D-498F-B6C3-779C806B73B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228" y="2406"/>
              <a:ext cx="603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000" i="1">
                  <a:latin typeface="Arial Rounded MT Bold" panose="020F0704030504030204" pitchFamily="34" charset="0"/>
                </a:rPr>
                <a:t>access link</a:t>
              </a:r>
              <a:endParaRPr lang="en-US" altLang="it-IT" sz="1000">
                <a:latin typeface="Arial Rounded MT Bold" panose="020F0704030504030204" pitchFamily="34" charset="0"/>
              </a:endParaRPr>
            </a:p>
          </p:txBody>
        </p:sp>
        <p:sp>
          <p:nvSpPr>
            <p:cNvPr id="53272" name="Rectangle 56">
              <a:extLst>
                <a:ext uri="{FF2B5EF4-FFF2-40B4-BE49-F238E27FC236}">
                  <a16:creationId xmlns:a16="http://schemas.microsoft.com/office/drawing/2014/main" id="{C3DD69BD-D88B-43D7-A654-FA7D6DFA88D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228" y="2552"/>
              <a:ext cx="603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000" i="1">
                  <a:latin typeface="Arial Rounded MT Bold" panose="020F0704030504030204" pitchFamily="34" charset="0"/>
                </a:rPr>
                <a:t>caller’s ARP</a:t>
              </a:r>
              <a:endParaRPr lang="en-US" altLang="it-IT" sz="1000">
                <a:latin typeface="Arial Rounded MT Bold" panose="020F0704030504030204" pitchFamily="34" charset="0"/>
              </a:endParaRPr>
            </a:p>
          </p:txBody>
        </p:sp>
        <p:sp>
          <p:nvSpPr>
            <p:cNvPr id="53273" name="Rectangle 57">
              <a:extLst>
                <a:ext uri="{FF2B5EF4-FFF2-40B4-BE49-F238E27FC236}">
                  <a16:creationId xmlns:a16="http://schemas.microsoft.com/office/drawing/2014/main" id="{43A416E5-D783-4B17-9B35-CC7ADC0A8DC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228" y="2698"/>
              <a:ext cx="603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000" i="1">
                  <a:latin typeface="Arial Rounded MT Bold" panose="020F0704030504030204" pitchFamily="34" charset="0"/>
                </a:rPr>
                <a:t>local </a:t>
              </a:r>
            </a:p>
            <a:p>
              <a:pPr algn="ctr"/>
              <a:r>
                <a:rPr lang="en-US" altLang="it-IT" sz="1000" i="1">
                  <a:latin typeface="Arial Rounded MT Bold" panose="020F0704030504030204" pitchFamily="34" charset="0"/>
                </a:rPr>
                <a:t>variables</a:t>
              </a:r>
              <a:endParaRPr lang="en-US" altLang="it-IT" sz="1000">
                <a:latin typeface="Arial Rounded MT Bold" panose="020F0704030504030204" pitchFamily="34" charset="0"/>
              </a:endParaRPr>
            </a:p>
          </p:txBody>
        </p:sp>
        <p:sp>
          <p:nvSpPr>
            <p:cNvPr id="53274" name="Line 58">
              <a:extLst>
                <a:ext uri="{FF2B5EF4-FFF2-40B4-BE49-F238E27FC236}">
                  <a16:creationId xmlns:a16="http://schemas.microsoft.com/office/drawing/2014/main" id="{FED265DF-EFCD-4015-BDF9-72D61082C60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783" y="2628"/>
              <a:ext cx="203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53275" name="Rectangle 59">
              <a:extLst>
                <a:ext uri="{FF2B5EF4-FFF2-40B4-BE49-F238E27FC236}">
                  <a16:creationId xmlns:a16="http://schemas.microsoft.com/office/drawing/2014/main" id="{F7260A00-2B24-48A8-B5E8-90DA12A7B4A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124" y="1584"/>
              <a:ext cx="603" cy="1309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53276" name="Rectangle 60">
              <a:extLst>
                <a:ext uri="{FF2B5EF4-FFF2-40B4-BE49-F238E27FC236}">
                  <a16:creationId xmlns:a16="http://schemas.microsoft.com/office/drawing/2014/main" id="{4FB43AE2-EB84-4039-8B37-3A714E3EA24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120" y="1594"/>
              <a:ext cx="603" cy="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000" i="1">
                  <a:latin typeface="Arial Rounded MT Bold" panose="020F0704030504030204" pitchFamily="34" charset="0"/>
                </a:rPr>
                <a:t>parameters</a:t>
              </a:r>
              <a:endParaRPr lang="en-US" altLang="it-IT" sz="1000">
                <a:latin typeface="Arial Rounded MT Bold" panose="020F0704030504030204" pitchFamily="34" charset="0"/>
              </a:endParaRPr>
            </a:p>
          </p:txBody>
        </p:sp>
        <p:sp>
          <p:nvSpPr>
            <p:cNvPr id="53277" name="Rectangle 61">
              <a:extLst>
                <a:ext uri="{FF2B5EF4-FFF2-40B4-BE49-F238E27FC236}">
                  <a16:creationId xmlns:a16="http://schemas.microsoft.com/office/drawing/2014/main" id="{B17974B2-FCF1-432D-B342-A9F85618376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124" y="1799"/>
              <a:ext cx="603" cy="22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000" i="1">
                  <a:latin typeface="Arial Rounded MT Bold" panose="020F0704030504030204" pitchFamily="34" charset="0"/>
                </a:rPr>
                <a:t>register </a:t>
              </a:r>
            </a:p>
            <a:p>
              <a:pPr algn="ctr"/>
              <a:r>
                <a:rPr lang="en-US" altLang="it-IT" sz="1000" i="1">
                  <a:latin typeface="Arial Rounded MT Bold" panose="020F0704030504030204" pitchFamily="34" charset="0"/>
                </a:rPr>
                <a:t>save area</a:t>
              </a:r>
              <a:endParaRPr lang="en-US" altLang="it-IT" sz="1000">
                <a:latin typeface="Arial Rounded MT Bold" panose="020F0704030504030204" pitchFamily="34" charset="0"/>
              </a:endParaRPr>
            </a:p>
          </p:txBody>
        </p:sp>
        <p:sp>
          <p:nvSpPr>
            <p:cNvPr id="53278" name="Rectangle 62">
              <a:extLst>
                <a:ext uri="{FF2B5EF4-FFF2-40B4-BE49-F238E27FC236}">
                  <a16:creationId xmlns:a16="http://schemas.microsoft.com/office/drawing/2014/main" id="{190D460F-9128-462E-B4D4-E6D1CA4716B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124" y="2022"/>
              <a:ext cx="603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000" i="1">
                  <a:latin typeface="Arial Rounded MT Bold" panose="020F0704030504030204" pitchFamily="34" charset="0"/>
                </a:rPr>
                <a:t>return value</a:t>
              </a:r>
              <a:endParaRPr lang="en-US" altLang="it-IT" sz="1000">
                <a:latin typeface="Arial Rounded MT Bold" panose="020F0704030504030204" pitchFamily="34" charset="0"/>
              </a:endParaRPr>
            </a:p>
          </p:txBody>
        </p:sp>
        <p:sp>
          <p:nvSpPr>
            <p:cNvPr id="53279" name="Rectangle 63">
              <a:extLst>
                <a:ext uri="{FF2B5EF4-FFF2-40B4-BE49-F238E27FC236}">
                  <a16:creationId xmlns:a16="http://schemas.microsoft.com/office/drawing/2014/main" id="{BB43802A-6C16-4AF8-BC9F-9FB6EEC4A5B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124" y="2168"/>
              <a:ext cx="603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000" i="1">
                  <a:latin typeface="Arial Rounded MT Bold" panose="020F0704030504030204" pitchFamily="34" charset="0"/>
                </a:rPr>
                <a:t>return address</a:t>
              </a:r>
            </a:p>
          </p:txBody>
        </p:sp>
        <p:sp>
          <p:nvSpPr>
            <p:cNvPr id="53280" name="Rectangle 64">
              <a:extLst>
                <a:ext uri="{FF2B5EF4-FFF2-40B4-BE49-F238E27FC236}">
                  <a16:creationId xmlns:a16="http://schemas.microsoft.com/office/drawing/2014/main" id="{F329FBF4-8768-484B-AA05-039C3D6DB44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124" y="2314"/>
              <a:ext cx="603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000" i="1">
                  <a:latin typeface="Arial Rounded MT Bold" panose="020F0704030504030204" pitchFamily="34" charset="0"/>
                </a:rPr>
                <a:t>access link</a:t>
              </a:r>
              <a:endParaRPr lang="en-US" altLang="it-IT" sz="1000">
                <a:latin typeface="Arial Rounded MT Bold" panose="020F0704030504030204" pitchFamily="34" charset="0"/>
              </a:endParaRPr>
            </a:p>
          </p:txBody>
        </p:sp>
        <p:sp>
          <p:nvSpPr>
            <p:cNvPr id="53281" name="Rectangle 65">
              <a:extLst>
                <a:ext uri="{FF2B5EF4-FFF2-40B4-BE49-F238E27FC236}">
                  <a16:creationId xmlns:a16="http://schemas.microsoft.com/office/drawing/2014/main" id="{04B21272-3DA7-4BF9-A16B-EDA2C09D962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124" y="2460"/>
              <a:ext cx="603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000" i="1">
                  <a:latin typeface="Arial Rounded MT Bold" panose="020F0704030504030204" pitchFamily="34" charset="0"/>
                </a:rPr>
                <a:t>caller’s ARP</a:t>
              </a:r>
              <a:endParaRPr lang="en-US" altLang="it-IT" sz="1000">
                <a:latin typeface="Arial Rounded MT Bold" panose="020F0704030504030204" pitchFamily="34" charset="0"/>
              </a:endParaRPr>
            </a:p>
          </p:txBody>
        </p:sp>
        <p:sp>
          <p:nvSpPr>
            <p:cNvPr id="53282" name="Rectangle 66">
              <a:extLst>
                <a:ext uri="{FF2B5EF4-FFF2-40B4-BE49-F238E27FC236}">
                  <a16:creationId xmlns:a16="http://schemas.microsoft.com/office/drawing/2014/main" id="{25C39DD2-1093-4CAD-9C2E-FD3178F26CF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124" y="2606"/>
              <a:ext cx="603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000" i="1">
                  <a:latin typeface="Arial Rounded MT Bold" panose="020F0704030504030204" pitchFamily="34" charset="0"/>
                </a:rPr>
                <a:t>local </a:t>
              </a:r>
            </a:p>
            <a:p>
              <a:pPr algn="ctr"/>
              <a:r>
                <a:rPr lang="en-US" altLang="it-IT" sz="1000" i="1">
                  <a:latin typeface="Arial Rounded MT Bold" panose="020F0704030504030204" pitchFamily="34" charset="0"/>
                </a:rPr>
                <a:t>variables</a:t>
              </a:r>
              <a:endParaRPr lang="en-US" altLang="it-IT" sz="1000">
                <a:latin typeface="Arial Rounded MT Bold" panose="020F0704030504030204" pitchFamily="34" charset="0"/>
              </a:endParaRPr>
            </a:p>
          </p:txBody>
        </p:sp>
        <p:sp>
          <p:nvSpPr>
            <p:cNvPr id="53283" name="Line 67">
              <a:extLst>
                <a:ext uri="{FF2B5EF4-FFF2-40B4-BE49-F238E27FC236}">
                  <a16:creationId xmlns:a16="http://schemas.microsoft.com/office/drawing/2014/main" id="{7210C64D-1C7C-4936-95CD-562EFBFDF18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679" y="2536"/>
              <a:ext cx="203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53284" name="Line 68">
              <a:extLst>
                <a:ext uri="{FF2B5EF4-FFF2-40B4-BE49-F238E27FC236}">
                  <a16:creationId xmlns:a16="http://schemas.microsoft.com/office/drawing/2014/main" id="{D468FC29-8890-4476-B381-25309D0C1D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44" y="2548"/>
              <a:ext cx="280" cy="0"/>
            </a:xfrm>
            <a:prstGeom prst="line">
              <a:avLst/>
            </a:prstGeom>
            <a:noFill/>
            <a:ln w="9525">
              <a:solidFill>
                <a:srgbClr val="B025A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53285" name="Line 69">
              <a:extLst>
                <a:ext uri="{FF2B5EF4-FFF2-40B4-BE49-F238E27FC236}">
                  <a16:creationId xmlns:a16="http://schemas.microsoft.com/office/drawing/2014/main" id="{7C4B13F2-8722-45DB-B869-5AEEC21545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40" y="2460"/>
              <a:ext cx="288" cy="0"/>
            </a:xfrm>
            <a:prstGeom prst="line">
              <a:avLst/>
            </a:prstGeom>
            <a:noFill/>
            <a:ln w="9525">
              <a:solidFill>
                <a:srgbClr val="B025A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53286" name="Line 70">
              <a:extLst>
                <a:ext uri="{FF2B5EF4-FFF2-40B4-BE49-F238E27FC236}">
                  <a16:creationId xmlns:a16="http://schemas.microsoft.com/office/drawing/2014/main" id="{38FF1316-CDF8-43C6-BD68-06E0343B8A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28" y="2400"/>
              <a:ext cx="208" cy="0"/>
            </a:xfrm>
            <a:prstGeom prst="line">
              <a:avLst/>
            </a:prstGeom>
            <a:noFill/>
            <a:ln w="9525">
              <a:solidFill>
                <a:srgbClr val="B025A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65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76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276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276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build="p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Footer Placeholder 2">
            <a:extLst>
              <a:ext uri="{FF2B5EF4-FFF2-40B4-BE49-F238E27FC236}">
                <a16:creationId xmlns:a16="http://schemas.microsoft.com/office/drawing/2014/main" id="{7A065513-4468-40DA-8E93-A2DECA422D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200"/>
              <a:t>Comp 412, Fall 2010</a:t>
            </a:r>
          </a:p>
        </p:txBody>
      </p:sp>
      <p:sp>
        <p:nvSpPr>
          <p:cNvPr id="55298" name="Slide Number Placeholder 3">
            <a:extLst>
              <a:ext uri="{FF2B5EF4-FFF2-40B4-BE49-F238E27FC236}">
                <a16:creationId xmlns:a16="http://schemas.microsoft.com/office/drawing/2014/main" id="{69432C6E-605E-4895-9A5E-BDA82B2301A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6002BF9B-4874-410C-B91C-A2C741B4F0C4}" type="slidenum">
              <a:rPr lang="en-US" altLang="it-IT" sz="1200"/>
              <a:pPr/>
              <a:t>20</a:t>
            </a:fld>
            <a:endParaRPr lang="en-US" altLang="it-IT" sz="1200"/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46B144A3-AEF4-407F-9591-61AAC3C57A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The Problem</a:t>
            </a:r>
          </a:p>
        </p:txBody>
      </p:sp>
      <p:sp>
        <p:nvSpPr>
          <p:cNvPr id="55300" name="Text Box 3">
            <a:extLst>
              <a:ext uri="{FF2B5EF4-FFF2-40B4-BE49-F238E27FC236}">
                <a16:creationId xmlns:a16="http://schemas.microsoft.com/office/drawing/2014/main" id="{16660D8F-97F5-4AE3-8D69-816D61093A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447800"/>
            <a:ext cx="5486400" cy="413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230188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defTabSz="230188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defTabSz="230188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defTabSz="230188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defTabSz="230188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defTabSz="2301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defTabSz="2301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defTabSz="2301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defTabSz="2301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10000"/>
              </a:spcBef>
            </a:pPr>
            <a:r>
              <a:rPr lang="en-US" altLang="it-IT">
                <a:latin typeface="Geneva"/>
              </a:rPr>
              <a:t>procedure main {</a:t>
            </a:r>
          </a:p>
          <a:p>
            <a:pPr>
              <a:spcBef>
                <a:spcPct val="10000"/>
              </a:spcBef>
            </a:pPr>
            <a:r>
              <a:rPr lang="en-US" altLang="it-IT">
                <a:latin typeface="Geneva"/>
              </a:rPr>
              <a:t>	procedure p1 { … }</a:t>
            </a:r>
          </a:p>
          <a:p>
            <a:pPr>
              <a:spcBef>
                <a:spcPct val="10000"/>
              </a:spcBef>
            </a:pPr>
            <a:r>
              <a:rPr lang="en-US" altLang="it-IT">
                <a:latin typeface="Geneva"/>
              </a:rPr>
              <a:t>	procedure p2 {</a:t>
            </a:r>
          </a:p>
          <a:p>
            <a:pPr>
              <a:spcBef>
                <a:spcPct val="10000"/>
              </a:spcBef>
            </a:pPr>
            <a:r>
              <a:rPr lang="en-US" altLang="it-IT">
                <a:latin typeface="Geneva"/>
              </a:rPr>
              <a:t>		procedure q1 { … }</a:t>
            </a:r>
          </a:p>
          <a:p>
            <a:pPr>
              <a:spcBef>
                <a:spcPct val="10000"/>
              </a:spcBef>
            </a:pPr>
            <a:r>
              <a:rPr lang="en-US" altLang="it-IT">
                <a:latin typeface="Geneva"/>
              </a:rPr>
              <a:t>		procedure q2 {</a:t>
            </a:r>
          </a:p>
          <a:p>
            <a:pPr>
              <a:spcBef>
                <a:spcPct val="10000"/>
              </a:spcBef>
            </a:pPr>
            <a:r>
              <a:rPr lang="en-US" altLang="it-IT">
                <a:latin typeface="Geneva"/>
              </a:rPr>
              <a:t>			procedure r1 { … }</a:t>
            </a:r>
          </a:p>
          <a:p>
            <a:pPr>
              <a:spcBef>
                <a:spcPct val="10000"/>
              </a:spcBef>
            </a:pPr>
            <a:r>
              <a:rPr lang="en-US" altLang="it-IT">
                <a:latin typeface="Geneva"/>
              </a:rPr>
              <a:t>			procedure r2 {</a:t>
            </a:r>
          </a:p>
          <a:p>
            <a:pPr>
              <a:spcBef>
                <a:spcPct val="10000"/>
              </a:spcBef>
            </a:pPr>
            <a:r>
              <a:rPr lang="en-US" altLang="it-IT">
                <a:latin typeface="Geneva"/>
              </a:rPr>
              <a:t>				call p1; … // call up from level 3 to level 1 </a:t>
            </a:r>
          </a:p>
          <a:p>
            <a:pPr>
              <a:spcBef>
                <a:spcPct val="10000"/>
              </a:spcBef>
            </a:pPr>
            <a:r>
              <a:rPr lang="en-US" altLang="it-IT">
                <a:latin typeface="Geneva"/>
              </a:rPr>
              <a:t>			}</a:t>
            </a:r>
          </a:p>
          <a:p>
            <a:pPr>
              <a:spcBef>
                <a:spcPct val="10000"/>
              </a:spcBef>
            </a:pPr>
            <a:r>
              <a:rPr lang="en-US" altLang="it-IT">
                <a:latin typeface="Geneva"/>
              </a:rPr>
              <a:t>			call r2; 		 // call down from level 2 to level 3</a:t>
            </a:r>
          </a:p>
          <a:p>
            <a:pPr>
              <a:spcBef>
                <a:spcPct val="10000"/>
              </a:spcBef>
            </a:pPr>
            <a:r>
              <a:rPr lang="en-US" altLang="it-IT">
                <a:latin typeface="Geneva"/>
              </a:rPr>
              <a:t>		}</a:t>
            </a:r>
          </a:p>
          <a:p>
            <a:pPr>
              <a:spcBef>
                <a:spcPct val="10000"/>
              </a:spcBef>
            </a:pPr>
            <a:r>
              <a:rPr lang="en-US" altLang="it-IT">
                <a:latin typeface="Geneva"/>
              </a:rPr>
              <a:t>		call q2; 			// call down from level 1 to level 2</a:t>
            </a:r>
          </a:p>
          <a:p>
            <a:pPr>
              <a:spcBef>
                <a:spcPct val="10000"/>
              </a:spcBef>
            </a:pPr>
            <a:r>
              <a:rPr lang="en-US" altLang="it-IT">
                <a:latin typeface="Geneva"/>
              </a:rPr>
              <a:t>	}</a:t>
            </a:r>
          </a:p>
          <a:p>
            <a:pPr>
              <a:spcBef>
                <a:spcPct val="10000"/>
              </a:spcBef>
            </a:pPr>
            <a:r>
              <a:rPr lang="en-US" altLang="it-IT">
                <a:latin typeface="Geneva"/>
              </a:rPr>
              <a:t>	call p2; 				// call down from level 0 to level 1</a:t>
            </a:r>
          </a:p>
          <a:p>
            <a:pPr>
              <a:spcBef>
                <a:spcPct val="10000"/>
              </a:spcBef>
            </a:pPr>
            <a:r>
              <a:rPr lang="en-US" altLang="it-IT"/>
              <a:t>}</a:t>
            </a:r>
            <a:endParaRPr lang="en-US" altLang="it-IT" sz="1800"/>
          </a:p>
        </p:txBody>
      </p:sp>
      <p:sp>
        <p:nvSpPr>
          <p:cNvPr id="46086" name="Oval 5">
            <a:extLst>
              <a:ext uri="{FF2B5EF4-FFF2-40B4-BE49-F238E27FC236}">
                <a16:creationId xmlns:a16="http://schemas.microsoft.com/office/drawing/2014/main" id="{78FCE08F-FE7D-460D-B481-82B4152125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1676400"/>
            <a:ext cx="838200" cy="4572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190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/>
          <a:lstStyle/>
          <a:p>
            <a:pPr algn="ctr" eaLnBrk="0" hangingPunct="0">
              <a:defRPr/>
            </a:pP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</a:rPr>
              <a:t>Main</a:t>
            </a:r>
          </a:p>
        </p:txBody>
      </p:sp>
      <p:sp>
        <p:nvSpPr>
          <p:cNvPr id="46087" name="Oval 6">
            <a:extLst>
              <a:ext uri="{FF2B5EF4-FFF2-40B4-BE49-F238E27FC236}">
                <a16:creationId xmlns:a16="http://schemas.microsoft.com/office/drawing/2014/main" id="{91CDDC41-83D9-40C3-A275-947EE4E12F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2457450"/>
            <a:ext cx="838200" cy="4572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190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/>
          <a:lstStyle/>
          <a:p>
            <a:pPr algn="ctr" eaLnBrk="0" hangingPunct="0">
              <a:defRPr/>
            </a:pPr>
            <a:r>
              <a:rPr lang="en-US" sz="1400">
                <a:latin typeface="Comic Sans MS" charset="0"/>
                <a:ea typeface="ヒラギノ角ゴ Pro W3" charset="-128"/>
                <a:cs typeface="ヒラギノ角ゴ Pro W3" charset="-128"/>
              </a:rPr>
              <a:t>p2</a:t>
            </a:r>
          </a:p>
        </p:txBody>
      </p:sp>
      <p:sp>
        <p:nvSpPr>
          <p:cNvPr id="46088" name="Oval 7">
            <a:extLst>
              <a:ext uri="{FF2B5EF4-FFF2-40B4-BE49-F238E27FC236}">
                <a16:creationId xmlns:a16="http://schemas.microsoft.com/office/drawing/2014/main" id="{44ED5A52-F745-4620-AB4B-1E5042C5D8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3238500"/>
            <a:ext cx="838200" cy="4572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190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/>
          <a:lstStyle/>
          <a:p>
            <a:pPr algn="ctr" eaLnBrk="0" hangingPunct="0">
              <a:defRPr/>
            </a:pPr>
            <a:r>
              <a:rPr lang="en-US" sz="1400">
                <a:latin typeface="Comic Sans MS" charset="0"/>
                <a:ea typeface="ヒラギノ角ゴ Pro W3" charset="-128"/>
                <a:cs typeface="ヒラギノ角ゴ Pro W3" charset="-128"/>
              </a:rPr>
              <a:t>q2</a:t>
            </a:r>
          </a:p>
        </p:txBody>
      </p:sp>
      <p:sp>
        <p:nvSpPr>
          <p:cNvPr id="46089" name="Oval 8">
            <a:extLst>
              <a:ext uri="{FF2B5EF4-FFF2-40B4-BE49-F238E27FC236}">
                <a16:creationId xmlns:a16="http://schemas.microsoft.com/office/drawing/2014/main" id="{AEF04788-3FE5-41AA-AEA2-0B0E1A8D99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4019550"/>
            <a:ext cx="838200" cy="4572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190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/>
          <a:lstStyle/>
          <a:p>
            <a:pPr algn="ctr" eaLnBrk="0" hangingPunct="0">
              <a:defRPr/>
            </a:pPr>
            <a:r>
              <a:rPr lang="en-US" sz="1400">
                <a:latin typeface="Comic Sans MS" charset="0"/>
                <a:ea typeface="ヒラギノ角ゴ Pro W3" charset="-128"/>
                <a:cs typeface="ヒラギノ角ゴ Pro W3" charset="-128"/>
              </a:rPr>
              <a:t>r2</a:t>
            </a:r>
          </a:p>
        </p:txBody>
      </p:sp>
      <p:sp>
        <p:nvSpPr>
          <p:cNvPr id="46090" name="Oval 9">
            <a:extLst>
              <a:ext uri="{FF2B5EF4-FFF2-40B4-BE49-F238E27FC236}">
                <a16:creationId xmlns:a16="http://schemas.microsoft.com/office/drawing/2014/main" id="{33DB7B84-4C13-40F6-9CFB-63E265838D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4800600"/>
            <a:ext cx="838200" cy="4572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190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/>
          <a:lstStyle/>
          <a:p>
            <a:pPr algn="ctr" eaLnBrk="0" hangingPunct="0">
              <a:defRPr/>
            </a:pPr>
            <a:r>
              <a:rPr lang="en-US" sz="1400">
                <a:latin typeface="Comic Sans MS" charset="0"/>
                <a:ea typeface="ヒラギノ角ゴ Pro W3" charset="-128"/>
                <a:cs typeface="ヒラギノ角ゴ Pro W3" charset="-128"/>
              </a:rPr>
              <a:t>p1</a:t>
            </a:r>
          </a:p>
        </p:txBody>
      </p:sp>
      <p:cxnSp>
        <p:nvCxnSpPr>
          <p:cNvPr id="55306" name="Straight Arrow Connector 11">
            <a:extLst>
              <a:ext uri="{FF2B5EF4-FFF2-40B4-BE49-F238E27FC236}">
                <a16:creationId xmlns:a16="http://schemas.microsoft.com/office/drawing/2014/main" id="{BBBB62EA-9DBE-476B-9520-3BFBE72123BA}"/>
              </a:ext>
            </a:extLst>
          </p:cNvPr>
          <p:cNvCxnSpPr>
            <a:cxnSpLocks noChangeShapeType="1"/>
            <a:stCxn id="46086" idx="4"/>
            <a:endCxn id="46087" idx="0"/>
          </p:cNvCxnSpPr>
          <p:nvPr/>
        </p:nvCxnSpPr>
        <p:spPr bwMode="auto">
          <a:xfrm rot="5400000">
            <a:off x="7115176" y="2295525"/>
            <a:ext cx="323850" cy="3175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round/>
            <a:headEnd/>
            <a:tailEnd type="stealth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5307" name="Straight Arrow Connector 13">
            <a:extLst>
              <a:ext uri="{FF2B5EF4-FFF2-40B4-BE49-F238E27FC236}">
                <a16:creationId xmlns:a16="http://schemas.microsoft.com/office/drawing/2014/main" id="{A99084DB-8E18-4F43-9A62-6875DE0F8AFD}"/>
              </a:ext>
            </a:extLst>
          </p:cNvPr>
          <p:cNvCxnSpPr>
            <a:cxnSpLocks noChangeShapeType="1"/>
            <a:stCxn id="46087" idx="4"/>
            <a:endCxn id="46088" idx="0"/>
          </p:cNvCxnSpPr>
          <p:nvPr/>
        </p:nvCxnSpPr>
        <p:spPr bwMode="auto">
          <a:xfrm rot="5400000">
            <a:off x="7115176" y="3076575"/>
            <a:ext cx="323850" cy="3175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round/>
            <a:headEnd/>
            <a:tailEnd type="stealth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5308" name="Straight Arrow Connector 15">
            <a:extLst>
              <a:ext uri="{FF2B5EF4-FFF2-40B4-BE49-F238E27FC236}">
                <a16:creationId xmlns:a16="http://schemas.microsoft.com/office/drawing/2014/main" id="{322AE0B8-9EC6-4C5A-98B5-02EFA05374B5}"/>
              </a:ext>
            </a:extLst>
          </p:cNvPr>
          <p:cNvCxnSpPr>
            <a:cxnSpLocks noChangeShapeType="1"/>
            <a:stCxn id="46088" idx="4"/>
            <a:endCxn id="46089" idx="0"/>
          </p:cNvCxnSpPr>
          <p:nvPr/>
        </p:nvCxnSpPr>
        <p:spPr bwMode="auto">
          <a:xfrm rot="5400000">
            <a:off x="7115176" y="3857625"/>
            <a:ext cx="323850" cy="3175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round/>
            <a:headEnd/>
            <a:tailEnd type="stealth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5309" name="Straight Arrow Connector 17">
            <a:extLst>
              <a:ext uri="{FF2B5EF4-FFF2-40B4-BE49-F238E27FC236}">
                <a16:creationId xmlns:a16="http://schemas.microsoft.com/office/drawing/2014/main" id="{1D749DAF-629C-4186-8057-71356F1CC669}"/>
              </a:ext>
            </a:extLst>
          </p:cNvPr>
          <p:cNvCxnSpPr>
            <a:cxnSpLocks noChangeShapeType="1"/>
            <a:stCxn id="46089" idx="4"/>
            <a:endCxn id="46090" idx="0"/>
          </p:cNvCxnSpPr>
          <p:nvPr/>
        </p:nvCxnSpPr>
        <p:spPr bwMode="auto">
          <a:xfrm rot="5400000">
            <a:off x="7115176" y="4638675"/>
            <a:ext cx="323850" cy="3175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round/>
            <a:headEnd/>
            <a:tailEnd type="stealth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5310" name="TextBox 19">
            <a:extLst>
              <a:ext uri="{FF2B5EF4-FFF2-40B4-BE49-F238E27FC236}">
                <a16:creationId xmlns:a16="http://schemas.microsoft.com/office/drawing/2014/main" id="{C417B8A4-DE51-42BB-A94B-4355F3BA4C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5410200"/>
            <a:ext cx="15240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/>
            <a:r>
              <a:rPr lang="en-US" altLang="it-IT"/>
              <a:t>Call History</a:t>
            </a:r>
          </a:p>
        </p:txBody>
      </p:sp>
      <p:sp>
        <p:nvSpPr>
          <p:cNvPr id="55311" name="TextBox 26">
            <a:extLst>
              <a:ext uri="{FF2B5EF4-FFF2-40B4-BE49-F238E27FC236}">
                <a16:creationId xmlns:a16="http://schemas.microsoft.com/office/drawing/2014/main" id="{178E1CE0-4D07-4574-8235-7709FC4CE0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0" y="2162175"/>
            <a:ext cx="6858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/>
            <a:r>
              <a:rPr lang="en-US" altLang="it-IT" sz="1200">
                <a:solidFill>
                  <a:srgbClr val="FF0065"/>
                </a:solidFill>
              </a:rPr>
              <a:t>0 to 1</a:t>
            </a:r>
          </a:p>
        </p:txBody>
      </p:sp>
      <p:sp>
        <p:nvSpPr>
          <p:cNvPr id="55312" name="TextBox 27">
            <a:extLst>
              <a:ext uri="{FF2B5EF4-FFF2-40B4-BE49-F238E27FC236}">
                <a16:creationId xmlns:a16="http://schemas.microsoft.com/office/drawing/2014/main" id="{6D7BF846-2425-47A3-88F5-E58C864C8C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0" y="2924175"/>
            <a:ext cx="6858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/>
            <a:r>
              <a:rPr lang="en-US" altLang="it-IT" sz="1200">
                <a:solidFill>
                  <a:srgbClr val="FF0065"/>
                </a:solidFill>
              </a:rPr>
              <a:t>1 to 2</a:t>
            </a:r>
          </a:p>
        </p:txBody>
      </p:sp>
      <p:sp>
        <p:nvSpPr>
          <p:cNvPr id="55313" name="TextBox 28">
            <a:extLst>
              <a:ext uri="{FF2B5EF4-FFF2-40B4-BE49-F238E27FC236}">
                <a16:creationId xmlns:a16="http://schemas.microsoft.com/office/drawing/2014/main" id="{5EA883E1-6D42-48B5-A524-854C6D3E49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0" y="3733800"/>
            <a:ext cx="6858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/>
            <a:r>
              <a:rPr lang="en-US" altLang="it-IT" sz="1200">
                <a:solidFill>
                  <a:srgbClr val="FF0065"/>
                </a:solidFill>
              </a:rPr>
              <a:t>2 to 3</a:t>
            </a:r>
          </a:p>
        </p:txBody>
      </p:sp>
      <p:sp>
        <p:nvSpPr>
          <p:cNvPr id="55314" name="TextBox 29">
            <a:extLst>
              <a:ext uri="{FF2B5EF4-FFF2-40B4-BE49-F238E27FC236}">
                <a16:creationId xmlns:a16="http://schemas.microsoft.com/office/drawing/2014/main" id="{8DFE593A-CEF3-4719-93E1-2630B268FE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0" y="4495800"/>
            <a:ext cx="6858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/>
            <a:r>
              <a:rPr lang="en-US" altLang="it-IT" sz="1200">
                <a:solidFill>
                  <a:srgbClr val="003C75"/>
                </a:solidFill>
              </a:rPr>
              <a:t>3 to 1</a:t>
            </a:r>
          </a:p>
        </p:txBody>
      </p:sp>
      <p:sp>
        <p:nvSpPr>
          <p:cNvPr id="55315" name="Freeform 30">
            <a:extLst>
              <a:ext uri="{FF2B5EF4-FFF2-40B4-BE49-F238E27FC236}">
                <a16:creationId xmlns:a16="http://schemas.microsoft.com/office/drawing/2014/main" id="{B42BFE03-1E8C-488C-AD6C-CEA12AE0FB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163" y="2238375"/>
            <a:ext cx="793750" cy="2894013"/>
          </a:xfrm>
          <a:custGeom>
            <a:avLst/>
            <a:gdLst>
              <a:gd name="T0" fmla="*/ 775979 w 793361"/>
              <a:gd name="T1" fmla="*/ 2894013 h 2895057"/>
              <a:gd name="T2" fmla="*/ 2961 w 793361"/>
              <a:gd name="T3" fmla="*/ 1535780 h 2895057"/>
              <a:gd name="T4" fmla="*/ 793750 w 793361"/>
              <a:gd name="T5" fmla="*/ 0 h 2895057"/>
              <a:gd name="T6" fmla="*/ 0 60000 65536"/>
              <a:gd name="T7" fmla="*/ 0 60000 65536"/>
              <a:gd name="T8" fmla="*/ 0 60000 65536"/>
              <a:gd name="T9" fmla="*/ 0 w 793361"/>
              <a:gd name="T10" fmla="*/ 0 h 2895057"/>
              <a:gd name="T11" fmla="*/ 793361 w 793361"/>
              <a:gd name="T12" fmla="*/ 2895057 h 289505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93361" h="2895057">
                <a:moveTo>
                  <a:pt x="775599" y="2895057"/>
                </a:moveTo>
                <a:cubicBezTo>
                  <a:pt x="387799" y="2456950"/>
                  <a:pt x="0" y="2018843"/>
                  <a:pt x="2960" y="1536334"/>
                </a:cubicBezTo>
                <a:cubicBezTo>
                  <a:pt x="5920" y="1053825"/>
                  <a:pt x="793361" y="0"/>
                  <a:pt x="793361" y="0"/>
                </a:cubicBezTo>
              </a:path>
            </a:pathLst>
          </a:custGeom>
          <a:noFill/>
          <a:ln w="15875">
            <a:solidFill>
              <a:srgbClr val="FF0065"/>
            </a:solidFill>
            <a:round/>
            <a:headEnd/>
            <a:tailEnd type="stealth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endParaRPr lang="en-GB" altLang="it-IT"/>
          </a:p>
        </p:txBody>
      </p:sp>
      <p:sp>
        <p:nvSpPr>
          <p:cNvPr id="55316" name="Freeform 31">
            <a:extLst>
              <a:ext uri="{FF2B5EF4-FFF2-40B4-BE49-F238E27FC236}">
                <a16:creationId xmlns:a16="http://schemas.microsoft.com/office/drawing/2014/main" id="{71F67486-A4C5-43F1-83B6-FFA112FD2C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825" y="2770188"/>
            <a:ext cx="576263" cy="1812925"/>
          </a:xfrm>
          <a:custGeom>
            <a:avLst/>
            <a:gdLst>
              <a:gd name="T0" fmla="*/ 576263 w 575779"/>
              <a:gd name="T1" fmla="*/ 1812925 h 1811631"/>
              <a:gd name="T2" fmla="*/ 7407 w 575779"/>
              <a:gd name="T3" fmla="*/ 942009 h 1811631"/>
              <a:gd name="T4" fmla="*/ 531821 w 575779"/>
              <a:gd name="T5" fmla="*/ 8886 h 1811631"/>
              <a:gd name="T6" fmla="*/ 531821 w 575779"/>
              <a:gd name="T7" fmla="*/ 8886 h 1811631"/>
              <a:gd name="T8" fmla="*/ 540709 w 575779"/>
              <a:gd name="T9" fmla="*/ 0 h 181163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75779"/>
              <a:gd name="T16" fmla="*/ 0 h 1811631"/>
              <a:gd name="T17" fmla="*/ 575779 w 575779"/>
              <a:gd name="T18" fmla="*/ 1811631 h 181163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75779" h="1811631">
                <a:moveTo>
                  <a:pt x="575779" y="1811631"/>
                </a:moveTo>
                <a:cubicBezTo>
                  <a:pt x="295290" y="1526713"/>
                  <a:pt x="14802" y="1241795"/>
                  <a:pt x="7401" y="941337"/>
                </a:cubicBezTo>
                <a:cubicBezTo>
                  <a:pt x="0" y="640879"/>
                  <a:pt x="531374" y="8880"/>
                  <a:pt x="531374" y="8880"/>
                </a:cubicBezTo>
                <a:lnTo>
                  <a:pt x="540255" y="0"/>
                </a:lnTo>
              </a:path>
            </a:pathLst>
          </a:custGeom>
          <a:noFill/>
          <a:ln w="15875">
            <a:solidFill>
              <a:srgbClr val="FF0065"/>
            </a:solidFill>
            <a:round/>
            <a:headEnd/>
            <a:tailEnd type="stealth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endParaRPr lang="en-GB" altLang="it-IT"/>
          </a:p>
        </p:txBody>
      </p:sp>
      <p:sp>
        <p:nvSpPr>
          <p:cNvPr id="55317" name="Freeform 32">
            <a:extLst>
              <a:ext uri="{FF2B5EF4-FFF2-40B4-BE49-F238E27FC236}">
                <a16:creationId xmlns:a16="http://schemas.microsoft.com/office/drawing/2014/main" id="{739AB464-CDB5-4537-A6C3-7A0350AD7A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1563" y="3313113"/>
            <a:ext cx="376237" cy="727075"/>
          </a:xfrm>
          <a:custGeom>
            <a:avLst/>
            <a:gdLst>
              <a:gd name="T0" fmla="*/ 376237 w 375958"/>
              <a:gd name="T1" fmla="*/ 727075 h 728204"/>
              <a:gd name="T2" fmla="*/ 2962 w 375958"/>
              <a:gd name="T3" fmla="*/ 372405 h 728204"/>
              <a:gd name="T4" fmla="*/ 358462 w 375958"/>
              <a:gd name="T5" fmla="*/ 0 h 728204"/>
              <a:gd name="T6" fmla="*/ 0 60000 65536"/>
              <a:gd name="T7" fmla="*/ 0 60000 65536"/>
              <a:gd name="T8" fmla="*/ 0 60000 65536"/>
              <a:gd name="T9" fmla="*/ 0 w 375958"/>
              <a:gd name="T10" fmla="*/ 0 h 728204"/>
              <a:gd name="T11" fmla="*/ 375958 w 375958"/>
              <a:gd name="T12" fmla="*/ 728204 h 72820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75958" h="728204">
                <a:moveTo>
                  <a:pt x="375958" y="728204"/>
                </a:moveTo>
                <a:cubicBezTo>
                  <a:pt x="190939" y="611277"/>
                  <a:pt x="5920" y="494350"/>
                  <a:pt x="2960" y="372983"/>
                </a:cubicBezTo>
                <a:cubicBezTo>
                  <a:pt x="0" y="251616"/>
                  <a:pt x="179098" y="125808"/>
                  <a:pt x="358196" y="0"/>
                </a:cubicBezTo>
              </a:path>
            </a:pathLst>
          </a:custGeom>
          <a:noFill/>
          <a:ln w="15875">
            <a:solidFill>
              <a:srgbClr val="FF0065"/>
            </a:solidFill>
            <a:round/>
            <a:headEnd/>
            <a:tailEnd type="stealth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endParaRPr lang="en-GB" altLang="it-IT"/>
          </a:p>
        </p:txBody>
      </p:sp>
      <p:sp>
        <p:nvSpPr>
          <p:cNvPr id="55318" name="Freeform 33">
            <a:extLst>
              <a:ext uri="{FF2B5EF4-FFF2-40B4-BE49-F238E27FC236}">
                <a16:creationId xmlns:a16="http://schemas.microsoft.com/office/drawing/2014/main" id="{5444CCBE-1897-4197-BDD7-FC292CA2B0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0625" y="1882775"/>
            <a:ext cx="1720850" cy="1616075"/>
          </a:xfrm>
          <a:custGeom>
            <a:avLst/>
            <a:gdLst>
              <a:gd name="T0" fmla="*/ 0 w 1721416"/>
              <a:gd name="T1" fmla="*/ 1616075 h 1616259"/>
              <a:gd name="T2" fmla="*/ 1171894 w 1721416"/>
              <a:gd name="T3" fmla="*/ 1269774 h 1616259"/>
              <a:gd name="T4" fmla="*/ 1615794 w 1721416"/>
              <a:gd name="T5" fmla="*/ 239748 h 1616259"/>
              <a:gd name="T6" fmla="*/ 541557 w 1721416"/>
              <a:gd name="T7" fmla="*/ 0 h 1616259"/>
              <a:gd name="T8" fmla="*/ 0 60000 65536"/>
              <a:gd name="T9" fmla="*/ 0 60000 65536"/>
              <a:gd name="T10" fmla="*/ 0 60000 65536"/>
              <a:gd name="T11" fmla="*/ 0 60000 65536"/>
              <a:gd name="T12" fmla="*/ 0 w 1721416"/>
              <a:gd name="T13" fmla="*/ 0 h 1616259"/>
              <a:gd name="T14" fmla="*/ 1721416 w 1721416"/>
              <a:gd name="T15" fmla="*/ 1616259 h 161625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721416" h="1616259">
                <a:moveTo>
                  <a:pt x="0" y="1616259"/>
                </a:moveTo>
                <a:cubicBezTo>
                  <a:pt x="451446" y="1557795"/>
                  <a:pt x="902892" y="1499332"/>
                  <a:pt x="1172279" y="1269918"/>
                </a:cubicBezTo>
                <a:cubicBezTo>
                  <a:pt x="1441666" y="1040504"/>
                  <a:pt x="1721416" y="451428"/>
                  <a:pt x="1616325" y="239775"/>
                </a:cubicBezTo>
                <a:cubicBezTo>
                  <a:pt x="1511234" y="28122"/>
                  <a:pt x="541735" y="0"/>
                  <a:pt x="541735" y="0"/>
                </a:cubicBezTo>
              </a:path>
            </a:pathLst>
          </a:custGeom>
          <a:noFill/>
          <a:ln w="15875">
            <a:solidFill>
              <a:srgbClr val="003C75"/>
            </a:solidFill>
            <a:round/>
            <a:headEnd/>
            <a:tailEnd type="stealth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endParaRPr lang="en-GB" altLang="it-IT"/>
          </a:p>
        </p:txBody>
      </p:sp>
    </p:spTree>
  </p:cSld>
  <p:clrMapOvr>
    <a:masterClrMapping/>
  </p:clrMapOvr>
  <p:transition>
    <p:wipe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Footer Placeholder 3">
            <a:extLst>
              <a:ext uri="{FF2B5EF4-FFF2-40B4-BE49-F238E27FC236}">
                <a16:creationId xmlns:a16="http://schemas.microsoft.com/office/drawing/2014/main" id="{F68C1086-BEFD-4441-8FC5-41A4664D982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200"/>
              <a:t>Comp 412, Fall 2010</a:t>
            </a:r>
          </a:p>
        </p:txBody>
      </p:sp>
      <p:sp>
        <p:nvSpPr>
          <p:cNvPr id="57346" name="Slide Number Placeholder 4">
            <a:extLst>
              <a:ext uri="{FF2B5EF4-FFF2-40B4-BE49-F238E27FC236}">
                <a16:creationId xmlns:a16="http://schemas.microsoft.com/office/drawing/2014/main" id="{373F97E3-465F-445A-AA55-A838C2DA14C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5CFE4EFA-F2BB-4CED-A9A7-A53305FBA8DD}" type="slidenum">
              <a:rPr lang="en-US" altLang="it-IT" sz="1200"/>
              <a:pPr/>
              <a:t>21</a:t>
            </a:fld>
            <a:endParaRPr lang="en-US" altLang="it-IT" sz="1200"/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7A75AFFA-18F3-4AAD-9009-F9C953C10B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15000"/>
              </a:spcBef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Using a Display to Find an ARP for a Non-Local Variable</a:t>
            </a:r>
          </a:p>
          <a:p>
            <a:pPr eaLnBrk="1" hangingPunct="1">
              <a:spcBef>
                <a:spcPct val="15000"/>
              </a:spcBef>
            </a:pPr>
            <a:r>
              <a:rPr lang="en-US" altLang="it-IT"/>
              <a:t>Global array of pointer to nameable </a:t>
            </a:r>
            <a:r>
              <a:rPr lang="en-US" altLang="it-IT" sz="1800"/>
              <a:t>AR</a:t>
            </a:r>
            <a:r>
              <a:rPr lang="en-US" altLang="it-IT"/>
              <a:t>s </a:t>
            </a:r>
          </a:p>
          <a:p>
            <a:pPr eaLnBrk="1" hangingPunct="1">
              <a:spcBef>
                <a:spcPct val="15000"/>
              </a:spcBef>
            </a:pPr>
            <a:r>
              <a:rPr lang="en-US" altLang="it-IT"/>
              <a:t>Needed </a:t>
            </a:r>
            <a:r>
              <a:rPr lang="en-US" altLang="it-IT" sz="1800"/>
              <a:t>ARP</a:t>
            </a:r>
            <a:r>
              <a:rPr lang="en-US" altLang="it-IT"/>
              <a:t> is an array access away</a:t>
            </a:r>
          </a:p>
          <a:p>
            <a:pPr eaLnBrk="1" hangingPunct="1">
              <a:spcBef>
                <a:spcPct val="750000"/>
              </a:spcBef>
            </a:pPr>
            <a:endParaRPr lang="en-US" altLang="it-IT"/>
          </a:p>
          <a:p>
            <a:pPr eaLnBrk="1" hangingPunct="1">
              <a:spcBef>
                <a:spcPct val="15000"/>
              </a:spcBef>
            </a:pPr>
            <a:endParaRPr lang="en-US" altLang="it-IT"/>
          </a:p>
          <a:p>
            <a:pPr eaLnBrk="1" hangingPunct="1">
              <a:spcBef>
                <a:spcPct val="15000"/>
              </a:spcBef>
            </a:pPr>
            <a:r>
              <a:rPr lang="en-US" altLang="it-IT"/>
              <a:t>Reference to </a:t>
            </a:r>
            <a:r>
              <a:rPr lang="en-US" altLang="it-IT" sz="1800"/>
              <a:t>&lt;</a:t>
            </a:r>
            <a:r>
              <a:rPr lang="en-US" altLang="it-IT" i="1"/>
              <a:t>p</a:t>
            </a:r>
            <a:r>
              <a:rPr lang="en-US" altLang="it-IT"/>
              <a:t>,16</a:t>
            </a:r>
            <a:r>
              <a:rPr lang="en-US" altLang="it-IT" sz="1800"/>
              <a:t>&gt;</a:t>
            </a:r>
            <a:r>
              <a:rPr lang="en-US" altLang="it-IT"/>
              <a:t> looks up </a:t>
            </a:r>
            <a:r>
              <a:rPr lang="en-US" altLang="it-IT" i="1"/>
              <a:t>p’</a:t>
            </a:r>
            <a:r>
              <a:rPr lang="en-US" altLang="it-IT"/>
              <a:t>s </a:t>
            </a:r>
            <a:r>
              <a:rPr lang="en-US" altLang="it-IT" sz="1800"/>
              <a:t>ARP </a:t>
            </a:r>
            <a:r>
              <a:rPr lang="en-US" altLang="it-IT"/>
              <a:t>in display &amp; adds 16</a:t>
            </a:r>
          </a:p>
          <a:p>
            <a:pPr eaLnBrk="1" hangingPunct="1">
              <a:spcBef>
                <a:spcPct val="15000"/>
              </a:spcBef>
            </a:pPr>
            <a:r>
              <a:rPr lang="en-US" altLang="it-IT"/>
              <a:t>Cost of access is constant                              </a:t>
            </a:r>
            <a:r>
              <a:rPr lang="en-US" altLang="it-IT">
                <a:solidFill>
                  <a:srgbClr val="003C75"/>
                </a:solidFill>
              </a:rPr>
              <a:t>(</a:t>
            </a:r>
            <a:r>
              <a:rPr lang="en-US" altLang="it-IT" sz="1800">
                <a:solidFill>
                  <a:srgbClr val="003C75"/>
                </a:solidFill>
              </a:rPr>
              <a:t>ARP</a:t>
            </a:r>
            <a:r>
              <a:rPr lang="en-US" altLang="it-IT">
                <a:solidFill>
                  <a:srgbClr val="003C75"/>
                </a:solidFill>
              </a:rPr>
              <a:t> + offset)</a:t>
            </a:r>
          </a:p>
        </p:txBody>
      </p:sp>
      <p:sp>
        <p:nvSpPr>
          <p:cNvPr id="57348" name="Rectangle 2">
            <a:extLst>
              <a:ext uri="{FF2B5EF4-FFF2-40B4-BE49-F238E27FC236}">
                <a16:creationId xmlns:a16="http://schemas.microsoft.com/office/drawing/2014/main" id="{4C71BAF8-E331-4D46-9B40-063D498968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Establishing Addressability</a:t>
            </a:r>
          </a:p>
        </p:txBody>
      </p:sp>
      <p:sp>
        <p:nvSpPr>
          <p:cNvPr id="48134" name="Text Box 4">
            <a:extLst>
              <a:ext uri="{FF2B5EF4-FFF2-40B4-BE49-F238E27FC236}">
                <a16:creationId xmlns:a16="http://schemas.microsoft.com/office/drawing/2014/main" id="{D1D35709-8B8F-4A8B-BC5A-078B90A3AE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200" y="1709738"/>
            <a:ext cx="1752600" cy="576262"/>
          </a:xfrm>
          <a:prstGeom prst="rect">
            <a:avLst/>
          </a:prstGeom>
          <a:solidFill>
            <a:srgbClr val="BFBFBF"/>
          </a:solidFill>
          <a:ln w="19050" cap="flat" cmpd="sng" algn="ctr">
            <a:solidFill>
              <a:srgbClr val="7F7F7F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Some setup cost</a:t>
            </a:r>
          </a:p>
          <a:p>
            <a:pPr algn="ctr" eaLnBrk="0" hangingPunct="0">
              <a:lnSpc>
                <a:spcPct val="90000"/>
              </a:lnSpc>
              <a:spcBef>
                <a:spcPct val="10000"/>
              </a:spcBef>
              <a:defRPr/>
            </a:pPr>
            <a:r>
              <a:rPr lang="en-US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on each call</a:t>
            </a:r>
          </a:p>
        </p:txBody>
      </p:sp>
      <p:grpSp>
        <p:nvGrpSpPr>
          <p:cNvPr id="57350" name="Group 47">
            <a:extLst>
              <a:ext uri="{FF2B5EF4-FFF2-40B4-BE49-F238E27FC236}">
                <a16:creationId xmlns:a16="http://schemas.microsoft.com/office/drawing/2014/main" id="{49988458-C4B5-40BA-B4F8-9E00EA665091}"/>
              </a:ext>
            </a:extLst>
          </p:cNvPr>
          <p:cNvGrpSpPr>
            <a:grpSpLocks/>
          </p:cNvGrpSpPr>
          <p:nvPr/>
        </p:nvGrpSpPr>
        <p:grpSpPr bwMode="auto">
          <a:xfrm>
            <a:off x="1257300" y="2287588"/>
            <a:ext cx="5924550" cy="2817812"/>
            <a:chOff x="792" y="1441"/>
            <a:chExt cx="3732" cy="1775"/>
          </a:xfrm>
        </p:grpSpPr>
        <p:cxnSp>
          <p:nvCxnSpPr>
            <p:cNvPr id="57351" name="AutoShape 6">
              <a:extLst>
                <a:ext uri="{FF2B5EF4-FFF2-40B4-BE49-F238E27FC236}">
                  <a16:creationId xmlns:a16="http://schemas.microsoft.com/office/drawing/2014/main" id="{666B6D9A-4E61-4720-A0F9-722A5AED0CB2}"/>
                </a:ext>
              </a:extLst>
            </p:cNvPr>
            <p:cNvCxnSpPr>
              <a:cxnSpLocks noChangeShapeType="1"/>
              <a:stCxn id="57352" idx="3"/>
              <a:endCxn id="57385" idx="1"/>
            </p:cNvCxnSpPr>
            <p:nvPr/>
          </p:nvCxnSpPr>
          <p:spPr bwMode="auto">
            <a:xfrm>
              <a:off x="1244" y="2586"/>
              <a:ext cx="745" cy="192"/>
            </a:xfrm>
            <a:prstGeom prst="bentConnector3">
              <a:avLst>
                <a:gd name="adj1" fmla="val 49935"/>
              </a:avLst>
            </a:prstGeom>
            <a:noFill/>
            <a:ln w="9525">
              <a:solidFill>
                <a:srgbClr val="B025A6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7352" name="Text Box 7">
              <a:extLst>
                <a:ext uri="{FF2B5EF4-FFF2-40B4-BE49-F238E27FC236}">
                  <a16:creationId xmlns:a16="http://schemas.microsoft.com/office/drawing/2014/main" id="{F71AD535-3B07-480C-8711-561A37532B5A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934" y="2506"/>
              <a:ext cx="310" cy="16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 sz="1000">
                  <a:latin typeface="Geneva"/>
                </a:rPr>
                <a:t>ARP</a:t>
              </a:r>
              <a:endParaRPr lang="en-US" altLang="it-IT" sz="1000">
                <a:latin typeface="Arial Rounded MT Bold" panose="020F0704030504030204" pitchFamily="34" charset="0"/>
              </a:endParaRPr>
            </a:p>
          </p:txBody>
        </p:sp>
        <p:sp>
          <p:nvSpPr>
            <p:cNvPr id="57353" name="Line 8">
              <a:extLst>
                <a:ext uri="{FF2B5EF4-FFF2-40B4-BE49-F238E27FC236}">
                  <a16:creationId xmlns:a16="http://schemas.microsoft.com/office/drawing/2014/main" id="{AB18F349-F873-48AD-934D-8D23B22D0F2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533" y="2682"/>
              <a:ext cx="203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57354" name="Rectangle 9">
              <a:extLst>
                <a:ext uri="{FF2B5EF4-FFF2-40B4-BE49-F238E27FC236}">
                  <a16:creationId xmlns:a16="http://schemas.microsoft.com/office/drawing/2014/main" id="{AA37409E-EC81-4816-9C67-2C882B87062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865" y="1735"/>
              <a:ext cx="603" cy="1309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57355" name="Rectangle 10">
              <a:extLst>
                <a:ext uri="{FF2B5EF4-FFF2-40B4-BE49-F238E27FC236}">
                  <a16:creationId xmlns:a16="http://schemas.microsoft.com/office/drawing/2014/main" id="{9A56663F-CB5E-41AF-B952-056E9A479A7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865" y="1735"/>
              <a:ext cx="603" cy="20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000" i="1">
                  <a:latin typeface="Arial Rounded MT Bold" panose="020F0704030504030204" pitchFamily="34" charset="0"/>
                </a:rPr>
                <a:t>parameters</a:t>
              </a:r>
              <a:endParaRPr lang="en-US" altLang="it-IT" sz="1000">
                <a:latin typeface="Arial Rounded MT Bold" panose="020F0704030504030204" pitchFamily="34" charset="0"/>
              </a:endParaRPr>
            </a:p>
          </p:txBody>
        </p:sp>
        <p:sp>
          <p:nvSpPr>
            <p:cNvPr id="57356" name="Rectangle 11">
              <a:extLst>
                <a:ext uri="{FF2B5EF4-FFF2-40B4-BE49-F238E27FC236}">
                  <a16:creationId xmlns:a16="http://schemas.microsoft.com/office/drawing/2014/main" id="{2691F4FC-2F91-45B8-B66C-5480CDD2568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865" y="1950"/>
              <a:ext cx="603" cy="22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000" i="1">
                  <a:latin typeface="Arial Rounded MT Bold" panose="020F0704030504030204" pitchFamily="34" charset="0"/>
                </a:rPr>
                <a:t>register </a:t>
              </a:r>
            </a:p>
            <a:p>
              <a:pPr algn="ctr"/>
              <a:r>
                <a:rPr lang="en-US" altLang="it-IT" sz="1000" i="1">
                  <a:latin typeface="Arial Rounded MT Bold" panose="020F0704030504030204" pitchFamily="34" charset="0"/>
                </a:rPr>
                <a:t>save area</a:t>
              </a:r>
              <a:endParaRPr lang="en-US" altLang="it-IT" sz="1000">
                <a:latin typeface="Arial Rounded MT Bold" panose="020F0704030504030204" pitchFamily="34" charset="0"/>
              </a:endParaRPr>
            </a:p>
          </p:txBody>
        </p:sp>
        <p:sp>
          <p:nvSpPr>
            <p:cNvPr id="57357" name="Rectangle 12">
              <a:extLst>
                <a:ext uri="{FF2B5EF4-FFF2-40B4-BE49-F238E27FC236}">
                  <a16:creationId xmlns:a16="http://schemas.microsoft.com/office/drawing/2014/main" id="{4109B64F-F639-44FA-A317-28F08E0DB89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865" y="2173"/>
              <a:ext cx="603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000" i="1">
                  <a:latin typeface="Arial Rounded MT Bold" panose="020F0704030504030204" pitchFamily="34" charset="0"/>
                </a:rPr>
                <a:t>return value</a:t>
              </a:r>
              <a:endParaRPr lang="en-US" altLang="it-IT" sz="1000">
                <a:latin typeface="Arial Rounded MT Bold" panose="020F0704030504030204" pitchFamily="34" charset="0"/>
              </a:endParaRPr>
            </a:p>
          </p:txBody>
        </p:sp>
        <p:sp>
          <p:nvSpPr>
            <p:cNvPr id="57358" name="Rectangle 13">
              <a:extLst>
                <a:ext uri="{FF2B5EF4-FFF2-40B4-BE49-F238E27FC236}">
                  <a16:creationId xmlns:a16="http://schemas.microsoft.com/office/drawing/2014/main" id="{E90A3E99-74D2-48FC-AE2E-8A271A93486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865" y="2319"/>
              <a:ext cx="603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000" i="1">
                  <a:latin typeface="Arial Rounded MT Bold" panose="020F0704030504030204" pitchFamily="34" charset="0"/>
                </a:rPr>
                <a:t>return address</a:t>
              </a:r>
            </a:p>
          </p:txBody>
        </p:sp>
        <p:sp>
          <p:nvSpPr>
            <p:cNvPr id="57359" name="Rectangle 14">
              <a:extLst>
                <a:ext uri="{FF2B5EF4-FFF2-40B4-BE49-F238E27FC236}">
                  <a16:creationId xmlns:a16="http://schemas.microsoft.com/office/drawing/2014/main" id="{4DCF6286-AAD0-4D58-BF18-2F4C2C357DB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865" y="2465"/>
              <a:ext cx="603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000" i="1">
                  <a:solidFill>
                    <a:srgbClr val="FF0065"/>
                  </a:solidFill>
                  <a:latin typeface="Arial Rounded MT Bold" panose="020F0704030504030204" pitchFamily="34" charset="0"/>
                </a:rPr>
                <a:t>saved ptr.</a:t>
              </a:r>
              <a:endParaRPr lang="en-US" altLang="it-IT" sz="1000">
                <a:solidFill>
                  <a:srgbClr val="FF0065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57360" name="Rectangle 15">
              <a:extLst>
                <a:ext uri="{FF2B5EF4-FFF2-40B4-BE49-F238E27FC236}">
                  <a16:creationId xmlns:a16="http://schemas.microsoft.com/office/drawing/2014/main" id="{69C59AD9-721E-4473-A34E-DB24C8B6491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865" y="2611"/>
              <a:ext cx="603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000" i="1">
                  <a:latin typeface="Arial Rounded MT Bold" panose="020F0704030504030204" pitchFamily="34" charset="0"/>
                </a:rPr>
                <a:t>caller’s ARP</a:t>
              </a:r>
              <a:endParaRPr lang="en-US" altLang="it-IT" sz="1000">
                <a:latin typeface="Arial Rounded MT Bold" panose="020F0704030504030204" pitchFamily="34" charset="0"/>
              </a:endParaRPr>
            </a:p>
          </p:txBody>
        </p:sp>
        <p:sp>
          <p:nvSpPr>
            <p:cNvPr id="57361" name="Rectangle 16">
              <a:extLst>
                <a:ext uri="{FF2B5EF4-FFF2-40B4-BE49-F238E27FC236}">
                  <a16:creationId xmlns:a16="http://schemas.microsoft.com/office/drawing/2014/main" id="{CEFAD199-1901-4E8E-808E-A93CEA71F7B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865" y="2757"/>
              <a:ext cx="603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000" i="1">
                  <a:latin typeface="Arial Rounded MT Bold" panose="020F0704030504030204" pitchFamily="34" charset="0"/>
                </a:rPr>
                <a:t>local </a:t>
              </a:r>
            </a:p>
            <a:p>
              <a:pPr algn="ctr"/>
              <a:r>
                <a:rPr lang="en-US" altLang="it-IT" sz="1000" i="1">
                  <a:latin typeface="Arial Rounded MT Bold" panose="020F0704030504030204" pitchFamily="34" charset="0"/>
                </a:rPr>
                <a:t>variables</a:t>
              </a:r>
              <a:endParaRPr lang="en-US" altLang="it-IT" sz="1000">
                <a:latin typeface="Arial Rounded MT Bold" panose="020F0704030504030204" pitchFamily="34" charset="0"/>
              </a:endParaRPr>
            </a:p>
          </p:txBody>
        </p:sp>
        <p:sp>
          <p:nvSpPr>
            <p:cNvPr id="57362" name="Line 17">
              <a:extLst>
                <a:ext uri="{FF2B5EF4-FFF2-40B4-BE49-F238E27FC236}">
                  <a16:creationId xmlns:a16="http://schemas.microsoft.com/office/drawing/2014/main" id="{3EF9D128-6856-4BC0-AA1D-14D21A1DE59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420" y="2687"/>
              <a:ext cx="203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57363" name="Rectangle 18">
              <a:extLst>
                <a:ext uri="{FF2B5EF4-FFF2-40B4-BE49-F238E27FC236}">
                  <a16:creationId xmlns:a16="http://schemas.microsoft.com/office/drawing/2014/main" id="{45EB88A6-73B5-439B-9AEF-E2031478CFD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766" y="1574"/>
              <a:ext cx="603" cy="1309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57364" name="Rectangle 19">
              <a:extLst>
                <a:ext uri="{FF2B5EF4-FFF2-40B4-BE49-F238E27FC236}">
                  <a16:creationId xmlns:a16="http://schemas.microsoft.com/office/drawing/2014/main" id="{59913371-D974-4BAD-943C-58A619DEEE2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766" y="1574"/>
              <a:ext cx="603" cy="20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000" i="1">
                  <a:latin typeface="Arial Rounded MT Bold" panose="020F0704030504030204" pitchFamily="34" charset="0"/>
                </a:rPr>
                <a:t>parameters</a:t>
              </a:r>
              <a:endParaRPr lang="en-US" altLang="it-IT" sz="1000">
                <a:latin typeface="Arial Rounded MT Bold" panose="020F0704030504030204" pitchFamily="34" charset="0"/>
              </a:endParaRPr>
            </a:p>
          </p:txBody>
        </p:sp>
        <p:sp>
          <p:nvSpPr>
            <p:cNvPr id="57365" name="Rectangle 20">
              <a:extLst>
                <a:ext uri="{FF2B5EF4-FFF2-40B4-BE49-F238E27FC236}">
                  <a16:creationId xmlns:a16="http://schemas.microsoft.com/office/drawing/2014/main" id="{2719BEF1-70A8-4E3C-895E-4CF307E47A9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766" y="1789"/>
              <a:ext cx="603" cy="22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000" i="1">
                  <a:latin typeface="Arial Rounded MT Bold" panose="020F0704030504030204" pitchFamily="34" charset="0"/>
                </a:rPr>
                <a:t>register </a:t>
              </a:r>
            </a:p>
            <a:p>
              <a:pPr algn="ctr"/>
              <a:r>
                <a:rPr lang="en-US" altLang="it-IT" sz="1000" i="1">
                  <a:latin typeface="Arial Rounded MT Bold" panose="020F0704030504030204" pitchFamily="34" charset="0"/>
                </a:rPr>
                <a:t>save area</a:t>
              </a:r>
              <a:endParaRPr lang="en-US" altLang="it-IT" sz="1000">
                <a:latin typeface="Arial Rounded MT Bold" panose="020F0704030504030204" pitchFamily="34" charset="0"/>
              </a:endParaRPr>
            </a:p>
          </p:txBody>
        </p:sp>
        <p:sp>
          <p:nvSpPr>
            <p:cNvPr id="57366" name="Rectangle 21">
              <a:extLst>
                <a:ext uri="{FF2B5EF4-FFF2-40B4-BE49-F238E27FC236}">
                  <a16:creationId xmlns:a16="http://schemas.microsoft.com/office/drawing/2014/main" id="{A88A8F50-3928-4CB6-B10A-703D49DC4CC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766" y="2012"/>
              <a:ext cx="603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000" i="1">
                  <a:latin typeface="Arial Rounded MT Bold" panose="020F0704030504030204" pitchFamily="34" charset="0"/>
                </a:rPr>
                <a:t>return value</a:t>
              </a:r>
              <a:endParaRPr lang="en-US" altLang="it-IT" sz="1000">
                <a:latin typeface="Arial Rounded MT Bold" panose="020F0704030504030204" pitchFamily="34" charset="0"/>
              </a:endParaRPr>
            </a:p>
          </p:txBody>
        </p:sp>
        <p:sp>
          <p:nvSpPr>
            <p:cNvPr id="57367" name="Rectangle 22">
              <a:extLst>
                <a:ext uri="{FF2B5EF4-FFF2-40B4-BE49-F238E27FC236}">
                  <a16:creationId xmlns:a16="http://schemas.microsoft.com/office/drawing/2014/main" id="{82A3A843-8EEF-4ECB-A5D2-9A1BB838C8A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766" y="2158"/>
              <a:ext cx="603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000" i="1">
                  <a:latin typeface="Arial Rounded MT Bold" panose="020F0704030504030204" pitchFamily="34" charset="0"/>
                </a:rPr>
                <a:t>return address</a:t>
              </a:r>
            </a:p>
          </p:txBody>
        </p:sp>
        <p:sp>
          <p:nvSpPr>
            <p:cNvPr id="57368" name="Rectangle 23">
              <a:extLst>
                <a:ext uri="{FF2B5EF4-FFF2-40B4-BE49-F238E27FC236}">
                  <a16:creationId xmlns:a16="http://schemas.microsoft.com/office/drawing/2014/main" id="{94DD92D3-C1F9-4649-8BBB-7B0A9D2BF26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766" y="2304"/>
              <a:ext cx="603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000" i="1">
                  <a:solidFill>
                    <a:srgbClr val="FF0065"/>
                  </a:solidFill>
                  <a:latin typeface="Arial Rounded MT Bold" panose="020F0704030504030204" pitchFamily="34" charset="0"/>
                </a:rPr>
                <a:t>saved ptr.</a:t>
              </a:r>
              <a:endParaRPr lang="en-US" altLang="it-IT" sz="1000">
                <a:solidFill>
                  <a:srgbClr val="FF0065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57369" name="Rectangle 24">
              <a:extLst>
                <a:ext uri="{FF2B5EF4-FFF2-40B4-BE49-F238E27FC236}">
                  <a16:creationId xmlns:a16="http://schemas.microsoft.com/office/drawing/2014/main" id="{9D3C6D66-D81E-4600-AECB-740FBD0DF76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766" y="2450"/>
              <a:ext cx="603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000" i="1">
                  <a:latin typeface="Arial Rounded MT Bold" panose="020F0704030504030204" pitchFamily="34" charset="0"/>
                </a:rPr>
                <a:t>caller’s ARP</a:t>
              </a:r>
              <a:endParaRPr lang="en-US" altLang="it-IT" sz="1000">
                <a:latin typeface="Arial Rounded MT Bold" panose="020F0704030504030204" pitchFamily="34" charset="0"/>
              </a:endParaRPr>
            </a:p>
          </p:txBody>
        </p:sp>
        <p:sp>
          <p:nvSpPr>
            <p:cNvPr id="57370" name="Rectangle 25">
              <a:extLst>
                <a:ext uri="{FF2B5EF4-FFF2-40B4-BE49-F238E27FC236}">
                  <a16:creationId xmlns:a16="http://schemas.microsoft.com/office/drawing/2014/main" id="{4E928986-C21D-4029-879D-90D72E71FA1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766" y="2596"/>
              <a:ext cx="603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000" i="1">
                  <a:latin typeface="Arial Rounded MT Bold" panose="020F0704030504030204" pitchFamily="34" charset="0"/>
                </a:rPr>
                <a:t>local </a:t>
              </a:r>
            </a:p>
            <a:p>
              <a:pPr algn="ctr"/>
              <a:r>
                <a:rPr lang="en-US" altLang="it-IT" sz="1000" i="1">
                  <a:latin typeface="Arial Rounded MT Bold" panose="020F0704030504030204" pitchFamily="34" charset="0"/>
                </a:rPr>
                <a:t>variables</a:t>
              </a:r>
              <a:endParaRPr lang="en-US" altLang="it-IT" sz="1000">
                <a:latin typeface="Arial Rounded MT Bold" panose="020F0704030504030204" pitchFamily="34" charset="0"/>
              </a:endParaRPr>
            </a:p>
          </p:txBody>
        </p:sp>
        <p:sp>
          <p:nvSpPr>
            <p:cNvPr id="57371" name="Line 26">
              <a:extLst>
                <a:ext uri="{FF2B5EF4-FFF2-40B4-BE49-F238E27FC236}">
                  <a16:creationId xmlns:a16="http://schemas.microsoft.com/office/drawing/2014/main" id="{828184D6-ED23-43E1-9D8B-FFF1BC013FA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321" y="2526"/>
              <a:ext cx="203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57372" name="Rectangle 27">
              <a:extLst>
                <a:ext uri="{FF2B5EF4-FFF2-40B4-BE49-F238E27FC236}">
                  <a16:creationId xmlns:a16="http://schemas.microsoft.com/office/drawing/2014/main" id="{09E82896-A9B6-4F47-A97D-787CE7B044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4" y="1585"/>
              <a:ext cx="480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000" b="1">
                  <a:latin typeface="Geneva"/>
                </a:rPr>
                <a:t>level 0</a:t>
              </a:r>
              <a:endParaRPr lang="en-US" altLang="it-IT" b="1">
                <a:latin typeface="Geneva"/>
              </a:endParaRPr>
            </a:p>
          </p:txBody>
        </p:sp>
        <p:sp>
          <p:nvSpPr>
            <p:cNvPr id="57373" name="Rectangle 28">
              <a:extLst>
                <a:ext uri="{FF2B5EF4-FFF2-40B4-BE49-F238E27FC236}">
                  <a16:creationId xmlns:a16="http://schemas.microsoft.com/office/drawing/2014/main" id="{7D0BDA15-D085-42E2-ABC0-8259A44C10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4" y="1729"/>
              <a:ext cx="480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000" b="1">
                  <a:latin typeface="Geneva"/>
                </a:rPr>
                <a:t>level 1</a:t>
              </a:r>
              <a:endParaRPr lang="en-US" altLang="it-IT" b="1">
                <a:latin typeface="Geneva"/>
              </a:endParaRPr>
            </a:p>
          </p:txBody>
        </p:sp>
        <p:sp>
          <p:nvSpPr>
            <p:cNvPr id="57374" name="Rectangle 29">
              <a:extLst>
                <a:ext uri="{FF2B5EF4-FFF2-40B4-BE49-F238E27FC236}">
                  <a16:creationId xmlns:a16="http://schemas.microsoft.com/office/drawing/2014/main" id="{1033331E-6572-4463-A59F-896B0BB734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4" y="1873"/>
              <a:ext cx="480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000" b="1">
                  <a:latin typeface="Geneva"/>
                </a:rPr>
                <a:t>level 2</a:t>
              </a:r>
              <a:endParaRPr lang="en-US" altLang="it-IT" b="1">
                <a:latin typeface="Geneva"/>
              </a:endParaRPr>
            </a:p>
          </p:txBody>
        </p:sp>
        <p:sp>
          <p:nvSpPr>
            <p:cNvPr id="57375" name="Rectangle 30">
              <a:extLst>
                <a:ext uri="{FF2B5EF4-FFF2-40B4-BE49-F238E27FC236}">
                  <a16:creationId xmlns:a16="http://schemas.microsoft.com/office/drawing/2014/main" id="{DED738B4-87A9-49FF-AFAC-5F4ED54ABA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4" y="2017"/>
              <a:ext cx="480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000" b="1">
                  <a:latin typeface="Geneva"/>
                </a:rPr>
                <a:t>level 3</a:t>
              </a:r>
              <a:endParaRPr lang="en-US" altLang="it-IT" b="1">
                <a:latin typeface="Geneva"/>
              </a:endParaRPr>
            </a:p>
          </p:txBody>
        </p:sp>
        <p:sp>
          <p:nvSpPr>
            <p:cNvPr id="57376" name="Rectangle 31">
              <a:extLst>
                <a:ext uri="{FF2B5EF4-FFF2-40B4-BE49-F238E27FC236}">
                  <a16:creationId xmlns:a16="http://schemas.microsoft.com/office/drawing/2014/main" id="{88BF90A8-6BA8-4390-8AFD-7CB7191F65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2" y="1441"/>
              <a:ext cx="504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400">
                  <a:latin typeface="Geneva"/>
                </a:rPr>
                <a:t>Display</a:t>
              </a:r>
            </a:p>
          </p:txBody>
        </p:sp>
        <p:sp>
          <p:nvSpPr>
            <p:cNvPr id="57377" name="Rectangle 32">
              <a:extLst>
                <a:ext uri="{FF2B5EF4-FFF2-40B4-BE49-F238E27FC236}">
                  <a16:creationId xmlns:a16="http://schemas.microsoft.com/office/drawing/2014/main" id="{51969B93-9423-461F-A727-AB0D9B15587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989" y="1906"/>
              <a:ext cx="603" cy="1309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57378" name="Rectangle 33">
              <a:extLst>
                <a:ext uri="{FF2B5EF4-FFF2-40B4-BE49-F238E27FC236}">
                  <a16:creationId xmlns:a16="http://schemas.microsoft.com/office/drawing/2014/main" id="{5034F46E-5607-4AE8-BF2F-8B95D69AF0D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989" y="1906"/>
              <a:ext cx="603" cy="20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000" i="1">
                  <a:latin typeface="Arial Rounded MT Bold" panose="020F0704030504030204" pitchFamily="34" charset="0"/>
                </a:rPr>
                <a:t>parameters</a:t>
              </a:r>
              <a:endParaRPr lang="en-US" altLang="it-IT" sz="1000">
                <a:latin typeface="Arial Rounded MT Bold" panose="020F0704030504030204" pitchFamily="34" charset="0"/>
              </a:endParaRPr>
            </a:p>
          </p:txBody>
        </p:sp>
        <p:sp>
          <p:nvSpPr>
            <p:cNvPr id="57379" name="Rectangle 34">
              <a:extLst>
                <a:ext uri="{FF2B5EF4-FFF2-40B4-BE49-F238E27FC236}">
                  <a16:creationId xmlns:a16="http://schemas.microsoft.com/office/drawing/2014/main" id="{86362386-5167-4064-AC26-EDC4CB8D454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989" y="2121"/>
              <a:ext cx="603" cy="22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000" i="1">
                  <a:latin typeface="Arial Rounded MT Bold" panose="020F0704030504030204" pitchFamily="34" charset="0"/>
                </a:rPr>
                <a:t>register </a:t>
              </a:r>
            </a:p>
            <a:p>
              <a:pPr algn="ctr"/>
              <a:r>
                <a:rPr lang="en-US" altLang="it-IT" sz="1000" i="1">
                  <a:latin typeface="Arial Rounded MT Bold" panose="020F0704030504030204" pitchFamily="34" charset="0"/>
                </a:rPr>
                <a:t>save area</a:t>
              </a:r>
              <a:endParaRPr lang="en-US" altLang="it-IT" sz="1000">
                <a:latin typeface="Arial Rounded MT Bold" panose="020F0704030504030204" pitchFamily="34" charset="0"/>
              </a:endParaRPr>
            </a:p>
          </p:txBody>
        </p:sp>
        <p:sp>
          <p:nvSpPr>
            <p:cNvPr id="57380" name="Rectangle 35">
              <a:extLst>
                <a:ext uri="{FF2B5EF4-FFF2-40B4-BE49-F238E27FC236}">
                  <a16:creationId xmlns:a16="http://schemas.microsoft.com/office/drawing/2014/main" id="{E193B309-F073-42BB-8493-DF1C55D94AA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989" y="2344"/>
              <a:ext cx="603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000" i="1">
                  <a:latin typeface="Arial Rounded MT Bold" panose="020F0704030504030204" pitchFamily="34" charset="0"/>
                </a:rPr>
                <a:t>return value</a:t>
              </a:r>
              <a:endParaRPr lang="en-US" altLang="it-IT" sz="1000">
                <a:latin typeface="Arial Rounded MT Bold" panose="020F0704030504030204" pitchFamily="34" charset="0"/>
              </a:endParaRPr>
            </a:p>
          </p:txBody>
        </p:sp>
        <p:sp>
          <p:nvSpPr>
            <p:cNvPr id="57381" name="Rectangle 36">
              <a:extLst>
                <a:ext uri="{FF2B5EF4-FFF2-40B4-BE49-F238E27FC236}">
                  <a16:creationId xmlns:a16="http://schemas.microsoft.com/office/drawing/2014/main" id="{A6D30BF0-F3AD-4E6D-A79F-66177FE7DBF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989" y="2490"/>
              <a:ext cx="603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000" i="1">
                  <a:latin typeface="Arial Rounded MT Bold" panose="020F0704030504030204" pitchFamily="34" charset="0"/>
                </a:rPr>
                <a:t>return address</a:t>
              </a:r>
            </a:p>
          </p:txBody>
        </p:sp>
        <p:sp>
          <p:nvSpPr>
            <p:cNvPr id="57382" name="Rectangle 37">
              <a:extLst>
                <a:ext uri="{FF2B5EF4-FFF2-40B4-BE49-F238E27FC236}">
                  <a16:creationId xmlns:a16="http://schemas.microsoft.com/office/drawing/2014/main" id="{62294546-7327-4069-BDBE-189123B1D98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989" y="2636"/>
              <a:ext cx="603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000" i="1">
                  <a:solidFill>
                    <a:srgbClr val="FF0065"/>
                  </a:solidFill>
                  <a:latin typeface="Arial Rounded MT Bold" panose="020F0704030504030204" pitchFamily="34" charset="0"/>
                </a:rPr>
                <a:t>saved ptr.</a:t>
              </a:r>
              <a:endParaRPr lang="en-US" altLang="it-IT" sz="1000">
                <a:solidFill>
                  <a:srgbClr val="FF0065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57383" name="Rectangle 38">
              <a:extLst>
                <a:ext uri="{FF2B5EF4-FFF2-40B4-BE49-F238E27FC236}">
                  <a16:creationId xmlns:a16="http://schemas.microsoft.com/office/drawing/2014/main" id="{FB849296-26F2-4898-9874-F5FEDD39603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989" y="2782"/>
              <a:ext cx="603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000" i="1">
                  <a:latin typeface="Arial Rounded MT Bold" panose="020F0704030504030204" pitchFamily="34" charset="0"/>
                </a:rPr>
                <a:t>caller’s ARP</a:t>
              </a:r>
              <a:endParaRPr lang="en-US" altLang="it-IT" sz="1000">
                <a:latin typeface="Arial Rounded MT Bold" panose="020F0704030504030204" pitchFamily="34" charset="0"/>
              </a:endParaRPr>
            </a:p>
          </p:txBody>
        </p:sp>
        <p:sp>
          <p:nvSpPr>
            <p:cNvPr id="57384" name="Rectangle 39">
              <a:extLst>
                <a:ext uri="{FF2B5EF4-FFF2-40B4-BE49-F238E27FC236}">
                  <a16:creationId xmlns:a16="http://schemas.microsoft.com/office/drawing/2014/main" id="{0B7D5670-1A53-4A8E-B707-9DD776D03F1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989" y="2928"/>
              <a:ext cx="603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000" i="1">
                  <a:latin typeface="Arial Rounded MT Bold" panose="020F0704030504030204" pitchFamily="34" charset="0"/>
                </a:rPr>
                <a:t>local </a:t>
              </a:r>
            </a:p>
            <a:p>
              <a:pPr algn="ctr"/>
              <a:r>
                <a:rPr lang="en-US" altLang="it-IT" sz="1000" i="1">
                  <a:latin typeface="Arial Rounded MT Bold" panose="020F0704030504030204" pitchFamily="34" charset="0"/>
                </a:rPr>
                <a:t>variables</a:t>
              </a:r>
              <a:endParaRPr lang="en-US" altLang="it-IT" sz="1000">
                <a:latin typeface="Arial Rounded MT Bold" panose="020F0704030504030204" pitchFamily="34" charset="0"/>
              </a:endParaRPr>
            </a:p>
          </p:txBody>
        </p:sp>
        <p:sp>
          <p:nvSpPr>
            <p:cNvPr id="57385" name="Rectangle 40">
              <a:extLst>
                <a:ext uri="{FF2B5EF4-FFF2-40B4-BE49-F238E27FC236}">
                  <a16:creationId xmlns:a16="http://schemas.microsoft.com/office/drawing/2014/main" id="{5D3A4CA7-266D-4655-865E-1CF309B404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9" y="2754"/>
              <a:ext cx="48" cy="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57386" name="Rectangle 41">
              <a:extLst>
                <a:ext uri="{FF2B5EF4-FFF2-40B4-BE49-F238E27FC236}">
                  <a16:creationId xmlns:a16="http://schemas.microsoft.com/office/drawing/2014/main" id="{93DBD05A-B56C-47DB-88A6-592F29FB2A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6" y="2518"/>
              <a:ext cx="48" cy="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cxnSp>
          <p:nvCxnSpPr>
            <p:cNvPr id="57387" name="AutoShape 42">
              <a:extLst>
                <a:ext uri="{FF2B5EF4-FFF2-40B4-BE49-F238E27FC236}">
                  <a16:creationId xmlns:a16="http://schemas.microsoft.com/office/drawing/2014/main" id="{B464D6F4-C541-4557-A70C-57A70A86707E}"/>
                </a:ext>
              </a:extLst>
            </p:cNvPr>
            <p:cNvCxnSpPr>
              <a:cxnSpLocks noChangeShapeType="1"/>
              <a:stCxn id="57374" idx="3"/>
              <a:endCxn id="57385" idx="1"/>
            </p:cNvCxnSpPr>
            <p:nvPr/>
          </p:nvCxnSpPr>
          <p:spPr bwMode="auto">
            <a:xfrm>
              <a:off x="1284" y="1945"/>
              <a:ext cx="705" cy="833"/>
            </a:xfrm>
            <a:prstGeom prst="bentConnector3">
              <a:avLst>
                <a:gd name="adj1" fmla="val 75602"/>
              </a:avLst>
            </a:prstGeom>
            <a:noFill/>
            <a:ln w="9525">
              <a:solidFill>
                <a:srgbClr val="B025A6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7388" name="AutoShape 43">
              <a:extLst>
                <a:ext uri="{FF2B5EF4-FFF2-40B4-BE49-F238E27FC236}">
                  <a16:creationId xmlns:a16="http://schemas.microsoft.com/office/drawing/2014/main" id="{CA0193E5-6DF3-4ED6-88BE-5FEBFD231296}"/>
                </a:ext>
              </a:extLst>
            </p:cNvPr>
            <p:cNvCxnSpPr>
              <a:cxnSpLocks noChangeShapeType="1"/>
              <a:stCxn id="57373" idx="3"/>
              <a:endCxn id="57391" idx="1"/>
            </p:cNvCxnSpPr>
            <p:nvPr/>
          </p:nvCxnSpPr>
          <p:spPr bwMode="auto">
            <a:xfrm>
              <a:off x="1284" y="1801"/>
              <a:ext cx="1596" cy="864"/>
            </a:xfrm>
            <a:prstGeom prst="bentConnector3">
              <a:avLst>
                <a:gd name="adj1" fmla="val 92042"/>
              </a:avLst>
            </a:prstGeom>
            <a:noFill/>
            <a:ln w="9525">
              <a:solidFill>
                <a:srgbClr val="B025A6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7389" name="Rectangle 44">
              <a:extLst>
                <a:ext uri="{FF2B5EF4-FFF2-40B4-BE49-F238E27FC236}">
                  <a16:creationId xmlns:a16="http://schemas.microsoft.com/office/drawing/2014/main" id="{31CFA691-6E76-46E4-85A3-41ACD8B7B6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2" y="2422"/>
              <a:ext cx="48" cy="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cxnSp>
          <p:nvCxnSpPr>
            <p:cNvPr id="57390" name="AutoShape 45">
              <a:extLst>
                <a:ext uri="{FF2B5EF4-FFF2-40B4-BE49-F238E27FC236}">
                  <a16:creationId xmlns:a16="http://schemas.microsoft.com/office/drawing/2014/main" id="{6C095406-2E71-4DAB-8A2B-6F3DF62D17BA}"/>
                </a:ext>
              </a:extLst>
            </p:cNvPr>
            <p:cNvCxnSpPr>
              <a:cxnSpLocks noChangeShapeType="1"/>
              <a:stCxn id="57372" idx="3"/>
              <a:endCxn id="57389" idx="1"/>
            </p:cNvCxnSpPr>
            <p:nvPr/>
          </p:nvCxnSpPr>
          <p:spPr bwMode="auto">
            <a:xfrm>
              <a:off x="1284" y="1657"/>
              <a:ext cx="2478" cy="789"/>
            </a:xfrm>
            <a:prstGeom prst="bentConnector3">
              <a:avLst>
                <a:gd name="adj1" fmla="val 93060"/>
              </a:avLst>
            </a:prstGeom>
            <a:noFill/>
            <a:ln w="9525">
              <a:solidFill>
                <a:srgbClr val="B025A6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7391" name="Rectangle 46">
              <a:extLst>
                <a:ext uri="{FF2B5EF4-FFF2-40B4-BE49-F238E27FC236}">
                  <a16:creationId xmlns:a16="http://schemas.microsoft.com/office/drawing/2014/main" id="{8270CB52-2AF0-44BE-87F1-9D5F0CD897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2641"/>
              <a:ext cx="48" cy="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</p:grpSp>
    </p:spTree>
  </p:cSld>
  <p:clrMapOvr>
    <a:masterClrMapping/>
  </p:clrMapOvr>
  <p:transition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Footer Placeholder 3">
            <a:extLst>
              <a:ext uri="{FF2B5EF4-FFF2-40B4-BE49-F238E27FC236}">
                <a16:creationId xmlns:a16="http://schemas.microsoft.com/office/drawing/2014/main" id="{4DD0EB8D-E961-4603-92C2-70B15BA9A0D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200"/>
              <a:t>Comp 412, Fall 2010</a:t>
            </a:r>
          </a:p>
        </p:txBody>
      </p:sp>
      <p:sp>
        <p:nvSpPr>
          <p:cNvPr id="59394" name="Slide Number Placeholder 4">
            <a:extLst>
              <a:ext uri="{FF2B5EF4-FFF2-40B4-BE49-F238E27FC236}">
                <a16:creationId xmlns:a16="http://schemas.microsoft.com/office/drawing/2014/main" id="{7C49F1FF-9361-4A28-BB66-2B45FCAA019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C46B4493-3806-4325-8AC9-5ADE921646D3}" type="slidenum">
              <a:rPr lang="en-US" altLang="it-IT" sz="1200"/>
              <a:pPr/>
              <a:t>22</a:t>
            </a:fld>
            <a:endParaRPr lang="en-US" altLang="it-IT" sz="1200"/>
          </a:p>
        </p:txBody>
      </p:sp>
      <p:sp>
        <p:nvSpPr>
          <p:cNvPr id="59395" name="Rectangle 2">
            <a:extLst>
              <a:ext uri="{FF2B5EF4-FFF2-40B4-BE49-F238E27FC236}">
                <a16:creationId xmlns:a16="http://schemas.microsoft.com/office/drawing/2014/main" id="{43DE695A-BF80-4BFF-B7A6-50520D9EB9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Bef>
                <a:spcPct val="30000"/>
              </a:spcBef>
            </a:pPr>
            <a:r>
              <a:rPr lang="en-US" altLang="it-IT">
                <a:solidFill>
                  <a:schemeClr val="tx1"/>
                </a:solidFill>
              </a:rPr>
              <a:t>Establishing Addressability</a:t>
            </a:r>
            <a:endParaRPr lang="en-US" altLang="it-IT">
              <a:solidFill>
                <a:srgbClr val="FF0000"/>
              </a:solidFill>
            </a:endParaRPr>
          </a:p>
        </p:txBody>
      </p:sp>
      <p:sp>
        <p:nvSpPr>
          <p:cNvPr id="59396" name="Rectangle 3">
            <a:extLst>
              <a:ext uri="{FF2B5EF4-FFF2-40B4-BE49-F238E27FC236}">
                <a16:creationId xmlns:a16="http://schemas.microsoft.com/office/drawing/2014/main" id="{F5C8FAE5-D82B-415C-BB7C-AA30BB893B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30000"/>
              </a:spcBef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Using a Display</a:t>
            </a:r>
            <a:endParaRPr lang="en-US" altLang="it-IT" sz="1400"/>
          </a:p>
          <a:p>
            <a:pPr eaLnBrk="1" hangingPunct="1">
              <a:spcBef>
                <a:spcPct val="900000"/>
              </a:spcBef>
              <a:buFont typeface="Times" panose="02020603050405020304" pitchFamily="18" charset="0"/>
              <a:buNone/>
            </a:pPr>
            <a:endParaRPr lang="en-US" altLang="it-IT" sz="1400"/>
          </a:p>
          <a:p>
            <a:pPr eaLnBrk="1" hangingPunct="1">
              <a:spcBef>
                <a:spcPct val="10000"/>
              </a:spcBef>
              <a:buFont typeface="Times" panose="02020603050405020304" pitchFamily="18" charset="0"/>
              <a:buNone/>
            </a:pPr>
            <a:endParaRPr lang="en-US" altLang="it-IT" sz="1400"/>
          </a:p>
          <a:p>
            <a:pPr eaLnBrk="1" hangingPunct="1">
              <a:spcBef>
                <a:spcPct val="10000"/>
              </a:spcBef>
              <a:buFont typeface="Times" panose="02020603050405020304" pitchFamily="18" charset="0"/>
              <a:buNone/>
            </a:pPr>
            <a:endParaRPr lang="en-US" altLang="it-IT" sz="1400"/>
          </a:p>
          <a:p>
            <a:pPr eaLnBrk="1" hangingPunct="1">
              <a:spcBef>
                <a:spcPct val="10000"/>
              </a:spcBef>
              <a:buFont typeface="Times" panose="02020603050405020304" pitchFamily="18" charset="0"/>
              <a:buNone/>
            </a:pPr>
            <a:endParaRPr lang="en-US" altLang="it-IT" sz="1400"/>
          </a:p>
          <a:p>
            <a:pPr eaLnBrk="1" hangingPunct="1">
              <a:buFont typeface="Times" panose="02020603050405020304" pitchFamily="18" charset="0"/>
              <a:buNone/>
            </a:pPr>
            <a:endParaRPr lang="en-US" altLang="it-IT" sz="1600" i="1"/>
          </a:p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 sz="1600" i="1"/>
              <a:t>Access &amp; maintenance costs are fixed</a:t>
            </a:r>
          </a:p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 sz="1600" i="1"/>
              <a:t>Address of display may consume a register</a:t>
            </a:r>
            <a:endParaRPr lang="en-US" altLang="it-IT" sz="1400" i="1"/>
          </a:p>
        </p:txBody>
      </p:sp>
      <p:sp>
        <p:nvSpPr>
          <p:cNvPr id="50182" name="Text Box 5">
            <a:extLst>
              <a:ext uri="{FF2B5EF4-FFF2-40B4-BE49-F238E27FC236}">
                <a16:creationId xmlns:a16="http://schemas.microsoft.com/office/drawing/2014/main" id="{92074AE3-46A5-419B-9818-0FC9336AE5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1357313"/>
            <a:ext cx="3352800" cy="3632200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rgbClr val="7F7F7F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marL="227013" indent="-227013" eaLnBrk="0" hangingPunct="0">
              <a:spcBef>
                <a:spcPts val="600"/>
              </a:spcBef>
              <a:defRPr/>
            </a:pPr>
            <a:r>
              <a:rPr lang="en-US" sz="1800" dirty="0">
                <a:latin typeface="Comic Sans MS" charset="0"/>
                <a:ea typeface="ヒラギノ角ゴ Pro W3" charset="-128"/>
                <a:cs typeface="ヒラギノ角ゴ Pro W3" charset="-128"/>
              </a:rPr>
              <a:t>Assume</a:t>
            </a:r>
          </a:p>
          <a:p>
            <a:pPr marL="227013" indent="-227013" eaLnBrk="0" hangingPunct="0">
              <a:spcBef>
                <a:spcPts val="600"/>
              </a:spcBef>
              <a:buClr>
                <a:srgbClr val="003C75"/>
              </a:buClr>
              <a:buSzPct val="120000"/>
              <a:buFont typeface="Times" charset="0"/>
              <a:buChar char="•"/>
              <a:defRPr/>
            </a:pPr>
            <a:r>
              <a:rPr lang="en-US" sz="1800" dirty="0">
                <a:latin typeface="Comic Sans MS" charset="0"/>
                <a:ea typeface="ヒラギノ角ゴ Pro W3" charset="-128"/>
                <a:cs typeface="ヒラギノ角ゴ Pro W3" charset="-128"/>
              </a:rPr>
              <a:t>Current lexical level is 2</a:t>
            </a:r>
          </a:p>
          <a:p>
            <a:pPr marL="227013" indent="-227013" eaLnBrk="0" hangingPunct="0">
              <a:spcBef>
                <a:spcPts val="600"/>
              </a:spcBef>
              <a:buClr>
                <a:srgbClr val="003C75"/>
              </a:buClr>
              <a:buSzPct val="120000"/>
              <a:buFont typeface="Times" charset="0"/>
              <a:buChar char="•"/>
              <a:defRPr/>
            </a:pPr>
            <a:r>
              <a:rPr lang="en-US" sz="1800" dirty="0">
                <a:latin typeface="Comic Sans MS" charset="0"/>
                <a:ea typeface="ヒラギノ角ゴ Pro W3" charset="-128"/>
                <a:cs typeface="ヒラギノ角ゴ Pro W3" charset="-128"/>
              </a:rPr>
              <a:t>Display is at label </a:t>
            </a:r>
            <a:r>
              <a:rPr lang="en-US" sz="1800" b="1" dirty="0">
                <a:latin typeface="Comic Sans MS" charset="0"/>
                <a:ea typeface="ヒラギノ角ゴ Pro W3" charset="-128"/>
                <a:cs typeface="ヒラギノ角ゴ Pro W3" charset="-128"/>
              </a:rPr>
              <a:t>_</a:t>
            </a:r>
            <a:r>
              <a:rPr lang="en-US" sz="1800" dirty="0" err="1">
                <a:latin typeface="Comic Sans MS" charset="0"/>
                <a:ea typeface="ヒラギノ角ゴ Pro W3" charset="-128"/>
                <a:cs typeface="ヒラギノ角ゴ Pro W3" charset="-128"/>
              </a:rPr>
              <a:t>disp</a:t>
            </a:r>
            <a:endParaRPr lang="en-US" sz="1800" dirty="0">
              <a:latin typeface="Comic Sans MS" charset="0"/>
              <a:ea typeface="ヒラギノ角ゴ Pro W3" charset="-128"/>
              <a:cs typeface="ヒラギノ角ゴ Pro W3" charset="-128"/>
            </a:endParaRPr>
          </a:p>
          <a:p>
            <a:pPr marL="227013" indent="-227013" eaLnBrk="0" hangingPunct="0">
              <a:spcBef>
                <a:spcPts val="1200"/>
              </a:spcBef>
              <a:buClr>
                <a:srgbClr val="0000CC"/>
              </a:buClr>
              <a:buSzPct val="120000"/>
              <a:defRPr/>
            </a:pPr>
            <a:r>
              <a:rPr lang="en-US" sz="1800" dirty="0">
                <a:latin typeface="Comic Sans MS" charset="0"/>
                <a:ea typeface="ヒラギノ角ゴ Pro W3" charset="-128"/>
                <a:cs typeface="ヒラギノ角ゴ Pro W3" charset="-128"/>
              </a:rPr>
              <a:t>Maintaining access link</a:t>
            </a:r>
          </a:p>
          <a:p>
            <a:pPr marL="227013" indent="-227013" eaLnBrk="0" hangingPunct="0">
              <a:spcBef>
                <a:spcPts val="600"/>
              </a:spcBef>
              <a:buClr>
                <a:srgbClr val="003C75"/>
              </a:buClr>
              <a:buSzPct val="120000"/>
              <a:buFont typeface="Times" charset="0"/>
              <a:buChar char="•"/>
              <a:defRPr/>
            </a:pPr>
            <a:r>
              <a:rPr lang="en-US" sz="1800" dirty="0">
                <a:latin typeface="Comic Sans MS" charset="0"/>
                <a:ea typeface="ヒラギノ角ゴ Pro W3" charset="-128"/>
                <a:cs typeface="ヒラギノ角ゴ Pro W3" charset="-128"/>
              </a:rPr>
              <a:t> On entry to level </a:t>
            </a:r>
            <a:r>
              <a:rPr lang="en-US" sz="1800" i="1" dirty="0" err="1">
                <a:latin typeface="Comic Sans MS" charset="0"/>
                <a:ea typeface="ヒラギノ角ゴ Pro W3" charset="-128"/>
                <a:cs typeface="ヒラギノ角ゴ Pro W3" charset="-128"/>
              </a:rPr>
              <a:t>j</a:t>
            </a:r>
            <a:r>
              <a:rPr lang="en-US" sz="1800" i="1" dirty="0">
                <a:latin typeface="Comic Sans MS" charset="0"/>
                <a:ea typeface="ヒラギノ角ゴ Pro W3" charset="-128"/>
                <a:cs typeface="ヒラギノ角ゴ Pro W3" charset="-128"/>
              </a:rPr>
              <a:t> </a:t>
            </a:r>
            <a:endParaRPr lang="en-US" sz="1800" dirty="0">
              <a:latin typeface="Comic Sans MS" charset="0"/>
              <a:ea typeface="ヒラギノ角ゴ Pro W3" charset="-128"/>
              <a:cs typeface="ヒラギノ角ゴ Pro W3" charset="-128"/>
            </a:endParaRPr>
          </a:p>
          <a:p>
            <a:pPr marL="227013" indent="-227013" algn="ctr" eaLnBrk="0" hangingPunct="0">
              <a:spcBef>
                <a:spcPts val="600"/>
              </a:spcBef>
              <a:buClr>
                <a:srgbClr val="003C75"/>
              </a:buClr>
              <a:buSzPct val="90000"/>
              <a:buFont typeface="Symbol" charset="2"/>
              <a:buChar char=""/>
              <a:defRPr/>
            </a:pPr>
            <a:r>
              <a:rPr lang="en-US" sz="1800" dirty="0">
                <a:latin typeface="Comic Sans MS" charset="0"/>
                <a:ea typeface="ヒラギノ角ゴ Pro W3" charset="-128"/>
                <a:cs typeface="ヒラギノ角ゴ Pro W3" charset="-128"/>
              </a:rPr>
              <a:t> Save level </a:t>
            </a:r>
            <a:r>
              <a:rPr lang="en-US" sz="1800" i="1" dirty="0" err="1">
                <a:latin typeface="Comic Sans MS" charset="0"/>
                <a:ea typeface="ヒラギノ角ゴ Pro W3" charset="-128"/>
                <a:cs typeface="ヒラギノ角ゴ Pro W3" charset="-128"/>
              </a:rPr>
              <a:t>j</a:t>
            </a:r>
            <a:r>
              <a:rPr lang="en-US" sz="1800" i="1" dirty="0">
                <a:latin typeface="Comic Sans MS" charset="0"/>
                <a:ea typeface="ヒラギノ角ゴ Pro W3" charset="-128"/>
                <a:cs typeface="ヒラギノ角ゴ Pro W3" charset="-128"/>
              </a:rPr>
              <a:t> </a:t>
            </a:r>
            <a:r>
              <a:rPr lang="en-US" sz="1800" dirty="0">
                <a:latin typeface="Comic Sans MS" charset="0"/>
                <a:ea typeface="ヒラギノ角ゴ Pro W3" charset="-128"/>
                <a:cs typeface="ヒラギノ角ゴ Pro W3" charset="-128"/>
              </a:rPr>
              <a:t> entry into AR  </a:t>
            </a:r>
            <a:r>
              <a:rPr lang="en-US" sz="1800" dirty="0">
                <a:solidFill>
                  <a:srgbClr val="FF006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(</a:t>
            </a:r>
            <a:r>
              <a:rPr lang="en-US" sz="1800" i="1" dirty="0">
                <a:solidFill>
                  <a:srgbClr val="FF006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saved </a:t>
            </a:r>
            <a:r>
              <a:rPr lang="en-US" sz="1800" i="1" dirty="0" err="1">
                <a:solidFill>
                  <a:srgbClr val="FF006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ptr</a:t>
            </a:r>
            <a:r>
              <a:rPr lang="en-US" sz="1800" i="1" dirty="0">
                <a:solidFill>
                  <a:srgbClr val="FF006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 field</a:t>
            </a:r>
            <a:r>
              <a:rPr lang="en-US" sz="1800" dirty="0">
                <a:solidFill>
                  <a:srgbClr val="FF006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)</a:t>
            </a:r>
          </a:p>
          <a:p>
            <a:pPr marL="227013" indent="-227013" eaLnBrk="0" hangingPunct="0">
              <a:spcBef>
                <a:spcPts val="600"/>
              </a:spcBef>
              <a:buClr>
                <a:srgbClr val="003C75"/>
              </a:buClr>
              <a:buSzPct val="90000"/>
              <a:buFont typeface="Symbol" charset="2"/>
              <a:buChar char=""/>
              <a:defRPr/>
            </a:pPr>
            <a:r>
              <a:rPr lang="en-US" sz="1800" dirty="0">
                <a:latin typeface="Comic Sans MS" charset="0"/>
                <a:ea typeface="ヒラギノ角ゴ Pro W3" charset="-128"/>
                <a:cs typeface="ヒラギノ角ゴ Pro W3" charset="-128"/>
              </a:rPr>
              <a:t> Store ARP in level </a:t>
            </a:r>
            <a:r>
              <a:rPr lang="en-US" sz="1800" i="1" dirty="0" err="1">
                <a:latin typeface="Comic Sans MS" charset="0"/>
                <a:ea typeface="ヒラギノ角ゴ Pro W3" charset="-128"/>
                <a:cs typeface="ヒラギノ角ゴ Pro W3" charset="-128"/>
              </a:rPr>
              <a:t>j</a:t>
            </a:r>
            <a:r>
              <a:rPr lang="en-US" sz="1800" dirty="0">
                <a:latin typeface="Comic Sans MS" charset="0"/>
                <a:ea typeface="ヒラギノ角ゴ Pro W3" charset="-128"/>
                <a:cs typeface="ヒラギノ角ゴ Pro W3" charset="-128"/>
              </a:rPr>
              <a:t> slot</a:t>
            </a:r>
          </a:p>
          <a:p>
            <a:pPr marL="227013" indent="-227013" eaLnBrk="0" hangingPunct="0">
              <a:spcBef>
                <a:spcPts val="1200"/>
              </a:spcBef>
              <a:buClr>
                <a:srgbClr val="003C75"/>
              </a:buClr>
              <a:buSzPct val="120000"/>
              <a:buFont typeface="Times" charset="0"/>
              <a:buChar char="•"/>
              <a:defRPr/>
            </a:pPr>
            <a:r>
              <a:rPr lang="en-US" sz="1800" dirty="0">
                <a:latin typeface="Comic Sans MS" charset="0"/>
                <a:ea typeface="ヒラギノ角ゴ Pro W3" charset="-128"/>
                <a:cs typeface="ヒラギノ角ゴ Pro W3" charset="-128"/>
              </a:rPr>
              <a:t> On exit from level </a:t>
            </a:r>
            <a:r>
              <a:rPr lang="en-US" sz="1800" i="1" dirty="0" err="1">
                <a:latin typeface="Comic Sans MS" charset="0"/>
                <a:ea typeface="ヒラギノ角ゴ Pro W3" charset="-128"/>
                <a:cs typeface="ヒラギノ角ゴ Pro W3" charset="-128"/>
              </a:rPr>
              <a:t>j</a:t>
            </a:r>
            <a:endParaRPr lang="en-US" sz="1800" dirty="0">
              <a:latin typeface="Comic Sans MS" charset="0"/>
              <a:ea typeface="ヒラギノ角ゴ Pro W3" charset="-128"/>
              <a:cs typeface="ヒラギノ角ゴ Pro W3" charset="-128"/>
            </a:endParaRPr>
          </a:p>
          <a:p>
            <a:pPr marL="227013" indent="-227013" eaLnBrk="0" hangingPunct="0">
              <a:spcBef>
                <a:spcPts val="600"/>
              </a:spcBef>
              <a:spcAft>
                <a:spcPts val="600"/>
              </a:spcAft>
              <a:buClr>
                <a:srgbClr val="003C75"/>
              </a:buClr>
              <a:buSzPct val="90000"/>
              <a:buFont typeface="Symbol" charset="2"/>
              <a:buChar char=""/>
              <a:defRPr/>
            </a:pPr>
            <a:r>
              <a:rPr lang="en-US" sz="1800" dirty="0">
                <a:latin typeface="Comic Sans MS" charset="0"/>
                <a:ea typeface="ヒラギノ角ゴ Pro W3" charset="-128"/>
                <a:cs typeface="ヒラギノ角ゴ Pro W3" charset="-128"/>
              </a:rPr>
              <a:t> Restore old level </a:t>
            </a:r>
            <a:r>
              <a:rPr lang="en-US" sz="1800" i="1" dirty="0" err="1">
                <a:latin typeface="Comic Sans MS" charset="0"/>
                <a:ea typeface="ヒラギノ角ゴ Pro W3" charset="-128"/>
                <a:cs typeface="ヒラギノ角ゴ Pro W3" charset="-128"/>
              </a:rPr>
              <a:t>j</a:t>
            </a:r>
            <a:r>
              <a:rPr lang="en-US" sz="1800" dirty="0">
                <a:latin typeface="Comic Sans MS" charset="0"/>
                <a:ea typeface="ヒラギノ角ゴ Pro W3" charset="-128"/>
                <a:cs typeface="ヒラギノ角ゴ Pro W3" charset="-128"/>
              </a:rPr>
              <a:t> entry</a:t>
            </a:r>
          </a:p>
        </p:txBody>
      </p:sp>
      <p:sp>
        <p:nvSpPr>
          <p:cNvPr id="50183" name="Text Box 6">
            <a:extLst>
              <a:ext uri="{FF2B5EF4-FFF2-40B4-BE49-F238E27FC236}">
                <a16:creationId xmlns:a16="http://schemas.microsoft.com/office/drawing/2014/main" id="{D271A32B-73AE-44C8-8F3A-E941B4B99E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5410200"/>
            <a:ext cx="3886200" cy="369888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rgbClr val="7F7F7F"/>
            </a:solidFill>
            <a:miter lim="800000"/>
            <a:headEnd/>
            <a:tailEnd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18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Desired AR is at _</a:t>
            </a:r>
            <a:r>
              <a:rPr lang="en-US" sz="1800" dirty="0" err="1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disp</a:t>
            </a:r>
            <a:r>
              <a:rPr lang="en-US" sz="18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 + 4 </a:t>
            </a:r>
            <a:r>
              <a:rPr lang="en-US" sz="1800" dirty="0" err="1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x</a:t>
            </a:r>
            <a:r>
              <a:rPr lang="en-US" sz="18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 </a:t>
            </a:r>
            <a:r>
              <a:rPr lang="en-US" sz="1800" i="1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level</a:t>
            </a:r>
            <a:endParaRPr lang="en-US" sz="1800" dirty="0">
              <a:solidFill>
                <a:srgbClr val="003C75"/>
              </a:solidFill>
              <a:latin typeface="Comic Sans MS" charset="0"/>
              <a:ea typeface="ヒラギノ角ゴ Pro W3" charset="-128"/>
              <a:cs typeface="ヒラギノ角ゴ Pro W3" charset="-128"/>
            </a:endParaRPr>
          </a:p>
        </p:txBody>
      </p:sp>
      <p:graphicFrame>
        <p:nvGraphicFramePr>
          <p:cNvPr id="33858" name="Group 66">
            <a:extLst>
              <a:ext uri="{FF2B5EF4-FFF2-40B4-BE49-F238E27FC236}">
                <a16:creationId xmlns:a16="http://schemas.microsoft.com/office/drawing/2014/main" id="{A1E7EA5E-4E14-4F8E-80AD-B5C05BD3DB4A}"/>
              </a:ext>
            </a:extLst>
          </p:cNvPr>
          <p:cNvGraphicFramePr>
            <a:graphicFrameLocks noGrp="1"/>
          </p:cNvGraphicFramePr>
          <p:nvPr/>
        </p:nvGraphicFramePr>
        <p:xfrm>
          <a:off x="914400" y="1600200"/>
          <a:ext cx="3124200" cy="29260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SC</a:t>
                      </a:r>
                    </a:p>
                  </a:txBody>
                  <a:tcPr marT="45715" marB="45715" horzOverflow="overflow">
                    <a:lnL cap="flat"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Generated Code</a:t>
                      </a:r>
                    </a:p>
                  </a:txBody>
                  <a:tcPr marT="45715" marB="45715" horzOverflow="overflow">
                    <a:lnL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&lt;2,8&gt;</a:t>
                      </a:r>
                    </a:p>
                  </a:txBody>
                  <a:tcPr marT="45715" marB="45715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neva" charset="0"/>
                          <a:ea typeface="ヒラギノ角ゴ Pro W3" charset="-128"/>
                          <a:cs typeface="ヒラギノ角ゴ Pro W3" charset="-128"/>
                        </a:rPr>
                        <a:t>loadAI r</a:t>
                      </a:r>
                      <a:r>
                        <a:rPr kumimoji="0" lang="en-US" sz="16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neva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neva" charset="0"/>
                          <a:ea typeface="ヒラギノ角ゴ Pro W3" charset="-128"/>
                          <a:cs typeface="ヒラギノ角ゴ Pro W3" charset="-128"/>
                        </a:rPr>
                        <a:t>,8</a:t>
                      </a:r>
                    </a:p>
                  </a:txBody>
                  <a:tcPr marT="45715" marB="4571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neva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 r</a:t>
                      </a:r>
                      <a:r>
                        <a:rPr kumimoji="0" lang="en-US" sz="16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neva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10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eneva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15" marB="45715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&lt;1,12&gt;</a:t>
                      </a:r>
                    </a:p>
                  </a:txBody>
                  <a:tcPr marT="45715" marB="45715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neva" charset="0"/>
                          <a:ea typeface="ヒラギノ角ゴ Pro W3" charset="-128"/>
                          <a:cs typeface="ヒラギノ角ゴ Pro W3" charset="-128"/>
                        </a:rPr>
                        <a:t>loadI _disp</a:t>
                      </a:r>
                    </a:p>
                  </a:txBody>
                  <a:tcPr marT="45715" marB="4571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neva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 r</a:t>
                      </a:r>
                      <a:r>
                        <a:rPr kumimoji="0" lang="en-US" sz="16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neva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1</a:t>
                      </a:r>
                    </a:p>
                  </a:txBody>
                  <a:tcPr marT="45715" marB="45715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15" marB="4571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neva" charset="0"/>
                          <a:ea typeface="ヒラギノ角ゴ Pro W3" charset="-128"/>
                          <a:cs typeface="ヒラギノ角ゴ Pro W3" charset="-128"/>
                        </a:rPr>
                        <a:t>loadAI r</a:t>
                      </a:r>
                      <a:r>
                        <a:rPr kumimoji="0" lang="en-US" sz="16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neva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neva" charset="0"/>
                          <a:ea typeface="ヒラギノ角ゴ Pro W3" charset="-128"/>
                          <a:cs typeface="ヒラギノ角ゴ Pro W3" charset="-128"/>
                        </a:rPr>
                        <a:t>,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Geneva" charset="0"/>
                          <a:ea typeface="ヒラギノ角ゴ Pro W3" charset="-128"/>
                          <a:cs typeface="ヒラギノ角ゴ Pro W3" charset="-128"/>
                        </a:rPr>
                        <a:t>4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eneva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15" marB="4571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neva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 r</a:t>
                      </a:r>
                      <a:r>
                        <a:rPr kumimoji="0" lang="en-US" sz="16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neva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1</a:t>
                      </a:r>
                    </a:p>
                  </a:txBody>
                  <a:tcPr marT="45715" marB="45715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15" marB="4571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neva" charset="0"/>
                          <a:ea typeface="ヒラギノ角ゴ Pro W3" charset="-128"/>
                          <a:cs typeface="ヒラギノ角ゴ Pro W3" charset="-128"/>
                        </a:rPr>
                        <a:t>loadAI r</a:t>
                      </a:r>
                      <a:r>
                        <a:rPr kumimoji="0" lang="en-US" sz="16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neva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neva" charset="0"/>
                          <a:ea typeface="ヒラギノ角ゴ Pro W3" charset="-128"/>
                          <a:cs typeface="ヒラギノ角ゴ Pro W3" charset="-128"/>
                        </a:rPr>
                        <a:t>,12</a:t>
                      </a:r>
                    </a:p>
                  </a:txBody>
                  <a:tcPr marT="45715" marB="4571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neva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 r</a:t>
                      </a:r>
                      <a:r>
                        <a:rPr kumimoji="0" lang="en-US" sz="16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neva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10</a:t>
                      </a:r>
                    </a:p>
                  </a:txBody>
                  <a:tcPr marT="45715" marB="45715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&lt;0,16&gt;</a:t>
                      </a:r>
                    </a:p>
                  </a:txBody>
                  <a:tcPr marT="45715" marB="45715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neva" charset="0"/>
                          <a:ea typeface="ヒラギノ角ゴ Pro W3" charset="-128"/>
                          <a:cs typeface="ヒラギノ角ゴ Pro W3" charset="-128"/>
                        </a:rPr>
                        <a:t>loadI _disp</a:t>
                      </a:r>
                    </a:p>
                  </a:txBody>
                  <a:tcPr marT="45715" marB="4571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neva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 r</a:t>
                      </a:r>
                      <a:r>
                        <a:rPr kumimoji="0" lang="en-US" sz="16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neva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1</a:t>
                      </a:r>
                    </a:p>
                  </a:txBody>
                  <a:tcPr marT="45715" marB="45715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15" marB="4571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neva" charset="0"/>
                          <a:ea typeface="ヒラギノ角ゴ Pro W3" charset="-128"/>
                          <a:cs typeface="ヒラギノ角ゴ Pro W3" charset="-128"/>
                        </a:rPr>
                        <a:t>loadAI r</a:t>
                      </a:r>
                      <a:r>
                        <a:rPr kumimoji="0" lang="en-US" sz="16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neva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neva" charset="0"/>
                          <a:ea typeface="ヒラギノ角ゴ Pro W3" charset="-128"/>
                          <a:cs typeface="ヒラギノ角ゴ Pro W3" charset="-128"/>
                        </a:rPr>
                        <a:t>,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Geneva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eneva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15" marB="4571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neva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 r</a:t>
                      </a:r>
                      <a:r>
                        <a:rPr kumimoji="0" lang="en-US" sz="16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neva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1</a:t>
                      </a:r>
                    </a:p>
                  </a:txBody>
                  <a:tcPr marT="45715" marB="45715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15" marB="4571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neva" charset="0"/>
                          <a:ea typeface="ヒラギノ角ゴ Pro W3" charset="-128"/>
                          <a:cs typeface="ヒラギノ角ゴ Pro W3" charset="-128"/>
                        </a:rPr>
                        <a:t>loadAI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neva" charset="0"/>
                          <a:ea typeface="ヒラギノ角ゴ Pro W3" charset="-128"/>
                          <a:cs typeface="ヒラギノ角ゴ Pro W3" charset="-128"/>
                        </a:rPr>
                        <a:t> r</a:t>
                      </a:r>
                      <a:r>
                        <a:rPr kumimoji="0" lang="en-US" sz="16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neva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neva" charset="0"/>
                          <a:ea typeface="ヒラギノ角ゴ Pro W3" charset="-128"/>
                          <a:cs typeface="ヒラギノ角ゴ Pro W3" charset="-128"/>
                        </a:rPr>
                        <a:t>,16</a:t>
                      </a:r>
                    </a:p>
                  </a:txBody>
                  <a:tcPr marT="45715" marB="4571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neva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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neva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r</a:t>
                      </a:r>
                      <a:r>
                        <a:rPr kumimoji="0" lang="en-US" sz="16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neva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10</a:t>
                      </a:r>
                    </a:p>
                  </a:txBody>
                  <a:tcPr marT="45715" marB="45715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Footer Placeholder 3">
            <a:extLst>
              <a:ext uri="{FF2B5EF4-FFF2-40B4-BE49-F238E27FC236}">
                <a16:creationId xmlns:a16="http://schemas.microsoft.com/office/drawing/2014/main" id="{E1C79FAA-E8BE-429E-ABF7-F696BD689CE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200"/>
              <a:t>Comp 412, Fall 2010</a:t>
            </a:r>
          </a:p>
        </p:txBody>
      </p:sp>
      <p:sp>
        <p:nvSpPr>
          <p:cNvPr id="61442" name="Slide Number Placeholder 4">
            <a:extLst>
              <a:ext uri="{FF2B5EF4-FFF2-40B4-BE49-F238E27FC236}">
                <a16:creationId xmlns:a16="http://schemas.microsoft.com/office/drawing/2014/main" id="{8617A00E-753B-4B1D-8A79-429B923BE64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5BCC944C-A8DE-48C6-852E-6D0320570CDE}" type="slidenum">
              <a:rPr lang="en-US" altLang="it-IT" sz="1200"/>
              <a:pPr/>
              <a:t>23</a:t>
            </a:fld>
            <a:endParaRPr lang="en-US" altLang="it-IT" sz="1200"/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A6E2B83A-E198-4AA1-B518-34ADBB8050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066800"/>
            <a:ext cx="7772400" cy="5181600"/>
          </a:xfrm>
        </p:spPr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Why does it work?</a:t>
            </a:r>
            <a:endParaRPr lang="en-US" altLang="it-IT" sz="1600"/>
          </a:p>
          <a:p>
            <a:pPr eaLnBrk="1" hangingPunct="1"/>
            <a:endParaRPr lang="en-US" altLang="it-IT" sz="1600"/>
          </a:p>
          <a:p>
            <a:pPr eaLnBrk="1" hangingPunct="1"/>
            <a:endParaRPr lang="en-US" altLang="it-IT" sz="1600"/>
          </a:p>
          <a:p>
            <a:pPr eaLnBrk="1" hangingPunct="1"/>
            <a:endParaRPr lang="en-US" altLang="it-IT" sz="1600"/>
          </a:p>
          <a:p>
            <a:pPr eaLnBrk="1" hangingPunct="1"/>
            <a:endParaRPr lang="en-US" altLang="it-IT" sz="1600"/>
          </a:p>
          <a:p>
            <a:pPr eaLnBrk="1" hangingPunct="1"/>
            <a:endParaRPr lang="en-US" altLang="it-IT" sz="1600"/>
          </a:p>
          <a:p>
            <a:pPr eaLnBrk="1" hangingPunct="1"/>
            <a:endParaRPr lang="en-US" altLang="it-IT" sz="1600"/>
          </a:p>
          <a:p>
            <a:pPr eaLnBrk="1" hangingPunct="1"/>
            <a:endParaRPr lang="en-US" altLang="it-IT" sz="1600"/>
          </a:p>
          <a:p>
            <a:pPr eaLnBrk="1" hangingPunct="1"/>
            <a:endParaRPr lang="en-US" altLang="it-IT" sz="1600"/>
          </a:p>
          <a:p>
            <a:pPr eaLnBrk="1" hangingPunct="1"/>
            <a:endParaRPr lang="en-US" altLang="it-IT" sz="1600"/>
          </a:p>
          <a:p>
            <a:pPr eaLnBrk="1" hangingPunct="1"/>
            <a:endParaRPr lang="en-US" altLang="it-IT" sz="1600"/>
          </a:p>
          <a:p>
            <a:pPr eaLnBrk="1" hangingPunct="1">
              <a:spcBef>
                <a:spcPts val="3600"/>
              </a:spcBef>
            </a:pPr>
            <a:r>
              <a:rPr lang="en-US" altLang="it-IT" sz="1800"/>
              <a:t>If the call is from level k≥j, the display above the called procedure is the same as display[0:j-1] for the calling procedure      </a:t>
            </a:r>
            <a:endParaRPr lang="en-US" altLang="it-IT" sz="1800">
              <a:solidFill>
                <a:srgbClr val="ED181E"/>
              </a:solidFill>
            </a:endParaRPr>
          </a:p>
          <a:p>
            <a:pPr eaLnBrk="1" hangingPunct="1">
              <a:spcBef>
                <a:spcPct val="40000"/>
              </a:spcBef>
            </a:pPr>
            <a:r>
              <a:rPr lang="en-US" altLang="it-IT" sz="1800"/>
              <a:t>If the call is from level j-1, it pays to save and restore display[j] anyway</a:t>
            </a:r>
            <a:endParaRPr lang="en-US" altLang="it-IT" sz="1800">
              <a:solidFill>
                <a:srgbClr val="ED181E"/>
              </a:solidFill>
            </a:endParaRPr>
          </a:p>
        </p:txBody>
      </p:sp>
      <p:sp>
        <p:nvSpPr>
          <p:cNvPr id="61444" name="Rectangle 2">
            <a:extLst>
              <a:ext uri="{FF2B5EF4-FFF2-40B4-BE49-F238E27FC236}">
                <a16:creationId xmlns:a16="http://schemas.microsoft.com/office/drawing/2014/main" id="{BDAA5C23-DFCF-4789-9E28-B86F81C69A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Establishing Addressibility</a:t>
            </a:r>
          </a:p>
        </p:txBody>
      </p:sp>
      <p:sp>
        <p:nvSpPr>
          <p:cNvPr id="52230" name="Text Box 45">
            <a:extLst>
              <a:ext uri="{FF2B5EF4-FFF2-40B4-BE49-F238E27FC236}">
                <a16:creationId xmlns:a16="http://schemas.microsoft.com/office/drawing/2014/main" id="{0309D468-B76B-458F-81A9-A660F090BC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1601788"/>
            <a:ext cx="2590800" cy="1938337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rgbClr val="7F7F7F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marL="220663" indent="-220663" eaLnBrk="0" hangingPunct="0">
              <a:spcBef>
                <a:spcPct val="20000"/>
              </a:spcBef>
              <a:defRPr/>
            </a:pPr>
            <a:r>
              <a:rPr lang="en-US" sz="1500" dirty="0">
                <a:latin typeface="Comic Sans MS" charset="0"/>
                <a:ea typeface="ヒラギノ角ゴ Pro W3" charset="-128"/>
                <a:cs typeface="ヒラギノ角ゴ Pro W3" charset="-128"/>
              </a:rPr>
              <a:t>Maintaining access links</a:t>
            </a:r>
          </a:p>
          <a:p>
            <a:pPr marL="220663" indent="-220663" eaLnBrk="0" hangingPunct="0">
              <a:spcBef>
                <a:spcPct val="20000"/>
              </a:spcBef>
              <a:buClr>
                <a:srgbClr val="003C75"/>
              </a:buClr>
              <a:buSzPct val="120000"/>
              <a:buFont typeface="Times" charset="0"/>
              <a:buChar char="•"/>
              <a:defRPr/>
            </a:pPr>
            <a:r>
              <a:rPr lang="en-US" sz="1500" dirty="0">
                <a:latin typeface="Comic Sans MS" charset="0"/>
                <a:ea typeface="ヒラギノ角ゴ Pro W3" charset="-128"/>
                <a:cs typeface="ヒラギノ角ゴ Pro W3" charset="-128"/>
              </a:rPr>
              <a:t>On entry to level </a:t>
            </a:r>
            <a:r>
              <a:rPr lang="en-US" sz="1500" i="1" dirty="0" err="1">
                <a:latin typeface="Comic Sans MS" charset="0"/>
                <a:ea typeface="ヒラギノ角ゴ Pro W3" charset="-128"/>
                <a:cs typeface="ヒラギノ角ゴ Pro W3" charset="-128"/>
              </a:rPr>
              <a:t>j</a:t>
            </a:r>
            <a:r>
              <a:rPr lang="en-US" sz="1500" i="1" dirty="0">
                <a:latin typeface="Comic Sans MS" charset="0"/>
                <a:ea typeface="ヒラギノ角ゴ Pro W3" charset="-128"/>
                <a:cs typeface="ヒラギノ角ゴ Pro W3" charset="-128"/>
              </a:rPr>
              <a:t> </a:t>
            </a:r>
            <a:endParaRPr lang="en-US" sz="1500" dirty="0">
              <a:latin typeface="Comic Sans MS" charset="0"/>
              <a:ea typeface="ヒラギノ角ゴ Pro W3" charset="-128"/>
              <a:cs typeface="ヒラギノ角ゴ Pro W3" charset="-128"/>
            </a:endParaRPr>
          </a:p>
          <a:p>
            <a:pPr marL="220663" indent="-220663" eaLnBrk="0" hangingPunct="0">
              <a:spcBef>
                <a:spcPct val="20000"/>
              </a:spcBef>
              <a:buClr>
                <a:srgbClr val="003C75"/>
              </a:buClr>
              <a:buSzPct val="90000"/>
              <a:buFont typeface="Symbol" charset="2"/>
              <a:buChar char=""/>
              <a:defRPr/>
            </a:pPr>
            <a:r>
              <a:rPr lang="en-US" sz="1500" dirty="0">
                <a:latin typeface="Comic Sans MS" charset="0"/>
                <a:ea typeface="ヒラギノ角ゴ Pro W3" charset="-128"/>
                <a:cs typeface="ヒラギノ角ゴ Pro W3" charset="-128"/>
              </a:rPr>
              <a:t>Save level </a:t>
            </a:r>
            <a:r>
              <a:rPr lang="en-US" sz="1500" i="1" dirty="0" err="1">
                <a:latin typeface="Comic Sans MS" charset="0"/>
                <a:ea typeface="ヒラギノ角ゴ Pro W3" charset="-128"/>
                <a:cs typeface="ヒラギノ角ゴ Pro W3" charset="-128"/>
              </a:rPr>
              <a:t>j</a:t>
            </a:r>
            <a:r>
              <a:rPr lang="en-US" sz="1500" i="1" dirty="0">
                <a:latin typeface="Comic Sans MS" charset="0"/>
                <a:ea typeface="ヒラギノ角ゴ Pro W3" charset="-128"/>
                <a:cs typeface="ヒラギノ角ゴ Pro W3" charset="-128"/>
              </a:rPr>
              <a:t> </a:t>
            </a:r>
            <a:r>
              <a:rPr lang="en-US" sz="1500" dirty="0">
                <a:latin typeface="Comic Sans MS" charset="0"/>
                <a:ea typeface="ヒラギノ角ゴ Pro W3" charset="-128"/>
                <a:cs typeface="ヒラギノ角ゴ Pro W3" charset="-128"/>
              </a:rPr>
              <a:t> entry into    AR </a:t>
            </a:r>
            <a:r>
              <a:rPr lang="en-US" sz="1500" i="1" dirty="0">
                <a:solidFill>
                  <a:srgbClr val="FF006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(saved </a:t>
            </a:r>
            <a:r>
              <a:rPr lang="en-US" sz="1500" i="1" dirty="0" err="1">
                <a:solidFill>
                  <a:srgbClr val="FF006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ptr</a:t>
            </a:r>
            <a:r>
              <a:rPr lang="en-US" sz="1500" i="1" dirty="0">
                <a:solidFill>
                  <a:srgbClr val="FF006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 field)</a:t>
            </a:r>
            <a:endParaRPr lang="en-US" sz="1500" dirty="0">
              <a:solidFill>
                <a:srgbClr val="FF0000"/>
              </a:solidFill>
              <a:latin typeface="Comic Sans MS" charset="0"/>
              <a:ea typeface="ヒラギノ角ゴ Pro W3" charset="-128"/>
              <a:cs typeface="ヒラギノ角ゴ Pro W3" charset="-128"/>
            </a:endParaRPr>
          </a:p>
          <a:p>
            <a:pPr marL="220663" indent="-220663" eaLnBrk="0" hangingPunct="0">
              <a:spcBef>
                <a:spcPct val="20000"/>
              </a:spcBef>
              <a:buClr>
                <a:srgbClr val="003C75"/>
              </a:buClr>
              <a:buSzPct val="90000"/>
              <a:buFont typeface="Symbol" charset="2"/>
              <a:buChar char=""/>
              <a:defRPr/>
            </a:pPr>
            <a:r>
              <a:rPr lang="en-US" sz="1500" dirty="0">
                <a:latin typeface="Comic Sans MS" charset="0"/>
                <a:ea typeface="ヒラギノ角ゴ Pro W3" charset="-128"/>
                <a:cs typeface="ヒラギノ角ゴ Pro W3" charset="-128"/>
              </a:rPr>
              <a:t>Store ARP in level </a:t>
            </a:r>
            <a:r>
              <a:rPr lang="en-US" sz="1500" i="1" dirty="0" err="1">
                <a:latin typeface="Comic Sans MS" charset="0"/>
                <a:ea typeface="ヒラギノ角ゴ Pro W3" charset="-128"/>
                <a:cs typeface="ヒラギノ角ゴ Pro W3" charset="-128"/>
              </a:rPr>
              <a:t>j</a:t>
            </a:r>
            <a:r>
              <a:rPr lang="en-US" sz="1500" dirty="0">
                <a:latin typeface="Comic Sans MS" charset="0"/>
                <a:ea typeface="ヒラギノ角ゴ Pro W3" charset="-128"/>
                <a:cs typeface="ヒラギノ角ゴ Pro W3" charset="-128"/>
              </a:rPr>
              <a:t> slot</a:t>
            </a:r>
          </a:p>
          <a:p>
            <a:pPr marL="220663" indent="-220663" eaLnBrk="0" hangingPunct="0">
              <a:spcBef>
                <a:spcPct val="20000"/>
              </a:spcBef>
              <a:buClr>
                <a:srgbClr val="003C75"/>
              </a:buClr>
              <a:buSzPct val="120000"/>
              <a:buFont typeface="Times" charset="0"/>
              <a:buChar char="•"/>
              <a:defRPr/>
            </a:pPr>
            <a:r>
              <a:rPr lang="en-US" sz="1500" dirty="0">
                <a:latin typeface="Comic Sans MS" charset="0"/>
                <a:ea typeface="ヒラギノ角ゴ Pro W3" charset="-128"/>
                <a:cs typeface="ヒラギノ角ゴ Pro W3" charset="-128"/>
              </a:rPr>
              <a:t>On exit from level </a:t>
            </a:r>
            <a:r>
              <a:rPr lang="en-US" sz="1500" i="1" dirty="0" err="1">
                <a:latin typeface="Comic Sans MS" charset="0"/>
                <a:ea typeface="ヒラギノ角ゴ Pro W3" charset="-128"/>
                <a:cs typeface="ヒラギノ角ゴ Pro W3" charset="-128"/>
              </a:rPr>
              <a:t>j</a:t>
            </a:r>
            <a:endParaRPr lang="en-US" sz="1500" dirty="0">
              <a:latin typeface="Comic Sans MS" charset="0"/>
              <a:ea typeface="ヒラギノ角ゴ Pro W3" charset="-128"/>
              <a:cs typeface="ヒラギノ角ゴ Pro W3" charset="-128"/>
            </a:endParaRPr>
          </a:p>
          <a:p>
            <a:pPr marL="220663" indent="-220663" eaLnBrk="0" hangingPunct="0">
              <a:spcBef>
                <a:spcPct val="20000"/>
              </a:spcBef>
              <a:spcAft>
                <a:spcPts val="600"/>
              </a:spcAft>
              <a:buClr>
                <a:srgbClr val="0000CC"/>
              </a:buClr>
              <a:buSzPct val="90000"/>
              <a:buFont typeface="Symbol" charset="2"/>
              <a:buChar char="®"/>
              <a:defRPr/>
            </a:pPr>
            <a:r>
              <a:rPr lang="en-US" sz="1500" dirty="0">
                <a:latin typeface="Comic Sans MS" charset="0"/>
                <a:ea typeface="ヒラギノ角ゴ Pro W3" charset="-128"/>
                <a:cs typeface="ヒラギノ角ゴ Pro W3" charset="-128"/>
              </a:rPr>
              <a:t>Restore old level </a:t>
            </a:r>
            <a:r>
              <a:rPr lang="en-US" sz="1500" i="1" dirty="0" err="1">
                <a:latin typeface="Comic Sans MS" charset="0"/>
                <a:ea typeface="ヒラギノ角ゴ Pro W3" charset="-128"/>
                <a:cs typeface="ヒラギノ角ゴ Pro W3" charset="-128"/>
              </a:rPr>
              <a:t>j</a:t>
            </a:r>
            <a:r>
              <a:rPr lang="en-US" sz="1500" dirty="0">
                <a:latin typeface="Comic Sans MS" charset="0"/>
                <a:ea typeface="ヒラギノ角ゴ Pro W3" charset="-128"/>
                <a:cs typeface="ヒラギノ角ゴ Pro W3" charset="-128"/>
              </a:rPr>
              <a:t> entry</a:t>
            </a:r>
          </a:p>
        </p:txBody>
      </p:sp>
      <p:grpSp>
        <p:nvGrpSpPr>
          <p:cNvPr id="61446" name="Group 95">
            <a:extLst>
              <a:ext uri="{FF2B5EF4-FFF2-40B4-BE49-F238E27FC236}">
                <a16:creationId xmlns:a16="http://schemas.microsoft.com/office/drawing/2014/main" id="{7F8750B5-2DF8-4904-BEC1-C805A9F89AB8}"/>
              </a:ext>
            </a:extLst>
          </p:cNvPr>
          <p:cNvGrpSpPr>
            <a:grpSpLocks/>
          </p:cNvGrpSpPr>
          <p:nvPr/>
        </p:nvGrpSpPr>
        <p:grpSpPr bwMode="auto">
          <a:xfrm>
            <a:off x="762000" y="1601788"/>
            <a:ext cx="5395913" cy="2817812"/>
            <a:chOff x="480" y="912"/>
            <a:chExt cx="3399" cy="1775"/>
          </a:xfrm>
        </p:grpSpPr>
        <p:cxnSp>
          <p:nvCxnSpPr>
            <p:cNvPr id="61447" name="AutoShape 48">
              <a:extLst>
                <a:ext uri="{FF2B5EF4-FFF2-40B4-BE49-F238E27FC236}">
                  <a16:creationId xmlns:a16="http://schemas.microsoft.com/office/drawing/2014/main" id="{FE452E3C-7AF8-4317-87A9-E173345D8C92}"/>
                </a:ext>
              </a:extLst>
            </p:cNvPr>
            <p:cNvCxnSpPr>
              <a:cxnSpLocks noChangeShapeType="1"/>
              <a:stCxn id="61448" idx="3"/>
              <a:endCxn id="61490" idx="1"/>
            </p:cNvCxnSpPr>
            <p:nvPr/>
          </p:nvCxnSpPr>
          <p:spPr bwMode="auto">
            <a:xfrm>
              <a:off x="932" y="2057"/>
              <a:ext cx="412" cy="192"/>
            </a:xfrm>
            <a:prstGeom prst="bentConnector3">
              <a:avLst>
                <a:gd name="adj1" fmla="val 50000"/>
              </a:avLst>
            </a:prstGeom>
            <a:noFill/>
            <a:ln w="12700">
              <a:solidFill>
                <a:srgbClr val="B025A6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61448" name="Text Box 49">
              <a:extLst>
                <a:ext uri="{FF2B5EF4-FFF2-40B4-BE49-F238E27FC236}">
                  <a16:creationId xmlns:a16="http://schemas.microsoft.com/office/drawing/2014/main" id="{E66A49E1-E73B-4774-9360-18B5C1FB2D98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622" y="1977"/>
              <a:ext cx="310" cy="16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 sz="1000">
                  <a:latin typeface="Geneva"/>
                </a:rPr>
                <a:t>ARP</a:t>
              </a:r>
              <a:endParaRPr lang="en-US" altLang="it-IT" sz="1000">
                <a:latin typeface="Arial Rounded MT Bold" panose="020F0704030504030204" pitchFamily="34" charset="0"/>
              </a:endParaRPr>
            </a:p>
          </p:txBody>
        </p:sp>
        <p:sp>
          <p:nvSpPr>
            <p:cNvPr id="61449" name="Rectangle 69">
              <a:extLst>
                <a:ext uri="{FF2B5EF4-FFF2-40B4-BE49-F238E27FC236}">
                  <a16:creationId xmlns:a16="http://schemas.microsoft.com/office/drawing/2014/main" id="{FC53ABE6-D3EF-4D5E-BEA0-78B7FDF866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" y="1056"/>
              <a:ext cx="480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000" b="1">
                  <a:latin typeface="Geneva"/>
                </a:rPr>
                <a:t>level 0</a:t>
              </a:r>
              <a:endParaRPr lang="en-US" altLang="it-IT" b="1">
                <a:latin typeface="Geneva"/>
              </a:endParaRPr>
            </a:p>
          </p:txBody>
        </p:sp>
        <p:sp>
          <p:nvSpPr>
            <p:cNvPr id="61450" name="Rectangle 70">
              <a:extLst>
                <a:ext uri="{FF2B5EF4-FFF2-40B4-BE49-F238E27FC236}">
                  <a16:creationId xmlns:a16="http://schemas.microsoft.com/office/drawing/2014/main" id="{C0E684B9-307F-4A9A-B45C-DF3767A635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" y="1200"/>
              <a:ext cx="480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000" b="1">
                  <a:latin typeface="Geneva"/>
                </a:rPr>
                <a:t>level 1</a:t>
              </a:r>
              <a:endParaRPr lang="en-US" altLang="it-IT" b="1">
                <a:latin typeface="Geneva"/>
              </a:endParaRPr>
            </a:p>
          </p:txBody>
        </p:sp>
        <p:sp>
          <p:nvSpPr>
            <p:cNvPr id="61451" name="Rectangle 71">
              <a:extLst>
                <a:ext uri="{FF2B5EF4-FFF2-40B4-BE49-F238E27FC236}">
                  <a16:creationId xmlns:a16="http://schemas.microsoft.com/office/drawing/2014/main" id="{1A3298A0-83F9-4B5E-83ED-F25190CC79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" y="1344"/>
              <a:ext cx="480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000" b="1">
                  <a:latin typeface="Geneva"/>
                </a:rPr>
                <a:t>level 2</a:t>
              </a:r>
              <a:endParaRPr lang="en-US" altLang="it-IT" b="1">
                <a:latin typeface="Geneva"/>
              </a:endParaRPr>
            </a:p>
          </p:txBody>
        </p:sp>
        <p:sp>
          <p:nvSpPr>
            <p:cNvPr id="61452" name="Rectangle 72">
              <a:extLst>
                <a:ext uri="{FF2B5EF4-FFF2-40B4-BE49-F238E27FC236}">
                  <a16:creationId xmlns:a16="http://schemas.microsoft.com/office/drawing/2014/main" id="{C3F2CC4E-A835-4880-88A4-E2DB868ED8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" y="1488"/>
              <a:ext cx="480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000" b="1">
                  <a:latin typeface="Geneva"/>
                </a:rPr>
                <a:t>level 3</a:t>
              </a:r>
              <a:endParaRPr lang="en-US" altLang="it-IT" b="1">
                <a:latin typeface="Geneva"/>
              </a:endParaRPr>
            </a:p>
          </p:txBody>
        </p:sp>
        <p:sp>
          <p:nvSpPr>
            <p:cNvPr id="61453" name="Rectangle 73">
              <a:extLst>
                <a:ext uri="{FF2B5EF4-FFF2-40B4-BE49-F238E27FC236}">
                  <a16:creationId xmlns:a16="http://schemas.microsoft.com/office/drawing/2014/main" id="{53B9A537-B783-4FD3-98E0-86FC4C8AC3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912"/>
              <a:ext cx="504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400">
                  <a:latin typeface="Geneva"/>
                </a:rPr>
                <a:t>Display</a:t>
              </a:r>
            </a:p>
          </p:txBody>
        </p:sp>
        <p:grpSp>
          <p:nvGrpSpPr>
            <p:cNvPr id="61454" name="Group 94">
              <a:extLst>
                <a:ext uri="{FF2B5EF4-FFF2-40B4-BE49-F238E27FC236}">
                  <a16:creationId xmlns:a16="http://schemas.microsoft.com/office/drawing/2014/main" id="{498F9068-822A-46A9-A8FC-FA4FBCAA397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44" y="1377"/>
              <a:ext cx="747" cy="1310"/>
              <a:chOff x="1344" y="1377"/>
              <a:chExt cx="747" cy="1310"/>
            </a:xfrm>
          </p:grpSpPr>
          <p:sp>
            <p:nvSpPr>
              <p:cNvPr id="61481" name="Line 50">
                <a:extLst>
                  <a:ext uri="{FF2B5EF4-FFF2-40B4-BE49-F238E27FC236}">
                    <a16:creationId xmlns:a16="http://schemas.microsoft.com/office/drawing/2014/main" id="{FA0B1151-150B-4D79-A1F3-0DDF3FA73FBC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888" y="2153"/>
                <a:ext cx="203" cy="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  <p:sp>
            <p:nvSpPr>
              <p:cNvPr id="61482" name="Rectangle 74">
                <a:extLst>
                  <a:ext uri="{FF2B5EF4-FFF2-40B4-BE49-F238E27FC236}">
                    <a16:creationId xmlns:a16="http://schemas.microsoft.com/office/drawing/2014/main" id="{9DB3C25D-6C3F-4B13-85E7-9B102AE25A8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344" y="1377"/>
                <a:ext cx="603" cy="1309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endParaRPr lang="en-GB" altLang="it-IT"/>
              </a:p>
            </p:txBody>
          </p:sp>
          <p:sp>
            <p:nvSpPr>
              <p:cNvPr id="61483" name="Rectangle 75">
                <a:extLst>
                  <a:ext uri="{FF2B5EF4-FFF2-40B4-BE49-F238E27FC236}">
                    <a16:creationId xmlns:a16="http://schemas.microsoft.com/office/drawing/2014/main" id="{10599358-1783-4F0B-8A3C-B506D0F41CA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344" y="1377"/>
                <a:ext cx="603" cy="2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000" i="1">
                    <a:latin typeface="Arial Rounded MT Bold" panose="020F0704030504030204" pitchFamily="34" charset="0"/>
                  </a:rPr>
                  <a:t>parameters</a:t>
                </a:r>
                <a:endParaRPr lang="en-US" altLang="it-IT" sz="1000"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61484" name="Rectangle 76">
                <a:extLst>
                  <a:ext uri="{FF2B5EF4-FFF2-40B4-BE49-F238E27FC236}">
                    <a16:creationId xmlns:a16="http://schemas.microsoft.com/office/drawing/2014/main" id="{6FB8DAFD-3358-4A0F-AACA-0F06884002A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344" y="1592"/>
                <a:ext cx="603" cy="221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000" i="1">
                    <a:latin typeface="Arial Rounded MT Bold" panose="020F0704030504030204" pitchFamily="34" charset="0"/>
                  </a:rPr>
                  <a:t>register </a:t>
                </a:r>
              </a:p>
              <a:p>
                <a:pPr algn="ctr"/>
                <a:r>
                  <a:rPr lang="en-US" altLang="it-IT" sz="1000" i="1">
                    <a:latin typeface="Arial Rounded MT Bold" panose="020F0704030504030204" pitchFamily="34" charset="0"/>
                  </a:rPr>
                  <a:t>save area</a:t>
                </a:r>
                <a:endParaRPr lang="en-US" altLang="it-IT" sz="1000"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61485" name="Rectangle 77">
                <a:extLst>
                  <a:ext uri="{FF2B5EF4-FFF2-40B4-BE49-F238E27FC236}">
                    <a16:creationId xmlns:a16="http://schemas.microsoft.com/office/drawing/2014/main" id="{1CE32B60-E3CF-4FF8-9143-5E787A0A0F2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344" y="1815"/>
                <a:ext cx="603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000" i="1">
                    <a:latin typeface="Arial Rounded MT Bold" panose="020F0704030504030204" pitchFamily="34" charset="0"/>
                  </a:rPr>
                  <a:t>return value</a:t>
                </a:r>
                <a:endParaRPr lang="en-US" altLang="it-IT" sz="1000"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61486" name="Rectangle 78">
                <a:extLst>
                  <a:ext uri="{FF2B5EF4-FFF2-40B4-BE49-F238E27FC236}">
                    <a16:creationId xmlns:a16="http://schemas.microsoft.com/office/drawing/2014/main" id="{5CC94644-3897-4060-97C1-80E935F21F0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344" y="1961"/>
                <a:ext cx="603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000" i="1">
                    <a:latin typeface="Arial Rounded MT Bold" panose="020F0704030504030204" pitchFamily="34" charset="0"/>
                  </a:rPr>
                  <a:t>return address</a:t>
                </a:r>
              </a:p>
            </p:txBody>
          </p:sp>
          <p:sp>
            <p:nvSpPr>
              <p:cNvPr id="61487" name="Rectangle 79">
                <a:extLst>
                  <a:ext uri="{FF2B5EF4-FFF2-40B4-BE49-F238E27FC236}">
                    <a16:creationId xmlns:a16="http://schemas.microsoft.com/office/drawing/2014/main" id="{F052FEFF-4FA6-4549-99CF-FBDF8829E94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344" y="2107"/>
                <a:ext cx="603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000" i="1">
                    <a:solidFill>
                      <a:srgbClr val="FF0065"/>
                    </a:solidFill>
                    <a:latin typeface="Arial Rounded MT Bold" panose="020F0704030504030204" pitchFamily="34" charset="0"/>
                  </a:rPr>
                  <a:t>saved ptr.</a:t>
                </a:r>
                <a:endParaRPr lang="en-US" altLang="it-IT" sz="1000">
                  <a:solidFill>
                    <a:srgbClr val="FF0065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61488" name="Rectangle 80">
                <a:extLst>
                  <a:ext uri="{FF2B5EF4-FFF2-40B4-BE49-F238E27FC236}">
                    <a16:creationId xmlns:a16="http://schemas.microsoft.com/office/drawing/2014/main" id="{618B1CE8-BECC-4B88-B405-47FD6D1927C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344" y="2253"/>
                <a:ext cx="603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000" i="1">
                    <a:latin typeface="Arial Rounded MT Bold" panose="020F0704030504030204" pitchFamily="34" charset="0"/>
                  </a:rPr>
                  <a:t>caller’s ARP</a:t>
                </a:r>
                <a:endParaRPr lang="en-US" altLang="it-IT" sz="1000"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61489" name="Rectangle 81">
                <a:extLst>
                  <a:ext uri="{FF2B5EF4-FFF2-40B4-BE49-F238E27FC236}">
                    <a16:creationId xmlns:a16="http://schemas.microsoft.com/office/drawing/2014/main" id="{DACF6558-2550-4898-9E73-C07B55FF709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344" y="2399"/>
                <a:ext cx="603" cy="28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000" i="1">
                    <a:latin typeface="Arial Rounded MT Bold" panose="020F0704030504030204" pitchFamily="34" charset="0"/>
                  </a:rPr>
                  <a:t>local </a:t>
                </a:r>
              </a:p>
              <a:p>
                <a:pPr algn="ctr"/>
                <a:r>
                  <a:rPr lang="en-US" altLang="it-IT" sz="1000" i="1">
                    <a:latin typeface="Arial Rounded MT Bold" panose="020F0704030504030204" pitchFamily="34" charset="0"/>
                  </a:rPr>
                  <a:t>variables</a:t>
                </a:r>
                <a:endParaRPr lang="en-US" altLang="it-IT" sz="1000"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61490" name="Rectangle 82">
                <a:extLst>
                  <a:ext uri="{FF2B5EF4-FFF2-40B4-BE49-F238E27FC236}">
                    <a16:creationId xmlns:a16="http://schemas.microsoft.com/office/drawing/2014/main" id="{39235222-66A9-4730-A1BA-1C00075A55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2225"/>
                <a:ext cx="48" cy="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endParaRPr lang="en-GB" altLang="it-IT"/>
              </a:p>
            </p:txBody>
          </p:sp>
        </p:grpSp>
        <p:cxnSp>
          <p:nvCxnSpPr>
            <p:cNvPr id="61455" name="AutoShape 84">
              <a:extLst>
                <a:ext uri="{FF2B5EF4-FFF2-40B4-BE49-F238E27FC236}">
                  <a16:creationId xmlns:a16="http://schemas.microsoft.com/office/drawing/2014/main" id="{4F2DC94E-8003-4681-9CB3-C980353149E9}"/>
                </a:ext>
              </a:extLst>
            </p:cNvPr>
            <p:cNvCxnSpPr>
              <a:cxnSpLocks noChangeShapeType="1"/>
              <a:stCxn id="61451" idx="3"/>
              <a:endCxn id="61490" idx="1"/>
            </p:cNvCxnSpPr>
            <p:nvPr/>
          </p:nvCxnSpPr>
          <p:spPr bwMode="auto">
            <a:xfrm>
              <a:off x="972" y="1416"/>
              <a:ext cx="372" cy="833"/>
            </a:xfrm>
            <a:prstGeom prst="bentConnector3">
              <a:avLst>
                <a:gd name="adj1" fmla="val 66130"/>
              </a:avLst>
            </a:prstGeom>
            <a:noFill/>
            <a:ln w="12700">
              <a:solidFill>
                <a:srgbClr val="B025A6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1456" name="AutoShape 85">
              <a:extLst>
                <a:ext uri="{FF2B5EF4-FFF2-40B4-BE49-F238E27FC236}">
                  <a16:creationId xmlns:a16="http://schemas.microsoft.com/office/drawing/2014/main" id="{1B6BBC6A-1E5A-48E1-99F8-867F70CDE0EF}"/>
                </a:ext>
              </a:extLst>
            </p:cNvPr>
            <p:cNvCxnSpPr>
              <a:cxnSpLocks noChangeShapeType="1"/>
              <a:stCxn id="61450" idx="3"/>
              <a:endCxn id="61470" idx="1"/>
            </p:cNvCxnSpPr>
            <p:nvPr/>
          </p:nvCxnSpPr>
          <p:spPr bwMode="auto">
            <a:xfrm>
              <a:off x="972" y="1272"/>
              <a:ext cx="1263" cy="864"/>
            </a:xfrm>
            <a:prstGeom prst="bentConnector3">
              <a:avLst>
                <a:gd name="adj1" fmla="val 87884"/>
              </a:avLst>
            </a:prstGeom>
            <a:noFill/>
            <a:ln w="12700">
              <a:solidFill>
                <a:srgbClr val="B025A6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61457" name="Group 92">
              <a:extLst>
                <a:ext uri="{FF2B5EF4-FFF2-40B4-BE49-F238E27FC236}">
                  <a16:creationId xmlns:a16="http://schemas.microsoft.com/office/drawing/2014/main" id="{C2C5A6FA-C641-4D5F-AFB4-13CFEC29545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17" y="1045"/>
              <a:ext cx="762" cy="1310"/>
              <a:chOff x="3117" y="1045"/>
              <a:chExt cx="762" cy="1310"/>
            </a:xfrm>
          </p:grpSpPr>
          <p:sp>
            <p:nvSpPr>
              <p:cNvPr id="61471" name="Rectangle 60">
                <a:extLst>
                  <a:ext uri="{FF2B5EF4-FFF2-40B4-BE49-F238E27FC236}">
                    <a16:creationId xmlns:a16="http://schemas.microsoft.com/office/drawing/2014/main" id="{345CF8A1-F974-435F-8652-D1AEB4E7DD7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121" y="1045"/>
                <a:ext cx="603" cy="1309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endParaRPr lang="en-GB" altLang="it-IT"/>
              </a:p>
            </p:txBody>
          </p:sp>
          <p:sp>
            <p:nvSpPr>
              <p:cNvPr id="61472" name="Rectangle 61">
                <a:extLst>
                  <a:ext uri="{FF2B5EF4-FFF2-40B4-BE49-F238E27FC236}">
                    <a16:creationId xmlns:a16="http://schemas.microsoft.com/office/drawing/2014/main" id="{543A085A-8F53-4CC4-B3FE-836ABFB4140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121" y="1045"/>
                <a:ext cx="603" cy="2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000" i="1">
                    <a:latin typeface="Arial Rounded MT Bold" panose="020F0704030504030204" pitchFamily="34" charset="0"/>
                  </a:rPr>
                  <a:t>parameters</a:t>
                </a:r>
                <a:endParaRPr lang="en-US" altLang="it-IT" sz="1000"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61473" name="Rectangle 62">
                <a:extLst>
                  <a:ext uri="{FF2B5EF4-FFF2-40B4-BE49-F238E27FC236}">
                    <a16:creationId xmlns:a16="http://schemas.microsoft.com/office/drawing/2014/main" id="{450770E3-0821-46F7-90D1-4022C97F76A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121" y="1260"/>
                <a:ext cx="603" cy="221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000" i="1">
                    <a:latin typeface="Arial Rounded MT Bold" panose="020F0704030504030204" pitchFamily="34" charset="0"/>
                  </a:rPr>
                  <a:t>register </a:t>
                </a:r>
              </a:p>
              <a:p>
                <a:pPr algn="ctr"/>
                <a:r>
                  <a:rPr lang="en-US" altLang="it-IT" sz="1000" i="1">
                    <a:latin typeface="Arial Rounded MT Bold" panose="020F0704030504030204" pitchFamily="34" charset="0"/>
                  </a:rPr>
                  <a:t>save area</a:t>
                </a:r>
                <a:endParaRPr lang="en-US" altLang="it-IT" sz="1000"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61474" name="Rectangle 63">
                <a:extLst>
                  <a:ext uri="{FF2B5EF4-FFF2-40B4-BE49-F238E27FC236}">
                    <a16:creationId xmlns:a16="http://schemas.microsoft.com/office/drawing/2014/main" id="{22ED223D-20DB-4740-B3A4-45542A3A620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121" y="1483"/>
                <a:ext cx="603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000" i="1">
                    <a:latin typeface="Arial Rounded MT Bold" panose="020F0704030504030204" pitchFamily="34" charset="0"/>
                  </a:rPr>
                  <a:t>return value</a:t>
                </a:r>
                <a:endParaRPr lang="en-US" altLang="it-IT" sz="1000"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61475" name="Rectangle 64">
                <a:extLst>
                  <a:ext uri="{FF2B5EF4-FFF2-40B4-BE49-F238E27FC236}">
                    <a16:creationId xmlns:a16="http://schemas.microsoft.com/office/drawing/2014/main" id="{D83C1409-177B-4C94-A800-10883A90E0E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121" y="1629"/>
                <a:ext cx="603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000" i="1">
                    <a:latin typeface="Arial Rounded MT Bold" panose="020F0704030504030204" pitchFamily="34" charset="0"/>
                  </a:rPr>
                  <a:t>return address</a:t>
                </a:r>
              </a:p>
            </p:txBody>
          </p:sp>
          <p:sp>
            <p:nvSpPr>
              <p:cNvPr id="61476" name="Rectangle 65">
                <a:extLst>
                  <a:ext uri="{FF2B5EF4-FFF2-40B4-BE49-F238E27FC236}">
                    <a16:creationId xmlns:a16="http://schemas.microsoft.com/office/drawing/2014/main" id="{67AC616D-FE8B-4CF9-A15F-10265BEB2DB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121" y="1775"/>
                <a:ext cx="603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000" i="1">
                    <a:solidFill>
                      <a:srgbClr val="FF0065"/>
                    </a:solidFill>
                    <a:latin typeface="Arial Rounded MT Bold" panose="020F0704030504030204" pitchFamily="34" charset="0"/>
                  </a:rPr>
                  <a:t>saved ptr.</a:t>
                </a:r>
                <a:endParaRPr lang="en-US" altLang="it-IT" sz="1000">
                  <a:solidFill>
                    <a:srgbClr val="FF0065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61477" name="Rectangle 66">
                <a:extLst>
                  <a:ext uri="{FF2B5EF4-FFF2-40B4-BE49-F238E27FC236}">
                    <a16:creationId xmlns:a16="http://schemas.microsoft.com/office/drawing/2014/main" id="{C9C6BF5A-1414-466D-B2EE-F342640E910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121" y="1921"/>
                <a:ext cx="603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000" i="1">
                    <a:latin typeface="Arial Rounded MT Bold" panose="020F0704030504030204" pitchFamily="34" charset="0"/>
                  </a:rPr>
                  <a:t>caller’s ARP</a:t>
                </a:r>
                <a:endParaRPr lang="en-US" altLang="it-IT" sz="1000"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61478" name="Rectangle 67">
                <a:extLst>
                  <a:ext uri="{FF2B5EF4-FFF2-40B4-BE49-F238E27FC236}">
                    <a16:creationId xmlns:a16="http://schemas.microsoft.com/office/drawing/2014/main" id="{C76C536C-93B6-4602-8416-00830B9E13A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121" y="2067"/>
                <a:ext cx="603" cy="28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000" i="1">
                    <a:latin typeface="Arial Rounded MT Bold" panose="020F0704030504030204" pitchFamily="34" charset="0"/>
                  </a:rPr>
                  <a:t>local </a:t>
                </a:r>
              </a:p>
              <a:p>
                <a:pPr algn="ctr"/>
                <a:r>
                  <a:rPr lang="en-US" altLang="it-IT" sz="1000" i="1">
                    <a:latin typeface="Arial Rounded MT Bold" panose="020F0704030504030204" pitchFamily="34" charset="0"/>
                  </a:rPr>
                  <a:t>variables</a:t>
                </a:r>
                <a:endParaRPr lang="en-US" altLang="it-IT" sz="1000"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61479" name="Line 68">
                <a:extLst>
                  <a:ext uri="{FF2B5EF4-FFF2-40B4-BE49-F238E27FC236}">
                    <a16:creationId xmlns:a16="http://schemas.microsoft.com/office/drawing/2014/main" id="{49E566F8-476E-47F7-BC4D-B64A8DB3C589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676" y="1997"/>
                <a:ext cx="203" cy="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  <p:sp>
            <p:nvSpPr>
              <p:cNvPr id="61480" name="Rectangle 86">
                <a:extLst>
                  <a:ext uri="{FF2B5EF4-FFF2-40B4-BE49-F238E27FC236}">
                    <a16:creationId xmlns:a16="http://schemas.microsoft.com/office/drawing/2014/main" id="{2362BD57-454E-428F-A6B7-7EBFE31267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17" y="1893"/>
                <a:ext cx="48" cy="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58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endParaRPr lang="en-GB" altLang="it-IT"/>
              </a:p>
            </p:txBody>
          </p:sp>
        </p:grpSp>
        <p:cxnSp>
          <p:nvCxnSpPr>
            <p:cNvPr id="61458" name="AutoShape 87">
              <a:extLst>
                <a:ext uri="{FF2B5EF4-FFF2-40B4-BE49-F238E27FC236}">
                  <a16:creationId xmlns:a16="http://schemas.microsoft.com/office/drawing/2014/main" id="{3390B499-D018-4337-821B-0C8CF1B34102}"/>
                </a:ext>
              </a:extLst>
            </p:cNvPr>
            <p:cNvCxnSpPr>
              <a:cxnSpLocks noChangeShapeType="1"/>
              <a:stCxn id="61449" idx="3"/>
              <a:endCxn id="61480" idx="1"/>
            </p:cNvCxnSpPr>
            <p:nvPr/>
          </p:nvCxnSpPr>
          <p:spPr bwMode="auto">
            <a:xfrm>
              <a:off x="972" y="1128"/>
              <a:ext cx="2145" cy="789"/>
            </a:xfrm>
            <a:prstGeom prst="bentConnector3">
              <a:avLst>
                <a:gd name="adj1" fmla="val 93102"/>
              </a:avLst>
            </a:prstGeom>
            <a:noFill/>
            <a:ln w="12700">
              <a:solidFill>
                <a:srgbClr val="B025A6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61459" name="Group 93">
              <a:extLst>
                <a:ext uri="{FF2B5EF4-FFF2-40B4-BE49-F238E27FC236}">
                  <a16:creationId xmlns:a16="http://schemas.microsoft.com/office/drawing/2014/main" id="{CF28C2AD-AF76-41EA-A2EF-8BF5B4E6990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20" y="1206"/>
              <a:ext cx="758" cy="1310"/>
              <a:chOff x="2220" y="1206"/>
              <a:chExt cx="758" cy="1310"/>
            </a:xfrm>
          </p:grpSpPr>
          <p:sp>
            <p:nvSpPr>
              <p:cNvPr id="61460" name="Rectangle 51">
                <a:extLst>
                  <a:ext uri="{FF2B5EF4-FFF2-40B4-BE49-F238E27FC236}">
                    <a16:creationId xmlns:a16="http://schemas.microsoft.com/office/drawing/2014/main" id="{540F8553-7C9A-45F4-9EE6-F6245F58E01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220" y="1206"/>
                <a:ext cx="603" cy="1309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endParaRPr lang="en-GB" altLang="it-IT"/>
              </a:p>
            </p:txBody>
          </p:sp>
          <p:sp>
            <p:nvSpPr>
              <p:cNvPr id="61461" name="Rectangle 52">
                <a:extLst>
                  <a:ext uri="{FF2B5EF4-FFF2-40B4-BE49-F238E27FC236}">
                    <a16:creationId xmlns:a16="http://schemas.microsoft.com/office/drawing/2014/main" id="{26AD6664-BA63-4813-877A-F1E1D9B890B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220" y="1206"/>
                <a:ext cx="603" cy="2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000" i="1">
                    <a:latin typeface="Arial Rounded MT Bold" panose="020F0704030504030204" pitchFamily="34" charset="0"/>
                  </a:rPr>
                  <a:t>parameters</a:t>
                </a:r>
                <a:endParaRPr lang="en-US" altLang="it-IT" sz="1000"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61462" name="Rectangle 53">
                <a:extLst>
                  <a:ext uri="{FF2B5EF4-FFF2-40B4-BE49-F238E27FC236}">
                    <a16:creationId xmlns:a16="http://schemas.microsoft.com/office/drawing/2014/main" id="{40328026-28AE-42D6-85D4-C5123FC2A0C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220" y="1421"/>
                <a:ext cx="603" cy="221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000" i="1">
                    <a:latin typeface="Arial Rounded MT Bold" panose="020F0704030504030204" pitchFamily="34" charset="0"/>
                  </a:rPr>
                  <a:t>register </a:t>
                </a:r>
              </a:p>
              <a:p>
                <a:pPr algn="ctr"/>
                <a:r>
                  <a:rPr lang="en-US" altLang="it-IT" sz="1000" i="1">
                    <a:latin typeface="Arial Rounded MT Bold" panose="020F0704030504030204" pitchFamily="34" charset="0"/>
                  </a:rPr>
                  <a:t>save area</a:t>
                </a:r>
                <a:endParaRPr lang="en-US" altLang="it-IT" sz="1000"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61463" name="Rectangle 54">
                <a:extLst>
                  <a:ext uri="{FF2B5EF4-FFF2-40B4-BE49-F238E27FC236}">
                    <a16:creationId xmlns:a16="http://schemas.microsoft.com/office/drawing/2014/main" id="{558FC0BF-BD63-4E41-B659-A4E79B4672A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220" y="1644"/>
                <a:ext cx="603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000" i="1">
                    <a:latin typeface="Arial Rounded MT Bold" panose="020F0704030504030204" pitchFamily="34" charset="0"/>
                  </a:rPr>
                  <a:t>return value</a:t>
                </a:r>
                <a:endParaRPr lang="en-US" altLang="it-IT" sz="1000"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61464" name="Rectangle 55">
                <a:extLst>
                  <a:ext uri="{FF2B5EF4-FFF2-40B4-BE49-F238E27FC236}">
                    <a16:creationId xmlns:a16="http://schemas.microsoft.com/office/drawing/2014/main" id="{43C36E4B-2BF3-44A0-BDCA-D43FCB25723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220" y="1790"/>
                <a:ext cx="603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000" i="1">
                    <a:latin typeface="Arial Rounded MT Bold" panose="020F0704030504030204" pitchFamily="34" charset="0"/>
                  </a:rPr>
                  <a:t>return address</a:t>
                </a:r>
              </a:p>
            </p:txBody>
          </p:sp>
          <p:sp>
            <p:nvSpPr>
              <p:cNvPr id="61465" name="Rectangle 56">
                <a:extLst>
                  <a:ext uri="{FF2B5EF4-FFF2-40B4-BE49-F238E27FC236}">
                    <a16:creationId xmlns:a16="http://schemas.microsoft.com/office/drawing/2014/main" id="{6ACCAE10-44DB-4A4F-9415-98EEE48D1A2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220" y="1936"/>
                <a:ext cx="603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000" i="1">
                    <a:solidFill>
                      <a:srgbClr val="FF0065"/>
                    </a:solidFill>
                    <a:latin typeface="Arial Rounded MT Bold" panose="020F0704030504030204" pitchFamily="34" charset="0"/>
                  </a:rPr>
                  <a:t>saved ptr.</a:t>
                </a:r>
                <a:endParaRPr lang="en-US" altLang="it-IT" sz="1000">
                  <a:solidFill>
                    <a:srgbClr val="FF0065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61466" name="Rectangle 57">
                <a:extLst>
                  <a:ext uri="{FF2B5EF4-FFF2-40B4-BE49-F238E27FC236}">
                    <a16:creationId xmlns:a16="http://schemas.microsoft.com/office/drawing/2014/main" id="{031CB9C1-83A7-4313-87ED-766C7347695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220" y="2082"/>
                <a:ext cx="603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000" i="1">
                    <a:latin typeface="Arial Rounded MT Bold" panose="020F0704030504030204" pitchFamily="34" charset="0"/>
                  </a:rPr>
                  <a:t>caller’s ARP</a:t>
                </a:r>
                <a:endParaRPr lang="en-US" altLang="it-IT" sz="1000"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61467" name="Rectangle 58">
                <a:extLst>
                  <a:ext uri="{FF2B5EF4-FFF2-40B4-BE49-F238E27FC236}">
                    <a16:creationId xmlns:a16="http://schemas.microsoft.com/office/drawing/2014/main" id="{6AEAFD1E-24A6-420A-B3BB-CE448B53383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220" y="2228"/>
                <a:ext cx="603" cy="28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000" i="1">
                    <a:latin typeface="Arial Rounded MT Bold" panose="020F0704030504030204" pitchFamily="34" charset="0"/>
                  </a:rPr>
                  <a:t>local </a:t>
                </a:r>
              </a:p>
              <a:p>
                <a:pPr algn="ctr"/>
                <a:r>
                  <a:rPr lang="en-US" altLang="it-IT" sz="1000" i="1">
                    <a:latin typeface="Arial Rounded MT Bold" panose="020F0704030504030204" pitchFamily="34" charset="0"/>
                  </a:rPr>
                  <a:t>variables</a:t>
                </a:r>
                <a:endParaRPr lang="en-US" altLang="it-IT" sz="1000"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61468" name="Line 59">
                <a:extLst>
                  <a:ext uri="{FF2B5EF4-FFF2-40B4-BE49-F238E27FC236}">
                    <a16:creationId xmlns:a16="http://schemas.microsoft.com/office/drawing/2014/main" id="{7E34F52D-05BE-484E-B75E-DFD32CC6305B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775" y="2158"/>
                <a:ext cx="203" cy="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  <p:sp>
            <p:nvSpPr>
              <p:cNvPr id="61469" name="Rectangle 83">
                <a:extLst>
                  <a:ext uri="{FF2B5EF4-FFF2-40B4-BE49-F238E27FC236}">
                    <a16:creationId xmlns:a16="http://schemas.microsoft.com/office/drawing/2014/main" id="{6EFF045A-F943-40AE-B841-0DC9D0A547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1" y="1989"/>
                <a:ext cx="48" cy="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endParaRPr lang="en-GB" altLang="it-IT"/>
              </a:p>
            </p:txBody>
          </p:sp>
          <p:sp>
            <p:nvSpPr>
              <p:cNvPr id="61470" name="Rectangle 88">
                <a:extLst>
                  <a:ext uri="{FF2B5EF4-FFF2-40B4-BE49-F238E27FC236}">
                    <a16:creationId xmlns:a16="http://schemas.microsoft.com/office/drawing/2014/main" id="{8624FE52-9E60-42D9-B227-54CC53EF97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35" y="2112"/>
                <a:ext cx="48" cy="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endParaRPr lang="en-GB" altLang="it-IT"/>
              </a:p>
            </p:txBody>
          </p:sp>
        </p:grpSp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58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584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Footer Placeholder 3">
            <a:extLst>
              <a:ext uri="{FF2B5EF4-FFF2-40B4-BE49-F238E27FC236}">
                <a16:creationId xmlns:a16="http://schemas.microsoft.com/office/drawing/2014/main" id="{2AB7D27C-60C1-43B9-9E34-1363A7AD0D8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200"/>
              <a:t>Comp 412, Fall 2010</a:t>
            </a:r>
          </a:p>
        </p:txBody>
      </p:sp>
      <p:sp>
        <p:nvSpPr>
          <p:cNvPr id="63490" name="Slide Number Placeholder 4">
            <a:extLst>
              <a:ext uri="{FF2B5EF4-FFF2-40B4-BE49-F238E27FC236}">
                <a16:creationId xmlns:a16="http://schemas.microsoft.com/office/drawing/2014/main" id="{3662D2AD-8380-4F56-9663-2E946F44B8D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5E9730FC-0F4F-4468-8B50-12036F36BEA9}" type="slidenum">
              <a:rPr lang="en-US" altLang="it-IT" sz="1200"/>
              <a:pPr/>
              <a:t>24</a:t>
            </a:fld>
            <a:endParaRPr lang="en-US" altLang="it-IT" sz="1200"/>
          </a:p>
        </p:txBody>
      </p:sp>
      <p:sp>
        <p:nvSpPr>
          <p:cNvPr id="63491" name="Rectangle 2">
            <a:extLst>
              <a:ext uri="{FF2B5EF4-FFF2-40B4-BE49-F238E27FC236}">
                <a16:creationId xmlns:a16="http://schemas.microsoft.com/office/drawing/2014/main" id="{5C74B9EE-B5F4-4B88-8515-8B4B3E778D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Bef>
                <a:spcPct val="30000"/>
              </a:spcBef>
            </a:pPr>
            <a:r>
              <a:rPr lang="en-US" altLang="it-IT"/>
              <a:t>Establishing Addressability</a:t>
            </a:r>
          </a:p>
        </p:txBody>
      </p:sp>
      <p:sp>
        <p:nvSpPr>
          <p:cNvPr id="63492" name="Rectangle 3">
            <a:extLst>
              <a:ext uri="{FF2B5EF4-FFF2-40B4-BE49-F238E27FC236}">
                <a16:creationId xmlns:a16="http://schemas.microsoft.com/office/drawing/2014/main" id="{D469E230-E545-4C58-83B9-0811658833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066800"/>
            <a:ext cx="7772400" cy="5257800"/>
          </a:xfrm>
        </p:spPr>
        <p:txBody>
          <a:bodyPr/>
          <a:lstStyle/>
          <a:p>
            <a:pPr eaLnBrk="1" hangingPunct="1">
              <a:spcBef>
                <a:spcPts val="600"/>
              </a:spcBef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Access Links Versus Display</a:t>
            </a:r>
          </a:p>
          <a:p>
            <a:pPr eaLnBrk="1" hangingPunct="1">
              <a:spcBef>
                <a:spcPts val="600"/>
              </a:spcBef>
            </a:pPr>
            <a:r>
              <a:rPr lang="en-US" altLang="it-IT"/>
              <a:t>Each adds some overhead to each call</a:t>
            </a:r>
          </a:p>
          <a:p>
            <a:pPr eaLnBrk="1" hangingPunct="1">
              <a:spcBef>
                <a:spcPts val="600"/>
              </a:spcBef>
            </a:pPr>
            <a:r>
              <a:rPr lang="en-US" altLang="it-IT"/>
              <a:t>Access links costs vary with level of reference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it-IT"/>
              <a:t>Overhead only incurred on references &amp; calls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it-IT"/>
              <a:t>If ARs outlive the procedure, access links still work</a:t>
            </a:r>
          </a:p>
          <a:p>
            <a:pPr eaLnBrk="1" hangingPunct="1">
              <a:spcBef>
                <a:spcPts val="600"/>
              </a:spcBef>
            </a:pPr>
            <a:r>
              <a:rPr lang="en-US" altLang="it-IT"/>
              <a:t>Display costs are fixed for all references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it-IT"/>
              <a:t>References &amp; calls must load display address</a:t>
            </a:r>
          </a:p>
          <a:p>
            <a:pPr lvl="1" eaLnBrk="1" hangingPunct="1">
              <a:spcBef>
                <a:spcPts val="1200"/>
              </a:spcBef>
            </a:pPr>
            <a:r>
              <a:rPr lang="en-US" altLang="it-IT"/>
              <a:t>Typically, this requires a register                 </a:t>
            </a:r>
            <a:r>
              <a:rPr lang="en-US" altLang="it-IT" i="1">
                <a:solidFill>
                  <a:srgbClr val="FF0065"/>
                </a:solidFill>
              </a:rPr>
              <a:t>(rematerialization)</a:t>
            </a:r>
            <a:endParaRPr lang="en-US" altLang="it-IT">
              <a:solidFill>
                <a:srgbClr val="FF0065"/>
              </a:solidFill>
            </a:endParaRPr>
          </a:p>
          <a:p>
            <a:pPr eaLnBrk="1" hangingPunct="1">
              <a:spcBef>
                <a:spcPts val="1800"/>
              </a:spcBef>
              <a:buFont typeface="Times" panose="02020603050405020304" pitchFamily="18" charset="0"/>
              <a:buNone/>
            </a:pPr>
            <a:r>
              <a:rPr lang="en-US" altLang="it-IT"/>
              <a:t>Your mileage will vary</a:t>
            </a:r>
          </a:p>
          <a:p>
            <a:pPr eaLnBrk="1" hangingPunct="1">
              <a:spcBef>
                <a:spcPts val="600"/>
              </a:spcBef>
            </a:pPr>
            <a:r>
              <a:rPr lang="en-US" altLang="it-IT"/>
              <a:t>Depends on ratio of non-local accesses to calls</a:t>
            </a:r>
          </a:p>
          <a:p>
            <a:pPr eaLnBrk="1" hangingPunct="1">
              <a:spcBef>
                <a:spcPts val="600"/>
              </a:spcBef>
            </a:pPr>
            <a:r>
              <a:rPr lang="en-US" altLang="it-IT"/>
              <a:t>Extra register can make a difference in overall speed</a:t>
            </a:r>
          </a:p>
          <a:p>
            <a:pPr algn="ctr" eaLnBrk="1" hangingPunct="1">
              <a:spcBef>
                <a:spcPts val="1800"/>
              </a:spcBef>
              <a:buFont typeface="Times" panose="02020603050405020304" pitchFamily="18" charset="0"/>
              <a:buNone/>
            </a:pPr>
            <a:r>
              <a:rPr lang="en-US" altLang="it-IT" i="1">
                <a:solidFill>
                  <a:srgbClr val="003C75"/>
                </a:solidFill>
              </a:rPr>
              <a:t>For either scheme to work, the compiler must</a:t>
            </a:r>
          </a:p>
          <a:p>
            <a:pPr algn="ctr" eaLnBrk="1" hangingPunct="1">
              <a:spcBef>
                <a:spcPct val="0"/>
              </a:spcBef>
              <a:buFont typeface="Times" panose="02020603050405020304" pitchFamily="18" charset="0"/>
              <a:buNone/>
            </a:pPr>
            <a:r>
              <a:rPr lang="en-US" altLang="it-IT" i="1">
                <a:solidFill>
                  <a:srgbClr val="003C75"/>
                </a:solidFill>
              </a:rPr>
              <a:t>insert code into each procedure call &amp; return</a:t>
            </a:r>
          </a:p>
        </p:txBody>
      </p:sp>
    </p:spTree>
  </p:cSld>
  <p:clrMapOvr>
    <a:masterClrMapping/>
  </p:clrMapOvr>
  <p:transition>
    <p:wipe dir="r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Footer Placeholder 3">
            <a:extLst>
              <a:ext uri="{FF2B5EF4-FFF2-40B4-BE49-F238E27FC236}">
                <a16:creationId xmlns:a16="http://schemas.microsoft.com/office/drawing/2014/main" id="{10D9896F-47DE-4B66-867C-2201B90FC35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200"/>
              <a:t>Comp 412, Fall 2010</a:t>
            </a:r>
          </a:p>
        </p:txBody>
      </p:sp>
      <p:sp>
        <p:nvSpPr>
          <p:cNvPr id="65538" name="Slide Number Placeholder 4">
            <a:extLst>
              <a:ext uri="{FF2B5EF4-FFF2-40B4-BE49-F238E27FC236}">
                <a16:creationId xmlns:a16="http://schemas.microsoft.com/office/drawing/2014/main" id="{54730FC0-1D98-4995-BBFB-1452A0CCAA7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D037F79B-FD94-4484-9FDA-35A1E966A918}" type="slidenum">
              <a:rPr lang="en-US" altLang="it-IT" sz="1200"/>
              <a:pPr/>
              <a:t>25</a:t>
            </a:fld>
            <a:endParaRPr lang="en-US" altLang="it-IT" sz="1200"/>
          </a:p>
        </p:txBody>
      </p:sp>
      <p:sp>
        <p:nvSpPr>
          <p:cNvPr id="65539" name="Rectangle 2">
            <a:extLst>
              <a:ext uri="{FF2B5EF4-FFF2-40B4-BE49-F238E27FC236}">
                <a16:creationId xmlns:a16="http://schemas.microsoft.com/office/drawing/2014/main" id="{80A40A6B-F1D5-4655-BA56-0D646BC4D1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>
                <a:solidFill>
                  <a:schemeClr val="tx1"/>
                </a:solidFill>
              </a:rPr>
              <a:t>Creating and Destroying Activation Records</a:t>
            </a:r>
          </a:p>
        </p:txBody>
      </p:sp>
      <p:sp>
        <p:nvSpPr>
          <p:cNvPr id="56325" name="Rectangle 3">
            <a:extLst>
              <a:ext uri="{FF2B5EF4-FFF2-40B4-BE49-F238E27FC236}">
                <a16:creationId xmlns:a16="http://schemas.microsoft.com/office/drawing/2014/main" id="{84948A88-8872-411D-B765-EB3EBC1465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4763" indent="-4763" eaLnBrk="1" hangingPunct="1">
              <a:spcBef>
                <a:spcPts val="600"/>
              </a:spcBef>
              <a:buFont typeface="Times" charset="0"/>
              <a:buNone/>
              <a:defRPr/>
            </a:pPr>
            <a:r>
              <a:rPr lang="en-US" dirty="0">
                <a:solidFill>
                  <a:srgbClr val="003C75"/>
                </a:solidFill>
              </a:rPr>
              <a:t>All three parts of the procedure abstraction leave state </a:t>
            </a:r>
          </a:p>
          <a:p>
            <a:pPr marL="4763" indent="-4763" eaLnBrk="1" hangingPunct="1">
              <a:spcBef>
                <a:spcPts val="0"/>
              </a:spcBef>
              <a:buFont typeface="Times" charset="0"/>
              <a:buNone/>
              <a:defRPr/>
            </a:pPr>
            <a:r>
              <a:rPr lang="en-US" dirty="0">
                <a:solidFill>
                  <a:srgbClr val="003C75"/>
                </a:solidFill>
              </a:rPr>
              <a:t>in the activation record</a:t>
            </a:r>
          </a:p>
          <a:p>
            <a:pPr eaLnBrk="1" hangingPunct="1">
              <a:spcBef>
                <a:spcPts val="1800"/>
              </a:spcBef>
              <a:buFont typeface="Times" charset="0"/>
              <a:buChar char="•"/>
              <a:defRPr/>
            </a:pPr>
            <a:r>
              <a:rPr lang="en-US" dirty="0"/>
              <a:t>How are </a:t>
            </a:r>
            <a:r>
              <a:rPr lang="en-US" dirty="0" err="1"/>
              <a:t>ARs</a:t>
            </a:r>
            <a:r>
              <a:rPr lang="en-US" dirty="0"/>
              <a:t> created and destroyed?</a:t>
            </a:r>
          </a:p>
          <a:p>
            <a:pPr lvl="1" eaLnBrk="1" hangingPunct="1">
              <a:spcBef>
                <a:spcPts val="600"/>
              </a:spcBef>
              <a:defRPr/>
            </a:pPr>
            <a:r>
              <a:rPr lang="en-US" dirty="0"/>
              <a:t>Procedure call  must allocate &amp; initialize    </a:t>
            </a:r>
            <a:r>
              <a:rPr lang="en-US" i="1" dirty="0">
                <a:solidFill>
                  <a:srgbClr val="FF0065"/>
                </a:solidFill>
              </a:rPr>
              <a:t>(</a:t>
            </a:r>
            <a:r>
              <a:rPr lang="en-US" sz="1600" i="1" dirty="0">
                <a:solidFill>
                  <a:srgbClr val="FF0065"/>
                </a:solidFill>
              </a:rPr>
              <a:t>preserve caller’s world</a:t>
            </a:r>
            <a:r>
              <a:rPr lang="en-US" i="1" dirty="0">
                <a:solidFill>
                  <a:srgbClr val="FF0065"/>
                </a:solidFill>
              </a:rPr>
              <a:t>)</a:t>
            </a:r>
            <a:endParaRPr lang="en-US" dirty="0">
              <a:solidFill>
                <a:srgbClr val="FF0065"/>
              </a:solidFill>
            </a:endParaRPr>
          </a:p>
          <a:p>
            <a:pPr lvl="1" eaLnBrk="1" hangingPunct="1">
              <a:spcBef>
                <a:spcPts val="600"/>
              </a:spcBef>
              <a:defRPr/>
            </a:pPr>
            <a:r>
              <a:rPr lang="en-US" dirty="0"/>
              <a:t>Return must dismantle environment       </a:t>
            </a:r>
            <a:r>
              <a:rPr lang="en-US" i="1" dirty="0">
                <a:solidFill>
                  <a:srgbClr val="FF0065"/>
                </a:solidFill>
              </a:rPr>
              <a:t>(</a:t>
            </a:r>
            <a:r>
              <a:rPr lang="en-US" sz="1600" i="1" dirty="0">
                <a:solidFill>
                  <a:srgbClr val="FF0065"/>
                </a:solidFill>
              </a:rPr>
              <a:t>and restore caller’s world</a:t>
            </a:r>
            <a:r>
              <a:rPr lang="en-US" i="1" dirty="0">
                <a:solidFill>
                  <a:srgbClr val="FF0065"/>
                </a:solidFill>
              </a:rPr>
              <a:t>)</a:t>
            </a:r>
            <a:endParaRPr lang="en-US" dirty="0"/>
          </a:p>
          <a:p>
            <a:pPr eaLnBrk="1" hangingPunct="1">
              <a:spcBef>
                <a:spcPts val="1200"/>
              </a:spcBef>
              <a:buFont typeface="Times" charset="0"/>
              <a:buChar char="•"/>
              <a:defRPr/>
            </a:pPr>
            <a:r>
              <a:rPr lang="en-US" dirty="0"/>
              <a:t>Caller &amp; </a:t>
            </a:r>
            <a:r>
              <a:rPr lang="en-US" dirty="0" err="1"/>
              <a:t>callee</a:t>
            </a:r>
            <a:r>
              <a:rPr lang="en-US" dirty="0"/>
              <a:t> must collaborate on the problem</a:t>
            </a:r>
          </a:p>
          <a:p>
            <a:pPr lvl="1" eaLnBrk="1" hangingPunct="1">
              <a:spcBef>
                <a:spcPts val="600"/>
              </a:spcBef>
              <a:defRPr/>
            </a:pPr>
            <a:r>
              <a:rPr lang="en-US" dirty="0"/>
              <a:t>Caller alone knows some of the necessary state</a:t>
            </a:r>
          </a:p>
          <a:p>
            <a:pPr lvl="2" eaLnBrk="1" hangingPunct="1">
              <a:spcBef>
                <a:spcPts val="600"/>
              </a:spcBef>
              <a:buFont typeface="Symbol" charset="2"/>
              <a:buChar char=""/>
              <a:defRPr/>
            </a:pPr>
            <a:r>
              <a:rPr lang="en-US" sz="1800" dirty="0"/>
              <a:t>Return address, parameter values, access to other scopes</a:t>
            </a:r>
          </a:p>
          <a:p>
            <a:pPr lvl="1" eaLnBrk="1" hangingPunct="1">
              <a:spcBef>
                <a:spcPts val="600"/>
              </a:spcBef>
              <a:defRPr/>
            </a:pPr>
            <a:r>
              <a:rPr lang="en-US" dirty="0" err="1"/>
              <a:t>Callee</a:t>
            </a:r>
            <a:r>
              <a:rPr lang="en-US" dirty="0"/>
              <a:t> alone knows the rest</a:t>
            </a:r>
          </a:p>
          <a:p>
            <a:pPr lvl="2" eaLnBrk="1" hangingPunct="1">
              <a:spcBef>
                <a:spcPts val="600"/>
              </a:spcBef>
              <a:buFont typeface="Symbol" charset="2"/>
              <a:buChar char=""/>
              <a:defRPr/>
            </a:pPr>
            <a:r>
              <a:rPr lang="en-US" sz="1800" dirty="0"/>
              <a:t>Size of local data area (with spills), registers it will use</a:t>
            </a:r>
          </a:p>
          <a:p>
            <a:pPr eaLnBrk="1" hangingPunct="1">
              <a:spcBef>
                <a:spcPts val="2400"/>
              </a:spcBef>
              <a:buFont typeface="Times" charset="0"/>
              <a:buNone/>
              <a:defRPr/>
            </a:pPr>
            <a:r>
              <a:rPr lang="en-US" dirty="0"/>
              <a:t>Their collaboration takes the form of a </a:t>
            </a:r>
            <a:r>
              <a:rPr lang="en-US" i="1" u="sng" dirty="0"/>
              <a:t>linkage convention</a:t>
            </a:r>
            <a:endParaRPr lang="en-US" dirty="0"/>
          </a:p>
        </p:txBody>
      </p:sp>
      <p:grpSp>
        <p:nvGrpSpPr>
          <p:cNvPr id="56326" name="Group 7">
            <a:extLst>
              <a:ext uri="{FF2B5EF4-FFF2-40B4-BE49-F238E27FC236}">
                <a16:creationId xmlns:a16="http://schemas.microsoft.com/office/drawing/2014/main" id="{E56A0A8A-7DE5-460E-B497-FF7DCDD335B0}"/>
              </a:ext>
            </a:extLst>
          </p:cNvPr>
          <p:cNvGrpSpPr>
            <a:grpSpLocks/>
          </p:cNvGrpSpPr>
          <p:nvPr/>
        </p:nvGrpSpPr>
        <p:grpSpPr bwMode="auto">
          <a:xfrm>
            <a:off x="5562600" y="1609725"/>
            <a:ext cx="3154362" cy="600075"/>
            <a:chOff x="5609020" y="1685836"/>
            <a:chExt cx="3153980" cy="600164"/>
          </a:xfrm>
          <a:solidFill>
            <a:schemeClr val="bg1">
              <a:lumMod val="75000"/>
            </a:schemeClr>
          </a:solidFill>
        </p:grpSpPr>
        <p:sp>
          <p:nvSpPr>
            <p:cNvPr id="56327" name="TextBox 5">
              <a:extLst>
                <a:ext uri="{FF2B5EF4-FFF2-40B4-BE49-F238E27FC236}">
                  <a16:creationId xmlns:a16="http://schemas.microsoft.com/office/drawing/2014/main" id="{38145992-B19B-4807-921A-09244CF434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96000" y="1685836"/>
              <a:ext cx="2667000" cy="600164"/>
            </a:xfrm>
            <a:prstGeom prst="rect">
              <a:avLst/>
            </a:prstGeom>
            <a:grpFill/>
            <a:ln w="19050" cap="flat" cmpd="sng" algn="ctr">
              <a:solidFill>
                <a:schemeClr val="bg1">
                  <a:lumMod val="50000"/>
                </a:schemeClr>
              </a:solidFill>
              <a:prstDash val="solid"/>
              <a:miter lim="800000"/>
              <a:headEnd type="none" w="med" len="med"/>
              <a:tailEnd w="med" len="med"/>
            </a:ln>
          </p:spPr>
          <p:txBody>
            <a:bodyPr>
              <a:spAutoFit/>
            </a:bodyPr>
            <a:lstStyle/>
            <a:p>
              <a:pPr eaLnBrk="0" hangingPunct="0">
                <a:defRPr/>
              </a:pPr>
              <a:r>
                <a:rPr lang="en-US" sz="1100">
                  <a:solidFill>
                    <a:srgbClr val="003C75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Assume, for the moment, an Algol-60 environment where the activation information is dead on the return.</a:t>
              </a:r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78DD3BC2-D587-49AE-AB96-804DD416DF04}"/>
                </a:ext>
              </a:extLst>
            </p:cNvPr>
            <p:cNvSpPr/>
            <p:nvPr/>
          </p:nvSpPr>
          <p:spPr bwMode="auto">
            <a:xfrm>
              <a:off x="5609020" y="1814443"/>
              <a:ext cx="487303" cy="457268"/>
            </a:xfrm>
            <a:custGeom>
              <a:avLst/>
              <a:gdLst>
                <a:gd name="connsiteX0" fmla="*/ 486980 w 486980"/>
                <a:gd name="connsiteY0" fmla="*/ 0 h 458314"/>
                <a:gd name="connsiteX1" fmla="*/ 219618 w 486980"/>
                <a:gd name="connsiteY1" fmla="*/ 200513 h 458314"/>
                <a:gd name="connsiteX2" fmla="*/ 381945 w 486980"/>
                <a:gd name="connsiteY2" fmla="*/ 181416 h 458314"/>
                <a:gd name="connsiteX3" fmla="*/ 0 w 486980"/>
                <a:gd name="connsiteY3" fmla="*/ 458314 h 45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6980" h="458314">
                  <a:moveTo>
                    <a:pt x="486980" y="0"/>
                  </a:moveTo>
                  <a:cubicBezTo>
                    <a:pt x="362052" y="85138"/>
                    <a:pt x="237124" y="170277"/>
                    <a:pt x="219618" y="200513"/>
                  </a:cubicBezTo>
                  <a:cubicBezTo>
                    <a:pt x="202112" y="230749"/>
                    <a:pt x="418548" y="138449"/>
                    <a:pt x="381945" y="181416"/>
                  </a:cubicBezTo>
                  <a:cubicBezTo>
                    <a:pt x="345342" y="224383"/>
                    <a:pt x="0" y="458314"/>
                    <a:pt x="0" y="458314"/>
                  </a:cubicBezTo>
                </a:path>
              </a:pathLst>
            </a:custGeom>
            <a:noFill/>
            <a:ln w="19050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/>
            <a:lstStyle/>
            <a:p>
              <a:pPr eaLnBrk="0" hangingPunct="0">
                <a:defRPr/>
              </a:pPr>
              <a:endParaRPr lang="en-US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</p:grpSp>
    </p:spTree>
  </p:cSld>
  <p:clrMapOvr>
    <a:masterClrMapping/>
  </p:clrMapOvr>
  <p:transition>
    <p:wipe dir="r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Footer Placeholder 3">
            <a:extLst>
              <a:ext uri="{FF2B5EF4-FFF2-40B4-BE49-F238E27FC236}">
                <a16:creationId xmlns:a16="http://schemas.microsoft.com/office/drawing/2014/main" id="{88ABE710-8B86-408C-96DE-F05C13B7CE9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200"/>
              <a:t>Comp 412, Fall 2010</a:t>
            </a:r>
          </a:p>
        </p:txBody>
      </p:sp>
      <p:sp>
        <p:nvSpPr>
          <p:cNvPr id="67586" name="Slide Number Placeholder 4">
            <a:extLst>
              <a:ext uri="{FF2B5EF4-FFF2-40B4-BE49-F238E27FC236}">
                <a16:creationId xmlns:a16="http://schemas.microsoft.com/office/drawing/2014/main" id="{501BAA37-8084-46F7-9893-C6DEA01C525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3CDF1B90-C910-4C2C-AC4C-138075CC5B16}" type="slidenum">
              <a:rPr lang="en-US" altLang="it-IT" sz="1200"/>
              <a:pPr/>
              <a:t>26</a:t>
            </a:fld>
            <a:endParaRPr lang="en-US" altLang="it-IT" sz="1200"/>
          </a:p>
        </p:txBody>
      </p:sp>
      <p:sp>
        <p:nvSpPr>
          <p:cNvPr id="67587" name="Rectangle 2">
            <a:extLst>
              <a:ext uri="{FF2B5EF4-FFF2-40B4-BE49-F238E27FC236}">
                <a16:creationId xmlns:a16="http://schemas.microsoft.com/office/drawing/2014/main" id="{0BA38E7A-22DF-401E-A7A5-518D349E57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Procedure Linkages</a:t>
            </a:r>
          </a:p>
        </p:txBody>
      </p:sp>
      <p:sp>
        <p:nvSpPr>
          <p:cNvPr id="67588" name="Rectangle 3">
            <a:extLst>
              <a:ext uri="{FF2B5EF4-FFF2-40B4-BE49-F238E27FC236}">
                <a16:creationId xmlns:a16="http://schemas.microsoft.com/office/drawing/2014/main" id="{165F4BFF-D33D-4C9F-9B28-5BCB360A18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How do procedure calls actually work?</a:t>
            </a:r>
          </a:p>
          <a:p>
            <a:pPr eaLnBrk="1" hangingPunct="1">
              <a:spcBef>
                <a:spcPts val="1800"/>
              </a:spcBef>
              <a:buFont typeface="Times" panose="02020603050405020304" pitchFamily="18" charset="0"/>
              <a:buNone/>
            </a:pPr>
            <a:r>
              <a:rPr lang="en-US" altLang="it-IT"/>
              <a:t>At compile time, callee may not be available for inspection</a:t>
            </a:r>
          </a:p>
          <a:p>
            <a:pPr eaLnBrk="1" hangingPunct="1">
              <a:spcBef>
                <a:spcPts val="600"/>
              </a:spcBef>
            </a:pPr>
            <a:r>
              <a:rPr lang="en-US" altLang="it-IT"/>
              <a:t>Different calls may be in different compilation units</a:t>
            </a:r>
          </a:p>
          <a:p>
            <a:pPr eaLnBrk="1" hangingPunct="1">
              <a:spcBef>
                <a:spcPts val="600"/>
              </a:spcBef>
            </a:pPr>
            <a:r>
              <a:rPr lang="en-US" altLang="it-IT"/>
              <a:t>Compiler may not know system code from user code</a:t>
            </a:r>
            <a:endParaRPr lang="en-US" altLang="it-IT" i="1"/>
          </a:p>
          <a:p>
            <a:pPr eaLnBrk="1" hangingPunct="1">
              <a:spcBef>
                <a:spcPts val="600"/>
              </a:spcBef>
            </a:pPr>
            <a:r>
              <a:rPr lang="en-US" altLang="it-IT"/>
              <a:t>All calls must use the same protocol</a:t>
            </a:r>
          </a:p>
          <a:p>
            <a:pPr eaLnBrk="1" hangingPunct="1">
              <a:spcBef>
                <a:spcPts val="4800"/>
              </a:spcBef>
              <a:buFont typeface="Times" panose="02020603050405020304" pitchFamily="18" charset="0"/>
              <a:buNone/>
            </a:pPr>
            <a:r>
              <a:rPr lang="en-US" altLang="it-IT"/>
              <a:t>Compiler must use a standard sequence of operations</a:t>
            </a:r>
          </a:p>
          <a:p>
            <a:pPr eaLnBrk="1" hangingPunct="1">
              <a:spcBef>
                <a:spcPts val="600"/>
              </a:spcBef>
            </a:pPr>
            <a:r>
              <a:rPr lang="en-US" altLang="it-IT"/>
              <a:t>Enforces control &amp; data abstractions</a:t>
            </a:r>
          </a:p>
          <a:p>
            <a:pPr eaLnBrk="1" hangingPunct="1">
              <a:spcBef>
                <a:spcPts val="600"/>
              </a:spcBef>
            </a:pPr>
            <a:r>
              <a:rPr lang="en-US" altLang="it-IT"/>
              <a:t>Divides responsibility between caller &amp; callee</a:t>
            </a:r>
          </a:p>
          <a:p>
            <a:pPr eaLnBrk="1" hangingPunct="1">
              <a:spcBef>
                <a:spcPts val="1200"/>
              </a:spcBef>
              <a:buFont typeface="Times" panose="02020603050405020304" pitchFamily="18" charset="0"/>
              <a:buNone/>
            </a:pPr>
            <a:r>
              <a:rPr lang="en-US" altLang="it-IT"/>
              <a:t>Usually a system-wide agreement, to allow interoperability</a:t>
            </a:r>
            <a:endParaRPr lang="en-US" altLang="it-IT">
              <a:solidFill>
                <a:srgbClr val="FF0065"/>
              </a:solidFill>
            </a:endParaRPr>
          </a:p>
        </p:txBody>
      </p:sp>
    </p:spTree>
  </p:cSld>
  <p:clrMapOvr>
    <a:masterClrMapping/>
  </p:clrMapOvr>
  <p:transition>
    <p:wipe dir="r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Footer Placeholder 3">
            <a:extLst>
              <a:ext uri="{FF2B5EF4-FFF2-40B4-BE49-F238E27FC236}">
                <a16:creationId xmlns:a16="http://schemas.microsoft.com/office/drawing/2014/main" id="{0C6F5D70-E57A-4318-AE00-2FA33A32BB0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200"/>
              <a:t>Comp 412, Fall 2010</a:t>
            </a:r>
          </a:p>
        </p:txBody>
      </p:sp>
      <p:sp>
        <p:nvSpPr>
          <p:cNvPr id="69634" name="Slide Number Placeholder 4">
            <a:extLst>
              <a:ext uri="{FF2B5EF4-FFF2-40B4-BE49-F238E27FC236}">
                <a16:creationId xmlns:a16="http://schemas.microsoft.com/office/drawing/2014/main" id="{5481C706-AA7C-4EB6-B5CF-750C54EA1D5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649FD44D-9D0E-4EF7-8366-387D42AAAFF7}" type="slidenum">
              <a:rPr lang="en-US" altLang="it-IT" sz="1200"/>
              <a:pPr/>
              <a:t>27</a:t>
            </a:fld>
            <a:endParaRPr lang="en-US" altLang="it-IT" sz="1200"/>
          </a:p>
        </p:txBody>
      </p:sp>
      <p:sp>
        <p:nvSpPr>
          <p:cNvPr id="69635" name="Rectangle 2">
            <a:extLst>
              <a:ext uri="{FF2B5EF4-FFF2-40B4-BE49-F238E27FC236}">
                <a16:creationId xmlns:a16="http://schemas.microsoft.com/office/drawing/2014/main" id="{02B4E46D-32F9-47CF-BE9F-685803044B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Saving Registers</a:t>
            </a:r>
          </a:p>
        </p:txBody>
      </p:sp>
      <p:sp>
        <p:nvSpPr>
          <p:cNvPr id="69636" name="Rectangle 3">
            <a:extLst>
              <a:ext uri="{FF2B5EF4-FFF2-40B4-BE49-F238E27FC236}">
                <a16:creationId xmlns:a16="http://schemas.microsoft.com/office/drawing/2014/main" id="{D6173B10-8B91-49FE-91F1-AFEF941F8B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066800"/>
            <a:ext cx="7772400" cy="5181600"/>
          </a:xfrm>
        </p:spPr>
        <p:txBody>
          <a:bodyPr/>
          <a:lstStyle/>
          <a:p>
            <a:pPr eaLnBrk="1" hangingPunct="1">
              <a:spcBef>
                <a:spcPts val="600"/>
              </a:spcBef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Who saves the registers? Caller or callee?</a:t>
            </a:r>
          </a:p>
          <a:p>
            <a:pPr eaLnBrk="1" hangingPunct="1">
              <a:spcBef>
                <a:spcPts val="600"/>
              </a:spcBef>
            </a:pPr>
            <a:r>
              <a:rPr lang="en-US" altLang="it-IT"/>
              <a:t>Arguments for saving on each side of the call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it-IT"/>
              <a:t>Caller knows which values are LIVE across the call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it-IT"/>
              <a:t>Callee knows which registers it will use</a:t>
            </a:r>
          </a:p>
          <a:p>
            <a:pPr eaLnBrk="1" hangingPunct="1">
              <a:spcBef>
                <a:spcPts val="2400"/>
              </a:spcBef>
            </a:pPr>
            <a:r>
              <a:rPr lang="en-US" altLang="it-IT"/>
              <a:t>Conventional wisdom: divide registers into three sets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it-IT"/>
              <a:t>Caller saves registers</a:t>
            </a:r>
          </a:p>
          <a:p>
            <a:pPr lvl="2" eaLnBrk="1" hangingPunct="1">
              <a:spcBef>
                <a:spcPts val="600"/>
              </a:spcBef>
            </a:pPr>
            <a:r>
              <a:rPr lang="en-US" altLang="it-IT" sz="1800"/>
              <a:t>Caller targets values that are not LIVE across the call 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it-IT"/>
              <a:t>Callee saves registers</a:t>
            </a:r>
          </a:p>
          <a:p>
            <a:pPr lvl="2" eaLnBrk="1" hangingPunct="1">
              <a:spcBef>
                <a:spcPts val="600"/>
              </a:spcBef>
            </a:pPr>
            <a:r>
              <a:rPr lang="en-US" altLang="it-IT" sz="1800"/>
              <a:t>Callee only uses these AFTER filling caller saves registers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it-IT"/>
              <a:t>Registers reserved for the linkage convention</a:t>
            </a:r>
          </a:p>
          <a:p>
            <a:pPr lvl="2" eaLnBrk="1" hangingPunct="1">
              <a:spcBef>
                <a:spcPts val="600"/>
              </a:spcBef>
            </a:pPr>
            <a:r>
              <a:rPr lang="en-US" altLang="it-IT" sz="1800"/>
              <a:t>ARP, return address (if in a register), …</a:t>
            </a:r>
          </a:p>
          <a:p>
            <a:pPr eaLnBrk="1" hangingPunct="1">
              <a:spcBef>
                <a:spcPts val="1200"/>
              </a:spcBef>
              <a:buFont typeface="Times" panose="02020603050405020304" pitchFamily="18" charset="0"/>
              <a:buNone/>
            </a:pPr>
            <a:r>
              <a:rPr lang="en-US" altLang="it-IT"/>
              <a:t>Where are they stored?  In one of the ARs …</a:t>
            </a:r>
          </a:p>
        </p:txBody>
      </p:sp>
    </p:spTree>
  </p:cSld>
  <p:clrMapOvr>
    <a:masterClrMapping/>
  </p:clrMapOvr>
  <p:transition>
    <p:wipe dir="r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Footer Placeholder 3">
            <a:extLst>
              <a:ext uri="{FF2B5EF4-FFF2-40B4-BE49-F238E27FC236}">
                <a16:creationId xmlns:a16="http://schemas.microsoft.com/office/drawing/2014/main" id="{C84A4492-9D5B-494A-B59F-B067F204A5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200"/>
              <a:t>Comp 412, Fall 2010</a:t>
            </a:r>
          </a:p>
        </p:txBody>
      </p:sp>
      <p:sp>
        <p:nvSpPr>
          <p:cNvPr id="71682" name="Slide Number Placeholder 4">
            <a:extLst>
              <a:ext uri="{FF2B5EF4-FFF2-40B4-BE49-F238E27FC236}">
                <a16:creationId xmlns:a16="http://schemas.microsoft.com/office/drawing/2014/main" id="{F0DC6E82-226C-4575-B40D-99EF03C95D3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E28B48AB-FCCE-45D7-BD0B-6CB063CA143B}" type="slidenum">
              <a:rPr lang="en-US" altLang="it-IT" sz="1200"/>
              <a:pPr/>
              <a:t>28</a:t>
            </a:fld>
            <a:endParaRPr lang="en-US" altLang="it-IT" sz="1200"/>
          </a:p>
        </p:txBody>
      </p:sp>
      <p:sp>
        <p:nvSpPr>
          <p:cNvPr id="71683" name="Rectangle 2">
            <a:extLst>
              <a:ext uri="{FF2B5EF4-FFF2-40B4-BE49-F238E27FC236}">
                <a16:creationId xmlns:a16="http://schemas.microsoft.com/office/drawing/2014/main" id="{776A37AD-1689-4732-AA2C-2FCE81DC0C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Procedure Linkages</a:t>
            </a:r>
          </a:p>
        </p:txBody>
      </p:sp>
      <p:sp>
        <p:nvSpPr>
          <p:cNvPr id="71684" name="Rectangle 3">
            <a:extLst>
              <a:ext uri="{FF2B5EF4-FFF2-40B4-BE49-F238E27FC236}">
                <a16:creationId xmlns:a16="http://schemas.microsoft.com/office/drawing/2014/main" id="{61DC6663-D041-4080-B650-0C6082CDE9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Standard Procedure Linkage</a:t>
            </a:r>
          </a:p>
        </p:txBody>
      </p:sp>
      <p:grpSp>
        <p:nvGrpSpPr>
          <p:cNvPr id="71685" name="Group 4">
            <a:extLst>
              <a:ext uri="{FF2B5EF4-FFF2-40B4-BE49-F238E27FC236}">
                <a16:creationId xmlns:a16="http://schemas.microsoft.com/office/drawing/2014/main" id="{6443AFD2-23B1-4EA5-B52E-C31BBAA39D9A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1828800"/>
            <a:ext cx="4740275" cy="3662363"/>
            <a:chOff x="432" y="1152"/>
            <a:chExt cx="2986" cy="2307"/>
          </a:xfrm>
        </p:grpSpPr>
        <p:grpSp>
          <p:nvGrpSpPr>
            <p:cNvPr id="71687" name="Group 5">
              <a:extLst>
                <a:ext uri="{FF2B5EF4-FFF2-40B4-BE49-F238E27FC236}">
                  <a16:creationId xmlns:a16="http://schemas.microsoft.com/office/drawing/2014/main" id="{CBCEFDF7-E203-4AA0-B854-3EE4E69B179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2" y="1152"/>
              <a:ext cx="1200" cy="2307"/>
              <a:chOff x="653" y="1152"/>
              <a:chExt cx="1200" cy="2307"/>
            </a:xfrm>
          </p:grpSpPr>
          <p:sp>
            <p:nvSpPr>
              <p:cNvPr id="71697" name="Text Box 6">
                <a:extLst>
                  <a:ext uri="{FF2B5EF4-FFF2-40B4-BE49-F238E27FC236}">
                    <a16:creationId xmlns:a16="http://schemas.microsoft.com/office/drawing/2014/main" id="{28807CFA-39BC-4CA5-BAD5-0B7117F5734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53" y="1152"/>
                <a:ext cx="120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it-IT" sz="1800" i="1"/>
                  <a:t>procedure p</a:t>
                </a:r>
                <a:endParaRPr lang="en-US" altLang="it-IT" sz="1800"/>
              </a:p>
            </p:txBody>
          </p:sp>
          <p:sp>
            <p:nvSpPr>
              <p:cNvPr id="71698" name="Rectangle 7">
                <a:extLst>
                  <a:ext uri="{FF2B5EF4-FFF2-40B4-BE49-F238E27FC236}">
                    <a16:creationId xmlns:a16="http://schemas.microsoft.com/office/drawing/2014/main" id="{AF45A96B-B858-464E-B03A-9A3A54B3D7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3" y="1395"/>
                <a:ext cx="1062" cy="206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endParaRPr lang="en-GB" altLang="it-IT"/>
              </a:p>
            </p:txBody>
          </p:sp>
          <p:sp>
            <p:nvSpPr>
              <p:cNvPr id="71699" name="Rectangle 8">
                <a:extLst>
                  <a:ext uri="{FF2B5EF4-FFF2-40B4-BE49-F238E27FC236}">
                    <a16:creationId xmlns:a16="http://schemas.microsoft.com/office/drawing/2014/main" id="{24966838-9C66-4CB2-9E0A-6A0BDD6649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5" y="1395"/>
                <a:ext cx="1059" cy="277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800" i="1"/>
                  <a:t>prolog</a:t>
                </a:r>
                <a:endParaRPr lang="en-US" altLang="it-IT" sz="1800"/>
              </a:p>
            </p:txBody>
          </p:sp>
          <p:sp>
            <p:nvSpPr>
              <p:cNvPr id="71700" name="Rectangle 9">
                <a:extLst>
                  <a:ext uri="{FF2B5EF4-FFF2-40B4-BE49-F238E27FC236}">
                    <a16:creationId xmlns:a16="http://schemas.microsoft.com/office/drawing/2014/main" id="{AF8F6B62-CB8B-4DD4-B45F-7275A4B375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3" y="3180"/>
                <a:ext cx="1060" cy="277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800" i="1"/>
                  <a:t>epilog</a:t>
                </a:r>
                <a:endParaRPr lang="en-US" altLang="it-IT" sz="1800"/>
              </a:p>
            </p:txBody>
          </p:sp>
          <p:sp>
            <p:nvSpPr>
              <p:cNvPr id="71701" name="Rectangle 10">
                <a:extLst>
                  <a:ext uri="{FF2B5EF4-FFF2-40B4-BE49-F238E27FC236}">
                    <a16:creationId xmlns:a16="http://schemas.microsoft.com/office/drawing/2014/main" id="{5878EB54-601D-400D-9043-89DC68BDAB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3" y="2164"/>
                <a:ext cx="1061" cy="277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800" i="1">
                    <a:solidFill>
                      <a:srgbClr val="003C75"/>
                    </a:solidFill>
                  </a:rPr>
                  <a:t>pre-call </a:t>
                </a:r>
                <a:endParaRPr lang="en-US" altLang="it-IT" sz="1800">
                  <a:solidFill>
                    <a:srgbClr val="003C75"/>
                  </a:solidFill>
                </a:endParaRPr>
              </a:p>
            </p:txBody>
          </p:sp>
          <p:sp>
            <p:nvSpPr>
              <p:cNvPr id="71702" name="Rectangle 11">
                <a:extLst>
                  <a:ext uri="{FF2B5EF4-FFF2-40B4-BE49-F238E27FC236}">
                    <a16:creationId xmlns:a16="http://schemas.microsoft.com/office/drawing/2014/main" id="{74237C08-C8DD-4A03-A085-584D602AAA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2" y="2514"/>
                <a:ext cx="1067" cy="277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800" i="1">
                    <a:solidFill>
                      <a:srgbClr val="003C75"/>
                    </a:solidFill>
                  </a:rPr>
                  <a:t>post-return </a:t>
                </a:r>
                <a:endParaRPr lang="en-US" altLang="it-IT" sz="1800">
                  <a:solidFill>
                    <a:srgbClr val="003C75"/>
                  </a:solidFill>
                </a:endParaRPr>
              </a:p>
            </p:txBody>
          </p:sp>
          <p:sp>
            <p:nvSpPr>
              <p:cNvPr id="71703" name="Line 12">
                <a:extLst>
                  <a:ext uri="{FF2B5EF4-FFF2-40B4-BE49-F238E27FC236}">
                    <a16:creationId xmlns:a16="http://schemas.microsoft.com/office/drawing/2014/main" id="{F6435FE1-3780-455D-852C-64FE484359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53" y="1668"/>
                <a:ext cx="0" cy="49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  <p:sp>
            <p:nvSpPr>
              <p:cNvPr id="71704" name="Line 13">
                <a:extLst>
                  <a:ext uri="{FF2B5EF4-FFF2-40B4-BE49-F238E27FC236}">
                    <a16:creationId xmlns:a16="http://schemas.microsoft.com/office/drawing/2014/main" id="{621823C1-36B4-4493-9167-3F3FA82D54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53" y="2790"/>
                <a:ext cx="0" cy="38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</p:grpSp>
        <p:sp>
          <p:nvSpPr>
            <p:cNvPr id="71688" name="Line 14">
              <a:extLst>
                <a:ext uri="{FF2B5EF4-FFF2-40B4-BE49-F238E27FC236}">
                  <a16:creationId xmlns:a16="http://schemas.microsoft.com/office/drawing/2014/main" id="{BFBEB7EB-C8BC-47D3-8A59-05FB22A805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63" y="1711"/>
              <a:ext cx="733" cy="71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71689" name="Line 15">
              <a:extLst>
                <a:ext uri="{FF2B5EF4-FFF2-40B4-BE49-F238E27FC236}">
                  <a16:creationId xmlns:a16="http://schemas.microsoft.com/office/drawing/2014/main" id="{4AFB1F07-B5E1-4ED4-86C9-79F0F4082B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562" y="2533"/>
              <a:ext cx="761" cy="3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grpSp>
          <p:nvGrpSpPr>
            <p:cNvPr id="71690" name="Group 16">
              <a:extLst>
                <a:ext uri="{FF2B5EF4-FFF2-40B4-BE49-F238E27FC236}">
                  <a16:creationId xmlns:a16="http://schemas.microsoft.com/office/drawing/2014/main" id="{CE914FEB-DBA8-489E-BA49-5E2AE5B4326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18" y="1450"/>
              <a:ext cx="1200" cy="1481"/>
              <a:chOff x="2521" y="1450"/>
              <a:chExt cx="1200" cy="1481"/>
            </a:xfrm>
          </p:grpSpPr>
          <p:sp>
            <p:nvSpPr>
              <p:cNvPr id="71691" name="Text Box 17">
                <a:extLst>
                  <a:ext uri="{FF2B5EF4-FFF2-40B4-BE49-F238E27FC236}">
                    <a16:creationId xmlns:a16="http://schemas.microsoft.com/office/drawing/2014/main" id="{5A93BCA6-0124-43CB-9044-5229315E0AB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21" y="1450"/>
                <a:ext cx="120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it-IT" sz="1800" i="1"/>
                  <a:t>procedure q</a:t>
                </a:r>
                <a:endParaRPr lang="en-US" altLang="it-IT" sz="1800"/>
              </a:p>
            </p:txBody>
          </p:sp>
          <p:grpSp>
            <p:nvGrpSpPr>
              <p:cNvPr id="71692" name="Group 18">
                <a:extLst>
                  <a:ext uri="{FF2B5EF4-FFF2-40B4-BE49-F238E27FC236}">
                    <a16:creationId xmlns:a16="http://schemas.microsoft.com/office/drawing/2014/main" id="{8F1F9041-B825-4838-89CA-16A18F2089F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607" y="1703"/>
                <a:ext cx="1027" cy="1228"/>
                <a:chOff x="2525" y="1703"/>
                <a:chExt cx="1202" cy="1228"/>
              </a:xfrm>
            </p:grpSpPr>
            <p:sp>
              <p:nvSpPr>
                <p:cNvPr id="71693" name="Rectangle 19">
                  <a:extLst>
                    <a:ext uri="{FF2B5EF4-FFF2-40B4-BE49-F238E27FC236}">
                      <a16:creationId xmlns:a16="http://schemas.microsoft.com/office/drawing/2014/main" id="{9666C74F-8C14-4A4F-8EEB-A68624D1BB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25" y="1703"/>
                  <a:ext cx="1200" cy="1225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71694" name="Rectangle 20">
                  <a:extLst>
                    <a:ext uri="{FF2B5EF4-FFF2-40B4-BE49-F238E27FC236}">
                      <a16:creationId xmlns:a16="http://schemas.microsoft.com/office/drawing/2014/main" id="{7DD47B3F-E278-43B9-9B86-9FFCA9E1C60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29" y="1708"/>
                  <a:ext cx="1198" cy="269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pPr algn="ctr"/>
                  <a:r>
                    <a:rPr lang="en-US" altLang="it-IT" sz="1800" i="1">
                      <a:solidFill>
                        <a:srgbClr val="FF0065"/>
                      </a:solidFill>
                    </a:rPr>
                    <a:t>prolog</a:t>
                  </a:r>
                  <a:endParaRPr lang="en-US" altLang="it-IT" sz="1800"/>
                </a:p>
              </p:txBody>
            </p:sp>
            <p:sp>
              <p:nvSpPr>
                <p:cNvPr id="71695" name="Rectangle 21">
                  <a:extLst>
                    <a:ext uri="{FF2B5EF4-FFF2-40B4-BE49-F238E27FC236}">
                      <a16:creationId xmlns:a16="http://schemas.microsoft.com/office/drawing/2014/main" id="{29992D32-855E-4C8D-9439-FAF1777AF0E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29" y="2647"/>
                  <a:ext cx="1198" cy="2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pPr algn="ctr"/>
                  <a:r>
                    <a:rPr lang="en-US" altLang="it-IT" sz="1800" i="1">
                      <a:solidFill>
                        <a:srgbClr val="FF0065"/>
                      </a:solidFill>
                    </a:rPr>
                    <a:t>epilog</a:t>
                  </a:r>
                  <a:endParaRPr lang="en-US" altLang="it-IT" sz="1800"/>
                </a:p>
              </p:txBody>
            </p:sp>
            <p:sp>
              <p:nvSpPr>
                <p:cNvPr id="71696" name="Line 22">
                  <a:extLst>
                    <a:ext uri="{FF2B5EF4-FFF2-40B4-BE49-F238E27FC236}">
                      <a16:creationId xmlns:a16="http://schemas.microsoft.com/office/drawing/2014/main" id="{A48F4047-D0FC-4C27-96E5-A739E4B0C12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25" y="1974"/>
                  <a:ext cx="1" cy="67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it-IT"/>
                </a:p>
              </p:txBody>
            </p:sp>
          </p:grpSp>
        </p:grpSp>
      </p:grpSp>
      <p:sp>
        <p:nvSpPr>
          <p:cNvPr id="62471" name="Text Box 23">
            <a:extLst>
              <a:ext uri="{FF2B5EF4-FFF2-40B4-BE49-F238E27FC236}">
                <a16:creationId xmlns:a16="http://schemas.microsoft.com/office/drawing/2014/main" id="{73ACA593-8782-4B40-964B-83826D82C7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0" y="1752600"/>
            <a:ext cx="2819400" cy="3333750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rgbClr val="7F7F7F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marL="230188" indent="-230188" eaLnBrk="0" hangingPunct="0">
              <a:defRPr/>
            </a:pPr>
            <a:r>
              <a:rPr lang="en-US" sz="1800" dirty="0">
                <a:latin typeface="Comic Sans MS" charset="0"/>
                <a:ea typeface="ヒラギノ角ゴ Pro W3" charset="-128"/>
                <a:cs typeface="ヒラギノ角ゴ Pro W3" charset="-128"/>
              </a:rPr>
              <a:t>Procedure has</a:t>
            </a:r>
          </a:p>
          <a:p>
            <a:pPr marL="230188" indent="-230188" eaLnBrk="0" hangingPunct="0">
              <a:buClr>
                <a:srgbClr val="003C75"/>
              </a:buClr>
              <a:buSzPct val="120000"/>
              <a:buFont typeface="Times" charset="0"/>
              <a:buChar char="•"/>
              <a:defRPr/>
            </a:pPr>
            <a:r>
              <a:rPr lang="en-US" sz="1800" dirty="0">
                <a:latin typeface="Comic Sans MS" charset="0"/>
                <a:ea typeface="ヒラギノ角ゴ Pro W3" charset="-128"/>
                <a:cs typeface="ヒラギノ角ゴ Pro W3" charset="-128"/>
              </a:rPr>
              <a:t>standard </a:t>
            </a:r>
            <a:r>
              <a:rPr lang="en-US" sz="1800" dirty="0">
                <a:solidFill>
                  <a:srgbClr val="FF006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prolog</a:t>
            </a:r>
            <a:endParaRPr lang="en-US" sz="1800" dirty="0">
              <a:latin typeface="Comic Sans MS" charset="0"/>
              <a:ea typeface="ヒラギノ角ゴ Pro W3" charset="-128"/>
              <a:cs typeface="ヒラギノ角ゴ Pro W3" charset="-128"/>
            </a:endParaRPr>
          </a:p>
          <a:p>
            <a:pPr marL="230188" indent="-230188" eaLnBrk="0" hangingPunct="0">
              <a:buClr>
                <a:srgbClr val="003C75"/>
              </a:buClr>
              <a:buSzPct val="120000"/>
              <a:buFont typeface="Times" charset="0"/>
              <a:buChar char="•"/>
              <a:defRPr/>
            </a:pPr>
            <a:r>
              <a:rPr lang="en-US" sz="1800" dirty="0">
                <a:latin typeface="Comic Sans MS" charset="0"/>
                <a:ea typeface="ヒラギノ角ゴ Pro W3" charset="-128"/>
                <a:cs typeface="ヒラギノ角ゴ Pro W3" charset="-128"/>
              </a:rPr>
              <a:t>standard </a:t>
            </a:r>
            <a:r>
              <a:rPr lang="en-US" sz="1800" dirty="0">
                <a:solidFill>
                  <a:srgbClr val="FF006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epilog</a:t>
            </a:r>
            <a:endParaRPr lang="en-US" sz="1800" dirty="0">
              <a:latin typeface="Comic Sans MS" charset="0"/>
              <a:ea typeface="ヒラギノ角ゴ Pro W3" charset="-128"/>
              <a:cs typeface="ヒラギノ角ゴ Pro W3" charset="-128"/>
            </a:endParaRPr>
          </a:p>
          <a:p>
            <a:pPr eaLnBrk="0" hangingPunct="0">
              <a:spcBef>
                <a:spcPct val="25000"/>
              </a:spcBef>
              <a:buClr>
                <a:srgbClr val="0000CC"/>
              </a:buClr>
              <a:buSzPct val="120000"/>
              <a:defRPr/>
            </a:pPr>
            <a:r>
              <a:rPr lang="en-US" sz="1800" dirty="0">
                <a:latin typeface="Comic Sans MS" charset="0"/>
                <a:ea typeface="ヒラギノ角ゴ Pro W3" charset="-128"/>
                <a:cs typeface="ヒラギノ角ゴ Pro W3" charset="-128"/>
              </a:rPr>
              <a:t>Each call involves a</a:t>
            </a:r>
          </a:p>
          <a:p>
            <a:pPr marL="230188" indent="-230188" eaLnBrk="0" hangingPunct="0">
              <a:spcBef>
                <a:spcPct val="15000"/>
              </a:spcBef>
              <a:buClr>
                <a:srgbClr val="003C75"/>
              </a:buClr>
              <a:buSzPct val="120000"/>
              <a:buFont typeface="Times" charset="0"/>
              <a:buChar char="•"/>
              <a:defRPr/>
            </a:pPr>
            <a:r>
              <a:rPr lang="en-US" sz="18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pre-call </a:t>
            </a:r>
            <a:r>
              <a:rPr lang="en-US" sz="1800" dirty="0">
                <a:latin typeface="Comic Sans MS" charset="0"/>
                <a:ea typeface="ヒラギノ角ゴ Pro W3" charset="-128"/>
                <a:cs typeface="ヒラギノ角ゴ Pro W3" charset="-128"/>
              </a:rPr>
              <a:t>sequence</a:t>
            </a:r>
          </a:p>
          <a:p>
            <a:pPr marL="230188" indent="-230188" eaLnBrk="0" hangingPunct="0">
              <a:spcBef>
                <a:spcPct val="15000"/>
              </a:spcBef>
              <a:buClr>
                <a:srgbClr val="003C75"/>
              </a:buClr>
              <a:buSzPct val="120000"/>
              <a:buFont typeface="Times" charset="0"/>
              <a:buChar char="•"/>
              <a:defRPr/>
            </a:pPr>
            <a:r>
              <a:rPr lang="en-US" sz="18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post-return </a:t>
            </a:r>
            <a:r>
              <a:rPr lang="en-US" sz="1800" dirty="0">
                <a:latin typeface="Comic Sans MS" charset="0"/>
                <a:ea typeface="ヒラギノ角ゴ Pro W3" charset="-128"/>
                <a:cs typeface="ヒラギノ角ゴ Pro W3" charset="-128"/>
              </a:rPr>
              <a:t>sequence</a:t>
            </a:r>
          </a:p>
          <a:p>
            <a:pPr eaLnBrk="0" hangingPunct="0">
              <a:spcBef>
                <a:spcPct val="15000"/>
              </a:spcBef>
              <a:buClr>
                <a:srgbClr val="0000CC"/>
              </a:buClr>
              <a:buSzPct val="120000"/>
              <a:defRPr/>
            </a:pPr>
            <a:r>
              <a:rPr lang="en-US" sz="1800" dirty="0">
                <a:latin typeface="Comic Sans MS" charset="0"/>
                <a:ea typeface="ヒラギノ角ゴ Pro W3" charset="-128"/>
                <a:cs typeface="ヒラギノ角ゴ Pro W3" charset="-128"/>
              </a:rPr>
              <a:t>These are completely predictable from the call site </a:t>
            </a:r>
            <a:r>
              <a:rPr lang="en-US" sz="1800" dirty="0" err="1">
                <a:solidFill>
                  <a:srgbClr val="FF006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</a:t>
            </a:r>
            <a:r>
              <a:rPr lang="en-US" sz="18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 depend on the number &amp; type of the actual parameters</a:t>
            </a:r>
            <a:endParaRPr lang="en-US" sz="1800" dirty="0">
              <a:latin typeface="Comic Sans MS" charset="0"/>
              <a:ea typeface="ヒラギノ角ゴ Pro W3" charset="-128"/>
              <a:cs typeface="ヒラギノ角ゴ Pro W3" charset="-128"/>
            </a:endParaRPr>
          </a:p>
        </p:txBody>
      </p:sp>
    </p:spTree>
  </p:cSld>
  <p:clrMapOvr>
    <a:masterClrMapping/>
  </p:clrMapOvr>
  <p:transition>
    <p:wipe dir="r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Footer Placeholder 3">
            <a:extLst>
              <a:ext uri="{FF2B5EF4-FFF2-40B4-BE49-F238E27FC236}">
                <a16:creationId xmlns:a16="http://schemas.microsoft.com/office/drawing/2014/main" id="{B5EAC5F1-D70C-42FF-A28F-B9D645759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200"/>
              <a:t>Comp 412, Fall 2010</a:t>
            </a:r>
          </a:p>
        </p:txBody>
      </p:sp>
      <p:sp>
        <p:nvSpPr>
          <p:cNvPr id="73730" name="Slide Number Placeholder 4">
            <a:extLst>
              <a:ext uri="{FF2B5EF4-FFF2-40B4-BE49-F238E27FC236}">
                <a16:creationId xmlns:a16="http://schemas.microsoft.com/office/drawing/2014/main" id="{6D28242A-B610-4F7B-9244-082E9D3357B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A6C9C7B1-D108-4614-9265-EE7B9B084923}" type="slidenum">
              <a:rPr lang="en-US" altLang="it-IT" sz="1200"/>
              <a:pPr/>
              <a:t>29</a:t>
            </a:fld>
            <a:endParaRPr lang="en-US" altLang="it-IT" sz="1200"/>
          </a:p>
        </p:txBody>
      </p:sp>
      <p:sp>
        <p:nvSpPr>
          <p:cNvPr id="73731" name="Rectangle 2">
            <a:extLst>
              <a:ext uri="{FF2B5EF4-FFF2-40B4-BE49-F238E27FC236}">
                <a16:creationId xmlns:a16="http://schemas.microsoft.com/office/drawing/2014/main" id="{AD7163E5-38A9-4FE3-B249-FB395AF4D4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Procedure Linkages</a:t>
            </a:r>
          </a:p>
        </p:txBody>
      </p:sp>
      <p:sp>
        <p:nvSpPr>
          <p:cNvPr id="73732" name="Rectangle 3">
            <a:extLst>
              <a:ext uri="{FF2B5EF4-FFF2-40B4-BE49-F238E27FC236}">
                <a16:creationId xmlns:a16="http://schemas.microsoft.com/office/drawing/2014/main" id="{A9C285C8-23B4-441C-A0AE-96D60689CE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066800"/>
            <a:ext cx="7772400" cy="5410200"/>
          </a:xfrm>
        </p:spPr>
        <p:txBody>
          <a:bodyPr/>
          <a:lstStyle/>
          <a:p>
            <a:pPr eaLnBrk="1" hangingPunct="1">
              <a:spcBef>
                <a:spcPct val="15000"/>
              </a:spcBef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Pre-call Sequence</a:t>
            </a:r>
          </a:p>
          <a:p>
            <a:pPr eaLnBrk="1" hangingPunct="1">
              <a:spcBef>
                <a:spcPct val="10000"/>
              </a:spcBef>
            </a:pPr>
            <a:r>
              <a:rPr lang="en-US" altLang="it-IT"/>
              <a:t>Sets up callee’s basic </a:t>
            </a:r>
            <a:r>
              <a:rPr lang="en-US" altLang="it-IT" sz="1800"/>
              <a:t>AR</a:t>
            </a:r>
            <a:endParaRPr lang="en-US" altLang="it-IT"/>
          </a:p>
          <a:p>
            <a:pPr eaLnBrk="1" hangingPunct="1">
              <a:spcBef>
                <a:spcPct val="10000"/>
              </a:spcBef>
            </a:pPr>
            <a:r>
              <a:rPr lang="en-US" altLang="it-IT"/>
              <a:t>Helps preserve its own environment</a:t>
            </a:r>
          </a:p>
          <a:p>
            <a:pPr eaLnBrk="1" hangingPunct="1">
              <a:spcBef>
                <a:spcPts val="2400"/>
              </a:spcBef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The Details</a:t>
            </a:r>
          </a:p>
          <a:p>
            <a:pPr eaLnBrk="1" hangingPunct="1">
              <a:spcBef>
                <a:spcPct val="10000"/>
              </a:spcBef>
            </a:pPr>
            <a:r>
              <a:rPr lang="en-US" altLang="it-IT"/>
              <a:t>Allocate space for the callee’s </a:t>
            </a:r>
            <a:r>
              <a:rPr lang="en-US" altLang="it-IT" sz="1800"/>
              <a:t>AR </a:t>
            </a:r>
          </a:p>
          <a:p>
            <a:pPr lvl="1" eaLnBrk="1" hangingPunct="1">
              <a:spcBef>
                <a:spcPct val="5000"/>
              </a:spcBef>
            </a:pPr>
            <a:r>
              <a:rPr lang="en-US" altLang="it-IT" i="1">
                <a:solidFill>
                  <a:srgbClr val="FF0065"/>
                </a:solidFill>
              </a:rPr>
              <a:t>except space for local variables</a:t>
            </a:r>
            <a:endParaRPr lang="en-US" altLang="it-IT">
              <a:solidFill>
                <a:srgbClr val="FF0065"/>
              </a:solidFill>
            </a:endParaRPr>
          </a:p>
          <a:p>
            <a:pPr eaLnBrk="1" hangingPunct="1">
              <a:spcBef>
                <a:spcPct val="10000"/>
              </a:spcBef>
            </a:pPr>
            <a:r>
              <a:rPr lang="en-US" altLang="it-IT"/>
              <a:t>Evaluates each parameter &amp; stores value or address</a:t>
            </a:r>
          </a:p>
          <a:p>
            <a:pPr eaLnBrk="1" hangingPunct="1">
              <a:spcBef>
                <a:spcPct val="10000"/>
              </a:spcBef>
            </a:pPr>
            <a:r>
              <a:rPr lang="en-US" altLang="it-IT"/>
              <a:t>Saves return address, caller’s </a:t>
            </a:r>
            <a:r>
              <a:rPr lang="en-US" altLang="it-IT" sz="1800"/>
              <a:t>ARP </a:t>
            </a:r>
            <a:r>
              <a:rPr lang="en-US" altLang="it-IT"/>
              <a:t>into callee’s </a:t>
            </a:r>
            <a:r>
              <a:rPr lang="en-US" altLang="it-IT" sz="1800"/>
              <a:t>AR</a:t>
            </a:r>
            <a:endParaRPr lang="en-US" altLang="it-IT"/>
          </a:p>
          <a:p>
            <a:pPr eaLnBrk="1" hangingPunct="1">
              <a:spcBef>
                <a:spcPct val="10000"/>
              </a:spcBef>
            </a:pPr>
            <a:r>
              <a:rPr lang="en-US" altLang="it-IT"/>
              <a:t>If access links are used</a:t>
            </a:r>
          </a:p>
          <a:p>
            <a:pPr lvl="1" eaLnBrk="1" hangingPunct="1">
              <a:spcBef>
                <a:spcPct val="5000"/>
              </a:spcBef>
            </a:pPr>
            <a:r>
              <a:rPr lang="en-US" altLang="it-IT">
                <a:sym typeface="Symbol" panose="05050102010706020507" pitchFamily="18" charset="2"/>
              </a:rPr>
              <a:t>Find appropriate lexical ancestor &amp; copy into callee’s </a:t>
            </a:r>
            <a:r>
              <a:rPr lang="en-US" altLang="it-IT" sz="1600">
                <a:sym typeface="Symbol" panose="05050102010706020507" pitchFamily="18" charset="2"/>
              </a:rPr>
              <a:t>AR</a:t>
            </a:r>
            <a:endParaRPr lang="en-US" altLang="it-IT">
              <a:sym typeface="Symbol" panose="05050102010706020507" pitchFamily="18" charset="2"/>
            </a:endParaRPr>
          </a:p>
          <a:p>
            <a:pPr eaLnBrk="1" hangingPunct="1">
              <a:spcBef>
                <a:spcPct val="10000"/>
              </a:spcBef>
            </a:pPr>
            <a:r>
              <a:rPr lang="en-US" altLang="it-IT">
                <a:sym typeface="Symbol" panose="05050102010706020507" pitchFamily="18" charset="2"/>
              </a:rPr>
              <a:t>Save any caller-save registers</a:t>
            </a:r>
          </a:p>
          <a:p>
            <a:pPr lvl="1" eaLnBrk="1" hangingPunct="1">
              <a:spcBef>
                <a:spcPct val="5000"/>
              </a:spcBef>
            </a:pPr>
            <a:r>
              <a:rPr lang="en-US" altLang="it-IT">
                <a:sym typeface="Symbol" panose="05050102010706020507" pitchFamily="18" charset="2"/>
              </a:rPr>
              <a:t>Save into space in caller’s </a:t>
            </a:r>
            <a:r>
              <a:rPr lang="en-US" altLang="it-IT" sz="1600">
                <a:sym typeface="Symbol" panose="05050102010706020507" pitchFamily="18" charset="2"/>
              </a:rPr>
              <a:t>AR</a:t>
            </a:r>
            <a:endParaRPr lang="en-US" altLang="it-IT">
              <a:sym typeface="Symbol" panose="05050102010706020507" pitchFamily="18" charset="2"/>
            </a:endParaRPr>
          </a:p>
          <a:p>
            <a:pPr eaLnBrk="1" hangingPunct="1">
              <a:spcBef>
                <a:spcPct val="10000"/>
              </a:spcBef>
            </a:pPr>
            <a:r>
              <a:rPr lang="en-US" altLang="it-IT">
                <a:sym typeface="Symbol" panose="05050102010706020507" pitchFamily="18" charset="2"/>
              </a:rPr>
              <a:t>Jump to address of callee’s prolog code</a:t>
            </a:r>
            <a:endParaRPr lang="en-US" altLang="it-IT"/>
          </a:p>
        </p:txBody>
      </p:sp>
      <p:sp>
        <p:nvSpPr>
          <p:cNvPr id="46084" name="Text Box 4">
            <a:extLst>
              <a:ext uri="{FF2B5EF4-FFF2-40B4-BE49-F238E27FC236}">
                <a16:creationId xmlns:a16="http://schemas.microsoft.com/office/drawing/2014/main" id="{D7AE0301-82FF-4E18-9F3E-84B1DCB552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5105400"/>
            <a:ext cx="2743200" cy="1062038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 cap="flat" cmpd="sng" algn="ctr">
            <a:solidFill>
              <a:schemeClr val="bg1">
                <a:lumMod val="5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</p:spPr>
        <p:txBody>
          <a:bodyPr>
            <a:spAutoFit/>
          </a:bodyPr>
          <a:lstStyle/>
          <a:p>
            <a:pPr eaLnBrk="0" hangingPunct="0">
              <a:spcBef>
                <a:spcPct val="25000"/>
              </a:spcBef>
              <a:defRPr/>
            </a:pPr>
            <a:r>
              <a:rPr lang="en-US" sz="14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Where do parameter values reside?                            (CW)</a:t>
            </a:r>
          </a:p>
          <a:p>
            <a:pPr eaLnBrk="0" hangingPunct="0">
              <a:spcBef>
                <a:spcPct val="25000"/>
              </a:spcBef>
              <a:buClr>
                <a:srgbClr val="003C75"/>
              </a:buClr>
              <a:buSzPct val="120000"/>
              <a:buFont typeface="Times" charset="0"/>
              <a:buChar char="•"/>
              <a:defRPr/>
            </a:pPr>
            <a:r>
              <a:rPr lang="en-US" sz="14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 In registers         (</a:t>
            </a:r>
            <a:r>
              <a:rPr lang="en-US" sz="1400" i="1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1</a:t>
            </a:r>
            <a:r>
              <a:rPr lang="en-US" sz="1400" i="1" baseline="300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st</a:t>
            </a:r>
            <a:r>
              <a:rPr lang="en-US" sz="1400" i="1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 3 or 4</a:t>
            </a:r>
            <a:r>
              <a:rPr lang="en-US" sz="800" i="1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 </a:t>
            </a:r>
            <a:r>
              <a:rPr lang="en-US" sz="14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)</a:t>
            </a:r>
          </a:p>
          <a:p>
            <a:pPr eaLnBrk="0" hangingPunct="0">
              <a:spcBef>
                <a:spcPct val="25000"/>
              </a:spcBef>
              <a:buClr>
                <a:srgbClr val="003C75"/>
              </a:buClr>
              <a:buSzPct val="120000"/>
              <a:buFont typeface="Times" charset="0"/>
              <a:buChar char="•"/>
              <a:defRPr/>
            </a:pPr>
            <a:r>
              <a:rPr lang="en-US" sz="14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 In </a:t>
            </a:r>
            <a:r>
              <a:rPr lang="en-US" sz="1400" dirty="0" err="1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callee’s</a:t>
            </a:r>
            <a:r>
              <a:rPr lang="en-US" sz="14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 AR       (</a:t>
            </a:r>
            <a:r>
              <a:rPr lang="en-US" sz="1400" i="1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the rest</a:t>
            </a:r>
            <a:r>
              <a:rPr lang="en-US" sz="800" i="1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 </a:t>
            </a:r>
            <a:r>
              <a:rPr lang="en-US" sz="14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)</a:t>
            </a:r>
          </a:p>
        </p:txBody>
      </p:sp>
    </p:spTree>
  </p:cSld>
  <p:clrMapOvr>
    <a:masterClrMapping/>
  </p:clrMapOvr>
  <p:transition>
    <p:wipe dir="r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Footer Placeholder 3">
            <a:extLst>
              <a:ext uri="{FF2B5EF4-FFF2-40B4-BE49-F238E27FC236}">
                <a16:creationId xmlns:a16="http://schemas.microsoft.com/office/drawing/2014/main" id="{B1A38FB7-54A9-4FA4-B69D-73B53194145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200"/>
              <a:t>Comp 412, Fall 2010</a:t>
            </a:r>
          </a:p>
        </p:txBody>
      </p:sp>
      <p:sp>
        <p:nvSpPr>
          <p:cNvPr id="75778" name="Slide Number Placeholder 4">
            <a:extLst>
              <a:ext uri="{FF2B5EF4-FFF2-40B4-BE49-F238E27FC236}">
                <a16:creationId xmlns:a16="http://schemas.microsoft.com/office/drawing/2014/main" id="{17F594F3-FF64-43B8-87A1-CF791B0E4B7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D56D469A-B926-4666-A8CB-0E1655958892}" type="slidenum">
              <a:rPr lang="en-US" altLang="it-IT" sz="1200"/>
              <a:pPr/>
              <a:t>30</a:t>
            </a:fld>
            <a:endParaRPr lang="en-US" altLang="it-IT" sz="1200"/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479E8702-3EB1-4E27-9681-66EDE3849C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Procedure Linkages</a:t>
            </a:r>
          </a:p>
        </p:txBody>
      </p:sp>
      <p:sp>
        <p:nvSpPr>
          <p:cNvPr id="75780" name="Rectangle 3">
            <a:extLst>
              <a:ext uri="{FF2B5EF4-FFF2-40B4-BE49-F238E27FC236}">
                <a16:creationId xmlns:a16="http://schemas.microsoft.com/office/drawing/2014/main" id="{17E1045C-2D7A-4B53-B508-E6245882B4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Post-return Sequence</a:t>
            </a:r>
          </a:p>
          <a:p>
            <a:pPr eaLnBrk="1" hangingPunct="1"/>
            <a:r>
              <a:rPr lang="en-US" altLang="it-IT"/>
              <a:t>Finish restoring caller’s environment </a:t>
            </a:r>
          </a:p>
          <a:p>
            <a:pPr eaLnBrk="1" hangingPunct="1"/>
            <a:r>
              <a:rPr lang="en-US" altLang="it-IT"/>
              <a:t>Place any value back where it belongs</a:t>
            </a:r>
          </a:p>
          <a:p>
            <a:pPr eaLnBrk="1" hangingPunct="1">
              <a:spcBef>
                <a:spcPct val="75000"/>
              </a:spcBef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The Details</a:t>
            </a:r>
          </a:p>
          <a:p>
            <a:pPr eaLnBrk="1" hangingPunct="1"/>
            <a:r>
              <a:rPr lang="en-US" altLang="it-IT"/>
              <a:t>Copy return value from callee’s </a:t>
            </a:r>
            <a:r>
              <a:rPr lang="en-US" altLang="it-IT" sz="1800"/>
              <a:t>AR</a:t>
            </a:r>
            <a:r>
              <a:rPr lang="en-US" altLang="it-IT"/>
              <a:t>, if necessary</a:t>
            </a:r>
          </a:p>
          <a:p>
            <a:pPr eaLnBrk="1" hangingPunct="1"/>
            <a:r>
              <a:rPr lang="en-US" altLang="it-IT"/>
              <a:t>Free the callee’s </a:t>
            </a:r>
            <a:r>
              <a:rPr lang="en-US" altLang="it-IT" sz="1800"/>
              <a:t>AR</a:t>
            </a:r>
            <a:endParaRPr lang="en-US" altLang="it-IT"/>
          </a:p>
          <a:p>
            <a:pPr eaLnBrk="1" hangingPunct="1"/>
            <a:r>
              <a:rPr lang="en-US" altLang="it-IT"/>
              <a:t>Restore any caller-save registers</a:t>
            </a:r>
          </a:p>
          <a:p>
            <a:pPr eaLnBrk="1" hangingPunct="1"/>
            <a:r>
              <a:rPr lang="en-US" altLang="it-IT"/>
              <a:t>Restore any call-by-reference parameters to registers, if needed</a:t>
            </a:r>
          </a:p>
          <a:p>
            <a:pPr lvl="1" eaLnBrk="1" hangingPunct="1"/>
            <a:r>
              <a:rPr lang="en-US" altLang="it-IT"/>
              <a:t>Also copy back call-by-value/result parameters</a:t>
            </a:r>
          </a:p>
          <a:p>
            <a:pPr eaLnBrk="1" hangingPunct="1"/>
            <a:r>
              <a:rPr lang="en-US" altLang="it-IT"/>
              <a:t>Continue execution after the call</a:t>
            </a:r>
          </a:p>
        </p:txBody>
      </p:sp>
    </p:spTree>
  </p:cSld>
  <p:clrMapOvr>
    <a:masterClrMapping/>
  </p:clrMapOvr>
  <p:transition>
    <p:wipe dir="r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Footer Placeholder 3">
            <a:extLst>
              <a:ext uri="{FF2B5EF4-FFF2-40B4-BE49-F238E27FC236}">
                <a16:creationId xmlns:a16="http://schemas.microsoft.com/office/drawing/2014/main" id="{F58B741C-DAE7-4517-BFA1-D11A4233BD9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200"/>
              <a:t>Comp 412, Fall 2010</a:t>
            </a:r>
          </a:p>
        </p:txBody>
      </p:sp>
      <p:sp>
        <p:nvSpPr>
          <p:cNvPr id="77826" name="Slide Number Placeholder 4">
            <a:extLst>
              <a:ext uri="{FF2B5EF4-FFF2-40B4-BE49-F238E27FC236}">
                <a16:creationId xmlns:a16="http://schemas.microsoft.com/office/drawing/2014/main" id="{EA5C92C0-DDBE-4537-B5E5-03F87DAB921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33176C89-3DC4-4460-AF7B-B51C2BE51EA8}" type="slidenum">
              <a:rPr lang="en-US" altLang="it-IT" sz="1200"/>
              <a:pPr/>
              <a:t>31</a:t>
            </a:fld>
            <a:endParaRPr lang="en-US" altLang="it-IT" sz="1200"/>
          </a:p>
        </p:txBody>
      </p:sp>
      <p:sp>
        <p:nvSpPr>
          <p:cNvPr id="77827" name="Rectangle 2">
            <a:extLst>
              <a:ext uri="{FF2B5EF4-FFF2-40B4-BE49-F238E27FC236}">
                <a16:creationId xmlns:a16="http://schemas.microsoft.com/office/drawing/2014/main" id="{0C666FBC-7479-468C-A85C-8B670C25B1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Procedure Linkages</a:t>
            </a:r>
          </a:p>
        </p:txBody>
      </p:sp>
      <p:sp>
        <p:nvSpPr>
          <p:cNvPr id="77828" name="Rectangle 3">
            <a:extLst>
              <a:ext uri="{FF2B5EF4-FFF2-40B4-BE49-F238E27FC236}">
                <a16:creationId xmlns:a16="http://schemas.microsoft.com/office/drawing/2014/main" id="{6E4A4059-2A06-4A46-A0C8-82A417FD06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066800"/>
            <a:ext cx="7924800" cy="4953000"/>
          </a:xfrm>
        </p:spPr>
        <p:txBody>
          <a:bodyPr/>
          <a:lstStyle/>
          <a:p>
            <a:pPr eaLnBrk="1" hangingPunct="1">
              <a:spcBef>
                <a:spcPct val="15000"/>
              </a:spcBef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Prolog Code</a:t>
            </a:r>
          </a:p>
          <a:p>
            <a:pPr eaLnBrk="1" hangingPunct="1">
              <a:spcBef>
                <a:spcPct val="15000"/>
              </a:spcBef>
            </a:pPr>
            <a:r>
              <a:rPr lang="en-US" altLang="it-IT"/>
              <a:t>Finish setting up callee’s environment</a:t>
            </a:r>
          </a:p>
          <a:p>
            <a:pPr eaLnBrk="1" hangingPunct="1">
              <a:spcBef>
                <a:spcPct val="15000"/>
              </a:spcBef>
            </a:pPr>
            <a:r>
              <a:rPr lang="en-US" altLang="it-IT"/>
              <a:t>Preserve parts of caller’s environment that will be disturbed</a:t>
            </a:r>
          </a:p>
          <a:p>
            <a:pPr eaLnBrk="1" hangingPunct="1">
              <a:spcBef>
                <a:spcPct val="60000"/>
              </a:spcBef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The Details</a:t>
            </a:r>
          </a:p>
          <a:p>
            <a:pPr eaLnBrk="1" hangingPunct="1">
              <a:spcBef>
                <a:spcPct val="15000"/>
              </a:spcBef>
            </a:pPr>
            <a:r>
              <a:rPr lang="en-US" altLang="it-IT"/>
              <a:t>Preserve any callee-save registers</a:t>
            </a:r>
          </a:p>
          <a:p>
            <a:pPr eaLnBrk="1" hangingPunct="1">
              <a:spcBef>
                <a:spcPct val="15000"/>
              </a:spcBef>
            </a:pPr>
            <a:r>
              <a:rPr lang="en-US" altLang="it-IT"/>
              <a:t>If display is being used</a:t>
            </a:r>
          </a:p>
          <a:p>
            <a:pPr lvl="1" eaLnBrk="1" hangingPunct="1">
              <a:spcBef>
                <a:spcPct val="15000"/>
              </a:spcBef>
            </a:pPr>
            <a:r>
              <a:rPr lang="en-US" altLang="it-IT"/>
              <a:t>Save display entry for current lexical level</a:t>
            </a:r>
          </a:p>
          <a:p>
            <a:pPr lvl="1" eaLnBrk="1" hangingPunct="1">
              <a:spcBef>
                <a:spcPct val="15000"/>
              </a:spcBef>
            </a:pPr>
            <a:r>
              <a:rPr lang="en-US" altLang="it-IT"/>
              <a:t>Store current </a:t>
            </a:r>
            <a:r>
              <a:rPr lang="en-US" altLang="it-IT" sz="1600"/>
              <a:t>ARP</a:t>
            </a:r>
            <a:r>
              <a:rPr lang="en-US" altLang="it-IT"/>
              <a:t> into display for current lexical level</a:t>
            </a:r>
          </a:p>
          <a:p>
            <a:pPr eaLnBrk="1" hangingPunct="1">
              <a:spcBef>
                <a:spcPct val="15000"/>
              </a:spcBef>
            </a:pPr>
            <a:r>
              <a:rPr lang="en-US" altLang="it-IT"/>
              <a:t>Allocate space for local data</a:t>
            </a:r>
          </a:p>
          <a:p>
            <a:pPr lvl="1" eaLnBrk="1" hangingPunct="1">
              <a:spcBef>
                <a:spcPct val="15000"/>
              </a:spcBef>
            </a:pPr>
            <a:r>
              <a:rPr lang="en-US" altLang="it-IT"/>
              <a:t>Easiest scenario is to extend the </a:t>
            </a:r>
            <a:r>
              <a:rPr lang="en-US" altLang="it-IT" sz="1600"/>
              <a:t>AR</a:t>
            </a:r>
            <a:endParaRPr lang="en-US" altLang="it-IT"/>
          </a:p>
          <a:p>
            <a:pPr eaLnBrk="1" hangingPunct="1">
              <a:spcBef>
                <a:spcPct val="15000"/>
              </a:spcBef>
            </a:pPr>
            <a:r>
              <a:rPr lang="en-US" altLang="it-IT"/>
              <a:t>Find any static data areas referenced in the callee</a:t>
            </a:r>
          </a:p>
          <a:p>
            <a:pPr eaLnBrk="1" hangingPunct="1">
              <a:spcBef>
                <a:spcPct val="15000"/>
              </a:spcBef>
            </a:pPr>
            <a:r>
              <a:rPr lang="en-US" altLang="it-IT"/>
              <a:t>Handle any local variable initializations</a:t>
            </a:r>
          </a:p>
        </p:txBody>
      </p:sp>
      <p:sp>
        <p:nvSpPr>
          <p:cNvPr id="50180" name="AutoShape 4">
            <a:extLst>
              <a:ext uri="{FF2B5EF4-FFF2-40B4-BE49-F238E27FC236}">
                <a16:creationId xmlns:a16="http://schemas.microsoft.com/office/drawing/2014/main" id="{EFF35824-9520-4538-8948-DE5A15246521}"/>
              </a:ext>
            </a:extLst>
          </p:cNvPr>
          <p:cNvSpPr>
            <a:spLocks/>
          </p:cNvSpPr>
          <p:nvPr/>
        </p:nvSpPr>
        <p:spPr bwMode="auto">
          <a:xfrm>
            <a:off x="5791200" y="2438400"/>
            <a:ext cx="2895600" cy="844550"/>
          </a:xfrm>
          <a:prstGeom prst="accentBorderCallout1">
            <a:avLst>
              <a:gd name="adj1" fmla="val 12042"/>
              <a:gd name="adj2" fmla="val -2630"/>
              <a:gd name="adj3" fmla="val 228495"/>
              <a:gd name="adj4" fmla="val -40074"/>
            </a:avLst>
          </a:prstGeom>
          <a:solidFill>
            <a:srgbClr val="BFBFBF"/>
          </a:solidFill>
          <a:ln w="19050" algn="ctr">
            <a:solidFill>
              <a:srgbClr val="7F7F7F"/>
            </a:solidFill>
            <a:miter lim="800000"/>
            <a:headEnd/>
            <a:tailEnd type="triangle" w="med" len="med"/>
          </a:ln>
        </p:spPr>
        <p:txBody>
          <a:bodyPr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>
                <a:solidFill>
                  <a:srgbClr val="003C75"/>
                </a:solidFill>
              </a:rPr>
              <a:t>With heap allocated </a:t>
            </a:r>
            <a:r>
              <a:rPr lang="en-US" altLang="it-IT" sz="1400">
                <a:solidFill>
                  <a:srgbClr val="003C75"/>
                </a:solidFill>
              </a:rPr>
              <a:t>AR</a:t>
            </a:r>
            <a:r>
              <a:rPr lang="en-US" altLang="it-IT">
                <a:solidFill>
                  <a:srgbClr val="003C75"/>
                </a:solidFill>
              </a:rPr>
              <a:t>, may need a separate heap object for local variables</a:t>
            </a:r>
            <a:endParaRPr lang="en-US" altLang="it-IT" sz="1800">
              <a:solidFill>
                <a:srgbClr val="003C75"/>
              </a:solidFill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50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80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Footer Placeholder 3">
            <a:extLst>
              <a:ext uri="{FF2B5EF4-FFF2-40B4-BE49-F238E27FC236}">
                <a16:creationId xmlns:a16="http://schemas.microsoft.com/office/drawing/2014/main" id="{89ED9EF4-6888-4659-B38B-47AD6D9DA4E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200"/>
              <a:t>Comp 412, Fall 2010</a:t>
            </a:r>
          </a:p>
        </p:txBody>
      </p:sp>
      <p:sp>
        <p:nvSpPr>
          <p:cNvPr id="79874" name="Slide Number Placeholder 4">
            <a:extLst>
              <a:ext uri="{FF2B5EF4-FFF2-40B4-BE49-F238E27FC236}">
                <a16:creationId xmlns:a16="http://schemas.microsoft.com/office/drawing/2014/main" id="{FC9956A5-3CD9-48DF-81E1-673A878D93A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CAA37031-A31D-4793-B832-69E920FAA86B}" type="slidenum">
              <a:rPr lang="en-US" altLang="it-IT" sz="1200"/>
              <a:pPr/>
              <a:t>32</a:t>
            </a:fld>
            <a:endParaRPr lang="en-US" altLang="it-IT" sz="1200"/>
          </a:p>
        </p:txBody>
      </p:sp>
      <p:sp>
        <p:nvSpPr>
          <p:cNvPr id="79875" name="Rectangle 2">
            <a:extLst>
              <a:ext uri="{FF2B5EF4-FFF2-40B4-BE49-F238E27FC236}">
                <a16:creationId xmlns:a16="http://schemas.microsoft.com/office/drawing/2014/main" id="{57DFD027-F049-4F16-93D2-B3F8300C73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Procedure Linkages</a:t>
            </a:r>
          </a:p>
        </p:txBody>
      </p:sp>
      <p:sp>
        <p:nvSpPr>
          <p:cNvPr id="79876" name="Rectangle 3">
            <a:extLst>
              <a:ext uri="{FF2B5EF4-FFF2-40B4-BE49-F238E27FC236}">
                <a16:creationId xmlns:a16="http://schemas.microsoft.com/office/drawing/2014/main" id="{6AE71B4F-EDF8-4007-947C-765C4AEBEF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Epilog Code</a:t>
            </a:r>
          </a:p>
          <a:p>
            <a:pPr eaLnBrk="1" hangingPunct="1">
              <a:spcBef>
                <a:spcPct val="15000"/>
              </a:spcBef>
            </a:pPr>
            <a:r>
              <a:rPr lang="en-US" altLang="it-IT"/>
              <a:t>Wind up the business of the callee</a:t>
            </a:r>
          </a:p>
          <a:p>
            <a:pPr eaLnBrk="1" hangingPunct="1">
              <a:spcBef>
                <a:spcPct val="15000"/>
              </a:spcBef>
            </a:pPr>
            <a:r>
              <a:rPr lang="en-US" altLang="it-IT"/>
              <a:t>Start restoring the caller’s environment</a:t>
            </a:r>
          </a:p>
          <a:p>
            <a:pPr eaLnBrk="1" hangingPunct="1">
              <a:spcBef>
                <a:spcPct val="60000"/>
              </a:spcBef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The Details</a:t>
            </a:r>
          </a:p>
          <a:p>
            <a:pPr eaLnBrk="1" hangingPunct="1">
              <a:spcBef>
                <a:spcPct val="15000"/>
              </a:spcBef>
            </a:pPr>
            <a:r>
              <a:rPr lang="en-US" altLang="it-IT"/>
              <a:t>Store return value? </a:t>
            </a:r>
          </a:p>
          <a:p>
            <a:pPr lvl="1" eaLnBrk="1" hangingPunct="1">
              <a:spcBef>
                <a:spcPct val="15000"/>
              </a:spcBef>
            </a:pPr>
            <a:r>
              <a:rPr lang="en-US" altLang="it-IT"/>
              <a:t>Some implementations do this on the return statement</a:t>
            </a:r>
          </a:p>
          <a:p>
            <a:pPr lvl="1" eaLnBrk="1" hangingPunct="1">
              <a:spcBef>
                <a:spcPct val="15000"/>
              </a:spcBef>
            </a:pPr>
            <a:r>
              <a:rPr lang="en-US" altLang="it-IT"/>
              <a:t>Others have return assign it &amp; epilog store it into caller’s </a:t>
            </a:r>
            <a:r>
              <a:rPr lang="en-US" altLang="it-IT" sz="1600"/>
              <a:t>AR</a:t>
            </a:r>
            <a:endParaRPr lang="en-US" altLang="it-IT"/>
          </a:p>
          <a:p>
            <a:pPr eaLnBrk="1" hangingPunct="1">
              <a:spcBef>
                <a:spcPct val="15000"/>
              </a:spcBef>
            </a:pPr>
            <a:r>
              <a:rPr lang="en-US" altLang="it-IT"/>
              <a:t>Restore callee-save registers</a:t>
            </a:r>
          </a:p>
          <a:p>
            <a:pPr eaLnBrk="1" hangingPunct="1">
              <a:spcBef>
                <a:spcPct val="15000"/>
              </a:spcBef>
            </a:pPr>
            <a:r>
              <a:rPr lang="en-US" altLang="it-IT"/>
              <a:t>Free space for local data, if necessary </a:t>
            </a:r>
            <a:r>
              <a:rPr lang="en-US" altLang="it-IT">
                <a:solidFill>
                  <a:srgbClr val="FF0065"/>
                </a:solidFill>
              </a:rPr>
              <a:t>(on the heap)</a:t>
            </a:r>
            <a:endParaRPr lang="en-US" altLang="it-IT"/>
          </a:p>
          <a:p>
            <a:pPr eaLnBrk="1" hangingPunct="1">
              <a:spcBef>
                <a:spcPct val="15000"/>
              </a:spcBef>
            </a:pPr>
            <a:r>
              <a:rPr lang="en-US" altLang="it-IT"/>
              <a:t>Load return address from </a:t>
            </a:r>
            <a:r>
              <a:rPr lang="en-US" altLang="it-IT" sz="1800"/>
              <a:t>AR</a:t>
            </a:r>
            <a:endParaRPr lang="en-US" altLang="it-IT"/>
          </a:p>
          <a:p>
            <a:pPr eaLnBrk="1" hangingPunct="1">
              <a:spcBef>
                <a:spcPct val="15000"/>
              </a:spcBef>
            </a:pPr>
            <a:r>
              <a:rPr lang="en-US" altLang="it-IT"/>
              <a:t>Restore caller’s </a:t>
            </a:r>
            <a:r>
              <a:rPr lang="en-US" altLang="it-IT" sz="1800"/>
              <a:t>ARP</a:t>
            </a:r>
            <a:endParaRPr lang="en-US" altLang="it-IT"/>
          </a:p>
          <a:p>
            <a:pPr eaLnBrk="1" hangingPunct="1">
              <a:spcBef>
                <a:spcPct val="15000"/>
              </a:spcBef>
            </a:pPr>
            <a:r>
              <a:rPr lang="en-US" altLang="it-IT"/>
              <a:t>Jump to the return address</a:t>
            </a:r>
          </a:p>
        </p:txBody>
      </p:sp>
      <p:sp>
        <p:nvSpPr>
          <p:cNvPr id="70662" name="AutoShape 4">
            <a:extLst>
              <a:ext uri="{FF2B5EF4-FFF2-40B4-BE49-F238E27FC236}">
                <a16:creationId xmlns:a16="http://schemas.microsoft.com/office/drawing/2014/main" id="{19D6ACDF-F4C1-429C-B408-4301951D7211}"/>
              </a:ext>
            </a:extLst>
          </p:cNvPr>
          <p:cNvSpPr>
            <a:spLocks/>
          </p:cNvSpPr>
          <p:nvPr/>
        </p:nvSpPr>
        <p:spPr bwMode="auto">
          <a:xfrm>
            <a:off x="6096000" y="1892300"/>
            <a:ext cx="2819400" cy="1089025"/>
          </a:xfrm>
          <a:prstGeom prst="accentBorderCallout1">
            <a:avLst>
              <a:gd name="adj1" fmla="val 10495"/>
              <a:gd name="adj2" fmla="val -2704"/>
              <a:gd name="adj3" fmla="val 201019"/>
              <a:gd name="adj4" fmla="val -38907"/>
            </a:avLst>
          </a:prstGeom>
          <a:solidFill>
            <a:srgbClr val="BFBFBF"/>
          </a:solidFill>
          <a:ln w="19050">
            <a:solidFill>
              <a:srgbClr val="7F7F7F"/>
            </a:solidFill>
            <a:miter lim="800000"/>
            <a:headEnd/>
            <a:tailEnd type="triangle" w="med" len="med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en-US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If </a:t>
            </a:r>
            <a:r>
              <a:rPr lang="en-US" sz="140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AR</a:t>
            </a:r>
            <a:r>
              <a:rPr lang="en-US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s are stack allocated, this may not be necessary.  (Caller can reset stacktop to its pre-call value.)</a:t>
            </a:r>
            <a:endParaRPr lang="en-US" sz="1800">
              <a:solidFill>
                <a:srgbClr val="003C75"/>
              </a:solidFill>
              <a:latin typeface="Comic Sans MS" charset="0"/>
              <a:ea typeface="ヒラギノ角ゴ Pro W3" charset="-128"/>
              <a:cs typeface="ヒラギノ角ゴ Pro W3" charset="-128"/>
            </a:endParaRPr>
          </a:p>
        </p:txBody>
      </p:sp>
    </p:spTree>
  </p:cSld>
  <p:clrMapOvr>
    <a:masterClrMapping/>
  </p:clrMapOvr>
  <p:transition>
    <p:wipe dir="r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Footer Placeholder 1">
            <a:extLst>
              <a:ext uri="{FF2B5EF4-FFF2-40B4-BE49-F238E27FC236}">
                <a16:creationId xmlns:a16="http://schemas.microsoft.com/office/drawing/2014/main" id="{D5C1BD7B-642F-4CD8-A7BF-095958900C0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200"/>
              <a:t>Comp 412, Fall 2010</a:t>
            </a:r>
          </a:p>
        </p:txBody>
      </p:sp>
      <p:sp>
        <p:nvSpPr>
          <p:cNvPr id="81922" name="Slide Number Placeholder 2">
            <a:extLst>
              <a:ext uri="{FF2B5EF4-FFF2-40B4-BE49-F238E27FC236}">
                <a16:creationId xmlns:a16="http://schemas.microsoft.com/office/drawing/2014/main" id="{6A03A277-02C2-4747-A4C8-B7A1F033D82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C06691B2-B836-4464-8651-2451C766A2B9}" type="slidenum">
              <a:rPr lang="en-US" altLang="it-IT" sz="1200"/>
              <a:pPr/>
              <a:t>33</a:t>
            </a:fld>
            <a:endParaRPr lang="en-US" altLang="it-IT" sz="1200"/>
          </a:p>
        </p:txBody>
      </p:sp>
      <p:sp>
        <p:nvSpPr>
          <p:cNvPr id="81923" name="Rectangle 2">
            <a:extLst>
              <a:ext uri="{FF2B5EF4-FFF2-40B4-BE49-F238E27FC236}">
                <a16:creationId xmlns:a16="http://schemas.microsoft.com/office/drawing/2014/main" id="{6CCA5663-4E74-4D84-869C-74E6434A14B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Back to Activation Records</a:t>
            </a:r>
          </a:p>
        </p:txBody>
      </p:sp>
      <p:sp>
        <p:nvSpPr>
          <p:cNvPr id="81924" name="Rectangle 3">
            <a:extLst>
              <a:ext uri="{FF2B5EF4-FFF2-40B4-BE49-F238E27FC236}">
                <a16:creationId xmlns:a16="http://schemas.microsoft.com/office/drawing/2014/main" id="{CEA806DF-72E5-4F20-B954-846367DAA19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066800"/>
            <a:ext cx="7772400" cy="5334000"/>
          </a:xfrm>
        </p:spPr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If activation records are stored on the stack</a:t>
            </a:r>
          </a:p>
          <a:p>
            <a:pPr eaLnBrk="1" hangingPunct="1"/>
            <a:r>
              <a:rPr lang="en-US" altLang="it-IT"/>
              <a:t>Easy to extend — simply bump top of stack pointer</a:t>
            </a:r>
          </a:p>
          <a:p>
            <a:pPr eaLnBrk="1" hangingPunct="1"/>
            <a:r>
              <a:rPr lang="en-US" altLang="it-IT"/>
              <a:t>Caller &amp; callee share responsibility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it-IT"/>
              <a:t>Caller can push parameters, space for registers, return value slot, return address, addressability info, &amp; its own </a:t>
            </a:r>
            <a:r>
              <a:rPr lang="en-US" altLang="it-IT" sz="1600"/>
              <a:t>ARP</a:t>
            </a:r>
            <a:endParaRPr lang="en-US" altLang="it-IT" b="1"/>
          </a:p>
          <a:p>
            <a:pPr lvl="1" eaLnBrk="1" hangingPunct="1">
              <a:spcBef>
                <a:spcPct val="10000"/>
              </a:spcBef>
            </a:pPr>
            <a:r>
              <a:rPr lang="en-US" altLang="it-IT"/>
              <a:t>Callee can push space for local variables (fixed &amp; variable size)</a:t>
            </a:r>
          </a:p>
          <a:p>
            <a:pPr eaLnBrk="1" hangingPunct="1">
              <a:spcBef>
                <a:spcPct val="70000"/>
              </a:spcBef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If activation records are stored on the heap</a:t>
            </a:r>
          </a:p>
          <a:p>
            <a:pPr eaLnBrk="1" hangingPunct="1"/>
            <a:r>
              <a:rPr lang="en-US" altLang="it-IT"/>
              <a:t>Hard to extend</a:t>
            </a:r>
          </a:p>
          <a:p>
            <a:pPr eaLnBrk="1" hangingPunct="1"/>
            <a:r>
              <a:rPr lang="en-US" altLang="it-IT"/>
              <a:t>Several options</a:t>
            </a:r>
          </a:p>
          <a:p>
            <a:pPr lvl="1" eaLnBrk="1" hangingPunct="1"/>
            <a:r>
              <a:rPr lang="en-US" altLang="it-IT"/>
              <a:t>Caller passes everything in registers; callee allocates &amp; fills AR </a:t>
            </a:r>
          </a:p>
          <a:p>
            <a:pPr lvl="1" eaLnBrk="1" hangingPunct="1"/>
            <a:r>
              <a:rPr lang="en-US" altLang="it-IT"/>
              <a:t>Store parameters, return address, etc., in caller’s AR !</a:t>
            </a:r>
          </a:p>
          <a:p>
            <a:pPr lvl="1" eaLnBrk="1" hangingPunct="1"/>
            <a:r>
              <a:rPr lang="en-US" altLang="it-IT"/>
              <a:t>Store callee’s AR size in a defined static constant </a:t>
            </a:r>
          </a:p>
          <a:p>
            <a:pPr eaLnBrk="1" hangingPunct="1">
              <a:spcBef>
                <a:spcPct val="70000"/>
              </a:spcBef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Without recursion, activation records can be static</a:t>
            </a:r>
          </a:p>
        </p:txBody>
      </p:sp>
      <p:sp>
        <p:nvSpPr>
          <p:cNvPr id="72710" name="TextBox 9">
            <a:extLst>
              <a:ext uri="{FF2B5EF4-FFF2-40B4-BE49-F238E27FC236}">
                <a16:creationId xmlns:a16="http://schemas.microsoft.com/office/drawing/2014/main" id="{8CD1168E-FEAC-4FF3-85E5-B410F7D986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1185863"/>
            <a:ext cx="1219200" cy="261937"/>
          </a:xfrm>
          <a:prstGeom prst="rect">
            <a:avLst/>
          </a:prstGeom>
          <a:solidFill>
            <a:srgbClr val="BFBFBF"/>
          </a:solidFill>
          <a:ln w="19050" cap="flat" cmpd="sng" algn="ctr">
            <a:solidFill>
              <a:srgbClr val="7F7F7F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algn="ctr" eaLnBrk="0" hangingPunct="0">
              <a:defRPr/>
            </a:pPr>
            <a:r>
              <a:rPr lang="en-US" sz="110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Algol-60 rules</a:t>
            </a:r>
          </a:p>
        </p:txBody>
      </p:sp>
      <p:sp>
        <p:nvSpPr>
          <p:cNvPr id="72711" name="TextBox 10">
            <a:extLst>
              <a:ext uri="{FF2B5EF4-FFF2-40B4-BE49-F238E27FC236}">
                <a16:creationId xmlns:a16="http://schemas.microsoft.com/office/drawing/2014/main" id="{1806C30B-E69D-4170-8454-BBD720663B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3276600"/>
            <a:ext cx="1219200" cy="261938"/>
          </a:xfrm>
          <a:prstGeom prst="rect">
            <a:avLst/>
          </a:prstGeom>
          <a:solidFill>
            <a:srgbClr val="BFBFBF"/>
          </a:solidFill>
          <a:ln w="19050" cap="flat" cmpd="sng" algn="ctr">
            <a:solidFill>
              <a:srgbClr val="7F7F7F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algn="ctr" eaLnBrk="0" hangingPunct="0">
              <a:defRPr/>
            </a:pPr>
            <a:r>
              <a:rPr lang="en-US" sz="110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ML rules</a:t>
            </a:r>
          </a:p>
        </p:txBody>
      </p:sp>
      <p:grpSp>
        <p:nvGrpSpPr>
          <p:cNvPr id="81927" name="Group 13">
            <a:extLst>
              <a:ext uri="{FF2B5EF4-FFF2-40B4-BE49-F238E27FC236}">
                <a16:creationId xmlns:a16="http://schemas.microsoft.com/office/drawing/2014/main" id="{E5B0053B-A52E-4458-9B4E-05D945A7AF48}"/>
              </a:ext>
            </a:extLst>
          </p:cNvPr>
          <p:cNvGrpSpPr>
            <a:grpSpLocks/>
          </p:cNvGrpSpPr>
          <p:nvPr/>
        </p:nvGrpSpPr>
        <p:grpSpPr bwMode="auto">
          <a:xfrm>
            <a:off x="6884988" y="5184775"/>
            <a:ext cx="2259012" cy="1139825"/>
            <a:chOff x="6884557" y="5184677"/>
            <a:chExt cx="2259443" cy="1139923"/>
          </a:xfrm>
        </p:grpSpPr>
        <p:grpSp>
          <p:nvGrpSpPr>
            <p:cNvPr id="81929" name="Group 11">
              <a:extLst>
                <a:ext uri="{FF2B5EF4-FFF2-40B4-BE49-F238E27FC236}">
                  <a16:creationId xmlns:a16="http://schemas.microsoft.com/office/drawing/2014/main" id="{5DF3F3D9-5055-48A1-91E2-EE08FD8C052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62800" y="6019800"/>
              <a:ext cx="1981200" cy="304800"/>
              <a:chOff x="7207250" y="5613400"/>
              <a:chExt cx="1981200" cy="304800"/>
            </a:xfrm>
          </p:grpSpPr>
          <p:sp>
            <p:nvSpPr>
              <p:cNvPr id="81931" name="Text Box 6">
                <a:extLst>
                  <a:ext uri="{FF2B5EF4-FFF2-40B4-BE49-F238E27FC236}">
                    <a16:creationId xmlns:a16="http://schemas.microsoft.com/office/drawing/2014/main" id="{9B6423DC-4D36-41CD-A376-587665774BD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07250" y="5613400"/>
                <a:ext cx="1981200" cy="304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it-IT" sz="1400">
                    <a:solidFill>
                      <a:srgbClr val="B025A6"/>
                    </a:solidFill>
                  </a:rPr>
                  <a:t>Name </a:t>
                </a:r>
                <a:r>
                  <a:rPr lang="en-US" altLang="it-IT" sz="1400">
                    <a:solidFill>
                      <a:srgbClr val="003C75"/>
                    </a:solidFill>
                  </a:rPr>
                  <a:t>mangling</a:t>
                </a:r>
                <a:r>
                  <a:rPr lang="en-US" altLang="it-IT" sz="1400">
                    <a:solidFill>
                      <a:srgbClr val="B025A6"/>
                    </a:solidFill>
                  </a:rPr>
                  <a:t>, </a:t>
                </a:r>
                <a:r>
                  <a:rPr lang="en-US" altLang="it-IT" sz="1400">
                    <a:solidFill>
                      <a:srgbClr val="003C75"/>
                    </a:solidFill>
                  </a:rPr>
                  <a:t>again</a:t>
                </a:r>
              </a:p>
            </p:txBody>
          </p:sp>
          <p:sp>
            <p:nvSpPr>
              <p:cNvPr id="81932" name="Line 7">
                <a:extLst>
                  <a:ext uri="{FF2B5EF4-FFF2-40B4-BE49-F238E27FC236}">
                    <a16:creationId xmlns:a16="http://schemas.microsoft.com/office/drawing/2014/main" id="{988352CB-47B3-47B3-BD03-B3581D64D6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45446" y="5613400"/>
                <a:ext cx="0" cy="304800"/>
              </a:xfrm>
              <a:prstGeom prst="line">
                <a:avLst/>
              </a:prstGeom>
              <a:noFill/>
              <a:ln w="19050">
                <a:solidFill>
                  <a:srgbClr val="003C75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</p:grpSp>
        <p:sp>
          <p:nvSpPr>
            <p:cNvPr id="81930" name="Freeform 12">
              <a:extLst>
                <a:ext uri="{FF2B5EF4-FFF2-40B4-BE49-F238E27FC236}">
                  <a16:creationId xmlns:a16="http://schemas.microsoft.com/office/drawing/2014/main" id="{0B7CC153-D249-48D5-BF59-00CF90705A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84557" y="5184677"/>
              <a:ext cx="720922" cy="935724"/>
            </a:xfrm>
            <a:custGeom>
              <a:avLst/>
              <a:gdLst>
                <a:gd name="T0" fmla="*/ 305556 w 720922"/>
                <a:gd name="T1" fmla="*/ 935724 h 935724"/>
                <a:gd name="T2" fmla="*/ 143229 w 720922"/>
                <a:gd name="T3" fmla="*/ 744760 h 935724"/>
                <a:gd name="T4" fmla="*/ 697050 w 720922"/>
                <a:gd name="T5" fmla="*/ 381928 h 935724"/>
                <a:gd name="T6" fmla="*/ 0 w 720922"/>
                <a:gd name="T7" fmla="*/ 0 h 93572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20922"/>
                <a:gd name="T13" fmla="*/ 0 h 935724"/>
                <a:gd name="T14" fmla="*/ 720922 w 720922"/>
                <a:gd name="T15" fmla="*/ 935724 h 93572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20922" h="935724">
                  <a:moveTo>
                    <a:pt x="305556" y="935724"/>
                  </a:moveTo>
                  <a:cubicBezTo>
                    <a:pt x="191768" y="886391"/>
                    <a:pt x="77980" y="837059"/>
                    <a:pt x="143229" y="744760"/>
                  </a:cubicBezTo>
                  <a:cubicBezTo>
                    <a:pt x="208478" y="652461"/>
                    <a:pt x="720922" y="506055"/>
                    <a:pt x="697050" y="381928"/>
                  </a:cubicBezTo>
                  <a:cubicBezTo>
                    <a:pt x="673179" y="257801"/>
                    <a:pt x="0" y="0"/>
                    <a:pt x="0" y="0"/>
                  </a:cubicBezTo>
                </a:path>
              </a:pathLst>
            </a:custGeom>
            <a:noFill/>
            <a:ln w="19050">
              <a:solidFill>
                <a:srgbClr val="003C75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</p:grpSp>
      <p:sp>
        <p:nvSpPr>
          <p:cNvPr id="72713" name="TextBox 14">
            <a:extLst>
              <a:ext uri="{FF2B5EF4-FFF2-40B4-BE49-F238E27FC236}">
                <a16:creationId xmlns:a16="http://schemas.microsoft.com/office/drawing/2014/main" id="{5B17ECBF-0C94-45A8-8A6B-7661AAA6E4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5867400"/>
            <a:ext cx="1295400" cy="261938"/>
          </a:xfrm>
          <a:prstGeom prst="rect">
            <a:avLst/>
          </a:prstGeom>
          <a:solidFill>
            <a:srgbClr val="BFBFBF"/>
          </a:solidFill>
          <a:ln w="19050" cap="flat" cmpd="sng" algn="ctr">
            <a:solidFill>
              <a:srgbClr val="7F7F7F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algn="ctr" eaLnBrk="0" hangingPunct="0">
              <a:defRPr/>
            </a:pPr>
            <a:r>
              <a:rPr lang="en-US" sz="110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Fortran 66 &amp; 77</a:t>
            </a:r>
          </a:p>
        </p:txBody>
      </p:sp>
    </p:spTree>
  </p:cSld>
  <p:clrMapOvr>
    <a:masterClrMapping/>
  </p:clrMapOvr>
  <p:transition>
    <p:wipe dir="r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Footer Placeholder 3">
            <a:extLst>
              <a:ext uri="{FF2B5EF4-FFF2-40B4-BE49-F238E27FC236}">
                <a16:creationId xmlns:a16="http://schemas.microsoft.com/office/drawing/2014/main" id="{F9C63C91-B116-4461-9E77-D1734D92566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200"/>
              <a:t>Comp 412, Fall 2010</a:t>
            </a:r>
          </a:p>
        </p:txBody>
      </p:sp>
      <p:sp>
        <p:nvSpPr>
          <p:cNvPr id="83970" name="Slide Number Placeholder 4">
            <a:extLst>
              <a:ext uri="{FF2B5EF4-FFF2-40B4-BE49-F238E27FC236}">
                <a16:creationId xmlns:a16="http://schemas.microsoft.com/office/drawing/2014/main" id="{6E4EE1A3-50E7-4CAB-9944-BA3DD122AA9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3CFF5A5F-D2B4-4E8F-AB16-19A8E128440B}" type="slidenum">
              <a:rPr lang="en-US" altLang="it-IT" sz="1200"/>
              <a:pPr/>
              <a:t>34</a:t>
            </a:fld>
            <a:endParaRPr lang="en-US" altLang="it-IT" sz="1200"/>
          </a:p>
        </p:txBody>
      </p:sp>
      <p:sp>
        <p:nvSpPr>
          <p:cNvPr id="83971" name="Rectangle 2">
            <a:extLst>
              <a:ext uri="{FF2B5EF4-FFF2-40B4-BE49-F238E27FC236}">
                <a16:creationId xmlns:a16="http://schemas.microsoft.com/office/drawing/2014/main" id="{86598940-BFBC-43B8-A4B8-EB7329F113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Communicating Between Procedures</a:t>
            </a:r>
          </a:p>
        </p:txBody>
      </p:sp>
      <p:sp>
        <p:nvSpPr>
          <p:cNvPr id="83972" name="Rectangle 3">
            <a:extLst>
              <a:ext uri="{FF2B5EF4-FFF2-40B4-BE49-F238E27FC236}">
                <a16:creationId xmlns:a16="http://schemas.microsoft.com/office/drawing/2014/main" id="{A10047A8-4646-4089-851B-E037969EFE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Most languages provide a parameter passing mechanism</a:t>
            </a:r>
          </a:p>
          <a:p>
            <a:pPr eaLnBrk="1" hangingPunct="1">
              <a:buSzTx/>
              <a:buFont typeface="Symbol" panose="05050102010706020507" pitchFamily="18" charset="2"/>
              <a:buChar char="Þ"/>
            </a:pPr>
            <a:r>
              <a:rPr lang="en-US" altLang="it-IT"/>
              <a:t>Expression used at “call site” becomes variable in callee</a:t>
            </a:r>
          </a:p>
          <a:p>
            <a:pPr eaLnBrk="1" hangingPunct="1">
              <a:spcBef>
                <a:spcPct val="100000"/>
              </a:spcBef>
              <a:buSzPct val="90000"/>
              <a:buFont typeface="Symbol" panose="05050102010706020507" pitchFamily="18" charset="2"/>
              <a:buNone/>
            </a:pPr>
            <a:r>
              <a:rPr lang="en-US" altLang="it-IT">
                <a:solidFill>
                  <a:srgbClr val="003C75"/>
                </a:solidFill>
              </a:rPr>
              <a:t>Two common binding mechanisms</a:t>
            </a:r>
          </a:p>
          <a:p>
            <a:pPr eaLnBrk="1" hangingPunct="1"/>
            <a:r>
              <a:rPr lang="en-US" altLang="it-IT">
                <a:solidFill>
                  <a:srgbClr val="FF0065"/>
                </a:solidFill>
              </a:rPr>
              <a:t>Call-by-reference</a:t>
            </a:r>
            <a:r>
              <a:rPr lang="en-US" altLang="it-IT"/>
              <a:t> passes a pointer to actual parameter</a:t>
            </a:r>
          </a:p>
          <a:p>
            <a:pPr lvl="1" eaLnBrk="1" hangingPunct="1"/>
            <a:r>
              <a:rPr lang="en-US" altLang="it-IT"/>
              <a:t>Requires slot in the AR (for </a:t>
            </a:r>
            <a:r>
              <a:rPr lang="en-US" altLang="it-IT">
                <a:solidFill>
                  <a:srgbClr val="FF0065"/>
                </a:solidFill>
              </a:rPr>
              <a:t>address</a:t>
            </a:r>
            <a:r>
              <a:rPr lang="en-US" altLang="it-IT"/>
              <a:t> of parameter)</a:t>
            </a:r>
          </a:p>
          <a:p>
            <a:pPr lvl="1" eaLnBrk="1" hangingPunct="1"/>
            <a:r>
              <a:rPr lang="en-US" altLang="it-IT"/>
              <a:t>Multiple names with the same address?</a:t>
            </a:r>
          </a:p>
          <a:p>
            <a:pPr eaLnBrk="1" hangingPunct="1"/>
            <a:r>
              <a:rPr lang="en-US" altLang="it-IT">
                <a:solidFill>
                  <a:srgbClr val="FF0065"/>
                </a:solidFill>
              </a:rPr>
              <a:t>Call-by-value</a:t>
            </a:r>
            <a:r>
              <a:rPr lang="en-US" altLang="it-IT"/>
              <a:t> passes a copy of its value at time of call</a:t>
            </a:r>
          </a:p>
          <a:p>
            <a:pPr lvl="1" eaLnBrk="1" hangingPunct="1"/>
            <a:r>
              <a:rPr lang="en-US" altLang="it-IT"/>
              <a:t>Requires slot in the AR</a:t>
            </a:r>
          </a:p>
          <a:p>
            <a:pPr lvl="1" eaLnBrk="1" hangingPunct="1"/>
            <a:r>
              <a:rPr lang="en-US" altLang="it-IT"/>
              <a:t>Each name gets a unique location          </a:t>
            </a:r>
            <a:r>
              <a:rPr lang="en-US" altLang="it-IT">
                <a:solidFill>
                  <a:srgbClr val="FF0000"/>
                </a:solidFill>
              </a:rPr>
              <a:t>     </a:t>
            </a:r>
            <a:r>
              <a:rPr lang="en-US" altLang="it-IT" sz="1600" i="1">
                <a:solidFill>
                  <a:srgbClr val="FF0065"/>
                </a:solidFill>
              </a:rPr>
              <a:t>(may have same value)</a:t>
            </a:r>
            <a:endParaRPr lang="en-US" altLang="it-IT">
              <a:solidFill>
                <a:srgbClr val="FF0000"/>
              </a:solidFill>
            </a:endParaRPr>
          </a:p>
          <a:p>
            <a:pPr lvl="1" eaLnBrk="1" hangingPunct="1"/>
            <a:r>
              <a:rPr lang="en-US" altLang="it-IT"/>
              <a:t>Arrays are mostly passed by reference, not value</a:t>
            </a:r>
          </a:p>
          <a:p>
            <a:pPr eaLnBrk="1" hangingPunct="1">
              <a:spcBef>
                <a:spcPct val="100000"/>
              </a:spcBef>
            </a:pPr>
            <a:r>
              <a:rPr lang="en-US" altLang="it-IT"/>
              <a:t>Can always use global variables …</a:t>
            </a:r>
          </a:p>
        </p:txBody>
      </p:sp>
      <p:sp>
        <p:nvSpPr>
          <p:cNvPr id="83973" name="Text Box 4">
            <a:extLst>
              <a:ext uri="{FF2B5EF4-FFF2-40B4-BE49-F238E27FC236}">
                <a16:creationId xmlns:a16="http://schemas.microsoft.com/office/drawing/2014/main" id="{2F69178F-6EF8-4DD5-8783-421E15E28B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0" y="3200400"/>
            <a:ext cx="1600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it-IT">
                <a:solidFill>
                  <a:srgbClr val="003C75"/>
                </a:solidFill>
              </a:rPr>
              <a:t>call fee(x,x,x);</a:t>
            </a:r>
          </a:p>
        </p:txBody>
      </p:sp>
    </p:spTree>
  </p:cSld>
  <p:clrMapOvr>
    <a:masterClrMapping/>
  </p:clrMapOvr>
  <p:transition>
    <p:wipe dir="r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Footer Placeholder 1">
            <a:extLst>
              <a:ext uri="{FF2B5EF4-FFF2-40B4-BE49-F238E27FC236}">
                <a16:creationId xmlns:a16="http://schemas.microsoft.com/office/drawing/2014/main" id="{31AAF43D-9930-48CA-ACE0-F67353B9D0A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200"/>
              <a:t>Comp 412, Fall 2010</a:t>
            </a:r>
          </a:p>
        </p:txBody>
      </p:sp>
      <p:sp>
        <p:nvSpPr>
          <p:cNvPr id="86018" name="Slide Number Placeholder 2">
            <a:extLst>
              <a:ext uri="{FF2B5EF4-FFF2-40B4-BE49-F238E27FC236}">
                <a16:creationId xmlns:a16="http://schemas.microsoft.com/office/drawing/2014/main" id="{480B41B4-24BB-46A3-87A5-827C41F88B3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D8FBB6E6-942B-4E0E-9DDE-AB8F9369F9CE}" type="slidenum">
              <a:rPr lang="en-US" altLang="it-IT" sz="1200"/>
              <a:pPr/>
              <a:t>35</a:t>
            </a:fld>
            <a:endParaRPr lang="en-US" altLang="it-IT" sz="1200"/>
          </a:p>
        </p:txBody>
      </p:sp>
      <p:sp>
        <p:nvSpPr>
          <p:cNvPr id="86019" name="Text Box 2">
            <a:extLst>
              <a:ext uri="{FF2B5EF4-FFF2-40B4-BE49-F238E27FC236}">
                <a16:creationId xmlns:a16="http://schemas.microsoft.com/office/drawing/2014/main" id="{081A1030-208B-489D-821C-0B592F3051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6215063"/>
            <a:ext cx="3048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it-IT" sz="1400">
                <a:solidFill>
                  <a:srgbClr val="999999"/>
                </a:solidFill>
              </a:rPr>
              <a:t>ARP </a:t>
            </a:r>
            <a:r>
              <a:rPr lang="en-US" altLang="it-IT" sz="1800">
                <a:solidFill>
                  <a:srgbClr val="999999"/>
                </a:solidFill>
                <a:sym typeface="Symbol" panose="05050102010706020507" pitchFamily="18" charset="2"/>
              </a:rPr>
              <a:t></a:t>
            </a:r>
            <a:r>
              <a:rPr lang="en-US" altLang="it-IT" sz="1400">
                <a:solidFill>
                  <a:srgbClr val="999999"/>
                </a:solidFill>
                <a:sym typeface="Symbol" panose="05050102010706020507" pitchFamily="18" charset="2"/>
              </a:rPr>
              <a:t> </a:t>
            </a:r>
            <a:r>
              <a:rPr lang="en-US" altLang="it-IT" sz="1400" u="sng">
                <a:solidFill>
                  <a:srgbClr val="999999"/>
                </a:solidFill>
                <a:sym typeface="Symbol" panose="05050102010706020507" pitchFamily="18" charset="2"/>
              </a:rPr>
              <a:t>A</a:t>
            </a:r>
            <a:r>
              <a:rPr lang="en-US" altLang="it-IT" sz="1400">
                <a:solidFill>
                  <a:srgbClr val="999999"/>
                </a:solidFill>
                <a:sym typeface="Symbol" panose="05050102010706020507" pitchFamily="18" charset="2"/>
              </a:rPr>
              <a:t>ctivation </a:t>
            </a:r>
            <a:r>
              <a:rPr lang="en-US" altLang="it-IT" sz="1400" u="sng">
                <a:solidFill>
                  <a:srgbClr val="999999"/>
                </a:solidFill>
                <a:sym typeface="Symbol" panose="05050102010706020507" pitchFamily="18" charset="2"/>
              </a:rPr>
              <a:t>R</a:t>
            </a:r>
            <a:r>
              <a:rPr lang="en-US" altLang="it-IT" sz="1400">
                <a:solidFill>
                  <a:srgbClr val="999999"/>
                </a:solidFill>
                <a:sym typeface="Symbol" panose="05050102010706020507" pitchFamily="18" charset="2"/>
              </a:rPr>
              <a:t>ecord </a:t>
            </a:r>
            <a:r>
              <a:rPr lang="en-US" altLang="it-IT" sz="1400" u="sng">
                <a:solidFill>
                  <a:srgbClr val="999999"/>
                </a:solidFill>
                <a:sym typeface="Symbol" panose="05050102010706020507" pitchFamily="18" charset="2"/>
              </a:rPr>
              <a:t>P</a:t>
            </a:r>
            <a:r>
              <a:rPr lang="en-US" altLang="it-IT" sz="1400">
                <a:solidFill>
                  <a:srgbClr val="999999"/>
                </a:solidFill>
                <a:sym typeface="Symbol" panose="05050102010706020507" pitchFamily="18" charset="2"/>
              </a:rPr>
              <a:t>ointer</a:t>
            </a:r>
            <a:endParaRPr lang="en-US" altLang="it-IT" sz="1400">
              <a:solidFill>
                <a:srgbClr val="999999"/>
              </a:solidFill>
            </a:endParaRPr>
          </a:p>
        </p:txBody>
      </p:sp>
      <p:sp>
        <p:nvSpPr>
          <p:cNvPr id="86020" name="Rectangle 3">
            <a:extLst>
              <a:ext uri="{FF2B5EF4-FFF2-40B4-BE49-F238E27FC236}">
                <a16:creationId xmlns:a16="http://schemas.microsoft.com/office/drawing/2014/main" id="{9F37FE5F-AFF2-4A90-BE08-29EC2309E64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Remember This Drawing?</a:t>
            </a:r>
          </a:p>
        </p:txBody>
      </p:sp>
      <p:grpSp>
        <p:nvGrpSpPr>
          <p:cNvPr id="86021" name="Group 4">
            <a:extLst>
              <a:ext uri="{FF2B5EF4-FFF2-40B4-BE49-F238E27FC236}">
                <a16:creationId xmlns:a16="http://schemas.microsoft.com/office/drawing/2014/main" id="{4FFC121E-C4FD-49BA-A808-CB5F3E7F9D6F}"/>
              </a:ext>
            </a:extLst>
          </p:cNvPr>
          <p:cNvGrpSpPr>
            <a:grpSpLocks/>
          </p:cNvGrpSpPr>
          <p:nvPr/>
        </p:nvGrpSpPr>
        <p:grpSpPr bwMode="auto">
          <a:xfrm>
            <a:off x="914400" y="1654175"/>
            <a:ext cx="3008313" cy="3497263"/>
            <a:chOff x="576" y="1042"/>
            <a:chExt cx="1895" cy="2203"/>
          </a:xfrm>
        </p:grpSpPr>
        <p:sp>
          <p:nvSpPr>
            <p:cNvPr id="86030" name="Rectangle 5">
              <a:extLst>
                <a:ext uri="{FF2B5EF4-FFF2-40B4-BE49-F238E27FC236}">
                  <a16:creationId xmlns:a16="http://schemas.microsoft.com/office/drawing/2014/main" id="{5EE6BBF4-893F-4B9A-8AEE-2E87281CD4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4" y="1056"/>
              <a:ext cx="1008" cy="21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86031" name="Rectangle 6">
              <a:extLst>
                <a:ext uri="{FF2B5EF4-FFF2-40B4-BE49-F238E27FC236}">
                  <a16:creationId xmlns:a16="http://schemas.microsoft.com/office/drawing/2014/main" id="{162A339B-CED9-40E3-A759-DBD66F584F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1042"/>
              <a:ext cx="1008" cy="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i="1">
                  <a:solidFill>
                    <a:srgbClr val="999999"/>
                  </a:solidFill>
                  <a:latin typeface="Arial Rounded MT Bold" panose="020F0704030504030204" pitchFamily="34" charset="0"/>
                </a:rPr>
                <a:t>parameters</a:t>
              </a:r>
              <a:endParaRPr lang="en-US" altLang="it-IT">
                <a:solidFill>
                  <a:srgbClr val="999999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86032" name="Rectangle 7">
              <a:extLst>
                <a:ext uri="{FF2B5EF4-FFF2-40B4-BE49-F238E27FC236}">
                  <a16:creationId xmlns:a16="http://schemas.microsoft.com/office/drawing/2014/main" id="{2C6CD107-ED88-4A07-8B36-9AB7593921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4" y="1423"/>
              <a:ext cx="1008" cy="36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i="1">
                  <a:solidFill>
                    <a:srgbClr val="FF0065"/>
                  </a:solidFill>
                  <a:latin typeface="Arial Rounded MT Bold" panose="020F0704030504030204" pitchFamily="34" charset="0"/>
                </a:rPr>
                <a:t>register </a:t>
              </a:r>
            </a:p>
            <a:p>
              <a:pPr algn="ctr"/>
              <a:r>
                <a:rPr lang="en-US" altLang="it-IT" i="1">
                  <a:solidFill>
                    <a:srgbClr val="FF0065"/>
                  </a:solidFill>
                  <a:latin typeface="Arial Rounded MT Bold" panose="020F0704030504030204" pitchFamily="34" charset="0"/>
                </a:rPr>
                <a:t>save area</a:t>
              </a:r>
              <a:endParaRPr lang="en-US" altLang="it-IT">
                <a:solidFill>
                  <a:srgbClr val="FF0000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86033" name="Rectangle 8">
              <a:extLst>
                <a:ext uri="{FF2B5EF4-FFF2-40B4-BE49-F238E27FC236}">
                  <a16:creationId xmlns:a16="http://schemas.microsoft.com/office/drawing/2014/main" id="{BBC8D4F0-650C-468E-9F3D-79668D4CB4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4" y="1788"/>
              <a:ext cx="1008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i="1">
                  <a:solidFill>
                    <a:srgbClr val="999999"/>
                  </a:solidFill>
                  <a:latin typeface="Arial Rounded MT Bold" panose="020F0704030504030204" pitchFamily="34" charset="0"/>
                </a:rPr>
                <a:t>return value</a:t>
              </a:r>
              <a:endParaRPr lang="en-US" altLang="it-IT">
                <a:latin typeface="Arial Rounded MT Bold" panose="020F0704030504030204" pitchFamily="34" charset="0"/>
              </a:endParaRPr>
            </a:p>
          </p:txBody>
        </p:sp>
        <p:sp>
          <p:nvSpPr>
            <p:cNvPr id="86034" name="Rectangle 9">
              <a:extLst>
                <a:ext uri="{FF2B5EF4-FFF2-40B4-BE49-F238E27FC236}">
                  <a16:creationId xmlns:a16="http://schemas.microsoft.com/office/drawing/2014/main" id="{E36F21ED-2946-4BED-B412-200BB30225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4" y="2032"/>
              <a:ext cx="1008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i="1">
                  <a:solidFill>
                    <a:srgbClr val="999999"/>
                  </a:solidFill>
                  <a:latin typeface="Arial Rounded MT Bold" panose="020F0704030504030204" pitchFamily="34" charset="0"/>
                </a:rPr>
                <a:t>return address</a:t>
              </a:r>
              <a:endParaRPr lang="en-US" altLang="it-IT" i="1">
                <a:latin typeface="Arial Rounded MT Bold" panose="020F0704030504030204" pitchFamily="34" charset="0"/>
              </a:endParaRPr>
            </a:p>
          </p:txBody>
        </p:sp>
        <p:sp>
          <p:nvSpPr>
            <p:cNvPr id="86035" name="Rectangle 10">
              <a:extLst>
                <a:ext uri="{FF2B5EF4-FFF2-40B4-BE49-F238E27FC236}">
                  <a16:creationId xmlns:a16="http://schemas.microsoft.com/office/drawing/2014/main" id="{591B5252-89CB-4B31-949E-56B246C147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4" y="2276"/>
              <a:ext cx="1008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i="1">
                  <a:solidFill>
                    <a:srgbClr val="999999"/>
                  </a:solidFill>
                  <a:latin typeface="Arial Rounded MT Bold" panose="020F0704030504030204" pitchFamily="34" charset="0"/>
                </a:rPr>
                <a:t>addressability</a:t>
              </a:r>
              <a:endParaRPr lang="en-US" altLang="it-IT">
                <a:latin typeface="Arial Rounded MT Bold" panose="020F0704030504030204" pitchFamily="34" charset="0"/>
              </a:endParaRPr>
            </a:p>
          </p:txBody>
        </p:sp>
        <p:sp>
          <p:nvSpPr>
            <p:cNvPr id="86036" name="Rectangle 11">
              <a:extLst>
                <a:ext uri="{FF2B5EF4-FFF2-40B4-BE49-F238E27FC236}">
                  <a16:creationId xmlns:a16="http://schemas.microsoft.com/office/drawing/2014/main" id="{ABBA397B-7406-418E-AF95-06458C1CB2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4" y="2520"/>
              <a:ext cx="1008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i="1">
                  <a:solidFill>
                    <a:srgbClr val="999999"/>
                  </a:solidFill>
                  <a:latin typeface="Arial Rounded MT Bold" panose="020F0704030504030204" pitchFamily="34" charset="0"/>
                </a:rPr>
                <a:t>caller’s </a:t>
              </a:r>
              <a:r>
                <a:rPr lang="en-US" altLang="it-IT" sz="1400" i="1">
                  <a:solidFill>
                    <a:srgbClr val="999999"/>
                  </a:solidFill>
                  <a:latin typeface="Arial Rounded MT Bold" panose="020F0704030504030204" pitchFamily="34" charset="0"/>
                </a:rPr>
                <a:t>ARP</a:t>
              </a:r>
              <a:endParaRPr lang="en-US" altLang="it-IT">
                <a:latin typeface="Arial Rounded MT Bold" panose="020F0704030504030204" pitchFamily="34" charset="0"/>
              </a:endParaRPr>
            </a:p>
          </p:txBody>
        </p:sp>
        <p:sp>
          <p:nvSpPr>
            <p:cNvPr id="86037" name="Rectangle 12">
              <a:extLst>
                <a:ext uri="{FF2B5EF4-FFF2-40B4-BE49-F238E27FC236}">
                  <a16:creationId xmlns:a16="http://schemas.microsoft.com/office/drawing/2014/main" id="{02372AD8-EC02-41DE-8CD9-CE1813F476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4" y="2764"/>
              <a:ext cx="1008" cy="48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i="1">
                  <a:solidFill>
                    <a:srgbClr val="999999"/>
                  </a:solidFill>
                  <a:latin typeface="Arial Rounded MT Bold" panose="020F0704030504030204" pitchFamily="34" charset="0"/>
                </a:rPr>
                <a:t>local </a:t>
              </a:r>
            </a:p>
            <a:p>
              <a:pPr algn="ctr"/>
              <a:r>
                <a:rPr lang="en-US" altLang="it-IT" i="1">
                  <a:solidFill>
                    <a:srgbClr val="999999"/>
                  </a:solidFill>
                  <a:latin typeface="Arial Rounded MT Bold" panose="020F0704030504030204" pitchFamily="34" charset="0"/>
                </a:rPr>
                <a:t>variables</a:t>
              </a:r>
              <a:endParaRPr lang="en-US" altLang="it-IT">
                <a:solidFill>
                  <a:srgbClr val="999999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86038" name="Text Box 13">
              <a:extLst>
                <a:ext uri="{FF2B5EF4-FFF2-40B4-BE49-F238E27FC236}">
                  <a16:creationId xmlns:a16="http://schemas.microsoft.com/office/drawing/2014/main" id="{57135FA5-DEEE-41BA-8792-54AC73403F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2374"/>
              <a:ext cx="384" cy="198"/>
            </a:xfrm>
            <a:prstGeom prst="rect">
              <a:avLst/>
            </a:prstGeom>
            <a:noFill/>
            <a:ln w="9525">
              <a:solidFill>
                <a:srgbClr val="999999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 sz="1400">
                  <a:solidFill>
                    <a:srgbClr val="999999"/>
                  </a:solidFill>
                  <a:latin typeface="Arial Rounded MT Bold" panose="020F0704030504030204" pitchFamily="34" charset="0"/>
                </a:rPr>
                <a:t>ARP</a:t>
              </a:r>
              <a:endParaRPr lang="en-US" altLang="it-IT">
                <a:solidFill>
                  <a:srgbClr val="999999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86039" name="Line 14">
              <a:extLst>
                <a:ext uri="{FF2B5EF4-FFF2-40B4-BE49-F238E27FC236}">
                  <a16:creationId xmlns:a16="http://schemas.microsoft.com/office/drawing/2014/main" id="{2AA98A53-888E-4335-9526-3F888434DA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2518"/>
              <a:ext cx="339" cy="3"/>
            </a:xfrm>
            <a:prstGeom prst="line">
              <a:avLst/>
            </a:prstGeom>
            <a:noFill/>
            <a:ln w="9525">
              <a:solidFill>
                <a:srgbClr val="9999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86040" name="Line 15">
              <a:extLst>
                <a:ext uri="{FF2B5EF4-FFF2-40B4-BE49-F238E27FC236}">
                  <a16:creationId xmlns:a16="http://schemas.microsoft.com/office/drawing/2014/main" id="{3482F5AC-C5E1-4EE4-8BF8-BFD459E14D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2" y="2646"/>
              <a:ext cx="339" cy="3"/>
            </a:xfrm>
            <a:prstGeom prst="line">
              <a:avLst/>
            </a:prstGeom>
            <a:noFill/>
            <a:ln w="9525">
              <a:solidFill>
                <a:srgbClr val="9999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</p:grpSp>
      <p:sp>
        <p:nvSpPr>
          <p:cNvPr id="86022" name="AutoShape 16">
            <a:extLst>
              <a:ext uri="{FF2B5EF4-FFF2-40B4-BE49-F238E27FC236}">
                <a16:creationId xmlns:a16="http://schemas.microsoft.com/office/drawing/2014/main" id="{E0E95933-FC19-42CE-8C59-A9F595BE0543}"/>
              </a:ext>
            </a:extLst>
          </p:cNvPr>
          <p:cNvSpPr>
            <a:spLocks/>
          </p:cNvSpPr>
          <p:nvPr/>
        </p:nvSpPr>
        <p:spPr bwMode="auto">
          <a:xfrm>
            <a:off x="5181600" y="1300163"/>
            <a:ext cx="2836863" cy="590550"/>
          </a:xfrm>
          <a:prstGeom prst="accentBorderCallout1">
            <a:avLst>
              <a:gd name="adj1" fmla="val 19356"/>
              <a:gd name="adj2" fmla="val -2685"/>
              <a:gd name="adj3" fmla="val 116130"/>
              <a:gd name="adj4" fmla="val -65194"/>
            </a:avLst>
          </a:prstGeom>
          <a:noFill/>
          <a:ln w="9525">
            <a:solidFill>
              <a:srgbClr val="999999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>
                <a:solidFill>
                  <a:srgbClr val="999999"/>
                </a:solidFill>
                <a:latin typeface="Arial Rounded MT Bold" panose="020F0704030504030204" pitchFamily="34" charset="0"/>
              </a:rPr>
              <a:t>Space for parameters to the current routine</a:t>
            </a:r>
          </a:p>
        </p:txBody>
      </p:sp>
      <p:sp>
        <p:nvSpPr>
          <p:cNvPr id="86023" name="AutoShape 17">
            <a:extLst>
              <a:ext uri="{FF2B5EF4-FFF2-40B4-BE49-F238E27FC236}">
                <a16:creationId xmlns:a16="http://schemas.microsoft.com/office/drawing/2014/main" id="{476A554B-761A-431A-8BDF-625A4ACCDB85}"/>
              </a:ext>
            </a:extLst>
          </p:cNvPr>
          <p:cNvSpPr>
            <a:spLocks/>
          </p:cNvSpPr>
          <p:nvPr/>
        </p:nvSpPr>
        <p:spPr bwMode="auto">
          <a:xfrm>
            <a:off x="5181600" y="1933575"/>
            <a:ext cx="2836863" cy="355600"/>
          </a:xfrm>
          <a:prstGeom prst="accentBorderCallout1">
            <a:avLst>
              <a:gd name="adj1" fmla="val 33028"/>
              <a:gd name="adj2" fmla="val -2685"/>
              <a:gd name="adj3" fmla="val 163759"/>
              <a:gd name="adj4" fmla="val -66255"/>
            </a:avLst>
          </a:prstGeom>
          <a:noFill/>
          <a:ln w="19050">
            <a:solidFill>
              <a:srgbClr val="FF0065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>
                <a:solidFill>
                  <a:srgbClr val="FF0065"/>
                </a:solidFill>
                <a:latin typeface="Arial Rounded MT Bold" panose="020F0704030504030204" pitchFamily="34" charset="0"/>
              </a:rPr>
              <a:t>Saved register contents</a:t>
            </a:r>
            <a:endParaRPr lang="en-US" altLang="it-IT">
              <a:solidFill>
                <a:srgbClr val="FF000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6024" name="AutoShape 18">
            <a:extLst>
              <a:ext uri="{FF2B5EF4-FFF2-40B4-BE49-F238E27FC236}">
                <a16:creationId xmlns:a16="http://schemas.microsoft.com/office/drawing/2014/main" id="{97C28E23-DEA0-4269-ABB7-1B45B258ED80}"/>
              </a:ext>
            </a:extLst>
          </p:cNvPr>
          <p:cNvSpPr>
            <a:spLocks/>
          </p:cNvSpPr>
          <p:nvPr/>
        </p:nvSpPr>
        <p:spPr bwMode="auto">
          <a:xfrm>
            <a:off x="5181600" y="2362200"/>
            <a:ext cx="2836863" cy="590550"/>
          </a:xfrm>
          <a:prstGeom prst="accentBorderCallout1">
            <a:avLst>
              <a:gd name="adj1" fmla="val 19356"/>
              <a:gd name="adj2" fmla="val -2685"/>
              <a:gd name="adj3" fmla="val 113440"/>
              <a:gd name="adj4" fmla="val -61949"/>
            </a:avLst>
          </a:prstGeom>
          <a:noFill/>
          <a:ln w="9525">
            <a:solidFill>
              <a:srgbClr val="999999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>
                <a:solidFill>
                  <a:srgbClr val="999999"/>
                </a:solidFill>
                <a:latin typeface="Arial Rounded MT Bold" panose="020F0704030504030204" pitchFamily="34" charset="0"/>
              </a:rPr>
              <a:t>If function, space for return value</a:t>
            </a:r>
          </a:p>
        </p:txBody>
      </p:sp>
      <p:sp>
        <p:nvSpPr>
          <p:cNvPr id="86025" name="AutoShape 19">
            <a:extLst>
              <a:ext uri="{FF2B5EF4-FFF2-40B4-BE49-F238E27FC236}">
                <a16:creationId xmlns:a16="http://schemas.microsoft.com/office/drawing/2014/main" id="{154700FF-DBE4-42AB-BFE9-53DF1D15A3B6}"/>
              </a:ext>
            </a:extLst>
          </p:cNvPr>
          <p:cNvSpPr>
            <a:spLocks/>
          </p:cNvSpPr>
          <p:nvPr/>
        </p:nvSpPr>
        <p:spPr bwMode="auto">
          <a:xfrm>
            <a:off x="5205413" y="3076575"/>
            <a:ext cx="2836862" cy="346075"/>
          </a:xfrm>
          <a:prstGeom prst="accentBorderCallout1">
            <a:avLst>
              <a:gd name="adj1" fmla="val 33028"/>
              <a:gd name="adj2" fmla="val -2685"/>
              <a:gd name="adj3" fmla="val 101375"/>
              <a:gd name="adj4" fmla="val -60269"/>
            </a:avLst>
          </a:prstGeom>
          <a:noFill/>
          <a:ln w="9525">
            <a:solidFill>
              <a:srgbClr val="999999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>
                <a:solidFill>
                  <a:srgbClr val="999999"/>
                </a:solidFill>
                <a:latin typeface="Arial Rounded MT Bold" panose="020F0704030504030204" pitchFamily="34" charset="0"/>
              </a:rPr>
              <a:t>Address to resume caller</a:t>
            </a:r>
          </a:p>
        </p:txBody>
      </p:sp>
      <p:sp>
        <p:nvSpPr>
          <p:cNvPr id="86026" name="AutoShape 20">
            <a:extLst>
              <a:ext uri="{FF2B5EF4-FFF2-40B4-BE49-F238E27FC236}">
                <a16:creationId xmlns:a16="http://schemas.microsoft.com/office/drawing/2014/main" id="{7FB448A3-3C8A-4E01-8D99-8AD0CE8445B4}"/>
              </a:ext>
            </a:extLst>
          </p:cNvPr>
          <p:cNvSpPr>
            <a:spLocks/>
          </p:cNvSpPr>
          <p:nvPr/>
        </p:nvSpPr>
        <p:spPr bwMode="auto">
          <a:xfrm>
            <a:off x="5205413" y="3657600"/>
            <a:ext cx="2836862" cy="346075"/>
          </a:xfrm>
          <a:prstGeom prst="accentBorderCallout1">
            <a:avLst>
              <a:gd name="adj1" fmla="val 33028"/>
              <a:gd name="adj2" fmla="val -2685"/>
              <a:gd name="adj3" fmla="val 33486"/>
              <a:gd name="adj4" fmla="val -59991"/>
            </a:avLst>
          </a:prstGeom>
          <a:noFill/>
          <a:ln w="9525">
            <a:solidFill>
              <a:srgbClr val="999999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>
                <a:solidFill>
                  <a:srgbClr val="999999"/>
                </a:solidFill>
                <a:latin typeface="Arial Rounded MT Bold" panose="020F0704030504030204" pitchFamily="34" charset="0"/>
              </a:rPr>
              <a:t>Help with non-local access</a:t>
            </a:r>
          </a:p>
        </p:txBody>
      </p:sp>
      <p:sp>
        <p:nvSpPr>
          <p:cNvPr id="86027" name="AutoShape 21">
            <a:extLst>
              <a:ext uri="{FF2B5EF4-FFF2-40B4-BE49-F238E27FC236}">
                <a16:creationId xmlns:a16="http://schemas.microsoft.com/office/drawing/2014/main" id="{F6144FF0-56B4-413D-9691-46C70C448527}"/>
              </a:ext>
            </a:extLst>
          </p:cNvPr>
          <p:cNvSpPr>
            <a:spLocks/>
          </p:cNvSpPr>
          <p:nvPr/>
        </p:nvSpPr>
        <p:spPr bwMode="auto">
          <a:xfrm>
            <a:off x="5213350" y="4157663"/>
            <a:ext cx="2836863" cy="590550"/>
          </a:xfrm>
          <a:prstGeom prst="accentBorderCallout1">
            <a:avLst>
              <a:gd name="adj1" fmla="val 19356"/>
              <a:gd name="adj2" fmla="val -2685"/>
              <a:gd name="adj3" fmla="val 18546"/>
              <a:gd name="adj4" fmla="val -66310"/>
            </a:avLst>
          </a:prstGeom>
          <a:noFill/>
          <a:ln w="9525">
            <a:solidFill>
              <a:srgbClr val="999999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>
                <a:solidFill>
                  <a:srgbClr val="999999"/>
                </a:solidFill>
                <a:latin typeface="Arial Rounded MT Bold" panose="020F0704030504030204" pitchFamily="34" charset="0"/>
              </a:rPr>
              <a:t>To restore caller’s </a:t>
            </a:r>
            <a:r>
              <a:rPr lang="en-US" altLang="it-IT" sz="1400">
                <a:solidFill>
                  <a:srgbClr val="999999"/>
                </a:solidFill>
                <a:latin typeface="Arial Rounded MT Bold" panose="020F0704030504030204" pitchFamily="34" charset="0"/>
              </a:rPr>
              <a:t>AR </a:t>
            </a:r>
            <a:r>
              <a:rPr lang="en-US" altLang="it-IT">
                <a:solidFill>
                  <a:srgbClr val="999999"/>
                </a:solidFill>
                <a:latin typeface="Arial Rounded MT Bold" panose="020F0704030504030204" pitchFamily="34" charset="0"/>
              </a:rPr>
              <a:t>on a </a:t>
            </a:r>
          </a:p>
          <a:p>
            <a:r>
              <a:rPr lang="en-US" altLang="it-IT">
                <a:solidFill>
                  <a:srgbClr val="999999"/>
                </a:solidFill>
                <a:latin typeface="Arial Rounded MT Bold" panose="020F0704030504030204" pitchFamily="34" charset="0"/>
              </a:rPr>
              <a:t>return</a:t>
            </a:r>
          </a:p>
        </p:txBody>
      </p:sp>
      <p:sp>
        <p:nvSpPr>
          <p:cNvPr id="86028" name="AutoShape 22">
            <a:extLst>
              <a:ext uri="{FF2B5EF4-FFF2-40B4-BE49-F238E27FC236}">
                <a16:creationId xmlns:a16="http://schemas.microsoft.com/office/drawing/2014/main" id="{BC4297BC-5CF8-4809-B4CC-3A1C613264C1}"/>
              </a:ext>
            </a:extLst>
          </p:cNvPr>
          <p:cNvSpPr>
            <a:spLocks/>
          </p:cNvSpPr>
          <p:nvPr/>
        </p:nvSpPr>
        <p:spPr bwMode="auto">
          <a:xfrm>
            <a:off x="5205413" y="4876800"/>
            <a:ext cx="2836862" cy="590550"/>
          </a:xfrm>
          <a:prstGeom prst="accentBorderCallout1">
            <a:avLst>
              <a:gd name="adj1" fmla="val 19356"/>
              <a:gd name="adj2" fmla="val -2685"/>
              <a:gd name="adj3" fmla="val -36292"/>
              <a:gd name="adj4" fmla="val -70620"/>
            </a:avLst>
          </a:prstGeom>
          <a:noFill/>
          <a:ln w="9525">
            <a:solidFill>
              <a:srgbClr val="999999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>
                <a:solidFill>
                  <a:srgbClr val="999999"/>
                </a:solidFill>
                <a:latin typeface="Arial Rounded MT Bold" panose="020F0704030504030204" pitchFamily="34" charset="0"/>
              </a:rPr>
              <a:t>Space for local values &amp; variables (including spills)</a:t>
            </a:r>
          </a:p>
        </p:txBody>
      </p:sp>
      <p:sp>
        <p:nvSpPr>
          <p:cNvPr id="76814" name="Text Box 23">
            <a:extLst>
              <a:ext uri="{FF2B5EF4-FFF2-40B4-BE49-F238E27FC236}">
                <a16:creationId xmlns:a16="http://schemas.microsoft.com/office/drawing/2014/main" id="{22D72F24-4B0A-4F47-A7D1-377F369189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5638800"/>
            <a:ext cx="5105400" cy="574675"/>
          </a:xfrm>
          <a:prstGeom prst="rect">
            <a:avLst/>
          </a:prstGeom>
          <a:solidFill>
            <a:srgbClr val="BFBFBF"/>
          </a:solidFill>
          <a:ln w="19050" cap="flat" cmpd="sng" algn="ctr">
            <a:solidFill>
              <a:srgbClr val="7F7F7F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algn="ctr" eaLnBrk="0" hangingPunct="0">
              <a:lnSpc>
                <a:spcPct val="95000"/>
              </a:lnSpc>
              <a:defRPr/>
            </a:pPr>
            <a:r>
              <a:rPr lang="en-US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Makes sense to store </a:t>
            </a:r>
            <a:r>
              <a:rPr lang="en-US" i="1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p</a:t>
            </a:r>
            <a:r>
              <a:rPr lang="en-US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’s saved registers in </a:t>
            </a:r>
            <a:r>
              <a:rPr lang="en-US" i="1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p’</a:t>
            </a:r>
            <a:r>
              <a:rPr lang="en-US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s AR, although other conventions can work …</a:t>
            </a:r>
          </a:p>
        </p:txBody>
      </p:sp>
    </p:spTree>
  </p:cSld>
  <p:clrMapOvr>
    <a:masterClrMapping/>
  </p:clrMapOvr>
  <p:transition>
    <p:wipe dir="r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Footer Placeholder 3">
            <a:extLst>
              <a:ext uri="{FF2B5EF4-FFF2-40B4-BE49-F238E27FC236}">
                <a16:creationId xmlns:a16="http://schemas.microsoft.com/office/drawing/2014/main" id="{455450F3-CD1C-4606-ACF6-095463A9F67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200"/>
              <a:t>Comp 412, Fall 2010</a:t>
            </a:r>
          </a:p>
        </p:txBody>
      </p:sp>
      <p:sp>
        <p:nvSpPr>
          <p:cNvPr id="88066" name="Slide Number Placeholder 4">
            <a:extLst>
              <a:ext uri="{FF2B5EF4-FFF2-40B4-BE49-F238E27FC236}">
                <a16:creationId xmlns:a16="http://schemas.microsoft.com/office/drawing/2014/main" id="{01F5B62B-407B-45F6-8AD0-960A7AA6B11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C1EDB424-6DAC-4D18-8633-91E468ED1264}" type="slidenum">
              <a:rPr lang="en-US" altLang="it-IT" sz="1200"/>
              <a:pPr/>
              <a:t>36</a:t>
            </a:fld>
            <a:endParaRPr lang="en-US" altLang="it-IT" sz="1200"/>
          </a:p>
        </p:txBody>
      </p:sp>
      <p:sp>
        <p:nvSpPr>
          <p:cNvPr id="88067" name="Rectangle 2">
            <a:extLst>
              <a:ext uri="{FF2B5EF4-FFF2-40B4-BE49-F238E27FC236}">
                <a16:creationId xmlns:a16="http://schemas.microsoft.com/office/drawing/2014/main" id="{DDB069F7-1AB4-468D-BED7-02BFE1C9EA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Bef>
                <a:spcPct val="15000"/>
              </a:spcBef>
            </a:pPr>
            <a:r>
              <a:rPr lang="en-US" altLang="it-IT"/>
              <a:t>More Thoughts on Register Save Code</a:t>
            </a:r>
          </a:p>
        </p:txBody>
      </p:sp>
      <p:sp>
        <p:nvSpPr>
          <p:cNvPr id="88068" name="Rectangle 3">
            <a:extLst>
              <a:ext uri="{FF2B5EF4-FFF2-40B4-BE49-F238E27FC236}">
                <a16:creationId xmlns:a16="http://schemas.microsoft.com/office/drawing/2014/main" id="{35363CF1-1B5D-4C8E-AFCE-FC2183AD52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066800"/>
            <a:ext cx="7772400" cy="5410200"/>
          </a:xfrm>
        </p:spPr>
        <p:txBody>
          <a:bodyPr/>
          <a:lstStyle/>
          <a:p>
            <a:pPr marL="231775" indent="-231775" eaLnBrk="1" hangingPunct="1">
              <a:spcBef>
                <a:spcPts val="600"/>
              </a:spcBef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Both memory access costs </a:t>
            </a:r>
            <a:r>
              <a:rPr lang="en-US" altLang="it-IT">
                <a:solidFill>
                  <a:srgbClr val="003C75"/>
                </a:solidFill>
                <a:sym typeface="Symbol" panose="05050102010706020507" pitchFamily="18" charset="2"/>
              </a:rPr>
              <a:t>and number of registers are rising</a:t>
            </a:r>
          </a:p>
          <a:p>
            <a:pPr marL="231775" indent="-231775" eaLnBrk="1" hangingPunct="1">
              <a:spcBef>
                <a:spcPts val="600"/>
              </a:spcBef>
            </a:pPr>
            <a:r>
              <a:rPr lang="en-US" altLang="it-IT">
                <a:sym typeface="Symbol" panose="05050102010706020507" pitchFamily="18" charset="2"/>
              </a:rPr>
              <a:t>Cost of register save is rising      (</a:t>
            </a:r>
            <a:r>
              <a:rPr lang="en-US" altLang="it-IT" sz="1800" i="1">
                <a:sym typeface="Symbol" panose="05050102010706020507" pitchFamily="18" charset="2"/>
              </a:rPr>
              <a:t>time, code space, data space</a:t>
            </a:r>
            <a:r>
              <a:rPr lang="en-US" altLang="it-IT" sz="1000" i="1">
                <a:sym typeface="Symbol" panose="05050102010706020507" pitchFamily="18" charset="2"/>
              </a:rPr>
              <a:t> </a:t>
            </a:r>
            <a:r>
              <a:rPr lang="en-US" altLang="it-IT">
                <a:sym typeface="Symbol" panose="05050102010706020507" pitchFamily="18" charset="2"/>
              </a:rPr>
              <a:t>)</a:t>
            </a:r>
          </a:p>
          <a:p>
            <a:pPr marL="231775" indent="-231775" eaLnBrk="1" hangingPunct="1">
              <a:spcBef>
                <a:spcPts val="600"/>
              </a:spcBef>
            </a:pPr>
            <a:r>
              <a:rPr lang="en-US" altLang="it-IT"/>
              <a:t>Worth exploring alternatives</a:t>
            </a:r>
          </a:p>
          <a:p>
            <a:pPr marL="231775" indent="-231775" eaLnBrk="1" hangingPunct="1">
              <a:spcBef>
                <a:spcPts val="1800"/>
              </a:spcBef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Register Windows</a:t>
            </a:r>
          </a:p>
          <a:p>
            <a:pPr marL="231775" indent="-231775" eaLnBrk="1" hangingPunct="1">
              <a:spcBef>
                <a:spcPts val="600"/>
              </a:spcBef>
            </a:pPr>
            <a:r>
              <a:rPr lang="en-US" altLang="it-IT"/>
              <a:t>Register windows were a hot idea in the late 1980s</a:t>
            </a:r>
          </a:p>
          <a:p>
            <a:pPr marL="231775" indent="-231775" eaLnBrk="1" hangingPunct="1">
              <a:spcBef>
                <a:spcPts val="600"/>
              </a:spcBef>
            </a:pPr>
            <a:r>
              <a:rPr lang="en-US" altLang="it-IT"/>
              <a:t>Worked well for shallow calls with high register pressure</a:t>
            </a:r>
          </a:p>
          <a:p>
            <a:pPr marL="231775" indent="-231775" eaLnBrk="1" hangingPunct="1">
              <a:spcBef>
                <a:spcPts val="600"/>
              </a:spcBef>
            </a:pPr>
            <a:r>
              <a:rPr lang="en-US" altLang="it-IT"/>
              <a:t>Register stack overflows, leaf procedures hurt</a:t>
            </a:r>
          </a:p>
          <a:p>
            <a:pPr marL="231775" indent="-231775" eaLnBrk="1" hangingPunct="1">
              <a:spcBef>
                <a:spcPts val="1800"/>
              </a:spcBef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A Software Approach</a:t>
            </a:r>
          </a:p>
          <a:p>
            <a:pPr marL="231775" indent="-231775" eaLnBrk="1" hangingPunct="1">
              <a:spcBef>
                <a:spcPts val="600"/>
              </a:spcBef>
            </a:pPr>
            <a:r>
              <a:rPr lang="en-US" altLang="it-IT"/>
              <a:t>Use library routine for save &amp; restore</a:t>
            </a:r>
          </a:p>
          <a:p>
            <a:pPr marL="231775" indent="-231775" eaLnBrk="1" hangingPunct="1">
              <a:spcBef>
                <a:spcPts val="600"/>
              </a:spcBef>
            </a:pPr>
            <a:r>
              <a:rPr lang="en-US" altLang="it-IT"/>
              <a:t>Caller stores mask in callee’s AR</a:t>
            </a:r>
          </a:p>
          <a:p>
            <a:pPr marL="231775" indent="-231775" eaLnBrk="1" hangingPunct="1">
              <a:spcBef>
                <a:spcPts val="600"/>
              </a:spcBef>
            </a:pPr>
            <a:r>
              <a:rPr lang="en-US" altLang="it-IT"/>
              <a:t>Callee stores its mask, a return address, and jumps to routine</a:t>
            </a:r>
          </a:p>
          <a:p>
            <a:pPr marL="231775" indent="-231775" eaLnBrk="1" hangingPunct="1">
              <a:spcBef>
                <a:spcPts val="600"/>
              </a:spcBef>
            </a:pPr>
            <a:r>
              <a:rPr lang="en-US" altLang="it-IT"/>
              <a:t>Saves code space &amp; allows for customization         </a:t>
            </a:r>
          </a:p>
        </p:txBody>
      </p:sp>
      <p:grpSp>
        <p:nvGrpSpPr>
          <p:cNvPr id="88069" name="Group 9">
            <a:extLst>
              <a:ext uri="{FF2B5EF4-FFF2-40B4-BE49-F238E27FC236}">
                <a16:creationId xmlns:a16="http://schemas.microsoft.com/office/drawing/2014/main" id="{ADCC57BC-8FE7-47E4-ABF0-FE78EB824D9C}"/>
              </a:ext>
            </a:extLst>
          </p:cNvPr>
          <p:cNvGrpSpPr>
            <a:grpSpLocks/>
          </p:cNvGrpSpPr>
          <p:nvPr/>
        </p:nvGrpSpPr>
        <p:grpSpPr bwMode="auto">
          <a:xfrm>
            <a:off x="4953000" y="4038600"/>
            <a:ext cx="3505200" cy="990600"/>
            <a:chOff x="3360" y="2304"/>
            <a:chExt cx="2208" cy="624"/>
          </a:xfrm>
        </p:grpSpPr>
        <p:sp>
          <p:nvSpPr>
            <p:cNvPr id="88070" name="Text Box 6">
              <a:extLst>
                <a:ext uri="{FF2B5EF4-FFF2-40B4-BE49-F238E27FC236}">
                  <a16:creationId xmlns:a16="http://schemas.microsoft.com/office/drawing/2014/main" id="{3193405D-DA15-4DEB-AB4C-1F5A27964B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2" y="2313"/>
              <a:ext cx="1536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it-IT">
                  <a:solidFill>
                    <a:srgbClr val="FF0065"/>
                  </a:solidFill>
                  <a:sym typeface="Symbol" panose="05050102010706020507" pitchFamily="18" charset="2"/>
                </a:rPr>
                <a:t> </a:t>
              </a:r>
              <a:r>
                <a:rPr lang="en-US" altLang="it-IT">
                  <a:solidFill>
                    <a:srgbClr val="FF0065"/>
                  </a:solidFill>
                </a:rPr>
                <a:t>Store caller saves &amp; callee saves together</a:t>
              </a:r>
            </a:p>
          </p:txBody>
        </p:sp>
        <p:sp>
          <p:nvSpPr>
            <p:cNvPr id="88071" name="Line 7">
              <a:extLst>
                <a:ext uri="{FF2B5EF4-FFF2-40B4-BE49-F238E27FC236}">
                  <a16:creationId xmlns:a16="http://schemas.microsoft.com/office/drawing/2014/main" id="{728EC2F0-8651-4F39-A7CE-EB5AFBF6EC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2" y="2304"/>
              <a:ext cx="0" cy="432"/>
            </a:xfrm>
            <a:prstGeom prst="line">
              <a:avLst/>
            </a:prstGeom>
            <a:noFill/>
            <a:ln w="28575">
              <a:solidFill>
                <a:srgbClr val="FF006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88072" name="Freeform 8">
              <a:extLst>
                <a:ext uri="{FF2B5EF4-FFF2-40B4-BE49-F238E27FC236}">
                  <a16:creationId xmlns:a16="http://schemas.microsoft.com/office/drawing/2014/main" id="{EAC32199-4BE3-4E1B-834A-550D58D59B99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0" y="2400"/>
              <a:ext cx="672" cy="528"/>
            </a:xfrm>
            <a:custGeom>
              <a:avLst/>
              <a:gdLst>
                <a:gd name="T0" fmla="*/ 0 w 672"/>
                <a:gd name="T1" fmla="*/ 528 h 528"/>
                <a:gd name="T2" fmla="*/ 528 w 672"/>
                <a:gd name="T3" fmla="*/ 336 h 528"/>
                <a:gd name="T4" fmla="*/ 384 w 672"/>
                <a:gd name="T5" fmla="*/ 192 h 528"/>
                <a:gd name="T6" fmla="*/ 672 w 672"/>
                <a:gd name="T7" fmla="*/ 0 h 5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72"/>
                <a:gd name="T13" fmla="*/ 0 h 528"/>
                <a:gd name="T14" fmla="*/ 672 w 672"/>
                <a:gd name="T15" fmla="*/ 528 h 5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72" h="528">
                  <a:moveTo>
                    <a:pt x="0" y="528"/>
                  </a:moveTo>
                  <a:cubicBezTo>
                    <a:pt x="232" y="460"/>
                    <a:pt x="464" y="392"/>
                    <a:pt x="528" y="336"/>
                  </a:cubicBezTo>
                  <a:cubicBezTo>
                    <a:pt x="592" y="280"/>
                    <a:pt x="360" y="248"/>
                    <a:pt x="384" y="192"/>
                  </a:cubicBezTo>
                  <a:cubicBezTo>
                    <a:pt x="408" y="136"/>
                    <a:pt x="540" y="68"/>
                    <a:pt x="672" y="0"/>
                  </a:cubicBezTo>
                </a:path>
              </a:pathLst>
            </a:custGeom>
            <a:noFill/>
            <a:ln w="9525">
              <a:solidFill>
                <a:srgbClr val="FF0065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</p:grpSp>
    </p:spTree>
  </p:cSld>
  <p:clrMapOvr>
    <a:masterClrMapping/>
  </p:clrMapOvr>
  <p:transition>
    <p:wipe dir="r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Footer Placeholder 1">
            <a:extLst>
              <a:ext uri="{FF2B5EF4-FFF2-40B4-BE49-F238E27FC236}">
                <a16:creationId xmlns:a16="http://schemas.microsoft.com/office/drawing/2014/main" id="{C0F58F86-5FC8-4BAC-86E4-36FDD13F768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200"/>
              <a:t>Comp 412, Fall 2010</a:t>
            </a:r>
          </a:p>
        </p:txBody>
      </p:sp>
      <p:sp>
        <p:nvSpPr>
          <p:cNvPr id="90114" name="Slide Number Placeholder 2">
            <a:extLst>
              <a:ext uri="{FF2B5EF4-FFF2-40B4-BE49-F238E27FC236}">
                <a16:creationId xmlns:a16="http://schemas.microsoft.com/office/drawing/2014/main" id="{292B6843-37BC-4132-A8FD-71B9C85E8F3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80453C15-0CA5-4F8C-9985-3FCE8C9165A7}" type="slidenum">
              <a:rPr lang="en-US" altLang="it-IT" sz="1200"/>
              <a:pPr/>
              <a:t>37</a:t>
            </a:fld>
            <a:endParaRPr lang="en-US" altLang="it-IT" sz="1200"/>
          </a:p>
        </p:txBody>
      </p:sp>
      <p:sp>
        <p:nvSpPr>
          <p:cNvPr id="90115" name="Rectangle 2">
            <a:extLst>
              <a:ext uri="{FF2B5EF4-FFF2-40B4-BE49-F238E27FC236}">
                <a16:creationId xmlns:a16="http://schemas.microsoft.com/office/drawing/2014/main" id="{EAB8B767-0608-4385-A45D-6EEED89DD9B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Back to Activation Records</a:t>
            </a:r>
          </a:p>
        </p:txBody>
      </p:sp>
      <p:sp>
        <p:nvSpPr>
          <p:cNvPr id="90116" name="Rectangle 3">
            <a:extLst>
              <a:ext uri="{FF2B5EF4-FFF2-40B4-BE49-F238E27FC236}">
                <a16:creationId xmlns:a16="http://schemas.microsoft.com/office/drawing/2014/main" id="{56A63CDF-4D95-470F-AE9F-22649084BB8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066800"/>
            <a:ext cx="7772400" cy="5257800"/>
          </a:xfrm>
        </p:spPr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If activation records are stored on the stack</a:t>
            </a:r>
          </a:p>
          <a:p>
            <a:pPr eaLnBrk="1" hangingPunct="1"/>
            <a:r>
              <a:rPr lang="en-US" altLang="it-IT"/>
              <a:t>Easy to extend — simply bump top of stack pointer</a:t>
            </a:r>
          </a:p>
          <a:p>
            <a:pPr eaLnBrk="1" hangingPunct="1"/>
            <a:r>
              <a:rPr lang="en-US" altLang="it-IT"/>
              <a:t>Caller &amp; callee share responsibility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it-IT"/>
              <a:t>Caller can push parameters, space for registers, return value slot, return address, addressability info, &amp; its own </a:t>
            </a:r>
            <a:r>
              <a:rPr lang="en-US" altLang="it-IT" sz="1600"/>
              <a:t>ARP</a:t>
            </a:r>
            <a:endParaRPr lang="en-US" altLang="it-IT" b="1"/>
          </a:p>
          <a:p>
            <a:pPr lvl="1" eaLnBrk="1" hangingPunct="1">
              <a:spcBef>
                <a:spcPct val="10000"/>
              </a:spcBef>
            </a:pPr>
            <a:r>
              <a:rPr lang="en-US" altLang="it-IT"/>
              <a:t>Callee can push space for local variables (fixed &amp; variable size)</a:t>
            </a:r>
          </a:p>
          <a:p>
            <a:pPr eaLnBrk="1" hangingPunct="1">
              <a:spcBef>
                <a:spcPct val="50000"/>
              </a:spcBef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If activation records are stored on the heap</a:t>
            </a:r>
          </a:p>
          <a:p>
            <a:pPr eaLnBrk="1" hangingPunct="1"/>
            <a:r>
              <a:rPr lang="en-US" altLang="it-IT"/>
              <a:t>Hard to extend an allocated </a:t>
            </a:r>
            <a:r>
              <a:rPr lang="en-US" altLang="it-IT" sz="1800"/>
              <a:t>AR</a:t>
            </a:r>
            <a:endParaRPr lang="en-US" altLang="it-IT"/>
          </a:p>
          <a:p>
            <a:pPr eaLnBrk="1" hangingPunct="1"/>
            <a:r>
              <a:rPr lang="en-US" altLang="it-IT">
                <a:solidFill>
                  <a:srgbClr val="FF0065"/>
                </a:solidFill>
              </a:rPr>
              <a:t>Either</a:t>
            </a:r>
            <a:r>
              <a:rPr lang="en-US" altLang="it-IT"/>
              <a:t> defer </a:t>
            </a:r>
            <a:r>
              <a:rPr lang="en-US" altLang="it-IT" sz="1800"/>
              <a:t>AR</a:t>
            </a:r>
            <a:r>
              <a:rPr lang="en-US" altLang="it-IT"/>
              <a:t> allocation into callee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it-IT"/>
              <a:t>Caller passes everything it can in registers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it-IT"/>
              <a:t>Callee allocates </a:t>
            </a:r>
            <a:r>
              <a:rPr lang="en-US" altLang="it-IT" sz="1600"/>
              <a:t>AR</a:t>
            </a:r>
            <a:r>
              <a:rPr lang="en-US" altLang="it-IT"/>
              <a:t> &amp; stores register contents into it</a:t>
            </a:r>
          </a:p>
          <a:p>
            <a:pPr lvl="2" eaLnBrk="1" hangingPunct="1">
              <a:spcBef>
                <a:spcPct val="10000"/>
              </a:spcBef>
            </a:pPr>
            <a:r>
              <a:rPr lang="en-US" altLang="it-IT"/>
              <a:t>Extra parameters stored in caller’s AR !</a:t>
            </a:r>
          </a:p>
          <a:p>
            <a:pPr eaLnBrk="1" hangingPunct="1">
              <a:spcBef>
                <a:spcPct val="10000"/>
              </a:spcBef>
            </a:pPr>
            <a:r>
              <a:rPr lang="en-US" altLang="it-IT">
                <a:solidFill>
                  <a:srgbClr val="FF0065"/>
                </a:solidFill>
              </a:rPr>
              <a:t>Or</a:t>
            </a:r>
            <a:r>
              <a:rPr lang="en-US" altLang="it-IT"/>
              <a:t>, callee allocates a local data area on the heap</a:t>
            </a:r>
          </a:p>
          <a:p>
            <a:pPr eaLnBrk="1" hangingPunct="1">
              <a:spcBef>
                <a:spcPct val="50000"/>
              </a:spcBef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Static (e.g., non-recursive) is easy and inexpensive</a:t>
            </a:r>
          </a:p>
        </p:txBody>
      </p:sp>
      <p:grpSp>
        <p:nvGrpSpPr>
          <p:cNvPr id="90117" name="Group 9">
            <a:extLst>
              <a:ext uri="{FF2B5EF4-FFF2-40B4-BE49-F238E27FC236}">
                <a16:creationId xmlns:a16="http://schemas.microsoft.com/office/drawing/2014/main" id="{EE17F2C1-88F5-49D2-B49E-FF6B43D20EB0}"/>
              </a:ext>
            </a:extLst>
          </p:cNvPr>
          <p:cNvGrpSpPr>
            <a:grpSpLocks/>
          </p:cNvGrpSpPr>
          <p:nvPr/>
        </p:nvGrpSpPr>
        <p:grpSpPr bwMode="auto">
          <a:xfrm>
            <a:off x="6527800" y="3276600"/>
            <a:ext cx="2311400" cy="2057400"/>
            <a:chOff x="4112" y="2064"/>
            <a:chExt cx="1456" cy="1296"/>
          </a:xfrm>
        </p:grpSpPr>
        <p:sp>
          <p:nvSpPr>
            <p:cNvPr id="90118" name="Text Box 6">
              <a:extLst>
                <a:ext uri="{FF2B5EF4-FFF2-40B4-BE49-F238E27FC236}">
                  <a16:creationId xmlns:a16="http://schemas.microsoft.com/office/drawing/2014/main" id="{6E78B5BE-1CC2-4431-82FE-4F54EC7E6A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4" y="2064"/>
              <a:ext cx="1104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it-IT" sz="1800">
                  <a:solidFill>
                    <a:srgbClr val="FF0065"/>
                  </a:solidFill>
                </a:rPr>
                <a:t>Requires one extra register</a:t>
              </a:r>
            </a:p>
          </p:txBody>
        </p:sp>
        <p:sp>
          <p:nvSpPr>
            <p:cNvPr id="90119" name="Line 7">
              <a:extLst>
                <a:ext uri="{FF2B5EF4-FFF2-40B4-BE49-F238E27FC236}">
                  <a16:creationId xmlns:a16="http://schemas.microsoft.com/office/drawing/2014/main" id="{330494A8-F257-4D15-9FA7-15D94F0CA5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4" y="2078"/>
              <a:ext cx="0" cy="432"/>
            </a:xfrm>
            <a:prstGeom prst="line">
              <a:avLst/>
            </a:prstGeom>
            <a:noFill/>
            <a:ln w="28575">
              <a:solidFill>
                <a:srgbClr val="FF006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90120" name="Freeform 8">
              <a:extLst>
                <a:ext uri="{FF2B5EF4-FFF2-40B4-BE49-F238E27FC236}">
                  <a16:creationId xmlns:a16="http://schemas.microsoft.com/office/drawing/2014/main" id="{25A52EB8-6073-4C71-A804-F82ECCACC3F8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2" y="2208"/>
              <a:ext cx="776" cy="1152"/>
            </a:xfrm>
            <a:custGeom>
              <a:avLst/>
              <a:gdLst>
                <a:gd name="T0" fmla="*/ 352 w 776"/>
                <a:gd name="T1" fmla="*/ 0 h 1152"/>
                <a:gd name="T2" fmla="*/ 64 w 776"/>
                <a:gd name="T3" fmla="*/ 432 h 1152"/>
                <a:gd name="T4" fmla="*/ 736 w 776"/>
                <a:gd name="T5" fmla="*/ 720 h 1152"/>
                <a:gd name="T6" fmla="*/ 304 w 776"/>
                <a:gd name="T7" fmla="*/ 1152 h 115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76"/>
                <a:gd name="T13" fmla="*/ 0 h 1152"/>
                <a:gd name="T14" fmla="*/ 776 w 776"/>
                <a:gd name="T15" fmla="*/ 1152 h 115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76" h="1152">
                  <a:moveTo>
                    <a:pt x="352" y="0"/>
                  </a:moveTo>
                  <a:cubicBezTo>
                    <a:pt x="176" y="156"/>
                    <a:pt x="0" y="312"/>
                    <a:pt x="64" y="432"/>
                  </a:cubicBezTo>
                  <a:cubicBezTo>
                    <a:pt x="128" y="552"/>
                    <a:pt x="696" y="600"/>
                    <a:pt x="736" y="720"/>
                  </a:cubicBezTo>
                  <a:cubicBezTo>
                    <a:pt x="776" y="840"/>
                    <a:pt x="540" y="996"/>
                    <a:pt x="304" y="1152"/>
                  </a:cubicBezTo>
                </a:path>
              </a:pathLst>
            </a:custGeom>
            <a:noFill/>
            <a:ln w="9525">
              <a:solidFill>
                <a:srgbClr val="FF0065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</p:grpSp>
    </p:spTree>
  </p:cSld>
  <p:clrMapOvr>
    <a:masterClrMapping/>
  </p:clrMapOvr>
  <p:transition>
    <p:wipe dir="r"/>
  </p:transition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Comic Sans MS"/>
        <a:ea typeface="ヒラギノ角ゴ Pro W3"/>
        <a:cs typeface="ヒラギノ角ゴ Pro W3"/>
      </a:majorFont>
      <a:minorFont>
        <a:latin typeface="Comic Sans MS"/>
        <a:ea typeface="ヒラギノ角ゴ Pro W3"/>
        <a:cs typeface="ヒラギノ角ゴ Pro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Comic Sans MS" charset="0"/>
            <a:ea typeface="ヒラギノ角ゴ Pro W3" charset="-128"/>
            <a:cs typeface="ヒラギノ角ゴ Pro W3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Comic Sans MS" charset="0"/>
            <a:ea typeface="ヒラギノ角ゴ Pro W3" charset="-128"/>
            <a:cs typeface="ヒラギノ角ゴ Pro W3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1149</TotalTime>
  <Words>3797</Words>
  <Application>Microsoft Office PowerPoint</Application>
  <PresentationFormat>Presentazione su schermo (4:3)</PresentationFormat>
  <Paragraphs>1019</Paragraphs>
  <Slides>38</Slides>
  <Notes>37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38</vt:i4>
      </vt:variant>
    </vt:vector>
  </HeadingPairs>
  <TitlesOfParts>
    <vt:vector size="39" baseType="lpstr">
      <vt:lpstr>Blank Presentation</vt:lpstr>
      <vt:lpstr>The Procedure Abstraction, Part III Storage Layout &amp; Addressability  Comp 412</vt:lpstr>
      <vt:lpstr>Example    </vt:lpstr>
      <vt:lpstr>Lexically-scoped Symbol Tables</vt:lpstr>
      <vt:lpstr>Where Do Local Variables Live?</vt:lpstr>
      <vt:lpstr>Where Do All These Variables Go?</vt:lpstr>
      <vt:lpstr>Data Areas</vt:lpstr>
      <vt:lpstr>Placing Run-time Data Structures</vt:lpstr>
      <vt:lpstr>How Does This Really Work?</vt:lpstr>
      <vt:lpstr>How Does This Really Work?</vt:lpstr>
      <vt:lpstr>Translating Local Names </vt:lpstr>
      <vt:lpstr>Storage for Blocks within a Single Procedure</vt:lpstr>
      <vt:lpstr>Tying It Back to the Scoped Symbol Table</vt:lpstr>
      <vt:lpstr>Variable-length Data</vt:lpstr>
      <vt:lpstr>Activation Record Basics</vt:lpstr>
      <vt:lpstr>Activation Record Details</vt:lpstr>
      <vt:lpstr>Activation Record Details</vt:lpstr>
      <vt:lpstr>Establishing Addressability </vt:lpstr>
      <vt:lpstr>Establishing Addressability</vt:lpstr>
      <vt:lpstr>Establishing Addressability</vt:lpstr>
      <vt:lpstr>Establishing Addressibility</vt:lpstr>
      <vt:lpstr>The Problem</vt:lpstr>
      <vt:lpstr>Establishing Addressability</vt:lpstr>
      <vt:lpstr>Establishing Addressability</vt:lpstr>
      <vt:lpstr>Establishing Addressibility</vt:lpstr>
      <vt:lpstr>Establishing Addressability</vt:lpstr>
      <vt:lpstr>Creating and Destroying Activation Records</vt:lpstr>
      <vt:lpstr>Procedure Linkages</vt:lpstr>
      <vt:lpstr>Saving Registers</vt:lpstr>
      <vt:lpstr>Procedure Linkages</vt:lpstr>
      <vt:lpstr>Procedure Linkages</vt:lpstr>
      <vt:lpstr>Procedure Linkages</vt:lpstr>
      <vt:lpstr>Procedure Linkages</vt:lpstr>
      <vt:lpstr>Procedure Linkages</vt:lpstr>
      <vt:lpstr>Back to Activation Records</vt:lpstr>
      <vt:lpstr>Communicating Between Procedures</vt:lpstr>
      <vt:lpstr>Remember This Drawing?</vt:lpstr>
      <vt:lpstr>More Thoughts on Register Save Code</vt:lpstr>
      <vt:lpstr>Back to Activation Records</vt:lpstr>
    </vt:vector>
  </TitlesOfParts>
  <Company>Rice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Keith Cooper</dc:creator>
  <cp:lastModifiedBy>Elsevier</cp:lastModifiedBy>
  <cp:revision>40</cp:revision>
  <dcterms:created xsi:type="dcterms:W3CDTF">2010-10-20T12:25:59Z</dcterms:created>
  <dcterms:modified xsi:type="dcterms:W3CDTF">2020-10-20T11:45:28Z</dcterms:modified>
</cp:coreProperties>
</file>