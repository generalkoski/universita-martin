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9" r:id="rId3"/>
    <p:sldId id="295" r:id="rId4"/>
    <p:sldId id="293" r:id="rId5"/>
    <p:sldId id="294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99" r:id="rId21"/>
    <p:sldId id="273" r:id="rId22"/>
    <p:sldId id="274" r:id="rId23"/>
    <p:sldId id="275" r:id="rId24"/>
    <p:sldId id="276" r:id="rId25"/>
    <p:sldId id="296" r:id="rId26"/>
    <p:sldId id="277" r:id="rId27"/>
    <p:sldId id="278" r:id="rId28"/>
    <p:sldId id="279" r:id="rId29"/>
    <p:sldId id="281" r:id="rId30"/>
    <p:sldId id="282" r:id="rId31"/>
    <p:sldId id="283" r:id="rId32"/>
    <p:sldId id="284" r:id="rId33"/>
    <p:sldId id="285" r:id="rId34"/>
    <p:sldId id="298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7" r:id="rId43"/>
    <p:sldId id="280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10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7E341C-7064-4B86-B955-F082B49172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E0103-BE98-4ED4-8CC8-091E215A6D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A769760D-CAF9-4A68-B194-DBBDBF0FF300}" type="datetime1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79D82-2D94-400E-9718-8F06E2D609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78785-6105-48C0-9129-6D808744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6CDE545-006D-4CE9-A108-4FC441B3FA55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978F6CA-69E4-4DDB-8C68-23FCF50C54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2FBAF4B-ABDF-4ACA-AD53-129EE06ED0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625605A-4AA5-4BE1-B785-4CC987436BC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F292837-261C-4A2E-9C4F-A5EF500DCF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D18781A1-10B6-4867-9AB6-1E580B0FF1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36909ED-9DF5-4E20-9CEF-5013EB352A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EF539B2-6DD2-44F2-9F26-7434AD91B6F4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5D823A2D-CCFE-48E4-ADE3-CECC0015B5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FE78CDA-5B3E-4222-A77E-7D7FDCC20F15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F4798097-1E4A-4D4B-97B4-7CCB10BA1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92F9A72-6381-4A1D-912A-CE16744BF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A542FA9C-E07A-4A15-A710-44A0DBC150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732D23A-4214-4CE4-ACF0-0DFECBE74D86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E0865714-9C2C-445C-82D6-358073570DE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F587151-E886-48F9-BE1A-FE5D59701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4DB5FECE-66FC-4A3C-9E7F-48C0CBF258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CA06F72-464D-4A82-8E23-DF3A6C0B9A34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A19BAC8-E735-4789-856E-5EF3191D820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25CFC26-0174-4EE3-B9D2-BB9D5164F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44840FDD-052B-4FF5-86E4-7FCDE2B14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C49FC43-8FDA-4A60-BFFA-193581442B33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C8638D45-34C8-4D81-80C2-0653FBB91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EA52AF1-38CB-4905-B9D3-0E2F8C9B6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63A71DCD-7A38-42C4-A77C-D2E9DF6C0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F7D8AE5-7FB7-4389-9884-C2E7575196E7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E5BD4B5-F561-414B-B687-C68A7E8399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1346CD0-D54E-4142-A4C3-9079F61AA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EC65B0D9-F8A3-4D2C-84CE-66DBF7698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7351A88-64E6-4B4B-B690-0CEDE5D07883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BA299F5E-47BD-43A3-AC10-A6E61181C5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2D90911-F768-48A3-B93B-7211359A6A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29CA8042-7B49-49DB-8E8A-851109D2A5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1229E59-3C7E-4E77-AEED-A68FCFA6A866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D4864D99-B12E-4F7D-BEF2-CB94C6A8A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B0DE714-0238-4CF2-92B4-33C4C3386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FAEEE6A7-D174-4143-AE94-6E4278D13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825FC54-AFB6-4879-B512-7155E8D1CC85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91473C31-C928-407A-84CA-35184A32342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1CF795A-B62E-4821-94EC-D68786610C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87577B8F-BB26-4109-9193-48760E3696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1288A4B-904B-49AF-B30C-8E854C48E922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79C40326-5328-4D0E-AAB6-71C5D4475CF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2EB99E4-FB38-4AC4-A2E9-A26E9B2C8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E89A0496-B4F1-4A5B-868F-1318778FAB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8EDA33E-4687-4A3A-B247-E5DAD1E5F9F6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3ABCA8B0-6648-4A88-9A29-0CB17DE133D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EED62A6-E087-45C6-9D16-675153806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BDA9DB52-B148-42B1-B512-1B7A81673F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ABC0B99-6EF0-4321-8B44-1D8AD3F47CE7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A439A7B5-E676-4DCD-91DE-A2EEFFB67BD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09D0F71-2432-4A4D-9470-F69BE48E6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AA201744-B523-4717-B71B-CD527F0E29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464C3CE-956D-4BF8-A1B9-5D9FB8496E74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8BB3F46B-3109-4F70-876D-2E17622F93D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24253F7-C2F4-4996-953E-DAE9BE1FC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FC54CB42-C6D4-4685-8E92-755F0B640E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5554CF0-0F0A-4653-B65B-E00F143FDB64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5A5258B-66EF-4D1D-854D-C18B50ED709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FFF8E4E-FA08-415A-A55D-BC1BCF215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A49138EE-B54C-4F3E-BABD-53A2E6D129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C989681-AC65-4D5D-B98F-6EDADECEA392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0ABEA8BE-3D9C-4617-B856-A0B59056081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F235E82-1BA3-476D-BCE4-44A0515E4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40636C0-445A-4996-8C3A-E3EEA184EE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347CFE1-69F4-4CF5-AB0F-D0FBE81D9313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2ADAA144-C0A4-4BBD-9AA0-7E82E016215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730EC20-3B97-43AD-994C-CD6221164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C2607836-936D-4D83-943F-090B51CF7C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D9C79EF-6792-41CE-8137-A5BCCCF8B6E6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D9B136DB-897F-48C7-A32A-2B8848C75E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60E3A2C-3725-4294-9317-564680722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AA51921B-8763-4E5E-8285-83994B57C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B7EE1FC-D5A7-4206-ADA2-27603F828C99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57C38D20-3254-45E5-9E54-0D4A5549D4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952B7F9-7493-407A-BCD1-6532471E6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31B8C404-B743-4587-8298-5D50935ED1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0715DCF-6B03-41E7-964D-68FF01654676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70DE4681-0D34-4072-985B-6DCAFA031DC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EB60335-62F8-47AB-96FC-03D9AC271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E2A1E185-AECB-4884-8371-7D69968432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2F2D3F6-196A-43AC-8612-C582DE1E9256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A5DC67A5-9E5D-4778-9989-EA6B06F32F0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B1E41A5-D52A-4E3B-BDBD-C48349C54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BAC51CBF-9945-4E7D-A8A6-C66DA6420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A305712-2F09-420C-A10E-55C89A91DF88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EA12E1A-E0E7-482F-826A-3F00BCBA5B4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B640F73-E67F-4747-A133-5DB51E304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8523A623-658C-403F-AF98-501A8121B3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503BD9E-3563-4DA3-9792-A48AC4E63830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98B3937-AE35-4CF1-A4E6-A9F77131608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2A3CC16-711D-486B-88C5-69E935A73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170B41C3-1F3B-44D7-A2B5-01CA775587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BFB6C42-8639-46E9-91E8-9A9A41C46E9E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31126F79-78A6-4039-AFEA-65AC66E73AB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E70D7CE-F9E5-4481-9973-EAC6E222B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52E9C143-E896-4951-A099-692243B7E9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51E56B-746D-47D4-B13B-354976E42E8D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22D74036-B56A-4D6F-BC35-1920C751C42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7B8D224-661A-49DF-935F-13E5966CA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DB6FC3C2-4E26-4A59-B817-814D69ADF2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7E51E47-DBCB-41F6-A735-04E100BA72D8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9FABB2AD-A35D-4937-9EFF-B420AA2418E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3D088CE0-7CA7-47C1-8205-F18B962AA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33A37D71-B2BC-4205-A79A-ED7C33F79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A4142D3-2F3D-476B-8C99-F0AB56943875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752B8DDB-B625-4ABD-AB34-1EE23D41596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B4C9942-6D26-4168-BD17-643B7C53F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4969EDB8-4393-49FD-BB6E-5B171E4BAD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1253F14-1B12-489B-90CB-935605A41A5F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07DE0D4F-72F2-466C-AEEE-D0D7A10EF35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A75D9D8-F7DC-47D4-AA86-8C7CD41BE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7C7E4746-36EB-4AA9-8874-3F78F71E4A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367DCFA-A96C-4F1F-BB8F-FE45D1B7E21A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B264E10D-D454-457F-B57C-C1F8E034C59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DB0F923-67DE-4205-ACF5-FC0D88EA1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57AF1C56-2F7A-4392-B151-A4A853BE2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A33995A-EF32-48DA-AE4F-7F2C40D3141B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3B6470FF-48E5-4E17-BE6E-CBC4B49F88D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86FC82F-43C2-4693-952D-05C44E624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127A1416-CBFD-43B0-AD8D-FC62AB464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E19683B-7AC6-42B8-85A7-C108B997641B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B17CFD70-58DB-4060-9CB6-E6E3D8E8BB1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4D2234F-A81D-4A04-B12E-C2E92BC55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87DE58D5-8641-4B88-90E5-C7DD172AD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D55F73E-AEA8-4735-96BB-84AEFB96C47A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BF6C680A-72D4-402E-8A05-1ED8786EB6A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CD23F31D-F50F-4316-8D31-6C149B909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>
            <a:extLst>
              <a:ext uri="{FF2B5EF4-FFF2-40B4-BE49-F238E27FC236}">
                <a16:creationId xmlns:a16="http://schemas.microsoft.com/office/drawing/2014/main" id="{68D61C40-87F8-4EB4-B3A8-5499C136A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0898" name="Notes Placeholder 2">
            <a:extLst>
              <a:ext uri="{FF2B5EF4-FFF2-40B4-BE49-F238E27FC236}">
                <a16:creationId xmlns:a16="http://schemas.microsoft.com/office/drawing/2014/main" id="{A8FA951E-4366-43DA-8698-D22443D01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And this picture does not show the TLBs — core private or shared among cores — in multiple levels.</a:t>
            </a:r>
          </a:p>
        </p:txBody>
      </p:sp>
      <p:sp>
        <p:nvSpPr>
          <p:cNvPr id="80899" name="Slide Number Placeholder 3">
            <a:extLst>
              <a:ext uri="{FF2B5EF4-FFF2-40B4-BE49-F238E27FC236}">
                <a16:creationId xmlns:a16="http://schemas.microsoft.com/office/drawing/2014/main" id="{6AC04D6B-10D5-4115-B467-D3795132A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816070E-8ECB-4480-A20C-6E0FDFD8BFE5}" type="slidenum">
              <a:rPr lang="en-US" altLang="it-IT"/>
              <a:pPr/>
              <a:t>33</a:t>
            </a:fld>
            <a:endParaRPr lang="en-US" altLang="it-I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763CD5FD-7AFF-4FE7-AD88-562369C224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C7C328F-1AC1-4112-BD57-3624CC1A51C5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2BB1820F-ED8E-452A-A5E4-8D1DA17BC76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C971202-FADC-4F61-909C-5A0A1094C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A7B75DFA-6A23-4D4B-812A-F94A30557A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160A896-34F6-4304-AA98-891AD2D92209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9CCB8F77-1796-41FC-A2F2-C939544C9FB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0B30312-49FD-4CE9-85F8-FB97152C5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328B2172-DEC5-4B62-8637-A64AAC02D9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23E9C15-7B5C-4D96-8B42-9E6819E10636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70C97275-BA3C-4DB1-9B08-991684C09D2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1F95C60-DC7E-4360-A7A5-303BF9F01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DC5CF27A-E247-4C49-93D0-86BFC5A04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3E3FA60-C9DA-4A06-B11E-9785F7C50964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3B28315A-BD1F-4E78-BF12-693193AD5BF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C133774-E0DE-4E82-9158-4374656AE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3608E625-CB97-4BBE-B95C-EF2E1B74A6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F2607B3-E733-4F2F-B05D-4D9D4916B8EE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2262BF3E-951A-42F7-8268-9B3118EF1FE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9F1C055-4037-4B04-8912-3381FF55D5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3991D4ED-66C5-494E-BCB1-8970DE7BFF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0AD57F7-0B93-4028-807E-3AB372B63B78}" type="slidenum">
              <a:rPr lang="en-US" altLang="it-IT"/>
              <a:pPr/>
              <a:t>39</a:t>
            </a:fld>
            <a:endParaRPr lang="en-US" altLang="it-IT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0D942CC4-B1DC-42D9-AAB0-B9A673DB3F9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F16C175-A2CF-4D1C-A797-9B400FD7B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5035EBE8-AA3D-4397-A44C-63C4021775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45DAB55-CEAB-479C-8198-DF252E6C24E3}" type="slidenum">
              <a:rPr lang="en-US" altLang="it-IT"/>
              <a:pPr/>
              <a:t>40</a:t>
            </a:fld>
            <a:endParaRPr lang="en-US" altLang="it-IT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EE976E9C-D95E-46B0-BBC0-208ACA29299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5DF513C3-9ED1-44C3-A1F6-018F58D57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4F17F1ED-2091-40D7-8E05-7AE751065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4FFB97B-B5EB-459A-9F0E-83016BCCEA92}" type="slidenum">
              <a:rPr lang="en-US" altLang="it-IT"/>
              <a:pPr/>
              <a:t>42</a:t>
            </a:fld>
            <a:endParaRPr lang="en-US" altLang="it-IT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7AE2C8D6-79FF-4E97-A7CB-94A4BFE66EE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2FE66693-1EC5-454C-8E5A-34ED57524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941305-C755-4B8C-87A3-9CAFDEC05DC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A2748A-3AB4-4F58-988F-C18CB45205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6FD2FF-B8A3-41D8-9959-F4D762C211B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6507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F507CA2-E1C9-4B04-A0E1-E26F943DF4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A97AAA-1037-424F-82BC-2304B426A01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2D3D2D-DF02-4F93-B605-D109101B83B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3245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2195E3-874F-4F19-B43D-E1B0AB8B90D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52DA573-55B5-438D-B8FF-24E1F67079F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C3CC40-A9DD-484D-9BAB-D0242D06AF0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1187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4C9673-DAF9-404E-BD40-2424D8556AB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242E98-FF5C-4875-BD53-46F5E7115A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A59457-D958-480A-B391-6731C5C45F5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52582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E5ECA70-D7AA-4FEF-A963-B2BFFCDDF2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9E24169-CA5F-4E59-9273-5E85C0C31AD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78F1ED-090F-435B-A014-8A4A1BF1334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7443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F6E8EB4-904B-4BFC-AE90-DEAF1B4506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84350C-A49F-4536-B789-F1E992953E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5A6EDD-A78E-49B6-9625-155F8AC05B3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05999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7F2F18A-BB08-46CA-A79F-64ACDBF0D4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FA75958-3C49-4C75-BAE2-B8C5F458524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4B6BEF-700E-4C40-9BF5-9D00D9D9DBB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3841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9E85AD-3C77-4E02-81D8-3233342DE8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40B932-C0B1-405D-966D-C36C6168E41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9D834F-B2E5-442A-8315-F1C4F7915CE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0212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989D2D-FF4C-4B40-AA88-BCB19234FC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808440-F522-4552-8A90-30836B521D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679F5C-756E-457C-9660-94763F8ECED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9305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B934ABB-BA1D-4FC7-8AAC-91FF495B5A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D6E92CC-11AB-4005-8A8B-4360704785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6974C9-BAF0-4E1A-8862-2AA9098166D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3428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003898-F612-42D6-85C4-F4FF935E19A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2AB100-A64E-4F38-976D-07E86B81D8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ED85D2-DB8C-4E21-92DD-26E324F924D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15943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17423D-80BB-4C84-A060-3FBBBBD58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FC5593C-924D-4303-B49E-222451CC6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23B76F7-6FB7-472C-8CA3-9F466ABFB8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DB3BECA-35CF-4039-A959-DA92177467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7E291DD-04BA-4B0A-AF12-B6F538468560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2698387D-102B-414F-A61E-152078980E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52BEB2D8-19F6-4915-8246-8563164AE55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ts val="12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EE0FBAE-6BAD-4CA4-818B-4B8410551B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The Procedure Abstraction</a:t>
            </a:r>
            <a:br>
              <a:rPr lang="en-US" altLang="it-IT" sz="3200" i="1"/>
            </a:br>
            <a:br>
              <a:rPr lang="en-US" altLang="it-IT" sz="10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83D999C-5EA9-4119-88CB-D6E3880178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ts val="600"/>
              </a:spcBef>
            </a:pPr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>
              <a:spcBef>
                <a:spcPts val="600"/>
              </a:spcBef>
            </a:pPr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>
              <a:spcBef>
                <a:spcPts val="600"/>
              </a:spcBef>
            </a:pPr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D720DB2C-8E7B-466B-9A66-392A3D597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CCBA8DD7-5298-4F7C-9C21-992F3E619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  <p:sp>
        <p:nvSpPr>
          <p:cNvPr id="15366" name="TextBox 5">
            <a:extLst>
              <a:ext uri="{FF2B5EF4-FFF2-40B4-BE49-F238E27FC236}">
                <a16:creationId xmlns:a16="http://schemas.microsoft.com/office/drawing/2014/main" id="{B3DEF4AD-AADE-4C3F-A77E-26AB4432D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910013"/>
            <a:ext cx="4038600" cy="73818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Chapters 6 and 7 of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EaC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explore techniques that compilers use to implement various language features.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3">
            <a:extLst>
              <a:ext uri="{FF2B5EF4-FFF2-40B4-BE49-F238E27FC236}">
                <a16:creationId xmlns:a16="http://schemas.microsoft.com/office/drawing/2014/main" id="{81D0F4AA-4266-4E27-9E9D-6F7CFCDF52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4D6F4B5D-2252-48F8-8D1E-E5801FA640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724E520-0439-45F4-B0A5-063875C4770E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FD90C8C-4020-4B3C-BAB9-A92241ECE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Where are we?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0B320B3-91D2-4499-B1B8-7C4B911AE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124200"/>
            <a:ext cx="7772400" cy="3276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latter half of a compiler contains more open problems, 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more challenges, and more gray areas than the front half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/>
              <a:t>This is “compilation,” as opposed to “parsing” or “translation”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it-IT"/>
              <a:t>Implementing promised behavior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/>
              <a:t>Defining and preserving the </a:t>
            </a:r>
            <a:r>
              <a:rPr lang="en-US" altLang="it-IT">
                <a:solidFill>
                  <a:srgbClr val="FF0065"/>
                </a:solidFill>
              </a:rPr>
              <a:t>meaning</a:t>
            </a:r>
            <a:r>
              <a:rPr lang="en-US" altLang="it-IT"/>
              <a:t> of the program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it-IT"/>
              <a:t>Managing target machine resources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/>
              <a:t>Registers, memory, issue slots, locality, power,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/>
              <a:t>These issues determine the </a:t>
            </a:r>
            <a:r>
              <a:rPr lang="en-US" altLang="it-IT">
                <a:solidFill>
                  <a:srgbClr val="FF0065"/>
                </a:solidFill>
              </a:rPr>
              <a:t>quality</a:t>
            </a:r>
            <a:r>
              <a:rPr lang="en-US" altLang="it-IT"/>
              <a:t> of the compiled code</a:t>
            </a:r>
          </a:p>
        </p:txBody>
      </p:sp>
      <p:sp>
        <p:nvSpPr>
          <p:cNvPr id="17413" name="Line 4">
            <a:extLst>
              <a:ext uri="{FF2B5EF4-FFF2-40B4-BE49-F238E27FC236}">
                <a16:creationId xmlns:a16="http://schemas.microsoft.com/office/drawing/2014/main" id="{7BCF02BB-B0D1-45B8-99A0-5B28486C8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3622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grpSp>
        <p:nvGrpSpPr>
          <p:cNvPr id="17414" name="Group 5">
            <a:extLst>
              <a:ext uri="{FF2B5EF4-FFF2-40B4-BE49-F238E27FC236}">
                <a16:creationId xmlns:a16="http://schemas.microsoft.com/office/drawing/2014/main" id="{FE5DE18F-B490-4D5D-A9DA-7E014A8F935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219200"/>
            <a:ext cx="7696200" cy="1752600"/>
            <a:chOff x="336" y="672"/>
            <a:chExt cx="4848" cy="1104"/>
          </a:xfrm>
        </p:grpSpPr>
        <p:grpSp>
          <p:nvGrpSpPr>
            <p:cNvPr id="17415" name="Group 6">
              <a:extLst>
                <a:ext uri="{FF2B5EF4-FFF2-40B4-BE49-F238E27FC236}">
                  <a16:creationId xmlns:a16="http://schemas.microsoft.com/office/drawing/2014/main" id="{DCFC7283-2899-438E-BDE8-C6628985C5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" y="864"/>
              <a:ext cx="4712" cy="912"/>
              <a:chOff x="472" y="864"/>
              <a:chExt cx="4712" cy="912"/>
            </a:xfrm>
          </p:grpSpPr>
          <p:sp>
            <p:nvSpPr>
              <p:cNvPr id="21519" name="Line 7">
                <a:extLst>
                  <a:ext uri="{FF2B5EF4-FFF2-40B4-BE49-F238E27FC236}">
                    <a16:creationId xmlns:a16="http://schemas.microsoft.com/office/drawing/2014/main" id="{948C4AC6-755C-492D-A128-ABE53FE41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680"/>
                <a:ext cx="26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0" name="Text Box 8">
                <a:extLst>
                  <a:ext uri="{FF2B5EF4-FFF2-40B4-BE49-F238E27FC236}">
                    <a16:creationId xmlns:a16="http://schemas.microsoft.com/office/drawing/2014/main" id="{109F49B1-FDAB-4903-B04E-20A66EF36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0" y="1584"/>
                <a:ext cx="49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i="1">
                    <a:latin typeface="+mn-lt"/>
                    <a:ea typeface="ヒラギノ角ゴ Pro W3" charset="-128"/>
                    <a:cs typeface="ヒラギノ角ゴ Pro W3" charset="-128"/>
                  </a:rPr>
                  <a:t>Errors</a:t>
                </a:r>
                <a:r>
                  <a:rPr lang="en-US" sz="1400">
                    <a:latin typeface="+mn-lt"/>
                    <a:ea typeface="ヒラギノ角ゴ Pro W3" charset="-128"/>
                    <a:cs typeface="ヒラギノ角ゴ Pro W3" charset="-128"/>
                  </a:rPr>
                  <a:t> </a:t>
                </a:r>
                <a:endParaRPr lang="en-US" sz="1600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1" name="Line 9">
                <a:extLst>
                  <a:ext uri="{FF2B5EF4-FFF2-40B4-BE49-F238E27FC236}">
                    <a16:creationId xmlns:a16="http://schemas.microsoft.com/office/drawing/2014/main" id="{EE8C5468-BEE2-4749-8219-5D418D96D0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39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2" name="Line 10">
                <a:extLst>
                  <a:ext uri="{FF2B5EF4-FFF2-40B4-BE49-F238E27FC236}">
                    <a16:creationId xmlns:a16="http://schemas.microsoft.com/office/drawing/2014/main" id="{3511180B-01C2-4BC7-BD14-1F980E9F4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1392"/>
                <a:ext cx="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3" name="Text Box 11">
                <a:extLst>
                  <a:ext uri="{FF2B5EF4-FFF2-40B4-BE49-F238E27FC236}">
                    <a16:creationId xmlns:a16="http://schemas.microsoft.com/office/drawing/2014/main" id="{4B386330-5AAD-419A-AAE7-691ED5F8CD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" y="960"/>
                <a:ext cx="52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400" i="1">
                    <a:latin typeface="+mn-lt"/>
                    <a:ea typeface="ヒラギノ角ゴ Pro W3" charset="-128"/>
                    <a:cs typeface="ヒラギノ角ゴ Pro W3" charset="-128"/>
                  </a:rPr>
                  <a:t>Source</a:t>
                </a:r>
              </a:p>
              <a:p>
                <a:pPr algn="ctr" eaLnBrk="0" hangingPunct="0">
                  <a:defRPr/>
                </a:pPr>
                <a:r>
                  <a:rPr lang="en-US" sz="1400" i="1">
                    <a:latin typeface="+mn-lt"/>
                    <a:ea typeface="ヒラギノ角ゴ Pro W3" charset="-128"/>
                    <a:cs typeface="ヒラギノ角ゴ Pro W3" charset="-128"/>
                  </a:rPr>
                  <a:t>Code</a:t>
                </a:r>
                <a:endParaRPr lang="en-US" sz="1600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4" name="Rectangle 12">
                <a:extLst>
                  <a:ext uri="{FF2B5EF4-FFF2-40B4-BE49-F238E27FC236}">
                    <a16:creationId xmlns:a16="http://schemas.microsoft.com/office/drawing/2014/main" id="{CF7CE6F1-2907-4492-B976-8EDE901BE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864"/>
                <a:ext cx="816" cy="5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5" name="Text Box 13">
                <a:extLst>
                  <a:ext uri="{FF2B5EF4-FFF2-40B4-BE49-F238E27FC236}">
                    <a16:creationId xmlns:a16="http://schemas.microsoft.com/office/drawing/2014/main" id="{5A745040-E40A-4018-A6B7-F77C0027A5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7" y="1023"/>
                <a:ext cx="725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+mn-lt"/>
                    <a:ea typeface="ヒラギノ角ゴ Pro W3" charset="-128"/>
                    <a:cs typeface="ヒラギノ角ゴ Pro W3" charset="-128"/>
                  </a:rPr>
                  <a:t>Optimizer</a:t>
                </a:r>
              </a:p>
            </p:txBody>
          </p:sp>
          <p:sp>
            <p:nvSpPr>
              <p:cNvPr id="21526" name="Line 14">
                <a:extLst>
                  <a:ext uri="{FF2B5EF4-FFF2-40B4-BE49-F238E27FC236}">
                    <a16:creationId xmlns:a16="http://schemas.microsoft.com/office/drawing/2014/main" id="{C4B13131-A8D5-4168-8991-076821F696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12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7" name="Rectangle 15">
                <a:extLst>
                  <a:ext uri="{FF2B5EF4-FFF2-40B4-BE49-F238E27FC236}">
                    <a16:creationId xmlns:a16="http://schemas.microsoft.com/office/drawing/2014/main" id="{F9629E7B-EA36-43DF-AAF4-0ADEDCC31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864"/>
                <a:ext cx="816" cy="5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28" name="Text Box 16">
                <a:extLst>
                  <a:ext uri="{FF2B5EF4-FFF2-40B4-BE49-F238E27FC236}">
                    <a16:creationId xmlns:a16="http://schemas.microsoft.com/office/drawing/2014/main" id="{2DC32889-DB14-42AC-ADBC-D05BB7FAE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945"/>
                <a:ext cx="453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600">
                    <a:latin typeface="+mn-lt"/>
                    <a:ea typeface="ヒラギノ角ゴ Pro W3" charset="-128"/>
                    <a:cs typeface="ヒラギノ角ゴ Pro W3" charset="-128"/>
                  </a:rPr>
                  <a:t>Front</a:t>
                </a:r>
              </a:p>
              <a:p>
                <a:pPr algn="ctr" eaLnBrk="0" hangingPunct="0">
                  <a:defRPr/>
                </a:pPr>
                <a:r>
                  <a:rPr lang="en-US" sz="1600">
                    <a:latin typeface="+mn-lt"/>
                    <a:ea typeface="ヒラギノ角ゴ Pro W3" charset="-128"/>
                    <a:cs typeface="ヒラギノ角ゴ Pro W3" charset="-128"/>
                  </a:rPr>
                  <a:t>End</a:t>
                </a:r>
              </a:p>
            </p:txBody>
          </p:sp>
          <p:sp>
            <p:nvSpPr>
              <p:cNvPr id="21529" name="Line 17">
                <a:extLst>
                  <a:ext uri="{FF2B5EF4-FFF2-40B4-BE49-F238E27FC236}">
                    <a16:creationId xmlns:a16="http://schemas.microsoft.com/office/drawing/2014/main" id="{19755AE1-803A-4E92-80D2-CC2855ED9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6" y="1128"/>
                <a:ext cx="9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30" name="Text Box 18">
                <a:extLst>
                  <a:ext uri="{FF2B5EF4-FFF2-40B4-BE49-F238E27FC236}">
                    <a16:creationId xmlns:a16="http://schemas.microsoft.com/office/drawing/2014/main" id="{7FCEE7FB-4394-4BFF-BB76-1A2EEA589D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945"/>
                <a:ext cx="768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600" i="1">
                    <a:latin typeface="+mn-lt"/>
                    <a:ea typeface="ヒラギノ角ゴ Pro W3" charset="-128"/>
                    <a:cs typeface="ヒラギノ角ゴ Pro W3" charset="-128"/>
                  </a:rPr>
                  <a:t>Machine</a:t>
                </a:r>
              </a:p>
              <a:p>
                <a:pPr algn="ctr" eaLnBrk="0" hangingPunct="0">
                  <a:defRPr/>
                </a:pPr>
                <a:r>
                  <a:rPr lang="en-US" sz="1600" i="1">
                    <a:latin typeface="+mn-lt"/>
                    <a:ea typeface="ヒラギノ角ゴ Pro W3" charset="-128"/>
                    <a:cs typeface="ヒラギノ角ゴ Pro W3" charset="-128"/>
                  </a:rPr>
                  <a:t>code</a:t>
                </a:r>
                <a:endParaRPr lang="en-US" sz="1600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31" name="Rectangle 19">
                <a:extLst>
                  <a:ext uri="{FF2B5EF4-FFF2-40B4-BE49-F238E27FC236}">
                    <a16:creationId xmlns:a16="http://schemas.microsoft.com/office/drawing/2014/main" id="{818FEBA2-5D06-498D-AE0D-6D42DCD8D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864"/>
                <a:ext cx="816" cy="5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32" name="Text Box 20">
                <a:extLst>
                  <a:ext uri="{FF2B5EF4-FFF2-40B4-BE49-F238E27FC236}">
                    <a16:creationId xmlns:a16="http://schemas.microsoft.com/office/drawing/2014/main" id="{F819E046-4A6F-4F32-A7E4-0B8D220D5E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2" y="945"/>
                <a:ext cx="400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600">
                    <a:latin typeface="+mn-lt"/>
                    <a:ea typeface="ヒラギノ角ゴ Pro W3" charset="-128"/>
                    <a:cs typeface="ヒラギノ角ゴ Pro W3" charset="-128"/>
                  </a:rPr>
                  <a:t>Back</a:t>
                </a:r>
              </a:p>
              <a:p>
                <a:pPr algn="ctr" eaLnBrk="0" hangingPunct="0">
                  <a:defRPr/>
                </a:pPr>
                <a:r>
                  <a:rPr lang="en-US" sz="1600">
                    <a:latin typeface="+mn-lt"/>
                    <a:ea typeface="ヒラギノ角ゴ Pro W3" charset="-128"/>
                    <a:cs typeface="ヒラギノ角ゴ Pro W3" charset="-128"/>
                  </a:rPr>
                  <a:t>End</a:t>
                </a:r>
              </a:p>
            </p:txBody>
          </p:sp>
          <p:sp>
            <p:nvSpPr>
              <p:cNvPr id="21533" name="Line 21">
                <a:extLst>
                  <a:ext uri="{FF2B5EF4-FFF2-40B4-BE49-F238E27FC236}">
                    <a16:creationId xmlns:a16="http://schemas.microsoft.com/office/drawing/2014/main" id="{75F08844-9523-4B34-9EA2-871D4FA83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12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34" name="Line 22">
                <a:extLst>
                  <a:ext uri="{FF2B5EF4-FFF2-40B4-BE49-F238E27FC236}">
                    <a16:creationId xmlns:a16="http://schemas.microsoft.com/office/drawing/2014/main" id="{9109574C-640D-41AC-A0D6-D1B61364E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12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35" name="Text Box 23">
                <a:extLst>
                  <a:ext uri="{FF2B5EF4-FFF2-40B4-BE49-F238E27FC236}">
                    <a16:creationId xmlns:a16="http://schemas.microsoft.com/office/drawing/2014/main" id="{7754EA31-3256-4FFE-9031-8A4385A87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7" y="912"/>
                <a:ext cx="249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400">
                    <a:latin typeface="+mn-lt"/>
                    <a:ea typeface="ヒラギノ角ゴ Pro W3" charset="-128"/>
                    <a:cs typeface="ヒラギノ角ゴ Pro W3" charset="-128"/>
                  </a:rPr>
                  <a:t>IR</a:t>
                </a:r>
                <a:endParaRPr lang="en-US" sz="1600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36" name="Text Box 24">
                <a:extLst>
                  <a:ext uri="{FF2B5EF4-FFF2-40B4-BE49-F238E27FC236}">
                    <a16:creationId xmlns:a16="http://schemas.microsoft.com/office/drawing/2014/main" id="{0545B6C7-585C-45D9-8AC8-C820E9C475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7" y="936"/>
                <a:ext cx="249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400">
                    <a:latin typeface="+mn-lt"/>
                    <a:ea typeface="ヒラギノ角ゴ Pro W3" charset="-128"/>
                    <a:cs typeface="ヒラギノ角ゴ Pro W3" charset="-128"/>
                  </a:rPr>
                  <a:t>IR</a:t>
                </a:r>
                <a:endParaRPr lang="en-US" sz="1600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</p:grpSp>
        <p:grpSp>
          <p:nvGrpSpPr>
            <p:cNvPr id="17416" name="Group 25">
              <a:extLst>
                <a:ext uri="{FF2B5EF4-FFF2-40B4-BE49-F238E27FC236}">
                  <a16:creationId xmlns:a16="http://schemas.microsoft.com/office/drawing/2014/main" id="{4AB358FF-ABC1-4551-A61D-541AD8575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672"/>
              <a:ext cx="1536" cy="1104"/>
              <a:chOff x="336" y="672"/>
              <a:chExt cx="1536" cy="1104"/>
            </a:xfrm>
          </p:grpSpPr>
          <p:sp>
            <p:nvSpPr>
              <p:cNvPr id="21517" name="Rectangle 26">
                <a:extLst>
                  <a:ext uri="{FF2B5EF4-FFF2-40B4-BE49-F238E27FC236}">
                    <a16:creationId xmlns:a16="http://schemas.microsoft.com/office/drawing/2014/main" id="{A58DDE33-393B-4F80-A1C0-9E5FE0994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672"/>
                <a:ext cx="1536" cy="1104"/>
              </a:xfrm>
              <a:prstGeom prst="rect">
                <a:avLst/>
              </a:prstGeom>
              <a:noFill/>
              <a:ln w="12700">
                <a:solidFill>
                  <a:srgbClr val="003C75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18" name="Text Box 27">
                <a:extLst>
                  <a:ext uri="{FF2B5EF4-FFF2-40B4-BE49-F238E27FC236}">
                    <a16:creationId xmlns:a16="http://schemas.microsoft.com/office/drawing/2014/main" id="{AAD29F5D-44FA-4034-8BFD-818E8BBC7E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672"/>
                <a:ext cx="120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1600" i="1" dirty="0">
                    <a:solidFill>
                      <a:srgbClr val="003C75"/>
                    </a:solidFill>
                    <a:latin typeface="+mn-lt"/>
                    <a:ea typeface="ヒラギノ角ゴ Pro W3" charset="-128"/>
                    <a:cs typeface="ヒラギノ角ゴ Pro W3" charset="-128"/>
                  </a:rPr>
                  <a:t>Well understood</a:t>
                </a:r>
              </a:p>
            </p:txBody>
          </p:sp>
        </p:grpSp>
        <p:grpSp>
          <p:nvGrpSpPr>
            <p:cNvPr id="17417" name="Group 28">
              <a:extLst>
                <a:ext uri="{FF2B5EF4-FFF2-40B4-BE49-F238E27FC236}">
                  <a16:creationId xmlns:a16="http://schemas.microsoft.com/office/drawing/2014/main" id="{AD48CE84-C18F-42A6-B2C2-C6180E5767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672"/>
              <a:ext cx="2736" cy="1104"/>
              <a:chOff x="1920" y="672"/>
              <a:chExt cx="2736" cy="1104"/>
            </a:xfrm>
          </p:grpSpPr>
          <p:sp>
            <p:nvSpPr>
              <p:cNvPr id="21515" name="Rectangle 29">
                <a:extLst>
                  <a:ext uri="{FF2B5EF4-FFF2-40B4-BE49-F238E27FC236}">
                    <a16:creationId xmlns:a16="http://schemas.microsoft.com/office/drawing/2014/main" id="{DDCA727D-294C-491F-BB61-EA8845A48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672"/>
                <a:ext cx="2736" cy="1104"/>
              </a:xfrm>
              <a:prstGeom prst="rect">
                <a:avLst/>
              </a:prstGeom>
              <a:noFill/>
              <a:ln w="12700">
                <a:solidFill>
                  <a:srgbClr val="003C75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21516" name="Text Box 30">
                <a:extLst>
                  <a:ext uri="{FF2B5EF4-FFF2-40B4-BE49-F238E27FC236}">
                    <a16:creationId xmlns:a16="http://schemas.microsoft.com/office/drawing/2014/main" id="{A671D11B-DF81-4126-94B3-D4972D847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672"/>
                <a:ext cx="96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1600" i="1">
                    <a:solidFill>
                      <a:srgbClr val="003C75"/>
                    </a:solidFill>
                    <a:latin typeface="+mn-lt"/>
                    <a:ea typeface="ヒラギノ角ゴ Pro W3" charset="-128"/>
                    <a:cs typeface="ヒラギノ角ゴ Pro W3" charset="-128"/>
                  </a:rPr>
                  <a:t>Engineering</a:t>
                </a:r>
                <a:endParaRPr lang="en-US" sz="1600">
                  <a:solidFill>
                    <a:srgbClr val="003C75"/>
                  </a:solidFill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</p:grp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CC0480DC-5368-4C1F-829C-478BB255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Conceptual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B1E3C-FA29-43CD-9E6D-5E079B96D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75" indent="4763"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The compiler must provide, for each programming language construct, an implementation (or at least a strategy).</a:t>
            </a:r>
          </a:p>
          <a:p>
            <a:pPr>
              <a:spcBef>
                <a:spcPts val="3000"/>
              </a:spcBef>
              <a:buFont typeface="Times" charset="0"/>
              <a:buNone/>
              <a:defRPr/>
            </a:pPr>
            <a:r>
              <a:rPr lang="en-US" dirty="0"/>
              <a:t>Those constructs fall into two major categories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Individual statements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Procedures </a:t>
            </a:r>
          </a:p>
          <a:p>
            <a:pPr marL="3175" indent="4763"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/>
              <a:t>We will look at procedures first, since they provide the surrounding context needed to implement statements</a:t>
            </a:r>
          </a:p>
          <a:p>
            <a:pPr>
              <a:spcBef>
                <a:spcPts val="3000"/>
              </a:spcBef>
              <a:buFont typeface="Times" charset="0"/>
              <a:buNone/>
              <a:defRPr/>
            </a:pPr>
            <a:r>
              <a:rPr lang="en-US" dirty="0"/>
              <a:t>Object-oriented languages add some peculiar twists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We will treat OOL features in a separate lecture or two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C6B8DE73-B87E-4A06-A3FF-06B6EFBFEC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CE47E9A4-4BEC-4B40-8C70-62F0AEF946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6018829-E198-46FF-8B91-ED5EAB780496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9A0B8-54AA-4DEB-AA80-85493029D6FA}"/>
              </a:ext>
            </a:extLst>
          </p:cNvPr>
          <p:cNvSpPr txBox="1"/>
          <p:nvPr/>
        </p:nvSpPr>
        <p:spPr>
          <a:xfrm>
            <a:off x="3429000" y="5943600"/>
            <a:ext cx="4724400" cy="584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 </a:t>
            </a: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EaC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, Chapter 6 covers implementation of procedures &amp; Chapter 7 covers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B8A1C075-A981-4690-8230-CC2667ADC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Conceptual Overview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EA72DC77-73C2-4089-85D4-E9B6E717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Procedures provide the fundamental abstractions that make programming practical &amp; large software systems possible</a:t>
            </a:r>
          </a:p>
          <a:p>
            <a:pPr eaLnBrk="1" hangingPunct="1"/>
            <a:r>
              <a:rPr lang="en-US" altLang="it-IT"/>
              <a:t>Information hiding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Distinct and separable name spaces</a:t>
            </a:r>
          </a:p>
          <a:p>
            <a:pPr eaLnBrk="1" hangingPunct="1"/>
            <a:r>
              <a:rPr lang="en-US" altLang="it-IT"/>
              <a:t>Uniform interfaces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Hardware does little to support these abstractions</a:t>
            </a:r>
          </a:p>
          <a:p>
            <a:pPr eaLnBrk="1" hangingPunct="1"/>
            <a:r>
              <a:rPr lang="en-US" altLang="it-IT"/>
              <a:t>Part of the compiler’s job is to implement them</a:t>
            </a:r>
          </a:p>
          <a:p>
            <a:pPr lvl="1" eaLnBrk="1" hangingPunct="1"/>
            <a:r>
              <a:rPr lang="en-US" altLang="it-IT" i="1">
                <a:solidFill>
                  <a:srgbClr val="003C75"/>
                </a:solidFill>
              </a:rPr>
              <a:t>Compiler makes good on lies that we tell programmers</a:t>
            </a:r>
          </a:p>
          <a:p>
            <a:pPr eaLnBrk="1" hangingPunct="1"/>
            <a:r>
              <a:rPr lang="en-US" altLang="it-IT"/>
              <a:t>Part of the compiler’s job is to make it efficient</a:t>
            </a:r>
          </a:p>
          <a:p>
            <a:pPr lvl="1" eaLnBrk="1" hangingPunct="1"/>
            <a:r>
              <a:rPr lang="en-US" altLang="it-IT" i="1">
                <a:solidFill>
                  <a:srgbClr val="003C75"/>
                </a:solidFill>
              </a:rPr>
              <a:t>Role of code optimization</a:t>
            </a:r>
          </a:p>
        </p:txBody>
      </p:sp>
      <p:sp>
        <p:nvSpPr>
          <p:cNvPr id="20483" name="Footer Placeholder 3">
            <a:extLst>
              <a:ext uri="{FF2B5EF4-FFF2-40B4-BE49-F238E27FC236}">
                <a16:creationId xmlns:a16="http://schemas.microsoft.com/office/drawing/2014/main" id="{08B0C0D1-AEAC-4831-A2F6-AC40F2581D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8DC144E3-C117-408F-8E2A-B1563252A4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93E0164-2155-44FB-A9F3-57FAF948B1D9}" type="slidenum">
              <a:rPr lang="en-US" altLang="it-IT"/>
              <a:pPr/>
              <a:t>3</a:t>
            </a:fld>
            <a:endParaRPr lang="en-US" alt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3B2B66A9-F186-48DB-A9E3-C5DE6D12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Practical Overview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CA1AF4AC-1B5A-433A-BFE9-1A06E300F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compiler must decide almost everything</a:t>
            </a:r>
          </a:p>
          <a:p>
            <a:pPr eaLnBrk="1" hangingPunct="1"/>
            <a:r>
              <a:rPr lang="en-US" altLang="it-IT"/>
              <a:t>Location for each value (named and unnamed)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Method for computing each result</a:t>
            </a:r>
          </a:p>
          <a:p>
            <a:pPr lvl="1" eaLnBrk="1" hangingPunct="1"/>
            <a:r>
              <a:rPr lang="en-US" altLang="it-IT" i="1">
                <a:solidFill>
                  <a:srgbClr val="003C75"/>
                </a:solidFill>
              </a:rPr>
              <a:t>For example, how should it compute y</a:t>
            </a:r>
            <a:r>
              <a:rPr lang="en-US" altLang="it-IT" sz="1000" i="1" baseline="30000">
                <a:solidFill>
                  <a:srgbClr val="003C75"/>
                </a:solidFill>
              </a:rPr>
              <a:t> </a:t>
            </a:r>
            <a:r>
              <a:rPr lang="en-US" altLang="it-IT" i="1" baseline="30000">
                <a:solidFill>
                  <a:srgbClr val="003C75"/>
                </a:solidFill>
              </a:rPr>
              <a:t>x</a:t>
            </a:r>
            <a:r>
              <a:rPr lang="en-US" altLang="it-IT" i="1">
                <a:solidFill>
                  <a:srgbClr val="003C75"/>
                </a:solidFill>
              </a:rPr>
              <a:t> or a case statement?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Compile-time versus runtime behavior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How to locate objects &amp; values created &amp; manipulated by code that the compiler cannot see?  (</a:t>
            </a:r>
            <a:r>
              <a:rPr lang="en-US" altLang="it-IT" sz="1800" i="1"/>
              <a:t>other files, libraries</a:t>
            </a:r>
            <a:r>
              <a:rPr lang="en-US" altLang="it-IT"/>
              <a:t>)</a:t>
            </a:r>
          </a:p>
          <a:p>
            <a:pPr lvl="1" eaLnBrk="1" hangingPunct="1"/>
            <a:r>
              <a:rPr lang="en-US" altLang="it-IT" i="1">
                <a:solidFill>
                  <a:srgbClr val="003C75"/>
                </a:solidFill>
              </a:rPr>
              <a:t>Dynamic loading and linking add more complications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All of these issues come to the forefront when we consider  the implementation of procedures</a:t>
            </a:r>
          </a:p>
          <a:p>
            <a:pPr eaLnBrk="1" hangingPunct="1">
              <a:spcBef>
                <a:spcPts val="3600"/>
              </a:spcBef>
              <a:buFont typeface="Times" panose="02020603050405020304" pitchFamily="18" charset="0"/>
              <a:buNone/>
            </a:pPr>
            <a:r>
              <a:rPr lang="en-US" altLang="it-IT"/>
              <a:t>Pay close attention to compile-time versus runtime</a:t>
            </a:r>
          </a:p>
          <a:p>
            <a:pPr lvl="1" eaLnBrk="1" hangingPunct="1"/>
            <a:r>
              <a:rPr lang="en-US" altLang="it-IT" i="1">
                <a:solidFill>
                  <a:srgbClr val="003C75"/>
                </a:solidFill>
              </a:rPr>
              <a:t>Confuses students more than any other issue </a:t>
            </a:r>
          </a:p>
          <a:p>
            <a:pPr eaLnBrk="1" hangingPunct="1"/>
            <a:endParaRPr lang="en-US" altLang="it-IT"/>
          </a:p>
        </p:txBody>
      </p:sp>
      <p:sp>
        <p:nvSpPr>
          <p:cNvPr id="21507" name="Footer Placeholder 3">
            <a:extLst>
              <a:ext uri="{FF2B5EF4-FFF2-40B4-BE49-F238E27FC236}">
                <a16:creationId xmlns:a16="http://schemas.microsoft.com/office/drawing/2014/main" id="{36E9CB3C-9C48-404B-8897-141A553DE7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828DE447-4601-4FF6-B75C-9EAD6019FE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1FED401-4DA7-4032-B9F0-44BC5E8D2743}" type="slidenum">
              <a:rPr lang="en-US" altLang="it-IT"/>
              <a:pPr/>
              <a:t>4</a:t>
            </a:fld>
            <a:endParaRPr lang="en-US" alt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C80A0C41-1C42-4377-B85C-70347E245D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EA325E19-CE53-4810-A15A-B8547BC808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E8E37CC-72C7-41B4-82A3-97120165631C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084C116-0463-444A-B6C1-89AB7E981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Abstraction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CC0A8BBA-4645-4A00-BF6D-A514CB099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175" indent="4763" eaLnBrk="1" hangingPunct="1"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/>
              <a:t>The compiler must deal with interface between </a:t>
            </a:r>
            <a:r>
              <a:rPr lang="en-US" dirty="0">
                <a:solidFill>
                  <a:srgbClr val="003C75"/>
                </a:solidFill>
              </a:rPr>
              <a:t>compile time </a:t>
            </a:r>
            <a:r>
              <a:rPr lang="en-US" dirty="0"/>
              <a:t>and </a:t>
            </a:r>
            <a:r>
              <a:rPr lang="en-US" dirty="0">
                <a:solidFill>
                  <a:srgbClr val="003C75"/>
                </a:solidFill>
              </a:rPr>
              <a:t>run time 				  </a:t>
            </a:r>
            <a:r>
              <a:rPr lang="en-US" dirty="0"/>
              <a:t>(</a:t>
            </a:r>
            <a:r>
              <a:rPr lang="en-US" sz="1800" i="1" dirty="0"/>
              <a:t>static</a:t>
            </a:r>
            <a:r>
              <a:rPr lang="en-US" sz="1800" dirty="0"/>
              <a:t> versus </a:t>
            </a:r>
            <a:r>
              <a:rPr lang="en-US" sz="1800" i="1" dirty="0"/>
              <a:t>dynamic</a:t>
            </a:r>
            <a:r>
              <a:rPr lang="en-US" dirty="0"/>
              <a:t>)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Most of the tricky issues arise in implementing “procedures”</a:t>
            </a:r>
          </a:p>
          <a:p>
            <a:pPr eaLnBrk="1" hangingPunct="1">
              <a:spcBef>
                <a:spcPts val="3000"/>
              </a:spcBef>
              <a:buFont typeface="Times" charset="0"/>
              <a:buNone/>
              <a:defRPr/>
            </a:pPr>
            <a:r>
              <a:rPr lang="en-US" dirty="0"/>
              <a:t>Issues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Compile-time versus run-time behavior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Assign storage for </a:t>
            </a:r>
            <a:r>
              <a:rPr lang="en-US" u="sng" dirty="0"/>
              <a:t>everything</a:t>
            </a:r>
            <a:r>
              <a:rPr lang="en-US" dirty="0"/>
              <a:t> &amp; map names to addresses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Generate code to address any value</a:t>
            </a:r>
          </a:p>
          <a:p>
            <a:pPr lvl="1" eaLnBrk="1" hangingPunct="1">
              <a:defRPr/>
            </a:pPr>
            <a:r>
              <a:rPr lang="en-US" i="1" dirty="0">
                <a:solidFill>
                  <a:srgbClr val="003C75"/>
                </a:solidFill>
              </a:rPr>
              <a:t>Compiler knows where some of them are</a:t>
            </a:r>
          </a:p>
          <a:p>
            <a:pPr lvl="1" eaLnBrk="1" hangingPunct="1">
              <a:defRPr/>
            </a:pPr>
            <a:r>
              <a:rPr lang="en-US" i="1" dirty="0">
                <a:solidFill>
                  <a:srgbClr val="003C75"/>
                </a:solidFill>
              </a:rPr>
              <a:t>Compiler cannot know where others are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Interfaces with other programs, other languages, &amp; the </a:t>
            </a:r>
            <a:r>
              <a:rPr lang="en-US" sz="1800" dirty="0"/>
              <a:t>OS</a:t>
            </a:r>
            <a:endParaRPr lang="en-US" dirty="0"/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Efficiency of implementation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C6D18EFE-AB35-4E63-93AF-A72783E4A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1BCB303D-0984-48B6-AAFD-E04452AA06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94B3658-1119-4A58-BE04-D253B94E6F13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88B62E3-24AF-4CC4-A2A0-FC4DDA14B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&amp; Its Three Abstractions</a:t>
            </a:r>
          </a:p>
        </p:txBody>
      </p:sp>
      <p:sp>
        <p:nvSpPr>
          <p:cNvPr id="24580" name="Rectangle 6">
            <a:extLst>
              <a:ext uri="{FF2B5EF4-FFF2-40B4-BE49-F238E27FC236}">
                <a16:creationId xmlns:a16="http://schemas.microsoft.com/office/drawing/2014/main" id="{89A5CF18-01A7-4941-9A78-B9813FF83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compiler produces code for each procedure</a:t>
            </a:r>
          </a:p>
          <a:p>
            <a:pPr eaLnBrk="1" hangingPunct="1">
              <a:spcBef>
                <a:spcPct val="90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/>
              <a:t>The individual code bodies must fit together to form a working program</a:t>
            </a:r>
          </a:p>
        </p:txBody>
      </p:sp>
      <p:grpSp>
        <p:nvGrpSpPr>
          <p:cNvPr id="24581" name="Group 7">
            <a:extLst>
              <a:ext uri="{FF2B5EF4-FFF2-40B4-BE49-F238E27FC236}">
                <a16:creationId xmlns:a16="http://schemas.microsoft.com/office/drawing/2014/main" id="{6969919D-3359-4942-AB18-C0A92F929CE3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28800"/>
            <a:ext cx="4432300" cy="2984500"/>
            <a:chOff x="480" y="1152"/>
            <a:chExt cx="2792" cy="1880"/>
          </a:xfrm>
        </p:grpSpPr>
        <p:sp>
          <p:nvSpPr>
            <p:cNvPr id="24582" name="Freeform 3">
              <a:extLst>
                <a:ext uri="{FF2B5EF4-FFF2-40B4-BE49-F238E27FC236}">
                  <a16:creationId xmlns:a16="http://schemas.microsoft.com/office/drawing/2014/main" id="{D3AB4F2D-3916-4F9F-8327-2708E52E4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152"/>
              <a:ext cx="2792" cy="1880"/>
            </a:xfrm>
            <a:custGeom>
              <a:avLst/>
              <a:gdLst>
                <a:gd name="T0" fmla="*/ 144 w 2792"/>
                <a:gd name="T1" fmla="*/ 784 h 1880"/>
                <a:gd name="T2" fmla="*/ 48 w 2792"/>
                <a:gd name="T3" fmla="*/ 496 h 1880"/>
                <a:gd name="T4" fmla="*/ 432 w 2792"/>
                <a:gd name="T5" fmla="*/ 448 h 1880"/>
                <a:gd name="T6" fmla="*/ 384 w 2792"/>
                <a:gd name="T7" fmla="*/ 64 h 1880"/>
                <a:gd name="T8" fmla="*/ 816 w 2792"/>
                <a:gd name="T9" fmla="*/ 64 h 1880"/>
                <a:gd name="T10" fmla="*/ 912 w 2792"/>
                <a:gd name="T11" fmla="*/ 256 h 1880"/>
                <a:gd name="T12" fmla="*/ 1296 w 2792"/>
                <a:gd name="T13" fmla="*/ 64 h 1880"/>
                <a:gd name="T14" fmla="*/ 1440 w 2792"/>
                <a:gd name="T15" fmla="*/ 64 h 1880"/>
                <a:gd name="T16" fmla="*/ 1536 w 2792"/>
                <a:gd name="T17" fmla="*/ 160 h 1880"/>
                <a:gd name="T18" fmla="*/ 1680 w 2792"/>
                <a:gd name="T19" fmla="*/ 352 h 1880"/>
                <a:gd name="T20" fmla="*/ 1920 w 2792"/>
                <a:gd name="T21" fmla="*/ 304 h 1880"/>
                <a:gd name="T22" fmla="*/ 2160 w 2792"/>
                <a:gd name="T23" fmla="*/ 160 h 1880"/>
                <a:gd name="T24" fmla="*/ 2496 w 2792"/>
                <a:gd name="T25" fmla="*/ 112 h 1880"/>
                <a:gd name="T26" fmla="*/ 2688 w 2792"/>
                <a:gd name="T27" fmla="*/ 304 h 1880"/>
                <a:gd name="T28" fmla="*/ 2640 w 2792"/>
                <a:gd name="T29" fmla="*/ 544 h 1880"/>
                <a:gd name="T30" fmla="*/ 2544 w 2792"/>
                <a:gd name="T31" fmla="*/ 736 h 1880"/>
                <a:gd name="T32" fmla="*/ 2640 w 2792"/>
                <a:gd name="T33" fmla="*/ 880 h 1880"/>
                <a:gd name="T34" fmla="*/ 2736 w 2792"/>
                <a:gd name="T35" fmla="*/ 1072 h 1880"/>
                <a:gd name="T36" fmla="*/ 2736 w 2792"/>
                <a:gd name="T37" fmla="*/ 1264 h 1880"/>
                <a:gd name="T38" fmla="*/ 2400 w 2792"/>
                <a:gd name="T39" fmla="*/ 1504 h 1880"/>
                <a:gd name="T40" fmla="*/ 1776 w 2792"/>
                <a:gd name="T41" fmla="*/ 1456 h 1880"/>
                <a:gd name="T42" fmla="*/ 1296 w 2792"/>
                <a:gd name="T43" fmla="*/ 1600 h 1880"/>
                <a:gd name="T44" fmla="*/ 672 w 2792"/>
                <a:gd name="T45" fmla="*/ 1840 h 1880"/>
                <a:gd name="T46" fmla="*/ 96 w 2792"/>
                <a:gd name="T47" fmla="*/ 1360 h 1880"/>
                <a:gd name="T48" fmla="*/ 336 w 2792"/>
                <a:gd name="T49" fmla="*/ 976 h 1880"/>
                <a:gd name="T50" fmla="*/ 144 w 2792"/>
                <a:gd name="T51" fmla="*/ 784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19050" algn="ctr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4583" name="Text Box 4">
              <a:extLst>
                <a:ext uri="{FF2B5EF4-FFF2-40B4-BE49-F238E27FC236}">
                  <a16:creationId xmlns:a16="http://schemas.microsoft.com/office/drawing/2014/main" id="{6313BBB1-534B-4F79-A968-352E1DBA1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1792"/>
              <a:ext cx="1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2000">
                  <a:solidFill>
                    <a:srgbClr val="003C75"/>
                  </a:solidFill>
                </a:rPr>
                <a:t>Compiled Code</a:t>
              </a:r>
              <a:endParaRPr lang="en-US" altLang="it-IT" sz="2400">
                <a:solidFill>
                  <a:srgbClr val="003C75"/>
                </a:solidFill>
              </a:endParaRPr>
            </a:p>
          </p:txBody>
        </p:sp>
        <p:sp>
          <p:nvSpPr>
            <p:cNvPr id="24584" name="Text Box 5">
              <a:extLst>
                <a:ext uri="{FF2B5EF4-FFF2-40B4-BE49-F238E27FC236}">
                  <a16:creationId xmlns:a16="http://schemas.microsoft.com/office/drawing/2014/main" id="{2A85A59E-F2AE-4065-B00A-30A167F28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96"/>
              <a:ext cx="9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Procedure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85DF165D-D179-458D-882B-65014C4A1B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D0255991-A26E-4D0E-8218-CB6FF00FDD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B69930E-AA69-42AE-94FA-DAE78F022542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763C3C9-C589-4CC1-976E-A39E32045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&amp; Its Three Abstractions</a:t>
            </a:r>
          </a:p>
        </p:txBody>
      </p:sp>
      <p:sp>
        <p:nvSpPr>
          <p:cNvPr id="26628" name="Rectangle 8">
            <a:extLst>
              <a:ext uri="{FF2B5EF4-FFF2-40B4-BE49-F238E27FC236}">
                <a16:creationId xmlns:a16="http://schemas.microsoft.com/office/drawing/2014/main" id="{B744C473-4F1E-479C-82C5-1F0DEC193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/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/>
              <a:t>Each procedure inherits a set of names </a:t>
            </a:r>
          </a:p>
          <a:p>
            <a:pPr eaLnBrk="1" hangingPunct="1">
              <a:buSzPct val="95000"/>
              <a:buFont typeface="Symbol" panose="05050102010706020507" pitchFamily="18" charset="2"/>
              <a:buChar char=""/>
            </a:pPr>
            <a:r>
              <a:rPr lang="en-US" altLang="it-IT"/>
              <a:t>Variables, values, procedures, objects, locations, …</a:t>
            </a:r>
          </a:p>
          <a:p>
            <a:pPr eaLnBrk="1" hangingPunct="1">
              <a:buSzPct val="95000"/>
              <a:buFont typeface="Symbol" panose="05050102010706020507" pitchFamily="18" charset="2"/>
              <a:buChar char=""/>
            </a:pPr>
            <a:r>
              <a:rPr lang="en-US" altLang="it-IT"/>
              <a:t>Clean slate for new names, “scoping” can hide other names</a:t>
            </a:r>
          </a:p>
        </p:txBody>
      </p:sp>
      <p:grpSp>
        <p:nvGrpSpPr>
          <p:cNvPr id="26629" name="Group 18">
            <a:extLst>
              <a:ext uri="{FF2B5EF4-FFF2-40B4-BE49-F238E27FC236}">
                <a16:creationId xmlns:a16="http://schemas.microsoft.com/office/drawing/2014/main" id="{E6563F52-BA65-4CAB-8F79-6F4878B2A691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884613"/>
            <a:ext cx="3124200" cy="1220787"/>
            <a:chOff x="3408" y="2351"/>
            <a:chExt cx="1968" cy="769"/>
          </a:xfrm>
        </p:grpSpPr>
        <p:sp>
          <p:nvSpPr>
            <p:cNvPr id="26636" name="Text Box 11">
              <a:extLst>
                <a:ext uri="{FF2B5EF4-FFF2-40B4-BE49-F238E27FC236}">
                  <a16:creationId xmlns:a16="http://schemas.microsoft.com/office/drawing/2014/main" id="{5C9E106E-2002-4A85-B80F-34205A44E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98"/>
              <a:ext cx="1392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“Naming” includes the ability to find and access objects in memory</a:t>
              </a:r>
            </a:p>
          </p:txBody>
        </p:sp>
        <p:sp>
          <p:nvSpPr>
            <p:cNvPr id="26637" name="AutoShape 12">
              <a:extLst>
                <a:ext uri="{FF2B5EF4-FFF2-40B4-BE49-F238E27FC236}">
                  <a16:creationId xmlns:a16="http://schemas.microsoft.com/office/drawing/2014/main" id="{CD69A8F5-50D6-4CB0-91C1-B1F8FC63D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2351"/>
              <a:ext cx="144" cy="768"/>
            </a:xfrm>
            <a:prstGeom prst="leftBrace">
              <a:avLst>
                <a:gd name="adj1" fmla="val 44444"/>
                <a:gd name="adj2" fmla="val 50000"/>
              </a:avLst>
            </a:prstGeom>
            <a:noFill/>
            <a:ln w="12700" algn="ctr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6638" name="Freeform 13">
              <a:extLst>
                <a:ext uri="{FF2B5EF4-FFF2-40B4-BE49-F238E27FC236}">
                  <a16:creationId xmlns:a16="http://schemas.microsoft.com/office/drawing/2014/main" id="{D1098ABD-EAF3-40D1-914F-676941D28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736"/>
              <a:ext cx="480" cy="384"/>
            </a:xfrm>
            <a:custGeom>
              <a:avLst/>
              <a:gdLst>
                <a:gd name="T0" fmla="*/ 1172 w 384"/>
                <a:gd name="T1" fmla="*/ 0 h 384"/>
                <a:gd name="T2" fmla="*/ 439 w 384"/>
                <a:gd name="T3" fmla="*/ 48 h 384"/>
                <a:gd name="T4" fmla="*/ 586 w 384"/>
                <a:gd name="T5" fmla="*/ 240 h 384"/>
                <a:gd name="T6" fmla="*/ 0 w 384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384"/>
                <a:gd name="T14" fmla="*/ 384 w 384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384">
                  <a:moveTo>
                    <a:pt x="384" y="0"/>
                  </a:moveTo>
                  <a:cubicBezTo>
                    <a:pt x="280" y="4"/>
                    <a:pt x="176" y="8"/>
                    <a:pt x="144" y="48"/>
                  </a:cubicBezTo>
                  <a:cubicBezTo>
                    <a:pt x="112" y="88"/>
                    <a:pt x="216" y="184"/>
                    <a:pt x="192" y="240"/>
                  </a:cubicBezTo>
                  <a:cubicBezTo>
                    <a:pt x="168" y="296"/>
                    <a:pt x="84" y="340"/>
                    <a:pt x="0" y="384"/>
                  </a:cubicBezTo>
                </a:path>
              </a:pathLst>
            </a:custGeom>
            <a:noFill/>
            <a:ln w="12700" algn="ctr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26630" name="Text Box 5">
            <a:extLst>
              <a:ext uri="{FF2B5EF4-FFF2-40B4-BE49-F238E27FC236}">
                <a16:creationId xmlns:a16="http://schemas.microsoft.com/office/drawing/2014/main" id="{834A66F1-DB35-45D4-9801-7E56C34B4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192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Naming Environment</a:t>
            </a:r>
          </a:p>
        </p:txBody>
      </p:sp>
      <p:sp>
        <p:nvSpPr>
          <p:cNvPr id="26631" name="AutoShape 6">
            <a:extLst>
              <a:ext uri="{FF2B5EF4-FFF2-40B4-BE49-F238E27FC236}">
                <a16:creationId xmlns:a16="http://schemas.microsoft.com/office/drawing/2014/main" id="{3984FA7A-2D0A-4DA4-8B86-0695147F6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47825"/>
            <a:ext cx="304800" cy="444500"/>
          </a:xfrm>
          <a:prstGeom prst="downArrow">
            <a:avLst>
              <a:gd name="adj1" fmla="val 50000"/>
              <a:gd name="adj2" fmla="val 3645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pSp>
        <p:nvGrpSpPr>
          <p:cNvPr id="26632" name="Group 14">
            <a:extLst>
              <a:ext uri="{FF2B5EF4-FFF2-40B4-BE49-F238E27FC236}">
                <a16:creationId xmlns:a16="http://schemas.microsoft.com/office/drawing/2014/main" id="{CC6D9B51-00F2-44E6-A949-39E16356973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28800"/>
            <a:ext cx="4432300" cy="2984500"/>
            <a:chOff x="480" y="1152"/>
            <a:chExt cx="2792" cy="1880"/>
          </a:xfrm>
        </p:grpSpPr>
        <p:sp>
          <p:nvSpPr>
            <p:cNvPr id="26633" name="Freeform 15">
              <a:extLst>
                <a:ext uri="{FF2B5EF4-FFF2-40B4-BE49-F238E27FC236}">
                  <a16:creationId xmlns:a16="http://schemas.microsoft.com/office/drawing/2014/main" id="{3D591409-636A-40D2-B1AB-672B3E338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152"/>
              <a:ext cx="2792" cy="1880"/>
            </a:xfrm>
            <a:custGeom>
              <a:avLst/>
              <a:gdLst>
                <a:gd name="T0" fmla="*/ 144 w 2792"/>
                <a:gd name="T1" fmla="*/ 784 h 1880"/>
                <a:gd name="T2" fmla="*/ 48 w 2792"/>
                <a:gd name="T3" fmla="*/ 496 h 1880"/>
                <a:gd name="T4" fmla="*/ 432 w 2792"/>
                <a:gd name="T5" fmla="*/ 448 h 1880"/>
                <a:gd name="T6" fmla="*/ 384 w 2792"/>
                <a:gd name="T7" fmla="*/ 64 h 1880"/>
                <a:gd name="T8" fmla="*/ 816 w 2792"/>
                <a:gd name="T9" fmla="*/ 64 h 1880"/>
                <a:gd name="T10" fmla="*/ 912 w 2792"/>
                <a:gd name="T11" fmla="*/ 256 h 1880"/>
                <a:gd name="T12" fmla="*/ 1296 w 2792"/>
                <a:gd name="T13" fmla="*/ 64 h 1880"/>
                <a:gd name="T14" fmla="*/ 1440 w 2792"/>
                <a:gd name="T15" fmla="*/ 64 h 1880"/>
                <a:gd name="T16" fmla="*/ 1536 w 2792"/>
                <a:gd name="T17" fmla="*/ 160 h 1880"/>
                <a:gd name="T18" fmla="*/ 1680 w 2792"/>
                <a:gd name="T19" fmla="*/ 352 h 1880"/>
                <a:gd name="T20" fmla="*/ 1920 w 2792"/>
                <a:gd name="T21" fmla="*/ 304 h 1880"/>
                <a:gd name="T22" fmla="*/ 2160 w 2792"/>
                <a:gd name="T23" fmla="*/ 160 h 1880"/>
                <a:gd name="T24" fmla="*/ 2496 w 2792"/>
                <a:gd name="T25" fmla="*/ 112 h 1880"/>
                <a:gd name="T26" fmla="*/ 2688 w 2792"/>
                <a:gd name="T27" fmla="*/ 304 h 1880"/>
                <a:gd name="T28" fmla="*/ 2640 w 2792"/>
                <a:gd name="T29" fmla="*/ 544 h 1880"/>
                <a:gd name="T30" fmla="*/ 2544 w 2792"/>
                <a:gd name="T31" fmla="*/ 736 h 1880"/>
                <a:gd name="T32" fmla="*/ 2640 w 2792"/>
                <a:gd name="T33" fmla="*/ 880 h 1880"/>
                <a:gd name="T34" fmla="*/ 2736 w 2792"/>
                <a:gd name="T35" fmla="*/ 1072 h 1880"/>
                <a:gd name="T36" fmla="*/ 2736 w 2792"/>
                <a:gd name="T37" fmla="*/ 1264 h 1880"/>
                <a:gd name="T38" fmla="*/ 2400 w 2792"/>
                <a:gd name="T39" fmla="*/ 1504 h 1880"/>
                <a:gd name="T40" fmla="*/ 1776 w 2792"/>
                <a:gd name="T41" fmla="*/ 1456 h 1880"/>
                <a:gd name="T42" fmla="*/ 1296 w 2792"/>
                <a:gd name="T43" fmla="*/ 1600 h 1880"/>
                <a:gd name="T44" fmla="*/ 672 w 2792"/>
                <a:gd name="T45" fmla="*/ 1840 h 1880"/>
                <a:gd name="T46" fmla="*/ 96 w 2792"/>
                <a:gd name="T47" fmla="*/ 1360 h 1880"/>
                <a:gd name="T48" fmla="*/ 336 w 2792"/>
                <a:gd name="T49" fmla="*/ 976 h 1880"/>
                <a:gd name="T50" fmla="*/ 144 w 2792"/>
                <a:gd name="T51" fmla="*/ 784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19050" algn="ctr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6634" name="Text Box 16">
              <a:extLst>
                <a:ext uri="{FF2B5EF4-FFF2-40B4-BE49-F238E27FC236}">
                  <a16:creationId xmlns:a16="http://schemas.microsoft.com/office/drawing/2014/main" id="{80BF046B-8484-4C02-899D-A572EFF2C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1792"/>
              <a:ext cx="1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2000">
                  <a:solidFill>
                    <a:srgbClr val="003C75"/>
                  </a:solidFill>
                </a:rPr>
                <a:t>Compiled Code</a:t>
              </a:r>
              <a:endParaRPr lang="en-US" altLang="it-IT" sz="2400">
                <a:solidFill>
                  <a:srgbClr val="003C75"/>
                </a:solidFill>
              </a:endParaRPr>
            </a:p>
          </p:txBody>
        </p:sp>
        <p:sp>
          <p:nvSpPr>
            <p:cNvPr id="26635" name="Text Box 17">
              <a:extLst>
                <a:ext uri="{FF2B5EF4-FFF2-40B4-BE49-F238E27FC236}">
                  <a16:creationId xmlns:a16="http://schemas.microsoft.com/office/drawing/2014/main" id="{5FD42B22-127B-42A3-B4B9-6A9FD8000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96"/>
              <a:ext cx="9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Procedure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53D9D055-E428-45E9-8FA8-28262F4949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A772DE27-A06C-4403-8516-8E9B67C33C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B5A3C57-3C33-4471-A231-809D459C3404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8675" name="Rectangle 10">
            <a:extLst>
              <a:ext uri="{FF2B5EF4-FFF2-40B4-BE49-F238E27FC236}">
                <a16:creationId xmlns:a16="http://schemas.microsoft.com/office/drawing/2014/main" id="{781FD47B-1D1D-4D18-901F-9EACC397C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/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/>
              <a:t>Each procedure inherits a control history </a:t>
            </a:r>
          </a:p>
          <a:p>
            <a:pPr eaLnBrk="1" hangingPunct="1">
              <a:buSzPct val="95000"/>
              <a:buFont typeface="Symbol" panose="05050102010706020507" pitchFamily="18" charset="2"/>
              <a:buChar char=""/>
            </a:pPr>
            <a:r>
              <a:rPr lang="en-US" altLang="it-IT"/>
              <a:t>Chain of calls that led to its invocation</a:t>
            </a:r>
          </a:p>
          <a:p>
            <a:pPr eaLnBrk="1" hangingPunct="1">
              <a:buSzPct val="95000"/>
              <a:buFont typeface="Symbol" panose="05050102010706020507" pitchFamily="18" charset="2"/>
              <a:buChar char=""/>
            </a:pPr>
            <a:r>
              <a:rPr lang="en-US" altLang="it-IT"/>
              <a:t>Mechanism to return control to caller</a:t>
            </a: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49931298-2C51-4D25-9004-A120E7E20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&amp; Its Three Abstractions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20C28F39-E32F-48DD-B8C4-37D82549F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60463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Naming Environment</a:t>
            </a:r>
          </a:p>
        </p:txBody>
      </p:sp>
      <p:sp>
        <p:nvSpPr>
          <p:cNvPr id="28678" name="AutoShape 6">
            <a:extLst>
              <a:ext uri="{FF2B5EF4-FFF2-40B4-BE49-F238E27FC236}">
                <a16:creationId xmlns:a16="http://schemas.microsoft.com/office/drawing/2014/main" id="{39FEABF8-BB29-4AB6-B018-CDD0E9D16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589088"/>
            <a:ext cx="304800" cy="444500"/>
          </a:xfrm>
          <a:prstGeom prst="downArrow">
            <a:avLst>
              <a:gd name="adj1" fmla="val 50000"/>
              <a:gd name="adj2" fmla="val 3645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8679" name="Text Box 7">
            <a:extLst>
              <a:ext uri="{FF2B5EF4-FFF2-40B4-BE49-F238E27FC236}">
                <a16:creationId xmlns:a16="http://schemas.microsoft.com/office/drawing/2014/main" id="{399FC8AC-B641-430F-9576-4496F0458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062038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Control History</a:t>
            </a:r>
          </a:p>
        </p:txBody>
      </p:sp>
      <p:sp>
        <p:nvSpPr>
          <p:cNvPr id="28680" name="AutoShape 8">
            <a:extLst>
              <a:ext uri="{FF2B5EF4-FFF2-40B4-BE49-F238E27FC236}">
                <a16:creationId xmlns:a16="http://schemas.microsoft.com/office/drawing/2014/main" id="{4E24AC58-7181-4C45-A4D5-83517EC90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1460500"/>
            <a:ext cx="304800" cy="520700"/>
          </a:xfrm>
          <a:prstGeom prst="downArrow">
            <a:avLst>
              <a:gd name="adj1" fmla="val 50000"/>
              <a:gd name="adj2" fmla="val 4270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8681" name="Text Box 11">
            <a:extLst>
              <a:ext uri="{FF2B5EF4-FFF2-40B4-BE49-F238E27FC236}">
                <a16:creationId xmlns:a16="http://schemas.microsoft.com/office/drawing/2014/main" id="{E0241774-DEC7-446B-9473-9DAC8B140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5249863"/>
            <a:ext cx="22860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Some notion of parameterization</a:t>
            </a:r>
          </a:p>
          <a:p>
            <a:pPr>
              <a:spcBef>
                <a:spcPct val="15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(ties back to naming)</a:t>
            </a:r>
            <a:endParaRPr lang="en-US" altLang="it-IT">
              <a:solidFill>
                <a:srgbClr val="003C75"/>
              </a:solidFill>
            </a:endParaRPr>
          </a:p>
        </p:txBody>
      </p:sp>
      <p:sp>
        <p:nvSpPr>
          <p:cNvPr id="28682" name="AutoShape 12">
            <a:extLst>
              <a:ext uri="{FF2B5EF4-FFF2-40B4-BE49-F238E27FC236}">
                <a16:creationId xmlns:a16="http://schemas.microsoft.com/office/drawing/2014/main" id="{636DDB1C-7FD7-419D-8C4A-6B478D4E8796}"/>
              </a:ext>
            </a:extLst>
          </p:cNvPr>
          <p:cNvSpPr>
            <a:spLocks/>
          </p:cNvSpPr>
          <p:nvPr/>
        </p:nvSpPr>
        <p:spPr bwMode="auto">
          <a:xfrm>
            <a:off x="5853113" y="5395913"/>
            <a:ext cx="304800" cy="762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12700" algn="ctr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pSp>
        <p:nvGrpSpPr>
          <p:cNvPr id="28683" name="Group 13">
            <a:extLst>
              <a:ext uri="{FF2B5EF4-FFF2-40B4-BE49-F238E27FC236}">
                <a16:creationId xmlns:a16="http://schemas.microsoft.com/office/drawing/2014/main" id="{097A25D6-FF26-4A2A-8560-C05D9EB6057D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28800"/>
            <a:ext cx="4432300" cy="2984500"/>
            <a:chOff x="480" y="1152"/>
            <a:chExt cx="2792" cy="1880"/>
          </a:xfrm>
        </p:grpSpPr>
        <p:sp>
          <p:nvSpPr>
            <p:cNvPr id="28684" name="Freeform 14">
              <a:extLst>
                <a:ext uri="{FF2B5EF4-FFF2-40B4-BE49-F238E27FC236}">
                  <a16:creationId xmlns:a16="http://schemas.microsoft.com/office/drawing/2014/main" id="{31EF77AC-29C0-42E5-804C-FCFFACAC0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152"/>
              <a:ext cx="2792" cy="1880"/>
            </a:xfrm>
            <a:custGeom>
              <a:avLst/>
              <a:gdLst>
                <a:gd name="T0" fmla="*/ 144 w 2792"/>
                <a:gd name="T1" fmla="*/ 784 h 1880"/>
                <a:gd name="T2" fmla="*/ 48 w 2792"/>
                <a:gd name="T3" fmla="*/ 496 h 1880"/>
                <a:gd name="T4" fmla="*/ 432 w 2792"/>
                <a:gd name="T5" fmla="*/ 448 h 1880"/>
                <a:gd name="T6" fmla="*/ 384 w 2792"/>
                <a:gd name="T7" fmla="*/ 64 h 1880"/>
                <a:gd name="T8" fmla="*/ 816 w 2792"/>
                <a:gd name="T9" fmla="*/ 64 h 1880"/>
                <a:gd name="T10" fmla="*/ 912 w 2792"/>
                <a:gd name="T11" fmla="*/ 256 h 1880"/>
                <a:gd name="T12" fmla="*/ 1296 w 2792"/>
                <a:gd name="T13" fmla="*/ 64 h 1880"/>
                <a:gd name="T14" fmla="*/ 1440 w 2792"/>
                <a:gd name="T15" fmla="*/ 64 h 1880"/>
                <a:gd name="T16" fmla="*/ 1536 w 2792"/>
                <a:gd name="T17" fmla="*/ 160 h 1880"/>
                <a:gd name="T18" fmla="*/ 1680 w 2792"/>
                <a:gd name="T19" fmla="*/ 352 h 1880"/>
                <a:gd name="T20" fmla="*/ 1920 w 2792"/>
                <a:gd name="T21" fmla="*/ 304 h 1880"/>
                <a:gd name="T22" fmla="*/ 2160 w 2792"/>
                <a:gd name="T23" fmla="*/ 160 h 1880"/>
                <a:gd name="T24" fmla="*/ 2496 w 2792"/>
                <a:gd name="T25" fmla="*/ 112 h 1880"/>
                <a:gd name="T26" fmla="*/ 2688 w 2792"/>
                <a:gd name="T27" fmla="*/ 304 h 1880"/>
                <a:gd name="T28" fmla="*/ 2640 w 2792"/>
                <a:gd name="T29" fmla="*/ 544 h 1880"/>
                <a:gd name="T30" fmla="*/ 2544 w 2792"/>
                <a:gd name="T31" fmla="*/ 736 h 1880"/>
                <a:gd name="T32" fmla="*/ 2640 w 2792"/>
                <a:gd name="T33" fmla="*/ 880 h 1880"/>
                <a:gd name="T34" fmla="*/ 2736 w 2792"/>
                <a:gd name="T35" fmla="*/ 1072 h 1880"/>
                <a:gd name="T36" fmla="*/ 2736 w 2792"/>
                <a:gd name="T37" fmla="*/ 1264 h 1880"/>
                <a:gd name="T38" fmla="*/ 2400 w 2792"/>
                <a:gd name="T39" fmla="*/ 1504 h 1880"/>
                <a:gd name="T40" fmla="*/ 1776 w 2792"/>
                <a:gd name="T41" fmla="*/ 1456 h 1880"/>
                <a:gd name="T42" fmla="*/ 1296 w 2792"/>
                <a:gd name="T43" fmla="*/ 1600 h 1880"/>
                <a:gd name="T44" fmla="*/ 672 w 2792"/>
                <a:gd name="T45" fmla="*/ 1840 h 1880"/>
                <a:gd name="T46" fmla="*/ 96 w 2792"/>
                <a:gd name="T47" fmla="*/ 1360 h 1880"/>
                <a:gd name="T48" fmla="*/ 336 w 2792"/>
                <a:gd name="T49" fmla="*/ 976 h 1880"/>
                <a:gd name="T50" fmla="*/ 144 w 2792"/>
                <a:gd name="T51" fmla="*/ 784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19050" algn="ctr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685" name="Text Box 15">
              <a:extLst>
                <a:ext uri="{FF2B5EF4-FFF2-40B4-BE49-F238E27FC236}">
                  <a16:creationId xmlns:a16="http://schemas.microsoft.com/office/drawing/2014/main" id="{71A76F26-C62B-46E5-ADFE-FA04D00C5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1792"/>
              <a:ext cx="1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2000">
                  <a:solidFill>
                    <a:srgbClr val="003C75"/>
                  </a:solidFill>
                </a:rPr>
                <a:t>Compiled Code</a:t>
              </a:r>
              <a:endParaRPr lang="en-US" altLang="it-IT" sz="2400">
                <a:solidFill>
                  <a:srgbClr val="003C75"/>
                </a:solidFill>
              </a:endParaRPr>
            </a:p>
          </p:txBody>
        </p:sp>
        <p:sp>
          <p:nvSpPr>
            <p:cNvPr id="28686" name="Text Box 16">
              <a:extLst>
                <a:ext uri="{FF2B5EF4-FFF2-40B4-BE49-F238E27FC236}">
                  <a16:creationId xmlns:a16="http://schemas.microsoft.com/office/drawing/2014/main" id="{EC6777B4-4B69-4917-A477-B132D3691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96"/>
              <a:ext cx="9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Procedure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5B739D95-FCED-4CF9-8112-9B44B0D157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9DE31230-6DD1-4D46-A20F-B95D070B9B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7014D9D-686B-4D4E-8EA1-87D885F9BC3F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0723" name="Rectangle 10">
            <a:extLst>
              <a:ext uri="{FF2B5EF4-FFF2-40B4-BE49-F238E27FC236}">
                <a16:creationId xmlns:a16="http://schemas.microsoft.com/office/drawing/2014/main" id="{A1F4AA89-B6C6-455A-A162-867F370F0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/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Each procedure has access to external interfaces</a:t>
            </a:r>
          </a:p>
          <a:p>
            <a:pPr eaLnBrk="1" hangingPunct="1">
              <a:buSzPct val="95000"/>
              <a:buFont typeface="Symbol" panose="05050102010706020507" pitchFamily="18" charset="2"/>
              <a:buChar char=""/>
            </a:pPr>
            <a:r>
              <a:rPr lang="en-US" altLang="it-IT"/>
              <a:t>Access by name, with parameters  </a:t>
            </a:r>
            <a:r>
              <a:rPr lang="en-US" altLang="it-IT" sz="1600" i="1">
                <a:solidFill>
                  <a:srgbClr val="003C75"/>
                </a:solidFill>
              </a:rPr>
              <a:t>(may include dynamic link &amp; load)</a:t>
            </a:r>
            <a:endParaRPr lang="en-US" altLang="it-IT">
              <a:solidFill>
                <a:srgbClr val="003C75"/>
              </a:solidFill>
            </a:endParaRPr>
          </a:p>
          <a:p>
            <a:pPr eaLnBrk="1" hangingPunct="1">
              <a:buSzPct val="95000"/>
              <a:buFont typeface="Symbol" panose="05050102010706020507" pitchFamily="18" charset="2"/>
              <a:buChar char=""/>
            </a:pPr>
            <a:r>
              <a:rPr lang="en-US" altLang="it-IT"/>
              <a:t>Protection for both sides of the interface 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A0761CAC-350B-4B10-9059-B40671D3A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&amp; Its Three Abstractions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343120AA-BC4B-4221-8E58-8DE4ECCE9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60463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Naming Environment</a:t>
            </a:r>
          </a:p>
        </p:txBody>
      </p:sp>
      <p:sp>
        <p:nvSpPr>
          <p:cNvPr id="30726" name="AutoShape 6">
            <a:extLst>
              <a:ext uri="{FF2B5EF4-FFF2-40B4-BE49-F238E27FC236}">
                <a16:creationId xmlns:a16="http://schemas.microsoft.com/office/drawing/2014/main" id="{E9CE1D76-D053-4F6A-9118-0623AE44F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00200"/>
            <a:ext cx="304800" cy="444500"/>
          </a:xfrm>
          <a:prstGeom prst="downArrow">
            <a:avLst>
              <a:gd name="adj1" fmla="val 50000"/>
              <a:gd name="adj2" fmla="val 3645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0727" name="Text Box 7">
            <a:extLst>
              <a:ext uri="{FF2B5EF4-FFF2-40B4-BE49-F238E27FC236}">
                <a16:creationId xmlns:a16="http://schemas.microsoft.com/office/drawing/2014/main" id="{F5C77EA4-1B64-4BCD-8FE7-1EF8AD487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050925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Control History</a:t>
            </a:r>
          </a:p>
        </p:txBody>
      </p:sp>
      <p:sp>
        <p:nvSpPr>
          <p:cNvPr id="30728" name="AutoShape 8">
            <a:extLst>
              <a:ext uri="{FF2B5EF4-FFF2-40B4-BE49-F238E27FC236}">
                <a16:creationId xmlns:a16="http://schemas.microsoft.com/office/drawing/2014/main" id="{1601F467-917A-4FCC-BC94-3411747E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1460500"/>
            <a:ext cx="304800" cy="520700"/>
          </a:xfrm>
          <a:prstGeom prst="downArrow">
            <a:avLst>
              <a:gd name="adj1" fmla="val 50000"/>
              <a:gd name="adj2" fmla="val 4270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0729" name="Text Box 12">
            <a:extLst>
              <a:ext uri="{FF2B5EF4-FFF2-40B4-BE49-F238E27FC236}">
                <a16:creationId xmlns:a16="http://schemas.microsoft.com/office/drawing/2014/main" id="{145D1232-EC72-49A5-A7CD-12E509EE6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14600"/>
            <a:ext cx="2590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System Services</a:t>
            </a:r>
          </a:p>
          <a:p>
            <a:pPr algn="ctr"/>
            <a:r>
              <a:rPr lang="en-US" altLang="it-IT" sz="1400">
                <a:solidFill>
                  <a:srgbClr val="FF0065"/>
                </a:solidFill>
              </a:rPr>
              <a:t>(allocation, communication, I/O, control, naming, …)</a:t>
            </a:r>
          </a:p>
        </p:txBody>
      </p:sp>
      <p:sp>
        <p:nvSpPr>
          <p:cNvPr id="30730" name="AutoShape 13">
            <a:extLst>
              <a:ext uri="{FF2B5EF4-FFF2-40B4-BE49-F238E27FC236}">
                <a16:creationId xmlns:a16="http://schemas.microsoft.com/office/drawing/2014/main" id="{4EDF4EAE-0721-4710-AA18-BC2A5D534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57500"/>
            <a:ext cx="1143000" cy="304800"/>
          </a:xfrm>
          <a:prstGeom prst="leftRightArrow">
            <a:avLst>
              <a:gd name="adj1" fmla="val 50000"/>
              <a:gd name="adj2" fmla="val 75000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0731" name="Text Box 14">
            <a:extLst>
              <a:ext uri="{FF2B5EF4-FFF2-40B4-BE49-F238E27FC236}">
                <a16:creationId xmlns:a16="http://schemas.microsoft.com/office/drawing/2014/main" id="{631CBFD4-1CAE-42D6-8AA4-BF41DB679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027363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/>
              <a:t>APIs</a:t>
            </a:r>
            <a:endParaRPr lang="en-US" altLang="it-IT" sz="2000"/>
          </a:p>
        </p:txBody>
      </p:sp>
      <p:grpSp>
        <p:nvGrpSpPr>
          <p:cNvPr id="30732" name="Group 15">
            <a:extLst>
              <a:ext uri="{FF2B5EF4-FFF2-40B4-BE49-F238E27FC236}">
                <a16:creationId xmlns:a16="http://schemas.microsoft.com/office/drawing/2014/main" id="{D6246324-F775-44E0-81FC-B04F7549BB73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28800"/>
            <a:ext cx="4432300" cy="2984500"/>
            <a:chOff x="480" y="1152"/>
            <a:chExt cx="2792" cy="1880"/>
          </a:xfrm>
        </p:grpSpPr>
        <p:sp>
          <p:nvSpPr>
            <p:cNvPr id="30733" name="Freeform 16">
              <a:extLst>
                <a:ext uri="{FF2B5EF4-FFF2-40B4-BE49-F238E27FC236}">
                  <a16:creationId xmlns:a16="http://schemas.microsoft.com/office/drawing/2014/main" id="{76AA1E98-D2E5-4566-92CD-9CC43B3A5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152"/>
              <a:ext cx="2792" cy="1880"/>
            </a:xfrm>
            <a:custGeom>
              <a:avLst/>
              <a:gdLst>
                <a:gd name="T0" fmla="*/ 144 w 2792"/>
                <a:gd name="T1" fmla="*/ 784 h 1880"/>
                <a:gd name="T2" fmla="*/ 48 w 2792"/>
                <a:gd name="T3" fmla="*/ 496 h 1880"/>
                <a:gd name="T4" fmla="*/ 432 w 2792"/>
                <a:gd name="T5" fmla="*/ 448 h 1880"/>
                <a:gd name="T6" fmla="*/ 384 w 2792"/>
                <a:gd name="T7" fmla="*/ 64 h 1880"/>
                <a:gd name="T8" fmla="*/ 816 w 2792"/>
                <a:gd name="T9" fmla="*/ 64 h 1880"/>
                <a:gd name="T10" fmla="*/ 912 w 2792"/>
                <a:gd name="T11" fmla="*/ 256 h 1880"/>
                <a:gd name="T12" fmla="*/ 1296 w 2792"/>
                <a:gd name="T13" fmla="*/ 64 h 1880"/>
                <a:gd name="T14" fmla="*/ 1440 w 2792"/>
                <a:gd name="T15" fmla="*/ 64 h 1880"/>
                <a:gd name="T16" fmla="*/ 1536 w 2792"/>
                <a:gd name="T17" fmla="*/ 160 h 1880"/>
                <a:gd name="T18" fmla="*/ 1680 w 2792"/>
                <a:gd name="T19" fmla="*/ 352 h 1880"/>
                <a:gd name="T20" fmla="*/ 1920 w 2792"/>
                <a:gd name="T21" fmla="*/ 304 h 1880"/>
                <a:gd name="T22" fmla="*/ 2160 w 2792"/>
                <a:gd name="T23" fmla="*/ 160 h 1880"/>
                <a:gd name="T24" fmla="*/ 2496 w 2792"/>
                <a:gd name="T25" fmla="*/ 112 h 1880"/>
                <a:gd name="T26" fmla="*/ 2688 w 2792"/>
                <a:gd name="T27" fmla="*/ 304 h 1880"/>
                <a:gd name="T28" fmla="*/ 2640 w 2792"/>
                <a:gd name="T29" fmla="*/ 544 h 1880"/>
                <a:gd name="T30" fmla="*/ 2544 w 2792"/>
                <a:gd name="T31" fmla="*/ 736 h 1880"/>
                <a:gd name="T32" fmla="*/ 2640 w 2792"/>
                <a:gd name="T33" fmla="*/ 880 h 1880"/>
                <a:gd name="T34" fmla="*/ 2736 w 2792"/>
                <a:gd name="T35" fmla="*/ 1072 h 1880"/>
                <a:gd name="T36" fmla="*/ 2736 w 2792"/>
                <a:gd name="T37" fmla="*/ 1264 h 1880"/>
                <a:gd name="T38" fmla="*/ 2400 w 2792"/>
                <a:gd name="T39" fmla="*/ 1504 h 1880"/>
                <a:gd name="T40" fmla="*/ 1776 w 2792"/>
                <a:gd name="T41" fmla="*/ 1456 h 1880"/>
                <a:gd name="T42" fmla="*/ 1296 w 2792"/>
                <a:gd name="T43" fmla="*/ 1600 h 1880"/>
                <a:gd name="T44" fmla="*/ 672 w 2792"/>
                <a:gd name="T45" fmla="*/ 1840 h 1880"/>
                <a:gd name="T46" fmla="*/ 96 w 2792"/>
                <a:gd name="T47" fmla="*/ 1360 h 1880"/>
                <a:gd name="T48" fmla="*/ 336 w 2792"/>
                <a:gd name="T49" fmla="*/ 976 h 1880"/>
                <a:gd name="T50" fmla="*/ 144 w 2792"/>
                <a:gd name="T51" fmla="*/ 784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19050" algn="ctr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734" name="Text Box 17">
              <a:extLst>
                <a:ext uri="{FF2B5EF4-FFF2-40B4-BE49-F238E27FC236}">
                  <a16:creationId xmlns:a16="http://schemas.microsoft.com/office/drawing/2014/main" id="{8CEAFE3B-C7FF-4356-9A13-08135FC0C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1792"/>
              <a:ext cx="1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2000">
                  <a:solidFill>
                    <a:srgbClr val="003C75"/>
                  </a:solidFill>
                </a:rPr>
                <a:t>Compiled Code</a:t>
              </a:r>
              <a:endParaRPr lang="en-US" altLang="it-IT" sz="2400">
                <a:solidFill>
                  <a:srgbClr val="003C75"/>
                </a:solidFill>
              </a:endParaRPr>
            </a:p>
          </p:txBody>
        </p:sp>
        <p:sp>
          <p:nvSpPr>
            <p:cNvPr id="30735" name="Text Box 18">
              <a:extLst>
                <a:ext uri="{FF2B5EF4-FFF2-40B4-BE49-F238E27FC236}">
                  <a16:creationId xmlns:a16="http://schemas.microsoft.com/office/drawing/2014/main" id="{885CBC77-A275-4ADD-B2F1-E22B26887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96"/>
              <a:ext cx="9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Procedure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EAA686FE-6CEC-41D3-B631-11C11AD598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62BE2E70-5FBD-479E-9612-8127F5608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5750C48-508D-4CDA-BD8B-6E76C75C2D16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175A573-D962-45B3-A709-22D53E518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Procedure: Three Abstractions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38C99B0-B9EA-4C85-8C18-9B098C7202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it-IT">
                <a:solidFill>
                  <a:srgbClr val="003C75"/>
                </a:solidFill>
              </a:rPr>
              <a:t>Control </a:t>
            </a:r>
            <a:r>
              <a:rPr lang="en-US" altLang="it-IT"/>
              <a:t>Abstraction</a:t>
            </a:r>
          </a:p>
          <a:p>
            <a:pPr lvl="1" eaLnBrk="1" hangingPunct="1"/>
            <a:r>
              <a:rPr lang="en-US" altLang="it-IT"/>
              <a:t>Well defined entries &amp; exits </a:t>
            </a:r>
          </a:p>
          <a:p>
            <a:pPr lvl="1" eaLnBrk="1" hangingPunct="1"/>
            <a:r>
              <a:rPr lang="en-US" altLang="it-IT"/>
              <a:t>Mechanism to return control to caller</a:t>
            </a:r>
          </a:p>
          <a:p>
            <a:pPr lvl="1" eaLnBrk="1" hangingPunct="1"/>
            <a:r>
              <a:rPr lang="en-US" altLang="it-IT"/>
              <a:t>Some  notion of parameterization (usually)</a:t>
            </a:r>
          </a:p>
          <a:p>
            <a:pPr eaLnBrk="1" hangingPunct="1"/>
            <a:r>
              <a:rPr lang="en-US" altLang="it-IT"/>
              <a:t>Clean </a:t>
            </a:r>
            <a:r>
              <a:rPr lang="en-US" altLang="it-IT">
                <a:solidFill>
                  <a:srgbClr val="003C75"/>
                </a:solidFill>
              </a:rPr>
              <a:t>Name Space</a:t>
            </a:r>
          </a:p>
          <a:p>
            <a:pPr lvl="1" eaLnBrk="1" hangingPunct="1"/>
            <a:r>
              <a:rPr lang="en-US" altLang="it-IT"/>
              <a:t>Clean slate for writing locally visible names</a:t>
            </a:r>
          </a:p>
          <a:p>
            <a:pPr lvl="1" eaLnBrk="1" hangingPunct="1"/>
            <a:r>
              <a:rPr lang="en-US" altLang="it-IT"/>
              <a:t>Local names may obscure identical, non-local names</a:t>
            </a:r>
          </a:p>
          <a:p>
            <a:pPr lvl="1" eaLnBrk="1" hangingPunct="1"/>
            <a:r>
              <a:rPr lang="en-US" altLang="it-IT"/>
              <a:t>Local names cannot be seen outside</a:t>
            </a:r>
          </a:p>
          <a:p>
            <a:pPr eaLnBrk="1" hangingPunct="1"/>
            <a:r>
              <a:rPr lang="en-US" altLang="it-IT"/>
              <a:t>External </a:t>
            </a:r>
            <a:r>
              <a:rPr lang="en-US" altLang="it-IT">
                <a:solidFill>
                  <a:srgbClr val="003C75"/>
                </a:solidFill>
              </a:rPr>
              <a:t>Interface</a:t>
            </a:r>
          </a:p>
          <a:p>
            <a:pPr lvl="1" eaLnBrk="1" hangingPunct="1"/>
            <a:r>
              <a:rPr lang="en-US" altLang="it-IT"/>
              <a:t>Access is by procedure name &amp; parameters</a:t>
            </a:r>
          </a:p>
          <a:p>
            <a:pPr lvl="1" eaLnBrk="1" hangingPunct="1"/>
            <a:r>
              <a:rPr lang="en-US" altLang="it-IT"/>
              <a:t>Clear protection for both caller &amp; callee</a:t>
            </a:r>
          </a:p>
          <a:p>
            <a:pPr lvl="1" eaLnBrk="1" hangingPunct="1"/>
            <a:r>
              <a:rPr lang="en-US" altLang="it-IT"/>
              <a:t>Invoked procedure can ignore calling context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Procedures permit a critical separation of concerns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5EFBC046-033F-43EF-89C2-7F69D5A3A8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D770B674-359C-4B41-BD02-8941F6C13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F1FC598-6A95-4462-8D91-70A2313D8228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6B3118D-DB26-4438-9268-EDC7BE585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/>
              <a:t>The Procedure                             (</a:t>
            </a:r>
            <a:r>
              <a:rPr lang="en-US" altLang="it-IT" sz="2000"/>
              <a:t>Realist’s View</a:t>
            </a:r>
            <a:r>
              <a:rPr lang="en-US" altLang="it-IT"/>
              <a:t>)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9209E8D-20DB-4DB0-9F8F-736E03516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Procedures are the key to building large systems</a:t>
            </a:r>
            <a:endParaRPr lang="en-US" altLang="it-IT"/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Requires </a:t>
            </a:r>
            <a:r>
              <a:rPr lang="en-US" altLang="it-IT">
                <a:solidFill>
                  <a:srgbClr val="003C75"/>
                </a:solidFill>
              </a:rPr>
              <a:t>system-wide compact</a:t>
            </a:r>
          </a:p>
          <a:p>
            <a:pPr lvl="1" eaLnBrk="1" hangingPunct="1"/>
            <a:r>
              <a:rPr lang="en-US" altLang="it-IT"/>
              <a:t>Conventions on memory layout, protection, resource allocation calling sequences, &amp; error handling</a:t>
            </a:r>
          </a:p>
          <a:p>
            <a:pPr lvl="1" eaLnBrk="1" hangingPunct="1"/>
            <a:r>
              <a:rPr lang="en-US" altLang="it-IT"/>
              <a:t>Must involve architecture (</a:t>
            </a:r>
            <a:r>
              <a:rPr lang="en-US" altLang="it-IT" sz="1600" b="1"/>
              <a:t>ISA</a:t>
            </a:r>
            <a:r>
              <a:rPr lang="en-US" altLang="it-IT"/>
              <a:t>), </a:t>
            </a:r>
            <a:r>
              <a:rPr lang="en-US" altLang="it-IT" sz="1600" b="1"/>
              <a:t>OS</a:t>
            </a:r>
            <a:r>
              <a:rPr lang="en-US" altLang="it-IT"/>
              <a:t>, &amp; compiler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Provides shared </a:t>
            </a:r>
            <a:r>
              <a:rPr lang="en-US" altLang="it-IT">
                <a:solidFill>
                  <a:srgbClr val="003C75"/>
                </a:solidFill>
              </a:rPr>
              <a:t>access to system-wide facilities</a:t>
            </a:r>
          </a:p>
          <a:p>
            <a:pPr lvl="1" eaLnBrk="1" hangingPunct="1"/>
            <a:r>
              <a:rPr lang="en-US" altLang="it-IT"/>
              <a:t>Storage management, flow of control, interrupts</a:t>
            </a:r>
          </a:p>
          <a:p>
            <a:pPr lvl="1" eaLnBrk="1" hangingPunct="1"/>
            <a:r>
              <a:rPr lang="en-US" altLang="it-IT"/>
              <a:t>Interface to input/output devices, protection facilities, timers, synchronization flags, counters, …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Establishes a </a:t>
            </a:r>
            <a:r>
              <a:rPr lang="en-US" altLang="it-IT">
                <a:solidFill>
                  <a:srgbClr val="003C75"/>
                </a:solidFill>
              </a:rPr>
              <a:t>private context</a:t>
            </a:r>
          </a:p>
          <a:p>
            <a:pPr lvl="1" eaLnBrk="1" hangingPunct="1"/>
            <a:r>
              <a:rPr lang="en-US" altLang="it-IT"/>
              <a:t>Create private storage for each procedure invocation</a:t>
            </a:r>
          </a:p>
          <a:p>
            <a:pPr lvl="1" eaLnBrk="1" hangingPunct="1"/>
            <a:r>
              <a:rPr lang="en-US" altLang="it-IT"/>
              <a:t>Encapsulate information about control flow &amp; data abstractions</a:t>
            </a: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>
            <a:extLst>
              <a:ext uri="{FF2B5EF4-FFF2-40B4-BE49-F238E27FC236}">
                <a16:creationId xmlns:a16="http://schemas.microsoft.com/office/drawing/2014/main" id="{0E9B9B5E-7613-4D27-9C21-C71A0E11ED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26206D67-0E3D-4BE9-9C3D-59B08B0281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89C66E7-8299-4ECD-BDD4-CFF5A8A3DE5C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B4CF69A-FA3D-4AC0-8B2B-4BC4499093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                            (</a:t>
            </a:r>
            <a:r>
              <a:rPr lang="en-US" altLang="it-IT" sz="2000"/>
              <a:t>Realist’s View</a:t>
            </a:r>
            <a:r>
              <a:rPr lang="en-US" altLang="it-IT"/>
              <a:t>)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51098186-4A31-4A4B-A862-BB538A463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Procedures allow us to use </a:t>
            </a:r>
            <a:r>
              <a:rPr lang="en-US" altLang="it-IT">
                <a:solidFill>
                  <a:srgbClr val="003C75"/>
                </a:solidFill>
              </a:rPr>
              <a:t>separate compilation</a:t>
            </a:r>
          </a:p>
          <a:p>
            <a:pPr eaLnBrk="1" hangingPunct="1"/>
            <a:r>
              <a:rPr lang="en-US" altLang="it-IT"/>
              <a:t>Separate compilation allows us to build non-trivial programs</a:t>
            </a:r>
          </a:p>
          <a:p>
            <a:pPr eaLnBrk="1" hangingPunct="1"/>
            <a:r>
              <a:rPr lang="en-US" altLang="it-IT"/>
              <a:t>Keeps compile times reasonable</a:t>
            </a:r>
          </a:p>
          <a:p>
            <a:pPr eaLnBrk="1" hangingPunct="1"/>
            <a:r>
              <a:rPr lang="en-US" altLang="it-IT"/>
              <a:t>Lets multiple programmers collaborate</a:t>
            </a:r>
          </a:p>
          <a:p>
            <a:pPr eaLnBrk="1" hangingPunct="1"/>
            <a:r>
              <a:rPr lang="en-US" altLang="it-IT"/>
              <a:t>Requires independent procedures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Without separate compilation, we </a:t>
            </a:r>
            <a:r>
              <a:rPr lang="en-US" altLang="it-IT" i="1"/>
              <a:t>would not </a:t>
            </a:r>
            <a:r>
              <a:rPr lang="en-US" altLang="it-IT"/>
              <a:t>build large systems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The procedure </a:t>
            </a:r>
            <a:r>
              <a:rPr lang="en-US" altLang="it-IT">
                <a:solidFill>
                  <a:srgbClr val="003C75"/>
                </a:solidFill>
              </a:rPr>
              <a:t>linkage convention</a:t>
            </a:r>
          </a:p>
          <a:p>
            <a:pPr eaLnBrk="1" hangingPunct="1"/>
            <a:r>
              <a:rPr lang="en-US" altLang="it-IT"/>
              <a:t>Ensures that each procedure inherits a valid run-time environment and that the callers environment is restored on return</a:t>
            </a:r>
          </a:p>
          <a:p>
            <a:pPr lvl="1" eaLnBrk="1" hangingPunct="1"/>
            <a:r>
              <a:rPr lang="en-US" altLang="it-IT"/>
              <a:t>The compiler must generate code to ensure this happens according to conventions established by the system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4A60650F-D558-402E-B68C-4B32211253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EACFD162-ED2F-4FEB-98C1-72EE5214AB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24F38A0-D97A-4E68-8D87-67B7E67345B7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F5178D3-25BB-4A77-9EA6-9A353E1C6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</a:t>
            </a:r>
            <a:r>
              <a:rPr lang="en-US" altLang="it-IT">
                <a:solidFill>
                  <a:schemeClr val="tx1"/>
                </a:solidFill>
              </a:rPr>
              <a:t>Procedure                     </a:t>
            </a:r>
            <a:r>
              <a:rPr lang="en-US" altLang="it-IT" sz="2000">
                <a:solidFill>
                  <a:schemeClr val="tx1"/>
                </a:solidFill>
              </a:rPr>
              <a:t>(More Abstract View)</a:t>
            </a:r>
            <a:endParaRPr lang="en-US" altLang="it-IT"/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ABB00082-F552-4B8F-849D-367651014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01000" cy="4953000"/>
          </a:xfrm>
        </p:spPr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A procedure is an abstract structure constructed via software</a:t>
            </a:r>
            <a:endParaRPr lang="en-US" dirty="0"/>
          </a:p>
          <a:p>
            <a:pPr marL="3175" indent="4763" eaLnBrk="1" hangingPunct="1"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/>
              <a:t>Underlying hardware directly supports little of the abstraction—it understands bits, bytes, integers, </a:t>
            </a:r>
            <a:r>
              <a:rPr lang="en-US" dirty="0" err="1"/>
              <a:t>reals</a:t>
            </a:r>
            <a:r>
              <a:rPr lang="en-US" dirty="0"/>
              <a:t>, &amp; addresses, but not: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>
                <a:solidFill>
                  <a:srgbClr val="003C75"/>
                </a:solidFill>
              </a:rPr>
              <a:t>Entries </a:t>
            </a:r>
            <a:r>
              <a:rPr lang="en-US" dirty="0"/>
              <a:t>and </a:t>
            </a:r>
            <a:r>
              <a:rPr lang="en-US" dirty="0">
                <a:solidFill>
                  <a:srgbClr val="003C75"/>
                </a:solidFill>
              </a:rPr>
              <a:t>exits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>
                <a:solidFill>
                  <a:srgbClr val="003C75"/>
                </a:solidFill>
              </a:rPr>
              <a:t>Interfaces 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>
                <a:solidFill>
                  <a:srgbClr val="003C75"/>
                </a:solidFill>
              </a:rPr>
              <a:t>Call </a:t>
            </a:r>
            <a:r>
              <a:rPr lang="en-US" dirty="0"/>
              <a:t>and</a:t>
            </a:r>
            <a:r>
              <a:rPr lang="en-US" dirty="0">
                <a:solidFill>
                  <a:srgbClr val="996600"/>
                </a:solidFill>
              </a:rPr>
              <a:t> </a:t>
            </a:r>
            <a:r>
              <a:rPr lang="en-US" dirty="0">
                <a:solidFill>
                  <a:srgbClr val="003C75"/>
                </a:solidFill>
              </a:rPr>
              <a:t>return </a:t>
            </a:r>
            <a:r>
              <a:rPr lang="en-US" dirty="0"/>
              <a:t>mechanisms </a:t>
            </a:r>
          </a:p>
          <a:p>
            <a:pPr lvl="1" eaLnBrk="1" hangingPunct="1">
              <a:defRPr/>
            </a:pPr>
            <a:r>
              <a:rPr lang="en-US" dirty="0"/>
              <a:t>Typical machine supports the transfer of control (call and return) but not the rest of the calling sequence     (</a:t>
            </a:r>
            <a:r>
              <a:rPr lang="en-US" sz="1600" i="1" dirty="0"/>
              <a:t>e.g</a:t>
            </a:r>
            <a:r>
              <a:rPr lang="en-US" sz="1600" dirty="0"/>
              <a:t>., preserving context</a:t>
            </a:r>
            <a:r>
              <a:rPr lang="en-US" dirty="0"/>
              <a:t>) 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>
                <a:solidFill>
                  <a:srgbClr val="003C75"/>
                </a:solidFill>
              </a:rPr>
              <a:t>Name space 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>
                <a:solidFill>
                  <a:srgbClr val="003C75"/>
                </a:solidFill>
              </a:rPr>
              <a:t>Nested scopes </a:t>
            </a:r>
          </a:p>
          <a:p>
            <a:pPr marL="3175" indent="4763"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i="1" dirty="0"/>
              <a:t>All these are established by carefully-crafted mechanisms provided by compiler, run-time system, linker, loader, and </a:t>
            </a:r>
            <a:r>
              <a:rPr lang="en-US" sz="1800" i="1" dirty="0"/>
              <a:t>OS;</a:t>
            </a:r>
            <a:endParaRPr lang="en-US" i="1" dirty="0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A5AAA7B2-E3D8-4121-AFF7-3B27F5813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019800"/>
            <a:ext cx="4038600" cy="523875"/>
          </a:xfrm>
          <a:prstGeom prst="rect">
            <a:avLst/>
          </a:prstGeom>
          <a:solidFill>
            <a:srgbClr val="E6E6E6"/>
          </a:solidFill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compiler’s job is to make good on the lies told by the programming language design!</a:t>
            </a: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>
            <a:extLst>
              <a:ext uri="{FF2B5EF4-FFF2-40B4-BE49-F238E27FC236}">
                <a16:creationId xmlns:a16="http://schemas.microsoft.com/office/drawing/2014/main" id="{97284CD2-2718-4A93-AAAB-1BB67F287F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91686D3C-3C2C-49D1-948F-348E1C776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D245D3C-DD3E-49A1-AF47-3FFD7C19990E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18374B3-140E-4F41-AE5D-363EFE099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/>
              <a:t>Run Time versus Compile Time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E7BAB820-B960-4DA0-B173-86D467C2F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These concepts are often confusing to the newcomer</a:t>
            </a:r>
            <a:endParaRPr lang="en-US" altLang="it-IT"/>
          </a:p>
          <a:p>
            <a:pPr eaLnBrk="1" hangingPunct="1"/>
            <a:r>
              <a:rPr lang="en-US" altLang="it-IT"/>
              <a:t>Linkages (</a:t>
            </a:r>
            <a:r>
              <a:rPr lang="en-US" altLang="it-IT" sz="1800" i="1"/>
              <a:t>and code for procedure body</a:t>
            </a:r>
            <a:r>
              <a:rPr lang="en-US" altLang="it-IT"/>
              <a:t>) execute at </a:t>
            </a:r>
            <a:r>
              <a:rPr lang="en-US" altLang="it-IT">
                <a:solidFill>
                  <a:srgbClr val="FF0065"/>
                </a:solidFill>
              </a:rPr>
              <a:t>run time</a:t>
            </a:r>
            <a:endParaRPr lang="en-US" altLang="it-IT">
              <a:solidFill>
                <a:srgbClr val="FF0000"/>
              </a:solidFill>
            </a:endParaRPr>
          </a:p>
          <a:p>
            <a:pPr eaLnBrk="1" hangingPunct="1"/>
            <a:r>
              <a:rPr lang="en-US" altLang="it-IT"/>
              <a:t>Code for the linkage is emitted at </a:t>
            </a:r>
            <a:r>
              <a:rPr lang="en-US" altLang="it-IT">
                <a:solidFill>
                  <a:srgbClr val="FF0065"/>
                </a:solidFill>
              </a:rPr>
              <a:t>compile time</a:t>
            </a:r>
            <a:endParaRPr lang="en-US" altLang="it-IT">
              <a:solidFill>
                <a:srgbClr val="FF0000"/>
              </a:solidFill>
            </a:endParaRPr>
          </a:p>
          <a:p>
            <a:pPr eaLnBrk="1" hangingPunct="1"/>
            <a:r>
              <a:rPr lang="en-US" altLang="it-IT"/>
              <a:t>The linkage is designed long before either of these</a:t>
            </a:r>
          </a:p>
          <a:p>
            <a:pPr eaLnBrk="1" hangingPunct="1">
              <a:spcBef>
                <a:spcPct val="3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This issue (compile time versus run time) confuses students more than </a:t>
            </a:r>
            <a:r>
              <a:rPr lang="en-US" altLang="it-IT" i="1" u="sng">
                <a:solidFill>
                  <a:srgbClr val="003C75"/>
                </a:solidFill>
              </a:rPr>
              <a:t>any</a:t>
            </a:r>
            <a:r>
              <a:rPr lang="en-US" altLang="it-IT" i="1">
                <a:solidFill>
                  <a:srgbClr val="003C75"/>
                </a:solidFill>
              </a:rPr>
              <a:t> </a:t>
            </a:r>
            <a:r>
              <a:rPr lang="en-US" altLang="it-IT" i="1" u="sng">
                <a:solidFill>
                  <a:srgbClr val="003C75"/>
                </a:solidFill>
              </a:rPr>
              <a:t>other</a:t>
            </a:r>
            <a:r>
              <a:rPr lang="en-US" altLang="it-IT">
                <a:solidFill>
                  <a:srgbClr val="003C75"/>
                </a:solidFill>
              </a:rPr>
              <a:t> issue in Comp 412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We will emphasize the distinction between them</a:t>
            </a:r>
          </a:p>
          <a:p>
            <a:pPr lvl="1" eaLnBrk="1" hangingPunct="1">
              <a:spcBef>
                <a:spcPct val="150000"/>
              </a:spcBef>
              <a:buFontTx/>
              <a:buNone/>
            </a:pPr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A8A6C967-296C-45CF-8D2A-2A31E08E2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4BBB3161-5ACB-45F1-BD34-5C3E8AA6A1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29EDA0F-0EE3-47AA-9504-8C3445B00D8D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4D86901-2586-40C8-946A-0FF5E7511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50000"/>
              </a:spcBef>
            </a:pPr>
            <a:r>
              <a:rPr lang="en-US" altLang="it-IT"/>
              <a:t>The Procedure as a Control Abstraction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7E2E947-C31F-4171-9260-CE8114558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875213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Procedures have well-defined control-flow</a:t>
            </a:r>
            <a:endParaRPr lang="en-US" altLang="it-IT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The Algol-60 procedure call</a:t>
            </a:r>
          </a:p>
          <a:p>
            <a:pPr eaLnBrk="1" hangingPunct="1"/>
            <a:r>
              <a:rPr lang="en-US" altLang="it-IT"/>
              <a:t>Invoked at a call site, with some set of </a:t>
            </a:r>
            <a:r>
              <a:rPr lang="en-US" altLang="it-IT" i="1"/>
              <a:t>actual parameters</a:t>
            </a:r>
            <a:r>
              <a:rPr lang="en-US" altLang="it-IT"/>
              <a:t> </a:t>
            </a:r>
          </a:p>
          <a:p>
            <a:pPr eaLnBrk="1" hangingPunct="1"/>
            <a:r>
              <a:rPr lang="en-US" altLang="it-IT"/>
              <a:t>Control returns to call site, immediately after invocation</a:t>
            </a:r>
          </a:p>
          <a:p>
            <a:pPr eaLnBrk="1" hangingPunct="1">
              <a:spcBef>
                <a:spcPct val="800000"/>
              </a:spcBef>
            </a:pPr>
            <a:r>
              <a:rPr lang="en-US" altLang="it-IT"/>
              <a:t>Most languages allow recursion</a:t>
            </a:r>
          </a:p>
        </p:txBody>
      </p:sp>
      <p:grpSp>
        <p:nvGrpSpPr>
          <p:cNvPr id="43013" name="Group 24">
            <a:extLst>
              <a:ext uri="{FF2B5EF4-FFF2-40B4-BE49-F238E27FC236}">
                <a16:creationId xmlns:a16="http://schemas.microsoft.com/office/drawing/2014/main" id="{0073D07B-C18B-4224-8E24-8D02A7D5D7A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276600"/>
            <a:ext cx="6542088" cy="2819400"/>
            <a:chOff x="528" y="1872"/>
            <a:chExt cx="4121" cy="1728"/>
          </a:xfrm>
        </p:grpSpPr>
        <p:sp>
          <p:nvSpPr>
            <p:cNvPr id="43014" name="Text Box 5">
              <a:extLst>
                <a:ext uri="{FF2B5EF4-FFF2-40B4-BE49-F238E27FC236}">
                  <a16:creationId xmlns:a16="http://schemas.microsoft.com/office/drawing/2014/main" id="{144CC8B4-992B-48F0-9351-1BFAB4DD3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72"/>
              <a:ext cx="1248" cy="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int p(a,b,c)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int a, b, c;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{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int   d;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d = q(c,b);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...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}</a:t>
              </a:r>
            </a:p>
          </p:txBody>
        </p:sp>
        <p:sp>
          <p:nvSpPr>
            <p:cNvPr id="43015" name="Text Box 6">
              <a:extLst>
                <a:ext uri="{FF2B5EF4-FFF2-40B4-BE49-F238E27FC236}">
                  <a16:creationId xmlns:a16="http://schemas.microsoft.com/office/drawing/2014/main" id="{6DDF87A5-3DF2-4B43-AE4E-48485DAE5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" y="2012"/>
              <a:ext cx="1248" cy="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int q(x,y)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int x,y;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{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if ( … 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   x = q(x-1,y);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return x + y;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}</a:t>
              </a:r>
            </a:p>
          </p:txBody>
        </p:sp>
        <p:cxnSp>
          <p:nvCxnSpPr>
            <p:cNvPr id="43016" name="AutoShape 7">
              <a:extLst>
                <a:ext uri="{FF2B5EF4-FFF2-40B4-BE49-F238E27FC236}">
                  <a16:creationId xmlns:a16="http://schemas.microsoft.com/office/drawing/2014/main" id="{4C1B1CF1-E810-4A8E-8B18-CF0A235D1B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54" y="2139"/>
              <a:ext cx="888" cy="46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17" name="Rectangle 8">
              <a:extLst>
                <a:ext uri="{FF2B5EF4-FFF2-40B4-BE49-F238E27FC236}">
                  <a16:creationId xmlns:a16="http://schemas.microsoft.com/office/drawing/2014/main" id="{801312A6-0535-4239-97AA-96AD47103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2552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3018" name="AutoShape 9">
              <a:extLst>
                <a:ext uri="{FF2B5EF4-FFF2-40B4-BE49-F238E27FC236}">
                  <a16:creationId xmlns:a16="http://schemas.microsoft.com/office/drawing/2014/main" id="{340C0E14-5C52-448A-80C9-DCD16026311F}"/>
                </a:ext>
              </a:extLst>
            </p:cNvPr>
            <p:cNvCxnSpPr>
              <a:cxnSpLocks noChangeShapeType="1"/>
              <a:stCxn id="43015" idx="2"/>
            </p:cNvCxnSpPr>
            <p:nvPr/>
          </p:nvCxnSpPr>
          <p:spPr bwMode="auto">
            <a:xfrm rot="16200000" flipV="1">
              <a:off x="3007" y="2177"/>
              <a:ext cx="556" cy="1481"/>
            </a:xfrm>
            <a:prstGeom prst="curvedConnector4">
              <a:avLst>
                <a:gd name="adj1" fmla="val -25898"/>
                <a:gd name="adj2" fmla="val 71032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19" name="Rectangle 10">
              <a:extLst>
                <a:ext uri="{FF2B5EF4-FFF2-40B4-BE49-F238E27FC236}">
                  <a16:creationId xmlns:a16="http://schemas.microsoft.com/office/drawing/2014/main" id="{D983AFA8-2119-4C56-85C3-637AC7A45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640"/>
              <a:ext cx="9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3020" name="Rectangle 11">
              <a:extLst>
                <a:ext uri="{FF2B5EF4-FFF2-40B4-BE49-F238E27FC236}">
                  <a16:creationId xmlns:a16="http://schemas.microsoft.com/office/drawing/2014/main" id="{9F41A9CD-B78B-45AC-9F0B-B78BFEE5D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3021" name="Rectangle 12">
              <a:extLst>
                <a:ext uri="{FF2B5EF4-FFF2-40B4-BE49-F238E27FC236}">
                  <a16:creationId xmlns:a16="http://schemas.microsoft.com/office/drawing/2014/main" id="{9A9C750E-4BEF-4BDA-ADFD-1EF7086EE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4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3022" name="Rectangle 13">
              <a:extLst>
                <a:ext uri="{FF2B5EF4-FFF2-40B4-BE49-F238E27FC236}">
                  <a16:creationId xmlns:a16="http://schemas.microsoft.com/office/drawing/2014/main" id="{00E75255-64B7-47A0-9DC1-604D0EB77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72"/>
              <a:ext cx="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3023" name="AutoShape 14">
              <a:extLst>
                <a:ext uri="{FF2B5EF4-FFF2-40B4-BE49-F238E27FC236}">
                  <a16:creationId xmlns:a16="http://schemas.microsoft.com/office/drawing/2014/main" id="{F3D443E6-E29E-40E4-8491-80DEF63467EA}"/>
                </a:ext>
              </a:extLst>
            </p:cNvPr>
            <p:cNvCxnSpPr>
              <a:cxnSpLocks noChangeShapeType="1"/>
              <a:stCxn id="43021" idx="0"/>
              <a:endCxn id="43022" idx="1"/>
            </p:cNvCxnSpPr>
            <p:nvPr/>
          </p:nvCxnSpPr>
          <p:spPr bwMode="auto">
            <a:xfrm rot="-5400000">
              <a:off x="1044" y="1812"/>
              <a:ext cx="528" cy="840"/>
            </a:xfrm>
            <a:prstGeom prst="curvedConnector2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24" name="Rectangle 15">
              <a:extLst>
                <a:ext uri="{FF2B5EF4-FFF2-40B4-BE49-F238E27FC236}">
                  <a16:creationId xmlns:a16="http://schemas.microsoft.com/office/drawing/2014/main" id="{C547F956-C715-481E-8A66-89275ED44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3025" name="Rectangle 16">
              <a:extLst>
                <a:ext uri="{FF2B5EF4-FFF2-40B4-BE49-F238E27FC236}">
                  <a16:creationId xmlns:a16="http://schemas.microsoft.com/office/drawing/2014/main" id="{F283CBA0-5C93-4401-9B3F-EEE1418A5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4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3026" name="AutoShape 17">
              <a:extLst>
                <a:ext uri="{FF2B5EF4-FFF2-40B4-BE49-F238E27FC236}">
                  <a16:creationId xmlns:a16="http://schemas.microsoft.com/office/drawing/2014/main" id="{DB04E9F0-465C-4744-9A04-CE0BAE6C6EC0}"/>
                </a:ext>
              </a:extLst>
            </p:cNvPr>
            <p:cNvCxnSpPr>
              <a:cxnSpLocks noChangeShapeType="1"/>
              <a:stCxn id="43024" idx="2"/>
              <a:endCxn id="43028" idx="5"/>
            </p:cNvCxnSpPr>
            <p:nvPr/>
          </p:nvCxnSpPr>
          <p:spPr bwMode="auto">
            <a:xfrm rot="16200000" flipV="1">
              <a:off x="1050" y="2227"/>
              <a:ext cx="405" cy="1190"/>
            </a:xfrm>
            <a:prstGeom prst="curvedConnector3">
              <a:avLst>
                <a:gd name="adj1" fmla="val 59505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27" name="Text Box 18">
              <a:extLst>
                <a:ext uri="{FF2B5EF4-FFF2-40B4-BE49-F238E27FC236}">
                  <a16:creationId xmlns:a16="http://schemas.microsoft.com/office/drawing/2014/main" id="{2CAAE814-6697-41F2-84C5-661FAC8D6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04"/>
              <a:ext cx="91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…</a:t>
              </a:r>
            </a:p>
            <a:p>
              <a:r>
                <a:rPr lang="en-US" altLang="it-IT" sz="1600">
                  <a:latin typeface="Arial Rounded MT Bold" panose="020F0704030504030204" pitchFamily="34" charset="0"/>
                </a:rPr>
                <a:t>s = p(10,t,u);</a:t>
              </a:r>
            </a:p>
            <a:p>
              <a:r>
                <a:rPr lang="en-US" altLang="it-IT" sz="1600">
                  <a:latin typeface="Arial Rounded MT Bold" panose="020F0704030504030204" pitchFamily="34" charset="0"/>
                </a:rPr>
                <a:t>…</a:t>
              </a:r>
            </a:p>
          </p:txBody>
        </p:sp>
        <p:sp>
          <p:nvSpPr>
            <p:cNvPr id="43028" name="Oval 19">
              <a:extLst>
                <a:ext uri="{FF2B5EF4-FFF2-40B4-BE49-F238E27FC236}">
                  <a16:creationId xmlns:a16="http://schemas.microsoft.com/office/drawing/2014/main" id="{55B5C7F5-6C87-4CC5-A98D-D892FF3A8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96"/>
              <a:ext cx="96" cy="144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3029" name="Rectangle 20">
              <a:extLst>
                <a:ext uri="{FF2B5EF4-FFF2-40B4-BE49-F238E27FC236}">
                  <a16:creationId xmlns:a16="http://schemas.microsoft.com/office/drawing/2014/main" id="{F15A30A2-D8FE-44BD-BFFB-369D47C5A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80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3030" name="AutoShape 21">
              <a:extLst>
                <a:ext uri="{FF2B5EF4-FFF2-40B4-BE49-F238E27FC236}">
                  <a16:creationId xmlns:a16="http://schemas.microsoft.com/office/drawing/2014/main" id="{670C828E-807E-49B1-A451-00CA8CAB8B33}"/>
                </a:ext>
              </a:extLst>
            </p:cNvPr>
            <p:cNvCxnSpPr>
              <a:cxnSpLocks noChangeShapeType="1"/>
              <a:stCxn id="43029" idx="2"/>
              <a:endCxn id="43029" idx="0"/>
            </p:cNvCxnSpPr>
            <p:nvPr/>
          </p:nvCxnSpPr>
          <p:spPr bwMode="auto">
            <a:xfrm rot="5400000" flipH="1" flipV="1">
              <a:off x="4273" y="2775"/>
              <a:ext cx="192" cy="1"/>
            </a:xfrm>
            <a:prstGeom prst="curvedConnector5">
              <a:avLst>
                <a:gd name="adj1" fmla="val -75000"/>
                <a:gd name="adj2" fmla="val 19200009"/>
                <a:gd name="adj3" fmla="val 175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31" name="Rectangle 22">
              <a:extLst>
                <a:ext uri="{FF2B5EF4-FFF2-40B4-BE49-F238E27FC236}">
                  <a16:creationId xmlns:a16="http://schemas.microsoft.com/office/drawing/2014/main" id="{B2947869-FACF-4C58-B388-8A9177191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216"/>
              <a:ext cx="33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3032" name="Rectangle 23">
              <a:extLst>
                <a:ext uri="{FF2B5EF4-FFF2-40B4-BE49-F238E27FC236}">
                  <a16:creationId xmlns:a16="http://schemas.microsoft.com/office/drawing/2014/main" id="{9A730BDC-E8FE-40BE-A218-2397D0DB5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68"/>
              <a:ext cx="9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>
            <a:extLst>
              <a:ext uri="{FF2B5EF4-FFF2-40B4-BE49-F238E27FC236}">
                <a16:creationId xmlns:a16="http://schemas.microsoft.com/office/drawing/2014/main" id="{0489C791-9E62-411E-8234-BA3E2F3F42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2B0EA7B4-7AC8-4A21-ACF3-47F3EAC861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C85C308-E4B1-491B-94AA-E3ECE34899F2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93B0BAE-E39C-41A0-8E49-CE5CA5CF9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as a Control Abstraction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81FFC4E9-076A-4101-A5E7-DBAC26C1C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Implementing procedures with this behavior</a:t>
            </a:r>
            <a:endParaRPr lang="en-US" altLang="it-IT"/>
          </a:p>
          <a:p>
            <a:pPr eaLnBrk="1" hangingPunct="1"/>
            <a:r>
              <a:rPr lang="en-US" altLang="it-IT" sz="1800"/>
              <a:t>Requires code to </a:t>
            </a:r>
            <a:r>
              <a:rPr lang="en-US" altLang="it-IT" sz="1800">
                <a:solidFill>
                  <a:srgbClr val="FF0065"/>
                </a:solidFill>
              </a:rPr>
              <a:t>save</a:t>
            </a:r>
            <a:r>
              <a:rPr lang="en-US" altLang="it-IT" sz="1800"/>
              <a:t> and </a:t>
            </a:r>
            <a:r>
              <a:rPr lang="en-US" altLang="it-IT" sz="1800">
                <a:solidFill>
                  <a:srgbClr val="FF0065"/>
                </a:solidFill>
              </a:rPr>
              <a:t>restore</a:t>
            </a:r>
            <a:r>
              <a:rPr lang="en-US" altLang="it-IT" sz="1800"/>
              <a:t> a “return address”</a:t>
            </a:r>
          </a:p>
          <a:p>
            <a:pPr eaLnBrk="1" hangingPunct="1"/>
            <a:r>
              <a:rPr lang="en-US" altLang="it-IT" sz="1800"/>
              <a:t>Must map </a:t>
            </a:r>
            <a:r>
              <a:rPr lang="en-US" altLang="it-IT" sz="1800">
                <a:solidFill>
                  <a:srgbClr val="FF0065"/>
                </a:solidFill>
              </a:rPr>
              <a:t>actual parameters</a:t>
            </a:r>
            <a:r>
              <a:rPr lang="en-US" altLang="it-IT" sz="1800"/>
              <a:t> to </a:t>
            </a:r>
            <a:r>
              <a:rPr lang="en-US" altLang="it-IT" sz="1800">
                <a:solidFill>
                  <a:srgbClr val="FF0065"/>
                </a:solidFill>
              </a:rPr>
              <a:t>formal parameters     (</a:t>
            </a:r>
            <a:r>
              <a:rPr lang="en-US" altLang="it-IT" sz="1800" i="1">
                <a:solidFill>
                  <a:srgbClr val="FF0065"/>
                </a:solidFill>
              </a:rPr>
              <a:t>c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,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b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 sz="1800">
              <a:solidFill>
                <a:srgbClr val="FF0000"/>
              </a:solidFill>
            </a:endParaRPr>
          </a:p>
          <a:p>
            <a:pPr eaLnBrk="1" hangingPunct="1"/>
            <a:r>
              <a:rPr lang="en-US" altLang="it-IT" sz="1800"/>
              <a:t>Must create storage for </a:t>
            </a:r>
            <a:r>
              <a:rPr lang="en-US" altLang="it-IT" sz="1800">
                <a:solidFill>
                  <a:srgbClr val="FF0065"/>
                </a:solidFill>
              </a:rPr>
              <a:t>local variables</a:t>
            </a:r>
            <a:r>
              <a:rPr lang="en-US" altLang="it-IT" sz="1800"/>
              <a:t>  (&amp;, maybe, parameters)</a:t>
            </a:r>
          </a:p>
          <a:p>
            <a:pPr lvl="1" eaLnBrk="1" hangingPunct="1"/>
            <a:r>
              <a:rPr lang="en-US" altLang="it-IT" i="1"/>
              <a:t>p</a:t>
            </a:r>
            <a:r>
              <a:rPr lang="en-US" altLang="it-IT"/>
              <a:t> needs space for </a:t>
            </a:r>
            <a:r>
              <a:rPr lang="en-US" altLang="it-IT" i="1"/>
              <a:t>d</a:t>
            </a:r>
            <a:r>
              <a:rPr lang="en-US" altLang="it-IT"/>
              <a:t>  (&amp;, maybe, </a:t>
            </a:r>
            <a:r>
              <a:rPr lang="en-US" altLang="it-IT" i="1"/>
              <a:t>a, b</a:t>
            </a:r>
            <a:r>
              <a:rPr lang="en-US" altLang="it-IT"/>
              <a:t>, &amp; </a:t>
            </a:r>
            <a:r>
              <a:rPr lang="en-US" altLang="it-IT" i="1"/>
              <a:t>c</a:t>
            </a:r>
            <a:r>
              <a:rPr lang="en-US" altLang="it-IT"/>
              <a:t>)</a:t>
            </a:r>
          </a:p>
          <a:p>
            <a:pPr lvl="1" eaLnBrk="1" hangingPunct="1"/>
            <a:r>
              <a:rPr lang="en-US" altLang="it-IT"/>
              <a:t>where does this space go in recursive invocations?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endParaRPr lang="en-US" altLang="it-IT" i="1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endParaRPr lang="en-US" altLang="it-IT" i="1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endParaRPr lang="en-US" altLang="it-IT" i="1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endParaRPr lang="en-US" altLang="it-IT" i="1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endParaRPr lang="en-US" altLang="it-IT" i="1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i="1"/>
              <a:t>Compiler </a:t>
            </a:r>
            <a:r>
              <a:rPr lang="en-US" altLang="it-IT" i="1" u="sng"/>
              <a:t>emits</a:t>
            </a:r>
            <a:r>
              <a:rPr lang="en-US" altLang="it-IT" i="1"/>
              <a:t> code that causes all this to happen at run time</a:t>
            </a:r>
            <a:r>
              <a:rPr lang="en-US" altLang="it-IT"/>
              <a:t> </a:t>
            </a:r>
          </a:p>
        </p:txBody>
      </p:sp>
      <p:grpSp>
        <p:nvGrpSpPr>
          <p:cNvPr id="45061" name="Group 24">
            <a:extLst>
              <a:ext uri="{FF2B5EF4-FFF2-40B4-BE49-F238E27FC236}">
                <a16:creationId xmlns:a16="http://schemas.microsoft.com/office/drawing/2014/main" id="{049E9E17-736A-41C6-8D06-3863E2CE2C1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471863"/>
            <a:ext cx="6542088" cy="2743200"/>
            <a:chOff x="528" y="1872"/>
            <a:chExt cx="4121" cy="1728"/>
          </a:xfrm>
        </p:grpSpPr>
        <p:sp>
          <p:nvSpPr>
            <p:cNvPr id="45062" name="Text Box 25">
              <a:extLst>
                <a:ext uri="{FF2B5EF4-FFF2-40B4-BE49-F238E27FC236}">
                  <a16:creationId xmlns:a16="http://schemas.microsoft.com/office/drawing/2014/main" id="{A3903A05-D722-4D7E-9FA6-B5C4F7261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72"/>
              <a:ext cx="1248" cy="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int p(a,b,c)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int a, b, c;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{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int   d;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d = q(c,b);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...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}</a:t>
              </a:r>
            </a:p>
          </p:txBody>
        </p:sp>
        <p:sp>
          <p:nvSpPr>
            <p:cNvPr id="45063" name="Text Box 26">
              <a:extLst>
                <a:ext uri="{FF2B5EF4-FFF2-40B4-BE49-F238E27FC236}">
                  <a16:creationId xmlns:a16="http://schemas.microsoft.com/office/drawing/2014/main" id="{FB679660-DBBA-44E5-9239-5F2CB0E5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" y="2012"/>
              <a:ext cx="1248" cy="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int q(x,y)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int x,y;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{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if ( … 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   x = q(x-1,y);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return x + y;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}</a:t>
              </a:r>
            </a:p>
          </p:txBody>
        </p:sp>
        <p:cxnSp>
          <p:nvCxnSpPr>
            <p:cNvPr id="45064" name="AutoShape 27">
              <a:extLst>
                <a:ext uri="{FF2B5EF4-FFF2-40B4-BE49-F238E27FC236}">
                  <a16:creationId xmlns:a16="http://schemas.microsoft.com/office/drawing/2014/main" id="{06A31273-C562-48A0-BD7C-2C7FD4A614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54" y="2139"/>
              <a:ext cx="888" cy="46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65" name="Rectangle 28">
              <a:extLst>
                <a:ext uri="{FF2B5EF4-FFF2-40B4-BE49-F238E27FC236}">
                  <a16:creationId xmlns:a16="http://schemas.microsoft.com/office/drawing/2014/main" id="{E593551D-AE69-4789-B0D4-4E7CAA87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2552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5066" name="AutoShape 29">
              <a:extLst>
                <a:ext uri="{FF2B5EF4-FFF2-40B4-BE49-F238E27FC236}">
                  <a16:creationId xmlns:a16="http://schemas.microsoft.com/office/drawing/2014/main" id="{C41F4C88-D93A-4F84-B660-9E33C0225617}"/>
                </a:ext>
              </a:extLst>
            </p:cNvPr>
            <p:cNvCxnSpPr>
              <a:cxnSpLocks noChangeShapeType="1"/>
              <a:stCxn id="45063" idx="2"/>
            </p:cNvCxnSpPr>
            <p:nvPr/>
          </p:nvCxnSpPr>
          <p:spPr bwMode="auto">
            <a:xfrm rot="16200000" flipV="1">
              <a:off x="3007" y="2177"/>
              <a:ext cx="556" cy="1481"/>
            </a:xfrm>
            <a:prstGeom prst="curvedConnector4">
              <a:avLst>
                <a:gd name="adj1" fmla="val -25898"/>
                <a:gd name="adj2" fmla="val 71032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67" name="Rectangle 30">
              <a:extLst>
                <a:ext uri="{FF2B5EF4-FFF2-40B4-BE49-F238E27FC236}">
                  <a16:creationId xmlns:a16="http://schemas.microsoft.com/office/drawing/2014/main" id="{FB1DA5FB-E7A6-4BB1-9477-CF2E1402E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640"/>
              <a:ext cx="9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068" name="Rectangle 31">
              <a:extLst>
                <a:ext uri="{FF2B5EF4-FFF2-40B4-BE49-F238E27FC236}">
                  <a16:creationId xmlns:a16="http://schemas.microsoft.com/office/drawing/2014/main" id="{D5F3A499-3DE0-45AB-8051-B9C5394F4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069" name="Rectangle 32">
              <a:extLst>
                <a:ext uri="{FF2B5EF4-FFF2-40B4-BE49-F238E27FC236}">
                  <a16:creationId xmlns:a16="http://schemas.microsoft.com/office/drawing/2014/main" id="{81732298-32F0-424A-A0F2-91DE74787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4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070" name="Rectangle 33">
              <a:extLst>
                <a:ext uri="{FF2B5EF4-FFF2-40B4-BE49-F238E27FC236}">
                  <a16:creationId xmlns:a16="http://schemas.microsoft.com/office/drawing/2014/main" id="{8BBC3BC4-DF70-4278-B376-C71439CAF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72"/>
              <a:ext cx="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5071" name="AutoShape 34">
              <a:extLst>
                <a:ext uri="{FF2B5EF4-FFF2-40B4-BE49-F238E27FC236}">
                  <a16:creationId xmlns:a16="http://schemas.microsoft.com/office/drawing/2014/main" id="{8207D81B-BF8F-48DA-AF53-A32C16BFEF4F}"/>
                </a:ext>
              </a:extLst>
            </p:cNvPr>
            <p:cNvCxnSpPr>
              <a:cxnSpLocks noChangeShapeType="1"/>
              <a:stCxn id="45069" idx="0"/>
              <a:endCxn id="45070" idx="1"/>
            </p:cNvCxnSpPr>
            <p:nvPr/>
          </p:nvCxnSpPr>
          <p:spPr bwMode="auto">
            <a:xfrm rot="-5400000">
              <a:off x="1044" y="1812"/>
              <a:ext cx="528" cy="840"/>
            </a:xfrm>
            <a:prstGeom prst="curvedConnector2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2" name="Rectangle 35">
              <a:extLst>
                <a:ext uri="{FF2B5EF4-FFF2-40B4-BE49-F238E27FC236}">
                  <a16:creationId xmlns:a16="http://schemas.microsoft.com/office/drawing/2014/main" id="{CFDE4029-CEA5-4900-A3DD-B111AE00A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073" name="Rectangle 36">
              <a:extLst>
                <a:ext uri="{FF2B5EF4-FFF2-40B4-BE49-F238E27FC236}">
                  <a16:creationId xmlns:a16="http://schemas.microsoft.com/office/drawing/2014/main" id="{44451EA4-6162-4DCF-9ED9-29ED8C231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4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5074" name="AutoShape 37">
              <a:extLst>
                <a:ext uri="{FF2B5EF4-FFF2-40B4-BE49-F238E27FC236}">
                  <a16:creationId xmlns:a16="http://schemas.microsoft.com/office/drawing/2014/main" id="{32C001A3-DE8B-4324-8798-620AAF54AEEA}"/>
                </a:ext>
              </a:extLst>
            </p:cNvPr>
            <p:cNvCxnSpPr>
              <a:cxnSpLocks noChangeShapeType="1"/>
              <a:stCxn id="45072" idx="2"/>
              <a:endCxn id="45076" idx="5"/>
            </p:cNvCxnSpPr>
            <p:nvPr/>
          </p:nvCxnSpPr>
          <p:spPr bwMode="auto">
            <a:xfrm rot="16200000" flipV="1">
              <a:off x="1050" y="2227"/>
              <a:ext cx="405" cy="1190"/>
            </a:xfrm>
            <a:prstGeom prst="curvedConnector3">
              <a:avLst>
                <a:gd name="adj1" fmla="val 59505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5" name="Text Box 38">
              <a:extLst>
                <a:ext uri="{FF2B5EF4-FFF2-40B4-BE49-F238E27FC236}">
                  <a16:creationId xmlns:a16="http://schemas.microsoft.com/office/drawing/2014/main" id="{4753C70C-5D42-432F-A575-9A79AC003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04"/>
              <a:ext cx="91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…</a:t>
              </a:r>
            </a:p>
            <a:p>
              <a:r>
                <a:rPr lang="en-US" altLang="it-IT" sz="1600">
                  <a:latin typeface="Arial Rounded MT Bold" panose="020F0704030504030204" pitchFamily="34" charset="0"/>
                </a:rPr>
                <a:t>s = p(10,t,u);</a:t>
              </a:r>
            </a:p>
            <a:p>
              <a:r>
                <a:rPr lang="en-US" altLang="it-IT" sz="1600">
                  <a:latin typeface="Arial Rounded MT Bold" panose="020F0704030504030204" pitchFamily="34" charset="0"/>
                </a:rPr>
                <a:t>…</a:t>
              </a:r>
            </a:p>
          </p:txBody>
        </p:sp>
        <p:sp>
          <p:nvSpPr>
            <p:cNvPr id="45076" name="Oval 39">
              <a:extLst>
                <a:ext uri="{FF2B5EF4-FFF2-40B4-BE49-F238E27FC236}">
                  <a16:creationId xmlns:a16="http://schemas.microsoft.com/office/drawing/2014/main" id="{132B867E-9FEC-412C-9EAE-1C736FFC6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96"/>
              <a:ext cx="96" cy="144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077" name="Rectangle 40">
              <a:extLst>
                <a:ext uri="{FF2B5EF4-FFF2-40B4-BE49-F238E27FC236}">
                  <a16:creationId xmlns:a16="http://schemas.microsoft.com/office/drawing/2014/main" id="{183B4C4D-311D-4CEE-BCF2-A746123B8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80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5078" name="AutoShape 41">
              <a:extLst>
                <a:ext uri="{FF2B5EF4-FFF2-40B4-BE49-F238E27FC236}">
                  <a16:creationId xmlns:a16="http://schemas.microsoft.com/office/drawing/2014/main" id="{DD326DFE-561A-4D68-8144-7F89DC27FB1F}"/>
                </a:ext>
              </a:extLst>
            </p:cNvPr>
            <p:cNvCxnSpPr>
              <a:cxnSpLocks noChangeShapeType="1"/>
              <a:stCxn id="45077" idx="2"/>
              <a:endCxn id="45077" idx="0"/>
            </p:cNvCxnSpPr>
            <p:nvPr/>
          </p:nvCxnSpPr>
          <p:spPr bwMode="auto">
            <a:xfrm rot="5400000" flipH="1" flipV="1">
              <a:off x="4273" y="2775"/>
              <a:ext cx="192" cy="1"/>
            </a:xfrm>
            <a:prstGeom prst="curvedConnector5">
              <a:avLst>
                <a:gd name="adj1" fmla="val -75000"/>
                <a:gd name="adj2" fmla="val 19200009"/>
                <a:gd name="adj3" fmla="val 175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9" name="Rectangle 42">
              <a:extLst>
                <a:ext uri="{FF2B5EF4-FFF2-40B4-BE49-F238E27FC236}">
                  <a16:creationId xmlns:a16="http://schemas.microsoft.com/office/drawing/2014/main" id="{42AD5103-8557-48ED-9D65-CC1621C3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216"/>
              <a:ext cx="33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080" name="Rectangle 43">
              <a:extLst>
                <a:ext uri="{FF2B5EF4-FFF2-40B4-BE49-F238E27FC236}">
                  <a16:creationId xmlns:a16="http://schemas.microsoft.com/office/drawing/2014/main" id="{600757BC-F51E-4E54-A5C8-C9C663B3D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68"/>
              <a:ext cx="9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2611CA22-ABEF-4C81-8C75-AA4E8DC9E9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D95E4C40-3506-4FAE-8293-DF5B005E34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EC8811A-4315-49F0-87C9-4B9B83BAC9AF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4357A8A-E3A5-46EC-B1C3-F6F95F923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as a Control Abstraction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12242DC-22A8-4F78-B95C-0CFA7C96E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4102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Implementing procedures with this behavior</a:t>
            </a:r>
            <a:endParaRPr lang="en-US" altLang="it-IT"/>
          </a:p>
          <a:p>
            <a:pPr eaLnBrk="1" hangingPunct="1"/>
            <a:r>
              <a:rPr lang="en-US" altLang="it-IT" sz="1800"/>
              <a:t>Must preserve </a:t>
            </a:r>
            <a:r>
              <a:rPr lang="en-US" altLang="it-IT" sz="1800" i="1"/>
              <a:t>p</a:t>
            </a:r>
            <a:r>
              <a:rPr lang="en-US" altLang="it-IT" sz="1800"/>
              <a:t>’s </a:t>
            </a:r>
            <a:r>
              <a:rPr lang="en-US" altLang="it-IT" sz="1800">
                <a:solidFill>
                  <a:srgbClr val="FF0065"/>
                </a:solidFill>
              </a:rPr>
              <a:t>state</a:t>
            </a:r>
            <a:r>
              <a:rPr lang="en-US" altLang="it-IT" sz="1800"/>
              <a:t> while </a:t>
            </a:r>
            <a:r>
              <a:rPr lang="en-US" altLang="it-IT" sz="1800" i="1"/>
              <a:t>q</a:t>
            </a:r>
            <a:r>
              <a:rPr lang="en-US" altLang="it-IT" sz="1800"/>
              <a:t> executes</a:t>
            </a:r>
          </a:p>
          <a:p>
            <a:pPr lvl="1" eaLnBrk="1" hangingPunct="1"/>
            <a:r>
              <a:rPr lang="en-US" altLang="it-IT"/>
              <a:t>recursion causes the real problem here</a:t>
            </a:r>
          </a:p>
          <a:p>
            <a:pPr eaLnBrk="1" hangingPunct="1"/>
            <a:r>
              <a:rPr lang="en-US" altLang="it-IT" sz="1800" i="1"/>
              <a:t>Strategy:</a:t>
            </a:r>
            <a:r>
              <a:rPr lang="en-US" altLang="it-IT" sz="1800"/>
              <a:t> Create unique location for each procedure </a:t>
            </a:r>
            <a:r>
              <a:rPr lang="en-US" altLang="it-IT" sz="1800">
                <a:solidFill>
                  <a:srgbClr val="FF0065"/>
                </a:solidFill>
              </a:rPr>
              <a:t>activation</a:t>
            </a:r>
            <a:endParaRPr lang="en-US" altLang="it-IT" sz="1800">
              <a:solidFill>
                <a:srgbClr val="996600"/>
              </a:solidFill>
            </a:endParaRPr>
          </a:p>
          <a:p>
            <a:pPr lvl="1" eaLnBrk="1" hangingPunct="1"/>
            <a:r>
              <a:rPr lang="en-US" altLang="it-IT"/>
              <a:t>In simple situations, can use a “stack” of memory blocks to hold local storage and return addresses       </a:t>
            </a:r>
            <a:r>
              <a:rPr lang="en-US" altLang="it-IT">
                <a:solidFill>
                  <a:srgbClr val="FF0065"/>
                </a:solidFill>
              </a:rPr>
              <a:t>(</a:t>
            </a:r>
            <a:r>
              <a:rPr lang="en-US" altLang="it-IT" sz="1600" i="1">
                <a:solidFill>
                  <a:srgbClr val="FF0065"/>
                </a:solidFill>
              </a:rPr>
              <a:t>closures ⇒ heap allocate</a:t>
            </a:r>
            <a:r>
              <a:rPr lang="en-US" altLang="it-IT">
                <a:solidFill>
                  <a:srgbClr val="FF0065"/>
                </a:solidFill>
              </a:rPr>
              <a:t>)</a:t>
            </a:r>
          </a:p>
          <a:p>
            <a:pPr lvl="1" eaLnBrk="1" hangingPunct="1"/>
            <a:endParaRPr lang="en-US" altLang="it-IT"/>
          </a:p>
          <a:p>
            <a:pPr lvl="1" eaLnBrk="1" hangingPunct="1"/>
            <a:endParaRPr lang="en-US" altLang="it-IT"/>
          </a:p>
          <a:p>
            <a:pPr lvl="1" eaLnBrk="1" hangingPunct="1"/>
            <a:endParaRPr lang="en-US" altLang="it-IT"/>
          </a:p>
          <a:p>
            <a:pPr lvl="1" eaLnBrk="1" hangingPunct="1"/>
            <a:endParaRPr lang="en-US" altLang="it-IT"/>
          </a:p>
          <a:p>
            <a:pPr lvl="1" eaLnBrk="1" hangingPunct="1">
              <a:spcBef>
                <a:spcPct val="100000"/>
              </a:spcBef>
            </a:pPr>
            <a:endParaRPr lang="en-US" altLang="it-IT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endParaRPr lang="en-US" altLang="it-IT" i="1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i="1"/>
              <a:t>Compiler </a:t>
            </a:r>
            <a:r>
              <a:rPr lang="en-US" altLang="it-IT" i="1" u="sng"/>
              <a:t>emits</a:t>
            </a:r>
            <a:r>
              <a:rPr lang="en-US" altLang="it-IT" i="1"/>
              <a:t> code that causes all this to happen at run time</a:t>
            </a:r>
            <a:r>
              <a:rPr lang="en-US" altLang="it-IT"/>
              <a:t> </a:t>
            </a:r>
          </a:p>
        </p:txBody>
      </p:sp>
      <p:grpSp>
        <p:nvGrpSpPr>
          <p:cNvPr id="47109" name="Group 24">
            <a:extLst>
              <a:ext uri="{FF2B5EF4-FFF2-40B4-BE49-F238E27FC236}">
                <a16:creationId xmlns:a16="http://schemas.microsoft.com/office/drawing/2014/main" id="{1C311FF1-4D6C-4462-8A50-90C38130682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429000"/>
            <a:ext cx="6542088" cy="2743200"/>
            <a:chOff x="528" y="1872"/>
            <a:chExt cx="4121" cy="1728"/>
          </a:xfrm>
        </p:grpSpPr>
        <p:sp>
          <p:nvSpPr>
            <p:cNvPr id="47110" name="Text Box 25">
              <a:extLst>
                <a:ext uri="{FF2B5EF4-FFF2-40B4-BE49-F238E27FC236}">
                  <a16:creationId xmlns:a16="http://schemas.microsoft.com/office/drawing/2014/main" id="{B742F105-21D2-42E7-AAF0-200ADFE9D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72"/>
              <a:ext cx="1248" cy="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int p(a,b,c)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int a, b, c;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{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int   d;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d = q(c,b);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...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}</a:t>
              </a:r>
            </a:p>
          </p:txBody>
        </p:sp>
        <p:sp>
          <p:nvSpPr>
            <p:cNvPr id="47111" name="Text Box 26">
              <a:extLst>
                <a:ext uri="{FF2B5EF4-FFF2-40B4-BE49-F238E27FC236}">
                  <a16:creationId xmlns:a16="http://schemas.microsoft.com/office/drawing/2014/main" id="{9648EAD1-BE67-4C86-B6CB-8877122CA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" y="2012"/>
              <a:ext cx="1248" cy="1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int q(x,y)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int x,y;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{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if ( … )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   x = q(x-1,y);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return x + y;</a:t>
              </a:r>
            </a:p>
            <a:p>
              <a:pPr>
                <a:spcBef>
                  <a:spcPct val="5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}</a:t>
              </a:r>
            </a:p>
          </p:txBody>
        </p:sp>
        <p:cxnSp>
          <p:nvCxnSpPr>
            <p:cNvPr id="47112" name="AutoShape 27">
              <a:extLst>
                <a:ext uri="{FF2B5EF4-FFF2-40B4-BE49-F238E27FC236}">
                  <a16:creationId xmlns:a16="http://schemas.microsoft.com/office/drawing/2014/main" id="{22F3B647-4B96-4186-9384-E3E3E95FA5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54" y="2139"/>
              <a:ext cx="888" cy="46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13" name="Rectangle 28">
              <a:extLst>
                <a:ext uri="{FF2B5EF4-FFF2-40B4-BE49-F238E27FC236}">
                  <a16:creationId xmlns:a16="http://schemas.microsoft.com/office/drawing/2014/main" id="{911AB689-3B3D-4E21-A774-681759547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2552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7114" name="AutoShape 29">
              <a:extLst>
                <a:ext uri="{FF2B5EF4-FFF2-40B4-BE49-F238E27FC236}">
                  <a16:creationId xmlns:a16="http://schemas.microsoft.com/office/drawing/2014/main" id="{3AB8089A-C2B6-400B-BF11-31B0C60B51B8}"/>
                </a:ext>
              </a:extLst>
            </p:cNvPr>
            <p:cNvCxnSpPr>
              <a:cxnSpLocks noChangeShapeType="1"/>
              <a:stCxn id="47111" idx="2"/>
            </p:cNvCxnSpPr>
            <p:nvPr/>
          </p:nvCxnSpPr>
          <p:spPr bwMode="auto">
            <a:xfrm rot="16200000" flipV="1">
              <a:off x="3007" y="2177"/>
              <a:ext cx="556" cy="1481"/>
            </a:xfrm>
            <a:prstGeom prst="curvedConnector4">
              <a:avLst>
                <a:gd name="adj1" fmla="val -25898"/>
                <a:gd name="adj2" fmla="val 71032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15" name="Rectangle 30">
              <a:extLst>
                <a:ext uri="{FF2B5EF4-FFF2-40B4-BE49-F238E27FC236}">
                  <a16:creationId xmlns:a16="http://schemas.microsoft.com/office/drawing/2014/main" id="{1C5DF7F9-C4C0-488A-83B5-1C5020580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640"/>
              <a:ext cx="9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7116" name="Rectangle 31">
              <a:extLst>
                <a:ext uri="{FF2B5EF4-FFF2-40B4-BE49-F238E27FC236}">
                  <a16:creationId xmlns:a16="http://schemas.microsoft.com/office/drawing/2014/main" id="{E18D9242-360C-450F-BBBE-79C418F99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7117" name="Rectangle 32">
              <a:extLst>
                <a:ext uri="{FF2B5EF4-FFF2-40B4-BE49-F238E27FC236}">
                  <a16:creationId xmlns:a16="http://schemas.microsoft.com/office/drawing/2014/main" id="{40AB192B-0B51-4765-8463-C449E10FB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4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7118" name="Rectangle 33">
              <a:extLst>
                <a:ext uri="{FF2B5EF4-FFF2-40B4-BE49-F238E27FC236}">
                  <a16:creationId xmlns:a16="http://schemas.microsoft.com/office/drawing/2014/main" id="{CE8E3C5F-B50D-4EA3-9947-E83FCF448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72"/>
              <a:ext cx="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7119" name="AutoShape 34">
              <a:extLst>
                <a:ext uri="{FF2B5EF4-FFF2-40B4-BE49-F238E27FC236}">
                  <a16:creationId xmlns:a16="http://schemas.microsoft.com/office/drawing/2014/main" id="{18FB6CF4-B135-417B-A7D9-252530B52F98}"/>
                </a:ext>
              </a:extLst>
            </p:cNvPr>
            <p:cNvCxnSpPr>
              <a:cxnSpLocks noChangeShapeType="1"/>
              <a:stCxn id="47117" idx="0"/>
              <a:endCxn id="47118" idx="1"/>
            </p:cNvCxnSpPr>
            <p:nvPr/>
          </p:nvCxnSpPr>
          <p:spPr bwMode="auto">
            <a:xfrm rot="-5400000">
              <a:off x="1044" y="1812"/>
              <a:ext cx="528" cy="840"/>
            </a:xfrm>
            <a:prstGeom prst="curvedConnector2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20" name="Rectangle 35">
              <a:extLst>
                <a:ext uri="{FF2B5EF4-FFF2-40B4-BE49-F238E27FC236}">
                  <a16:creationId xmlns:a16="http://schemas.microsoft.com/office/drawing/2014/main" id="{F45D370A-C06F-4B67-B01E-78E2DFB92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7121" name="Rectangle 36">
              <a:extLst>
                <a:ext uri="{FF2B5EF4-FFF2-40B4-BE49-F238E27FC236}">
                  <a16:creationId xmlns:a16="http://schemas.microsoft.com/office/drawing/2014/main" id="{B52D4536-03AC-4F20-B689-C56E61B75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4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7122" name="AutoShape 37">
              <a:extLst>
                <a:ext uri="{FF2B5EF4-FFF2-40B4-BE49-F238E27FC236}">
                  <a16:creationId xmlns:a16="http://schemas.microsoft.com/office/drawing/2014/main" id="{4F3FFB69-A53E-4B59-9B8D-CD42CA4C52FC}"/>
                </a:ext>
              </a:extLst>
            </p:cNvPr>
            <p:cNvCxnSpPr>
              <a:cxnSpLocks noChangeShapeType="1"/>
              <a:stCxn id="47120" idx="2"/>
              <a:endCxn id="47124" idx="5"/>
            </p:cNvCxnSpPr>
            <p:nvPr/>
          </p:nvCxnSpPr>
          <p:spPr bwMode="auto">
            <a:xfrm rot="16200000" flipV="1">
              <a:off x="1050" y="2227"/>
              <a:ext cx="405" cy="1190"/>
            </a:xfrm>
            <a:prstGeom prst="curvedConnector3">
              <a:avLst>
                <a:gd name="adj1" fmla="val 59505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23" name="Text Box 38">
              <a:extLst>
                <a:ext uri="{FF2B5EF4-FFF2-40B4-BE49-F238E27FC236}">
                  <a16:creationId xmlns:a16="http://schemas.microsoft.com/office/drawing/2014/main" id="{36EE6873-B7FD-4580-A2B1-3833BC420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04"/>
              <a:ext cx="91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latin typeface="Arial Rounded MT Bold" panose="020F0704030504030204" pitchFamily="34" charset="0"/>
                </a:rPr>
                <a:t>…</a:t>
              </a:r>
            </a:p>
            <a:p>
              <a:r>
                <a:rPr lang="en-US" altLang="it-IT" sz="1600">
                  <a:latin typeface="Arial Rounded MT Bold" panose="020F0704030504030204" pitchFamily="34" charset="0"/>
                </a:rPr>
                <a:t>s = p(10,t,u);</a:t>
              </a:r>
            </a:p>
            <a:p>
              <a:r>
                <a:rPr lang="en-US" altLang="it-IT" sz="1600">
                  <a:latin typeface="Arial Rounded MT Bold" panose="020F0704030504030204" pitchFamily="34" charset="0"/>
                </a:rPr>
                <a:t>…</a:t>
              </a:r>
            </a:p>
          </p:txBody>
        </p:sp>
        <p:sp>
          <p:nvSpPr>
            <p:cNvPr id="47124" name="Oval 39">
              <a:extLst>
                <a:ext uri="{FF2B5EF4-FFF2-40B4-BE49-F238E27FC236}">
                  <a16:creationId xmlns:a16="http://schemas.microsoft.com/office/drawing/2014/main" id="{F8D3A3F6-8675-48EF-81CC-D092FE744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96"/>
              <a:ext cx="96" cy="144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7125" name="Rectangle 40">
              <a:extLst>
                <a:ext uri="{FF2B5EF4-FFF2-40B4-BE49-F238E27FC236}">
                  <a16:creationId xmlns:a16="http://schemas.microsoft.com/office/drawing/2014/main" id="{C14862B6-2218-418F-B357-1B9294D1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80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47126" name="AutoShape 41">
              <a:extLst>
                <a:ext uri="{FF2B5EF4-FFF2-40B4-BE49-F238E27FC236}">
                  <a16:creationId xmlns:a16="http://schemas.microsoft.com/office/drawing/2014/main" id="{DBA105A7-DA94-4335-85C9-1716992AD893}"/>
                </a:ext>
              </a:extLst>
            </p:cNvPr>
            <p:cNvCxnSpPr>
              <a:cxnSpLocks noChangeShapeType="1"/>
              <a:stCxn id="47125" idx="2"/>
              <a:endCxn id="47125" idx="0"/>
            </p:cNvCxnSpPr>
            <p:nvPr/>
          </p:nvCxnSpPr>
          <p:spPr bwMode="auto">
            <a:xfrm rot="5400000" flipH="1" flipV="1">
              <a:off x="4273" y="2775"/>
              <a:ext cx="192" cy="1"/>
            </a:xfrm>
            <a:prstGeom prst="curvedConnector5">
              <a:avLst>
                <a:gd name="adj1" fmla="val -75000"/>
                <a:gd name="adj2" fmla="val 19200009"/>
                <a:gd name="adj3" fmla="val 175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27" name="Rectangle 42">
              <a:extLst>
                <a:ext uri="{FF2B5EF4-FFF2-40B4-BE49-F238E27FC236}">
                  <a16:creationId xmlns:a16="http://schemas.microsoft.com/office/drawing/2014/main" id="{E8721445-76C8-4A87-ABDC-C3CC00DE5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216"/>
              <a:ext cx="33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7128" name="Rectangle 43">
              <a:extLst>
                <a:ext uri="{FF2B5EF4-FFF2-40B4-BE49-F238E27FC236}">
                  <a16:creationId xmlns:a16="http://schemas.microsoft.com/office/drawing/2014/main" id="{AC6C15DB-55EE-466A-95CD-4E4C9D677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68"/>
              <a:ext cx="9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48C73203-D494-4384-B420-05642DB51C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4" name="Slide Number Placeholder 4">
            <a:extLst>
              <a:ext uri="{FF2B5EF4-FFF2-40B4-BE49-F238E27FC236}">
                <a16:creationId xmlns:a16="http://schemas.microsoft.com/office/drawing/2014/main" id="{12FAE13B-3956-4BA4-A616-51801FA88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B683633-573A-4B98-9CCD-F26EDCE87B86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9AEF18D-7638-4485-8776-F98129BDE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1054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/>
              <a:t>In essence, the procedure linkage wraps around the unique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code of each procedure to give it a uniform interface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Similar to building a brick wall rather than a rock wall</a:t>
            </a: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3564C074-44C3-446D-B44C-E9D7239BC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it-IT"/>
              <a:t>The Procedure as a Control Abstraction</a:t>
            </a:r>
          </a:p>
        </p:txBody>
      </p:sp>
      <p:grpSp>
        <p:nvGrpSpPr>
          <p:cNvPr id="49157" name="Group 103">
            <a:extLst>
              <a:ext uri="{FF2B5EF4-FFF2-40B4-BE49-F238E27FC236}">
                <a16:creationId xmlns:a16="http://schemas.microsoft.com/office/drawing/2014/main" id="{424F3683-D086-4A5C-A9F6-361FA31E808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133600"/>
            <a:ext cx="4191000" cy="3200400"/>
            <a:chOff x="240" y="1344"/>
            <a:chExt cx="2640" cy="2016"/>
          </a:xfrm>
        </p:grpSpPr>
        <p:sp>
          <p:nvSpPr>
            <p:cNvPr id="49196" name="Freeform 6">
              <a:extLst>
                <a:ext uri="{FF2B5EF4-FFF2-40B4-BE49-F238E27FC236}">
                  <a16:creationId xmlns:a16="http://schemas.microsoft.com/office/drawing/2014/main" id="{A193C1BE-AB31-4170-91F1-03071CFC39F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3" y="1344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97" name="Text Box 7">
              <a:extLst>
                <a:ext uri="{FF2B5EF4-FFF2-40B4-BE49-F238E27FC236}">
                  <a16:creationId xmlns:a16="http://schemas.microsoft.com/office/drawing/2014/main" id="{45118747-5C28-44B0-8EC1-CE4E5106E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83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98" name="Freeform 9">
              <a:extLst>
                <a:ext uri="{FF2B5EF4-FFF2-40B4-BE49-F238E27FC236}">
                  <a16:creationId xmlns:a16="http://schemas.microsoft.com/office/drawing/2014/main" id="{A8CE1AB2-ACAE-4432-B12C-6E4267D7EA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9" y="1872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99" name="Text Box 10">
              <a:extLst>
                <a:ext uri="{FF2B5EF4-FFF2-40B4-BE49-F238E27FC236}">
                  <a16:creationId xmlns:a16="http://schemas.microsoft.com/office/drawing/2014/main" id="{CA1D96B6-0745-4F6B-8AEA-F245DF8F0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011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00" name="Freeform 12">
              <a:extLst>
                <a:ext uri="{FF2B5EF4-FFF2-40B4-BE49-F238E27FC236}">
                  <a16:creationId xmlns:a16="http://schemas.microsoft.com/office/drawing/2014/main" id="{1FACCCBB-4940-493D-8E06-E0ACACCA5A4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9" y="2311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01" name="Text Box 13">
              <a:extLst>
                <a:ext uri="{FF2B5EF4-FFF2-40B4-BE49-F238E27FC236}">
                  <a16:creationId xmlns:a16="http://schemas.microsoft.com/office/drawing/2014/main" id="{EC802B05-D57B-41E8-A9B5-7D84F8262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450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02" name="Freeform 15">
              <a:extLst>
                <a:ext uri="{FF2B5EF4-FFF2-40B4-BE49-F238E27FC236}">
                  <a16:creationId xmlns:a16="http://schemas.microsoft.com/office/drawing/2014/main" id="{4F9688D6-8894-4588-876A-9046A305657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5" y="2839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03" name="Text Box 16">
              <a:extLst>
                <a:ext uri="{FF2B5EF4-FFF2-40B4-BE49-F238E27FC236}">
                  <a16:creationId xmlns:a16="http://schemas.microsoft.com/office/drawing/2014/main" id="{1EF96180-75C0-4BDE-B473-A8CA8F32B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978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04" name="Freeform 18">
              <a:extLst>
                <a:ext uri="{FF2B5EF4-FFF2-40B4-BE49-F238E27FC236}">
                  <a16:creationId xmlns:a16="http://schemas.microsoft.com/office/drawing/2014/main" id="{79D21DA7-776C-463F-B9AB-170741AE3FB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09" y="1351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05" name="Text Box 19">
              <a:extLst>
                <a:ext uri="{FF2B5EF4-FFF2-40B4-BE49-F238E27FC236}">
                  <a16:creationId xmlns:a16="http://schemas.microsoft.com/office/drawing/2014/main" id="{06F2A6EA-25FE-4679-BDB0-AC6934FF5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490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06" name="Freeform 21">
              <a:extLst>
                <a:ext uri="{FF2B5EF4-FFF2-40B4-BE49-F238E27FC236}">
                  <a16:creationId xmlns:a16="http://schemas.microsoft.com/office/drawing/2014/main" id="{0CAAA45A-1A3B-4ECF-BCAD-129BB0B8109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13" y="1831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07" name="Text Box 22">
              <a:extLst>
                <a:ext uri="{FF2B5EF4-FFF2-40B4-BE49-F238E27FC236}">
                  <a16:creationId xmlns:a16="http://schemas.microsoft.com/office/drawing/2014/main" id="{E9E71FBE-5E02-4D62-ADE9-48AA88F7B9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970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08" name="Freeform 24">
              <a:extLst>
                <a:ext uri="{FF2B5EF4-FFF2-40B4-BE49-F238E27FC236}">
                  <a16:creationId xmlns:a16="http://schemas.microsoft.com/office/drawing/2014/main" id="{08FFE4E9-5F7D-4173-9E3F-901405BFAF8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05" y="2366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09" name="Text Box 25">
              <a:extLst>
                <a:ext uri="{FF2B5EF4-FFF2-40B4-BE49-F238E27FC236}">
                  <a16:creationId xmlns:a16="http://schemas.microsoft.com/office/drawing/2014/main" id="{C050AE61-F65F-4F45-AF9A-28C6C0DB6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505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10" name="Freeform 27">
              <a:extLst>
                <a:ext uri="{FF2B5EF4-FFF2-40B4-BE49-F238E27FC236}">
                  <a16:creationId xmlns:a16="http://schemas.microsoft.com/office/drawing/2014/main" id="{D2E14425-1943-40D8-9B5F-40323D34D99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13" y="2887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11" name="Text Box 28">
              <a:extLst>
                <a:ext uri="{FF2B5EF4-FFF2-40B4-BE49-F238E27FC236}">
                  <a16:creationId xmlns:a16="http://schemas.microsoft.com/office/drawing/2014/main" id="{6DFCFBF9-B556-4F13-ADDC-50CBE7907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26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12" name="Freeform 30">
              <a:extLst>
                <a:ext uri="{FF2B5EF4-FFF2-40B4-BE49-F238E27FC236}">
                  <a16:creationId xmlns:a16="http://schemas.microsoft.com/office/drawing/2014/main" id="{CBF9395E-94A5-4167-8749-F85400454C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25" y="1358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13" name="Text Box 31">
              <a:extLst>
                <a:ext uri="{FF2B5EF4-FFF2-40B4-BE49-F238E27FC236}">
                  <a16:creationId xmlns:a16="http://schemas.microsoft.com/office/drawing/2014/main" id="{C8B0227E-4E5D-41B3-81DC-B6B228DCE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497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14" name="Freeform 33">
              <a:extLst>
                <a:ext uri="{FF2B5EF4-FFF2-40B4-BE49-F238E27FC236}">
                  <a16:creationId xmlns:a16="http://schemas.microsoft.com/office/drawing/2014/main" id="{57E4DF09-1A90-4D63-B093-EB2F706E4DD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9" y="1826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15" name="Text Box 34">
              <a:extLst>
                <a:ext uri="{FF2B5EF4-FFF2-40B4-BE49-F238E27FC236}">
                  <a16:creationId xmlns:a16="http://schemas.microsoft.com/office/drawing/2014/main" id="{E9841E31-D9E5-475B-A887-A74B1F4E8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965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16" name="Freeform 36">
              <a:extLst>
                <a:ext uri="{FF2B5EF4-FFF2-40B4-BE49-F238E27FC236}">
                  <a16:creationId xmlns:a16="http://schemas.microsoft.com/office/drawing/2014/main" id="{2A599EE7-04ED-42F8-AB3F-9ACF0E3393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73" y="2311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17" name="Text Box 37">
              <a:extLst>
                <a:ext uri="{FF2B5EF4-FFF2-40B4-BE49-F238E27FC236}">
                  <a16:creationId xmlns:a16="http://schemas.microsoft.com/office/drawing/2014/main" id="{F5DF5F71-31DD-420D-B66A-7D8957334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450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218" name="Freeform 39">
              <a:extLst>
                <a:ext uri="{FF2B5EF4-FFF2-40B4-BE49-F238E27FC236}">
                  <a16:creationId xmlns:a16="http://schemas.microsoft.com/office/drawing/2014/main" id="{856E3240-CF9D-4263-83DC-30A5D3D2C3C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29" y="2839"/>
              <a:ext cx="702" cy="473"/>
            </a:xfrm>
            <a:custGeom>
              <a:avLst/>
              <a:gdLst>
                <a:gd name="T0" fmla="*/ 0 w 2792"/>
                <a:gd name="T1" fmla="*/ 1 h 1880"/>
                <a:gd name="T2" fmla="*/ 0 w 2792"/>
                <a:gd name="T3" fmla="*/ 1 h 1880"/>
                <a:gd name="T4" fmla="*/ 1 w 2792"/>
                <a:gd name="T5" fmla="*/ 1 h 1880"/>
                <a:gd name="T6" fmla="*/ 1 w 2792"/>
                <a:gd name="T7" fmla="*/ 0 h 1880"/>
                <a:gd name="T8" fmla="*/ 1 w 2792"/>
                <a:gd name="T9" fmla="*/ 0 h 1880"/>
                <a:gd name="T10" fmla="*/ 1 w 2792"/>
                <a:gd name="T11" fmla="*/ 0 h 1880"/>
                <a:gd name="T12" fmla="*/ 1 w 2792"/>
                <a:gd name="T13" fmla="*/ 0 h 1880"/>
                <a:gd name="T14" fmla="*/ 2 w 2792"/>
                <a:gd name="T15" fmla="*/ 0 h 1880"/>
                <a:gd name="T16" fmla="*/ 2 w 2792"/>
                <a:gd name="T17" fmla="*/ 0 h 1880"/>
                <a:gd name="T18" fmla="*/ 2 w 2792"/>
                <a:gd name="T19" fmla="*/ 1 h 1880"/>
                <a:gd name="T20" fmla="*/ 2 w 2792"/>
                <a:gd name="T21" fmla="*/ 0 h 1880"/>
                <a:gd name="T22" fmla="*/ 2 w 2792"/>
                <a:gd name="T23" fmla="*/ 0 h 1880"/>
                <a:gd name="T24" fmla="*/ 3 w 2792"/>
                <a:gd name="T25" fmla="*/ 0 h 1880"/>
                <a:gd name="T26" fmla="*/ 3 w 2792"/>
                <a:gd name="T27" fmla="*/ 0 h 1880"/>
                <a:gd name="T28" fmla="*/ 3 w 2792"/>
                <a:gd name="T29" fmla="*/ 1 h 1880"/>
                <a:gd name="T30" fmla="*/ 3 w 2792"/>
                <a:gd name="T31" fmla="*/ 1 h 1880"/>
                <a:gd name="T32" fmla="*/ 3 w 2792"/>
                <a:gd name="T33" fmla="*/ 1 h 1880"/>
                <a:gd name="T34" fmla="*/ 3 w 2792"/>
                <a:gd name="T35" fmla="*/ 1 h 1880"/>
                <a:gd name="T36" fmla="*/ 3 w 2792"/>
                <a:gd name="T37" fmla="*/ 1 h 1880"/>
                <a:gd name="T38" fmla="*/ 3 w 2792"/>
                <a:gd name="T39" fmla="*/ 2 h 1880"/>
                <a:gd name="T40" fmla="*/ 2 w 2792"/>
                <a:gd name="T41" fmla="*/ 2 h 1880"/>
                <a:gd name="T42" fmla="*/ 1 w 2792"/>
                <a:gd name="T43" fmla="*/ 2 h 1880"/>
                <a:gd name="T44" fmla="*/ 1 w 2792"/>
                <a:gd name="T45" fmla="*/ 2 h 1880"/>
                <a:gd name="T46" fmla="*/ 0 w 2792"/>
                <a:gd name="T47" fmla="*/ 2 h 1880"/>
                <a:gd name="T48" fmla="*/ 0 w 2792"/>
                <a:gd name="T49" fmla="*/ 1 h 1880"/>
                <a:gd name="T50" fmla="*/ 0 w 2792"/>
                <a:gd name="T51" fmla="*/ 1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19" name="Text Box 40">
              <a:extLst>
                <a:ext uri="{FF2B5EF4-FFF2-40B4-BE49-F238E27FC236}">
                  <a16:creationId xmlns:a16="http://schemas.microsoft.com/office/drawing/2014/main" id="{9F201570-A265-48DA-BEF7-B62840BB0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978"/>
              <a:ext cx="7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</p:grpSp>
      <p:grpSp>
        <p:nvGrpSpPr>
          <p:cNvPr id="49158" name="Group 67">
            <a:extLst>
              <a:ext uri="{FF2B5EF4-FFF2-40B4-BE49-F238E27FC236}">
                <a16:creationId xmlns:a16="http://schemas.microsoft.com/office/drawing/2014/main" id="{4C985C95-0BF8-4BC4-9609-57077ED929F4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220913"/>
            <a:ext cx="3429000" cy="3048000"/>
            <a:chOff x="5029200" y="2220912"/>
            <a:chExt cx="3429000" cy="3048001"/>
          </a:xfrm>
        </p:grpSpPr>
        <p:sp>
          <p:nvSpPr>
            <p:cNvPr id="49160" name="Freeform 44">
              <a:extLst>
                <a:ext uri="{FF2B5EF4-FFF2-40B4-BE49-F238E27FC236}">
                  <a16:creationId xmlns:a16="http://schemas.microsoft.com/office/drawing/2014/main" id="{8C4FB21E-433C-4584-8776-FA82BFE193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3488" y="2220912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61" name="Text Box 45">
              <a:extLst>
                <a:ext uri="{FF2B5EF4-FFF2-40B4-BE49-F238E27FC236}">
                  <a16:creationId xmlns:a16="http://schemas.microsoft.com/office/drawing/2014/main" id="{57C44A9C-3A1F-4A97-B33F-D62CDB35E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438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62" name="Rectangle 46">
              <a:extLst>
                <a:ext uri="{FF2B5EF4-FFF2-40B4-BE49-F238E27FC236}">
                  <a16:creationId xmlns:a16="http://schemas.microsoft.com/office/drawing/2014/main" id="{25A07D2E-E602-4EE9-ACF0-FF3144707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2220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63" name="Freeform 49">
              <a:extLst>
                <a:ext uri="{FF2B5EF4-FFF2-40B4-BE49-F238E27FC236}">
                  <a16:creationId xmlns:a16="http://schemas.microsoft.com/office/drawing/2014/main" id="{DDBFA090-E4AE-49E2-9E2E-482B2A1F07D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86488" y="2220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64" name="Text Box 50">
              <a:extLst>
                <a:ext uri="{FF2B5EF4-FFF2-40B4-BE49-F238E27FC236}">
                  <a16:creationId xmlns:a16="http://schemas.microsoft.com/office/drawing/2014/main" id="{CD0D33CE-67E6-4D98-924E-9147BB12C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438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65" name="Rectangle 51">
              <a:extLst>
                <a:ext uri="{FF2B5EF4-FFF2-40B4-BE49-F238E27FC236}">
                  <a16:creationId xmlns:a16="http://schemas.microsoft.com/office/drawing/2014/main" id="{DBDAE702-C862-4027-B7A0-4C7C722E5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2220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66" name="Freeform 54">
              <a:extLst>
                <a:ext uri="{FF2B5EF4-FFF2-40B4-BE49-F238E27FC236}">
                  <a16:creationId xmlns:a16="http://schemas.microsoft.com/office/drawing/2014/main" id="{50847417-9DE6-44BE-A0DD-00ABBB888D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29488" y="2220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67" name="Text Box 55">
              <a:extLst>
                <a:ext uri="{FF2B5EF4-FFF2-40B4-BE49-F238E27FC236}">
                  <a16:creationId xmlns:a16="http://schemas.microsoft.com/office/drawing/2014/main" id="{ACAC78C4-FC88-4EF4-BC1F-14144C0F4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2438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68" name="Rectangle 56">
              <a:extLst>
                <a:ext uri="{FF2B5EF4-FFF2-40B4-BE49-F238E27FC236}">
                  <a16:creationId xmlns:a16="http://schemas.microsoft.com/office/drawing/2014/main" id="{7297BC55-600F-464F-B40B-E03B2637F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20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69" name="Freeform 59">
              <a:extLst>
                <a:ext uri="{FF2B5EF4-FFF2-40B4-BE49-F238E27FC236}">
                  <a16:creationId xmlns:a16="http://schemas.microsoft.com/office/drawing/2014/main" id="{512A7311-B393-4142-B308-0848F147B5C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3488" y="2982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0" name="Text Box 60">
              <a:extLst>
                <a:ext uri="{FF2B5EF4-FFF2-40B4-BE49-F238E27FC236}">
                  <a16:creationId xmlns:a16="http://schemas.microsoft.com/office/drawing/2014/main" id="{418AB8F2-DE7D-4458-9E06-B804FB303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3200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71" name="Rectangle 61">
              <a:extLst>
                <a:ext uri="{FF2B5EF4-FFF2-40B4-BE49-F238E27FC236}">
                  <a16:creationId xmlns:a16="http://schemas.microsoft.com/office/drawing/2014/main" id="{AA4C1E2B-FA8C-4637-9192-4974493A6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2982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2" name="Freeform 64">
              <a:extLst>
                <a:ext uri="{FF2B5EF4-FFF2-40B4-BE49-F238E27FC236}">
                  <a16:creationId xmlns:a16="http://schemas.microsoft.com/office/drawing/2014/main" id="{79E69407-E451-407A-95BE-410372C763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86488" y="2982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3" name="Text Box 65">
              <a:extLst>
                <a:ext uri="{FF2B5EF4-FFF2-40B4-BE49-F238E27FC236}">
                  <a16:creationId xmlns:a16="http://schemas.microsoft.com/office/drawing/2014/main" id="{3C04FF35-0828-4483-96AB-543562C3E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74" name="Rectangle 66">
              <a:extLst>
                <a:ext uri="{FF2B5EF4-FFF2-40B4-BE49-F238E27FC236}">
                  <a16:creationId xmlns:a16="http://schemas.microsoft.com/office/drawing/2014/main" id="{87077385-625D-49A5-A877-B75CA5259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2982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5" name="Freeform 69">
              <a:extLst>
                <a:ext uri="{FF2B5EF4-FFF2-40B4-BE49-F238E27FC236}">
                  <a16:creationId xmlns:a16="http://schemas.microsoft.com/office/drawing/2014/main" id="{D7D06013-3A0C-469F-803D-64E93A4C5B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29488" y="2982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6" name="Text Box 70">
              <a:extLst>
                <a:ext uri="{FF2B5EF4-FFF2-40B4-BE49-F238E27FC236}">
                  <a16:creationId xmlns:a16="http://schemas.microsoft.com/office/drawing/2014/main" id="{DEDCB018-0CFA-4C22-ABF0-74BB32002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3200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77" name="Rectangle 71">
              <a:extLst>
                <a:ext uri="{FF2B5EF4-FFF2-40B4-BE49-F238E27FC236}">
                  <a16:creationId xmlns:a16="http://schemas.microsoft.com/office/drawing/2014/main" id="{B93DB0F2-649F-455F-9741-36722E747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982913"/>
              <a:ext cx="1143000" cy="762000"/>
            </a:xfrm>
            <a:prstGeom prst="rect">
              <a:avLst/>
            </a:prstGeom>
            <a:noFill/>
            <a:ln w="9525" cap="rnd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8" name="Freeform 74">
              <a:extLst>
                <a:ext uri="{FF2B5EF4-FFF2-40B4-BE49-F238E27FC236}">
                  <a16:creationId xmlns:a16="http://schemas.microsoft.com/office/drawing/2014/main" id="{59569B17-C8E2-480B-B1DE-7AD80064357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3488" y="3744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9" name="Text Box 75">
              <a:extLst>
                <a:ext uri="{FF2B5EF4-FFF2-40B4-BE49-F238E27FC236}">
                  <a16:creationId xmlns:a16="http://schemas.microsoft.com/office/drawing/2014/main" id="{712536F4-180F-4EBE-8EDD-CF47E805C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3962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80" name="Rectangle 76">
              <a:extLst>
                <a:ext uri="{FF2B5EF4-FFF2-40B4-BE49-F238E27FC236}">
                  <a16:creationId xmlns:a16="http://schemas.microsoft.com/office/drawing/2014/main" id="{D71373F5-E46C-4D32-93AB-9B395265C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744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81" name="Freeform 79">
              <a:extLst>
                <a:ext uri="{FF2B5EF4-FFF2-40B4-BE49-F238E27FC236}">
                  <a16:creationId xmlns:a16="http://schemas.microsoft.com/office/drawing/2014/main" id="{7204C2A1-1D69-4986-ABB2-FC54BADD4A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86488" y="3744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82" name="Text Box 80">
              <a:extLst>
                <a:ext uri="{FF2B5EF4-FFF2-40B4-BE49-F238E27FC236}">
                  <a16:creationId xmlns:a16="http://schemas.microsoft.com/office/drawing/2014/main" id="{276A5145-8D09-4B57-8E06-EEC087C77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962400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83" name="Rectangle 81">
              <a:extLst>
                <a:ext uri="{FF2B5EF4-FFF2-40B4-BE49-F238E27FC236}">
                  <a16:creationId xmlns:a16="http://schemas.microsoft.com/office/drawing/2014/main" id="{54478582-6F7D-4604-8FB0-598964DCB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744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84" name="Freeform 84">
              <a:extLst>
                <a:ext uri="{FF2B5EF4-FFF2-40B4-BE49-F238E27FC236}">
                  <a16:creationId xmlns:a16="http://schemas.microsoft.com/office/drawing/2014/main" id="{788DAB12-E36C-410D-BD39-11E925A34AB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29488" y="3744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85" name="Text Box 85">
              <a:extLst>
                <a:ext uri="{FF2B5EF4-FFF2-40B4-BE49-F238E27FC236}">
                  <a16:creationId xmlns:a16="http://schemas.microsoft.com/office/drawing/2014/main" id="{FA30804A-4B3B-4C43-B795-24606ABAE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3965576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86" name="Rectangle 86">
              <a:extLst>
                <a:ext uri="{FF2B5EF4-FFF2-40B4-BE49-F238E27FC236}">
                  <a16:creationId xmlns:a16="http://schemas.microsoft.com/office/drawing/2014/main" id="{41B303A0-D606-48D1-8DC3-498F4A7C8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744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87" name="Freeform 89">
              <a:extLst>
                <a:ext uri="{FF2B5EF4-FFF2-40B4-BE49-F238E27FC236}">
                  <a16:creationId xmlns:a16="http://schemas.microsoft.com/office/drawing/2014/main" id="{05AAE760-0D38-4E4C-AFC7-42AF7514C96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3488" y="4506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88" name="Text Box 90">
              <a:extLst>
                <a:ext uri="{FF2B5EF4-FFF2-40B4-BE49-F238E27FC236}">
                  <a16:creationId xmlns:a16="http://schemas.microsoft.com/office/drawing/2014/main" id="{A582193E-E304-4603-B0E9-622AD263A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4727576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89" name="Rectangle 91">
              <a:extLst>
                <a:ext uri="{FF2B5EF4-FFF2-40B4-BE49-F238E27FC236}">
                  <a16:creationId xmlns:a16="http://schemas.microsoft.com/office/drawing/2014/main" id="{825F0812-D845-49FB-AEE0-86FFB00A5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4506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90" name="Freeform 94">
              <a:extLst>
                <a:ext uri="{FF2B5EF4-FFF2-40B4-BE49-F238E27FC236}">
                  <a16:creationId xmlns:a16="http://schemas.microsoft.com/office/drawing/2014/main" id="{7F85DEDE-7113-4217-B39F-AC75C5DDB05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86488" y="4506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91" name="Text Box 95">
              <a:extLst>
                <a:ext uri="{FF2B5EF4-FFF2-40B4-BE49-F238E27FC236}">
                  <a16:creationId xmlns:a16="http://schemas.microsoft.com/office/drawing/2014/main" id="{C9A0901D-1A95-4EA0-879B-00A3AB0A4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4727576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92" name="Rectangle 96">
              <a:extLst>
                <a:ext uri="{FF2B5EF4-FFF2-40B4-BE49-F238E27FC236}">
                  <a16:creationId xmlns:a16="http://schemas.microsoft.com/office/drawing/2014/main" id="{2ECA38F5-63C2-4399-9509-115B2854D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4506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93" name="Freeform 99">
              <a:extLst>
                <a:ext uri="{FF2B5EF4-FFF2-40B4-BE49-F238E27FC236}">
                  <a16:creationId xmlns:a16="http://schemas.microsoft.com/office/drawing/2014/main" id="{36D8CE64-7E29-40B1-B66A-D108C6BD72B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29488" y="4506913"/>
              <a:ext cx="1114425" cy="750888"/>
            </a:xfrm>
            <a:custGeom>
              <a:avLst/>
              <a:gdLst>
                <a:gd name="T0" fmla="*/ 399 w 2792"/>
                <a:gd name="T1" fmla="*/ 1198 h 1880"/>
                <a:gd name="T2" fmla="*/ 0 w 2792"/>
                <a:gd name="T3" fmla="*/ 799 h 1880"/>
                <a:gd name="T4" fmla="*/ 798 w 2792"/>
                <a:gd name="T5" fmla="*/ 799 h 1880"/>
                <a:gd name="T6" fmla="*/ 798 w 2792"/>
                <a:gd name="T7" fmla="*/ 0 h 1880"/>
                <a:gd name="T8" fmla="*/ 1197 w 2792"/>
                <a:gd name="T9" fmla="*/ 0 h 1880"/>
                <a:gd name="T10" fmla="*/ 1597 w 2792"/>
                <a:gd name="T11" fmla="*/ 399 h 1880"/>
                <a:gd name="T12" fmla="*/ 1996 w 2792"/>
                <a:gd name="T13" fmla="*/ 0 h 1880"/>
                <a:gd name="T14" fmla="*/ 2395 w 2792"/>
                <a:gd name="T15" fmla="*/ 0 h 1880"/>
                <a:gd name="T16" fmla="*/ 2395 w 2792"/>
                <a:gd name="T17" fmla="*/ 399 h 1880"/>
                <a:gd name="T18" fmla="*/ 2794 w 2792"/>
                <a:gd name="T19" fmla="*/ 799 h 1880"/>
                <a:gd name="T20" fmla="*/ 3193 w 2792"/>
                <a:gd name="T21" fmla="*/ 399 h 1880"/>
                <a:gd name="T22" fmla="*/ 3592 w 2792"/>
                <a:gd name="T23" fmla="*/ 399 h 1880"/>
                <a:gd name="T24" fmla="*/ 3991 w 2792"/>
                <a:gd name="T25" fmla="*/ 399 h 1880"/>
                <a:gd name="T26" fmla="*/ 4391 w 2792"/>
                <a:gd name="T27" fmla="*/ 399 h 1880"/>
                <a:gd name="T28" fmla="*/ 4391 w 2792"/>
                <a:gd name="T29" fmla="*/ 799 h 1880"/>
                <a:gd name="T30" fmla="*/ 3991 w 2792"/>
                <a:gd name="T31" fmla="*/ 1198 h 1880"/>
                <a:gd name="T32" fmla="*/ 4391 w 2792"/>
                <a:gd name="T33" fmla="*/ 1598 h 1880"/>
                <a:gd name="T34" fmla="*/ 4391 w 2792"/>
                <a:gd name="T35" fmla="*/ 1598 h 1880"/>
                <a:gd name="T36" fmla="*/ 4391 w 2792"/>
                <a:gd name="T37" fmla="*/ 1997 h 1880"/>
                <a:gd name="T38" fmla="*/ 3991 w 2792"/>
                <a:gd name="T39" fmla="*/ 2396 h 1880"/>
                <a:gd name="T40" fmla="*/ 2794 w 2792"/>
                <a:gd name="T41" fmla="*/ 2396 h 1880"/>
                <a:gd name="T42" fmla="*/ 1996 w 2792"/>
                <a:gd name="T43" fmla="*/ 2396 h 1880"/>
                <a:gd name="T44" fmla="*/ 1197 w 2792"/>
                <a:gd name="T45" fmla="*/ 2796 h 1880"/>
                <a:gd name="T46" fmla="*/ 399 w 2792"/>
                <a:gd name="T47" fmla="*/ 2396 h 1880"/>
                <a:gd name="T48" fmla="*/ 399 w 2792"/>
                <a:gd name="T49" fmla="*/ 1598 h 1880"/>
                <a:gd name="T50" fmla="*/ 399 w 2792"/>
                <a:gd name="T51" fmla="*/ 1198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94" name="Text Box 100">
              <a:extLst>
                <a:ext uri="{FF2B5EF4-FFF2-40B4-BE49-F238E27FC236}">
                  <a16:creationId xmlns:a16="http://schemas.microsoft.com/office/drawing/2014/main" id="{7234FDF5-D5E4-4DDD-80A0-FBD935A32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4727576"/>
              <a:ext cx="1143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900">
                  <a:solidFill>
                    <a:srgbClr val="003C75"/>
                  </a:solidFill>
                </a:rPr>
                <a:t>Compiled Code</a:t>
              </a:r>
              <a:endParaRPr lang="en-US" altLang="it-IT" sz="1000">
                <a:solidFill>
                  <a:srgbClr val="003C75"/>
                </a:solidFill>
              </a:endParaRPr>
            </a:p>
          </p:txBody>
        </p:sp>
        <p:sp>
          <p:nvSpPr>
            <p:cNvPr id="49195" name="Rectangle 101">
              <a:extLst>
                <a:ext uri="{FF2B5EF4-FFF2-40B4-BE49-F238E27FC236}">
                  <a16:creationId xmlns:a16="http://schemas.microsoft.com/office/drawing/2014/main" id="{017D734B-147F-424D-86CD-FABBE142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506913"/>
              <a:ext cx="114300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49159" name="AutoShape 6">
            <a:extLst>
              <a:ext uri="{FF2B5EF4-FFF2-40B4-BE49-F238E27FC236}">
                <a16:creationId xmlns:a16="http://schemas.microsoft.com/office/drawing/2014/main" id="{6B7152AD-C31F-4018-8015-1014BA74C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943600"/>
            <a:ext cx="685800" cy="6858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chemeClr val="bg1"/>
                </a:solidFill>
              </a:rPr>
              <a:t>STOP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974AFE45-78C7-4096-A891-851C2D2D43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The Procedure Abstraction:</a:t>
            </a:r>
            <a:br>
              <a:rPr lang="en-US" altLang="it-IT" sz="3200" i="1"/>
            </a:br>
            <a:r>
              <a:rPr lang="en-US" altLang="it-IT" sz="3200" i="1"/>
              <a:t>Part II</a:t>
            </a:r>
            <a:br>
              <a:rPr lang="en-US" altLang="it-IT" sz="3200" i="1"/>
            </a:br>
            <a:br>
              <a:rPr lang="en-US" altLang="it-IT" sz="1000" i="1"/>
            </a:br>
            <a:r>
              <a:rPr lang="en-US" altLang="it-IT" sz="3200" i="1"/>
              <a:t>Comp 412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056CB213-94BD-4307-82F9-55EC9C6D1D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ts val="600"/>
              </a:spcBef>
            </a:pPr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>
              <a:spcBef>
                <a:spcPts val="600"/>
              </a:spcBef>
            </a:pPr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>
              <a:spcBef>
                <a:spcPts val="600"/>
              </a:spcBef>
            </a:pPr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51203" name="Picture 4" descr="2007Logo">
            <a:extLst>
              <a:ext uri="{FF2B5EF4-FFF2-40B4-BE49-F238E27FC236}">
                <a16:creationId xmlns:a16="http://schemas.microsoft.com/office/drawing/2014/main" id="{F11879A3-1F84-420D-9CB2-383C9720A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Text Box 8">
            <a:extLst>
              <a:ext uri="{FF2B5EF4-FFF2-40B4-BE49-F238E27FC236}">
                <a16:creationId xmlns:a16="http://schemas.microsoft.com/office/drawing/2014/main" id="{025C862D-E696-407B-BB43-81012EF42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CBB3F0DF-1810-40BD-AAC7-93960C59AC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95446B02-CCC1-4D65-B54F-3D205F6546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E3B791E-879C-4B7F-8595-2EE58BF15508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B2CDAD1-0AEC-42E7-BC03-CB2F5A611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Review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CD8AF367-1AF7-4245-9E8E-0414796CB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From last lecture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The Procedure serves as </a:t>
            </a:r>
          </a:p>
          <a:p>
            <a:pPr eaLnBrk="1" hangingPunct="1"/>
            <a:r>
              <a:rPr lang="en-US" altLang="it-IT"/>
              <a:t>A control abstraction</a:t>
            </a:r>
          </a:p>
          <a:p>
            <a:pPr eaLnBrk="1" hangingPunct="1"/>
            <a:r>
              <a:rPr lang="en-US" altLang="it-IT"/>
              <a:t>A naming abstraction</a:t>
            </a:r>
          </a:p>
          <a:p>
            <a:pPr eaLnBrk="1" hangingPunct="1"/>
            <a:r>
              <a:rPr lang="en-US" altLang="it-IT"/>
              <a:t>An external interface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We covered the control abstraction last lecture.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Today, we will focus on </a:t>
            </a:r>
            <a:r>
              <a:rPr lang="en-US" altLang="it-IT">
                <a:solidFill>
                  <a:srgbClr val="FF0065"/>
                </a:solidFill>
              </a:rPr>
              <a:t>naming</a:t>
            </a:r>
            <a:r>
              <a:rPr lang="en-US" altLang="it-IT"/>
              <a:t>.</a:t>
            </a:r>
          </a:p>
        </p:txBody>
      </p:sp>
      <p:grpSp>
        <p:nvGrpSpPr>
          <p:cNvPr id="53253" name="Group 7">
            <a:extLst>
              <a:ext uri="{FF2B5EF4-FFF2-40B4-BE49-F238E27FC236}">
                <a16:creationId xmlns:a16="http://schemas.microsoft.com/office/drawing/2014/main" id="{BFE0BA41-B484-41C8-80F6-2020F724E528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673350"/>
            <a:ext cx="3200400" cy="581025"/>
            <a:chOff x="2544" y="1684"/>
            <a:chExt cx="2016" cy="366"/>
          </a:xfrm>
        </p:grpSpPr>
        <p:sp>
          <p:nvSpPr>
            <p:cNvPr id="53254" name="AutoShape 5">
              <a:extLst>
                <a:ext uri="{FF2B5EF4-FFF2-40B4-BE49-F238E27FC236}">
                  <a16:creationId xmlns:a16="http://schemas.microsoft.com/office/drawing/2014/main" id="{C7F56C45-C56D-4C84-81B5-8970ABB04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699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3255" name="Text Box 6">
              <a:extLst>
                <a:ext uri="{FF2B5EF4-FFF2-40B4-BE49-F238E27FC236}">
                  <a16:creationId xmlns:a16="http://schemas.microsoft.com/office/drawing/2014/main" id="{166926D0-1B56-4419-BC70-6B7E7D9A1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684"/>
              <a:ext cx="192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Access to system services, libraries, code from others …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1">
            <a:extLst>
              <a:ext uri="{FF2B5EF4-FFF2-40B4-BE49-F238E27FC236}">
                <a16:creationId xmlns:a16="http://schemas.microsoft.com/office/drawing/2014/main" id="{98664AA4-D97C-4D03-AE1F-1A146EA6F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2">
            <a:extLst>
              <a:ext uri="{FF2B5EF4-FFF2-40B4-BE49-F238E27FC236}">
                <a16:creationId xmlns:a16="http://schemas.microsoft.com/office/drawing/2014/main" id="{ECFAD84B-5B5B-4BD2-AE1A-86E61F0F2D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32F8B58-365F-4802-9100-36276B5664B8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DB57225-096B-4BF2-BFB0-AEE16115CA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as a Name Space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D81DCC0-C501-4986-8188-941D4B2481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Each procedure creates its own name space</a:t>
            </a:r>
          </a:p>
          <a:p>
            <a:pPr eaLnBrk="1" hangingPunct="1"/>
            <a:r>
              <a:rPr lang="en-US" altLang="it-IT"/>
              <a:t>Any name (almost) can be declared locally</a:t>
            </a:r>
          </a:p>
          <a:p>
            <a:pPr eaLnBrk="1" hangingPunct="1"/>
            <a:r>
              <a:rPr lang="en-US" altLang="it-IT"/>
              <a:t>Local names obscure identical non-local names</a:t>
            </a:r>
          </a:p>
          <a:p>
            <a:pPr eaLnBrk="1" hangingPunct="1"/>
            <a:r>
              <a:rPr lang="en-US" altLang="it-IT"/>
              <a:t>Local names cannot be seen outside the procedure</a:t>
            </a:r>
          </a:p>
          <a:p>
            <a:pPr lvl="1" eaLnBrk="1" hangingPunct="1"/>
            <a:r>
              <a:rPr lang="en-US" altLang="it-IT"/>
              <a:t>Nested procedures are “inside” by definition</a:t>
            </a:r>
          </a:p>
          <a:p>
            <a:pPr eaLnBrk="1" hangingPunct="1"/>
            <a:r>
              <a:rPr lang="en-US" altLang="it-IT"/>
              <a:t>We call this set of rules &amp; conventions “lexical scoping”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Examples</a:t>
            </a:r>
          </a:p>
          <a:p>
            <a:pPr eaLnBrk="1" hangingPunct="1"/>
            <a:r>
              <a:rPr lang="en-US" altLang="it-IT"/>
              <a:t>C has global, static, local, and </a:t>
            </a:r>
            <a:r>
              <a:rPr lang="en-US" altLang="it-IT" i="1"/>
              <a:t>block</a:t>
            </a:r>
            <a:r>
              <a:rPr lang="en-US" altLang="it-IT"/>
              <a:t> scopes        </a:t>
            </a:r>
            <a:r>
              <a:rPr lang="en-US" altLang="it-IT" sz="1800" i="1">
                <a:solidFill>
                  <a:srgbClr val="003C75"/>
                </a:solidFill>
              </a:rPr>
              <a:t>(Fortran-like)</a:t>
            </a:r>
            <a:endParaRPr lang="en-US" altLang="it-IT">
              <a:solidFill>
                <a:srgbClr val="003C75"/>
              </a:solidFill>
            </a:endParaRPr>
          </a:p>
          <a:p>
            <a:pPr lvl="1" eaLnBrk="1" hangingPunct="1"/>
            <a:r>
              <a:rPr lang="en-US" altLang="it-IT"/>
              <a:t>Blocks can be nested, procedures cannot</a:t>
            </a:r>
          </a:p>
          <a:p>
            <a:pPr eaLnBrk="1" hangingPunct="1"/>
            <a:r>
              <a:rPr lang="en-US" altLang="it-IT"/>
              <a:t>Scheme has global, procedure-wide, and nested scopes   </a:t>
            </a:r>
            <a:r>
              <a:rPr lang="en-US" altLang="it-IT" sz="1800" i="1">
                <a:solidFill>
                  <a:srgbClr val="003C75"/>
                </a:solidFill>
              </a:rPr>
              <a:t>(let)</a:t>
            </a:r>
            <a:endParaRPr lang="en-US" altLang="it-IT">
              <a:solidFill>
                <a:srgbClr val="003C75"/>
              </a:solidFill>
            </a:endParaRPr>
          </a:p>
          <a:p>
            <a:pPr lvl="1" eaLnBrk="1" hangingPunct="1"/>
            <a:r>
              <a:rPr lang="en-US" altLang="it-IT"/>
              <a:t>Procedure scope (typically) contains formal parameters</a:t>
            </a:r>
          </a:p>
        </p:txBody>
      </p:sp>
      <p:sp>
        <p:nvSpPr>
          <p:cNvPr id="55301" name="TextBox 5">
            <a:extLst>
              <a:ext uri="{FF2B5EF4-FFF2-40B4-BE49-F238E27FC236}">
                <a16:creationId xmlns:a16="http://schemas.microsoft.com/office/drawing/2014/main" id="{18256AD5-33D8-447E-ACE8-86DE25264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371600"/>
            <a:ext cx="23622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</a:rPr>
              <a:t>The Java twist: allow fully qualified names to reach around scope rules</a:t>
            </a: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1">
            <a:extLst>
              <a:ext uri="{FF2B5EF4-FFF2-40B4-BE49-F238E27FC236}">
                <a16:creationId xmlns:a16="http://schemas.microsoft.com/office/drawing/2014/main" id="{5E7204E0-ACF1-4506-A881-CB7B2A325E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6" name="Slide Number Placeholder 2">
            <a:extLst>
              <a:ext uri="{FF2B5EF4-FFF2-40B4-BE49-F238E27FC236}">
                <a16:creationId xmlns:a16="http://schemas.microsoft.com/office/drawing/2014/main" id="{97DF0206-173C-402A-A113-FD3AD6F0CB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76B94A1-A720-4178-ABBD-C360C5702DED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A34A6F-D028-4482-A416-F194D11E50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as a Name Space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7472BF4-9E4A-4C8C-A5B8-130B39782D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80010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Why introduce lexical scoping?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Provides a compile-time mechanism for binding “free” variables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Simplifies rules for naming &amp; resolves conflicts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Lets the programmer introduce “local” names with impunity</a:t>
            </a:r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How can the compiler keep track of all those names?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The Problem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At point </a:t>
            </a:r>
            <a:r>
              <a:rPr lang="en-US" altLang="it-IT" i="1"/>
              <a:t>p</a:t>
            </a:r>
            <a:r>
              <a:rPr lang="en-US" altLang="it-IT"/>
              <a:t>, which declaration of </a:t>
            </a:r>
            <a:r>
              <a:rPr lang="en-US" altLang="it-IT" i="1"/>
              <a:t>x</a:t>
            </a:r>
            <a:r>
              <a:rPr lang="en-US" altLang="it-IT"/>
              <a:t> is current?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At run-time, where is </a:t>
            </a:r>
            <a:r>
              <a:rPr lang="en-US" altLang="it-IT" i="1"/>
              <a:t>x</a:t>
            </a:r>
            <a:r>
              <a:rPr lang="en-US" altLang="it-IT"/>
              <a:t> found?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As parser goes in &amp; out of scopes, how does it delete </a:t>
            </a:r>
            <a:r>
              <a:rPr lang="en-US" altLang="it-IT" i="1"/>
              <a:t>x</a:t>
            </a:r>
            <a:r>
              <a:rPr lang="en-US" altLang="it-IT"/>
              <a:t>?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The Answer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The compiler must model the name space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Lexically scoped symbol tables                      </a:t>
            </a:r>
            <a:r>
              <a:rPr lang="en-US" altLang="it-IT" sz="1800">
                <a:solidFill>
                  <a:srgbClr val="003C75"/>
                </a:solidFill>
              </a:rPr>
              <a:t>(see § 5.7 in EaC 1e)</a:t>
            </a:r>
            <a:endParaRPr lang="en-US" altLang="it-IT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1">
            <a:extLst>
              <a:ext uri="{FF2B5EF4-FFF2-40B4-BE49-F238E27FC236}">
                <a16:creationId xmlns:a16="http://schemas.microsoft.com/office/drawing/2014/main" id="{3365F893-1746-42CF-937A-004DF1D30A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9394" name="Slide Number Placeholder 2">
            <a:extLst>
              <a:ext uri="{FF2B5EF4-FFF2-40B4-BE49-F238E27FC236}">
                <a16:creationId xmlns:a16="http://schemas.microsoft.com/office/drawing/2014/main" id="{65A30312-D14F-46C6-9A5C-4DF7765BD9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9028E18-B8BF-4DE3-BB70-4ACEB4F06325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09F7E2EB-C6E9-4DA0-933F-BEA0D7EC05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Do People Use This Stuff ?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A5D7CA04-C0A4-46C7-9652-FDC5CC0F8F0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C macro from the MSCP compiler</a:t>
            </a: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EBC7DE93-3F67-4D44-B41D-87C80AF91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828800"/>
            <a:ext cx="4813300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latin typeface="LucidaSansTypewriter"/>
              </a:rPr>
              <a:t>#define fix_inequality(oper, new_opcode)         	\</a:t>
            </a:r>
          </a:p>
          <a:p>
            <a:r>
              <a:rPr lang="en-US" altLang="it-IT" sz="1600">
                <a:latin typeface="LucidaSansTypewriter"/>
              </a:rPr>
              <a:t>    if (value0 &lt; value1)                       	   	\</a:t>
            </a:r>
          </a:p>
          <a:p>
            <a:r>
              <a:rPr lang="en-US" altLang="it-IT" sz="1600">
                <a:latin typeface="LucidaSansTypewriter"/>
              </a:rPr>
              <a:t>    {                                            		\</a:t>
            </a:r>
          </a:p>
          <a:p>
            <a:r>
              <a:rPr lang="en-US" altLang="it-IT" sz="1600">
                <a:latin typeface="LucidaSansTypewriter"/>
              </a:rPr>
              <a:t>        Unsigned_Int temp = value0;              	\</a:t>
            </a:r>
          </a:p>
          <a:p>
            <a:r>
              <a:rPr lang="en-US" altLang="it-IT" sz="1600">
                <a:latin typeface="LucidaSansTypewriter"/>
              </a:rPr>
              <a:t>        value0 = value1;                         		\</a:t>
            </a:r>
          </a:p>
          <a:p>
            <a:r>
              <a:rPr lang="en-US" altLang="it-IT" sz="1600">
                <a:latin typeface="LucidaSansTypewriter"/>
              </a:rPr>
              <a:t>        value1 = temp;                           		\</a:t>
            </a:r>
          </a:p>
          <a:p>
            <a:r>
              <a:rPr lang="en-US" altLang="it-IT" sz="1600">
                <a:latin typeface="LucidaSansTypewriter"/>
              </a:rPr>
              <a:t>        opcode_name = new_opcode;                	\</a:t>
            </a:r>
          </a:p>
          <a:p>
            <a:r>
              <a:rPr lang="en-US" altLang="it-IT" sz="1600">
                <a:latin typeface="LucidaSansTypewriter"/>
              </a:rPr>
              <a:t>        temp = oper-&gt;arguments[0];               	\</a:t>
            </a:r>
          </a:p>
          <a:p>
            <a:r>
              <a:rPr lang="en-US" altLang="it-IT" sz="1600">
                <a:latin typeface="LucidaSansTypewriter"/>
              </a:rPr>
              <a:t>        oper-&gt;arguments[0] = oper-&gt;arguments[1]; 	\</a:t>
            </a:r>
          </a:p>
          <a:p>
            <a:r>
              <a:rPr lang="en-US" altLang="it-IT" sz="1600">
                <a:latin typeface="LucidaSansTypewriter"/>
              </a:rPr>
              <a:t>        oper-&gt;arguments[1] = temp;               	\</a:t>
            </a:r>
          </a:p>
          <a:p>
            <a:r>
              <a:rPr lang="en-US" altLang="it-IT" sz="1600">
                <a:latin typeface="LucidaSansTypewriter"/>
              </a:rPr>
              <a:t>        oper-&gt;opcode = new_opcode;               	\</a:t>
            </a:r>
          </a:p>
          <a:p>
            <a:r>
              <a:rPr lang="en-US" altLang="it-IT" sz="1600">
                <a:latin typeface="LucidaSansTypewriter"/>
              </a:rPr>
              <a:t>    }</a:t>
            </a:r>
          </a:p>
        </p:txBody>
      </p:sp>
      <p:sp>
        <p:nvSpPr>
          <p:cNvPr id="59398" name="Text Box 6">
            <a:extLst>
              <a:ext uri="{FF2B5EF4-FFF2-40B4-BE49-F238E27FC236}">
                <a16:creationId xmlns:a16="http://schemas.microsoft.com/office/drawing/2014/main" id="{09771604-E0AF-4D3C-8758-0354185E2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752600"/>
            <a:ext cx="25908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Even in C, a language not known for abstraction, people use scopes to hide details!</a:t>
            </a:r>
          </a:p>
        </p:txBody>
      </p:sp>
      <p:grpSp>
        <p:nvGrpSpPr>
          <p:cNvPr id="59399" name="Group 13">
            <a:extLst>
              <a:ext uri="{FF2B5EF4-FFF2-40B4-BE49-F238E27FC236}">
                <a16:creationId xmlns:a16="http://schemas.microsoft.com/office/drawing/2014/main" id="{4860194F-EC68-4A57-99A8-2737857A20B6}"/>
              </a:ext>
            </a:extLst>
          </p:cNvPr>
          <p:cNvGrpSpPr>
            <a:grpSpLocks/>
          </p:cNvGrpSpPr>
          <p:nvPr/>
        </p:nvGrpSpPr>
        <p:grpSpPr bwMode="auto">
          <a:xfrm>
            <a:off x="3979863" y="2836863"/>
            <a:ext cx="4706937" cy="1508125"/>
            <a:chOff x="3979333" y="2836333"/>
            <a:chExt cx="4707467" cy="1507861"/>
          </a:xfrm>
        </p:grpSpPr>
        <p:sp>
          <p:nvSpPr>
            <p:cNvPr id="59400" name="TextBox 8">
              <a:extLst>
                <a:ext uri="{FF2B5EF4-FFF2-40B4-BE49-F238E27FC236}">
                  <a16:creationId xmlns:a16="http://schemas.microsoft.com/office/drawing/2014/main" id="{050FF80D-BD8A-486C-8145-8297C7C3C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3733800"/>
              <a:ext cx="167640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FF0065"/>
                  </a:solidFill>
                </a:rPr>
                <a:t>Declares a new name “temp”</a:t>
              </a:r>
            </a:p>
          </p:txBody>
        </p:sp>
        <p:cxnSp>
          <p:nvCxnSpPr>
            <p:cNvPr id="59401" name="Straight Connector 10">
              <a:extLst>
                <a:ext uri="{FF2B5EF4-FFF2-40B4-BE49-F238E27FC236}">
                  <a16:creationId xmlns:a16="http://schemas.microsoft.com/office/drawing/2014/main" id="{1F3183AE-A182-421B-85F6-70F8BAAD61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05600" y="4038600"/>
              <a:ext cx="609600" cy="1588"/>
            </a:xfrm>
            <a:prstGeom prst="line">
              <a:avLst/>
            </a:prstGeom>
            <a:noFill/>
            <a:ln w="19050" algn="ctr">
              <a:solidFill>
                <a:srgbClr val="FF0065"/>
              </a:solidFill>
              <a:round/>
              <a:headEnd/>
              <a:tailEnd/>
            </a:ln>
          </p:spPr>
        </p:cxnSp>
        <p:sp>
          <p:nvSpPr>
            <p:cNvPr id="59402" name="Freeform 12">
              <a:extLst>
                <a:ext uri="{FF2B5EF4-FFF2-40B4-BE49-F238E27FC236}">
                  <a16:creationId xmlns:a16="http://schemas.microsoft.com/office/drawing/2014/main" id="{07C7E2A0-FE91-42AE-8770-F8F447F84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333" y="2836333"/>
              <a:ext cx="3022600" cy="1075267"/>
            </a:xfrm>
            <a:custGeom>
              <a:avLst/>
              <a:gdLst>
                <a:gd name="T0" fmla="*/ 3022600 w 3022600"/>
                <a:gd name="T1" fmla="*/ 1075267 h 1075267"/>
                <a:gd name="T2" fmla="*/ 1227667 w 3022600"/>
                <a:gd name="T3" fmla="*/ 160867 h 1075267"/>
                <a:gd name="T4" fmla="*/ 1312334 w 3022600"/>
                <a:gd name="T5" fmla="*/ 406400 h 1075267"/>
                <a:gd name="T6" fmla="*/ 0 w 3022600"/>
                <a:gd name="T7" fmla="*/ 0 h 10752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22600"/>
                <a:gd name="T13" fmla="*/ 0 h 1075267"/>
                <a:gd name="T14" fmla="*/ 3022600 w 3022600"/>
                <a:gd name="T15" fmla="*/ 1075267 h 10752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22600" h="1075267">
                  <a:moveTo>
                    <a:pt x="3022600" y="1075267"/>
                  </a:moveTo>
                  <a:cubicBezTo>
                    <a:pt x="2267655" y="673806"/>
                    <a:pt x="1512711" y="272345"/>
                    <a:pt x="1227667" y="160867"/>
                  </a:cubicBezTo>
                  <a:cubicBezTo>
                    <a:pt x="942623" y="49389"/>
                    <a:pt x="1516945" y="433211"/>
                    <a:pt x="1312334" y="406400"/>
                  </a:cubicBezTo>
                  <a:cubicBezTo>
                    <a:pt x="1107723" y="379589"/>
                    <a:pt x="0" y="0"/>
                    <a:pt x="0" y="0"/>
                  </a:cubicBezTo>
                </a:path>
              </a:pathLst>
            </a:custGeom>
            <a:noFill/>
            <a:ln w="19050" algn="ctr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1EAA39-F421-4D1A-B4A9-9695FF59D650}"/>
              </a:ext>
            </a:extLst>
          </p:cNvPr>
          <p:cNvSpPr/>
          <p:nvPr/>
        </p:nvSpPr>
        <p:spPr bwMode="auto">
          <a:xfrm>
            <a:off x="1225550" y="4343400"/>
            <a:ext cx="2508250" cy="25558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61442" name="Footer Placeholder 1">
            <a:extLst>
              <a:ext uri="{FF2B5EF4-FFF2-40B4-BE49-F238E27FC236}">
                <a16:creationId xmlns:a16="http://schemas.microsoft.com/office/drawing/2014/main" id="{76AFFF8C-A1D6-4732-9822-0A8D176798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1443" name="Slide Number Placeholder 2">
            <a:extLst>
              <a:ext uri="{FF2B5EF4-FFF2-40B4-BE49-F238E27FC236}">
                <a16:creationId xmlns:a16="http://schemas.microsoft.com/office/drawing/2014/main" id="{D13AEBF8-2EE3-4B1D-AE86-D579ACA179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2709CA2-2718-495C-A355-CFF05B660D64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81714493-8171-4266-915D-7BB6ACA8E0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Do People Use This Stuff ?</a:t>
            </a:r>
          </a:p>
        </p:txBody>
      </p:sp>
      <p:sp>
        <p:nvSpPr>
          <p:cNvPr id="61445" name="Rectangle 3">
            <a:extLst>
              <a:ext uri="{FF2B5EF4-FFF2-40B4-BE49-F238E27FC236}">
                <a16:creationId xmlns:a16="http://schemas.microsoft.com/office/drawing/2014/main" id="{C470A4BB-4F7E-4EBD-A195-D14C5DC34F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Of course, it might have been more clear written as:</a:t>
            </a:r>
          </a:p>
        </p:txBody>
      </p:sp>
      <p:sp>
        <p:nvSpPr>
          <p:cNvPr id="61446" name="Rectangle 4">
            <a:extLst>
              <a:ext uri="{FF2B5EF4-FFF2-40B4-BE49-F238E27FC236}">
                <a16:creationId xmlns:a16="http://schemas.microsoft.com/office/drawing/2014/main" id="{8457EE22-490B-41E7-AE89-D7F662172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828800"/>
            <a:ext cx="4800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latin typeface="LucidaSansTypewriter"/>
              </a:rPr>
              <a:t>#define swap_values( val0, val1 ) 	   \</a:t>
            </a:r>
          </a:p>
          <a:p>
            <a:r>
              <a:rPr lang="en-US" altLang="it-IT" sz="1600">
                <a:latin typeface="LucidaSansTypewriter"/>
              </a:rPr>
              <a:t>    {  				   \</a:t>
            </a:r>
          </a:p>
          <a:p>
            <a:r>
              <a:rPr lang="en-US" altLang="it-IT" sz="1600">
                <a:latin typeface="LucidaSansTypewriter"/>
              </a:rPr>
              <a:t>       Unsigned_Int tem = val0;		   \</a:t>
            </a:r>
          </a:p>
          <a:p>
            <a:r>
              <a:rPr lang="en-US" altLang="it-IT" sz="1600">
                <a:latin typeface="LucidaSansTypewriter"/>
              </a:rPr>
              <a:t>       val0 = val1;			   \</a:t>
            </a:r>
          </a:p>
          <a:p>
            <a:r>
              <a:rPr lang="en-US" altLang="it-IT" sz="1600">
                <a:latin typeface="LucidaSansTypewriter"/>
              </a:rPr>
              <a:t>       val1 = temp;			   \ </a:t>
            </a:r>
          </a:p>
          <a:p>
            <a:r>
              <a:rPr lang="en-US" altLang="it-IT" sz="1600">
                <a:latin typeface="LucidaSansTypewriter"/>
              </a:rPr>
              <a:t>    }</a:t>
            </a:r>
          </a:p>
          <a:p>
            <a:endParaRPr lang="en-US" altLang="it-IT" sz="1600">
              <a:latin typeface="LucidaSansTypewriter"/>
            </a:endParaRPr>
          </a:p>
          <a:p>
            <a:r>
              <a:rPr lang="en-US" altLang="it-IT" sz="1600">
                <a:latin typeface="LucidaSansTypewriter"/>
              </a:rPr>
              <a:t>#define fix_inequality(oper, new_opcode)  \</a:t>
            </a:r>
          </a:p>
          <a:p>
            <a:r>
              <a:rPr lang="en-US" altLang="it-IT" sz="1600">
                <a:latin typeface="LucidaSansTypewriter"/>
              </a:rPr>
              <a:t>    if (value0 &lt; value1)                       	   \</a:t>
            </a:r>
          </a:p>
          <a:p>
            <a:r>
              <a:rPr lang="en-US" altLang="it-IT" sz="1600">
                <a:latin typeface="LucidaSansTypewriter"/>
              </a:rPr>
              <a:t>    {                                            	   \</a:t>
            </a:r>
          </a:p>
          <a:p>
            <a:r>
              <a:rPr lang="en-US" altLang="it-IT" sz="1600">
                <a:latin typeface="LucidaSansTypewriter"/>
              </a:rPr>
              <a:t>        swap_values( val0, val1 );              	   \</a:t>
            </a:r>
          </a:p>
          <a:p>
            <a:r>
              <a:rPr lang="en-US" altLang="it-IT" sz="1600">
                <a:latin typeface="LucidaSansTypewriter"/>
              </a:rPr>
              <a:t>        opcode_name = new_opcode;           \</a:t>
            </a:r>
          </a:p>
          <a:p>
            <a:r>
              <a:rPr lang="en-US" altLang="it-IT" sz="1600">
                <a:latin typeface="LucidaSansTypewriter"/>
              </a:rPr>
              <a:t>        temp = oper-&gt;arguments[0];               \</a:t>
            </a:r>
          </a:p>
          <a:p>
            <a:r>
              <a:rPr lang="en-US" altLang="it-IT" sz="1600">
                <a:latin typeface="LucidaSansTypewriter"/>
              </a:rPr>
              <a:t>        oper-&gt;arguments[0] = oper-&gt;arguments[1];  \</a:t>
            </a:r>
          </a:p>
          <a:p>
            <a:r>
              <a:rPr lang="en-US" altLang="it-IT" sz="1600">
                <a:latin typeface="LucidaSansTypewriter"/>
              </a:rPr>
              <a:t>        oper-&gt;arguments[1] = temp;               \</a:t>
            </a:r>
          </a:p>
          <a:p>
            <a:r>
              <a:rPr lang="en-US" altLang="it-IT" sz="1600">
                <a:latin typeface="LucidaSansTypewriter"/>
              </a:rPr>
              <a:t>        oper-&gt;opcode = new_opcode;            \</a:t>
            </a:r>
          </a:p>
          <a:p>
            <a:r>
              <a:rPr lang="en-US" altLang="it-IT" sz="1600">
                <a:latin typeface="LucidaSansTypewriter"/>
              </a:rPr>
              <a:t>    }</a:t>
            </a:r>
          </a:p>
        </p:txBody>
      </p:sp>
      <p:sp>
        <p:nvSpPr>
          <p:cNvPr id="61447" name="Text Box 6">
            <a:extLst>
              <a:ext uri="{FF2B5EF4-FFF2-40B4-BE49-F238E27FC236}">
                <a16:creationId xmlns:a16="http://schemas.microsoft.com/office/drawing/2014/main" id="{79FB6D3B-FDC8-4F60-817A-AD88E360A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752600"/>
            <a:ext cx="259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Even in C, we can build abstractions that are useful and tasteful.</a:t>
            </a: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1">
            <a:extLst>
              <a:ext uri="{FF2B5EF4-FFF2-40B4-BE49-F238E27FC236}">
                <a16:creationId xmlns:a16="http://schemas.microsoft.com/office/drawing/2014/main" id="{6C0E34F7-8E60-4B43-A76A-CF53B89688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3490" name="Slide Number Placeholder 2">
            <a:extLst>
              <a:ext uri="{FF2B5EF4-FFF2-40B4-BE49-F238E27FC236}">
                <a16:creationId xmlns:a16="http://schemas.microsoft.com/office/drawing/2014/main" id="{8CDC9379-62D4-4F69-8640-B3247D9B09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E9D6B9D-4752-4E9E-81DA-A9A9433BC03D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DC0D046-3373-4A0A-99DF-7F2CBBD031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Lexically-scoped Symbol Tables</a:t>
            </a:r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BA3094DC-2A19-4666-90E3-5F0AC0EFB5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/>
              <a:t>The problem</a:t>
            </a:r>
          </a:p>
          <a:p>
            <a:pPr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dirty="0"/>
              <a:t>The compiler needs a distinct record for each declaration</a:t>
            </a:r>
          </a:p>
          <a:p>
            <a:pPr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dirty="0"/>
              <a:t>Nested lexical scopes admit duplicate declarations</a:t>
            </a:r>
          </a:p>
          <a:p>
            <a:pPr eaLnBrk="1" hangingPunct="1">
              <a:spcBef>
                <a:spcPct val="75000"/>
              </a:spcBef>
              <a:buFont typeface="Times" charset="0"/>
              <a:buNone/>
              <a:defRPr/>
            </a:pPr>
            <a:r>
              <a:rPr lang="en-US" dirty="0"/>
              <a:t>The interface</a:t>
            </a:r>
          </a:p>
          <a:p>
            <a:pPr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dirty="0" err="1">
                <a:solidFill>
                  <a:srgbClr val="FF0065"/>
                </a:solidFill>
              </a:rPr>
              <a:t>insert(</a:t>
            </a:r>
            <a:r>
              <a:rPr lang="en-US" i="1" dirty="0" err="1">
                <a:solidFill>
                  <a:srgbClr val="FF0065"/>
                </a:solidFill>
              </a:rPr>
              <a:t>name</a:t>
            </a:r>
            <a:r>
              <a:rPr lang="en-US" i="1" dirty="0">
                <a:solidFill>
                  <a:srgbClr val="FF0065"/>
                </a:solidFill>
              </a:rPr>
              <a:t>, level</a:t>
            </a:r>
            <a:r>
              <a:rPr lang="en-US" sz="900" i="1" dirty="0">
                <a:solidFill>
                  <a:srgbClr val="FF0065"/>
                </a:solidFill>
              </a:rPr>
              <a:t> </a:t>
            </a:r>
            <a:r>
              <a:rPr lang="en-US" dirty="0">
                <a:solidFill>
                  <a:srgbClr val="FF0065"/>
                </a:solidFill>
              </a:rPr>
              <a:t>)</a:t>
            </a:r>
            <a:r>
              <a:rPr lang="en-US" dirty="0"/>
              <a:t> – creates record for </a:t>
            </a:r>
            <a:r>
              <a:rPr lang="en-US" i="1" dirty="0"/>
              <a:t>name </a:t>
            </a:r>
            <a:r>
              <a:rPr lang="en-US" dirty="0"/>
              <a:t>at </a:t>
            </a:r>
            <a:r>
              <a:rPr lang="en-US" i="1" dirty="0"/>
              <a:t>level</a:t>
            </a:r>
            <a:endParaRPr lang="en-US" dirty="0"/>
          </a:p>
          <a:p>
            <a:pPr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dirty="0" err="1">
                <a:solidFill>
                  <a:srgbClr val="FF0065"/>
                </a:solidFill>
              </a:rPr>
              <a:t>lookup(</a:t>
            </a:r>
            <a:r>
              <a:rPr lang="en-US" i="1" dirty="0" err="1">
                <a:solidFill>
                  <a:srgbClr val="FF0065"/>
                </a:solidFill>
              </a:rPr>
              <a:t>name</a:t>
            </a:r>
            <a:r>
              <a:rPr lang="en-US" i="1" dirty="0">
                <a:solidFill>
                  <a:srgbClr val="FF0065"/>
                </a:solidFill>
              </a:rPr>
              <a:t>, level</a:t>
            </a:r>
            <a:r>
              <a:rPr lang="en-US" sz="900" i="1" dirty="0">
                <a:solidFill>
                  <a:srgbClr val="FF0065"/>
                </a:solidFill>
              </a:rPr>
              <a:t> </a:t>
            </a:r>
            <a:r>
              <a:rPr lang="en-US" dirty="0">
                <a:solidFill>
                  <a:srgbClr val="FF0065"/>
                </a:solidFill>
              </a:rPr>
              <a:t>)</a:t>
            </a:r>
            <a:r>
              <a:rPr lang="en-US" dirty="0"/>
              <a:t> – returns pointer or index</a:t>
            </a:r>
          </a:p>
          <a:p>
            <a:pPr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dirty="0" err="1">
                <a:solidFill>
                  <a:srgbClr val="FF0065"/>
                </a:solidFill>
              </a:rPr>
              <a:t>delete(</a:t>
            </a:r>
            <a:r>
              <a:rPr lang="en-US" i="1" dirty="0" err="1">
                <a:solidFill>
                  <a:srgbClr val="FF0065"/>
                </a:solidFill>
              </a:rPr>
              <a:t>level</a:t>
            </a:r>
            <a:r>
              <a:rPr lang="en-US" sz="900" i="1" dirty="0">
                <a:solidFill>
                  <a:srgbClr val="FF0065"/>
                </a:solidFill>
              </a:rPr>
              <a:t> </a:t>
            </a:r>
            <a:r>
              <a:rPr lang="en-US" dirty="0">
                <a:solidFill>
                  <a:srgbClr val="FF0065"/>
                </a:solidFill>
              </a:rPr>
              <a:t>)</a:t>
            </a:r>
            <a:r>
              <a:rPr lang="en-US" dirty="0"/>
              <a:t> – removes all names declared at </a:t>
            </a:r>
            <a:r>
              <a:rPr lang="en-US" i="1" dirty="0"/>
              <a:t>level</a:t>
            </a:r>
          </a:p>
          <a:p>
            <a:pPr eaLnBrk="1" hangingPunct="1">
              <a:spcBef>
                <a:spcPct val="75000"/>
              </a:spcBef>
              <a:buFont typeface="Times" charset="0"/>
              <a:buNone/>
              <a:defRPr/>
            </a:pPr>
            <a:r>
              <a:rPr lang="en-US" dirty="0"/>
              <a:t>Many implementation schemes have been proposed     </a:t>
            </a:r>
            <a:r>
              <a:rPr lang="en-US" sz="1800" dirty="0">
                <a:noFill/>
              </a:rPr>
              <a:t>(see § B.4)</a:t>
            </a:r>
            <a:endParaRPr lang="en-US" dirty="0">
              <a:noFill/>
            </a:endParaRPr>
          </a:p>
          <a:p>
            <a:pPr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dirty="0"/>
              <a:t>We’ll stay at the conceptual level</a:t>
            </a:r>
          </a:p>
          <a:p>
            <a:pPr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dirty="0"/>
              <a:t>Hash table implementation is tricky, detailed, &amp; (</a:t>
            </a:r>
            <a:r>
              <a:rPr lang="en-US" sz="1800" dirty="0"/>
              <a:t>yes</a:t>
            </a:r>
            <a:r>
              <a:rPr lang="en-US" dirty="0"/>
              <a:t>) fun</a:t>
            </a:r>
          </a:p>
          <a:p>
            <a:pPr lvl="1" eaLnBrk="1" hangingPunct="1">
              <a:spcBef>
                <a:spcPct val="15000"/>
              </a:spcBef>
              <a:defRPr/>
            </a:pPr>
            <a:r>
              <a:rPr lang="en-US" dirty="0"/>
              <a:t>Good alternatives exist        </a:t>
            </a:r>
            <a:r>
              <a:rPr lang="en-US" dirty="0">
                <a:solidFill>
                  <a:srgbClr val="003C75"/>
                </a:solidFill>
              </a:rPr>
              <a:t>(</a:t>
            </a:r>
            <a:r>
              <a:rPr lang="en-US" sz="1600" i="1" dirty="0" err="1">
                <a:solidFill>
                  <a:srgbClr val="003C75"/>
                </a:solidFill>
              </a:rPr>
              <a:t>multiset</a:t>
            </a:r>
            <a:r>
              <a:rPr lang="en-US" sz="1600" i="1" dirty="0">
                <a:solidFill>
                  <a:srgbClr val="003C75"/>
                </a:solidFill>
              </a:rPr>
              <a:t> discrimination, acyclic </a:t>
            </a:r>
            <a:r>
              <a:rPr lang="en-US" sz="1600" i="1" dirty="0" err="1">
                <a:solidFill>
                  <a:srgbClr val="003C75"/>
                </a:solidFill>
              </a:rPr>
              <a:t>DFAs</a:t>
            </a:r>
            <a:r>
              <a:rPr lang="en-US" dirty="0">
                <a:solidFill>
                  <a:srgbClr val="003C75"/>
                </a:solidFill>
              </a:rPr>
              <a:t>)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CC9BC204-FD55-44DC-AD0E-45498A7DB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715000"/>
            <a:ext cx="83820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5000"/>
              </a:spcBef>
            </a:pPr>
            <a:r>
              <a:rPr lang="en-US" altLang="it-IT" sz="1400" i="1">
                <a:solidFill>
                  <a:srgbClr val="003C75"/>
                </a:solidFill>
              </a:rPr>
              <a:t>Symbol tables are </a:t>
            </a:r>
            <a:r>
              <a:rPr lang="en-US" altLang="it-IT" sz="1400" i="1" u="sng">
                <a:solidFill>
                  <a:srgbClr val="003C75"/>
                </a:solidFill>
              </a:rPr>
              <a:t>compile-time </a:t>
            </a:r>
            <a:r>
              <a:rPr lang="en-US" altLang="it-IT" sz="1400" i="1">
                <a:solidFill>
                  <a:srgbClr val="003C75"/>
                </a:solidFill>
              </a:rPr>
              <a:t>structures that the compiler uses </a:t>
            </a:r>
            <a:r>
              <a:rPr lang="en-US" altLang="it-IT" sz="1400" i="1" u="sng">
                <a:solidFill>
                  <a:srgbClr val="003C75"/>
                </a:solidFill>
              </a:rPr>
              <a:t>to resolve references</a:t>
            </a:r>
            <a:r>
              <a:rPr lang="en-US" altLang="it-IT" sz="1400" i="1">
                <a:solidFill>
                  <a:srgbClr val="003C75"/>
                </a:solidFill>
              </a:rPr>
              <a:t> to names.</a:t>
            </a:r>
          </a:p>
          <a:p>
            <a:pPr algn="ctr">
              <a:spcBef>
                <a:spcPct val="15000"/>
              </a:spcBef>
            </a:pPr>
            <a:r>
              <a:rPr lang="en-US" altLang="it-IT" sz="1400" i="1">
                <a:solidFill>
                  <a:srgbClr val="003C75"/>
                </a:solidFill>
              </a:rPr>
              <a:t>We’ll see the corresponding </a:t>
            </a:r>
            <a:r>
              <a:rPr lang="en-US" altLang="it-IT" sz="1400" i="1" u="sng">
                <a:solidFill>
                  <a:srgbClr val="003C75"/>
                </a:solidFill>
              </a:rPr>
              <a:t>run-time </a:t>
            </a:r>
            <a:r>
              <a:rPr lang="en-US" altLang="it-IT" sz="1400" i="1">
                <a:solidFill>
                  <a:srgbClr val="003C75"/>
                </a:solidFill>
              </a:rPr>
              <a:t>structures that are used </a:t>
            </a:r>
            <a:r>
              <a:rPr lang="en-US" altLang="it-IT" sz="1400" i="1" u="sng">
                <a:solidFill>
                  <a:srgbClr val="003C75"/>
                </a:solidFill>
              </a:rPr>
              <a:t>to establish addressability</a:t>
            </a:r>
            <a:r>
              <a:rPr lang="en-US" altLang="it-IT" sz="1400" i="1">
                <a:solidFill>
                  <a:srgbClr val="003C75"/>
                </a:solidFill>
              </a:rPr>
              <a:t> later.</a:t>
            </a:r>
          </a:p>
        </p:txBody>
      </p:sp>
      <p:sp>
        <p:nvSpPr>
          <p:cNvPr id="63494" name="Text Box 5">
            <a:extLst>
              <a:ext uri="{FF2B5EF4-FFF2-40B4-BE49-F238E27FC236}">
                <a16:creationId xmlns:a16="http://schemas.microsoft.com/office/drawing/2014/main" id="{00D76666-BFCD-4B7B-B0D8-AFB1957D2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048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§ 5.7 in EaC 1e</a:t>
            </a: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3">
            <a:extLst>
              <a:ext uri="{FF2B5EF4-FFF2-40B4-BE49-F238E27FC236}">
                <a16:creationId xmlns:a16="http://schemas.microsoft.com/office/drawing/2014/main" id="{542BD60B-50AC-4AAA-9FA0-725B5715D7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5538" name="Slide Number Placeholder 4">
            <a:extLst>
              <a:ext uri="{FF2B5EF4-FFF2-40B4-BE49-F238E27FC236}">
                <a16:creationId xmlns:a16="http://schemas.microsoft.com/office/drawing/2014/main" id="{53EBFCAC-FF0B-4B22-98C2-57FAC43840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C60D386-476E-4FBF-8192-0C30073D4165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50A3E86-9484-4313-8DC7-E41615817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834D7525-CA81-4B77-8CFA-07BF48E21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3886200" cy="4953000"/>
          </a:xfrm>
          <a:solidFill>
            <a:schemeClr val="bg1"/>
          </a:solidFill>
          <a:ln w="19050" cap="flat" algn="ctr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procedure </a:t>
            </a:r>
            <a:r>
              <a:rPr lang="en-US" sz="1600" dirty="0" err="1">
                <a:latin typeface="Geneva" charset="0"/>
              </a:rPr>
              <a:t>p</a:t>
            </a:r>
            <a:r>
              <a:rPr lang="en-US" sz="1600" dirty="0">
                <a:latin typeface="Geneva" charset="0"/>
              </a:rPr>
              <a:t> {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</a:t>
            </a:r>
            <a:r>
              <a:rPr lang="en-US" sz="1600" dirty="0" err="1">
                <a:latin typeface="Geneva" charset="0"/>
              </a:rPr>
              <a:t>int</a:t>
            </a:r>
            <a:r>
              <a:rPr lang="en-US" sz="1600" dirty="0">
                <a:latin typeface="Geneva" charset="0"/>
              </a:rPr>
              <a:t> </a:t>
            </a:r>
            <a:r>
              <a:rPr lang="en-US" sz="1600" i="1" dirty="0">
                <a:solidFill>
                  <a:srgbClr val="003C75"/>
                </a:solidFill>
                <a:latin typeface="Geneva" charset="0"/>
              </a:rPr>
              <a:t>a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solidFill>
                  <a:srgbClr val="B025A6"/>
                </a:solidFill>
                <a:latin typeface="Geneva" charset="0"/>
              </a:rPr>
              <a:t>b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latin typeface="Geneva" charset="0"/>
              </a:rPr>
              <a:t>c</a:t>
            </a:r>
            <a:endParaRPr lang="en-US" sz="1600" dirty="0">
              <a:latin typeface="Geneva" charset="0"/>
            </a:endParaRP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procedure </a:t>
            </a:r>
            <a:r>
              <a:rPr lang="en-US" sz="1600" i="1" dirty="0" err="1">
                <a:latin typeface="Geneva" charset="0"/>
              </a:rPr>
              <a:t>q</a:t>
            </a:r>
            <a:r>
              <a:rPr lang="en-US" sz="1600" dirty="0">
                <a:latin typeface="Geneva" charset="0"/>
              </a:rPr>
              <a:t> {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</a:t>
            </a:r>
            <a:r>
              <a:rPr lang="en-US" sz="1600" dirty="0" err="1">
                <a:latin typeface="Geneva" charset="0"/>
              </a:rPr>
              <a:t>int</a:t>
            </a:r>
            <a:r>
              <a:rPr lang="en-US" sz="1600" dirty="0">
                <a:latin typeface="Geneva" charset="0"/>
              </a:rPr>
              <a:t> </a:t>
            </a:r>
            <a:r>
              <a:rPr lang="en-US" sz="1600" i="1" dirty="0" err="1">
                <a:latin typeface="Geneva" charset="0"/>
              </a:rPr>
              <a:t>v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solidFill>
                  <a:srgbClr val="B025A6"/>
                </a:solidFill>
                <a:latin typeface="Geneva" charset="0"/>
              </a:rPr>
              <a:t>b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</a:rPr>
              <a:t>x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latin typeface="Geneva" charset="0"/>
              </a:rPr>
              <a:t>w</a:t>
            </a:r>
            <a:endParaRPr lang="en-US" sz="1600" dirty="0">
              <a:latin typeface="Geneva" charset="0"/>
            </a:endParaRP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procedure  </a:t>
            </a:r>
            <a:r>
              <a:rPr lang="en-US" sz="1600" i="1" dirty="0" err="1">
                <a:latin typeface="Geneva" charset="0"/>
              </a:rPr>
              <a:t>r</a:t>
            </a:r>
            <a:r>
              <a:rPr lang="en-US" sz="1600" dirty="0">
                <a:latin typeface="Geneva" charset="0"/>
              </a:rPr>
              <a:t> {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	</a:t>
            </a:r>
            <a:r>
              <a:rPr lang="en-US" sz="1600" dirty="0" err="1">
                <a:latin typeface="Geneva" charset="0"/>
              </a:rPr>
              <a:t>int</a:t>
            </a:r>
            <a:r>
              <a:rPr lang="en-US" sz="1600" dirty="0">
                <a:latin typeface="Geneva" charset="0"/>
              </a:rPr>
              <a:t>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</a:rPr>
              <a:t>x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latin typeface="Geneva" charset="0"/>
              </a:rPr>
              <a:t>y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latin typeface="Geneva" charset="0"/>
              </a:rPr>
              <a:t>z</a:t>
            </a:r>
            <a:endParaRPr lang="en-US" sz="1600" i="1" dirty="0">
              <a:latin typeface="Geneva" charset="0"/>
            </a:endParaRP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	….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}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procedure </a:t>
            </a:r>
            <a:r>
              <a:rPr lang="en-US" sz="1600" i="1" dirty="0" err="1">
                <a:latin typeface="Geneva" charset="0"/>
              </a:rPr>
              <a:t>s</a:t>
            </a:r>
            <a:r>
              <a:rPr lang="en-US" sz="1600" dirty="0">
                <a:latin typeface="Geneva" charset="0"/>
              </a:rPr>
              <a:t> {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	</a:t>
            </a:r>
            <a:r>
              <a:rPr lang="en-US" sz="1600" dirty="0" err="1">
                <a:latin typeface="Geneva" charset="0"/>
              </a:rPr>
              <a:t>int</a:t>
            </a:r>
            <a:r>
              <a:rPr lang="en-US" sz="1600" dirty="0">
                <a:latin typeface="Geneva" charset="0"/>
              </a:rPr>
              <a:t>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</a:rPr>
              <a:t>x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>
                <a:solidFill>
                  <a:srgbClr val="003C75"/>
                </a:solidFill>
                <a:latin typeface="Geneva" charset="0"/>
              </a:rPr>
              <a:t>a</a:t>
            </a:r>
            <a:r>
              <a:rPr lang="en-US" sz="1600" i="1" dirty="0">
                <a:latin typeface="Geneva" charset="0"/>
              </a:rPr>
              <a:t>, </a:t>
            </a:r>
            <a:r>
              <a:rPr lang="en-US" sz="1600" i="1" dirty="0" err="1">
                <a:latin typeface="Geneva" charset="0"/>
              </a:rPr>
              <a:t>v</a:t>
            </a:r>
            <a:endParaRPr lang="en-US" sz="1600" i="1" dirty="0">
              <a:latin typeface="Geneva" charset="0"/>
            </a:endParaRP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	…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}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	… </a:t>
            </a:r>
            <a:r>
              <a:rPr lang="en-US" sz="1600" i="1" dirty="0" err="1">
                <a:latin typeface="Geneva" charset="0"/>
              </a:rPr>
              <a:t>r</a:t>
            </a:r>
            <a:r>
              <a:rPr lang="en-US" sz="1600" dirty="0">
                <a:latin typeface="Geneva" charset="0"/>
              </a:rPr>
              <a:t> … </a:t>
            </a:r>
            <a:r>
              <a:rPr lang="en-US" sz="1600" i="1" dirty="0" err="1">
                <a:latin typeface="Geneva" charset="0"/>
              </a:rPr>
              <a:t>s</a:t>
            </a:r>
            <a:endParaRPr lang="en-US" sz="1600" dirty="0">
              <a:latin typeface="Geneva" charset="0"/>
            </a:endParaRP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}</a:t>
            </a: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		… </a:t>
            </a:r>
            <a:r>
              <a:rPr lang="en-US" sz="1600" i="1" dirty="0" err="1">
                <a:latin typeface="Geneva" charset="0"/>
              </a:rPr>
              <a:t>q</a:t>
            </a:r>
            <a:r>
              <a:rPr lang="en-US" sz="1600" i="1" dirty="0">
                <a:latin typeface="Geneva" charset="0"/>
              </a:rPr>
              <a:t> …</a:t>
            </a:r>
            <a:endParaRPr lang="en-US" sz="1600" dirty="0">
              <a:latin typeface="Geneva" charset="0"/>
            </a:endParaRPr>
          </a:p>
          <a:p>
            <a:pPr defTabSz="457200"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600" dirty="0">
                <a:latin typeface="Geneva" charset="0"/>
              </a:rPr>
              <a:t>}</a:t>
            </a:r>
          </a:p>
        </p:txBody>
      </p:sp>
      <p:sp>
        <p:nvSpPr>
          <p:cNvPr id="60422" name="Rectangle 4">
            <a:extLst>
              <a:ext uri="{FF2B5EF4-FFF2-40B4-BE49-F238E27FC236}">
                <a16:creationId xmlns:a16="http://schemas.microsoft.com/office/drawing/2014/main" id="{5ADF9D4A-7481-4931-BFE1-303313638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295400"/>
            <a:ext cx="3886200" cy="49530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B0: {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c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B1:		 {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v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w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B2:			{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y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z</a:t>
            </a:r>
            <a:endParaRPr lang="en-US" sz="1600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….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}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B3:			{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v</a:t>
            </a:r>
            <a:endParaRPr lang="en-US" sz="1600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…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}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…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r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…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s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}</a:t>
            </a: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…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q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 …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457200" eaLnBrk="0" hangingPunct="0">
              <a:spcBef>
                <a:spcPts val="4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}</a:t>
            </a:r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Footer Placeholder 1">
            <a:extLst>
              <a:ext uri="{FF2B5EF4-FFF2-40B4-BE49-F238E27FC236}">
                <a16:creationId xmlns:a16="http://schemas.microsoft.com/office/drawing/2014/main" id="{5590FEA5-A225-4D81-8AA1-F5AFADE35B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7586" name="Slide Number Placeholder 2">
            <a:extLst>
              <a:ext uri="{FF2B5EF4-FFF2-40B4-BE49-F238E27FC236}">
                <a16:creationId xmlns:a16="http://schemas.microsoft.com/office/drawing/2014/main" id="{C1A05B40-4A01-4D7D-8AF7-17B027B203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A5DB011-A395-45BD-862F-F3DC685A60B7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CE0A5EE8-93DC-46A5-B46F-7438E00B92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Lexically-scoped Symbol Tables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6F3EA76-7282-47FB-B73C-4724D69687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High-level idea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Create a new table for each scope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Chain them together for lookup</a:t>
            </a:r>
          </a:p>
        </p:txBody>
      </p:sp>
      <p:sp>
        <p:nvSpPr>
          <p:cNvPr id="62470" name="Text Box 4">
            <a:extLst>
              <a:ext uri="{FF2B5EF4-FFF2-40B4-BE49-F238E27FC236}">
                <a16:creationId xmlns:a16="http://schemas.microsoft.com/office/drawing/2014/main" id="{5E1E0B36-D09D-497D-9F2F-786FCC90C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38400"/>
            <a:ext cx="4038600" cy="3581400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“Sheaf of tables” implementation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insert</a:t>
            </a:r>
            <a:r>
              <a:rPr lang="en-US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may need to create table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it always inserts at current level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lookup</a:t>
            </a:r>
            <a:r>
              <a:rPr lang="en-US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walks chain of tables &amp; </a:t>
            </a:r>
          </a:p>
          <a:p>
            <a:pPr eaLnBrk="0" hangingPunct="0">
              <a:buClr>
                <a:srgbClr val="0000FF"/>
              </a:buClr>
              <a:buSzPct val="90000"/>
              <a:buFont typeface="Symbol" charset="2"/>
              <a:buNone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  returns first occurrence of name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delete</a:t>
            </a:r>
            <a:r>
              <a:rPr lang="en-US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throws away level </a:t>
            </a:r>
            <a:r>
              <a:rPr lang="en-US" i="1">
                <a:latin typeface="Comic Sans MS" charset="0"/>
                <a:ea typeface="ヒラギノ角ゴ Pro W3" charset="-128"/>
                <a:cs typeface="ヒラギノ角ゴ Pro W3" charset="-128"/>
              </a:rPr>
              <a:t>p 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table </a:t>
            </a:r>
          </a:p>
          <a:p>
            <a:pPr eaLnBrk="0" hangingPunct="0">
              <a:buClr>
                <a:srgbClr val="0000FF"/>
              </a:buClr>
              <a:buSzPct val="90000"/>
              <a:buFont typeface="Symbol" charset="2"/>
              <a:buNone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 </a:t>
            </a:r>
            <a:r>
              <a:rPr lang="en-US" i="1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if it is top table in the chain</a:t>
            </a:r>
          </a:p>
          <a:p>
            <a:pPr eaLnBrk="0" hangingPunct="0">
              <a:spcBef>
                <a:spcPct val="30000"/>
              </a:spcBef>
              <a:buClr>
                <a:srgbClr val="0000CC"/>
              </a:buClr>
              <a:buSzPct val="120000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If the compiler must preserve the table (</a:t>
            </a:r>
            <a:r>
              <a:rPr lang="en-US" i="1">
                <a:latin typeface="Comic Sans MS" charset="0"/>
                <a:ea typeface="ヒラギノ角ゴ Pro W3" charset="-128"/>
                <a:cs typeface="ヒラギノ角ゴ Pro W3" charset="-128"/>
              </a:rPr>
              <a:t>for, say, the debugger 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), this idea is actually practical.</a:t>
            </a:r>
          </a:p>
          <a:p>
            <a:pPr eaLnBrk="0" hangingPunct="0">
              <a:spcBef>
                <a:spcPct val="30000"/>
              </a:spcBef>
              <a:buClr>
                <a:srgbClr val="0000CC"/>
              </a:buClr>
              <a:buSzPct val="120000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Individual tables are hash tables.</a:t>
            </a:r>
          </a:p>
        </p:txBody>
      </p:sp>
      <p:grpSp>
        <p:nvGrpSpPr>
          <p:cNvPr id="62471" name="Group 51">
            <a:extLst>
              <a:ext uri="{FF2B5EF4-FFF2-40B4-BE49-F238E27FC236}">
                <a16:creationId xmlns:a16="http://schemas.microsoft.com/office/drawing/2014/main" id="{E93C0857-8987-47D1-94A5-827932FDBDE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438400"/>
            <a:ext cx="3886200" cy="3581400"/>
            <a:chOff x="432" y="1488"/>
            <a:chExt cx="2448" cy="2256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2511" name="Rectangle 46">
              <a:extLst>
                <a:ext uri="{FF2B5EF4-FFF2-40B4-BE49-F238E27FC236}">
                  <a16:creationId xmlns:a16="http://schemas.microsoft.com/office/drawing/2014/main" id="{A02642EF-5336-4522-9970-8C97ADD54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88"/>
              <a:ext cx="2448" cy="22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2" name="Rectangle 6">
              <a:extLst>
                <a:ext uri="{FF2B5EF4-FFF2-40B4-BE49-F238E27FC236}">
                  <a16:creationId xmlns:a16="http://schemas.microsoft.com/office/drawing/2014/main" id="{1E8E5917-0ABA-446A-A669-A4437BDA7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60"/>
              <a:ext cx="432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3" name="Rectangle 7">
              <a:extLst>
                <a:ext uri="{FF2B5EF4-FFF2-40B4-BE49-F238E27FC236}">
                  <a16:creationId xmlns:a16="http://schemas.microsoft.com/office/drawing/2014/main" id="{09FE57C0-8190-494A-91F8-29E40795F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60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4" name="Rectangle 8">
              <a:extLst>
                <a:ext uri="{FF2B5EF4-FFF2-40B4-BE49-F238E27FC236}">
                  <a16:creationId xmlns:a16="http://schemas.microsoft.com/office/drawing/2014/main" id="{DB3EFF4A-DBD3-40CB-8C05-0273995C5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304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 sz="1600">
                <a:solidFill>
                  <a:srgbClr val="FF006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5" name="Rectangle 9">
              <a:extLst>
                <a:ext uri="{FF2B5EF4-FFF2-40B4-BE49-F238E27FC236}">
                  <a16:creationId xmlns:a16="http://schemas.microsoft.com/office/drawing/2014/main" id="{6919C8DD-33D9-431D-9EB5-D472A4A1F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48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6" name="Rectangle 10">
              <a:extLst>
                <a:ext uri="{FF2B5EF4-FFF2-40B4-BE49-F238E27FC236}">
                  <a16:creationId xmlns:a16="http://schemas.microsoft.com/office/drawing/2014/main" id="{CF10FB28-D6D3-4DA1-B2ED-85D46B1A5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92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7" name="Rectangle 11">
              <a:extLst>
                <a:ext uri="{FF2B5EF4-FFF2-40B4-BE49-F238E27FC236}">
                  <a16:creationId xmlns:a16="http://schemas.microsoft.com/office/drawing/2014/main" id="{6A30ADC7-F211-41CB-976C-92786EC25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36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y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8" name="Rectangle 12">
              <a:extLst>
                <a:ext uri="{FF2B5EF4-FFF2-40B4-BE49-F238E27FC236}">
                  <a16:creationId xmlns:a16="http://schemas.microsoft.com/office/drawing/2014/main" id="{1421A99A-38CF-42BA-A86C-D35989C07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880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9" name="Rectangle 13">
              <a:extLst>
                <a:ext uri="{FF2B5EF4-FFF2-40B4-BE49-F238E27FC236}">
                  <a16:creationId xmlns:a16="http://schemas.microsoft.com/office/drawing/2014/main" id="{1915EADF-DB0B-40CC-B353-6CA723472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024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0" name="Rectangle 14">
              <a:extLst>
                <a:ext uri="{FF2B5EF4-FFF2-40B4-BE49-F238E27FC236}">
                  <a16:creationId xmlns:a16="http://schemas.microsoft.com/office/drawing/2014/main" id="{B16E3291-F3CE-44BE-B31A-1826D73D6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68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1" name="Rectangle 15">
              <a:extLst>
                <a:ext uri="{FF2B5EF4-FFF2-40B4-BE49-F238E27FC236}">
                  <a16:creationId xmlns:a16="http://schemas.microsoft.com/office/drawing/2014/main" id="{36BF8449-2220-405C-B341-0E8301992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312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z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2" name="Rectangle 16">
              <a:extLst>
                <a:ext uri="{FF2B5EF4-FFF2-40B4-BE49-F238E27FC236}">
                  <a16:creationId xmlns:a16="http://schemas.microsoft.com/office/drawing/2014/main" id="{959C3AD7-BC2D-4952-9341-E5E7A310B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56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3" name="Rectangle 17">
              <a:extLst>
                <a:ext uri="{FF2B5EF4-FFF2-40B4-BE49-F238E27FC236}">
                  <a16:creationId xmlns:a16="http://schemas.microsoft.com/office/drawing/2014/main" id="{C3C3F858-881B-4010-967D-A1175AA49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015"/>
              <a:ext cx="432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4" name="Rectangle 18">
              <a:extLst>
                <a:ext uri="{FF2B5EF4-FFF2-40B4-BE49-F238E27FC236}">
                  <a16:creationId xmlns:a16="http://schemas.microsoft.com/office/drawing/2014/main" id="{62F31C2E-DE7A-4AB0-A3FE-E3A42381C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01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5" name="Rectangle 19">
              <a:extLst>
                <a:ext uri="{FF2B5EF4-FFF2-40B4-BE49-F238E27FC236}">
                  <a16:creationId xmlns:a16="http://schemas.microsoft.com/office/drawing/2014/main" id="{FCB8AC77-BD37-4562-AE3B-0863E97FA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159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6" name="Rectangle 20">
              <a:extLst>
                <a:ext uri="{FF2B5EF4-FFF2-40B4-BE49-F238E27FC236}">
                  <a16:creationId xmlns:a16="http://schemas.microsoft.com/office/drawing/2014/main" id="{726A56DC-2DDD-42DF-869B-A7D34C440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30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7" name="Rectangle 21">
              <a:extLst>
                <a:ext uri="{FF2B5EF4-FFF2-40B4-BE49-F238E27FC236}">
                  <a16:creationId xmlns:a16="http://schemas.microsoft.com/office/drawing/2014/main" id="{5673A9D3-85F5-48B4-93A7-E12309954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4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v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8" name="Rectangle 22">
              <a:extLst>
                <a:ext uri="{FF2B5EF4-FFF2-40B4-BE49-F238E27FC236}">
                  <a16:creationId xmlns:a16="http://schemas.microsoft.com/office/drawing/2014/main" id="{7142E451-65E8-479F-91D1-F15BC33B9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9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9" name="Rectangle 23">
              <a:extLst>
                <a:ext uri="{FF2B5EF4-FFF2-40B4-BE49-F238E27FC236}">
                  <a16:creationId xmlns:a16="http://schemas.microsoft.com/office/drawing/2014/main" id="{369E0085-C6EB-44F2-BB8E-674300AE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73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 sz="1600">
                <a:solidFill>
                  <a:srgbClr val="B025A6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0" name="Rectangle 24">
              <a:extLst>
                <a:ext uri="{FF2B5EF4-FFF2-40B4-BE49-F238E27FC236}">
                  <a16:creationId xmlns:a16="http://schemas.microsoft.com/office/drawing/2014/main" id="{37E97843-B40B-4B34-8FA7-854CBEF58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79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 sz="1600">
                <a:solidFill>
                  <a:srgbClr val="FF006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1" name="Rectangle 25">
              <a:extLst>
                <a:ext uri="{FF2B5EF4-FFF2-40B4-BE49-F238E27FC236}">
                  <a16:creationId xmlns:a16="http://schemas.microsoft.com/office/drawing/2014/main" id="{379C5C3D-8C4D-4B19-972C-324FF576B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2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w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2" name="Rectangle 26">
              <a:extLst>
                <a:ext uri="{FF2B5EF4-FFF2-40B4-BE49-F238E27FC236}">
                  <a16:creationId xmlns:a16="http://schemas.microsoft.com/office/drawing/2014/main" id="{4F137502-A644-40FE-B532-2C9F51996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16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3" name="Rectangle 27">
              <a:extLst>
                <a:ext uri="{FF2B5EF4-FFF2-40B4-BE49-F238E27FC236}">
                  <a16:creationId xmlns:a16="http://schemas.microsoft.com/office/drawing/2014/main" id="{54F2426A-9269-4A04-A5A6-831FBB3C6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1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4" name="Rectangle 28">
              <a:extLst>
                <a:ext uri="{FF2B5EF4-FFF2-40B4-BE49-F238E27FC236}">
                  <a16:creationId xmlns:a16="http://schemas.microsoft.com/office/drawing/2014/main" id="{3042C71C-245A-4273-956E-0A725F893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869"/>
              <a:ext cx="432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5" name="Rectangle 29">
              <a:extLst>
                <a:ext uri="{FF2B5EF4-FFF2-40B4-BE49-F238E27FC236}">
                  <a16:creationId xmlns:a16="http://schemas.microsoft.com/office/drawing/2014/main" id="{42CBD1B8-E237-4B72-A71C-E2548FFC4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48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003C7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a</a:t>
              </a:r>
              <a:endParaRPr lang="en-US" sz="1600">
                <a:solidFill>
                  <a:srgbClr val="003C7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6" name="Rectangle 30">
              <a:extLst>
                <a:ext uri="{FF2B5EF4-FFF2-40B4-BE49-F238E27FC236}">
                  <a16:creationId xmlns:a16="http://schemas.microsoft.com/office/drawing/2014/main" id="{5878A15E-EEAE-48D4-8681-48FD4D812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01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7" name="Rectangle 31">
              <a:extLst>
                <a:ext uri="{FF2B5EF4-FFF2-40B4-BE49-F238E27FC236}">
                  <a16:creationId xmlns:a16="http://schemas.microsoft.com/office/drawing/2014/main" id="{E7716EDC-BD0B-4AF9-BEA3-11F4E9608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15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 sz="1600">
                <a:solidFill>
                  <a:srgbClr val="B025A6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8" name="Rectangle 32">
              <a:extLst>
                <a:ext uri="{FF2B5EF4-FFF2-40B4-BE49-F238E27FC236}">
                  <a16:creationId xmlns:a16="http://schemas.microsoft.com/office/drawing/2014/main" id="{53C49490-E183-4DC2-AC70-26CC26205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30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9" name="Rectangle 33">
              <a:extLst>
                <a:ext uri="{FF2B5EF4-FFF2-40B4-BE49-F238E27FC236}">
                  <a16:creationId xmlns:a16="http://schemas.microsoft.com/office/drawing/2014/main" id="{DBEE6F73-947A-49B0-BE1F-23D1A4D89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4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0" name="Rectangle 34">
              <a:extLst>
                <a:ext uri="{FF2B5EF4-FFF2-40B4-BE49-F238E27FC236}">
                  <a16:creationId xmlns:a16="http://schemas.microsoft.com/office/drawing/2014/main" id="{4893CE43-0B1C-4C4B-8BED-A80C0F884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589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1" name="Rectangle 35">
              <a:extLst>
                <a:ext uri="{FF2B5EF4-FFF2-40B4-BE49-F238E27FC236}">
                  <a16:creationId xmlns:a16="http://schemas.microsoft.com/office/drawing/2014/main" id="{7A269CBC-C304-4B7F-AA6F-D612F9116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73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c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2" name="Rectangle 36">
              <a:extLst>
                <a:ext uri="{FF2B5EF4-FFF2-40B4-BE49-F238E27FC236}">
                  <a16:creationId xmlns:a16="http://schemas.microsoft.com/office/drawing/2014/main" id="{CDBC58F9-9CB0-4ABA-81EB-A994612B5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87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3" name="Rectangle 37">
              <a:extLst>
                <a:ext uri="{FF2B5EF4-FFF2-40B4-BE49-F238E27FC236}">
                  <a16:creationId xmlns:a16="http://schemas.microsoft.com/office/drawing/2014/main" id="{E7F675DF-3483-4914-9F0F-A3AE5C20B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02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4" name="Rectangle 38">
              <a:extLst>
                <a:ext uri="{FF2B5EF4-FFF2-40B4-BE49-F238E27FC236}">
                  <a16:creationId xmlns:a16="http://schemas.microsoft.com/office/drawing/2014/main" id="{CCCF2900-1656-494A-AD57-482101FEE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16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5" name="Rectangle 39">
              <a:extLst>
                <a:ext uri="{FF2B5EF4-FFF2-40B4-BE49-F238E27FC236}">
                  <a16:creationId xmlns:a16="http://schemas.microsoft.com/office/drawing/2014/main" id="{76A24BFA-428B-4863-A650-D48808B80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369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2506" name="Line 40">
              <a:extLst>
                <a:ext uri="{FF2B5EF4-FFF2-40B4-BE49-F238E27FC236}">
                  <a16:creationId xmlns:a16="http://schemas.microsoft.com/office/drawing/2014/main" id="{6E2284DC-6733-4124-A300-4BF47B103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" y="2155"/>
              <a:ext cx="289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7" name="Text Box 41">
              <a:extLst>
                <a:ext uri="{FF2B5EF4-FFF2-40B4-BE49-F238E27FC236}">
                  <a16:creationId xmlns:a16="http://schemas.microsoft.com/office/drawing/2014/main" id="{44294390-8835-4193-BF9E-7037FEDB9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016"/>
              <a:ext cx="2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0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r</a:t>
              </a:r>
              <a:endParaRPr lang="en-US" sz="1600" i="1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8" name="Text Box 42">
              <a:extLst>
                <a:ext uri="{FF2B5EF4-FFF2-40B4-BE49-F238E27FC236}">
                  <a16:creationId xmlns:a16="http://schemas.microsoft.com/office/drawing/2014/main" id="{1D6BDBCD-B788-4782-B31D-282BD110D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872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0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q</a:t>
              </a:r>
              <a:endParaRPr lang="en-US" sz="1600" i="1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9" name="Text Box 43">
              <a:extLst>
                <a:ext uri="{FF2B5EF4-FFF2-40B4-BE49-F238E27FC236}">
                  <a16:creationId xmlns:a16="http://schemas.microsoft.com/office/drawing/2014/main" id="{D4169AE6-722C-47EB-A4E8-849357EB4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728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0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p</a:t>
              </a:r>
              <a:endParaRPr lang="en-US" sz="1600" i="1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0" name="Text Box 45">
              <a:extLst>
                <a:ext uri="{FF2B5EF4-FFF2-40B4-BE49-F238E27FC236}">
                  <a16:creationId xmlns:a16="http://schemas.microsoft.com/office/drawing/2014/main" id="{DAF333F4-4760-48AF-B03A-3B0C0FC63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448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...</a:t>
              </a:r>
            </a:p>
          </p:txBody>
        </p:sp>
        <p:sp>
          <p:nvSpPr>
            <p:cNvPr id="62512" name="Line 47">
              <a:extLst>
                <a:ext uri="{FF2B5EF4-FFF2-40B4-BE49-F238E27FC236}">
                  <a16:creationId xmlns:a16="http://schemas.microsoft.com/office/drawing/2014/main" id="{545C5DDB-6A20-4D66-8427-5C6F3A7E8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01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3" name="Line 48">
              <a:extLst>
                <a:ext uri="{FF2B5EF4-FFF2-40B4-BE49-F238E27FC236}">
                  <a16:creationId xmlns:a16="http://schemas.microsoft.com/office/drawing/2014/main" id="{75D037E8-5BF4-4633-8C2D-1E68B50E6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8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4" name="Line 49">
              <a:extLst>
                <a:ext uri="{FF2B5EF4-FFF2-40B4-BE49-F238E27FC236}">
                  <a16:creationId xmlns:a16="http://schemas.microsoft.com/office/drawing/2014/main" id="{5B279FA8-B16B-4BE0-84D5-CBCDFA091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172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5" name="Text Box 50">
              <a:extLst>
                <a:ext uri="{FF2B5EF4-FFF2-40B4-BE49-F238E27FC236}">
                  <a16:creationId xmlns:a16="http://schemas.microsoft.com/office/drawing/2014/main" id="{AC0F535F-80D2-4140-85AA-5C002B0F0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564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...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D78A0DA-0B4B-4772-8A20-FD55848BA35D}"/>
              </a:ext>
            </a:extLst>
          </p:cNvPr>
          <p:cNvSpPr txBox="1"/>
          <p:nvPr/>
        </p:nvSpPr>
        <p:spPr>
          <a:xfrm>
            <a:off x="2687638" y="6181725"/>
            <a:ext cx="54102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high-level idea can be implemented as shown, or it can be implemented in more space-efficient (albeit complex) ways.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Footer Placeholder 1">
            <a:extLst>
              <a:ext uri="{FF2B5EF4-FFF2-40B4-BE49-F238E27FC236}">
                <a16:creationId xmlns:a16="http://schemas.microsoft.com/office/drawing/2014/main" id="{7965BDE9-EE10-40A7-8752-97728A4824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9634" name="Slide Number Placeholder 2">
            <a:extLst>
              <a:ext uri="{FF2B5EF4-FFF2-40B4-BE49-F238E27FC236}">
                <a16:creationId xmlns:a16="http://schemas.microsoft.com/office/drawing/2014/main" id="{C4BC23B4-08E8-42DF-9ACA-D6457CED38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E1A5446-5517-4F1C-A0ED-F1BB30061F62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9A7D361C-08A9-4815-B2A9-93162E00BE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Implementing Lexically Scoped Symbol Tables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8F2B93C-68A2-4D5C-9814-04C90CC736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Threaded stack organization</a:t>
            </a:r>
          </a:p>
        </p:txBody>
      </p:sp>
      <p:sp>
        <p:nvSpPr>
          <p:cNvPr id="66566" name="Text Box 4">
            <a:extLst>
              <a:ext uri="{FF2B5EF4-FFF2-40B4-BE49-F238E27FC236}">
                <a16:creationId xmlns:a16="http://schemas.microsoft.com/office/drawing/2014/main" id="{FAE5FF9F-9B4E-4304-A578-517DA7ED0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600200"/>
            <a:ext cx="3733800" cy="4343400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233363" indent="-233363" eaLnBrk="0" hangingPunct="0">
              <a:spcBef>
                <a:spcPct val="50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Implementation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insert</a:t>
            </a:r>
            <a:r>
              <a:rPr lang="en-US" sz="9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puts new entry at the head of the list for the name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lookup</a:t>
            </a:r>
            <a:r>
              <a:rPr lang="en-US" sz="9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 goes direct to location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delete</a:t>
            </a:r>
            <a:r>
              <a:rPr lang="en-US" sz="9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processes each element in level being deleted to remove from head of list 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use sparse index for speed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use dense table to limit space</a:t>
            </a:r>
          </a:p>
          <a:p>
            <a:pPr marL="233363" indent="-233363" eaLnBrk="0" hangingPunct="0">
              <a:lnSpc>
                <a:spcPct val="0"/>
              </a:lnSpc>
              <a:spcBef>
                <a:spcPct val="140000"/>
              </a:spcBef>
              <a:buClr>
                <a:srgbClr val="0000CC"/>
              </a:buClr>
              <a:buSzPct val="120000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Advantage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lookup is fast</a:t>
            </a:r>
          </a:p>
          <a:p>
            <a:pPr marL="233363" indent="-233363" eaLnBrk="0" hangingPunct="0">
              <a:lnSpc>
                <a:spcPct val="0"/>
              </a:lnSpc>
              <a:spcBef>
                <a:spcPct val="140000"/>
              </a:spcBef>
              <a:buClr>
                <a:srgbClr val="0000FF"/>
              </a:buClr>
              <a:buSzPct val="95000"/>
              <a:buFont typeface="Symbol" charset="2"/>
              <a:buNone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Disadvantage 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delete takes time proportional to number of declared variables in  level</a:t>
            </a:r>
          </a:p>
        </p:txBody>
      </p:sp>
      <p:grpSp>
        <p:nvGrpSpPr>
          <p:cNvPr id="66567" name="Group 55">
            <a:extLst>
              <a:ext uri="{FF2B5EF4-FFF2-40B4-BE49-F238E27FC236}">
                <a16:creationId xmlns:a16="http://schemas.microsoft.com/office/drawing/2014/main" id="{3EF04E8F-2FCA-4E02-B173-AF5827017B6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00200"/>
            <a:ext cx="4278313" cy="4343400"/>
            <a:chOff x="432" y="1008"/>
            <a:chExt cx="2695" cy="2736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6605" name="Rectangle 43">
              <a:extLst>
                <a:ext uri="{FF2B5EF4-FFF2-40B4-BE49-F238E27FC236}">
                  <a16:creationId xmlns:a16="http://schemas.microsoft.com/office/drawing/2014/main" id="{9C7CA00E-829B-45CE-B8BB-7277F8343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008"/>
              <a:ext cx="2688" cy="27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68" name="Rectangle 6">
              <a:extLst>
                <a:ext uri="{FF2B5EF4-FFF2-40B4-BE49-F238E27FC236}">
                  <a16:creationId xmlns:a16="http://schemas.microsoft.com/office/drawing/2014/main" id="{933CCBB4-7065-41A4-B162-328542D7B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52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6569" name="Rectangle 7">
              <a:extLst>
                <a:ext uri="{FF2B5EF4-FFF2-40B4-BE49-F238E27FC236}">
                  <a16:creationId xmlns:a16="http://schemas.microsoft.com/office/drawing/2014/main" id="{F1D4CA5E-DA66-4EA2-A524-AE00EDB34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296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70" name="Rectangle 8">
              <a:extLst>
                <a:ext uri="{FF2B5EF4-FFF2-40B4-BE49-F238E27FC236}">
                  <a16:creationId xmlns:a16="http://schemas.microsoft.com/office/drawing/2014/main" id="{EAFCF70C-68E4-48B5-A487-B2C5E002F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440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71" name="Rectangle 9">
              <a:extLst>
                <a:ext uri="{FF2B5EF4-FFF2-40B4-BE49-F238E27FC236}">
                  <a16:creationId xmlns:a16="http://schemas.microsoft.com/office/drawing/2014/main" id="{3A85A6B4-8522-4AD6-8C4E-76A469D02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584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6572" name="Rectangle 10">
              <a:extLst>
                <a:ext uri="{FF2B5EF4-FFF2-40B4-BE49-F238E27FC236}">
                  <a16:creationId xmlns:a16="http://schemas.microsoft.com/office/drawing/2014/main" id="{4C57C15B-D08E-43A2-AB9E-33EEE5CE4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28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73" name="Rectangle 11">
              <a:extLst>
                <a:ext uri="{FF2B5EF4-FFF2-40B4-BE49-F238E27FC236}">
                  <a16:creationId xmlns:a16="http://schemas.microsoft.com/office/drawing/2014/main" id="{C4701AA8-AEE5-4D86-A826-5EE18B72F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872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6574" name="Rectangle 12">
              <a:extLst>
                <a:ext uri="{FF2B5EF4-FFF2-40B4-BE49-F238E27FC236}">
                  <a16:creationId xmlns:a16="http://schemas.microsoft.com/office/drawing/2014/main" id="{40C2AEAB-6125-4F3A-8A96-225C6BB76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016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75" name="Rectangle 13">
              <a:extLst>
                <a:ext uri="{FF2B5EF4-FFF2-40B4-BE49-F238E27FC236}">
                  <a16:creationId xmlns:a16="http://schemas.microsoft.com/office/drawing/2014/main" id="{FD89A44D-7276-4920-A7D3-2CB377EA4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60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76" name="Rectangle 14">
              <a:extLst>
                <a:ext uri="{FF2B5EF4-FFF2-40B4-BE49-F238E27FC236}">
                  <a16:creationId xmlns:a16="http://schemas.microsoft.com/office/drawing/2014/main" id="{8047DA5B-A82E-44FC-8E60-68AC48A7A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4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6577" name="Rectangle 15">
              <a:extLst>
                <a:ext uri="{FF2B5EF4-FFF2-40B4-BE49-F238E27FC236}">
                  <a16:creationId xmlns:a16="http://schemas.microsoft.com/office/drawing/2014/main" id="{1B9D88EE-1DC8-4242-9AAF-E4E1EA97E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448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78" name="Rectangle 16">
              <a:extLst>
                <a:ext uri="{FF2B5EF4-FFF2-40B4-BE49-F238E27FC236}">
                  <a16:creationId xmlns:a16="http://schemas.microsoft.com/office/drawing/2014/main" id="{DFE549EE-1FFC-4C83-B159-7F1B2BA8F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92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6579" name="Rectangle 17">
              <a:extLst>
                <a:ext uri="{FF2B5EF4-FFF2-40B4-BE49-F238E27FC236}">
                  <a16:creationId xmlns:a16="http://schemas.microsoft.com/office/drawing/2014/main" id="{A2F8317C-4533-4F78-91D5-E5AAD9670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736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0" name="Rectangle 18">
              <a:extLst>
                <a:ext uri="{FF2B5EF4-FFF2-40B4-BE49-F238E27FC236}">
                  <a16:creationId xmlns:a16="http://schemas.microsoft.com/office/drawing/2014/main" id="{6F57FDF9-BF7E-4906-BB0B-641EE1FA0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80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1" name="Rectangle 19">
              <a:extLst>
                <a:ext uri="{FF2B5EF4-FFF2-40B4-BE49-F238E27FC236}">
                  <a16:creationId xmlns:a16="http://schemas.microsoft.com/office/drawing/2014/main" id="{DF900A9E-8962-4B0E-9D2E-C0D7FED7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024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2" name="Rectangle 20">
              <a:extLst>
                <a:ext uri="{FF2B5EF4-FFF2-40B4-BE49-F238E27FC236}">
                  <a16:creationId xmlns:a16="http://schemas.microsoft.com/office/drawing/2014/main" id="{2C540D26-12DF-4827-99FA-D2124AB80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168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3" name="Rectangle 21">
              <a:extLst>
                <a:ext uri="{FF2B5EF4-FFF2-40B4-BE49-F238E27FC236}">
                  <a16:creationId xmlns:a16="http://schemas.microsoft.com/office/drawing/2014/main" id="{1B4717C6-56A2-4656-9867-600788EBA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312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6584" name="Rectangle 22">
              <a:extLst>
                <a:ext uri="{FF2B5EF4-FFF2-40B4-BE49-F238E27FC236}">
                  <a16:creationId xmlns:a16="http://schemas.microsoft.com/office/drawing/2014/main" id="{CEBE655A-152B-40DD-9E02-0315A7DEF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56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5" name="Text Box 23">
              <a:extLst>
                <a:ext uri="{FF2B5EF4-FFF2-40B4-BE49-F238E27FC236}">
                  <a16:creationId xmlns:a16="http://schemas.microsoft.com/office/drawing/2014/main" id="{F929FE2C-363B-4B0D-8B3D-55AB16000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4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400" b="1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h</a:t>
              </a:r>
              <a:r>
                <a:rPr lang="en-US" sz="700" b="1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 </a:t>
              </a: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(x)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6" name="Line 24">
              <a:extLst>
                <a:ext uri="{FF2B5EF4-FFF2-40B4-BE49-F238E27FC236}">
                  <a16:creationId xmlns:a16="http://schemas.microsoft.com/office/drawing/2014/main" id="{F063FE7E-D87D-4EDF-98AD-CED7CB297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6" y="1674"/>
              <a:ext cx="388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7" name="Rectangle 25">
              <a:extLst>
                <a:ext uri="{FF2B5EF4-FFF2-40B4-BE49-F238E27FC236}">
                  <a16:creationId xmlns:a16="http://schemas.microsoft.com/office/drawing/2014/main" id="{B248CA0C-DC02-411F-902C-19EFCD982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312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a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8" name="Rectangle 26">
              <a:extLst>
                <a:ext uri="{FF2B5EF4-FFF2-40B4-BE49-F238E27FC236}">
                  <a16:creationId xmlns:a16="http://schemas.microsoft.com/office/drawing/2014/main" id="{B04A52E2-DB77-4517-8CC8-A2A98B3A0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168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 sz="1600">
                <a:solidFill>
                  <a:srgbClr val="0000FF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89" name="Rectangle 27">
              <a:extLst>
                <a:ext uri="{FF2B5EF4-FFF2-40B4-BE49-F238E27FC236}">
                  <a16:creationId xmlns:a16="http://schemas.microsoft.com/office/drawing/2014/main" id="{447908EF-21CF-4FA1-8902-D4C1317D7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024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c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0" name="Rectangle 28">
              <a:extLst>
                <a:ext uri="{FF2B5EF4-FFF2-40B4-BE49-F238E27FC236}">
                  <a16:creationId xmlns:a16="http://schemas.microsoft.com/office/drawing/2014/main" id="{D02CB78C-A43B-4F62-971B-152592944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v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1" name="Rectangle 29">
              <a:extLst>
                <a:ext uri="{FF2B5EF4-FFF2-40B4-BE49-F238E27FC236}">
                  <a16:creationId xmlns:a16="http://schemas.microsoft.com/office/drawing/2014/main" id="{D2C17CB8-CABC-4660-A578-3F5E02E04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 sz="1600">
                <a:solidFill>
                  <a:srgbClr val="0000FF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2" name="Rectangle 30">
              <a:extLst>
                <a:ext uri="{FF2B5EF4-FFF2-40B4-BE49-F238E27FC236}">
                  <a16:creationId xmlns:a16="http://schemas.microsoft.com/office/drawing/2014/main" id="{7AF6C5B0-E4E1-4D35-952F-9D8E5AB6B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592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00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 sz="1600">
                <a:solidFill>
                  <a:srgbClr val="FF0000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3" name="Rectangle 31">
              <a:extLst>
                <a:ext uri="{FF2B5EF4-FFF2-40B4-BE49-F238E27FC236}">
                  <a16:creationId xmlns:a16="http://schemas.microsoft.com/office/drawing/2014/main" id="{FACD8043-AE11-4DD6-A0F0-699590DC7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448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w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4" name="Rectangle 32">
              <a:extLst>
                <a:ext uri="{FF2B5EF4-FFF2-40B4-BE49-F238E27FC236}">
                  <a16:creationId xmlns:a16="http://schemas.microsoft.com/office/drawing/2014/main" id="{BA65623E-BF47-4F32-AE81-B1EA43FFB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304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00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 sz="1600">
                <a:solidFill>
                  <a:srgbClr val="FF0000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5" name="Rectangle 33">
              <a:extLst>
                <a:ext uri="{FF2B5EF4-FFF2-40B4-BE49-F238E27FC236}">
                  <a16:creationId xmlns:a16="http://schemas.microsoft.com/office/drawing/2014/main" id="{4C630F73-33AA-4F07-92AD-8EFA8F092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6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y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6" name="Rectangle 34">
              <a:extLst>
                <a:ext uri="{FF2B5EF4-FFF2-40B4-BE49-F238E27FC236}">
                  <a16:creationId xmlns:a16="http://schemas.microsoft.com/office/drawing/2014/main" id="{25C45F2B-95E1-4E7C-AFD7-CA75486AE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16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z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7" name="Rectangle 35">
              <a:extLst>
                <a:ext uri="{FF2B5EF4-FFF2-40B4-BE49-F238E27FC236}">
                  <a16:creationId xmlns:a16="http://schemas.microsoft.com/office/drawing/2014/main" id="{187ABDDB-4519-4FBB-ACA1-3AEDEEC67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872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8" name="Rectangle 36">
              <a:extLst>
                <a:ext uri="{FF2B5EF4-FFF2-40B4-BE49-F238E27FC236}">
                  <a16:creationId xmlns:a16="http://schemas.microsoft.com/office/drawing/2014/main" id="{F7E8C8B5-8A45-444D-93B1-87A5BE7F4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728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599" name="Line 37">
              <a:extLst>
                <a:ext uri="{FF2B5EF4-FFF2-40B4-BE49-F238E27FC236}">
                  <a16:creationId xmlns:a16="http://schemas.microsoft.com/office/drawing/2014/main" id="{EEE7225A-782E-4ED0-B7D4-C440DB9110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4" y="1392"/>
              <a:ext cx="0" cy="288"/>
            </a:xfrm>
            <a:prstGeom prst="line">
              <a:avLst/>
            </a:prstGeom>
            <a:noFill/>
            <a:ln w="57150">
              <a:solidFill>
                <a:srgbClr val="B025A6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600" name="Text Box 38">
              <a:extLst>
                <a:ext uri="{FF2B5EF4-FFF2-40B4-BE49-F238E27FC236}">
                  <a16:creationId xmlns:a16="http://schemas.microsoft.com/office/drawing/2014/main" id="{CE0F2E2B-C9A7-4DB4-BB23-D71B69CE0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392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2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growth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cxnSp>
          <p:nvCxnSpPr>
            <p:cNvPr id="66601" name="AutoShape 39">
              <a:extLst>
                <a:ext uri="{FF2B5EF4-FFF2-40B4-BE49-F238E27FC236}">
                  <a16:creationId xmlns:a16="http://schemas.microsoft.com/office/drawing/2014/main" id="{BD795E7E-AD6F-4B31-B0A3-10BB430E92CE}"/>
                </a:ext>
              </a:extLst>
            </p:cNvPr>
            <p:cNvCxnSpPr>
              <a:cxnSpLocks noChangeShapeType="1"/>
              <a:stCxn id="66576" idx="3"/>
              <a:endCxn id="66591" idx="1"/>
            </p:cNvCxnSpPr>
            <p:nvPr/>
          </p:nvCxnSpPr>
          <p:spPr bwMode="auto">
            <a:xfrm>
              <a:off x="1296" y="2376"/>
              <a:ext cx="528" cy="432"/>
            </a:xfrm>
            <a:prstGeom prst="bentConnector3">
              <a:avLst>
                <a:gd name="adj1" fmla="val 3068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6602" name="AutoShape 40">
              <a:extLst>
                <a:ext uri="{FF2B5EF4-FFF2-40B4-BE49-F238E27FC236}">
                  <a16:creationId xmlns:a16="http://schemas.microsoft.com/office/drawing/2014/main" id="{837DB275-1669-4114-AC76-6FAAFADDBED0}"/>
                </a:ext>
              </a:extLst>
            </p:cNvPr>
            <p:cNvCxnSpPr>
              <a:cxnSpLocks noChangeShapeType="1"/>
              <a:stCxn id="66583" idx="3"/>
              <a:endCxn id="66587" idx="1"/>
            </p:cNvCxnSpPr>
            <p:nvPr/>
          </p:nvCxnSpPr>
          <p:spPr bwMode="auto">
            <a:xfrm>
              <a:off x="1296" y="3384"/>
              <a:ext cx="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603" name="AutoShape 41">
              <a:extLst>
                <a:ext uri="{FF2B5EF4-FFF2-40B4-BE49-F238E27FC236}">
                  <a16:creationId xmlns:a16="http://schemas.microsoft.com/office/drawing/2014/main" id="{DAB93994-09F9-48C9-99C1-B5349938EFAD}"/>
                </a:ext>
              </a:extLst>
            </p:cNvPr>
            <p:cNvCxnSpPr>
              <a:cxnSpLocks noChangeShapeType="1"/>
              <a:stCxn id="66578" idx="3"/>
              <a:endCxn id="66593" idx="1"/>
            </p:cNvCxnSpPr>
            <p:nvPr/>
          </p:nvCxnSpPr>
          <p:spPr bwMode="auto">
            <a:xfrm flipV="1">
              <a:off x="1296" y="2520"/>
              <a:ext cx="528" cy="144"/>
            </a:xfrm>
            <a:prstGeom prst="bentConnector3">
              <a:avLst>
                <a:gd name="adj1" fmla="val 5814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6604" name="AutoShape 42">
              <a:extLst>
                <a:ext uri="{FF2B5EF4-FFF2-40B4-BE49-F238E27FC236}">
                  <a16:creationId xmlns:a16="http://schemas.microsoft.com/office/drawing/2014/main" id="{D0BC3D91-B8E5-42BF-ABC6-84619CF072B1}"/>
                </a:ext>
              </a:extLst>
            </p:cNvPr>
            <p:cNvCxnSpPr>
              <a:cxnSpLocks noChangeShapeType="1"/>
              <a:stCxn id="66573" idx="3"/>
              <a:endCxn id="66596" idx="1"/>
            </p:cNvCxnSpPr>
            <p:nvPr/>
          </p:nvCxnSpPr>
          <p:spPr bwMode="auto">
            <a:xfrm>
              <a:off x="1296" y="1944"/>
              <a:ext cx="528" cy="144"/>
            </a:xfrm>
            <a:prstGeom prst="bentConnector3">
              <a:avLst>
                <a:gd name="adj1" fmla="val 3030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6606" name="AutoShape 44">
              <a:extLst>
                <a:ext uri="{FF2B5EF4-FFF2-40B4-BE49-F238E27FC236}">
                  <a16:creationId xmlns:a16="http://schemas.microsoft.com/office/drawing/2014/main" id="{C297A5D1-5545-46C2-AE6E-A81A2DD50493}"/>
                </a:ext>
              </a:extLst>
            </p:cNvPr>
            <p:cNvCxnSpPr>
              <a:cxnSpLocks noChangeShapeType="1"/>
              <a:stCxn id="66571" idx="3"/>
              <a:endCxn id="66594" idx="1"/>
            </p:cNvCxnSpPr>
            <p:nvPr/>
          </p:nvCxnSpPr>
          <p:spPr bwMode="auto">
            <a:xfrm>
              <a:off x="1296" y="1656"/>
              <a:ext cx="528" cy="72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6607" name="AutoShape 45">
              <a:extLst>
                <a:ext uri="{FF2B5EF4-FFF2-40B4-BE49-F238E27FC236}">
                  <a16:creationId xmlns:a16="http://schemas.microsoft.com/office/drawing/2014/main" id="{19DEACED-7867-4C58-B92F-2C2E76DEA4E2}"/>
                </a:ext>
              </a:extLst>
            </p:cNvPr>
            <p:cNvCxnSpPr>
              <a:cxnSpLocks noChangeShapeType="1"/>
              <a:stCxn id="66594" idx="3"/>
              <a:endCxn id="66592" idx="3"/>
            </p:cNvCxnSpPr>
            <p:nvPr/>
          </p:nvCxnSpPr>
          <p:spPr bwMode="auto">
            <a:xfrm>
              <a:off x="2544" y="2376"/>
              <a:ext cx="1" cy="288"/>
            </a:xfrm>
            <a:prstGeom prst="bent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6608" name="AutoShape 46">
              <a:extLst>
                <a:ext uri="{FF2B5EF4-FFF2-40B4-BE49-F238E27FC236}">
                  <a16:creationId xmlns:a16="http://schemas.microsoft.com/office/drawing/2014/main" id="{DDD8F3F0-A0C3-4311-8AB0-A13AE7801D31}"/>
                </a:ext>
              </a:extLst>
            </p:cNvPr>
            <p:cNvCxnSpPr>
              <a:cxnSpLocks noChangeShapeType="1"/>
              <a:stCxn id="66591" idx="3"/>
              <a:endCxn id="66588" idx="3"/>
            </p:cNvCxnSpPr>
            <p:nvPr/>
          </p:nvCxnSpPr>
          <p:spPr bwMode="auto">
            <a:xfrm>
              <a:off x="2544" y="2808"/>
              <a:ext cx="1" cy="432"/>
            </a:xfrm>
            <a:prstGeom prst="bent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66609" name="Line 47">
              <a:extLst>
                <a:ext uri="{FF2B5EF4-FFF2-40B4-BE49-F238E27FC236}">
                  <a16:creationId xmlns:a16="http://schemas.microsoft.com/office/drawing/2014/main" id="{5FA5E119-4C62-432C-8DF9-5042AD85A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3" y="3455"/>
              <a:ext cx="30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610" name="Text Box 48">
              <a:extLst>
                <a:ext uri="{FF2B5EF4-FFF2-40B4-BE49-F238E27FC236}">
                  <a16:creationId xmlns:a16="http://schemas.microsoft.com/office/drawing/2014/main" id="{83E002F5-3AF7-4C4D-95A5-4DEB4D52B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1" y="3342"/>
              <a:ext cx="18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4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p</a:t>
              </a:r>
            </a:p>
          </p:txBody>
        </p:sp>
        <p:sp>
          <p:nvSpPr>
            <p:cNvPr id="66611" name="Line 49">
              <a:extLst>
                <a:ext uri="{FF2B5EF4-FFF2-40B4-BE49-F238E27FC236}">
                  <a16:creationId xmlns:a16="http://schemas.microsoft.com/office/drawing/2014/main" id="{5A619A09-CBD9-4837-B46C-1C36F1CDD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0" y="3024"/>
              <a:ext cx="30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612" name="Text Box 50">
              <a:extLst>
                <a:ext uri="{FF2B5EF4-FFF2-40B4-BE49-F238E27FC236}">
                  <a16:creationId xmlns:a16="http://schemas.microsoft.com/office/drawing/2014/main" id="{9C4C47A1-0058-4872-9669-E5A741E66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28"/>
              <a:ext cx="18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4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q</a:t>
              </a:r>
            </a:p>
          </p:txBody>
        </p:sp>
        <p:sp>
          <p:nvSpPr>
            <p:cNvPr id="66613" name="Line 51">
              <a:extLst>
                <a:ext uri="{FF2B5EF4-FFF2-40B4-BE49-F238E27FC236}">
                  <a16:creationId xmlns:a16="http://schemas.microsoft.com/office/drawing/2014/main" id="{251FEFC7-2388-44A9-8D9F-F68E4DCD1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3" y="2448"/>
              <a:ext cx="30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614" name="Text Box 52">
              <a:extLst>
                <a:ext uri="{FF2B5EF4-FFF2-40B4-BE49-F238E27FC236}">
                  <a16:creationId xmlns:a16="http://schemas.microsoft.com/office/drawing/2014/main" id="{948D2EA9-107E-48F7-BFFD-B8F049F07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" y="2352"/>
              <a:ext cx="1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4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r</a:t>
              </a:r>
            </a:p>
          </p:txBody>
        </p:sp>
        <p:sp>
          <p:nvSpPr>
            <p:cNvPr id="66615" name="Text Box 53">
              <a:extLst>
                <a:ext uri="{FF2B5EF4-FFF2-40B4-BE49-F238E27FC236}">
                  <a16:creationId xmlns:a16="http://schemas.microsoft.com/office/drawing/2014/main" id="{F24FCCC2-9E92-4D94-AF13-A0A7B4502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71"/>
              <a:ext cx="7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200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Sparse index</a:t>
              </a:r>
            </a:p>
          </p:txBody>
        </p:sp>
        <p:sp>
          <p:nvSpPr>
            <p:cNvPr id="66616" name="Text Box 54">
              <a:extLst>
                <a:ext uri="{FF2B5EF4-FFF2-40B4-BE49-F238E27FC236}">
                  <a16:creationId xmlns:a16="http://schemas.microsoft.com/office/drawing/2014/main" id="{F9228E6A-106A-4914-806D-3808015C2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571"/>
              <a:ext cx="7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200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Dense table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5C5EC37-AD95-45CB-967B-D44EF7CC2757}"/>
              </a:ext>
            </a:extLst>
          </p:cNvPr>
          <p:cNvSpPr txBox="1"/>
          <p:nvPr/>
        </p:nvSpPr>
        <p:spPr>
          <a:xfrm>
            <a:off x="3865563" y="6140450"/>
            <a:ext cx="4225925" cy="523875"/>
          </a:xfrm>
          <a:prstGeom prst="rect">
            <a:avLst/>
          </a:prstGeom>
          <a:solidFill>
            <a:srgbClr val="BFBFBF"/>
          </a:solidFill>
          <a:ln>
            <a:solidFill>
              <a:srgbClr val="7F7F7F"/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Parser (or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treewalk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) encounters names by scope, so each scope forms a block at stack top.</a:t>
            </a:r>
          </a:p>
        </p:txBody>
      </p: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Footer Placeholder 1">
            <a:extLst>
              <a:ext uri="{FF2B5EF4-FFF2-40B4-BE49-F238E27FC236}">
                <a16:creationId xmlns:a16="http://schemas.microsoft.com/office/drawing/2014/main" id="{7993BBF9-ADCD-43AB-87FB-FB39320DDC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1682" name="Slide Number Placeholder 2">
            <a:extLst>
              <a:ext uri="{FF2B5EF4-FFF2-40B4-BE49-F238E27FC236}">
                <a16:creationId xmlns:a16="http://schemas.microsoft.com/office/drawing/2014/main" id="{6C63925B-BB61-4151-9E80-6D03DCFBB0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FF664D1-493B-42E8-8C8D-5293166147A3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EF41658-92B7-418C-AEA4-23920AEF2C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The Procedure as an External Interface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8B2CB8DE-361B-4C83-97BA-88B27E5142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Naming plays a critical role in our ability to use procedure    calls as a general interface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OS needs a way to start the program’s execution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Programmer needs a way to indicate where it begins</a:t>
            </a:r>
          </a:p>
          <a:p>
            <a:pPr lvl="1" eaLnBrk="1" hangingPunct="1"/>
            <a:r>
              <a:rPr lang="en-US" altLang="it-IT"/>
              <a:t>The procedure “</a:t>
            </a:r>
            <a:r>
              <a:rPr lang="en-US" altLang="it-IT">
                <a:solidFill>
                  <a:srgbClr val="003C75"/>
                </a:solidFill>
              </a:rPr>
              <a:t>main</a:t>
            </a:r>
            <a:r>
              <a:rPr lang="en-US" altLang="it-IT"/>
              <a:t>” in most languages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When user invokes “grep” at a command line</a:t>
            </a:r>
          </a:p>
          <a:p>
            <a:pPr lvl="1" eaLnBrk="1" hangingPunct="1"/>
            <a:r>
              <a:rPr lang="en-US" altLang="it-IT"/>
              <a:t>OS finds the executable</a:t>
            </a:r>
          </a:p>
          <a:p>
            <a:pPr lvl="1" eaLnBrk="1" hangingPunct="1"/>
            <a:r>
              <a:rPr lang="en-US" altLang="it-IT"/>
              <a:t>OS creates a process and arranges for it to run “grep”</a:t>
            </a:r>
          </a:p>
          <a:p>
            <a:pPr marL="1085850" lvl="2" eaLnBrk="1" hangingPunct="1"/>
            <a:r>
              <a:rPr lang="en-US" altLang="it-IT"/>
              <a:t>Conceptually, it does a fork() and an exec() of the executable “grep”</a:t>
            </a:r>
          </a:p>
          <a:p>
            <a:pPr lvl="1" eaLnBrk="1" hangingPunct="1"/>
            <a:r>
              <a:rPr lang="en-US" altLang="it-IT"/>
              <a:t>“grep” is code from the compiler, linked with run-time system</a:t>
            </a:r>
          </a:p>
          <a:p>
            <a:pPr marL="1085850" lvl="2" eaLnBrk="1" hangingPunct="1">
              <a:spcBef>
                <a:spcPct val="15000"/>
              </a:spcBef>
            </a:pPr>
            <a:r>
              <a:rPr lang="en-US" altLang="it-IT"/>
              <a:t>Starts the run-time environment &amp; calls “main”</a:t>
            </a:r>
          </a:p>
          <a:p>
            <a:pPr marL="1085850" lvl="2" eaLnBrk="1" hangingPunct="1">
              <a:spcBef>
                <a:spcPct val="15000"/>
              </a:spcBef>
            </a:pPr>
            <a:r>
              <a:rPr lang="en-US" altLang="it-IT"/>
              <a:t>After main, it shuts down run-time environment &amp; returns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When “grep” needs system services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It makes a system call, such as fopen()</a:t>
            </a:r>
          </a:p>
        </p:txBody>
      </p:sp>
      <p:sp>
        <p:nvSpPr>
          <p:cNvPr id="68614" name="Text Box 4">
            <a:extLst>
              <a:ext uri="{FF2B5EF4-FFF2-40B4-BE49-F238E27FC236}">
                <a16:creationId xmlns:a16="http://schemas.microsoft.com/office/drawing/2014/main" id="{94CE8BFB-DFDF-4447-84E9-1E8A6639F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124200"/>
            <a:ext cx="1981200" cy="5238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UNIX/Linux specific discussion</a:t>
            </a:r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Footer Placeholder 3">
            <a:extLst>
              <a:ext uri="{FF2B5EF4-FFF2-40B4-BE49-F238E27FC236}">
                <a16:creationId xmlns:a16="http://schemas.microsoft.com/office/drawing/2014/main" id="{22EA864E-4BA5-40A6-9DA9-A15A3AC50C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3730" name="Slide Number Placeholder 4">
            <a:extLst>
              <a:ext uri="{FF2B5EF4-FFF2-40B4-BE49-F238E27FC236}">
                <a16:creationId xmlns:a16="http://schemas.microsoft.com/office/drawing/2014/main" id="{3A52C22F-A682-4C97-9544-110DBC267F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BB1C00C-646C-43BF-8230-7D216434647B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7A100A25-BE96-4DAB-889B-278AAE6FB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Where Do All These Variables Go?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EE8CC7A9-1876-40AD-B7CD-7B2344A28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4588"/>
            <a:ext cx="8001000" cy="4875212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Automatic &amp; Local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Keep them in the procedure activation record or  in a register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Automatic </a:t>
            </a:r>
            <a:r>
              <a:rPr lang="en-US" altLang="it-IT">
                <a:sym typeface="Symbol" panose="05050102010706020507" pitchFamily="18" charset="2"/>
              </a:rPr>
              <a:t> lifetime matches procedure’s lifetime</a:t>
            </a:r>
            <a:endParaRPr lang="en-US" altLang="it-IT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Static</a:t>
            </a:r>
            <a:r>
              <a:rPr lang="en-US" altLang="it-IT"/>
              <a:t> 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5000"/>
              </a:spcBef>
            </a:pPr>
            <a:r>
              <a:rPr lang="en-US" altLang="it-IT">
                <a:sym typeface="Symbol" panose="05050102010706020507" pitchFamily="18" charset="2"/>
              </a:rPr>
              <a:t>Procedure scope  storage area affixed with procedure name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&amp;_p.x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File scope </a:t>
            </a:r>
            <a:r>
              <a:rPr lang="en-US" altLang="it-IT">
                <a:sym typeface="Symbol" panose="05050102010706020507" pitchFamily="18" charset="2"/>
              </a:rPr>
              <a:t> storage area affixed with file name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>
                <a:sym typeface="Symbol" panose="05050102010706020507" pitchFamily="18" charset="2"/>
              </a:rPr>
              <a:t>Lifetime is entire execution</a:t>
            </a:r>
            <a:endParaRPr lang="en-US" altLang="it-IT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Global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One or more named global data areas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One per variable, or per file, or per program, …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Lifetime is entire execution</a:t>
            </a: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Footer Placeholder 3">
            <a:extLst>
              <a:ext uri="{FF2B5EF4-FFF2-40B4-BE49-F238E27FC236}">
                <a16:creationId xmlns:a16="http://schemas.microsoft.com/office/drawing/2014/main" id="{1730BADE-EF3A-4210-9F56-A87A1887B7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5778" name="Slide Number Placeholder 4">
            <a:extLst>
              <a:ext uri="{FF2B5EF4-FFF2-40B4-BE49-F238E27FC236}">
                <a16:creationId xmlns:a16="http://schemas.microsoft.com/office/drawing/2014/main" id="{9E2A3F45-E4AF-4A75-A213-1008171E17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B4F7577-605C-408A-93B7-3023F6C992D2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F449EC5B-6758-4382-A23C-D2ED327BA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Placing Run-time Data Structures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0C700E8-9614-4EDA-824F-EF0DEEE86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Classic Organization </a:t>
            </a:r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033FBB49-1584-4BC4-B095-E37856829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94200"/>
            <a:ext cx="533400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1143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3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 Code, static, &amp; global data have known size</a:t>
            </a:r>
          </a:p>
          <a:p>
            <a:pPr lvl="1">
              <a:spcBef>
                <a:spcPct val="35000"/>
              </a:spcBef>
              <a:buClr>
                <a:srgbClr val="003C75"/>
              </a:buClr>
              <a:buSzPct val="80000"/>
              <a:buFontTx/>
              <a:buChar char="—"/>
            </a:pPr>
            <a:r>
              <a:rPr lang="en-US" altLang="it-IT"/>
              <a:t> Use symbolic labels in the code</a:t>
            </a:r>
          </a:p>
          <a:p>
            <a:pPr>
              <a:spcBef>
                <a:spcPct val="3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 Heap &amp; stack both grow &amp; shrink over time</a:t>
            </a:r>
          </a:p>
          <a:p>
            <a:pPr>
              <a:spcBef>
                <a:spcPct val="3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 This is a </a:t>
            </a:r>
            <a:r>
              <a:rPr lang="en-US" altLang="it-IT" i="1" u="sng"/>
              <a:t>virtual</a:t>
            </a:r>
            <a:r>
              <a:rPr lang="en-US" altLang="it-IT" sz="1000"/>
              <a:t>  </a:t>
            </a:r>
            <a:r>
              <a:rPr lang="en-US" altLang="it-IT"/>
              <a:t>address space </a:t>
            </a:r>
          </a:p>
        </p:txBody>
      </p:sp>
      <p:sp>
        <p:nvSpPr>
          <p:cNvPr id="72711" name="Text Box 5">
            <a:extLst>
              <a:ext uri="{FF2B5EF4-FFF2-40B4-BE49-F238E27FC236}">
                <a16:creationId xmlns:a16="http://schemas.microsoft.com/office/drawing/2014/main" id="{82BB9B84-9640-4EE6-804D-5F0609158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371600"/>
            <a:ext cx="3124200" cy="2681288"/>
          </a:xfrm>
          <a:prstGeom prst="rect">
            <a:avLst/>
          </a:prstGeom>
          <a:solidFill>
            <a:schemeClr val="bg1"/>
          </a:solidFill>
          <a:ln w="952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69863" indent="-169863" eaLnBrk="0" hangingPunct="0">
              <a:spcBef>
                <a:spcPct val="5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Better utilization if  stack &amp; heap grow toward each other </a:t>
            </a:r>
          </a:p>
          <a:p>
            <a:pPr marL="169863" indent="-169863" eaLnBrk="0" hangingPunct="0">
              <a:spcBef>
                <a:spcPct val="4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Very old result     (Knuth)</a:t>
            </a:r>
          </a:p>
          <a:p>
            <a:pPr marL="169863" indent="-169863" eaLnBrk="0" hangingPunct="0">
              <a:spcBef>
                <a:spcPct val="4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Code &amp; data separate or interleaved</a:t>
            </a:r>
          </a:p>
          <a:p>
            <a:pPr marL="169863" indent="-169863" eaLnBrk="0" hangingPunct="0">
              <a:spcBef>
                <a:spcPct val="4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Uses address space, not allocated memory</a:t>
            </a:r>
          </a:p>
        </p:txBody>
      </p:sp>
      <p:grpSp>
        <p:nvGrpSpPr>
          <p:cNvPr id="72712" name="Group 6">
            <a:extLst>
              <a:ext uri="{FF2B5EF4-FFF2-40B4-BE49-F238E27FC236}">
                <a16:creationId xmlns:a16="http://schemas.microsoft.com/office/drawing/2014/main" id="{16CBCA58-8A19-4A8A-B2ED-3EACAD7D6345}"/>
              </a:ext>
            </a:extLst>
          </p:cNvPr>
          <p:cNvGrpSpPr>
            <a:grpSpLocks/>
          </p:cNvGrpSpPr>
          <p:nvPr/>
        </p:nvGrpSpPr>
        <p:grpSpPr bwMode="auto">
          <a:xfrm>
            <a:off x="977900" y="1873250"/>
            <a:ext cx="4127500" cy="2089150"/>
            <a:chOff x="640" y="1152"/>
            <a:chExt cx="2600" cy="1316"/>
          </a:xfrm>
          <a:noFill/>
        </p:grpSpPr>
        <p:grpSp>
          <p:nvGrpSpPr>
            <p:cNvPr id="72713" name="Group 7">
              <a:extLst>
                <a:ext uri="{FF2B5EF4-FFF2-40B4-BE49-F238E27FC236}">
                  <a16:creationId xmlns:a16="http://schemas.microsoft.com/office/drawing/2014/main" id="{68957ABA-058B-4339-B85E-53B7BA7443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152"/>
              <a:ext cx="2304" cy="960"/>
              <a:chOff x="912" y="1152"/>
              <a:chExt cx="2304" cy="960"/>
            </a:xfrm>
            <a:grpFill/>
          </p:grpSpPr>
          <p:sp>
            <p:nvSpPr>
              <p:cNvPr id="72717" name="Rectangle 8">
                <a:extLst>
                  <a:ext uri="{FF2B5EF4-FFF2-40B4-BE49-F238E27FC236}">
                    <a16:creationId xmlns:a16="http://schemas.microsoft.com/office/drawing/2014/main" id="{85AE307B-FA93-4877-BA96-74C94E8C9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72718" name="Rectangle 9">
                <a:extLst>
                  <a:ext uri="{FF2B5EF4-FFF2-40B4-BE49-F238E27FC236}">
                    <a16:creationId xmlns:a16="http://schemas.microsoft.com/office/drawing/2014/main" id="{065F9459-81A7-4B29-BD83-59271D445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 dirty="0">
                    <a:latin typeface="Geneva"/>
                    <a:ea typeface="ヒラギノ角ゴ Pro W3" charset="-128"/>
                    <a:cs typeface="Geneva"/>
                  </a:rPr>
                  <a:t>C</a:t>
                </a:r>
              </a:p>
              <a:p>
                <a:pPr algn="ctr" eaLnBrk="0" hangingPunct="0">
                  <a:defRPr/>
                </a:pPr>
                <a:r>
                  <a:rPr lang="en-US" sz="1400" b="1" dirty="0" err="1">
                    <a:latin typeface="Geneva"/>
                    <a:ea typeface="ヒラギノ角ゴ Pro W3" charset="-128"/>
                    <a:cs typeface="Geneva"/>
                  </a:rPr>
                  <a:t>o</a:t>
                </a:r>
                <a:endParaRPr lang="en-US" sz="1400" b="1" dirty="0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 dirty="0" err="1">
                    <a:latin typeface="Geneva"/>
                    <a:ea typeface="ヒラギノ角ゴ Pro W3" charset="-128"/>
                    <a:cs typeface="Geneva"/>
                  </a:rPr>
                  <a:t>d</a:t>
                </a:r>
                <a:endParaRPr lang="en-US" sz="1400" b="1" dirty="0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 dirty="0" err="1">
                    <a:latin typeface="Geneva"/>
                    <a:ea typeface="ヒラギノ角ゴ Pro W3" charset="-128"/>
                    <a:cs typeface="Geneva"/>
                  </a:rPr>
                  <a:t>e</a:t>
                </a:r>
                <a:endParaRPr lang="en-US" sz="1400" b="1" dirty="0">
                  <a:latin typeface="Geneva"/>
                  <a:ea typeface="ヒラギノ角ゴ Pro W3" charset="-128"/>
                  <a:cs typeface="Geneva"/>
                </a:endParaRPr>
              </a:p>
            </p:txBody>
          </p:sp>
          <p:sp>
            <p:nvSpPr>
              <p:cNvPr id="72719" name="Rectangle 10">
                <a:extLst>
                  <a:ext uri="{FF2B5EF4-FFF2-40B4-BE49-F238E27FC236}">
                    <a16:creationId xmlns:a16="http://schemas.microsoft.com/office/drawing/2014/main" id="{9040EF91-DE99-4181-9BA1-8E369A712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S    G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t      l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a &amp; o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t     b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i     a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c     l </a:t>
                </a:r>
              </a:p>
            </p:txBody>
          </p:sp>
          <p:sp>
            <p:nvSpPr>
              <p:cNvPr id="72720" name="Rectangle 11">
                <a:extLst>
                  <a:ext uri="{FF2B5EF4-FFF2-40B4-BE49-F238E27FC236}">
                    <a16:creationId xmlns:a16="http://schemas.microsoft.com/office/drawing/2014/main" id="{108406B9-9B4E-41B2-ACC3-5BEF1F957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S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t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c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k</a:t>
                </a:r>
              </a:p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</p:txBody>
          </p:sp>
          <p:sp>
            <p:nvSpPr>
              <p:cNvPr id="72721" name="Rectangle 12">
                <a:extLst>
                  <a:ext uri="{FF2B5EF4-FFF2-40B4-BE49-F238E27FC236}">
                    <a16:creationId xmlns:a16="http://schemas.microsoft.com/office/drawing/2014/main" id="{22387175-405E-40B7-B05A-141B75861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H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e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p</a:t>
                </a:r>
              </a:p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</p:txBody>
          </p:sp>
          <p:sp>
            <p:nvSpPr>
              <p:cNvPr id="72722" name="Line 13">
                <a:extLst>
                  <a:ext uri="{FF2B5EF4-FFF2-40B4-BE49-F238E27FC236}">
                    <a16:creationId xmlns:a16="http://schemas.microsoft.com/office/drawing/2014/main" id="{8F719920-DC06-44E3-9BFD-7C7B9D384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72723" name="Line 14">
                <a:extLst>
                  <a:ext uri="{FF2B5EF4-FFF2-40B4-BE49-F238E27FC236}">
                    <a16:creationId xmlns:a16="http://schemas.microsoft.com/office/drawing/2014/main" id="{48D08C43-58A0-44C5-AAA8-EC9B51F9F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</p:grpSp>
        <p:sp>
          <p:nvSpPr>
            <p:cNvPr id="72714" name="Text Box 15">
              <a:extLst>
                <a:ext uri="{FF2B5EF4-FFF2-40B4-BE49-F238E27FC236}">
                  <a16:creationId xmlns:a16="http://schemas.microsoft.com/office/drawing/2014/main" id="{8CFE08F6-E318-4322-9CE2-C489CC68D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2256"/>
              <a:ext cx="1992" cy="2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Single Logical Address Space</a:t>
              </a:r>
            </a:p>
          </p:txBody>
        </p:sp>
        <p:sp>
          <p:nvSpPr>
            <p:cNvPr id="72715" name="Text Box 16">
              <a:extLst>
                <a:ext uri="{FF2B5EF4-FFF2-40B4-BE49-F238E27FC236}">
                  <a16:creationId xmlns:a16="http://schemas.microsoft.com/office/drawing/2014/main" id="{4C12C272-8EEA-4FE9-B544-256165BC0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" y="2104"/>
              <a:ext cx="288" cy="19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400" dirty="0">
                  <a:solidFill>
                    <a:srgbClr val="003C75"/>
                  </a:solidFill>
                  <a:latin typeface="Times" charset="0"/>
                  <a:ea typeface="ヒラギノ角ゴ Pro W3" charset="-128"/>
                  <a:cs typeface="ヒラギノ角ゴ Pro W3" charset="-128"/>
                </a:rPr>
                <a:t>0</a:t>
              </a:r>
              <a:endParaRPr lang="en-US" dirty="0">
                <a:solidFill>
                  <a:srgbClr val="003C7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72716" name="Text Box 17">
              <a:extLst>
                <a:ext uri="{FF2B5EF4-FFF2-40B4-BE49-F238E27FC236}">
                  <a16:creationId xmlns:a16="http://schemas.microsoft.com/office/drawing/2014/main" id="{2249F615-39C4-4B8A-92F7-04E74269E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096"/>
              <a:ext cx="384" cy="19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400" i="1" dirty="0">
                  <a:solidFill>
                    <a:srgbClr val="003C75"/>
                  </a:solidFill>
                  <a:latin typeface="Times" charset="0"/>
                  <a:ea typeface="ヒラギノ角ゴ Pro W3" charset="-128"/>
                  <a:cs typeface="ヒラギノ角ゴ Pro W3" charset="-128"/>
                </a:rPr>
                <a:t>high</a:t>
              </a:r>
              <a:endParaRPr lang="en-US" dirty="0">
                <a:solidFill>
                  <a:srgbClr val="003C7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Footer Placeholder 3">
            <a:extLst>
              <a:ext uri="{FF2B5EF4-FFF2-40B4-BE49-F238E27FC236}">
                <a16:creationId xmlns:a16="http://schemas.microsoft.com/office/drawing/2014/main" id="{3EFE4629-17F8-4C78-9F7C-B6BFE19687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7826" name="Slide Number Placeholder 4">
            <a:extLst>
              <a:ext uri="{FF2B5EF4-FFF2-40B4-BE49-F238E27FC236}">
                <a16:creationId xmlns:a16="http://schemas.microsoft.com/office/drawing/2014/main" id="{98F99686-CACE-4CBE-84DC-12DEDC517F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F28EDD8-594B-475A-B354-F9BADBE93F0B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63882B5B-C816-4992-9911-17A2F39D5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How Does This Really Work?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6CD438DA-A569-4EAD-A766-76D79F270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Big Picture</a:t>
            </a:r>
          </a:p>
        </p:txBody>
      </p:sp>
      <p:grpSp>
        <p:nvGrpSpPr>
          <p:cNvPr id="77829" name="Group 4">
            <a:extLst>
              <a:ext uri="{FF2B5EF4-FFF2-40B4-BE49-F238E27FC236}">
                <a16:creationId xmlns:a16="http://schemas.microsoft.com/office/drawing/2014/main" id="{16CDFB48-E5AC-4923-8D17-42B0D30CA082}"/>
              </a:ext>
            </a:extLst>
          </p:cNvPr>
          <p:cNvGrpSpPr>
            <a:grpSpLocks/>
          </p:cNvGrpSpPr>
          <p:nvPr/>
        </p:nvGrpSpPr>
        <p:grpSpPr bwMode="auto">
          <a:xfrm>
            <a:off x="1606550" y="4419600"/>
            <a:ext cx="3498850" cy="728663"/>
            <a:chOff x="960" y="2400"/>
            <a:chExt cx="2204" cy="459"/>
          </a:xfrm>
        </p:grpSpPr>
        <p:sp>
          <p:nvSpPr>
            <p:cNvPr id="77916" name="Rectangle 5">
              <a:extLst>
                <a:ext uri="{FF2B5EF4-FFF2-40B4-BE49-F238E27FC236}">
                  <a16:creationId xmlns:a16="http://schemas.microsoft.com/office/drawing/2014/main" id="{B21BE305-78BE-4072-BC3B-C4293FEBC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17" name="Rectangle 6">
              <a:extLst>
                <a:ext uri="{FF2B5EF4-FFF2-40B4-BE49-F238E27FC236}">
                  <a16:creationId xmlns:a16="http://schemas.microsoft.com/office/drawing/2014/main" id="{A0CA3560-F496-4F27-B598-DBD347B05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18" name="Rectangle 7">
              <a:extLst>
                <a:ext uri="{FF2B5EF4-FFF2-40B4-BE49-F238E27FC236}">
                  <a16:creationId xmlns:a16="http://schemas.microsoft.com/office/drawing/2014/main" id="{E323E796-D384-4C4E-AF1E-AFA18BC61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19" name="Rectangle 8">
              <a:extLst>
                <a:ext uri="{FF2B5EF4-FFF2-40B4-BE49-F238E27FC236}">
                  <a16:creationId xmlns:a16="http://schemas.microsoft.com/office/drawing/2014/main" id="{CE9A854F-4A96-43C2-A943-15F9AB05D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0" name="Rectangle 9">
              <a:extLst>
                <a:ext uri="{FF2B5EF4-FFF2-40B4-BE49-F238E27FC236}">
                  <a16:creationId xmlns:a16="http://schemas.microsoft.com/office/drawing/2014/main" id="{F39AE1CC-D26B-4DE4-A04A-A6B498933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1" name="Rectangle 10">
              <a:extLst>
                <a:ext uri="{FF2B5EF4-FFF2-40B4-BE49-F238E27FC236}">
                  <a16:creationId xmlns:a16="http://schemas.microsoft.com/office/drawing/2014/main" id="{458B522D-3DB3-4952-8143-C0E994FF6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2" name="Rectangle 11">
              <a:extLst>
                <a:ext uri="{FF2B5EF4-FFF2-40B4-BE49-F238E27FC236}">
                  <a16:creationId xmlns:a16="http://schemas.microsoft.com/office/drawing/2014/main" id="{D4ABF36D-D9F3-4832-B9CB-08C63769B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3" name="Rectangle 12">
              <a:extLst>
                <a:ext uri="{FF2B5EF4-FFF2-40B4-BE49-F238E27FC236}">
                  <a16:creationId xmlns:a16="http://schemas.microsoft.com/office/drawing/2014/main" id="{5F2C299F-1A2A-4767-BF3E-176065B89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4" name="Rectangle 13">
              <a:extLst>
                <a:ext uri="{FF2B5EF4-FFF2-40B4-BE49-F238E27FC236}">
                  <a16:creationId xmlns:a16="http://schemas.microsoft.com/office/drawing/2014/main" id="{614E243C-9A0F-4A3A-9038-9E79AB647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5" name="Rectangle 14">
              <a:extLst>
                <a:ext uri="{FF2B5EF4-FFF2-40B4-BE49-F238E27FC236}">
                  <a16:creationId xmlns:a16="http://schemas.microsoft.com/office/drawing/2014/main" id="{224CFE3D-3D15-4D6C-B4A2-4868F6B7C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6" name="Rectangle 15">
              <a:extLst>
                <a:ext uri="{FF2B5EF4-FFF2-40B4-BE49-F238E27FC236}">
                  <a16:creationId xmlns:a16="http://schemas.microsoft.com/office/drawing/2014/main" id="{B9A8694D-0F19-4116-A90C-CB26CDC4B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7" name="Rectangle 16">
              <a:extLst>
                <a:ext uri="{FF2B5EF4-FFF2-40B4-BE49-F238E27FC236}">
                  <a16:creationId xmlns:a16="http://schemas.microsoft.com/office/drawing/2014/main" id="{3929AF5B-B7F4-4433-B7B5-F27BBE2ED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8" name="Rectangle 17">
              <a:extLst>
                <a:ext uri="{FF2B5EF4-FFF2-40B4-BE49-F238E27FC236}">
                  <a16:creationId xmlns:a16="http://schemas.microsoft.com/office/drawing/2014/main" id="{F40D9D25-EA8E-4C6A-835A-7C331AEC3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29" name="Rectangle 18">
              <a:extLst>
                <a:ext uri="{FF2B5EF4-FFF2-40B4-BE49-F238E27FC236}">
                  <a16:creationId xmlns:a16="http://schemas.microsoft.com/office/drawing/2014/main" id="{41074754-E952-492B-A47A-2EEE839B2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30" name="Rectangle 19">
              <a:extLst>
                <a:ext uri="{FF2B5EF4-FFF2-40B4-BE49-F238E27FC236}">
                  <a16:creationId xmlns:a16="http://schemas.microsoft.com/office/drawing/2014/main" id="{748BBD35-3790-43C2-B207-5DFFE292B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31" name="Rectangle 20">
              <a:extLst>
                <a:ext uri="{FF2B5EF4-FFF2-40B4-BE49-F238E27FC236}">
                  <a16:creationId xmlns:a16="http://schemas.microsoft.com/office/drawing/2014/main" id="{3AB2BD3B-4D21-4623-A5A2-09DAD0C89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32" name="Rectangle 21">
              <a:extLst>
                <a:ext uri="{FF2B5EF4-FFF2-40B4-BE49-F238E27FC236}">
                  <a16:creationId xmlns:a16="http://schemas.microsoft.com/office/drawing/2014/main" id="{99991113-212B-46B9-838A-698A9C1EE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33" name="Rectangle 22">
              <a:extLst>
                <a:ext uri="{FF2B5EF4-FFF2-40B4-BE49-F238E27FC236}">
                  <a16:creationId xmlns:a16="http://schemas.microsoft.com/office/drawing/2014/main" id="{DDDA5F72-0168-47D7-BC1B-4F8AAFF9A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934" name="Rectangle 23">
              <a:extLst>
                <a:ext uri="{FF2B5EF4-FFF2-40B4-BE49-F238E27FC236}">
                  <a16:creationId xmlns:a16="http://schemas.microsoft.com/office/drawing/2014/main" id="{41EAFBBD-B9E3-4B37-885D-875BAE08F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35" name="Rectangle 24">
              <a:extLst>
                <a:ext uri="{FF2B5EF4-FFF2-40B4-BE49-F238E27FC236}">
                  <a16:creationId xmlns:a16="http://schemas.microsoft.com/office/drawing/2014/main" id="{6C28505A-C78A-4CE7-954B-F02899EBE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36" name="Rectangle 25">
              <a:extLst>
                <a:ext uri="{FF2B5EF4-FFF2-40B4-BE49-F238E27FC236}">
                  <a16:creationId xmlns:a16="http://schemas.microsoft.com/office/drawing/2014/main" id="{C404CAF2-32D4-4B80-8CF2-9529BF6E6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37" name="Rectangle 26">
              <a:extLst>
                <a:ext uri="{FF2B5EF4-FFF2-40B4-BE49-F238E27FC236}">
                  <a16:creationId xmlns:a16="http://schemas.microsoft.com/office/drawing/2014/main" id="{6DC0F9BE-DC38-4C05-8560-60A99E6A0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38" name="Rectangle 27">
              <a:extLst>
                <a:ext uri="{FF2B5EF4-FFF2-40B4-BE49-F238E27FC236}">
                  <a16:creationId xmlns:a16="http://schemas.microsoft.com/office/drawing/2014/main" id="{28A96A38-3F35-4582-8BFE-8DCCCF1B3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77830" name="Group 28">
            <a:extLst>
              <a:ext uri="{FF2B5EF4-FFF2-40B4-BE49-F238E27FC236}">
                <a16:creationId xmlns:a16="http://schemas.microsoft.com/office/drawing/2014/main" id="{4D89A2DA-EB5B-4601-9EB7-DD947FF5226F}"/>
              </a:ext>
            </a:extLst>
          </p:cNvPr>
          <p:cNvGrpSpPr>
            <a:grpSpLocks/>
          </p:cNvGrpSpPr>
          <p:nvPr/>
        </p:nvGrpSpPr>
        <p:grpSpPr bwMode="auto">
          <a:xfrm>
            <a:off x="5873750" y="4419600"/>
            <a:ext cx="1822450" cy="728663"/>
            <a:chOff x="3168" y="2400"/>
            <a:chExt cx="1148" cy="459"/>
          </a:xfrm>
        </p:grpSpPr>
        <p:sp>
          <p:nvSpPr>
            <p:cNvPr id="77904" name="Rectangle 29">
              <a:extLst>
                <a:ext uri="{FF2B5EF4-FFF2-40B4-BE49-F238E27FC236}">
                  <a16:creationId xmlns:a16="http://schemas.microsoft.com/office/drawing/2014/main" id="{7F008266-B603-41CD-BA7D-75C7DEAF6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05" name="Rectangle 30">
              <a:extLst>
                <a:ext uri="{FF2B5EF4-FFF2-40B4-BE49-F238E27FC236}">
                  <a16:creationId xmlns:a16="http://schemas.microsoft.com/office/drawing/2014/main" id="{577160EE-8E74-4EAE-9664-6098860D4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06" name="Rectangle 31">
              <a:extLst>
                <a:ext uri="{FF2B5EF4-FFF2-40B4-BE49-F238E27FC236}">
                  <a16:creationId xmlns:a16="http://schemas.microsoft.com/office/drawing/2014/main" id="{327AA555-E878-46A9-B824-B33E063F5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07" name="Rectangle 32">
              <a:extLst>
                <a:ext uri="{FF2B5EF4-FFF2-40B4-BE49-F238E27FC236}">
                  <a16:creationId xmlns:a16="http://schemas.microsoft.com/office/drawing/2014/main" id="{E95306CB-B2F1-4848-960C-FE10A8077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08" name="Rectangle 33">
              <a:extLst>
                <a:ext uri="{FF2B5EF4-FFF2-40B4-BE49-F238E27FC236}">
                  <a16:creationId xmlns:a16="http://schemas.microsoft.com/office/drawing/2014/main" id="{90660B13-9E17-4C98-8A8D-CA8C77E45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09" name="Rectangle 34">
              <a:extLst>
                <a:ext uri="{FF2B5EF4-FFF2-40B4-BE49-F238E27FC236}">
                  <a16:creationId xmlns:a16="http://schemas.microsoft.com/office/drawing/2014/main" id="{B3942375-FB52-4EB7-BBFD-C765A2E47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10" name="Rectangle 35">
              <a:extLst>
                <a:ext uri="{FF2B5EF4-FFF2-40B4-BE49-F238E27FC236}">
                  <a16:creationId xmlns:a16="http://schemas.microsoft.com/office/drawing/2014/main" id="{90C91065-1016-4CD4-9369-C593153B0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11" name="Rectangle 36">
              <a:extLst>
                <a:ext uri="{FF2B5EF4-FFF2-40B4-BE49-F238E27FC236}">
                  <a16:creationId xmlns:a16="http://schemas.microsoft.com/office/drawing/2014/main" id="{A91D963B-E8CF-4EEF-B2E2-133BD73DD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12" name="Rectangle 37">
              <a:extLst>
                <a:ext uri="{FF2B5EF4-FFF2-40B4-BE49-F238E27FC236}">
                  <a16:creationId xmlns:a16="http://schemas.microsoft.com/office/drawing/2014/main" id="{223B0420-B38F-4CA5-92B0-E3970352A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13" name="Rectangle 38">
              <a:extLst>
                <a:ext uri="{FF2B5EF4-FFF2-40B4-BE49-F238E27FC236}">
                  <a16:creationId xmlns:a16="http://schemas.microsoft.com/office/drawing/2014/main" id="{50432E45-3EDD-4F3E-B502-8B77E83AB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14" name="Rectangle 39">
              <a:extLst>
                <a:ext uri="{FF2B5EF4-FFF2-40B4-BE49-F238E27FC236}">
                  <a16:creationId xmlns:a16="http://schemas.microsoft.com/office/drawing/2014/main" id="{A69913DE-B8BC-4C83-BF52-1AEEA9D4C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77915" name="Rectangle 40">
              <a:extLst>
                <a:ext uri="{FF2B5EF4-FFF2-40B4-BE49-F238E27FC236}">
                  <a16:creationId xmlns:a16="http://schemas.microsoft.com/office/drawing/2014/main" id="{6B104E14-A461-4BED-B2A9-653F4AF5F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00"/>
              <a:ext cx="92" cy="4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77831" name="Rectangle 41">
            <a:extLst>
              <a:ext uri="{FF2B5EF4-FFF2-40B4-BE49-F238E27FC236}">
                <a16:creationId xmlns:a16="http://schemas.microsoft.com/office/drawing/2014/main" id="{7987D3C6-8E85-4AFE-BFAB-2474531CE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3" y="4419600"/>
            <a:ext cx="771525" cy="728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>
              <a:latin typeface="Arial Rounded MT Bold" panose="020F0704030504030204" pitchFamily="34" charset="0"/>
            </a:endParaRPr>
          </a:p>
        </p:txBody>
      </p:sp>
      <p:sp>
        <p:nvSpPr>
          <p:cNvPr id="77832" name="Text Box 42">
            <a:extLst>
              <a:ext uri="{FF2B5EF4-FFF2-40B4-BE49-F238E27FC236}">
                <a16:creationId xmlns:a16="http://schemas.microsoft.com/office/drawing/2014/main" id="{39AD2FA2-5906-4001-B322-57333967C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75" y="4430713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2800">
                <a:latin typeface="Arial Rounded MT Bold" panose="020F0704030504030204" pitchFamily="34" charset="0"/>
              </a:rPr>
              <a:t>...</a:t>
            </a:r>
          </a:p>
        </p:txBody>
      </p:sp>
      <p:sp>
        <p:nvSpPr>
          <p:cNvPr id="77833" name="Line 43">
            <a:extLst>
              <a:ext uri="{FF2B5EF4-FFF2-40B4-BE49-F238E27FC236}">
                <a16:creationId xmlns:a16="http://schemas.microsoft.com/office/drawing/2014/main" id="{716E8261-2DC0-47AC-A01B-AC8A31930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350" y="3100388"/>
            <a:ext cx="1295400" cy="1319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34" name="Line 44">
            <a:extLst>
              <a:ext uri="{FF2B5EF4-FFF2-40B4-BE49-F238E27FC236}">
                <a16:creationId xmlns:a16="http://schemas.microsoft.com/office/drawing/2014/main" id="{53287378-2977-424D-95E1-19AFAE80AE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3" y="3089275"/>
            <a:ext cx="1512887" cy="1330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35" name="Line 45">
            <a:extLst>
              <a:ext uri="{FF2B5EF4-FFF2-40B4-BE49-F238E27FC236}">
                <a16:creationId xmlns:a16="http://schemas.microsoft.com/office/drawing/2014/main" id="{DC838C23-40B5-4D71-BB88-E660CAEA0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5775" y="3090863"/>
            <a:ext cx="1211263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36" name="Line 46">
            <a:extLst>
              <a:ext uri="{FF2B5EF4-FFF2-40B4-BE49-F238E27FC236}">
                <a16:creationId xmlns:a16="http://schemas.microsoft.com/office/drawing/2014/main" id="{F8818EDA-F91B-42E2-8D5E-E989F6E2D3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090863"/>
            <a:ext cx="677863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37" name="Line 47">
            <a:extLst>
              <a:ext uri="{FF2B5EF4-FFF2-40B4-BE49-F238E27FC236}">
                <a16:creationId xmlns:a16="http://schemas.microsoft.com/office/drawing/2014/main" id="{C5C31FB1-D28F-4733-B25F-EBD286457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3090863"/>
            <a:ext cx="1435100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38" name="Line 48">
            <a:extLst>
              <a:ext uri="{FF2B5EF4-FFF2-40B4-BE49-F238E27FC236}">
                <a16:creationId xmlns:a16="http://schemas.microsoft.com/office/drawing/2014/main" id="{B1B32F69-F312-4334-BA00-1CD40E818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3313" y="3090863"/>
            <a:ext cx="593725" cy="1341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39" name="Line 49">
            <a:extLst>
              <a:ext uri="{FF2B5EF4-FFF2-40B4-BE49-F238E27FC236}">
                <a16:creationId xmlns:a16="http://schemas.microsoft.com/office/drawing/2014/main" id="{C93B5B0D-B1CC-469F-9ED6-8FFABCDBFA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7388" y="3090863"/>
            <a:ext cx="2587625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40" name="Line 50">
            <a:extLst>
              <a:ext uri="{FF2B5EF4-FFF2-40B4-BE49-F238E27FC236}">
                <a16:creationId xmlns:a16="http://schemas.microsoft.com/office/drawing/2014/main" id="{BB86FEAD-A9DC-4F29-8072-C1A94B62E4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0588" y="3090863"/>
            <a:ext cx="1316037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41" name="Text Box 57">
            <a:extLst>
              <a:ext uri="{FF2B5EF4-FFF2-40B4-BE49-F238E27FC236}">
                <a16:creationId xmlns:a16="http://schemas.microsoft.com/office/drawing/2014/main" id="{5A7BAAE6-6D93-44A8-A4F8-276D4715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3" y="5573713"/>
            <a:ext cx="2584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1980 Hardware view</a:t>
            </a:r>
          </a:p>
        </p:txBody>
      </p:sp>
      <p:grpSp>
        <p:nvGrpSpPr>
          <p:cNvPr id="77842" name="Group 58">
            <a:extLst>
              <a:ext uri="{FF2B5EF4-FFF2-40B4-BE49-F238E27FC236}">
                <a16:creationId xmlns:a16="http://schemas.microsoft.com/office/drawing/2014/main" id="{9176AC74-D972-4559-AA92-AF8A04AC4D4D}"/>
              </a:ext>
            </a:extLst>
          </p:cNvPr>
          <p:cNvGrpSpPr>
            <a:grpSpLocks/>
          </p:cNvGrpSpPr>
          <p:nvPr/>
        </p:nvGrpSpPr>
        <p:grpSpPr bwMode="auto">
          <a:xfrm>
            <a:off x="1225550" y="1763713"/>
            <a:ext cx="600075" cy="314325"/>
            <a:chOff x="768" y="1106"/>
            <a:chExt cx="378" cy="198"/>
          </a:xfrm>
        </p:grpSpPr>
        <p:sp>
          <p:nvSpPr>
            <p:cNvPr id="77899" name="Line 59">
              <a:extLst>
                <a:ext uri="{FF2B5EF4-FFF2-40B4-BE49-F238E27FC236}">
                  <a16:creationId xmlns:a16="http://schemas.microsoft.com/office/drawing/2014/main" id="{4B5042B8-4D31-45F5-B095-CC54DB6CE1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768" y="1106"/>
              <a:ext cx="193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7900" name="Line 60">
              <a:extLst>
                <a:ext uri="{FF2B5EF4-FFF2-40B4-BE49-F238E27FC236}">
                  <a16:creationId xmlns:a16="http://schemas.microsoft.com/office/drawing/2014/main" id="{3CF3B151-FBA3-4777-B2CC-376A07549A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959" y="1111"/>
              <a:ext cx="187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7901" name="Line 61">
              <a:extLst>
                <a:ext uri="{FF2B5EF4-FFF2-40B4-BE49-F238E27FC236}">
                  <a16:creationId xmlns:a16="http://schemas.microsoft.com/office/drawing/2014/main" id="{3EAB1D9E-D47F-4EDE-8400-89F38E999F0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960" y="1111"/>
              <a:ext cx="110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7902" name="Line 62">
              <a:extLst>
                <a:ext uri="{FF2B5EF4-FFF2-40B4-BE49-F238E27FC236}">
                  <a16:creationId xmlns:a16="http://schemas.microsoft.com/office/drawing/2014/main" id="{4EBC5220-FDEB-4958-9948-E89AAEA427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850" y="1106"/>
              <a:ext cx="111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77903" name="AutoShape 63">
              <a:extLst>
                <a:ext uri="{FF2B5EF4-FFF2-40B4-BE49-F238E27FC236}">
                  <a16:creationId xmlns:a16="http://schemas.microsoft.com/office/drawing/2014/main" id="{59D80F27-BCD1-4D6C-B4E8-153FE117908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 flipH="1">
              <a:off x="957" y="1106"/>
              <a:ext cx="5" cy="220"/>
            </a:xfrm>
            <a:prstGeom prst="curvedConnector3">
              <a:avLst>
                <a:gd name="adj1" fmla="val -1440000"/>
              </a:avLst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7843" name="Text Box 64">
            <a:extLst>
              <a:ext uri="{FF2B5EF4-FFF2-40B4-BE49-F238E27FC236}">
                <a16:creationId xmlns:a16="http://schemas.microsoft.com/office/drawing/2014/main" id="{A1091768-F806-4D99-B232-3CC5EC8C6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764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Compiler’s view</a:t>
            </a:r>
          </a:p>
        </p:txBody>
      </p:sp>
      <p:grpSp>
        <p:nvGrpSpPr>
          <p:cNvPr id="77844" name="Group 65">
            <a:extLst>
              <a:ext uri="{FF2B5EF4-FFF2-40B4-BE49-F238E27FC236}">
                <a16:creationId xmlns:a16="http://schemas.microsoft.com/office/drawing/2014/main" id="{BA44CFFF-564A-4229-88B2-D29C8A0DD685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3713163"/>
            <a:ext cx="322262" cy="617537"/>
            <a:chOff x="185" y="2339"/>
            <a:chExt cx="203" cy="389"/>
          </a:xfrm>
        </p:grpSpPr>
        <p:sp>
          <p:nvSpPr>
            <p:cNvPr id="77894" name="Line 66">
              <a:extLst>
                <a:ext uri="{FF2B5EF4-FFF2-40B4-BE49-F238E27FC236}">
                  <a16:creationId xmlns:a16="http://schemas.microsoft.com/office/drawing/2014/main" id="{2430A642-BD83-4E9B-913E-6130E015960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 flipV="1">
              <a:off x="185" y="2535"/>
              <a:ext cx="193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7895" name="Line 67">
              <a:extLst>
                <a:ext uri="{FF2B5EF4-FFF2-40B4-BE49-F238E27FC236}">
                  <a16:creationId xmlns:a16="http://schemas.microsoft.com/office/drawing/2014/main" id="{21198280-D562-4F14-9489-D080E097922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5400000" flipH="1" flipV="1">
              <a:off x="198" y="2336"/>
              <a:ext cx="187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7896" name="Line 68">
              <a:extLst>
                <a:ext uri="{FF2B5EF4-FFF2-40B4-BE49-F238E27FC236}">
                  <a16:creationId xmlns:a16="http://schemas.microsoft.com/office/drawing/2014/main" id="{2B6E2FB8-5926-448F-89F3-1BB3125898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5400000" flipH="1" flipV="1">
              <a:off x="189" y="2428"/>
              <a:ext cx="110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7897" name="Line 69">
              <a:extLst>
                <a:ext uri="{FF2B5EF4-FFF2-40B4-BE49-F238E27FC236}">
                  <a16:creationId xmlns:a16="http://schemas.microsoft.com/office/drawing/2014/main" id="{BCE6B932-96E6-4E3F-B68E-9336C620FE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 flipV="1">
              <a:off x="183" y="2537"/>
              <a:ext cx="111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77898" name="AutoShape 70">
              <a:extLst>
                <a:ext uri="{FF2B5EF4-FFF2-40B4-BE49-F238E27FC236}">
                  <a16:creationId xmlns:a16="http://schemas.microsoft.com/office/drawing/2014/main" id="{1C92CB00-081F-43F2-BDA4-9030506CFC9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92" y="2427"/>
              <a:ext cx="5" cy="220"/>
            </a:xfrm>
            <a:prstGeom prst="curvedConnector3">
              <a:avLst>
                <a:gd name="adj1" fmla="val -1440000"/>
              </a:avLst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7845" name="Text Box 71">
            <a:extLst>
              <a:ext uri="{FF2B5EF4-FFF2-40B4-BE49-F238E27FC236}">
                <a16:creationId xmlns:a16="http://schemas.microsoft.com/office/drawing/2014/main" id="{AA9F6E41-3CE6-4092-9072-2AA781CB2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4419600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OS’  view</a:t>
            </a:r>
          </a:p>
        </p:txBody>
      </p:sp>
      <p:sp>
        <p:nvSpPr>
          <p:cNvPr id="77846" name="AutoShape 72">
            <a:extLst>
              <a:ext uri="{FF2B5EF4-FFF2-40B4-BE49-F238E27FC236}">
                <a16:creationId xmlns:a16="http://schemas.microsoft.com/office/drawing/2014/main" id="{996D0E16-1B6D-4281-A06F-F486A03E2919}"/>
              </a:ext>
            </a:extLst>
          </p:cNvPr>
          <p:cNvSpPr>
            <a:spLocks/>
          </p:cNvSpPr>
          <p:nvPr/>
        </p:nvSpPr>
        <p:spPr bwMode="auto">
          <a:xfrm>
            <a:off x="6610350" y="5483225"/>
            <a:ext cx="2006600" cy="593725"/>
          </a:xfrm>
          <a:prstGeom prst="accentBorderCallout1">
            <a:avLst>
              <a:gd name="adj1" fmla="val 19250"/>
              <a:gd name="adj2" fmla="val -3796"/>
              <a:gd name="adj3" fmla="val -54546"/>
              <a:gd name="adj4" fmla="val -35204"/>
            </a:avLst>
          </a:prstGeom>
          <a:noFill/>
          <a:ln w="12700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rgbClr val="FF0065"/>
                </a:solidFill>
              </a:rPr>
              <a:t>Physical address space_</a:t>
            </a:r>
            <a:endParaRPr lang="en-US" altLang="it-IT">
              <a:solidFill>
                <a:srgbClr val="FF006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847" name="AutoShape 73">
            <a:extLst>
              <a:ext uri="{FF2B5EF4-FFF2-40B4-BE49-F238E27FC236}">
                <a16:creationId xmlns:a16="http://schemas.microsoft.com/office/drawing/2014/main" id="{A48832AC-CB20-4FA0-8FEE-73AE5F60E56F}"/>
              </a:ext>
            </a:extLst>
          </p:cNvPr>
          <p:cNvSpPr>
            <a:spLocks/>
          </p:cNvSpPr>
          <p:nvPr/>
        </p:nvSpPr>
        <p:spPr bwMode="auto">
          <a:xfrm>
            <a:off x="6254750" y="1524000"/>
            <a:ext cx="2006600" cy="593725"/>
          </a:xfrm>
          <a:prstGeom prst="accentBorderCallout1">
            <a:avLst>
              <a:gd name="adj1" fmla="val 19250"/>
              <a:gd name="adj2" fmla="val -3796"/>
              <a:gd name="adj3" fmla="val 135560"/>
              <a:gd name="adj4" fmla="val -108463"/>
            </a:avLst>
          </a:prstGeom>
          <a:noFill/>
          <a:ln w="12700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rgbClr val="FF0065"/>
                </a:solidFill>
              </a:rPr>
              <a:t>virtual address space</a:t>
            </a:r>
            <a:r>
              <a:rPr lang="en-US" altLang="it-IT" sz="1600" u="sng">
                <a:solidFill>
                  <a:srgbClr val="FF0065"/>
                </a:solidFill>
              </a:rPr>
              <a:t>s</a:t>
            </a:r>
            <a:endParaRPr lang="en-US" altLang="it-IT">
              <a:solidFill>
                <a:srgbClr val="FF006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848" name="Line 74">
            <a:extLst>
              <a:ext uri="{FF2B5EF4-FFF2-40B4-BE49-F238E27FC236}">
                <a16:creationId xmlns:a16="http://schemas.microsoft.com/office/drawing/2014/main" id="{ABBFEEF1-C435-4AE5-BCCE-78DDC00DA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5550" y="1635125"/>
            <a:ext cx="1138238" cy="7270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49" name="Line 75">
            <a:extLst>
              <a:ext uri="{FF2B5EF4-FFF2-40B4-BE49-F238E27FC236}">
                <a16:creationId xmlns:a16="http://schemas.microsoft.com/office/drawing/2014/main" id="{FB51A2E6-F897-4353-87D4-8A9FE11A99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2825" y="1652588"/>
            <a:ext cx="3903663" cy="66992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50" name="Line 76">
            <a:extLst>
              <a:ext uri="{FF2B5EF4-FFF2-40B4-BE49-F238E27FC236}">
                <a16:creationId xmlns:a16="http://schemas.microsoft.com/office/drawing/2014/main" id="{78AFF476-F9DB-458E-A225-FFF55DC72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5375" y="2122488"/>
            <a:ext cx="620713" cy="27622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51" name="Text Box 77">
            <a:extLst>
              <a:ext uri="{FF2B5EF4-FFF2-40B4-BE49-F238E27FC236}">
                <a16:creationId xmlns:a16="http://schemas.microsoft.com/office/drawing/2014/main" id="{F9E5253D-79DD-495E-B1FF-2AC407BB9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5105400"/>
            <a:ext cx="60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400">
                <a:latin typeface="Times" panose="02020603050405020304" pitchFamily="18" charset="0"/>
              </a:rPr>
              <a:t>0</a:t>
            </a:r>
            <a:endParaRPr lang="en-US" altLang="it-IT">
              <a:latin typeface="Arial Rounded MT Bold" panose="020F0704030504030204" pitchFamily="34" charset="0"/>
            </a:endParaRPr>
          </a:p>
        </p:txBody>
      </p:sp>
      <p:sp>
        <p:nvSpPr>
          <p:cNvPr id="77852" name="Text Box 78">
            <a:extLst>
              <a:ext uri="{FF2B5EF4-FFF2-40B4-BE49-F238E27FC236}">
                <a16:creationId xmlns:a16="http://schemas.microsoft.com/office/drawing/2014/main" id="{73BAA3E1-66CA-4160-A190-779D7A81A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0" y="5105400"/>
            <a:ext cx="60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400" i="1">
                <a:latin typeface="Times" panose="02020603050405020304" pitchFamily="18" charset="0"/>
              </a:rPr>
              <a:t>high</a:t>
            </a:r>
            <a:endParaRPr lang="en-US" altLang="it-IT">
              <a:latin typeface="Arial Rounded MT Bold" panose="020F0704030504030204" pitchFamily="34" charset="0"/>
            </a:endParaRPr>
          </a:p>
        </p:txBody>
      </p:sp>
      <p:sp>
        <p:nvSpPr>
          <p:cNvPr id="77853" name="Line 79">
            <a:extLst>
              <a:ext uri="{FF2B5EF4-FFF2-40B4-BE49-F238E27FC236}">
                <a16:creationId xmlns:a16="http://schemas.microsoft.com/office/drawing/2014/main" id="{AA03192F-A7B5-4109-86ED-0A5EB4493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981200"/>
            <a:ext cx="381000" cy="0"/>
          </a:xfrm>
          <a:prstGeom prst="line">
            <a:avLst/>
          </a:prstGeom>
          <a:noFill/>
          <a:ln w="19050">
            <a:solidFill>
              <a:srgbClr val="FF0065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54" name="Line 80">
            <a:extLst>
              <a:ext uri="{FF2B5EF4-FFF2-40B4-BE49-F238E27FC236}">
                <a16:creationId xmlns:a16="http://schemas.microsoft.com/office/drawing/2014/main" id="{86F96AC4-2AC5-4F9E-B1A4-DF3F0F473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5943600"/>
            <a:ext cx="381000" cy="0"/>
          </a:xfrm>
          <a:prstGeom prst="line">
            <a:avLst/>
          </a:prstGeom>
          <a:noFill/>
          <a:ln w="19050">
            <a:solidFill>
              <a:srgbClr val="FF0065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grpSp>
        <p:nvGrpSpPr>
          <p:cNvPr id="77855" name="Group 81">
            <a:extLst>
              <a:ext uri="{FF2B5EF4-FFF2-40B4-BE49-F238E27FC236}">
                <a16:creationId xmlns:a16="http://schemas.microsoft.com/office/drawing/2014/main" id="{EBDCBACF-08B0-432D-9051-A0FB4FEA53C4}"/>
              </a:ext>
            </a:extLst>
          </p:cNvPr>
          <p:cNvGrpSpPr>
            <a:grpSpLocks/>
          </p:cNvGrpSpPr>
          <p:nvPr/>
        </p:nvGrpSpPr>
        <p:grpSpPr bwMode="auto">
          <a:xfrm>
            <a:off x="2663825" y="2362200"/>
            <a:ext cx="5870575" cy="731838"/>
            <a:chOff x="1684" y="1488"/>
            <a:chExt cx="3698" cy="461"/>
          </a:xfrm>
        </p:grpSpPr>
        <p:grpSp>
          <p:nvGrpSpPr>
            <p:cNvPr id="77869" name="Group 82">
              <a:extLst>
                <a:ext uri="{FF2B5EF4-FFF2-40B4-BE49-F238E27FC236}">
                  <a16:creationId xmlns:a16="http://schemas.microsoft.com/office/drawing/2014/main" id="{4F95F2BB-96C5-48F2-8FD6-A20B0F02F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4" y="1488"/>
              <a:ext cx="1106" cy="461"/>
              <a:chOff x="912" y="1152"/>
              <a:chExt cx="2304" cy="960"/>
            </a:xfrm>
          </p:grpSpPr>
          <p:sp>
            <p:nvSpPr>
              <p:cNvPr id="77887" name="Rectangle 83">
                <a:extLst>
                  <a:ext uri="{FF2B5EF4-FFF2-40B4-BE49-F238E27FC236}">
                    <a16:creationId xmlns:a16="http://schemas.microsoft.com/office/drawing/2014/main" id="{866ACE65-7F77-4343-8373-EEED95583D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77888" name="Rectangle 84">
                <a:extLst>
                  <a:ext uri="{FF2B5EF4-FFF2-40B4-BE49-F238E27FC236}">
                    <a16:creationId xmlns:a16="http://schemas.microsoft.com/office/drawing/2014/main" id="{53408769-527C-491D-A753-6FA022AB7C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d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77889" name="Rectangle 85">
                <a:extLst>
                  <a:ext uri="{FF2B5EF4-FFF2-40B4-BE49-F238E27FC236}">
                    <a16:creationId xmlns:a16="http://schemas.microsoft.com/office/drawing/2014/main" id="{5C0380A0-E069-4AE2-90CA-40FFFC1CE3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    G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 l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 &amp; 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b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i     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     l </a:t>
                </a:r>
              </a:p>
            </p:txBody>
          </p:sp>
          <p:sp>
            <p:nvSpPr>
              <p:cNvPr id="77890" name="Rectangle 86">
                <a:extLst>
                  <a:ext uri="{FF2B5EF4-FFF2-40B4-BE49-F238E27FC236}">
                    <a16:creationId xmlns:a16="http://schemas.microsoft.com/office/drawing/2014/main" id="{FADCE3F5-1788-4CBF-965F-8BC1543C19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k</a:t>
                </a:r>
              </a:p>
            </p:txBody>
          </p:sp>
          <p:sp>
            <p:nvSpPr>
              <p:cNvPr id="77891" name="Rectangle 87">
                <a:extLst>
                  <a:ext uri="{FF2B5EF4-FFF2-40B4-BE49-F238E27FC236}">
                    <a16:creationId xmlns:a16="http://schemas.microsoft.com/office/drawing/2014/main" id="{F5A1F9C1-F31B-452C-A0EE-3701C8809E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H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p</a:t>
                </a:r>
              </a:p>
            </p:txBody>
          </p:sp>
          <p:sp>
            <p:nvSpPr>
              <p:cNvPr id="77892" name="Line 88">
                <a:extLst>
                  <a:ext uri="{FF2B5EF4-FFF2-40B4-BE49-F238E27FC236}">
                    <a16:creationId xmlns:a16="http://schemas.microsoft.com/office/drawing/2014/main" id="{4A3C1DAE-57A6-4731-B4EA-430C433FFC9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77893" name="Line 89">
                <a:extLst>
                  <a:ext uri="{FF2B5EF4-FFF2-40B4-BE49-F238E27FC236}">
                    <a16:creationId xmlns:a16="http://schemas.microsoft.com/office/drawing/2014/main" id="{E98B1A3A-EA4D-4534-8D07-DEBABDA5B3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77870" name="Group 90">
              <a:extLst>
                <a:ext uri="{FF2B5EF4-FFF2-40B4-BE49-F238E27FC236}">
                  <a16:creationId xmlns:a16="http://schemas.microsoft.com/office/drawing/2014/main" id="{94D26DEB-DE3C-4F72-9733-8A9A5129E2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84" y="1488"/>
              <a:ext cx="1106" cy="461"/>
              <a:chOff x="912" y="1152"/>
              <a:chExt cx="2304" cy="960"/>
            </a:xfrm>
          </p:grpSpPr>
          <p:sp>
            <p:nvSpPr>
              <p:cNvPr id="77880" name="Rectangle 91">
                <a:extLst>
                  <a:ext uri="{FF2B5EF4-FFF2-40B4-BE49-F238E27FC236}">
                    <a16:creationId xmlns:a16="http://schemas.microsoft.com/office/drawing/2014/main" id="{5091CA85-88F5-466A-893D-73DA7CD867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77881" name="Rectangle 92">
                <a:extLst>
                  <a:ext uri="{FF2B5EF4-FFF2-40B4-BE49-F238E27FC236}">
                    <a16:creationId xmlns:a16="http://schemas.microsoft.com/office/drawing/2014/main" id="{10E8CBE1-0D42-4F7C-9DAE-66DC61C4C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d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77882" name="Rectangle 93">
                <a:extLst>
                  <a:ext uri="{FF2B5EF4-FFF2-40B4-BE49-F238E27FC236}">
                    <a16:creationId xmlns:a16="http://schemas.microsoft.com/office/drawing/2014/main" id="{260C77DD-84E7-4F80-8733-02451CD544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    G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 l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 &amp; 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b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i     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     l </a:t>
                </a:r>
              </a:p>
            </p:txBody>
          </p:sp>
          <p:sp>
            <p:nvSpPr>
              <p:cNvPr id="77883" name="Rectangle 94">
                <a:extLst>
                  <a:ext uri="{FF2B5EF4-FFF2-40B4-BE49-F238E27FC236}">
                    <a16:creationId xmlns:a16="http://schemas.microsoft.com/office/drawing/2014/main" id="{EE00C9D6-0EF6-467F-9F67-99C5BDBEA9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US" altLang="it-IT" sz="80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k</a:t>
                </a:r>
              </a:p>
              <a:p>
                <a:pPr algn="ctr"/>
                <a:endParaRPr lang="en-US" altLang="it-IT" sz="8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7884" name="Rectangle 95">
                <a:extLst>
                  <a:ext uri="{FF2B5EF4-FFF2-40B4-BE49-F238E27FC236}">
                    <a16:creationId xmlns:a16="http://schemas.microsoft.com/office/drawing/2014/main" id="{9150E664-9041-4C16-BCD5-2C896F3696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H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p</a:t>
                </a:r>
              </a:p>
            </p:txBody>
          </p:sp>
          <p:sp>
            <p:nvSpPr>
              <p:cNvPr id="77885" name="Line 96">
                <a:extLst>
                  <a:ext uri="{FF2B5EF4-FFF2-40B4-BE49-F238E27FC236}">
                    <a16:creationId xmlns:a16="http://schemas.microsoft.com/office/drawing/2014/main" id="{05FDC324-5035-4B1C-8B33-5D360BFE32F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77886" name="Line 97">
                <a:extLst>
                  <a:ext uri="{FF2B5EF4-FFF2-40B4-BE49-F238E27FC236}">
                    <a16:creationId xmlns:a16="http://schemas.microsoft.com/office/drawing/2014/main" id="{368E6575-2A7F-4AAC-B606-C4A04C960B6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77871" name="Group 98">
              <a:extLst>
                <a:ext uri="{FF2B5EF4-FFF2-40B4-BE49-F238E27FC236}">
                  <a16:creationId xmlns:a16="http://schemas.microsoft.com/office/drawing/2014/main" id="{2F1DF88F-FDEB-452F-B817-89AF9F112E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76" y="1488"/>
              <a:ext cx="1106" cy="461"/>
              <a:chOff x="912" y="1152"/>
              <a:chExt cx="2304" cy="960"/>
            </a:xfrm>
          </p:grpSpPr>
          <p:sp>
            <p:nvSpPr>
              <p:cNvPr id="77873" name="Rectangle 99">
                <a:extLst>
                  <a:ext uri="{FF2B5EF4-FFF2-40B4-BE49-F238E27FC236}">
                    <a16:creationId xmlns:a16="http://schemas.microsoft.com/office/drawing/2014/main" id="{A08586A6-7F0A-4298-A3CE-1952D0212E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77874" name="Rectangle 100">
                <a:extLst>
                  <a:ext uri="{FF2B5EF4-FFF2-40B4-BE49-F238E27FC236}">
                    <a16:creationId xmlns:a16="http://schemas.microsoft.com/office/drawing/2014/main" id="{FDD77F72-A3ED-4669-97D9-3FF37FED49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d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77875" name="Rectangle 101">
                <a:extLst>
                  <a:ext uri="{FF2B5EF4-FFF2-40B4-BE49-F238E27FC236}">
                    <a16:creationId xmlns:a16="http://schemas.microsoft.com/office/drawing/2014/main" id="{891C9039-303B-4E85-A0FC-ABDB709DD3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    G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 l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 &amp; 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b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i     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     l </a:t>
                </a:r>
              </a:p>
            </p:txBody>
          </p:sp>
          <p:sp>
            <p:nvSpPr>
              <p:cNvPr id="77876" name="Rectangle 102">
                <a:extLst>
                  <a:ext uri="{FF2B5EF4-FFF2-40B4-BE49-F238E27FC236}">
                    <a16:creationId xmlns:a16="http://schemas.microsoft.com/office/drawing/2014/main" id="{E393A3B2-EFF6-47F4-B5F1-26D17AE5BD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 S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k</a:t>
                </a:r>
              </a:p>
            </p:txBody>
          </p:sp>
          <p:sp>
            <p:nvSpPr>
              <p:cNvPr id="77877" name="Rectangle 103">
                <a:extLst>
                  <a:ext uri="{FF2B5EF4-FFF2-40B4-BE49-F238E27FC236}">
                    <a16:creationId xmlns:a16="http://schemas.microsoft.com/office/drawing/2014/main" id="{949EC202-AEDB-478C-A21A-D337767674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H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p</a:t>
                </a:r>
              </a:p>
            </p:txBody>
          </p:sp>
          <p:sp>
            <p:nvSpPr>
              <p:cNvPr id="77878" name="Line 104">
                <a:extLst>
                  <a:ext uri="{FF2B5EF4-FFF2-40B4-BE49-F238E27FC236}">
                    <a16:creationId xmlns:a16="http://schemas.microsoft.com/office/drawing/2014/main" id="{A5276728-33DB-429D-B715-418F3A70216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77879" name="Line 105">
                <a:extLst>
                  <a:ext uri="{FF2B5EF4-FFF2-40B4-BE49-F238E27FC236}">
                    <a16:creationId xmlns:a16="http://schemas.microsoft.com/office/drawing/2014/main" id="{AFF18D6B-BB6E-4D68-81F3-1D2F220794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77872" name="Text Box 106">
              <a:extLst>
                <a:ext uri="{FF2B5EF4-FFF2-40B4-BE49-F238E27FC236}">
                  <a16:creationId xmlns:a16="http://schemas.microsoft.com/office/drawing/2014/main" id="{C40B2447-823A-4136-A817-D2103BEC6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Rounded MT Bold" panose="020F0704030504030204" pitchFamily="34" charset="0"/>
                </a:rPr>
                <a:t>...</a:t>
              </a:r>
            </a:p>
          </p:txBody>
        </p:sp>
      </p:grpSp>
      <p:grpSp>
        <p:nvGrpSpPr>
          <p:cNvPr id="77856" name="Group 107">
            <a:extLst>
              <a:ext uri="{FF2B5EF4-FFF2-40B4-BE49-F238E27FC236}">
                <a16:creationId xmlns:a16="http://schemas.microsoft.com/office/drawing/2014/main" id="{5018319D-59CF-4720-8A18-DAE903C27E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" y="2362200"/>
            <a:ext cx="1755775" cy="731838"/>
            <a:chOff x="912" y="1152"/>
            <a:chExt cx="2304" cy="960"/>
          </a:xfrm>
        </p:grpSpPr>
        <p:sp>
          <p:nvSpPr>
            <p:cNvPr id="77862" name="Rectangle 108">
              <a:extLst>
                <a:ext uri="{FF2B5EF4-FFF2-40B4-BE49-F238E27FC236}">
                  <a16:creationId xmlns:a16="http://schemas.microsoft.com/office/drawing/2014/main" id="{BA8E9750-E3C1-480B-A230-63FB4C5481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2" y="1152"/>
              <a:ext cx="2304" cy="9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863" name="Rectangle 109">
              <a:extLst>
                <a:ext uri="{FF2B5EF4-FFF2-40B4-BE49-F238E27FC236}">
                  <a16:creationId xmlns:a16="http://schemas.microsoft.com/office/drawing/2014/main" id="{6D3130A2-B04B-487D-9FBF-EBC5C77080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2" y="1152"/>
              <a:ext cx="384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C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o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d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77864" name="Rectangle 110">
              <a:extLst>
                <a:ext uri="{FF2B5EF4-FFF2-40B4-BE49-F238E27FC236}">
                  <a16:creationId xmlns:a16="http://schemas.microsoft.com/office/drawing/2014/main" id="{C8BCCBEF-1FCB-48B2-84AD-A882B0D10C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6" y="1152"/>
              <a:ext cx="432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S    G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t      l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a &amp; o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t     b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i     a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c     l </a:t>
              </a:r>
            </a:p>
          </p:txBody>
        </p:sp>
        <p:sp>
          <p:nvSpPr>
            <p:cNvPr id="77865" name="Rectangle 111">
              <a:extLst>
                <a:ext uri="{FF2B5EF4-FFF2-40B4-BE49-F238E27FC236}">
                  <a16:creationId xmlns:a16="http://schemas.microsoft.com/office/drawing/2014/main" id="{F9297191-09D9-44A7-A20F-1D815BF5D2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28" y="1152"/>
              <a:ext cx="432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S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t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c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k</a:t>
              </a:r>
            </a:p>
          </p:txBody>
        </p:sp>
        <p:sp>
          <p:nvSpPr>
            <p:cNvPr id="77866" name="Rectangle 112">
              <a:extLst>
                <a:ext uri="{FF2B5EF4-FFF2-40B4-BE49-F238E27FC236}">
                  <a16:creationId xmlns:a16="http://schemas.microsoft.com/office/drawing/2014/main" id="{85F7B540-0907-479C-A062-EAB4B2D53D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2" y="1152"/>
              <a:ext cx="424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US" altLang="it-IT" sz="80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H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e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p</a:t>
              </a:r>
            </a:p>
            <a:p>
              <a:pPr algn="ctr"/>
              <a:endParaRPr lang="en-US" altLang="it-IT" sz="800">
                <a:latin typeface="Arial Rounded MT Bold" panose="020F0704030504030204" pitchFamily="34" charset="0"/>
              </a:endParaRPr>
            </a:p>
          </p:txBody>
        </p:sp>
        <p:sp>
          <p:nvSpPr>
            <p:cNvPr id="77867" name="Line 113">
              <a:extLst>
                <a:ext uri="{FF2B5EF4-FFF2-40B4-BE49-F238E27FC236}">
                  <a16:creationId xmlns:a16="http://schemas.microsoft.com/office/drawing/2014/main" id="{92C3B836-4231-4440-BA1C-CB49C5923D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66" y="1631"/>
              <a:ext cx="27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7868" name="Line 114">
              <a:extLst>
                <a:ext uri="{FF2B5EF4-FFF2-40B4-BE49-F238E27FC236}">
                  <a16:creationId xmlns:a16="http://schemas.microsoft.com/office/drawing/2014/main" id="{0B3D760C-3CE3-4EC4-B4B4-8781BE9436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85" y="163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77857" name="Text Box 115">
            <a:extLst>
              <a:ext uri="{FF2B5EF4-FFF2-40B4-BE49-F238E27FC236}">
                <a16:creationId xmlns:a16="http://schemas.microsoft.com/office/drawing/2014/main" id="{37F48EEF-62B9-443D-9B22-7EA99F2BF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54102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003C75"/>
                </a:solidFill>
              </a:rPr>
              <a:t>On many modern processors, L1 cache uses physical addresses</a:t>
            </a:r>
          </a:p>
          <a:p>
            <a:pPr>
              <a:spcBef>
                <a:spcPct val="15000"/>
              </a:spcBef>
            </a:pPr>
            <a:r>
              <a:rPr lang="en-US" altLang="it-IT" sz="1400">
                <a:solidFill>
                  <a:srgbClr val="003C75"/>
                </a:solidFill>
              </a:rPr>
              <a:t>Higher level caches typically use virtual addresses</a:t>
            </a:r>
          </a:p>
        </p:txBody>
      </p:sp>
      <p:grpSp>
        <p:nvGrpSpPr>
          <p:cNvPr id="77858" name="Group 119">
            <a:extLst>
              <a:ext uri="{FF2B5EF4-FFF2-40B4-BE49-F238E27FC236}">
                <a16:creationId xmlns:a16="http://schemas.microsoft.com/office/drawing/2014/main" id="{5CCE3B17-8A7B-405A-8F6D-85E7D767626E}"/>
              </a:ext>
            </a:extLst>
          </p:cNvPr>
          <p:cNvGrpSpPr>
            <a:grpSpLocks/>
          </p:cNvGrpSpPr>
          <p:nvPr/>
        </p:nvGrpSpPr>
        <p:grpSpPr bwMode="auto">
          <a:xfrm>
            <a:off x="2741613" y="5595938"/>
            <a:ext cx="612775" cy="314325"/>
            <a:chOff x="2741612" y="5596464"/>
            <a:chExt cx="612776" cy="314076"/>
          </a:xfrm>
        </p:grpSpPr>
        <p:sp>
          <p:nvSpPr>
            <p:cNvPr id="77859" name="Line 52">
              <a:extLst>
                <a:ext uri="{FF2B5EF4-FFF2-40B4-BE49-F238E27FC236}">
                  <a16:creationId xmlns:a16="http://schemas.microsoft.com/office/drawing/2014/main" id="{7A876115-1632-4B23-BD78-19D8F6CC67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41612" y="5604153"/>
              <a:ext cx="306388" cy="30638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77860" name="AutoShape 56">
              <a:extLst>
                <a:ext uri="{FF2B5EF4-FFF2-40B4-BE49-F238E27FC236}">
                  <a16:creationId xmlns:a16="http://schemas.microsoft.com/office/drawing/2014/main" id="{A92CA080-9913-4D45-945A-5BA35A0D434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-5400000" flipH="1" flipV="1">
              <a:off x="3043238" y="5562878"/>
              <a:ext cx="7937" cy="349250"/>
            </a:xfrm>
            <a:prstGeom prst="curvedConnector3">
              <a:avLst>
                <a:gd name="adj1" fmla="val -1440000"/>
              </a:avLst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61" name="Line 52">
              <a:extLst>
                <a:ext uri="{FF2B5EF4-FFF2-40B4-BE49-F238E27FC236}">
                  <a16:creationId xmlns:a16="http://schemas.microsoft.com/office/drawing/2014/main" id="{0ECACBBD-9476-49DC-8143-3AD18DF9AD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048000" y="5596464"/>
              <a:ext cx="306388" cy="30638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>
            <a:extLst>
              <a:ext uri="{FF2B5EF4-FFF2-40B4-BE49-F238E27FC236}">
                <a16:creationId xmlns:a16="http://schemas.microsoft.com/office/drawing/2014/main" id="{13298923-292B-4D09-A852-11C7F848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How Does This Really Work?</a:t>
            </a:r>
          </a:p>
        </p:txBody>
      </p:sp>
      <p:sp>
        <p:nvSpPr>
          <p:cNvPr id="79874" name="Content Placeholder 2">
            <a:extLst>
              <a:ext uri="{FF2B5EF4-FFF2-40B4-BE49-F238E27FC236}">
                <a16:creationId xmlns:a16="http://schemas.microsoft.com/office/drawing/2014/main" id="{2C7F103F-09D8-40A4-963B-9655E439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4572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 sz="1800"/>
              <a:t>Of course, the “Hardware view” is no longer that simple</a:t>
            </a:r>
          </a:p>
        </p:txBody>
      </p:sp>
      <p:sp>
        <p:nvSpPr>
          <p:cNvPr id="79875" name="Footer Placeholder 3">
            <a:extLst>
              <a:ext uri="{FF2B5EF4-FFF2-40B4-BE49-F238E27FC236}">
                <a16:creationId xmlns:a16="http://schemas.microsoft.com/office/drawing/2014/main" id="{86FE163D-8FB2-47CC-AA36-C6C8794155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9876" name="Slide Number Placeholder 4">
            <a:extLst>
              <a:ext uri="{FF2B5EF4-FFF2-40B4-BE49-F238E27FC236}">
                <a16:creationId xmlns:a16="http://schemas.microsoft.com/office/drawing/2014/main" id="{A0D9B471-0F9D-4792-B1A1-ED71FCA461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BFF261E-BDCF-4CF3-893A-5BBE120257A1}" type="slidenum">
              <a:rPr lang="en-US" altLang="it-IT"/>
              <a:pPr/>
              <a:t>33</a:t>
            </a:fld>
            <a:endParaRPr lang="en-US" altLang="it-IT"/>
          </a:p>
        </p:txBody>
      </p:sp>
      <p:grpSp>
        <p:nvGrpSpPr>
          <p:cNvPr id="79877" name="Group 259">
            <a:extLst>
              <a:ext uri="{FF2B5EF4-FFF2-40B4-BE49-F238E27FC236}">
                <a16:creationId xmlns:a16="http://schemas.microsoft.com/office/drawing/2014/main" id="{87E1BB7C-272E-49D9-A914-48ABA6E49EA0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600200"/>
            <a:ext cx="6705600" cy="990600"/>
            <a:chOff x="1676400" y="1828800"/>
            <a:chExt cx="6705600" cy="990600"/>
          </a:xfrm>
        </p:grpSpPr>
        <p:grpSp>
          <p:nvGrpSpPr>
            <p:cNvPr id="80018" name="Group 75">
              <a:extLst>
                <a:ext uri="{FF2B5EF4-FFF2-40B4-BE49-F238E27FC236}">
                  <a16:creationId xmlns:a16="http://schemas.microsoft.com/office/drawing/2014/main" id="{27C86BFD-D338-4E67-B33F-AC042876FE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6400" y="1828800"/>
              <a:ext cx="6705600" cy="990600"/>
              <a:chOff x="1301750" y="4724400"/>
              <a:chExt cx="6705600" cy="990600"/>
            </a:xfrm>
          </p:grpSpPr>
          <p:sp>
            <p:nvSpPr>
              <p:cNvPr id="80020" name="Rectangle 29">
                <a:extLst>
                  <a:ext uri="{FF2B5EF4-FFF2-40B4-BE49-F238E27FC236}">
                    <a16:creationId xmlns:a16="http://schemas.microsoft.com/office/drawing/2014/main" id="{E5733757-7933-43B9-8F19-55ECF4EE1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37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1" name="Rectangle 30">
                <a:extLst>
                  <a:ext uri="{FF2B5EF4-FFF2-40B4-BE49-F238E27FC236}">
                    <a16:creationId xmlns:a16="http://schemas.microsoft.com/office/drawing/2014/main" id="{8E9B1F36-CBD7-4322-9E95-53F01FF72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61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2" name="Rectangle 31">
                <a:extLst>
                  <a:ext uri="{FF2B5EF4-FFF2-40B4-BE49-F238E27FC236}">
                    <a16:creationId xmlns:a16="http://schemas.microsoft.com/office/drawing/2014/main" id="{2B5ED1C3-58ED-49C6-9145-D7B07EFCD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3" name="Rectangle 32">
                <a:extLst>
                  <a:ext uri="{FF2B5EF4-FFF2-40B4-BE49-F238E27FC236}">
                    <a16:creationId xmlns:a16="http://schemas.microsoft.com/office/drawing/2014/main" id="{375EC131-0E23-42DA-8A07-8F7326EB1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09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4" name="Rectangle 33">
                <a:extLst>
                  <a:ext uri="{FF2B5EF4-FFF2-40B4-BE49-F238E27FC236}">
                    <a16:creationId xmlns:a16="http://schemas.microsoft.com/office/drawing/2014/main" id="{72481FDC-88D3-48BE-B340-6887ECD44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3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5" name="Rectangle 34">
                <a:extLst>
                  <a:ext uri="{FF2B5EF4-FFF2-40B4-BE49-F238E27FC236}">
                    <a16:creationId xmlns:a16="http://schemas.microsoft.com/office/drawing/2014/main" id="{B35D6095-2B77-4016-95C3-7E568BE90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57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6" name="Rectangle 35">
                <a:extLst>
                  <a:ext uri="{FF2B5EF4-FFF2-40B4-BE49-F238E27FC236}">
                    <a16:creationId xmlns:a16="http://schemas.microsoft.com/office/drawing/2014/main" id="{89C5EF0A-8F10-40CB-B0B3-D29BF09FD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81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7" name="Rectangle 36">
                <a:extLst>
                  <a:ext uri="{FF2B5EF4-FFF2-40B4-BE49-F238E27FC236}">
                    <a16:creationId xmlns:a16="http://schemas.microsoft.com/office/drawing/2014/main" id="{0E43195E-D9C0-4C5B-BD9A-F3B622610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05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8" name="Rectangle 37">
                <a:extLst>
                  <a:ext uri="{FF2B5EF4-FFF2-40B4-BE49-F238E27FC236}">
                    <a16:creationId xmlns:a16="http://schemas.microsoft.com/office/drawing/2014/main" id="{2542114E-8E09-488E-850A-AD08A1A7E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929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29" name="Rectangle 38">
                <a:extLst>
                  <a:ext uri="{FF2B5EF4-FFF2-40B4-BE49-F238E27FC236}">
                    <a16:creationId xmlns:a16="http://schemas.microsoft.com/office/drawing/2014/main" id="{0EAC1158-CA5A-4F2E-A594-D9C1B15AE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53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30" name="Rectangle 39">
                <a:extLst>
                  <a:ext uri="{FF2B5EF4-FFF2-40B4-BE49-F238E27FC236}">
                    <a16:creationId xmlns:a16="http://schemas.microsoft.com/office/drawing/2014/main" id="{FEF21D71-030F-446B-83A3-0008B31B1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31" name="Rectangle 40">
                <a:extLst>
                  <a:ext uri="{FF2B5EF4-FFF2-40B4-BE49-F238E27FC236}">
                    <a16:creationId xmlns:a16="http://schemas.microsoft.com/office/drawing/2014/main" id="{F0C41746-6A83-49C6-804A-BB865E5A8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501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80032" name="Group 4">
                <a:extLst>
                  <a:ext uri="{FF2B5EF4-FFF2-40B4-BE49-F238E27FC236}">
                    <a16:creationId xmlns:a16="http://schemas.microsoft.com/office/drawing/2014/main" id="{68988735-71F3-4F2A-BB0F-4D160D650B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06550" y="4724400"/>
                <a:ext cx="3498850" cy="728663"/>
                <a:chOff x="960" y="2400"/>
                <a:chExt cx="2204" cy="459"/>
              </a:xfrm>
            </p:grpSpPr>
            <p:sp>
              <p:nvSpPr>
                <p:cNvPr id="80036" name="Rectangle 5">
                  <a:extLst>
                    <a:ext uri="{FF2B5EF4-FFF2-40B4-BE49-F238E27FC236}">
                      <a16:creationId xmlns:a16="http://schemas.microsoft.com/office/drawing/2014/main" id="{E4A245E0-4062-4A9F-A52E-DD8A8D996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37" name="Rectangle 6">
                  <a:extLst>
                    <a:ext uri="{FF2B5EF4-FFF2-40B4-BE49-F238E27FC236}">
                      <a16:creationId xmlns:a16="http://schemas.microsoft.com/office/drawing/2014/main" id="{D393C47B-E84E-415E-A487-454A36ED29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38" name="Rectangle 7">
                  <a:extLst>
                    <a:ext uri="{FF2B5EF4-FFF2-40B4-BE49-F238E27FC236}">
                      <a16:creationId xmlns:a16="http://schemas.microsoft.com/office/drawing/2014/main" id="{9EE56380-1F26-432D-832E-5D2F61B7F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39" name="Rectangle 8">
                  <a:extLst>
                    <a:ext uri="{FF2B5EF4-FFF2-40B4-BE49-F238E27FC236}">
                      <a16:creationId xmlns:a16="http://schemas.microsoft.com/office/drawing/2014/main" id="{913D4F19-9C5E-4A47-803B-38FA39FAAC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0" name="Rectangle 9">
                  <a:extLst>
                    <a:ext uri="{FF2B5EF4-FFF2-40B4-BE49-F238E27FC236}">
                      <a16:creationId xmlns:a16="http://schemas.microsoft.com/office/drawing/2014/main" id="{304B1923-CC90-477B-8EB7-95A07EE30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1" name="Rectangle 10">
                  <a:extLst>
                    <a:ext uri="{FF2B5EF4-FFF2-40B4-BE49-F238E27FC236}">
                      <a16:creationId xmlns:a16="http://schemas.microsoft.com/office/drawing/2014/main" id="{BA4E6597-B513-451F-A7FA-C3F0DD1A56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2" name="Rectangle 11">
                  <a:extLst>
                    <a:ext uri="{FF2B5EF4-FFF2-40B4-BE49-F238E27FC236}">
                      <a16:creationId xmlns:a16="http://schemas.microsoft.com/office/drawing/2014/main" id="{AAE4B435-E152-475C-AF62-A6538F782B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3" name="Rectangle 12">
                  <a:extLst>
                    <a:ext uri="{FF2B5EF4-FFF2-40B4-BE49-F238E27FC236}">
                      <a16:creationId xmlns:a16="http://schemas.microsoft.com/office/drawing/2014/main" id="{6B50D938-A978-47BB-9E01-585874D9B1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4" name="Rectangle 13">
                  <a:extLst>
                    <a:ext uri="{FF2B5EF4-FFF2-40B4-BE49-F238E27FC236}">
                      <a16:creationId xmlns:a16="http://schemas.microsoft.com/office/drawing/2014/main" id="{CB7ED95F-5082-4696-AD44-F99BF09DDF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5" name="Rectangle 14">
                  <a:extLst>
                    <a:ext uri="{FF2B5EF4-FFF2-40B4-BE49-F238E27FC236}">
                      <a16:creationId xmlns:a16="http://schemas.microsoft.com/office/drawing/2014/main" id="{094AFD43-1E7B-4CCD-B6F6-AFFB9C6BF1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6" name="Rectangle 15">
                  <a:extLst>
                    <a:ext uri="{FF2B5EF4-FFF2-40B4-BE49-F238E27FC236}">
                      <a16:creationId xmlns:a16="http://schemas.microsoft.com/office/drawing/2014/main" id="{3468629D-8FCD-49D4-92A0-033C2804D5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7" name="Rectangle 16">
                  <a:extLst>
                    <a:ext uri="{FF2B5EF4-FFF2-40B4-BE49-F238E27FC236}">
                      <a16:creationId xmlns:a16="http://schemas.microsoft.com/office/drawing/2014/main" id="{5782BCCE-A81C-4FF8-8C40-B70D030286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8" name="Rectangle 17">
                  <a:extLst>
                    <a:ext uri="{FF2B5EF4-FFF2-40B4-BE49-F238E27FC236}">
                      <a16:creationId xmlns:a16="http://schemas.microsoft.com/office/drawing/2014/main" id="{DA8DB5D4-706D-4E4A-8BDF-A01370F69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49" name="Rectangle 18">
                  <a:extLst>
                    <a:ext uri="{FF2B5EF4-FFF2-40B4-BE49-F238E27FC236}">
                      <a16:creationId xmlns:a16="http://schemas.microsoft.com/office/drawing/2014/main" id="{20D71DD8-9771-4250-BD17-11A1382C3A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50" name="Rectangle 19">
                  <a:extLst>
                    <a:ext uri="{FF2B5EF4-FFF2-40B4-BE49-F238E27FC236}">
                      <a16:creationId xmlns:a16="http://schemas.microsoft.com/office/drawing/2014/main" id="{78DB1F6A-58BE-4098-BA03-312DE74B71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51" name="Rectangle 20">
                  <a:extLst>
                    <a:ext uri="{FF2B5EF4-FFF2-40B4-BE49-F238E27FC236}">
                      <a16:creationId xmlns:a16="http://schemas.microsoft.com/office/drawing/2014/main" id="{DC19212C-8C91-4DC7-B178-A5A1842EC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52" name="Rectangle 21">
                  <a:extLst>
                    <a:ext uri="{FF2B5EF4-FFF2-40B4-BE49-F238E27FC236}">
                      <a16:creationId xmlns:a16="http://schemas.microsoft.com/office/drawing/2014/main" id="{1DA3BE0B-4880-4AF9-9D22-4B0817DDE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53" name="Rectangle 22">
                  <a:extLst>
                    <a:ext uri="{FF2B5EF4-FFF2-40B4-BE49-F238E27FC236}">
                      <a16:creationId xmlns:a16="http://schemas.microsoft.com/office/drawing/2014/main" id="{2C6983C2-EBF1-476D-B888-FCA8DD985F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80054" name="Rectangle 23">
                  <a:extLst>
                    <a:ext uri="{FF2B5EF4-FFF2-40B4-BE49-F238E27FC236}">
                      <a16:creationId xmlns:a16="http://schemas.microsoft.com/office/drawing/2014/main" id="{88BB370B-5DC8-4F8D-B4FE-9E54923418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80055" name="Rectangle 24">
                  <a:extLst>
                    <a:ext uri="{FF2B5EF4-FFF2-40B4-BE49-F238E27FC236}">
                      <a16:creationId xmlns:a16="http://schemas.microsoft.com/office/drawing/2014/main" id="{953B9302-CC21-4D77-BB57-4D9B79C76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80056" name="Rectangle 25">
                  <a:extLst>
                    <a:ext uri="{FF2B5EF4-FFF2-40B4-BE49-F238E27FC236}">
                      <a16:creationId xmlns:a16="http://schemas.microsoft.com/office/drawing/2014/main" id="{D87609F7-2C45-41D6-BF2E-7D175750F5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80057" name="Rectangle 26">
                  <a:extLst>
                    <a:ext uri="{FF2B5EF4-FFF2-40B4-BE49-F238E27FC236}">
                      <a16:creationId xmlns:a16="http://schemas.microsoft.com/office/drawing/2014/main" id="{97F16FE3-5106-4B8F-94A6-127B9A8B8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80058" name="Rectangle 27">
                  <a:extLst>
                    <a:ext uri="{FF2B5EF4-FFF2-40B4-BE49-F238E27FC236}">
                      <a16:creationId xmlns:a16="http://schemas.microsoft.com/office/drawing/2014/main" id="{108196A4-3543-4DFA-BD87-ADAE79E9AD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80033" name="Text Box 42">
                <a:extLst>
                  <a:ext uri="{FF2B5EF4-FFF2-40B4-BE49-F238E27FC236}">
                    <a16:creationId xmlns:a16="http://schemas.microsoft.com/office/drawing/2014/main" id="{3182D08A-494B-4512-B40C-AECF747B48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0175" y="4735513"/>
                <a:ext cx="533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2800">
                    <a:latin typeface="Arial Rounded MT Bold" panose="020F0704030504030204" pitchFamily="34" charset="0"/>
                  </a:rPr>
                  <a:t>...</a:t>
                </a:r>
              </a:p>
            </p:txBody>
          </p:sp>
          <p:sp>
            <p:nvSpPr>
              <p:cNvPr id="80034" name="Text Box 77">
                <a:extLst>
                  <a:ext uri="{FF2B5EF4-FFF2-40B4-BE49-F238E27FC236}">
                    <a16:creationId xmlns:a16="http://schemas.microsoft.com/office/drawing/2014/main" id="{16CCA5FD-F1B3-4D8F-815D-614102495A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750" y="5410200"/>
                <a:ext cx="6096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>
                    <a:solidFill>
                      <a:srgbClr val="003C75"/>
                    </a:solidFill>
                    <a:latin typeface="Times" panose="02020603050405020304" pitchFamily="18" charset="0"/>
                  </a:rPr>
                  <a:t>0</a:t>
                </a:r>
                <a:endParaRPr lang="en-US" altLang="it-IT">
                  <a:solidFill>
                    <a:srgbClr val="003C7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035" name="Text Box 78">
                <a:extLst>
                  <a:ext uri="{FF2B5EF4-FFF2-40B4-BE49-F238E27FC236}">
                    <a16:creationId xmlns:a16="http://schemas.microsoft.com/office/drawing/2014/main" id="{AD8ADCA0-0ED8-4136-BD2D-CD408E88CE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97750" y="5410200"/>
                <a:ext cx="6096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i="1">
                    <a:solidFill>
                      <a:srgbClr val="003C75"/>
                    </a:solidFill>
                    <a:latin typeface="Times" panose="02020603050405020304" pitchFamily="18" charset="0"/>
                  </a:rPr>
                  <a:t>high</a:t>
                </a:r>
                <a:endParaRPr lang="en-US" altLang="it-IT">
                  <a:solidFill>
                    <a:srgbClr val="003C75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80019" name="Rectangle 73">
              <a:extLst>
                <a:ext uri="{FF2B5EF4-FFF2-40B4-BE49-F238E27FC236}">
                  <a16:creationId xmlns:a16="http://schemas.microsoft.com/office/drawing/2014/main" id="{EDB28ADC-A4DC-4737-8606-A203209B5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850" y="1828800"/>
              <a:ext cx="6104467" cy="7281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79878" name="TextBox 76">
            <a:extLst>
              <a:ext uri="{FF2B5EF4-FFF2-40B4-BE49-F238E27FC236}">
                <a16:creationId xmlns:a16="http://schemas.microsoft.com/office/drawing/2014/main" id="{AAFDFC75-4D13-4282-963B-C33BAAB6D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76400"/>
            <a:ext cx="137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Main</a:t>
            </a:r>
          </a:p>
          <a:p>
            <a:pPr algn="ctr"/>
            <a:r>
              <a:rPr lang="en-US" altLang="it-IT" sz="1400">
                <a:solidFill>
                  <a:srgbClr val="003C75"/>
                </a:solidFill>
              </a:rPr>
              <a:t>Memory</a:t>
            </a:r>
          </a:p>
        </p:txBody>
      </p:sp>
      <p:grpSp>
        <p:nvGrpSpPr>
          <p:cNvPr id="5" name="Group 147">
            <a:extLst>
              <a:ext uri="{FF2B5EF4-FFF2-40B4-BE49-F238E27FC236}">
                <a16:creationId xmlns:a16="http://schemas.microsoft.com/office/drawing/2014/main" id="{28915592-5E9D-44A3-A560-B16FE6C01693}"/>
              </a:ext>
            </a:extLst>
          </p:cNvPr>
          <p:cNvGrpSpPr/>
          <p:nvPr/>
        </p:nvGrpSpPr>
        <p:grpSpPr>
          <a:xfrm>
            <a:off x="3124200" y="2590800"/>
            <a:ext cx="3505200" cy="671512"/>
            <a:chOff x="3124200" y="2909888"/>
            <a:chExt cx="3505200" cy="671512"/>
          </a:xfrm>
          <a:noFill/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0EDCE09-A2F2-4701-B395-2EEF09E22879}"/>
                </a:ext>
              </a:extLst>
            </p:cNvPr>
            <p:cNvSpPr/>
            <p:nvPr/>
          </p:nvSpPr>
          <p:spPr bwMode="auto">
            <a:xfrm>
              <a:off x="3124200" y="2971800"/>
              <a:ext cx="3505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4512123-2250-401D-BCF7-D56962741A05}"/>
                </a:ext>
              </a:extLst>
            </p:cNvPr>
            <p:cNvSpPr/>
            <p:nvPr/>
          </p:nvSpPr>
          <p:spPr bwMode="auto">
            <a:xfrm>
              <a:off x="3124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73316EC-3798-408C-B0F1-AB1BA454A2E8}"/>
                </a:ext>
              </a:extLst>
            </p:cNvPr>
            <p:cNvSpPr/>
            <p:nvPr/>
          </p:nvSpPr>
          <p:spPr bwMode="auto">
            <a:xfrm>
              <a:off x="32004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E690B98-90E4-4349-8D65-CC39DC7DB168}"/>
                </a:ext>
              </a:extLst>
            </p:cNvPr>
            <p:cNvSpPr/>
            <p:nvPr/>
          </p:nvSpPr>
          <p:spPr bwMode="auto">
            <a:xfrm>
              <a:off x="3276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F9459D-A508-4316-88A6-0753C0F25849}"/>
                </a:ext>
              </a:extLst>
            </p:cNvPr>
            <p:cNvSpPr/>
            <p:nvPr/>
          </p:nvSpPr>
          <p:spPr bwMode="auto">
            <a:xfrm>
              <a:off x="33528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ECCB315-92A4-4450-B489-46F6E59943B6}"/>
                </a:ext>
              </a:extLst>
            </p:cNvPr>
            <p:cNvSpPr/>
            <p:nvPr/>
          </p:nvSpPr>
          <p:spPr bwMode="auto">
            <a:xfrm>
              <a:off x="34290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403AFEB-FD55-4234-BC82-404F3A944E07}"/>
                </a:ext>
              </a:extLst>
            </p:cNvPr>
            <p:cNvSpPr/>
            <p:nvPr/>
          </p:nvSpPr>
          <p:spPr bwMode="auto">
            <a:xfrm>
              <a:off x="3505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57DAD32-4026-41F3-BF41-5CA0AA7D50AB}"/>
                </a:ext>
              </a:extLst>
            </p:cNvPr>
            <p:cNvSpPr/>
            <p:nvPr/>
          </p:nvSpPr>
          <p:spPr bwMode="auto">
            <a:xfrm>
              <a:off x="35814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7D06892-9DE0-4F6A-9B31-16BAFA508C73}"/>
                </a:ext>
              </a:extLst>
            </p:cNvPr>
            <p:cNvSpPr/>
            <p:nvPr/>
          </p:nvSpPr>
          <p:spPr bwMode="auto">
            <a:xfrm>
              <a:off x="3657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8BE6C53-BA36-475B-AE42-6390674FDDE8}"/>
                </a:ext>
              </a:extLst>
            </p:cNvPr>
            <p:cNvSpPr/>
            <p:nvPr/>
          </p:nvSpPr>
          <p:spPr bwMode="auto">
            <a:xfrm>
              <a:off x="37338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13A378A-B431-41BF-969F-314CF2836B64}"/>
                </a:ext>
              </a:extLst>
            </p:cNvPr>
            <p:cNvSpPr/>
            <p:nvPr/>
          </p:nvSpPr>
          <p:spPr bwMode="auto">
            <a:xfrm>
              <a:off x="38100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BF7C447-5DFD-421C-B414-09969365E4F5}"/>
                </a:ext>
              </a:extLst>
            </p:cNvPr>
            <p:cNvSpPr/>
            <p:nvPr/>
          </p:nvSpPr>
          <p:spPr bwMode="auto">
            <a:xfrm>
              <a:off x="3886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E6BDFE2-10CF-477C-A1B2-9A4878B12A4C}"/>
                </a:ext>
              </a:extLst>
            </p:cNvPr>
            <p:cNvSpPr/>
            <p:nvPr/>
          </p:nvSpPr>
          <p:spPr bwMode="auto">
            <a:xfrm>
              <a:off x="39624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7A42AE6-9DB5-4FD7-A200-C65449190502}"/>
                </a:ext>
              </a:extLst>
            </p:cNvPr>
            <p:cNvSpPr/>
            <p:nvPr/>
          </p:nvSpPr>
          <p:spPr bwMode="auto">
            <a:xfrm>
              <a:off x="4038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F915AB6-F345-4CB4-B8CD-A686029F5091}"/>
                </a:ext>
              </a:extLst>
            </p:cNvPr>
            <p:cNvSpPr/>
            <p:nvPr/>
          </p:nvSpPr>
          <p:spPr bwMode="auto">
            <a:xfrm>
              <a:off x="41148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961225A-87CF-4467-9E89-213CE9868AA6}"/>
                </a:ext>
              </a:extLst>
            </p:cNvPr>
            <p:cNvSpPr/>
            <p:nvPr/>
          </p:nvSpPr>
          <p:spPr bwMode="auto">
            <a:xfrm>
              <a:off x="41910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EAEE053-DDF5-4FEF-AE1B-ED574C71C736}"/>
                </a:ext>
              </a:extLst>
            </p:cNvPr>
            <p:cNvSpPr/>
            <p:nvPr/>
          </p:nvSpPr>
          <p:spPr bwMode="auto">
            <a:xfrm>
              <a:off x="4267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2AAE522-52F1-494D-8349-9A745F4CE2C8}"/>
                </a:ext>
              </a:extLst>
            </p:cNvPr>
            <p:cNvSpPr/>
            <p:nvPr/>
          </p:nvSpPr>
          <p:spPr bwMode="auto">
            <a:xfrm>
              <a:off x="43434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4AB0CAD-1D42-4B77-9296-104501C386E3}"/>
                </a:ext>
              </a:extLst>
            </p:cNvPr>
            <p:cNvSpPr/>
            <p:nvPr/>
          </p:nvSpPr>
          <p:spPr bwMode="auto">
            <a:xfrm>
              <a:off x="4419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113943-6311-4F46-AE32-1B2BBA8376FA}"/>
                </a:ext>
              </a:extLst>
            </p:cNvPr>
            <p:cNvSpPr/>
            <p:nvPr/>
          </p:nvSpPr>
          <p:spPr bwMode="auto">
            <a:xfrm>
              <a:off x="44958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D3A6935-E10B-4010-BEE0-7779A1C80D58}"/>
                </a:ext>
              </a:extLst>
            </p:cNvPr>
            <p:cNvSpPr/>
            <p:nvPr/>
          </p:nvSpPr>
          <p:spPr bwMode="auto">
            <a:xfrm>
              <a:off x="45720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F3BDBED-E2AC-42DE-A3F5-F570A697A9CE}"/>
                </a:ext>
              </a:extLst>
            </p:cNvPr>
            <p:cNvSpPr/>
            <p:nvPr/>
          </p:nvSpPr>
          <p:spPr bwMode="auto">
            <a:xfrm>
              <a:off x="4648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05832E4-7185-4511-B9CA-8B2AD3566C0A}"/>
                </a:ext>
              </a:extLst>
            </p:cNvPr>
            <p:cNvSpPr/>
            <p:nvPr/>
          </p:nvSpPr>
          <p:spPr bwMode="auto">
            <a:xfrm>
              <a:off x="47244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72D2D6D-0284-476B-A074-C45F10EB7AF5}"/>
                </a:ext>
              </a:extLst>
            </p:cNvPr>
            <p:cNvSpPr/>
            <p:nvPr/>
          </p:nvSpPr>
          <p:spPr bwMode="auto">
            <a:xfrm>
              <a:off x="4800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3274DD8-7263-4EC4-B84D-137153DCB7C9}"/>
                </a:ext>
              </a:extLst>
            </p:cNvPr>
            <p:cNvSpPr/>
            <p:nvPr/>
          </p:nvSpPr>
          <p:spPr bwMode="auto">
            <a:xfrm>
              <a:off x="6553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216A0F9-333A-42E0-9982-4CF7F37130E2}"/>
                </a:ext>
              </a:extLst>
            </p:cNvPr>
            <p:cNvSpPr/>
            <p:nvPr/>
          </p:nvSpPr>
          <p:spPr bwMode="auto">
            <a:xfrm>
              <a:off x="64770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D4DB1A74-873A-4F7D-BEF7-6632B8E427A7}"/>
                </a:ext>
              </a:extLst>
            </p:cNvPr>
            <p:cNvSpPr/>
            <p:nvPr/>
          </p:nvSpPr>
          <p:spPr bwMode="auto">
            <a:xfrm>
              <a:off x="64008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94170A1-2858-4533-915B-90E7C64D4729}"/>
                </a:ext>
              </a:extLst>
            </p:cNvPr>
            <p:cNvSpPr/>
            <p:nvPr/>
          </p:nvSpPr>
          <p:spPr bwMode="auto">
            <a:xfrm>
              <a:off x="6324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0AA72E3-442F-4AF7-89CA-E9E733F4DE7E}"/>
                </a:ext>
              </a:extLst>
            </p:cNvPr>
            <p:cNvSpPr/>
            <p:nvPr/>
          </p:nvSpPr>
          <p:spPr bwMode="auto">
            <a:xfrm>
              <a:off x="62484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8CD24D2-7672-4E86-929A-091924F7B0CB}"/>
                </a:ext>
              </a:extLst>
            </p:cNvPr>
            <p:cNvSpPr/>
            <p:nvPr/>
          </p:nvSpPr>
          <p:spPr bwMode="auto">
            <a:xfrm>
              <a:off x="6172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2F7C439-6379-4234-B9CD-F2DF380F5978}"/>
                </a:ext>
              </a:extLst>
            </p:cNvPr>
            <p:cNvSpPr/>
            <p:nvPr/>
          </p:nvSpPr>
          <p:spPr bwMode="auto">
            <a:xfrm>
              <a:off x="60960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EFE2B8F-4E09-446D-A770-C6D7D5B43A6B}"/>
                </a:ext>
              </a:extLst>
            </p:cNvPr>
            <p:cNvSpPr/>
            <p:nvPr/>
          </p:nvSpPr>
          <p:spPr bwMode="auto">
            <a:xfrm>
              <a:off x="60198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465BF4B-2F47-4D30-A49F-5FA86181A35E}"/>
                </a:ext>
              </a:extLst>
            </p:cNvPr>
            <p:cNvSpPr/>
            <p:nvPr/>
          </p:nvSpPr>
          <p:spPr bwMode="auto">
            <a:xfrm>
              <a:off x="5943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FAE769A-E130-492B-A364-80B892782FDF}"/>
                </a:ext>
              </a:extLst>
            </p:cNvPr>
            <p:cNvSpPr/>
            <p:nvPr/>
          </p:nvSpPr>
          <p:spPr bwMode="auto">
            <a:xfrm>
              <a:off x="58674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254D755-CE0C-4C26-BA22-253663F8FA74}"/>
                </a:ext>
              </a:extLst>
            </p:cNvPr>
            <p:cNvSpPr/>
            <p:nvPr/>
          </p:nvSpPr>
          <p:spPr bwMode="auto">
            <a:xfrm>
              <a:off x="57912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E26744A-C24E-41C4-AE00-D8C02913A1F4}"/>
                </a:ext>
              </a:extLst>
            </p:cNvPr>
            <p:cNvSpPr/>
            <p:nvPr/>
          </p:nvSpPr>
          <p:spPr bwMode="auto">
            <a:xfrm>
              <a:off x="57150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4A9D7FB-4B71-4CB0-9940-B48627AC0AF5}"/>
                </a:ext>
              </a:extLst>
            </p:cNvPr>
            <p:cNvSpPr/>
            <p:nvPr/>
          </p:nvSpPr>
          <p:spPr bwMode="auto">
            <a:xfrm>
              <a:off x="56388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4AC3D2A-7E01-4B44-83CB-E408F21363BE}"/>
                </a:ext>
              </a:extLst>
            </p:cNvPr>
            <p:cNvSpPr/>
            <p:nvPr/>
          </p:nvSpPr>
          <p:spPr bwMode="auto">
            <a:xfrm>
              <a:off x="5562600" y="2971800"/>
              <a:ext cx="76200" cy="609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47" name="Text Box 42">
              <a:extLst>
                <a:ext uri="{FF2B5EF4-FFF2-40B4-BE49-F238E27FC236}">
                  <a16:creationId xmlns:a16="http://schemas.microsoft.com/office/drawing/2014/main" id="{6657F937-6D2A-4448-A35E-893783A14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909888"/>
              <a:ext cx="533400" cy="5191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2800" dirty="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...</a:t>
              </a:r>
            </a:p>
          </p:txBody>
        </p:sp>
      </p:grpSp>
      <p:sp>
        <p:nvSpPr>
          <p:cNvPr id="79880" name="TextBox 177">
            <a:extLst>
              <a:ext uri="{FF2B5EF4-FFF2-40B4-BE49-F238E27FC236}">
                <a16:creationId xmlns:a16="http://schemas.microsoft.com/office/drawing/2014/main" id="{737CA535-931D-4FA4-97FF-F20969375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757488"/>
            <a:ext cx="1371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L2 Cache</a:t>
            </a:r>
          </a:p>
        </p:txBody>
      </p:sp>
      <p:sp>
        <p:nvSpPr>
          <p:cNvPr id="79881" name="TextBox 178">
            <a:extLst>
              <a:ext uri="{FF2B5EF4-FFF2-40B4-BE49-F238E27FC236}">
                <a16:creationId xmlns:a16="http://schemas.microsoft.com/office/drawing/2014/main" id="{0D1F5C24-A761-4274-B31D-F4B0AD284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59213"/>
            <a:ext cx="1371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L1 Caches</a:t>
            </a:r>
          </a:p>
        </p:txBody>
      </p:sp>
      <p:sp>
        <p:nvSpPr>
          <p:cNvPr id="79882" name="TextBox 252">
            <a:extLst>
              <a:ext uri="{FF2B5EF4-FFF2-40B4-BE49-F238E27FC236}">
                <a16:creationId xmlns:a16="http://schemas.microsoft.com/office/drawing/2014/main" id="{1354C643-D468-4F0B-A045-B0360BCCD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232400"/>
            <a:ext cx="1371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Processor Cores</a:t>
            </a:r>
          </a:p>
        </p:txBody>
      </p:sp>
      <p:cxnSp>
        <p:nvCxnSpPr>
          <p:cNvPr id="79883" name="Straight Arrow Connector 261">
            <a:extLst>
              <a:ext uri="{FF2B5EF4-FFF2-40B4-BE49-F238E27FC236}">
                <a16:creationId xmlns:a16="http://schemas.microsoft.com/office/drawing/2014/main" id="{7E34C4DB-EF65-4E38-9D7F-FA668BFB70F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714082" y="2489994"/>
            <a:ext cx="323850" cy="158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4" name="Curved Connector 265">
            <a:extLst>
              <a:ext uri="{FF2B5EF4-FFF2-40B4-BE49-F238E27FC236}">
                <a16:creationId xmlns:a16="http://schemas.microsoft.com/office/drawing/2014/main" id="{5794946C-4EB9-4B84-8496-A792AA234C0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364706" y="2336007"/>
            <a:ext cx="471487" cy="23241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5" name="Curved Connector 268">
            <a:extLst>
              <a:ext uri="{FF2B5EF4-FFF2-40B4-BE49-F238E27FC236}">
                <a16:creationId xmlns:a16="http://schemas.microsoft.com/office/drawing/2014/main" id="{2B6E910F-17D4-4049-BF62-D8487B061B4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088606" y="2983707"/>
            <a:ext cx="471487" cy="10287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6" name="Curved Connector 270">
            <a:extLst>
              <a:ext uri="{FF2B5EF4-FFF2-40B4-BE49-F238E27FC236}">
                <a16:creationId xmlns:a16="http://schemas.microsoft.com/office/drawing/2014/main" id="{3C2BD382-24E9-42E7-AB15-662FBEC4505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260306" y="2678907"/>
            <a:ext cx="471487" cy="16383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7" name="Curved Connector 272">
            <a:extLst>
              <a:ext uri="{FF2B5EF4-FFF2-40B4-BE49-F238E27FC236}">
                <a16:creationId xmlns:a16="http://schemas.microsoft.com/office/drawing/2014/main" id="{438CF1FB-2933-44DB-89C7-1AD8E30CC72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536406" y="3326607"/>
            <a:ext cx="471487" cy="3429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9888" name="Group 279">
            <a:extLst>
              <a:ext uri="{FF2B5EF4-FFF2-40B4-BE49-F238E27FC236}">
                <a16:creationId xmlns:a16="http://schemas.microsoft.com/office/drawing/2014/main" id="{64017B58-2D66-4677-8AAE-908D438C840A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876800"/>
            <a:ext cx="3124200" cy="1295400"/>
            <a:chOff x="1676400" y="4953000"/>
            <a:chExt cx="3124200" cy="12954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13A9AF-D2AF-493C-9954-09F86FC8B3F4}"/>
                </a:ext>
              </a:extLst>
            </p:cNvPr>
            <p:cNvSpPr/>
            <p:nvPr/>
          </p:nvSpPr>
          <p:spPr bwMode="auto">
            <a:xfrm>
              <a:off x="1828800" y="56388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9DA4F3F-993C-48A3-B775-264863AC2F0A}"/>
                </a:ext>
              </a:extLst>
            </p:cNvPr>
            <p:cNvSpPr/>
            <p:nvPr/>
          </p:nvSpPr>
          <p:spPr bwMode="auto">
            <a:xfrm>
              <a:off x="1828800" y="50673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79998" name="Rectangle 82">
              <a:extLst>
                <a:ext uri="{FF2B5EF4-FFF2-40B4-BE49-F238E27FC236}">
                  <a16:creationId xmlns:a16="http://schemas.microsoft.com/office/drawing/2014/main" id="{BFEB76B7-8462-4DFB-9546-2FF40FE96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105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99" name="Rectangle 83">
              <a:extLst>
                <a:ext uri="{FF2B5EF4-FFF2-40B4-BE49-F238E27FC236}">
                  <a16:creationId xmlns:a16="http://schemas.microsoft.com/office/drawing/2014/main" id="{E1DE7AB2-3A2D-4CBF-BF1F-EC7240DD7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181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0" name="Rectangle 84">
              <a:extLst>
                <a:ext uri="{FF2B5EF4-FFF2-40B4-BE49-F238E27FC236}">
                  <a16:creationId xmlns:a16="http://schemas.microsoft.com/office/drawing/2014/main" id="{55C8F9E8-27A6-422E-9340-5CD0D292A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257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1" name="Rectangle 85">
              <a:extLst>
                <a:ext uri="{FF2B5EF4-FFF2-40B4-BE49-F238E27FC236}">
                  <a16:creationId xmlns:a16="http://schemas.microsoft.com/office/drawing/2014/main" id="{546E6413-3BFD-4234-8FAB-CE913EC2C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334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2" name="Rectangle 86">
              <a:extLst>
                <a:ext uri="{FF2B5EF4-FFF2-40B4-BE49-F238E27FC236}">
                  <a16:creationId xmlns:a16="http://schemas.microsoft.com/office/drawing/2014/main" id="{A77E3A06-A710-4615-B88B-A4074C5E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410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3" name="Rectangle 87">
              <a:extLst>
                <a:ext uri="{FF2B5EF4-FFF2-40B4-BE49-F238E27FC236}">
                  <a16:creationId xmlns:a16="http://schemas.microsoft.com/office/drawing/2014/main" id="{1E121B45-43FB-4050-9E47-CDCE5BA08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486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4" name="Rectangle 88">
              <a:extLst>
                <a:ext uri="{FF2B5EF4-FFF2-40B4-BE49-F238E27FC236}">
                  <a16:creationId xmlns:a16="http://schemas.microsoft.com/office/drawing/2014/main" id="{E8C24082-9C93-4A1E-B232-6CB57D933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562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5" name="Rectangle 89">
              <a:extLst>
                <a:ext uri="{FF2B5EF4-FFF2-40B4-BE49-F238E27FC236}">
                  <a16:creationId xmlns:a16="http://schemas.microsoft.com/office/drawing/2014/main" id="{4952CC3A-AF75-4ADF-9FBB-5253E2BE0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638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6" name="Rectangle 90">
              <a:extLst>
                <a:ext uri="{FF2B5EF4-FFF2-40B4-BE49-F238E27FC236}">
                  <a16:creationId xmlns:a16="http://schemas.microsoft.com/office/drawing/2014/main" id="{AD21F3AA-A075-4021-8D27-D092275FF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715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7" name="Rectangle 91">
              <a:extLst>
                <a:ext uri="{FF2B5EF4-FFF2-40B4-BE49-F238E27FC236}">
                  <a16:creationId xmlns:a16="http://schemas.microsoft.com/office/drawing/2014/main" id="{6EF023EC-3DB1-4A12-B256-61C8422C4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791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8" name="Rectangle 92">
              <a:extLst>
                <a:ext uri="{FF2B5EF4-FFF2-40B4-BE49-F238E27FC236}">
                  <a16:creationId xmlns:a16="http://schemas.microsoft.com/office/drawing/2014/main" id="{F128D03D-059D-493C-9E80-A2984DB71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867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09" name="Rectangle 93">
              <a:extLst>
                <a:ext uri="{FF2B5EF4-FFF2-40B4-BE49-F238E27FC236}">
                  <a16:creationId xmlns:a16="http://schemas.microsoft.com/office/drawing/2014/main" id="{650F181A-B898-4A02-AA4B-0ADBE5E63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943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0010" name="Rectangle 94">
              <a:extLst>
                <a:ext uri="{FF2B5EF4-FFF2-40B4-BE49-F238E27FC236}">
                  <a16:creationId xmlns:a16="http://schemas.microsoft.com/office/drawing/2014/main" id="{3D78832B-FDD5-41EF-9E75-642117E4E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6019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80011" name="Straight Arrow Connector 103">
              <a:extLst>
                <a:ext uri="{FF2B5EF4-FFF2-40B4-BE49-F238E27FC236}">
                  <a16:creationId xmlns:a16="http://schemas.microsoft.com/office/drawing/2014/main" id="{059FA0D2-EBE3-4060-9B8E-4134E15030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67000" y="53141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012" name="Straight Arrow Connector 104">
              <a:extLst>
                <a:ext uri="{FF2B5EF4-FFF2-40B4-BE49-F238E27FC236}">
                  <a16:creationId xmlns:a16="http://schemas.microsoft.com/office/drawing/2014/main" id="{E9CD0D22-7312-403A-8E38-2B4E704221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67000" y="58666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013" name="Straight Arrow Connector 105">
              <a:extLst>
                <a:ext uri="{FF2B5EF4-FFF2-40B4-BE49-F238E27FC236}">
                  <a16:creationId xmlns:a16="http://schemas.microsoft.com/office/drawing/2014/main" id="{1EDFA3DD-B3DF-45C0-AD73-6D9FD5D6A5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1400" y="58666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014" name="Straight Arrow Connector 106">
              <a:extLst>
                <a:ext uri="{FF2B5EF4-FFF2-40B4-BE49-F238E27FC236}">
                  <a16:creationId xmlns:a16="http://schemas.microsoft.com/office/drawing/2014/main" id="{60749E16-EBD8-42D2-B62B-08A0370814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1400" y="53141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DB804760-E4A7-44E9-9756-358B4671E188}"/>
                </a:ext>
              </a:extLst>
            </p:cNvPr>
            <p:cNvSpPr/>
            <p:nvPr/>
          </p:nvSpPr>
          <p:spPr bwMode="auto">
            <a:xfrm>
              <a:off x="3886200" y="56388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64705565-58BA-4EFB-A5BF-11D4891EBAAC}"/>
                </a:ext>
              </a:extLst>
            </p:cNvPr>
            <p:cNvSpPr/>
            <p:nvPr/>
          </p:nvSpPr>
          <p:spPr bwMode="auto">
            <a:xfrm>
              <a:off x="3886200" y="50673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80017" name="Rounded Rectangle 278">
              <a:extLst>
                <a:ext uri="{FF2B5EF4-FFF2-40B4-BE49-F238E27FC236}">
                  <a16:creationId xmlns:a16="http://schemas.microsoft.com/office/drawing/2014/main" id="{1E5FA363-1AFF-4D3E-AC55-5D63CBF0F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953000"/>
              <a:ext cx="3124200" cy="12954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79889" name="Group 280">
            <a:extLst>
              <a:ext uri="{FF2B5EF4-FFF2-40B4-BE49-F238E27FC236}">
                <a16:creationId xmlns:a16="http://schemas.microsoft.com/office/drawing/2014/main" id="{0F1AE8B3-B47E-4D76-9ED8-7E545F7A4D5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876800"/>
            <a:ext cx="3124200" cy="1295400"/>
            <a:chOff x="1676400" y="4953000"/>
            <a:chExt cx="3124200" cy="1295400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2812E7E6-E299-4CAA-9838-FA00470EA1A5}"/>
                </a:ext>
              </a:extLst>
            </p:cNvPr>
            <p:cNvSpPr/>
            <p:nvPr/>
          </p:nvSpPr>
          <p:spPr bwMode="auto">
            <a:xfrm>
              <a:off x="1828800" y="56388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C965D6A1-939F-4FBD-90A4-871481682EA4}"/>
                </a:ext>
              </a:extLst>
            </p:cNvPr>
            <p:cNvSpPr/>
            <p:nvPr/>
          </p:nvSpPr>
          <p:spPr bwMode="auto">
            <a:xfrm>
              <a:off x="1828800" y="50673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79976" name="Rectangle 283">
              <a:extLst>
                <a:ext uri="{FF2B5EF4-FFF2-40B4-BE49-F238E27FC236}">
                  <a16:creationId xmlns:a16="http://schemas.microsoft.com/office/drawing/2014/main" id="{82F35162-AF1A-4FFE-AB32-7D3A08AC9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105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77" name="Rectangle 284">
              <a:extLst>
                <a:ext uri="{FF2B5EF4-FFF2-40B4-BE49-F238E27FC236}">
                  <a16:creationId xmlns:a16="http://schemas.microsoft.com/office/drawing/2014/main" id="{1AEE51DC-02F1-4745-AC1E-4EA7AA43F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181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78" name="Rectangle 285">
              <a:extLst>
                <a:ext uri="{FF2B5EF4-FFF2-40B4-BE49-F238E27FC236}">
                  <a16:creationId xmlns:a16="http://schemas.microsoft.com/office/drawing/2014/main" id="{6C1CA017-BB8A-4569-9151-E2359E633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257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79" name="Rectangle 286">
              <a:extLst>
                <a:ext uri="{FF2B5EF4-FFF2-40B4-BE49-F238E27FC236}">
                  <a16:creationId xmlns:a16="http://schemas.microsoft.com/office/drawing/2014/main" id="{C6A17E49-2256-4C44-833C-C7F6A590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334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0" name="Rectangle 287">
              <a:extLst>
                <a:ext uri="{FF2B5EF4-FFF2-40B4-BE49-F238E27FC236}">
                  <a16:creationId xmlns:a16="http://schemas.microsoft.com/office/drawing/2014/main" id="{A298798A-FA22-4591-A04B-8C40589BA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410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1" name="Rectangle 288">
              <a:extLst>
                <a:ext uri="{FF2B5EF4-FFF2-40B4-BE49-F238E27FC236}">
                  <a16:creationId xmlns:a16="http://schemas.microsoft.com/office/drawing/2014/main" id="{E4AA6AB9-4B1C-4741-AE99-F1906C9F2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486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2" name="Rectangle 289">
              <a:extLst>
                <a:ext uri="{FF2B5EF4-FFF2-40B4-BE49-F238E27FC236}">
                  <a16:creationId xmlns:a16="http://schemas.microsoft.com/office/drawing/2014/main" id="{E13BB63C-F8DF-4B64-9E37-DA0FA70B2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562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3" name="Rectangle 290">
              <a:extLst>
                <a:ext uri="{FF2B5EF4-FFF2-40B4-BE49-F238E27FC236}">
                  <a16:creationId xmlns:a16="http://schemas.microsoft.com/office/drawing/2014/main" id="{BD4BAC34-B03D-4E4A-8CBF-85321D248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638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4" name="Rectangle 291">
              <a:extLst>
                <a:ext uri="{FF2B5EF4-FFF2-40B4-BE49-F238E27FC236}">
                  <a16:creationId xmlns:a16="http://schemas.microsoft.com/office/drawing/2014/main" id="{90E531C2-835C-49CD-BC69-5139C6C25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715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5" name="Rectangle 292">
              <a:extLst>
                <a:ext uri="{FF2B5EF4-FFF2-40B4-BE49-F238E27FC236}">
                  <a16:creationId xmlns:a16="http://schemas.microsoft.com/office/drawing/2014/main" id="{7F3EFFE8-03B7-421A-9E15-58AB392D9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791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6" name="Rectangle 293">
              <a:extLst>
                <a:ext uri="{FF2B5EF4-FFF2-40B4-BE49-F238E27FC236}">
                  <a16:creationId xmlns:a16="http://schemas.microsoft.com/office/drawing/2014/main" id="{28AF70D2-5DB8-4017-AA9B-F4FD42206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867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7" name="Rectangle 294">
              <a:extLst>
                <a:ext uri="{FF2B5EF4-FFF2-40B4-BE49-F238E27FC236}">
                  <a16:creationId xmlns:a16="http://schemas.microsoft.com/office/drawing/2014/main" id="{041BF8ED-03B6-452F-A3B8-FA152EE81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943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88" name="Rectangle 295">
              <a:extLst>
                <a:ext uri="{FF2B5EF4-FFF2-40B4-BE49-F238E27FC236}">
                  <a16:creationId xmlns:a16="http://schemas.microsoft.com/office/drawing/2014/main" id="{45FED670-237E-41E1-8CD4-8B4547F64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6019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79989" name="Straight Arrow Connector 296">
              <a:extLst>
                <a:ext uri="{FF2B5EF4-FFF2-40B4-BE49-F238E27FC236}">
                  <a16:creationId xmlns:a16="http://schemas.microsoft.com/office/drawing/2014/main" id="{4D372F46-E8FF-41A1-A432-9CEF7D8D66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67000" y="53141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990" name="Straight Arrow Connector 297">
              <a:extLst>
                <a:ext uri="{FF2B5EF4-FFF2-40B4-BE49-F238E27FC236}">
                  <a16:creationId xmlns:a16="http://schemas.microsoft.com/office/drawing/2014/main" id="{A095E146-B537-48CF-8C38-87EF8EE31A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67000" y="58666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991" name="Straight Arrow Connector 298">
              <a:extLst>
                <a:ext uri="{FF2B5EF4-FFF2-40B4-BE49-F238E27FC236}">
                  <a16:creationId xmlns:a16="http://schemas.microsoft.com/office/drawing/2014/main" id="{A8743C7E-8F58-4A87-82BF-6B1DDCD8E3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1400" y="58666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992" name="Straight Arrow Connector 299">
              <a:extLst>
                <a:ext uri="{FF2B5EF4-FFF2-40B4-BE49-F238E27FC236}">
                  <a16:creationId xmlns:a16="http://schemas.microsoft.com/office/drawing/2014/main" id="{F3FFD828-674E-4480-973B-A7C7E6C9E3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81400" y="53141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4D4C17D6-66B8-4417-86BD-01D1A1EB2108}"/>
                </a:ext>
              </a:extLst>
            </p:cNvPr>
            <p:cNvSpPr/>
            <p:nvPr/>
          </p:nvSpPr>
          <p:spPr bwMode="auto">
            <a:xfrm>
              <a:off x="3886200" y="56388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88A03E9E-ABE6-4F42-BE3E-437FCF8E0AF5}"/>
                </a:ext>
              </a:extLst>
            </p:cNvPr>
            <p:cNvSpPr/>
            <p:nvPr/>
          </p:nvSpPr>
          <p:spPr bwMode="auto">
            <a:xfrm>
              <a:off x="3886200" y="50673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79995" name="Rounded Rectangle 302">
              <a:extLst>
                <a:ext uri="{FF2B5EF4-FFF2-40B4-BE49-F238E27FC236}">
                  <a16:creationId xmlns:a16="http://schemas.microsoft.com/office/drawing/2014/main" id="{C8E50833-C2C3-4059-947C-2CD35D986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953000"/>
              <a:ext cx="3124200" cy="12954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79890" name="Group 308">
            <a:extLst>
              <a:ext uri="{FF2B5EF4-FFF2-40B4-BE49-F238E27FC236}">
                <a16:creationId xmlns:a16="http://schemas.microsoft.com/office/drawing/2014/main" id="{01A08EC8-98CE-496D-9AC1-47D6D050099C}"/>
              </a:ext>
            </a:extLst>
          </p:cNvPr>
          <p:cNvGrpSpPr>
            <a:grpSpLocks/>
          </p:cNvGrpSpPr>
          <p:nvPr/>
        </p:nvGrpSpPr>
        <p:grpSpPr bwMode="auto">
          <a:xfrm>
            <a:off x="1866900" y="3733800"/>
            <a:ext cx="2514600" cy="609600"/>
            <a:chOff x="2019300" y="3962400"/>
            <a:chExt cx="2514600" cy="609600"/>
          </a:xfrm>
        </p:grpSpPr>
        <p:grpSp>
          <p:nvGrpSpPr>
            <p:cNvPr id="79937" name="Group 216">
              <a:extLst>
                <a:ext uri="{FF2B5EF4-FFF2-40B4-BE49-F238E27FC236}">
                  <a16:creationId xmlns:a16="http://schemas.microsoft.com/office/drawing/2014/main" id="{82733AB1-E627-4417-8B47-FB294546DE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9300" y="3962400"/>
              <a:ext cx="2514600" cy="609600"/>
              <a:chOff x="1828800" y="4038600"/>
              <a:chExt cx="2514600" cy="609600"/>
            </a:xfrm>
          </p:grpSpPr>
          <p:grpSp>
            <p:nvGrpSpPr>
              <p:cNvPr id="79940" name="Group 198">
                <a:extLst>
                  <a:ext uri="{FF2B5EF4-FFF2-40B4-BE49-F238E27FC236}">
                    <a16:creationId xmlns:a16="http://schemas.microsoft.com/office/drawing/2014/main" id="{D90D6CF8-4F21-400D-9EE0-60C03C0910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88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79958" name="Rectangle 179">
                  <a:extLst>
                    <a:ext uri="{FF2B5EF4-FFF2-40B4-BE49-F238E27FC236}">
                      <a16:creationId xmlns:a16="http://schemas.microsoft.com/office/drawing/2014/main" id="{670D4FDC-1C25-4210-8B49-12F2AD2B07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9" name="Rectangle 180">
                  <a:extLst>
                    <a:ext uri="{FF2B5EF4-FFF2-40B4-BE49-F238E27FC236}">
                      <a16:creationId xmlns:a16="http://schemas.microsoft.com/office/drawing/2014/main" id="{CDBA3705-1923-400D-804A-D516DC06C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0" name="Rectangle 181">
                  <a:extLst>
                    <a:ext uri="{FF2B5EF4-FFF2-40B4-BE49-F238E27FC236}">
                      <a16:creationId xmlns:a16="http://schemas.microsoft.com/office/drawing/2014/main" id="{844DE288-72CD-4903-8ABF-F20D31A722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1" name="Rectangle 182">
                  <a:extLst>
                    <a:ext uri="{FF2B5EF4-FFF2-40B4-BE49-F238E27FC236}">
                      <a16:creationId xmlns:a16="http://schemas.microsoft.com/office/drawing/2014/main" id="{3A6CD74D-0ECE-4FB4-965F-C0EC389D52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2" name="Rectangle 183">
                  <a:extLst>
                    <a:ext uri="{FF2B5EF4-FFF2-40B4-BE49-F238E27FC236}">
                      <a16:creationId xmlns:a16="http://schemas.microsoft.com/office/drawing/2014/main" id="{07A66E1D-E267-4711-A697-F2CF51C60E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3" name="Rectangle 184">
                  <a:extLst>
                    <a:ext uri="{FF2B5EF4-FFF2-40B4-BE49-F238E27FC236}">
                      <a16:creationId xmlns:a16="http://schemas.microsoft.com/office/drawing/2014/main" id="{2F4E9957-38B7-45EB-8AD6-8AE6008037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4" name="Rectangle 185">
                  <a:extLst>
                    <a:ext uri="{FF2B5EF4-FFF2-40B4-BE49-F238E27FC236}">
                      <a16:creationId xmlns:a16="http://schemas.microsoft.com/office/drawing/2014/main" id="{4B9EBB91-EAF5-41A8-84AB-AC35C94CD1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5" name="Rectangle 186">
                  <a:extLst>
                    <a:ext uri="{FF2B5EF4-FFF2-40B4-BE49-F238E27FC236}">
                      <a16:creationId xmlns:a16="http://schemas.microsoft.com/office/drawing/2014/main" id="{8CC42860-6350-4C16-92A6-BF97C4E8A7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6" name="Rectangle 187">
                  <a:extLst>
                    <a:ext uri="{FF2B5EF4-FFF2-40B4-BE49-F238E27FC236}">
                      <a16:creationId xmlns:a16="http://schemas.microsoft.com/office/drawing/2014/main" id="{28B4B776-4B4E-4308-A67C-99AC51C460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7" name="Rectangle 188">
                  <a:extLst>
                    <a:ext uri="{FF2B5EF4-FFF2-40B4-BE49-F238E27FC236}">
                      <a16:creationId xmlns:a16="http://schemas.microsoft.com/office/drawing/2014/main" id="{71B618B4-07BE-45D7-AEDB-9A99BD9BBD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8" name="Rectangle 189">
                  <a:extLst>
                    <a:ext uri="{FF2B5EF4-FFF2-40B4-BE49-F238E27FC236}">
                      <a16:creationId xmlns:a16="http://schemas.microsoft.com/office/drawing/2014/main" id="{F8C1DEDD-A8B8-4936-A54A-E68EB189D1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69" name="Rectangle 190">
                  <a:extLst>
                    <a:ext uri="{FF2B5EF4-FFF2-40B4-BE49-F238E27FC236}">
                      <a16:creationId xmlns:a16="http://schemas.microsoft.com/office/drawing/2014/main" id="{9BCC4B47-22BD-4A34-906C-F9ACBDF7C2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70" name="Rectangle 191">
                  <a:extLst>
                    <a:ext uri="{FF2B5EF4-FFF2-40B4-BE49-F238E27FC236}">
                      <a16:creationId xmlns:a16="http://schemas.microsoft.com/office/drawing/2014/main" id="{83FB7B43-30C2-40D5-BDBD-813D74C70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71" name="Rectangle 192">
                  <a:extLst>
                    <a:ext uri="{FF2B5EF4-FFF2-40B4-BE49-F238E27FC236}">
                      <a16:creationId xmlns:a16="http://schemas.microsoft.com/office/drawing/2014/main" id="{CFCA3750-6294-4222-8FA6-878AA835F7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72" name="Rectangle 193">
                  <a:extLst>
                    <a:ext uri="{FF2B5EF4-FFF2-40B4-BE49-F238E27FC236}">
                      <a16:creationId xmlns:a16="http://schemas.microsoft.com/office/drawing/2014/main" id="{0C89569E-21DB-4C3C-8949-EA47E18A96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73" name="Rectangle 197">
                  <a:extLst>
                    <a:ext uri="{FF2B5EF4-FFF2-40B4-BE49-F238E27FC236}">
                      <a16:creationId xmlns:a16="http://schemas.microsoft.com/office/drawing/2014/main" id="{A067B87B-053C-4B13-8D3E-A2EB758C40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79941" name="Group 199">
                <a:extLst>
                  <a:ext uri="{FF2B5EF4-FFF2-40B4-BE49-F238E27FC236}">
                    <a16:creationId xmlns:a16="http://schemas.microsoft.com/office/drawing/2014/main" id="{EBB271FB-B923-4AC0-9A21-4768DA8449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04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79942" name="Rectangle 200">
                  <a:extLst>
                    <a:ext uri="{FF2B5EF4-FFF2-40B4-BE49-F238E27FC236}">
                      <a16:creationId xmlns:a16="http://schemas.microsoft.com/office/drawing/2014/main" id="{69FCD01E-37C4-45B2-BD93-2FBE3D637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43" name="Rectangle 201">
                  <a:extLst>
                    <a:ext uri="{FF2B5EF4-FFF2-40B4-BE49-F238E27FC236}">
                      <a16:creationId xmlns:a16="http://schemas.microsoft.com/office/drawing/2014/main" id="{19FC5767-8106-41AA-8A9A-2C4FDBA9C6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44" name="Rectangle 202">
                  <a:extLst>
                    <a:ext uri="{FF2B5EF4-FFF2-40B4-BE49-F238E27FC236}">
                      <a16:creationId xmlns:a16="http://schemas.microsoft.com/office/drawing/2014/main" id="{7D8FD1FD-ADFC-4A18-8D69-6BAAF97122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45" name="Rectangle 203">
                  <a:extLst>
                    <a:ext uri="{FF2B5EF4-FFF2-40B4-BE49-F238E27FC236}">
                      <a16:creationId xmlns:a16="http://schemas.microsoft.com/office/drawing/2014/main" id="{8C313746-5E84-4668-B78B-395D90C0B3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46" name="Rectangle 204">
                  <a:extLst>
                    <a:ext uri="{FF2B5EF4-FFF2-40B4-BE49-F238E27FC236}">
                      <a16:creationId xmlns:a16="http://schemas.microsoft.com/office/drawing/2014/main" id="{71E3B609-6F88-416F-B0D2-BB1F6706F7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47" name="Rectangle 205">
                  <a:extLst>
                    <a:ext uri="{FF2B5EF4-FFF2-40B4-BE49-F238E27FC236}">
                      <a16:creationId xmlns:a16="http://schemas.microsoft.com/office/drawing/2014/main" id="{FA0067F1-B771-44C9-8226-7088ABB189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48" name="Rectangle 206">
                  <a:extLst>
                    <a:ext uri="{FF2B5EF4-FFF2-40B4-BE49-F238E27FC236}">
                      <a16:creationId xmlns:a16="http://schemas.microsoft.com/office/drawing/2014/main" id="{AFFABD33-AE94-40FF-B10C-F5781C524F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49" name="Rectangle 207">
                  <a:extLst>
                    <a:ext uri="{FF2B5EF4-FFF2-40B4-BE49-F238E27FC236}">
                      <a16:creationId xmlns:a16="http://schemas.microsoft.com/office/drawing/2014/main" id="{23C7C421-0C27-496E-8BA0-188D961BB6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0" name="Rectangle 208">
                  <a:extLst>
                    <a:ext uri="{FF2B5EF4-FFF2-40B4-BE49-F238E27FC236}">
                      <a16:creationId xmlns:a16="http://schemas.microsoft.com/office/drawing/2014/main" id="{A1554DA4-F69A-4675-844A-8B8D64EA3A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1" name="Rectangle 209">
                  <a:extLst>
                    <a:ext uri="{FF2B5EF4-FFF2-40B4-BE49-F238E27FC236}">
                      <a16:creationId xmlns:a16="http://schemas.microsoft.com/office/drawing/2014/main" id="{95078251-8410-4A3A-9507-244A01168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2" name="Rectangle 210">
                  <a:extLst>
                    <a:ext uri="{FF2B5EF4-FFF2-40B4-BE49-F238E27FC236}">
                      <a16:creationId xmlns:a16="http://schemas.microsoft.com/office/drawing/2014/main" id="{367EF7B4-D291-4DA5-B00F-0C9DABB8D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3" name="Rectangle 211">
                  <a:extLst>
                    <a:ext uri="{FF2B5EF4-FFF2-40B4-BE49-F238E27FC236}">
                      <a16:creationId xmlns:a16="http://schemas.microsoft.com/office/drawing/2014/main" id="{69746517-9ADA-48D1-9094-FA13C90EAD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4" name="Rectangle 212">
                  <a:extLst>
                    <a:ext uri="{FF2B5EF4-FFF2-40B4-BE49-F238E27FC236}">
                      <a16:creationId xmlns:a16="http://schemas.microsoft.com/office/drawing/2014/main" id="{06CC1895-71F4-4D38-AD3C-D7C21ECFC7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5" name="Rectangle 213">
                  <a:extLst>
                    <a:ext uri="{FF2B5EF4-FFF2-40B4-BE49-F238E27FC236}">
                      <a16:creationId xmlns:a16="http://schemas.microsoft.com/office/drawing/2014/main" id="{AB997F72-464C-4C45-A6AD-71B964656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6" name="Rectangle 214">
                  <a:extLst>
                    <a:ext uri="{FF2B5EF4-FFF2-40B4-BE49-F238E27FC236}">
                      <a16:creationId xmlns:a16="http://schemas.microsoft.com/office/drawing/2014/main" id="{F39357A3-B971-4271-B541-E9214745AB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57" name="Rectangle 215">
                  <a:extLst>
                    <a:ext uri="{FF2B5EF4-FFF2-40B4-BE49-F238E27FC236}">
                      <a16:creationId xmlns:a16="http://schemas.microsoft.com/office/drawing/2014/main" id="{F90D507A-A34D-4CBB-BDAD-29108256D8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</p:grpSp>
        <p:sp>
          <p:nvSpPr>
            <p:cNvPr id="79938" name="TextBox 253">
              <a:extLst>
                <a:ext uri="{FF2B5EF4-FFF2-40B4-BE49-F238E27FC236}">
                  <a16:creationId xmlns:a16="http://schemas.microsoft.com/office/drawing/2014/main" id="{AE5792E5-BEAB-48DF-9A3A-4E2B30BFB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335" y="4114800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Code</a:t>
              </a:r>
            </a:p>
          </p:txBody>
        </p:sp>
        <p:sp>
          <p:nvSpPr>
            <p:cNvPr id="79939" name="TextBox 305">
              <a:extLst>
                <a:ext uri="{FF2B5EF4-FFF2-40B4-BE49-F238E27FC236}">
                  <a16:creationId xmlns:a16="http://schemas.microsoft.com/office/drawing/2014/main" id="{9FD20B8B-C6BD-4343-838F-9105EC37B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9935" y="4114800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Data</a:t>
              </a:r>
            </a:p>
          </p:txBody>
        </p:sp>
      </p:grpSp>
      <p:grpSp>
        <p:nvGrpSpPr>
          <p:cNvPr id="79891" name="Group 309">
            <a:extLst>
              <a:ext uri="{FF2B5EF4-FFF2-40B4-BE49-F238E27FC236}">
                <a16:creationId xmlns:a16="http://schemas.microsoft.com/office/drawing/2014/main" id="{09C8974B-D0B9-42F1-9644-8AD8E55F1F1B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3733800"/>
            <a:ext cx="2514600" cy="609600"/>
            <a:chOff x="5524500" y="3962400"/>
            <a:chExt cx="2514600" cy="609600"/>
          </a:xfrm>
        </p:grpSpPr>
        <p:grpSp>
          <p:nvGrpSpPr>
            <p:cNvPr id="79900" name="Group 217">
              <a:extLst>
                <a:ext uri="{FF2B5EF4-FFF2-40B4-BE49-F238E27FC236}">
                  <a16:creationId xmlns:a16="http://schemas.microsoft.com/office/drawing/2014/main" id="{D5D1DF16-BBDB-4529-8F73-4C8FBDFD1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4500" y="3962400"/>
              <a:ext cx="2514600" cy="609600"/>
              <a:chOff x="1828800" y="4038600"/>
              <a:chExt cx="2514600" cy="609600"/>
            </a:xfrm>
          </p:grpSpPr>
          <p:grpSp>
            <p:nvGrpSpPr>
              <p:cNvPr id="79903" name="Group 218">
                <a:extLst>
                  <a:ext uri="{FF2B5EF4-FFF2-40B4-BE49-F238E27FC236}">
                    <a16:creationId xmlns:a16="http://schemas.microsoft.com/office/drawing/2014/main" id="{5F7A6D90-2D1E-4474-A17E-3CF7277C08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88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79921" name="Rectangle 236">
                  <a:extLst>
                    <a:ext uri="{FF2B5EF4-FFF2-40B4-BE49-F238E27FC236}">
                      <a16:creationId xmlns:a16="http://schemas.microsoft.com/office/drawing/2014/main" id="{F8711613-5612-4F24-A73A-87A3E74B16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2" name="Rectangle 237">
                  <a:extLst>
                    <a:ext uri="{FF2B5EF4-FFF2-40B4-BE49-F238E27FC236}">
                      <a16:creationId xmlns:a16="http://schemas.microsoft.com/office/drawing/2014/main" id="{4DA0EEBD-D422-4BB8-B4A0-0FA06FE5C7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3" name="Rectangle 238">
                  <a:extLst>
                    <a:ext uri="{FF2B5EF4-FFF2-40B4-BE49-F238E27FC236}">
                      <a16:creationId xmlns:a16="http://schemas.microsoft.com/office/drawing/2014/main" id="{014E34BD-C08F-490E-8431-2A03446A75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4" name="Rectangle 239">
                  <a:extLst>
                    <a:ext uri="{FF2B5EF4-FFF2-40B4-BE49-F238E27FC236}">
                      <a16:creationId xmlns:a16="http://schemas.microsoft.com/office/drawing/2014/main" id="{C6078C6C-2738-4327-999E-C4AE8DDCD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5" name="Rectangle 240">
                  <a:extLst>
                    <a:ext uri="{FF2B5EF4-FFF2-40B4-BE49-F238E27FC236}">
                      <a16:creationId xmlns:a16="http://schemas.microsoft.com/office/drawing/2014/main" id="{15D9CCAB-00D8-4F0F-AA67-71B41AB816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6" name="Rectangle 241">
                  <a:extLst>
                    <a:ext uri="{FF2B5EF4-FFF2-40B4-BE49-F238E27FC236}">
                      <a16:creationId xmlns:a16="http://schemas.microsoft.com/office/drawing/2014/main" id="{3917C261-70A3-4F41-B599-37122D884A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7" name="Rectangle 242">
                  <a:extLst>
                    <a:ext uri="{FF2B5EF4-FFF2-40B4-BE49-F238E27FC236}">
                      <a16:creationId xmlns:a16="http://schemas.microsoft.com/office/drawing/2014/main" id="{C4CD608C-B091-4BF4-90ED-047ED374A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8" name="Rectangle 243">
                  <a:extLst>
                    <a:ext uri="{FF2B5EF4-FFF2-40B4-BE49-F238E27FC236}">
                      <a16:creationId xmlns:a16="http://schemas.microsoft.com/office/drawing/2014/main" id="{B6B6333B-76AC-4F48-8B09-D3EC24B063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9" name="Rectangle 244">
                  <a:extLst>
                    <a:ext uri="{FF2B5EF4-FFF2-40B4-BE49-F238E27FC236}">
                      <a16:creationId xmlns:a16="http://schemas.microsoft.com/office/drawing/2014/main" id="{C8D97665-E8AE-4423-9508-52C07E156C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30" name="Rectangle 245">
                  <a:extLst>
                    <a:ext uri="{FF2B5EF4-FFF2-40B4-BE49-F238E27FC236}">
                      <a16:creationId xmlns:a16="http://schemas.microsoft.com/office/drawing/2014/main" id="{C1BB57B7-11A4-4ECD-8DD8-3DF2C6588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31" name="Rectangle 246">
                  <a:extLst>
                    <a:ext uri="{FF2B5EF4-FFF2-40B4-BE49-F238E27FC236}">
                      <a16:creationId xmlns:a16="http://schemas.microsoft.com/office/drawing/2014/main" id="{1AC0E8AB-FB24-49AD-A907-95597468AE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32" name="Rectangle 247">
                  <a:extLst>
                    <a:ext uri="{FF2B5EF4-FFF2-40B4-BE49-F238E27FC236}">
                      <a16:creationId xmlns:a16="http://schemas.microsoft.com/office/drawing/2014/main" id="{E442054B-FD40-4220-A40C-F3566FE53E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33" name="Rectangle 248">
                  <a:extLst>
                    <a:ext uri="{FF2B5EF4-FFF2-40B4-BE49-F238E27FC236}">
                      <a16:creationId xmlns:a16="http://schemas.microsoft.com/office/drawing/2014/main" id="{C5673582-3DD2-499C-B0B3-BC9593DB06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34" name="Rectangle 249">
                  <a:extLst>
                    <a:ext uri="{FF2B5EF4-FFF2-40B4-BE49-F238E27FC236}">
                      <a16:creationId xmlns:a16="http://schemas.microsoft.com/office/drawing/2014/main" id="{B9F210AC-CB0A-4089-99EC-DB609A3AA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35" name="Rectangle 250">
                  <a:extLst>
                    <a:ext uri="{FF2B5EF4-FFF2-40B4-BE49-F238E27FC236}">
                      <a16:creationId xmlns:a16="http://schemas.microsoft.com/office/drawing/2014/main" id="{173A5D25-1E80-4C40-B809-2B82DF574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36" name="Rectangle 251">
                  <a:extLst>
                    <a:ext uri="{FF2B5EF4-FFF2-40B4-BE49-F238E27FC236}">
                      <a16:creationId xmlns:a16="http://schemas.microsoft.com/office/drawing/2014/main" id="{75C93F21-80C9-4817-8289-D26439232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79904" name="Group 219">
                <a:extLst>
                  <a:ext uri="{FF2B5EF4-FFF2-40B4-BE49-F238E27FC236}">
                    <a16:creationId xmlns:a16="http://schemas.microsoft.com/office/drawing/2014/main" id="{9236D1BF-9376-455D-B20C-06E5331003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04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79905" name="Rectangle 220">
                  <a:extLst>
                    <a:ext uri="{FF2B5EF4-FFF2-40B4-BE49-F238E27FC236}">
                      <a16:creationId xmlns:a16="http://schemas.microsoft.com/office/drawing/2014/main" id="{6EB506F6-9138-4EF8-8B2B-379B9D91F0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06" name="Rectangle 221">
                  <a:extLst>
                    <a:ext uri="{FF2B5EF4-FFF2-40B4-BE49-F238E27FC236}">
                      <a16:creationId xmlns:a16="http://schemas.microsoft.com/office/drawing/2014/main" id="{2E20D860-644C-4032-99BC-40509150E8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07" name="Rectangle 222">
                  <a:extLst>
                    <a:ext uri="{FF2B5EF4-FFF2-40B4-BE49-F238E27FC236}">
                      <a16:creationId xmlns:a16="http://schemas.microsoft.com/office/drawing/2014/main" id="{FB790D9C-D01A-4BEA-9449-4176C97C4D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08" name="Rectangle 223">
                  <a:extLst>
                    <a:ext uri="{FF2B5EF4-FFF2-40B4-BE49-F238E27FC236}">
                      <a16:creationId xmlns:a16="http://schemas.microsoft.com/office/drawing/2014/main" id="{2C3E29E4-074D-4B5C-BF31-36879AA98F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09" name="Rectangle 224">
                  <a:extLst>
                    <a:ext uri="{FF2B5EF4-FFF2-40B4-BE49-F238E27FC236}">
                      <a16:creationId xmlns:a16="http://schemas.microsoft.com/office/drawing/2014/main" id="{D3E999EE-0A24-4887-B93C-58D650995F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0" name="Rectangle 225">
                  <a:extLst>
                    <a:ext uri="{FF2B5EF4-FFF2-40B4-BE49-F238E27FC236}">
                      <a16:creationId xmlns:a16="http://schemas.microsoft.com/office/drawing/2014/main" id="{8BDA0C2A-D6EE-429D-AAAB-0939EA95E5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1" name="Rectangle 226">
                  <a:extLst>
                    <a:ext uri="{FF2B5EF4-FFF2-40B4-BE49-F238E27FC236}">
                      <a16:creationId xmlns:a16="http://schemas.microsoft.com/office/drawing/2014/main" id="{E0609A39-8C1B-4864-98D2-7003C00AC2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2" name="Rectangle 227">
                  <a:extLst>
                    <a:ext uri="{FF2B5EF4-FFF2-40B4-BE49-F238E27FC236}">
                      <a16:creationId xmlns:a16="http://schemas.microsoft.com/office/drawing/2014/main" id="{D5DA73EE-E5B2-4000-A749-6F730AE2A5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3" name="Rectangle 228">
                  <a:extLst>
                    <a:ext uri="{FF2B5EF4-FFF2-40B4-BE49-F238E27FC236}">
                      <a16:creationId xmlns:a16="http://schemas.microsoft.com/office/drawing/2014/main" id="{039BE722-C9BD-480A-8A14-75BED97928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4" name="Rectangle 229">
                  <a:extLst>
                    <a:ext uri="{FF2B5EF4-FFF2-40B4-BE49-F238E27FC236}">
                      <a16:creationId xmlns:a16="http://schemas.microsoft.com/office/drawing/2014/main" id="{1A129496-F843-4EBD-8B24-D9A59FD252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5" name="Rectangle 230">
                  <a:extLst>
                    <a:ext uri="{FF2B5EF4-FFF2-40B4-BE49-F238E27FC236}">
                      <a16:creationId xmlns:a16="http://schemas.microsoft.com/office/drawing/2014/main" id="{7DE7EE11-44DD-4BF8-A5E0-3129B51972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6" name="Rectangle 231">
                  <a:extLst>
                    <a:ext uri="{FF2B5EF4-FFF2-40B4-BE49-F238E27FC236}">
                      <a16:creationId xmlns:a16="http://schemas.microsoft.com/office/drawing/2014/main" id="{0D7FA561-A6B3-493B-A02A-95CC1AEEA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7" name="Rectangle 232">
                  <a:extLst>
                    <a:ext uri="{FF2B5EF4-FFF2-40B4-BE49-F238E27FC236}">
                      <a16:creationId xmlns:a16="http://schemas.microsoft.com/office/drawing/2014/main" id="{7C84C94C-9BE7-422A-B22C-C2789CBB3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8" name="Rectangle 233">
                  <a:extLst>
                    <a:ext uri="{FF2B5EF4-FFF2-40B4-BE49-F238E27FC236}">
                      <a16:creationId xmlns:a16="http://schemas.microsoft.com/office/drawing/2014/main" id="{7AA432E4-4F5E-4E63-A26F-1CCEBA959D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19" name="Rectangle 234">
                  <a:extLst>
                    <a:ext uri="{FF2B5EF4-FFF2-40B4-BE49-F238E27FC236}">
                      <a16:creationId xmlns:a16="http://schemas.microsoft.com/office/drawing/2014/main" id="{0615EBB9-23B5-4512-9A12-9EE3CACB79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9920" name="Rectangle 235">
                  <a:extLst>
                    <a:ext uri="{FF2B5EF4-FFF2-40B4-BE49-F238E27FC236}">
                      <a16:creationId xmlns:a16="http://schemas.microsoft.com/office/drawing/2014/main" id="{25B216C3-AC0C-46E7-899F-1A4A8B824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</p:grpSp>
        <p:sp>
          <p:nvSpPr>
            <p:cNvPr id="79901" name="TextBox 306">
              <a:extLst>
                <a:ext uri="{FF2B5EF4-FFF2-40B4-BE49-F238E27FC236}">
                  <a16:creationId xmlns:a16="http://schemas.microsoft.com/office/drawing/2014/main" id="{2530EA9C-2045-4F63-A4A9-979219132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3535" y="4125667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Code</a:t>
              </a:r>
            </a:p>
          </p:txBody>
        </p:sp>
        <p:sp>
          <p:nvSpPr>
            <p:cNvPr id="79902" name="TextBox 307">
              <a:extLst>
                <a:ext uri="{FF2B5EF4-FFF2-40B4-BE49-F238E27FC236}">
                  <a16:creationId xmlns:a16="http://schemas.microsoft.com/office/drawing/2014/main" id="{E0B01D5D-D759-46D0-A498-576327B67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5135" y="4125667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Data</a:t>
              </a:r>
            </a:p>
          </p:txBody>
        </p:sp>
      </p:grpSp>
      <p:cxnSp>
        <p:nvCxnSpPr>
          <p:cNvPr id="79892" name="Curved Connector 311">
            <a:extLst>
              <a:ext uri="{FF2B5EF4-FFF2-40B4-BE49-F238E27FC236}">
                <a16:creationId xmlns:a16="http://schemas.microsoft.com/office/drawing/2014/main" id="{5CC2DC84-584E-4F6B-A8B4-183F878F139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495550" y="4286250"/>
            <a:ext cx="533400" cy="6477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93" name="Curved Connector 313">
            <a:extLst>
              <a:ext uri="{FF2B5EF4-FFF2-40B4-BE49-F238E27FC236}">
                <a16:creationId xmlns:a16="http://schemas.microsoft.com/office/drawing/2014/main" id="{FB4C4D49-9C3F-44C1-B122-21480D38D58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181350" y="4248150"/>
            <a:ext cx="533400" cy="7239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94" name="Curved Connector 315">
            <a:extLst>
              <a:ext uri="{FF2B5EF4-FFF2-40B4-BE49-F238E27FC236}">
                <a16:creationId xmlns:a16="http://schemas.microsoft.com/office/drawing/2014/main" id="{1C8625D4-BBBB-4D2F-81C2-6580EA769209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038850" y="4248150"/>
            <a:ext cx="533400" cy="7239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95" name="Curved Connector 317">
            <a:extLst>
              <a:ext uri="{FF2B5EF4-FFF2-40B4-BE49-F238E27FC236}">
                <a16:creationId xmlns:a16="http://schemas.microsoft.com/office/drawing/2014/main" id="{3953FC67-3B86-4D14-AC03-FBF70564236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724650" y="4286250"/>
            <a:ext cx="533400" cy="6477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3729EDBB-5A4D-4855-811B-BB30DE731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52400"/>
            <a:ext cx="1752600" cy="738188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Most systems now include L3 caches. L4 is on its way.</a:t>
            </a:r>
          </a:p>
        </p:txBody>
      </p:sp>
      <p:grpSp>
        <p:nvGrpSpPr>
          <p:cNvPr id="16" name="Group 322">
            <a:extLst>
              <a:ext uri="{FF2B5EF4-FFF2-40B4-BE49-F238E27FC236}">
                <a16:creationId xmlns:a16="http://schemas.microsoft.com/office/drawing/2014/main" id="{9035D495-1940-423B-9DEE-3BDD3BE4808B}"/>
              </a:ext>
            </a:extLst>
          </p:cNvPr>
          <p:cNvGrpSpPr>
            <a:grpSpLocks/>
          </p:cNvGrpSpPr>
          <p:nvPr/>
        </p:nvGrpSpPr>
        <p:grpSpPr bwMode="auto">
          <a:xfrm>
            <a:off x="2336800" y="2590800"/>
            <a:ext cx="6654800" cy="4010025"/>
            <a:chOff x="2362201" y="2667000"/>
            <a:chExt cx="6654800" cy="4010851"/>
          </a:xfrm>
        </p:grpSpPr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248C914E-61A9-46DA-985E-28BD5E26636F}"/>
                </a:ext>
              </a:extLst>
            </p:cNvPr>
            <p:cNvSpPr txBox="1"/>
            <p:nvPr/>
          </p:nvSpPr>
          <p:spPr>
            <a:xfrm>
              <a:off x="7340601" y="2667000"/>
              <a:ext cx="1676400" cy="1041615"/>
            </a:xfrm>
            <a:prstGeom prst="rect">
              <a:avLst/>
            </a:prstGeom>
            <a:solidFill>
              <a:srgbClr val="BFBFBF"/>
            </a:solidFill>
            <a:ln>
              <a:solidFill>
                <a:srgbClr val="7F7F7F"/>
              </a:solidFill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ts val="400"/>
                </a:spcBef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Caches can use physical or virtual addresses</a:t>
              </a:r>
            </a:p>
            <a:p>
              <a:pPr eaLnBrk="0" hangingPunct="0">
                <a:spcBef>
                  <a:spcPts val="400"/>
                </a:spcBef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Caches can be inclusive or exclusive</a:t>
              </a:r>
            </a:p>
            <a:p>
              <a:pPr eaLnBrk="0" hangingPunct="0">
                <a:spcBef>
                  <a:spcPts val="400"/>
                </a:spcBef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Caches can be shared</a:t>
              </a:r>
            </a:p>
          </p:txBody>
        </p:sp>
        <p:sp>
          <p:nvSpPr>
            <p:cNvPr id="46110" name="TextBox 321">
              <a:extLst>
                <a:ext uri="{FF2B5EF4-FFF2-40B4-BE49-F238E27FC236}">
                  <a16:creationId xmlns:a16="http://schemas.microsoft.com/office/drawing/2014/main" id="{37697D6C-E9FB-4BFF-8102-2EFF6AD07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1" y="6401569"/>
              <a:ext cx="4445000" cy="276282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7F7F7F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2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Cache structure matters for performance, not correctness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Footer Placeholder 1">
            <a:extLst>
              <a:ext uri="{FF2B5EF4-FFF2-40B4-BE49-F238E27FC236}">
                <a16:creationId xmlns:a16="http://schemas.microsoft.com/office/drawing/2014/main" id="{118DF0FA-BC60-4892-BF39-21A0CC7F95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1922" name="Slide Number Placeholder 2">
            <a:extLst>
              <a:ext uri="{FF2B5EF4-FFF2-40B4-BE49-F238E27FC236}">
                <a16:creationId xmlns:a16="http://schemas.microsoft.com/office/drawing/2014/main" id="{4443A593-E728-49A2-8745-8F3636BE4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25F170F-E03F-4B5D-B566-39809DF2EE2A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B71A499-5F28-4985-B0AD-5C1B99D36F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Where Do Local Variables Live?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3E4A090-BF46-4A2A-BD16-7CC587F79D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 Simplistic model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Allocate a data area for each distinct scope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One data area per “sheaf” in scoped table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about recursion?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Need a data area per invocation (or activation) of a scope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We call this the scope’s </a:t>
            </a:r>
            <a:r>
              <a:rPr lang="en-US" altLang="it-IT">
                <a:solidFill>
                  <a:srgbClr val="FF0065"/>
                </a:solidFill>
              </a:rPr>
              <a:t>activation record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The compiler can also store control information there</a:t>
            </a:r>
            <a:r>
              <a:rPr lang="en-US" altLang="it-IT" sz="900"/>
              <a:t> </a:t>
            </a:r>
            <a:r>
              <a:rPr lang="en-US" altLang="it-IT"/>
              <a:t>!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More complex scheme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One </a:t>
            </a:r>
            <a:r>
              <a:rPr lang="en-US" altLang="it-IT">
                <a:solidFill>
                  <a:srgbClr val="FF0065"/>
                </a:solidFill>
              </a:rPr>
              <a:t>activation record</a:t>
            </a:r>
            <a:r>
              <a:rPr lang="en-US" altLang="it-IT">
                <a:solidFill>
                  <a:srgbClr val="003C75"/>
                </a:solidFill>
              </a:rPr>
              <a:t> </a:t>
            </a:r>
            <a:r>
              <a:rPr lang="en-US" altLang="it-IT"/>
              <a:t>(</a:t>
            </a:r>
            <a:r>
              <a:rPr lang="en-US" altLang="it-IT" sz="1800">
                <a:solidFill>
                  <a:srgbClr val="FF0065"/>
                </a:solidFill>
              </a:rPr>
              <a:t>AR</a:t>
            </a:r>
            <a:r>
              <a:rPr lang="en-US" altLang="it-IT"/>
              <a:t>) per </a:t>
            </a:r>
            <a:r>
              <a:rPr lang="en-US" altLang="it-IT">
                <a:solidFill>
                  <a:srgbClr val="FF0065"/>
                </a:solidFill>
              </a:rPr>
              <a:t>procedure instance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All the procedure’s scopes share a single </a:t>
            </a:r>
            <a:r>
              <a:rPr lang="en-US" altLang="it-IT" sz="1800"/>
              <a:t>AR</a:t>
            </a:r>
            <a:r>
              <a:rPr lang="en-US" altLang="it-IT"/>
              <a:t> </a:t>
            </a:r>
            <a:r>
              <a:rPr lang="en-US" altLang="it-IT" sz="1800" i="1"/>
              <a:t>(may share space)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Static relationship between scopes in single procedure </a:t>
            </a:r>
          </a:p>
        </p:txBody>
      </p:sp>
      <p:sp>
        <p:nvSpPr>
          <p:cNvPr id="57348" name="AutoShape 4">
            <a:extLst>
              <a:ext uri="{FF2B5EF4-FFF2-40B4-BE49-F238E27FC236}">
                <a16:creationId xmlns:a16="http://schemas.microsoft.com/office/drawing/2014/main" id="{3C5A3699-3593-4177-8CB4-FBE75249B596}"/>
              </a:ext>
            </a:extLst>
          </p:cNvPr>
          <p:cNvSpPr>
            <a:spLocks/>
          </p:cNvSpPr>
          <p:nvPr/>
        </p:nvSpPr>
        <p:spPr bwMode="auto">
          <a:xfrm>
            <a:off x="3352800" y="5921375"/>
            <a:ext cx="4724400" cy="631825"/>
          </a:xfrm>
          <a:prstGeom prst="accentBorderCallout1">
            <a:avLst>
              <a:gd name="adj1" fmla="val 18366"/>
              <a:gd name="adj2" fmla="val -1611"/>
              <a:gd name="adj3" fmla="val -105611"/>
              <a:gd name="adj4" fmla="val -31551"/>
            </a:avLst>
          </a:prstGeom>
          <a:noFill/>
          <a:ln w="19050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it-IT">
                <a:solidFill>
                  <a:srgbClr val="FF0065"/>
                </a:solidFill>
              </a:rPr>
              <a:t>Used this way, “static” means knowable at </a:t>
            </a:r>
            <a:r>
              <a:rPr lang="en-US" altLang="it-IT" i="1" u="sng">
                <a:solidFill>
                  <a:srgbClr val="FF0065"/>
                </a:solidFill>
              </a:rPr>
              <a:t>compile time</a:t>
            </a:r>
            <a:r>
              <a:rPr lang="en-US" altLang="it-IT" sz="1000">
                <a:solidFill>
                  <a:srgbClr val="FF0065"/>
                </a:solidFill>
              </a:rPr>
              <a:t>  </a:t>
            </a:r>
            <a:r>
              <a:rPr lang="en-US" altLang="it-IT">
                <a:solidFill>
                  <a:srgbClr val="FF0065"/>
                </a:solidFill>
              </a:rPr>
              <a:t>(and, therefore, fixed).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Footer Placeholder 1">
            <a:extLst>
              <a:ext uri="{FF2B5EF4-FFF2-40B4-BE49-F238E27FC236}">
                <a16:creationId xmlns:a16="http://schemas.microsoft.com/office/drawing/2014/main" id="{7C7C93C9-A12E-43CE-A31B-16B1900428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3970" name="Slide Number Placeholder 2">
            <a:extLst>
              <a:ext uri="{FF2B5EF4-FFF2-40B4-BE49-F238E27FC236}">
                <a16:creationId xmlns:a16="http://schemas.microsoft.com/office/drawing/2014/main" id="{C73C5D71-1017-4071-9B76-409165C21F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4411451-69A2-4AB7-A11F-B6BA52995488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A95A966-08B0-4507-95DE-CB4791E5C9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Translating Local Names 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FB06DD39-81DD-4F67-AF2A-6CFED656215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/>
              <a:t>How does the compiler represent a specific instance of </a:t>
            </a:r>
            <a:r>
              <a:rPr lang="en-US" altLang="it-IT" i="1"/>
              <a:t>x</a:t>
            </a:r>
            <a:r>
              <a:rPr lang="en-US" altLang="it-IT"/>
              <a:t> ?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Name is translated into a </a:t>
            </a:r>
            <a:r>
              <a:rPr lang="en-US" altLang="it-IT" i="1">
                <a:solidFill>
                  <a:srgbClr val="003C75"/>
                </a:solidFill>
              </a:rPr>
              <a:t>static coordinate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&lt;</a:t>
            </a:r>
            <a:r>
              <a:rPr lang="en-US" altLang="it-IT" sz="800">
                <a:solidFill>
                  <a:srgbClr val="003C75"/>
                </a:solidFill>
              </a:rPr>
              <a:t> </a:t>
            </a:r>
            <a:r>
              <a:rPr lang="en-US" altLang="it-IT" i="1">
                <a:solidFill>
                  <a:srgbClr val="003C75"/>
                </a:solidFill>
              </a:rPr>
              <a:t>level,offset</a:t>
            </a:r>
            <a:r>
              <a:rPr lang="en-US" altLang="it-IT" sz="900" i="1">
                <a:solidFill>
                  <a:srgbClr val="003C75"/>
                </a:solidFill>
              </a:rPr>
              <a:t> </a:t>
            </a:r>
            <a:r>
              <a:rPr lang="en-US" altLang="it-IT" sz="1600">
                <a:solidFill>
                  <a:srgbClr val="003C75"/>
                </a:solidFill>
              </a:rPr>
              <a:t>&gt;</a:t>
            </a:r>
            <a:r>
              <a:rPr lang="en-US" altLang="it-IT">
                <a:solidFill>
                  <a:srgbClr val="003C75"/>
                </a:solidFill>
              </a:rPr>
              <a:t> </a:t>
            </a:r>
            <a:r>
              <a:rPr lang="en-US" altLang="it-IT"/>
              <a:t>pair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003C75"/>
                </a:solidFill>
              </a:rPr>
              <a:t>level</a:t>
            </a:r>
            <a:r>
              <a:rPr lang="en-US" altLang="it-IT" i="1"/>
              <a:t>” </a:t>
            </a:r>
            <a:r>
              <a:rPr lang="en-US" altLang="it-IT"/>
              <a:t>is lexical nesting level of the procedure</a:t>
            </a:r>
            <a:endParaRPr lang="en-US" altLang="it-IT" i="1"/>
          </a:p>
          <a:p>
            <a:pPr lvl="1" eaLnBrk="1" hangingPunct="1">
              <a:spcBef>
                <a:spcPct val="150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003C75"/>
                </a:solidFill>
              </a:rPr>
              <a:t>offset</a:t>
            </a:r>
            <a:r>
              <a:rPr lang="en-US" altLang="it-IT" i="1"/>
              <a:t>” </a:t>
            </a:r>
            <a:r>
              <a:rPr lang="en-US" altLang="it-IT"/>
              <a:t>is</a:t>
            </a:r>
            <a:r>
              <a:rPr lang="en-US" altLang="it-IT" i="1"/>
              <a:t> unique </a:t>
            </a:r>
            <a:r>
              <a:rPr lang="en-US" altLang="it-IT"/>
              <a:t>within that scope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Subsequent code will use the static coordinate to generate addresses and references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003C75"/>
                </a:solidFill>
              </a:rPr>
              <a:t>level</a:t>
            </a:r>
            <a:r>
              <a:rPr lang="en-US" altLang="it-IT" i="1"/>
              <a:t>” </a:t>
            </a:r>
            <a:r>
              <a:rPr lang="en-US" altLang="it-IT"/>
              <a:t>is a function of the table in which </a:t>
            </a:r>
            <a:r>
              <a:rPr lang="en-US" altLang="it-IT" i="1"/>
              <a:t>x</a:t>
            </a:r>
            <a:r>
              <a:rPr lang="en-US" altLang="it-IT"/>
              <a:t> is found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Stored in the entry for each </a:t>
            </a:r>
            <a:r>
              <a:rPr lang="en-US" altLang="it-IT" i="1"/>
              <a:t>x</a:t>
            </a:r>
            <a:endParaRPr lang="en-US" altLang="it-IT"/>
          </a:p>
          <a:p>
            <a:pPr eaLnBrk="1" hangingPunct="1">
              <a:spcBef>
                <a:spcPct val="300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003C75"/>
                </a:solidFill>
              </a:rPr>
              <a:t>offset</a:t>
            </a:r>
            <a:r>
              <a:rPr lang="en-US" altLang="it-IT" i="1"/>
              <a:t>” </a:t>
            </a:r>
            <a:r>
              <a:rPr lang="en-US" altLang="it-IT"/>
              <a:t>must be assigned and stored in the symbol table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Assigned at </a:t>
            </a:r>
            <a:r>
              <a:rPr lang="en-US" altLang="it-IT" i="1" u="sng"/>
              <a:t>compile time</a:t>
            </a:r>
            <a:endParaRPr lang="en-US" altLang="it-IT"/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Known at </a:t>
            </a:r>
            <a:r>
              <a:rPr lang="en-US" altLang="it-IT" i="1" u="sng"/>
              <a:t>compile time</a:t>
            </a:r>
            <a:endParaRPr lang="en-US" altLang="it-IT"/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Used to generate code that </a:t>
            </a:r>
            <a:r>
              <a:rPr lang="en-US" altLang="it-IT" i="1" u="sng"/>
              <a:t>executes</a:t>
            </a:r>
            <a:r>
              <a:rPr lang="en-US" altLang="it-IT"/>
              <a:t> at </a:t>
            </a:r>
            <a:r>
              <a:rPr lang="en-US" altLang="it-IT" i="1" u="sng"/>
              <a:t>run-time</a:t>
            </a:r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oter Placeholder 3">
            <a:extLst>
              <a:ext uri="{FF2B5EF4-FFF2-40B4-BE49-F238E27FC236}">
                <a16:creationId xmlns:a16="http://schemas.microsoft.com/office/drawing/2014/main" id="{003B6B32-A9DB-475B-A92F-80B5115D9A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6018" name="Slide Number Placeholder 4">
            <a:extLst>
              <a:ext uri="{FF2B5EF4-FFF2-40B4-BE49-F238E27FC236}">
                <a16:creationId xmlns:a16="http://schemas.microsoft.com/office/drawing/2014/main" id="{4D102AA4-13A7-41F8-9992-0FC056C498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499EABF-4C59-4538-944E-E32FB92A147B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9AB16293-CE04-47E3-9BAC-727AA66DD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Storage for Blocks within a Single Procedure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B4C6AFCD-1DE0-480E-9347-B5364ADC0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05200" y="1270000"/>
            <a:ext cx="4964113" cy="4876800"/>
          </a:xfrm>
          <a:solidFill>
            <a:srgbClr val="FFFFFF"/>
          </a:solidFill>
          <a:ln w="19050" cap="flat" algn="ctr">
            <a:solidFill>
              <a:srgbClr val="7F7F7F"/>
            </a:solidFill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marL="3175" indent="4763" eaLnBrk="1" hangingPunct="1">
              <a:spcBef>
                <a:spcPct val="0"/>
              </a:spcBef>
              <a:buFont typeface="Times" charset="0"/>
              <a:buNone/>
              <a:defRPr/>
            </a:pPr>
            <a:r>
              <a:rPr lang="en-US" sz="1800" dirty="0"/>
              <a:t>Fixed length data can always be at a constant offset from the beginning of a procedure</a:t>
            </a:r>
          </a:p>
          <a:p>
            <a:pPr marL="396875" lvl="1" eaLnBrk="1" hangingPunct="1">
              <a:spcBef>
                <a:spcPct val="15000"/>
              </a:spcBef>
              <a:defRPr/>
            </a:pPr>
            <a:r>
              <a:rPr lang="en-US" sz="1600" dirty="0"/>
              <a:t>In our example, the </a:t>
            </a:r>
            <a:r>
              <a:rPr lang="en-US" sz="1600" i="1" dirty="0">
                <a:solidFill>
                  <a:srgbClr val="003C75"/>
                </a:solidFill>
              </a:rPr>
              <a:t>a</a:t>
            </a:r>
            <a:r>
              <a:rPr lang="en-US" sz="1600" dirty="0"/>
              <a:t> declared at </a:t>
            </a:r>
            <a:r>
              <a:rPr lang="en-US" sz="1600" dirty="0">
                <a:solidFill>
                  <a:srgbClr val="FF0065"/>
                </a:solidFill>
              </a:rPr>
              <a:t>level 0</a:t>
            </a:r>
            <a:r>
              <a:rPr lang="en-US" sz="1600" dirty="0"/>
              <a:t> will always be the first data element, stored at byte 0 in the fixed-length data area</a:t>
            </a:r>
          </a:p>
          <a:p>
            <a:pPr marL="396875" lvl="1" eaLnBrk="1" hangingPunct="1">
              <a:spcBef>
                <a:spcPct val="15000"/>
              </a:spcBef>
              <a:defRPr/>
            </a:pPr>
            <a:r>
              <a:rPr lang="en-US" sz="1600" dirty="0"/>
              <a:t>The </a:t>
            </a:r>
            <a:r>
              <a:rPr lang="en-US" sz="1600" i="1" dirty="0" err="1">
                <a:solidFill>
                  <a:srgbClr val="FF0065"/>
                </a:solidFill>
              </a:rPr>
              <a:t>x</a:t>
            </a:r>
            <a:r>
              <a:rPr lang="en-US" sz="1600" dirty="0"/>
              <a:t> declared at </a:t>
            </a:r>
            <a:r>
              <a:rPr lang="en-US" sz="1600" dirty="0">
                <a:solidFill>
                  <a:srgbClr val="FF0065"/>
                </a:solidFill>
              </a:rPr>
              <a:t>level 1</a:t>
            </a:r>
            <a:r>
              <a:rPr lang="en-US" sz="1600" dirty="0"/>
              <a:t> will always be the sixth data item, stored at byte 20 in the fixed data area</a:t>
            </a:r>
          </a:p>
          <a:p>
            <a:pPr marL="396875" lvl="1" eaLnBrk="1" hangingPunct="1">
              <a:spcBef>
                <a:spcPct val="15000"/>
              </a:spcBef>
              <a:defRPr/>
            </a:pPr>
            <a:r>
              <a:rPr lang="en-US" sz="1600" dirty="0"/>
              <a:t>The </a:t>
            </a:r>
            <a:r>
              <a:rPr lang="en-US" sz="1600" i="1" dirty="0" err="1">
                <a:solidFill>
                  <a:srgbClr val="FF0065"/>
                </a:solidFill>
              </a:rPr>
              <a:t>x</a:t>
            </a:r>
            <a:r>
              <a:rPr lang="en-US" sz="1600" dirty="0"/>
              <a:t> declared at </a:t>
            </a:r>
            <a:r>
              <a:rPr lang="en-US" sz="1600" dirty="0">
                <a:solidFill>
                  <a:srgbClr val="FF0065"/>
                </a:solidFill>
              </a:rPr>
              <a:t>level 2</a:t>
            </a:r>
            <a:r>
              <a:rPr lang="en-US" sz="1600" dirty="0"/>
              <a:t> will always be the eighth data item, stored at byte 28 in the fixed data area</a:t>
            </a:r>
          </a:p>
          <a:p>
            <a:pPr marL="396875" lvl="1" eaLnBrk="1" hangingPunct="1">
              <a:spcBef>
                <a:spcPct val="15000"/>
              </a:spcBef>
              <a:defRPr/>
            </a:pPr>
            <a:r>
              <a:rPr lang="en-US" sz="1600" dirty="0"/>
              <a:t>But what about the </a:t>
            </a:r>
            <a:r>
              <a:rPr lang="en-US" sz="1600" dirty="0">
                <a:solidFill>
                  <a:srgbClr val="003C75"/>
                </a:solidFill>
              </a:rPr>
              <a:t>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declared in the second block at </a:t>
            </a:r>
            <a:r>
              <a:rPr lang="en-US" sz="1600" dirty="0">
                <a:solidFill>
                  <a:srgbClr val="FF0065"/>
                </a:solidFill>
              </a:rPr>
              <a:t>level 2</a:t>
            </a:r>
            <a:r>
              <a:rPr lang="en-US" sz="1600" dirty="0"/>
              <a:t>?</a:t>
            </a:r>
          </a:p>
          <a:p>
            <a:pPr lvl="1" eaLnBrk="1" hangingPunct="1">
              <a:defRPr/>
            </a:pPr>
            <a:endParaRPr lang="en-US" sz="1600" i="1" dirty="0"/>
          </a:p>
        </p:txBody>
      </p:sp>
      <p:sp>
        <p:nvSpPr>
          <p:cNvPr id="80902" name="Rectangle 4">
            <a:extLst>
              <a:ext uri="{FF2B5EF4-FFF2-40B4-BE49-F238E27FC236}">
                <a16:creationId xmlns:a16="http://schemas.microsoft.com/office/drawing/2014/main" id="{DD03FC81-BBB2-40D4-A574-A75D4EF4C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1244600"/>
            <a:ext cx="2736850" cy="48768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B0:	{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c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B1:		{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v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w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B2:			{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y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z</a:t>
            </a:r>
            <a:endParaRPr lang="en-US" sz="1600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	…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}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B3:			{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v</a:t>
            </a:r>
            <a:endParaRPr lang="en-US" sz="1600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	…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}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…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}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…</a:t>
            </a:r>
          </a:p>
          <a:p>
            <a:pPr defTabSz="225425" eaLnBrk="0" hangingPunct="0">
              <a:lnSpc>
                <a:spcPct val="90000"/>
              </a:lnSpc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}</a:t>
            </a: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Footer Placeholder 4">
            <a:extLst>
              <a:ext uri="{FF2B5EF4-FFF2-40B4-BE49-F238E27FC236}">
                <a16:creationId xmlns:a16="http://schemas.microsoft.com/office/drawing/2014/main" id="{A0550519-5217-4B13-ACCB-FFF1E72865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8066" name="Slide Number Placeholder 5">
            <a:extLst>
              <a:ext uri="{FF2B5EF4-FFF2-40B4-BE49-F238E27FC236}">
                <a16:creationId xmlns:a16="http://schemas.microsoft.com/office/drawing/2014/main" id="{6DA27116-E63D-410C-B868-52B4EE88B7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71992CD-09A8-40FF-90C3-15AB86F17476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0DEC6F0D-1DE0-4DAF-B533-FE11FA1F4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Variable-length Data</a:t>
            </a:r>
          </a:p>
        </p:txBody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C1B6EEB3-823A-4745-AC75-19CDB14916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81400" y="1249363"/>
            <a:ext cx="4876800" cy="3016250"/>
          </a:xfrm>
          <a:solidFill>
            <a:srgbClr val="FFFFFF"/>
          </a:solidFill>
          <a:ln w="19050" cap="flat" algn="ctr">
            <a:solidFill>
              <a:srgbClr val="7F7F7F"/>
            </a:solidFill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eaLnBrk="1" hangingPunct="1">
              <a:spcBef>
                <a:spcPts val="400"/>
              </a:spcBef>
              <a:buFont typeface="Times" charset="0"/>
              <a:buNone/>
              <a:defRPr/>
            </a:pPr>
            <a:r>
              <a:rPr lang="en-US" sz="1700" dirty="0"/>
              <a:t>Arrays</a:t>
            </a:r>
          </a:p>
          <a:p>
            <a:pPr eaLnBrk="1" hangingPunct="1">
              <a:spcBef>
                <a:spcPts val="400"/>
              </a:spcBef>
              <a:buSzPct val="90000"/>
              <a:buFont typeface="Symbol" charset="2"/>
              <a:buChar char="®"/>
              <a:defRPr/>
            </a:pPr>
            <a:r>
              <a:rPr lang="en-US" sz="1700" dirty="0"/>
              <a:t>If size is fixed at compile time, store in fixed-length data area</a:t>
            </a:r>
          </a:p>
          <a:p>
            <a:pPr eaLnBrk="1" hangingPunct="1">
              <a:spcBef>
                <a:spcPts val="400"/>
              </a:spcBef>
              <a:buSzPct val="90000"/>
              <a:buFont typeface="Symbol" charset="2"/>
              <a:buChar char="®"/>
              <a:defRPr/>
            </a:pPr>
            <a:r>
              <a:rPr lang="en-US" sz="1700" dirty="0"/>
              <a:t>If size is variable, store </a:t>
            </a:r>
            <a:r>
              <a:rPr lang="en-US" sz="1700" dirty="0">
                <a:solidFill>
                  <a:srgbClr val="FF0065"/>
                </a:solidFill>
              </a:rPr>
              <a:t>descriptor</a:t>
            </a:r>
            <a:r>
              <a:rPr lang="en-US" sz="1700" dirty="0"/>
              <a:t> in fixed length area, with pointer to variable length area</a:t>
            </a:r>
          </a:p>
          <a:p>
            <a:pPr eaLnBrk="1" hangingPunct="1">
              <a:spcBef>
                <a:spcPts val="400"/>
              </a:spcBef>
              <a:buSzPct val="90000"/>
              <a:buFont typeface="Symbol" charset="2"/>
              <a:buChar char="®"/>
              <a:defRPr/>
            </a:pPr>
            <a:r>
              <a:rPr lang="en-US" sz="1700" dirty="0">
                <a:solidFill>
                  <a:srgbClr val="FF0065"/>
                </a:solidFill>
              </a:rPr>
              <a:t>Variable-length data area</a:t>
            </a:r>
            <a:r>
              <a:rPr lang="en-US" sz="1700" dirty="0"/>
              <a:t> is assigned at the </a:t>
            </a:r>
            <a:r>
              <a:rPr lang="en-US" sz="1700" dirty="0">
                <a:solidFill>
                  <a:srgbClr val="FF0065"/>
                </a:solidFill>
              </a:rPr>
              <a:t>end of the fixed length area</a:t>
            </a:r>
            <a:r>
              <a:rPr lang="en-US" sz="1700" dirty="0"/>
              <a:t> for the block in which it is allocated (including all contained blocks)</a:t>
            </a:r>
          </a:p>
        </p:txBody>
      </p:sp>
      <p:sp>
        <p:nvSpPr>
          <p:cNvPr id="82950" name="Rectangle 4">
            <a:extLst>
              <a:ext uri="{FF2B5EF4-FFF2-40B4-BE49-F238E27FC236}">
                <a16:creationId xmlns:a16="http://schemas.microsoft.com/office/drawing/2014/main" id="{41DE9986-A66D-4182-9308-B6B510B89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1249363"/>
            <a:ext cx="2765425" cy="301783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B0: {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a,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endParaRPr lang="en-US" sz="1600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i="1" dirty="0">
                <a:solidFill>
                  <a:schemeClr val="accent2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			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…</a:t>
            </a: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			assign value to a</a:t>
            </a: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			…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B1:		{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v(a</a:t>
            </a:r>
            <a:r>
              <a:rPr lang="en-US" sz="1600" i="1" dirty="0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)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endParaRPr lang="en-US" sz="1600" i="1" dirty="0">
              <a:solidFill>
                <a:srgbClr val="FF0000"/>
              </a:solidFill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i="1" dirty="0">
                <a:solidFill>
                  <a:srgbClr val="FF0000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				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…</a:t>
            </a:r>
            <a:endParaRPr lang="en-US" sz="1600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B2:			{	</a:t>
            </a:r>
            <a:r>
              <a:rPr lang="en-US" sz="1600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 err="1"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600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y(8)</a:t>
            </a:r>
            <a:endParaRPr lang="en-US" sz="1600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	…</a:t>
            </a: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	}</a:t>
            </a: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	}</a:t>
            </a:r>
          </a:p>
          <a:p>
            <a:pPr defTabSz="231775" eaLnBrk="0" hangingPunct="0">
              <a:spcBef>
                <a:spcPct val="5000"/>
              </a:spcBef>
              <a:defRPr/>
            </a:pPr>
            <a:r>
              <a:rPr lang="en-US" sz="1600" dirty="0">
                <a:latin typeface="Geneva" charset="0"/>
                <a:ea typeface="ヒラギノ角ゴ Pro W3" charset="-128"/>
                <a:cs typeface="ヒラギノ角ゴ Pro W3" charset="-128"/>
              </a:rPr>
              <a:t>		}</a:t>
            </a:r>
          </a:p>
        </p:txBody>
      </p:sp>
      <p:sp>
        <p:nvSpPr>
          <p:cNvPr id="88070" name="Text Box 5">
            <a:extLst>
              <a:ext uri="{FF2B5EF4-FFF2-40B4-BE49-F238E27FC236}">
                <a16:creationId xmlns:a16="http://schemas.microsoft.com/office/drawing/2014/main" id="{27601969-54B8-4F02-A6AD-660FCA236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88071" name="Text Box 6">
            <a:extLst>
              <a:ext uri="{FF2B5EF4-FFF2-40B4-BE49-F238E27FC236}">
                <a16:creationId xmlns:a16="http://schemas.microsoft.com/office/drawing/2014/main" id="{134788BA-5B17-46A1-A8EB-E28BEE459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88072" name="Text Box 7">
            <a:extLst>
              <a:ext uri="{FF2B5EF4-FFF2-40B4-BE49-F238E27FC236}">
                <a16:creationId xmlns:a16="http://schemas.microsoft.com/office/drawing/2014/main" id="{215484A1-8668-4045-9289-3F312B7E6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v</a:t>
            </a:r>
          </a:p>
        </p:txBody>
      </p:sp>
      <p:sp>
        <p:nvSpPr>
          <p:cNvPr id="88073" name="Text Box 8">
            <a:extLst>
              <a:ext uri="{FF2B5EF4-FFF2-40B4-BE49-F238E27FC236}">
                <a16:creationId xmlns:a16="http://schemas.microsoft.com/office/drawing/2014/main" id="{7A44888B-6589-4583-BEA6-FE1F59B55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538" y="51054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88074" name="Rectangle 9">
            <a:extLst>
              <a:ext uri="{FF2B5EF4-FFF2-40B4-BE49-F238E27FC236}">
                <a16:creationId xmlns:a16="http://schemas.microsoft.com/office/drawing/2014/main" id="{D78DE790-EA88-4907-9A18-D77579DE1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648200"/>
            <a:ext cx="457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75" name="Rectangle 10">
            <a:extLst>
              <a:ext uri="{FF2B5EF4-FFF2-40B4-BE49-F238E27FC236}">
                <a16:creationId xmlns:a16="http://schemas.microsoft.com/office/drawing/2014/main" id="{59CF641D-448F-4AC4-890B-A486FBD5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648200"/>
            <a:ext cx="457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76" name="Rectangle 11">
            <a:extLst>
              <a:ext uri="{FF2B5EF4-FFF2-40B4-BE49-F238E27FC236}">
                <a16:creationId xmlns:a16="http://schemas.microsoft.com/office/drawing/2014/main" id="{CBA21439-6894-4492-8944-A32EDD87F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648200"/>
            <a:ext cx="457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77" name="Rectangle 12">
            <a:extLst>
              <a:ext uri="{FF2B5EF4-FFF2-40B4-BE49-F238E27FC236}">
                <a16:creationId xmlns:a16="http://schemas.microsoft.com/office/drawing/2014/main" id="{0B76B3DF-C251-4015-B5B9-6527BEF8D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648200"/>
            <a:ext cx="457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78" name="Rectangle 13">
            <a:extLst>
              <a:ext uri="{FF2B5EF4-FFF2-40B4-BE49-F238E27FC236}">
                <a16:creationId xmlns:a16="http://schemas.microsoft.com/office/drawing/2014/main" id="{041235F0-AF6C-492B-AF98-3A6E4BD34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648200"/>
            <a:ext cx="457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79" name="Rectangle 14">
            <a:extLst>
              <a:ext uri="{FF2B5EF4-FFF2-40B4-BE49-F238E27FC236}">
                <a16:creationId xmlns:a16="http://schemas.microsoft.com/office/drawing/2014/main" id="{7E64C701-E938-485E-8ED5-745365577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648200"/>
            <a:ext cx="457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80" name="Rectangle 15">
            <a:extLst>
              <a:ext uri="{FF2B5EF4-FFF2-40B4-BE49-F238E27FC236}">
                <a16:creationId xmlns:a16="http://schemas.microsoft.com/office/drawing/2014/main" id="{C0D7BD63-6F99-4FDD-B71E-6490A31EC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648200"/>
            <a:ext cx="17526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81" name="Text Box 16">
            <a:extLst>
              <a:ext uri="{FF2B5EF4-FFF2-40B4-BE49-F238E27FC236}">
                <a16:creationId xmlns:a16="http://schemas.microsoft.com/office/drawing/2014/main" id="{89086936-724F-4C42-9857-440AD480F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x</a:t>
            </a:r>
          </a:p>
        </p:txBody>
      </p:sp>
      <p:sp>
        <p:nvSpPr>
          <p:cNvPr id="88082" name="Text Box 17">
            <a:extLst>
              <a:ext uri="{FF2B5EF4-FFF2-40B4-BE49-F238E27FC236}">
                <a16:creationId xmlns:a16="http://schemas.microsoft.com/office/drawing/2014/main" id="{EE81861B-14DF-41AF-A372-137A8D55F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x</a:t>
            </a:r>
          </a:p>
        </p:txBody>
      </p:sp>
      <p:sp>
        <p:nvSpPr>
          <p:cNvPr id="88083" name="Text Box 18">
            <a:extLst>
              <a:ext uri="{FF2B5EF4-FFF2-40B4-BE49-F238E27FC236}">
                <a16:creationId xmlns:a16="http://schemas.microsoft.com/office/drawing/2014/main" id="{48923E5C-3816-46D3-AEBB-3A04EA238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1054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>
                <a:solidFill>
                  <a:srgbClr val="B025A6"/>
                </a:solidFill>
                <a:latin typeface="Arial Rounded MT Bold" panose="020F0704030504030204" pitchFamily="34" charset="0"/>
              </a:rPr>
              <a:t>y(8)</a:t>
            </a:r>
            <a:endParaRPr lang="en-US" altLang="it-IT" sz="160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084" name="Rectangle 19">
            <a:extLst>
              <a:ext uri="{FF2B5EF4-FFF2-40B4-BE49-F238E27FC236}">
                <a16:creationId xmlns:a16="http://schemas.microsoft.com/office/drawing/2014/main" id="{F63A3737-8680-46DC-A0DB-C0DBCC01D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648200"/>
            <a:ext cx="2743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88085" name="Text Box 20">
            <a:extLst>
              <a:ext uri="{FF2B5EF4-FFF2-40B4-BE49-F238E27FC236}">
                <a16:creationId xmlns:a16="http://schemas.microsoft.com/office/drawing/2014/main" id="{1D283BF1-E084-4C61-AAC6-760D24363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1054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v(a)</a:t>
            </a:r>
            <a:endParaRPr lang="en-US" altLang="it-IT" sz="1600">
              <a:solidFill>
                <a:srgbClr val="FF0065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8086" name="AutoShape 21">
            <a:extLst>
              <a:ext uri="{FF2B5EF4-FFF2-40B4-BE49-F238E27FC236}">
                <a16:creationId xmlns:a16="http://schemas.microsoft.com/office/drawing/2014/main" id="{A9AE2402-A9D1-4DF2-9FC9-9ED1750B33E1}"/>
              </a:ext>
            </a:extLst>
          </p:cNvPr>
          <p:cNvCxnSpPr>
            <a:cxnSpLocks noChangeShapeType="1"/>
            <a:stCxn id="88076" idx="0"/>
            <a:endCxn id="88084" idx="0"/>
          </p:cNvCxnSpPr>
          <p:nvPr/>
        </p:nvCxnSpPr>
        <p:spPr bwMode="auto">
          <a:xfrm rot="5400000" flipV="1">
            <a:off x="4190206" y="2286794"/>
            <a:ext cx="1588" cy="4724400"/>
          </a:xfrm>
          <a:prstGeom prst="bentConnector3">
            <a:avLst>
              <a:gd name="adj1" fmla="val -14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87" name="Text Box 22">
            <a:extLst>
              <a:ext uri="{FF2B5EF4-FFF2-40B4-BE49-F238E27FC236}">
                <a16:creationId xmlns:a16="http://schemas.microsoft.com/office/drawing/2014/main" id="{E2D8F0C9-9A3B-4321-8E52-2E945BD4E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5943600"/>
            <a:ext cx="2371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FF0065"/>
                </a:solidFill>
              </a:rPr>
              <a:t>Variable-length data</a:t>
            </a:r>
          </a:p>
        </p:txBody>
      </p:sp>
      <p:sp>
        <p:nvSpPr>
          <p:cNvPr id="88088" name="Line 23">
            <a:extLst>
              <a:ext uri="{FF2B5EF4-FFF2-40B4-BE49-F238E27FC236}">
                <a16:creationId xmlns:a16="http://schemas.microsoft.com/office/drawing/2014/main" id="{C0B5041E-91F8-4173-B1E1-1FC3DF631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648200"/>
            <a:ext cx="0" cy="1295400"/>
          </a:xfrm>
          <a:prstGeom prst="line">
            <a:avLst/>
          </a:prstGeom>
          <a:noFill/>
          <a:ln w="3810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88089" name="Text Box 25">
            <a:extLst>
              <a:ext uri="{FF2B5EF4-FFF2-40B4-BE49-F238E27FC236}">
                <a16:creationId xmlns:a16="http://schemas.microsoft.com/office/drawing/2014/main" id="{04E8492C-7C41-4A57-944F-492EA30F0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19800"/>
            <a:ext cx="3733800" cy="620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lnSpc>
                <a:spcPct val="95000"/>
              </a:lnSpc>
            </a:pPr>
            <a:r>
              <a:rPr lang="en-US" altLang="it-IT">
                <a:solidFill>
                  <a:srgbClr val="003C75"/>
                </a:solidFill>
              </a:rPr>
              <a:t>Includes data for all fixed length objects in all blocks</a:t>
            </a:r>
          </a:p>
        </p:txBody>
      </p:sp>
      <p:cxnSp>
        <p:nvCxnSpPr>
          <p:cNvPr id="88090" name="AutoShape 26">
            <a:extLst>
              <a:ext uri="{FF2B5EF4-FFF2-40B4-BE49-F238E27FC236}">
                <a16:creationId xmlns:a16="http://schemas.microsoft.com/office/drawing/2014/main" id="{567CAC1E-2559-44D6-91B2-AD345CE9FDE4}"/>
              </a:ext>
            </a:extLst>
          </p:cNvPr>
          <p:cNvCxnSpPr>
            <a:cxnSpLocks noChangeShapeType="1"/>
            <a:stCxn id="88089" idx="3"/>
            <a:endCxn id="88088" idx="1"/>
          </p:cNvCxnSpPr>
          <p:nvPr/>
        </p:nvCxnSpPr>
        <p:spPr bwMode="auto">
          <a:xfrm flipV="1">
            <a:off x="4495800" y="5943600"/>
            <a:ext cx="685800" cy="387350"/>
          </a:xfrm>
          <a:prstGeom prst="curvedConnector4">
            <a:avLst>
              <a:gd name="adj1" fmla="val 50000"/>
              <a:gd name="adj2" fmla="val -722"/>
            </a:avLst>
          </a:prstGeom>
          <a:noFill/>
          <a:ln w="19050">
            <a:solidFill>
              <a:srgbClr val="003C7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Footer Placeholder 1">
            <a:extLst>
              <a:ext uri="{FF2B5EF4-FFF2-40B4-BE49-F238E27FC236}">
                <a16:creationId xmlns:a16="http://schemas.microsoft.com/office/drawing/2014/main" id="{1C6417F7-76AA-4CE6-88E6-B91B89FEF4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0114" name="Slide Number Placeholder 2">
            <a:extLst>
              <a:ext uri="{FF2B5EF4-FFF2-40B4-BE49-F238E27FC236}">
                <a16:creationId xmlns:a16="http://schemas.microsoft.com/office/drawing/2014/main" id="{12C37552-CC79-40BC-B25E-8855B6E75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8979EE7-B63F-4E74-A479-37AEC224E195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3AA9E75-D6B0-4091-9A72-06C06AAB32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Activation Record Basics</a:t>
            </a:r>
          </a:p>
        </p:txBody>
      </p:sp>
      <p:sp>
        <p:nvSpPr>
          <p:cNvPr id="84997" name="Rectangle 4">
            <a:extLst>
              <a:ext uri="{FF2B5EF4-FFF2-40B4-BE49-F238E27FC236}">
                <a16:creationId xmlns:a16="http://schemas.microsoft.com/office/drawing/2014/main" id="{16CD24C1-836F-4DF1-A690-BB1FF2EFE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1676400"/>
            <a:ext cx="1600200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4998" name="Rectangle 5">
            <a:extLst>
              <a:ext uri="{FF2B5EF4-FFF2-40B4-BE49-F238E27FC236}">
                <a16:creationId xmlns:a16="http://schemas.microsoft.com/office/drawing/2014/main" id="{8501BE37-BA9E-462C-B4AA-42EE6D6A5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54175"/>
            <a:ext cx="16002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600" i="1" dirty="0">
                <a:latin typeface="+mn-lt"/>
                <a:ea typeface="ヒラギノ角ゴ Pro W3" charset="-128"/>
                <a:cs typeface="ヒラギノ角ゴ Pro W3" charset="-128"/>
              </a:rPr>
              <a:t>parameters</a:t>
            </a:r>
            <a:endParaRPr lang="en-US" sz="1600" dirty="0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4999" name="Rectangle 6">
            <a:extLst>
              <a:ext uri="{FF2B5EF4-FFF2-40B4-BE49-F238E27FC236}">
                <a16:creationId xmlns:a16="http://schemas.microsoft.com/office/drawing/2014/main" id="{7D030528-037E-49EC-9D15-877AF0D8B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2246313"/>
            <a:ext cx="1600200" cy="585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600" i="1">
                <a:latin typeface="+mn-lt"/>
                <a:ea typeface="ヒラギノ角ゴ Pro W3" charset="-128"/>
                <a:cs typeface="ヒラギノ角ゴ Pro W3" charset="-128"/>
              </a:rPr>
              <a:t>register </a:t>
            </a:r>
          </a:p>
          <a:p>
            <a:pPr algn="ctr" eaLnBrk="0" hangingPunct="0">
              <a:defRPr/>
            </a:pPr>
            <a:r>
              <a:rPr lang="en-US" sz="1600" i="1">
                <a:latin typeface="+mn-lt"/>
                <a:ea typeface="ヒラギノ角ゴ Pro W3" charset="-128"/>
                <a:cs typeface="ヒラギノ角ゴ Pro W3" charset="-128"/>
              </a:rPr>
              <a:t>save area</a:t>
            </a:r>
            <a:endParaRPr lang="en-US" sz="1600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0" name="Rectangle 7">
            <a:extLst>
              <a:ext uri="{FF2B5EF4-FFF2-40B4-BE49-F238E27FC236}">
                <a16:creationId xmlns:a16="http://schemas.microsoft.com/office/drawing/2014/main" id="{CE80CD94-F51C-4DC7-85CD-E8E991FFF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2838450"/>
            <a:ext cx="1600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600" i="1">
                <a:latin typeface="+mn-lt"/>
                <a:ea typeface="ヒラギノ角ゴ Pro W3" charset="-128"/>
                <a:cs typeface="ヒラギノ角ゴ Pro W3" charset="-128"/>
              </a:rPr>
              <a:t>return value</a:t>
            </a:r>
            <a:endParaRPr lang="en-US" sz="1600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1" name="Rectangle 8">
            <a:extLst>
              <a:ext uri="{FF2B5EF4-FFF2-40B4-BE49-F238E27FC236}">
                <a16:creationId xmlns:a16="http://schemas.microsoft.com/office/drawing/2014/main" id="{99312F7F-5F3A-4DED-AD47-329D228A9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3225800"/>
            <a:ext cx="1600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600" i="1">
                <a:solidFill>
                  <a:srgbClr val="FF0065"/>
                </a:solidFill>
                <a:latin typeface="+mn-lt"/>
                <a:ea typeface="ヒラギノ角ゴ Pro W3" charset="-128"/>
                <a:cs typeface="ヒラギノ角ゴ Pro W3" charset="-128"/>
              </a:rPr>
              <a:t>return address</a:t>
            </a:r>
          </a:p>
        </p:txBody>
      </p:sp>
      <p:sp>
        <p:nvSpPr>
          <p:cNvPr id="85002" name="Rectangle 9">
            <a:extLst>
              <a:ext uri="{FF2B5EF4-FFF2-40B4-BE49-F238E27FC236}">
                <a16:creationId xmlns:a16="http://schemas.microsoft.com/office/drawing/2014/main" id="{E4EE2A15-7FB5-41E1-A2D9-1F112854C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3613150"/>
            <a:ext cx="1600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600" i="1">
                <a:latin typeface="+mn-lt"/>
                <a:ea typeface="ヒラギノ角ゴ Pro W3" charset="-128"/>
                <a:cs typeface="ヒラギノ角ゴ Pro W3" charset="-128"/>
              </a:rPr>
              <a:t>addressability</a:t>
            </a:r>
            <a:endParaRPr lang="en-US" sz="1600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3" name="Rectangle 10">
            <a:extLst>
              <a:ext uri="{FF2B5EF4-FFF2-40B4-BE49-F238E27FC236}">
                <a16:creationId xmlns:a16="http://schemas.microsoft.com/office/drawing/2014/main" id="{1F3EF1BB-A864-465F-AB7B-958F04A13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4000500"/>
            <a:ext cx="1600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600" i="1">
                <a:solidFill>
                  <a:srgbClr val="FF0065"/>
                </a:solidFill>
                <a:latin typeface="+mn-lt"/>
                <a:ea typeface="ヒラギノ角ゴ Pro W3" charset="-128"/>
                <a:cs typeface="ヒラギノ角ゴ Pro W3" charset="-128"/>
              </a:rPr>
              <a:t>caller’s </a:t>
            </a:r>
            <a:r>
              <a:rPr lang="en-US" sz="1400" i="1">
                <a:solidFill>
                  <a:srgbClr val="FF0065"/>
                </a:solidFill>
                <a:latin typeface="+mn-lt"/>
                <a:ea typeface="ヒラギノ角ゴ Pro W3" charset="-128"/>
                <a:cs typeface="ヒラギノ角ゴ Pro W3" charset="-128"/>
              </a:rPr>
              <a:t>ARP</a:t>
            </a:r>
            <a:endParaRPr lang="en-US" sz="1600">
              <a:solidFill>
                <a:srgbClr val="FF0065"/>
              </a:solidFill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4" name="Rectangle 11">
            <a:extLst>
              <a:ext uri="{FF2B5EF4-FFF2-40B4-BE49-F238E27FC236}">
                <a16:creationId xmlns:a16="http://schemas.microsoft.com/office/drawing/2014/main" id="{20D6B17E-9B7D-4F74-A499-E2260FC9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4387850"/>
            <a:ext cx="1600200" cy="763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600" i="1">
                <a:latin typeface="+mn-lt"/>
                <a:ea typeface="ヒラギノ角ゴ Pro W3" charset="-128"/>
                <a:cs typeface="ヒラギノ角ゴ Pro W3" charset="-128"/>
              </a:rPr>
              <a:t>local </a:t>
            </a:r>
          </a:p>
          <a:p>
            <a:pPr algn="ctr" eaLnBrk="0" hangingPunct="0">
              <a:defRPr/>
            </a:pPr>
            <a:r>
              <a:rPr lang="en-US" sz="1600" i="1">
                <a:latin typeface="+mn-lt"/>
                <a:ea typeface="ヒラギノ角ゴ Pro W3" charset="-128"/>
                <a:cs typeface="ヒラギノ角ゴ Pro W3" charset="-128"/>
              </a:rPr>
              <a:t>variables</a:t>
            </a:r>
            <a:endParaRPr lang="en-US" sz="1600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5" name="Text Box 12">
            <a:extLst>
              <a:ext uri="{FF2B5EF4-FFF2-40B4-BE49-F238E27FC236}">
                <a16:creationId xmlns:a16="http://schemas.microsoft.com/office/drawing/2014/main" id="{60DFC604-FD78-4FF7-A616-2F36B01EF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481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>
                <a:solidFill>
                  <a:srgbClr val="FF0065"/>
                </a:solidFill>
                <a:latin typeface="+mn-lt"/>
                <a:ea typeface="ヒラギノ角ゴ Pro W3" charset="-128"/>
                <a:cs typeface="ヒラギノ角ゴ Pro W3" charset="-128"/>
              </a:rPr>
              <a:t>ARP</a:t>
            </a:r>
            <a:endParaRPr lang="en-US" sz="1600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6" name="Line 13">
            <a:extLst>
              <a:ext uri="{FF2B5EF4-FFF2-40B4-BE49-F238E27FC236}">
                <a16:creationId xmlns:a16="http://schemas.microsoft.com/office/drawing/2014/main" id="{38CC2962-1E41-4203-969F-E46121FAD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997325"/>
            <a:ext cx="538163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7" name="Line 14">
            <a:extLst>
              <a:ext uri="{FF2B5EF4-FFF2-40B4-BE49-F238E27FC236}">
                <a16:creationId xmlns:a16="http://schemas.microsoft.com/office/drawing/2014/main" id="{2323D946-BDCD-4746-822B-8142B803E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4550" y="4200525"/>
            <a:ext cx="538163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5008" name="AutoShape 15">
            <a:extLst>
              <a:ext uri="{FF2B5EF4-FFF2-40B4-BE49-F238E27FC236}">
                <a16:creationId xmlns:a16="http://schemas.microsoft.com/office/drawing/2014/main" id="{6AED544F-09F8-431D-90C9-A254303F0C9A}"/>
              </a:ext>
            </a:extLst>
          </p:cNvPr>
          <p:cNvSpPr>
            <a:spLocks/>
          </p:cNvSpPr>
          <p:nvPr/>
        </p:nvSpPr>
        <p:spPr bwMode="auto">
          <a:xfrm>
            <a:off x="5181600" y="1300163"/>
            <a:ext cx="2836863" cy="600075"/>
          </a:xfrm>
          <a:prstGeom prst="accentBorderCallout1">
            <a:avLst>
              <a:gd name="adj1" fmla="val 19356"/>
              <a:gd name="adj2" fmla="val -2685"/>
              <a:gd name="adj3" fmla="val 116130"/>
              <a:gd name="adj4" fmla="val -65194"/>
            </a:avLst>
          </a:prstGeom>
          <a:noFill/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Space for parameters to the current routine</a:t>
            </a:r>
          </a:p>
        </p:txBody>
      </p:sp>
      <p:sp>
        <p:nvSpPr>
          <p:cNvPr id="85009" name="AutoShape 16">
            <a:extLst>
              <a:ext uri="{FF2B5EF4-FFF2-40B4-BE49-F238E27FC236}">
                <a16:creationId xmlns:a16="http://schemas.microsoft.com/office/drawing/2014/main" id="{CB5C55DB-A51A-4077-BD68-57627FD2AC0E}"/>
              </a:ext>
            </a:extLst>
          </p:cNvPr>
          <p:cNvSpPr>
            <a:spLocks/>
          </p:cNvSpPr>
          <p:nvPr/>
        </p:nvSpPr>
        <p:spPr bwMode="auto">
          <a:xfrm>
            <a:off x="5181600" y="1933575"/>
            <a:ext cx="2836863" cy="338138"/>
          </a:xfrm>
          <a:prstGeom prst="accentBorderCallout1">
            <a:avLst>
              <a:gd name="adj1" fmla="val 33028"/>
              <a:gd name="adj2" fmla="val -2685"/>
              <a:gd name="adj3" fmla="val 163759"/>
              <a:gd name="adj4" fmla="val -66255"/>
            </a:avLst>
          </a:prstGeom>
          <a:noFill/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Saved register contents</a:t>
            </a:r>
          </a:p>
        </p:txBody>
      </p:sp>
      <p:sp>
        <p:nvSpPr>
          <p:cNvPr id="85010" name="AutoShape 17">
            <a:extLst>
              <a:ext uri="{FF2B5EF4-FFF2-40B4-BE49-F238E27FC236}">
                <a16:creationId xmlns:a16="http://schemas.microsoft.com/office/drawing/2014/main" id="{7DFB1DEC-38F9-44DA-8743-1FB51D1C6DA7}"/>
              </a:ext>
            </a:extLst>
          </p:cNvPr>
          <p:cNvSpPr>
            <a:spLocks/>
          </p:cNvSpPr>
          <p:nvPr/>
        </p:nvSpPr>
        <p:spPr bwMode="auto">
          <a:xfrm>
            <a:off x="5181600" y="2362200"/>
            <a:ext cx="2836863" cy="600075"/>
          </a:xfrm>
          <a:prstGeom prst="accentBorderCallout1">
            <a:avLst>
              <a:gd name="adj1" fmla="val 19356"/>
              <a:gd name="adj2" fmla="val -2685"/>
              <a:gd name="adj3" fmla="val 113440"/>
              <a:gd name="adj4" fmla="val -61949"/>
            </a:avLst>
          </a:prstGeom>
          <a:noFill/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If function, space for return value</a:t>
            </a:r>
          </a:p>
        </p:txBody>
      </p:sp>
      <p:sp>
        <p:nvSpPr>
          <p:cNvPr id="85011" name="AutoShape 18">
            <a:extLst>
              <a:ext uri="{FF2B5EF4-FFF2-40B4-BE49-F238E27FC236}">
                <a16:creationId xmlns:a16="http://schemas.microsoft.com/office/drawing/2014/main" id="{4614B461-50DB-453E-BD75-7F124DBD753F}"/>
              </a:ext>
            </a:extLst>
          </p:cNvPr>
          <p:cNvSpPr>
            <a:spLocks/>
          </p:cNvSpPr>
          <p:nvPr/>
        </p:nvSpPr>
        <p:spPr bwMode="auto">
          <a:xfrm>
            <a:off x="5181600" y="3076575"/>
            <a:ext cx="2836863" cy="338138"/>
          </a:xfrm>
          <a:prstGeom prst="accentBorderCallout1">
            <a:avLst>
              <a:gd name="adj1" fmla="val 33028"/>
              <a:gd name="adj2" fmla="val -2685"/>
              <a:gd name="adj3" fmla="val 101375"/>
              <a:gd name="adj4" fmla="val -60269"/>
            </a:avLst>
          </a:prstGeom>
          <a:noFill/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Address to resume caller</a:t>
            </a:r>
          </a:p>
        </p:txBody>
      </p:sp>
      <p:sp>
        <p:nvSpPr>
          <p:cNvPr id="85012" name="AutoShape 19">
            <a:extLst>
              <a:ext uri="{FF2B5EF4-FFF2-40B4-BE49-F238E27FC236}">
                <a16:creationId xmlns:a16="http://schemas.microsoft.com/office/drawing/2014/main" id="{D5126194-332A-43F3-A472-A97AE4955B96}"/>
              </a:ext>
            </a:extLst>
          </p:cNvPr>
          <p:cNvSpPr>
            <a:spLocks/>
          </p:cNvSpPr>
          <p:nvPr/>
        </p:nvSpPr>
        <p:spPr bwMode="auto">
          <a:xfrm>
            <a:off x="5181600" y="3476625"/>
            <a:ext cx="2836863" cy="338138"/>
          </a:xfrm>
          <a:prstGeom prst="accentBorderCallout1">
            <a:avLst>
              <a:gd name="adj1" fmla="val 19046"/>
              <a:gd name="adj2" fmla="val -2685"/>
              <a:gd name="adj3" fmla="val 62435"/>
              <a:gd name="adj4" fmla="val -60995"/>
            </a:avLst>
          </a:prstGeom>
          <a:noFill/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Help with non-local access</a:t>
            </a:r>
          </a:p>
        </p:txBody>
      </p:sp>
      <p:sp>
        <p:nvSpPr>
          <p:cNvPr id="85013" name="AutoShape 20">
            <a:extLst>
              <a:ext uri="{FF2B5EF4-FFF2-40B4-BE49-F238E27FC236}">
                <a16:creationId xmlns:a16="http://schemas.microsoft.com/office/drawing/2014/main" id="{C7A14C30-DE92-49AC-A69B-C5F2CE79CBFB}"/>
              </a:ext>
            </a:extLst>
          </p:cNvPr>
          <p:cNvSpPr>
            <a:spLocks/>
          </p:cNvSpPr>
          <p:nvPr/>
        </p:nvSpPr>
        <p:spPr bwMode="auto">
          <a:xfrm>
            <a:off x="5189538" y="4162425"/>
            <a:ext cx="2836862" cy="600075"/>
          </a:xfrm>
          <a:prstGeom prst="accentBorderCallout1">
            <a:avLst>
              <a:gd name="adj1" fmla="val 19356"/>
              <a:gd name="adj2" fmla="val -2685"/>
              <a:gd name="adj3" fmla="val 18546"/>
              <a:gd name="adj4" fmla="val -66310"/>
            </a:avLst>
          </a:prstGeom>
          <a:noFill/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To restore caller’s </a:t>
            </a:r>
            <a:r>
              <a:rPr lang="en-US" sz="1400">
                <a:latin typeface="+mn-lt"/>
                <a:ea typeface="ヒラギノ角ゴ Pro W3" charset="-128"/>
                <a:cs typeface="ヒラギノ角ゴ Pro W3" charset="-128"/>
              </a:rPr>
              <a:t>AR </a:t>
            </a: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on a </a:t>
            </a:r>
          </a:p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return</a:t>
            </a:r>
          </a:p>
        </p:txBody>
      </p:sp>
      <p:sp>
        <p:nvSpPr>
          <p:cNvPr id="85014" name="AutoShape 21">
            <a:extLst>
              <a:ext uri="{FF2B5EF4-FFF2-40B4-BE49-F238E27FC236}">
                <a16:creationId xmlns:a16="http://schemas.microsoft.com/office/drawing/2014/main" id="{0818EC31-1D42-4639-A352-4A49BF71168E}"/>
              </a:ext>
            </a:extLst>
          </p:cNvPr>
          <p:cNvSpPr>
            <a:spLocks/>
          </p:cNvSpPr>
          <p:nvPr/>
        </p:nvSpPr>
        <p:spPr bwMode="auto">
          <a:xfrm>
            <a:off x="5181600" y="4876800"/>
            <a:ext cx="2836863" cy="600075"/>
          </a:xfrm>
          <a:prstGeom prst="accentBorderCallout1">
            <a:avLst>
              <a:gd name="adj1" fmla="val 19356"/>
              <a:gd name="adj2" fmla="val -2685"/>
              <a:gd name="adj3" fmla="val -36292"/>
              <a:gd name="adj4" fmla="val -70620"/>
            </a:avLst>
          </a:prstGeom>
          <a:noFill/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latin typeface="+mn-lt"/>
                <a:ea typeface="ヒラギノ角ゴ Pro W3" charset="-128"/>
                <a:cs typeface="ヒラギノ角ゴ Pro W3" charset="-128"/>
              </a:rPr>
              <a:t>Space for local values &amp; variables (including spills)</a:t>
            </a:r>
          </a:p>
        </p:txBody>
      </p:sp>
      <p:sp>
        <p:nvSpPr>
          <p:cNvPr id="85015" name="Text Box 22">
            <a:extLst>
              <a:ext uri="{FF2B5EF4-FFF2-40B4-BE49-F238E27FC236}">
                <a16:creationId xmlns:a16="http://schemas.microsoft.com/office/drawing/2014/main" id="{ECBE9B5F-7BFC-41E0-BBF7-C74406B78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38800"/>
            <a:ext cx="4876800" cy="37623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One AR for each invocation of a procedure</a:t>
            </a:r>
          </a:p>
        </p:txBody>
      </p:sp>
      <p:sp>
        <p:nvSpPr>
          <p:cNvPr id="90135" name="Text Box 23">
            <a:extLst>
              <a:ext uri="{FF2B5EF4-FFF2-40B4-BE49-F238E27FC236}">
                <a16:creationId xmlns:a16="http://schemas.microsoft.com/office/drawing/2014/main" id="{9F2789EF-C178-4B15-8B34-A1FCC7A8E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6215063"/>
            <a:ext cx="304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FF0065"/>
                </a:solidFill>
              </a:rPr>
              <a:t>ARP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</a:t>
            </a:r>
            <a:r>
              <a:rPr lang="en-US" altLang="it-IT" sz="1400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400" u="sng">
                <a:solidFill>
                  <a:srgbClr val="FF0065"/>
                </a:solidFill>
                <a:sym typeface="Symbol" panose="05050102010706020507" pitchFamily="18" charset="2"/>
              </a:rPr>
              <a:t>A</a:t>
            </a:r>
            <a:r>
              <a:rPr lang="en-US" altLang="it-IT" sz="1400">
                <a:solidFill>
                  <a:srgbClr val="FF0065"/>
                </a:solidFill>
                <a:sym typeface="Symbol" panose="05050102010706020507" pitchFamily="18" charset="2"/>
              </a:rPr>
              <a:t>ctivation </a:t>
            </a:r>
            <a:r>
              <a:rPr lang="en-US" altLang="it-IT" sz="1400" u="sng">
                <a:solidFill>
                  <a:srgbClr val="FF0065"/>
                </a:solidFill>
                <a:sym typeface="Symbol" panose="05050102010706020507" pitchFamily="18" charset="2"/>
              </a:rPr>
              <a:t>R</a:t>
            </a:r>
            <a:r>
              <a:rPr lang="en-US" altLang="it-IT" sz="1400">
                <a:solidFill>
                  <a:srgbClr val="FF0065"/>
                </a:solidFill>
                <a:sym typeface="Symbol" panose="05050102010706020507" pitchFamily="18" charset="2"/>
              </a:rPr>
              <a:t>ecord </a:t>
            </a:r>
            <a:r>
              <a:rPr lang="en-US" altLang="it-IT" sz="1400" u="sng">
                <a:solidFill>
                  <a:srgbClr val="FF0065"/>
                </a:solidFill>
                <a:sym typeface="Symbol" panose="05050102010706020507" pitchFamily="18" charset="2"/>
              </a:rPr>
              <a:t>P</a:t>
            </a:r>
            <a:r>
              <a:rPr lang="en-US" altLang="it-IT" sz="1400">
                <a:solidFill>
                  <a:srgbClr val="FF0065"/>
                </a:solidFill>
                <a:sym typeface="Symbol" panose="05050102010706020507" pitchFamily="18" charset="2"/>
              </a:rPr>
              <a:t>ointer</a:t>
            </a:r>
            <a:endParaRPr lang="en-US" altLang="it-IT" sz="1400">
              <a:solidFill>
                <a:srgbClr val="FF006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Footer Placeholder 1">
            <a:extLst>
              <a:ext uri="{FF2B5EF4-FFF2-40B4-BE49-F238E27FC236}">
                <a16:creationId xmlns:a16="http://schemas.microsoft.com/office/drawing/2014/main" id="{95D6D78C-941F-4440-A78B-EE3F6C2995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2162" name="Slide Number Placeholder 2">
            <a:extLst>
              <a:ext uri="{FF2B5EF4-FFF2-40B4-BE49-F238E27FC236}">
                <a16:creationId xmlns:a16="http://schemas.microsoft.com/office/drawing/2014/main" id="{E7440084-C1DA-4020-8B25-782BE7BD12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1D485B1-FF8F-44D8-B647-18E5C992EC38}" type="slidenum">
              <a:rPr lang="en-US" altLang="it-IT"/>
              <a:pPr/>
              <a:t>39</a:t>
            </a:fld>
            <a:endParaRPr lang="en-US" altLang="it-IT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2F481B37-3181-496C-A7F9-9D15BB301A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Activation Record Details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2D60A127-1823-407C-B116-B6BBAE0FA5A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How does the compiler find the variables?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They are at known offsets from the </a:t>
            </a:r>
            <a:r>
              <a:rPr lang="en-US" altLang="it-IT" sz="1800"/>
              <a:t>AR pointer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The static coordinate leads to a “loadAI” operation</a:t>
            </a:r>
          </a:p>
          <a:p>
            <a:pPr lvl="1" eaLnBrk="1" hangingPunct="1"/>
            <a:r>
              <a:rPr lang="en-US" altLang="it-IT">
                <a:solidFill>
                  <a:srgbClr val="FF0065"/>
                </a:solidFill>
              </a:rPr>
              <a:t>Level </a:t>
            </a:r>
            <a:r>
              <a:rPr lang="en-US" altLang="it-IT"/>
              <a:t>specifies an ARP, </a:t>
            </a:r>
            <a:r>
              <a:rPr lang="en-US" altLang="it-IT">
                <a:solidFill>
                  <a:srgbClr val="FF0065"/>
                </a:solidFill>
              </a:rPr>
              <a:t>offset </a:t>
            </a:r>
            <a:r>
              <a:rPr lang="en-US" altLang="it-IT"/>
              <a:t>is the constant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Variable-length data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If </a:t>
            </a:r>
            <a:r>
              <a:rPr lang="en-US" altLang="it-IT" sz="1800"/>
              <a:t>AR </a:t>
            </a:r>
            <a:r>
              <a:rPr lang="en-US" altLang="it-IT"/>
              <a:t>can be extended, put it above local variables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Leave a pointer at a known offset from ARP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Otherwise, put variable-length data on the heap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Initializing local variables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Must generate explicit code to store the values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Among the procedure’s first actions </a:t>
            </a: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Footer Placeholder 1">
            <a:extLst>
              <a:ext uri="{FF2B5EF4-FFF2-40B4-BE49-F238E27FC236}">
                <a16:creationId xmlns:a16="http://schemas.microsoft.com/office/drawing/2014/main" id="{1ADD6779-D319-490D-A6E6-1C4B3758DD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4210" name="Slide Number Placeholder 2">
            <a:extLst>
              <a:ext uri="{FF2B5EF4-FFF2-40B4-BE49-F238E27FC236}">
                <a16:creationId xmlns:a16="http://schemas.microsoft.com/office/drawing/2014/main" id="{5136F326-61FD-4AFE-8DB8-592AFD8192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DEC5D79-1DD1-4F08-A4D0-38FB1DD47200}" type="slidenum">
              <a:rPr lang="en-US" altLang="it-IT"/>
              <a:pPr/>
              <a:t>40</a:t>
            </a:fld>
            <a:endParaRPr lang="en-US" altLang="it-IT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C1BA43FA-09B1-45ED-8D77-ABC8063A07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Activation Record Details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B42BF8F3-A53D-441D-9B51-694C3C00CA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Where do activation records live?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If lifetime of </a:t>
            </a:r>
            <a:r>
              <a:rPr lang="en-US" altLang="it-IT" sz="1800"/>
              <a:t>AR</a:t>
            </a:r>
            <a:r>
              <a:rPr lang="en-US" altLang="it-IT"/>
              <a:t> matches lifetime of invocation, </a:t>
            </a:r>
            <a:r>
              <a:rPr lang="en-US" altLang="it-IT" sz="1800" i="1"/>
              <a:t>AND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If code normally executes a “return”</a:t>
            </a:r>
          </a:p>
          <a:p>
            <a:pPr eaLnBrk="1" hangingPunct="1">
              <a:spcBef>
                <a:spcPts val="600"/>
              </a:spcBef>
              <a:buSzTx/>
              <a:buFont typeface="Symbol" panose="05050102010706020507" pitchFamily="18" charset="2"/>
              <a:buChar char="Þ"/>
            </a:pPr>
            <a:r>
              <a:rPr lang="en-US" altLang="it-IT"/>
              <a:t>Keep </a:t>
            </a:r>
            <a:r>
              <a:rPr lang="en-US" altLang="it-IT" sz="1800"/>
              <a:t>AR</a:t>
            </a:r>
            <a:r>
              <a:rPr lang="en-US" altLang="it-IT"/>
              <a:t>s on a stack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it-IT"/>
              <a:t>If a procedure can outlive its caller, </a:t>
            </a:r>
            <a:r>
              <a:rPr lang="en-US" altLang="it-IT" i="1"/>
              <a:t>OR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If it can return an object that can reference its execution state</a:t>
            </a:r>
          </a:p>
          <a:p>
            <a:pPr eaLnBrk="1" hangingPunct="1">
              <a:spcBef>
                <a:spcPts val="600"/>
              </a:spcBef>
              <a:buSzTx/>
              <a:buFont typeface="Symbol" panose="05050102010706020507" pitchFamily="18" charset="2"/>
              <a:buChar char="Þ"/>
            </a:pPr>
            <a:r>
              <a:rPr lang="en-US" altLang="it-IT" sz="1800"/>
              <a:t>AR</a:t>
            </a:r>
            <a:r>
              <a:rPr lang="en-US" altLang="it-IT"/>
              <a:t>s </a:t>
            </a:r>
            <a:r>
              <a:rPr lang="en-US" altLang="it-IT" u="sng"/>
              <a:t>must</a:t>
            </a:r>
            <a:r>
              <a:rPr lang="en-US" altLang="it-IT"/>
              <a:t> be kept in the heap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it-IT"/>
              <a:t>If a procedure makes no calls</a:t>
            </a:r>
          </a:p>
          <a:p>
            <a:pPr eaLnBrk="1" hangingPunct="1">
              <a:spcBef>
                <a:spcPts val="600"/>
              </a:spcBef>
              <a:buSzTx/>
              <a:buFont typeface="Symbol" panose="05050102010706020507" pitchFamily="18" charset="2"/>
              <a:buChar char="Þ"/>
            </a:pPr>
            <a:r>
              <a:rPr lang="en-US" altLang="it-IT" sz="1800"/>
              <a:t>AR</a:t>
            </a:r>
            <a:r>
              <a:rPr lang="en-US" altLang="it-IT"/>
              <a:t> can be allocated statically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it-IT"/>
              <a:t>Efficiency prefers static, stack, then heap</a:t>
            </a:r>
          </a:p>
        </p:txBody>
      </p:sp>
      <p:sp>
        <p:nvSpPr>
          <p:cNvPr id="94213" name="Rectangle 13">
            <a:extLst>
              <a:ext uri="{FF2B5EF4-FFF2-40B4-BE49-F238E27FC236}">
                <a16:creationId xmlns:a16="http://schemas.microsoft.com/office/drawing/2014/main" id="{2FD13C17-A946-4F53-B84F-AB36364A4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667000"/>
            <a:ext cx="685800" cy="76200"/>
          </a:xfrm>
          <a:prstGeom prst="rect">
            <a:avLst/>
          </a:prstGeom>
          <a:solidFill>
            <a:srgbClr val="003C75"/>
          </a:solidFill>
          <a:ln w="9525">
            <a:solidFill>
              <a:srgbClr val="003C7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cxnSp>
        <p:nvCxnSpPr>
          <p:cNvPr id="94214" name="AutoShape 14">
            <a:extLst>
              <a:ext uri="{FF2B5EF4-FFF2-40B4-BE49-F238E27FC236}">
                <a16:creationId xmlns:a16="http://schemas.microsoft.com/office/drawing/2014/main" id="{AF89F9DD-759C-468E-816C-56D24C46D908}"/>
              </a:ext>
            </a:extLst>
          </p:cNvPr>
          <p:cNvCxnSpPr>
            <a:cxnSpLocks noChangeShapeType="1"/>
            <a:stCxn id="94213" idx="2"/>
            <a:endCxn id="94226" idx="2"/>
          </p:cNvCxnSpPr>
          <p:nvPr/>
        </p:nvCxnSpPr>
        <p:spPr bwMode="auto">
          <a:xfrm rot="16200000" flipH="1">
            <a:off x="5058569" y="846932"/>
            <a:ext cx="3175" cy="3792537"/>
          </a:xfrm>
          <a:prstGeom prst="curvedConnector3">
            <a:avLst>
              <a:gd name="adj1" fmla="val 14395468"/>
            </a:avLst>
          </a:prstGeom>
          <a:noFill/>
          <a:ln w="12700" algn="ctr">
            <a:solidFill>
              <a:srgbClr val="003C7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5" name="Text Box 15">
            <a:extLst>
              <a:ext uri="{FF2B5EF4-FFF2-40B4-BE49-F238E27FC236}">
                <a16:creationId xmlns:a16="http://schemas.microsoft.com/office/drawing/2014/main" id="{0924BDD1-2E4B-400A-8CD2-C9996430C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743200"/>
            <a:ext cx="1752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Yes! That stack</a:t>
            </a:r>
          </a:p>
        </p:txBody>
      </p:sp>
      <p:grpSp>
        <p:nvGrpSpPr>
          <p:cNvPr id="94216" name="Group 18">
            <a:extLst>
              <a:ext uri="{FF2B5EF4-FFF2-40B4-BE49-F238E27FC236}">
                <a16:creationId xmlns:a16="http://schemas.microsoft.com/office/drawing/2014/main" id="{AE9E7BD4-5852-46D5-8DC7-2668CA0C2315}"/>
              </a:ext>
            </a:extLst>
          </p:cNvPr>
          <p:cNvGrpSpPr>
            <a:grpSpLocks/>
          </p:cNvGrpSpPr>
          <p:nvPr/>
        </p:nvGrpSpPr>
        <p:grpSpPr bwMode="auto">
          <a:xfrm>
            <a:off x="6169025" y="2011363"/>
            <a:ext cx="1755775" cy="731837"/>
            <a:chOff x="3886" y="1200"/>
            <a:chExt cx="1106" cy="461"/>
          </a:xfrm>
        </p:grpSpPr>
        <p:grpSp>
          <p:nvGrpSpPr>
            <p:cNvPr id="94220" name="Group 4">
              <a:extLst>
                <a:ext uri="{FF2B5EF4-FFF2-40B4-BE49-F238E27FC236}">
                  <a16:creationId xmlns:a16="http://schemas.microsoft.com/office/drawing/2014/main" id="{F9869BCF-D7CC-44B1-A38C-90046A4D5B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86" y="1200"/>
              <a:ext cx="1106" cy="461"/>
              <a:chOff x="912" y="1152"/>
              <a:chExt cx="2304" cy="960"/>
            </a:xfrm>
          </p:grpSpPr>
          <p:sp>
            <p:nvSpPr>
              <p:cNvPr id="94223" name="Rectangle 5">
                <a:extLst>
                  <a:ext uri="{FF2B5EF4-FFF2-40B4-BE49-F238E27FC236}">
                    <a16:creationId xmlns:a16="http://schemas.microsoft.com/office/drawing/2014/main" id="{49B72461-DE75-4D9E-B3E3-9E73E7EEBB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noFill/>
              <a:ln w="12700">
                <a:solidFill>
                  <a:srgbClr val="003C75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94224" name="Rectangle 6">
                <a:extLst>
                  <a:ext uri="{FF2B5EF4-FFF2-40B4-BE49-F238E27FC236}">
                    <a16:creationId xmlns:a16="http://schemas.microsoft.com/office/drawing/2014/main" id="{34349332-7DE0-4F0A-9DE6-DC18F8EE9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noFill/>
              <a:ln w="9525">
                <a:solidFill>
                  <a:srgbClr val="003C75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o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d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94225" name="Rectangle 7">
                <a:extLst>
                  <a:ext uri="{FF2B5EF4-FFF2-40B4-BE49-F238E27FC236}">
                    <a16:creationId xmlns:a16="http://schemas.microsoft.com/office/drawing/2014/main" id="{BADAEDE5-C22B-4A33-A33F-E600B281B8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rgbClr val="003C75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S    G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t      l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a &amp; o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t     b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i     a</a:t>
                </a:r>
              </a:p>
              <a:p>
                <a:pPr algn="ctr"/>
                <a:r>
                  <a:rPr lang="en-US" altLang="it-IT" sz="8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c     l </a:t>
                </a:r>
              </a:p>
            </p:txBody>
          </p:sp>
          <p:sp>
            <p:nvSpPr>
              <p:cNvPr id="94226" name="Rectangle 8">
                <a:extLst>
                  <a:ext uri="{FF2B5EF4-FFF2-40B4-BE49-F238E27FC236}">
                    <a16:creationId xmlns:a16="http://schemas.microsoft.com/office/drawing/2014/main" id="{A0571F08-246F-4C19-874D-5EACC1A5A7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rgbClr val="003C75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4227" name="Rectangle 9">
                <a:extLst>
                  <a:ext uri="{FF2B5EF4-FFF2-40B4-BE49-F238E27FC236}">
                    <a16:creationId xmlns:a16="http://schemas.microsoft.com/office/drawing/2014/main" id="{3A8C21AD-67FE-4394-AA05-F7A6ED389B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noFill/>
              <a:ln w="9525">
                <a:solidFill>
                  <a:srgbClr val="003C75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endParaRPr>
              </a:p>
              <a:p>
                <a:pPr algn="ctr"/>
                <a:endPara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endParaRPr>
              </a:p>
              <a:p>
                <a:pPr algn="ctr"/>
                <a:endPara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4228" name="Line 10">
                <a:extLst>
                  <a:ext uri="{FF2B5EF4-FFF2-40B4-BE49-F238E27FC236}">
                    <a16:creationId xmlns:a16="http://schemas.microsoft.com/office/drawing/2014/main" id="{AC9C9B55-E4D5-4022-AC1C-62F89B20AC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noFill/>
              <a:ln w="9525">
                <a:solidFill>
                  <a:srgbClr val="003C75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94229" name="Line 11">
                <a:extLst>
                  <a:ext uri="{FF2B5EF4-FFF2-40B4-BE49-F238E27FC236}">
                    <a16:creationId xmlns:a16="http://schemas.microsoft.com/office/drawing/2014/main" id="{AB22B158-1B3A-43BD-9E3B-876583648AD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3C75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94221" name="Rectangle 16">
              <a:extLst>
                <a:ext uri="{FF2B5EF4-FFF2-40B4-BE49-F238E27FC236}">
                  <a16:creationId xmlns:a16="http://schemas.microsoft.com/office/drawing/2014/main" id="{438B81EA-29F7-42E4-9659-694DA3FCB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1200"/>
              <a:ext cx="15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S</a:t>
              </a:r>
            </a:p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t</a:t>
              </a:r>
            </a:p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c</a:t>
              </a:r>
            </a:p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k</a:t>
              </a:r>
            </a:p>
          </p:txBody>
        </p:sp>
        <p:sp>
          <p:nvSpPr>
            <p:cNvPr id="94222" name="Rectangle 17">
              <a:extLst>
                <a:ext uri="{FF2B5EF4-FFF2-40B4-BE49-F238E27FC236}">
                  <a16:creationId xmlns:a16="http://schemas.microsoft.com/office/drawing/2014/main" id="{3E578506-5B97-4DF4-9D68-66280A748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248"/>
              <a:ext cx="165" cy="366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H</a:t>
              </a:r>
            </a:p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e</a:t>
              </a:r>
            </a:p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p</a:t>
              </a:r>
            </a:p>
          </p:txBody>
        </p:sp>
      </p:grpSp>
      <p:grpSp>
        <p:nvGrpSpPr>
          <p:cNvPr id="94217" name="Group 21">
            <a:extLst>
              <a:ext uri="{FF2B5EF4-FFF2-40B4-BE49-F238E27FC236}">
                <a16:creationId xmlns:a16="http://schemas.microsoft.com/office/drawing/2014/main" id="{5DE86C6B-4702-4C30-A45C-9A25BA842182}"/>
              </a:ext>
            </a:extLst>
          </p:cNvPr>
          <p:cNvGrpSpPr>
            <a:grpSpLocks/>
          </p:cNvGrpSpPr>
          <p:nvPr/>
        </p:nvGrpSpPr>
        <p:grpSpPr bwMode="auto">
          <a:xfrm>
            <a:off x="7747000" y="5867400"/>
            <a:ext cx="990600" cy="762000"/>
            <a:chOff x="7747000" y="5867400"/>
            <a:chExt cx="990600" cy="762000"/>
          </a:xfrm>
        </p:grpSpPr>
        <p:sp>
          <p:nvSpPr>
            <p:cNvPr id="94218" name="Octagon 19">
              <a:extLst>
                <a:ext uri="{FF2B5EF4-FFF2-40B4-BE49-F238E27FC236}">
                  <a16:creationId xmlns:a16="http://schemas.microsoft.com/office/drawing/2014/main" id="{7635245B-DCCB-48C2-8297-73C57651F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5867400"/>
              <a:ext cx="762000" cy="7620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US" altLang="it-IT" sz="1000">
                <a:solidFill>
                  <a:srgbClr val="FFFFFF"/>
                </a:solidFill>
              </a:endParaRPr>
            </a:p>
            <a:p>
              <a:endParaRPr lang="en-US" altLang="it-IT" sz="10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4219" name="TextBox 20">
              <a:extLst>
                <a:ext uri="{FF2B5EF4-FFF2-40B4-BE49-F238E27FC236}">
                  <a16:creationId xmlns:a16="http://schemas.microsoft.com/office/drawing/2014/main" id="{4BC8737B-77A5-405B-B020-93275B4B6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7000" y="6069568"/>
              <a:ext cx="990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FFFFFF"/>
                  </a:solidFill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STOP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Footer Placeholder 1">
            <a:extLst>
              <a:ext uri="{FF2B5EF4-FFF2-40B4-BE49-F238E27FC236}">
                <a16:creationId xmlns:a16="http://schemas.microsoft.com/office/drawing/2014/main" id="{7D20C3D5-D020-4D9D-BDC1-6A6E518E07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6258" name="Slide Number Placeholder 2">
            <a:extLst>
              <a:ext uri="{FF2B5EF4-FFF2-40B4-BE49-F238E27FC236}">
                <a16:creationId xmlns:a16="http://schemas.microsoft.com/office/drawing/2014/main" id="{7B214D6A-C5DF-43BE-BF39-C70B25D80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1C8AD22-0533-4D0C-9029-F74903584D68}" type="slidenum">
              <a:rPr lang="en-US" altLang="it-IT"/>
              <a:pPr/>
              <a:t>41</a:t>
            </a:fld>
            <a:endParaRPr lang="en-US" altLang="it-IT"/>
          </a:p>
        </p:txBody>
      </p:sp>
      <p:sp>
        <p:nvSpPr>
          <p:cNvPr id="96259" name="TextBox 3">
            <a:extLst>
              <a:ext uri="{FF2B5EF4-FFF2-40B4-BE49-F238E27FC236}">
                <a16:creationId xmlns:a16="http://schemas.microsoft.com/office/drawing/2014/main" id="{265ACE6E-2DE7-40B0-8A51-ADF52ADF0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362200"/>
            <a:ext cx="6019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4000">
                <a:solidFill>
                  <a:srgbClr val="003C75"/>
                </a:solidFill>
              </a:rPr>
              <a:t>Unused Slides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Footer Placeholder 1">
            <a:extLst>
              <a:ext uri="{FF2B5EF4-FFF2-40B4-BE49-F238E27FC236}">
                <a16:creationId xmlns:a16="http://schemas.microsoft.com/office/drawing/2014/main" id="{A8057BD9-7B70-4224-A94C-51BCE5EF33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7282" name="Slide Number Placeholder 2">
            <a:extLst>
              <a:ext uri="{FF2B5EF4-FFF2-40B4-BE49-F238E27FC236}">
                <a16:creationId xmlns:a16="http://schemas.microsoft.com/office/drawing/2014/main" id="{EFD43FB3-B794-4899-AE44-ED4945D7FA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AA70D8E-AE84-437A-A37D-3F09F58C2202}" type="slidenum">
              <a:rPr lang="en-US" altLang="it-IT"/>
              <a:pPr/>
              <a:t>42</a:t>
            </a:fld>
            <a:endParaRPr lang="en-US" altLang="it-IT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F7AC2942-437A-43AF-9356-4EF3EF5C4F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Implementing Lexically Scoped Symbol Tables</a:t>
            </a: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F78A7DF2-1818-488B-B250-9321CEF46C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Stack organization</a:t>
            </a:r>
          </a:p>
        </p:txBody>
      </p:sp>
      <p:sp>
        <p:nvSpPr>
          <p:cNvPr id="64518" name="Text Box 4">
            <a:extLst>
              <a:ext uri="{FF2B5EF4-FFF2-40B4-BE49-F238E27FC236}">
                <a16:creationId xmlns:a16="http://schemas.microsoft.com/office/drawing/2014/main" id="{11990D1C-B5E8-45DD-B017-F422AC3DC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600200"/>
            <a:ext cx="3352800" cy="3714750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233363" indent="-233363" eaLnBrk="0" hangingPunct="0">
              <a:spcBef>
                <a:spcPct val="50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Implementation</a:t>
            </a:r>
          </a:p>
          <a:p>
            <a:pPr marL="233363" indent="-233363"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insert</a:t>
            </a:r>
            <a:r>
              <a:rPr lang="en-US" sz="9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creates new level pointer if needed and inserts at nextFree</a:t>
            </a:r>
          </a:p>
          <a:p>
            <a:pPr marL="233363" indent="-233363"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lookup</a:t>
            </a:r>
            <a:r>
              <a:rPr lang="en-US" sz="9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>
                <a:solidFill>
                  <a:srgbClr val="FF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searches linearly from nextFree–1 forward</a:t>
            </a:r>
          </a:p>
          <a:p>
            <a:pPr marL="233363" indent="-233363"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delete</a:t>
            </a:r>
            <a:r>
              <a:rPr lang="en-US" sz="9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sets nextFree to the equal the start location of the level deleted.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00CC"/>
              </a:buClr>
              <a:buSzPct val="120000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Advantage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Uses </a:t>
            </a:r>
            <a:r>
              <a:rPr lang="en-US" sz="1600" u="sng">
                <a:latin typeface="Comic Sans MS" charset="0"/>
                <a:ea typeface="ヒラギノ角ゴ Pro W3" charset="-128"/>
                <a:cs typeface="ヒラギノ角ゴ Pro W3" charset="-128"/>
              </a:rPr>
              <a:t>much</a:t>
            </a: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less space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00CC"/>
              </a:buClr>
              <a:buSzPct val="120000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Disadvantage</a:t>
            </a:r>
          </a:p>
          <a:p>
            <a:pPr marL="233363" indent="-2333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Lookups can be expensive</a:t>
            </a:r>
          </a:p>
        </p:txBody>
      </p:sp>
      <p:grpSp>
        <p:nvGrpSpPr>
          <p:cNvPr id="64519" name="Group 30">
            <a:extLst>
              <a:ext uri="{FF2B5EF4-FFF2-40B4-BE49-F238E27FC236}">
                <a16:creationId xmlns:a16="http://schemas.microsoft.com/office/drawing/2014/main" id="{BED179DA-F7C6-46BD-95AE-DE21A688909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00200"/>
            <a:ext cx="4267200" cy="4343400"/>
            <a:chOff x="432" y="1008"/>
            <a:chExt cx="2688" cy="2736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4534" name="Rectangle 20">
              <a:extLst>
                <a:ext uri="{FF2B5EF4-FFF2-40B4-BE49-F238E27FC236}">
                  <a16:creationId xmlns:a16="http://schemas.microsoft.com/office/drawing/2014/main" id="{A03A43C5-827F-43E1-BB6F-C22B87E9F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008"/>
              <a:ext cx="2688" cy="273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0" name="Rectangle 6">
              <a:extLst>
                <a:ext uri="{FF2B5EF4-FFF2-40B4-BE49-F238E27FC236}">
                  <a16:creationId xmlns:a16="http://schemas.microsoft.com/office/drawing/2014/main" id="{3202EAD1-C948-4168-B604-A98451BEA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312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003C7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a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1" name="Rectangle 7">
              <a:extLst>
                <a:ext uri="{FF2B5EF4-FFF2-40B4-BE49-F238E27FC236}">
                  <a16:creationId xmlns:a16="http://schemas.microsoft.com/office/drawing/2014/main" id="{CE0288E8-10CA-413F-B38E-F0F22B592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168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 sz="1600">
                <a:solidFill>
                  <a:srgbClr val="B025A6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2" name="Rectangle 8">
              <a:extLst>
                <a:ext uri="{FF2B5EF4-FFF2-40B4-BE49-F238E27FC236}">
                  <a16:creationId xmlns:a16="http://schemas.microsoft.com/office/drawing/2014/main" id="{FF096009-9DD8-4B4C-9A55-B43685649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024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c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3" name="Rectangle 9">
              <a:extLst>
                <a:ext uri="{FF2B5EF4-FFF2-40B4-BE49-F238E27FC236}">
                  <a16:creationId xmlns:a16="http://schemas.microsoft.com/office/drawing/2014/main" id="{F1659FFB-5B65-4DC5-97D0-9377C5D02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8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v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4" name="Rectangle 10">
              <a:extLst>
                <a:ext uri="{FF2B5EF4-FFF2-40B4-BE49-F238E27FC236}">
                  <a16:creationId xmlns:a16="http://schemas.microsoft.com/office/drawing/2014/main" id="{8BAF13C4-910F-49A2-81A0-AB28280EA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 sz="1600">
                <a:solidFill>
                  <a:srgbClr val="0000FF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5" name="Rectangle 11">
              <a:extLst>
                <a:ext uri="{FF2B5EF4-FFF2-40B4-BE49-F238E27FC236}">
                  <a16:creationId xmlns:a16="http://schemas.microsoft.com/office/drawing/2014/main" id="{0873EE53-7DED-428B-8300-4F76DEFAC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592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 sz="1600">
                <a:solidFill>
                  <a:srgbClr val="FF0000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6" name="Rectangle 12">
              <a:extLst>
                <a:ext uri="{FF2B5EF4-FFF2-40B4-BE49-F238E27FC236}">
                  <a16:creationId xmlns:a16="http://schemas.microsoft.com/office/drawing/2014/main" id="{AB83251D-7087-47F3-A2D7-56245005C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448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w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7" name="Rectangle 13">
              <a:extLst>
                <a:ext uri="{FF2B5EF4-FFF2-40B4-BE49-F238E27FC236}">
                  <a16:creationId xmlns:a16="http://schemas.microsoft.com/office/drawing/2014/main" id="{A6CEC931-459A-442E-AC5C-5EE5E63D8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304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 sz="1600">
                <a:solidFill>
                  <a:srgbClr val="FF0000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8" name="Rectangle 14">
              <a:extLst>
                <a:ext uri="{FF2B5EF4-FFF2-40B4-BE49-F238E27FC236}">
                  <a16:creationId xmlns:a16="http://schemas.microsoft.com/office/drawing/2014/main" id="{5A4F6BF7-D683-468A-8FC6-AB17DAAF9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6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y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29" name="Rectangle 15">
              <a:extLst>
                <a:ext uri="{FF2B5EF4-FFF2-40B4-BE49-F238E27FC236}">
                  <a16:creationId xmlns:a16="http://schemas.microsoft.com/office/drawing/2014/main" id="{7CDCB84E-B8BB-4FFD-B4CB-41AFA228B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16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z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0" name="Rectangle 16">
              <a:extLst>
                <a:ext uri="{FF2B5EF4-FFF2-40B4-BE49-F238E27FC236}">
                  <a16:creationId xmlns:a16="http://schemas.microsoft.com/office/drawing/2014/main" id="{DBCEF643-40D5-4A55-8939-1F96FD9DB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872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1" name="Rectangle 17">
              <a:extLst>
                <a:ext uri="{FF2B5EF4-FFF2-40B4-BE49-F238E27FC236}">
                  <a16:creationId xmlns:a16="http://schemas.microsoft.com/office/drawing/2014/main" id="{FD3AA2AC-9FB3-49C0-8AEB-86D162E86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728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2" name="Line 18">
              <a:extLst>
                <a:ext uri="{FF2B5EF4-FFF2-40B4-BE49-F238E27FC236}">
                  <a16:creationId xmlns:a16="http://schemas.microsoft.com/office/drawing/2014/main" id="{A6FFD7E4-40D7-4A9A-B604-B520D3AB2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4" y="1392"/>
              <a:ext cx="0" cy="288"/>
            </a:xfrm>
            <a:prstGeom prst="line">
              <a:avLst/>
            </a:prstGeom>
            <a:noFill/>
            <a:ln w="57150">
              <a:solidFill>
                <a:srgbClr val="B025A6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3" name="Text Box 19">
              <a:extLst>
                <a:ext uri="{FF2B5EF4-FFF2-40B4-BE49-F238E27FC236}">
                  <a16:creationId xmlns:a16="http://schemas.microsoft.com/office/drawing/2014/main" id="{B7204282-A8E2-494B-8559-DF0A801D5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392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2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growth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5" name="Line 21">
              <a:extLst>
                <a:ext uri="{FF2B5EF4-FFF2-40B4-BE49-F238E27FC236}">
                  <a16:creationId xmlns:a16="http://schemas.microsoft.com/office/drawing/2014/main" id="{FE7AE655-483A-4974-AFE1-1C1E59EAA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7" y="2440"/>
              <a:ext cx="317" cy="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6" name="Text Box 22">
              <a:extLst>
                <a:ext uri="{FF2B5EF4-FFF2-40B4-BE49-F238E27FC236}">
                  <a16:creationId xmlns:a16="http://schemas.microsoft.com/office/drawing/2014/main" id="{0DC78ECD-F5EA-4AF1-831A-02AD91086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3346"/>
              <a:ext cx="7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6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p  </a:t>
              </a: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(level 0)</a:t>
              </a:r>
              <a:endParaRPr lang="en-US" sz="1600" i="1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7" name="Line 23">
              <a:extLst>
                <a:ext uri="{FF2B5EF4-FFF2-40B4-BE49-F238E27FC236}">
                  <a16:creationId xmlns:a16="http://schemas.microsoft.com/office/drawing/2014/main" id="{C529F8D8-32BE-46A7-9D57-1092462E6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3452"/>
              <a:ext cx="317" cy="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8" name="Line 24">
              <a:extLst>
                <a:ext uri="{FF2B5EF4-FFF2-40B4-BE49-F238E27FC236}">
                  <a16:creationId xmlns:a16="http://schemas.microsoft.com/office/drawing/2014/main" id="{C3560940-A262-45F0-90DD-534B88480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012"/>
              <a:ext cx="317" cy="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39" name="Line 25">
              <a:extLst>
                <a:ext uri="{FF2B5EF4-FFF2-40B4-BE49-F238E27FC236}">
                  <a16:creationId xmlns:a16="http://schemas.microsoft.com/office/drawing/2014/main" id="{2862728C-B642-41BE-B943-D0E8F947F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1" y="3020"/>
              <a:ext cx="317" cy="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40" name="Text Box 26">
              <a:extLst>
                <a:ext uri="{FF2B5EF4-FFF2-40B4-BE49-F238E27FC236}">
                  <a16:creationId xmlns:a16="http://schemas.microsoft.com/office/drawing/2014/main" id="{B94F746D-61F6-4B17-9C29-90E3F36D3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2914"/>
              <a:ext cx="7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6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q  </a:t>
              </a: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(level 1)</a:t>
              </a:r>
            </a:p>
          </p:txBody>
        </p:sp>
        <p:sp>
          <p:nvSpPr>
            <p:cNvPr id="64541" name="Text Box 27">
              <a:extLst>
                <a:ext uri="{FF2B5EF4-FFF2-40B4-BE49-F238E27FC236}">
                  <a16:creationId xmlns:a16="http://schemas.microsoft.com/office/drawing/2014/main" id="{4854C977-0122-4E78-9D1F-FB3841031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2334"/>
              <a:ext cx="72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6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r  </a:t>
              </a: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(level 2)</a:t>
              </a:r>
            </a:p>
          </p:txBody>
        </p:sp>
        <p:sp>
          <p:nvSpPr>
            <p:cNvPr id="64542" name="Text Box 28">
              <a:extLst>
                <a:ext uri="{FF2B5EF4-FFF2-40B4-BE49-F238E27FC236}">
                  <a16:creationId xmlns:a16="http://schemas.microsoft.com/office/drawing/2014/main" id="{60886F75-2354-4749-8499-878B08554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" y="1906"/>
              <a:ext cx="66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6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nextFree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3395</Words>
  <Application>Microsoft Office PowerPoint</Application>
  <PresentationFormat>Presentazione su schermo (4:3)</PresentationFormat>
  <Paragraphs>879</Paragraphs>
  <Slides>43</Slides>
  <Notes>39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43</vt:i4>
      </vt:variant>
    </vt:vector>
  </HeadingPairs>
  <TitlesOfParts>
    <vt:vector size="44" baseType="lpstr">
      <vt:lpstr>Blank Presentation</vt:lpstr>
      <vt:lpstr>The Procedure Abstraction  Comp 412</vt:lpstr>
      <vt:lpstr>Where are we?</vt:lpstr>
      <vt:lpstr>Conceptual Overview</vt:lpstr>
      <vt:lpstr>Conceptual Overview</vt:lpstr>
      <vt:lpstr>Practical Overview</vt:lpstr>
      <vt:lpstr>The Procedure Abstraction</vt:lpstr>
      <vt:lpstr>The Procedure &amp; Its Three Abstractions</vt:lpstr>
      <vt:lpstr>The Procedure &amp; Its Three Abstractions</vt:lpstr>
      <vt:lpstr>The Procedure &amp; Its Three Abstractions</vt:lpstr>
      <vt:lpstr>The Procedure &amp; Its Three Abstractions</vt:lpstr>
      <vt:lpstr>The Procedure: Three Abstractions</vt:lpstr>
      <vt:lpstr>The Procedure                             (Realist’s View)</vt:lpstr>
      <vt:lpstr>The Procedure                             (Realist’s View)</vt:lpstr>
      <vt:lpstr>The Procedure                     (More Abstract View)</vt:lpstr>
      <vt:lpstr>Run Time versus Compile Time</vt:lpstr>
      <vt:lpstr>The Procedure as a Control Abstraction</vt:lpstr>
      <vt:lpstr>The Procedure as a Control Abstraction</vt:lpstr>
      <vt:lpstr>The Procedure as a Control Abstraction</vt:lpstr>
      <vt:lpstr>The Procedure as a Control Abstraction</vt:lpstr>
      <vt:lpstr>The Procedure Abstraction: Part II  Comp 412</vt:lpstr>
      <vt:lpstr>Review</vt:lpstr>
      <vt:lpstr>The Procedure as a Name Space</vt:lpstr>
      <vt:lpstr>The Procedure as a Name Space</vt:lpstr>
      <vt:lpstr>Do People Use This Stuff ?</vt:lpstr>
      <vt:lpstr>Do People Use This Stuff ?</vt:lpstr>
      <vt:lpstr>Lexically-scoped Symbol Tables</vt:lpstr>
      <vt:lpstr>Example</vt:lpstr>
      <vt:lpstr>Lexically-scoped Symbol Tables</vt:lpstr>
      <vt:lpstr>Implementing Lexically Scoped Symbol Tables</vt:lpstr>
      <vt:lpstr>The Procedure as an External Interface</vt:lpstr>
      <vt:lpstr>Where Do All These Variables Go?</vt:lpstr>
      <vt:lpstr>Placing Run-time Data Structures</vt:lpstr>
      <vt:lpstr>How Does This Really Work?</vt:lpstr>
      <vt:lpstr>How Does This Really Work?</vt:lpstr>
      <vt:lpstr>Where Do Local Variables Live?</vt:lpstr>
      <vt:lpstr>Translating Local Names </vt:lpstr>
      <vt:lpstr>Storage for Blocks within a Single Procedure</vt:lpstr>
      <vt:lpstr>Variable-length Data</vt:lpstr>
      <vt:lpstr>Activation Record Basics</vt:lpstr>
      <vt:lpstr>Activation Record Details</vt:lpstr>
      <vt:lpstr>Activation Record Details</vt:lpstr>
      <vt:lpstr>Presentazione standard di PowerPoint</vt:lpstr>
      <vt:lpstr>Implementing Lexically Scoped Symbol Tables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44</cp:revision>
  <cp:lastPrinted>2010-10-13T15:40:59Z</cp:lastPrinted>
  <dcterms:created xsi:type="dcterms:W3CDTF">2010-11-29T22:03:01Z</dcterms:created>
  <dcterms:modified xsi:type="dcterms:W3CDTF">2020-10-20T11:43:39Z</dcterms:modified>
</cp:coreProperties>
</file>