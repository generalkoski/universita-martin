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8" r:id="rId3"/>
    <p:sldId id="259" r:id="rId4"/>
    <p:sldId id="260" r:id="rId5"/>
    <p:sldId id="264" r:id="rId6"/>
    <p:sldId id="265" r:id="rId7"/>
    <p:sldId id="266" r:id="rId8"/>
    <p:sldId id="267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71" r:id="rId24"/>
    <p:sldId id="268" r:id="rId25"/>
    <p:sldId id="269" r:id="rId26"/>
    <p:sldId id="270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9" autoAdjust="0"/>
    <p:restoredTop sz="94660"/>
  </p:normalViewPr>
  <p:slideViewPr>
    <p:cSldViewPr>
      <p:cViewPr>
        <p:scale>
          <a:sx n="150" d="100"/>
          <a:sy n="150" d="100"/>
        </p:scale>
        <p:origin x="-7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1F2708-DA74-4DC4-A65B-E8F20D7706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 dirty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468C0E-7255-4CB1-A2B3-8897FE6EAB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5F3E2EBA-6FEC-4561-988F-480F4D686988}" type="datetime1">
              <a:rPr lang="en-US"/>
              <a:pPr>
                <a:defRPr/>
              </a:pPr>
              <a:t>10/20/2020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0ACD9-C212-45C5-869E-8180F9593C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 dirty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E577A-74DE-4CD4-92B9-A70DA5AA1C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BE941477-F0B9-4AE1-B276-F14114709F9E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9B6B1DF-07E1-4EE4-A0B0-C7D849177D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C681E01-F6C9-4FD0-AF92-25FF91B0E75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dirty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F038755-A42D-4653-A9B3-7D276CC4FAF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760CE36-00F4-4BE7-879D-1D967A0F3E0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DA13D6D9-EBA4-4DD6-BFAF-8AC3FE5CCE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DBA6F38-07D8-4B17-B4DC-98ECD338F2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A133E29C-5151-4994-9CBA-7D52E4527287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D550D474-C8DD-41A7-BC86-15BA20B15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7F4B39C-8293-4F36-900E-1D06FAF4A516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412CD155-A6DA-4674-8CC3-DB5D4B252D1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378963A-C60A-4493-9B68-283E4381A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64BB0679-306C-4972-97CB-50565D0C7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DAA838A-2AA2-4A75-B089-F96160BFD4D2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D298C5A3-F1ED-47C9-9130-F75EA7F88B4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C7106EF-CC1B-4A0E-AA7D-B8E6B8C725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B4214A07-ED27-4B1A-A054-782AB585F5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869737D-8B86-4CA3-9951-495B62CE1E11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803FBE78-AFDE-4D30-ADD5-1CE4231FC52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FF407DE-4186-4D41-AAF1-2045F64FF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5B8ECC9C-26D2-4464-9142-4862DDC819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1B53D86-EF26-4959-9855-CD09B112F2E6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DA2243E-E4BA-4102-948C-E38EBAECABB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8AB1605-5B2D-40EE-B384-AB11E9AFA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D71F9C18-5B32-4778-9328-3FEE80841D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92CA26B-F0C2-4AB7-A1D9-E22F3F5F8FF9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8C4FA473-0057-4DF5-AD79-2D41875C999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FBFE5B2-2BD4-4986-BA8F-B30DD4E461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E4DDAD15-0A6F-4288-80E1-30D80C829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5BBB7F1-1EB8-450B-94E7-A56E94D7DB95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81CE227F-07D0-43D8-9C3C-DF5DDF3A446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862DD04-9FBD-4219-9553-8CE5180098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C166BE06-3FB3-4BEC-9782-F5941815B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22D4E4E-1E9A-40A6-A4A4-FAE2FA717F78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EF39C19E-B287-4F86-AA8A-1CAC3D5638A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3247830-5AAE-4CE4-9BF5-07E5BAF4F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5D4BBD2-1BB9-4E9D-91A3-4EEAA031FF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7ACFC4D-A309-434E-93E8-8042A0DFA6ED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5878E354-FB1C-452B-A90A-93EC1FE98FD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E8F9414-0575-4A9B-938A-77591C4AD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Base( an IDENTIFIER node ) looks up the node’s symbol in the table, finds its base address, and gets that address in a register.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It can, in a decent implementation, know that &amp;_procname.static_ is already in a register and avoid the load.</a:t>
            </a:r>
          </a:p>
          <a:p>
            <a:pPr eaLnBrk="1" hangingPunct="1"/>
            <a:endParaRPr lang="en-US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Offset( an IDENTIFIER node ) looks up the node’s symbol in the table, places its offset in a register, &amp; returns that register.</a:t>
            </a:r>
          </a:p>
          <a:p>
            <a:pPr eaLnBrk="1" hangingPunct="1"/>
            <a:endParaRPr lang="en-US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Val( a NUMBER node ) gets that number into a register &amp; returns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40C19102-F7D4-482E-8A79-E7F59B3260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02DAF1F-22CC-48E1-9616-801448B838A2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9D4C1EE8-88D5-4418-9EA7-60907D599FD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1BC20E2-4754-4B98-BD25-B4CD984346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0539C148-51D6-4B70-8F8D-E91FF1139C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923F376-A8D2-4436-873C-61C91F8F8349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B734352-7AE2-4084-AAF0-7B977B5A09E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B72081F-1CE5-4410-8AE2-DDA51F995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BC638F0B-9E3D-45AA-854F-2FCF59CBFB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BB6AEF5-0769-430A-80E0-A7EDAA39A05A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A3ADF605-393A-4037-BCB1-661FF93123C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7F28C16-A0AD-4539-A97F-2465B6001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D2B3A7F8-BDBE-44A6-AFF7-55D8088F35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F823521-3CC4-4FAF-8ECE-7DF93FD33704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DF6F5B35-7F21-47FE-8578-37F7338C21E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02CEDFD-DE47-4FEA-97AC-90EB6BE5C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815284A0-FCA8-4FA5-A992-2661537C0B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59A5E71-072D-4657-9C93-9FB40A21ABB0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8659C3D-C4F1-4B6F-ACCB-255DE12DE4B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1D1EB9C-359D-4E4A-B22E-CFFDDB8F6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F7EA1D53-5EE2-449F-BFA3-271539392C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C1A75C4-53B1-4CF5-AC35-91DF69B7A40A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BF986347-2AC4-4043-8F24-A980EBF49B0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8146B45-3B39-45E8-9C13-9EA68D2D8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7490EE07-505D-4BAA-84FD-BBE1BBDDF3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F1962F6-4DC2-4EB4-8283-CF37E3BAE288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44100D8-CDCF-4483-A031-E0FA8A9EA69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1D7117D-F99C-4A7B-87A8-788CF5524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831105FF-FDF1-4377-AF24-2BB434C86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5C1D910-57B6-49F0-BC1D-C0CC96EABFFB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38BA9B84-7E31-4548-AF3D-D85117ABD6E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09ECF073-EC75-44F5-81B9-E55425312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83935508-1D2E-4952-8622-D99253000B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1B5EAF1-DCF7-4136-A09A-F789C73F3792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C67B010A-9D46-4DB2-B3EB-1643095D40E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F0F35455-A62B-4F4C-890C-E0392177C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C2CDB32C-BF71-44ED-BB1F-8973AC95E1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97880C1-A4D0-4C22-874F-19D7D42C746F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F7A7AFC3-1057-421A-A012-3C6C3A7B6BB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5DDFCCC-1629-4E95-8716-280DB08A2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833B524B-A4B2-400B-A336-B423512A39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4BA491A-9708-4829-80AF-8B2D47369B6A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ED36AF37-446C-482A-98E9-AC9CB4879BA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5DBE8DA2-411B-4BB3-B6C9-BA4D759E1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B8FCE263-9FE6-4ED8-A10A-B6B3529774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75117E9-C610-427F-A5BD-FFF0299BEB39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64218DB1-2CD5-4BD1-8722-CF11C9E7A72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8D3FCB2B-571B-48D6-9FEF-DC532516C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97FC61E3-EC09-4E59-97BB-9DF0BDDA1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91E906F-CE6E-41CE-9A6A-54450230669C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AF067C32-101F-4772-8A59-E8DBFAF4851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6A9851D1-055B-45ED-9731-8C407DD92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513C2C37-CB85-49BC-BD81-1961675EE9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8BEA2E4-B307-4FDC-B414-13C0114F9E55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EF94D6F9-C4F9-4AE7-901D-1EC36187461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2EF99F31-69F6-43E7-830D-64A4CFD8B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275F463D-D3BA-425D-BECC-06021D893B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3293F27-59CB-45C8-AB20-91340E243A4E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4F5A1F17-6161-4C1D-90D7-FCE1AA109DF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9EABA7E-2400-44DE-88BC-3BDB78A7B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A715AD0-5F42-4873-98FD-C90BB43499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959B43A-38ED-414F-AA08-345F0F5ADE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F5D986-53F1-41E0-BDA9-07E65B737BF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573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EA56BDF-9C79-49C1-8816-619F42F76A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BC224EA-E916-4A21-A1B3-51744AE462E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FE5739-1767-4A11-A6EE-D73F3599783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95159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121AD5-7627-4F79-8B5E-8605C465AC9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2F4105E-8FA7-4727-936F-8EE835A097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9F4986-31BE-4C4E-8004-25D4537D8C3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365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3F2D08-0E09-4336-931F-6C81124D7E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011589-167A-4F92-AC75-FB0C9B2D30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C26544-AF2F-47D0-B96E-526B3421DC8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8371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F67220D-4BFE-4EB5-95CF-CE8814A9A2F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243E126-8F4C-4A3D-BB63-C129FE29EA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A7851-8C91-4D6F-A364-5448F4D80CC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712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B4205CD-441F-42F4-A5C8-F937B677D53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97849D5-6B4F-43E7-965F-F518071561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D102B8-CADA-4CBA-BEF6-6FDD3F16885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89286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6833C9B-B5E1-43AF-86AE-DE396C125B5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ED4C2E1-FE3A-4F99-9649-EE01810A59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C9DFB7-9C72-4F36-91D9-7D8D50E04BD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07890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7B13B6-FD22-4E56-8F0A-7C6D84563D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00C58A-2846-429C-B226-867097D8BE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BC561F-83E8-4D6B-BE51-5ABCC9FECF0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5052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D126AE-73FA-4EE9-9342-0A2D32F4F27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9B2D92-C1EA-4C98-BCA0-1342835A35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BF451E-7C80-44E5-99BC-7516CD4F73F3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07152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3F8960-7E92-45F0-AC11-D5260847A89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1DBF40-C58C-4D3B-91B4-1A529D5EF1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5FA8BD-2F11-4C47-8271-8C46B3E48A6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53836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70C8B7-9FEF-4DC5-A8B5-BF1581B5941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5EB0BED-D858-46D3-9CFA-E3E4E4864F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EB7F61-2C44-4AD6-9E10-DD2C6C2DE3D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650337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BC263A4-C3D8-4BB6-8E7C-0CA3F0AF9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78C8D44-EA10-434F-A59B-88AA63834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C9E116B-CA15-4630-B8CD-290BE4BE04F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dirty="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10DF9F-5A91-4CE8-8881-293F1D0A6D8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84FD74DF-DBA4-4CDD-B3C4-643156A0C7FC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8A98C14F-9A1F-43BB-BF74-40B07F05CF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713BC871-D365-4021-AB5A-D8BEA2DDA9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D93DA44C-F950-4E68-A1EA-BA7F637410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Introduction to Code Generation</a:t>
            </a:r>
            <a:br>
              <a:rPr lang="en-US" altLang="it-IT" sz="3200" i="1"/>
            </a:br>
            <a:br>
              <a:rPr lang="en-US" altLang="it-IT" sz="32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FC927D1-7867-4EFD-B578-C2D0EBA157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207A274F-2CA8-4C17-8DBF-83E8AB6F8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34D8C4A9-AD52-484D-A9E2-8E2B2267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Footer Placeholder 3">
            <a:extLst>
              <a:ext uri="{FF2B5EF4-FFF2-40B4-BE49-F238E27FC236}">
                <a16:creationId xmlns:a16="http://schemas.microsoft.com/office/drawing/2014/main" id="{A34FF064-4EC6-4F93-A6EF-A5318E0FD3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6386" name="Slide Number Placeholder 4">
            <a:extLst>
              <a:ext uri="{FF2B5EF4-FFF2-40B4-BE49-F238E27FC236}">
                <a16:creationId xmlns:a16="http://schemas.microsoft.com/office/drawing/2014/main" id="{BD2DD48F-4100-4FAE-B2C8-E579A1FFFE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1A45296-7564-4BE5-92FC-E3991F3FAF49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3810E56-2656-4E2B-A709-F1FAD210E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Structure of a Compiler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EDBFA10-4334-44FE-916D-2AA31A3E2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924800" cy="51816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80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A compiler is a lot of fast stuff followed by some hard problems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The hard stuff is mostly in </a:t>
            </a:r>
            <a:r>
              <a:rPr lang="en-US" altLang="it-IT">
                <a:solidFill>
                  <a:srgbClr val="FF0065"/>
                </a:solidFill>
              </a:rPr>
              <a:t>code generation</a:t>
            </a:r>
            <a:r>
              <a:rPr lang="en-US" altLang="it-IT"/>
              <a:t> and </a:t>
            </a:r>
            <a:r>
              <a:rPr lang="en-US" altLang="it-IT">
                <a:solidFill>
                  <a:srgbClr val="FF0065"/>
                </a:solidFill>
              </a:rPr>
              <a:t>optimization</a:t>
            </a:r>
            <a:endParaRPr lang="en-US" altLang="it-IT">
              <a:solidFill>
                <a:srgbClr val="996600"/>
              </a:solidFill>
            </a:endParaRP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For multicores, we need to manage parallelism &amp; sharing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it-IT"/>
              <a:t>For unicore performance, allocation &amp; scheduling are critical</a:t>
            </a:r>
          </a:p>
          <a:p>
            <a:pPr lvl="1" eaLnBrk="1" hangingPunct="1">
              <a:spcBef>
                <a:spcPct val="15000"/>
              </a:spcBef>
            </a:pPr>
            <a:endParaRPr lang="en-US" altLang="it-IT"/>
          </a:p>
        </p:txBody>
      </p:sp>
      <p:grpSp>
        <p:nvGrpSpPr>
          <p:cNvPr id="16389" name="Group 32">
            <a:extLst>
              <a:ext uri="{FF2B5EF4-FFF2-40B4-BE49-F238E27FC236}">
                <a16:creationId xmlns:a16="http://schemas.microsoft.com/office/drawing/2014/main" id="{2C79DA29-DF52-476A-8FBD-3C3269D6EC7B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233488"/>
            <a:ext cx="7316788" cy="3643312"/>
            <a:chOff x="480" y="777"/>
            <a:chExt cx="4609" cy="2295"/>
          </a:xfrm>
        </p:grpSpPr>
        <p:sp>
          <p:nvSpPr>
            <p:cNvPr id="16390" name="Rectangle 4">
              <a:extLst>
                <a:ext uri="{FF2B5EF4-FFF2-40B4-BE49-F238E27FC236}">
                  <a16:creationId xmlns:a16="http://schemas.microsoft.com/office/drawing/2014/main" id="{ACD5146E-4000-4490-A891-1175334EA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139"/>
              <a:ext cx="864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95000"/>
                </a:lnSpc>
              </a:pPr>
              <a:r>
                <a:rPr lang="en-US" altLang="it-IT"/>
                <a:t>Instruction</a:t>
              </a:r>
            </a:p>
            <a:p>
              <a:pPr algn="ctr">
                <a:lnSpc>
                  <a:spcPct val="95000"/>
                </a:lnSpc>
              </a:pPr>
              <a:r>
                <a:rPr lang="en-US" altLang="it-IT"/>
                <a:t>Selection</a:t>
              </a:r>
            </a:p>
          </p:txBody>
        </p:sp>
        <p:sp>
          <p:nvSpPr>
            <p:cNvPr id="16391" name="Rectangle 5">
              <a:extLst>
                <a:ext uri="{FF2B5EF4-FFF2-40B4-BE49-F238E27FC236}">
                  <a16:creationId xmlns:a16="http://schemas.microsoft.com/office/drawing/2014/main" id="{F5D9E9EC-35DB-48F0-B167-544346439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139"/>
              <a:ext cx="864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95000"/>
                </a:lnSpc>
              </a:pPr>
              <a:r>
                <a:rPr lang="en-US" altLang="it-IT"/>
                <a:t>Register</a:t>
              </a:r>
            </a:p>
            <a:p>
              <a:pPr algn="ctr">
                <a:lnSpc>
                  <a:spcPct val="95000"/>
                </a:lnSpc>
              </a:pPr>
              <a:r>
                <a:rPr lang="en-US" altLang="it-IT"/>
                <a:t>Allocation</a:t>
              </a:r>
            </a:p>
          </p:txBody>
        </p:sp>
        <p:sp>
          <p:nvSpPr>
            <p:cNvPr id="16392" name="Rectangle 6">
              <a:extLst>
                <a:ext uri="{FF2B5EF4-FFF2-40B4-BE49-F238E27FC236}">
                  <a16:creationId xmlns:a16="http://schemas.microsoft.com/office/drawing/2014/main" id="{A3CB3646-5D91-4CCF-9885-8E807801E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139"/>
              <a:ext cx="864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95000"/>
                </a:lnSpc>
              </a:pPr>
              <a:r>
                <a:rPr lang="en-US" altLang="it-IT"/>
                <a:t>Instruction</a:t>
              </a:r>
              <a:br>
                <a:rPr lang="en-US" altLang="it-IT"/>
              </a:br>
              <a:r>
                <a:rPr lang="en-US" altLang="it-IT"/>
                <a:t>Scheduling</a:t>
              </a:r>
            </a:p>
          </p:txBody>
        </p:sp>
        <p:cxnSp>
          <p:nvCxnSpPr>
            <p:cNvPr id="16393" name="AutoShape 7">
              <a:extLst>
                <a:ext uri="{FF2B5EF4-FFF2-40B4-BE49-F238E27FC236}">
                  <a16:creationId xmlns:a16="http://schemas.microsoft.com/office/drawing/2014/main" id="{142DB503-EEED-4EFD-B0A9-1ABC03C63963}"/>
                </a:ext>
              </a:extLst>
            </p:cNvPr>
            <p:cNvCxnSpPr>
              <a:cxnSpLocks noChangeShapeType="1"/>
              <a:stCxn id="16399" idx="3"/>
              <a:endCxn id="16390" idx="1"/>
            </p:cNvCxnSpPr>
            <p:nvPr/>
          </p:nvCxnSpPr>
          <p:spPr bwMode="auto">
            <a:xfrm flipH="1">
              <a:off x="1386" y="1347"/>
              <a:ext cx="2700" cy="1056"/>
            </a:xfrm>
            <a:prstGeom prst="bentConnector5">
              <a:avLst>
                <a:gd name="adj1" fmla="val -5111"/>
                <a:gd name="adj2" fmla="val 50000"/>
                <a:gd name="adj3" fmla="val 105111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4" name="AutoShape 8">
              <a:extLst>
                <a:ext uri="{FF2B5EF4-FFF2-40B4-BE49-F238E27FC236}">
                  <a16:creationId xmlns:a16="http://schemas.microsoft.com/office/drawing/2014/main" id="{178D1781-A288-4045-8D11-DCB5A0F901D5}"/>
                </a:ext>
              </a:extLst>
            </p:cNvPr>
            <p:cNvCxnSpPr>
              <a:cxnSpLocks noChangeShapeType="1"/>
              <a:stCxn id="16390" idx="3"/>
              <a:endCxn id="16392" idx="1"/>
            </p:cNvCxnSpPr>
            <p:nvPr/>
          </p:nvCxnSpPr>
          <p:spPr bwMode="auto">
            <a:xfrm>
              <a:off x="2262" y="2403"/>
              <a:ext cx="372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5" name="AutoShape 9">
              <a:extLst>
                <a:ext uri="{FF2B5EF4-FFF2-40B4-BE49-F238E27FC236}">
                  <a16:creationId xmlns:a16="http://schemas.microsoft.com/office/drawing/2014/main" id="{EA931E8E-CB1C-41F5-A145-7D19C8E3A7BC}"/>
                </a:ext>
              </a:extLst>
            </p:cNvPr>
            <p:cNvCxnSpPr>
              <a:cxnSpLocks noChangeShapeType="1"/>
              <a:stCxn id="16392" idx="3"/>
              <a:endCxn id="16391" idx="1"/>
            </p:cNvCxnSpPr>
            <p:nvPr/>
          </p:nvCxnSpPr>
          <p:spPr bwMode="auto">
            <a:xfrm>
              <a:off x="3510" y="2403"/>
              <a:ext cx="372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396" name="Line 10">
              <a:extLst>
                <a:ext uri="{FF2B5EF4-FFF2-40B4-BE49-F238E27FC236}">
                  <a16:creationId xmlns:a16="http://schemas.microsoft.com/office/drawing/2014/main" id="{9F3CFD98-57DE-4FF5-A189-4FFE581586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403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6397" name="Rectangle 11">
              <a:extLst>
                <a:ext uri="{FF2B5EF4-FFF2-40B4-BE49-F238E27FC236}">
                  <a16:creationId xmlns:a16="http://schemas.microsoft.com/office/drawing/2014/main" id="{D7B40659-D5F3-4320-B859-7610C4F3C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083"/>
              <a:ext cx="864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/>
                <a:t>Scanner</a:t>
              </a:r>
            </a:p>
          </p:txBody>
        </p:sp>
        <p:sp>
          <p:nvSpPr>
            <p:cNvPr id="16398" name="Rectangle 12">
              <a:extLst>
                <a:ext uri="{FF2B5EF4-FFF2-40B4-BE49-F238E27FC236}">
                  <a16:creationId xmlns:a16="http://schemas.microsoft.com/office/drawing/2014/main" id="{27C5BDA8-DB84-4B6F-9A40-7CC1937AA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083"/>
              <a:ext cx="864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/>
                <a:t>Parser</a:t>
              </a:r>
            </a:p>
          </p:txBody>
        </p:sp>
        <p:sp>
          <p:nvSpPr>
            <p:cNvPr id="16399" name="Rectangle 13">
              <a:extLst>
                <a:ext uri="{FF2B5EF4-FFF2-40B4-BE49-F238E27FC236}">
                  <a16:creationId xmlns:a16="http://schemas.microsoft.com/office/drawing/2014/main" id="{252C8510-48F4-400D-B8B9-F22F8E3EB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083"/>
              <a:ext cx="864" cy="5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it-IT" sz="1700"/>
                <a:t>Analysis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it-IT" sz="1700"/>
                <a:t>&amp;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it-IT" sz="1700"/>
                <a:t>Optimization</a:t>
              </a:r>
              <a:endParaRPr lang="en-US" altLang="it-IT"/>
            </a:p>
          </p:txBody>
        </p:sp>
        <p:cxnSp>
          <p:nvCxnSpPr>
            <p:cNvPr id="16400" name="AutoShape 14">
              <a:extLst>
                <a:ext uri="{FF2B5EF4-FFF2-40B4-BE49-F238E27FC236}">
                  <a16:creationId xmlns:a16="http://schemas.microsoft.com/office/drawing/2014/main" id="{7A88B7E2-FE8B-4C80-B16F-5D47EC4BA6E4}"/>
                </a:ext>
              </a:extLst>
            </p:cNvPr>
            <p:cNvCxnSpPr>
              <a:cxnSpLocks noChangeShapeType="1"/>
              <a:stCxn id="16397" idx="3"/>
              <a:endCxn id="16398" idx="1"/>
            </p:cNvCxnSpPr>
            <p:nvPr/>
          </p:nvCxnSpPr>
          <p:spPr bwMode="auto">
            <a:xfrm>
              <a:off x="1590" y="1347"/>
              <a:ext cx="46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01" name="AutoShape 15">
              <a:extLst>
                <a:ext uri="{FF2B5EF4-FFF2-40B4-BE49-F238E27FC236}">
                  <a16:creationId xmlns:a16="http://schemas.microsoft.com/office/drawing/2014/main" id="{07521EB7-8FC3-481C-BC9E-908CBCEA36BB}"/>
                </a:ext>
              </a:extLst>
            </p:cNvPr>
            <p:cNvCxnSpPr>
              <a:cxnSpLocks noChangeShapeType="1"/>
              <a:stCxn id="16398" idx="3"/>
              <a:endCxn id="16399" idx="1"/>
            </p:cNvCxnSpPr>
            <p:nvPr/>
          </p:nvCxnSpPr>
          <p:spPr bwMode="auto">
            <a:xfrm>
              <a:off x="2934" y="1347"/>
              <a:ext cx="276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02" name="Line 16">
              <a:extLst>
                <a:ext uri="{FF2B5EF4-FFF2-40B4-BE49-F238E27FC236}">
                  <a16:creationId xmlns:a16="http://schemas.microsoft.com/office/drawing/2014/main" id="{E3320344-F76A-4380-A5E2-91F4C2D22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347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6403" name="Text Box 17">
              <a:extLst>
                <a:ext uri="{FF2B5EF4-FFF2-40B4-BE49-F238E27FC236}">
                  <a16:creationId xmlns:a16="http://schemas.microsoft.com/office/drawing/2014/main" id="{AA61B7EE-64DE-400A-A451-64D6DB9D9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7" y="777"/>
              <a:ext cx="1296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it-IT" sz="1600">
                  <a:solidFill>
                    <a:srgbClr val="003C75"/>
                  </a:solidFill>
                </a:rPr>
                <a:t>O(n log n) to Exponential</a:t>
              </a:r>
            </a:p>
          </p:txBody>
        </p:sp>
        <p:sp>
          <p:nvSpPr>
            <p:cNvPr id="16404" name="Text Box 18">
              <a:extLst>
                <a:ext uri="{FF2B5EF4-FFF2-40B4-BE49-F238E27FC236}">
                  <a16:creationId xmlns:a16="http://schemas.microsoft.com/office/drawing/2014/main" id="{7CEF6484-1778-423B-946F-7970F5D5C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" y="816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O(n)</a:t>
              </a:r>
            </a:p>
          </p:txBody>
        </p:sp>
        <p:sp>
          <p:nvSpPr>
            <p:cNvPr id="16405" name="Text Box 19">
              <a:extLst>
                <a:ext uri="{FF2B5EF4-FFF2-40B4-BE49-F238E27FC236}">
                  <a16:creationId xmlns:a16="http://schemas.microsoft.com/office/drawing/2014/main" id="{73A17855-E79A-4E2B-B15A-1A55A963F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" y="816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O(n)</a:t>
              </a:r>
            </a:p>
          </p:txBody>
        </p:sp>
        <p:sp>
          <p:nvSpPr>
            <p:cNvPr id="16406" name="Text Box 20">
              <a:extLst>
                <a:ext uri="{FF2B5EF4-FFF2-40B4-BE49-F238E27FC236}">
                  <a16:creationId xmlns:a16="http://schemas.microsoft.com/office/drawing/2014/main" id="{40B41F94-3458-4B8D-B582-781D809C5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706"/>
              <a:ext cx="9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NP-Complete</a:t>
              </a:r>
            </a:p>
          </p:txBody>
        </p:sp>
        <p:sp>
          <p:nvSpPr>
            <p:cNvPr id="16407" name="Text Box 21">
              <a:extLst>
                <a:ext uri="{FF2B5EF4-FFF2-40B4-BE49-F238E27FC236}">
                  <a16:creationId xmlns:a16="http://schemas.microsoft.com/office/drawing/2014/main" id="{AA6FDC95-3116-4354-AC86-1B97F6029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706"/>
              <a:ext cx="9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NP-Complete</a:t>
              </a:r>
            </a:p>
          </p:txBody>
        </p:sp>
        <p:sp>
          <p:nvSpPr>
            <p:cNvPr id="16408" name="Text Box 22">
              <a:extLst>
                <a:ext uri="{FF2B5EF4-FFF2-40B4-BE49-F238E27FC236}">
                  <a16:creationId xmlns:a16="http://schemas.microsoft.com/office/drawing/2014/main" id="{528D4F41-94EE-4E5C-BFB6-BE394BB2A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706"/>
              <a:ext cx="110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Either fast or</a:t>
              </a:r>
            </a:p>
            <a:p>
              <a:pPr algn="ctr"/>
              <a:r>
                <a:rPr lang="en-US" altLang="it-IT" sz="1600">
                  <a:solidFill>
                    <a:srgbClr val="003C75"/>
                  </a:solidFill>
                </a:rPr>
                <a:t>NP-Complete</a:t>
              </a:r>
            </a:p>
          </p:txBody>
        </p:sp>
        <p:sp>
          <p:nvSpPr>
            <p:cNvPr id="16409" name="Text Box 23">
              <a:extLst>
                <a:ext uri="{FF2B5EF4-FFF2-40B4-BE49-F238E27FC236}">
                  <a16:creationId xmlns:a16="http://schemas.microsoft.com/office/drawing/2014/main" id="{90EFB08F-15A3-4AB0-A104-2B37AC6B3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2" y="1139"/>
              <a:ext cx="4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400" i="1"/>
                <a:t>words</a:t>
              </a:r>
            </a:p>
          </p:txBody>
        </p:sp>
        <p:sp>
          <p:nvSpPr>
            <p:cNvPr id="16410" name="Text Box 24">
              <a:extLst>
                <a:ext uri="{FF2B5EF4-FFF2-40B4-BE49-F238E27FC236}">
                  <a16:creationId xmlns:a16="http://schemas.microsoft.com/office/drawing/2014/main" id="{F7AC3D5E-618E-4EA4-B6C4-8BAFE35D4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9" y="1131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 i="1"/>
                <a:t>IR</a:t>
              </a:r>
              <a:endParaRPr lang="en-US" altLang="it-IT" sz="1600" b="1" i="1"/>
            </a:p>
          </p:txBody>
        </p:sp>
        <p:sp>
          <p:nvSpPr>
            <p:cNvPr id="16411" name="Text Box 25">
              <a:extLst>
                <a:ext uri="{FF2B5EF4-FFF2-40B4-BE49-F238E27FC236}">
                  <a16:creationId xmlns:a16="http://schemas.microsoft.com/office/drawing/2014/main" id="{91D02FC1-E6D9-4955-AE51-5E1FD659C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9" y="2016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 i="1"/>
                <a:t>IR</a:t>
              </a:r>
              <a:endParaRPr lang="en-US" altLang="it-IT" sz="1600" b="1" i="1"/>
            </a:p>
          </p:txBody>
        </p:sp>
        <p:sp>
          <p:nvSpPr>
            <p:cNvPr id="16412" name="Text Box 26">
              <a:extLst>
                <a:ext uri="{FF2B5EF4-FFF2-40B4-BE49-F238E27FC236}">
                  <a16:creationId xmlns:a16="http://schemas.microsoft.com/office/drawing/2014/main" id="{FA9B9BB5-A106-49FF-A600-353A2B18B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16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/>
                <a:t>asm</a:t>
              </a:r>
            </a:p>
          </p:txBody>
        </p:sp>
        <p:sp>
          <p:nvSpPr>
            <p:cNvPr id="16413" name="Text Box 27">
              <a:extLst>
                <a:ext uri="{FF2B5EF4-FFF2-40B4-BE49-F238E27FC236}">
                  <a16:creationId xmlns:a16="http://schemas.microsoft.com/office/drawing/2014/main" id="{B8014ACB-BB42-4F46-91B6-9CB02DAB2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160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/>
                <a:t>asm</a:t>
              </a:r>
            </a:p>
          </p:txBody>
        </p:sp>
        <p:sp>
          <p:nvSpPr>
            <p:cNvPr id="16414" name="Text Box 28">
              <a:extLst>
                <a:ext uri="{FF2B5EF4-FFF2-40B4-BE49-F238E27FC236}">
                  <a16:creationId xmlns:a16="http://schemas.microsoft.com/office/drawing/2014/main" id="{2E7E65C1-3E98-466A-9AEE-CBF5CEF1A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5" y="216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/>
                <a:t>asm</a:t>
              </a:r>
            </a:p>
          </p:txBody>
        </p:sp>
        <p:sp>
          <p:nvSpPr>
            <p:cNvPr id="16415" name="Text Box 29">
              <a:extLst>
                <a:ext uri="{FF2B5EF4-FFF2-40B4-BE49-F238E27FC236}">
                  <a16:creationId xmlns:a16="http://schemas.microsoft.com/office/drawing/2014/main" id="{2A4E4399-0D34-4531-B8C3-89F22BAE4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0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it-IT" sz="1600" i="1"/>
                <a:t>∞</a:t>
              </a:r>
              <a:endParaRPr lang="en-US" altLang="it-IT" sz="1400" i="1"/>
            </a:p>
            <a:p>
              <a:pPr algn="ctr">
                <a:lnSpc>
                  <a:spcPct val="80000"/>
                </a:lnSpc>
              </a:pPr>
              <a:r>
                <a:rPr lang="en-US" altLang="it-IT" sz="1400" i="1"/>
                <a:t>regs</a:t>
              </a:r>
            </a:p>
          </p:txBody>
        </p:sp>
        <p:sp>
          <p:nvSpPr>
            <p:cNvPr id="16416" name="Text Box 30">
              <a:extLst>
                <a:ext uri="{FF2B5EF4-FFF2-40B4-BE49-F238E27FC236}">
                  <a16:creationId xmlns:a16="http://schemas.microsoft.com/office/drawing/2014/main" id="{BC9BCEC1-CBED-472D-B2DD-BFD2B991C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40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it-IT" sz="1600" i="1"/>
                <a:t>∞</a:t>
              </a:r>
              <a:endParaRPr lang="en-US" altLang="it-IT" sz="1400" i="1"/>
            </a:p>
            <a:p>
              <a:pPr algn="ctr">
                <a:lnSpc>
                  <a:spcPct val="80000"/>
                </a:lnSpc>
              </a:pPr>
              <a:r>
                <a:rPr lang="en-US" altLang="it-IT" sz="1400" i="1"/>
                <a:t>regs</a:t>
              </a:r>
            </a:p>
          </p:txBody>
        </p:sp>
        <p:sp>
          <p:nvSpPr>
            <p:cNvPr id="16417" name="Text Box 31">
              <a:extLst>
                <a:ext uri="{FF2B5EF4-FFF2-40B4-BE49-F238E27FC236}">
                  <a16:creationId xmlns:a16="http://schemas.microsoft.com/office/drawing/2014/main" id="{9C983320-2C15-4D18-958B-7C1EA37DE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400"/>
              <a:ext cx="38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it-IT" sz="1400" i="1"/>
                <a:t>k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it-IT" sz="1400" i="1"/>
                <a:t>regs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3">
            <a:extLst>
              <a:ext uri="{FF2B5EF4-FFF2-40B4-BE49-F238E27FC236}">
                <a16:creationId xmlns:a16="http://schemas.microsoft.com/office/drawing/2014/main" id="{77967513-71DE-419A-9E24-1556FE8EF1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3BA4243F-1A59-4088-BB11-DA3D319BDF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2C567D4-F3C4-4550-B1A9-EA5923C1828D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055A6CB-C72F-4E3C-9693-5322EBCD4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Structure of a Compiler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E40922C-B237-48ED-A7FF-E94888A1D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8768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For the rest of 412, we assume the following model</a:t>
            </a:r>
            <a:endParaRPr lang="en-US" altLang="it-IT"/>
          </a:p>
          <a:p>
            <a:pPr eaLnBrk="1" hangingPunct="1">
              <a:spcBef>
                <a:spcPct val="500000"/>
              </a:spcBef>
            </a:pPr>
            <a:r>
              <a:rPr lang="en-US" altLang="it-IT"/>
              <a:t>Selection is fairly simple (problem of the 1980s)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Allocation &amp; scheduling are complex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Operation placement is not yet critical     </a:t>
            </a:r>
            <a:r>
              <a:rPr lang="en-US" altLang="it-IT" sz="1800" i="1">
                <a:solidFill>
                  <a:srgbClr val="FF0065"/>
                </a:solidFill>
              </a:rPr>
              <a:t>(unified register set)</a:t>
            </a:r>
            <a:endParaRPr lang="en-US" altLang="it-IT"/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/>
              <a:t>What about the IR ?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Low-level, R</a:t>
            </a:r>
            <a:r>
              <a:rPr lang="en-US" altLang="it-IT" sz="1600" b="1"/>
              <a:t>ISC</a:t>
            </a:r>
            <a:r>
              <a:rPr lang="en-US" altLang="it-IT"/>
              <a:t>-like </a:t>
            </a:r>
            <a:r>
              <a:rPr lang="en-US" altLang="it-IT" sz="1800"/>
              <a:t>IR</a:t>
            </a:r>
            <a:r>
              <a:rPr lang="en-US" altLang="it-IT"/>
              <a:t> such as I</a:t>
            </a:r>
            <a:r>
              <a:rPr lang="en-US" altLang="it-IT" sz="1600" b="1"/>
              <a:t>LOC</a:t>
            </a:r>
            <a:r>
              <a:rPr lang="en-US" altLang="it-IT" b="1"/>
              <a:t> 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Has “enough” registers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I</a:t>
            </a:r>
            <a:r>
              <a:rPr lang="en-US" altLang="it-IT" sz="1600" b="1"/>
              <a:t>LOC</a:t>
            </a:r>
            <a:r>
              <a:rPr lang="en-US" altLang="it-IT" b="1"/>
              <a:t> </a:t>
            </a:r>
            <a:r>
              <a:rPr lang="en-US" altLang="it-IT"/>
              <a:t>was designed for this stuff</a:t>
            </a:r>
          </a:p>
        </p:txBody>
      </p:sp>
      <p:grpSp>
        <p:nvGrpSpPr>
          <p:cNvPr id="18437" name="Group 4">
            <a:extLst>
              <a:ext uri="{FF2B5EF4-FFF2-40B4-BE49-F238E27FC236}">
                <a16:creationId xmlns:a16="http://schemas.microsoft.com/office/drawing/2014/main" id="{922ED8AB-754A-4F85-9EF9-FD6C27AAFB8D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778000"/>
            <a:ext cx="7434263" cy="965200"/>
            <a:chOff x="528" y="1010"/>
            <a:chExt cx="4683" cy="608"/>
          </a:xfrm>
        </p:grpSpPr>
        <p:sp>
          <p:nvSpPr>
            <p:cNvPr id="18442" name="Rectangle 5">
              <a:extLst>
                <a:ext uri="{FF2B5EF4-FFF2-40B4-BE49-F238E27FC236}">
                  <a16:creationId xmlns:a16="http://schemas.microsoft.com/office/drawing/2014/main" id="{0D3196FF-76B8-4A24-800F-FC50D1AC4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" y="1027"/>
              <a:ext cx="768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Instruction</a:t>
              </a:r>
            </a:p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Selection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18443" name="Rectangle 6">
              <a:extLst>
                <a:ext uri="{FF2B5EF4-FFF2-40B4-BE49-F238E27FC236}">
                  <a16:creationId xmlns:a16="http://schemas.microsoft.com/office/drawing/2014/main" id="{456426A3-62B0-40ED-89B4-39F4A72C5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9" y="1027"/>
              <a:ext cx="768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Instruction</a:t>
              </a:r>
              <a:br>
                <a:rPr lang="en-US" altLang="it-IT" sz="1400">
                  <a:latin typeface="Arial Rounded MT Bold" panose="020F0704030504030204" pitchFamily="34" charset="0"/>
                </a:rPr>
              </a:br>
              <a:r>
                <a:rPr lang="en-US" altLang="it-IT" sz="1400">
                  <a:latin typeface="Arial Rounded MT Bold" panose="020F0704030504030204" pitchFamily="34" charset="0"/>
                </a:rPr>
                <a:t>Scheduling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cxnSp>
          <p:nvCxnSpPr>
            <p:cNvPr id="18444" name="AutoShape 7">
              <a:extLst>
                <a:ext uri="{FF2B5EF4-FFF2-40B4-BE49-F238E27FC236}">
                  <a16:creationId xmlns:a16="http://schemas.microsoft.com/office/drawing/2014/main" id="{DBAD5E5C-29B0-45D9-AB0D-64FFEC3A1B0A}"/>
                </a:ext>
              </a:extLst>
            </p:cNvPr>
            <p:cNvCxnSpPr>
              <a:cxnSpLocks noChangeShapeType="1"/>
              <a:stCxn id="18449" idx="3"/>
              <a:endCxn id="18442" idx="1"/>
            </p:cNvCxnSpPr>
            <p:nvPr/>
          </p:nvCxnSpPr>
          <p:spPr bwMode="auto">
            <a:xfrm>
              <a:off x="1673" y="1267"/>
              <a:ext cx="260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5" name="AutoShape 8">
              <a:extLst>
                <a:ext uri="{FF2B5EF4-FFF2-40B4-BE49-F238E27FC236}">
                  <a16:creationId xmlns:a16="http://schemas.microsoft.com/office/drawing/2014/main" id="{B04D6E46-6DD4-4398-8BBA-A1D64F9FE2FC}"/>
                </a:ext>
              </a:extLst>
            </p:cNvPr>
            <p:cNvCxnSpPr>
              <a:cxnSpLocks noChangeShapeType="1"/>
              <a:stCxn id="18442" idx="3"/>
              <a:endCxn id="18443" idx="1"/>
            </p:cNvCxnSpPr>
            <p:nvPr/>
          </p:nvCxnSpPr>
          <p:spPr bwMode="auto">
            <a:xfrm>
              <a:off x="2713" y="1267"/>
              <a:ext cx="260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46" name="AutoShape 9">
              <a:extLst>
                <a:ext uri="{FF2B5EF4-FFF2-40B4-BE49-F238E27FC236}">
                  <a16:creationId xmlns:a16="http://schemas.microsoft.com/office/drawing/2014/main" id="{9C0D57AF-B1F9-4FD6-9817-DD5526063838}"/>
                </a:ext>
              </a:extLst>
            </p:cNvPr>
            <p:cNvCxnSpPr>
              <a:cxnSpLocks noChangeShapeType="1"/>
              <a:stCxn id="18443" idx="3"/>
              <a:endCxn id="18447" idx="1"/>
            </p:cNvCxnSpPr>
            <p:nvPr/>
          </p:nvCxnSpPr>
          <p:spPr bwMode="auto">
            <a:xfrm>
              <a:off x="3753" y="1267"/>
              <a:ext cx="260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47" name="Rectangle 10">
              <a:extLst>
                <a:ext uri="{FF2B5EF4-FFF2-40B4-BE49-F238E27FC236}">
                  <a16:creationId xmlns:a16="http://schemas.microsoft.com/office/drawing/2014/main" id="{C9490672-65BC-4D75-8CE8-CE274E3AD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027"/>
              <a:ext cx="768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Register</a:t>
              </a:r>
            </a:p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Allocation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18448" name="Line 11">
              <a:extLst>
                <a:ext uri="{FF2B5EF4-FFF2-40B4-BE49-F238E27FC236}">
                  <a16:creationId xmlns:a16="http://schemas.microsoft.com/office/drawing/2014/main" id="{C4A4B804-6248-4B7C-AC51-5893B3763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267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449" name="Rectangle 12">
              <a:extLst>
                <a:ext uri="{FF2B5EF4-FFF2-40B4-BE49-F238E27FC236}">
                  <a16:creationId xmlns:a16="http://schemas.microsoft.com/office/drawing/2014/main" id="{2D2288C0-F650-4013-A525-E8250684D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" y="1027"/>
              <a:ext cx="768" cy="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Analysis</a:t>
              </a:r>
            </a:p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&amp;</a:t>
              </a:r>
            </a:p>
            <a:p>
              <a:pPr algn="ctr"/>
              <a:r>
                <a:rPr lang="en-US" altLang="it-IT" sz="1400">
                  <a:latin typeface="Arial Rounded MT Bold" panose="020F0704030504030204" pitchFamily="34" charset="0"/>
                </a:rPr>
                <a:t>Optimization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18450" name="Line 13">
              <a:extLst>
                <a:ext uri="{FF2B5EF4-FFF2-40B4-BE49-F238E27FC236}">
                  <a16:creationId xmlns:a16="http://schemas.microsoft.com/office/drawing/2014/main" id="{7553663C-261E-43C2-805E-1D0761707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" y="1247"/>
              <a:ext cx="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451" name="Text Box 14">
              <a:extLst>
                <a:ext uri="{FF2B5EF4-FFF2-40B4-BE49-F238E27FC236}">
                  <a16:creationId xmlns:a16="http://schemas.microsoft.com/office/drawing/2014/main" id="{6C9E5C5B-8136-4551-885B-B4DC03B065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" y="1010"/>
              <a:ext cx="2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 i="1"/>
                <a:t>IR</a:t>
              </a:r>
              <a:endParaRPr lang="en-US" altLang="it-IT" sz="1600" b="1" i="1"/>
            </a:p>
          </p:txBody>
        </p:sp>
        <p:sp>
          <p:nvSpPr>
            <p:cNvPr id="18452" name="Text Box 15">
              <a:extLst>
                <a:ext uri="{FF2B5EF4-FFF2-40B4-BE49-F238E27FC236}">
                  <a16:creationId xmlns:a16="http://schemas.microsoft.com/office/drawing/2014/main" id="{7C631207-B02F-4B15-B92A-BC9A1012E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021"/>
              <a:ext cx="4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 i="1"/>
                <a:t>asm</a:t>
              </a:r>
              <a:endParaRPr lang="en-US" altLang="it-IT" sz="1600" i="1">
                <a:latin typeface="Arial Narrow Bold Italic" panose="020B07060202020A0204" pitchFamily="34" charset="0"/>
              </a:endParaRPr>
            </a:p>
          </p:txBody>
        </p:sp>
        <p:sp>
          <p:nvSpPr>
            <p:cNvPr id="18453" name="Text Box 16">
              <a:extLst>
                <a:ext uri="{FF2B5EF4-FFF2-40B4-BE49-F238E27FC236}">
                  <a16:creationId xmlns:a16="http://schemas.microsoft.com/office/drawing/2014/main" id="{BDB049D7-17AC-4EE9-9D8E-4EB2F3474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021"/>
              <a:ext cx="4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/>
                <a:t>asm</a:t>
              </a:r>
            </a:p>
          </p:txBody>
        </p:sp>
        <p:sp>
          <p:nvSpPr>
            <p:cNvPr id="18454" name="Text Box 17">
              <a:extLst>
                <a:ext uri="{FF2B5EF4-FFF2-40B4-BE49-F238E27FC236}">
                  <a16:creationId xmlns:a16="http://schemas.microsoft.com/office/drawing/2014/main" id="{C85560F4-134B-4ACE-B54C-F06764A17D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329"/>
              <a:ext cx="38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75000"/>
                </a:lnSpc>
              </a:pPr>
              <a:r>
                <a:rPr lang="en-US" altLang="it-IT" i="1">
                  <a:sym typeface="Symbol" panose="05050102010706020507" pitchFamily="18" charset="2"/>
                </a:rPr>
                <a:t></a:t>
              </a:r>
              <a:endParaRPr lang="en-US" altLang="it-IT" sz="1400" i="1">
                <a:sym typeface="Symbol" panose="05050102010706020507" pitchFamily="18" charset="2"/>
              </a:endParaRPr>
            </a:p>
            <a:p>
              <a:pPr algn="ctr">
                <a:lnSpc>
                  <a:spcPct val="75000"/>
                </a:lnSpc>
              </a:pPr>
              <a:r>
                <a:rPr lang="en-US" altLang="it-IT" sz="1400" i="1">
                  <a:sym typeface="Symbol" panose="05050102010706020507" pitchFamily="18" charset="2"/>
                </a:rPr>
                <a:t>regs</a:t>
              </a:r>
              <a:endParaRPr lang="en-US" altLang="it-IT" sz="1400" i="1"/>
            </a:p>
          </p:txBody>
        </p:sp>
        <p:sp>
          <p:nvSpPr>
            <p:cNvPr id="18455" name="Text Box 18">
              <a:extLst>
                <a:ext uri="{FF2B5EF4-FFF2-40B4-BE49-F238E27FC236}">
                  <a16:creationId xmlns:a16="http://schemas.microsoft.com/office/drawing/2014/main" id="{E89FEFAF-722F-4864-BB0F-664B98674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4" y="1329"/>
              <a:ext cx="38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75000"/>
                </a:lnSpc>
              </a:pPr>
              <a:r>
                <a:rPr lang="en-US" altLang="it-IT">
                  <a:sym typeface="Symbol" panose="05050102010706020507" pitchFamily="18" charset="2"/>
                </a:rPr>
                <a:t></a:t>
              </a:r>
              <a:endParaRPr lang="en-US" altLang="it-IT" sz="1400" i="1">
                <a:sym typeface="Symbol" panose="05050102010706020507" pitchFamily="18" charset="2"/>
              </a:endParaRPr>
            </a:p>
            <a:p>
              <a:pPr algn="ctr">
                <a:lnSpc>
                  <a:spcPct val="75000"/>
                </a:lnSpc>
              </a:pPr>
              <a:r>
                <a:rPr lang="en-US" altLang="it-IT" sz="1400" i="1">
                  <a:sym typeface="Symbol" panose="05050102010706020507" pitchFamily="18" charset="2"/>
                </a:rPr>
                <a:t>regs</a:t>
              </a:r>
              <a:endParaRPr lang="en-US" altLang="it-IT" sz="1400" i="1"/>
            </a:p>
          </p:txBody>
        </p:sp>
        <p:sp>
          <p:nvSpPr>
            <p:cNvPr id="18456" name="Text Box 19">
              <a:extLst>
                <a:ext uri="{FF2B5EF4-FFF2-40B4-BE49-F238E27FC236}">
                  <a16:creationId xmlns:a16="http://schemas.microsoft.com/office/drawing/2014/main" id="{C109B1FD-F863-40A2-966B-861FFA1E10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7" y="1329"/>
              <a:ext cx="38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75000"/>
                </a:lnSpc>
              </a:pPr>
              <a:r>
                <a:rPr lang="en-US" altLang="it-IT" i="1">
                  <a:sym typeface="Symbol" panose="05050102010706020507" pitchFamily="18" charset="2"/>
                </a:rPr>
                <a:t></a:t>
              </a:r>
              <a:endParaRPr lang="en-US" altLang="it-IT" sz="1400" i="1">
                <a:sym typeface="Symbol" panose="05050102010706020507" pitchFamily="18" charset="2"/>
              </a:endParaRPr>
            </a:p>
            <a:p>
              <a:pPr algn="ctr">
                <a:lnSpc>
                  <a:spcPct val="75000"/>
                </a:lnSpc>
              </a:pPr>
              <a:r>
                <a:rPr lang="en-US" altLang="it-IT" sz="1400" i="1">
                  <a:sym typeface="Symbol" panose="05050102010706020507" pitchFamily="18" charset="2"/>
                </a:rPr>
                <a:t>regs</a:t>
              </a:r>
              <a:endParaRPr lang="en-US" altLang="it-IT" sz="1400" i="1"/>
            </a:p>
          </p:txBody>
        </p:sp>
        <p:sp>
          <p:nvSpPr>
            <p:cNvPr id="18457" name="Text Box 20">
              <a:extLst>
                <a:ext uri="{FF2B5EF4-FFF2-40B4-BE49-F238E27FC236}">
                  <a16:creationId xmlns:a16="http://schemas.microsoft.com/office/drawing/2014/main" id="{E0B9624B-C526-43E8-B2C8-9962356F8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4" y="1310"/>
              <a:ext cx="384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75000"/>
                </a:lnSpc>
              </a:pPr>
              <a:r>
                <a:rPr lang="en-US" altLang="it-IT">
                  <a:sym typeface="Symbol" panose="05050102010706020507" pitchFamily="18" charset="2"/>
                </a:rPr>
                <a:t></a:t>
              </a:r>
              <a:endParaRPr lang="en-US" altLang="it-IT" sz="1400" i="1">
                <a:sym typeface="Symbol" panose="05050102010706020507" pitchFamily="18" charset="2"/>
              </a:endParaRPr>
            </a:p>
            <a:p>
              <a:pPr algn="ctr">
                <a:lnSpc>
                  <a:spcPct val="75000"/>
                </a:lnSpc>
              </a:pPr>
              <a:r>
                <a:rPr lang="en-US" altLang="it-IT" sz="1400" i="1">
                  <a:sym typeface="Symbol" panose="05050102010706020507" pitchFamily="18" charset="2"/>
                </a:rPr>
                <a:t>regs</a:t>
              </a:r>
            </a:p>
          </p:txBody>
        </p:sp>
        <p:sp>
          <p:nvSpPr>
            <p:cNvPr id="18458" name="Text Box 21">
              <a:extLst>
                <a:ext uri="{FF2B5EF4-FFF2-40B4-BE49-F238E27FC236}">
                  <a16:creationId xmlns:a16="http://schemas.microsoft.com/office/drawing/2014/main" id="{A8CDF832-F146-4BA7-9804-21E28C219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4" y="1328"/>
              <a:ext cx="38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lnSpc>
                  <a:spcPct val="75000"/>
                </a:lnSpc>
              </a:pPr>
              <a:r>
                <a:rPr lang="en-US" altLang="it-IT" sz="1400" i="1">
                  <a:sym typeface="Symbol" panose="05050102010706020507" pitchFamily="18" charset="2"/>
                </a:rPr>
                <a:t>k</a:t>
              </a:r>
            </a:p>
            <a:p>
              <a:pPr algn="ctr">
                <a:lnSpc>
                  <a:spcPct val="75000"/>
                </a:lnSpc>
              </a:pPr>
              <a:r>
                <a:rPr lang="en-US" altLang="it-IT" sz="1400" i="1">
                  <a:sym typeface="Symbol" panose="05050102010706020507" pitchFamily="18" charset="2"/>
                </a:rPr>
                <a:t>regs</a:t>
              </a:r>
              <a:endParaRPr lang="en-US" altLang="it-IT" sz="1400" i="1"/>
            </a:p>
          </p:txBody>
        </p:sp>
        <p:sp>
          <p:nvSpPr>
            <p:cNvPr id="18459" name="Text Box 22">
              <a:extLst>
                <a:ext uri="{FF2B5EF4-FFF2-40B4-BE49-F238E27FC236}">
                  <a16:creationId xmlns:a16="http://schemas.microsoft.com/office/drawing/2014/main" id="{EBA5E705-F6AD-45E1-B711-254A46618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3" y="1021"/>
              <a:ext cx="36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400"/>
                <a:t>asm</a:t>
              </a:r>
            </a:p>
          </p:txBody>
        </p:sp>
        <p:sp>
          <p:nvSpPr>
            <p:cNvPr id="18460" name="Text Box 23">
              <a:extLst>
                <a:ext uri="{FF2B5EF4-FFF2-40B4-BE49-F238E27FC236}">
                  <a16:creationId xmlns:a16="http://schemas.microsoft.com/office/drawing/2014/main" id="{CE877FA1-6F0F-4FC5-827F-71BB4D7CC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" y="1010"/>
              <a:ext cx="2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 i="1"/>
                <a:t>IR</a:t>
              </a:r>
              <a:endParaRPr lang="en-US" altLang="it-IT" sz="1600" b="1" i="1"/>
            </a:p>
          </p:txBody>
        </p:sp>
      </p:grpSp>
      <p:grpSp>
        <p:nvGrpSpPr>
          <p:cNvPr id="18438" name="Group 27">
            <a:extLst>
              <a:ext uri="{FF2B5EF4-FFF2-40B4-BE49-F238E27FC236}">
                <a16:creationId xmlns:a16="http://schemas.microsoft.com/office/drawing/2014/main" id="{F639AB96-166C-4331-80AC-897F09D4A974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4191000"/>
            <a:ext cx="3505200" cy="1069975"/>
            <a:chOff x="3456" y="2758"/>
            <a:chExt cx="2208" cy="674"/>
          </a:xfrm>
        </p:grpSpPr>
        <p:sp>
          <p:nvSpPr>
            <p:cNvPr id="18440" name="Text Box 25">
              <a:extLst>
                <a:ext uri="{FF2B5EF4-FFF2-40B4-BE49-F238E27FC236}">
                  <a16:creationId xmlns:a16="http://schemas.microsoft.com/office/drawing/2014/main" id="{EF020B87-0C3A-4C22-A301-3D9C2A307F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58"/>
              <a:ext cx="2112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600">
                  <a:solidFill>
                    <a:srgbClr val="003C75"/>
                  </a:solidFill>
                </a:rPr>
                <a:t>Branches, compares, &amp; labels</a:t>
              </a:r>
            </a:p>
            <a:p>
              <a:r>
                <a:rPr lang="en-US" altLang="it-IT" sz="1600">
                  <a:solidFill>
                    <a:srgbClr val="003C75"/>
                  </a:solidFill>
                </a:rPr>
                <a:t>Memory tags</a:t>
              </a:r>
            </a:p>
            <a:p>
              <a:r>
                <a:rPr lang="en-US" altLang="it-IT" sz="1600">
                  <a:solidFill>
                    <a:srgbClr val="003C75"/>
                  </a:solidFill>
                </a:rPr>
                <a:t>Hierarchy of loads &amp; stores</a:t>
              </a:r>
            </a:p>
            <a:p>
              <a:r>
                <a:rPr lang="en-US" altLang="it-IT" sz="1600">
                  <a:solidFill>
                    <a:srgbClr val="003C75"/>
                  </a:solidFill>
                </a:rPr>
                <a:t>Provision for multiple ops/cycle</a:t>
              </a:r>
            </a:p>
          </p:txBody>
        </p:sp>
        <p:sp>
          <p:nvSpPr>
            <p:cNvPr id="18441" name="AutoShape 26">
              <a:extLst>
                <a:ext uri="{FF2B5EF4-FFF2-40B4-BE49-F238E27FC236}">
                  <a16:creationId xmlns:a16="http://schemas.microsoft.com/office/drawing/2014/main" id="{043F1AE1-5093-494F-91A9-A1412537F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2760"/>
              <a:ext cx="144" cy="672"/>
            </a:xfrm>
            <a:prstGeom prst="leftBrace">
              <a:avLst>
                <a:gd name="adj1" fmla="val 38889"/>
                <a:gd name="adj2" fmla="val 50000"/>
              </a:avLst>
            </a:prstGeom>
            <a:noFill/>
            <a:ln w="28575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05948D4-F954-4648-85DD-9D9CBC849504}"/>
              </a:ext>
            </a:extLst>
          </p:cNvPr>
          <p:cNvSpPr txBox="1"/>
          <p:nvPr/>
        </p:nvSpPr>
        <p:spPr>
          <a:xfrm>
            <a:off x="3048000" y="6096000"/>
            <a:ext cx="510540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Parallelism either comes from the application, or is derived with techniques that are beyond the level of this course.</a:t>
            </a: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>
            <a:extLst>
              <a:ext uri="{FF2B5EF4-FFF2-40B4-BE49-F238E27FC236}">
                <a16:creationId xmlns:a16="http://schemas.microsoft.com/office/drawing/2014/main" id="{DA47C111-5346-44D8-97EA-7E55929FC3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7D97A0B0-B25E-4C6E-8AEB-01291C24DB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5E84482-8576-44DB-B65A-9720C2CD7F51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FA02C44-6B95-43DC-A6C6-4018E8585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Definitions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4E7AA89-5B7C-49EA-A426-233A74550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Instruction selection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Mapping </a:t>
            </a:r>
            <a:r>
              <a:rPr lang="en-US" altLang="it-IT" sz="1800" i="1" u="sng"/>
              <a:t>IR</a:t>
            </a:r>
            <a:r>
              <a:rPr lang="en-US" altLang="it-IT"/>
              <a:t> into assembly code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Assumes a fixed storage mapping &amp; code shape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Combining operations, using address modes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Instruction scheduling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Reordering operations to hide latencies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Assumes a fixed program  </a:t>
            </a:r>
            <a:r>
              <a:rPr lang="en-US" altLang="it-IT" i="1"/>
              <a:t>(set of operations)</a:t>
            </a:r>
            <a:endParaRPr lang="en-US" altLang="it-IT"/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Changes demand for registers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Register allocation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Deciding which values will reside in registers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Changes the storage mapping, may add false sharing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Concerns about placement of data &amp; memory operations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D26DB75B-942E-416F-ADFB-F19AEA652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667000"/>
            <a:ext cx="2286000" cy="6604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These 3 problems are tightly coupled.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A7D388E5-3F12-4F76-A643-28123BA4ED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3B4700B4-B288-4C0E-901D-6EE8D8336D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19DB854-1EE0-429F-8429-4CA0ACFF22A1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B00329B-F4D7-4EF7-A974-CC0B8451A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Code  Shape 			      (Chapter 7)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FFA50F1-E462-4984-8CA4-342B6A332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410200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Definition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All those nebulous properties of the code that effect performance 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Includes code, approach for different constructs, cost, storage requirements &amp; mapping, &amp; choice of operations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Code shape is the end product of many decisions  </a:t>
            </a:r>
            <a:r>
              <a:rPr lang="en-US" altLang="it-IT" sz="1800" i="1">
                <a:solidFill>
                  <a:srgbClr val="FF0065"/>
                </a:solidFill>
              </a:rPr>
              <a:t>(big &amp; small)</a:t>
            </a:r>
            <a:endParaRPr lang="en-US" altLang="it-IT"/>
          </a:p>
          <a:p>
            <a:pPr eaLnBrk="1" hangingPunct="1">
              <a:spcBef>
                <a:spcPct val="6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Impact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Code shape influences algorithm choice &amp; results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Code shape can encode important facts, or hide them</a:t>
            </a:r>
          </a:p>
          <a:p>
            <a:pPr eaLnBrk="1" hangingPunct="1">
              <a:spcBef>
                <a:spcPct val="6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Rule of thumb: expose as much derived information as possible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Example: explicit branch targets in I</a:t>
            </a:r>
            <a:r>
              <a:rPr lang="en-US" altLang="it-IT" sz="1800"/>
              <a:t>LOC</a:t>
            </a:r>
            <a:r>
              <a:rPr lang="en-US" altLang="it-IT"/>
              <a:t> simplify analysis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Example: hierarchy of memory operations in I</a:t>
            </a:r>
            <a:r>
              <a:rPr lang="en-US" altLang="it-IT" sz="1800"/>
              <a:t>LOC  </a:t>
            </a:r>
            <a:r>
              <a:rPr lang="en-US" altLang="it-IT" sz="1800" i="1">
                <a:solidFill>
                  <a:srgbClr val="FF0065"/>
                </a:solidFill>
              </a:rPr>
              <a:t>(</a:t>
            </a:r>
            <a:r>
              <a:rPr lang="en-US" altLang="it-IT" sz="1600" i="1">
                <a:solidFill>
                  <a:srgbClr val="FF0065"/>
                </a:solidFill>
              </a:rPr>
              <a:t>EaC,</a:t>
            </a:r>
            <a:r>
              <a:rPr lang="en-US" altLang="it-IT" sz="900" i="1">
                <a:solidFill>
                  <a:srgbClr val="FF0065"/>
                </a:solidFill>
              </a:rPr>
              <a:t> </a:t>
            </a:r>
            <a:r>
              <a:rPr lang="en-US" altLang="it-IT" sz="1600" i="1">
                <a:solidFill>
                  <a:srgbClr val="FF0065"/>
                </a:solidFill>
              </a:rPr>
              <a:t>p</a:t>
            </a:r>
            <a:r>
              <a:rPr lang="en-US" altLang="it-IT" sz="900" i="1">
                <a:solidFill>
                  <a:srgbClr val="FF0065"/>
                </a:solidFill>
              </a:rPr>
              <a:t> </a:t>
            </a:r>
            <a:r>
              <a:rPr lang="en-US" altLang="it-IT" sz="1600" i="1">
                <a:solidFill>
                  <a:srgbClr val="FF0065"/>
                </a:solidFill>
              </a:rPr>
              <a:t>237</a:t>
            </a:r>
            <a:r>
              <a:rPr lang="en-US" altLang="it-IT" sz="1800" i="1">
                <a:solidFill>
                  <a:srgbClr val="FF0065"/>
                </a:solidFill>
              </a:rPr>
              <a:t>)</a:t>
            </a:r>
            <a:r>
              <a:rPr lang="en-US" altLang="it-IT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7B3C2E-7F51-4E1F-B5EA-FBC3862A0E88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5105400"/>
            <a:ext cx="6477000" cy="1238250"/>
            <a:chOff x="1392" y="3216"/>
            <a:chExt cx="4080" cy="780"/>
          </a:xfrm>
          <a:solidFill>
            <a:schemeClr val="bg1">
              <a:lumMod val="75000"/>
            </a:schemeClr>
          </a:solidFill>
        </p:grpSpPr>
        <p:sp>
          <p:nvSpPr>
            <p:cNvPr id="28679" name="Line 5">
              <a:extLst>
                <a:ext uri="{FF2B5EF4-FFF2-40B4-BE49-F238E27FC236}">
                  <a16:creationId xmlns:a16="http://schemas.microsoft.com/office/drawing/2014/main" id="{EAF2DFB6-4EE9-4A34-A12C-864B1ED05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3216"/>
              <a:ext cx="4080" cy="0"/>
            </a:xfrm>
            <a:prstGeom prst="line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28680" name="Text Box 6">
              <a:extLst>
                <a:ext uri="{FF2B5EF4-FFF2-40B4-BE49-F238E27FC236}">
                  <a16:creationId xmlns:a16="http://schemas.microsoft.com/office/drawing/2014/main" id="{4D4D5DBE-6EE3-4585-A336-78B12F532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757"/>
              <a:ext cx="3121" cy="239"/>
            </a:xfrm>
            <a:prstGeom prst="rect">
              <a:avLst/>
            </a:prstGeom>
            <a:grpFill/>
            <a:ln w="127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See Morgan’s book for more I</a:t>
              </a:r>
              <a:r>
                <a:rPr lang="en-US" sz="1400" b="1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LOC</a:t>
              </a: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examples</a:t>
              </a:r>
            </a:p>
          </p:txBody>
        </p:sp>
        <p:cxnSp>
          <p:nvCxnSpPr>
            <p:cNvPr id="28681" name="AutoShape 7">
              <a:extLst>
                <a:ext uri="{FF2B5EF4-FFF2-40B4-BE49-F238E27FC236}">
                  <a16:creationId xmlns:a16="http://schemas.microsoft.com/office/drawing/2014/main" id="{6D3D35F2-F440-458A-8E71-21D1BF17C548}"/>
                </a:ext>
              </a:extLst>
            </p:cNvPr>
            <p:cNvCxnSpPr>
              <a:cxnSpLocks noChangeShapeType="1"/>
              <a:stCxn id="28679" idx="1"/>
              <a:endCxn id="28680" idx="3"/>
            </p:cNvCxnSpPr>
            <p:nvPr/>
          </p:nvCxnSpPr>
          <p:spPr bwMode="auto">
            <a:xfrm rot="-5400000" flipH="1" flipV="1">
              <a:off x="4901" y="3308"/>
              <a:ext cx="661" cy="478"/>
            </a:xfrm>
            <a:prstGeom prst="bentConnector4">
              <a:avLst>
                <a:gd name="adj1" fmla="val 60060"/>
                <a:gd name="adj2" fmla="val -213"/>
              </a:avLst>
            </a:prstGeom>
            <a:grpFill/>
            <a:ln w="12700">
              <a:solidFill>
                <a:schemeClr val="bg1">
                  <a:lumMod val="50000"/>
                </a:schemeClr>
              </a:solidFill>
              <a:miter lim="800000"/>
              <a:headEnd type="triangle" w="med" len="med"/>
              <a:tailEnd/>
            </a:ln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>
            <a:extLst>
              <a:ext uri="{FF2B5EF4-FFF2-40B4-BE49-F238E27FC236}">
                <a16:creationId xmlns:a16="http://schemas.microsoft.com/office/drawing/2014/main" id="{13B0B312-4933-414D-9A98-AE6D6897FA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70FDFF47-F25B-4DF5-8ECF-DB0661D05D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509E521-AF08-48A1-BB0C-C6DD618454D2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E41336A-A3B9-4FF0-BDCC-552276158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Code Shape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DEE61EF-B3D1-447E-A148-26C00B8BB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733925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My favorite example</a:t>
            </a:r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r>
              <a:rPr lang="en-US" altLang="it-IT"/>
              <a:t>What if x is 2 and z is 3?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What if y+z is evaluated earlier?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The “best” shape for x+y+z depends on contextual knowledge</a:t>
            </a:r>
          </a:p>
          <a:p>
            <a:pPr marL="346075" lvl="1" eaLnBrk="1" hangingPunct="1">
              <a:spcBef>
                <a:spcPct val="15000"/>
              </a:spcBef>
            </a:pPr>
            <a:r>
              <a:rPr lang="en-US" altLang="it-IT"/>
              <a:t>There may be several conflicting options</a:t>
            </a:r>
          </a:p>
        </p:txBody>
      </p:sp>
      <p:grpSp>
        <p:nvGrpSpPr>
          <p:cNvPr id="24581" name="Group 4">
            <a:extLst>
              <a:ext uri="{FF2B5EF4-FFF2-40B4-BE49-F238E27FC236}">
                <a16:creationId xmlns:a16="http://schemas.microsoft.com/office/drawing/2014/main" id="{254E7193-819A-4909-8284-DB8E4A4F0FF0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600200"/>
            <a:ext cx="6248400" cy="2120900"/>
            <a:chOff x="768" y="1104"/>
            <a:chExt cx="3936" cy="1336"/>
          </a:xfrm>
        </p:grpSpPr>
        <p:sp>
          <p:nvSpPr>
            <p:cNvPr id="24583" name="Text Box 5">
              <a:extLst>
                <a:ext uri="{FF2B5EF4-FFF2-40B4-BE49-F238E27FC236}">
                  <a16:creationId xmlns:a16="http://schemas.microsoft.com/office/drawing/2014/main" id="{C53FB2F0-D679-415C-800B-9D20121E2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3" y="1248"/>
              <a:ext cx="1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GB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24584" name="Text Box 6">
              <a:extLst>
                <a:ext uri="{FF2B5EF4-FFF2-40B4-BE49-F238E27FC236}">
                  <a16:creationId xmlns:a16="http://schemas.microsoft.com/office/drawing/2014/main" id="{AD95D110-6DEB-4C6D-B3AE-F1E68B9BB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104"/>
              <a:ext cx="8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Narrow Bold" panose="020B0706020202030204" pitchFamily="34" charset="0"/>
                </a:rPr>
                <a:t>x + y + z</a:t>
              </a:r>
            </a:p>
          </p:txBody>
        </p:sp>
        <p:sp>
          <p:nvSpPr>
            <p:cNvPr id="24585" name="Text Box 7">
              <a:extLst>
                <a:ext uri="{FF2B5EF4-FFF2-40B4-BE49-F238E27FC236}">
                  <a16:creationId xmlns:a16="http://schemas.microsoft.com/office/drawing/2014/main" id="{A3E78388-60DF-4010-881C-64505FEA2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8" y="1104"/>
              <a:ext cx="816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Narrow Bold" panose="020B0706020202030204" pitchFamily="34" charset="0"/>
                </a:rPr>
                <a:t>x + y </a:t>
              </a:r>
              <a:r>
                <a:rPr lang="en-US" altLang="it-IT" sz="1600">
                  <a:latin typeface="Arial Narrow Bold" panose="020B0706020202030204" pitchFamily="34" charset="0"/>
                  <a:sym typeface="Symbol" panose="05050102010706020507" pitchFamily="18" charset="2"/>
                </a:rPr>
                <a:t> t1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Narrow Bold" panose="020B0706020202030204" pitchFamily="34" charset="0"/>
                  <a:sym typeface="Symbol" panose="05050102010706020507" pitchFamily="18" charset="2"/>
                </a:rPr>
                <a:t>t1+ z  t2</a:t>
              </a:r>
              <a:endParaRPr lang="en-US" altLang="it-IT" sz="1600">
                <a:latin typeface="Arial Narrow Bold" panose="020B0706020202030204" pitchFamily="34" charset="0"/>
              </a:endParaRPr>
            </a:p>
          </p:txBody>
        </p:sp>
        <p:sp>
          <p:nvSpPr>
            <p:cNvPr id="24586" name="Text Box 8">
              <a:extLst>
                <a:ext uri="{FF2B5EF4-FFF2-40B4-BE49-F238E27FC236}">
                  <a16:creationId xmlns:a16="http://schemas.microsoft.com/office/drawing/2014/main" id="{296D9616-3DA2-4FD2-97BF-6C678A2D9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8" y="1104"/>
              <a:ext cx="816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Narrow Bold" panose="020B0706020202030204" pitchFamily="34" charset="0"/>
                </a:rPr>
                <a:t>x + z </a:t>
              </a:r>
              <a:r>
                <a:rPr lang="en-US" altLang="it-IT" sz="1600">
                  <a:latin typeface="Arial Narrow Bold" panose="020B0706020202030204" pitchFamily="34" charset="0"/>
                  <a:sym typeface="Symbol" panose="05050102010706020507" pitchFamily="18" charset="2"/>
                </a:rPr>
                <a:t> t1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Narrow Bold" panose="020B0706020202030204" pitchFamily="34" charset="0"/>
                  <a:sym typeface="Symbol" panose="05050102010706020507" pitchFamily="18" charset="2"/>
                </a:rPr>
                <a:t>t1+ y  t2</a:t>
              </a:r>
              <a:endParaRPr lang="en-US" altLang="it-IT" sz="1600">
                <a:latin typeface="Arial Narrow Bold" panose="020B0706020202030204" pitchFamily="34" charset="0"/>
              </a:endParaRPr>
            </a:p>
          </p:txBody>
        </p:sp>
        <p:sp>
          <p:nvSpPr>
            <p:cNvPr id="24587" name="Text Box 9">
              <a:extLst>
                <a:ext uri="{FF2B5EF4-FFF2-40B4-BE49-F238E27FC236}">
                  <a16:creationId xmlns:a16="http://schemas.microsoft.com/office/drawing/2014/main" id="{DDD91260-4374-4676-A645-836593A0F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104"/>
              <a:ext cx="816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Narrow Bold" panose="020B0706020202030204" pitchFamily="34" charset="0"/>
                </a:rPr>
                <a:t>y + z </a:t>
              </a:r>
              <a:r>
                <a:rPr lang="en-US" altLang="it-IT" sz="1600">
                  <a:latin typeface="Arial Narrow Bold" panose="020B0706020202030204" pitchFamily="34" charset="0"/>
                  <a:sym typeface="Symbol" panose="05050102010706020507" pitchFamily="18" charset="2"/>
                </a:rPr>
                <a:t> t1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Narrow Bold" panose="020B0706020202030204" pitchFamily="34" charset="0"/>
                  <a:sym typeface="Symbol" panose="05050102010706020507" pitchFamily="18" charset="2"/>
                </a:rPr>
                <a:t>t1+ z  t2</a:t>
              </a:r>
              <a:endParaRPr lang="en-US" altLang="it-IT" sz="1600">
                <a:latin typeface="Arial Narrow Bold" panose="020B0706020202030204" pitchFamily="34" charset="0"/>
              </a:endParaRPr>
            </a:p>
          </p:txBody>
        </p:sp>
        <p:grpSp>
          <p:nvGrpSpPr>
            <p:cNvPr id="24588" name="Group 10">
              <a:extLst>
                <a:ext uri="{FF2B5EF4-FFF2-40B4-BE49-F238E27FC236}">
                  <a16:creationId xmlns:a16="http://schemas.microsoft.com/office/drawing/2014/main" id="{40DB2BB6-CB37-4B41-AD59-9325B0D645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2" y="1515"/>
              <a:ext cx="3851" cy="925"/>
              <a:chOff x="772" y="1680"/>
              <a:chExt cx="3851" cy="925"/>
            </a:xfrm>
          </p:grpSpPr>
          <p:grpSp>
            <p:nvGrpSpPr>
              <p:cNvPr id="24589" name="Group 11">
                <a:extLst>
                  <a:ext uri="{FF2B5EF4-FFF2-40B4-BE49-F238E27FC236}">
                    <a16:creationId xmlns:a16="http://schemas.microsoft.com/office/drawing/2014/main" id="{36C78CCB-1B00-41AF-9CDE-DF18A475D4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2" y="1728"/>
                <a:ext cx="807" cy="692"/>
                <a:chOff x="1776" y="1872"/>
                <a:chExt cx="807" cy="692"/>
              </a:xfrm>
            </p:grpSpPr>
            <p:sp>
              <p:nvSpPr>
                <p:cNvPr id="24623" name="Text Box 12">
                  <a:extLst>
                    <a:ext uri="{FF2B5EF4-FFF2-40B4-BE49-F238E27FC236}">
                      <a16:creationId xmlns:a16="http://schemas.microsoft.com/office/drawing/2014/main" id="{D064A8F9-38DD-4501-9FD5-6C6FAAE343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87" y="1872"/>
                  <a:ext cx="18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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grpSp>
              <p:nvGrpSpPr>
                <p:cNvPr id="24624" name="Group 13">
                  <a:extLst>
                    <a:ext uri="{FF2B5EF4-FFF2-40B4-BE49-F238E27FC236}">
                      <a16:creationId xmlns:a16="http://schemas.microsoft.com/office/drawing/2014/main" id="{28CC9768-48AD-4458-80C8-B41A121FC8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6" y="2352"/>
                  <a:ext cx="807" cy="212"/>
                  <a:chOff x="1776" y="2352"/>
                  <a:chExt cx="807" cy="212"/>
                </a:xfrm>
              </p:grpSpPr>
              <p:sp>
                <p:nvSpPr>
                  <p:cNvPr id="24628" name="Text Box 14">
                    <a:extLst>
                      <a:ext uri="{FF2B5EF4-FFF2-40B4-BE49-F238E27FC236}">
                        <a16:creationId xmlns:a16="http://schemas.microsoft.com/office/drawing/2014/main" id="{922B02C2-DF83-4543-AAD5-203A805F529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0" y="2352"/>
                    <a:ext cx="183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  <a:sym typeface="Symbol" panose="05050102010706020507" pitchFamily="18" charset="2"/>
                      </a:rPr>
                      <a:t>z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4629" name="Text Box 15">
                    <a:extLst>
                      <a:ext uri="{FF2B5EF4-FFF2-40B4-BE49-F238E27FC236}">
                        <a16:creationId xmlns:a16="http://schemas.microsoft.com/office/drawing/2014/main" id="{D0140073-D502-4173-AA32-E3496D62DDA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87" y="2352"/>
                    <a:ext cx="185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  <a:sym typeface="Symbol" panose="05050102010706020507" pitchFamily="18" charset="2"/>
                      </a:rPr>
                      <a:t>y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4630" name="Text Box 16">
                    <a:extLst>
                      <a:ext uri="{FF2B5EF4-FFF2-40B4-BE49-F238E27FC236}">
                        <a16:creationId xmlns:a16="http://schemas.microsoft.com/office/drawing/2014/main" id="{6B524367-FB58-46FE-910E-FAFDD36EC2B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76" y="2352"/>
                    <a:ext cx="183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  <a:sym typeface="Symbol" panose="05050102010706020507" pitchFamily="18" charset="2"/>
                      </a:rPr>
                      <a:t>x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</p:grpSp>
            <p:sp>
              <p:nvSpPr>
                <p:cNvPr id="24625" name="Line 17">
                  <a:extLst>
                    <a:ext uri="{FF2B5EF4-FFF2-40B4-BE49-F238E27FC236}">
                      <a16:creationId xmlns:a16="http://schemas.microsoft.com/office/drawing/2014/main" id="{AFF446E1-01F3-4DF6-8AEA-0515B1A460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75" y="2095"/>
                  <a:ext cx="1" cy="3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626" name="Line 18">
                  <a:extLst>
                    <a:ext uri="{FF2B5EF4-FFF2-40B4-BE49-F238E27FC236}">
                      <a16:creationId xmlns:a16="http://schemas.microsoft.com/office/drawing/2014/main" id="{4456BF61-8C10-448D-84D8-B8794DF43F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4" y="2086"/>
                  <a:ext cx="215" cy="30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627" name="Line 19">
                  <a:extLst>
                    <a:ext uri="{FF2B5EF4-FFF2-40B4-BE49-F238E27FC236}">
                      <a16:creationId xmlns:a16="http://schemas.microsoft.com/office/drawing/2014/main" id="{57413DE1-B059-4F82-BC5F-C675F4E66C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07" y="2064"/>
                  <a:ext cx="231" cy="3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  <p:grpSp>
            <p:nvGrpSpPr>
              <p:cNvPr id="24590" name="Group 20">
                <a:extLst>
                  <a:ext uri="{FF2B5EF4-FFF2-40B4-BE49-F238E27FC236}">
                    <a16:creationId xmlns:a16="http://schemas.microsoft.com/office/drawing/2014/main" id="{743F06E2-3504-46A8-A052-467E6E4BDE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1728"/>
                <a:ext cx="654" cy="877"/>
                <a:chOff x="1805" y="1872"/>
                <a:chExt cx="654" cy="877"/>
              </a:xfrm>
            </p:grpSpPr>
            <p:sp>
              <p:nvSpPr>
                <p:cNvPr id="24613" name="Text Box 21">
                  <a:extLst>
                    <a:ext uri="{FF2B5EF4-FFF2-40B4-BE49-F238E27FC236}">
                      <a16:creationId xmlns:a16="http://schemas.microsoft.com/office/drawing/2014/main" id="{4D572690-BE3F-4D51-8417-5819836408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160"/>
                  <a:ext cx="18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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4614" name="Text Box 22">
                  <a:extLst>
                    <a:ext uri="{FF2B5EF4-FFF2-40B4-BE49-F238E27FC236}">
                      <a16:creationId xmlns:a16="http://schemas.microsoft.com/office/drawing/2014/main" id="{FDAA6EF6-9F3A-462D-BD18-D010858F22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35" y="1872"/>
                  <a:ext cx="18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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4615" name="Text Box 23">
                  <a:extLst>
                    <a:ext uri="{FF2B5EF4-FFF2-40B4-BE49-F238E27FC236}">
                      <a16:creationId xmlns:a16="http://schemas.microsoft.com/office/drawing/2014/main" id="{4D75FA53-2FB6-42CC-AC85-E9169EA75C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6" y="2199"/>
                  <a:ext cx="18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z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grpSp>
              <p:nvGrpSpPr>
                <p:cNvPr id="24616" name="Group 24">
                  <a:extLst>
                    <a:ext uri="{FF2B5EF4-FFF2-40B4-BE49-F238E27FC236}">
                      <a16:creationId xmlns:a16="http://schemas.microsoft.com/office/drawing/2014/main" id="{8EE6B39D-A24B-4905-A4FA-404138D9EC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05" y="2537"/>
                  <a:ext cx="496" cy="212"/>
                  <a:chOff x="1824" y="2352"/>
                  <a:chExt cx="496" cy="212"/>
                </a:xfrm>
              </p:grpSpPr>
              <p:sp>
                <p:nvSpPr>
                  <p:cNvPr id="24621" name="Text Box 25">
                    <a:extLst>
                      <a:ext uri="{FF2B5EF4-FFF2-40B4-BE49-F238E27FC236}">
                        <a16:creationId xmlns:a16="http://schemas.microsoft.com/office/drawing/2014/main" id="{6E5F5841-DD3D-4DD2-88B0-D42DEF501FF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35" y="2352"/>
                    <a:ext cx="185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  <a:sym typeface="Symbol" panose="05050102010706020507" pitchFamily="18" charset="2"/>
                      </a:rPr>
                      <a:t>y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4622" name="Text Box 26">
                    <a:extLst>
                      <a:ext uri="{FF2B5EF4-FFF2-40B4-BE49-F238E27FC236}">
                        <a16:creationId xmlns:a16="http://schemas.microsoft.com/office/drawing/2014/main" id="{1B8266EC-661A-49FC-886F-0BA7279BB51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24" y="2352"/>
                    <a:ext cx="183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  <a:sym typeface="Symbol" panose="05050102010706020507" pitchFamily="18" charset="2"/>
                      </a:rPr>
                      <a:t>x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</p:grpSp>
            <p:sp>
              <p:nvSpPr>
                <p:cNvPr id="24617" name="Line 27">
                  <a:extLst>
                    <a:ext uri="{FF2B5EF4-FFF2-40B4-BE49-F238E27FC236}">
                      <a16:creationId xmlns:a16="http://schemas.microsoft.com/office/drawing/2014/main" id="{4296334E-2C73-4183-A60C-811520F831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6" y="2312"/>
                  <a:ext cx="97" cy="2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618" name="Line 28">
                  <a:extLst>
                    <a:ext uri="{FF2B5EF4-FFF2-40B4-BE49-F238E27FC236}">
                      <a16:creationId xmlns:a16="http://schemas.microsoft.com/office/drawing/2014/main" id="{E1B80F59-27BE-422B-A0C5-B1E4650245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2" y="2022"/>
                  <a:ext cx="89" cy="2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619" name="Line 29">
                  <a:extLst>
                    <a:ext uri="{FF2B5EF4-FFF2-40B4-BE49-F238E27FC236}">
                      <a16:creationId xmlns:a16="http://schemas.microsoft.com/office/drawing/2014/main" id="{7AF4DA76-9623-4777-B2E0-8BD9814FF9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23" y="2317"/>
                  <a:ext cx="106" cy="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620" name="Line 30">
                  <a:extLst>
                    <a:ext uri="{FF2B5EF4-FFF2-40B4-BE49-F238E27FC236}">
                      <a16:creationId xmlns:a16="http://schemas.microsoft.com/office/drawing/2014/main" id="{E13E10DB-883D-427C-9B19-69101DA202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95" y="2032"/>
                  <a:ext cx="95" cy="1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  <p:grpSp>
            <p:nvGrpSpPr>
              <p:cNvPr id="24591" name="Group 31">
                <a:extLst>
                  <a:ext uri="{FF2B5EF4-FFF2-40B4-BE49-F238E27FC236}">
                    <a16:creationId xmlns:a16="http://schemas.microsoft.com/office/drawing/2014/main" id="{A80B5267-0C85-4C18-8359-A768F2DD01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1680"/>
                <a:ext cx="656" cy="877"/>
                <a:chOff x="1805" y="1872"/>
                <a:chExt cx="656" cy="877"/>
              </a:xfrm>
            </p:grpSpPr>
            <p:sp>
              <p:nvSpPr>
                <p:cNvPr id="24603" name="Text Box 32">
                  <a:extLst>
                    <a:ext uri="{FF2B5EF4-FFF2-40B4-BE49-F238E27FC236}">
                      <a16:creationId xmlns:a16="http://schemas.microsoft.com/office/drawing/2014/main" id="{61B68734-83D2-48BF-A43D-EA685D2075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160"/>
                  <a:ext cx="18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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4604" name="Text Box 33">
                  <a:extLst>
                    <a:ext uri="{FF2B5EF4-FFF2-40B4-BE49-F238E27FC236}">
                      <a16:creationId xmlns:a16="http://schemas.microsoft.com/office/drawing/2014/main" id="{0AE12867-AC25-40D1-985F-AED48B1954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35" y="1872"/>
                  <a:ext cx="18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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4605" name="Text Box 34">
                  <a:extLst>
                    <a:ext uri="{FF2B5EF4-FFF2-40B4-BE49-F238E27FC236}">
                      <a16:creationId xmlns:a16="http://schemas.microsoft.com/office/drawing/2014/main" id="{1F54E16F-A2E2-4E8D-A769-D48B39DE62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6" y="2199"/>
                  <a:ext cx="185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y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grpSp>
              <p:nvGrpSpPr>
                <p:cNvPr id="24606" name="Group 35">
                  <a:extLst>
                    <a:ext uri="{FF2B5EF4-FFF2-40B4-BE49-F238E27FC236}">
                      <a16:creationId xmlns:a16="http://schemas.microsoft.com/office/drawing/2014/main" id="{7E13C594-D03E-4289-9625-A98CF2D21D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05" y="2537"/>
                  <a:ext cx="494" cy="212"/>
                  <a:chOff x="1824" y="2352"/>
                  <a:chExt cx="494" cy="212"/>
                </a:xfrm>
              </p:grpSpPr>
              <p:sp>
                <p:nvSpPr>
                  <p:cNvPr id="24611" name="Text Box 36">
                    <a:extLst>
                      <a:ext uri="{FF2B5EF4-FFF2-40B4-BE49-F238E27FC236}">
                        <a16:creationId xmlns:a16="http://schemas.microsoft.com/office/drawing/2014/main" id="{F2A7B95D-7B66-4D73-A5E6-8F7129A24E7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35" y="2352"/>
                    <a:ext cx="183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  <a:sym typeface="Symbol" panose="05050102010706020507" pitchFamily="18" charset="2"/>
                      </a:rPr>
                      <a:t>z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4612" name="Text Box 37">
                    <a:extLst>
                      <a:ext uri="{FF2B5EF4-FFF2-40B4-BE49-F238E27FC236}">
                        <a16:creationId xmlns:a16="http://schemas.microsoft.com/office/drawing/2014/main" id="{136A9418-E5A3-455C-B79C-81707637D5F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24" y="2352"/>
                    <a:ext cx="183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  <a:sym typeface="Symbol" panose="05050102010706020507" pitchFamily="18" charset="2"/>
                      </a:rPr>
                      <a:t>x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</p:grpSp>
            <p:sp>
              <p:nvSpPr>
                <p:cNvPr id="24607" name="Line 38">
                  <a:extLst>
                    <a:ext uri="{FF2B5EF4-FFF2-40B4-BE49-F238E27FC236}">
                      <a16:creationId xmlns:a16="http://schemas.microsoft.com/office/drawing/2014/main" id="{ED745E06-F749-4D09-AD80-C63026EDBC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6" y="2312"/>
                  <a:ext cx="97" cy="2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608" name="Line 39">
                  <a:extLst>
                    <a:ext uri="{FF2B5EF4-FFF2-40B4-BE49-F238E27FC236}">
                      <a16:creationId xmlns:a16="http://schemas.microsoft.com/office/drawing/2014/main" id="{E0F9BA7A-0A9F-43E0-BB66-E56DDCB112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2" y="2022"/>
                  <a:ext cx="89" cy="2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609" name="Line 40">
                  <a:extLst>
                    <a:ext uri="{FF2B5EF4-FFF2-40B4-BE49-F238E27FC236}">
                      <a16:creationId xmlns:a16="http://schemas.microsoft.com/office/drawing/2014/main" id="{618EA887-728D-4D92-AE06-000B18F571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23" y="2317"/>
                  <a:ext cx="106" cy="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610" name="Line 41">
                  <a:extLst>
                    <a:ext uri="{FF2B5EF4-FFF2-40B4-BE49-F238E27FC236}">
                      <a16:creationId xmlns:a16="http://schemas.microsoft.com/office/drawing/2014/main" id="{57FDD402-7F1C-4C3C-A9CC-12392C276F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95" y="2032"/>
                  <a:ext cx="95" cy="1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  <p:grpSp>
            <p:nvGrpSpPr>
              <p:cNvPr id="24592" name="Group 42">
                <a:extLst>
                  <a:ext uri="{FF2B5EF4-FFF2-40B4-BE49-F238E27FC236}">
                    <a16:creationId xmlns:a16="http://schemas.microsoft.com/office/drawing/2014/main" id="{3A8799C0-D2F6-47D6-88E7-4BA2B967CA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69" y="1728"/>
                <a:ext cx="654" cy="877"/>
                <a:chOff x="1805" y="1872"/>
                <a:chExt cx="654" cy="877"/>
              </a:xfrm>
            </p:grpSpPr>
            <p:sp>
              <p:nvSpPr>
                <p:cNvPr id="24593" name="Text Box 43">
                  <a:extLst>
                    <a:ext uri="{FF2B5EF4-FFF2-40B4-BE49-F238E27FC236}">
                      <a16:creationId xmlns:a16="http://schemas.microsoft.com/office/drawing/2014/main" id="{7AF4BBAA-5417-4EF6-98C4-A2FB2DD195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160"/>
                  <a:ext cx="18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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4594" name="Text Box 44">
                  <a:extLst>
                    <a:ext uri="{FF2B5EF4-FFF2-40B4-BE49-F238E27FC236}">
                      <a16:creationId xmlns:a16="http://schemas.microsoft.com/office/drawing/2014/main" id="{4131BA9A-5355-4DBE-BE91-04B9149F5C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35" y="1872"/>
                  <a:ext cx="18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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4595" name="Text Box 45">
                  <a:extLst>
                    <a:ext uri="{FF2B5EF4-FFF2-40B4-BE49-F238E27FC236}">
                      <a16:creationId xmlns:a16="http://schemas.microsoft.com/office/drawing/2014/main" id="{EF42BA72-3AC4-455B-A3B1-B9A465FC75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76" y="2199"/>
                  <a:ext cx="18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r>
                    <a:rPr lang="en-US" altLang="it-IT" sz="1600">
                      <a:latin typeface="Arial Rounded MT Bold" panose="020F0704030504030204" pitchFamily="34" charset="0"/>
                      <a:sym typeface="Symbol" panose="05050102010706020507" pitchFamily="18" charset="2"/>
                    </a:rPr>
                    <a:t>x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  <p:grpSp>
              <p:nvGrpSpPr>
                <p:cNvPr id="24596" name="Group 46">
                  <a:extLst>
                    <a:ext uri="{FF2B5EF4-FFF2-40B4-BE49-F238E27FC236}">
                      <a16:creationId xmlns:a16="http://schemas.microsoft.com/office/drawing/2014/main" id="{2221B0B3-4822-408A-A129-9F4585E199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05" y="2537"/>
                  <a:ext cx="494" cy="212"/>
                  <a:chOff x="1824" y="2352"/>
                  <a:chExt cx="494" cy="212"/>
                </a:xfrm>
              </p:grpSpPr>
              <p:sp>
                <p:nvSpPr>
                  <p:cNvPr id="24601" name="Text Box 47">
                    <a:extLst>
                      <a:ext uri="{FF2B5EF4-FFF2-40B4-BE49-F238E27FC236}">
                        <a16:creationId xmlns:a16="http://schemas.microsoft.com/office/drawing/2014/main" id="{3E7EC87F-9B7F-4221-973D-16F7439734C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35" y="2352"/>
                    <a:ext cx="183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  <a:sym typeface="Symbol" panose="05050102010706020507" pitchFamily="18" charset="2"/>
                      </a:rPr>
                      <a:t>z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4602" name="Text Box 48">
                    <a:extLst>
                      <a:ext uri="{FF2B5EF4-FFF2-40B4-BE49-F238E27FC236}">
                        <a16:creationId xmlns:a16="http://schemas.microsoft.com/office/drawing/2014/main" id="{2618066D-322F-4D32-9FA4-C0471AFA84B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24" y="2352"/>
                    <a:ext cx="185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ヒラギノ角ゴ Pro W3"/>
                        <a:cs typeface="ヒラギノ角ゴ Pro W3"/>
                      </a:defRPr>
                    </a:lvl9pPr>
                  </a:lstStyle>
                  <a:p>
                    <a:r>
                      <a:rPr lang="en-US" altLang="it-IT" sz="1600">
                        <a:latin typeface="Arial Rounded MT Bold" panose="020F0704030504030204" pitchFamily="34" charset="0"/>
                        <a:sym typeface="Symbol" panose="05050102010706020507" pitchFamily="18" charset="2"/>
                      </a:rPr>
                      <a:t>y</a:t>
                    </a:r>
                    <a:endParaRPr lang="en-US" altLang="it-IT" sz="1600">
                      <a:latin typeface="Arial Rounded MT Bold" panose="020F0704030504030204" pitchFamily="34" charset="0"/>
                    </a:endParaRPr>
                  </a:p>
                </p:txBody>
              </p:sp>
            </p:grpSp>
            <p:sp>
              <p:nvSpPr>
                <p:cNvPr id="24597" name="Line 49">
                  <a:extLst>
                    <a:ext uri="{FF2B5EF4-FFF2-40B4-BE49-F238E27FC236}">
                      <a16:creationId xmlns:a16="http://schemas.microsoft.com/office/drawing/2014/main" id="{1DB44E4E-806D-482B-87C8-0E5BD4D38E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96" y="2312"/>
                  <a:ext cx="97" cy="2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598" name="Line 50">
                  <a:extLst>
                    <a:ext uri="{FF2B5EF4-FFF2-40B4-BE49-F238E27FC236}">
                      <a16:creationId xmlns:a16="http://schemas.microsoft.com/office/drawing/2014/main" id="{4C5ABAE4-F8F9-4D30-8B3F-E360EDC6F5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2" y="2022"/>
                  <a:ext cx="89" cy="2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599" name="Line 51">
                  <a:extLst>
                    <a:ext uri="{FF2B5EF4-FFF2-40B4-BE49-F238E27FC236}">
                      <a16:creationId xmlns:a16="http://schemas.microsoft.com/office/drawing/2014/main" id="{AA552538-FBA0-49AD-99AD-427AEDE90E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923" y="2317"/>
                  <a:ext cx="106" cy="2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4600" name="Line 52">
                  <a:extLst>
                    <a:ext uri="{FF2B5EF4-FFF2-40B4-BE49-F238E27FC236}">
                      <a16:creationId xmlns:a16="http://schemas.microsoft.com/office/drawing/2014/main" id="{52195D8C-F912-458E-946D-AFDD22721C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95" y="2032"/>
                  <a:ext cx="95" cy="1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</p:grpSp>
        </p:grpSp>
      </p:grpSp>
      <p:sp>
        <p:nvSpPr>
          <p:cNvPr id="30727" name="Text Box 53">
            <a:extLst>
              <a:ext uri="{FF2B5EF4-FFF2-40B4-BE49-F238E27FC236}">
                <a16:creationId xmlns:a16="http://schemas.microsoft.com/office/drawing/2014/main" id="{3415B09E-F9E6-4697-A145-5D1066E9A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063" y="6096000"/>
            <a:ext cx="2700337" cy="5842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Addition is commutative &amp; associative for integers </a:t>
            </a: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0851705F-89DF-4D13-BD64-D4412CD158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E0CBBA50-1E92-4E91-B305-095B834D65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E8F5600-C4ED-454F-B0DE-8C71FB7B8E9F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20E25AB-31E6-4CF4-A10B-DDE421358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Code Shape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0648383-F3B6-4F63-AEED-04CA78A09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Another example -- the case statement</a:t>
            </a:r>
          </a:p>
          <a:p>
            <a:pPr eaLnBrk="1" hangingPunct="1">
              <a:spcBef>
                <a:spcPct val="25000"/>
              </a:spcBef>
              <a:buFont typeface="Times" charset="0"/>
              <a:buChar char="•"/>
              <a:defRPr/>
            </a:pPr>
            <a:r>
              <a:rPr lang="en-US" dirty="0"/>
              <a:t>Implement it as cascaded if-then-else statements</a:t>
            </a:r>
          </a:p>
          <a:p>
            <a:pPr lvl="1" eaLnBrk="1" hangingPunct="1">
              <a:defRPr/>
            </a:pPr>
            <a:r>
              <a:rPr lang="en-US" dirty="0"/>
              <a:t>Cost depends on where your case actually occurs</a:t>
            </a:r>
          </a:p>
          <a:p>
            <a:pPr lvl="1" eaLnBrk="1" hangingPunct="1">
              <a:defRPr/>
            </a:pPr>
            <a:r>
              <a:rPr lang="en-US" dirty="0"/>
              <a:t>O(number of cases)</a:t>
            </a:r>
          </a:p>
          <a:p>
            <a:pPr eaLnBrk="1" hangingPunct="1">
              <a:spcBef>
                <a:spcPct val="25000"/>
              </a:spcBef>
              <a:buFont typeface="Times" charset="0"/>
              <a:buChar char="•"/>
              <a:defRPr/>
            </a:pPr>
            <a:r>
              <a:rPr lang="en-US" dirty="0"/>
              <a:t>Implement it as a binary search</a:t>
            </a:r>
          </a:p>
          <a:p>
            <a:pPr lvl="1" eaLnBrk="1" hangingPunct="1">
              <a:defRPr/>
            </a:pPr>
            <a:r>
              <a:rPr lang="en-US" dirty="0"/>
              <a:t>Need a dense set of conditions to search</a:t>
            </a:r>
          </a:p>
          <a:p>
            <a:pPr lvl="1" eaLnBrk="1" hangingPunct="1">
              <a:defRPr/>
            </a:pPr>
            <a:r>
              <a:rPr lang="en-US" dirty="0"/>
              <a:t>Uniform (log n) cost</a:t>
            </a:r>
          </a:p>
          <a:p>
            <a:pPr eaLnBrk="1" hangingPunct="1">
              <a:spcBef>
                <a:spcPct val="25000"/>
              </a:spcBef>
              <a:buFont typeface="Times" charset="0"/>
              <a:buChar char="•"/>
              <a:defRPr/>
            </a:pPr>
            <a:r>
              <a:rPr lang="en-US" dirty="0"/>
              <a:t>Implement it as a jump table</a:t>
            </a:r>
          </a:p>
          <a:p>
            <a:pPr lvl="1" eaLnBrk="1" hangingPunct="1">
              <a:defRPr/>
            </a:pPr>
            <a:r>
              <a:rPr lang="en-US" dirty="0"/>
              <a:t>Lookup address in a table &amp; jump to it</a:t>
            </a:r>
          </a:p>
          <a:p>
            <a:pPr lvl="1" eaLnBrk="1" hangingPunct="1">
              <a:defRPr/>
            </a:pPr>
            <a:r>
              <a:rPr lang="en-US" dirty="0"/>
              <a:t>Uniform (constant) cost</a:t>
            </a:r>
          </a:p>
          <a:p>
            <a:pPr eaLnBrk="1" hangingPunct="1">
              <a:spcBef>
                <a:spcPct val="100000"/>
              </a:spcBef>
              <a:buFont typeface="Times" charset="0"/>
              <a:buNone/>
              <a:defRPr/>
            </a:pPr>
            <a:r>
              <a:rPr lang="en-US" dirty="0"/>
              <a:t>Compiler must choose best implementation strategy</a:t>
            </a:r>
          </a:p>
          <a:p>
            <a:pPr marL="3175" indent="4763" eaLnBrk="1" hangingPunct="1">
              <a:spcBef>
                <a:spcPct val="15000"/>
              </a:spcBef>
              <a:buFont typeface="Times" charset="0"/>
              <a:buNone/>
              <a:defRPr/>
            </a:pPr>
            <a:r>
              <a:rPr lang="en-US" dirty="0"/>
              <a:t>No amount of massaging or transforming will convert one into another</a:t>
            </a:r>
          </a:p>
        </p:txBody>
      </p:sp>
      <p:grpSp>
        <p:nvGrpSpPr>
          <p:cNvPr id="26629" name="Group 8">
            <a:extLst>
              <a:ext uri="{FF2B5EF4-FFF2-40B4-BE49-F238E27FC236}">
                <a16:creationId xmlns:a16="http://schemas.microsoft.com/office/drawing/2014/main" id="{743B04E5-FDC0-4A55-8A2B-A6F5CAC352DF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209800"/>
            <a:ext cx="3429000" cy="671513"/>
            <a:chOff x="3552" y="1392"/>
            <a:chExt cx="2160" cy="423"/>
          </a:xfrm>
        </p:grpSpPr>
        <p:sp>
          <p:nvSpPr>
            <p:cNvPr id="32775" name="Text Box 5">
              <a:extLst>
                <a:ext uri="{FF2B5EF4-FFF2-40B4-BE49-F238E27FC236}">
                  <a16:creationId xmlns:a16="http://schemas.microsoft.com/office/drawing/2014/main" id="{3ABAE593-3E2A-4455-91E0-7DEEC0C2F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449"/>
              <a:ext cx="1488" cy="366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Performance depends on order of cases!</a:t>
              </a:r>
            </a:p>
          </p:txBody>
        </p:sp>
        <p:sp>
          <p:nvSpPr>
            <p:cNvPr id="26631" name="Freeform 7">
              <a:extLst>
                <a:ext uri="{FF2B5EF4-FFF2-40B4-BE49-F238E27FC236}">
                  <a16:creationId xmlns:a16="http://schemas.microsoft.com/office/drawing/2014/main" id="{C9A45B25-F337-42C3-8871-D38C17C3A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1392"/>
              <a:ext cx="672" cy="200"/>
            </a:xfrm>
            <a:custGeom>
              <a:avLst/>
              <a:gdLst>
                <a:gd name="T0" fmla="*/ 672 w 672"/>
                <a:gd name="T1" fmla="*/ 192 h 200"/>
                <a:gd name="T2" fmla="*/ 480 w 672"/>
                <a:gd name="T3" fmla="*/ 48 h 200"/>
                <a:gd name="T4" fmla="*/ 480 w 672"/>
                <a:gd name="T5" fmla="*/ 192 h 200"/>
                <a:gd name="T6" fmla="*/ 0 w 672"/>
                <a:gd name="T7" fmla="*/ 0 h 2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00"/>
                <a:gd name="T14" fmla="*/ 672 w 672"/>
                <a:gd name="T15" fmla="*/ 200 h 2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00">
                  <a:moveTo>
                    <a:pt x="672" y="192"/>
                  </a:moveTo>
                  <a:cubicBezTo>
                    <a:pt x="592" y="120"/>
                    <a:pt x="512" y="48"/>
                    <a:pt x="480" y="48"/>
                  </a:cubicBezTo>
                  <a:cubicBezTo>
                    <a:pt x="448" y="48"/>
                    <a:pt x="560" y="200"/>
                    <a:pt x="480" y="192"/>
                  </a:cubicBezTo>
                  <a:cubicBezTo>
                    <a:pt x="400" y="184"/>
                    <a:pt x="200" y="92"/>
                    <a:pt x="0" y="0"/>
                  </a:cubicBezTo>
                </a:path>
              </a:pathLst>
            </a:custGeom>
            <a:noFill/>
            <a:ln w="9525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94FF3381-FB21-49C8-BE66-9EB5C1DF9E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1188D57F-1AEE-46BD-B112-F5E45C6A39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F56332F-65DE-4D93-A78D-6AAB4C49FEA5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C85D8A8-2BFD-4424-B693-C8EED6ECA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it-IT"/>
              <a:t>Code Shape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A14C81F-4FEC-419C-8B64-504F80BA9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Why worry about code shape?  Can’t we just trust the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optimizer and the back end?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/>
              <a:t>Optimizer and back end approximate the answers to many hard problems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The compiler’s individual passes must run quickly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It often pays to encode useful information into the IR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Shape of an expression or a control structure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A value kept in a register rather than in memory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Deriving such information may be expensive, when possible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Recording it explicitly in the IR is often easier and cheaper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03B487E9-4D59-42A1-B828-82A192C04B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B900A32B-AA29-4834-8375-C10715E5AB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FFED196-8B4B-405A-AF23-A983A31468AE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27D4271B-72EC-40F6-B04C-EE717C071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Generating Code for Expressions</a:t>
            </a:r>
          </a:p>
        </p:txBody>
      </p:sp>
      <p:sp>
        <p:nvSpPr>
          <p:cNvPr id="21509" name="Text Box 3">
            <a:extLst>
              <a:ext uri="{FF2B5EF4-FFF2-40B4-BE49-F238E27FC236}">
                <a16:creationId xmlns:a16="http://schemas.microsoft.com/office/drawing/2014/main" id="{8D3001D0-0599-415B-8853-ABAD5E306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508125"/>
            <a:ext cx="3733800" cy="3989388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300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 Concept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Assume an </a:t>
            </a: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AST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as input &amp; </a:t>
            </a: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ILOC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</a:p>
          <a:p>
            <a:pPr eaLnBrk="0" hangingPunct="0">
              <a:buClr>
                <a:srgbClr val="0000CC"/>
              </a:buClr>
              <a:buSzPct val="120000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  as output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Use a 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postorder treewalk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evaluator</a:t>
            </a:r>
          </a:p>
          <a:p>
            <a:pPr eaLnBrk="0" hangingPunct="0">
              <a:buClr>
                <a:srgbClr val="0000CC"/>
              </a:buClr>
              <a:buSzPct val="120000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  (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</a:rPr>
              <a:t>visitor pattern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in OOD)</a:t>
            </a:r>
          </a:p>
          <a:p>
            <a:pPr lvl="1" eaLnBrk="0" hangingPunct="0">
              <a:spcBef>
                <a:spcPct val="5000"/>
              </a:spcBef>
              <a:buClr>
                <a:srgbClr val="003C75"/>
              </a:buClr>
              <a:buSzPct val="90000"/>
              <a:buFontTx/>
              <a:buChar char="&gt;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Visits &amp; evaluates children</a:t>
            </a:r>
          </a:p>
          <a:p>
            <a:pPr lvl="1" eaLnBrk="0" hangingPunct="0">
              <a:spcBef>
                <a:spcPct val="5000"/>
              </a:spcBef>
              <a:buClr>
                <a:srgbClr val="003C75"/>
              </a:buClr>
              <a:buSzPct val="90000"/>
              <a:buFontTx/>
              <a:buChar char="&gt;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Emits code for the op itself</a:t>
            </a:r>
          </a:p>
          <a:p>
            <a:pPr lvl="1" eaLnBrk="0" hangingPunct="0">
              <a:spcBef>
                <a:spcPct val="5000"/>
              </a:spcBef>
              <a:buClr>
                <a:srgbClr val="003C75"/>
              </a:buClr>
              <a:buSzPct val="90000"/>
              <a:buFontTx/>
              <a:buChar char="&gt;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Returns register with result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Bury complexity of addressing </a:t>
            </a:r>
          </a:p>
          <a:p>
            <a:pPr eaLnBrk="0" hangingPunct="0">
              <a:buClr>
                <a:srgbClr val="0000CC"/>
              </a:buClr>
              <a:buSzPct val="120000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  names in routines that it calls</a:t>
            </a:r>
          </a:p>
          <a:p>
            <a:pPr lvl="1" eaLnBrk="0" hangingPunct="0">
              <a:spcBef>
                <a:spcPct val="5000"/>
              </a:spcBef>
              <a:buClr>
                <a:srgbClr val="003C75"/>
              </a:buClr>
              <a:buSzPct val="90000"/>
              <a:buFontTx/>
              <a:buChar char="&gt;"/>
              <a:defRPr/>
            </a:pPr>
            <a:r>
              <a:rPr lang="en-US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base</a:t>
            </a: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offset</a:t>
            </a: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, &amp; </a:t>
            </a:r>
            <a:r>
              <a:rPr lang="en-US" sz="16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val</a:t>
            </a: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()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spcBef>
                <a:spcPct val="2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Works for simple expressions</a:t>
            </a:r>
          </a:p>
          <a:p>
            <a:pPr eaLnBrk="0" hangingPunct="0">
              <a:spcBef>
                <a:spcPct val="15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Easily extended to other operators</a:t>
            </a:r>
          </a:p>
          <a:p>
            <a:pPr eaLnBrk="0" hangingPunct="0">
              <a:spcBef>
                <a:spcPct val="15000"/>
              </a:spcBef>
              <a:spcAft>
                <a:spcPts val="600"/>
              </a:spcAft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Does not handle control flow</a:t>
            </a:r>
          </a:p>
        </p:txBody>
      </p:sp>
      <p:sp>
        <p:nvSpPr>
          <p:cNvPr id="21510" name="Text Box 4">
            <a:extLst>
              <a:ext uri="{FF2B5EF4-FFF2-40B4-BE49-F238E27FC236}">
                <a16:creationId xmlns:a16="http://schemas.microsoft.com/office/drawing/2014/main" id="{CCB8FF67-5055-4223-8188-09C7E381A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19200"/>
            <a:ext cx="4267200" cy="49149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expr(node) {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int result, t1, t2;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switch 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type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(node)) {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case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,,, 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t1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expr(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left child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t2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expr(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right child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  <a:endParaRPr lang="en-US" sz="1600" dirty="0">
              <a:latin typeface="Arial Narrow Bold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op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(node), t1, t2,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break;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case IDENTIFIER: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t1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base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t2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offset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(loadAO, t1, t2,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break;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case NUMBER: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(loadI, </a:t>
            </a:r>
            <a:r>
              <a:rPr lang="en-US" sz="1600" i="1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val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(node), none,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break;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}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return result;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}</a:t>
            </a: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>
            <a:extLst>
              <a:ext uri="{FF2B5EF4-FFF2-40B4-BE49-F238E27FC236}">
                <a16:creationId xmlns:a16="http://schemas.microsoft.com/office/drawing/2014/main" id="{F95F3C1C-4774-4355-B2A3-DD6F62F8A2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9B572A9A-95C5-4D91-A2E7-03EDFA7B45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8DE3380-7853-46D6-93CE-B4651DFB90E7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32828AF-337C-462B-BC09-704B1919E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Generating Code for Expressions</a:t>
            </a:r>
          </a:p>
        </p:txBody>
      </p:sp>
      <p:sp>
        <p:nvSpPr>
          <p:cNvPr id="32772" name="Text Box 3">
            <a:extLst>
              <a:ext uri="{FF2B5EF4-FFF2-40B4-BE49-F238E27FC236}">
                <a16:creationId xmlns:a16="http://schemas.microsoft.com/office/drawing/2014/main" id="{853160C5-6296-4ABD-836B-5FB765A24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447800"/>
            <a:ext cx="1600200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it-IT"/>
              <a:t>Example:</a:t>
            </a:r>
          </a:p>
          <a:p>
            <a:pPr>
              <a:lnSpc>
                <a:spcPct val="130000"/>
              </a:lnSpc>
              <a:spcBef>
                <a:spcPct val="30000"/>
              </a:spcBef>
            </a:pPr>
            <a:endParaRPr lang="en-US" altLang="it-IT"/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en-US" altLang="it-IT"/>
              <a:t>Produces:</a:t>
            </a:r>
            <a:endParaRPr lang="en-US" altLang="it-IT" sz="1600"/>
          </a:p>
        </p:txBody>
      </p:sp>
      <p:grpSp>
        <p:nvGrpSpPr>
          <p:cNvPr id="32773" name="Group 4">
            <a:extLst>
              <a:ext uri="{FF2B5EF4-FFF2-40B4-BE49-F238E27FC236}">
                <a16:creationId xmlns:a16="http://schemas.microsoft.com/office/drawing/2014/main" id="{34FCA768-7A09-4F84-81E6-BFAECF0AEA5C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447800"/>
            <a:ext cx="1108075" cy="798513"/>
            <a:chOff x="3840" y="864"/>
            <a:chExt cx="698" cy="503"/>
          </a:xfrm>
        </p:grpSpPr>
        <p:sp>
          <p:nvSpPr>
            <p:cNvPr id="32776" name="Text Box 5">
              <a:extLst>
                <a:ext uri="{FF2B5EF4-FFF2-40B4-BE49-F238E27FC236}">
                  <a16:creationId xmlns:a16="http://schemas.microsoft.com/office/drawing/2014/main" id="{8E60E2E1-9439-471A-B9F3-E2E533DBE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864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>
                  <a:latin typeface="Arial Narrow Bold" panose="020B0706020202030204" pitchFamily="34" charset="0"/>
                  <a:sym typeface="Symbol" panose="05050102010706020507" pitchFamily="18" charset="2"/>
                </a:rPr>
                <a:t>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2777" name="Text Box 6">
              <a:extLst>
                <a:ext uri="{FF2B5EF4-FFF2-40B4-BE49-F238E27FC236}">
                  <a16:creationId xmlns:a16="http://schemas.microsoft.com/office/drawing/2014/main" id="{75ACE4A5-D888-485C-A569-FFC87282B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13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>
                  <a:latin typeface="Arial Narrow Bold" panose="020B0706020202030204" pitchFamily="34" charset="0"/>
                  <a:sym typeface="Symbol" panose="05050102010706020507" pitchFamily="18" charset="2"/>
                </a:rPr>
                <a:t>x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2778" name="Text Box 7">
              <a:extLst>
                <a:ext uri="{FF2B5EF4-FFF2-40B4-BE49-F238E27FC236}">
                  <a16:creationId xmlns:a16="http://schemas.microsoft.com/office/drawing/2014/main" id="{5510B6AD-A4CC-400D-B1FE-2DFE1A518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113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>
                  <a:latin typeface="Arial Narrow Bold" panose="020B0706020202030204" pitchFamily="34" charset="0"/>
                  <a:sym typeface="Symbol" panose="05050102010706020507" pitchFamily="18" charset="2"/>
                </a:rPr>
                <a:t>y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2779" name="Line 8">
              <a:extLst>
                <a:ext uri="{FF2B5EF4-FFF2-40B4-BE49-F238E27FC236}">
                  <a16:creationId xmlns:a16="http://schemas.microsoft.com/office/drawing/2014/main" id="{A68D0448-0FEF-4965-9273-EC27BC64CA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045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2780" name="Line 9">
              <a:extLst>
                <a:ext uri="{FF2B5EF4-FFF2-40B4-BE49-F238E27FC236}">
                  <a16:creationId xmlns:a16="http://schemas.microsoft.com/office/drawing/2014/main" id="{4723FE47-7970-490C-AD87-D49E88107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7" y="104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23559" name="Text Box 11">
            <a:extLst>
              <a:ext uri="{FF2B5EF4-FFF2-40B4-BE49-F238E27FC236}">
                <a16:creationId xmlns:a16="http://schemas.microsoft.com/office/drawing/2014/main" id="{6B376EA2-EB74-4E02-B9DE-D56A3A74B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19200"/>
            <a:ext cx="4267200" cy="49149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expr(node) {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int result, t1, t2;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switch 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type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(node)) {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case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,,, 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t1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expr(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left child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t2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expr(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right child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  <a:endParaRPr lang="en-US" sz="1600" dirty="0">
              <a:latin typeface="Arial Narrow Bold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op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(node), t1, t2,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break;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case IDENTIFIER: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t1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base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t2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offset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(loadAO, t1, t2,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break;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case NUMBER: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(loadI,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val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(node), none,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break;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}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return result;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}</a:t>
            </a:r>
          </a:p>
        </p:txBody>
      </p:sp>
      <p:graphicFrame>
        <p:nvGraphicFramePr>
          <p:cNvPr id="11527" name="Group 263">
            <a:extLst>
              <a:ext uri="{FF2B5EF4-FFF2-40B4-BE49-F238E27FC236}">
                <a16:creationId xmlns:a16="http://schemas.microsoft.com/office/drawing/2014/main" id="{B9910FBA-7785-4FC0-8B5E-2F87A5319698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2971800"/>
          <a:ext cx="2819400" cy="3168396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48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expr(“x”)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loadI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@x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r1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loadAO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r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arp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,r1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r2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48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expr(“y”)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loadI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@y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r3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loadAO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r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arp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,r3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r4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48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NextRegister()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r5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48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Emit(add,r2,r4,r5) </a:t>
                      </a: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add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r2,r4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r5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83E8E600-13BB-4119-8B1A-1EDE9A6FCE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05F7D0EE-952D-43EF-A081-F1976F4203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6932B6A-B678-46CD-B77A-D56B87F31C28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A344113D-57FA-4504-B5AC-2541641608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Generating Code for Expressions</a:t>
            </a:r>
          </a:p>
        </p:txBody>
      </p:sp>
      <p:sp>
        <p:nvSpPr>
          <p:cNvPr id="34820" name="Text Box 3">
            <a:extLst>
              <a:ext uri="{FF2B5EF4-FFF2-40B4-BE49-F238E27FC236}">
                <a16:creationId xmlns:a16="http://schemas.microsoft.com/office/drawing/2014/main" id="{883FAD0E-9419-4CC2-9570-705C4640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6363" y="1524000"/>
            <a:ext cx="1600200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Example:</a:t>
            </a:r>
          </a:p>
          <a:p>
            <a:pPr>
              <a:spcBef>
                <a:spcPct val="30000"/>
              </a:spcBef>
            </a:pP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ct val="30000"/>
              </a:spcBef>
            </a:pP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ct val="30000"/>
              </a:spcBef>
            </a:pPr>
            <a:r>
              <a:rPr lang="en-US" altLang="it-IT">
                <a:sym typeface="Symbol" panose="05050102010706020507" pitchFamily="18" charset="2"/>
              </a:rPr>
              <a:t>Produces:</a:t>
            </a:r>
            <a:endParaRPr lang="en-US" altLang="it-IT" sz="1600">
              <a:sym typeface="Symbol" panose="05050102010706020507" pitchFamily="18" charset="2"/>
            </a:endParaRPr>
          </a:p>
        </p:txBody>
      </p:sp>
      <p:grpSp>
        <p:nvGrpSpPr>
          <p:cNvPr id="34821" name="Group 4">
            <a:extLst>
              <a:ext uri="{FF2B5EF4-FFF2-40B4-BE49-F238E27FC236}">
                <a16:creationId xmlns:a16="http://schemas.microsoft.com/office/drawing/2014/main" id="{6C096012-9889-458D-BE19-6B349458763E}"/>
              </a:ext>
            </a:extLst>
          </p:cNvPr>
          <p:cNvGrpSpPr>
            <a:grpSpLocks/>
          </p:cNvGrpSpPr>
          <p:nvPr/>
        </p:nvGrpSpPr>
        <p:grpSpPr bwMode="auto">
          <a:xfrm>
            <a:off x="6786563" y="1563688"/>
            <a:ext cx="1600200" cy="1285875"/>
            <a:chOff x="3264" y="1163"/>
            <a:chExt cx="1008" cy="810"/>
          </a:xfrm>
        </p:grpSpPr>
        <p:sp>
          <p:nvSpPr>
            <p:cNvPr id="34825" name="Text Box 5">
              <a:extLst>
                <a:ext uri="{FF2B5EF4-FFF2-40B4-BE49-F238E27FC236}">
                  <a16:creationId xmlns:a16="http://schemas.microsoft.com/office/drawing/2014/main" id="{E43333DA-2CA1-49B8-84BF-B503EAA58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5" y="1163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>
                  <a:latin typeface="Arial Narrow Bold" panose="020B0706020202030204" pitchFamily="34" charset="0"/>
                  <a:sym typeface="Symbol" panose="05050102010706020507" pitchFamily="18" charset="2"/>
                </a:rPr>
                <a:t>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4826" name="Text Box 6">
              <a:extLst>
                <a:ext uri="{FF2B5EF4-FFF2-40B4-BE49-F238E27FC236}">
                  <a16:creationId xmlns:a16="http://schemas.microsoft.com/office/drawing/2014/main" id="{D9B2CA62-E54B-426C-A94C-CCA1CE68F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440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>
                  <a:latin typeface="Arial Narrow Bold" panose="020B0706020202030204" pitchFamily="34" charset="0"/>
                  <a:sym typeface="Symbol" panose="05050102010706020507" pitchFamily="18" charset="2"/>
                </a:rPr>
                <a:t>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4827" name="Text Box 7">
              <a:extLst>
                <a:ext uri="{FF2B5EF4-FFF2-40B4-BE49-F238E27FC236}">
                  <a16:creationId xmlns:a16="http://schemas.microsoft.com/office/drawing/2014/main" id="{4FBD4397-04D5-40C6-9B99-6A5623037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440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>
                  <a:latin typeface="Arial Narrow Bold" panose="020B0706020202030204" pitchFamily="34" charset="0"/>
                  <a:sym typeface="Symbol" panose="05050102010706020507" pitchFamily="18" charset="2"/>
                </a:rPr>
                <a:t>x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4828" name="Text Box 8">
              <a:extLst>
                <a:ext uri="{FF2B5EF4-FFF2-40B4-BE49-F238E27FC236}">
                  <a16:creationId xmlns:a16="http://schemas.microsoft.com/office/drawing/2014/main" id="{4D6894D6-427F-499F-A449-4F0AC0FB2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742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>
                  <a:latin typeface="Arial Narrow Bold" panose="020B0706020202030204" pitchFamily="34" charset="0"/>
                  <a:sym typeface="Symbol" panose="05050102010706020507" pitchFamily="18" charset="2"/>
                </a:rPr>
                <a:t>y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34829" name="Text Box 9">
              <a:extLst>
                <a:ext uri="{FF2B5EF4-FFF2-40B4-BE49-F238E27FC236}">
                  <a16:creationId xmlns:a16="http://schemas.microsoft.com/office/drawing/2014/main" id="{944B46D4-31C2-48F7-84B6-0C00E4C64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75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34830" name="Line 10">
              <a:extLst>
                <a:ext uri="{FF2B5EF4-FFF2-40B4-BE49-F238E27FC236}">
                  <a16:creationId xmlns:a16="http://schemas.microsoft.com/office/drawing/2014/main" id="{8BA26974-7AF6-45CA-AFC0-E0068582B8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134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4831" name="Line 11">
              <a:extLst>
                <a:ext uri="{FF2B5EF4-FFF2-40B4-BE49-F238E27FC236}">
                  <a16:creationId xmlns:a16="http://schemas.microsoft.com/office/drawing/2014/main" id="{91E78657-791F-44C4-A5DB-84081A1CF0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163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4832" name="Line 12">
              <a:extLst>
                <a:ext uri="{FF2B5EF4-FFF2-40B4-BE49-F238E27FC236}">
                  <a16:creationId xmlns:a16="http://schemas.microsoft.com/office/drawing/2014/main" id="{B3AC40DB-AC0E-4DDD-AA40-266140347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63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4833" name="Line 13">
              <a:extLst>
                <a:ext uri="{FF2B5EF4-FFF2-40B4-BE49-F238E27FC236}">
                  <a16:creationId xmlns:a16="http://schemas.microsoft.com/office/drawing/2014/main" id="{FBE9DCAE-349C-42C9-8E20-0E7865F0C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1" y="1339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25607" name="Text Box 15">
            <a:extLst>
              <a:ext uri="{FF2B5EF4-FFF2-40B4-BE49-F238E27FC236}">
                <a16:creationId xmlns:a16="http://schemas.microsoft.com/office/drawing/2014/main" id="{974FFEB2-D6AB-4AE9-8070-3759EE922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19200"/>
            <a:ext cx="4267200" cy="49149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expr(node) {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int result, t1, t2;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switch 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type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(node)) {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case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,,, 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t1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expr(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left child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t2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expr(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right child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  <a:endParaRPr lang="en-US" sz="1600" dirty="0">
              <a:latin typeface="Arial Narrow Bold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op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(node), t1, t2,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break;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case IDENTIFIER: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t1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base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t2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offset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(loadAO, t1, t2,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break;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case NUMBER: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(loadI,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val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(node), none,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break;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}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return result;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}</a:t>
            </a:r>
          </a:p>
        </p:txBody>
      </p:sp>
      <p:graphicFrame>
        <p:nvGraphicFramePr>
          <p:cNvPr id="13499" name="Group 187">
            <a:extLst>
              <a:ext uri="{FF2B5EF4-FFF2-40B4-BE49-F238E27FC236}">
                <a16:creationId xmlns:a16="http://schemas.microsoft.com/office/drawing/2014/main" id="{CDAAA4AE-DC17-4C41-93B5-C913F3C1DF10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3276600"/>
          <a:ext cx="2667000" cy="2464308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loadI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@x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r1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loadAO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r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arp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,r1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r2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r3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loadI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@y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r4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loadAO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r</a:t>
                      </a:r>
                      <a:r>
                        <a:rPr kumimoji="0" 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arp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,r4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 r5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mult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r3,r5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charset="2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 r6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sub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R2,r6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charset="2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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eneva" charset="0"/>
                          <a:ea typeface="ヒラギノ角ゴ Pro W3" charset="-128"/>
                          <a:cs typeface="ヒラギノ角ゴ Pro W3" charset="-128"/>
                        </a:rPr>
                        <a:t> r7</a:t>
                      </a: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824" name="Rectangle 138">
            <a:extLst>
              <a:ext uri="{FF2B5EF4-FFF2-40B4-BE49-F238E27FC236}">
                <a16:creationId xmlns:a16="http://schemas.microsoft.com/office/drawing/2014/main" id="{D36607F5-2683-4B70-9A68-208F61585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6525" y="43719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3">
            <a:extLst>
              <a:ext uri="{FF2B5EF4-FFF2-40B4-BE49-F238E27FC236}">
                <a16:creationId xmlns:a16="http://schemas.microsoft.com/office/drawing/2014/main" id="{8EE37A1A-EF0D-4D09-A44B-724E81FCD8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9847CEE4-CE48-493A-84B0-61C4283FB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B422EBA-A9C1-47C0-ABEA-7333B3EB81DC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A96E29B-BA57-4A63-882C-CCBFFDFCE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Extending the Simple Treewalk Algorithm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109833AC-8983-46AD-AF2D-CB99F50312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257800"/>
          </a:xfrm>
        </p:spPr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More complex cases for </a:t>
            </a:r>
            <a:r>
              <a:rPr lang="en-US" altLang="it-IT" sz="1800">
                <a:solidFill>
                  <a:srgbClr val="003C75"/>
                </a:solidFill>
              </a:rPr>
              <a:t>IDENTIFIER</a:t>
            </a:r>
            <a:endParaRPr lang="en-US" altLang="it-IT">
              <a:solidFill>
                <a:srgbClr val="003C75"/>
              </a:solidFill>
            </a:endParaRP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What about values that reside in registers?  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/>
              <a:t>Modify the </a:t>
            </a:r>
            <a:r>
              <a:rPr lang="en-US" altLang="it-IT" sz="1600"/>
              <a:t>IDENTIFIER</a:t>
            </a:r>
            <a:r>
              <a:rPr lang="en-US" altLang="it-IT"/>
              <a:t> case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/>
              <a:t>Already in a register </a:t>
            </a:r>
            <a:r>
              <a:rPr lang="en-US" altLang="it-IT">
                <a:sym typeface="Symbol" panose="05050102010706020507" pitchFamily="18" charset="2"/>
              </a:rPr>
              <a:t> return the register name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Not in a register  load it as before, but record the fact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Choose names to avoid creating false dependences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What about parameter values?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Many linkages pass the first several values in registers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Call-by-value  just a local variable with a negative offset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Call-by-reference  negative offset, extra indirection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What about function calls in expressions?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Generate the calling sequence &amp; load the return value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Severely limits compiler’s ability to reorder operations</a:t>
            </a: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>
            <a:extLst>
              <a:ext uri="{FF2B5EF4-FFF2-40B4-BE49-F238E27FC236}">
                <a16:creationId xmlns:a16="http://schemas.microsoft.com/office/drawing/2014/main" id="{7E3DED60-F1DD-4894-965E-69FC3BEB3C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4DEF13BF-0A4E-4626-997D-F710D75CCA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848D035-FCB5-4FCB-AC6C-3518D89FA8F1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07E9925-ECBD-4F8D-999B-260EA0964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Extending the Simple Treewalk Algorithm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6E04CA80-4CA3-4B60-80A2-2E3B2D414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Adding other operators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Evaluate the operands, then perform the operation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Complex operations may turn into library calls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Handle assignment as an operator</a:t>
            </a: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Mixed-type expressions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Insert conversions as needed from conversion table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Most languages have symmetric &amp; rational conversion tables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Original PL/I had asymmetric tables for BCD &amp; binary integers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C668BEF3-ED23-4976-AC20-36E7406A3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700588"/>
            <a:ext cx="1143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/>
              <a:t>Typical Table for Addition</a:t>
            </a:r>
          </a:p>
        </p:txBody>
      </p:sp>
      <p:graphicFrame>
        <p:nvGraphicFramePr>
          <p:cNvPr id="17553" name="Group 145">
            <a:extLst>
              <a:ext uri="{FF2B5EF4-FFF2-40B4-BE49-F238E27FC236}">
                <a16:creationId xmlns:a16="http://schemas.microsoft.com/office/drawing/2014/main" id="{1690CFE3-29ED-475F-95F9-5BF5E3C39F3E}"/>
              </a:ext>
            </a:extLst>
          </p:cNvPr>
          <p:cNvGraphicFramePr>
            <a:graphicFrameLocks noGrp="1"/>
          </p:cNvGraphicFramePr>
          <p:nvPr/>
        </p:nvGraphicFramePr>
        <p:xfrm>
          <a:off x="2743200" y="4422775"/>
          <a:ext cx="5410200" cy="1828800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108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Integer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Double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Complex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Integer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Integer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Double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Complex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905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Real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Real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Double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Complex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Double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Double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Double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Double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Complex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Complex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Complex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Complex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Complex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Complex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3">
            <a:extLst>
              <a:ext uri="{FF2B5EF4-FFF2-40B4-BE49-F238E27FC236}">
                <a16:creationId xmlns:a16="http://schemas.microsoft.com/office/drawing/2014/main" id="{80BA540D-3B73-4AA2-816F-A0D4FC73EF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91F8DE07-9BBA-4DE9-835D-9B6D23DA7B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209AE6B-0FDB-4D57-9CFE-EEF522207990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35A4B3C3-3F42-4176-AFAD-A4997CC90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Extending the Simple Treewalk Algorithm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A906B07B-F509-4808-B6FD-9A01C9E5E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01000" cy="4953000"/>
          </a:xfrm>
        </p:spPr>
        <p:txBody>
          <a:bodyPr/>
          <a:lstStyle/>
          <a:p>
            <a:pPr eaLnBrk="1" hangingPunct="1">
              <a:spcBef>
                <a:spcPct val="250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  <a:sym typeface="Symbol" charset="2"/>
              </a:rPr>
              <a:t>What about evaluation order?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>
                <a:sym typeface="Symbol" charset="2"/>
              </a:rPr>
              <a:t>Can use commutativity &amp; associativity to improve code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>
                <a:sym typeface="Symbol" charset="2"/>
              </a:rPr>
              <a:t>This problem is truly hard</a:t>
            </a:r>
          </a:p>
          <a:p>
            <a:pPr eaLnBrk="1" hangingPunct="1">
              <a:spcBef>
                <a:spcPts val="42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  <a:sym typeface="Symbol" charset="2"/>
              </a:rPr>
              <a:t>Commuting operands at a single operation is much easier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>
                <a:sym typeface="Symbol" charset="2"/>
              </a:rPr>
              <a:t>1</a:t>
            </a:r>
            <a:r>
              <a:rPr lang="en-US" baseline="30000" dirty="0">
                <a:sym typeface="Symbol" charset="2"/>
              </a:rPr>
              <a:t>st</a:t>
            </a:r>
            <a:r>
              <a:rPr lang="en-US" dirty="0">
                <a:sym typeface="Symbol" charset="2"/>
              </a:rPr>
              <a:t> operand must be preserved while 2</a:t>
            </a:r>
            <a:r>
              <a:rPr lang="en-US" baseline="30000" dirty="0">
                <a:sym typeface="Symbol" charset="2"/>
              </a:rPr>
              <a:t>nd</a:t>
            </a:r>
            <a:r>
              <a:rPr lang="en-US" dirty="0">
                <a:sym typeface="Symbol" charset="2"/>
              </a:rPr>
              <a:t> is evaluated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>
                <a:sym typeface="Symbol" charset="2"/>
              </a:rPr>
              <a:t>Takes an extra register for 2</a:t>
            </a:r>
            <a:r>
              <a:rPr lang="en-US" baseline="30000" dirty="0">
                <a:sym typeface="Symbol" charset="2"/>
              </a:rPr>
              <a:t>nd</a:t>
            </a:r>
            <a:r>
              <a:rPr lang="en-US" dirty="0">
                <a:sym typeface="Symbol" charset="2"/>
              </a:rPr>
              <a:t> operand</a:t>
            </a:r>
          </a:p>
          <a:p>
            <a:pPr eaLnBrk="1" hangingPunct="1">
              <a:buFont typeface="Times" charset="0"/>
              <a:buChar char="•"/>
              <a:defRPr/>
            </a:pPr>
            <a:r>
              <a:rPr lang="en-US" dirty="0">
                <a:sym typeface="Symbol" charset="2"/>
              </a:rPr>
              <a:t>Should evaluate more demanding operand expression first</a:t>
            </a:r>
          </a:p>
          <a:p>
            <a:pPr algn="r" eaLnBrk="1" hangingPunct="1">
              <a:spcBef>
                <a:spcPct val="25000"/>
              </a:spcBef>
              <a:buFont typeface="Times" charset="0"/>
              <a:buNone/>
              <a:defRPr/>
            </a:pPr>
            <a:r>
              <a:rPr lang="en-US" sz="1800" dirty="0">
                <a:solidFill>
                  <a:srgbClr val="7F7F7F"/>
                </a:solidFill>
                <a:sym typeface="Symbol" charset="2"/>
              </a:rPr>
              <a:t>(Ershov in the 1950’s, Sethi in the 1970’s)</a:t>
            </a:r>
            <a:r>
              <a:rPr lang="en-US" dirty="0">
                <a:solidFill>
                  <a:srgbClr val="7F7F7F"/>
                </a:solidFill>
                <a:sym typeface="Symbol" charset="2"/>
              </a:rPr>
              <a:t> </a:t>
            </a:r>
          </a:p>
          <a:p>
            <a:pPr marL="3175" indent="4763" eaLnBrk="1" hangingPunct="1">
              <a:spcBef>
                <a:spcPts val="3600"/>
              </a:spcBef>
              <a:buFont typeface="Times" charset="0"/>
              <a:buNone/>
              <a:defRPr/>
            </a:pPr>
            <a:r>
              <a:rPr lang="en-US" dirty="0">
                <a:sym typeface="Symbol" charset="2"/>
              </a:rPr>
              <a:t>Taken to its logical conclusion, this creates Sethi-Ullman scheme for register allocation                       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Symbol" charset="2"/>
              </a:rPr>
              <a:t>[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sym typeface="Symbol" charset="2"/>
              </a:rPr>
              <a:t>See Bibliography in EaC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sym typeface="Symbol" charset="2"/>
              </a:rPr>
              <a:t>]</a:t>
            </a:r>
          </a:p>
        </p:txBody>
      </p:sp>
      <p:grpSp>
        <p:nvGrpSpPr>
          <p:cNvPr id="40965" name="Group 8">
            <a:extLst>
              <a:ext uri="{FF2B5EF4-FFF2-40B4-BE49-F238E27FC236}">
                <a16:creationId xmlns:a16="http://schemas.microsoft.com/office/drawing/2014/main" id="{F88CD336-BA90-4F34-A3BE-3D02395F856A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920875"/>
            <a:ext cx="3324225" cy="746125"/>
            <a:chOff x="3201" y="1114"/>
            <a:chExt cx="2094" cy="470"/>
          </a:xfrm>
        </p:grpSpPr>
        <p:sp>
          <p:nvSpPr>
            <p:cNvPr id="31751" name="Text Box 5">
              <a:extLst>
                <a:ext uri="{FF2B5EF4-FFF2-40B4-BE49-F238E27FC236}">
                  <a16:creationId xmlns:a16="http://schemas.microsoft.com/office/drawing/2014/main" id="{B5C3E36D-7B49-4441-ACB5-2ABC5C9B5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114"/>
              <a:ext cx="783" cy="33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Local rather than global</a:t>
              </a:r>
            </a:p>
          </p:txBody>
        </p:sp>
        <p:sp>
          <p:nvSpPr>
            <p:cNvPr id="31753" name="Freeform 7">
              <a:extLst>
                <a:ext uri="{FF2B5EF4-FFF2-40B4-BE49-F238E27FC236}">
                  <a16:creationId xmlns:a16="http://schemas.microsoft.com/office/drawing/2014/main" id="{0D747A3B-EA0D-44BA-9DD0-EB2E35F36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" y="1296"/>
              <a:ext cx="1296" cy="288"/>
            </a:xfrm>
            <a:custGeom>
              <a:avLst/>
              <a:gdLst>
                <a:gd name="T0" fmla="*/ 1296 w 1296"/>
                <a:gd name="T1" fmla="*/ 0 h 288"/>
                <a:gd name="T2" fmla="*/ 912 w 1296"/>
                <a:gd name="T3" fmla="*/ 192 h 288"/>
                <a:gd name="T4" fmla="*/ 960 w 1296"/>
                <a:gd name="T5" fmla="*/ 48 h 288"/>
                <a:gd name="T6" fmla="*/ 0 w 1296"/>
                <a:gd name="T7" fmla="*/ 288 h 2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96"/>
                <a:gd name="T13" fmla="*/ 0 h 288"/>
                <a:gd name="T14" fmla="*/ 1296 w 1296"/>
                <a:gd name="T15" fmla="*/ 288 h 2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96" h="288">
                  <a:moveTo>
                    <a:pt x="1296" y="0"/>
                  </a:moveTo>
                  <a:cubicBezTo>
                    <a:pt x="1132" y="92"/>
                    <a:pt x="968" y="184"/>
                    <a:pt x="912" y="192"/>
                  </a:cubicBezTo>
                  <a:cubicBezTo>
                    <a:pt x="856" y="200"/>
                    <a:pt x="1112" y="32"/>
                    <a:pt x="960" y="48"/>
                  </a:cubicBezTo>
                  <a:cubicBezTo>
                    <a:pt x="808" y="64"/>
                    <a:pt x="404" y="176"/>
                    <a:pt x="0" y="288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>
            <a:extLst>
              <a:ext uri="{FF2B5EF4-FFF2-40B4-BE49-F238E27FC236}">
                <a16:creationId xmlns:a16="http://schemas.microsoft.com/office/drawing/2014/main" id="{7D467729-00EF-4C26-AB56-C1DA8392C3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AFDA3CDE-ACA4-4437-BAD5-9DD98E5FE6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43F4489-44DB-4FC1-BCF2-3B2563722401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EF09DDEC-8562-4597-9340-28184AD68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Generating Code in the Parser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79A4859-7427-4A05-AF1F-D74D1E283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Need to generate an initial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IR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form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Chapter 4 talks about A</a:t>
            </a:r>
            <a:r>
              <a:rPr lang="en-US" altLang="it-IT" sz="1600" b="1">
                <a:sym typeface="Symbol" panose="05050102010706020507" pitchFamily="18" charset="2"/>
              </a:rPr>
              <a:t>ST</a:t>
            </a:r>
            <a:r>
              <a:rPr lang="en-US" altLang="it-IT">
                <a:sym typeface="Symbol" panose="05050102010706020507" pitchFamily="18" charset="2"/>
              </a:rPr>
              <a:t>s &amp; I</a:t>
            </a:r>
            <a:r>
              <a:rPr lang="en-US" altLang="it-IT" sz="1600" b="1">
                <a:sym typeface="Symbol" panose="05050102010706020507" pitchFamily="18" charset="2"/>
              </a:rPr>
              <a:t>LOC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Might generate an A</a:t>
            </a:r>
            <a:r>
              <a:rPr lang="en-US" altLang="it-IT" sz="1800">
                <a:sym typeface="Symbol" panose="05050102010706020507" pitchFamily="18" charset="2"/>
              </a:rPr>
              <a:t>ST</a:t>
            </a:r>
            <a:r>
              <a:rPr lang="en-US" altLang="it-IT">
                <a:sym typeface="Symbol" panose="05050102010706020507" pitchFamily="18" charset="2"/>
              </a:rPr>
              <a:t>, use it for some high-level, near-source work such as type checking and optimization, then traverse it and emit a lower-level </a:t>
            </a:r>
            <a:r>
              <a:rPr lang="en-US" altLang="it-IT" sz="1800">
                <a:sym typeface="Symbol" panose="05050102010706020507" pitchFamily="18" charset="2"/>
              </a:rPr>
              <a:t>IR</a:t>
            </a:r>
            <a:r>
              <a:rPr lang="en-US" altLang="it-IT">
                <a:sym typeface="Symbol" panose="05050102010706020507" pitchFamily="18" charset="2"/>
              </a:rPr>
              <a:t> similar to I</a:t>
            </a:r>
            <a:r>
              <a:rPr lang="en-US" altLang="it-IT" sz="1600" b="1">
                <a:sym typeface="Symbol" panose="05050102010706020507" pitchFamily="18" charset="2"/>
              </a:rPr>
              <a:t>LOC</a:t>
            </a:r>
            <a:r>
              <a:rPr lang="en-US" altLang="it-IT">
                <a:sym typeface="Symbol" panose="05050102010706020507" pitchFamily="18" charset="2"/>
              </a:rPr>
              <a:t> for further optimization and code generation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The Big Picture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Recursive treewalk performs its work in a bottom-up order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Actions on non-leaves occur after actions on children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Can encode same basic structure into </a:t>
            </a:r>
            <a:r>
              <a:rPr lang="en-US" altLang="it-IT" i="1">
                <a:sym typeface="Symbol" panose="05050102010706020507" pitchFamily="18" charset="2"/>
              </a:rPr>
              <a:t>ad-hoc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SDT</a:t>
            </a:r>
            <a:r>
              <a:rPr lang="en-US" altLang="it-IT">
                <a:sym typeface="Symbol" panose="05050102010706020507" pitchFamily="18" charset="2"/>
              </a:rPr>
              <a:t> scheme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Identifiers load themselves &amp; stack virtual register name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Operators emit appropriate code &amp; stack resulting </a:t>
            </a:r>
            <a:r>
              <a:rPr lang="en-US" altLang="it-IT" sz="1600">
                <a:sym typeface="Symbol" panose="05050102010706020507" pitchFamily="18" charset="2"/>
              </a:rPr>
              <a:t>VR</a:t>
            </a:r>
            <a:r>
              <a:rPr lang="en-US" altLang="it-IT">
                <a:sym typeface="Symbol" panose="05050102010706020507" pitchFamily="18" charset="2"/>
              </a:rPr>
              <a:t> name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Assignment requires evaluation to an </a:t>
            </a:r>
            <a:r>
              <a:rPr lang="en-US" altLang="it-IT" i="1">
                <a:sym typeface="Symbol" panose="05050102010706020507" pitchFamily="18" charset="2"/>
              </a:rPr>
              <a:t>lvalue</a:t>
            </a:r>
            <a:r>
              <a:rPr lang="en-US" altLang="it-IT">
                <a:sym typeface="Symbol" panose="05050102010706020507" pitchFamily="18" charset="2"/>
              </a:rPr>
              <a:t> or an </a:t>
            </a:r>
            <a:r>
              <a:rPr lang="en-US" altLang="it-IT" i="1">
                <a:sym typeface="Symbol" panose="05050102010706020507" pitchFamily="18" charset="2"/>
              </a:rPr>
              <a:t>rvalue</a:t>
            </a:r>
            <a:endParaRPr lang="en-US" altLang="it-IT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3">
            <a:extLst>
              <a:ext uri="{FF2B5EF4-FFF2-40B4-BE49-F238E27FC236}">
                <a16:creationId xmlns:a16="http://schemas.microsoft.com/office/drawing/2014/main" id="{70EE57E2-DF5D-4E90-BB29-0199A9A045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5C93C693-7DEB-47C0-9099-7211D231D6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F37CCB2-3C0D-4AFB-8AF0-C4A0B1DB747F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9F4F60B-7738-40F0-B08C-18906C121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533400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Ad-hoc SDT versus a Recursive Treewalk</a:t>
            </a:r>
          </a:p>
        </p:txBody>
      </p:sp>
      <p:sp>
        <p:nvSpPr>
          <p:cNvPr id="35845" name="Text Box 3">
            <a:extLst>
              <a:ext uri="{FF2B5EF4-FFF2-40B4-BE49-F238E27FC236}">
                <a16:creationId xmlns:a16="http://schemas.microsoft.com/office/drawing/2014/main" id="{E9F81307-7DE5-4756-8E1F-A973308BF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300163"/>
            <a:ext cx="3733800" cy="49133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Goal : 	Expr     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{ $$ = $1; } 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Expr:	Expr PLUS </a:t>
            </a:r>
            <a:r>
              <a:rPr lang="en-US" sz="1600" dirty="0">
                <a:solidFill>
                  <a:srgbClr val="003C7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Term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{ t = NextRegister();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  emit(add,$1,$3,t); $$ = t; }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|	Expr MINUS Term</a:t>
            </a:r>
            <a:r>
              <a:rPr lang="en-US" sz="1600" dirty="0">
                <a:solidFill>
                  <a:srgbClr val="003C7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{</a:t>
            </a:r>
            <a:r>
              <a:rPr lang="en-US" sz="1600" dirty="0">
                <a:solidFill>
                  <a:srgbClr val="FF0000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…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}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|	Term    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{ $$ = $1; } 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Term:	Term TIMES Factor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{ t = NextRegister();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  emit(mult,$1,$3,t); $$ = t; };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|	Term DIVIDES Factor   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{</a:t>
            </a:r>
            <a:r>
              <a:rPr lang="en-US" sz="1600" dirty="0">
                <a:solidFill>
                  <a:srgbClr val="FF0000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…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}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|	Factor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{ $$ = $1; };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Factor:	NUMBER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{ t = NextRegister();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  emit(loadI,val($1),none, t );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  $$ = t; }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solidFill>
                  <a:srgbClr val="FF0065"/>
                </a:solidFill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|	ID  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 { t1 = base($1);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   t2 = offset($1);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   t = NextRegister();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  emit(loadAO,t1,t2,t); </a:t>
            </a:r>
          </a:p>
          <a:p>
            <a:pPr eaLnBrk="0" hangingPunct="0">
              <a:lnSpc>
                <a:spcPct val="90000"/>
              </a:lnSpc>
              <a:spcBef>
                <a:spcPct val="2000"/>
              </a:spcBef>
              <a:spcAft>
                <a:spcPct val="30000"/>
              </a:spcAft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	  $$ =  t; }</a:t>
            </a:r>
          </a:p>
        </p:txBody>
      </p:sp>
      <p:sp>
        <p:nvSpPr>
          <p:cNvPr id="35846" name="Text Box 4">
            <a:extLst>
              <a:ext uri="{FF2B5EF4-FFF2-40B4-BE49-F238E27FC236}">
                <a16:creationId xmlns:a16="http://schemas.microsoft.com/office/drawing/2014/main" id="{52A6D802-CD50-4451-B770-02744312F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00163"/>
            <a:ext cx="4267200" cy="49149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expr(node) {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int result, t1, t2;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switch 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type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(node)) {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case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,,, 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t1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expr(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left child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t2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expr(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right child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  <a:endParaRPr lang="en-US" sz="1600" dirty="0">
              <a:latin typeface="Arial Narrow Bold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</a:rPr>
              <a:t>op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(node), t1, t2,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break;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case IDENTIFIER: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</a:rPr>
              <a:t>              t1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base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t2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offset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(loadAO, t1, t2,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break;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case NUMBER: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result </a:t>
            </a:r>
            <a:r>
              <a:rPr lang="en-US" sz="14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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NextRegister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emit 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(loadI, </a:t>
            </a:r>
            <a:r>
              <a:rPr lang="en-US" sz="1600" i="1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val</a:t>
            </a: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(node), none, result);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    break;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}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        return result;</a:t>
            </a:r>
          </a:p>
          <a:p>
            <a:pPr eaLnBrk="0" hangingPunct="0">
              <a:lnSpc>
                <a:spcPct val="80000"/>
              </a:lnSpc>
              <a:defRPr/>
            </a:pPr>
            <a:r>
              <a:rPr lang="en-US" sz="1600" dirty="0">
                <a:latin typeface="Arial Narrow Bold" charset="0"/>
                <a:ea typeface="ヒラギノ角ゴ Pro W3" charset="-128"/>
                <a:cs typeface="ヒラギノ角ゴ Pro W3" charset="-128"/>
                <a:sym typeface="Symbol" charset="2"/>
              </a:rPr>
              <a:t>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91F83-8416-40A5-9FE3-E2239FDACEF0}"/>
              </a:ext>
            </a:extLst>
          </p:cNvPr>
          <p:cNvSpPr txBox="1"/>
          <p:nvPr/>
        </p:nvSpPr>
        <p:spPr>
          <a:xfrm>
            <a:off x="6172200" y="6303963"/>
            <a:ext cx="1981200" cy="46037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2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Some details omitted for space; see Chapter 4.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>
            <a:extLst>
              <a:ext uri="{FF2B5EF4-FFF2-40B4-BE49-F238E27FC236}">
                <a16:creationId xmlns:a16="http://schemas.microsoft.com/office/drawing/2014/main" id="{F18A2A2A-63DF-4013-85F2-A0F285D989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7106" name="Slide Number Placeholder 4">
            <a:extLst>
              <a:ext uri="{FF2B5EF4-FFF2-40B4-BE49-F238E27FC236}">
                <a16:creationId xmlns:a16="http://schemas.microsoft.com/office/drawing/2014/main" id="{B9E448DB-0480-4DD0-824F-7475D760A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90030F9-D809-48FD-ABB6-F09A07D0A935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F6F67A4-5465-4E5F-8B93-97BB900AF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Handling Assignment         </a:t>
            </a:r>
            <a:r>
              <a:rPr lang="en-US" altLang="it-IT" sz="2000"/>
              <a:t>(just another operator)</a:t>
            </a:r>
            <a:endParaRPr lang="en-US" altLang="it-IT"/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3095712A-FD83-4304-A90A-EA785AA8B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 i="1">
                <a:latin typeface="Arial Narrow Bold Italic" panose="020B07060202020A0204" pitchFamily="34" charset="0"/>
              </a:rPr>
              <a:t>lhs</a:t>
            </a:r>
            <a:r>
              <a:rPr lang="en-US" altLang="it-IT">
                <a:latin typeface="Arial Narrow Bold Italic" panose="020B07060202020A0204" pitchFamily="34" charset="0"/>
              </a:rPr>
              <a:t> </a:t>
            </a:r>
            <a:r>
              <a:rPr lang="en-US" altLang="it-IT">
                <a:latin typeface="Arial Narrow Bold Italic" panose="020B07060202020A0204" pitchFamily="34" charset="0"/>
                <a:sym typeface="Symbol" panose="05050102010706020507" pitchFamily="18" charset="2"/>
              </a:rPr>
              <a:t> </a:t>
            </a:r>
            <a:r>
              <a:rPr lang="en-US" altLang="it-IT" i="1">
                <a:latin typeface="Arial Narrow Bold Italic" panose="020B07060202020A0204" pitchFamily="34" charset="0"/>
                <a:sym typeface="Symbol" panose="05050102010706020507" pitchFamily="18" charset="2"/>
              </a:rPr>
              <a:t>rhs</a:t>
            </a:r>
            <a:endParaRPr lang="en-US" altLang="it-IT"/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Strategy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Evaluate </a:t>
            </a:r>
            <a:r>
              <a:rPr lang="en-US" altLang="it-IT" i="1"/>
              <a:t>rhs </a:t>
            </a:r>
            <a:r>
              <a:rPr lang="en-US" altLang="it-IT"/>
              <a:t>to a </a:t>
            </a:r>
            <a:r>
              <a:rPr lang="en-US" altLang="it-IT">
                <a:solidFill>
                  <a:srgbClr val="FF0065"/>
                </a:solidFill>
              </a:rPr>
              <a:t>value                                            </a:t>
            </a:r>
            <a:r>
              <a:rPr lang="en-US" altLang="it-IT" i="1">
                <a:solidFill>
                  <a:srgbClr val="FF0065"/>
                </a:solidFill>
              </a:rPr>
              <a:t>(</a:t>
            </a:r>
            <a:r>
              <a:rPr lang="en-US" altLang="it-IT" sz="1800" i="1">
                <a:solidFill>
                  <a:srgbClr val="FF0065"/>
                </a:solidFill>
              </a:rPr>
              <a:t>an rvalue</a:t>
            </a:r>
            <a:r>
              <a:rPr lang="en-US" altLang="it-IT" i="1">
                <a:solidFill>
                  <a:srgbClr val="FF0065"/>
                </a:solidFill>
              </a:rPr>
              <a:t>)</a:t>
            </a:r>
            <a:endParaRPr lang="en-US" altLang="it-IT"/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Evaluate </a:t>
            </a:r>
            <a:r>
              <a:rPr lang="en-US" altLang="it-IT" i="1"/>
              <a:t>lhs </a:t>
            </a:r>
            <a:r>
              <a:rPr lang="en-US" altLang="it-IT"/>
              <a:t>to a </a:t>
            </a:r>
            <a:r>
              <a:rPr lang="en-US" altLang="it-IT">
                <a:solidFill>
                  <a:srgbClr val="FF0065"/>
                </a:solidFill>
              </a:rPr>
              <a:t>location                                      </a:t>
            </a:r>
            <a:r>
              <a:rPr lang="en-US" altLang="it-IT" i="1">
                <a:solidFill>
                  <a:srgbClr val="FF0065"/>
                </a:solidFill>
              </a:rPr>
              <a:t>  (</a:t>
            </a:r>
            <a:r>
              <a:rPr lang="en-US" altLang="it-IT" sz="1800" i="1">
                <a:solidFill>
                  <a:srgbClr val="FF0065"/>
                </a:solidFill>
              </a:rPr>
              <a:t>an lvalue</a:t>
            </a:r>
            <a:r>
              <a:rPr lang="en-US" altLang="it-IT" i="1">
                <a:solidFill>
                  <a:srgbClr val="FF0065"/>
                </a:solidFill>
              </a:rPr>
              <a:t>)</a:t>
            </a:r>
            <a:endParaRPr lang="en-US" altLang="it-IT"/>
          </a:p>
          <a:p>
            <a:pPr lvl="1" eaLnBrk="1" hangingPunct="1">
              <a:spcBef>
                <a:spcPct val="25000"/>
              </a:spcBef>
            </a:pPr>
            <a:r>
              <a:rPr lang="en-US" altLang="it-IT" i="1"/>
              <a:t>lvalue </a:t>
            </a:r>
            <a:r>
              <a:rPr lang="en-US" altLang="it-IT"/>
              <a:t>is a register</a:t>
            </a:r>
            <a:r>
              <a:rPr lang="en-US" altLang="it-IT" i="1"/>
              <a:t> </a:t>
            </a:r>
            <a:r>
              <a:rPr lang="en-US" altLang="it-IT">
                <a:sym typeface="Symbol" panose="05050102010706020507" pitchFamily="18" charset="2"/>
              </a:rPr>
              <a:t> move rhs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 i="1">
                <a:sym typeface="Symbol" panose="05050102010706020507" pitchFamily="18" charset="2"/>
              </a:rPr>
              <a:t>lvalue</a:t>
            </a:r>
            <a:r>
              <a:rPr lang="en-US" altLang="it-IT">
                <a:sym typeface="Symbol" panose="05050102010706020507" pitchFamily="18" charset="2"/>
              </a:rPr>
              <a:t> is an address  store rhs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If </a:t>
            </a:r>
            <a:r>
              <a:rPr lang="en-US" altLang="it-IT" i="1">
                <a:sym typeface="Symbol" panose="05050102010706020507" pitchFamily="18" charset="2"/>
              </a:rPr>
              <a:t>rvalue </a:t>
            </a:r>
            <a:r>
              <a:rPr lang="en-US" altLang="it-IT">
                <a:sym typeface="Symbol" panose="05050102010706020507" pitchFamily="18" charset="2"/>
              </a:rPr>
              <a:t>&amp; </a:t>
            </a:r>
            <a:r>
              <a:rPr lang="en-US" altLang="it-IT" i="1">
                <a:sym typeface="Symbol" panose="05050102010706020507" pitchFamily="18" charset="2"/>
              </a:rPr>
              <a:t>lvalue </a:t>
            </a:r>
            <a:r>
              <a:rPr lang="en-US" altLang="it-IT">
                <a:sym typeface="Symbol" panose="05050102010706020507" pitchFamily="18" charset="2"/>
              </a:rPr>
              <a:t>have different types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Evaluate </a:t>
            </a:r>
            <a:r>
              <a:rPr lang="en-US" altLang="it-IT" i="1">
                <a:sym typeface="Symbol" panose="05050102010706020507" pitchFamily="18" charset="2"/>
              </a:rPr>
              <a:t>rvalue</a:t>
            </a:r>
            <a:r>
              <a:rPr lang="en-US" altLang="it-IT">
                <a:sym typeface="Symbol" panose="05050102010706020507" pitchFamily="18" charset="2"/>
              </a:rPr>
              <a:t> to its “</a:t>
            </a:r>
            <a:r>
              <a:rPr lang="en-US" altLang="it-IT" i="1">
                <a:sym typeface="Symbol" panose="05050102010706020507" pitchFamily="18" charset="2"/>
              </a:rPr>
              <a:t>natural</a:t>
            </a:r>
            <a:r>
              <a:rPr lang="en-US" altLang="it-IT">
                <a:sym typeface="Symbol" panose="05050102010706020507" pitchFamily="18" charset="2"/>
              </a:rPr>
              <a:t>” type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Convert that value to the type of *</a:t>
            </a:r>
            <a:r>
              <a:rPr lang="en-US" altLang="it-IT" i="1">
                <a:sym typeface="Symbol" panose="05050102010706020507" pitchFamily="18" charset="2"/>
              </a:rPr>
              <a:t>lvalue</a:t>
            </a:r>
          </a:p>
          <a:p>
            <a:pPr lvl="1" eaLnBrk="1" hangingPunct="1">
              <a:spcBef>
                <a:spcPct val="25000"/>
              </a:spcBef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Unambiguous scalars go into registers</a:t>
            </a: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Ambiguous scalars or aggregates go into memory</a:t>
            </a:r>
          </a:p>
        </p:txBody>
      </p:sp>
      <p:grpSp>
        <p:nvGrpSpPr>
          <p:cNvPr id="47109" name="Group 8">
            <a:extLst>
              <a:ext uri="{FF2B5EF4-FFF2-40B4-BE49-F238E27FC236}">
                <a16:creationId xmlns:a16="http://schemas.microsoft.com/office/drawing/2014/main" id="{AF3FDD97-E315-4952-BF42-1556FCE09729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562600"/>
            <a:ext cx="3854450" cy="1093788"/>
            <a:chOff x="4572000" y="5552722"/>
            <a:chExt cx="3853744" cy="109360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BD85DE2-EBFC-4E47-9604-1B7965738732}"/>
                </a:ext>
              </a:extLst>
            </p:cNvPr>
            <p:cNvSpPr txBox="1"/>
            <p:nvPr/>
          </p:nvSpPr>
          <p:spPr>
            <a:xfrm>
              <a:off x="4572000" y="6122542"/>
              <a:ext cx="3580744" cy="523789"/>
            </a:xfrm>
            <a:prstGeom prst="rect">
              <a:avLst/>
            </a:prstGeom>
            <a:solidFill>
              <a:srgbClr val="D9D9D9"/>
            </a:solidFill>
            <a:ln w="1270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Keeping ambiguous values in memory lets the hardware sort out the addresses.</a:t>
              </a:r>
            </a:p>
          </p:txBody>
        </p:sp>
        <p:sp>
          <p:nvSpPr>
            <p:cNvPr id="47111" name="Freeform 7">
              <a:extLst>
                <a:ext uri="{FF2B5EF4-FFF2-40B4-BE49-F238E27FC236}">
                  <a16:creationId xmlns:a16="http://schemas.microsoft.com/office/drawing/2014/main" id="{822E86E8-EBCE-4398-9E68-7AE61FD2C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3267" y="5552722"/>
              <a:ext cx="1762477" cy="729545"/>
            </a:xfrm>
            <a:custGeom>
              <a:avLst/>
              <a:gdLst>
                <a:gd name="T0" fmla="*/ 1507066 w 1762477"/>
                <a:gd name="T1" fmla="*/ 729545 h 729545"/>
                <a:gd name="T2" fmla="*/ 1701800 w 1762477"/>
                <a:gd name="T3" fmla="*/ 585611 h 729545"/>
                <a:gd name="T4" fmla="*/ 1744133 w 1762477"/>
                <a:gd name="T5" fmla="*/ 348545 h 729545"/>
                <a:gd name="T6" fmla="*/ 1591733 w 1762477"/>
                <a:gd name="T7" fmla="*/ 94545 h 729545"/>
                <a:gd name="T8" fmla="*/ 999066 w 1762477"/>
                <a:gd name="T9" fmla="*/ 9878 h 729545"/>
                <a:gd name="T10" fmla="*/ 0 w 1762477"/>
                <a:gd name="T11" fmla="*/ 35278 h 7295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62477"/>
                <a:gd name="T19" fmla="*/ 0 h 729545"/>
                <a:gd name="T20" fmla="*/ 1762477 w 1762477"/>
                <a:gd name="T21" fmla="*/ 729545 h 7295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62477" h="729545">
                  <a:moveTo>
                    <a:pt x="1507066" y="729545"/>
                  </a:moveTo>
                  <a:cubicBezTo>
                    <a:pt x="1584677" y="689328"/>
                    <a:pt x="1662289" y="649111"/>
                    <a:pt x="1701800" y="585611"/>
                  </a:cubicBezTo>
                  <a:cubicBezTo>
                    <a:pt x="1741311" y="522111"/>
                    <a:pt x="1762477" y="430389"/>
                    <a:pt x="1744133" y="348545"/>
                  </a:cubicBezTo>
                  <a:cubicBezTo>
                    <a:pt x="1725789" y="266701"/>
                    <a:pt x="1715911" y="150990"/>
                    <a:pt x="1591733" y="94545"/>
                  </a:cubicBezTo>
                  <a:cubicBezTo>
                    <a:pt x="1467555" y="38101"/>
                    <a:pt x="1264355" y="19756"/>
                    <a:pt x="999066" y="9878"/>
                  </a:cubicBezTo>
                  <a:cubicBezTo>
                    <a:pt x="733777" y="0"/>
                    <a:pt x="0" y="35278"/>
                    <a:pt x="0" y="35278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3">
            <a:extLst>
              <a:ext uri="{FF2B5EF4-FFF2-40B4-BE49-F238E27FC236}">
                <a16:creationId xmlns:a16="http://schemas.microsoft.com/office/drawing/2014/main" id="{D0AD4540-1640-4D0B-9F42-E47A2F7831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9154" name="Slide Number Placeholder 4">
            <a:extLst>
              <a:ext uri="{FF2B5EF4-FFF2-40B4-BE49-F238E27FC236}">
                <a16:creationId xmlns:a16="http://schemas.microsoft.com/office/drawing/2014/main" id="{48D79D15-832B-42F9-961B-4F6846086D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59AE8FB-8753-4652-B35C-9A324EF5E0B5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94458A9-8048-4D3B-AB2C-95A7C3D23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Handling Assignment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4D232E44-725B-4041-94A4-979D77759C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What if the compiler cannot determine the type of the rhs?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Issue is a property of the language &amp; the specific program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For type-safety, compiler must insert a </a:t>
            </a:r>
            <a:r>
              <a:rPr lang="en-US" altLang="it-IT" u="sng">
                <a:sym typeface="Symbol" panose="05050102010706020507" pitchFamily="18" charset="2"/>
              </a:rPr>
              <a:t>run-time</a:t>
            </a:r>
            <a:r>
              <a:rPr lang="en-US" altLang="it-IT">
                <a:sym typeface="Symbol" panose="05050102010706020507" pitchFamily="18" charset="2"/>
              </a:rPr>
              <a:t> check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Some languages &amp; implementations ignore safety         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(</a:t>
            </a:r>
            <a:r>
              <a:rPr lang="en-US" altLang="it-IT" sz="1600" i="1">
                <a:solidFill>
                  <a:srgbClr val="FF0065"/>
                </a:solidFill>
                <a:sym typeface="Symbol" panose="05050102010706020507" pitchFamily="18" charset="2"/>
              </a:rPr>
              <a:t>bad idea</a:t>
            </a:r>
            <a:r>
              <a:rPr lang="en-US" altLang="it-IT">
                <a:solidFill>
                  <a:srgbClr val="FF0065"/>
                </a:solidFill>
                <a:sym typeface="Symbol" panose="05050102010706020507" pitchFamily="18" charset="2"/>
              </a:rPr>
              <a:t>)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Add a </a:t>
            </a:r>
            <a:r>
              <a:rPr lang="en-US" altLang="it-IT" i="1">
                <a:sym typeface="Symbol" panose="05050102010706020507" pitchFamily="18" charset="2"/>
              </a:rPr>
              <a:t>tag</a:t>
            </a:r>
            <a:r>
              <a:rPr lang="en-US" altLang="it-IT">
                <a:sym typeface="Symbol" panose="05050102010706020507" pitchFamily="18" charset="2"/>
              </a:rPr>
              <a:t>  field to the data items to hold type information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Explicitly check tags at runtime</a:t>
            </a: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Code for assignment becomes more complex</a:t>
            </a:r>
          </a:p>
        </p:txBody>
      </p:sp>
      <p:sp>
        <p:nvSpPr>
          <p:cNvPr id="39942" name="Text Box 4">
            <a:extLst>
              <a:ext uri="{FF2B5EF4-FFF2-40B4-BE49-F238E27FC236}">
                <a16:creationId xmlns:a16="http://schemas.microsoft.com/office/drawing/2014/main" id="{E05F9609-C85E-4BA9-8A1C-BFD0813D8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175125"/>
            <a:ext cx="3352800" cy="155892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evaluate rhs</a:t>
            </a:r>
          </a:p>
          <a:p>
            <a:pPr eaLnBrk="0" hangingPunct="0"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if type(lhs) </a:t>
            </a:r>
            <a:r>
              <a:rPr lang="en-US" sz="1600" b="1" dirty="0">
                <a:latin typeface="Symbol" charset="2"/>
                <a:ea typeface="ヒラギノ角ゴ Pro W3" charset="-128"/>
                <a:cs typeface="ヒラギノ角ゴ Pro W3" charset="-128"/>
                <a:sym typeface="Symbol" charset="2"/>
              </a:rPr>
              <a:t>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 rhs.tag</a:t>
            </a:r>
          </a:p>
          <a:p>
            <a:pPr eaLnBrk="0" hangingPunct="0"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   then </a:t>
            </a:r>
          </a:p>
          <a:p>
            <a:pPr eaLnBrk="0" hangingPunct="0"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      convert rhs to type(lhs) </a:t>
            </a:r>
            <a:r>
              <a:rPr lang="en-US" sz="1600" b="1" i="1" dirty="0">
                <a:latin typeface="Geneva" charset="0"/>
                <a:ea typeface="ヒラギノ角ゴ Pro W3" charset="-128"/>
                <a:cs typeface="ヒラギノ角ゴ Pro W3" charset="-128"/>
              </a:rPr>
              <a:t>or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</a:p>
          <a:p>
            <a:pPr eaLnBrk="0" hangingPunct="0"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      signal a run-time error</a:t>
            </a:r>
          </a:p>
          <a:p>
            <a:pPr eaLnBrk="0" hangingPunct="0"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lhs </a:t>
            </a:r>
            <a:r>
              <a:rPr lang="en-US" sz="1600" b="1" dirty="0">
                <a:latin typeface="Symbol" charset="2"/>
                <a:ea typeface="ヒラギノ角ゴ Pro W3" charset="-128"/>
                <a:cs typeface="ヒラギノ角ゴ Pro W3" charset="-128"/>
                <a:sym typeface="Symbol" charset="2"/>
              </a:rPr>
              <a:t>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rhs</a:t>
            </a:r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id="{40C2A8BB-FBBE-47A8-80E7-EE11C3794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175125"/>
            <a:ext cx="3429000" cy="16922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Choice between conversion &amp; a runtime exception depends on details of language &amp; type system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Much more complex than static checking, plus costs occur at runtime rather than compile time</a:t>
            </a: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>
            <a:extLst>
              <a:ext uri="{FF2B5EF4-FFF2-40B4-BE49-F238E27FC236}">
                <a16:creationId xmlns:a16="http://schemas.microsoft.com/office/drawing/2014/main" id="{7CCDE6F7-28FD-42D2-8E08-CF42999D63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1202" name="Slide Number Placeholder 4">
            <a:extLst>
              <a:ext uri="{FF2B5EF4-FFF2-40B4-BE49-F238E27FC236}">
                <a16:creationId xmlns:a16="http://schemas.microsoft.com/office/drawing/2014/main" id="{EFE2BDA1-7407-4DFA-A96C-4661EB485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6E1E1ED-7E5F-4B8B-89C6-372452BEE05C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45C77A0F-79A3-4109-BF0C-712539481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Handling Assignment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DA7165E8-44E4-4DC6-B251-010E01927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924800" cy="4953000"/>
          </a:xfrm>
        </p:spPr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Compile-time type-checking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Goal is to eliminate the need for both tags &amp; runtime checks 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Determine, at compile time, the type of each subexpression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Use runtime check only if compiler cannot determine types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Optimization strategy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If compiler knows the type, move the check to compile-time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Unless tags are needed for garbage collection, eliminate them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If check is needed, try to overlap it with other computation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Can </a:t>
            </a:r>
            <a:r>
              <a:rPr lang="en-US" altLang="it-IT" i="1">
                <a:sym typeface="Symbol" panose="05050102010706020507" pitchFamily="18" charset="2"/>
              </a:rPr>
              <a:t>design </a:t>
            </a:r>
            <a:r>
              <a:rPr lang="en-US" altLang="it-IT">
                <a:sym typeface="Symbol" panose="05050102010706020507" pitchFamily="18" charset="2"/>
              </a:rPr>
              <a:t>the language so all checks are static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12A803D9-63B8-4261-8CD9-BEF812AD7D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E7A8332E-960E-43EC-975E-76673C3873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B6E9CB5-2F2A-4157-A9B8-0CCC16DC5004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1B5D3FF9-C771-4764-9371-4B61B7549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Handling Assignment with Reference Counts</a:t>
            </a:r>
          </a:p>
        </p:txBody>
      </p:sp>
      <p:sp>
        <p:nvSpPr>
          <p:cNvPr id="44037" name="Rectangle 3">
            <a:extLst>
              <a:ext uri="{FF2B5EF4-FFF2-40B4-BE49-F238E27FC236}">
                <a16:creationId xmlns:a16="http://schemas.microsoft.com/office/drawing/2014/main" id="{08BEB0F4-A55F-49E0-BE81-C031B2FA0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marL="3175" indent="4763" eaLnBrk="1" hangingPunct="1">
              <a:spcBef>
                <a:spcPct val="250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  <a:sym typeface="Symbol" charset="2"/>
              </a:rPr>
              <a:t>Reference counting is an incremental strategy for implicit storage deallocation             </a:t>
            </a:r>
            <a:r>
              <a:rPr lang="en-US" dirty="0">
                <a:solidFill>
                  <a:srgbClr val="FF0065"/>
                </a:solidFill>
                <a:sym typeface="Symbol" charset="2"/>
              </a:rPr>
              <a:t>(</a:t>
            </a:r>
            <a:r>
              <a:rPr lang="en-US" sz="1800" i="1" dirty="0">
                <a:solidFill>
                  <a:srgbClr val="FF0065"/>
                </a:solidFill>
                <a:sym typeface="Symbol" charset="2"/>
              </a:rPr>
              <a:t>alternative to batch collectors</a:t>
            </a:r>
            <a:r>
              <a:rPr lang="en-US" dirty="0">
                <a:solidFill>
                  <a:srgbClr val="FF0065"/>
                </a:solidFill>
                <a:sym typeface="Symbol" charset="2"/>
              </a:rPr>
              <a:t>)</a:t>
            </a:r>
            <a:endParaRPr lang="en-US" dirty="0">
              <a:solidFill>
                <a:srgbClr val="FF0000"/>
              </a:solidFill>
              <a:sym typeface="Symbol" charset="2"/>
            </a:endParaRPr>
          </a:p>
          <a:p>
            <a:pPr eaLnBrk="1" hangingPunct="1">
              <a:spcBef>
                <a:spcPts val="1200"/>
              </a:spcBef>
              <a:buFont typeface="Times" charset="0"/>
              <a:buChar char="•"/>
              <a:defRPr/>
            </a:pPr>
            <a:r>
              <a:rPr lang="en-US" dirty="0">
                <a:sym typeface="Symbol" charset="2"/>
              </a:rPr>
              <a:t>Simple idea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dirty="0">
                <a:sym typeface="Symbol" charset="2"/>
              </a:rPr>
              <a:t>Associate a count with each heap allocated object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dirty="0">
                <a:sym typeface="Symbol" charset="2"/>
              </a:rPr>
              <a:t>Increment count when pointer is duplicated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dirty="0">
                <a:sym typeface="Symbol" charset="2"/>
              </a:rPr>
              <a:t>Decrement count when pointer is destroyed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dirty="0">
                <a:sym typeface="Symbol" charset="2"/>
              </a:rPr>
              <a:t>Free when count goes to zero</a:t>
            </a:r>
          </a:p>
          <a:p>
            <a:pPr eaLnBrk="1" hangingPunct="1">
              <a:spcBef>
                <a:spcPct val="25000"/>
              </a:spcBef>
              <a:buFont typeface="Times" charset="0"/>
              <a:buChar char="•"/>
              <a:defRPr/>
            </a:pPr>
            <a:r>
              <a:rPr lang="en-US" dirty="0">
                <a:sym typeface="Symbol" charset="2"/>
              </a:rPr>
              <a:t>Advantages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dirty="0">
                <a:sym typeface="Symbol" charset="2"/>
              </a:rPr>
              <a:t>Smaller collections amortized over all pointer assignments</a:t>
            </a:r>
          </a:p>
          <a:p>
            <a:pPr lvl="2" eaLnBrk="1" hangingPunct="1">
              <a:spcBef>
                <a:spcPts val="300"/>
              </a:spcBef>
              <a:buFont typeface="Symbol" charset="2"/>
              <a:buChar char=""/>
              <a:defRPr/>
            </a:pPr>
            <a:r>
              <a:rPr lang="en-US" dirty="0">
                <a:sym typeface="Symbol" charset="2"/>
              </a:rPr>
              <a:t>Useful in real-time applications, user interfaces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dirty="0">
                <a:sym typeface="Symbol" charset="2"/>
              </a:rPr>
              <a:t>Counts will be in cache, ILP may reduce expense</a:t>
            </a:r>
          </a:p>
          <a:p>
            <a:pPr eaLnBrk="1" hangingPunct="1">
              <a:spcBef>
                <a:spcPct val="25000"/>
              </a:spcBef>
              <a:buFont typeface="Times" charset="0"/>
              <a:buChar char="•"/>
              <a:defRPr/>
            </a:pPr>
            <a:r>
              <a:rPr lang="en-US" dirty="0">
                <a:sym typeface="Symbol" charset="2"/>
              </a:rPr>
              <a:t>Disadvantages</a:t>
            </a:r>
          </a:p>
          <a:p>
            <a:pPr lvl="1" eaLnBrk="1" hangingPunct="1">
              <a:spcBef>
                <a:spcPct val="25000"/>
              </a:spcBef>
              <a:defRPr/>
            </a:pPr>
            <a:r>
              <a:rPr lang="en-US" dirty="0">
                <a:sym typeface="Symbol" charset="2"/>
              </a:rPr>
              <a:t>Freeing root node of a graph implies a lot of work &amp; disruption</a:t>
            </a:r>
          </a:p>
          <a:p>
            <a:pPr lvl="2" eaLnBrk="1" hangingPunct="1">
              <a:spcBef>
                <a:spcPct val="25000"/>
              </a:spcBef>
              <a:buFont typeface="Symbol" charset="2"/>
              <a:buChar char=""/>
              <a:defRPr/>
            </a:pPr>
            <a:r>
              <a:rPr lang="en-US" dirty="0">
                <a:sym typeface="Symbol" charset="2"/>
              </a:rPr>
              <a:t>Can adopt a protocol to bound the work done at each point</a:t>
            </a:r>
          </a:p>
          <a:p>
            <a:pPr lvl="1" eaLnBrk="1" hangingPunct="1">
              <a:spcBef>
                <a:spcPct val="25000"/>
              </a:spcBef>
              <a:defRPr/>
            </a:pPr>
            <a:r>
              <a:rPr lang="en-US" dirty="0">
                <a:sym typeface="Symbol" charset="2"/>
              </a:rPr>
              <a:t>Cyclic structures pose </a:t>
            </a:r>
            <a:r>
              <a:rPr lang="en-US">
                <a:sym typeface="Symbol" charset="2"/>
              </a:rPr>
              <a:t>a problem</a:t>
            </a:r>
            <a:endParaRPr lang="en-US" dirty="0">
              <a:sym typeface="Symbol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3">
            <a:extLst>
              <a:ext uri="{FF2B5EF4-FFF2-40B4-BE49-F238E27FC236}">
                <a16:creationId xmlns:a16="http://schemas.microsoft.com/office/drawing/2014/main" id="{927B7023-6B13-4981-8727-406422B5CC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5298" name="Slide Number Placeholder 4">
            <a:extLst>
              <a:ext uri="{FF2B5EF4-FFF2-40B4-BE49-F238E27FC236}">
                <a16:creationId xmlns:a16="http://schemas.microsoft.com/office/drawing/2014/main" id="{223252D0-F7A5-4B35-A63D-AC004AC612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D66EDF9-AD91-414E-8DAF-3EE5F4276AE5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A8A48EE6-5490-4235-A3CB-2C8580ABF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Handling Assignment with Reference Counts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95E69EC-9AB5-405D-94B2-F908914727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Implementing reference counts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Must adjust the count on each pointer assignment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Extra code on every counted (</a:t>
            </a:r>
            <a:r>
              <a:rPr lang="en-US" altLang="it-IT" sz="1800" i="1">
                <a:sym typeface="Symbol" panose="05050102010706020507" pitchFamily="18" charset="2"/>
              </a:rPr>
              <a:t>e.g.,</a:t>
            </a:r>
            <a:r>
              <a:rPr lang="en-US" altLang="it-IT" sz="1800">
                <a:sym typeface="Symbol" panose="05050102010706020507" pitchFamily="18" charset="2"/>
              </a:rPr>
              <a:t> pointer</a:t>
            </a:r>
            <a:r>
              <a:rPr lang="en-US" altLang="it-IT">
                <a:sym typeface="Symbol" panose="05050102010706020507" pitchFamily="18" charset="2"/>
              </a:rPr>
              <a:t>) assignment 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Code for assignment becomes</a:t>
            </a: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This adds </a:t>
            </a:r>
            <a:r>
              <a:rPr lang="en-US" altLang="it-IT" i="1">
                <a:sym typeface="Symbol" panose="05050102010706020507" pitchFamily="18" charset="2"/>
              </a:rPr>
              <a:t>1 +, 1 -, 2 loads, &amp; 2 stores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With extra functional units &amp; large caches, the overhead may become either cheap or free …</a:t>
            </a:r>
          </a:p>
        </p:txBody>
      </p:sp>
      <p:sp>
        <p:nvSpPr>
          <p:cNvPr id="46086" name="Text Box 4">
            <a:extLst>
              <a:ext uri="{FF2B5EF4-FFF2-40B4-BE49-F238E27FC236}">
                <a16:creationId xmlns:a16="http://schemas.microsoft.com/office/drawing/2014/main" id="{13C860A4-EBDC-40E0-9DCC-ECB74F00C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51150"/>
            <a:ext cx="2362200" cy="16510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10000"/>
              </a:spcBef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evaluate rhs</a:t>
            </a:r>
          </a:p>
          <a:p>
            <a:pPr eaLnBrk="0" hangingPunct="0"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lhs</a:t>
            </a:r>
            <a:r>
              <a:rPr lang="en-US" sz="1600" b="1" dirty="0">
                <a:latin typeface="Courier" charset="0"/>
                <a:ea typeface="ヒラギノ角ゴ Pro W3" charset="-128"/>
                <a:cs typeface="ヒラギノ角ゴ Pro W3" charset="-128"/>
                <a:sym typeface="Symbol" charset="2"/>
              </a:rPr>
              <a:t>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count</a:t>
            </a:r>
            <a:r>
              <a:rPr lang="en-US" sz="500" b="1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-</a:t>
            </a:r>
            <a:r>
              <a:rPr lang="en-US" sz="500" b="1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-</a:t>
            </a:r>
            <a:endParaRPr lang="en-US" sz="1600" b="1" dirty="0">
              <a:latin typeface="Courier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eaLnBrk="0" hangingPunct="0">
              <a:spcBef>
                <a:spcPct val="15000"/>
              </a:spcBef>
              <a:spcAft>
                <a:spcPct val="15000"/>
              </a:spcAft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lhs</a:t>
            </a:r>
            <a:r>
              <a:rPr lang="en-US" sz="1600" b="1" dirty="0">
                <a:latin typeface="Courier" charset="0"/>
                <a:ea typeface="ヒラギノ角ゴ Pro W3" charset="-128"/>
                <a:cs typeface="ヒラギノ角ゴ Pro W3" charset="-128"/>
                <a:sym typeface="Symbol" charset="2"/>
              </a:rPr>
              <a:t>  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addr(rhs)</a:t>
            </a:r>
            <a:endParaRPr lang="en-US" sz="1600" b="1" dirty="0">
              <a:latin typeface="Courier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eaLnBrk="0" hangingPunct="0"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rhs</a:t>
            </a:r>
            <a:r>
              <a:rPr lang="en-US" sz="1600" b="1" dirty="0">
                <a:latin typeface="Courier" charset="0"/>
                <a:ea typeface="ヒラギノ角ゴ Pro W3" charset="-128"/>
                <a:cs typeface="ヒラギノ角ゴ Pro W3" charset="-128"/>
                <a:sym typeface="Symbol" charset="2"/>
              </a:rPr>
              <a:t>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count</a:t>
            </a:r>
            <a:r>
              <a:rPr lang="en-US" sz="500" b="1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+</a:t>
            </a:r>
            <a:r>
              <a:rPr lang="en-US" sz="500" b="1" dirty="0">
                <a:latin typeface="Geneva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+</a:t>
            </a:r>
          </a:p>
          <a:p>
            <a:pPr eaLnBrk="0" hangingPunct="0">
              <a:defRPr/>
            </a:pP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if (rhs</a:t>
            </a:r>
            <a:r>
              <a:rPr lang="en-US" sz="1600" b="1" dirty="0">
                <a:latin typeface="Courier" charset="0"/>
                <a:ea typeface="ヒラギノ角ゴ Pro W3" charset="-128"/>
                <a:cs typeface="ヒラギノ角ゴ Pro W3" charset="-128"/>
                <a:sym typeface="Symbol" charset="2"/>
              </a:rPr>
              <a:t>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count</a:t>
            </a:r>
            <a:r>
              <a:rPr lang="en-US" sz="1600" b="1" dirty="0">
                <a:latin typeface="Courier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= 0)</a:t>
            </a:r>
          </a:p>
          <a:p>
            <a:pPr eaLnBrk="0" hangingPunct="0">
              <a:defRPr/>
            </a:pPr>
            <a:r>
              <a:rPr lang="en-US" sz="1600" b="1" dirty="0">
                <a:latin typeface="Courier" charset="0"/>
                <a:ea typeface="ヒラギノ角ゴ Pro W3" charset="-128"/>
                <a:cs typeface="ヒラギノ角ゴ Pro W3" charset="-128"/>
                <a:sym typeface="Symbol" charset="2"/>
              </a:rPr>
              <a:t>   </a:t>
            </a:r>
            <a:r>
              <a:rPr lang="en-US" sz="1600" b="1" dirty="0">
                <a:latin typeface="Geneva" charset="0"/>
                <a:ea typeface="ヒラギノ角ゴ Pro W3" charset="-128"/>
                <a:cs typeface="ヒラギノ角ゴ Pro W3" charset="-128"/>
              </a:rPr>
              <a:t>free rhs</a:t>
            </a:r>
            <a:endParaRPr lang="en-US" sz="1600" b="1" dirty="0">
              <a:latin typeface="Courier" charset="0"/>
              <a:ea typeface="ヒラギノ角ゴ Pro W3" charset="-128"/>
              <a:cs typeface="ヒラギノ角ゴ Pro W3" charset="-128"/>
              <a:sym typeface="Symbol" charset="2"/>
            </a:endParaRPr>
          </a:p>
        </p:txBody>
      </p:sp>
      <p:grpSp>
        <p:nvGrpSpPr>
          <p:cNvPr id="55302" name="Group 13">
            <a:extLst>
              <a:ext uri="{FF2B5EF4-FFF2-40B4-BE49-F238E27FC236}">
                <a16:creationId xmlns:a16="http://schemas.microsoft.com/office/drawing/2014/main" id="{1FE4B197-5EC9-464A-A47E-724614192D1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686175"/>
            <a:ext cx="4953000" cy="1724025"/>
            <a:chOff x="1968" y="2322"/>
            <a:chExt cx="3120" cy="1086"/>
          </a:xfrm>
        </p:grpSpPr>
        <p:sp>
          <p:nvSpPr>
            <p:cNvPr id="55303" name="Line 6">
              <a:extLst>
                <a:ext uri="{FF2B5EF4-FFF2-40B4-BE49-F238E27FC236}">
                  <a16:creationId xmlns:a16="http://schemas.microsoft.com/office/drawing/2014/main" id="{48F196D9-5E66-4EF6-B0CB-68F9933F4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272"/>
              <a:ext cx="384" cy="0"/>
            </a:xfrm>
            <a:prstGeom prst="line">
              <a:avLst/>
            </a:prstGeom>
            <a:noFill/>
            <a:ln w="19050" algn="ctr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5304" name="Line 7">
              <a:extLst>
                <a:ext uri="{FF2B5EF4-FFF2-40B4-BE49-F238E27FC236}">
                  <a16:creationId xmlns:a16="http://schemas.microsoft.com/office/drawing/2014/main" id="{AF0BBA72-A139-4BA3-8B2D-D79FE6CD1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272"/>
              <a:ext cx="480" cy="0"/>
            </a:xfrm>
            <a:prstGeom prst="line">
              <a:avLst/>
            </a:prstGeom>
            <a:noFill/>
            <a:ln w="19050" algn="ctr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091" name="Text Box 8">
              <a:extLst>
                <a:ext uri="{FF2B5EF4-FFF2-40B4-BE49-F238E27FC236}">
                  <a16:creationId xmlns:a16="http://schemas.microsoft.com/office/drawing/2014/main" id="{5BEB46E8-F4FD-4DA4-8372-4BFB46158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322"/>
              <a:ext cx="960" cy="36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Likely hits in the </a:t>
              </a: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L1</a:t>
              </a: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cache</a:t>
              </a:r>
            </a:p>
          </p:txBody>
        </p:sp>
        <p:sp>
          <p:nvSpPr>
            <p:cNvPr id="55306" name="Freeform 10">
              <a:extLst>
                <a:ext uri="{FF2B5EF4-FFF2-40B4-BE49-F238E27FC236}">
                  <a16:creationId xmlns:a16="http://schemas.microsoft.com/office/drawing/2014/main" id="{9E668AB2-7719-40C2-A7DE-B510020C3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2376"/>
              <a:ext cx="1152" cy="1008"/>
            </a:xfrm>
            <a:custGeom>
              <a:avLst/>
              <a:gdLst>
                <a:gd name="T0" fmla="*/ 0 w 1152"/>
                <a:gd name="T1" fmla="*/ 896 h 1008"/>
                <a:gd name="T2" fmla="*/ 288 w 1152"/>
                <a:gd name="T3" fmla="*/ 992 h 1008"/>
                <a:gd name="T4" fmla="*/ 576 w 1152"/>
                <a:gd name="T5" fmla="*/ 800 h 1008"/>
                <a:gd name="T6" fmla="*/ 816 w 1152"/>
                <a:gd name="T7" fmla="*/ 320 h 1008"/>
                <a:gd name="T8" fmla="*/ 960 w 1152"/>
                <a:gd name="T9" fmla="*/ 32 h 1008"/>
                <a:gd name="T10" fmla="*/ 1152 w 1152"/>
                <a:gd name="T11" fmla="*/ 128 h 10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52"/>
                <a:gd name="T19" fmla="*/ 0 h 1008"/>
                <a:gd name="T20" fmla="*/ 1152 w 1152"/>
                <a:gd name="T21" fmla="*/ 1008 h 10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52" h="1008">
                  <a:moveTo>
                    <a:pt x="0" y="896"/>
                  </a:moveTo>
                  <a:cubicBezTo>
                    <a:pt x="96" y="952"/>
                    <a:pt x="192" y="1008"/>
                    <a:pt x="288" y="992"/>
                  </a:cubicBezTo>
                  <a:cubicBezTo>
                    <a:pt x="384" y="976"/>
                    <a:pt x="488" y="912"/>
                    <a:pt x="576" y="800"/>
                  </a:cubicBezTo>
                  <a:cubicBezTo>
                    <a:pt x="664" y="688"/>
                    <a:pt x="752" y="448"/>
                    <a:pt x="816" y="320"/>
                  </a:cubicBezTo>
                  <a:cubicBezTo>
                    <a:pt x="880" y="192"/>
                    <a:pt x="904" y="64"/>
                    <a:pt x="960" y="32"/>
                  </a:cubicBezTo>
                  <a:cubicBezTo>
                    <a:pt x="1016" y="0"/>
                    <a:pt x="1084" y="64"/>
                    <a:pt x="1152" y="128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55307" name="Freeform 11">
              <a:extLst>
                <a:ext uri="{FF2B5EF4-FFF2-40B4-BE49-F238E27FC236}">
                  <a16:creationId xmlns:a16="http://schemas.microsoft.com/office/drawing/2014/main" id="{6E6E56A1-EA26-4911-BCA4-F83CD0DDA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3264"/>
              <a:ext cx="1104" cy="144"/>
            </a:xfrm>
            <a:custGeom>
              <a:avLst/>
              <a:gdLst>
                <a:gd name="T0" fmla="*/ 0 w 1104"/>
                <a:gd name="T1" fmla="*/ 0 h 144"/>
                <a:gd name="T2" fmla="*/ 192 w 1104"/>
                <a:gd name="T3" fmla="*/ 96 h 144"/>
                <a:gd name="T4" fmla="*/ 624 w 1104"/>
                <a:gd name="T5" fmla="*/ 144 h 144"/>
                <a:gd name="T6" fmla="*/ 1104 w 1104"/>
                <a:gd name="T7" fmla="*/ 96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4"/>
                <a:gd name="T13" fmla="*/ 0 h 144"/>
                <a:gd name="T14" fmla="*/ 1104 w 1104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4" h="144">
                  <a:moveTo>
                    <a:pt x="0" y="0"/>
                  </a:moveTo>
                  <a:cubicBezTo>
                    <a:pt x="44" y="36"/>
                    <a:pt x="88" y="72"/>
                    <a:pt x="192" y="96"/>
                  </a:cubicBezTo>
                  <a:cubicBezTo>
                    <a:pt x="296" y="120"/>
                    <a:pt x="472" y="144"/>
                    <a:pt x="624" y="144"/>
                  </a:cubicBezTo>
                  <a:cubicBezTo>
                    <a:pt x="776" y="144"/>
                    <a:pt x="940" y="120"/>
                    <a:pt x="1104" y="96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7692792F-53C2-4E10-B570-B94C8B2D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Evaluating Expressions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722F2040-CC12-4813-A970-0FA6DBF69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is left for next class?</a:t>
            </a:r>
          </a:p>
          <a:p>
            <a:r>
              <a:rPr lang="en-US" altLang="it-IT"/>
              <a:t>Boolean &amp; relational values</a:t>
            </a:r>
          </a:p>
          <a:p>
            <a:pPr lvl="1"/>
            <a:r>
              <a:rPr lang="en-US" altLang="it-IT"/>
              <a:t>Need to extend the grammar</a:t>
            </a:r>
          </a:p>
          <a:p>
            <a:pPr lvl="1"/>
            <a:r>
              <a:rPr lang="en-US" altLang="it-IT"/>
              <a:t>Need to represent the value, explicitly or implicitly</a:t>
            </a:r>
          </a:p>
          <a:p>
            <a:r>
              <a:rPr lang="en-US" altLang="it-IT"/>
              <a:t>Loading values that are more complex than scalars</a:t>
            </a:r>
          </a:p>
          <a:p>
            <a:pPr lvl="1"/>
            <a:r>
              <a:rPr lang="en-US" altLang="it-IT"/>
              <a:t>Array elements, structure elements, characters in a string</a:t>
            </a:r>
          </a:p>
        </p:txBody>
      </p:sp>
      <p:sp>
        <p:nvSpPr>
          <p:cNvPr id="57347" name="Footer Placeholder 3">
            <a:extLst>
              <a:ext uri="{FF2B5EF4-FFF2-40B4-BE49-F238E27FC236}">
                <a16:creationId xmlns:a16="http://schemas.microsoft.com/office/drawing/2014/main" id="{D708F99A-B4C2-48B2-9493-40198C32CE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7348" name="Slide Number Placeholder 4">
            <a:extLst>
              <a:ext uri="{FF2B5EF4-FFF2-40B4-BE49-F238E27FC236}">
                <a16:creationId xmlns:a16="http://schemas.microsoft.com/office/drawing/2014/main" id="{E37ECEA7-0BDF-45D9-BE60-D597890F88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95FDA30-C5DC-4E3C-A970-E3276ABAD4B0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7349" name="Octagon 5">
            <a:extLst>
              <a:ext uri="{FF2B5EF4-FFF2-40B4-BE49-F238E27FC236}">
                <a16:creationId xmlns:a16="http://schemas.microsoft.com/office/drawing/2014/main" id="{1FC6E23F-5142-407A-AC6A-E456769E5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6172200"/>
            <a:ext cx="457200" cy="4572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Content Placeholder 2">
            <a:extLst>
              <a:ext uri="{FF2B5EF4-FFF2-40B4-BE49-F238E27FC236}">
                <a16:creationId xmlns:a16="http://schemas.microsoft.com/office/drawing/2014/main" id="{32C39DE8-B519-4B47-8C8C-67F7E44A6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Times" panose="02020603050405020304" pitchFamily="18" charset="0"/>
              <a:buNone/>
            </a:pPr>
            <a:endParaRPr lang="en-US" altLang="it-IT" sz="3200"/>
          </a:p>
          <a:p>
            <a:pPr algn="ctr">
              <a:buFont typeface="Times" panose="02020603050405020304" pitchFamily="18" charset="0"/>
              <a:buNone/>
            </a:pPr>
            <a:endParaRPr lang="en-US" altLang="it-IT" sz="3200"/>
          </a:p>
          <a:p>
            <a:pPr algn="ctr">
              <a:buFont typeface="Times" panose="02020603050405020304" pitchFamily="18" charset="0"/>
              <a:buNone/>
            </a:pPr>
            <a:endParaRPr lang="en-US" altLang="it-IT" sz="3200"/>
          </a:p>
          <a:p>
            <a:pPr algn="ctr">
              <a:buFont typeface="Times" panose="02020603050405020304" pitchFamily="18" charset="0"/>
              <a:buNone/>
            </a:pPr>
            <a:r>
              <a:rPr lang="en-US" altLang="it-IT" sz="3200">
                <a:solidFill>
                  <a:srgbClr val="003C75"/>
                </a:solidFill>
              </a:rPr>
              <a:t>Extra Slides Start Here</a:t>
            </a:r>
          </a:p>
          <a:p>
            <a:pPr algn="ctr">
              <a:buFont typeface="Times" panose="02020603050405020304" pitchFamily="18" charset="0"/>
              <a:buNone/>
            </a:pPr>
            <a:endParaRPr lang="en-US" altLang="it-IT" sz="3200"/>
          </a:p>
        </p:txBody>
      </p:sp>
      <p:sp>
        <p:nvSpPr>
          <p:cNvPr id="58370" name="Footer Placeholder 3">
            <a:extLst>
              <a:ext uri="{FF2B5EF4-FFF2-40B4-BE49-F238E27FC236}">
                <a16:creationId xmlns:a16="http://schemas.microsoft.com/office/drawing/2014/main" id="{9B83C7B5-4270-4B0C-8B6D-CEE9F2A702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8371" name="Slide Number Placeholder 4">
            <a:extLst>
              <a:ext uri="{FF2B5EF4-FFF2-40B4-BE49-F238E27FC236}">
                <a16:creationId xmlns:a16="http://schemas.microsoft.com/office/drawing/2014/main" id="{78C472A0-50B3-4B4B-95A1-4FD5CE26BA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44DC882-753E-4282-B665-71F4B1A92635}" type="slidenum">
              <a:rPr lang="en-US" altLang="it-IT"/>
              <a:pPr/>
              <a:t>22</a:t>
            </a:fld>
            <a:endParaRPr lang="en-US" altLang="it-IT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Footer Placeholder 3">
            <a:extLst>
              <a:ext uri="{FF2B5EF4-FFF2-40B4-BE49-F238E27FC236}">
                <a16:creationId xmlns:a16="http://schemas.microsoft.com/office/drawing/2014/main" id="{ADC017DD-B824-43CD-80AD-B62BA34B19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9394" name="Slide Number Placeholder 4">
            <a:extLst>
              <a:ext uri="{FF2B5EF4-FFF2-40B4-BE49-F238E27FC236}">
                <a16:creationId xmlns:a16="http://schemas.microsoft.com/office/drawing/2014/main" id="{3F048F4F-542E-4673-A5DB-8042F4DE86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B6F0AF3-0547-409C-A38A-DEDA86CBA859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87CE417-294B-46EF-8026-7F78386C1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The Big Picture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B1F1408C-0BAA-4531-9196-AA093439B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How hard are these problems?</a:t>
            </a:r>
            <a:endParaRPr lang="en-US" altLang="it-IT"/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Instruction selection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Can make locally optimal choices, with automated tool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Global optimality is (undoubtedly) NP-Complete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Instruction scheduling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Single basic block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/>
              <a:t>heuristics work quickly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General problem, with control flow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/>
              <a:t>NP-Complete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Register allocation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Single basic block, no spilling, &amp; 1 register size  </a:t>
            </a:r>
            <a:r>
              <a:rPr lang="en-US" altLang="it-IT" sz="1800">
                <a:sym typeface="Symbol" panose="05050102010706020507" pitchFamily="18" charset="2"/>
              </a:rPr>
              <a:t>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/>
              <a:t>linear time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it-IT"/>
              <a:t>Whole procedure is NP-Complete</a:t>
            </a:r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Footer Placeholder 3">
            <a:extLst>
              <a:ext uri="{FF2B5EF4-FFF2-40B4-BE49-F238E27FC236}">
                <a16:creationId xmlns:a16="http://schemas.microsoft.com/office/drawing/2014/main" id="{5CF3959D-2093-480F-884D-BC8AE6CBA6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1442" name="Slide Number Placeholder 4">
            <a:extLst>
              <a:ext uri="{FF2B5EF4-FFF2-40B4-BE49-F238E27FC236}">
                <a16:creationId xmlns:a16="http://schemas.microsoft.com/office/drawing/2014/main" id="{60AF1261-91B3-4D12-9913-AB1EEF6A9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BFDFF76-C2E9-41F4-8670-04591735B9AB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9B43B2-B96B-4970-8967-42DA175CB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FF0065"/>
                </a:solidFill>
              </a:rPr>
              <a:t>Conventional wisdom says that we lose little </a:t>
            </a:r>
          </a:p>
          <a:p>
            <a:pPr algn="ctr"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FF0065"/>
                </a:solidFill>
              </a:rPr>
              <a:t>by solving these problems independently</a:t>
            </a:r>
            <a:endParaRPr lang="en-US" altLang="it-IT">
              <a:solidFill>
                <a:srgbClr val="FF0065"/>
              </a:solidFill>
            </a:endParaRP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Instruction selection</a:t>
            </a:r>
          </a:p>
          <a:p>
            <a:pPr eaLnBrk="1" hangingPunct="1"/>
            <a:r>
              <a:rPr lang="en-US" altLang="it-IT"/>
              <a:t>Use some form of pattern matching </a:t>
            </a:r>
          </a:p>
          <a:p>
            <a:pPr eaLnBrk="1" hangingPunct="1"/>
            <a:r>
              <a:rPr lang="en-US" altLang="it-IT"/>
              <a:t>Assume enough registers or target “important” values 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Instruction scheduling</a:t>
            </a:r>
          </a:p>
          <a:p>
            <a:pPr eaLnBrk="1" hangingPunct="1"/>
            <a:r>
              <a:rPr lang="en-US" altLang="it-IT"/>
              <a:t>Within a block, list scheduling is “close” to optimal  </a:t>
            </a:r>
          </a:p>
          <a:p>
            <a:pPr eaLnBrk="1" hangingPunct="1"/>
            <a:r>
              <a:rPr lang="en-US" altLang="it-IT"/>
              <a:t>Across blocks, build framework to apply list scheduling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Register allocation</a:t>
            </a:r>
          </a:p>
          <a:p>
            <a:pPr eaLnBrk="1" hangingPunct="1"/>
            <a:r>
              <a:rPr lang="en-US" altLang="it-IT"/>
              <a:t>Start from virtual registers &amp; map “enough” into </a:t>
            </a:r>
            <a:r>
              <a:rPr lang="en-US" altLang="it-IT" i="1"/>
              <a:t>k</a:t>
            </a:r>
            <a:endParaRPr lang="en-US" altLang="it-IT"/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470FC885-29D8-4361-9473-01F143B3F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The Big Picture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A671AC85-83DC-4960-B3F1-53B3C1A44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562600"/>
            <a:ext cx="2438400" cy="660400"/>
          </a:xfrm>
          <a:prstGeom prst="rect">
            <a:avLst/>
          </a:prstGeom>
          <a:solidFill>
            <a:srgbClr val="E6E6E6"/>
          </a:solidFill>
          <a:ln w="19050">
            <a:solidFill>
              <a:srgbClr val="003C75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This slide is full of </a:t>
            </a:r>
          </a:p>
          <a:p>
            <a:pPr algn="ctr"/>
            <a:r>
              <a:rPr lang="en-US" altLang="it-IT">
                <a:solidFill>
                  <a:srgbClr val="003C75"/>
                </a:solidFill>
              </a:rPr>
              <a:t>“fuzzy” terms</a:t>
            </a:r>
          </a:p>
        </p:txBody>
      </p:sp>
      <p:sp>
        <p:nvSpPr>
          <p:cNvPr id="61446" name="Line 5">
            <a:extLst>
              <a:ext uri="{FF2B5EF4-FFF2-40B4-BE49-F238E27FC236}">
                <a16:creationId xmlns:a16="http://schemas.microsoft.com/office/drawing/2014/main" id="{38F858A2-8668-45E2-8104-A1745EC3E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4963" y="2971800"/>
            <a:ext cx="1143000" cy="0"/>
          </a:xfrm>
          <a:prstGeom prst="line">
            <a:avLst/>
          </a:prstGeom>
          <a:noFill/>
          <a:ln w="12700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447" name="Line 6">
            <a:extLst>
              <a:ext uri="{FF2B5EF4-FFF2-40B4-BE49-F238E27FC236}">
                <a16:creationId xmlns:a16="http://schemas.microsoft.com/office/drawing/2014/main" id="{C6EAE558-5494-4D25-8042-EEDF0D39A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8288" y="5168900"/>
            <a:ext cx="914400" cy="3175"/>
          </a:xfrm>
          <a:prstGeom prst="line">
            <a:avLst/>
          </a:prstGeom>
          <a:noFill/>
          <a:ln w="12700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1448" name="Line 7">
            <a:extLst>
              <a:ext uri="{FF2B5EF4-FFF2-40B4-BE49-F238E27FC236}">
                <a16:creationId xmlns:a16="http://schemas.microsoft.com/office/drawing/2014/main" id="{41EEC791-6CB9-46C5-B048-0E396B1EC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886200"/>
            <a:ext cx="647700" cy="0"/>
          </a:xfrm>
          <a:prstGeom prst="line">
            <a:avLst/>
          </a:prstGeom>
          <a:noFill/>
          <a:ln w="12700">
            <a:solidFill>
              <a:srgbClr val="003C7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3320" name="AutoShape 8">
            <a:extLst>
              <a:ext uri="{FF2B5EF4-FFF2-40B4-BE49-F238E27FC236}">
                <a16:creationId xmlns:a16="http://schemas.microsoft.com/office/drawing/2014/main" id="{4BDEDEC0-2432-47B2-AAD6-FFFEBC1717D3}"/>
              </a:ext>
            </a:extLst>
          </p:cNvPr>
          <p:cNvSpPr>
            <a:spLocks/>
          </p:cNvSpPr>
          <p:nvPr/>
        </p:nvSpPr>
        <p:spPr bwMode="auto">
          <a:xfrm>
            <a:off x="7205663" y="3048000"/>
            <a:ext cx="1709737" cy="574675"/>
          </a:xfrm>
          <a:prstGeom prst="accentBorderCallout1">
            <a:avLst>
              <a:gd name="adj1" fmla="val 17648"/>
              <a:gd name="adj2" fmla="val -4458"/>
              <a:gd name="adj3" fmla="val 91912"/>
              <a:gd name="adj4" fmla="val -86815"/>
            </a:avLst>
          </a:prstGeom>
          <a:solidFill>
            <a:srgbClr val="E6E6E6"/>
          </a:solidFill>
          <a:ln w="19050">
            <a:solidFill>
              <a:srgbClr val="003C75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it-IT" sz="1600">
                <a:solidFill>
                  <a:srgbClr val="003C75"/>
                </a:solidFill>
              </a:rPr>
              <a:t>Optimal for </a:t>
            </a:r>
          </a:p>
          <a:p>
            <a:pPr>
              <a:lnSpc>
                <a:spcPct val="95000"/>
              </a:lnSpc>
            </a:pPr>
            <a:r>
              <a:rPr lang="en-US" altLang="it-IT" sz="1600">
                <a:solidFill>
                  <a:srgbClr val="003C75"/>
                </a:solidFill>
              </a:rPr>
              <a:t>&gt; 85% of blocks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 autoUpdateAnimBg="0"/>
      <p:bldP spid="133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Footer Placeholder 3">
            <a:extLst>
              <a:ext uri="{FF2B5EF4-FFF2-40B4-BE49-F238E27FC236}">
                <a16:creationId xmlns:a16="http://schemas.microsoft.com/office/drawing/2014/main" id="{D34B53EF-0B45-4FFD-B6E7-A9EBB4D793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3490" name="Slide Number Placeholder 4">
            <a:extLst>
              <a:ext uri="{FF2B5EF4-FFF2-40B4-BE49-F238E27FC236}">
                <a16:creationId xmlns:a16="http://schemas.microsoft.com/office/drawing/2014/main" id="{83039C17-6A76-4710-9DDA-B4CD335E45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2970854-0081-4242-AE6B-ACD9A05CBB03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B3CD68F6-B828-4BF0-B3A8-C0DC86111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The Big Picture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0FC12AFA-A4F3-4C89-891A-0A8CCB923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 i="1">
                <a:solidFill>
                  <a:srgbClr val="FF0065"/>
                </a:solidFill>
              </a:rPr>
              <a:t>What are today’s hard issues issues?</a:t>
            </a:r>
            <a:endParaRPr lang="en-US" altLang="it-IT">
              <a:solidFill>
                <a:srgbClr val="FF0065"/>
              </a:solidFill>
            </a:endParaRP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Instruction selection</a:t>
            </a:r>
          </a:p>
          <a:p>
            <a:pPr eaLnBrk="1" hangingPunct="1"/>
            <a:r>
              <a:rPr lang="en-US" altLang="it-IT"/>
              <a:t>Making actual use of the tools </a:t>
            </a:r>
          </a:p>
          <a:p>
            <a:pPr eaLnBrk="1" hangingPunct="1"/>
            <a:r>
              <a:rPr lang="en-US" altLang="it-IT"/>
              <a:t>Impact of choices on power and on functional unit placement 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Instruction scheduling</a:t>
            </a:r>
          </a:p>
          <a:p>
            <a:pPr eaLnBrk="1" hangingPunct="1"/>
            <a:r>
              <a:rPr lang="en-US" altLang="it-IT"/>
              <a:t>Modulo scheduling loops with control flow  </a:t>
            </a:r>
          </a:p>
          <a:p>
            <a:pPr eaLnBrk="1" hangingPunct="1"/>
            <a:r>
              <a:rPr lang="en-US" altLang="it-IT"/>
              <a:t>Schemes for scheduling long latency memory operations</a:t>
            </a:r>
          </a:p>
          <a:p>
            <a:pPr eaLnBrk="1" hangingPunct="1"/>
            <a:r>
              <a:rPr lang="en-US" altLang="it-IT"/>
              <a:t>Finding enough ILP to keep functional units (&amp; cores) busy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Register allocation</a:t>
            </a:r>
          </a:p>
          <a:p>
            <a:pPr eaLnBrk="1" hangingPunct="1"/>
            <a:r>
              <a:rPr lang="en-US" altLang="it-IT"/>
              <a:t>Cost of allocation, particularly for JITs</a:t>
            </a:r>
          </a:p>
          <a:p>
            <a:pPr eaLnBrk="1" hangingPunct="1"/>
            <a:r>
              <a:rPr lang="en-US" altLang="it-IT"/>
              <a:t>Better spilling (</a:t>
            </a:r>
            <a:r>
              <a:rPr lang="en-US" altLang="it-IT" sz="1800" i="1"/>
              <a:t>space &amp; speed</a:t>
            </a:r>
            <a:r>
              <a:rPr lang="en-US" altLang="it-IT"/>
              <a:t>)?  </a:t>
            </a:r>
          </a:p>
          <a:p>
            <a:pPr eaLnBrk="1" hangingPunct="1"/>
            <a:r>
              <a:rPr lang="en-US" altLang="it-IT"/>
              <a:t>Meaning of optimality in SSA-based allocation</a:t>
            </a: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2193</Words>
  <Application>Microsoft Office PowerPoint</Application>
  <PresentationFormat>Presentazione su schermo (4:3)</PresentationFormat>
  <Paragraphs>567</Paragraphs>
  <Slides>26</Slides>
  <Notes>23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26</vt:i4>
      </vt:variant>
    </vt:vector>
  </HeadingPairs>
  <TitlesOfParts>
    <vt:vector size="27" baseType="lpstr">
      <vt:lpstr>Blank Presentation</vt:lpstr>
      <vt:lpstr>Introduction to Code Generation  Comp 412</vt:lpstr>
      <vt:lpstr>Structure of a Compiler</vt:lpstr>
      <vt:lpstr>Structure of a Compiler</vt:lpstr>
      <vt:lpstr>Definitions</vt:lpstr>
      <vt:lpstr>Code  Shape          (Chapter 7)</vt:lpstr>
      <vt:lpstr>Code Shape</vt:lpstr>
      <vt:lpstr>Code Shape</vt:lpstr>
      <vt:lpstr>Code Shape</vt:lpstr>
      <vt:lpstr>Generating Code for Expressions</vt:lpstr>
      <vt:lpstr>Generating Code for Expressions</vt:lpstr>
      <vt:lpstr>Generating Code for Expressions</vt:lpstr>
      <vt:lpstr>Extending the Simple Treewalk Algorithm</vt:lpstr>
      <vt:lpstr>Extending the Simple Treewalk Algorithm</vt:lpstr>
      <vt:lpstr>Extending the Simple Treewalk Algorithm</vt:lpstr>
      <vt:lpstr>Generating Code in the Parser</vt:lpstr>
      <vt:lpstr>Ad-hoc SDT versus a Recursive Treewalk</vt:lpstr>
      <vt:lpstr>Handling Assignment         (just another operator)</vt:lpstr>
      <vt:lpstr>Handling Assignment</vt:lpstr>
      <vt:lpstr>Handling Assignment</vt:lpstr>
      <vt:lpstr>Handling Assignment with Reference Counts</vt:lpstr>
      <vt:lpstr>Handling Assignment with Reference Counts</vt:lpstr>
      <vt:lpstr>Evaluating Expressions</vt:lpstr>
      <vt:lpstr>Presentazione standard di PowerPoint</vt:lpstr>
      <vt:lpstr>The Big Picture</vt:lpstr>
      <vt:lpstr>The Big Picture</vt:lpstr>
      <vt:lpstr>The Big Picture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27</cp:revision>
  <cp:lastPrinted>2010-10-27T12:31:25Z</cp:lastPrinted>
  <dcterms:created xsi:type="dcterms:W3CDTF">2010-11-01T14:25:53Z</dcterms:created>
  <dcterms:modified xsi:type="dcterms:W3CDTF">2020-10-20T11:44:04Z</dcterms:modified>
</cp:coreProperties>
</file>