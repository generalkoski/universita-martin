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10.xml" ContentType="application/vnd.openxmlformats-officedocument.presentationml.slide+xml"/>
  <Override PartName="/ppt/slides/slide3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31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26.xml" ContentType="application/vnd.openxmlformats-officedocument.presentationml.slide+xml"/>
  <Override PartName="/ppt/slides/slide40.xml" ContentType="application/vnd.openxmlformats-officedocument.presentationml.slide+xml"/>
  <Override PartName="/ppt/slides/slide32.xml" ContentType="application/vnd.openxmlformats-officedocument.presentationml.slide+xml"/>
  <Override PartName="/ppt/slides/slide24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3"/>
          </p:nvPr>
        </p:nvSpPr>
        <p:spPr>
          <a:xfrm>
            <a:off x="388584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Click to move the slide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4"/>
          </p:nvPr>
        </p:nvSpPr>
        <p:spPr>
          <a:xfrm>
            <a:off x="-36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5"/>
          </p:nvPr>
        </p:nvSpPr>
        <p:spPr>
          <a:xfrm>
            <a:off x="388584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961D18F-7362-45CC-97A6-3C888ACB7CE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1057683-1614-4E5D-BED4-C26EC11C175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1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B26E5EA-2B2A-46DD-B8F9-DBF6ECDC196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1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BCF3B61-EF4C-4898-A760-9E0F6E25800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1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0869F64-F086-4138-AE00-73AE2F6A91C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2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A76B72-76DD-4065-81A2-245F59A2099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2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71DE028-BE44-43E2-A151-562E9E15722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2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C841114-71A2-43A3-9682-D5B2EF01233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3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6F6455D-D9A4-419B-A60B-E905AEE71F7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3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AF661EA-350D-4705-824A-A560F96E6F7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3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0D3D008-ABC3-4FA7-A89E-ECB1E59EAD1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3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695DB33-94C3-46B2-9AE0-F1450FC3676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4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7FC4B8B-D96F-453D-84ED-42641162BB8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4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D1DF9B2-704E-4480-BE66-44130924299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4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EECA656-4506-4A10-AD29-C055A25F249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5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7DCF1FE-68B0-486A-B96C-BD1120B67B8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5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9F64313-3E99-461D-9B9E-B45674BC58C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5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97F60FD-A00D-4F4B-B3D1-CA045C7F217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6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7616B8C-091C-4B74-8CBE-BBE0F03208F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6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1FC8246-AFBD-4E4C-A3BA-DEA80C71D46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6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6577F4D-C4FA-422B-A350-2BF71B4C06B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6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F5CC961-B48F-4191-ADC2-8B385C08BFC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7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969A1BA-25CC-4F9D-B19B-0F4DDFB1950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7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62B1022-3B25-4883-BCF4-8E25D418771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7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B619F14-CF73-48D9-BD36-AF2C55F08C6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8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A9872D-E3EA-4DE6-B18D-DD820F8133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8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343A3DA-437D-4859-A25D-941BF2E2F63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8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83AEE4D-B587-43DA-A513-0BA332A7BA3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9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1899537-C4A1-4AB5-BF1B-0066823721F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9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8F6CA44-3D3C-4F4C-BFEE-B1478E9785A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9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3D4B43B-BEB0-4A6B-934A-A76163440F4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9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5C85143-6B9F-49B3-B366-7739831DFA6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0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3CDEFFE-157C-4357-B93B-31AAAC79306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0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5D7E55F-8944-48E5-B1C0-EDBD098FF07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0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4061DB6-B64B-4CB1-8CC4-39A9B9448AD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1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D5EA98D-72FE-42B0-8D8A-9168A991D7E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1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AB5D41D-1FFD-4810-BBE4-AE27857D35F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1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DF9ED54-5914-41FC-9466-531E563B9DA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2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72D301C-51B8-41F1-B0C8-5E1E1AC3555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2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0B450F6-5BB2-49F4-AA07-7912803304A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2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E78775A-F7B9-4B67-A5E0-918851C28E2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2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08166FA-7F69-4A0B-837A-E755A69CD12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3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D187AB0-C9B6-4B92-9843-91289C936AD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3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FB25F2-A222-4641-B98C-6B425B3F1AC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Click to edit the title text format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  <a:lvl2pPr lvl="1" algn="l">
              <a:spcBef>
                <a:spcPts val="499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2pPr>
            <a:lvl3pPr lvl="2" algn="l">
              <a:spcBef>
                <a:spcPts val="499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3pPr>
            <a:lvl4pPr lvl="3" algn="l">
              <a:spcBef>
                <a:spcPts val="499"/>
              </a:spcBef>
              <a:buClr>
                <a:srgbClr val="003C75"/>
              </a:buClr>
              <a:buFont typeface="Comic Sans MS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4pPr>
            <a:lvl5pPr lvl="4" algn="l">
              <a:spcBef>
                <a:spcPts val="499"/>
              </a:spcBef>
              <a:buClr>
                <a:srgbClr val="003C75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5pPr>
            <a:lvl6pPr lvl="5" algn="l">
              <a:spcBef>
                <a:spcPts val="4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6pPr>
            <a:lvl7pPr lvl="6" algn="l">
              <a:spcBef>
                <a:spcPts val="4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7pPr>
          </a:lstStyle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Click to edit the outline text format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99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Second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99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Third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600200" lvl="3" indent="-228600" algn="l">
              <a:spcBef>
                <a:spcPts val="499"/>
              </a:spcBef>
              <a:buClr>
                <a:srgbClr val="003C75"/>
              </a:buClr>
              <a:buFont typeface="Comic Sans MS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Fourth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2057400" lvl="4" indent="-228600" algn="l">
              <a:spcBef>
                <a:spcPts val="499"/>
              </a:spcBef>
              <a:buClr>
                <a:srgbClr val="003C75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Fifth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2057400" lvl="5" indent="-228600" algn="l">
              <a:spcBef>
                <a:spcPts val="4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Sixth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2057400" lvl="6" indent="-228600" algn="l">
              <a:spcBef>
                <a:spcPts val="4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Seventh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68544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B3AFC46-AE19-4E47-B0CE-C0C6932545B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pic>
        <p:nvPicPr>
          <p:cNvPr id="6" name="Picture 7" descr="2007Shield"/>
          <p:cNvPicPr/>
          <p:nvPr/>
        </p:nvPicPr>
        <p:blipFill>
          <a:blip r:embed="rId2"/>
          <a:stretch/>
        </p:blipFill>
        <p:spPr>
          <a:xfrm>
            <a:off x="7543800" y="228600"/>
            <a:ext cx="958680" cy="112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Line 8"/>
          <p:cNvSpPr/>
          <p:nvPr/>
        </p:nvSpPr>
        <p:spPr>
          <a:xfrm>
            <a:off x="685800" y="1066680"/>
            <a:ext cx="6858000" cy="0"/>
          </a:xfrm>
          <a:prstGeom prst="line">
            <a:avLst/>
          </a:prstGeom>
          <a:ln w="57240">
            <a:solidFill>
              <a:srgbClr val="003C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1447560"/>
            <a:ext cx="7772400" cy="236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spcBef>
                <a:spcPts val="2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Lexical Analysis — Part II</a:t>
            </a:r>
            <a:br>
              <a:rPr sz="3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From Regular Expression </a:t>
            </a:r>
            <a:br>
              <a:rPr sz="3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 Scanner</a:t>
            </a:r>
            <a:br>
              <a:rPr sz="3200"/>
            </a:br>
            <a:br>
              <a:rPr sz="16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762120" y="4952520"/>
            <a:ext cx="7772400" cy="1295640"/>
          </a:xfrm>
          <a:prstGeom prst="rect">
            <a:avLst/>
          </a:prstGeom>
          <a:noFill/>
          <a:ln w="12600">
            <a:solidFill>
              <a:srgbClr val="003C75"/>
            </a:solidFill>
            <a:miter/>
          </a:ln>
        </p:spPr>
        <p:txBody>
          <a:bodyPr lIns="91440" tIns="45720" rIns="91440" bIns="45720" anchor="t">
            <a:noAutofit/>
          </a:bodyPr>
          <a:p>
            <a:pPr indent="0" algn="l">
              <a:spcBef>
                <a:spcPts val="3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Copyright 2010, Keith D. Cooper &amp; Linda Torczon, all rights reserved.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l">
              <a:spcBef>
                <a:spcPts val="3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Students enrolled in Comp 412 at Rice University have explicit permission to make copies of these materials for their personal use. 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l">
              <a:spcBef>
                <a:spcPts val="3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Faculty from other educational institutions may use these materials for nonprofit educational purposes, provided this copyright notice is preserved.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pic>
        <p:nvPicPr>
          <p:cNvPr id="17" name="Picture 4" descr="2007Logo"/>
          <p:cNvPicPr/>
          <p:nvPr/>
        </p:nvPicPr>
        <p:blipFill>
          <a:blip r:embed="rId1"/>
          <a:stretch/>
        </p:blipFill>
        <p:spPr>
          <a:xfrm>
            <a:off x="609480" y="304920"/>
            <a:ext cx="2330640" cy="94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Box 8"/>
          <p:cNvSpPr/>
          <p:nvPr/>
        </p:nvSpPr>
        <p:spPr>
          <a:xfrm>
            <a:off x="5791320" y="380880"/>
            <a:ext cx="2666880" cy="8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r">
              <a:lnSpc>
                <a:spcPct val="100000"/>
              </a:lnSpc>
              <a:spcBef>
                <a:spcPts val="1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3C75"/>
                </a:solidFill>
                <a:effectLst/>
                <a:uFillTx/>
                <a:latin typeface="Utopia Std"/>
              </a:rPr>
              <a:t>COMP 412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algn="r">
              <a:lnSpc>
                <a:spcPct val="100000"/>
              </a:lnSpc>
              <a:spcBef>
                <a:spcPts val="1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3C75"/>
                </a:solidFill>
                <a:effectLst/>
                <a:uFillTx/>
                <a:latin typeface="Utopia Std"/>
              </a:rPr>
              <a:t>FALL 2010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AA69A85-122F-4FBD-8298-318353B3EFB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" name="Rectangle 2"/>
          <p:cNvSpPr/>
          <p:nvPr/>
        </p:nvSpPr>
        <p:spPr>
          <a:xfrm>
            <a:off x="685800" y="45720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Quick Review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2" name="Rectangle 3"/>
          <p:cNvSpPr/>
          <p:nvPr/>
        </p:nvSpPr>
        <p:spPr>
          <a:xfrm>
            <a:off x="685800" y="1219320"/>
            <a:ext cx="7772400" cy="48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marL="343080" indent="-343080"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6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Last class: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ヒラギノ角ゴ Pro W3"/>
              </a:rPr>
              <a:t>The scanner is the first stage in the front end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ヒラギノ角ゴ Pro W3"/>
              </a:rPr>
              <a:t>Specifications can be expressed using regular expressions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ヒラギノ角ゴ Pro W3"/>
              </a:rPr>
              <a:t>Build tables and code from a DFA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23" name="Group 25"/>
          <p:cNvGrpSpPr/>
          <p:nvPr/>
        </p:nvGrpSpPr>
        <p:grpSpPr>
          <a:xfrm>
            <a:off x="303120" y="1452600"/>
            <a:ext cx="8524800" cy="2509920"/>
            <a:chOff x="303120" y="1452600"/>
            <a:chExt cx="8524800" cy="2509920"/>
          </a:xfrm>
        </p:grpSpPr>
        <p:sp>
          <p:nvSpPr>
            <p:cNvPr id="24" name="Rectangle 4"/>
            <p:cNvSpPr/>
            <p:nvPr/>
          </p:nvSpPr>
          <p:spPr>
            <a:xfrm>
              <a:off x="1447920" y="1752480"/>
              <a:ext cx="5867280" cy="221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5" name="Rectangle 6"/>
            <p:cNvSpPr/>
            <p:nvPr/>
          </p:nvSpPr>
          <p:spPr>
            <a:xfrm>
              <a:off x="3809880" y="2482920"/>
              <a:ext cx="1219320" cy="60948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Scanner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Generator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6" name="Text Box 7"/>
            <p:cNvSpPr/>
            <p:nvPr/>
          </p:nvSpPr>
          <p:spPr>
            <a:xfrm>
              <a:off x="1676520" y="2482920"/>
              <a:ext cx="1447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specifications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7" name="Line 8"/>
            <p:cNvSpPr/>
            <p:nvPr/>
          </p:nvSpPr>
          <p:spPr>
            <a:xfrm>
              <a:off x="1752480" y="2787480"/>
              <a:ext cx="20574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8" name="Line 9"/>
            <p:cNvSpPr/>
            <p:nvPr/>
          </p:nvSpPr>
          <p:spPr>
            <a:xfrm flipV="1">
              <a:off x="4419720" y="2025720"/>
              <a:ext cx="0" cy="45720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9" name="Rectangle 10"/>
            <p:cNvSpPr/>
            <p:nvPr/>
          </p:nvSpPr>
          <p:spPr>
            <a:xfrm>
              <a:off x="3886200" y="1568520"/>
              <a:ext cx="1066680" cy="4572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Scanner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0" name="Line 11"/>
            <p:cNvSpPr/>
            <p:nvPr/>
          </p:nvSpPr>
          <p:spPr>
            <a:xfrm>
              <a:off x="1752480" y="1797120"/>
              <a:ext cx="2133720" cy="144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360" rIns="90000" bIns="-4536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1" name="Text Box 12"/>
            <p:cNvSpPr/>
            <p:nvPr/>
          </p:nvSpPr>
          <p:spPr>
            <a:xfrm>
              <a:off x="1679400" y="1492200"/>
              <a:ext cx="1597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source code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2" name="Line 13"/>
            <p:cNvSpPr/>
            <p:nvPr/>
          </p:nvSpPr>
          <p:spPr>
            <a:xfrm>
              <a:off x="4952880" y="1797120"/>
              <a:ext cx="20574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3" name="Text Box 14"/>
            <p:cNvSpPr/>
            <p:nvPr/>
          </p:nvSpPr>
          <p:spPr>
            <a:xfrm>
              <a:off x="5057640" y="1492200"/>
              <a:ext cx="2287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parts of speech &amp; words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4" name="Rectangle 15"/>
            <p:cNvSpPr/>
            <p:nvPr/>
          </p:nvSpPr>
          <p:spPr>
            <a:xfrm>
              <a:off x="3014640" y="3228840"/>
              <a:ext cx="2808360" cy="581400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ED181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Specifications written as </a:t>
              </a:r>
              <a:r>
                <a:rPr lang="en-US" sz="1600" b="0" i="1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“regular expressions”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5" name="Rectangle 16"/>
            <p:cNvSpPr/>
            <p:nvPr/>
          </p:nvSpPr>
          <p:spPr>
            <a:xfrm>
              <a:off x="7323120" y="2178000"/>
              <a:ext cx="1504800" cy="1068840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ED181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Represent words as indices into a global table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grpSp>
          <p:nvGrpSpPr>
            <p:cNvPr id="36" name="Group 17"/>
            <p:cNvGrpSpPr/>
            <p:nvPr/>
          </p:nvGrpSpPr>
          <p:grpSpPr>
            <a:xfrm>
              <a:off x="4381560" y="2019240"/>
              <a:ext cx="2316240" cy="520920"/>
              <a:chOff x="4381560" y="2019240"/>
              <a:chExt cx="2316240" cy="520920"/>
            </a:xfrm>
          </p:grpSpPr>
          <p:sp>
            <p:nvSpPr>
              <p:cNvPr id="37" name="Rectangle 18"/>
              <p:cNvSpPr/>
              <p:nvPr/>
            </p:nvSpPr>
            <p:spPr>
              <a:xfrm>
                <a:off x="5783400" y="2019240"/>
                <a:ext cx="914400" cy="520920"/>
              </a:xfrm>
              <a:prstGeom prst="rect">
                <a:avLst/>
              </a:prstGeom>
              <a:noFill/>
              <a:ln w="9360">
                <a:solidFill>
                  <a:srgbClr val="003C7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i="1" u="none" strike="noStrike">
                    <a:solidFill>
                      <a:srgbClr val="000000"/>
                    </a:solidFill>
                    <a:effectLst/>
                    <a:uFillTx/>
                    <a:latin typeface="Comic Sans MS"/>
                  </a:rPr>
                  <a:t>tables or code</a:t>
                </a:r>
                <a:endParaRPr lang="it-IT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38" name="Oval 19"/>
              <p:cNvSpPr/>
              <p:nvPr/>
            </p:nvSpPr>
            <p:spPr>
              <a:xfrm>
                <a:off x="4381560" y="2244600"/>
                <a:ext cx="76320" cy="76320"/>
              </a:xfrm>
              <a:prstGeom prst="ellipse">
                <a:avLst/>
              </a:prstGeom>
              <a:noFill/>
              <a:ln w="9360">
                <a:solidFill>
                  <a:srgbClr val="B025A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7200" rIns="90000" bIns="7200" anchor="ctr">
                <a:noAutofit/>
              </a:bodyPr>
              <a:p>
                <a:endParaRPr lang="it-IT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cxnSp>
            <p:nvCxnSpPr>
              <p:cNvPr id="39" name="AutoShape 20"/>
              <p:cNvCxnSpPr>
                <a:stCxn id="37" idx="1"/>
                <a:endCxn id="38" idx="6"/>
              </p:cNvCxnSpPr>
              <p:nvPr/>
            </p:nvCxnSpPr>
            <p:spPr>
              <a:xfrm flipH="1">
                <a:off x="4457520" y="2282400"/>
                <a:ext cx="1326240" cy="1080"/>
              </a:xfrm>
              <a:prstGeom prst="straightConnector1">
                <a:avLst/>
              </a:prstGeom>
              <a:ln w="9360">
                <a:solidFill>
                  <a:srgbClr val="003C75"/>
                </a:solidFill>
                <a:miter/>
                <a:tailEnd len="med" type="arrow" w="med"/>
              </a:ln>
            </p:spPr>
          </p:cxnSp>
        </p:grpSp>
        <p:cxnSp>
          <p:nvCxnSpPr>
            <p:cNvPr id="40" name="AutoShape 21"/>
            <p:cNvCxnSpPr>
              <a:stCxn id="34" idx="1"/>
              <a:endCxn id="26" idx="2"/>
            </p:cNvCxnSpPr>
            <p:nvPr/>
          </p:nvCxnSpPr>
          <p:spPr>
            <a:xfrm rot="10800000">
              <a:off x="2399760" y="2786760"/>
              <a:ext cx="605520" cy="742320"/>
            </a:xfrm>
            <a:prstGeom prst="bentConnector2">
              <a:avLst/>
            </a:prstGeom>
            <a:ln w="9360">
              <a:solidFill>
                <a:srgbClr val="FF0065"/>
              </a:solidFill>
              <a:miter/>
              <a:tailEnd len="med" type="arrow" w="med"/>
            </a:ln>
          </p:spPr>
        </p:cxnSp>
        <p:cxnSp>
          <p:nvCxnSpPr>
            <p:cNvPr id="41" name="AutoShape 22"/>
            <p:cNvCxnSpPr>
              <a:stCxn id="35" idx="0"/>
              <a:endCxn id="33" idx="3"/>
            </p:cNvCxnSpPr>
            <p:nvPr/>
          </p:nvCxnSpPr>
          <p:spPr>
            <a:xfrm flipV="1" rot="16200000">
              <a:off x="7457040" y="1549440"/>
              <a:ext cx="506880" cy="730800"/>
            </a:xfrm>
            <a:prstGeom prst="bentConnector2">
              <a:avLst/>
            </a:prstGeom>
            <a:ln w="9360">
              <a:solidFill>
                <a:srgbClr val="FF0065"/>
              </a:solidFill>
              <a:miter/>
              <a:tailEnd len="med" type="arrow" w="med"/>
            </a:ln>
          </p:spPr>
        </p:cxnSp>
        <p:sp>
          <p:nvSpPr>
            <p:cNvPr id="42" name="Text Box 23"/>
            <p:cNvSpPr/>
            <p:nvPr/>
          </p:nvSpPr>
          <p:spPr>
            <a:xfrm>
              <a:off x="303120" y="2424240"/>
              <a:ext cx="1243080" cy="58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3C75"/>
                  </a:solidFill>
                  <a:effectLst/>
                  <a:uFillTx/>
                  <a:latin typeface="Comic Sans MS"/>
                </a:rPr>
                <a:t>design time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3" name="Text Box 24"/>
            <p:cNvSpPr/>
            <p:nvPr/>
          </p:nvSpPr>
          <p:spPr>
            <a:xfrm>
              <a:off x="303120" y="1452600"/>
              <a:ext cx="1243080" cy="58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3C75"/>
                  </a:solidFill>
                  <a:effectLst/>
                  <a:uFillTx/>
                  <a:latin typeface="Comic Sans MS"/>
                </a:rPr>
                <a:t>compile time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5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BFEA004-83DC-4FCC-A653-F3BABC93478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Quick Review of Regular Expressions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All strings of 1s and 0s ending in a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All strings over lowercase letters where the vowels (a,e,i,o, &amp; u) occur exactly once, in ascending order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All strings of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 and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 that do not contain three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 in a row: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8" name="Text Box 4"/>
          <p:cNvSpPr/>
          <p:nvPr/>
        </p:nvSpPr>
        <p:spPr>
          <a:xfrm>
            <a:off x="1773360" y="5014800"/>
            <a:ext cx="38221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( 1</a:t>
            </a:r>
            <a:r>
              <a:rPr lang="en-US" sz="1800" b="0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*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( 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01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| 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001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) 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1</a:t>
            </a:r>
            <a:r>
              <a:rPr lang="en-US" sz="1800" b="0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*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)</a:t>
            </a:r>
            <a:r>
              <a:rPr lang="en-US" sz="1800" b="0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*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 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 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0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| 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00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9" name="Text Box 5"/>
          <p:cNvSpPr/>
          <p:nvPr/>
        </p:nvSpPr>
        <p:spPr>
          <a:xfrm>
            <a:off x="1801800" y="1521000"/>
            <a:ext cx="1172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 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0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| 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1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)</a:t>
            </a:r>
            <a:r>
              <a:rPr lang="en-US" sz="1800" b="0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* 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1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0" name="Text Box 6"/>
          <p:cNvSpPr/>
          <p:nvPr/>
        </p:nvSpPr>
        <p:spPr>
          <a:xfrm>
            <a:off x="1447920" y="3225960"/>
            <a:ext cx="63720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Let Cons be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b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f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g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h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j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k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l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m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n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p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q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r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t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v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w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x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y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z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algn="ctr"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Cons</a:t>
            </a:r>
            <a:r>
              <a:rPr lang="en-US" sz="1800" b="0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*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a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Cons</a:t>
            </a:r>
            <a:r>
              <a:rPr lang="en-US" sz="1800" b="0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*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e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Cons</a:t>
            </a:r>
            <a:r>
              <a:rPr lang="en-US" sz="1800" b="0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*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i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Cons</a:t>
            </a:r>
            <a:r>
              <a:rPr lang="en-US" sz="1800" b="0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*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o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Cons</a:t>
            </a:r>
            <a:r>
              <a:rPr lang="en-US" sz="1800" b="0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*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u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Cons</a:t>
            </a:r>
            <a:r>
              <a:rPr lang="en-US" sz="1800" b="0" u="none" strike="noStrike" baseline="30000">
                <a:solidFill>
                  <a:srgbClr val="B025A6"/>
                </a:solidFill>
                <a:effectLst/>
                <a:uFillTx/>
                <a:latin typeface="Comic Sans MS"/>
              </a:rPr>
              <a:t>*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2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FE964C8-5E44-4AB4-AC68-B0EBCCDCC5E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/>
          </p:nvPr>
        </p:nvSpPr>
        <p:spPr>
          <a:xfrm>
            <a:off x="685800" y="1101240"/>
            <a:ext cx="7772400" cy="524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Consider the problem of recognizing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ILOC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register names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1349"/>
              </a:spcBef>
              <a:spcAft>
                <a:spcPts val="90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Register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r (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 … | 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r>
              <a:rPr lang="en-US" sz="18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 … | 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r>
              <a:rPr lang="en-US" sz="18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Allows registers of arbitrary number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Requires at least one digit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corresponds to a recognizer (or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ctr">
              <a:spcBef>
                <a:spcPts val="1687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Transitions on other inputs go to an error state, 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2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Example                                       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from Lab 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55" name="Group 16"/>
          <p:cNvGrpSpPr/>
          <p:nvPr/>
        </p:nvGrpSpPr>
        <p:grpSpPr>
          <a:xfrm>
            <a:off x="1523880" y="3552840"/>
            <a:ext cx="5359680" cy="1585440"/>
            <a:chOff x="1523880" y="3552840"/>
            <a:chExt cx="5359680" cy="1585440"/>
          </a:xfrm>
        </p:grpSpPr>
        <p:sp>
          <p:nvSpPr>
            <p:cNvPr id="56" name="Oval 5"/>
            <p:cNvSpPr/>
            <p:nvPr/>
          </p:nvSpPr>
          <p:spPr>
            <a:xfrm>
              <a:off x="1523880" y="401004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7" name="Oval 6"/>
            <p:cNvSpPr/>
            <p:nvPr/>
          </p:nvSpPr>
          <p:spPr>
            <a:xfrm>
              <a:off x="4267080" y="4010040"/>
              <a:ext cx="457200" cy="4572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8" name="Oval 7"/>
            <p:cNvSpPr/>
            <p:nvPr/>
          </p:nvSpPr>
          <p:spPr>
            <a:xfrm>
              <a:off x="2895480" y="401004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9" name="Line 8"/>
            <p:cNvSpPr/>
            <p:nvPr/>
          </p:nvSpPr>
          <p:spPr>
            <a:xfrm>
              <a:off x="1981080" y="4238640"/>
              <a:ext cx="9144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" name="Line 9"/>
            <p:cNvSpPr/>
            <p:nvPr/>
          </p:nvSpPr>
          <p:spPr>
            <a:xfrm>
              <a:off x="3352680" y="4238640"/>
              <a:ext cx="9144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1" name="AutoShape 10"/>
            <p:cNvCxnSpPr/>
            <p:nvPr/>
          </p:nvCxnSpPr>
          <p:spPr>
            <a:xfrm rot="5400000">
              <a:off x="4503960" y="3925080"/>
              <a:ext cx="2160" cy="324720"/>
            </a:xfrm>
            <a:prstGeom prst="curvedConnector5">
              <a:avLst>
                <a:gd name="adj1" fmla="val -28900000"/>
                <a:gd name="adj2" fmla="val 49944"/>
                <a:gd name="adj3" fmla="val -289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2" name="Text Box 11"/>
            <p:cNvSpPr/>
            <p:nvPr/>
          </p:nvSpPr>
          <p:spPr>
            <a:xfrm>
              <a:off x="2133720" y="384012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r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" name="Text Box 12"/>
            <p:cNvSpPr/>
            <p:nvPr/>
          </p:nvSpPr>
          <p:spPr>
            <a:xfrm>
              <a:off x="4572000" y="3552840"/>
              <a:ext cx="129528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(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 …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)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" name="AutoShape 13"/>
            <p:cNvSpPr/>
            <p:nvPr/>
          </p:nvSpPr>
          <p:spPr>
            <a:xfrm>
              <a:off x="5181480" y="4292640"/>
              <a:ext cx="1702080" cy="337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  <a:path w="21600" h="21600">
                  <a:moveTo>
                    <a:pt x="-6162" y="1104"/>
                  </a:moveTo>
                  <a:lnTo>
                    <a:pt x="-967" y="6943"/>
                  </a:lnTo>
                </a:path>
                <a:path w="21600" h="21600">
                  <a:moveTo>
                    <a:pt x="-967" y="0"/>
                  </a:moveTo>
                  <a:lnTo>
                    <a:pt x="-967" y="21600"/>
                  </a:lnTo>
                </a:path>
              </a:pathLst>
            </a:custGeom>
            <a:noFill/>
            <a:ln w="19080">
              <a:solidFill>
                <a:srgbClr val="FF0065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accepting</a:t>
              </a:r>
              <a:r>
                <a:rPr lang="en-US" sz="14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 state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5" name="Text Box 14"/>
            <p:cNvSpPr/>
            <p:nvPr/>
          </p:nvSpPr>
          <p:spPr>
            <a:xfrm>
              <a:off x="3168720" y="3814920"/>
              <a:ext cx="129528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(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 …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)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" name="Text Box 15"/>
            <p:cNvSpPr/>
            <p:nvPr/>
          </p:nvSpPr>
          <p:spPr>
            <a:xfrm>
              <a:off x="2819520" y="4800600"/>
              <a:ext cx="28191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Recognizer for </a:t>
              </a:r>
              <a:r>
                <a:rPr lang="en-US" sz="1600" b="0" i="1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Register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8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EF2E57C-A63B-467C-8273-DB80DBD8C02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operation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Start in state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&amp; make transitions on each input character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accepts a word </a:t>
            </a:r>
            <a:r>
              <a:rPr lang="en-US" sz="2000" b="0" i="1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iff  </a:t>
            </a:r>
            <a:r>
              <a:rPr lang="en-US" sz="2000" b="0" i="1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leaves it in a final state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3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So,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r17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takes it through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and accepts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takes it through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and fails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takes it straight to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6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Example                                            (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continued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71" name="Group 16"/>
          <p:cNvGrpSpPr/>
          <p:nvPr/>
        </p:nvGrpSpPr>
        <p:grpSpPr>
          <a:xfrm>
            <a:off x="2184480" y="2454120"/>
            <a:ext cx="5358960" cy="1585440"/>
            <a:chOff x="2184480" y="2454120"/>
            <a:chExt cx="5358960" cy="1585440"/>
          </a:xfrm>
        </p:grpSpPr>
        <p:sp>
          <p:nvSpPr>
            <p:cNvPr id="72" name="Oval 17"/>
            <p:cNvSpPr/>
            <p:nvPr/>
          </p:nvSpPr>
          <p:spPr>
            <a:xfrm>
              <a:off x="2184480" y="2911320"/>
              <a:ext cx="45684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3" name="Oval 18"/>
            <p:cNvSpPr/>
            <p:nvPr/>
          </p:nvSpPr>
          <p:spPr>
            <a:xfrm>
              <a:off x="4927320" y="2911320"/>
              <a:ext cx="456840" cy="4572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" name="Oval 19"/>
            <p:cNvSpPr/>
            <p:nvPr/>
          </p:nvSpPr>
          <p:spPr>
            <a:xfrm>
              <a:off x="3555720" y="2911320"/>
              <a:ext cx="45684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" name="Line 20"/>
            <p:cNvSpPr/>
            <p:nvPr/>
          </p:nvSpPr>
          <p:spPr>
            <a:xfrm>
              <a:off x="2641320" y="3139920"/>
              <a:ext cx="91404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6" name="Line 21"/>
            <p:cNvSpPr/>
            <p:nvPr/>
          </p:nvSpPr>
          <p:spPr>
            <a:xfrm>
              <a:off x="4012920" y="3139920"/>
              <a:ext cx="91404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7" name="AutoShape 22"/>
            <p:cNvCxnSpPr/>
            <p:nvPr/>
          </p:nvCxnSpPr>
          <p:spPr>
            <a:xfrm rot="5400000">
              <a:off x="5163840" y="2826360"/>
              <a:ext cx="2160" cy="324360"/>
            </a:xfrm>
            <a:prstGeom prst="curvedConnector5">
              <a:avLst>
                <a:gd name="adj1" fmla="val -28900000"/>
                <a:gd name="adj2" fmla="val 50000"/>
                <a:gd name="adj3" fmla="val -289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8" name="Text Box 23"/>
            <p:cNvSpPr/>
            <p:nvPr/>
          </p:nvSpPr>
          <p:spPr>
            <a:xfrm>
              <a:off x="2793960" y="2741400"/>
              <a:ext cx="3042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r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" name="Text Box 24"/>
            <p:cNvSpPr/>
            <p:nvPr/>
          </p:nvSpPr>
          <p:spPr>
            <a:xfrm>
              <a:off x="5232240" y="2454120"/>
              <a:ext cx="12949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(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 …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)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0" name="AutoShape 25"/>
            <p:cNvSpPr/>
            <p:nvPr/>
          </p:nvSpPr>
          <p:spPr>
            <a:xfrm>
              <a:off x="5841720" y="3193920"/>
              <a:ext cx="1701720" cy="337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  <a:path w="21600" h="21600">
                  <a:moveTo>
                    <a:pt x="-6163" y="1104"/>
                  </a:moveTo>
                  <a:lnTo>
                    <a:pt x="-967" y="6943"/>
                  </a:lnTo>
                </a:path>
                <a:path w="21600" h="21600">
                  <a:moveTo>
                    <a:pt x="-967" y="0"/>
                  </a:moveTo>
                  <a:lnTo>
                    <a:pt x="-967" y="21600"/>
                  </a:lnTo>
                </a:path>
              </a:pathLst>
            </a:custGeom>
            <a:noFill/>
            <a:ln w="19080">
              <a:solidFill>
                <a:srgbClr val="FF0065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accepting</a:t>
              </a:r>
              <a:r>
                <a:rPr lang="en-US" sz="14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 state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1" name="Text Box 26"/>
            <p:cNvSpPr/>
            <p:nvPr/>
          </p:nvSpPr>
          <p:spPr>
            <a:xfrm>
              <a:off x="3828960" y="2716200"/>
              <a:ext cx="12949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(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 …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)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" name="Text Box 27"/>
            <p:cNvSpPr/>
            <p:nvPr/>
          </p:nvSpPr>
          <p:spPr>
            <a:xfrm>
              <a:off x="3479760" y="3701880"/>
              <a:ext cx="28188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Recognizer for </a:t>
              </a:r>
              <a:r>
                <a:rPr lang="en-US" sz="1600" b="0" i="1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Register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4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DA2BC70-6169-46BE-BD4C-0D37962ED86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Example                                            (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continued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 be useful, the recognizer must be converted into code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87" name=""/>
          <p:cNvGraphicFramePr/>
          <p:nvPr/>
        </p:nvGraphicFramePr>
        <p:xfrm>
          <a:off x="4572000" y="1814400"/>
          <a:ext cx="3733920" cy="3278160"/>
        </p:xfrm>
        <a:graphic>
          <a:graphicData uri="http://schemas.openxmlformats.org/drawingml/2006/table">
            <a:tbl>
              <a:tblPr/>
              <a:tblGrid>
                <a:gridCol w="800280"/>
                <a:gridCol w="723600"/>
                <a:gridCol w="1219320"/>
                <a:gridCol w="990720"/>
              </a:tblGrid>
              <a:tr h="812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</a:t>
                      </a:r>
                      <a:endParaRPr lang="it-IT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r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0,1,2,3,4,5,6,7,8,9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All others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6364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60984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6094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6094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88" name="Group 41"/>
          <p:cNvGrpSpPr/>
          <p:nvPr/>
        </p:nvGrpSpPr>
        <p:grpSpPr>
          <a:xfrm>
            <a:off x="762120" y="1814400"/>
            <a:ext cx="3276360" cy="3835440"/>
            <a:chOff x="762120" y="1814400"/>
            <a:chExt cx="3276360" cy="3835440"/>
          </a:xfrm>
        </p:grpSpPr>
        <p:sp>
          <p:nvSpPr>
            <p:cNvPr id="89" name="Rectangle 37"/>
            <p:cNvSpPr/>
            <p:nvPr/>
          </p:nvSpPr>
          <p:spPr>
            <a:xfrm>
              <a:off x="762120" y="1814400"/>
              <a:ext cx="3276360" cy="3276720"/>
            </a:xfrm>
            <a:prstGeom prst="rect">
              <a:avLst/>
            </a:prstGeom>
            <a:noFill/>
            <a:ln w="28440">
              <a:solidFill>
                <a:srgbClr val="003C7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Char 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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 </a:t>
              </a:r>
              <a:r>
                <a:rPr lang="en-US" sz="18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next character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State 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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 s</a:t>
              </a:r>
              <a:r>
                <a:rPr lang="en-US" sz="18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0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while (Char 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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 </a:t>
              </a:r>
              <a:r>
                <a:rPr lang="en-US" sz="16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EOF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)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    State 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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 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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(State,Char)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     Char 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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 </a:t>
              </a:r>
              <a:r>
                <a:rPr lang="en-US" sz="18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next character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if (State is a final state</a:t>
              </a:r>
              <a:r>
                <a:rPr lang="en-US" sz="18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 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)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    then report success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    else  report failure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90" name="Text Box 38"/>
            <p:cNvSpPr/>
            <p:nvPr/>
          </p:nvSpPr>
          <p:spPr>
            <a:xfrm>
              <a:off x="1181160" y="5281560"/>
              <a:ext cx="24382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1" u="none" strike="noStrike">
                  <a:solidFill>
                    <a:srgbClr val="003C75"/>
                  </a:solidFill>
                  <a:effectLst/>
                  <a:uFillTx/>
                  <a:latin typeface="Comic Sans MS"/>
                </a:rPr>
                <a:t>Skeleton recognizer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91" name="Text Box 39"/>
          <p:cNvSpPr/>
          <p:nvPr/>
        </p:nvSpPr>
        <p:spPr>
          <a:xfrm>
            <a:off x="5145120" y="5281560"/>
            <a:ext cx="2560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Table encoding the RE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" name="Text Box 40"/>
          <p:cNvSpPr/>
          <p:nvPr/>
        </p:nvSpPr>
        <p:spPr>
          <a:xfrm>
            <a:off x="762120" y="5872320"/>
            <a:ext cx="2743200" cy="642600"/>
          </a:xfrm>
          <a:prstGeom prst="rect">
            <a:avLst/>
          </a:prstGeom>
          <a:solidFill>
            <a:srgbClr val="D9D9D9"/>
          </a:solidFill>
          <a:ln w="936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O(1) cost per character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(or per transition)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93" name="Group 16"/>
          <p:cNvGrpSpPr/>
          <p:nvPr/>
        </p:nvGrpSpPr>
        <p:grpSpPr>
          <a:xfrm>
            <a:off x="4724280" y="5715000"/>
            <a:ext cx="4343400" cy="914400"/>
            <a:chOff x="4724280" y="5715000"/>
            <a:chExt cx="4343400" cy="914400"/>
          </a:xfrm>
        </p:grpSpPr>
        <p:sp>
          <p:nvSpPr>
            <p:cNvPr id="94" name="Oval 17"/>
            <p:cNvSpPr/>
            <p:nvPr/>
          </p:nvSpPr>
          <p:spPr>
            <a:xfrm>
              <a:off x="4724280" y="617220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95" name="Oval 18"/>
            <p:cNvSpPr/>
            <p:nvPr/>
          </p:nvSpPr>
          <p:spPr>
            <a:xfrm>
              <a:off x="7467480" y="6172200"/>
              <a:ext cx="457200" cy="4572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96" name="Oval 19"/>
            <p:cNvSpPr/>
            <p:nvPr/>
          </p:nvSpPr>
          <p:spPr>
            <a:xfrm>
              <a:off x="6095880" y="617220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97" name="Line 20"/>
            <p:cNvSpPr/>
            <p:nvPr/>
          </p:nvSpPr>
          <p:spPr>
            <a:xfrm>
              <a:off x="5181480" y="6400800"/>
              <a:ext cx="9144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98" name="Line 21"/>
            <p:cNvSpPr/>
            <p:nvPr/>
          </p:nvSpPr>
          <p:spPr>
            <a:xfrm>
              <a:off x="6553080" y="6400800"/>
              <a:ext cx="9144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99" name="AutoShape 22"/>
            <p:cNvCxnSpPr/>
            <p:nvPr/>
          </p:nvCxnSpPr>
          <p:spPr>
            <a:xfrm rot="5400000">
              <a:off x="7704360" y="6087240"/>
              <a:ext cx="2160" cy="324720"/>
            </a:xfrm>
            <a:prstGeom prst="curvedConnector5">
              <a:avLst>
                <a:gd name="adj1" fmla="val -28900000"/>
                <a:gd name="adj2" fmla="val 49944"/>
                <a:gd name="adj3" fmla="val -289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100" name="Text Box 23"/>
            <p:cNvSpPr/>
            <p:nvPr/>
          </p:nvSpPr>
          <p:spPr>
            <a:xfrm>
              <a:off x="5334120" y="600228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r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1" name="Text Box 24"/>
            <p:cNvSpPr/>
            <p:nvPr/>
          </p:nvSpPr>
          <p:spPr>
            <a:xfrm>
              <a:off x="7772400" y="5715000"/>
              <a:ext cx="129528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(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 …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)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2" name="Text Box 26"/>
            <p:cNvSpPr/>
            <p:nvPr/>
          </p:nvSpPr>
          <p:spPr>
            <a:xfrm>
              <a:off x="6369120" y="5977080"/>
              <a:ext cx="129528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(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 …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)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C6513F5-EDCF-42A3-A40F-05E3BB62D61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Example                                            (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continued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We can add “actions” to each transition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107" name=""/>
          <p:cNvGraphicFramePr/>
          <p:nvPr/>
        </p:nvGraphicFramePr>
        <p:xfrm>
          <a:off x="4495680" y="1752480"/>
          <a:ext cx="3689640" cy="3810240"/>
        </p:xfrm>
        <a:graphic>
          <a:graphicData uri="http://schemas.openxmlformats.org/drawingml/2006/table">
            <a:tbl>
              <a:tblPr/>
              <a:tblGrid>
                <a:gridCol w="816120"/>
                <a:gridCol w="784080"/>
                <a:gridCol w="1198800"/>
                <a:gridCol w="890640"/>
              </a:tblGrid>
              <a:tr h="10087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</a:t>
                      </a:r>
                      <a:endParaRPr lang="it-IT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8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endParaRPr lang="it-IT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r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1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0,1,2,3,4,5,6,7,8,9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All others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7174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start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error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error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6843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error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add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error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6825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error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add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error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7174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error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error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error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8" name="Rectangle 36"/>
          <p:cNvSpPr/>
          <p:nvPr/>
        </p:nvSpPr>
        <p:spPr>
          <a:xfrm>
            <a:off x="762120" y="1766880"/>
            <a:ext cx="3276360" cy="3824280"/>
          </a:xfrm>
          <a:prstGeom prst="rect">
            <a:avLst/>
          </a:prstGeom>
          <a:noFill/>
          <a:ln w="28440">
            <a:solidFill>
              <a:srgbClr val="003C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Char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next character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State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s</a:t>
            </a:r>
            <a:r>
              <a:rPr lang="en-US" sz="18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while (Char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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6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EOF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Next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(State,Char)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Act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	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(State,Char)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  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perform action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Act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   State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Next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Char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next character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if (State is a final state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then report success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else  report failure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9" name="Text Box 37"/>
          <p:cNvSpPr/>
          <p:nvPr/>
        </p:nvSpPr>
        <p:spPr>
          <a:xfrm>
            <a:off x="1181160" y="5697360"/>
            <a:ext cx="24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Skeleton recognizer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" name="Text Box 38"/>
          <p:cNvSpPr/>
          <p:nvPr/>
        </p:nvSpPr>
        <p:spPr>
          <a:xfrm>
            <a:off x="5181480" y="5697360"/>
            <a:ext cx="2438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Table encoding RE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" name="Text Box 39"/>
          <p:cNvSpPr/>
          <p:nvPr/>
        </p:nvSpPr>
        <p:spPr>
          <a:xfrm>
            <a:off x="3762360" y="6178680"/>
            <a:ext cx="4524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Typical action is to capture the lexeme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3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24E3F86-29DA-4505-956B-9CF07AAE8FE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/>
          </p:nvPr>
        </p:nvSpPr>
        <p:spPr>
          <a:xfrm>
            <a:off x="685800" y="1066680"/>
            <a:ext cx="7772400" cy="51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Digit Digit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allows arbitrary numbers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Accepts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r00000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Accepts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r99999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What if we want to limit it to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through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r31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?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7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Write a tighter regular expression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675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Register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( (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Digit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| (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5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6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7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8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| (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675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Register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 … 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r31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r00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r01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r02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 … 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r09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2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Produces a more complex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has more states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has 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same cost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per transition             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or per character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has same basic implementation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What if we need a tighter specification?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25598EF-8BBE-4077-AE77-B5EFEF8ED95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Tighter register specification     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(continued)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DFA for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Register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( (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Digit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| (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5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6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7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8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| (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Accepts a more constrained set of register names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Same set of actions, more states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20" name="Group 4"/>
          <p:cNvGrpSpPr/>
          <p:nvPr/>
        </p:nvGrpSpPr>
        <p:grpSpPr>
          <a:xfrm>
            <a:off x="1752480" y="2120760"/>
            <a:ext cx="4572000" cy="2362320"/>
            <a:chOff x="1752480" y="2120760"/>
            <a:chExt cx="4572000" cy="2362320"/>
          </a:xfrm>
        </p:grpSpPr>
        <p:sp>
          <p:nvSpPr>
            <p:cNvPr id="121" name="Oval 5"/>
            <p:cNvSpPr/>
            <p:nvPr/>
          </p:nvSpPr>
          <p:spPr>
            <a:xfrm>
              <a:off x="1752480" y="318780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2" name="Oval 6"/>
            <p:cNvSpPr/>
            <p:nvPr/>
          </p:nvSpPr>
          <p:spPr>
            <a:xfrm>
              <a:off x="4495680" y="3187800"/>
              <a:ext cx="457200" cy="4572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3" name="Oval 7"/>
            <p:cNvSpPr/>
            <p:nvPr/>
          </p:nvSpPr>
          <p:spPr>
            <a:xfrm>
              <a:off x="3124080" y="318780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4" name="Line 8"/>
            <p:cNvSpPr/>
            <p:nvPr/>
          </p:nvSpPr>
          <p:spPr>
            <a:xfrm>
              <a:off x="2209680" y="3416400"/>
              <a:ext cx="9144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5" name="Line 9"/>
            <p:cNvSpPr/>
            <p:nvPr/>
          </p:nvSpPr>
          <p:spPr>
            <a:xfrm>
              <a:off x="3581280" y="3416400"/>
              <a:ext cx="9144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6" name="Text Box 10"/>
            <p:cNvSpPr/>
            <p:nvPr/>
          </p:nvSpPr>
          <p:spPr>
            <a:xfrm>
              <a:off x="2505240" y="311148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r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7" name="Oval 11"/>
            <p:cNvSpPr/>
            <p:nvPr/>
          </p:nvSpPr>
          <p:spPr>
            <a:xfrm>
              <a:off x="4495680" y="4025880"/>
              <a:ext cx="457200" cy="4572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8" name="Oval 12"/>
            <p:cNvSpPr/>
            <p:nvPr/>
          </p:nvSpPr>
          <p:spPr>
            <a:xfrm>
              <a:off x="5867280" y="2349360"/>
              <a:ext cx="457200" cy="4572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9" name="Oval 13"/>
            <p:cNvSpPr/>
            <p:nvPr/>
          </p:nvSpPr>
          <p:spPr>
            <a:xfrm>
              <a:off x="5867280" y="3187800"/>
              <a:ext cx="457200" cy="4572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0" name="Oval 14"/>
            <p:cNvSpPr/>
            <p:nvPr/>
          </p:nvSpPr>
          <p:spPr>
            <a:xfrm>
              <a:off x="4495680" y="2349360"/>
              <a:ext cx="457200" cy="4572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1" name="Line 15"/>
            <p:cNvSpPr/>
            <p:nvPr/>
          </p:nvSpPr>
          <p:spPr>
            <a:xfrm>
              <a:off x="4952880" y="3416400"/>
              <a:ext cx="9144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2" name="Line 16"/>
            <p:cNvSpPr/>
            <p:nvPr/>
          </p:nvSpPr>
          <p:spPr>
            <a:xfrm>
              <a:off x="4952880" y="2577960"/>
              <a:ext cx="9144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3" name="Line 17"/>
            <p:cNvSpPr/>
            <p:nvPr/>
          </p:nvSpPr>
          <p:spPr>
            <a:xfrm flipV="1">
              <a:off x="3505320" y="2653920"/>
              <a:ext cx="990360" cy="6094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4" name="Line 18"/>
            <p:cNvSpPr/>
            <p:nvPr/>
          </p:nvSpPr>
          <p:spPr>
            <a:xfrm>
              <a:off x="3581280" y="3492360"/>
              <a:ext cx="990720" cy="6098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5" name="Text Box 19"/>
            <p:cNvSpPr/>
            <p:nvPr/>
          </p:nvSpPr>
          <p:spPr>
            <a:xfrm>
              <a:off x="3429000" y="2730600"/>
              <a:ext cx="7621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6" name="Text Box 20"/>
            <p:cNvSpPr/>
            <p:nvPr/>
          </p:nvSpPr>
          <p:spPr>
            <a:xfrm>
              <a:off x="3962520" y="313200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7" name="Text Box 21"/>
            <p:cNvSpPr/>
            <p:nvPr/>
          </p:nvSpPr>
          <p:spPr>
            <a:xfrm>
              <a:off x="4952880" y="3111480"/>
              <a:ext cx="7621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8" name="Text Box 22"/>
            <p:cNvSpPr/>
            <p:nvPr/>
          </p:nvSpPr>
          <p:spPr>
            <a:xfrm>
              <a:off x="3048120" y="3797280"/>
              <a:ext cx="13716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6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8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9" name="Text Box 23"/>
            <p:cNvSpPr/>
            <p:nvPr/>
          </p:nvSpPr>
          <p:spPr>
            <a:xfrm>
              <a:off x="4724280" y="2120760"/>
              <a:ext cx="129564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(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 …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)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1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C3491EE-2C3D-4D58-8859-CFB8AD97D4DF}" type="slidenum"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Tighter register specification     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(continued)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143" name=""/>
          <p:cNvGraphicFramePr/>
          <p:nvPr/>
        </p:nvGraphicFramePr>
        <p:xfrm>
          <a:off x="838080" y="1295280"/>
          <a:ext cx="6096240" cy="4106880"/>
        </p:xfrm>
        <a:graphic>
          <a:graphicData uri="http://schemas.openxmlformats.org/drawingml/2006/table">
            <a:tbl>
              <a:tblPr/>
              <a:tblGrid>
                <a:gridCol w="871560"/>
                <a:gridCol w="870120"/>
                <a:gridCol w="871560"/>
                <a:gridCol w="869760"/>
                <a:gridCol w="871560"/>
                <a:gridCol w="827280"/>
                <a:gridCol w="914400"/>
              </a:tblGrid>
              <a:tr h="75240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5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8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</a:t>
                      </a:r>
                      <a:endParaRPr lang="it-IT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r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0,1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4-9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All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others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4057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4057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4057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4057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4057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4057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4057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4057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8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4" name="Text Box 86"/>
          <p:cNvSpPr/>
          <p:nvPr/>
        </p:nvSpPr>
        <p:spPr>
          <a:xfrm>
            <a:off x="457200" y="5684760"/>
            <a:ext cx="6629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Table encoding RE for the tighter register specification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45" name="Group 340"/>
          <p:cNvGrpSpPr/>
          <p:nvPr/>
        </p:nvGrpSpPr>
        <p:grpSpPr>
          <a:xfrm>
            <a:off x="6991200" y="1371600"/>
            <a:ext cx="2025720" cy="1090440"/>
            <a:chOff x="6991200" y="1371600"/>
            <a:chExt cx="2025720" cy="1090440"/>
          </a:xfrm>
        </p:grpSpPr>
        <p:sp>
          <p:nvSpPr>
            <p:cNvPr id="146" name="Text Box 89"/>
            <p:cNvSpPr/>
            <p:nvPr/>
          </p:nvSpPr>
          <p:spPr>
            <a:xfrm>
              <a:off x="7310520" y="1384200"/>
              <a:ext cx="1706400" cy="106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This table runs in the same skeleton recognizer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7" name="Line 90"/>
            <p:cNvSpPr/>
            <p:nvPr/>
          </p:nvSpPr>
          <p:spPr>
            <a:xfrm>
              <a:off x="7297560" y="1371600"/>
              <a:ext cx="0" cy="109044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8" name="Freeform 91"/>
            <p:cNvSpPr/>
            <p:nvPr/>
          </p:nvSpPr>
          <p:spPr>
            <a:xfrm>
              <a:off x="6991200" y="1692000"/>
              <a:ext cx="308160" cy="691920"/>
            </a:xfrm>
            <a:custGeom>
              <a:avLst/>
              <a:gdLst>
                <a:gd name="textAreaLeft" fmla="*/ 0 w 308160"/>
                <a:gd name="textAreaRight" fmla="*/ 308520 w 308160"/>
                <a:gd name="textAreaTop" fmla="*/ 0 h 691920"/>
                <a:gd name="textAreaBottom" fmla="*/ 691920 h 691920"/>
                <a:gd name="GluePoint1X" fmla="*/ 194 w 194"/>
                <a:gd name="GluePoint1Y" fmla="*/ 0 h 436"/>
                <a:gd name="GluePoint2X" fmla="*/ 33 w 194"/>
                <a:gd name="GluePoint2Y" fmla="*/ 186 h 436"/>
                <a:gd name="GluePoint3X" fmla="*/ 122 w 194"/>
                <a:gd name="GluePoint3Y" fmla="*/ 242 h 436"/>
                <a:gd name="GluePoint4X" fmla="*/ 0 w 194"/>
                <a:gd name="GluePoint4Y" fmla="*/ 436 h 4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94" h="436">
                  <a:moveTo>
                    <a:pt x="194" y="0"/>
                  </a:moveTo>
                  <a:cubicBezTo>
                    <a:pt x="119" y="73"/>
                    <a:pt x="45" y="146"/>
                    <a:pt x="33" y="186"/>
                  </a:cubicBezTo>
                  <a:cubicBezTo>
                    <a:pt x="21" y="226"/>
                    <a:pt x="128" y="200"/>
                    <a:pt x="122" y="242"/>
                  </a:cubicBezTo>
                  <a:cubicBezTo>
                    <a:pt x="116" y="284"/>
                    <a:pt x="58" y="360"/>
                    <a:pt x="0" y="436"/>
                  </a:cubicBezTo>
                </a:path>
              </a:pathLst>
            </a:custGeom>
            <a:noFill/>
            <a:ln w="1908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149" name="Group 340"/>
          <p:cNvGrpSpPr/>
          <p:nvPr/>
        </p:nvGrpSpPr>
        <p:grpSpPr>
          <a:xfrm>
            <a:off x="6988320" y="2743200"/>
            <a:ext cx="2025000" cy="1090440"/>
            <a:chOff x="6988320" y="2743200"/>
            <a:chExt cx="2025000" cy="1090440"/>
          </a:xfrm>
        </p:grpSpPr>
        <p:sp>
          <p:nvSpPr>
            <p:cNvPr id="150" name="Text Box 89"/>
            <p:cNvSpPr/>
            <p:nvPr/>
          </p:nvSpPr>
          <p:spPr>
            <a:xfrm>
              <a:off x="7307280" y="2755800"/>
              <a:ext cx="1706040" cy="106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This table uses the same O(1) time per character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1" name="Line 90"/>
            <p:cNvSpPr/>
            <p:nvPr/>
          </p:nvSpPr>
          <p:spPr>
            <a:xfrm>
              <a:off x="7294320" y="2743200"/>
              <a:ext cx="0" cy="109044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2" name="Freeform 91"/>
            <p:cNvSpPr/>
            <p:nvPr/>
          </p:nvSpPr>
          <p:spPr>
            <a:xfrm>
              <a:off x="6988320" y="3063600"/>
              <a:ext cx="307800" cy="6919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691920"/>
                <a:gd name="textAreaBottom" fmla="*/ 691920 h 691920"/>
                <a:gd name="GluePoint1X" fmla="*/ 194 w 194"/>
                <a:gd name="GluePoint1Y" fmla="*/ 0 h 436"/>
                <a:gd name="GluePoint2X" fmla="*/ 33 w 194"/>
                <a:gd name="GluePoint2Y" fmla="*/ 186 h 436"/>
                <a:gd name="GluePoint3X" fmla="*/ 122 w 194"/>
                <a:gd name="GluePoint3Y" fmla="*/ 242 h 436"/>
                <a:gd name="GluePoint4X" fmla="*/ 0 w 194"/>
                <a:gd name="GluePoint4Y" fmla="*/ 436 h 4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94" h="436">
                  <a:moveTo>
                    <a:pt x="194" y="0"/>
                  </a:moveTo>
                  <a:cubicBezTo>
                    <a:pt x="119" y="73"/>
                    <a:pt x="45" y="146"/>
                    <a:pt x="33" y="186"/>
                  </a:cubicBezTo>
                  <a:cubicBezTo>
                    <a:pt x="21" y="226"/>
                    <a:pt x="128" y="200"/>
                    <a:pt x="122" y="242"/>
                  </a:cubicBezTo>
                  <a:cubicBezTo>
                    <a:pt x="116" y="284"/>
                    <a:pt x="58" y="360"/>
                    <a:pt x="0" y="436"/>
                  </a:cubicBezTo>
                </a:path>
              </a:pathLst>
            </a:custGeom>
            <a:noFill/>
            <a:ln w="1908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153" name="Group 340"/>
          <p:cNvGrpSpPr/>
          <p:nvPr/>
        </p:nvGrpSpPr>
        <p:grpSpPr>
          <a:xfrm>
            <a:off x="6985080" y="4091040"/>
            <a:ext cx="2025720" cy="1090440"/>
            <a:chOff x="6985080" y="4091040"/>
            <a:chExt cx="2025720" cy="1090440"/>
          </a:xfrm>
        </p:grpSpPr>
        <p:sp>
          <p:nvSpPr>
            <p:cNvPr id="154" name="Text Box 89"/>
            <p:cNvSpPr/>
            <p:nvPr/>
          </p:nvSpPr>
          <p:spPr>
            <a:xfrm>
              <a:off x="7304400" y="4103640"/>
              <a:ext cx="1706400" cy="106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The extra precision costs us table space, not time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5" name="Line 90"/>
            <p:cNvSpPr/>
            <p:nvPr/>
          </p:nvSpPr>
          <p:spPr>
            <a:xfrm>
              <a:off x="7291440" y="4091040"/>
              <a:ext cx="0" cy="109044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6" name="Freeform 91"/>
            <p:cNvSpPr/>
            <p:nvPr/>
          </p:nvSpPr>
          <p:spPr>
            <a:xfrm>
              <a:off x="6985080" y="4411440"/>
              <a:ext cx="308160" cy="691920"/>
            </a:xfrm>
            <a:custGeom>
              <a:avLst/>
              <a:gdLst>
                <a:gd name="textAreaLeft" fmla="*/ 0 w 308160"/>
                <a:gd name="textAreaRight" fmla="*/ 308520 w 308160"/>
                <a:gd name="textAreaTop" fmla="*/ 0 h 691920"/>
                <a:gd name="textAreaBottom" fmla="*/ 691920 h 691920"/>
                <a:gd name="GluePoint1X" fmla="*/ 194 w 194"/>
                <a:gd name="GluePoint1Y" fmla="*/ 0 h 436"/>
                <a:gd name="GluePoint2X" fmla="*/ 33 w 194"/>
                <a:gd name="GluePoint2Y" fmla="*/ 186 h 436"/>
                <a:gd name="GluePoint3X" fmla="*/ 122 w 194"/>
                <a:gd name="GluePoint3Y" fmla="*/ 242 h 436"/>
                <a:gd name="GluePoint4X" fmla="*/ 0 w 194"/>
                <a:gd name="GluePoint4Y" fmla="*/ 436 h 4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94" h="436">
                  <a:moveTo>
                    <a:pt x="194" y="0"/>
                  </a:moveTo>
                  <a:cubicBezTo>
                    <a:pt x="119" y="73"/>
                    <a:pt x="45" y="146"/>
                    <a:pt x="33" y="186"/>
                  </a:cubicBezTo>
                  <a:cubicBezTo>
                    <a:pt x="21" y="226"/>
                    <a:pt x="128" y="200"/>
                    <a:pt x="122" y="242"/>
                  </a:cubicBezTo>
                  <a:cubicBezTo>
                    <a:pt x="116" y="284"/>
                    <a:pt x="58" y="360"/>
                    <a:pt x="0" y="436"/>
                  </a:cubicBezTo>
                </a:path>
              </a:pathLst>
            </a:custGeom>
            <a:noFill/>
            <a:ln w="1908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157" name="Group 325"/>
          <p:cNvGrpSpPr/>
          <p:nvPr/>
        </p:nvGrpSpPr>
        <p:grpSpPr>
          <a:xfrm>
            <a:off x="6400800" y="5526000"/>
            <a:ext cx="2286000" cy="1179720"/>
            <a:chOff x="6400800" y="5526000"/>
            <a:chExt cx="2286000" cy="1179720"/>
          </a:xfrm>
        </p:grpSpPr>
        <p:sp>
          <p:nvSpPr>
            <p:cNvPr id="158" name="Oval 326"/>
            <p:cNvSpPr/>
            <p:nvPr/>
          </p:nvSpPr>
          <p:spPr>
            <a:xfrm>
              <a:off x="6400800" y="6058800"/>
              <a:ext cx="228600" cy="22824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9" name="Oval 327"/>
            <p:cNvSpPr/>
            <p:nvPr/>
          </p:nvSpPr>
          <p:spPr>
            <a:xfrm>
              <a:off x="7772400" y="6058800"/>
              <a:ext cx="228600" cy="228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0" name="Oval 328"/>
            <p:cNvSpPr/>
            <p:nvPr/>
          </p:nvSpPr>
          <p:spPr>
            <a:xfrm>
              <a:off x="7086600" y="6058800"/>
              <a:ext cx="228600" cy="22824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1" name="Line 329"/>
            <p:cNvSpPr/>
            <p:nvPr/>
          </p:nvSpPr>
          <p:spPr>
            <a:xfrm>
              <a:off x="6629400" y="617292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2" name="Line 330"/>
            <p:cNvSpPr/>
            <p:nvPr/>
          </p:nvSpPr>
          <p:spPr>
            <a:xfrm>
              <a:off x="7315200" y="617292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3" name="Text Box 331"/>
            <p:cNvSpPr/>
            <p:nvPr/>
          </p:nvSpPr>
          <p:spPr>
            <a:xfrm>
              <a:off x="6761160" y="6021360"/>
              <a:ext cx="183960" cy="18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374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r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4" name="Oval 332"/>
            <p:cNvSpPr/>
            <p:nvPr/>
          </p:nvSpPr>
          <p:spPr>
            <a:xfrm>
              <a:off x="7772400" y="6477480"/>
              <a:ext cx="228600" cy="228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5" name="Oval 333"/>
            <p:cNvSpPr/>
            <p:nvPr/>
          </p:nvSpPr>
          <p:spPr>
            <a:xfrm>
              <a:off x="8458200" y="5640120"/>
              <a:ext cx="228600" cy="228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6" name="Oval 334"/>
            <p:cNvSpPr/>
            <p:nvPr/>
          </p:nvSpPr>
          <p:spPr>
            <a:xfrm>
              <a:off x="8458200" y="6058800"/>
              <a:ext cx="228600" cy="228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7" name="Oval 335"/>
            <p:cNvSpPr/>
            <p:nvPr/>
          </p:nvSpPr>
          <p:spPr>
            <a:xfrm>
              <a:off x="7772400" y="5640120"/>
              <a:ext cx="228600" cy="228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8" name="Line 336"/>
            <p:cNvSpPr/>
            <p:nvPr/>
          </p:nvSpPr>
          <p:spPr>
            <a:xfrm>
              <a:off x="8001000" y="617292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9" name="Line 337"/>
            <p:cNvSpPr/>
            <p:nvPr/>
          </p:nvSpPr>
          <p:spPr>
            <a:xfrm>
              <a:off x="8001000" y="575424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0" name="Line 338"/>
            <p:cNvSpPr/>
            <p:nvPr/>
          </p:nvSpPr>
          <p:spPr>
            <a:xfrm flipV="1">
              <a:off x="7277040" y="5792040"/>
              <a:ext cx="495000" cy="304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1" name="Line 339"/>
            <p:cNvSpPr/>
            <p:nvPr/>
          </p:nvSpPr>
          <p:spPr>
            <a:xfrm>
              <a:off x="7315200" y="6210720"/>
              <a:ext cx="495360" cy="3045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2" name="Text Box 340"/>
            <p:cNvSpPr/>
            <p:nvPr/>
          </p:nvSpPr>
          <p:spPr>
            <a:xfrm>
              <a:off x="7238880" y="5831280"/>
              <a:ext cx="380880" cy="18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374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3" name="Text Box 341"/>
            <p:cNvSpPr/>
            <p:nvPr/>
          </p:nvSpPr>
          <p:spPr>
            <a:xfrm>
              <a:off x="7489800" y="6031080"/>
              <a:ext cx="184320" cy="18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374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4" name="Text Box 342"/>
            <p:cNvSpPr/>
            <p:nvPr/>
          </p:nvSpPr>
          <p:spPr>
            <a:xfrm>
              <a:off x="8001000" y="6021360"/>
              <a:ext cx="380880" cy="18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374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5" name="Text Box 343"/>
            <p:cNvSpPr/>
            <p:nvPr/>
          </p:nvSpPr>
          <p:spPr>
            <a:xfrm>
              <a:off x="7048440" y="6362640"/>
              <a:ext cx="685800" cy="18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374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6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8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6" name="Text Box 344"/>
            <p:cNvSpPr/>
            <p:nvPr/>
          </p:nvSpPr>
          <p:spPr>
            <a:xfrm>
              <a:off x="7886520" y="5526000"/>
              <a:ext cx="647640" cy="18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374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(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 … 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)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78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8EBE0F8-6AB0-47D9-8C06-F46BE18C8CA5}" type="slidenum"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Tighter register specification     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(continued)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180" name=""/>
          <p:cNvGraphicFramePr/>
          <p:nvPr/>
        </p:nvGraphicFramePr>
        <p:xfrm>
          <a:off x="685800" y="1219320"/>
          <a:ext cx="6858000" cy="4130640"/>
        </p:xfrm>
        <a:graphic>
          <a:graphicData uri="http://schemas.openxmlformats.org/drawingml/2006/table">
            <a:tbl>
              <a:tblPr/>
              <a:tblGrid>
                <a:gridCol w="979560"/>
                <a:gridCol w="979560"/>
                <a:gridCol w="979200"/>
                <a:gridCol w="981360"/>
                <a:gridCol w="979200"/>
                <a:gridCol w="979560"/>
                <a:gridCol w="979560"/>
              </a:tblGrid>
              <a:tr h="520920"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  State 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Action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r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0,1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4,5,6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7,8,9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other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5760">
                      <a:solidFill>
                        <a:srgbClr val="153C75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520920"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start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5760">
                      <a:solidFill>
                        <a:srgbClr val="153C75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520920"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add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add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add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add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5760">
                      <a:solidFill>
                        <a:srgbClr val="153C75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520920"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add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add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add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add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exit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5760">
                      <a:solidFill>
                        <a:srgbClr val="153C75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520920"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3,4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exit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5760">
                      <a:solidFill>
                        <a:srgbClr val="153C75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520920"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add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exit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5760">
                      <a:solidFill>
                        <a:srgbClr val="153C75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520920"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x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exit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5760">
                      <a:solidFill>
                        <a:srgbClr val="153C75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  <a:tr h="484200"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13680">
                      <a:solidFill>
                        <a:srgbClr val="B025A6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ctr">
                      <a:noAutofit/>
                    </a:bodyPr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e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ctr" marL="90000" marR="90000" marT="46800" marB="46800">
                    <a:lnL w="13680">
                      <a:solidFill>
                        <a:srgbClr val="B025A6"/>
                      </a:solidFill>
                      <a:prstDash val="solid"/>
                    </a:lnL>
                    <a:lnR w="5760">
                      <a:solidFill>
                        <a:srgbClr val="153C75"/>
                      </a:solidFill>
                      <a:prstDash val="solid"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81" name="Group 325"/>
          <p:cNvGrpSpPr/>
          <p:nvPr/>
        </p:nvGrpSpPr>
        <p:grpSpPr>
          <a:xfrm>
            <a:off x="6400800" y="5526000"/>
            <a:ext cx="2286000" cy="1179720"/>
            <a:chOff x="6400800" y="5526000"/>
            <a:chExt cx="2286000" cy="1179720"/>
          </a:xfrm>
        </p:grpSpPr>
        <p:sp>
          <p:nvSpPr>
            <p:cNvPr id="182" name="Oval 326"/>
            <p:cNvSpPr/>
            <p:nvPr/>
          </p:nvSpPr>
          <p:spPr>
            <a:xfrm>
              <a:off x="6400800" y="6058800"/>
              <a:ext cx="228600" cy="22824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3" name="Oval 327"/>
            <p:cNvSpPr/>
            <p:nvPr/>
          </p:nvSpPr>
          <p:spPr>
            <a:xfrm>
              <a:off x="7772400" y="6058800"/>
              <a:ext cx="228600" cy="228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4" name="Oval 328"/>
            <p:cNvSpPr/>
            <p:nvPr/>
          </p:nvSpPr>
          <p:spPr>
            <a:xfrm>
              <a:off x="7086600" y="6058800"/>
              <a:ext cx="228600" cy="22824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5" name="Line 329"/>
            <p:cNvSpPr/>
            <p:nvPr/>
          </p:nvSpPr>
          <p:spPr>
            <a:xfrm>
              <a:off x="6629400" y="617292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6" name="Line 330"/>
            <p:cNvSpPr/>
            <p:nvPr/>
          </p:nvSpPr>
          <p:spPr>
            <a:xfrm>
              <a:off x="7315200" y="617292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7" name="Text Box 331"/>
            <p:cNvSpPr/>
            <p:nvPr/>
          </p:nvSpPr>
          <p:spPr>
            <a:xfrm>
              <a:off x="6761160" y="6021360"/>
              <a:ext cx="183960" cy="18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374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r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8" name="Oval 332"/>
            <p:cNvSpPr/>
            <p:nvPr/>
          </p:nvSpPr>
          <p:spPr>
            <a:xfrm>
              <a:off x="7772400" y="6477480"/>
              <a:ext cx="228600" cy="228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9" name="Oval 333"/>
            <p:cNvSpPr/>
            <p:nvPr/>
          </p:nvSpPr>
          <p:spPr>
            <a:xfrm>
              <a:off x="8458200" y="5640120"/>
              <a:ext cx="228600" cy="228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90" name="Oval 334"/>
            <p:cNvSpPr/>
            <p:nvPr/>
          </p:nvSpPr>
          <p:spPr>
            <a:xfrm>
              <a:off x="8458200" y="6058800"/>
              <a:ext cx="228600" cy="228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91" name="Oval 335"/>
            <p:cNvSpPr/>
            <p:nvPr/>
          </p:nvSpPr>
          <p:spPr>
            <a:xfrm>
              <a:off x="7772400" y="5640120"/>
              <a:ext cx="228600" cy="228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6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92" name="Line 336"/>
            <p:cNvSpPr/>
            <p:nvPr/>
          </p:nvSpPr>
          <p:spPr>
            <a:xfrm>
              <a:off x="8001000" y="617292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93" name="Line 337"/>
            <p:cNvSpPr/>
            <p:nvPr/>
          </p:nvSpPr>
          <p:spPr>
            <a:xfrm>
              <a:off x="8001000" y="575424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94" name="Line 338"/>
            <p:cNvSpPr/>
            <p:nvPr/>
          </p:nvSpPr>
          <p:spPr>
            <a:xfrm flipV="1">
              <a:off x="7277040" y="5792040"/>
              <a:ext cx="495000" cy="304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95" name="Line 339"/>
            <p:cNvSpPr/>
            <p:nvPr/>
          </p:nvSpPr>
          <p:spPr>
            <a:xfrm>
              <a:off x="7315200" y="6210720"/>
              <a:ext cx="495360" cy="3045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96" name="Text Box 340"/>
            <p:cNvSpPr/>
            <p:nvPr/>
          </p:nvSpPr>
          <p:spPr>
            <a:xfrm>
              <a:off x="7238880" y="5831280"/>
              <a:ext cx="380880" cy="18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374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97" name="Text Box 341"/>
            <p:cNvSpPr/>
            <p:nvPr/>
          </p:nvSpPr>
          <p:spPr>
            <a:xfrm>
              <a:off x="7489800" y="6031080"/>
              <a:ext cx="184320" cy="18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374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98" name="Text Box 342"/>
            <p:cNvSpPr/>
            <p:nvPr/>
          </p:nvSpPr>
          <p:spPr>
            <a:xfrm>
              <a:off x="8001000" y="6021360"/>
              <a:ext cx="380880" cy="18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374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99" name="Text Box 343"/>
            <p:cNvSpPr/>
            <p:nvPr/>
          </p:nvSpPr>
          <p:spPr>
            <a:xfrm>
              <a:off x="7048440" y="6362640"/>
              <a:ext cx="685800" cy="18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374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6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8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00" name="Text Box 344"/>
            <p:cNvSpPr/>
            <p:nvPr/>
          </p:nvSpPr>
          <p:spPr>
            <a:xfrm>
              <a:off x="7886520" y="5526000"/>
              <a:ext cx="647640" cy="18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374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(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| … </a:t>
              </a:r>
              <a:r>
                <a:rPr lang="en-US" sz="6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</a:t>
              </a:r>
              <a:r>
                <a:rPr lang="en-US" sz="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)</a:t>
              </a:r>
              <a:endParaRPr lang="it-IT" sz="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201" name="TextBox 29"/>
          <p:cNvSpPr/>
          <p:nvPr/>
        </p:nvSpPr>
        <p:spPr>
          <a:xfrm>
            <a:off x="685800" y="5722920"/>
            <a:ext cx="4648320" cy="825120"/>
          </a:xfrm>
          <a:prstGeom prst="rect">
            <a:avLst/>
          </a:prstGeom>
          <a:solidFill>
            <a:srgbClr val="D9D9D9"/>
          </a:solidFill>
          <a:ln w="936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We care about path lengths (time) and finite size of set of states (representability), but we don’t worry (much) about number of states.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3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C9D3952-013C-4D54-9A9F-1E58122270A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Where are we going?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85800" y="1193400"/>
            <a:ext cx="7772400" cy="487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We will show how to construct a finite state automaton       to recognize any 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00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Overview: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Direct construction of a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nondeterministic finite automaton (NFA)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to recognize a given RE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Easy to build in an algorithmic way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Requires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-transitions to combine regular subexpressions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Construct a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deterministic finite automaton (DFA)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to simulate the NFA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Use a set-of-states construction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Minimize the number of states in the DFA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Hopcroft state minimization algorithm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Generate the scanner code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00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Additional specifications needed for the actions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206" name="Group 12"/>
          <p:cNvGrpSpPr/>
          <p:nvPr/>
        </p:nvGrpSpPr>
        <p:grpSpPr>
          <a:xfrm>
            <a:off x="5538960" y="1550880"/>
            <a:ext cx="2614320" cy="731880"/>
            <a:chOff x="5538960" y="1550880"/>
            <a:chExt cx="2614320" cy="731880"/>
          </a:xfrm>
        </p:grpSpPr>
        <p:sp>
          <p:nvSpPr>
            <p:cNvPr id="207" name="Line 4"/>
            <p:cNvSpPr/>
            <p:nvPr/>
          </p:nvSpPr>
          <p:spPr>
            <a:xfrm flipH="1">
              <a:off x="6183000" y="1552680"/>
              <a:ext cx="12600" cy="37152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08" name="Text Box 6"/>
            <p:cNvSpPr/>
            <p:nvPr/>
          </p:nvSpPr>
          <p:spPr>
            <a:xfrm>
              <a:off x="6197760" y="1550880"/>
              <a:ext cx="19555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Introduce </a:t>
              </a: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NFA</a:t>
              </a:r>
              <a:r>
                <a:rPr lang="en-US" sz="18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s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09" name="Freeform 7"/>
            <p:cNvSpPr/>
            <p:nvPr/>
          </p:nvSpPr>
          <p:spPr>
            <a:xfrm>
              <a:off x="5538960" y="1654200"/>
              <a:ext cx="657000" cy="628560"/>
            </a:xfrm>
            <a:custGeom>
              <a:avLst/>
              <a:gdLst>
                <a:gd name="textAreaLeft" fmla="*/ 0 w 657000"/>
                <a:gd name="textAreaRight" fmla="*/ 657360 w 657000"/>
                <a:gd name="textAreaTop" fmla="*/ 0 h 628560"/>
                <a:gd name="textAreaBottom" fmla="*/ 628920 h 628560"/>
                <a:gd name="GluePoint1X" fmla="*/ 414 w 414"/>
                <a:gd name="GluePoint1Y" fmla="*/ 0 h 396"/>
                <a:gd name="GluePoint2X" fmla="*/ 34 w 414"/>
                <a:gd name="GluePoint2Y" fmla="*/ 251 h 396"/>
                <a:gd name="GluePoint3X" fmla="*/ 212 w 414"/>
                <a:gd name="GluePoint3Y" fmla="*/ 251 h 396"/>
                <a:gd name="GluePoint4X" fmla="*/ 26 w 414"/>
                <a:gd name="GluePoint4Y" fmla="*/ 396 h 3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414" h="396">
                  <a:moveTo>
                    <a:pt x="414" y="0"/>
                  </a:moveTo>
                  <a:cubicBezTo>
                    <a:pt x="241" y="104"/>
                    <a:pt x="68" y="209"/>
                    <a:pt x="34" y="251"/>
                  </a:cubicBezTo>
                  <a:cubicBezTo>
                    <a:pt x="0" y="293"/>
                    <a:pt x="213" y="227"/>
                    <a:pt x="212" y="251"/>
                  </a:cubicBezTo>
                  <a:cubicBezTo>
                    <a:pt x="211" y="275"/>
                    <a:pt x="58" y="372"/>
                    <a:pt x="26" y="396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210" name="Group 13"/>
          <p:cNvGrpSpPr/>
          <p:nvPr/>
        </p:nvGrpSpPr>
        <p:grpSpPr>
          <a:xfrm>
            <a:off x="6183360" y="4052880"/>
            <a:ext cx="2693880" cy="603360"/>
            <a:chOff x="6183360" y="4052880"/>
            <a:chExt cx="2693880" cy="603360"/>
          </a:xfrm>
        </p:grpSpPr>
        <p:sp>
          <p:nvSpPr>
            <p:cNvPr id="211" name="Text Box 9"/>
            <p:cNvSpPr/>
            <p:nvPr/>
          </p:nvSpPr>
          <p:spPr>
            <a:xfrm>
              <a:off x="7170840" y="4052880"/>
              <a:ext cx="1706400" cy="58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Optional, but worthwhile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12" name="Line 10"/>
            <p:cNvSpPr/>
            <p:nvPr/>
          </p:nvSpPr>
          <p:spPr>
            <a:xfrm>
              <a:off x="7170840" y="4065480"/>
              <a:ext cx="0" cy="56520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13" name="Freeform 11"/>
            <p:cNvSpPr/>
            <p:nvPr/>
          </p:nvSpPr>
          <p:spPr>
            <a:xfrm>
              <a:off x="6183360" y="4259160"/>
              <a:ext cx="987480" cy="397080"/>
            </a:xfrm>
            <a:custGeom>
              <a:avLst/>
              <a:gdLst>
                <a:gd name="textAreaLeft" fmla="*/ 0 w 987480"/>
                <a:gd name="textAreaRight" fmla="*/ 987840 w 987480"/>
                <a:gd name="textAreaTop" fmla="*/ 0 h 397080"/>
                <a:gd name="textAreaBottom" fmla="*/ 397440 h 397080"/>
                <a:gd name="GluePoint1X" fmla="*/ 622 w 622"/>
                <a:gd name="GluePoint1Y" fmla="*/ 0 h 250"/>
                <a:gd name="GluePoint2X" fmla="*/ 210 w 622"/>
                <a:gd name="GluePoint2Y" fmla="*/ 105 h 250"/>
                <a:gd name="GluePoint3X" fmla="*/ 380 w 622"/>
                <a:gd name="GluePoint3Y" fmla="*/ 177 h 250"/>
                <a:gd name="GluePoint4X" fmla="*/ 0 w 622"/>
                <a:gd name="GluePoint4Y" fmla="*/ 250 h 2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622" h="250">
                  <a:moveTo>
                    <a:pt x="622" y="0"/>
                  </a:moveTo>
                  <a:cubicBezTo>
                    <a:pt x="436" y="38"/>
                    <a:pt x="250" y="76"/>
                    <a:pt x="210" y="105"/>
                  </a:cubicBezTo>
                  <a:cubicBezTo>
                    <a:pt x="170" y="134"/>
                    <a:pt x="415" y="153"/>
                    <a:pt x="380" y="177"/>
                  </a:cubicBezTo>
                  <a:cubicBezTo>
                    <a:pt x="345" y="201"/>
                    <a:pt x="172" y="225"/>
                    <a:pt x="0" y="250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5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4A85FA8-182B-421A-B5E4-4BEC13C65A3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Non-deterministic Finite Automata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685800" y="121932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What about an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such as 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 </a:t>
            </a:r>
            <a:r>
              <a:rPr lang="en-US" sz="2000" b="0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| </a:t>
            </a:r>
            <a:r>
              <a:rPr lang="en-US" sz="2000" b="0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b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)</a:t>
            </a:r>
            <a:r>
              <a:rPr lang="en-US" sz="2000" b="0" u="none" strike="noStrike" baseline="30000">
                <a:solidFill>
                  <a:srgbClr val="FF0065"/>
                </a:solidFill>
                <a:effectLst/>
                <a:uFillTx/>
                <a:latin typeface="Comic Sans MS"/>
              </a:rPr>
              <a:t>*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abb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?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5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Each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corresponds to a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deterministic finite automaton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(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75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We know a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exists for each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may be hard to build directly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Automatic techniques will build it for us …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218" name="Group 4"/>
          <p:cNvGrpSpPr/>
          <p:nvPr/>
        </p:nvGrpSpPr>
        <p:grpSpPr>
          <a:xfrm>
            <a:off x="2487600" y="1779480"/>
            <a:ext cx="3889440" cy="2363400"/>
            <a:chOff x="2487600" y="1779480"/>
            <a:chExt cx="3889440" cy="2363400"/>
          </a:xfrm>
        </p:grpSpPr>
        <p:sp>
          <p:nvSpPr>
            <p:cNvPr id="219" name="Oval 5"/>
            <p:cNvSpPr/>
            <p:nvPr/>
          </p:nvSpPr>
          <p:spPr>
            <a:xfrm>
              <a:off x="2487600" y="228744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20" name="Oval 6"/>
            <p:cNvSpPr/>
            <p:nvPr/>
          </p:nvSpPr>
          <p:spPr>
            <a:xfrm>
              <a:off x="3630600" y="228744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21" name="Line 7"/>
            <p:cNvSpPr/>
            <p:nvPr/>
          </p:nvSpPr>
          <p:spPr>
            <a:xfrm>
              <a:off x="2944800" y="2516040"/>
              <a:ext cx="6858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22" name="Oval 8"/>
            <p:cNvSpPr/>
            <p:nvPr/>
          </p:nvSpPr>
          <p:spPr>
            <a:xfrm>
              <a:off x="5919840" y="2290680"/>
              <a:ext cx="457200" cy="4572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23" name="Oval 9"/>
            <p:cNvSpPr/>
            <p:nvPr/>
          </p:nvSpPr>
          <p:spPr>
            <a:xfrm>
              <a:off x="4773600" y="228744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24" name="Line 10"/>
            <p:cNvSpPr/>
            <p:nvPr/>
          </p:nvSpPr>
          <p:spPr>
            <a:xfrm>
              <a:off x="4087800" y="2516040"/>
              <a:ext cx="6858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25" name="Line 11"/>
            <p:cNvSpPr/>
            <p:nvPr/>
          </p:nvSpPr>
          <p:spPr>
            <a:xfrm>
              <a:off x="5230800" y="2516040"/>
              <a:ext cx="6858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226" name="AutoShape 12"/>
            <p:cNvCxnSpPr>
              <a:stCxn id="220" idx="7"/>
              <a:endCxn id="220" idx="1"/>
            </p:cNvCxnSpPr>
            <p:nvPr/>
          </p:nvCxnSpPr>
          <p:spPr>
            <a:xfrm rot="5400000">
              <a:off x="3857760" y="2183400"/>
              <a:ext cx="2160" cy="324720"/>
            </a:xfrm>
            <a:prstGeom prst="curvedConnector5">
              <a:avLst>
                <a:gd name="adj1" fmla="val -21600000"/>
                <a:gd name="adj2" fmla="val 49944"/>
                <a:gd name="adj3" fmla="val -216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227" name="Text Box 13"/>
            <p:cNvSpPr/>
            <p:nvPr/>
          </p:nvSpPr>
          <p:spPr>
            <a:xfrm>
              <a:off x="4240080" y="2211480"/>
              <a:ext cx="3049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28" name="Text Box 14"/>
            <p:cNvSpPr/>
            <p:nvPr/>
          </p:nvSpPr>
          <p:spPr>
            <a:xfrm>
              <a:off x="4316400" y="3835440"/>
              <a:ext cx="3049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29" name="Text Box 15"/>
            <p:cNvSpPr/>
            <p:nvPr/>
          </p:nvSpPr>
          <p:spPr>
            <a:xfrm>
              <a:off x="5383080" y="2211480"/>
              <a:ext cx="3049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230" name="AutoShape 16"/>
            <p:cNvCxnSpPr>
              <a:stCxn id="219" idx="7"/>
              <a:endCxn id="219" idx="1"/>
            </p:cNvCxnSpPr>
            <p:nvPr/>
          </p:nvCxnSpPr>
          <p:spPr>
            <a:xfrm rot="5400000">
              <a:off x="2714760" y="2183400"/>
              <a:ext cx="2160" cy="324720"/>
            </a:xfrm>
            <a:prstGeom prst="curvedConnector5">
              <a:avLst>
                <a:gd name="adj1" fmla="val -21500000"/>
                <a:gd name="adj2" fmla="val 49944"/>
                <a:gd name="adj3" fmla="val -215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231" name="Text Box 17"/>
            <p:cNvSpPr/>
            <p:nvPr/>
          </p:nvSpPr>
          <p:spPr>
            <a:xfrm>
              <a:off x="2792520" y="1779480"/>
              <a:ext cx="3045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32" name="Text Box 18"/>
            <p:cNvSpPr/>
            <p:nvPr/>
          </p:nvSpPr>
          <p:spPr>
            <a:xfrm>
              <a:off x="3097080" y="2212920"/>
              <a:ext cx="3049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33" name="Text Box 19"/>
            <p:cNvSpPr/>
            <p:nvPr/>
          </p:nvSpPr>
          <p:spPr>
            <a:xfrm>
              <a:off x="4805280" y="2954160"/>
              <a:ext cx="3049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234" name="AutoShape 20"/>
            <p:cNvCxnSpPr>
              <a:stCxn id="222" idx="4"/>
              <a:endCxn id="219" idx="4"/>
            </p:cNvCxnSpPr>
            <p:nvPr/>
          </p:nvCxnSpPr>
          <p:spPr>
            <a:xfrm flipV="1" rot="16200000">
              <a:off x="4425480" y="1043640"/>
              <a:ext cx="13320" cy="3432960"/>
            </a:xfrm>
            <a:prstGeom prst="curvedConnector5">
              <a:avLst>
                <a:gd name="adj1" fmla="val -8350000"/>
                <a:gd name="adj2" fmla="val 49994"/>
                <a:gd name="adj3" fmla="val -835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235" name="AutoShape 21"/>
            <p:cNvCxnSpPr>
              <a:stCxn id="222" idx="3"/>
              <a:endCxn id="220" idx="4"/>
            </p:cNvCxnSpPr>
            <p:nvPr/>
          </p:nvCxnSpPr>
          <p:spPr>
            <a:xfrm rot="5400000">
              <a:off x="4894920" y="1663560"/>
              <a:ext cx="54720" cy="2127960"/>
            </a:xfrm>
            <a:prstGeom prst="curvedConnector5">
              <a:avLst>
                <a:gd name="adj1" fmla="val 1047019"/>
                <a:gd name="adj2" fmla="val 50000"/>
                <a:gd name="adj3" fmla="val 1047019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236" name="Text Box 22"/>
            <p:cNvSpPr/>
            <p:nvPr/>
          </p:nvSpPr>
          <p:spPr>
            <a:xfrm>
              <a:off x="3922560" y="1779480"/>
              <a:ext cx="3049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237" name="AutoShape 23"/>
            <p:cNvCxnSpPr>
              <a:stCxn id="223" idx="3"/>
              <a:endCxn id="220" idx="5"/>
            </p:cNvCxnSpPr>
            <p:nvPr/>
          </p:nvCxnSpPr>
          <p:spPr>
            <a:xfrm rot="5400000">
              <a:off x="4429080" y="2278800"/>
              <a:ext cx="2160" cy="819720"/>
            </a:xfrm>
            <a:prstGeom prst="curvedConnector5">
              <a:avLst>
                <a:gd name="adj1" fmla="val 18000000"/>
                <a:gd name="adj2" fmla="val 50000"/>
                <a:gd name="adj3" fmla="val 180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238" name="Text Box 24"/>
            <p:cNvSpPr/>
            <p:nvPr/>
          </p:nvSpPr>
          <p:spPr>
            <a:xfrm>
              <a:off x="4263840" y="2643120"/>
              <a:ext cx="3049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239" name="Text Box 40"/>
          <p:cNvSpPr/>
          <p:nvPr/>
        </p:nvSpPr>
        <p:spPr>
          <a:xfrm>
            <a:off x="5029200" y="6105600"/>
            <a:ext cx="3048120" cy="520920"/>
          </a:xfrm>
          <a:prstGeom prst="rect">
            <a:avLst/>
          </a:prstGeom>
          <a:solidFill>
            <a:srgbClr val="D9D9D9"/>
          </a:solidFill>
          <a:ln w="936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Nothing here that would change the O(1) cost per transition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  <p:timing>
    <p:tnLst>
      <p:par>
        <p:cTn id="18" dur="indefinite" restart="never" nodeType="tmRoot">
          <p:childTnLst>
            <p:seq>
              <p:cTn id="19" dur="indefinite" nodeType="mainSeq">
                <p:childTnLst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41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66AF855-8CC9-46EF-98F4-89F9283C04C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Non-deterministic Finite Automata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85800" y="1122480"/>
            <a:ext cx="7772400" cy="48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Here is a simpler RE for 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 </a:t>
            </a:r>
            <a:r>
              <a:rPr lang="en-US" sz="2000" b="0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| </a:t>
            </a:r>
            <a:r>
              <a:rPr lang="en-US" sz="2000" b="0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b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)</a:t>
            </a:r>
            <a:r>
              <a:rPr lang="en-US" sz="2000" b="0" u="none" strike="noStrike" baseline="30000">
                <a:solidFill>
                  <a:srgbClr val="FF0065"/>
                </a:solidFill>
                <a:effectLst/>
                <a:uFillTx/>
                <a:latin typeface="Comic Sans MS"/>
              </a:rPr>
              <a:t>*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abb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5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This recognizer is more intuitive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Structure seems to follow the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’s structure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This recognizer is not a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has a transition on </a:t>
            </a:r>
            <a:r>
              <a:rPr lang="en-US" sz="2400" b="0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00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has two transitions on </a:t>
            </a:r>
            <a:r>
              <a:rPr lang="en-US" sz="2000" b="0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This is a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non-deterministic finite automaton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(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244" name="Group 4"/>
          <p:cNvGrpSpPr/>
          <p:nvPr/>
        </p:nvGrpSpPr>
        <p:grpSpPr>
          <a:xfrm>
            <a:off x="1695600" y="1849320"/>
            <a:ext cx="5029200" cy="1000080"/>
            <a:chOff x="1695600" y="1849320"/>
            <a:chExt cx="5029200" cy="1000080"/>
          </a:xfrm>
        </p:grpSpPr>
        <p:sp>
          <p:nvSpPr>
            <p:cNvPr id="245" name="Text Box 5"/>
            <p:cNvSpPr/>
            <p:nvPr/>
          </p:nvSpPr>
          <p:spPr>
            <a:xfrm>
              <a:off x="3135240" y="1849320"/>
              <a:ext cx="60984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a</a:t>
              </a:r>
              <a:r>
                <a:rPr lang="en-US" sz="14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 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|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46" name="Oval 6"/>
            <p:cNvSpPr/>
            <p:nvPr/>
          </p:nvSpPr>
          <p:spPr>
            <a:xfrm>
              <a:off x="1695600" y="239220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47" name="Oval 7"/>
            <p:cNvSpPr/>
            <p:nvPr/>
          </p:nvSpPr>
          <p:spPr>
            <a:xfrm>
              <a:off x="2838600" y="239220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48" name="Line 8"/>
            <p:cNvSpPr/>
            <p:nvPr/>
          </p:nvSpPr>
          <p:spPr>
            <a:xfrm>
              <a:off x="2152800" y="2620800"/>
              <a:ext cx="6858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49" name="Oval 9"/>
            <p:cNvSpPr/>
            <p:nvPr/>
          </p:nvSpPr>
          <p:spPr>
            <a:xfrm>
              <a:off x="6267600" y="2392200"/>
              <a:ext cx="457200" cy="4572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50" name="Oval 10"/>
            <p:cNvSpPr/>
            <p:nvPr/>
          </p:nvSpPr>
          <p:spPr>
            <a:xfrm>
              <a:off x="3981600" y="239220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51" name="Oval 11"/>
            <p:cNvSpPr/>
            <p:nvPr/>
          </p:nvSpPr>
          <p:spPr>
            <a:xfrm>
              <a:off x="5124600" y="2392200"/>
              <a:ext cx="457200" cy="45720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52" name="Line 12"/>
            <p:cNvSpPr/>
            <p:nvPr/>
          </p:nvSpPr>
          <p:spPr>
            <a:xfrm>
              <a:off x="3295800" y="2620800"/>
              <a:ext cx="6858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53" name="Line 13"/>
            <p:cNvSpPr/>
            <p:nvPr/>
          </p:nvSpPr>
          <p:spPr>
            <a:xfrm>
              <a:off x="4438800" y="2620800"/>
              <a:ext cx="6858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54" name="Line 14"/>
            <p:cNvSpPr/>
            <p:nvPr/>
          </p:nvSpPr>
          <p:spPr>
            <a:xfrm>
              <a:off x="5581800" y="2620800"/>
              <a:ext cx="6858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255" name="AutoShape 15"/>
            <p:cNvCxnSpPr>
              <a:stCxn id="247" idx="7"/>
              <a:endCxn id="247" idx="1"/>
            </p:cNvCxnSpPr>
            <p:nvPr/>
          </p:nvCxnSpPr>
          <p:spPr>
            <a:xfrm rot="5400000">
              <a:off x="3065400" y="2288160"/>
              <a:ext cx="2160" cy="324360"/>
            </a:xfrm>
            <a:prstGeom prst="curvedConnector5">
              <a:avLst>
                <a:gd name="adj1" fmla="val -25100000"/>
                <a:gd name="adj2" fmla="val 50000"/>
                <a:gd name="adj3" fmla="val -251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256" name="Text Box 16"/>
            <p:cNvSpPr/>
            <p:nvPr/>
          </p:nvSpPr>
          <p:spPr>
            <a:xfrm>
              <a:off x="2381400" y="2284200"/>
              <a:ext cx="3045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FF0065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57" name="Text Box 17"/>
            <p:cNvSpPr/>
            <p:nvPr/>
          </p:nvSpPr>
          <p:spPr>
            <a:xfrm>
              <a:off x="3448080" y="2315880"/>
              <a:ext cx="3049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58" name="Text Box 18"/>
            <p:cNvSpPr/>
            <p:nvPr/>
          </p:nvSpPr>
          <p:spPr>
            <a:xfrm>
              <a:off x="5734080" y="2315880"/>
              <a:ext cx="3049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59" name="Text Box 19"/>
            <p:cNvSpPr/>
            <p:nvPr/>
          </p:nvSpPr>
          <p:spPr>
            <a:xfrm>
              <a:off x="4591080" y="2315880"/>
              <a:ext cx="3049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260" name="Text Box 40"/>
          <p:cNvSpPr/>
          <p:nvPr/>
        </p:nvSpPr>
        <p:spPr>
          <a:xfrm>
            <a:off x="4800600" y="6105600"/>
            <a:ext cx="3276720" cy="520920"/>
          </a:xfrm>
          <a:prstGeom prst="rect">
            <a:avLst/>
          </a:prstGeom>
          <a:solidFill>
            <a:srgbClr val="D9D9D9"/>
          </a:solidFill>
          <a:ln w="936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This NFA needs one more transition, at O(1) cost per transition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2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81339FA-0161-44DC-AD03-11CA758F3E5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Non-deterministic Finite Automata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685440" y="1082520"/>
            <a:ext cx="8001000" cy="50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accepts a string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iff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a path though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transition graph from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to a final state such that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the edge labels spell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ignoring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’s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Transitions on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consume no input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 “run” the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start in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and 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guess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the right transition at each step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224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Always guess correctly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224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If some sequence of correct guesses accepts x then accept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7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Why study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s?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They are the key to automating the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construction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We can paste together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 with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-transitions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265" name="Group 4"/>
          <p:cNvGrpSpPr/>
          <p:nvPr/>
        </p:nvGrpSpPr>
        <p:grpSpPr>
          <a:xfrm>
            <a:off x="2259000" y="5575320"/>
            <a:ext cx="4572000" cy="590400"/>
            <a:chOff x="2259000" y="5575320"/>
            <a:chExt cx="4572000" cy="590400"/>
          </a:xfrm>
        </p:grpSpPr>
        <p:grpSp>
          <p:nvGrpSpPr>
            <p:cNvPr id="266" name="Group 5"/>
            <p:cNvGrpSpPr/>
            <p:nvPr/>
          </p:nvGrpSpPr>
          <p:grpSpPr>
            <a:xfrm>
              <a:off x="2259000" y="5632200"/>
              <a:ext cx="2209680" cy="533160"/>
              <a:chOff x="2259000" y="5632200"/>
              <a:chExt cx="2209680" cy="533160"/>
            </a:xfrm>
          </p:grpSpPr>
          <p:sp>
            <p:nvSpPr>
              <p:cNvPr id="267" name="Oval 6"/>
              <p:cNvSpPr/>
              <p:nvPr/>
            </p:nvSpPr>
            <p:spPr>
              <a:xfrm>
                <a:off x="2259000" y="5632200"/>
                <a:ext cx="914400" cy="533160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NFA</a:t>
                </a:r>
                <a:endParaRPr lang="it-IT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268" name="Line 7"/>
              <p:cNvSpPr/>
              <p:nvPr/>
            </p:nvSpPr>
            <p:spPr>
              <a:xfrm>
                <a:off x="3173400" y="5898960"/>
                <a:ext cx="3808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ctr">
                <a:noAutofit/>
              </a:bodyPr>
              <a:p>
                <a:endParaRPr lang="it-IT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269" name="Oval 8"/>
              <p:cNvSpPr/>
              <p:nvPr/>
            </p:nvSpPr>
            <p:spPr>
              <a:xfrm>
                <a:off x="3554280" y="5632200"/>
                <a:ext cx="914400" cy="533160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NFA</a:t>
                </a:r>
                <a:endParaRPr lang="it-IT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</p:grpSp>
        <p:sp>
          <p:nvSpPr>
            <p:cNvPr id="270" name="Text Box 9"/>
            <p:cNvSpPr/>
            <p:nvPr/>
          </p:nvSpPr>
          <p:spPr>
            <a:xfrm>
              <a:off x="4468680" y="5730840"/>
              <a:ext cx="1447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becomes an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71" name="Oval 10"/>
            <p:cNvSpPr/>
            <p:nvPr/>
          </p:nvSpPr>
          <p:spPr>
            <a:xfrm>
              <a:off x="5916600" y="5632200"/>
              <a:ext cx="914400" cy="533520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72" name="Text Box 11"/>
            <p:cNvSpPr/>
            <p:nvPr/>
          </p:nvSpPr>
          <p:spPr>
            <a:xfrm>
              <a:off x="3216240" y="5575320"/>
              <a:ext cx="2286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25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74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D253836-0267-4019-80A6-2909E014914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Relationship between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is a special case of an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has no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transitions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’s transition function is single-valued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Same rules will work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2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can be simulated with an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Obviously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can be simulated with a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                        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less obvious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Simulate sets of possible states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Possible exponential blowup in the state space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Still, one state per character in the input stream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77" name="TextBox 5"/>
          <p:cNvSpPr/>
          <p:nvPr/>
        </p:nvSpPr>
        <p:spPr>
          <a:xfrm>
            <a:off x="6019920" y="6248520"/>
            <a:ext cx="1981080" cy="307440"/>
          </a:xfrm>
          <a:prstGeom prst="rect">
            <a:avLst/>
          </a:prstGeom>
          <a:solidFill>
            <a:srgbClr val="BFBFBF"/>
          </a:solidFill>
          <a:ln w="936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Rabin &amp; Scott, 1959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Octagon 6"/>
          <p:cNvSpPr/>
          <p:nvPr/>
        </p:nvSpPr>
        <p:spPr>
          <a:xfrm>
            <a:off x="7983360" y="6095880"/>
            <a:ext cx="609840" cy="60984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79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80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8B37D02-DEEB-47E4-A333-0A310683F96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Automating Scanner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 convert a specification into code: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Comic Sans MS"/>
              <a:buChar char="1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Write down the RE for the input language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Comic Sans MS"/>
              <a:buChar char="2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a big NFA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Comic Sans MS"/>
              <a:buChar char="3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the DFA that simulates the NFA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Comic Sans MS"/>
              <a:buChar char="4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Systematically shrink the DFA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Comic Sans MS"/>
              <a:buChar char="5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Turn it into code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Scanner generators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Lex and Flex work along these lines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Algorithms are well-known and well-understood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Key issue is interface to parser       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define all parts of speech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You could build one in a weekend!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83" name="Regular Pentagon 5"/>
          <p:cNvSpPr/>
          <p:nvPr/>
        </p:nvSpPr>
        <p:spPr>
          <a:xfrm>
            <a:off x="-380880" y="1752480"/>
            <a:ext cx="75960" cy="76320"/>
          </a:xfrm>
          <a:prstGeom prst="pentagon">
            <a:avLst/>
          </a:prstGeom>
          <a:solidFill>
            <a:srgbClr val="BBE0E3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1520" rIns="90000" bIns="1152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85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558231F-ADFD-410C-A66F-BFB6EB06E1B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Where are we?  Why are we doing this?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RE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Thompson’s construction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 </a:t>
            </a: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</a:t>
            </a:r>
            <a:r>
              <a:rPr lang="en-US" sz="2400" b="0" u="none" strike="noStrike">
                <a:solidFill>
                  <a:srgbClr val="ED181E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an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for each term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Combine them with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-moves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22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Subset construction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</a:t>
            </a: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</a:t>
            </a:r>
            <a:r>
              <a:rPr lang="en-US" sz="2400" b="0" u="none" strike="noStrike">
                <a:solidFill>
                  <a:srgbClr val="ED181E"/>
                </a:solidFill>
                <a:effectLst/>
                <a:uFillTx/>
                <a:latin typeface="Comic Sans MS"/>
              </a:rPr>
              <a:t> 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the simulation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22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Minimal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DFA</a:t>
            </a:r>
            <a:r>
              <a:rPr lang="en-US" sz="1800" b="0" u="none" strike="noStrike">
                <a:solidFill>
                  <a:srgbClr val="1822CD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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Hopcroft’s algorithm                        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1687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RE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All pairs, all paths problem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Union together paths from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 a final state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ctr">
              <a:lnSpc>
                <a:spcPct val="90000"/>
              </a:lnSpc>
              <a:spcBef>
                <a:spcPts val="187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88" name="Text Box 4"/>
          <p:cNvSpPr/>
          <p:nvPr/>
        </p:nvSpPr>
        <p:spPr>
          <a:xfrm>
            <a:off x="98280" y="403056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289" name="Group 22"/>
          <p:cNvGrpSpPr/>
          <p:nvPr/>
        </p:nvGrpSpPr>
        <p:grpSpPr>
          <a:xfrm>
            <a:off x="4343400" y="2971800"/>
            <a:ext cx="4343400" cy="1676520"/>
            <a:chOff x="4343400" y="2971800"/>
            <a:chExt cx="4343400" cy="1676520"/>
          </a:xfrm>
        </p:grpSpPr>
        <p:sp>
          <p:nvSpPr>
            <p:cNvPr id="290" name="Text Box 6"/>
            <p:cNvSpPr/>
            <p:nvPr/>
          </p:nvSpPr>
          <p:spPr>
            <a:xfrm>
              <a:off x="7031160" y="3957840"/>
              <a:ext cx="990360" cy="60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2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minimal </a:t>
              </a: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91" name="Text Box 7"/>
            <p:cNvSpPr/>
            <p:nvPr/>
          </p:nvSpPr>
          <p:spPr>
            <a:xfrm>
              <a:off x="5049720" y="4122720"/>
              <a:ext cx="533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RE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92" name="Text Box 8"/>
            <p:cNvSpPr/>
            <p:nvPr/>
          </p:nvSpPr>
          <p:spPr>
            <a:xfrm>
              <a:off x="5659560" y="412272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93" name="Text Box 9"/>
            <p:cNvSpPr/>
            <p:nvPr/>
          </p:nvSpPr>
          <p:spPr>
            <a:xfrm>
              <a:off x="6421320" y="412272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94" name="Line 10"/>
            <p:cNvSpPr/>
            <p:nvPr/>
          </p:nvSpPr>
          <p:spPr>
            <a:xfrm>
              <a:off x="5430960" y="4275360"/>
              <a:ext cx="304560" cy="0"/>
            </a:xfrm>
            <a:prstGeom prst="line">
              <a:avLst/>
            </a:prstGeom>
            <a:ln w="9360">
              <a:solidFill>
                <a:srgbClr val="003C7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95" name="Line 11"/>
            <p:cNvSpPr/>
            <p:nvPr/>
          </p:nvSpPr>
          <p:spPr>
            <a:xfrm>
              <a:off x="6192720" y="4275360"/>
              <a:ext cx="304920" cy="0"/>
            </a:xfrm>
            <a:prstGeom prst="line">
              <a:avLst/>
            </a:prstGeom>
            <a:ln w="9360">
              <a:solidFill>
                <a:srgbClr val="003C7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96" name="Line 12"/>
            <p:cNvSpPr/>
            <p:nvPr/>
          </p:nvSpPr>
          <p:spPr>
            <a:xfrm>
              <a:off x="6954840" y="4275360"/>
              <a:ext cx="304920" cy="0"/>
            </a:xfrm>
            <a:prstGeom prst="line">
              <a:avLst/>
            </a:prstGeom>
            <a:ln w="9360">
              <a:solidFill>
                <a:srgbClr val="003C7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97" name="Line 13"/>
            <p:cNvSpPr/>
            <p:nvPr/>
          </p:nvSpPr>
          <p:spPr>
            <a:xfrm>
              <a:off x="7716960" y="4278600"/>
              <a:ext cx="30456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98" name="Arc 14"/>
            <p:cNvSpPr/>
            <p:nvPr/>
          </p:nvSpPr>
          <p:spPr>
            <a:xfrm>
              <a:off x="7945560" y="3516480"/>
              <a:ext cx="457200" cy="3826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99" name="Arc 15"/>
            <p:cNvSpPr/>
            <p:nvPr/>
          </p:nvSpPr>
          <p:spPr>
            <a:xfrm flipV="1">
              <a:off x="7945560" y="3896640"/>
              <a:ext cx="457200" cy="38124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-360 h 381240"/>
                <a:gd name="textAreaBottom" fmla="*/ 381240 h 38124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00" name="Arc 16"/>
            <p:cNvSpPr/>
            <p:nvPr/>
          </p:nvSpPr>
          <p:spPr>
            <a:xfrm flipH="1">
              <a:off x="4627440" y="3524400"/>
              <a:ext cx="457200" cy="3826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01" name="Arc 17"/>
            <p:cNvSpPr/>
            <p:nvPr/>
          </p:nvSpPr>
          <p:spPr>
            <a:xfrm flipH="1" flipV="1">
              <a:off x="4627440" y="3904560"/>
              <a:ext cx="457200" cy="38124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-360 h 381240"/>
                <a:gd name="textAreaBottom" fmla="*/ 381240 h 38124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02" name="Line 18"/>
            <p:cNvSpPr/>
            <p:nvPr/>
          </p:nvSpPr>
          <p:spPr>
            <a:xfrm>
              <a:off x="5049720" y="3516480"/>
              <a:ext cx="2895840" cy="0"/>
            </a:xfrm>
            <a:prstGeom prst="line">
              <a:avLst/>
            </a:prstGeom>
            <a:ln w="9360">
              <a:solidFill>
                <a:srgbClr val="003C7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03" name="Line 19"/>
            <p:cNvSpPr/>
            <p:nvPr/>
          </p:nvSpPr>
          <p:spPr>
            <a:xfrm>
              <a:off x="4973760" y="4278600"/>
              <a:ext cx="15228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04" name="Text Box 20"/>
            <p:cNvSpPr/>
            <p:nvPr/>
          </p:nvSpPr>
          <p:spPr>
            <a:xfrm>
              <a:off x="5067360" y="3059280"/>
              <a:ext cx="2895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sng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The Cycle of Constructions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05" name="Rectangle 21"/>
            <p:cNvSpPr/>
            <p:nvPr/>
          </p:nvSpPr>
          <p:spPr>
            <a:xfrm>
              <a:off x="4343400" y="2971800"/>
              <a:ext cx="4343400" cy="1676520"/>
            </a:xfrm>
            <a:prstGeom prst="rect">
              <a:avLst/>
            </a:prstGeom>
            <a:noFill/>
            <a:ln w="9360">
              <a:solidFill>
                <a:srgbClr val="003C75"/>
              </a:solidFill>
              <a:prstDash val="dash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07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3172455-2182-432C-AA4C-ED0A324A4F3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using Thompson’s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Key idea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pattern for each symbol &amp; each operator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Join them with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moves in precedence order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310" name="Group 4"/>
          <p:cNvGrpSpPr/>
          <p:nvPr/>
        </p:nvGrpSpPr>
        <p:grpSpPr>
          <a:xfrm>
            <a:off x="1600200" y="2590920"/>
            <a:ext cx="1402920" cy="855000"/>
            <a:chOff x="1600200" y="2590920"/>
            <a:chExt cx="1402920" cy="855000"/>
          </a:xfrm>
        </p:grpSpPr>
        <p:grpSp>
          <p:nvGrpSpPr>
            <p:cNvPr id="311" name="Group 5"/>
            <p:cNvGrpSpPr/>
            <p:nvPr/>
          </p:nvGrpSpPr>
          <p:grpSpPr>
            <a:xfrm>
              <a:off x="1600200" y="2590920"/>
              <a:ext cx="1402920" cy="478800"/>
              <a:chOff x="1600200" y="2590920"/>
              <a:chExt cx="1402920" cy="478800"/>
            </a:xfrm>
          </p:grpSpPr>
          <p:sp>
            <p:nvSpPr>
              <p:cNvPr id="312" name="Oval 6"/>
              <p:cNvSpPr/>
              <p:nvPr/>
            </p:nvSpPr>
            <p:spPr>
              <a:xfrm>
                <a:off x="1600200" y="2659320"/>
                <a:ext cx="400680" cy="41040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i="1" u="none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S</a:t>
                </a:r>
                <a:r>
                  <a:rPr lang="en-US" sz="1400" b="0" i="1" u="none" strike="noStrike" baseline="-25000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0 </a:t>
                </a:r>
                <a:endParaRPr lang="it-IT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313" name="Oval 7"/>
              <p:cNvSpPr/>
              <p:nvPr/>
            </p:nvSpPr>
            <p:spPr>
              <a:xfrm>
                <a:off x="2602440" y="2659320"/>
                <a:ext cx="400680" cy="410400"/>
              </a:xfrm>
              <a:prstGeom prst="ellipse">
                <a:avLst/>
              </a:prstGeom>
              <a:noFill/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i="1" u="none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S</a:t>
                </a:r>
                <a:r>
                  <a:rPr lang="en-US" sz="1400" b="0" i="1" u="none" strike="noStrike" baseline="-25000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1 </a:t>
                </a:r>
                <a:endParaRPr lang="it-IT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314" name="Line 8"/>
              <p:cNvSpPr/>
              <p:nvPr/>
            </p:nvSpPr>
            <p:spPr>
              <a:xfrm>
                <a:off x="2000880" y="2864520"/>
                <a:ext cx="6012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ctr">
                <a:noAutofit/>
              </a:bodyPr>
              <a:p>
                <a:endParaRPr lang="it-IT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315" name="Text Box 9"/>
              <p:cNvSpPr/>
              <p:nvPr/>
            </p:nvSpPr>
            <p:spPr>
              <a:xfrm>
                <a:off x="2136240" y="2590920"/>
                <a:ext cx="265680" cy="30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876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u="sng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a</a:t>
                </a:r>
                <a:endParaRPr lang="it-IT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</p:grpSp>
        <p:sp>
          <p:nvSpPr>
            <p:cNvPr id="316" name="Text Box 10"/>
            <p:cNvSpPr/>
            <p:nvPr/>
          </p:nvSpPr>
          <p:spPr>
            <a:xfrm>
              <a:off x="1830240" y="3138480"/>
              <a:ext cx="94464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NFA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 for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317" name="Group 11"/>
          <p:cNvGrpSpPr/>
          <p:nvPr/>
        </p:nvGrpSpPr>
        <p:grpSpPr>
          <a:xfrm>
            <a:off x="4343400" y="2514600"/>
            <a:ext cx="3290040" cy="855720"/>
            <a:chOff x="4343400" y="2514600"/>
            <a:chExt cx="3290040" cy="855720"/>
          </a:xfrm>
        </p:grpSpPr>
        <p:sp>
          <p:nvSpPr>
            <p:cNvPr id="318" name="Oval 12"/>
            <p:cNvSpPr/>
            <p:nvPr/>
          </p:nvSpPr>
          <p:spPr>
            <a:xfrm>
              <a:off x="4343400" y="2582640"/>
              <a:ext cx="41112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19" name="Oval 13"/>
            <p:cNvSpPr/>
            <p:nvPr/>
          </p:nvSpPr>
          <p:spPr>
            <a:xfrm>
              <a:off x="5371560" y="2582640"/>
              <a:ext cx="41112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20" name="Line 14"/>
            <p:cNvSpPr/>
            <p:nvPr/>
          </p:nvSpPr>
          <p:spPr>
            <a:xfrm>
              <a:off x="4754520" y="2788560"/>
              <a:ext cx="6166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21" name="Text Box 15"/>
            <p:cNvSpPr/>
            <p:nvPr/>
          </p:nvSpPr>
          <p:spPr>
            <a:xfrm>
              <a:off x="4893120" y="2514600"/>
              <a:ext cx="272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grpSp>
          <p:nvGrpSpPr>
            <p:cNvPr id="322" name="Group 16"/>
            <p:cNvGrpSpPr/>
            <p:nvPr/>
          </p:nvGrpSpPr>
          <p:grpSpPr>
            <a:xfrm>
              <a:off x="6194160" y="2514600"/>
              <a:ext cx="1439280" cy="479160"/>
              <a:chOff x="6194160" y="2514600"/>
              <a:chExt cx="1439280" cy="479160"/>
            </a:xfrm>
          </p:grpSpPr>
          <p:sp>
            <p:nvSpPr>
              <p:cNvPr id="323" name="Oval 17"/>
              <p:cNvSpPr/>
              <p:nvPr/>
            </p:nvSpPr>
            <p:spPr>
              <a:xfrm>
                <a:off x="6194160" y="2583000"/>
                <a:ext cx="411120" cy="410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i="1" u="none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S</a:t>
                </a:r>
                <a:r>
                  <a:rPr lang="en-US" sz="1400" b="0" i="1" u="none" strike="noStrike" baseline="-25000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3 </a:t>
                </a:r>
                <a:endParaRPr lang="it-IT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324" name="Oval 18"/>
              <p:cNvSpPr/>
              <p:nvPr/>
            </p:nvSpPr>
            <p:spPr>
              <a:xfrm>
                <a:off x="7222320" y="2583000"/>
                <a:ext cx="411120" cy="410760"/>
              </a:xfrm>
              <a:prstGeom prst="ellipse">
                <a:avLst/>
              </a:prstGeom>
              <a:noFill/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i="1" u="none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S</a:t>
                </a:r>
                <a:r>
                  <a:rPr lang="en-US" sz="1400" b="0" i="1" u="none" strike="noStrike" baseline="-25000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4 </a:t>
                </a:r>
                <a:endParaRPr lang="it-IT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325" name="Line 19"/>
              <p:cNvSpPr/>
              <p:nvPr/>
            </p:nvSpPr>
            <p:spPr>
              <a:xfrm>
                <a:off x="6605280" y="2788560"/>
                <a:ext cx="6166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ctr">
                <a:noAutofit/>
              </a:bodyPr>
              <a:p>
                <a:endParaRPr lang="it-IT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326" name="Text Box 20"/>
              <p:cNvSpPr/>
              <p:nvPr/>
            </p:nvSpPr>
            <p:spPr>
              <a:xfrm>
                <a:off x="6742800" y="2514600"/>
                <a:ext cx="273960" cy="30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876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u="sng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b</a:t>
                </a:r>
                <a:endParaRPr lang="it-IT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</p:grpSp>
        <p:sp>
          <p:nvSpPr>
            <p:cNvPr id="327" name="Text Box 21"/>
            <p:cNvSpPr/>
            <p:nvPr/>
          </p:nvSpPr>
          <p:spPr>
            <a:xfrm>
              <a:off x="5405760" y="3062880"/>
              <a:ext cx="1165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NFA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 for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28" name="Line 22"/>
            <p:cNvSpPr/>
            <p:nvPr/>
          </p:nvSpPr>
          <p:spPr>
            <a:xfrm>
              <a:off x="5783040" y="2788560"/>
              <a:ext cx="411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29" name="Text Box 23"/>
            <p:cNvSpPr/>
            <p:nvPr/>
          </p:nvSpPr>
          <p:spPr>
            <a:xfrm>
              <a:off x="5875920" y="2530080"/>
              <a:ext cx="2739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330" name="Group 24"/>
          <p:cNvGrpSpPr/>
          <p:nvPr/>
        </p:nvGrpSpPr>
        <p:grpSpPr>
          <a:xfrm>
            <a:off x="838080" y="3809880"/>
            <a:ext cx="2841840" cy="1816200"/>
            <a:chOff x="838080" y="3809880"/>
            <a:chExt cx="2841840" cy="1816200"/>
          </a:xfrm>
        </p:grpSpPr>
        <p:sp>
          <p:nvSpPr>
            <p:cNvPr id="331" name="Text Box 25"/>
            <p:cNvSpPr/>
            <p:nvPr/>
          </p:nvSpPr>
          <p:spPr>
            <a:xfrm>
              <a:off x="1592280" y="5318640"/>
              <a:ext cx="130284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NFA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 for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 |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32" name="Oval 26"/>
            <p:cNvSpPr/>
            <p:nvPr/>
          </p:nvSpPr>
          <p:spPr>
            <a:xfrm>
              <a:off x="838080" y="4256640"/>
              <a:ext cx="41148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33" name="Oval 27"/>
            <p:cNvSpPr/>
            <p:nvPr/>
          </p:nvSpPr>
          <p:spPr>
            <a:xfrm>
              <a:off x="1523880" y="3878280"/>
              <a:ext cx="41148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34" name="Oval 28"/>
            <p:cNvSpPr/>
            <p:nvPr/>
          </p:nvSpPr>
          <p:spPr>
            <a:xfrm>
              <a:off x="2552400" y="3878280"/>
              <a:ext cx="41148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35" name="Line 29"/>
            <p:cNvSpPr/>
            <p:nvPr/>
          </p:nvSpPr>
          <p:spPr>
            <a:xfrm>
              <a:off x="1935360" y="4084200"/>
              <a:ext cx="61704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36" name="Text Box 30"/>
            <p:cNvSpPr/>
            <p:nvPr/>
          </p:nvSpPr>
          <p:spPr>
            <a:xfrm>
              <a:off x="2072520" y="3809880"/>
              <a:ext cx="274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37" name="Oval 31"/>
            <p:cNvSpPr/>
            <p:nvPr/>
          </p:nvSpPr>
          <p:spPr>
            <a:xfrm>
              <a:off x="1523880" y="4701240"/>
              <a:ext cx="41148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38" name="Oval 32"/>
            <p:cNvSpPr/>
            <p:nvPr/>
          </p:nvSpPr>
          <p:spPr>
            <a:xfrm>
              <a:off x="2552400" y="4701240"/>
              <a:ext cx="41148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39" name="Line 33"/>
            <p:cNvSpPr/>
            <p:nvPr/>
          </p:nvSpPr>
          <p:spPr>
            <a:xfrm>
              <a:off x="1935360" y="4907160"/>
              <a:ext cx="61704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40" name="Text Box 34"/>
            <p:cNvSpPr/>
            <p:nvPr/>
          </p:nvSpPr>
          <p:spPr>
            <a:xfrm>
              <a:off x="2072520" y="4632480"/>
              <a:ext cx="274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41" name="Oval 35"/>
            <p:cNvSpPr/>
            <p:nvPr/>
          </p:nvSpPr>
          <p:spPr>
            <a:xfrm>
              <a:off x="3268440" y="4256640"/>
              <a:ext cx="411480" cy="4111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42" name="Line 36"/>
            <p:cNvSpPr/>
            <p:nvPr/>
          </p:nvSpPr>
          <p:spPr>
            <a:xfrm flipV="1">
              <a:off x="1226520" y="4166640"/>
              <a:ext cx="311400" cy="184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43" name="Line 37"/>
            <p:cNvSpPr/>
            <p:nvPr/>
          </p:nvSpPr>
          <p:spPr>
            <a:xfrm>
              <a:off x="1233360" y="4548240"/>
              <a:ext cx="320040" cy="2595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44" name="Line 38"/>
            <p:cNvSpPr/>
            <p:nvPr/>
          </p:nvSpPr>
          <p:spPr>
            <a:xfrm>
              <a:off x="2963880" y="4152600"/>
              <a:ext cx="342720" cy="2055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45" name="Line 39"/>
            <p:cNvSpPr/>
            <p:nvPr/>
          </p:nvSpPr>
          <p:spPr>
            <a:xfrm flipV="1">
              <a:off x="2934000" y="4549680"/>
              <a:ext cx="365760" cy="251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46" name="Text Box 40"/>
            <p:cNvSpPr/>
            <p:nvPr/>
          </p:nvSpPr>
          <p:spPr>
            <a:xfrm>
              <a:off x="1180800" y="4015440"/>
              <a:ext cx="2430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47" name="Text Box 41"/>
            <p:cNvSpPr/>
            <p:nvPr/>
          </p:nvSpPr>
          <p:spPr>
            <a:xfrm>
              <a:off x="1180800" y="4632480"/>
              <a:ext cx="2430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48" name="Text Box 42"/>
            <p:cNvSpPr/>
            <p:nvPr/>
          </p:nvSpPr>
          <p:spPr>
            <a:xfrm>
              <a:off x="3032280" y="4632480"/>
              <a:ext cx="2430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49" name="Text Box 43"/>
            <p:cNvSpPr/>
            <p:nvPr/>
          </p:nvSpPr>
          <p:spPr>
            <a:xfrm>
              <a:off x="3032280" y="4015440"/>
              <a:ext cx="2430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350" name="Group 44"/>
          <p:cNvGrpSpPr/>
          <p:nvPr/>
        </p:nvGrpSpPr>
        <p:grpSpPr>
          <a:xfrm>
            <a:off x="4602240" y="3830760"/>
            <a:ext cx="2879640" cy="1518480"/>
            <a:chOff x="4602240" y="3830760"/>
            <a:chExt cx="2879640" cy="1518480"/>
          </a:xfrm>
        </p:grpSpPr>
        <p:sp>
          <p:nvSpPr>
            <p:cNvPr id="351" name="Oval 45"/>
            <p:cNvSpPr/>
            <p:nvPr/>
          </p:nvSpPr>
          <p:spPr>
            <a:xfrm>
              <a:off x="4602240" y="4287960"/>
              <a:ext cx="41112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52" name="Oval 46"/>
            <p:cNvSpPr/>
            <p:nvPr/>
          </p:nvSpPr>
          <p:spPr>
            <a:xfrm>
              <a:off x="5424480" y="4287960"/>
              <a:ext cx="41112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53" name="Line 47"/>
            <p:cNvSpPr/>
            <p:nvPr/>
          </p:nvSpPr>
          <p:spPr>
            <a:xfrm>
              <a:off x="5013360" y="4494240"/>
              <a:ext cx="411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54" name="Text Box 48"/>
            <p:cNvSpPr/>
            <p:nvPr/>
          </p:nvSpPr>
          <p:spPr>
            <a:xfrm>
              <a:off x="5081760" y="4219560"/>
              <a:ext cx="274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55" name="Oval 49"/>
            <p:cNvSpPr/>
            <p:nvPr/>
          </p:nvSpPr>
          <p:spPr>
            <a:xfrm>
              <a:off x="6248520" y="4287960"/>
              <a:ext cx="41112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56" name="Oval 50"/>
            <p:cNvSpPr/>
            <p:nvPr/>
          </p:nvSpPr>
          <p:spPr>
            <a:xfrm>
              <a:off x="7070760" y="4287960"/>
              <a:ext cx="411120" cy="4111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57" name="Line 51"/>
            <p:cNvSpPr/>
            <p:nvPr/>
          </p:nvSpPr>
          <p:spPr>
            <a:xfrm>
              <a:off x="6665760" y="449424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58" name="Text Box 52"/>
            <p:cNvSpPr/>
            <p:nvPr/>
          </p:nvSpPr>
          <p:spPr>
            <a:xfrm>
              <a:off x="6727680" y="4219560"/>
              <a:ext cx="2746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59" name="Text Box 53"/>
            <p:cNvSpPr/>
            <p:nvPr/>
          </p:nvSpPr>
          <p:spPr>
            <a:xfrm>
              <a:off x="5424480" y="5041800"/>
              <a:ext cx="1166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NFA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 for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r>
                <a:rPr lang="en-US" sz="1400" b="0" u="none" strike="noStrike" baseline="30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*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60" name="Line 54"/>
            <p:cNvSpPr/>
            <p:nvPr/>
          </p:nvSpPr>
          <p:spPr>
            <a:xfrm>
              <a:off x="5835600" y="4494240"/>
              <a:ext cx="412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61" name="Text Box 55"/>
            <p:cNvSpPr/>
            <p:nvPr/>
          </p:nvSpPr>
          <p:spPr>
            <a:xfrm>
              <a:off x="5905440" y="4233960"/>
              <a:ext cx="27324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362" name="AutoShape 56"/>
            <p:cNvCxnSpPr>
              <a:stCxn id="355" idx="0"/>
              <a:endCxn id="352" idx="0"/>
            </p:cNvCxnSpPr>
            <p:nvPr/>
          </p:nvCxnSpPr>
          <p:spPr>
            <a:xfrm rot="5400000">
              <a:off x="6040440" y="3869280"/>
              <a:ext cx="2160" cy="823320"/>
            </a:xfrm>
            <a:prstGeom prst="curvedConnector5">
              <a:avLst>
                <a:gd name="adj1" fmla="val -13800000"/>
                <a:gd name="adj2" fmla="val 50000"/>
                <a:gd name="adj3" fmla="val -13800000"/>
              </a:avLst>
            </a:prstGeom>
            <a:ln w="1260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363" name="AutoShape 57"/>
            <p:cNvCxnSpPr>
              <a:stCxn id="356" idx="3"/>
              <a:endCxn id="351" idx="5"/>
            </p:cNvCxnSpPr>
            <p:nvPr/>
          </p:nvCxnSpPr>
          <p:spPr>
            <a:xfrm flipV="1" rot="16200000">
              <a:off x="6037560" y="3562560"/>
              <a:ext cx="8640" cy="2178720"/>
            </a:xfrm>
            <a:prstGeom prst="curvedConnector5">
              <a:avLst>
                <a:gd name="adj1" fmla="val -2900000"/>
                <a:gd name="adj2" fmla="val 49991"/>
                <a:gd name="adj3" fmla="val -2900000"/>
              </a:avLst>
            </a:prstGeom>
            <a:ln w="12600">
              <a:solidFill>
                <a:srgbClr val="000000"/>
              </a:solidFill>
              <a:miter/>
              <a:headEnd len="med" type="triangle" w="med"/>
            </a:ln>
          </p:spPr>
        </p:cxnSp>
        <p:sp>
          <p:nvSpPr>
            <p:cNvPr id="364" name="Text Box 58"/>
            <p:cNvSpPr/>
            <p:nvPr/>
          </p:nvSpPr>
          <p:spPr>
            <a:xfrm>
              <a:off x="5905440" y="3830760"/>
              <a:ext cx="27324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65" name="Text Box 59"/>
            <p:cNvSpPr/>
            <p:nvPr/>
          </p:nvSpPr>
          <p:spPr>
            <a:xfrm>
              <a:off x="5905440" y="4630680"/>
              <a:ext cx="27324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366" name="Text Box 60"/>
          <p:cNvSpPr/>
          <p:nvPr/>
        </p:nvSpPr>
        <p:spPr>
          <a:xfrm>
            <a:off x="4876920" y="5715000"/>
            <a:ext cx="2514600" cy="307440"/>
          </a:xfrm>
          <a:prstGeom prst="rect">
            <a:avLst/>
          </a:prstGeom>
          <a:solidFill>
            <a:srgbClr val="D9D9D9"/>
          </a:solidFill>
          <a:ln w="1908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Ken Thompson, CACM, 1968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68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6E3FCD0-4C22-418D-B364-E82A509D892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Example of Thompson’s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6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Let’s try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)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1. 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&amp;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6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2. 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8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3. 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)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371" name="Group 4"/>
          <p:cNvGrpSpPr/>
          <p:nvPr/>
        </p:nvGrpSpPr>
        <p:grpSpPr>
          <a:xfrm>
            <a:off x="2503440" y="1608120"/>
            <a:ext cx="1258920" cy="476280"/>
            <a:chOff x="2503440" y="1608120"/>
            <a:chExt cx="1258920" cy="476280"/>
          </a:xfrm>
        </p:grpSpPr>
        <p:sp>
          <p:nvSpPr>
            <p:cNvPr id="372" name="Oval 5"/>
            <p:cNvSpPr/>
            <p:nvPr/>
          </p:nvSpPr>
          <p:spPr>
            <a:xfrm>
              <a:off x="2503440" y="167328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73" name="Oval 6"/>
            <p:cNvSpPr/>
            <p:nvPr/>
          </p:nvSpPr>
          <p:spPr>
            <a:xfrm>
              <a:off x="3360600" y="1671480"/>
              <a:ext cx="401760" cy="41148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74" name="Line 7"/>
            <p:cNvSpPr/>
            <p:nvPr/>
          </p:nvSpPr>
          <p:spPr>
            <a:xfrm>
              <a:off x="2905200" y="1878120"/>
              <a:ext cx="439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75" name="Text Box 8"/>
            <p:cNvSpPr/>
            <p:nvPr/>
          </p:nvSpPr>
          <p:spPr>
            <a:xfrm>
              <a:off x="2992320" y="1608120"/>
              <a:ext cx="265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376" name="Group 9"/>
          <p:cNvGrpSpPr/>
          <p:nvPr/>
        </p:nvGrpSpPr>
        <p:grpSpPr>
          <a:xfrm>
            <a:off x="3943440" y="1612800"/>
            <a:ext cx="1258920" cy="476280"/>
            <a:chOff x="3943440" y="1612800"/>
            <a:chExt cx="1258920" cy="476280"/>
          </a:xfrm>
        </p:grpSpPr>
        <p:sp>
          <p:nvSpPr>
            <p:cNvPr id="377" name="Oval 10"/>
            <p:cNvSpPr/>
            <p:nvPr/>
          </p:nvSpPr>
          <p:spPr>
            <a:xfrm>
              <a:off x="3943440" y="1677960"/>
              <a:ext cx="40140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78" name="Oval 11"/>
            <p:cNvSpPr/>
            <p:nvPr/>
          </p:nvSpPr>
          <p:spPr>
            <a:xfrm>
              <a:off x="4800600" y="1676520"/>
              <a:ext cx="401760" cy="4111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79" name="Line 12"/>
            <p:cNvSpPr/>
            <p:nvPr/>
          </p:nvSpPr>
          <p:spPr>
            <a:xfrm>
              <a:off x="4344840" y="1882800"/>
              <a:ext cx="439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80" name="Text Box 13"/>
            <p:cNvSpPr/>
            <p:nvPr/>
          </p:nvSpPr>
          <p:spPr>
            <a:xfrm>
              <a:off x="4432320" y="1612800"/>
              <a:ext cx="264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381" name="Group 14"/>
          <p:cNvGrpSpPr/>
          <p:nvPr/>
        </p:nvGrpSpPr>
        <p:grpSpPr>
          <a:xfrm>
            <a:off x="5383080" y="1617840"/>
            <a:ext cx="1258920" cy="475920"/>
            <a:chOff x="5383080" y="1617840"/>
            <a:chExt cx="1258920" cy="475920"/>
          </a:xfrm>
        </p:grpSpPr>
        <p:sp>
          <p:nvSpPr>
            <p:cNvPr id="382" name="Oval 15"/>
            <p:cNvSpPr/>
            <p:nvPr/>
          </p:nvSpPr>
          <p:spPr>
            <a:xfrm>
              <a:off x="5383080" y="168264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83" name="Oval 16"/>
            <p:cNvSpPr/>
            <p:nvPr/>
          </p:nvSpPr>
          <p:spPr>
            <a:xfrm>
              <a:off x="6240600" y="1681200"/>
              <a:ext cx="401400" cy="4111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84" name="Line 17"/>
            <p:cNvSpPr/>
            <p:nvPr/>
          </p:nvSpPr>
          <p:spPr>
            <a:xfrm>
              <a:off x="5784840" y="1887480"/>
              <a:ext cx="439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85" name="Text Box 18"/>
            <p:cNvSpPr/>
            <p:nvPr/>
          </p:nvSpPr>
          <p:spPr>
            <a:xfrm>
              <a:off x="5872320" y="1617840"/>
              <a:ext cx="264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386" name="Group 19"/>
          <p:cNvGrpSpPr/>
          <p:nvPr/>
        </p:nvGrpSpPr>
        <p:grpSpPr>
          <a:xfrm>
            <a:off x="2503440" y="3809880"/>
            <a:ext cx="4110120" cy="1798920"/>
            <a:chOff x="2503440" y="3809880"/>
            <a:chExt cx="4110120" cy="1798920"/>
          </a:xfrm>
        </p:grpSpPr>
        <p:cxnSp>
          <p:nvCxnSpPr>
            <p:cNvPr id="387" name="AutoShape 20"/>
            <p:cNvCxnSpPr>
              <a:stCxn id="388" idx="0"/>
              <a:endCxn id="389" idx="0"/>
            </p:cNvCxnSpPr>
            <p:nvPr/>
          </p:nvCxnSpPr>
          <p:spPr>
            <a:xfrm flipV="1" rot="16200000">
              <a:off x="4545360" y="3530880"/>
              <a:ext cx="2160" cy="2057760"/>
            </a:xfrm>
            <a:prstGeom prst="curvedConnector5">
              <a:avLst>
                <a:gd name="adj1" fmla="val 30380000"/>
                <a:gd name="adj2" fmla="val 49991"/>
                <a:gd name="adj3" fmla="val 3038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390" name="Oval 21"/>
            <p:cNvSpPr/>
            <p:nvPr/>
          </p:nvSpPr>
          <p:spPr>
            <a:xfrm>
              <a:off x="3925800" y="4255920"/>
              <a:ext cx="401760" cy="411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91" name="Oval 22"/>
            <p:cNvSpPr/>
            <p:nvPr/>
          </p:nvSpPr>
          <p:spPr>
            <a:xfrm>
              <a:off x="4782960" y="425448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92" name="Line 23"/>
            <p:cNvSpPr/>
            <p:nvPr/>
          </p:nvSpPr>
          <p:spPr>
            <a:xfrm>
              <a:off x="4327560" y="4460760"/>
              <a:ext cx="439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93" name="Text Box 24"/>
            <p:cNvSpPr/>
            <p:nvPr/>
          </p:nvSpPr>
          <p:spPr>
            <a:xfrm>
              <a:off x="4383000" y="4191120"/>
              <a:ext cx="265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94" name="Oval 25"/>
            <p:cNvSpPr/>
            <p:nvPr/>
          </p:nvSpPr>
          <p:spPr>
            <a:xfrm>
              <a:off x="3925800" y="4941720"/>
              <a:ext cx="401760" cy="411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95" name="Oval 26"/>
            <p:cNvSpPr/>
            <p:nvPr/>
          </p:nvSpPr>
          <p:spPr>
            <a:xfrm>
              <a:off x="4782960" y="494028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96" name="Line 27"/>
            <p:cNvSpPr/>
            <p:nvPr/>
          </p:nvSpPr>
          <p:spPr>
            <a:xfrm>
              <a:off x="4327560" y="5146560"/>
              <a:ext cx="439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97" name="Text Box 28"/>
            <p:cNvSpPr/>
            <p:nvPr/>
          </p:nvSpPr>
          <p:spPr>
            <a:xfrm>
              <a:off x="4383000" y="4876920"/>
              <a:ext cx="265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89" name="Oval 29"/>
            <p:cNvSpPr/>
            <p:nvPr/>
          </p:nvSpPr>
          <p:spPr>
            <a:xfrm>
              <a:off x="3316320" y="456876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88" name="Oval 30"/>
            <p:cNvSpPr/>
            <p:nvPr/>
          </p:nvSpPr>
          <p:spPr>
            <a:xfrm>
              <a:off x="5373720" y="457056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98" name="Line 31"/>
            <p:cNvSpPr/>
            <p:nvPr/>
          </p:nvSpPr>
          <p:spPr>
            <a:xfrm flipV="1">
              <a:off x="3679920" y="4538160"/>
              <a:ext cx="253800" cy="135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99" name="Line 32"/>
            <p:cNvSpPr/>
            <p:nvPr/>
          </p:nvSpPr>
          <p:spPr>
            <a:xfrm>
              <a:off x="3689280" y="4884840"/>
              <a:ext cx="254160" cy="162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00" name="Line 33"/>
            <p:cNvSpPr/>
            <p:nvPr/>
          </p:nvSpPr>
          <p:spPr>
            <a:xfrm>
              <a:off x="5187960" y="4529160"/>
              <a:ext cx="210960" cy="144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01" name="Line 34"/>
            <p:cNvSpPr/>
            <p:nvPr/>
          </p:nvSpPr>
          <p:spPr>
            <a:xfrm flipV="1">
              <a:off x="5187960" y="4910040"/>
              <a:ext cx="210960" cy="1699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02" name="Oval 35"/>
            <p:cNvSpPr/>
            <p:nvPr/>
          </p:nvSpPr>
          <p:spPr>
            <a:xfrm>
              <a:off x="2503440" y="456876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03" name="Oval 36"/>
            <p:cNvSpPr/>
            <p:nvPr/>
          </p:nvSpPr>
          <p:spPr>
            <a:xfrm>
              <a:off x="6211800" y="4568760"/>
              <a:ext cx="401760" cy="4111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04" name="Line 37"/>
            <p:cNvSpPr/>
            <p:nvPr/>
          </p:nvSpPr>
          <p:spPr>
            <a:xfrm>
              <a:off x="5770440" y="4775040"/>
              <a:ext cx="439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05" name="Line 38"/>
            <p:cNvSpPr/>
            <p:nvPr/>
          </p:nvSpPr>
          <p:spPr>
            <a:xfrm>
              <a:off x="2892600" y="4775040"/>
              <a:ext cx="439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406" name="AutoShape 39"/>
            <p:cNvCxnSpPr>
              <a:stCxn id="402" idx="5"/>
              <a:endCxn id="403" idx="3"/>
            </p:cNvCxnSpPr>
            <p:nvPr/>
          </p:nvCxnSpPr>
          <p:spPr>
            <a:xfrm flipH="1" rot="16200000">
              <a:off x="4552560" y="3221640"/>
              <a:ext cx="10440" cy="3424680"/>
            </a:xfrm>
            <a:prstGeom prst="curvedConnector5">
              <a:avLst>
                <a:gd name="adj1" fmla="val 6746428"/>
                <a:gd name="adj2" fmla="val 50000"/>
                <a:gd name="adj3" fmla="val 674642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407" name="Text Box 40"/>
            <p:cNvSpPr/>
            <p:nvPr/>
          </p:nvSpPr>
          <p:spPr>
            <a:xfrm>
              <a:off x="4383000" y="5257800"/>
              <a:ext cx="265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08" name="Text Box 41"/>
            <p:cNvSpPr/>
            <p:nvPr/>
          </p:nvSpPr>
          <p:spPr>
            <a:xfrm>
              <a:off x="4383000" y="3809880"/>
              <a:ext cx="265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09" name="Text Box 42"/>
            <p:cNvSpPr/>
            <p:nvPr/>
          </p:nvSpPr>
          <p:spPr>
            <a:xfrm>
              <a:off x="3630600" y="4308480"/>
              <a:ext cx="2649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10" name="Text Box 43"/>
            <p:cNvSpPr/>
            <p:nvPr/>
          </p:nvSpPr>
          <p:spPr>
            <a:xfrm>
              <a:off x="5181480" y="4308480"/>
              <a:ext cx="265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11" name="Text Box 44"/>
            <p:cNvSpPr/>
            <p:nvPr/>
          </p:nvSpPr>
          <p:spPr>
            <a:xfrm>
              <a:off x="3629160" y="4910040"/>
              <a:ext cx="2649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12" name="Text Box 45"/>
            <p:cNvSpPr/>
            <p:nvPr/>
          </p:nvSpPr>
          <p:spPr>
            <a:xfrm>
              <a:off x="5181480" y="4910040"/>
              <a:ext cx="265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13" name="Text Box 46"/>
            <p:cNvSpPr/>
            <p:nvPr/>
          </p:nvSpPr>
          <p:spPr>
            <a:xfrm>
              <a:off x="2971800" y="4495680"/>
              <a:ext cx="2649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14" name="Text Box 47"/>
            <p:cNvSpPr/>
            <p:nvPr/>
          </p:nvSpPr>
          <p:spPr>
            <a:xfrm>
              <a:off x="5830920" y="4495680"/>
              <a:ext cx="2649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415" name="Group 48"/>
          <p:cNvGrpSpPr/>
          <p:nvPr/>
        </p:nvGrpSpPr>
        <p:grpSpPr>
          <a:xfrm>
            <a:off x="2503440" y="2590920"/>
            <a:ext cx="2459160" cy="1162080"/>
            <a:chOff x="2503440" y="2590920"/>
            <a:chExt cx="2459160" cy="1162080"/>
          </a:xfrm>
        </p:grpSpPr>
        <p:sp>
          <p:nvSpPr>
            <p:cNvPr id="416" name="Oval 49"/>
            <p:cNvSpPr/>
            <p:nvPr/>
          </p:nvSpPr>
          <p:spPr>
            <a:xfrm>
              <a:off x="3112920" y="2655720"/>
              <a:ext cx="401760" cy="411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17" name="Oval 50"/>
            <p:cNvSpPr/>
            <p:nvPr/>
          </p:nvSpPr>
          <p:spPr>
            <a:xfrm>
              <a:off x="3970440" y="2654280"/>
              <a:ext cx="40140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18" name="Line 51"/>
            <p:cNvSpPr/>
            <p:nvPr/>
          </p:nvSpPr>
          <p:spPr>
            <a:xfrm>
              <a:off x="3514680" y="2860560"/>
              <a:ext cx="439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19" name="Text Box 52"/>
            <p:cNvSpPr/>
            <p:nvPr/>
          </p:nvSpPr>
          <p:spPr>
            <a:xfrm>
              <a:off x="3570120" y="2590920"/>
              <a:ext cx="265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20" name="Oval 53"/>
            <p:cNvSpPr/>
            <p:nvPr/>
          </p:nvSpPr>
          <p:spPr>
            <a:xfrm>
              <a:off x="3112920" y="3341520"/>
              <a:ext cx="401760" cy="411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21" name="Oval 54"/>
            <p:cNvSpPr/>
            <p:nvPr/>
          </p:nvSpPr>
          <p:spPr>
            <a:xfrm>
              <a:off x="3970440" y="3340080"/>
              <a:ext cx="40140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22" name="Line 55"/>
            <p:cNvSpPr/>
            <p:nvPr/>
          </p:nvSpPr>
          <p:spPr>
            <a:xfrm>
              <a:off x="3514680" y="3546360"/>
              <a:ext cx="439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23" name="Text Box 56"/>
            <p:cNvSpPr/>
            <p:nvPr/>
          </p:nvSpPr>
          <p:spPr>
            <a:xfrm>
              <a:off x="3570120" y="3276720"/>
              <a:ext cx="265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24" name="Oval 57"/>
            <p:cNvSpPr/>
            <p:nvPr/>
          </p:nvSpPr>
          <p:spPr>
            <a:xfrm>
              <a:off x="2503440" y="297180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25" name="Oval 58"/>
            <p:cNvSpPr/>
            <p:nvPr/>
          </p:nvSpPr>
          <p:spPr>
            <a:xfrm>
              <a:off x="4560840" y="2971800"/>
              <a:ext cx="401760" cy="4111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26" name="Line 59"/>
            <p:cNvSpPr/>
            <p:nvPr/>
          </p:nvSpPr>
          <p:spPr>
            <a:xfrm flipV="1">
              <a:off x="2867040" y="2937960"/>
              <a:ext cx="254160" cy="135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27" name="Line 60"/>
            <p:cNvSpPr/>
            <p:nvPr/>
          </p:nvSpPr>
          <p:spPr>
            <a:xfrm>
              <a:off x="2876400" y="3284640"/>
              <a:ext cx="254160" cy="162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28" name="Line 61"/>
            <p:cNvSpPr/>
            <p:nvPr/>
          </p:nvSpPr>
          <p:spPr>
            <a:xfrm>
              <a:off x="4375080" y="2928960"/>
              <a:ext cx="211320" cy="144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29" name="Line 62"/>
            <p:cNvSpPr/>
            <p:nvPr/>
          </p:nvSpPr>
          <p:spPr>
            <a:xfrm flipV="1">
              <a:off x="4375080" y="3309840"/>
              <a:ext cx="211320" cy="1699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30" name="Text Box 63"/>
            <p:cNvSpPr/>
            <p:nvPr/>
          </p:nvSpPr>
          <p:spPr>
            <a:xfrm>
              <a:off x="2819520" y="2743200"/>
              <a:ext cx="2649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31" name="Text Box 64"/>
            <p:cNvSpPr/>
            <p:nvPr/>
          </p:nvSpPr>
          <p:spPr>
            <a:xfrm>
              <a:off x="2819520" y="3321000"/>
              <a:ext cx="2649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32" name="Text Box 65"/>
            <p:cNvSpPr/>
            <p:nvPr/>
          </p:nvSpPr>
          <p:spPr>
            <a:xfrm>
              <a:off x="4383000" y="2733840"/>
              <a:ext cx="265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33" name="Text Box 66"/>
            <p:cNvSpPr/>
            <p:nvPr/>
          </p:nvSpPr>
          <p:spPr>
            <a:xfrm>
              <a:off x="4383000" y="3321000"/>
              <a:ext cx="265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35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119A43C-40C6-4EB5-A44A-A482BA4A63B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125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Example of Thompson’s Construction 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con’t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125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4. 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)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25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Of course, a human would design something simpler ...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438" name="Group 4"/>
          <p:cNvGrpSpPr/>
          <p:nvPr/>
        </p:nvGrpSpPr>
        <p:grpSpPr>
          <a:xfrm>
            <a:off x="1752480" y="4419720"/>
            <a:ext cx="1676520" cy="841320"/>
            <a:chOff x="1752480" y="4419720"/>
            <a:chExt cx="1676520" cy="841320"/>
          </a:xfrm>
        </p:grpSpPr>
        <p:sp>
          <p:nvSpPr>
            <p:cNvPr id="439" name="Oval 5"/>
            <p:cNvSpPr/>
            <p:nvPr/>
          </p:nvSpPr>
          <p:spPr>
            <a:xfrm>
              <a:off x="1752480" y="484992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40" name="Oval 6"/>
            <p:cNvSpPr/>
            <p:nvPr/>
          </p:nvSpPr>
          <p:spPr>
            <a:xfrm>
              <a:off x="2610000" y="4848120"/>
              <a:ext cx="401400" cy="4111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41" name="Line 7"/>
            <p:cNvSpPr/>
            <p:nvPr/>
          </p:nvSpPr>
          <p:spPr>
            <a:xfrm>
              <a:off x="2154240" y="5054760"/>
              <a:ext cx="439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42" name="Text Box 8"/>
            <p:cNvSpPr/>
            <p:nvPr/>
          </p:nvSpPr>
          <p:spPr>
            <a:xfrm>
              <a:off x="2200320" y="4784760"/>
              <a:ext cx="264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443" name="AutoShape 9"/>
            <p:cNvCxnSpPr>
              <a:stCxn id="440" idx="7"/>
              <a:endCxn id="440" idx="1"/>
            </p:cNvCxnSpPr>
            <p:nvPr/>
          </p:nvCxnSpPr>
          <p:spPr>
            <a:xfrm rot="5400000">
              <a:off x="2809080" y="4748400"/>
              <a:ext cx="2160" cy="284400"/>
            </a:xfrm>
            <a:prstGeom prst="curvedConnector5">
              <a:avLst>
                <a:gd name="adj1" fmla="val -17000000"/>
                <a:gd name="adj2" fmla="val 49936"/>
                <a:gd name="adj3" fmla="val -170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444" name="Text Box 10"/>
            <p:cNvSpPr/>
            <p:nvPr/>
          </p:nvSpPr>
          <p:spPr>
            <a:xfrm>
              <a:off x="2819520" y="4419720"/>
              <a:ext cx="60948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 |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445" name="Text Box 11"/>
          <p:cNvSpPr/>
          <p:nvPr/>
        </p:nvSpPr>
        <p:spPr>
          <a:xfrm>
            <a:off x="4343400" y="4648320"/>
            <a:ext cx="3733920" cy="581400"/>
          </a:xfrm>
          <a:prstGeom prst="rect">
            <a:avLst/>
          </a:prstGeom>
          <a:solidFill>
            <a:srgbClr val="D9D9D9"/>
          </a:solidFill>
          <a:ln w="936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But, we can automate production of the more complex </a:t>
            </a: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NFA</a:t>
            </a:r>
            <a:r>
              <a:rPr lang="en-US" sz="16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version ...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446" name="Group 12"/>
          <p:cNvGrpSpPr/>
          <p:nvPr/>
        </p:nvGrpSpPr>
        <p:grpSpPr>
          <a:xfrm>
            <a:off x="1600200" y="1676520"/>
            <a:ext cx="5803920" cy="1785240"/>
            <a:chOff x="1600200" y="1676520"/>
            <a:chExt cx="5803920" cy="1785240"/>
          </a:xfrm>
        </p:grpSpPr>
        <p:sp>
          <p:nvSpPr>
            <p:cNvPr id="447" name="Oval 13"/>
            <p:cNvSpPr/>
            <p:nvPr/>
          </p:nvSpPr>
          <p:spPr>
            <a:xfrm>
              <a:off x="1600200" y="240048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48" name="Oval 14"/>
            <p:cNvSpPr/>
            <p:nvPr/>
          </p:nvSpPr>
          <p:spPr>
            <a:xfrm>
              <a:off x="2457360" y="239868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49" name="Line 15"/>
            <p:cNvSpPr/>
            <p:nvPr/>
          </p:nvSpPr>
          <p:spPr>
            <a:xfrm>
              <a:off x="2001960" y="2604960"/>
              <a:ext cx="439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50" name="Text Box 16"/>
            <p:cNvSpPr/>
            <p:nvPr/>
          </p:nvSpPr>
          <p:spPr>
            <a:xfrm>
              <a:off x="2057400" y="2335320"/>
              <a:ext cx="264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51" name="Line 17"/>
            <p:cNvSpPr/>
            <p:nvPr/>
          </p:nvSpPr>
          <p:spPr>
            <a:xfrm>
              <a:off x="2860560" y="2631960"/>
              <a:ext cx="439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52" name="Text Box 18"/>
            <p:cNvSpPr/>
            <p:nvPr/>
          </p:nvSpPr>
          <p:spPr>
            <a:xfrm>
              <a:off x="2895480" y="2335320"/>
              <a:ext cx="265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453" name="AutoShape 19"/>
            <p:cNvCxnSpPr>
              <a:stCxn id="454" idx="0"/>
              <a:endCxn id="455" idx="0"/>
            </p:cNvCxnSpPr>
            <p:nvPr/>
          </p:nvCxnSpPr>
          <p:spPr>
            <a:xfrm flipV="1" rot="16200000">
              <a:off x="5335920" y="1397160"/>
              <a:ext cx="2160" cy="2057760"/>
            </a:xfrm>
            <a:prstGeom prst="curvedConnector5">
              <a:avLst>
                <a:gd name="adj1" fmla="val 30380000"/>
                <a:gd name="adj2" fmla="val 49991"/>
                <a:gd name="adj3" fmla="val 3038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456" name="Oval 20"/>
            <p:cNvSpPr/>
            <p:nvPr/>
          </p:nvSpPr>
          <p:spPr>
            <a:xfrm>
              <a:off x="4716360" y="212256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57" name="Oval 21"/>
            <p:cNvSpPr/>
            <p:nvPr/>
          </p:nvSpPr>
          <p:spPr>
            <a:xfrm>
              <a:off x="5573880" y="2120760"/>
              <a:ext cx="401400" cy="411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58" name="Line 22"/>
            <p:cNvSpPr/>
            <p:nvPr/>
          </p:nvSpPr>
          <p:spPr>
            <a:xfrm>
              <a:off x="5118120" y="2327400"/>
              <a:ext cx="439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59" name="Text Box 23"/>
            <p:cNvSpPr/>
            <p:nvPr/>
          </p:nvSpPr>
          <p:spPr>
            <a:xfrm>
              <a:off x="5173560" y="2057400"/>
              <a:ext cx="265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60" name="Oval 24"/>
            <p:cNvSpPr/>
            <p:nvPr/>
          </p:nvSpPr>
          <p:spPr>
            <a:xfrm>
              <a:off x="4716360" y="280836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61" name="Oval 25"/>
            <p:cNvSpPr/>
            <p:nvPr/>
          </p:nvSpPr>
          <p:spPr>
            <a:xfrm>
              <a:off x="5573880" y="2806560"/>
              <a:ext cx="401400" cy="411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62" name="Line 26"/>
            <p:cNvSpPr/>
            <p:nvPr/>
          </p:nvSpPr>
          <p:spPr>
            <a:xfrm>
              <a:off x="5118120" y="3013200"/>
              <a:ext cx="439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63" name="Text Box 27"/>
            <p:cNvSpPr/>
            <p:nvPr/>
          </p:nvSpPr>
          <p:spPr>
            <a:xfrm>
              <a:off x="5173560" y="2743200"/>
              <a:ext cx="265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55" name="Oval 28"/>
            <p:cNvSpPr/>
            <p:nvPr/>
          </p:nvSpPr>
          <p:spPr>
            <a:xfrm>
              <a:off x="4106880" y="243540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54" name="Oval 29"/>
            <p:cNvSpPr/>
            <p:nvPr/>
          </p:nvSpPr>
          <p:spPr>
            <a:xfrm>
              <a:off x="6164280" y="243684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8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64" name="Line 30"/>
            <p:cNvSpPr/>
            <p:nvPr/>
          </p:nvSpPr>
          <p:spPr>
            <a:xfrm flipV="1">
              <a:off x="4470480" y="2404800"/>
              <a:ext cx="253800" cy="135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65" name="Line 31"/>
            <p:cNvSpPr/>
            <p:nvPr/>
          </p:nvSpPr>
          <p:spPr>
            <a:xfrm>
              <a:off x="4479840" y="2751120"/>
              <a:ext cx="254160" cy="162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66" name="Line 32"/>
            <p:cNvSpPr/>
            <p:nvPr/>
          </p:nvSpPr>
          <p:spPr>
            <a:xfrm>
              <a:off x="5978520" y="2395440"/>
              <a:ext cx="211320" cy="144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67" name="Line 33"/>
            <p:cNvSpPr/>
            <p:nvPr/>
          </p:nvSpPr>
          <p:spPr>
            <a:xfrm flipV="1">
              <a:off x="5978520" y="2776320"/>
              <a:ext cx="211320" cy="1695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68" name="Oval 34"/>
            <p:cNvSpPr/>
            <p:nvPr/>
          </p:nvSpPr>
          <p:spPr>
            <a:xfrm>
              <a:off x="3294000" y="243540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69" name="Oval 35"/>
            <p:cNvSpPr/>
            <p:nvPr/>
          </p:nvSpPr>
          <p:spPr>
            <a:xfrm>
              <a:off x="7002360" y="2435400"/>
              <a:ext cx="401760" cy="4111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70" name="Line 36"/>
            <p:cNvSpPr/>
            <p:nvPr/>
          </p:nvSpPr>
          <p:spPr>
            <a:xfrm>
              <a:off x="6561000" y="2641680"/>
              <a:ext cx="439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71" name="Line 37"/>
            <p:cNvSpPr/>
            <p:nvPr/>
          </p:nvSpPr>
          <p:spPr>
            <a:xfrm>
              <a:off x="3683160" y="2641680"/>
              <a:ext cx="439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472" name="AutoShape 38"/>
            <p:cNvCxnSpPr>
              <a:stCxn id="468" idx="5"/>
              <a:endCxn id="469" idx="3"/>
            </p:cNvCxnSpPr>
            <p:nvPr/>
          </p:nvCxnSpPr>
          <p:spPr>
            <a:xfrm flipH="1" rot="16200000">
              <a:off x="5343480" y="1088280"/>
              <a:ext cx="10080" cy="3424680"/>
            </a:xfrm>
            <a:prstGeom prst="curvedConnector5">
              <a:avLst>
                <a:gd name="adj1" fmla="val 6748148"/>
                <a:gd name="adj2" fmla="val 50000"/>
                <a:gd name="adj3" fmla="val 674814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473" name="Text Box 39"/>
            <p:cNvSpPr/>
            <p:nvPr/>
          </p:nvSpPr>
          <p:spPr>
            <a:xfrm>
              <a:off x="5173560" y="3124080"/>
              <a:ext cx="265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74" name="Text Box 40"/>
            <p:cNvSpPr/>
            <p:nvPr/>
          </p:nvSpPr>
          <p:spPr>
            <a:xfrm>
              <a:off x="5173560" y="1676520"/>
              <a:ext cx="265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75" name="Text Box 41"/>
            <p:cNvSpPr/>
            <p:nvPr/>
          </p:nvSpPr>
          <p:spPr>
            <a:xfrm>
              <a:off x="4421160" y="2174760"/>
              <a:ext cx="265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76" name="Text Box 42"/>
            <p:cNvSpPr/>
            <p:nvPr/>
          </p:nvSpPr>
          <p:spPr>
            <a:xfrm>
              <a:off x="5972040" y="2174760"/>
              <a:ext cx="265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77" name="Text Box 43"/>
            <p:cNvSpPr/>
            <p:nvPr/>
          </p:nvSpPr>
          <p:spPr>
            <a:xfrm>
              <a:off x="4419720" y="2776680"/>
              <a:ext cx="2649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78" name="Text Box 44"/>
            <p:cNvSpPr/>
            <p:nvPr/>
          </p:nvSpPr>
          <p:spPr>
            <a:xfrm>
              <a:off x="5972040" y="2776680"/>
              <a:ext cx="265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79" name="Text Box 45"/>
            <p:cNvSpPr/>
            <p:nvPr/>
          </p:nvSpPr>
          <p:spPr>
            <a:xfrm>
              <a:off x="3733920" y="2362320"/>
              <a:ext cx="2649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0" name="Text Box 46"/>
            <p:cNvSpPr/>
            <p:nvPr/>
          </p:nvSpPr>
          <p:spPr>
            <a:xfrm>
              <a:off x="6629400" y="2362320"/>
              <a:ext cx="2649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82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E2972B4-8378-4AFD-BDC5-4233E7EC9A2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Where are we?  Why are we doing this?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84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RE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Thompson’s construction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r>
              <a:rPr lang="en-US" sz="2000" b="0" i="1" u="none" strike="noStrike">
                <a:solidFill>
                  <a:srgbClr val="ED181E"/>
                </a:solidFill>
                <a:effectLst/>
                <a:uFillTx/>
                <a:latin typeface="Comic Sans MS"/>
              </a:rPr>
              <a:t>  </a:t>
            </a:r>
            <a:r>
              <a:rPr lang="en-US" sz="2400" b="0" u="none" strike="noStrike">
                <a:solidFill>
                  <a:srgbClr val="FF0065"/>
                </a:solidFill>
                <a:effectLst/>
                <a:uFillTx/>
                <a:latin typeface="Wingdings"/>
                <a:ea typeface="Wingdings"/>
              </a:rPr>
              <a:t></a:t>
            </a:r>
            <a:r>
              <a:rPr lang="en-US" sz="2400" b="0" u="none" strike="noStrike">
                <a:solidFill>
                  <a:srgbClr val="ED181E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an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for each term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Combine them with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-moves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22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subset construction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</a:t>
            </a:r>
            <a:r>
              <a:rPr lang="en-US" sz="2400" b="0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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the simulation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22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Minimal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DFA</a:t>
            </a:r>
            <a:r>
              <a:rPr lang="en-US" sz="1800" b="0" u="none" strike="noStrike">
                <a:solidFill>
                  <a:srgbClr val="1822CD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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Hopcroft’s algorithm                        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1687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RE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All pairs, all paths problem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Union together paths from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 a final state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ctr">
              <a:lnSpc>
                <a:spcPct val="90000"/>
              </a:lnSpc>
              <a:spcBef>
                <a:spcPts val="187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85" name="Text Box 4"/>
          <p:cNvSpPr/>
          <p:nvPr/>
        </p:nvSpPr>
        <p:spPr>
          <a:xfrm>
            <a:off x="98280" y="403056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486" name="Group 22"/>
          <p:cNvGrpSpPr/>
          <p:nvPr/>
        </p:nvGrpSpPr>
        <p:grpSpPr>
          <a:xfrm>
            <a:off x="4343400" y="2971800"/>
            <a:ext cx="4343400" cy="1676520"/>
            <a:chOff x="4343400" y="2971800"/>
            <a:chExt cx="4343400" cy="1676520"/>
          </a:xfrm>
        </p:grpSpPr>
        <p:sp>
          <p:nvSpPr>
            <p:cNvPr id="487" name="Text Box 6"/>
            <p:cNvSpPr/>
            <p:nvPr/>
          </p:nvSpPr>
          <p:spPr>
            <a:xfrm>
              <a:off x="7031160" y="3957840"/>
              <a:ext cx="990360" cy="60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2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minimal </a:t>
              </a: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8" name="Text Box 7"/>
            <p:cNvSpPr/>
            <p:nvPr/>
          </p:nvSpPr>
          <p:spPr>
            <a:xfrm>
              <a:off x="5049720" y="4122720"/>
              <a:ext cx="533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RE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9" name="Text Box 8"/>
            <p:cNvSpPr/>
            <p:nvPr/>
          </p:nvSpPr>
          <p:spPr>
            <a:xfrm>
              <a:off x="5659560" y="412272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0" name="Text Box 9"/>
            <p:cNvSpPr/>
            <p:nvPr/>
          </p:nvSpPr>
          <p:spPr>
            <a:xfrm>
              <a:off x="6421320" y="412272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1" name="Line 10"/>
            <p:cNvSpPr/>
            <p:nvPr/>
          </p:nvSpPr>
          <p:spPr>
            <a:xfrm>
              <a:off x="5430960" y="4275360"/>
              <a:ext cx="304560" cy="0"/>
            </a:xfrm>
            <a:prstGeom prst="line">
              <a:avLst/>
            </a:prstGeom>
            <a:ln w="9360">
              <a:solidFill>
                <a:srgbClr val="003C7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2" name="Line 11"/>
            <p:cNvSpPr/>
            <p:nvPr/>
          </p:nvSpPr>
          <p:spPr>
            <a:xfrm>
              <a:off x="6192720" y="4275360"/>
              <a:ext cx="304920" cy="0"/>
            </a:xfrm>
            <a:prstGeom prst="line">
              <a:avLst/>
            </a:prstGeom>
            <a:ln w="9360">
              <a:solidFill>
                <a:srgbClr val="003C7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3" name="Line 12"/>
            <p:cNvSpPr/>
            <p:nvPr/>
          </p:nvSpPr>
          <p:spPr>
            <a:xfrm>
              <a:off x="6954840" y="4275360"/>
              <a:ext cx="304920" cy="0"/>
            </a:xfrm>
            <a:prstGeom prst="line">
              <a:avLst/>
            </a:prstGeom>
            <a:ln w="9360">
              <a:solidFill>
                <a:srgbClr val="003C7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4" name="Line 13"/>
            <p:cNvSpPr/>
            <p:nvPr/>
          </p:nvSpPr>
          <p:spPr>
            <a:xfrm>
              <a:off x="7716960" y="4278600"/>
              <a:ext cx="30456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5" name="Arc 14"/>
            <p:cNvSpPr/>
            <p:nvPr/>
          </p:nvSpPr>
          <p:spPr>
            <a:xfrm>
              <a:off x="7945560" y="3516480"/>
              <a:ext cx="457200" cy="3826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6" name="Arc 15"/>
            <p:cNvSpPr/>
            <p:nvPr/>
          </p:nvSpPr>
          <p:spPr>
            <a:xfrm flipV="1">
              <a:off x="7945560" y="3896640"/>
              <a:ext cx="457200" cy="38124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-360 h 381240"/>
                <a:gd name="textAreaBottom" fmla="*/ 381240 h 38124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7" name="Arc 16"/>
            <p:cNvSpPr/>
            <p:nvPr/>
          </p:nvSpPr>
          <p:spPr>
            <a:xfrm flipH="1">
              <a:off x="4627440" y="3524400"/>
              <a:ext cx="457200" cy="3826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8" name="Arc 17"/>
            <p:cNvSpPr/>
            <p:nvPr/>
          </p:nvSpPr>
          <p:spPr>
            <a:xfrm flipH="1" flipV="1">
              <a:off x="4627440" y="3904560"/>
              <a:ext cx="457200" cy="38124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-360 h 381240"/>
                <a:gd name="textAreaBottom" fmla="*/ 381240 h 38124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9" name="Line 18"/>
            <p:cNvSpPr/>
            <p:nvPr/>
          </p:nvSpPr>
          <p:spPr>
            <a:xfrm>
              <a:off x="5049720" y="3516480"/>
              <a:ext cx="2895840" cy="0"/>
            </a:xfrm>
            <a:prstGeom prst="line">
              <a:avLst/>
            </a:prstGeom>
            <a:ln w="9360">
              <a:solidFill>
                <a:srgbClr val="003C7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00" name="Line 19"/>
            <p:cNvSpPr/>
            <p:nvPr/>
          </p:nvSpPr>
          <p:spPr>
            <a:xfrm>
              <a:off x="4973760" y="4278600"/>
              <a:ext cx="15228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01" name="Text Box 20"/>
            <p:cNvSpPr/>
            <p:nvPr/>
          </p:nvSpPr>
          <p:spPr>
            <a:xfrm>
              <a:off x="5067360" y="3059280"/>
              <a:ext cx="2895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sng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The Cycle of Constructions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02" name="Rectangle 21"/>
            <p:cNvSpPr/>
            <p:nvPr/>
          </p:nvSpPr>
          <p:spPr>
            <a:xfrm>
              <a:off x="4343400" y="2971800"/>
              <a:ext cx="4343400" cy="1676520"/>
            </a:xfrm>
            <a:prstGeom prst="rect">
              <a:avLst/>
            </a:prstGeom>
            <a:noFill/>
            <a:ln w="9360">
              <a:solidFill>
                <a:srgbClr val="003C75"/>
              </a:solidFill>
              <a:prstDash val="dash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04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32A24A4-9CE4-4C08-8E0B-97195444A1D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/>
          </p:nvPr>
        </p:nvSpPr>
        <p:spPr>
          <a:xfrm>
            <a:off x="685800" y="1089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Need to build a simulation of the NFA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87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Two key functions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1822CD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Move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</a:t>
            </a:r>
            <a:r>
              <a:rPr lang="en-US" sz="20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i </a:t>
            </a:r>
            <a:r>
              <a:rPr lang="en-US" sz="20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, </a:t>
            </a:r>
            <a:r>
              <a:rPr lang="en-US" sz="2000" b="0" i="1" u="sng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</a:t>
            </a:r>
            <a:r>
              <a:rPr lang="en-US" sz="20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is the set of states reachable from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by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0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1822CD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-closure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</a:t>
            </a:r>
            <a:r>
              <a:rPr lang="en-US" sz="20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i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is the set of states reachable from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by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87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The algorithm: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Start state derived from 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of the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Take its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-closure 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=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-closure({s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})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Take the image of 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Move(S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for each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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and take its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-closure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Iterate until no more states are added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ctr">
              <a:spcBef>
                <a:spcPts val="1687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Sounds more complex than it is…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07" name="TextBox 5"/>
          <p:cNvSpPr/>
          <p:nvPr/>
        </p:nvSpPr>
        <p:spPr>
          <a:xfrm>
            <a:off x="6019920" y="6248520"/>
            <a:ext cx="1981080" cy="307440"/>
          </a:xfrm>
          <a:prstGeom prst="rect">
            <a:avLst/>
          </a:prstGeom>
          <a:solidFill>
            <a:srgbClr val="BFBFBF"/>
          </a:solidFill>
          <a:ln w="936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Rabin &amp; Scott, 1959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09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BA9062-35D3-4FA3-B696-DED6104D401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11" name="Text Box 3"/>
          <p:cNvSpPr/>
          <p:nvPr/>
        </p:nvSpPr>
        <p:spPr>
          <a:xfrm>
            <a:off x="762120" y="1523880"/>
            <a:ext cx="3622680" cy="4567320"/>
          </a:xfrm>
          <a:prstGeom prst="rect">
            <a:avLst/>
          </a:prstGeom>
          <a:noFill/>
          <a:ln w="9360">
            <a:solidFill>
              <a:srgbClr val="003C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spcAft>
                <a:spcPts val="1125"/>
              </a:spcAft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The algorithm: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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-closure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(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{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n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}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{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}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{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}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while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W ≠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Ø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select and remove s from W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for each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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t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-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closure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Move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s,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))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T[s,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]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t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if ( 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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S ) then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add t to S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add t to W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10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Let’s think about why this works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12" name="Text Box 4"/>
          <p:cNvSpPr/>
          <p:nvPr/>
        </p:nvSpPr>
        <p:spPr>
          <a:xfrm>
            <a:off x="4660920" y="1523880"/>
            <a:ext cx="3454560" cy="4444920"/>
          </a:xfrm>
          <a:prstGeom prst="rect">
            <a:avLst/>
          </a:prstGeom>
          <a:noFill/>
          <a:ln w="9360">
            <a:solidFill>
              <a:srgbClr val="003C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457200" indent="-457200"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algorithm halts: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1.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contains no duplicates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 (test before adding)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2.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US" sz="18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{NFA states}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is finite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3.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while loop adds to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but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does not remove from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 (monotone)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lnSpc>
                <a:spcPct val="100000"/>
              </a:lnSpc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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loop halts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contains all the reachable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states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It tries each character in each s</a:t>
            </a:r>
            <a:r>
              <a:rPr lang="en-US" sz="16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It builds every possible 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configuration.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lnSpc>
                <a:spcPct val="100000"/>
              </a:lnSpc>
              <a:spcBef>
                <a:spcPts val="7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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S and T form the 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513" name="Group 9"/>
          <p:cNvGrpSpPr/>
          <p:nvPr/>
        </p:nvGrpSpPr>
        <p:grpSpPr>
          <a:xfrm>
            <a:off x="2944800" y="4514760"/>
            <a:ext cx="4686480" cy="1873440"/>
            <a:chOff x="2944800" y="4514760"/>
            <a:chExt cx="4686480" cy="1873440"/>
          </a:xfrm>
        </p:grpSpPr>
        <p:sp>
          <p:nvSpPr>
            <p:cNvPr id="514" name="Text Box 6"/>
            <p:cNvSpPr/>
            <p:nvPr/>
          </p:nvSpPr>
          <p:spPr>
            <a:xfrm>
              <a:off x="4581360" y="5970600"/>
              <a:ext cx="30499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This test is a little tricky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15" name="Line 7"/>
            <p:cNvSpPr/>
            <p:nvPr/>
          </p:nvSpPr>
          <p:spPr>
            <a:xfrm>
              <a:off x="4594320" y="5945040"/>
              <a:ext cx="0" cy="443160"/>
            </a:xfrm>
            <a:prstGeom prst="line">
              <a:avLst/>
            </a:prstGeom>
            <a:ln w="2844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16" name="Freeform 8"/>
            <p:cNvSpPr/>
            <p:nvPr/>
          </p:nvSpPr>
          <p:spPr>
            <a:xfrm>
              <a:off x="2944800" y="4514760"/>
              <a:ext cx="1636560" cy="1569960"/>
            </a:xfrm>
            <a:custGeom>
              <a:avLst/>
              <a:gdLst>
                <a:gd name="textAreaLeft" fmla="*/ 0 w 1636560"/>
                <a:gd name="textAreaRight" fmla="*/ 1636920 w 1636560"/>
                <a:gd name="textAreaTop" fmla="*/ 0 h 1569960"/>
                <a:gd name="textAreaBottom" fmla="*/ 1570320 h 1569960"/>
                <a:gd name="GluePoint1X" fmla="*/ 0 w 1017"/>
                <a:gd name="GluePoint1Y" fmla="*/ 70 h 962"/>
                <a:gd name="GluePoint2X" fmla="*/ 852 w 1017"/>
                <a:gd name="GluePoint2Y" fmla="*/ 147 h 962"/>
                <a:gd name="GluePoint3X" fmla="*/ 816 w 1017"/>
                <a:gd name="GluePoint3Y" fmla="*/ 954 h 962"/>
                <a:gd name="GluePoint4X" fmla="*/ 1150 w 1017"/>
                <a:gd name="GluePoint4Y" fmla="*/ 1235 h 9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017" h="962">
                  <a:moveTo>
                    <a:pt x="0" y="53"/>
                  </a:moveTo>
                  <a:cubicBezTo>
                    <a:pt x="316" y="26"/>
                    <a:pt x="633" y="0"/>
                    <a:pt x="753" y="115"/>
                  </a:cubicBezTo>
                  <a:cubicBezTo>
                    <a:pt x="873" y="230"/>
                    <a:pt x="678" y="603"/>
                    <a:pt x="722" y="744"/>
                  </a:cubicBezTo>
                  <a:cubicBezTo>
                    <a:pt x="766" y="885"/>
                    <a:pt x="891" y="923"/>
                    <a:pt x="1017" y="962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517" name="Group 15"/>
          <p:cNvGrpSpPr/>
          <p:nvPr/>
        </p:nvGrpSpPr>
        <p:grpSpPr>
          <a:xfrm>
            <a:off x="263520" y="2435400"/>
            <a:ext cx="3851280" cy="4313520"/>
            <a:chOff x="263520" y="2435400"/>
            <a:chExt cx="3851280" cy="4313520"/>
          </a:xfrm>
        </p:grpSpPr>
        <p:sp>
          <p:nvSpPr>
            <p:cNvPr id="518" name="TextBox 10"/>
            <p:cNvSpPr/>
            <p:nvPr/>
          </p:nvSpPr>
          <p:spPr>
            <a:xfrm>
              <a:off x="761760" y="6095880"/>
              <a:ext cx="3353040" cy="653040"/>
            </a:xfrm>
            <a:prstGeom prst="rect">
              <a:avLst/>
            </a:prstGeom>
            <a:solidFill>
              <a:srgbClr val="D9D9D9"/>
            </a:solidFill>
            <a:ln w="9360">
              <a:solidFill>
                <a:srgbClr val="7F7F7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3C75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3C75"/>
                  </a:solidFill>
                  <a:effectLst/>
                  <a:uFillTx/>
                  <a:latin typeface="Comic Sans MS"/>
                </a:rPr>
                <a:t>0</a:t>
              </a:r>
              <a:r>
                <a:rPr lang="en-US" sz="1600" b="0" u="none" strike="noStrike">
                  <a:solidFill>
                    <a:srgbClr val="003C75"/>
                  </a:solidFill>
                  <a:effectLst/>
                  <a:uFillTx/>
                  <a:latin typeface="Comic Sans MS"/>
                </a:rPr>
                <a:t> is a set of states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  <a:p>
              <a:pPr>
                <a:spcBef>
                  <a:spcPts val="3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3C75"/>
                  </a:solidFill>
                  <a:effectLst/>
                  <a:uFillTx/>
                  <a:latin typeface="Comic Sans MS"/>
                </a:rPr>
                <a:t>S &amp; W are sets of sets of states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19" name="Straight Connector 12"/>
            <p:cNvSpPr/>
            <p:nvPr/>
          </p:nvSpPr>
          <p:spPr>
            <a:xfrm flipH="1">
              <a:off x="760680" y="6097320"/>
              <a:ext cx="1440" cy="609480"/>
            </a:xfrm>
            <a:prstGeom prst="line">
              <a:avLst/>
            </a:prstGeom>
            <a:ln w="19080">
              <a:solidFill>
                <a:srgbClr val="003C7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20" name="Freeform 14"/>
            <p:cNvSpPr/>
            <p:nvPr/>
          </p:nvSpPr>
          <p:spPr>
            <a:xfrm>
              <a:off x="263520" y="2435400"/>
              <a:ext cx="480960" cy="3915360"/>
            </a:xfrm>
            <a:custGeom>
              <a:avLst/>
              <a:gdLst>
                <a:gd name="textAreaLeft" fmla="*/ 0 w 480960"/>
                <a:gd name="textAreaRight" fmla="*/ 481320 w 480960"/>
                <a:gd name="textAreaTop" fmla="*/ 0 h 3915360"/>
                <a:gd name="textAreaBottom" fmla="*/ 3915720 h 3915360"/>
                <a:gd name="GluePoint1X" fmla="*/ 481033 w 481033"/>
                <a:gd name="GluePoint1Y" fmla="*/ 3915108 h 3915108"/>
                <a:gd name="GluePoint2X" fmla="*/ 323604 w 481033"/>
                <a:gd name="GluePoint2Y" fmla="*/ 3873122 h 3915108"/>
                <a:gd name="GluePoint3X" fmla="*/ 208156 w 481033"/>
                <a:gd name="GluePoint3Y" fmla="*/ 3705182 h 3915108"/>
                <a:gd name="GluePoint4X" fmla="*/ 50727 w 481033"/>
                <a:gd name="GluePoint4Y" fmla="*/ 2896970 h 3915108"/>
                <a:gd name="GluePoint5X" fmla="*/ 29736 w 481033"/>
                <a:gd name="GluePoint5Y" fmla="*/ 1490470 h 3915108"/>
                <a:gd name="GluePoint6X" fmla="*/ 229146 w 481033"/>
                <a:gd name="GluePoint6Y" fmla="*/ 1563944 h 3915108"/>
                <a:gd name="GluePoint7X" fmla="*/ 239642 w 481033"/>
                <a:gd name="GluePoint7Y" fmla="*/ 251910 h 3915108"/>
                <a:gd name="GluePoint8X" fmla="*/ 481033 w 481033"/>
                <a:gd name="GluePoint8Y" fmla="*/ 52481 h 3915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81033" h="3915108">
                  <a:moveTo>
                    <a:pt x="481033" y="3915108"/>
                  </a:moveTo>
                  <a:cubicBezTo>
                    <a:pt x="425058" y="3911609"/>
                    <a:pt x="369084" y="3908111"/>
                    <a:pt x="323604" y="3873123"/>
                  </a:cubicBezTo>
                  <a:cubicBezTo>
                    <a:pt x="278124" y="3838135"/>
                    <a:pt x="253636" y="3867875"/>
                    <a:pt x="208156" y="3705183"/>
                  </a:cubicBezTo>
                  <a:cubicBezTo>
                    <a:pt x="162676" y="3542491"/>
                    <a:pt x="80464" y="3266089"/>
                    <a:pt x="50727" y="2896970"/>
                  </a:cubicBezTo>
                  <a:cubicBezTo>
                    <a:pt x="20990" y="2527851"/>
                    <a:pt x="0" y="1712641"/>
                    <a:pt x="29736" y="1490470"/>
                  </a:cubicBezTo>
                  <a:cubicBezTo>
                    <a:pt x="59473" y="1268299"/>
                    <a:pt x="194162" y="1770371"/>
                    <a:pt x="229146" y="1563944"/>
                  </a:cubicBezTo>
                  <a:cubicBezTo>
                    <a:pt x="264130" y="1357517"/>
                    <a:pt x="197661" y="503820"/>
                    <a:pt x="239642" y="251910"/>
                  </a:cubicBezTo>
                  <a:cubicBezTo>
                    <a:pt x="281623" y="0"/>
                    <a:pt x="481033" y="52481"/>
                    <a:pt x="481033" y="52481"/>
                  </a:cubicBezTo>
                </a:path>
              </a:pathLst>
            </a:custGeom>
            <a:noFill/>
            <a:ln w="1260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1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22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E634D10-5DCB-413D-9C92-81090AD6EC5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24" name="Text Box 3"/>
          <p:cNvSpPr/>
          <p:nvPr/>
        </p:nvSpPr>
        <p:spPr>
          <a:xfrm>
            <a:off x="762120" y="1523880"/>
            <a:ext cx="3622680" cy="4567320"/>
          </a:xfrm>
          <a:prstGeom prst="rect">
            <a:avLst/>
          </a:prstGeom>
          <a:noFill/>
          <a:ln w="19080">
            <a:solidFill>
              <a:srgbClr val="003C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spcAft>
                <a:spcPts val="1125"/>
              </a:spcAft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The algorithm: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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-closure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(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{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n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}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{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}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{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}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while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W ≠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Ø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select and remove s from W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for each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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t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-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closure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Move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s,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))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T[s,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]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t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if ( 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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S ) then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add t to S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add t to W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1001"/>
              </a:spcBef>
              <a:tabLst>
                <a:tab pos="0" algn="l"/>
                <a:tab pos="227160" algn="l"/>
                <a:tab pos="453960" algn="l"/>
                <a:tab pos="681120" algn="l"/>
                <a:tab pos="907920" algn="l"/>
                <a:tab pos="1135080" algn="l"/>
                <a:tab pos="1362240" algn="l"/>
                <a:tab pos="1589040" algn="l"/>
                <a:tab pos="1816200" algn="l"/>
                <a:tab pos="2043000" algn="l"/>
                <a:tab pos="2270160" algn="l"/>
                <a:tab pos="2496960" algn="l"/>
                <a:tab pos="2724120" algn="l"/>
                <a:tab pos="2951280" algn="l"/>
                <a:tab pos="3178080" algn="l"/>
                <a:tab pos="3405240" algn="l"/>
                <a:tab pos="3632040" algn="l"/>
                <a:tab pos="3859200" algn="l"/>
                <a:tab pos="4086360" algn="l"/>
                <a:tab pos="4313160" algn="l"/>
                <a:tab pos="454032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Let’s think about why this works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25" name="Text Box 4"/>
          <p:cNvSpPr/>
          <p:nvPr/>
        </p:nvSpPr>
        <p:spPr>
          <a:xfrm>
            <a:off x="4662360" y="1523880"/>
            <a:ext cx="3454560" cy="4444920"/>
          </a:xfrm>
          <a:prstGeom prst="rect">
            <a:avLst/>
          </a:prstGeom>
          <a:noFill/>
          <a:ln w="19080">
            <a:solidFill>
              <a:srgbClr val="003C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457200" indent="-457200"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algorithm halts: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1.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contains no duplicates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 (test before adding)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2.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US" sz="18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{NFA states}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is finite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3.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while loop adds to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but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does not remove from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 (monotone)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lnSpc>
                <a:spcPct val="100000"/>
              </a:lnSpc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CC"/>
                </a:solidFill>
                <a:effectLst/>
                <a:uFillTx/>
                <a:latin typeface="Symbol"/>
                <a:ea typeface="Symbol"/>
              </a:rPr>
              <a:t>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loop halts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contains all the reachable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states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It tries each character in each s</a:t>
            </a:r>
            <a:r>
              <a:rPr lang="en-US" sz="16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It builds every possible 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configuration.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457200" indent="-457200">
              <a:lnSpc>
                <a:spcPct val="100000"/>
              </a:lnSpc>
              <a:spcBef>
                <a:spcPts val="7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CC"/>
                </a:solidFill>
                <a:effectLst/>
                <a:uFillTx/>
                <a:latin typeface="Symbol"/>
                <a:ea typeface="Symbol"/>
              </a:rPr>
              <a:t>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S and T form the 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26" name="Text Box 5"/>
          <p:cNvSpPr/>
          <p:nvPr/>
        </p:nvSpPr>
        <p:spPr>
          <a:xfrm>
            <a:off x="3083040" y="6058080"/>
            <a:ext cx="5033880" cy="581400"/>
          </a:xfrm>
          <a:prstGeom prst="rect">
            <a:avLst/>
          </a:prstGeom>
          <a:solidFill>
            <a:srgbClr val="D9D9D9"/>
          </a:solidFill>
          <a:ln w="1908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Any DFA state containing a final state of the NFA final state becomes a final state of the DFA.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28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5CD5D7A-8FC3-49B1-9536-B6E44BB1FFE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Example of a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fixed-point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computation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Monotone construction of some finite set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Halts when it stops adding to the set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Proofs of halting &amp; correctness are similar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These computations arise in many contexts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87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Other fixed-point computations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Canonical construction of sets of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LR(1)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items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Quite similar to the subset construction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Classic data-flow analysis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(&amp; Gaussian Elimination)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Solving sets of simultaneous set equations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ctr">
              <a:spcBef>
                <a:spcPts val="1687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We will see many more fixed-point computations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32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4E63683-FA5A-4E04-8F8F-16A4C4F0BB5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33" name="Rectangle 3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34" name="Rectangle 4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35" name="Rectangle 5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536" name="Group 241"/>
          <p:cNvGrpSpPr/>
          <p:nvPr/>
        </p:nvGrpSpPr>
        <p:grpSpPr>
          <a:xfrm>
            <a:off x="1773360" y="1066680"/>
            <a:ext cx="5236920" cy="1821960"/>
            <a:chOff x="1773360" y="1066680"/>
            <a:chExt cx="5236920" cy="1821960"/>
          </a:xfrm>
        </p:grpSpPr>
        <p:sp>
          <p:nvSpPr>
            <p:cNvPr id="537" name="Oval 7"/>
            <p:cNvSpPr/>
            <p:nvPr/>
          </p:nvSpPr>
          <p:spPr>
            <a:xfrm>
              <a:off x="1773360" y="1797120"/>
              <a:ext cx="361800" cy="37152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38" name="Oval 8"/>
            <p:cNvSpPr/>
            <p:nvPr/>
          </p:nvSpPr>
          <p:spPr>
            <a:xfrm>
              <a:off x="2546280" y="1797120"/>
              <a:ext cx="363600" cy="3697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39" name="Line 9"/>
            <p:cNvSpPr/>
            <p:nvPr/>
          </p:nvSpPr>
          <p:spPr>
            <a:xfrm>
              <a:off x="2135160" y="198288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0" name="Text Box 10"/>
            <p:cNvSpPr/>
            <p:nvPr/>
          </p:nvSpPr>
          <p:spPr>
            <a:xfrm>
              <a:off x="2185920" y="17128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1" name="Line 11"/>
            <p:cNvSpPr/>
            <p:nvPr/>
          </p:nvSpPr>
          <p:spPr>
            <a:xfrm>
              <a:off x="2909880" y="200664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2" name="Text Box 12"/>
            <p:cNvSpPr/>
            <p:nvPr/>
          </p:nvSpPr>
          <p:spPr>
            <a:xfrm>
              <a:off x="2941560" y="173844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543" name="AutoShape 13"/>
            <p:cNvCxnSpPr>
              <a:stCxn id="544" idx="0"/>
              <a:endCxn id="545" idx="0"/>
            </p:cNvCxnSpPr>
            <p:nvPr/>
          </p:nvCxnSpPr>
          <p:spPr>
            <a:xfrm flipV="1" rot="16200000">
              <a:off x="5144040" y="892080"/>
              <a:ext cx="2160" cy="1858320"/>
            </a:xfrm>
            <a:prstGeom prst="curvedConnector5">
              <a:avLst>
                <a:gd name="adj1" fmla="val 30380000"/>
                <a:gd name="adj2" fmla="val 49990"/>
                <a:gd name="adj3" fmla="val 3038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546" name="Oval 14"/>
            <p:cNvSpPr/>
            <p:nvPr/>
          </p:nvSpPr>
          <p:spPr>
            <a:xfrm>
              <a:off x="4584600" y="1547640"/>
              <a:ext cx="36360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7" name="Oval 15"/>
            <p:cNvSpPr/>
            <p:nvPr/>
          </p:nvSpPr>
          <p:spPr>
            <a:xfrm>
              <a:off x="5359320" y="1546200"/>
              <a:ext cx="36216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8" name="Line 16"/>
            <p:cNvSpPr/>
            <p:nvPr/>
          </p:nvSpPr>
          <p:spPr>
            <a:xfrm>
              <a:off x="4948200" y="17319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9" name="Text Box 17"/>
            <p:cNvSpPr/>
            <p:nvPr/>
          </p:nvSpPr>
          <p:spPr>
            <a:xfrm>
              <a:off x="4997520" y="146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0" name="Oval 18"/>
            <p:cNvSpPr/>
            <p:nvPr/>
          </p:nvSpPr>
          <p:spPr>
            <a:xfrm>
              <a:off x="4584600" y="2165400"/>
              <a:ext cx="3636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1" name="Oval 19"/>
            <p:cNvSpPr/>
            <p:nvPr/>
          </p:nvSpPr>
          <p:spPr>
            <a:xfrm>
              <a:off x="5359320" y="2163600"/>
              <a:ext cx="36216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2" name="Line 20"/>
            <p:cNvSpPr/>
            <p:nvPr/>
          </p:nvSpPr>
          <p:spPr>
            <a:xfrm>
              <a:off x="4948200" y="23511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3" name="Text Box 21"/>
            <p:cNvSpPr/>
            <p:nvPr/>
          </p:nvSpPr>
          <p:spPr>
            <a:xfrm>
              <a:off x="4997520" y="209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5" name="Oval 22"/>
            <p:cNvSpPr/>
            <p:nvPr/>
          </p:nvSpPr>
          <p:spPr>
            <a:xfrm>
              <a:off x="4035600" y="1828800"/>
              <a:ext cx="3618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4" name="Oval 23"/>
            <p:cNvSpPr/>
            <p:nvPr/>
          </p:nvSpPr>
          <p:spPr>
            <a:xfrm>
              <a:off x="5891040" y="1830240"/>
              <a:ext cx="3636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8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4" name="Line 24"/>
            <p:cNvSpPr/>
            <p:nvPr/>
          </p:nvSpPr>
          <p:spPr>
            <a:xfrm flipV="1">
              <a:off x="4362480" y="1801800"/>
              <a:ext cx="230040" cy="122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5" name="Line 25"/>
            <p:cNvSpPr/>
            <p:nvPr/>
          </p:nvSpPr>
          <p:spPr>
            <a:xfrm>
              <a:off x="4371840" y="2114640"/>
              <a:ext cx="228600" cy="145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6" name="Line 26"/>
            <p:cNvSpPr/>
            <p:nvPr/>
          </p:nvSpPr>
          <p:spPr>
            <a:xfrm>
              <a:off x="5724360" y="1793880"/>
              <a:ext cx="190800" cy="130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7" name="Line 27"/>
            <p:cNvSpPr/>
            <p:nvPr/>
          </p:nvSpPr>
          <p:spPr>
            <a:xfrm flipV="1">
              <a:off x="5724360" y="2136600"/>
              <a:ext cx="190800" cy="1540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8" name="Oval 28"/>
            <p:cNvSpPr/>
            <p:nvPr/>
          </p:nvSpPr>
          <p:spPr>
            <a:xfrm>
              <a:off x="3301920" y="1828800"/>
              <a:ext cx="36216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9" name="Oval 29"/>
            <p:cNvSpPr/>
            <p:nvPr/>
          </p:nvSpPr>
          <p:spPr>
            <a:xfrm>
              <a:off x="6648480" y="1828800"/>
              <a:ext cx="361800" cy="3715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0" name="Line 30"/>
            <p:cNvSpPr/>
            <p:nvPr/>
          </p:nvSpPr>
          <p:spPr>
            <a:xfrm>
              <a:off x="6249960" y="201600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1" name="Line 31"/>
            <p:cNvSpPr/>
            <p:nvPr/>
          </p:nvSpPr>
          <p:spPr>
            <a:xfrm>
              <a:off x="3652920" y="201600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562" name="AutoShape 32"/>
            <p:cNvCxnSpPr>
              <a:stCxn id="558" idx="5"/>
              <a:endCxn id="559" idx="3"/>
            </p:cNvCxnSpPr>
            <p:nvPr/>
          </p:nvCxnSpPr>
          <p:spPr>
            <a:xfrm flipH="1" rot="16200000">
              <a:off x="5150520" y="614160"/>
              <a:ext cx="10080" cy="3089880"/>
            </a:xfrm>
            <a:prstGeom prst="curvedConnector5">
              <a:avLst>
                <a:gd name="adj1" fmla="val 6748148"/>
                <a:gd name="adj2" fmla="val 50000"/>
                <a:gd name="adj3" fmla="val 674814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563" name="Text Box 33"/>
            <p:cNvSpPr/>
            <p:nvPr/>
          </p:nvSpPr>
          <p:spPr>
            <a:xfrm>
              <a:off x="4997520" y="255096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4" name="Text Box 34"/>
            <p:cNvSpPr/>
            <p:nvPr/>
          </p:nvSpPr>
          <p:spPr>
            <a:xfrm>
              <a:off x="43178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5" name="Text Box 35"/>
            <p:cNvSpPr/>
            <p:nvPr/>
          </p:nvSpPr>
          <p:spPr>
            <a:xfrm>
              <a:off x="57182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6" name="Text Box 36"/>
            <p:cNvSpPr/>
            <p:nvPr/>
          </p:nvSpPr>
          <p:spPr>
            <a:xfrm>
              <a:off x="4317840" y="2136600"/>
              <a:ext cx="238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7" name="Text Box 37"/>
            <p:cNvSpPr/>
            <p:nvPr/>
          </p:nvSpPr>
          <p:spPr>
            <a:xfrm>
              <a:off x="5718240" y="213660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8" name="Text Box 38"/>
            <p:cNvSpPr/>
            <p:nvPr/>
          </p:nvSpPr>
          <p:spPr>
            <a:xfrm>
              <a:off x="367812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9" name="Text Box 39"/>
            <p:cNvSpPr/>
            <p:nvPr/>
          </p:nvSpPr>
          <p:spPr>
            <a:xfrm>
              <a:off x="626904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70" name="Text Box 40"/>
            <p:cNvSpPr/>
            <p:nvPr/>
          </p:nvSpPr>
          <p:spPr>
            <a:xfrm>
              <a:off x="5008680" y="10666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aphicFrame>
        <p:nvGraphicFramePr>
          <p:cNvPr id="571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2" name="Rectangle 234"/>
          <p:cNvSpPr/>
          <p:nvPr/>
        </p:nvSpPr>
        <p:spPr>
          <a:xfrm>
            <a:off x="3429000" y="379728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73" name="Rectangle 235"/>
          <p:cNvSpPr/>
          <p:nvPr/>
        </p:nvSpPr>
        <p:spPr>
          <a:xfrm>
            <a:off x="3429000" y="441972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74" name="Rectangle 236"/>
          <p:cNvSpPr/>
          <p:nvPr/>
        </p:nvSpPr>
        <p:spPr>
          <a:xfrm>
            <a:off x="3429000" y="504180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75" name="Rectangle 237"/>
          <p:cNvSpPr/>
          <p:nvPr/>
        </p:nvSpPr>
        <p:spPr>
          <a:xfrm>
            <a:off x="3429000" y="554976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76" name="Rectangle 238"/>
          <p:cNvSpPr/>
          <p:nvPr/>
        </p:nvSpPr>
        <p:spPr>
          <a:xfrm>
            <a:off x="1295280" y="4343400"/>
            <a:ext cx="2057400" cy="53352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77" name="Rectangle 239"/>
          <p:cNvSpPr/>
          <p:nvPr/>
        </p:nvSpPr>
        <p:spPr>
          <a:xfrm>
            <a:off x="1295280" y="4876920"/>
            <a:ext cx="2057400" cy="53316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78" name="Rectangle 240"/>
          <p:cNvSpPr/>
          <p:nvPr/>
        </p:nvSpPr>
        <p:spPr>
          <a:xfrm>
            <a:off x="1295280" y="5486400"/>
            <a:ext cx="2057400" cy="53352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80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9F3CB9C-4D4B-45B5-A15D-D79B06665DB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81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82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83" name="Rectangle 4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584" name="Group 90"/>
          <p:cNvGrpSpPr/>
          <p:nvPr/>
        </p:nvGrpSpPr>
        <p:grpSpPr>
          <a:xfrm>
            <a:off x="1773360" y="1066680"/>
            <a:ext cx="5236920" cy="1821960"/>
            <a:chOff x="1773360" y="1066680"/>
            <a:chExt cx="5236920" cy="1821960"/>
          </a:xfrm>
        </p:grpSpPr>
        <p:sp>
          <p:nvSpPr>
            <p:cNvPr id="585" name="Oval 6"/>
            <p:cNvSpPr/>
            <p:nvPr/>
          </p:nvSpPr>
          <p:spPr>
            <a:xfrm>
              <a:off x="1773360" y="1797120"/>
              <a:ext cx="361800" cy="37152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86" name="Oval 7"/>
            <p:cNvSpPr/>
            <p:nvPr/>
          </p:nvSpPr>
          <p:spPr>
            <a:xfrm>
              <a:off x="2546280" y="1797120"/>
              <a:ext cx="363600" cy="3697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87" name="Line 8"/>
            <p:cNvSpPr/>
            <p:nvPr/>
          </p:nvSpPr>
          <p:spPr>
            <a:xfrm>
              <a:off x="2135160" y="198288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88" name="Text Box 9"/>
            <p:cNvSpPr/>
            <p:nvPr/>
          </p:nvSpPr>
          <p:spPr>
            <a:xfrm>
              <a:off x="2185920" y="17128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89" name="Line 10"/>
            <p:cNvSpPr/>
            <p:nvPr/>
          </p:nvSpPr>
          <p:spPr>
            <a:xfrm>
              <a:off x="2909880" y="200664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90" name="Text Box 11"/>
            <p:cNvSpPr/>
            <p:nvPr/>
          </p:nvSpPr>
          <p:spPr>
            <a:xfrm>
              <a:off x="2941560" y="173844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591" name="AutoShape 12"/>
            <p:cNvCxnSpPr>
              <a:stCxn id="592" idx="0"/>
              <a:endCxn id="593" idx="0"/>
            </p:cNvCxnSpPr>
            <p:nvPr/>
          </p:nvCxnSpPr>
          <p:spPr>
            <a:xfrm flipV="1" rot="16200000">
              <a:off x="5144040" y="892080"/>
              <a:ext cx="2160" cy="1858320"/>
            </a:xfrm>
            <a:prstGeom prst="curvedConnector5">
              <a:avLst>
                <a:gd name="adj1" fmla="val 30380000"/>
                <a:gd name="adj2" fmla="val 49990"/>
                <a:gd name="adj3" fmla="val 3038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594" name="Oval 13"/>
            <p:cNvSpPr/>
            <p:nvPr/>
          </p:nvSpPr>
          <p:spPr>
            <a:xfrm>
              <a:off x="4584600" y="1547640"/>
              <a:ext cx="363600" cy="37008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95" name="Oval 14"/>
            <p:cNvSpPr/>
            <p:nvPr/>
          </p:nvSpPr>
          <p:spPr>
            <a:xfrm>
              <a:off x="5359320" y="1546200"/>
              <a:ext cx="36216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96" name="Line 15"/>
            <p:cNvSpPr/>
            <p:nvPr/>
          </p:nvSpPr>
          <p:spPr>
            <a:xfrm>
              <a:off x="4948200" y="17319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97" name="Text Box 16"/>
            <p:cNvSpPr/>
            <p:nvPr/>
          </p:nvSpPr>
          <p:spPr>
            <a:xfrm>
              <a:off x="4997520" y="146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98" name="Oval 17"/>
            <p:cNvSpPr/>
            <p:nvPr/>
          </p:nvSpPr>
          <p:spPr>
            <a:xfrm>
              <a:off x="4584600" y="2165400"/>
              <a:ext cx="36360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99" name="Oval 18"/>
            <p:cNvSpPr/>
            <p:nvPr/>
          </p:nvSpPr>
          <p:spPr>
            <a:xfrm>
              <a:off x="5359320" y="2163600"/>
              <a:ext cx="36216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0" name="Line 19"/>
            <p:cNvSpPr/>
            <p:nvPr/>
          </p:nvSpPr>
          <p:spPr>
            <a:xfrm>
              <a:off x="4948200" y="23511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1" name="Text Box 20"/>
            <p:cNvSpPr/>
            <p:nvPr/>
          </p:nvSpPr>
          <p:spPr>
            <a:xfrm>
              <a:off x="4997520" y="209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93" name="Oval 21"/>
            <p:cNvSpPr/>
            <p:nvPr/>
          </p:nvSpPr>
          <p:spPr>
            <a:xfrm>
              <a:off x="4035600" y="1828800"/>
              <a:ext cx="36180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92" name="Oval 22"/>
            <p:cNvSpPr/>
            <p:nvPr/>
          </p:nvSpPr>
          <p:spPr>
            <a:xfrm>
              <a:off x="5891040" y="1830240"/>
              <a:ext cx="3636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8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2" name="Line 23"/>
            <p:cNvSpPr/>
            <p:nvPr/>
          </p:nvSpPr>
          <p:spPr>
            <a:xfrm flipV="1">
              <a:off x="4362480" y="1801800"/>
              <a:ext cx="230040" cy="122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3" name="Line 24"/>
            <p:cNvSpPr/>
            <p:nvPr/>
          </p:nvSpPr>
          <p:spPr>
            <a:xfrm>
              <a:off x="4371840" y="2114640"/>
              <a:ext cx="228600" cy="145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4" name="Line 25"/>
            <p:cNvSpPr/>
            <p:nvPr/>
          </p:nvSpPr>
          <p:spPr>
            <a:xfrm>
              <a:off x="5724360" y="1793880"/>
              <a:ext cx="190800" cy="130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5" name="Line 26"/>
            <p:cNvSpPr/>
            <p:nvPr/>
          </p:nvSpPr>
          <p:spPr>
            <a:xfrm flipV="1">
              <a:off x="5724360" y="2136600"/>
              <a:ext cx="190800" cy="1540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6" name="Oval 27"/>
            <p:cNvSpPr/>
            <p:nvPr/>
          </p:nvSpPr>
          <p:spPr>
            <a:xfrm>
              <a:off x="3301920" y="1828800"/>
              <a:ext cx="36216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7" name="Oval 28"/>
            <p:cNvSpPr/>
            <p:nvPr/>
          </p:nvSpPr>
          <p:spPr>
            <a:xfrm>
              <a:off x="6648480" y="1828800"/>
              <a:ext cx="361800" cy="371520"/>
            </a:xfrm>
            <a:prstGeom prst="ellipse">
              <a:avLst/>
            </a:prstGeom>
            <a:noFill/>
            <a:ln w="381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9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8" name="Line 29"/>
            <p:cNvSpPr/>
            <p:nvPr/>
          </p:nvSpPr>
          <p:spPr>
            <a:xfrm>
              <a:off x="6249960" y="201600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9" name="Line 30"/>
            <p:cNvSpPr/>
            <p:nvPr/>
          </p:nvSpPr>
          <p:spPr>
            <a:xfrm>
              <a:off x="3652920" y="201600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10" name="AutoShape 31"/>
            <p:cNvCxnSpPr>
              <a:stCxn id="606" idx="5"/>
              <a:endCxn id="607" idx="3"/>
            </p:cNvCxnSpPr>
            <p:nvPr/>
          </p:nvCxnSpPr>
          <p:spPr>
            <a:xfrm flipH="1" rot="16200000">
              <a:off x="5150520" y="614160"/>
              <a:ext cx="10080" cy="3089880"/>
            </a:xfrm>
            <a:prstGeom prst="curvedConnector5">
              <a:avLst>
                <a:gd name="adj1" fmla="val 6748148"/>
                <a:gd name="adj2" fmla="val 50000"/>
                <a:gd name="adj3" fmla="val 674814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11" name="Text Box 32"/>
            <p:cNvSpPr/>
            <p:nvPr/>
          </p:nvSpPr>
          <p:spPr>
            <a:xfrm>
              <a:off x="4997520" y="255096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12" name="Text Box 33"/>
            <p:cNvSpPr/>
            <p:nvPr/>
          </p:nvSpPr>
          <p:spPr>
            <a:xfrm>
              <a:off x="43178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13" name="Text Box 34"/>
            <p:cNvSpPr/>
            <p:nvPr/>
          </p:nvSpPr>
          <p:spPr>
            <a:xfrm>
              <a:off x="57182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14" name="Text Box 35"/>
            <p:cNvSpPr/>
            <p:nvPr/>
          </p:nvSpPr>
          <p:spPr>
            <a:xfrm>
              <a:off x="4317840" y="2136600"/>
              <a:ext cx="238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15" name="Text Box 36"/>
            <p:cNvSpPr/>
            <p:nvPr/>
          </p:nvSpPr>
          <p:spPr>
            <a:xfrm>
              <a:off x="5718240" y="213660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16" name="Text Box 37"/>
            <p:cNvSpPr/>
            <p:nvPr/>
          </p:nvSpPr>
          <p:spPr>
            <a:xfrm>
              <a:off x="367812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17" name="Text Box 38"/>
            <p:cNvSpPr/>
            <p:nvPr/>
          </p:nvSpPr>
          <p:spPr>
            <a:xfrm>
              <a:off x="626904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18" name="Text Box 39"/>
            <p:cNvSpPr/>
            <p:nvPr/>
          </p:nvSpPr>
          <p:spPr>
            <a:xfrm>
              <a:off x="5008680" y="10666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aphicFrame>
        <p:nvGraphicFramePr>
          <p:cNvPr id="619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0" name="Rectangle 84"/>
          <p:cNvSpPr/>
          <p:nvPr/>
        </p:nvSpPr>
        <p:spPr>
          <a:xfrm>
            <a:off x="3429000" y="441972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21" name="Rectangle 85"/>
          <p:cNvSpPr/>
          <p:nvPr/>
        </p:nvSpPr>
        <p:spPr>
          <a:xfrm>
            <a:off x="3429000" y="504180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22" name="Rectangle 86"/>
          <p:cNvSpPr/>
          <p:nvPr/>
        </p:nvSpPr>
        <p:spPr>
          <a:xfrm>
            <a:off x="3429000" y="554976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23" name="Rectangle 87"/>
          <p:cNvSpPr/>
          <p:nvPr/>
        </p:nvSpPr>
        <p:spPr>
          <a:xfrm>
            <a:off x="1295280" y="4343400"/>
            <a:ext cx="2057400" cy="53352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24" name="Rectangle 88"/>
          <p:cNvSpPr/>
          <p:nvPr/>
        </p:nvSpPr>
        <p:spPr>
          <a:xfrm>
            <a:off x="1295280" y="4876920"/>
            <a:ext cx="2057400" cy="53316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25" name="Rectangle 89"/>
          <p:cNvSpPr/>
          <p:nvPr/>
        </p:nvSpPr>
        <p:spPr>
          <a:xfrm>
            <a:off x="1295280" y="5486400"/>
            <a:ext cx="2057400" cy="53352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27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0104919-4484-418C-A185-E80BEC9BC33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28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29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30" name="Rectangle 4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631" name="Group 5"/>
          <p:cNvGrpSpPr/>
          <p:nvPr/>
        </p:nvGrpSpPr>
        <p:grpSpPr>
          <a:xfrm>
            <a:off x="1773360" y="1066680"/>
            <a:ext cx="5236920" cy="1821960"/>
            <a:chOff x="1773360" y="1066680"/>
            <a:chExt cx="5236920" cy="1821960"/>
          </a:xfrm>
        </p:grpSpPr>
        <p:sp>
          <p:nvSpPr>
            <p:cNvPr id="632" name="Oval 6"/>
            <p:cNvSpPr/>
            <p:nvPr/>
          </p:nvSpPr>
          <p:spPr>
            <a:xfrm>
              <a:off x="1773360" y="1797120"/>
              <a:ext cx="361800" cy="37152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3" name="Oval 7"/>
            <p:cNvSpPr/>
            <p:nvPr/>
          </p:nvSpPr>
          <p:spPr>
            <a:xfrm>
              <a:off x="2546280" y="1797120"/>
              <a:ext cx="363600" cy="3697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4" name="Line 8"/>
            <p:cNvSpPr/>
            <p:nvPr/>
          </p:nvSpPr>
          <p:spPr>
            <a:xfrm>
              <a:off x="2135160" y="198288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5" name="Text Box 9"/>
            <p:cNvSpPr/>
            <p:nvPr/>
          </p:nvSpPr>
          <p:spPr>
            <a:xfrm>
              <a:off x="2185920" y="17128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6" name="Line 10"/>
            <p:cNvSpPr/>
            <p:nvPr/>
          </p:nvSpPr>
          <p:spPr>
            <a:xfrm>
              <a:off x="2909880" y="200664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7" name="Text Box 11"/>
            <p:cNvSpPr/>
            <p:nvPr/>
          </p:nvSpPr>
          <p:spPr>
            <a:xfrm>
              <a:off x="2941560" y="173844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38" name="AutoShape 12"/>
            <p:cNvCxnSpPr>
              <a:stCxn id="639" idx="0"/>
              <a:endCxn id="640" idx="0"/>
            </p:cNvCxnSpPr>
            <p:nvPr/>
          </p:nvCxnSpPr>
          <p:spPr>
            <a:xfrm flipV="1" rot="16200000">
              <a:off x="5144040" y="892080"/>
              <a:ext cx="2160" cy="1858320"/>
            </a:xfrm>
            <a:prstGeom prst="curvedConnector5">
              <a:avLst>
                <a:gd name="adj1" fmla="val 30380000"/>
                <a:gd name="adj2" fmla="val 49990"/>
                <a:gd name="adj3" fmla="val 3038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41" name="Oval 13"/>
            <p:cNvSpPr/>
            <p:nvPr/>
          </p:nvSpPr>
          <p:spPr>
            <a:xfrm>
              <a:off x="4584600" y="1547640"/>
              <a:ext cx="363600" cy="37008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2" name="Oval 14"/>
            <p:cNvSpPr/>
            <p:nvPr/>
          </p:nvSpPr>
          <p:spPr>
            <a:xfrm>
              <a:off x="5359320" y="1546200"/>
              <a:ext cx="36216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3" name="Line 15"/>
            <p:cNvSpPr/>
            <p:nvPr/>
          </p:nvSpPr>
          <p:spPr>
            <a:xfrm>
              <a:off x="4948200" y="17319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4" name="Text Box 16"/>
            <p:cNvSpPr/>
            <p:nvPr/>
          </p:nvSpPr>
          <p:spPr>
            <a:xfrm>
              <a:off x="4997520" y="146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5" name="Oval 17"/>
            <p:cNvSpPr/>
            <p:nvPr/>
          </p:nvSpPr>
          <p:spPr>
            <a:xfrm>
              <a:off x="4584600" y="2165400"/>
              <a:ext cx="36360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6" name="Oval 18"/>
            <p:cNvSpPr/>
            <p:nvPr/>
          </p:nvSpPr>
          <p:spPr>
            <a:xfrm>
              <a:off x="5359320" y="2163600"/>
              <a:ext cx="36216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7" name="Line 19"/>
            <p:cNvSpPr/>
            <p:nvPr/>
          </p:nvSpPr>
          <p:spPr>
            <a:xfrm>
              <a:off x="4948200" y="23511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8" name="Text Box 20"/>
            <p:cNvSpPr/>
            <p:nvPr/>
          </p:nvSpPr>
          <p:spPr>
            <a:xfrm>
              <a:off x="4997520" y="209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0" name="Oval 21"/>
            <p:cNvSpPr/>
            <p:nvPr/>
          </p:nvSpPr>
          <p:spPr>
            <a:xfrm>
              <a:off x="4035600" y="1828800"/>
              <a:ext cx="36180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9" name="Oval 22"/>
            <p:cNvSpPr/>
            <p:nvPr/>
          </p:nvSpPr>
          <p:spPr>
            <a:xfrm>
              <a:off x="5891040" y="1830240"/>
              <a:ext cx="3636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8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9" name="Line 23"/>
            <p:cNvSpPr/>
            <p:nvPr/>
          </p:nvSpPr>
          <p:spPr>
            <a:xfrm flipV="1">
              <a:off x="4362480" y="1801800"/>
              <a:ext cx="230040" cy="122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50" name="Line 24"/>
            <p:cNvSpPr/>
            <p:nvPr/>
          </p:nvSpPr>
          <p:spPr>
            <a:xfrm>
              <a:off x="4371840" y="2114640"/>
              <a:ext cx="228600" cy="145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51" name="Line 25"/>
            <p:cNvSpPr/>
            <p:nvPr/>
          </p:nvSpPr>
          <p:spPr>
            <a:xfrm>
              <a:off x="5724360" y="1793880"/>
              <a:ext cx="190800" cy="130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52" name="Line 26"/>
            <p:cNvSpPr/>
            <p:nvPr/>
          </p:nvSpPr>
          <p:spPr>
            <a:xfrm flipV="1">
              <a:off x="5724360" y="2136600"/>
              <a:ext cx="190800" cy="1540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53" name="Oval 27"/>
            <p:cNvSpPr/>
            <p:nvPr/>
          </p:nvSpPr>
          <p:spPr>
            <a:xfrm>
              <a:off x="3301920" y="1828800"/>
              <a:ext cx="36216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54" name="Oval 28"/>
            <p:cNvSpPr/>
            <p:nvPr/>
          </p:nvSpPr>
          <p:spPr>
            <a:xfrm>
              <a:off x="6648480" y="1828800"/>
              <a:ext cx="361800" cy="371520"/>
            </a:xfrm>
            <a:prstGeom prst="ellipse">
              <a:avLst/>
            </a:prstGeom>
            <a:noFill/>
            <a:ln w="381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9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55" name="Line 29"/>
            <p:cNvSpPr/>
            <p:nvPr/>
          </p:nvSpPr>
          <p:spPr>
            <a:xfrm>
              <a:off x="6249960" y="201600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56" name="Line 30"/>
            <p:cNvSpPr/>
            <p:nvPr/>
          </p:nvSpPr>
          <p:spPr>
            <a:xfrm>
              <a:off x="3652920" y="201600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57" name="AutoShape 31"/>
            <p:cNvCxnSpPr>
              <a:stCxn id="653" idx="5"/>
              <a:endCxn id="654" idx="3"/>
            </p:cNvCxnSpPr>
            <p:nvPr/>
          </p:nvCxnSpPr>
          <p:spPr>
            <a:xfrm flipH="1" rot="16200000">
              <a:off x="5150520" y="614160"/>
              <a:ext cx="10080" cy="3089880"/>
            </a:xfrm>
            <a:prstGeom prst="curvedConnector5">
              <a:avLst>
                <a:gd name="adj1" fmla="val 6748148"/>
                <a:gd name="adj2" fmla="val 50000"/>
                <a:gd name="adj3" fmla="val 674814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58" name="Text Box 32"/>
            <p:cNvSpPr/>
            <p:nvPr/>
          </p:nvSpPr>
          <p:spPr>
            <a:xfrm>
              <a:off x="4997520" y="255096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59" name="Text Box 33"/>
            <p:cNvSpPr/>
            <p:nvPr/>
          </p:nvSpPr>
          <p:spPr>
            <a:xfrm>
              <a:off x="43178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0" name="Text Box 34"/>
            <p:cNvSpPr/>
            <p:nvPr/>
          </p:nvSpPr>
          <p:spPr>
            <a:xfrm>
              <a:off x="57182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1" name="Text Box 35"/>
            <p:cNvSpPr/>
            <p:nvPr/>
          </p:nvSpPr>
          <p:spPr>
            <a:xfrm>
              <a:off x="4317840" y="2136600"/>
              <a:ext cx="238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2" name="Text Box 36"/>
            <p:cNvSpPr/>
            <p:nvPr/>
          </p:nvSpPr>
          <p:spPr>
            <a:xfrm>
              <a:off x="5718240" y="213660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3" name="Text Box 37"/>
            <p:cNvSpPr/>
            <p:nvPr/>
          </p:nvSpPr>
          <p:spPr>
            <a:xfrm>
              <a:off x="367812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4" name="Text Box 38"/>
            <p:cNvSpPr/>
            <p:nvPr/>
          </p:nvSpPr>
          <p:spPr>
            <a:xfrm>
              <a:off x="626904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5" name="Text Box 39"/>
            <p:cNvSpPr/>
            <p:nvPr/>
          </p:nvSpPr>
          <p:spPr>
            <a:xfrm>
              <a:off x="5008680" y="10666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aphicFrame>
        <p:nvGraphicFramePr>
          <p:cNvPr id="666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67" name="Rectangle 83"/>
          <p:cNvSpPr/>
          <p:nvPr/>
        </p:nvSpPr>
        <p:spPr>
          <a:xfrm>
            <a:off x="3429000" y="441972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68" name="Rectangle 84"/>
          <p:cNvSpPr/>
          <p:nvPr/>
        </p:nvSpPr>
        <p:spPr>
          <a:xfrm>
            <a:off x="3429000" y="504180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69" name="Rectangle 85"/>
          <p:cNvSpPr/>
          <p:nvPr/>
        </p:nvSpPr>
        <p:spPr>
          <a:xfrm>
            <a:off x="3429000" y="554976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70" name="Rectangle 86"/>
          <p:cNvSpPr/>
          <p:nvPr/>
        </p:nvSpPr>
        <p:spPr>
          <a:xfrm>
            <a:off x="1295280" y="4343400"/>
            <a:ext cx="2057400" cy="53352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71" name="Rectangle 87"/>
          <p:cNvSpPr/>
          <p:nvPr/>
        </p:nvSpPr>
        <p:spPr>
          <a:xfrm>
            <a:off x="1295280" y="4876920"/>
            <a:ext cx="2057400" cy="53316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72" name="Rectangle 88"/>
          <p:cNvSpPr/>
          <p:nvPr/>
        </p:nvSpPr>
        <p:spPr>
          <a:xfrm>
            <a:off x="1295280" y="5486400"/>
            <a:ext cx="2057400" cy="53352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74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689118E-32B8-4D8B-894C-91CA57A3F1E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75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76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77" name="Rectangle 4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678" name="Group 90"/>
          <p:cNvGrpSpPr/>
          <p:nvPr/>
        </p:nvGrpSpPr>
        <p:grpSpPr>
          <a:xfrm>
            <a:off x="1773360" y="1066680"/>
            <a:ext cx="5236920" cy="1821960"/>
            <a:chOff x="1773360" y="1066680"/>
            <a:chExt cx="5236920" cy="1821960"/>
          </a:xfrm>
        </p:grpSpPr>
        <p:sp>
          <p:nvSpPr>
            <p:cNvPr id="679" name="Oval 6"/>
            <p:cNvSpPr/>
            <p:nvPr/>
          </p:nvSpPr>
          <p:spPr>
            <a:xfrm>
              <a:off x="1773360" y="1797120"/>
              <a:ext cx="3618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80" name="Oval 7"/>
            <p:cNvSpPr/>
            <p:nvPr/>
          </p:nvSpPr>
          <p:spPr>
            <a:xfrm>
              <a:off x="2546280" y="1797120"/>
              <a:ext cx="363600" cy="36972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81" name="Line 8"/>
            <p:cNvSpPr/>
            <p:nvPr/>
          </p:nvSpPr>
          <p:spPr>
            <a:xfrm>
              <a:off x="2135160" y="198288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82" name="Text Box 9"/>
            <p:cNvSpPr/>
            <p:nvPr/>
          </p:nvSpPr>
          <p:spPr>
            <a:xfrm>
              <a:off x="2185920" y="17128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83" name="Line 10"/>
            <p:cNvSpPr/>
            <p:nvPr/>
          </p:nvSpPr>
          <p:spPr>
            <a:xfrm>
              <a:off x="2909880" y="200664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84" name="Text Box 11"/>
            <p:cNvSpPr/>
            <p:nvPr/>
          </p:nvSpPr>
          <p:spPr>
            <a:xfrm>
              <a:off x="2941560" y="173844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85" name="AutoShape 12"/>
            <p:cNvCxnSpPr>
              <a:stCxn id="686" idx="0"/>
              <a:endCxn id="687" idx="0"/>
            </p:cNvCxnSpPr>
            <p:nvPr/>
          </p:nvCxnSpPr>
          <p:spPr>
            <a:xfrm flipV="1" rot="16200000">
              <a:off x="5144040" y="892080"/>
              <a:ext cx="2160" cy="1858320"/>
            </a:xfrm>
            <a:prstGeom prst="curvedConnector5">
              <a:avLst>
                <a:gd name="adj1" fmla="val 30380000"/>
                <a:gd name="adj2" fmla="val 49990"/>
                <a:gd name="adj3" fmla="val 3038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88" name="Oval 13"/>
            <p:cNvSpPr/>
            <p:nvPr/>
          </p:nvSpPr>
          <p:spPr>
            <a:xfrm>
              <a:off x="4584600" y="1547640"/>
              <a:ext cx="363600" cy="37008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89" name="Oval 14"/>
            <p:cNvSpPr/>
            <p:nvPr/>
          </p:nvSpPr>
          <p:spPr>
            <a:xfrm>
              <a:off x="5359320" y="1546200"/>
              <a:ext cx="36216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0" name="Line 15"/>
            <p:cNvSpPr/>
            <p:nvPr/>
          </p:nvSpPr>
          <p:spPr>
            <a:xfrm>
              <a:off x="4948200" y="17319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1" name="Text Box 16"/>
            <p:cNvSpPr/>
            <p:nvPr/>
          </p:nvSpPr>
          <p:spPr>
            <a:xfrm>
              <a:off x="4997520" y="146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2" name="Oval 17"/>
            <p:cNvSpPr/>
            <p:nvPr/>
          </p:nvSpPr>
          <p:spPr>
            <a:xfrm>
              <a:off x="4584600" y="2165400"/>
              <a:ext cx="363600" cy="37152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3" name="Oval 18"/>
            <p:cNvSpPr/>
            <p:nvPr/>
          </p:nvSpPr>
          <p:spPr>
            <a:xfrm>
              <a:off x="5359320" y="2163600"/>
              <a:ext cx="36216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4" name="Line 19"/>
            <p:cNvSpPr/>
            <p:nvPr/>
          </p:nvSpPr>
          <p:spPr>
            <a:xfrm>
              <a:off x="4948200" y="23511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5" name="Text Box 20"/>
            <p:cNvSpPr/>
            <p:nvPr/>
          </p:nvSpPr>
          <p:spPr>
            <a:xfrm>
              <a:off x="4997520" y="209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87" name="Oval 21"/>
            <p:cNvSpPr/>
            <p:nvPr/>
          </p:nvSpPr>
          <p:spPr>
            <a:xfrm>
              <a:off x="4035600" y="1828800"/>
              <a:ext cx="361800" cy="37152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86" name="Oval 22"/>
            <p:cNvSpPr/>
            <p:nvPr/>
          </p:nvSpPr>
          <p:spPr>
            <a:xfrm>
              <a:off x="5891040" y="1830240"/>
              <a:ext cx="3636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8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6" name="Line 23"/>
            <p:cNvSpPr/>
            <p:nvPr/>
          </p:nvSpPr>
          <p:spPr>
            <a:xfrm flipV="1">
              <a:off x="4362480" y="1801800"/>
              <a:ext cx="230040" cy="122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7" name="Line 24"/>
            <p:cNvSpPr/>
            <p:nvPr/>
          </p:nvSpPr>
          <p:spPr>
            <a:xfrm>
              <a:off x="4371840" y="2114640"/>
              <a:ext cx="228600" cy="145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8" name="Line 25"/>
            <p:cNvSpPr/>
            <p:nvPr/>
          </p:nvSpPr>
          <p:spPr>
            <a:xfrm>
              <a:off x="5724360" y="1793880"/>
              <a:ext cx="190800" cy="130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9" name="Line 26"/>
            <p:cNvSpPr/>
            <p:nvPr/>
          </p:nvSpPr>
          <p:spPr>
            <a:xfrm flipV="1">
              <a:off x="5724360" y="2136600"/>
              <a:ext cx="190800" cy="1540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0" name="Oval 27"/>
            <p:cNvSpPr/>
            <p:nvPr/>
          </p:nvSpPr>
          <p:spPr>
            <a:xfrm>
              <a:off x="3301920" y="1828800"/>
              <a:ext cx="362160" cy="37152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1" name="Oval 28"/>
            <p:cNvSpPr/>
            <p:nvPr/>
          </p:nvSpPr>
          <p:spPr>
            <a:xfrm>
              <a:off x="6648480" y="1828800"/>
              <a:ext cx="361800" cy="371520"/>
            </a:xfrm>
            <a:prstGeom prst="ellipse">
              <a:avLst/>
            </a:prstGeom>
            <a:noFill/>
            <a:ln w="381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9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2" name="Line 29"/>
            <p:cNvSpPr/>
            <p:nvPr/>
          </p:nvSpPr>
          <p:spPr>
            <a:xfrm>
              <a:off x="6249960" y="201600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3" name="Line 30"/>
            <p:cNvSpPr/>
            <p:nvPr/>
          </p:nvSpPr>
          <p:spPr>
            <a:xfrm>
              <a:off x="3652920" y="201600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04" name="AutoShape 31"/>
            <p:cNvCxnSpPr>
              <a:stCxn id="700" idx="5"/>
              <a:endCxn id="701" idx="3"/>
            </p:cNvCxnSpPr>
            <p:nvPr/>
          </p:nvCxnSpPr>
          <p:spPr>
            <a:xfrm flipH="1" rot="16200000">
              <a:off x="5150520" y="614160"/>
              <a:ext cx="10080" cy="3089880"/>
            </a:xfrm>
            <a:prstGeom prst="curvedConnector5">
              <a:avLst>
                <a:gd name="adj1" fmla="val 6748148"/>
                <a:gd name="adj2" fmla="val 50000"/>
                <a:gd name="adj3" fmla="val 674814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05" name="Text Box 32"/>
            <p:cNvSpPr/>
            <p:nvPr/>
          </p:nvSpPr>
          <p:spPr>
            <a:xfrm>
              <a:off x="4997520" y="255096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6" name="Text Box 33"/>
            <p:cNvSpPr/>
            <p:nvPr/>
          </p:nvSpPr>
          <p:spPr>
            <a:xfrm>
              <a:off x="43178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7" name="Text Box 34"/>
            <p:cNvSpPr/>
            <p:nvPr/>
          </p:nvSpPr>
          <p:spPr>
            <a:xfrm>
              <a:off x="57182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8" name="Text Box 35"/>
            <p:cNvSpPr/>
            <p:nvPr/>
          </p:nvSpPr>
          <p:spPr>
            <a:xfrm>
              <a:off x="4317840" y="2136600"/>
              <a:ext cx="238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9" name="Text Box 36"/>
            <p:cNvSpPr/>
            <p:nvPr/>
          </p:nvSpPr>
          <p:spPr>
            <a:xfrm>
              <a:off x="5718240" y="213660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10" name="Text Box 37"/>
            <p:cNvSpPr/>
            <p:nvPr/>
          </p:nvSpPr>
          <p:spPr>
            <a:xfrm>
              <a:off x="367812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11" name="Text Box 38"/>
            <p:cNvSpPr/>
            <p:nvPr/>
          </p:nvSpPr>
          <p:spPr>
            <a:xfrm>
              <a:off x="626904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12" name="Text Box 39"/>
            <p:cNvSpPr/>
            <p:nvPr/>
          </p:nvSpPr>
          <p:spPr>
            <a:xfrm>
              <a:off x="5008680" y="10666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aphicFrame>
        <p:nvGraphicFramePr>
          <p:cNvPr id="713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4" name="Rectangle 84"/>
          <p:cNvSpPr/>
          <p:nvPr/>
        </p:nvSpPr>
        <p:spPr>
          <a:xfrm>
            <a:off x="3429000" y="441972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15" name="Rectangle 85"/>
          <p:cNvSpPr/>
          <p:nvPr/>
        </p:nvSpPr>
        <p:spPr>
          <a:xfrm>
            <a:off x="3429000" y="502920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16" name="Rectangle 86"/>
          <p:cNvSpPr/>
          <p:nvPr/>
        </p:nvSpPr>
        <p:spPr>
          <a:xfrm>
            <a:off x="3429000" y="554976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17" name="Rectangle 88"/>
          <p:cNvSpPr/>
          <p:nvPr/>
        </p:nvSpPr>
        <p:spPr>
          <a:xfrm>
            <a:off x="1295280" y="4876920"/>
            <a:ext cx="2057400" cy="53316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18" name="Rectangle 89"/>
          <p:cNvSpPr/>
          <p:nvPr/>
        </p:nvSpPr>
        <p:spPr>
          <a:xfrm>
            <a:off x="1295280" y="5486400"/>
            <a:ext cx="2057400" cy="53352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19" name="Oval 91"/>
          <p:cNvSpPr/>
          <p:nvPr/>
        </p:nvSpPr>
        <p:spPr>
          <a:xfrm>
            <a:off x="3505320" y="3733920"/>
            <a:ext cx="1295280" cy="609480"/>
          </a:xfrm>
          <a:prstGeom prst="ellipse">
            <a:avLst/>
          </a:prstGeom>
          <a:noFill/>
          <a:ln w="1260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20" name="Oval 92"/>
          <p:cNvSpPr/>
          <p:nvPr/>
        </p:nvSpPr>
        <p:spPr>
          <a:xfrm>
            <a:off x="1447920" y="4419720"/>
            <a:ext cx="380880" cy="380880"/>
          </a:xfrm>
          <a:prstGeom prst="ellipse">
            <a:avLst/>
          </a:prstGeom>
          <a:noFill/>
          <a:ln w="1260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721" name="AutoShape 93"/>
          <p:cNvCxnSpPr>
            <a:stCxn id="719" idx="2"/>
            <a:endCxn id="720" idx="7"/>
          </p:cNvCxnSpPr>
          <p:nvPr/>
        </p:nvCxnSpPr>
        <p:spPr>
          <a:xfrm flipH="1">
            <a:off x="1772640" y="4038120"/>
            <a:ext cx="1732680" cy="437400"/>
          </a:xfrm>
          <a:prstGeom prst="straightConnector1">
            <a:avLst/>
          </a:prstGeom>
          <a:ln w="9360">
            <a:solidFill>
              <a:srgbClr val="FF0065"/>
            </a:solidFill>
            <a:miter/>
            <a:tailEnd len="med" type="triangle" w="med"/>
          </a:ln>
        </p:spPr>
      </p:cxnSp>
    </p:spTree>
  </p:cSld>
  <p:transition>
    <p:wipe dir="r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23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6F11D81-C54F-43B5-930E-34543E22031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24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25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26" name="Rectangle 4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727" name="Group 5"/>
          <p:cNvGrpSpPr/>
          <p:nvPr/>
        </p:nvGrpSpPr>
        <p:grpSpPr>
          <a:xfrm>
            <a:off x="1773360" y="1066680"/>
            <a:ext cx="5236920" cy="1821960"/>
            <a:chOff x="1773360" y="1066680"/>
            <a:chExt cx="5236920" cy="1821960"/>
          </a:xfrm>
        </p:grpSpPr>
        <p:sp>
          <p:nvSpPr>
            <p:cNvPr id="728" name="Oval 6"/>
            <p:cNvSpPr/>
            <p:nvPr/>
          </p:nvSpPr>
          <p:spPr>
            <a:xfrm>
              <a:off x="1773360" y="1797120"/>
              <a:ext cx="3618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29" name="Oval 7"/>
            <p:cNvSpPr/>
            <p:nvPr/>
          </p:nvSpPr>
          <p:spPr>
            <a:xfrm>
              <a:off x="2546280" y="1797120"/>
              <a:ext cx="363600" cy="36972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30" name="Line 8"/>
            <p:cNvSpPr/>
            <p:nvPr/>
          </p:nvSpPr>
          <p:spPr>
            <a:xfrm>
              <a:off x="2135160" y="198288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31" name="Text Box 9"/>
            <p:cNvSpPr/>
            <p:nvPr/>
          </p:nvSpPr>
          <p:spPr>
            <a:xfrm>
              <a:off x="2185920" y="17128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32" name="Line 10"/>
            <p:cNvSpPr/>
            <p:nvPr/>
          </p:nvSpPr>
          <p:spPr>
            <a:xfrm>
              <a:off x="2909880" y="200664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33" name="Text Box 11"/>
            <p:cNvSpPr/>
            <p:nvPr/>
          </p:nvSpPr>
          <p:spPr>
            <a:xfrm>
              <a:off x="2941560" y="173844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34" name="AutoShape 12"/>
            <p:cNvCxnSpPr>
              <a:stCxn id="735" idx="0"/>
              <a:endCxn id="736" idx="0"/>
            </p:cNvCxnSpPr>
            <p:nvPr/>
          </p:nvCxnSpPr>
          <p:spPr>
            <a:xfrm flipV="1" rot="16200000">
              <a:off x="5144040" y="892080"/>
              <a:ext cx="2160" cy="1858320"/>
            </a:xfrm>
            <a:prstGeom prst="curvedConnector5">
              <a:avLst>
                <a:gd name="adj1" fmla="val 30380000"/>
                <a:gd name="adj2" fmla="val 49990"/>
                <a:gd name="adj3" fmla="val 3038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37" name="Oval 13"/>
            <p:cNvSpPr/>
            <p:nvPr/>
          </p:nvSpPr>
          <p:spPr>
            <a:xfrm>
              <a:off x="4584600" y="1547640"/>
              <a:ext cx="363600" cy="37008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38" name="Oval 14"/>
            <p:cNvSpPr/>
            <p:nvPr/>
          </p:nvSpPr>
          <p:spPr>
            <a:xfrm>
              <a:off x="5359320" y="1546200"/>
              <a:ext cx="36216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39" name="Line 15"/>
            <p:cNvSpPr/>
            <p:nvPr/>
          </p:nvSpPr>
          <p:spPr>
            <a:xfrm>
              <a:off x="4948200" y="17319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0" name="Text Box 16"/>
            <p:cNvSpPr/>
            <p:nvPr/>
          </p:nvSpPr>
          <p:spPr>
            <a:xfrm>
              <a:off x="4997520" y="146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1" name="Oval 17"/>
            <p:cNvSpPr/>
            <p:nvPr/>
          </p:nvSpPr>
          <p:spPr>
            <a:xfrm>
              <a:off x="4584600" y="2165400"/>
              <a:ext cx="363600" cy="37152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2" name="Oval 18"/>
            <p:cNvSpPr/>
            <p:nvPr/>
          </p:nvSpPr>
          <p:spPr>
            <a:xfrm>
              <a:off x="5359320" y="2163600"/>
              <a:ext cx="36216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3" name="Line 19"/>
            <p:cNvSpPr/>
            <p:nvPr/>
          </p:nvSpPr>
          <p:spPr>
            <a:xfrm>
              <a:off x="4948200" y="23511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4" name="Text Box 20"/>
            <p:cNvSpPr/>
            <p:nvPr/>
          </p:nvSpPr>
          <p:spPr>
            <a:xfrm>
              <a:off x="4997520" y="209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36" name="Oval 21"/>
            <p:cNvSpPr/>
            <p:nvPr/>
          </p:nvSpPr>
          <p:spPr>
            <a:xfrm>
              <a:off x="4035600" y="1828800"/>
              <a:ext cx="361800" cy="37152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35" name="Oval 22"/>
            <p:cNvSpPr/>
            <p:nvPr/>
          </p:nvSpPr>
          <p:spPr>
            <a:xfrm>
              <a:off x="5891040" y="1830240"/>
              <a:ext cx="3636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8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5" name="Line 23"/>
            <p:cNvSpPr/>
            <p:nvPr/>
          </p:nvSpPr>
          <p:spPr>
            <a:xfrm flipV="1">
              <a:off x="4362480" y="1801800"/>
              <a:ext cx="230040" cy="122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6" name="Line 24"/>
            <p:cNvSpPr/>
            <p:nvPr/>
          </p:nvSpPr>
          <p:spPr>
            <a:xfrm>
              <a:off x="4371840" y="2114640"/>
              <a:ext cx="228600" cy="145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7" name="Line 25"/>
            <p:cNvSpPr/>
            <p:nvPr/>
          </p:nvSpPr>
          <p:spPr>
            <a:xfrm>
              <a:off x="5724360" y="1793880"/>
              <a:ext cx="190800" cy="130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8" name="Line 26"/>
            <p:cNvSpPr/>
            <p:nvPr/>
          </p:nvSpPr>
          <p:spPr>
            <a:xfrm flipV="1">
              <a:off x="5724360" y="2136600"/>
              <a:ext cx="190800" cy="1540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9" name="Oval 27"/>
            <p:cNvSpPr/>
            <p:nvPr/>
          </p:nvSpPr>
          <p:spPr>
            <a:xfrm>
              <a:off x="3301920" y="1828800"/>
              <a:ext cx="362160" cy="371520"/>
            </a:xfrm>
            <a:prstGeom prst="ellipse">
              <a:avLst/>
            </a:prstGeom>
            <a:noFill/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0" name="Oval 28"/>
            <p:cNvSpPr/>
            <p:nvPr/>
          </p:nvSpPr>
          <p:spPr>
            <a:xfrm>
              <a:off x="6648480" y="1828800"/>
              <a:ext cx="361800" cy="371520"/>
            </a:xfrm>
            <a:prstGeom prst="ellipse">
              <a:avLst/>
            </a:prstGeom>
            <a:noFill/>
            <a:ln w="381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FF0065"/>
                  </a:solidFill>
                  <a:effectLst/>
                  <a:uFillTx/>
                  <a:latin typeface="Arial Rounded MT Bold"/>
                </a:rPr>
                <a:t>9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1" name="Line 29"/>
            <p:cNvSpPr/>
            <p:nvPr/>
          </p:nvSpPr>
          <p:spPr>
            <a:xfrm>
              <a:off x="6249960" y="201600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2" name="Line 30"/>
            <p:cNvSpPr/>
            <p:nvPr/>
          </p:nvSpPr>
          <p:spPr>
            <a:xfrm>
              <a:off x="3652920" y="201600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53" name="AutoShape 31"/>
            <p:cNvCxnSpPr>
              <a:stCxn id="749" idx="5"/>
              <a:endCxn id="750" idx="3"/>
            </p:cNvCxnSpPr>
            <p:nvPr/>
          </p:nvCxnSpPr>
          <p:spPr>
            <a:xfrm flipH="1" rot="16200000">
              <a:off x="5150520" y="614160"/>
              <a:ext cx="10080" cy="3089880"/>
            </a:xfrm>
            <a:prstGeom prst="curvedConnector5">
              <a:avLst>
                <a:gd name="adj1" fmla="val 6748148"/>
                <a:gd name="adj2" fmla="val 50000"/>
                <a:gd name="adj3" fmla="val 674814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54" name="Text Box 32"/>
            <p:cNvSpPr/>
            <p:nvPr/>
          </p:nvSpPr>
          <p:spPr>
            <a:xfrm>
              <a:off x="4997520" y="255096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5" name="Text Box 33"/>
            <p:cNvSpPr/>
            <p:nvPr/>
          </p:nvSpPr>
          <p:spPr>
            <a:xfrm>
              <a:off x="43178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6" name="Text Box 34"/>
            <p:cNvSpPr/>
            <p:nvPr/>
          </p:nvSpPr>
          <p:spPr>
            <a:xfrm>
              <a:off x="57182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7" name="Text Box 35"/>
            <p:cNvSpPr/>
            <p:nvPr/>
          </p:nvSpPr>
          <p:spPr>
            <a:xfrm>
              <a:off x="4317840" y="2136600"/>
              <a:ext cx="238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8" name="Text Box 36"/>
            <p:cNvSpPr/>
            <p:nvPr/>
          </p:nvSpPr>
          <p:spPr>
            <a:xfrm>
              <a:off x="5718240" y="213660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9" name="Text Box 37"/>
            <p:cNvSpPr/>
            <p:nvPr/>
          </p:nvSpPr>
          <p:spPr>
            <a:xfrm>
              <a:off x="367812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60" name="Text Box 38"/>
            <p:cNvSpPr/>
            <p:nvPr/>
          </p:nvSpPr>
          <p:spPr>
            <a:xfrm>
              <a:off x="626904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61" name="Text Box 39"/>
            <p:cNvSpPr/>
            <p:nvPr/>
          </p:nvSpPr>
          <p:spPr>
            <a:xfrm>
              <a:off x="5008680" y="10666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aphicFrame>
        <p:nvGraphicFramePr>
          <p:cNvPr id="762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3" name="Rectangle 83"/>
          <p:cNvSpPr/>
          <p:nvPr/>
        </p:nvSpPr>
        <p:spPr>
          <a:xfrm>
            <a:off x="4800600" y="4419720"/>
            <a:ext cx="30481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64" name="Rectangle 84"/>
          <p:cNvSpPr/>
          <p:nvPr/>
        </p:nvSpPr>
        <p:spPr>
          <a:xfrm>
            <a:off x="3429000" y="502920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65" name="Rectangle 85"/>
          <p:cNvSpPr/>
          <p:nvPr/>
        </p:nvSpPr>
        <p:spPr>
          <a:xfrm>
            <a:off x="3429000" y="554976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66" name="Rectangle 86"/>
          <p:cNvSpPr/>
          <p:nvPr/>
        </p:nvSpPr>
        <p:spPr>
          <a:xfrm>
            <a:off x="1295280" y="4876920"/>
            <a:ext cx="2057400" cy="53316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67" name="Rectangle 87"/>
          <p:cNvSpPr/>
          <p:nvPr/>
        </p:nvSpPr>
        <p:spPr>
          <a:xfrm>
            <a:off x="1295280" y="5486400"/>
            <a:ext cx="2057400" cy="53352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69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8DCF2CE-0482-4EDD-8435-476AE6B969A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70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71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72" name="Rectangle 4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773" name="Group 91"/>
          <p:cNvGrpSpPr/>
          <p:nvPr/>
        </p:nvGrpSpPr>
        <p:grpSpPr>
          <a:xfrm>
            <a:off x="1773360" y="1066680"/>
            <a:ext cx="5236920" cy="1821960"/>
            <a:chOff x="1773360" y="1066680"/>
            <a:chExt cx="5236920" cy="1821960"/>
          </a:xfrm>
        </p:grpSpPr>
        <p:sp>
          <p:nvSpPr>
            <p:cNvPr id="774" name="Oval 6"/>
            <p:cNvSpPr/>
            <p:nvPr/>
          </p:nvSpPr>
          <p:spPr>
            <a:xfrm>
              <a:off x="1773360" y="1797120"/>
              <a:ext cx="3618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5" name="Oval 7"/>
            <p:cNvSpPr/>
            <p:nvPr/>
          </p:nvSpPr>
          <p:spPr>
            <a:xfrm>
              <a:off x="2546280" y="1797120"/>
              <a:ext cx="363600" cy="3697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6" name="Line 8"/>
            <p:cNvSpPr/>
            <p:nvPr/>
          </p:nvSpPr>
          <p:spPr>
            <a:xfrm>
              <a:off x="2135160" y="198288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7" name="Text Box 9"/>
            <p:cNvSpPr/>
            <p:nvPr/>
          </p:nvSpPr>
          <p:spPr>
            <a:xfrm>
              <a:off x="2185920" y="17128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8" name="Line 10"/>
            <p:cNvSpPr/>
            <p:nvPr/>
          </p:nvSpPr>
          <p:spPr>
            <a:xfrm>
              <a:off x="2909880" y="200664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9" name="Text Box 11"/>
            <p:cNvSpPr/>
            <p:nvPr/>
          </p:nvSpPr>
          <p:spPr>
            <a:xfrm>
              <a:off x="2941560" y="173844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80" name="AutoShape 12"/>
            <p:cNvCxnSpPr>
              <a:stCxn id="781" idx="0"/>
              <a:endCxn id="782" idx="0"/>
            </p:cNvCxnSpPr>
            <p:nvPr/>
          </p:nvCxnSpPr>
          <p:spPr>
            <a:xfrm flipV="1" rot="16200000">
              <a:off x="5144040" y="892080"/>
              <a:ext cx="2160" cy="1858320"/>
            </a:xfrm>
            <a:prstGeom prst="curvedConnector5">
              <a:avLst>
                <a:gd name="adj1" fmla="val 30380000"/>
                <a:gd name="adj2" fmla="val 49990"/>
                <a:gd name="adj3" fmla="val 3038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83" name="Oval 13"/>
            <p:cNvSpPr/>
            <p:nvPr/>
          </p:nvSpPr>
          <p:spPr>
            <a:xfrm>
              <a:off x="4584600" y="1547640"/>
              <a:ext cx="363600" cy="37008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84" name="Oval 14"/>
            <p:cNvSpPr/>
            <p:nvPr/>
          </p:nvSpPr>
          <p:spPr>
            <a:xfrm>
              <a:off x="5359320" y="1546200"/>
              <a:ext cx="362160" cy="37008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85" name="Line 15"/>
            <p:cNvSpPr/>
            <p:nvPr/>
          </p:nvSpPr>
          <p:spPr>
            <a:xfrm>
              <a:off x="4948200" y="17319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86" name="Text Box 16"/>
            <p:cNvSpPr/>
            <p:nvPr/>
          </p:nvSpPr>
          <p:spPr>
            <a:xfrm>
              <a:off x="4997520" y="146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87" name="Oval 17"/>
            <p:cNvSpPr/>
            <p:nvPr/>
          </p:nvSpPr>
          <p:spPr>
            <a:xfrm>
              <a:off x="4584600" y="2165400"/>
              <a:ext cx="36360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88" name="Oval 18"/>
            <p:cNvSpPr/>
            <p:nvPr/>
          </p:nvSpPr>
          <p:spPr>
            <a:xfrm>
              <a:off x="5359320" y="2163600"/>
              <a:ext cx="36216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89" name="Line 19"/>
            <p:cNvSpPr/>
            <p:nvPr/>
          </p:nvSpPr>
          <p:spPr>
            <a:xfrm>
              <a:off x="4948200" y="23511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0" name="Text Box 20"/>
            <p:cNvSpPr/>
            <p:nvPr/>
          </p:nvSpPr>
          <p:spPr>
            <a:xfrm>
              <a:off x="4997520" y="209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82" name="Oval 21"/>
            <p:cNvSpPr/>
            <p:nvPr/>
          </p:nvSpPr>
          <p:spPr>
            <a:xfrm>
              <a:off x="4035600" y="1828800"/>
              <a:ext cx="36180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81" name="Oval 22"/>
            <p:cNvSpPr/>
            <p:nvPr/>
          </p:nvSpPr>
          <p:spPr>
            <a:xfrm>
              <a:off x="5891040" y="1830240"/>
              <a:ext cx="36360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8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1" name="Line 23"/>
            <p:cNvSpPr/>
            <p:nvPr/>
          </p:nvSpPr>
          <p:spPr>
            <a:xfrm flipV="1">
              <a:off x="4362480" y="1801800"/>
              <a:ext cx="230040" cy="122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2" name="Line 24"/>
            <p:cNvSpPr/>
            <p:nvPr/>
          </p:nvSpPr>
          <p:spPr>
            <a:xfrm>
              <a:off x="4371840" y="2114640"/>
              <a:ext cx="228600" cy="145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3" name="Line 25"/>
            <p:cNvSpPr/>
            <p:nvPr/>
          </p:nvSpPr>
          <p:spPr>
            <a:xfrm>
              <a:off x="5724360" y="1793880"/>
              <a:ext cx="190800" cy="130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4" name="Line 26"/>
            <p:cNvSpPr/>
            <p:nvPr/>
          </p:nvSpPr>
          <p:spPr>
            <a:xfrm flipV="1">
              <a:off x="5724360" y="2136600"/>
              <a:ext cx="190800" cy="1540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5" name="Oval 27"/>
            <p:cNvSpPr/>
            <p:nvPr/>
          </p:nvSpPr>
          <p:spPr>
            <a:xfrm>
              <a:off x="3301920" y="1828800"/>
              <a:ext cx="36216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6" name="Oval 28"/>
            <p:cNvSpPr/>
            <p:nvPr/>
          </p:nvSpPr>
          <p:spPr>
            <a:xfrm>
              <a:off x="6648480" y="1828800"/>
              <a:ext cx="361800" cy="371520"/>
            </a:xfrm>
            <a:prstGeom prst="ellipse">
              <a:avLst/>
            </a:prstGeom>
            <a:noFill/>
            <a:ln w="381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9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7" name="Line 29"/>
            <p:cNvSpPr/>
            <p:nvPr/>
          </p:nvSpPr>
          <p:spPr>
            <a:xfrm>
              <a:off x="6249960" y="201600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8" name="Line 30"/>
            <p:cNvSpPr/>
            <p:nvPr/>
          </p:nvSpPr>
          <p:spPr>
            <a:xfrm>
              <a:off x="3652920" y="201600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99" name="AutoShape 31"/>
            <p:cNvCxnSpPr>
              <a:stCxn id="795" idx="5"/>
              <a:endCxn id="796" idx="3"/>
            </p:cNvCxnSpPr>
            <p:nvPr/>
          </p:nvCxnSpPr>
          <p:spPr>
            <a:xfrm flipH="1" rot="16200000">
              <a:off x="5150520" y="614160"/>
              <a:ext cx="10080" cy="3089880"/>
            </a:xfrm>
            <a:prstGeom prst="curvedConnector5">
              <a:avLst>
                <a:gd name="adj1" fmla="val 6748148"/>
                <a:gd name="adj2" fmla="val 50000"/>
                <a:gd name="adj3" fmla="val 674814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800" name="Text Box 32"/>
            <p:cNvSpPr/>
            <p:nvPr/>
          </p:nvSpPr>
          <p:spPr>
            <a:xfrm>
              <a:off x="4997520" y="255096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01" name="Text Box 33"/>
            <p:cNvSpPr/>
            <p:nvPr/>
          </p:nvSpPr>
          <p:spPr>
            <a:xfrm>
              <a:off x="43178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02" name="Text Box 34"/>
            <p:cNvSpPr/>
            <p:nvPr/>
          </p:nvSpPr>
          <p:spPr>
            <a:xfrm>
              <a:off x="57182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03" name="Text Box 35"/>
            <p:cNvSpPr/>
            <p:nvPr/>
          </p:nvSpPr>
          <p:spPr>
            <a:xfrm>
              <a:off x="4317840" y="2136600"/>
              <a:ext cx="238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04" name="Text Box 36"/>
            <p:cNvSpPr/>
            <p:nvPr/>
          </p:nvSpPr>
          <p:spPr>
            <a:xfrm>
              <a:off x="5718240" y="213660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05" name="Text Box 37"/>
            <p:cNvSpPr/>
            <p:nvPr/>
          </p:nvSpPr>
          <p:spPr>
            <a:xfrm>
              <a:off x="367812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06" name="Text Box 38"/>
            <p:cNvSpPr/>
            <p:nvPr/>
          </p:nvSpPr>
          <p:spPr>
            <a:xfrm>
              <a:off x="626904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07" name="Text Box 39"/>
            <p:cNvSpPr/>
            <p:nvPr/>
          </p:nvSpPr>
          <p:spPr>
            <a:xfrm>
              <a:off x="5008680" y="10666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aphicFrame>
        <p:nvGraphicFramePr>
          <p:cNvPr id="808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9" name="Rectangle 85"/>
          <p:cNvSpPr/>
          <p:nvPr/>
        </p:nvSpPr>
        <p:spPr>
          <a:xfrm>
            <a:off x="3429000" y="504180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10" name="Rectangle 86"/>
          <p:cNvSpPr/>
          <p:nvPr/>
        </p:nvSpPr>
        <p:spPr>
          <a:xfrm>
            <a:off x="3429000" y="554976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11" name="Rectangle 88"/>
          <p:cNvSpPr/>
          <p:nvPr/>
        </p:nvSpPr>
        <p:spPr>
          <a:xfrm>
            <a:off x="1295280" y="4876920"/>
            <a:ext cx="2057400" cy="53316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12" name="Rectangle 89"/>
          <p:cNvSpPr/>
          <p:nvPr/>
        </p:nvSpPr>
        <p:spPr>
          <a:xfrm>
            <a:off x="1295280" y="5486400"/>
            <a:ext cx="2057400" cy="53352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14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CD13909-CD95-4F88-A6B3-784B914C0EA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15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16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817" name="Group 86"/>
          <p:cNvGrpSpPr/>
          <p:nvPr/>
        </p:nvGrpSpPr>
        <p:grpSpPr>
          <a:xfrm>
            <a:off x="1773360" y="573120"/>
            <a:ext cx="6192720" cy="2315520"/>
            <a:chOff x="1773360" y="573120"/>
            <a:chExt cx="6192720" cy="2315520"/>
          </a:xfrm>
        </p:grpSpPr>
        <p:sp>
          <p:nvSpPr>
            <p:cNvPr id="818" name="Rectangle 4"/>
            <p:cNvSpPr/>
            <p:nvPr/>
          </p:nvSpPr>
          <p:spPr>
            <a:xfrm>
              <a:off x="7781760" y="573120"/>
              <a:ext cx="184320" cy="33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19" name="Oval 5"/>
            <p:cNvSpPr/>
            <p:nvPr/>
          </p:nvSpPr>
          <p:spPr>
            <a:xfrm>
              <a:off x="1773360" y="1797120"/>
              <a:ext cx="3618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0" name="Oval 6"/>
            <p:cNvSpPr/>
            <p:nvPr/>
          </p:nvSpPr>
          <p:spPr>
            <a:xfrm>
              <a:off x="2546280" y="1797120"/>
              <a:ext cx="363600" cy="3697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1" name="Line 7"/>
            <p:cNvSpPr/>
            <p:nvPr/>
          </p:nvSpPr>
          <p:spPr>
            <a:xfrm>
              <a:off x="2135160" y="198288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2" name="Text Box 8"/>
            <p:cNvSpPr/>
            <p:nvPr/>
          </p:nvSpPr>
          <p:spPr>
            <a:xfrm>
              <a:off x="2185920" y="17128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3" name="Line 9"/>
            <p:cNvSpPr/>
            <p:nvPr/>
          </p:nvSpPr>
          <p:spPr>
            <a:xfrm>
              <a:off x="2909880" y="200664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4" name="Text Box 10"/>
            <p:cNvSpPr/>
            <p:nvPr/>
          </p:nvSpPr>
          <p:spPr>
            <a:xfrm>
              <a:off x="2941560" y="173844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825" name="AutoShape 11"/>
            <p:cNvCxnSpPr>
              <a:stCxn id="826" idx="0"/>
              <a:endCxn id="827" idx="0"/>
            </p:cNvCxnSpPr>
            <p:nvPr/>
          </p:nvCxnSpPr>
          <p:spPr>
            <a:xfrm flipV="1" rot="16200000">
              <a:off x="5144040" y="892080"/>
              <a:ext cx="2160" cy="1858320"/>
            </a:xfrm>
            <a:prstGeom prst="curvedConnector5">
              <a:avLst>
                <a:gd name="adj1" fmla="val 30380000"/>
                <a:gd name="adj2" fmla="val 49990"/>
                <a:gd name="adj3" fmla="val 3038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828" name="Oval 12"/>
            <p:cNvSpPr/>
            <p:nvPr/>
          </p:nvSpPr>
          <p:spPr>
            <a:xfrm>
              <a:off x="4584600" y="1547640"/>
              <a:ext cx="363600" cy="37008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9" name="Oval 13"/>
            <p:cNvSpPr/>
            <p:nvPr/>
          </p:nvSpPr>
          <p:spPr>
            <a:xfrm>
              <a:off x="5359320" y="1546200"/>
              <a:ext cx="36216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0" name="Line 14"/>
            <p:cNvSpPr/>
            <p:nvPr/>
          </p:nvSpPr>
          <p:spPr>
            <a:xfrm>
              <a:off x="4948200" y="17319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1" name="Text Box 15"/>
            <p:cNvSpPr/>
            <p:nvPr/>
          </p:nvSpPr>
          <p:spPr>
            <a:xfrm>
              <a:off x="4997520" y="146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2" name="Oval 16"/>
            <p:cNvSpPr/>
            <p:nvPr/>
          </p:nvSpPr>
          <p:spPr>
            <a:xfrm>
              <a:off x="4584600" y="2165400"/>
              <a:ext cx="36360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3" name="Oval 17"/>
            <p:cNvSpPr/>
            <p:nvPr/>
          </p:nvSpPr>
          <p:spPr>
            <a:xfrm>
              <a:off x="5359320" y="2163600"/>
              <a:ext cx="36216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7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4" name="Line 18"/>
            <p:cNvSpPr/>
            <p:nvPr/>
          </p:nvSpPr>
          <p:spPr>
            <a:xfrm>
              <a:off x="4948200" y="235116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5" name="Text Box 19"/>
            <p:cNvSpPr/>
            <p:nvPr/>
          </p:nvSpPr>
          <p:spPr>
            <a:xfrm>
              <a:off x="4997520" y="2093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7" name="Oval 20"/>
            <p:cNvSpPr/>
            <p:nvPr/>
          </p:nvSpPr>
          <p:spPr>
            <a:xfrm>
              <a:off x="4035600" y="1828800"/>
              <a:ext cx="36180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6" name="Oval 21"/>
            <p:cNvSpPr/>
            <p:nvPr/>
          </p:nvSpPr>
          <p:spPr>
            <a:xfrm>
              <a:off x="5891040" y="1830240"/>
              <a:ext cx="363600" cy="371520"/>
            </a:xfrm>
            <a:prstGeom prst="ellipse">
              <a:avLst/>
            </a:prstGeom>
            <a:noFill/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8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6" name="Line 22"/>
            <p:cNvSpPr/>
            <p:nvPr/>
          </p:nvSpPr>
          <p:spPr>
            <a:xfrm flipV="1">
              <a:off x="4362480" y="1801800"/>
              <a:ext cx="230040" cy="122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7" name="Line 23"/>
            <p:cNvSpPr/>
            <p:nvPr/>
          </p:nvSpPr>
          <p:spPr>
            <a:xfrm>
              <a:off x="4371840" y="2114640"/>
              <a:ext cx="228600" cy="145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8" name="Line 24"/>
            <p:cNvSpPr/>
            <p:nvPr/>
          </p:nvSpPr>
          <p:spPr>
            <a:xfrm>
              <a:off x="5724360" y="1793880"/>
              <a:ext cx="190800" cy="130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9" name="Line 25"/>
            <p:cNvSpPr/>
            <p:nvPr/>
          </p:nvSpPr>
          <p:spPr>
            <a:xfrm flipV="1">
              <a:off x="5724360" y="2136600"/>
              <a:ext cx="190800" cy="1540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0" name="Oval 26"/>
            <p:cNvSpPr/>
            <p:nvPr/>
          </p:nvSpPr>
          <p:spPr>
            <a:xfrm>
              <a:off x="3301920" y="1828800"/>
              <a:ext cx="36216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1" name="Oval 27"/>
            <p:cNvSpPr/>
            <p:nvPr/>
          </p:nvSpPr>
          <p:spPr>
            <a:xfrm>
              <a:off x="6648480" y="1828800"/>
              <a:ext cx="361800" cy="371520"/>
            </a:xfrm>
            <a:prstGeom prst="ellipse">
              <a:avLst/>
            </a:prstGeom>
            <a:noFill/>
            <a:ln w="381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9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2" name="Line 28"/>
            <p:cNvSpPr/>
            <p:nvPr/>
          </p:nvSpPr>
          <p:spPr>
            <a:xfrm>
              <a:off x="6249960" y="201600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3" name="Line 29"/>
            <p:cNvSpPr/>
            <p:nvPr/>
          </p:nvSpPr>
          <p:spPr>
            <a:xfrm>
              <a:off x="3652920" y="201600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844" name="AutoShape 30"/>
            <p:cNvCxnSpPr>
              <a:stCxn id="840" idx="5"/>
              <a:endCxn id="841" idx="3"/>
            </p:cNvCxnSpPr>
            <p:nvPr/>
          </p:nvCxnSpPr>
          <p:spPr>
            <a:xfrm flipH="1" rot="16200000">
              <a:off x="5150520" y="614160"/>
              <a:ext cx="10080" cy="3089880"/>
            </a:xfrm>
            <a:prstGeom prst="curvedConnector5">
              <a:avLst>
                <a:gd name="adj1" fmla="val 6748148"/>
                <a:gd name="adj2" fmla="val 50000"/>
                <a:gd name="adj3" fmla="val 674814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845" name="Text Box 31"/>
            <p:cNvSpPr/>
            <p:nvPr/>
          </p:nvSpPr>
          <p:spPr>
            <a:xfrm>
              <a:off x="4997520" y="255096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6" name="Text Box 32"/>
            <p:cNvSpPr/>
            <p:nvPr/>
          </p:nvSpPr>
          <p:spPr>
            <a:xfrm>
              <a:off x="43178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7" name="Text Box 33"/>
            <p:cNvSpPr/>
            <p:nvPr/>
          </p:nvSpPr>
          <p:spPr>
            <a:xfrm>
              <a:off x="5718240" y="159372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8" name="Text Box 34"/>
            <p:cNvSpPr/>
            <p:nvPr/>
          </p:nvSpPr>
          <p:spPr>
            <a:xfrm>
              <a:off x="4317840" y="2136600"/>
              <a:ext cx="238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9" name="Text Box 35"/>
            <p:cNvSpPr/>
            <p:nvPr/>
          </p:nvSpPr>
          <p:spPr>
            <a:xfrm>
              <a:off x="5718240" y="213660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50" name="Text Box 36"/>
            <p:cNvSpPr/>
            <p:nvPr/>
          </p:nvSpPr>
          <p:spPr>
            <a:xfrm>
              <a:off x="367812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51" name="Text Box 37"/>
            <p:cNvSpPr/>
            <p:nvPr/>
          </p:nvSpPr>
          <p:spPr>
            <a:xfrm>
              <a:off x="6269040" y="17542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52" name="Text Box 38"/>
            <p:cNvSpPr/>
            <p:nvPr/>
          </p:nvSpPr>
          <p:spPr>
            <a:xfrm>
              <a:off x="5008680" y="10666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aphicFrame>
        <p:nvGraphicFramePr>
          <p:cNvPr id="853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4" name="Rectangle 82"/>
          <p:cNvSpPr/>
          <p:nvPr/>
        </p:nvSpPr>
        <p:spPr>
          <a:xfrm>
            <a:off x="3429000" y="504180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55" name="Rectangle 83"/>
          <p:cNvSpPr/>
          <p:nvPr/>
        </p:nvSpPr>
        <p:spPr>
          <a:xfrm>
            <a:off x="3429000" y="554976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56" name="Rectangle 84"/>
          <p:cNvSpPr/>
          <p:nvPr/>
        </p:nvSpPr>
        <p:spPr>
          <a:xfrm>
            <a:off x="1295280" y="4876920"/>
            <a:ext cx="2057400" cy="53316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57" name="Rectangle 85"/>
          <p:cNvSpPr/>
          <p:nvPr/>
        </p:nvSpPr>
        <p:spPr>
          <a:xfrm>
            <a:off x="1295280" y="5486400"/>
            <a:ext cx="2057400" cy="53352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59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836ED97-88D6-40B9-83C8-75F13D53D9A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60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61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62" name="Rectangle 4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63" name="Oval 6"/>
          <p:cNvSpPr/>
          <p:nvPr/>
        </p:nvSpPr>
        <p:spPr>
          <a:xfrm>
            <a:off x="1773360" y="1797120"/>
            <a:ext cx="3618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64" name="Oval 7"/>
          <p:cNvSpPr/>
          <p:nvPr/>
        </p:nvSpPr>
        <p:spPr>
          <a:xfrm>
            <a:off x="2546280" y="1797120"/>
            <a:ext cx="363600" cy="3697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65" name="Line 8"/>
          <p:cNvSpPr/>
          <p:nvPr/>
        </p:nvSpPr>
        <p:spPr>
          <a:xfrm>
            <a:off x="2135160" y="198288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66" name="Text Box 9"/>
          <p:cNvSpPr/>
          <p:nvPr/>
        </p:nvSpPr>
        <p:spPr>
          <a:xfrm>
            <a:off x="2185920" y="1712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67" name="Line 10"/>
          <p:cNvSpPr/>
          <p:nvPr/>
        </p:nvSpPr>
        <p:spPr>
          <a:xfrm>
            <a:off x="2909880" y="2006640"/>
            <a:ext cx="396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68" name="Text Box 11"/>
          <p:cNvSpPr/>
          <p:nvPr/>
        </p:nvSpPr>
        <p:spPr>
          <a:xfrm>
            <a:off x="2941560" y="173844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869" name="AutoShape 12"/>
          <p:cNvCxnSpPr>
            <a:stCxn id="870" idx="0"/>
            <a:endCxn id="871" idx="0"/>
          </p:cNvCxnSpPr>
          <p:nvPr/>
        </p:nvCxnSpPr>
        <p:spPr>
          <a:xfrm flipV="1" rot="16200000">
            <a:off x="5144040" y="892080"/>
            <a:ext cx="2160" cy="1858320"/>
          </a:xfrm>
          <a:prstGeom prst="curvedConnector5">
            <a:avLst>
              <a:gd name="adj1" fmla="val 30380000"/>
              <a:gd name="adj2" fmla="val 49990"/>
              <a:gd name="adj3" fmla="val 3038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872" name="Oval 13"/>
          <p:cNvSpPr/>
          <p:nvPr/>
        </p:nvSpPr>
        <p:spPr>
          <a:xfrm>
            <a:off x="4584600" y="1547640"/>
            <a:ext cx="363600" cy="37008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73" name="Oval 14"/>
          <p:cNvSpPr/>
          <p:nvPr/>
        </p:nvSpPr>
        <p:spPr>
          <a:xfrm>
            <a:off x="5359320" y="1546200"/>
            <a:ext cx="362160" cy="37008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5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74" name="Line 15"/>
          <p:cNvSpPr/>
          <p:nvPr/>
        </p:nvSpPr>
        <p:spPr>
          <a:xfrm>
            <a:off x="4948200" y="173196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75" name="Text Box 16"/>
          <p:cNvSpPr/>
          <p:nvPr/>
        </p:nvSpPr>
        <p:spPr>
          <a:xfrm>
            <a:off x="4997520" y="146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76" name="Oval 17"/>
          <p:cNvSpPr/>
          <p:nvPr/>
        </p:nvSpPr>
        <p:spPr>
          <a:xfrm>
            <a:off x="4584600" y="2165400"/>
            <a:ext cx="36360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6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77" name="Oval 18"/>
          <p:cNvSpPr/>
          <p:nvPr/>
        </p:nvSpPr>
        <p:spPr>
          <a:xfrm>
            <a:off x="5359320" y="2163600"/>
            <a:ext cx="36216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7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78" name="Line 19"/>
          <p:cNvSpPr/>
          <p:nvPr/>
        </p:nvSpPr>
        <p:spPr>
          <a:xfrm>
            <a:off x="4948200" y="235116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79" name="Text Box 20"/>
          <p:cNvSpPr/>
          <p:nvPr/>
        </p:nvSpPr>
        <p:spPr>
          <a:xfrm>
            <a:off x="4997520" y="209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71" name="Oval 21"/>
          <p:cNvSpPr/>
          <p:nvPr/>
        </p:nvSpPr>
        <p:spPr>
          <a:xfrm>
            <a:off x="4035600" y="1828800"/>
            <a:ext cx="36180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3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70" name="Oval 22"/>
          <p:cNvSpPr/>
          <p:nvPr/>
        </p:nvSpPr>
        <p:spPr>
          <a:xfrm>
            <a:off x="5891040" y="1830240"/>
            <a:ext cx="36360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8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80" name="Line 23"/>
          <p:cNvSpPr/>
          <p:nvPr/>
        </p:nvSpPr>
        <p:spPr>
          <a:xfrm flipV="1">
            <a:off x="4362480" y="1801800"/>
            <a:ext cx="230040" cy="1224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81" name="Line 24"/>
          <p:cNvSpPr/>
          <p:nvPr/>
        </p:nvSpPr>
        <p:spPr>
          <a:xfrm>
            <a:off x="4371840" y="2114640"/>
            <a:ext cx="228600" cy="1458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82" name="Line 25"/>
          <p:cNvSpPr/>
          <p:nvPr/>
        </p:nvSpPr>
        <p:spPr>
          <a:xfrm>
            <a:off x="5724360" y="1793880"/>
            <a:ext cx="190800" cy="1303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83" name="Line 26"/>
          <p:cNvSpPr/>
          <p:nvPr/>
        </p:nvSpPr>
        <p:spPr>
          <a:xfrm flipV="1">
            <a:off x="5724360" y="2136600"/>
            <a:ext cx="190800" cy="1540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84" name="Oval 27"/>
          <p:cNvSpPr/>
          <p:nvPr/>
        </p:nvSpPr>
        <p:spPr>
          <a:xfrm>
            <a:off x="3301920" y="1828800"/>
            <a:ext cx="36216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85" name="Oval 28"/>
          <p:cNvSpPr/>
          <p:nvPr/>
        </p:nvSpPr>
        <p:spPr>
          <a:xfrm>
            <a:off x="6648480" y="1828800"/>
            <a:ext cx="361800" cy="371520"/>
          </a:xfrm>
          <a:prstGeom prst="ellipse">
            <a:avLst/>
          </a:prstGeom>
          <a:noFill/>
          <a:ln w="3816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9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86" name="Line 29"/>
          <p:cNvSpPr/>
          <p:nvPr/>
        </p:nvSpPr>
        <p:spPr>
          <a:xfrm>
            <a:off x="6249960" y="201600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87" name="Line 30"/>
          <p:cNvSpPr/>
          <p:nvPr/>
        </p:nvSpPr>
        <p:spPr>
          <a:xfrm>
            <a:off x="3652920" y="2016000"/>
            <a:ext cx="396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888" name="AutoShape 31"/>
          <p:cNvCxnSpPr>
            <a:stCxn id="884" idx="5"/>
            <a:endCxn id="885" idx="3"/>
          </p:cNvCxnSpPr>
          <p:nvPr/>
        </p:nvCxnSpPr>
        <p:spPr>
          <a:xfrm flipH="1" rot="16200000">
            <a:off x="5150520" y="614160"/>
            <a:ext cx="10080" cy="3089880"/>
          </a:xfrm>
          <a:prstGeom prst="curvedConnector5">
            <a:avLst>
              <a:gd name="adj1" fmla="val 6748148"/>
              <a:gd name="adj2" fmla="val 50000"/>
              <a:gd name="adj3" fmla="val 674814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889" name="Text Box 32"/>
          <p:cNvSpPr/>
          <p:nvPr/>
        </p:nvSpPr>
        <p:spPr>
          <a:xfrm>
            <a:off x="4997520" y="255096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90" name="Text Box 33"/>
          <p:cNvSpPr/>
          <p:nvPr/>
        </p:nvSpPr>
        <p:spPr>
          <a:xfrm>
            <a:off x="4317840" y="159372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91" name="Text Box 34"/>
          <p:cNvSpPr/>
          <p:nvPr/>
        </p:nvSpPr>
        <p:spPr>
          <a:xfrm>
            <a:off x="5718240" y="159372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92" name="Text Box 35"/>
          <p:cNvSpPr/>
          <p:nvPr/>
        </p:nvSpPr>
        <p:spPr>
          <a:xfrm>
            <a:off x="4317840" y="2136600"/>
            <a:ext cx="238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93" name="Text Box 36"/>
          <p:cNvSpPr/>
          <p:nvPr/>
        </p:nvSpPr>
        <p:spPr>
          <a:xfrm>
            <a:off x="5718240" y="213660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94" name="Text Box 37"/>
          <p:cNvSpPr/>
          <p:nvPr/>
        </p:nvSpPr>
        <p:spPr>
          <a:xfrm>
            <a:off x="3678120" y="17542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95" name="Text Box 38"/>
          <p:cNvSpPr/>
          <p:nvPr/>
        </p:nvSpPr>
        <p:spPr>
          <a:xfrm>
            <a:off x="6269040" y="17542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96" name="Text Box 39"/>
          <p:cNvSpPr/>
          <p:nvPr/>
        </p:nvSpPr>
        <p:spPr>
          <a:xfrm>
            <a:off x="5008680" y="10666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897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8" name="Rectangle 85"/>
          <p:cNvSpPr/>
          <p:nvPr/>
        </p:nvSpPr>
        <p:spPr>
          <a:xfrm>
            <a:off x="3429000" y="504180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99" name="Rectangle 86"/>
          <p:cNvSpPr/>
          <p:nvPr/>
        </p:nvSpPr>
        <p:spPr>
          <a:xfrm>
            <a:off x="3429000" y="554976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0" name="Rectangle 89"/>
          <p:cNvSpPr/>
          <p:nvPr/>
        </p:nvSpPr>
        <p:spPr>
          <a:xfrm>
            <a:off x="1295280" y="5486400"/>
            <a:ext cx="2057400" cy="533520"/>
          </a:xfrm>
          <a:prstGeom prst="rect">
            <a:avLst/>
          </a:prstGeom>
          <a:solidFill>
            <a:srgbClr val="E5E5E5"/>
          </a:solidFill>
          <a:ln w="9360">
            <a:solidFill>
              <a:srgbClr val="E5E5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1" name="Oval 90"/>
          <p:cNvSpPr/>
          <p:nvPr/>
        </p:nvSpPr>
        <p:spPr>
          <a:xfrm>
            <a:off x="4991040" y="4317840"/>
            <a:ext cx="1295640" cy="609840"/>
          </a:xfrm>
          <a:prstGeom prst="ellipse">
            <a:avLst/>
          </a:prstGeom>
          <a:noFill/>
          <a:ln w="1260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2" name="Oval 91"/>
          <p:cNvSpPr/>
          <p:nvPr/>
        </p:nvSpPr>
        <p:spPr>
          <a:xfrm>
            <a:off x="1460520" y="5029200"/>
            <a:ext cx="380880" cy="380880"/>
          </a:xfrm>
          <a:prstGeom prst="ellipse">
            <a:avLst/>
          </a:prstGeom>
          <a:noFill/>
          <a:ln w="1260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903" name="AutoShape 92"/>
          <p:cNvCxnSpPr>
            <a:stCxn id="901" idx="2"/>
            <a:endCxn id="902" idx="7"/>
          </p:cNvCxnSpPr>
          <p:nvPr/>
        </p:nvCxnSpPr>
        <p:spPr>
          <a:xfrm flipH="1">
            <a:off x="1785240" y="4622400"/>
            <a:ext cx="3205800" cy="462600"/>
          </a:xfrm>
          <a:prstGeom prst="straightConnector1">
            <a:avLst/>
          </a:prstGeom>
          <a:ln w="9360">
            <a:solidFill>
              <a:srgbClr val="FF0065"/>
            </a:solidFill>
            <a:miter/>
            <a:tailEnd len="med" type="triangle" w="med"/>
          </a:ln>
        </p:spPr>
      </p:cxnSp>
    </p:spTree>
  </p:cSld>
  <p:transition>
    <p:wipe dir="r"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5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CF9230E-840D-478C-8D52-FE82D3C2FBA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6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7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8" name="Rectangle 4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9" name="Oval 6"/>
          <p:cNvSpPr/>
          <p:nvPr/>
        </p:nvSpPr>
        <p:spPr>
          <a:xfrm>
            <a:off x="1773360" y="1797120"/>
            <a:ext cx="3618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0" name="Oval 7"/>
          <p:cNvSpPr/>
          <p:nvPr/>
        </p:nvSpPr>
        <p:spPr>
          <a:xfrm>
            <a:off x="2546280" y="1797120"/>
            <a:ext cx="363600" cy="3697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1" name="Line 8"/>
          <p:cNvSpPr/>
          <p:nvPr/>
        </p:nvSpPr>
        <p:spPr>
          <a:xfrm>
            <a:off x="2135160" y="198288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2" name="Text Box 9"/>
          <p:cNvSpPr/>
          <p:nvPr/>
        </p:nvSpPr>
        <p:spPr>
          <a:xfrm>
            <a:off x="2185920" y="1712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3" name="Line 10"/>
          <p:cNvSpPr/>
          <p:nvPr/>
        </p:nvSpPr>
        <p:spPr>
          <a:xfrm>
            <a:off x="2909880" y="2006640"/>
            <a:ext cx="396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4" name="Text Box 11"/>
          <p:cNvSpPr/>
          <p:nvPr/>
        </p:nvSpPr>
        <p:spPr>
          <a:xfrm>
            <a:off x="2941560" y="173844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915" name="AutoShape 12"/>
          <p:cNvCxnSpPr>
            <a:stCxn id="916" idx="0"/>
            <a:endCxn id="917" idx="0"/>
          </p:cNvCxnSpPr>
          <p:nvPr/>
        </p:nvCxnSpPr>
        <p:spPr>
          <a:xfrm flipV="1" rot="16200000">
            <a:off x="5144040" y="892080"/>
            <a:ext cx="2160" cy="1858320"/>
          </a:xfrm>
          <a:prstGeom prst="curvedConnector5">
            <a:avLst>
              <a:gd name="adj1" fmla="val 30380000"/>
              <a:gd name="adj2" fmla="val 49990"/>
              <a:gd name="adj3" fmla="val 3038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918" name="Oval 13"/>
          <p:cNvSpPr/>
          <p:nvPr/>
        </p:nvSpPr>
        <p:spPr>
          <a:xfrm>
            <a:off x="4584600" y="1547640"/>
            <a:ext cx="363600" cy="37008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9" name="Oval 14"/>
          <p:cNvSpPr/>
          <p:nvPr/>
        </p:nvSpPr>
        <p:spPr>
          <a:xfrm>
            <a:off x="5359320" y="154620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5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0" name="Line 15"/>
          <p:cNvSpPr/>
          <p:nvPr/>
        </p:nvSpPr>
        <p:spPr>
          <a:xfrm>
            <a:off x="4948200" y="173196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1" name="Text Box 16"/>
          <p:cNvSpPr/>
          <p:nvPr/>
        </p:nvSpPr>
        <p:spPr>
          <a:xfrm>
            <a:off x="4997520" y="146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2" name="Oval 17"/>
          <p:cNvSpPr/>
          <p:nvPr/>
        </p:nvSpPr>
        <p:spPr>
          <a:xfrm>
            <a:off x="4584600" y="2165400"/>
            <a:ext cx="36360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6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3" name="Oval 18"/>
          <p:cNvSpPr/>
          <p:nvPr/>
        </p:nvSpPr>
        <p:spPr>
          <a:xfrm>
            <a:off x="5359320" y="2163600"/>
            <a:ext cx="36216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7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4" name="Line 19"/>
          <p:cNvSpPr/>
          <p:nvPr/>
        </p:nvSpPr>
        <p:spPr>
          <a:xfrm>
            <a:off x="4948200" y="235116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5" name="Text Box 20"/>
          <p:cNvSpPr/>
          <p:nvPr/>
        </p:nvSpPr>
        <p:spPr>
          <a:xfrm>
            <a:off x="4997520" y="209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7" name="Oval 21"/>
          <p:cNvSpPr/>
          <p:nvPr/>
        </p:nvSpPr>
        <p:spPr>
          <a:xfrm>
            <a:off x="4035600" y="1828800"/>
            <a:ext cx="36180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3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6" name="Oval 22"/>
          <p:cNvSpPr/>
          <p:nvPr/>
        </p:nvSpPr>
        <p:spPr>
          <a:xfrm>
            <a:off x="5891040" y="1830240"/>
            <a:ext cx="36360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8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6" name="Line 23"/>
          <p:cNvSpPr/>
          <p:nvPr/>
        </p:nvSpPr>
        <p:spPr>
          <a:xfrm flipV="1">
            <a:off x="4362480" y="1801800"/>
            <a:ext cx="230040" cy="1224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7" name="Line 24"/>
          <p:cNvSpPr/>
          <p:nvPr/>
        </p:nvSpPr>
        <p:spPr>
          <a:xfrm>
            <a:off x="4371840" y="2114640"/>
            <a:ext cx="228600" cy="1458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8" name="Line 25"/>
          <p:cNvSpPr/>
          <p:nvPr/>
        </p:nvSpPr>
        <p:spPr>
          <a:xfrm>
            <a:off x="5724360" y="1793880"/>
            <a:ext cx="190800" cy="1303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9" name="Line 26"/>
          <p:cNvSpPr/>
          <p:nvPr/>
        </p:nvSpPr>
        <p:spPr>
          <a:xfrm flipV="1">
            <a:off x="5724360" y="2136600"/>
            <a:ext cx="190800" cy="1540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0" name="Oval 27"/>
          <p:cNvSpPr/>
          <p:nvPr/>
        </p:nvSpPr>
        <p:spPr>
          <a:xfrm>
            <a:off x="3301920" y="1828800"/>
            <a:ext cx="36216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1" name="Oval 28"/>
          <p:cNvSpPr/>
          <p:nvPr/>
        </p:nvSpPr>
        <p:spPr>
          <a:xfrm>
            <a:off x="6648480" y="1828800"/>
            <a:ext cx="361800" cy="371520"/>
          </a:xfrm>
          <a:prstGeom prst="ellipse">
            <a:avLst/>
          </a:prstGeom>
          <a:noFill/>
          <a:ln w="3816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9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2" name="Line 29"/>
          <p:cNvSpPr/>
          <p:nvPr/>
        </p:nvSpPr>
        <p:spPr>
          <a:xfrm>
            <a:off x="6249960" y="201600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3" name="Line 30"/>
          <p:cNvSpPr/>
          <p:nvPr/>
        </p:nvSpPr>
        <p:spPr>
          <a:xfrm>
            <a:off x="3652920" y="2016000"/>
            <a:ext cx="396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934" name="AutoShape 31"/>
          <p:cNvCxnSpPr>
            <a:stCxn id="930" idx="5"/>
            <a:endCxn id="931" idx="3"/>
          </p:cNvCxnSpPr>
          <p:nvPr/>
        </p:nvCxnSpPr>
        <p:spPr>
          <a:xfrm flipH="1" rot="16200000">
            <a:off x="5150520" y="614160"/>
            <a:ext cx="10080" cy="3089880"/>
          </a:xfrm>
          <a:prstGeom prst="curvedConnector5">
            <a:avLst>
              <a:gd name="adj1" fmla="val 6748148"/>
              <a:gd name="adj2" fmla="val 50000"/>
              <a:gd name="adj3" fmla="val 674814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935" name="Text Box 32"/>
          <p:cNvSpPr/>
          <p:nvPr/>
        </p:nvSpPr>
        <p:spPr>
          <a:xfrm>
            <a:off x="4997520" y="255096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6" name="Text Box 33"/>
          <p:cNvSpPr/>
          <p:nvPr/>
        </p:nvSpPr>
        <p:spPr>
          <a:xfrm>
            <a:off x="4317840" y="159372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7" name="Text Box 34"/>
          <p:cNvSpPr/>
          <p:nvPr/>
        </p:nvSpPr>
        <p:spPr>
          <a:xfrm>
            <a:off x="5718240" y="159372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8" name="Text Box 35"/>
          <p:cNvSpPr/>
          <p:nvPr/>
        </p:nvSpPr>
        <p:spPr>
          <a:xfrm>
            <a:off x="4317840" y="2136600"/>
            <a:ext cx="238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9" name="Text Box 36"/>
          <p:cNvSpPr/>
          <p:nvPr/>
        </p:nvSpPr>
        <p:spPr>
          <a:xfrm>
            <a:off x="5718240" y="213660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40" name="Text Box 37"/>
          <p:cNvSpPr/>
          <p:nvPr/>
        </p:nvSpPr>
        <p:spPr>
          <a:xfrm>
            <a:off x="3678120" y="17542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41" name="Text Box 38"/>
          <p:cNvSpPr/>
          <p:nvPr/>
        </p:nvSpPr>
        <p:spPr>
          <a:xfrm>
            <a:off x="6269040" y="17542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42" name="Text Box 39"/>
          <p:cNvSpPr/>
          <p:nvPr/>
        </p:nvSpPr>
        <p:spPr>
          <a:xfrm>
            <a:off x="5008680" y="10666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943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44" name="Rectangle 86"/>
          <p:cNvSpPr/>
          <p:nvPr/>
        </p:nvSpPr>
        <p:spPr>
          <a:xfrm>
            <a:off x="3429000" y="554976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45" name="Rectangle 100"/>
          <p:cNvSpPr/>
          <p:nvPr/>
        </p:nvSpPr>
        <p:spPr>
          <a:xfrm>
            <a:off x="3581280" y="5029200"/>
            <a:ext cx="4419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46" name="Oval 101"/>
          <p:cNvSpPr/>
          <p:nvPr/>
        </p:nvSpPr>
        <p:spPr>
          <a:xfrm>
            <a:off x="6438960" y="4317840"/>
            <a:ext cx="1295280" cy="609840"/>
          </a:xfrm>
          <a:prstGeom prst="ellipse">
            <a:avLst/>
          </a:prstGeom>
          <a:noFill/>
          <a:ln w="1260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47" name="Oval 102"/>
          <p:cNvSpPr/>
          <p:nvPr/>
        </p:nvSpPr>
        <p:spPr>
          <a:xfrm>
            <a:off x="1447920" y="5562720"/>
            <a:ext cx="380880" cy="380880"/>
          </a:xfrm>
          <a:prstGeom prst="ellipse">
            <a:avLst/>
          </a:prstGeom>
          <a:noFill/>
          <a:ln w="1260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948" name="AutoShape 103"/>
          <p:cNvCxnSpPr>
            <a:stCxn id="946" idx="2"/>
            <a:endCxn id="947" idx="7"/>
          </p:cNvCxnSpPr>
          <p:nvPr/>
        </p:nvCxnSpPr>
        <p:spPr>
          <a:xfrm flipH="1">
            <a:off x="1773360" y="4622400"/>
            <a:ext cx="4665960" cy="996120"/>
          </a:xfrm>
          <a:prstGeom prst="straightConnector1">
            <a:avLst/>
          </a:prstGeom>
          <a:ln w="9360">
            <a:solidFill>
              <a:srgbClr val="FF0065"/>
            </a:solidFill>
            <a:miter/>
            <a:tailEnd len="med" type="triangle" w="med"/>
          </a:ln>
        </p:spPr>
      </p:cxnSp>
    </p:spTree>
  </p:cSld>
  <p:transition>
    <p:wipe dir="r"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0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F31AA5C-8216-4CDD-979B-CF1DBCEE086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1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2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3" name="Rectangle 4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4" name="Oval 5"/>
          <p:cNvSpPr/>
          <p:nvPr/>
        </p:nvSpPr>
        <p:spPr>
          <a:xfrm>
            <a:off x="1773360" y="1797120"/>
            <a:ext cx="3618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5" name="Oval 6"/>
          <p:cNvSpPr/>
          <p:nvPr/>
        </p:nvSpPr>
        <p:spPr>
          <a:xfrm>
            <a:off x="2546280" y="1797120"/>
            <a:ext cx="363600" cy="3697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6" name="Line 7"/>
          <p:cNvSpPr/>
          <p:nvPr/>
        </p:nvSpPr>
        <p:spPr>
          <a:xfrm>
            <a:off x="2135160" y="198288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7" name="Text Box 8"/>
          <p:cNvSpPr/>
          <p:nvPr/>
        </p:nvSpPr>
        <p:spPr>
          <a:xfrm>
            <a:off x="2185920" y="1712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8" name="Line 9"/>
          <p:cNvSpPr/>
          <p:nvPr/>
        </p:nvSpPr>
        <p:spPr>
          <a:xfrm>
            <a:off x="2909880" y="2006640"/>
            <a:ext cx="396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9" name="Text Box 10"/>
          <p:cNvSpPr/>
          <p:nvPr/>
        </p:nvSpPr>
        <p:spPr>
          <a:xfrm>
            <a:off x="2941560" y="173844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960" name="AutoShape 11"/>
          <p:cNvCxnSpPr>
            <a:stCxn id="961" idx="0"/>
            <a:endCxn id="962" idx="0"/>
          </p:cNvCxnSpPr>
          <p:nvPr/>
        </p:nvCxnSpPr>
        <p:spPr>
          <a:xfrm flipV="1" rot="16200000">
            <a:off x="5144040" y="892080"/>
            <a:ext cx="2160" cy="1858320"/>
          </a:xfrm>
          <a:prstGeom prst="curvedConnector5">
            <a:avLst>
              <a:gd name="adj1" fmla="val 30380000"/>
              <a:gd name="adj2" fmla="val 49990"/>
              <a:gd name="adj3" fmla="val 3038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963" name="Oval 12"/>
          <p:cNvSpPr/>
          <p:nvPr/>
        </p:nvSpPr>
        <p:spPr>
          <a:xfrm>
            <a:off x="4584600" y="1547640"/>
            <a:ext cx="3636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4" name="Oval 13"/>
          <p:cNvSpPr/>
          <p:nvPr/>
        </p:nvSpPr>
        <p:spPr>
          <a:xfrm>
            <a:off x="5359320" y="154620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5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5" name="Line 14"/>
          <p:cNvSpPr/>
          <p:nvPr/>
        </p:nvSpPr>
        <p:spPr>
          <a:xfrm>
            <a:off x="4948200" y="173196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6" name="Text Box 15"/>
          <p:cNvSpPr/>
          <p:nvPr/>
        </p:nvSpPr>
        <p:spPr>
          <a:xfrm>
            <a:off x="4997520" y="146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7" name="Oval 16"/>
          <p:cNvSpPr/>
          <p:nvPr/>
        </p:nvSpPr>
        <p:spPr>
          <a:xfrm>
            <a:off x="4584600" y="2165400"/>
            <a:ext cx="3636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6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8" name="Oval 17"/>
          <p:cNvSpPr/>
          <p:nvPr/>
        </p:nvSpPr>
        <p:spPr>
          <a:xfrm>
            <a:off x="5359320" y="2163600"/>
            <a:ext cx="36216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7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9" name="Line 18"/>
          <p:cNvSpPr/>
          <p:nvPr/>
        </p:nvSpPr>
        <p:spPr>
          <a:xfrm>
            <a:off x="4948200" y="235116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0" name="Text Box 19"/>
          <p:cNvSpPr/>
          <p:nvPr/>
        </p:nvSpPr>
        <p:spPr>
          <a:xfrm>
            <a:off x="4997520" y="209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2" name="Oval 20"/>
          <p:cNvSpPr/>
          <p:nvPr/>
        </p:nvSpPr>
        <p:spPr>
          <a:xfrm>
            <a:off x="4035600" y="1828800"/>
            <a:ext cx="3618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3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1" name="Oval 21"/>
          <p:cNvSpPr/>
          <p:nvPr/>
        </p:nvSpPr>
        <p:spPr>
          <a:xfrm>
            <a:off x="5891040" y="1830240"/>
            <a:ext cx="3636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8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1" name="Line 22"/>
          <p:cNvSpPr/>
          <p:nvPr/>
        </p:nvSpPr>
        <p:spPr>
          <a:xfrm flipV="1">
            <a:off x="4362480" y="1801800"/>
            <a:ext cx="230040" cy="1224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2" name="Line 23"/>
          <p:cNvSpPr/>
          <p:nvPr/>
        </p:nvSpPr>
        <p:spPr>
          <a:xfrm>
            <a:off x="4371840" y="2114640"/>
            <a:ext cx="228600" cy="1458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3" name="Line 24"/>
          <p:cNvSpPr/>
          <p:nvPr/>
        </p:nvSpPr>
        <p:spPr>
          <a:xfrm>
            <a:off x="5724360" y="1793880"/>
            <a:ext cx="190800" cy="1303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4" name="Line 25"/>
          <p:cNvSpPr/>
          <p:nvPr/>
        </p:nvSpPr>
        <p:spPr>
          <a:xfrm flipV="1">
            <a:off x="5724360" y="2136600"/>
            <a:ext cx="190800" cy="1540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5" name="Oval 26"/>
          <p:cNvSpPr/>
          <p:nvPr/>
        </p:nvSpPr>
        <p:spPr>
          <a:xfrm>
            <a:off x="3301920" y="1828800"/>
            <a:ext cx="36216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6" name="Oval 27"/>
          <p:cNvSpPr/>
          <p:nvPr/>
        </p:nvSpPr>
        <p:spPr>
          <a:xfrm>
            <a:off x="6648480" y="1828800"/>
            <a:ext cx="361800" cy="37152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9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7" name="Line 28"/>
          <p:cNvSpPr/>
          <p:nvPr/>
        </p:nvSpPr>
        <p:spPr>
          <a:xfrm>
            <a:off x="6249960" y="201600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8" name="Line 29"/>
          <p:cNvSpPr/>
          <p:nvPr/>
        </p:nvSpPr>
        <p:spPr>
          <a:xfrm>
            <a:off x="3652920" y="2016000"/>
            <a:ext cx="396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979" name="AutoShape 30"/>
          <p:cNvCxnSpPr>
            <a:stCxn id="975" idx="5"/>
            <a:endCxn id="976" idx="3"/>
          </p:cNvCxnSpPr>
          <p:nvPr/>
        </p:nvCxnSpPr>
        <p:spPr>
          <a:xfrm flipH="1" rot="16200000">
            <a:off x="5150520" y="614160"/>
            <a:ext cx="10080" cy="3089880"/>
          </a:xfrm>
          <a:prstGeom prst="curvedConnector5">
            <a:avLst>
              <a:gd name="adj1" fmla="val 6748148"/>
              <a:gd name="adj2" fmla="val 50000"/>
              <a:gd name="adj3" fmla="val 674814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980" name="Text Box 31"/>
          <p:cNvSpPr/>
          <p:nvPr/>
        </p:nvSpPr>
        <p:spPr>
          <a:xfrm>
            <a:off x="4997520" y="255096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1" name="Text Box 32"/>
          <p:cNvSpPr/>
          <p:nvPr/>
        </p:nvSpPr>
        <p:spPr>
          <a:xfrm>
            <a:off x="4317840" y="159372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2" name="Text Box 33"/>
          <p:cNvSpPr/>
          <p:nvPr/>
        </p:nvSpPr>
        <p:spPr>
          <a:xfrm>
            <a:off x="5718240" y="159372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3" name="Text Box 34"/>
          <p:cNvSpPr/>
          <p:nvPr/>
        </p:nvSpPr>
        <p:spPr>
          <a:xfrm>
            <a:off x="4317840" y="2136600"/>
            <a:ext cx="238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4" name="Text Box 35"/>
          <p:cNvSpPr/>
          <p:nvPr/>
        </p:nvSpPr>
        <p:spPr>
          <a:xfrm>
            <a:off x="5718240" y="213660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5" name="Text Box 36"/>
          <p:cNvSpPr/>
          <p:nvPr/>
        </p:nvSpPr>
        <p:spPr>
          <a:xfrm>
            <a:off x="3678120" y="17542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6" name="Text Box 37"/>
          <p:cNvSpPr/>
          <p:nvPr/>
        </p:nvSpPr>
        <p:spPr>
          <a:xfrm>
            <a:off x="6269040" y="17542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7" name="Text Box 38"/>
          <p:cNvSpPr/>
          <p:nvPr/>
        </p:nvSpPr>
        <p:spPr>
          <a:xfrm>
            <a:off x="5008680" y="10666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988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ransition>
    <p:wipe dir="r"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0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DEA761C-5C15-4136-B01F-4D2105384C3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1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2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3" name="Rectangle 4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4" name="Oval 5"/>
          <p:cNvSpPr/>
          <p:nvPr/>
        </p:nvSpPr>
        <p:spPr>
          <a:xfrm>
            <a:off x="1773360" y="1797120"/>
            <a:ext cx="3618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5" name="Oval 6"/>
          <p:cNvSpPr/>
          <p:nvPr/>
        </p:nvSpPr>
        <p:spPr>
          <a:xfrm>
            <a:off x="2546280" y="1797120"/>
            <a:ext cx="363600" cy="3697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6" name="Line 7"/>
          <p:cNvSpPr/>
          <p:nvPr/>
        </p:nvSpPr>
        <p:spPr>
          <a:xfrm>
            <a:off x="2135160" y="198288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7" name="Text Box 8"/>
          <p:cNvSpPr/>
          <p:nvPr/>
        </p:nvSpPr>
        <p:spPr>
          <a:xfrm>
            <a:off x="2185920" y="1712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8" name="Line 9"/>
          <p:cNvSpPr/>
          <p:nvPr/>
        </p:nvSpPr>
        <p:spPr>
          <a:xfrm>
            <a:off x="2909880" y="2006640"/>
            <a:ext cx="396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9" name="Text Box 10"/>
          <p:cNvSpPr/>
          <p:nvPr/>
        </p:nvSpPr>
        <p:spPr>
          <a:xfrm>
            <a:off x="2941560" y="173844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000" name="AutoShape 11"/>
          <p:cNvCxnSpPr>
            <a:stCxn id="1001" idx="0"/>
            <a:endCxn id="1002" idx="0"/>
          </p:cNvCxnSpPr>
          <p:nvPr/>
        </p:nvCxnSpPr>
        <p:spPr>
          <a:xfrm flipV="1" rot="16200000">
            <a:off x="5144040" y="892080"/>
            <a:ext cx="2160" cy="1858320"/>
          </a:xfrm>
          <a:prstGeom prst="curvedConnector5">
            <a:avLst>
              <a:gd name="adj1" fmla="val 30380000"/>
              <a:gd name="adj2" fmla="val 49990"/>
              <a:gd name="adj3" fmla="val 3038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003" name="Oval 12"/>
          <p:cNvSpPr/>
          <p:nvPr/>
        </p:nvSpPr>
        <p:spPr>
          <a:xfrm>
            <a:off x="4584600" y="1547640"/>
            <a:ext cx="363600" cy="37008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4" name="Oval 13"/>
          <p:cNvSpPr/>
          <p:nvPr/>
        </p:nvSpPr>
        <p:spPr>
          <a:xfrm>
            <a:off x="5359320" y="1546200"/>
            <a:ext cx="362160" cy="37008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5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5" name="Line 14"/>
          <p:cNvSpPr/>
          <p:nvPr/>
        </p:nvSpPr>
        <p:spPr>
          <a:xfrm>
            <a:off x="4948200" y="173196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6" name="Text Box 15"/>
          <p:cNvSpPr/>
          <p:nvPr/>
        </p:nvSpPr>
        <p:spPr>
          <a:xfrm>
            <a:off x="4997520" y="146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7" name="Oval 16"/>
          <p:cNvSpPr/>
          <p:nvPr/>
        </p:nvSpPr>
        <p:spPr>
          <a:xfrm>
            <a:off x="4584600" y="2165400"/>
            <a:ext cx="36360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6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8" name="Oval 17"/>
          <p:cNvSpPr/>
          <p:nvPr/>
        </p:nvSpPr>
        <p:spPr>
          <a:xfrm>
            <a:off x="5359320" y="2163600"/>
            <a:ext cx="362160" cy="371520"/>
          </a:xfrm>
          <a:prstGeom prst="ellipse">
            <a:avLst/>
          </a:prstGeom>
          <a:noFill/>
          <a:ln w="1908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B025A6"/>
                </a:solidFill>
                <a:effectLst/>
                <a:uFillTx/>
                <a:latin typeface="Arial Rounded MT Bold"/>
              </a:rPr>
              <a:t>7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9" name="Line 18"/>
          <p:cNvSpPr/>
          <p:nvPr/>
        </p:nvSpPr>
        <p:spPr>
          <a:xfrm>
            <a:off x="4948200" y="235116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0" name="Text Box 19"/>
          <p:cNvSpPr/>
          <p:nvPr/>
        </p:nvSpPr>
        <p:spPr>
          <a:xfrm>
            <a:off x="4997520" y="209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2" name="Oval 20"/>
          <p:cNvSpPr/>
          <p:nvPr/>
        </p:nvSpPr>
        <p:spPr>
          <a:xfrm>
            <a:off x="4035600" y="1828800"/>
            <a:ext cx="36180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3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1" name="Oval 21"/>
          <p:cNvSpPr/>
          <p:nvPr/>
        </p:nvSpPr>
        <p:spPr>
          <a:xfrm>
            <a:off x="5891040" y="1830240"/>
            <a:ext cx="36360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8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1" name="Line 22"/>
          <p:cNvSpPr/>
          <p:nvPr/>
        </p:nvSpPr>
        <p:spPr>
          <a:xfrm flipV="1">
            <a:off x="4362480" y="1801800"/>
            <a:ext cx="230040" cy="1224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2" name="Line 23"/>
          <p:cNvSpPr/>
          <p:nvPr/>
        </p:nvSpPr>
        <p:spPr>
          <a:xfrm>
            <a:off x="4371840" y="2114640"/>
            <a:ext cx="228600" cy="1458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3" name="Line 24"/>
          <p:cNvSpPr/>
          <p:nvPr/>
        </p:nvSpPr>
        <p:spPr>
          <a:xfrm>
            <a:off x="5724360" y="1793880"/>
            <a:ext cx="190800" cy="1303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4" name="Line 25"/>
          <p:cNvSpPr/>
          <p:nvPr/>
        </p:nvSpPr>
        <p:spPr>
          <a:xfrm flipV="1">
            <a:off x="5724360" y="2136600"/>
            <a:ext cx="190800" cy="1540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5" name="Oval 26"/>
          <p:cNvSpPr/>
          <p:nvPr/>
        </p:nvSpPr>
        <p:spPr>
          <a:xfrm>
            <a:off x="3301920" y="1828800"/>
            <a:ext cx="36216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6" name="Oval 27"/>
          <p:cNvSpPr/>
          <p:nvPr/>
        </p:nvSpPr>
        <p:spPr>
          <a:xfrm>
            <a:off x="6648480" y="1828800"/>
            <a:ext cx="361800" cy="371520"/>
          </a:xfrm>
          <a:prstGeom prst="ellipse">
            <a:avLst/>
          </a:prstGeom>
          <a:noFill/>
          <a:ln w="3816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9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7" name="Line 28"/>
          <p:cNvSpPr/>
          <p:nvPr/>
        </p:nvSpPr>
        <p:spPr>
          <a:xfrm>
            <a:off x="6249960" y="201600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8" name="Line 29"/>
          <p:cNvSpPr/>
          <p:nvPr/>
        </p:nvSpPr>
        <p:spPr>
          <a:xfrm>
            <a:off x="3652920" y="2016000"/>
            <a:ext cx="396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019" name="AutoShape 30"/>
          <p:cNvCxnSpPr>
            <a:stCxn id="1015" idx="5"/>
            <a:endCxn id="1016" idx="3"/>
          </p:cNvCxnSpPr>
          <p:nvPr/>
        </p:nvCxnSpPr>
        <p:spPr>
          <a:xfrm flipH="1" rot="16200000">
            <a:off x="5150520" y="614160"/>
            <a:ext cx="10080" cy="3089880"/>
          </a:xfrm>
          <a:prstGeom prst="curvedConnector5">
            <a:avLst>
              <a:gd name="adj1" fmla="val 6748148"/>
              <a:gd name="adj2" fmla="val 50000"/>
              <a:gd name="adj3" fmla="val 674814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020" name="Text Box 31"/>
          <p:cNvSpPr/>
          <p:nvPr/>
        </p:nvSpPr>
        <p:spPr>
          <a:xfrm>
            <a:off x="4997520" y="255096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1" name="Text Box 32"/>
          <p:cNvSpPr/>
          <p:nvPr/>
        </p:nvSpPr>
        <p:spPr>
          <a:xfrm>
            <a:off x="4317840" y="159372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2" name="Text Box 33"/>
          <p:cNvSpPr/>
          <p:nvPr/>
        </p:nvSpPr>
        <p:spPr>
          <a:xfrm>
            <a:off x="5718240" y="159372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3" name="Text Box 34"/>
          <p:cNvSpPr/>
          <p:nvPr/>
        </p:nvSpPr>
        <p:spPr>
          <a:xfrm>
            <a:off x="4317840" y="2136600"/>
            <a:ext cx="238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4" name="Text Box 35"/>
          <p:cNvSpPr/>
          <p:nvPr/>
        </p:nvSpPr>
        <p:spPr>
          <a:xfrm>
            <a:off x="5718240" y="213660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5" name="Text Box 36"/>
          <p:cNvSpPr/>
          <p:nvPr/>
        </p:nvSpPr>
        <p:spPr>
          <a:xfrm>
            <a:off x="3678120" y="17542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6" name="Text Box 37"/>
          <p:cNvSpPr/>
          <p:nvPr/>
        </p:nvSpPr>
        <p:spPr>
          <a:xfrm>
            <a:off x="6269040" y="17542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7" name="Text Box 38"/>
          <p:cNvSpPr/>
          <p:nvPr/>
        </p:nvSpPr>
        <p:spPr>
          <a:xfrm>
            <a:off x="5008680" y="10666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1028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9" name="Rectangle 82"/>
          <p:cNvSpPr/>
          <p:nvPr/>
        </p:nvSpPr>
        <p:spPr>
          <a:xfrm>
            <a:off x="4572000" y="5549760"/>
            <a:ext cx="3276720" cy="54612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030" name="Group 95"/>
          <p:cNvGrpSpPr/>
          <p:nvPr/>
        </p:nvGrpSpPr>
        <p:grpSpPr>
          <a:xfrm>
            <a:off x="5867280" y="2286000"/>
            <a:ext cx="3124440" cy="2819520"/>
            <a:chOff x="5867280" y="2286000"/>
            <a:chExt cx="3124440" cy="2819520"/>
          </a:xfrm>
        </p:grpSpPr>
        <p:sp>
          <p:nvSpPr>
            <p:cNvPr id="1031" name="Text Box 91"/>
            <p:cNvSpPr/>
            <p:nvPr/>
          </p:nvSpPr>
          <p:spPr>
            <a:xfrm>
              <a:off x="7620120" y="2362320"/>
              <a:ext cx="1371600" cy="57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Comic Sans MS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Comic Sans MS"/>
                </a:rPr>
                <a:t>7</a:t>
              </a: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Comic Sans MS"/>
                </a:rPr>
                <a:t> is the core state of s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Comic Sans MS"/>
                </a:rPr>
                <a:t>3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32" name="Line 92"/>
            <p:cNvSpPr/>
            <p:nvPr/>
          </p:nvSpPr>
          <p:spPr>
            <a:xfrm>
              <a:off x="7620120" y="2362320"/>
              <a:ext cx="0" cy="533160"/>
            </a:xfrm>
            <a:prstGeom prst="line">
              <a:avLst/>
            </a:prstGeom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33" name="Freeform 93"/>
            <p:cNvSpPr/>
            <p:nvPr/>
          </p:nvSpPr>
          <p:spPr>
            <a:xfrm>
              <a:off x="5867280" y="2286000"/>
              <a:ext cx="1752840" cy="254160"/>
            </a:xfrm>
            <a:custGeom>
              <a:avLst/>
              <a:gdLst>
                <a:gd name="textAreaLeft" fmla="*/ 0 w 1752840"/>
                <a:gd name="textAreaRight" fmla="*/ 1753200 w 1752840"/>
                <a:gd name="textAreaTop" fmla="*/ 0 h 254160"/>
                <a:gd name="textAreaBottom" fmla="*/ 254520 h 254160"/>
                <a:gd name="GluePoint1X" fmla="*/ 1104 w 1104"/>
                <a:gd name="GluePoint1Y" fmla="*/ 144 h 160"/>
                <a:gd name="GluePoint2X" fmla="*/ 672 w 1104"/>
                <a:gd name="GluePoint2Y" fmla="*/ 0 h 160"/>
                <a:gd name="GluePoint3X" fmla="*/ 624 w 1104"/>
                <a:gd name="GluePoint3Y" fmla="*/ 144 h 160"/>
                <a:gd name="GluePoint4X" fmla="*/ 0 w 1104"/>
                <a:gd name="GluePoint4Y" fmla="*/ 96 h 1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104" h="160">
                  <a:moveTo>
                    <a:pt x="1104" y="144"/>
                  </a:moveTo>
                  <a:cubicBezTo>
                    <a:pt x="928" y="72"/>
                    <a:pt x="752" y="0"/>
                    <a:pt x="672" y="0"/>
                  </a:cubicBezTo>
                  <a:cubicBezTo>
                    <a:pt x="592" y="0"/>
                    <a:pt x="736" y="128"/>
                    <a:pt x="624" y="144"/>
                  </a:cubicBezTo>
                  <a:cubicBezTo>
                    <a:pt x="512" y="160"/>
                    <a:pt x="256" y="128"/>
                    <a:pt x="0" y="96"/>
                  </a:cubicBezTo>
                </a:path>
              </a:pathLst>
            </a:custGeom>
            <a:noFill/>
            <a:ln w="6480">
              <a:solidFill>
                <a:srgbClr val="B025A6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34" name="Freeform 94"/>
            <p:cNvSpPr/>
            <p:nvPr/>
          </p:nvSpPr>
          <p:spPr>
            <a:xfrm>
              <a:off x="7023240" y="2514600"/>
              <a:ext cx="1180800" cy="2590920"/>
            </a:xfrm>
            <a:custGeom>
              <a:avLst/>
              <a:gdLst>
                <a:gd name="textAreaLeft" fmla="*/ 0 w 1180800"/>
                <a:gd name="textAreaRight" fmla="*/ 1181160 w 1180800"/>
                <a:gd name="textAreaTop" fmla="*/ 0 h 2590920"/>
                <a:gd name="textAreaBottom" fmla="*/ 2590920 h 2590920"/>
                <a:gd name="GluePoint1X" fmla="*/ 376 w 744"/>
                <a:gd name="GluePoint1Y" fmla="*/ 0 h 1632"/>
                <a:gd name="GluePoint2X" fmla="*/ 136 w 744"/>
                <a:gd name="GluePoint2Y" fmla="*/ 48 h 1632"/>
                <a:gd name="GluePoint3X" fmla="*/ 40 w 744"/>
                <a:gd name="GluePoint3Y" fmla="*/ 240 h 1632"/>
                <a:gd name="GluePoint4X" fmla="*/ 376 w 744"/>
                <a:gd name="GluePoint4Y" fmla="*/ 480 h 1632"/>
                <a:gd name="GluePoint5X" fmla="*/ 664 w 744"/>
                <a:gd name="GluePoint5Y" fmla="*/ 768 h 1632"/>
                <a:gd name="GluePoint6X" fmla="*/ 664 w 744"/>
                <a:gd name="GluePoint6Y" fmla="*/ 1200 h 1632"/>
                <a:gd name="GluePoint7X" fmla="*/ 184 w 744"/>
                <a:gd name="GluePoint7Y" fmla="*/ 1632 h 16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744" h="1632">
                  <a:moveTo>
                    <a:pt x="376" y="0"/>
                  </a:moveTo>
                  <a:cubicBezTo>
                    <a:pt x="284" y="4"/>
                    <a:pt x="192" y="8"/>
                    <a:pt x="136" y="48"/>
                  </a:cubicBezTo>
                  <a:cubicBezTo>
                    <a:pt x="80" y="88"/>
                    <a:pt x="0" y="168"/>
                    <a:pt x="40" y="240"/>
                  </a:cubicBezTo>
                  <a:cubicBezTo>
                    <a:pt x="80" y="312"/>
                    <a:pt x="272" y="392"/>
                    <a:pt x="376" y="480"/>
                  </a:cubicBezTo>
                  <a:cubicBezTo>
                    <a:pt x="480" y="568"/>
                    <a:pt x="616" y="648"/>
                    <a:pt x="664" y="768"/>
                  </a:cubicBezTo>
                  <a:cubicBezTo>
                    <a:pt x="712" y="888"/>
                    <a:pt x="744" y="1056"/>
                    <a:pt x="664" y="1200"/>
                  </a:cubicBezTo>
                  <a:cubicBezTo>
                    <a:pt x="584" y="1344"/>
                    <a:pt x="384" y="1488"/>
                    <a:pt x="184" y="1632"/>
                  </a:cubicBezTo>
                </a:path>
              </a:pathLst>
            </a:custGeom>
            <a:noFill/>
            <a:ln w="6480">
              <a:solidFill>
                <a:srgbClr val="B025A6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36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4D0280E-72C0-4B85-8F51-9A96D2FD8B0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37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38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39" name="Rectangle 4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0" name="Oval 6"/>
          <p:cNvSpPr/>
          <p:nvPr/>
        </p:nvSpPr>
        <p:spPr>
          <a:xfrm>
            <a:off x="1773360" y="1797120"/>
            <a:ext cx="3618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1" name="Oval 7"/>
          <p:cNvSpPr/>
          <p:nvPr/>
        </p:nvSpPr>
        <p:spPr>
          <a:xfrm>
            <a:off x="2546280" y="1797120"/>
            <a:ext cx="363600" cy="3697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2" name="Line 8"/>
          <p:cNvSpPr/>
          <p:nvPr/>
        </p:nvSpPr>
        <p:spPr>
          <a:xfrm>
            <a:off x="2135160" y="198288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3" name="Text Box 9"/>
          <p:cNvSpPr/>
          <p:nvPr/>
        </p:nvSpPr>
        <p:spPr>
          <a:xfrm>
            <a:off x="2185920" y="1712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4" name="Line 10"/>
          <p:cNvSpPr/>
          <p:nvPr/>
        </p:nvSpPr>
        <p:spPr>
          <a:xfrm>
            <a:off x="2909880" y="2006640"/>
            <a:ext cx="396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5" name="Text Box 11"/>
          <p:cNvSpPr/>
          <p:nvPr/>
        </p:nvSpPr>
        <p:spPr>
          <a:xfrm>
            <a:off x="2941560" y="173844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046" name="AutoShape 12"/>
          <p:cNvCxnSpPr>
            <a:stCxn id="1047" idx="0"/>
            <a:endCxn id="1048" idx="0"/>
          </p:cNvCxnSpPr>
          <p:nvPr/>
        </p:nvCxnSpPr>
        <p:spPr>
          <a:xfrm flipV="1" rot="16200000">
            <a:off x="5144040" y="892080"/>
            <a:ext cx="2160" cy="1858320"/>
          </a:xfrm>
          <a:prstGeom prst="curvedConnector5">
            <a:avLst>
              <a:gd name="adj1" fmla="val 30380000"/>
              <a:gd name="adj2" fmla="val 49990"/>
              <a:gd name="adj3" fmla="val 3038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049" name="Oval 13"/>
          <p:cNvSpPr/>
          <p:nvPr/>
        </p:nvSpPr>
        <p:spPr>
          <a:xfrm>
            <a:off x="4584600" y="1547640"/>
            <a:ext cx="363600" cy="37008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0" name="Oval 14"/>
          <p:cNvSpPr/>
          <p:nvPr/>
        </p:nvSpPr>
        <p:spPr>
          <a:xfrm>
            <a:off x="5359320" y="1546200"/>
            <a:ext cx="362160" cy="370080"/>
          </a:xfrm>
          <a:prstGeom prst="ellipse">
            <a:avLst/>
          </a:prstGeom>
          <a:noFill/>
          <a:ln w="1908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B025A6"/>
                </a:solidFill>
                <a:effectLst/>
                <a:uFillTx/>
                <a:latin typeface="Arial Rounded MT Bold"/>
              </a:rPr>
              <a:t>5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1" name="Line 15"/>
          <p:cNvSpPr/>
          <p:nvPr/>
        </p:nvSpPr>
        <p:spPr>
          <a:xfrm>
            <a:off x="4948200" y="173196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2" name="Text Box 16"/>
          <p:cNvSpPr/>
          <p:nvPr/>
        </p:nvSpPr>
        <p:spPr>
          <a:xfrm>
            <a:off x="4997520" y="146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3" name="Oval 17"/>
          <p:cNvSpPr/>
          <p:nvPr/>
        </p:nvSpPr>
        <p:spPr>
          <a:xfrm>
            <a:off x="4584600" y="2165400"/>
            <a:ext cx="36360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6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4" name="Oval 18"/>
          <p:cNvSpPr/>
          <p:nvPr/>
        </p:nvSpPr>
        <p:spPr>
          <a:xfrm>
            <a:off x="5359320" y="2163600"/>
            <a:ext cx="36216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7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5" name="Line 19"/>
          <p:cNvSpPr/>
          <p:nvPr/>
        </p:nvSpPr>
        <p:spPr>
          <a:xfrm>
            <a:off x="4948200" y="235116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6" name="Text Box 20"/>
          <p:cNvSpPr/>
          <p:nvPr/>
        </p:nvSpPr>
        <p:spPr>
          <a:xfrm>
            <a:off x="4997520" y="209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8" name="Oval 21"/>
          <p:cNvSpPr/>
          <p:nvPr/>
        </p:nvSpPr>
        <p:spPr>
          <a:xfrm>
            <a:off x="4035600" y="1828800"/>
            <a:ext cx="36180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3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7" name="Oval 22"/>
          <p:cNvSpPr/>
          <p:nvPr/>
        </p:nvSpPr>
        <p:spPr>
          <a:xfrm>
            <a:off x="5891040" y="1830240"/>
            <a:ext cx="363600" cy="3715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8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7" name="Line 23"/>
          <p:cNvSpPr/>
          <p:nvPr/>
        </p:nvSpPr>
        <p:spPr>
          <a:xfrm flipV="1">
            <a:off x="4362480" y="1801800"/>
            <a:ext cx="230040" cy="1224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8" name="Line 24"/>
          <p:cNvSpPr/>
          <p:nvPr/>
        </p:nvSpPr>
        <p:spPr>
          <a:xfrm>
            <a:off x="4371840" y="2114640"/>
            <a:ext cx="228600" cy="1458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9" name="Line 25"/>
          <p:cNvSpPr/>
          <p:nvPr/>
        </p:nvSpPr>
        <p:spPr>
          <a:xfrm>
            <a:off x="5724360" y="1793880"/>
            <a:ext cx="190800" cy="1303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0" name="Line 26"/>
          <p:cNvSpPr/>
          <p:nvPr/>
        </p:nvSpPr>
        <p:spPr>
          <a:xfrm flipV="1">
            <a:off x="5724360" y="2136600"/>
            <a:ext cx="190800" cy="1540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1" name="Oval 27"/>
          <p:cNvSpPr/>
          <p:nvPr/>
        </p:nvSpPr>
        <p:spPr>
          <a:xfrm>
            <a:off x="3301920" y="1828800"/>
            <a:ext cx="36216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2" name="Oval 28"/>
          <p:cNvSpPr/>
          <p:nvPr/>
        </p:nvSpPr>
        <p:spPr>
          <a:xfrm>
            <a:off x="6648480" y="1828800"/>
            <a:ext cx="361800" cy="371520"/>
          </a:xfrm>
          <a:prstGeom prst="ellipse">
            <a:avLst/>
          </a:prstGeom>
          <a:noFill/>
          <a:ln w="3816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9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3" name="Line 29"/>
          <p:cNvSpPr/>
          <p:nvPr/>
        </p:nvSpPr>
        <p:spPr>
          <a:xfrm>
            <a:off x="6249960" y="201600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4" name="Line 30"/>
          <p:cNvSpPr/>
          <p:nvPr/>
        </p:nvSpPr>
        <p:spPr>
          <a:xfrm>
            <a:off x="3652920" y="2016000"/>
            <a:ext cx="396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065" name="AutoShape 31"/>
          <p:cNvCxnSpPr>
            <a:stCxn id="1061" idx="5"/>
            <a:endCxn id="1062" idx="3"/>
          </p:cNvCxnSpPr>
          <p:nvPr/>
        </p:nvCxnSpPr>
        <p:spPr>
          <a:xfrm flipH="1" rot="16200000">
            <a:off x="5150520" y="614160"/>
            <a:ext cx="10080" cy="3089880"/>
          </a:xfrm>
          <a:prstGeom prst="curvedConnector5">
            <a:avLst>
              <a:gd name="adj1" fmla="val 6748148"/>
              <a:gd name="adj2" fmla="val 50000"/>
              <a:gd name="adj3" fmla="val 674814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066" name="Text Box 32"/>
          <p:cNvSpPr/>
          <p:nvPr/>
        </p:nvSpPr>
        <p:spPr>
          <a:xfrm>
            <a:off x="4997520" y="255096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7" name="Text Box 33"/>
          <p:cNvSpPr/>
          <p:nvPr/>
        </p:nvSpPr>
        <p:spPr>
          <a:xfrm>
            <a:off x="4317840" y="159372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8" name="Text Box 34"/>
          <p:cNvSpPr/>
          <p:nvPr/>
        </p:nvSpPr>
        <p:spPr>
          <a:xfrm>
            <a:off x="5718240" y="159372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9" name="Text Box 35"/>
          <p:cNvSpPr/>
          <p:nvPr/>
        </p:nvSpPr>
        <p:spPr>
          <a:xfrm>
            <a:off x="4317840" y="2136600"/>
            <a:ext cx="238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70" name="Text Box 36"/>
          <p:cNvSpPr/>
          <p:nvPr/>
        </p:nvSpPr>
        <p:spPr>
          <a:xfrm>
            <a:off x="5718240" y="213660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71" name="Text Box 37"/>
          <p:cNvSpPr/>
          <p:nvPr/>
        </p:nvSpPr>
        <p:spPr>
          <a:xfrm>
            <a:off x="3678120" y="17542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72" name="Text Box 38"/>
          <p:cNvSpPr/>
          <p:nvPr/>
        </p:nvSpPr>
        <p:spPr>
          <a:xfrm>
            <a:off x="6269040" y="17542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73" name="Text Box 39"/>
          <p:cNvSpPr/>
          <p:nvPr/>
        </p:nvSpPr>
        <p:spPr>
          <a:xfrm>
            <a:off x="5008680" y="10666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1074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075" name="Group 99"/>
          <p:cNvGrpSpPr/>
          <p:nvPr/>
        </p:nvGrpSpPr>
        <p:grpSpPr>
          <a:xfrm>
            <a:off x="5697360" y="1397160"/>
            <a:ext cx="3294360" cy="4940280"/>
            <a:chOff x="5697360" y="1397160"/>
            <a:chExt cx="3294360" cy="4940280"/>
          </a:xfrm>
        </p:grpSpPr>
        <p:sp>
          <p:nvSpPr>
            <p:cNvPr id="1076" name="Text Box 92"/>
            <p:cNvSpPr/>
            <p:nvPr/>
          </p:nvSpPr>
          <p:spPr>
            <a:xfrm>
              <a:off x="7620120" y="2362320"/>
              <a:ext cx="1371600" cy="57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Comic Sans MS"/>
                </a:rPr>
                <a:t>q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Comic Sans MS"/>
                </a:rPr>
                <a:t>5</a:t>
              </a: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Comic Sans MS"/>
                </a:rPr>
                <a:t> is the core state of s</a:t>
              </a:r>
              <a:r>
                <a:rPr lang="en-US" sz="1400" b="0" i="1" u="none" strike="noStrike" baseline="-25000">
                  <a:solidFill>
                    <a:srgbClr val="B025A6"/>
                  </a:solidFill>
                  <a:effectLst/>
                  <a:uFillTx/>
                  <a:latin typeface="Comic Sans MS"/>
                </a:rPr>
                <a:t>2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77" name="Line 93"/>
            <p:cNvSpPr/>
            <p:nvPr/>
          </p:nvSpPr>
          <p:spPr>
            <a:xfrm>
              <a:off x="7620120" y="2362320"/>
              <a:ext cx="0" cy="533160"/>
            </a:xfrm>
            <a:prstGeom prst="line">
              <a:avLst/>
            </a:prstGeom>
            <a:ln w="1908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78" name="Freeform 97"/>
            <p:cNvSpPr/>
            <p:nvPr/>
          </p:nvSpPr>
          <p:spPr>
            <a:xfrm>
              <a:off x="5697360" y="1397160"/>
              <a:ext cx="1905120" cy="1117440"/>
            </a:xfrm>
            <a:custGeom>
              <a:avLst/>
              <a:gdLst>
                <a:gd name="textAreaLeft" fmla="*/ 0 w 1905120"/>
                <a:gd name="textAreaRight" fmla="*/ 1905480 w 1905120"/>
                <a:gd name="textAreaTop" fmla="*/ 0 h 1117440"/>
                <a:gd name="textAreaBottom" fmla="*/ 1117800 h 1117440"/>
                <a:gd name="GluePoint1X" fmla="*/ 1200 w 1200"/>
                <a:gd name="GluePoint1Y" fmla="*/ 704 h 704"/>
                <a:gd name="GluePoint2X" fmla="*/ 720 w 1200"/>
                <a:gd name="GluePoint2Y" fmla="*/ 80 h 704"/>
                <a:gd name="GluePoint3X" fmla="*/ 624 w 1200"/>
                <a:gd name="GluePoint3Y" fmla="*/ 224 h 704"/>
                <a:gd name="GluePoint4X" fmla="*/ 192 w 1200"/>
                <a:gd name="GluePoint4Y" fmla="*/ 32 h 704"/>
                <a:gd name="GluePoint5X" fmla="*/ 0 w 1200"/>
                <a:gd name="GluePoint5Y" fmla="*/ 128 h 7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00" h="704">
                  <a:moveTo>
                    <a:pt x="1200" y="704"/>
                  </a:moveTo>
                  <a:cubicBezTo>
                    <a:pt x="1008" y="432"/>
                    <a:pt x="816" y="160"/>
                    <a:pt x="720" y="80"/>
                  </a:cubicBezTo>
                  <a:cubicBezTo>
                    <a:pt x="624" y="0"/>
                    <a:pt x="712" y="232"/>
                    <a:pt x="624" y="224"/>
                  </a:cubicBezTo>
                  <a:cubicBezTo>
                    <a:pt x="536" y="216"/>
                    <a:pt x="296" y="48"/>
                    <a:pt x="192" y="32"/>
                  </a:cubicBezTo>
                  <a:cubicBezTo>
                    <a:pt x="88" y="16"/>
                    <a:pt x="32" y="112"/>
                    <a:pt x="0" y="128"/>
                  </a:cubicBezTo>
                </a:path>
              </a:pathLst>
            </a:custGeom>
            <a:noFill/>
            <a:ln w="9360">
              <a:solidFill>
                <a:srgbClr val="B025A6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79" name="Freeform 98"/>
            <p:cNvSpPr/>
            <p:nvPr/>
          </p:nvSpPr>
          <p:spPr>
            <a:xfrm>
              <a:off x="5791320" y="2514600"/>
              <a:ext cx="2755800" cy="3822840"/>
            </a:xfrm>
            <a:custGeom>
              <a:avLst/>
              <a:gdLst>
                <a:gd name="textAreaLeft" fmla="*/ 0 w 2755800"/>
                <a:gd name="textAreaRight" fmla="*/ 2756160 w 2755800"/>
                <a:gd name="textAreaTop" fmla="*/ 0 h 3822840"/>
                <a:gd name="textAreaBottom" fmla="*/ 3823200 h 3822840"/>
                <a:gd name="GluePoint1X" fmla="*/ 1152 w 1736"/>
                <a:gd name="GluePoint1Y" fmla="*/ 0 h 2408"/>
                <a:gd name="GluePoint2X" fmla="*/ 960 w 1736"/>
                <a:gd name="GluePoint2Y" fmla="*/ 240 h 2408"/>
                <a:gd name="GluePoint3X" fmla="*/ 1152 w 1736"/>
                <a:gd name="GluePoint3Y" fmla="*/ 576 h 2408"/>
                <a:gd name="GluePoint4X" fmla="*/ 1584 w 1736"/>
                <a:gd name="GluePoint4Y" fmla="*/ 1056 h 2408"/>
                <a:gd name="GluePoint5X" fmla="*/ 1680 w 1736"/>
                <a:gd name="GluePoint5Y" fmla="*/ 1728 h 2408"/>
                <a:gd name="GluePoint6X" fmla="*/ 1248 w 1736"/>
                <a:gd name="GluePoint6Y" fmla="*/ 2112 h 2408"/>
                <a:gd name="GluePoint7X" fmla="*/ 576 w 1736"/>
                <a:gd name="GluePoint7Y" fmla="*/ 2400 h 2408"/>
                <a:gd name="GluePoint8X" fmla="*/ 0 w 1736"/>
                <a:gd name="GluePoint8Y" fmla="*/ 2160 h 24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736" h="2408">
                  <a:moveTo>
                    <a:pt x="1152" y="0"/>
                  </a:moveTo>
                  <a:cubicBezTo>
                    <a:pt x="1056" y="72"/>
                    <a:pt x="960" y="144"/>
                    <a:pt x="960" y="240"/>
                  </a:cubicBezTo>
                  <a:cubicBezTo>
                    <a:pt x="960" y="336"/>
                    <a:pt x="1048" y="440"/>
                    <a:pt x="1152" y="576"/>
                  </a:cubicBezTo>
                  <a:cubicBezTo>
                    <a:pt x="1256" y="712"/>
                    <a:pt x="1496" y="864"/>
                    <a:pt x="1584" y="1056"/>
                  </a:cubicBezTo>
                  <a:cubicBezTo>
                    <a:pt x="1672" y="1248"/>
                    <a:pt x="1736" y="1552"/>
                    <a:pt x="1680" y="1728"/>
                  </a:cubicBezTo>
                  <a:cubicBezTo>
                    <a:pt x="1624" y="1904"/>
                    <a:pt x="1432" y="2000"/>
                    <a:pt x="1248" y="2112"/>
                  </a:cubicBezTo>
                  <a:cubicBezTo>
                    <a:pt x="1064" y="2224"/>
                    <a:pt x="784" y="2392"/>
                    <a:pt x="576" y="2400"/>
                  </a:cubicBezTo>
                  <a:cubicBezTo>
                    <a:pt x="368" y="2408"/>
                    <a:pt x="184" y="2284"/>
                    <a:pt x="0" y="2160"/>
                  </a:cubicBezTo>
                </a:path>
              </a:pathLst>
            </a:custGeom>
            <a:noFill/>
            <a:ln w="6480">
              <a:solidFill>
                <a:srgbClr val="B025A6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81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2B7987A-1F99-4CC7-B9BB-DF5E4E9FA55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82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83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84" name="Rectangle 4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85" name="Oval 6"/>
          <p:cNvSpPr/>
          <p:nvPr/>
        </p:nvSpPr>
        <p:spPr>
          <a:xfrm>
            <a:off x="1773360" y="1797120"/>
            <a:ext cx="3618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86" name="Oval 7"/>
          <p:cNvSpPr/>
          <p:nvPr/>
        </p:nvSpPr>
        <p:spPr>
          <a:xfrm>
            <a:off x="2546280" y="1797120"/>
            <a:ext cx="363600" cy="3697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87" name="Line 8"/>
          <p:cNvSpPr/>
          <p:nvPr/>
        </p:nvSpPr>
        <p:spPr>
          <a:xfrm>
            <a:off x="2135160" y="198288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88" name="Text Box 9"/>
          <p:cNvSpPr/>
          <p:nvPr/>
        </p:nvSpPr>
        <p:spPr>
          <a:xfrm>
            <a:off x="2185920" y="1712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89" name="Line 10"/>
          <p:cNvSpPr/>
          <p:nvPr/>
        </p:nvSpPr>
        <p:spPr>
          <a:xfrm>
            <a:off x="2909880" y="2006640"/>
            <a:ext cx="396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90" name="Text Box 11"/>
          <p:cNvSpPr/>
          <p:nvPr/>
        </p:nvSpPr>
        <p:spPr>
          <a:xfrm>
            <a:off x="2941560" y="173844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091" name="AutoShape 12"/>
          <p:cNvCxnSpPr>
            <a:stCxn id="1092" idx="0"/>
            <a:endCxn id="1093" idx="0"/>
          </p:cNvCxnSpPr>
          <p:nvPr/>
        </p:nvCxnSpPr>
        <p:spPr>
          <a:xfrm flipV="1" rot="16200000">
            <a:off x="5144040" y="892080"/>
            <a:ext cx="2160" cy="1858320"/>
          </a:xfrm>
          <a:prstGeom prst="curvedConnector5">
            <a:avLst>
              <a:gd name="adj1" fmla="val 30380000"/>
              <a:gd name="adj2" fmla="val 49990"/>
              <a:gd name="adj3" fmla="val 3038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094" name="Oval 13"/>
          <p:cNvSpPr/>
          <p:nvPr/>
        </p:nvSpPr>
        <p:spPr>
          <a:xfrm>
            <a:off x="4584600" y="1547640"/>
            <a:ext cx="3636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95" name="Oval 14"/>
          <p:cNvSpPr/>
          <p:nvPr/>
        </p:nvSpPr>
        <p:spPr>
          <a:xfrm>
            <a:off x="5359320" y="154620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5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96" name="Line 15"/>
          <p:cNvSpPr/>
          <p:nvPr/>
        </p:nvSpPr>
        <p:spPr>
          <a:xfrm>
            <a:off x="4948200" y="173196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97" name="Text Box 16"/>
          <p:cNvSpPr/>
          <p:nvPr/>
        </p:nvSpPr>
        <p:spPr>
          <a:xfrm>
            <a:off x="4997520" y="146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98" name="Oval 17"/>
          <p:cNvSpPr/>
          <p:nvPr/>
        </p:nvSpPr>
        <p:spPr>
          <a:xfrm>
            <a:off x="4584600" y="2165400"/>
            <a:ext cx="3636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6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99" name="Oval 18"/>
          <p:cNvSpPr/>
          <p:nvPr/>
        </p:nvSpPr>
        <p:spPr>
          <a:xfrm>
            <a:off x="5359320" y="2163600"/>
            <a:ext cx="36216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7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0" name="Line 19"/>
          <p:cNvSpPr/>
          <p:nvPr/>
        </p:nvSpPr>
        <p:spPr>
          <a:xfrm>
            <a:off x="4948200" y="235116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1" name="Text Box 20"/>
          <p:cNvSpPr/>
          <p:nvPr/>
        </p:nvSpPr>
        <p:spPr>
          <a:xfrm>
            <a:off x="4997520" y="209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93" name="Oval 21"/>
          <p:cNvSpPr/>
          <p:nvPr/>
        </p:nvSpPr>
        <p:spPr>
          <a:xfrm>
            <a:off x="4035600" y="1828800"/>
            <a:ext cx="3618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3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92" name="Oval 22"/>
          <p:cNvSpPr/>
          <p:nvPr/>
        </p:nvSpPr>
        <p:spPr>
          <a:xfrm>
            <a:off x="5891040" y="1830240"/>
            <a:ext cx="3636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8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2" name="Line 23"/>
          <p:cNvSpPr/>
          <p:nvPr/>
        </p:nvSpPr>
        <p:spPr>
          <a:xfrm flipV="1">
            <a:off x="4362480" y="1801800"/>
            <a:ext cx="230040" cy="1224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3" name="Line 24"/>
          <p:cNvSpPr/>
          <p:nvPr/>
        </p:nvSpPr>
        <p:spPr>
          <a:xfrm>
            <a:off x="4371840" y="2114640"/>
            <a:ext cx="228600" cy="1458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4" name="Line 25"/>
          <p:cNvSpPr/>
          <p:nvPr/>
        </p:nvSpPr>
        <p:spPr>
          <a:xfrm>
            <a:off x="5724360" y="1793880"/>
            <a:ext cx="190800" cy="1303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5" name="Line 26"/>
          <p:cNvSpPr/>
          <p:nvPr/>
        </p:nvSpPr>
        <p:spPr>
          <a:xfrm flipV="1">
            <a:off x="5724360" y="2136600"/>
            <a:ext cx="190800" cy="1540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6" name="Oval 27"/>
          <p:cNvSpPr/>
          <p:nvPr/>
        </p:nvSpPr>
        <p:spPr>
          <a:xfrm>
            <a:off x="3301920" y="1828800"/>
            <a:ext cx="36216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7" name="Oval 28"/>
          <p:cNvSpPr/>
          <p:nvPr/>
        </p:nvSpPr>
        <p:spPr>
          <a:xfrm>
            <a:off x="6648480" y="1828800"/>
            <a:ext cx="361800" cy="371520"/>
          </a:xfrm>
          <a:prstGeom prst="ellipse">
            <a:avLst/>
          </a:prstGeom>
          <a:noFill/>
          <a:ln w="3816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q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9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8" name="Line 29"/>
          <p:cNvSpPr/>
          <p:nvPr/>
        </p:nvSpPr>
        <p:spPr>
          <a:xfrm>
            <a:off x="6249960" y="2016000"/>
            <a:ext cx="397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9" name="Line 30"/>
          <p:cNvSpPr/>
          <p:nvPr/>
        </p:nvSpPr>
        <p:spPr>
          <a:xfrm>
            <a:off x="3652920" y="2016000"/>
            <a:ext cx="396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110" name="AutoShape 31"/>
          <p:cNvCxnSpPr>
            <a:stCxn id="1106" idx="5"/>
            <a:endCxn id="1107" idx="3"/>
          </p:cNvCxnSpPr>
          <p:nvPr/>
        </p:nvCxnSpPr>
        <p:spPr>
          <a:xfrm flipH="1" rot="16200000">
            <a:off x="5150520" y="614160"/>
            <a:ext cx="10080" cy="3089880"/>
          </a:xfrm>
          <a:prstGeom prst="curvedConnector5">
            <a:avLst>
              <a:gd name="adj1" fmla="val 6748148"/>
              <a:gd name="adj2" fmla="val 50000"/>
              <a:gd name="adj3" fmla="val 674814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111" name="Text Box 32"/>
          <p:cNvSpPr/>
          <p:nvPr/>
        </p:nvSpPr>
        <p:spPr>
          <a:xfrm>
            <a:off x="4997520" y="255096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2" name="Text Box 33"/>
          <p:cNvSpPr/>
          <p:nvPr/>
        </p:nvSpPr>
        <p:spPr>
          <a:xfrm>
            <a:off x="4317840" y="159372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3" name="Text Box 34"/>
          <p:cNvSpPr/>
          <p:nvPr/>
        </p:nvSpPr>
        <p:spPr>
          <a:xfrm>
            <a:off x="5718240" y="159372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4" name="Text Box 35"/>
          <p:cNvSpPr/>
          <p:nvPr/>
        </p:nvSpPr>
        <p:spPr>
          <a:xfrm>
            <a:off x="4317840" y="2136600"/>
            <a:ext cx="238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5" name="Text Box 36"/>
          <p:cNvSpPr/>
          <p:nvPr/>
        </p:nvSpPr>
        <p:spPr>
          <a:xfrm>
            <a:off x="5718240" y="213660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6" name="Text Box 37"/>
          <p:cNvSpPr/>
          <p:nvPr/>
        </p:nvSpPr>
        <p:spPr>
          <a:xfrm>
            <a:off x="3678120" y="17542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7" name="Text Box 38"/>
          <p:cNvSpPr/>
          <p:nvPr/>
        </p:nvSpPr>
        <p:spPr>
          <a:xfrm>
            <a:off x="6269040" y="17542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8" name="Text Box 39"/>
          <p:cNvSpPr/>
          <p:nvPr/>
        </p:nvSpPr>
        <p:spPr>
          <a:xfrm>
            <a:off x="5008680" y="1066680"/>
            <a:ext cx="239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1119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9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20" name="Oval 90"/>
          <p:cNvSpPr/>
          <p:nvPr/>
        </p:nvSpPr>
        <p:spPr>
          <a:xfrm>
            <a:off x="2857680" y="4572000"/>
            <a:ext cx="304560" cy="3049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21" name="Oval 91"/>
          <p:cNvSpPr/>
          <p:nvPr/>
        </p:nvSpPr>
        <p:spPr>
          <a:xfrm>
            <a:off x="2857680" y="4952880"/>
            <a:ext cx="304560" cy="30492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22" name="Oval 92"/>
          <p:cNvSpPr/>
          <p:nvPr/>
        </p:nvSpPr>
        <p:spPr>
          <a:xfrm>
            <a:off x="2857680" y="5562720"/>
            <a:ext cx="304560" cy="30456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123" name="Group 99"/>
          <p:cNvGrpSpPr/>
          <p:nvPr/>
        </p:nvGrpSpPr>
        <p:grpSpPr>
          <a:xfrm>
            <a:off x="3098880" y="4800600"/>
            <a:ext cx="4825800" cy="1828800"/>
            <a:chOff x="3098880" y="4800600"/>
            <a:chExt cx="4825800" cy="1828800"/>
          </a:xfrm>
        </p:grpSpPr>
        <p:sp>
          <p:nvSpPr>
            <p:cNvPr id="1124" name="Text Box 93"/>
            <p:cNvSpPr/>
            <p:nvPr/>
          </p:nvSpPr>
          <p:spPr>
            <a:xfrm>
              <a:off x="4419720" y="6248520"/>
              <a:ext cx="3504960" cy="37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Final states because of </a:t>
              </a:r>
              <a:r>
                <a:rPr lang="en-US" sz="1600" b="0" i="1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q</a:t>
              </a:r>
              <a:r>
                <a:rPr lang="en-US" sz="1600" b="0" i="1" u="none" strike="noStrike" baseline="-25000">
                  <a:solidFill>
                    <a:srgbClr val="FF0065"/>
                  </a:solidFill>
                  <a:effectLst/>
                  <a:uFillTx/>
                  <a:latin typeface="Comic Sans MS"/>
                </a:rPr>
                <a:t>9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25" name="Line 94"/>
            <p:cNvSpPr/>
            <p:nvPr/>
          </p:nvSpPr>
          <p:spPr>
            <a:xfrm>
              <a:off x="4419720" y="6248520"/>
              <a:ext cx="0" cy="38088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26" name="Freeform 95"/>
            <p:cNvSpPr/>
            <p:nvPr/>
          </p:nvSpPr>
          <p:spPr>
            <a:xfrm>
              <a:off x="3200400" y="4800600"/>
              <a:ext cx="1219320" cy="1600200"/>
            </a:xfrm>
            <a:custGeom>
              <a:avLst/>
              <a:gdLst>
                <a:gd name="textAreaLeft" fmla="*/ 0 w 1219320"/>
                <a:gd name="textAreaRight" fmla="*/ 1219680 w 1219320"/>
                <a:gd name="textAreaTop" fmla="*/ 0 h 1600200"/>
                <a:gd name="textAreaBottom" fmla="*/ 1600560 h 1600200"/>
                <a:gd name="GluePoint1X" fmla="*/ 768 w 768"/>
                <a:gd name="GluePoint1Y" fmla="*/ 1008 h 1008"/>
                <a:gd name="GluePoint2X" fmla="*/ 240 w 768"/>
                <a:gd name="GluePoint2Y" fmla="*/ 672 h 1008"/>
                <a:gd name="GluePoint3X" fmla="*/ 384 w 768"/>
                <a:gd name="GluePoint3Y" fmla="*/ 480 h 1008"/>
                <a:gd name="GluePoint4X" fmla="*/ 0 w 768"/>
                <a:gd name="GluePoint4Y" fmla="*/ 0 h 10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768" h="1008">
                  <a:moveTo>
                    <a:pt x="768" y="1008"/>
                  </a:moveTo>
                  <a:cubicBezTo>
                    <a:pt x="536" y="884"/>
                    <a:pt x="304" y="760"/>
                    <a:pt x="240" y="672"/>
                  </a:cubicBezTo>
                  <a:cubicBezTo>
                    <a:pt x="176" y="584"/>
                    <a:pt x="424" y="592"/>
                    <a:pt x="384" y="480"/>
                  </a:cubicBezTo>
                  <a:cubicBezTo>
                    <a:pt x="344" y="368"/>
                    <a:pt x="172" y="184"/>
                    <a:pt x="0" y="0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27" name="Freeform 96"/>
            <p:cNvSpPr/>
            <p:nvPr/>
          </p:nvSpPr>
          <p:spPr>
            <a:xfrm>
              <a:off x="3200400" y="5181480"/>
              <a:ext cx="1219320" cy="1219320"/>
            </a:xfrm>
            <a:custGeom>
              <a:avLst/>
              <a:gdLst>
                <a:gd name="textAreaLeft" fmla="*/ 0 w 1219320"/>
                <a:gd name="textAreaRight" fmla="*/ 1219680 w 1219320"/>
                <a:gd name="textAreaTop" fmla="*/ 0 h 1219320"/>
                <a:gd name="textAreaBottom" fmla="*/ 1219680 h 1219320"/>
                <a:gd name="GluePoint1X" fmla="*/ 768 w 768"/>
                <a:gd name="GluePoint1Y" fmla="*/ 768 h 768"/>
                <a:gd name="GluePoint2X" fmla="*/ 144 w 768"/>
                <a:gd name="GluePoint2Y" fmla="*/ 432 h 768"/>
                <a:gd name="GluePoint3X" fmla="*/ 240 w 768"/>
                <a:gd name="GluePoint3Y" fmla="*/ 240 h 768"/>
                <a:gd name="GluePoint4X" fmla="*/ 0 w 768"/>
                <a:gd name="GluePoint4Y" fmla="*/ 0 h 7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768" h="768">
                  <a:moveTo>
                    <a:pt x="768" y="768"/>
                  </a:moveTo>
                  <a:cubicBezTo>
                    <a:pt x="500" y="644"/>
                    <a:pt x="232" y="520"/>
                    <a:pt x="144" y="432"/>
                  </a:cubicBezTo>
                  <a:cubicBezTo>
                    <a:pt x="56" y="344"/>
                    <a:pt x="264" y="312"/>
                    <a:pt x="240" y="240"/>
                  </a:cubicBezTo>
                  <a:cubicBezTo>
                    <a:pt x="216" y="168"/>
                    <a:pt x="108" y="84"/>
                    <a:pt x="0" y="0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28" name="Freeform 97"/>
            <p:cNvSpPr/>
            <p:nvPr/>
          </p:nvSpPr>
          <p:spPr>
            <a:xfrm>
              <a:off x="3098880" y="5715000"/>
              <a:ext cx="1320840" cy="685800"/>
            </a:xfrm>
            <a:custGeom>
              <a:avLst/>
              <a:gdLst>
                <a:gd name="textAreaLeft" fmla="*/ 0 w 1320840"/>
                <a:gd name="textAreaRight" fmla="*/ 1321200 w 1320840"/>
                <a:gd name="textAreaTop" fmla="*/ 0 h 685800"/>
                <a:gd name="textAreaBottom" fmla="*/ 686160 h 685800"/>
                <a:gd name="GluePoint1X" fmla="*/ 832 w 832"/>
                <a:gd name="GluePoint1Y" fmla="*/ 432 h 432"/>
                <a:gd name="GluePoint2X" fmla="*/ 112 w 832"/>
                <a:gd name="GluePoint2Y" fmla="*/ 192 h 432"/>
                <a:gd name="GluePoint3X" fmla="*/ 160 w 832"/>
                <a:gd name="GluePoint3Y" fmla="*/ 96 h 432"/>
                <a:gd name="GluePoint4X" fmla="*/ 64 w 832"/>
                <a:gd name="GluePoint4Y" fmla="*/ 0 h 4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832" h="432">
                  <a:moveTo>
                    <a:pt x="832" y="432"/>
                  </a:moveTo>
                  <a:cubicBezTo>
                    <a:pt x="528" y="340"/>
                    <a:pt x="224" y="248"/>
                    <a:pt x="112" y="192"/>
                  </a:cubicBezTo>
                  <a:cubicBezTo>
                    <a:pt x="0" y="136"/>
                    <a:pt x="168" y="128"/>
                    <a:pt x="160" y="96"/>
                  </a:cubicBezTo>
                  <a:cubicBezTo>
                    <a:pt x="152" y="64"/>
                    <a:pt x="108" y="32"/>
                    <a:pt x="64" y="0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Footer Placeholder 1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30" name="Slide Number Placeholder 2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45DFDB-6DC9-47F8-A628-EC1BBFC161A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31" name="Rectangle 2"/>
          <p:cNvSpPr/>
          <p:nvPr/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32" name="Rectangle 3"/>
          <p:cNvSpPr/>
          <p:nvPr/>
        </p:nvSpPr>
        <p:spPr>
          <a:xfrm>
            <a:off x="854640" y="1312920"/>
            <a:ext cx="1467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)* 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33" name="Rectangle 4"/>
          <p:cNvSpPr/>
          <p:nvPr/>
        </p:nvSpPr>
        <p:spPr>
          <a:xfrm>
            <a:off x="7781760" y="57312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134" name="Group 5"/>
          <p:cNvGrpSpPr/>
          <p:nvPr/>
        </p:nvGrpSpPr>
        <p:grpSpPr>
          <a:xfrm>
            <a:off x="1773360" y="1066680"/>
            <a:ext cx="5236560" cy="1821960"/>
            <a:chOff x="1773360" y="1066680"/>
            <a:chExt cx="5236560" cy="1821960"/>
          </a:xfrm>
        </p:grpSpPr>
        <p:sp>
          <p:nvSpPr>
            <p:cNvPr id="1135" name="Oval 6"/>
            <p:cNvSpPr/>
            <p:nvPr/>
          </p:nvSpPr>
          <p:spPr>
            <a:xfrm>
              <a:off x="1773360" y="1796760"/>
              <a:ext cx="3618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36" name="Oval 7"/>
            <p:cNvSpPr/>
            <p:nvPr/>
          </p:nvSpPr>
          <p:spPr>
            <a:xfrm>
              <a:off x="2546280" y="1796760"/>
              <a:ext cx="36324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37" name="Line 8"/>
            <p:cNvSpPr/>
            <p:nvPr/>
          </p:nvSpPr>
          <p:spPr>
            <a:xfrm>
              <a:off x="2135160" y="1982520"/>
              <a:ext cx="396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38" name="Text Box 9"/>
            <p:cNvSpPr/>
            <p:nvPr/>
          </p:nvSpPr>
          <p:spPr>
            <a:xfrm>
              <a:off x="2185920" y="1712520"/>
              <a:ext cx="2394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39" name="Line 10"/>
            <p:cNvSpPr/>
            <p:nvPr/>
          </p:nvSpPr>
          <p:spPr>
            <a:xfrm>
              <a:off x="2909880" y="2006280"/>
              <a:ext cx="396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40" name="Text Box 11"/>
            <p:cNvSpPr/>
            <p:nvPr/>
          </p:nvSpPr>
          <p:spPr>
            <a:xfrm>
              <a:off x="2941560" y="1738080"/>
              <a:ext cx="239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1141" name="AutoShape 12"/>
            <p:cNvCxnSpPr>
              <a:stCxn id="1142" idx="0"/>
              <a:endCxn id="1143" idx="0"/>
            </p:cNvCxnSpPr>
            <p:nvPr/>
          </p:nvCxnSpPr>
          <p:spPr>
            <a:xfrm flipV="1" rot="16200000">
              <a:off x="5143320" y="892080"/>
              <a:ext cx="2520" cy="1857600"/>
            </a:xfrm>
            <a:prstGeom prst="curvedConnector5">
              <a:avLst>
                <a:gd name="adj1" fmla="val 30383333"/>
                <a:gd name="adj2" fmla="val 49990"/>
                <a:gd name="adj3" fmla="val 30383333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1144" name="Oval 13"/>
            <p:cNvSpPr/>
            <p:nvPr/>
          </p:nvSpPr>
          <p:spPr>
            <a:xfrm>
              <a:off x="4584600" y="1547640"/>
              <a:ext cx="363240" cy="3697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45" name="Oval 14"/>
            <p:cNvSpPr/>
            <p:nvPr/>
          </p:nvSpPr>
          <p:spPr>
            <a:xfrm>
              <a:off x="5359320" y="1545840"/>
              <a:ext cx="36144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46" name="Line 15"/>
            <p:cNvSpPr/>
            <p:nvPr/>
          </p:nvSpPr>
          <p:spPr>
            <a:xfrm>
              <a:off x="4948200" y="1731600"/>
              <a:ext cx="396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47" name="Text Box 16"/>
            <p:cNvSpPr/>
            <p:nvPr/>
          </p:nvSpPr>
          <p:spPr>
            <a:xfrm>
              <a:off x="4997160" y="1463400"/>
              <a:ext cx="2394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48" name="Oval 17"/>
            <p:cNvSpPr/>
            <p:nvPr/>
          </p:nvSpPr>
          <p:spPr>
            <a:xfrm>
              <a:off x="4584600" y="2165040"/>
              <a:ext cx="36324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49" name="Oval 18"/>
            <p:cNvSpPr/>
            <p:nvPr/>
          </p:nvSpPr>
          <p:spPr>
            <a:xfrm>
              <a:off x="5359320" y="2163600"/>
              <a:ext cx="36144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50" name="Line 19"/>
            <p:cNvSpPr/>
            <p:nvPr/>
          </p:nvSpPr>
          <p:spPr>
            <a:xfrm>
              <a:off x="4948200" y="2350800"/>
              <a:ext cx="396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51" name="Text Box 20"/>
            <p:cNvSpPr/>
            <p:nvPr/>
          </p:nvSpPr>
          <p:spPr>
            <a:xfrm>
              <a:off x="4997160" y="2093760"/>
              <a:ext cx="2394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43" name="Oval 21"/>
            <p:cNvSpPr/>
            <p:nvPr/>
          </p:nvSpPr>
          <p:spPr>
            <a:xfrm>
              <a:off x="4035240" y="1828440"/>
              <a:ext cx="3618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42" name="Oval 22"/>
            <p:cNvSpPr/>
            <p:nvPr/>
          </p:nvSpPr>
          <p:spPr>
            <a:xfrm>
              <a:off x="5891040" y="1830240"/>
              <a:ext cx="36324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8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52" name="Line 23"/>
            <p:cNvSpPr/>
            <p:nvPr/>
          </p:nvSpPr>
          <p:spPr>
            <a:xfrm flipV="1">
              <a:off x="4362480" y="1801440"/>
              <a:ext cx="229680" cy="122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53" name="Line 24"/>
            <p:cNvSpPr/>
            <p:nvPr/>
          </p:nvSpPr>
          <p:spPr>
            <a:xfrm>
              <a:off x="4371840" y="2114280"/>
              <a:ext cx="228240" cy="1461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54" name="Line 25"/>
            <p:cNvSpPr/>
            <p:nvPr/>
          </p:nvSpPr>
          <p:spPr>
            <a:xfrm>
              <a:off x="5724360" y="1793520"/>
              <a:ext cx="190080" cy="130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55" name="Line 26"/>
            <p:cNvSpPr/>
            <p:nvPr/>
          </p:nvSpPr>
          <p:spPr>
            <a:xfrm flipV="1">
              <a:off x="5724360" y="2136240"/>
              <a:ext cx="190080" cy="153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56" name="Oval 27"/>
            <p:cNvSpPr/>
            <p:nvPr/>
          </p:nvSpPr>
          <p:spPr>
            <a:xfrm>
              <a:off x="3301920" y="1828440"/>
              <a:ext cx="36144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57" name="Oval 28"/>
            <p:cNvSpPr/>
            <p:nvPr/>
          </p:nvSpPr>
          <p:spPr>
            <a:xfrm>
              <a:off x="6648480" y="1828440"/>
              <a:ext cx="361440" cy="3715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58" name="Line 29"/>
            <p:cNvSpPr/>
            <p:nvPr/>
          </p:nvSpPr>
          <p:spPr>
            <a:xfrm>
              <a:off x="6249960" y="2016000"/>
              <a:ext cx="396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59" name="Line 30"/>
            <p:cNvSpPr/>
            <p:nvPr/>
          </p:nvSpPr>
          <p:spPr>
            <a:xfrm>
              <a:off x="3652560" y="201600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1160" name="AutoShape 31"/>
            <p:cNvCxnSpPr>
              <a:stCxn id="1156" idx="5"/>
              <a:endCxn id="1157" idx="3"/>
            </p:cNvCxnSpPr>
            <p:nvPr/>
          </p:nvCxnSpPr>
          <p:spPr>
            <a:xfrm flipH="1" rot="16200000">
              <a:off x="5150880" y="613800"/>
              <a:ext cx="10440" cy="3089520"/>
            </a:xfrm>
            <a:prstGeom prst="curvedConnector5">
              <a:avLst>
                <a:gd name="adj1" fmla="val 6746428"/>
                <a:gd name="adj2" fmla="val 49994"/>
                <a:gd name="adj3" fmla="val 674642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1161" name="Text Box 32"/>
            <p:cNvSpPr/>
            <p:nvPr/>
          </p:nvSpPr>
          <p:spPr>
            <a:xfrm>
              <a:off x="4997160" y="2550960"/>
              <a:ext cx="239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62" name="Text Box 33"/>
            <p:cNvSpPr/>
            <p:nvPr/>
          </p:nvSpPr>
          <p:spPr>
            <a:xfrm>
              <a:off x="4317840" y="1593720"/>
              <a:ext cx="239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63" name="Text Box 34"/>
            <p:cNvSpPr/>
            <p:nvPr/>
          </p:nvSpPr>
          <p:spPr>
            <a:xfrm>
              <a:off x="5717880" y="1593720"/>
              <a:ext cx="239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64" name="Text Box 35"/>
            <p:cNvSpPr/>
            <p:nvPr/>
          </p:nvSpPr>
          <p:spPr>
            <a:xfrm>
              <a:off x="4317840" y="2136600"/>
              <a:ext cx="2379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65" name="Text Box 36"/>
            <p:cNvSpPr/>
            <p:nvPr/>
          </p:nvSpPr>
          <p:spPr>
            <a:xfrm>
              <a:off x="5717880" y="2136600"/>
              <a:ext cx="239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66" name="Text Box 37"/>
            <p:cNvSpPr/>
            <p:nvPr/>
          </p:nvSpPr>
          <p:spPr>
            <a:xfrm>
              <a:off x="3678120" y="1753920"/>
              <a:ext cx="239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67" name="Text Box 38"/>
            <p:cNvSpPr/>
            <p:nvPr/>
          </p:nvSpPr>
          <p:spPr>
            <a:xfrm>
              <a:off x="6269040" y="1753920"/>
              <a:ext cx="239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68" name="Text Box 39"/>
            <p:cNvSpPr/>
            <p:nvPr/>
          </p:nvSpPr>
          <p:spPr>
            <a:xfrm>
              <a:off x="5008320" y="1066680"/>
              <a:ext cx="239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aphicFrame>
        <p:nvGraphicFramePr>
          <p:cNvPr id="1169" name=""/>
          <p:cNvGraphicFramePr/>
          <p:nvPr/>
        </p:nvGraphicFramePr>
        <p:xfrm>
          <a:off x="1295280" y="3048120"/>
          <a:ext cx="6553440" cy="3081240"/>
        </p:xfrm>
        <a:graphic>
          <a:graphicData uri="http://schemas.openxmlformats.org/drawingml/2006/table">
            <a:tbl>
              <a:tblPr/>
              <a:tblGrid>
                <a:gridCol w="685800"/>
                <a:gridCol w="1432080"/>
                <a:gridCol w="1479600"/>
                <a:gridCol w="1477800"/>
                <a:gridCol w="147816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374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22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69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5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70" name="Text Box 83"/>
          <p:cNvSpPr/>
          <p:nvPr/>
        </p:nvSpPr>
        <p:spPr>
          <a:xfrm>
            <a:off x="2895480" y="6172200"/>
            <a:ext cx="3733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Transition table for the DFA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2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88F5779-4163-4E11-B20B-94B92E49278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3" name="Rectangle 98"/>
          <p:cNvSpPr/>
          <p:nvPr/>
        </p:nvSpPr>
        <p:spPr>
          <a:xfrm>
            <a:off x="8077320" y="6172200"/>
            <a:ext cx="457200" cy="380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4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with Subset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5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DFA for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)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000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Much smaller than the NFA (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-transitions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All transitions are deterministic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Use same code skeleton as before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6" name="Oval 5"/>
          <p:cNvSpPr/>
          <p:nvPr/>
        </p:nvSpPr>
        <p:spPr>
          <a:xfrm>
            <a:off x="3014640" y="3132000"/>
            <a:ext cx="361800" cy="37152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3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7" name="Oval 6"/>
          <p:cNvSpPr/>
          <p:nvPr/>
        </p:nvSpPr>
        <p:spPr>
          <a:xfrm>
            <a:off x="3014640" y="2217600"/>
            <a:ext cx="361800" cy="37152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8" name="Oval 7"/>
          <p:cNvSpPr/>
          <p:nvPr/>
        </p:nvSpPr>
        <p:spPr>
          <a:xfrm>
            <a:off x="1414440" y="2674800"/>
            <a:ext cx="361800" cy="3715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9" name="Oval 8"/>
          <p:cNvSpPr/>
          <p:nvPr/>
        </p:nvSpPr>
        <p:spPr>
          <a:xfrm>
            <a:off x="2252520" y="2674800"/>
            <a:ext cx="362160" cy="37152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0" name="Line 9"/>
          <p:cNvSpPr/>
          <p:nvPr/>
        </p:nvSpPr>
        <p:spPr>
          <a:xfrm>
            <a:off x="1795320" y="2860560"/>
            <a:ext cx="45720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1" name="Line 10"/>
          <p:cNvSpPr/>
          <p:nvPr/>
        </p:nvSpPr>
        <p:spPr>
          <a:xfrm flipV="1">
            <a:off x="2602080" y="2505240"/>
            <a:ext cx="438120" cy="2728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2" name="Line 11"/>
          <p:cNvSpPr/>
          <p:nvPr/>
        </p:nvSpPr>
        <p:spPr>
          <a:xfrm>
            <a:off x="2590920" y="2944800"/>
            <a:ext cx="438120" cy="2732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183" name="AutoShape 12"/>
          <p:cNvCxnSpPr>
            <a:stCxn id="1177" idx="7"/>
            <a:endCxn id="1177" idx="1"/>
          </p:cNvCxnSpPr>
          <p:nvPr/>
        </p:nvCxnSpPr>
        <p:spPr>
          <a:xfrm rot="5400000">
            <a:off x="3194280" y="2124000"/>
            <a:ext cx="2520" cy="257760"/>
          </a:xfrm>
          <a:prstGeom prst="curvedConnector5">
            <a:avLst>
              <a:gd name="adj1" fmla="val -16600000"/>
              <a:gd name="adj2" fmla="val 49930"/>
              <a:gd name="adj3" fmla="val -1660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184" name="AutoShape 13"/>
          <p:cNvCxnSpPr>
            <a:stCxn id="1176" idx="5"/>
            <a:endCxn id="1176" idx="3"/>
          </p:cNvCxnSpPr>
          <p:nvPr/>
        </p:nvCxnSpPr>
        <p:spPr>
          <a:xfrm rot="5400000">
            <a:off x="3194280" y="3340800"/>
            <a:ext cx="2520" cy="257760"/>
          </a:xfrm>
          <a:prstGeom prst="curvedConnector5">
            <a:avLst>
              <a:gd name="adj1" fmla="val 16600000"/>
              <a:gd name="adj2" fmla="val 49930"/>
              <a:gd name="adj3" fmla="val 1660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185" name="Text Box 14"/>
          <p:cNvSpPr/>
          <p:nvPr/>
        </p:nvSpPr>
        <p:spPr>
          <a:xfrm>
            <a:off x="2619360" y="30052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6" name="Text Box 15"/>
          <p:cNvSpPr/>
          <p:nvPr/>
        </p:nvSpPr>
        <p:spPr>
          <a:xfrm>
            <a:off x="2619360" y="23637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7" name="Text Box 16"/>
          <p:cNvSpPr/>
          <p:nvPr/>
        </p:nvSpPr>
        <p:spPr>
          <a:xfrm>
            <a:off x="1828800" y="259092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8" name="Text Box 17"/>
          <p:cNvSpPr/>
          <p:nvPr/>
        </p:nvSpPr>
        <p:spPr>
          <a:xfrm>
            <a:off x="2852640" y="27255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9" name="Text Box 18"/>
          <p:cNvSpPr/>
          <p:nvPr/>
        </p:nvSpPr>
        <p:spPr>
          <a:xfrm>
            <a:off x="3220920" y="35226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90" name="Text Box 19"/>
          <p:cNvSpPr/>
          <p:nvPr/>
        </p:nvSpPr>
        <p:spPr>
          <a:xfrm>
            <a:off x="3284640" y="27255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c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91" name="Line 20"/>
          <p:cNvSpPr/>
          <p:nvPr/>
        </p:nvSpPr>
        <p:spPr>
          <a:xfrm>
            <a:off x="3301920" y="2548080"/>
            <a:ext cx="0" cy="6094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92" name="Line 21"/>
          <p:cNvSpPr/>
          <p:nvPr/>
        </p:nvSpPr>
        <p:spPr>
          <a:xfrm>
            <a:off x="3073320" y="2548080"/>
            <a:ext cx="0" cy="609480"/>
          </a:xfrm>
          <a:prstGeom prst="line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93" name="Text Box 22"/>
          <p:cNvSpPr/>
          <p:nvPr/>
        </p:nvSpPr>
        <p:spPr>
          <a:xfrm>
            <a:off x="3200400" y="17524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194" name="Group 28"/>
          <p:cNvGrpSpPr/>
          <p:nvPr/>
        </p:nvGrpSpPr>
        <p:grpSpPr>
          <a:xfrm>
            <a:off x="5591160" y="5559480"/>
            <a:ext cx="3247920" cy="841320"/>
            <a:chOff x="5591160" y="5559480"/>
            <a:chExt cx="3247920" cy="841320"/>
          </a:xfrm>
        </p:grpSpPr>
        <p:grpSp>
          <p:nvGrpSpPr>
            <p:cNvPr id="1195" name="Group 29"/>
            <p:cNvGrpSpPr/>
            <p:nvPr/>
          </p:nvGrpSpPr>
          <p:grpSpPr>
            <a:xfrm>
              <a:off x="7162560" y="5559480"/>
              <a:ext cx="1676520" cy="841320"/>
              <a:chOff x="7162560" y="5559480"/>
              <a:chExt cx="1676520" cy="841320"/>
            </a:xfrm>
          </p:grpSpPr>
          <p:sp>
            <p:nvSpPr>
              <p:cNvPr id="1196" name="Oval 30"/>
              <p:cNvSpPr/>
              <p:nvPr/>
            </p:nvSpPr>
            <p:spPr>
              <a:xfrm>
                <a:off x="7162560" y="5989680"/>
                <a:ext cx="401760" cy="411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i="1" u="none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S</a:t>
                </a:r>
                <a:r>
                  <a:rPr lang="en-US" sz="1400" b="0" i="1" u="none" strike="noStrike" baseline="-25000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0 </a:t>
                </a:r>
                <a:endParaRPr lang="it-IT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1197" name="Oval 31"/>
              <p:cNvSpPr/>
              <p:nvPr/>
            </p:nvSpPr>
            <p:spPr>
              <a:xfrm>
                <a:off x="8020080" y="5987880"/>
                <a:ext cx="401400" cy="411120"/>
              </a:xfrm>
              <a:prstGeom prst="ellipse">
                <a:avLst/>
              </a:prstGeom>
              <a:noFill/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i="1" u="none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S</a:t>
                </a:r>
                <a:r>
                  <a:rPr lang="en-US" sz="1400" b="0" i="1" u="none" strike="noStrike" baseline="-25000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1 </a:t>
                </a:r>
                <a:endParaRPr lang="it-IT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1198" name="Line 32"/>
              <p:cNvSpPr/>
              <p:nvPr/>
            </p:nvSpPr>
            <p:spPr>
              <a:xfrm>
                <a:off x="7564320" y="6194520"/>
                <a:ext cx="43956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ctr">
                <a:noAutofit/>
              </a:bodyPr>
              <a:p>
                <a:endParaRPr lang="it-IT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1199" name="Text Box 33"/>
              <p:cNvSpPr/>
              <p:nvPr/>
            </p:nvSpPr>
            <p:spPr>
              <a:xfrm>
                <a:off x="7610400" y="5924520"/>
                <a:ext cx="264960" cy="30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>
                  <a:lnSpc>
                    <a:spcPct val="100000"/>
                  </a:lnSpc>
                  <a:spcBef>
                    <a:spcPts val="876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u="sng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a</a:t>
                </a:r>
                <a:endParaRPr lang="it-IT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  <p:cxnSp>
            <p:nvCxnSpPr>
              <p:cNvPr id="1200" name="AutoShape 34"/>
              <p:cNvCxnSpPr>
                <a:stCxn id="1197" idx="7"/>
                <a:endCxn id="1197" idx="1"/>
              </p:cNvCxnSpPr>
              <p:nvPr/>
            </p:nvCxnSpPr>
            <p:spPr>
              <a:xfrm rot="5400000">
                <a:off x="8219160" y="5888160"/>
                <a:ext cx="2160" cy="284400"/>
              </a:xfrm>
              <a:prstGeom prst="curvedConnector5">
                <a:avLst>
                  <a:gd name="adj1" fmla="val -17000000"/>
                  <a:gd name="adj2" fmla="val 49936"/>
                  <a:gd name="adj3" fmla="val -17000000"/>
                </a:avLst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</p:cxnSp>
          <p:sp>
            <p:nvSpPr>
              <p:cNvPr id="1201" name="Text Box 35"/>
              <p:cNvSpPr/>
              <p:nvPr/>
            </p:nvSpPr>
            <p:spPr>
              <a:xfrm>
                <a:off x="8229600" y="5559480"/>
                <a:ext cx="609480" cy="30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ctr">
                  <a:lnSpc>
                    <a:spcPct val="100000"/>
                  </a:lnSpc>
                  <a:spcBef>
                    <a:spcPts val="876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u="sng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b</a:t>
                </a: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 | </a:t>
                </a:r>
                <a:r>
                  <a:rPr lang="en-US" sz="1400" b="0" u="sng" strike="noStrike">
                    <a:solidFill>
                      <a:srgbClr val="000000"/>
                    </a:solidFill>
                    <a:effectLst/>
                    <a:uFillTx/>
                    <a:latin typeface="Arial Rounded MT Bold"/>
                  </a:rPr>
                  <a:t>c</a:t>
                </a:r>
                <a:endParaRPr lang="it-IT" sz="14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endParaRPr>
              </a:p>
            </p:txBody>
          </p:sp>
        </p:grpSp>
        <p:sp>
          <p:nvSpPr>
            <p:cNvPr id="1202" name="Text Box 36"/>
            <p:cNvSpPr/>
            <p:nvPr/>
          </p:nvSpPr>
          <p:spPr>
            <a:xfrm>
              <a:off x="5591160" y="5668920"/>
              <a:ext cx="206676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3C75"/>
                  </a:solidFill>
                  <a:effectLst/>
                  <a:uFillTx/>
                  <a:latin typeface="Comic Sans MS"/>
                </a:rPr>
                <a:t>But, remember our goal: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aphicFrame>
        <p:nvGraphicFramePr>
          <p:cNvPr id="1203" name=""/>
          <p:cNvGraphicFramePr/>
          <p:nvPr/>
        </p:nvGraphicFramePr>
        <p:xfrm>
          <a:off x="4800600" y="1828800"/>
          <a:ext cx="3048120" cy="2057400"/>
        </p:xfrm>
        <a:graphic>
          <a:graphicData uri="http://schemas.openxmlformats.org/drawingml/2006/table">
            <a:tbl>
              <a:tblPr/>
              <a:tblGrid>
                <a:gridCol w="685800"/>
                <a:gridCol w="838080"/>
                <a:gridCol w="685800"/>
                <a:gridCol w="838440"/>
              </a:tblGrid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4269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844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504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92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ransition>
    <p:wipe dir="r"/>
  </p:transition>
  <p:timing>
    <p:tnLst>
      <p:par>
        <p:cTn id="32" dur="indefinite" restart="never" nodeType="tmRoot">
          <p:childTnLst>
            <p:seq>
              <p:cTn id="33" dur="indefinite" nodeType="mainSeq">
                <p:childTnLst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05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3AFFE9F-FF35-4447-9C65-B951F81FAB5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0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Where are we?  Why are we doing this?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07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RE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Thompson’s construction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 </a:t>
            </a:r>
            <a:r>
              <a:rPr lang="en-US" sz="2400" b="0" u="none" strike="noStrike">
                <a:solidFill>
                  <a:srgbClr val="FF0065"/>
                </a:solidFill>
                <a:effectLst/>
                <a:uFillTx/>
                <a:latin typeface="Wingdings"/>
                <a:ea typeface="Wingdings"/>
              </a:rPr>
              <a:t>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an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for each term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Combine them with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-moves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22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subset construction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</a:t>
            </a:r>
            <a:r>
              <a:rPr lang="en-US" sz="2400" b="0" u="none" strike="noStrike">
                <a:solidFill>
                  <a:srgbClr val="FF0065"/>
                </a:solidFill>
                <a:effectLst/>
                <a:uFillTx/>
                <a:latin typeface="Wingdings"/>
                <a:ea typeface="Wingdings"/>
              </a:rPr>
              <a:t></a:t>
            </a:r>
            <a:r>
              <a:rPr lang="en-US" sz="2400" b="0" u="none" strike="noStrike">
                <a:solidFill>
                  <a:srgbClr val="ED181E"/>
                </a:solidFill>
                <a:effectLst/>
                <a:uFillTx/>
                <a:latin typeface="Comic Sans MS"/>
              </a:rPr>
              <a:t> 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the simulation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22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Minimal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DFA</a:t>
            </a:r>
            <a:r>
              <a:rPr lang="en-US" sz="1800" b="0" u="none" strike="noStrike">
                <a:solidFill>
                  <a:srgbClr val="1822CD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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Hopcroft’s algorithm                        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1687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RE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All pairs, all paths problem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Union together paths from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 a final state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ctr">
              <a:lnSpc>
                <a:spcPct val="120000"/>
              </a:lnSpc>
              <a:spcBef>
                <a:spcPts val="1687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Not enough time to teach Hopcroft’s algorithm today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08" name="Text Box 4"/>
          <p:cNvSpPr/>
          <p:nvPr/>
        </p:nvSpPr>
        <p:spPr>
          <a:xfrm>
            <a:off x="98280" y="403056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209" name="Group 22"/>
          <p:cNvGrpSpPr/>
          <p:nvPr/>
        </p:nvGrpSpPr>
        <p:grpSpPr>
          <a:xfrm>
            <a:off x="4343400" y="2971800"/>
            <a:ext cx="4343400" cy="1676520"/>
            <a:chOff x="4343400" y="2971800"/>
            <a:chExt cx="4343400" cy="1676520"/>
          </a:xfrm>
        </p:grpSpPr>
        <p:sp>
          <p:nvSpPr>
            <p:cNvPr id="1210" name="Text Box 6"/>
            <p:cNvSpPr/>
            <p:nvPr/>
          </p:nvSpPr>
          <p:spPr>
            <a:xfrm>
              <a:off x="7031160" y="3957840"/>
              <a:ext cx="990360" cy="60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2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minimal </a:t>
              </a: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11" name="Text Box 7"/>
            <p:cNvSpPr/>
            <p:nvPr/>
          </p:nvSpPr>
          <p:spPr>
            <a:xfrm>
              <a:off x="5049720" y="4122720"/>
              <a:ext cx="533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RE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12" name="Text Box 8"/>
            <p:cNvSpPr/>
            <p:nvPr/>
          </p:nvSpPr>
          <p:spPr>
            <a:xfrm>
              <a:off x="5659560" y="412272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13" name="Text Box 9"/>
            <p:cNvSpPr/>
            <p:nvPr/>
          </p:nvSpPr>
          <p:spPr>
            <a:xfrm>
              <a:off x="6421320" y="412272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14" name="Line 10"/>
            <p:cNvSpPr/>
            <p:nvPr/>
          </p:nvSpPr>
          <p:spPr>
            <a:xfrm>
              <a:off x="5430960" y="4275360"/>
              <a:ext cx="304560" cy="0"/>
            </a:xfrm>
            <a:prstGeom prst="line">
              <a:avLst/>
            </a:prstGeom>
            <a:ln w="9360">
              <a:solidFill>
                <a:srgbClr val="003C7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15" name="Line 11"/>
            <p:cNvSpPr/>
            <p:nvPr/>
          </p:nvSpPr>
          <p:spPr>
            <a:xfrm>
              <a:off x="6192720" y="4275360"/>
              <a:ext cx="304920" cy="0"/>
            </a:xfrm>
            <a:prstGeom prst="line">
              <a:avLst/>
            </a:prstGeom>
            <a:ln w="9360">
              <a:solidFill>
                <a:srgbClr val="003C7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16" name="Line 12"/>
            <p:cNvSpPr/>
            <p:nvPr/>
          </p:nvSpPr>
          <p:spPr>
            <a:xfrm>
              <a:off x="6954840" y="4275360"/>
              <a:ext cx="304920" cy="0"/>
            </a:xfrm>
            <a:prstGeom prst="line">
              <a:avLst/>
            </a:prstGeom>
            <a:ln w="9360">
              <a:solidFill>
                <a:srgbClr val="003C7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17" name="Line 13"/>
            <p:cNvSpPr/>
            <p:nvPr/>
          </p:nvSpPr>
          <p:spPr>
            <a:xfrm>
              <a:off x="7716960" y="4278600"/>
              <a:ext cx="30456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18" name="Arc 14"/>
            <p:cNvSpPr/>
            <p:nvPr/>
          </p:nvSpPr>
          <p:spPr>
            <a:xfrm>
              <a:off x="7945560" y="3516480"/>
              <a:ext cx="457200" cy="3826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19" name="Arc 15"/>
            <p:cNvSpPr/>
            <p:nvPr/>
          </p:nvSpPr>
          <p:spPr>
            <a:xfrm flipV="1">
              <a:off x="7945560" y="3896640"/>
              <a:ext cx="457200" cy="38124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-360 h 381240"/>
                <a:gd name="textAreaBottom" fmla="*/ 381240 h 38124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20" name="Arc 16"/>
            <p:cNvSpPr/>
            <p:nvPr/>
          </p:nvSpPr>
          <p:spPr>
            <a:xfrm flipH="1">
              <a:off x="4627440" y="3524400"/>
              <a:ext cx="457200" cy="3826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21" name="Arc 17"/>
            <p:cNvSpPr/>
            <p:nvPr/>
          </p:nvSpPr>
          <p:spPr>
            <a:xfrm flipH="1" flipV="1">
              <a:off x="4627440" y="3904560"/>
              <a:ext cx="457200" cy="38124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-360 h 381240"/>
                <a:gd name="textAreaBottom" fmla="*/ 381240 h 38124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003C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22" name="Line 18"/>
            <p:cNvSpPr/>
            <p:nvPr/>
          </p:nvSpPr>
          <p:spPr>
            <a:xfrm>
              <a:off x="5049720" y="3516480"/>
              <a:ext cx="2895840" cy="0"/>
            </a:xfrm>
            <a:prstGeom prst="line">
              <a:avLst/>
            </a:prstGeom>
            <a:ln w="9360">
              <a:solidFill>
                <a:srgbClr val="003C7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23" name="Line 19"/>
            <p:cNvSpPr/>
            <p:nvPr/>
          </p:nvSpPr>
          <p:spPr>
            <a:xfrm>
              <a:off x="4973760" y="4278600"/>
              <a:ext cx="15228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24" name="Text Box 20"/>
            <p:cNvSpPr/>
            <p:nvPr/>
          </p:nvSpPr>
          <p:spPr>
            <a:xfrm>
              <a:off x="5067360" y="3059280"/>
              <a:ext cx="2895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sng" strike="noStrike">
                  <a:solidFill>
                    <a:srgbClr val="003C75"/>
                  </a:solidFill>
                  <a:effectLst/>
                  <a:uFillTx/>
                  <a:latin typeface="Arial Rounded MT Bold"/>
                </a:rPr>
                <a:t>The Cycle of Constructions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25" name="Rectangle 21"/>
            <p:cNvSpPr/>
            <p:nvPr/>
          </p:nvSpPr>
          <p:spPr>
            <a:xfrm>
              <a:off x="4343400" y="2971800"/>
              <a:ext cx="4343400" cy="1676520"/>
            </a:xfrm>
            <a:prstGeom prst="rect">
              <a:avLst/>
            </a:prstGeom>
            <a:noFill/>
            <a:ln w="9360">
              <a:solidFill>
                <a:srgbClr val="003C75"/>
              </a:solidFill>
              <a:prstDash val="dash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27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4BA0D99-9CD3-4D64-A75B-BEC90172BA6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2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Alternative Approach to 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29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The Intuition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subset construction merges prefixes in the NFA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30" name="Oval 4"/>
          <p:cNvSpPr/>
          <p:nvPr/>
        </p:nvSpPr>
        <p:spPr>
          <a:xfrm>
            <a:off x="914400" y="2895480"/>
            <a:ext cx="38088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31" name="Oval 5"/>
          <p:cNvSpPr/>
          <p:nvPr/>
        </p:nvSpPr>
        <p:spPr>
          <a:xfrm>
            <a:off x="3581280" y="3581280"/>
            <a:ext cx="381240" cy="38124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32" name="Oval 6"/>
          <p:cNvSpPr/>
          <p:nvPr/>
        </p:nvSpPr>
        <p:spPr>
          <a:xfrm>
            <a:off x="2666880" y="358128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33" name="Oval 7"/>
          <p:cNvSpPr/>
          <p:nvPr/>
        </p:nvSpPr>
        <p:spPr>
          <a:xfrm>
            <a:off x="1752480" y="358128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8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34" name="Oval 8"/>
          <p:cNvSpPr/>
          <p:nvPr/>
        </p:nvSpPr>
        <p:spPr>
          <a:xfrm>
            <a:off x="1752480" y="289548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5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35" name="Oval 9"/>
          <p:cNvSpPr/>
          <p:nvPr/>
        </p:nvSpPr>
        <p:spPr>
          <a:xfrm>
            <a:off x="3581280" y="2895480"/>
            <a:ext cx="381240" cy="38124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7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36" name="Oval 10"/>
          <p:cNvSpPr/>
          <p:nvPr/>
        </p:nvSpPr>
        <p:spPr>
          <a:xfrm>
            <a:off x="2666880" y="289548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6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37" name="Oval 11"/>
          <p:cNvSpPr/>
          <p:nvPr/>
        </p:nvSpPr>
        <p:spPr>
          <a:xfrm>
            <a:off x="3581280" y="2286000"/>
            <a:ext cx="38124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38" name="Oval 12"/>
          <p:cNvSpPr/>
          <p:nvPr/>
        </p:nvSpPr>
        <p:spPr>
          <a:xfrm>
            <a:off x="2666880" y="2286000"/>
            <a:ext cx="38124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39" name="Oval 13"/>
          <p:cNvSpPr/>
          <p:nvPr/>
        </p:nvSpPr>
        <p:spPr>
          <a:xfrm>
            <a:off x="1752480" y="2286000"/>
            <a:ext cx="38124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40" name="Oval 14"/>
          <p:cNvSpPr/>
          <p:nvPr/>
        </p:nvSpPr>
        <p:spPr>
          <a:xfrm>
            <a:off x="4495680" y="2286000"/>
            <a:ext cx="381240" cy="3808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241" name="AutoShape 15"/>
          <p:cNvCxnSpPr>
            <a:stCxn id="1230" idx="7"/>
            <a:endCxn id="1239" idx="3"/>
          </p:cNvCxnSpPr>
          <p:nvPr/>
        </p:nvCxnSpPr>
        <p:spPr>
          <a:xfrm flipV="1">
            <a:off x="1239480" y="2611440"/>
            <a:ext cx="568800" cy="34020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42" name="AutoShape 16"/>
          <p:cNvCxnSpPr>
            <a:stCxn id="1239" idx="6"/>
            <a:endCxn id="1238" idx="2"/>
          </p:cNvCxnSpPr>
          <p:nvPr/>
        </p:nvCxnSpPr>
        <p:spPr>
          <a:xfrm>
            <a:off x="2133360" y="2476080"/>
            <a:ext cx="5338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43" name="AutoShape 17"/>
          <p:cNvCxnSpPr>
            <a:stCxn id="1238" idx="6"/>
            <a:endCxn id="1237" idx="2"/>
          </p:cNvCxnSpPr>
          <p:nvPr/>
        </p:nvCxnSpPr>
        <p:spPr>
          <a:xfrm>
            <a:off x="3047760" y="2476080"/>
            <a:ext cx="5338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44" name="AutoShape 18"/>
          <p:cNvCxnSpPr>
            <a:stCxn id="1237" idx="6"/>
            <a:endCxn id="1240" idx="2"/>
          </p:cNvCxnSpPr>
          <p:nvPr/>
        </p:nvCxnSpPr>
        <p:spPr>
          <a:xfrm>
            <a:off x="3962520" y="2476080"/>
            <a:ext cx="5144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45" name="AutoShape 19"/>
          <p:cNvCxnSpPr>
            <a:stCxn id="1230" idx="6"/>
            <a:endCxn id="1234" idx="2"/>
          </p:cNvCxnSpPr>
          <p:nvPr/>
        </p:nvCxnSpPr>
        <p:spPr>
          <a:xfrm>
            <a:off x="1295280" y="3085920"/>
            <a:ext cx="45792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46" name="AutoShape 20"/>
          <p:cNvCxnSpPr>
            <a:stCxn id="1234" idx="6"/>
            <a:endCxn id="1236" idx="2"/>
          </p:cNvCxnSpPr>
          <p:nvPr/>
        </p:nvCxnSpPr>
        <p:spPr>
          <a:xfrm>
            <a:off x="2133360" y="3085920"/>
            <a:ext cx="5338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47" name="AutoShape 21"/>
          <p:cNvCxnSpPr>
            <a:stCxn id="1236" idx="6"/>
            <a:endCxn id="1235" idx="2"/>
          </p:cNvCxnSpPr>
          <p:nvPr/>
        </p:nvCxnSpPr>
        <p:spPr>
          <a:xfrm>
            <a:off x="3048120" y="3085920"/>
            <a:ext cx="5144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48" name="AutoShape 22"/>
          <p:cNvCxnSpPr>
            <a:stCxn id="1230" idx="5"/>
            <a:endCxn id="1233" idx="1"/>
          </p:cNvCxnSpPr>
          <p:nvPr/>
        </p:nvCxnSpPr>
        <p:spPr>
          <a:xfrm>
            <a:off x="1239480" y="3220920"/>
            <a:ext cx="568800" cy="4168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49" name="AutoShape 23"/>
          <p:cNvCxnSpPr/>
          <p:nvPr/>
        </p:nvCxnSpPr>
        <p:spPr>
          <a:xfrm>
            <a:off x="2133360" y="3822480"/>
            <a:ext cx="5338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50" name="AutoShape 24"/>
          <p:cNvCxnSpPr>
            <a:stCxn id="1232" idx="6"/>
            <a:endCxn id="1231" idx="2"/>
          </p:cNvCxnSpPr>
          <p:nvPr/>
        </p:nvCxnSpPr>
        <p:spPr>
          <a:xfrm>
            <a:off x="3048120" y="3771720"/>
            <a:ext cx="5144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251" name="Text Box 25"/>
          <p:cNvSpPr/>
          <p:nvPr/>
        </p:nvSpPr>
        <p:spPr>
          <a:xfrm>
            <a:off x="1295280" y="251460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52" name="Text Box 26"/>
          <p:cNvSpPr/>
          <p:nvPr/>
        </p:nvSpPr>
        <p:spPr>
          <a:xfrm>
            <a:off x="1371600" y="280044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53" name="Text Box 27"/>
          <p:cNvSpPr/>
          <p:nvPr/>
        </p:nvSpPr>
        <p:spPr>
          <a:xfrm>
            <a:off x="1295280" y="335268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54" name="Text Box 28"/>
          <p:cNvSpPr/>
          <p:nvPr/>
        </p:nvSpPr>
        <p:spPr>
          <a:xfrm>
            <a:off x="2209680" y="218448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55" name="Text Box 29"/>
          <p:cNvSpPr/>
          <p:nvPr/>
        </p:nvSpPr>
        <p:spPr>
          <a:xfrm>
            <a:off x="2209680" y="280836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56" name="Text Box 30"/>
          <p:cNvSpPr/>
          <p:nvPr/>
        </p:nvSpPr>
        <p:spPr>
          <a:xfrm>
            <a:off x="2209680" y="349416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57" name="Text Box 32"/>
          <p:cNvSpPr/>
          <p:nvPr/>
        </p:nvSpPr>
        <p:spPr>
          <a:xfrm>
            <a:off x="3144960" y="217800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58" name="Text Box 33"/>
          <p:cNvSpPr/>
          <p:nvPr/>
        </p:nvSpPr>
        <p:spPr>
          <a:xfrm>
            <a:off x="3144960" y="280188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59" name="Text Box 34"/>
          <p:cNvSpPr/>
          <p:nvPr/>
        </p:nvSpPr>
        <p:spPr>
          <a:xfrm>
            <a:off x="3144960" y="348768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60" name="Text Box 35"/>
          <p:cNvSpPr/>
          <p:nvPr/>
        </p:nvSpPr>
        <p:spPr>
          <a:xfrm>
            <a:off x="4038480" y="219852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61" name="Text Box 36"/>
          <p:cNvSpPr/>
          <p:nvPr/>
        </p:nvSpPr>
        <p:spPr>
          <a:xfrm>
            <a:off x="5638680" y="2590920"/>
            <a:ext cx="1981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abc | bc | ad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62" name="Text Box 37"/>
          <p:cNvSpPr/>
          <p:nvPr/>
        </p:nvSpPr>
        <p:spPr>
          <a:xfrm>
            <a:off x="4648320" y="3352680"/>
            <a:ext cx="365760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Thompson’s construction would leave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-transitions between each single-character automaton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63" name="Oval 38"/>
          <p:cNvSpPr/>
          <p:nvPr/>
        </p:nvSpPr>
        <p:spPr>
          <a:xfrm>
            <a:off x="914400" y="5638680"/>
            <a:ext cx="38088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64" name="Oval 39"/>
          <p:cNvSpPr/>
          <p:nvPr/>
        </p:nvSpPr>
        <p:spPr>
          <a:xfrm>
            <a:off x="2666880" y="4343400"/>
            <a:ext cx="381240" cy="3808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6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65" name="Oval 42"/>
          <p:cNvSpPr/>
          <p:nvPr/>
        </p:nvSpPr>
        <p:spPr>
          <a:xfrm>
            <a:off x="1752480" y="563868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66" name="Oval 43"/>
          <p:cNvSpPr/>
          <p:nvPr/>
        </p:nvSpPr>
        <p:spPr>
          <a:xfrm>
            <a:off x="2666880" y="5638680"/>
            <a:ext cx="381240" cy="38124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5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67" name="Oval 46"/>
          <p:cNvSpPr/>
          <p:nvPr/>
        </p:nvSpPr>
        <p:spPr>
          <a:xfrm>
            <a:off x="2666880" y="5029200"/>
            <a:ext cx="38124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68" name="Oval 47"/>
          <p:cNvSpPr/>
          <p:nvPr/>
        </p:nvSpPr>
        <p:spPr>
          <a:xfrm>
            <a:off x="1752480" y="5029200"/>
            <a:ext cx="38124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69" name="Oval 48"/>
          <p:cNvSpPr/>
          <p:nvPr/>
        </p:nvSpPr>
        <p:spPr>
          <a:xfrm>
            <a:off x="3581280" y="5029200"/>
            <a:ext cx="381240" cy="3808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270" name="AutoShape 49"/>
          <p:cNvCxnSpPr>
            <a:stCxn id="1263" idx="7"/>
            <a:endCxn id="1268" idx="3"/>
          </p:cNvCxnSpPr>
          <p:nvPr/>
        </p:nvCxnSpPr>
        <p:spPr>
          <a:xfrm flipV="1">
            <a:off x="1239480" y="5354640"/>
            <a:ext cx="568800" cy="34020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71" name="AutoShape 50"/>
          <p:cNvCxnSpPr>
            <a:stCxn id="1268" idx="6"/>
            <a:endCxn id="1267" idx="2"/>
          </p:cNvCxnSpPr>
          <p:nvPr/>
        </p:nvCxnSpPr>
        <p:spPr>
          <a:xfrm>
            <a:off x="2133360" y="5219280"/>
            <a:ext cx="5338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72" name="AutoShape 51"/>
          <p:cNvCxnSpPr>
            <a:stCxn id="1267" idx="6"/>
          </p:cNvCxnSpPr>
          <p:nvPr/>
        </p:nvCxnSpPr>
        <p:spPr>
          <a:xfrm>
            <a:off x="3047760" y="5219280"/>
            <a:ext cx="5338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73" name="AutoShape 53"/>
          <p:cNvCxnSpPr>
            <a:stCxn id="1263" idx="6"/>
            <a:endCxn id="1265" idx="2"/>
          </p:cNvCxnSpPr>
          <p:nvPr/>
        </p:nvCxnSpPr>
        <p:spPr>
          <a:xfrm>
            <a:off x="1295280" y="5829120"/>
            <a:ext cx="45792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74" name="AutoShape 54"/>
          <p:cNvCxnSpPr>
            <a:stCxn id="1265" idx="6"/>
            <a:endCxn id="1266" idx="2"/>
          </p:cNvCxnSpPr>
          <p:nvPr/>
        </p:nvCxnSpPr>
        <p:spPr>
          <a:xfrm>
            <a:off x="2133720" y="5829120"/>
            <a:ext cx="5144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275" name="AutoShape 58"/>
          <p:cNvCxnSpPr>
            <a:stCxn id="1268" idx="7"/>
            <a:endCxn id="1264" idx="3"/>
          </p:cNvCxnSpPr>
          <p:nvPr/>
        </p:nvCxnSpPr>
        <p:spPr>
          <a:xfrm flipV="1">
            <a:off x="2077560" y="4687560"/>
            <a:ext cx="645480" cy="39744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276" name="Text Box 62"/>
          <p:cNvSpPr/>
          <p:nvPr/>
        </p:nvSpPr>
        <p:spPr>
          <a:xfrm>
            <a:off x="1295280" y="518148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77" name="Text Box 63"/>
          <p:cNvSpPr/>
          <p:nvPr/>
        </p:nvSpPr>
        <p:spPr>
          <a:xfrm>
            <a:off x="1371600" y="555156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78" name="Text Box 66"/>
          <p:cNvSpPr/>
          <p:nvPr/>
        </p:nvSpPr>
        <p:spPr>
          <a:xfrm>
            <a:off x="2209680" y="492120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79" name="Text Box 67"/>
          <p:cNvSpPr/>
          <p:nvPr/>
        </p:nvSpPr>
        <p:spPr>
          <a:xfrm>
            <a:off x="2209680" y="555156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80" name="Text Box 68"/>
          <p:cNvSpPr/>
          <p:nvPr/>
        </p:nvSpPr>
        <p:spPr>
          <a:xfrm>
            <a:off x="2209680" y="454032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81" name="Text Box 69"/>
          <p:cNvSpPr/>
          <p:nvPr/>
        </p:nvSpPr>
        <p:spPr>
          <a:xfrm>
            <a:off x="3103560" y="494172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82" name="Text Box 70"/>
          <p:cNvSpPr/>
          <p:nvPr/>
        </p:nvSpPr>
        <p:spPr>
          <a:xfrm>
            <a:off x="4648320" y="4800600"/>
            <a:ext cx="396216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Subset construction eliminates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-transitions and merges the paths for </a:t>
            </a:r>
            <a:r>
              <a:rPr lang="en-US" sz="1600" b="0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a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.  It leaves duplicate tails, such as </a:t>
            </a:r>
            <a:r>
              <a:rPr lang="en-US" sz="1600" b="0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bc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84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EBEC4D4-F8C6-4188-9DCF-084D3F5A547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85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Alternative Approach to 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86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Idea: use the subset construction twice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For an NFA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reverse(N)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be the NFA constructed by making initial states final (&amp; vice-versa) and reversing the edges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subset(N)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be the DFA that results from applying the subset construction to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reachable(N)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be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after removing all states that are not reachable from the initial state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Then,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ctr">
              <a:spcBef>
                <a:spcPts val="1349"/>
              </a:spcBef>
              <a:spcAft>
                <a:spcPts val="13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reachable(subset(reverse[reachable(subset(reverse(N))]))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is the minimal DFA that implements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[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Brzozowski, 1962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]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This result is not intuitive, but it is true.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Neither algorithm dominates the other.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88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340EC98-1BD2-4093-8ADC-DE093A9E892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8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Alternative Approach to 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90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Step 1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subset construction on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reverse(NFA)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merges suffixes in original NFA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91" name="Oval 14"/>
          <p:cNvSpPr/>
          <p:nvPr/>
        </p:nvSpPr>
        <p:spPr>
          <a:xfrm>
            <a:off x="4952880" y="301608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92" name="Text Box 25"/>
          <p:cNvSpPr/>
          <p:nvPr/>
        </p:nvSpPr>
        <p:spPr>
          <a:xfrm>
            <a:off x="4800600" y="255888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93" name="Text Box 26"/>
          <p:cNvSpPr/>
          <p:nvPr/>
        </p:nvSpPr>
        <p:spPr>
          <a:xfrm>
            <a:off x="4191120" y="2863800"/>
            <a:ext cx="304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94" name="Text Box 27"/>
          <p:cNvSpPr/>
          <p:nvPr/>
        </p:nvSpPr>
        <p:spPr>
          <a:xfrm>
            <a:off x="4267080" y="332100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95" name="Text Box 35"/>
          <p:cNvSpPr/>
          <p:nvPr/>
        </p:nvSpPr>
        <p:spPr>
          <a:xfrm>
            <a:off x="5943600" y="2787480"/>
            <a:ext cx="1981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Reversed NFA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96" name="Oval 57"/>
          <p:cNvSpPr/>
          <p:nvPr/>
        </p:nvSpPr>
        <p:spPr>
          <a:xfrm>
            <a:off x="838080" y="2971800"/>
            <a:ext cx="381240" cy="3808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97" name="Oval 58"/>
          <p:cNvSpPr/>
          <p:nvPr/>
        </p:nvSpPr>
        <p:spPr>
          <a:xfrm>
            <a:off x="3505320" y="36576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98" name="Oval 59"/>
          <p:cNvSpPr/>
          <p:nvPr/>
        </p:nvSpPr>
        <p:spPr>
          <a:xfrm>
            <a:off x="2590920" y="36576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99" name="Oval 60"/>
          <p:cNvSpPr/>
          <p:nvPr/>
        </p:nvSpPr>
        <p:spPr>
          <a:xfrm>
            <a:off x="1676520" y="36576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8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00" name="Oval 61"/>
          <p:cNvSpPr/>
          <p:nvPr/>
        </p:nvSpPr>
        <p:spPr>
          <a:xfrm>
            <a:off x="1676520" y="29718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5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01" name="Oval 62"/>
          <p:cNvSpPr/>
          <p:nvPr/>
        </p:nvSpPr>
        <p:spPr>
          <a:xfrm>
            <a:off x="3505320" y="29718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7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02" name="Oval 63"/>
          <p:cNvSpPr/>
          <p:nvPr/>
        </p:nvSpPr>
        <p:spPr>
          <a:xfrm>
            <a:off x="2590920" y="29718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6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03" name="Oval 64"/>
          <p:cNvSpPr/>
          <p:nvPr/>
        </p:nvSpPr>
        <p:spPr>
          <a:xfrm>
            <a:off x="3505320" y="236232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04" name="Oval 65"/>
          <p:cNvSpPr/>
          <p:nvPr/>
        </p:nvSpPr>
        <p:spPr>
          <a:xfrm>
            <a:off x="2590920" y="236232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05" name="Oval 66"/>
          <p:cNvSpPr/>
          <p:nvPr/>
        </p:nvSpPr>
        <p:spPr>
          <a:xfrm>
            <a:off x="1676520" y="236232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06" name="Oval 67"/>
          <p:cNvSpPr/>
          <p:nvPr/>
        </p:nvSpPr>
        <p:spPr>
          <a:xfrm>
            <a:off x="4419720" y="236232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307" name="AutoShape 68"/>
          <p:cNvCxnSpPr>
            <a:stCxn id="1296" idx="7"/>
            <a:endCxn id="1305" idx="3"/>
          </p:cNvCxnSpPr>
          <p:nvPr/>
        </p:nvCxnSpPr>
        <p:spPr>
          <a:xfrm flipV="1">
            <a:off x="1163160" y="2687400"/>
            <a:ext cx="568800" cy="32112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08" name="AutoShape 69"/>
          <p:cNvCxnSpPr>
            <a:stCxn id="1305" idx="6"/>
            <a:endCxn id="1304" idx="2"/>
          </p:cNvCxnSpPr>
          <p:nvPr/>
        </p:nvCxnSpPr>
        <p:spPr>
          <a:xfrm>
            <a:off x="2057400" y="255240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09" name="AutoShape 70"/>
          <p:cNvCxnSpPr>
            <a:stCxn id="1304" idx="6"/>
            <a:endCxn id="1303" idx="2"/>
          </p:cNvCxnSpPr>
          <p:nvPr/>
        </p:nvCxnSpPr>
        <p:spPr>
          <a:xfrm>
            <a:off x="2971800" y="255240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10" name="AutoShape 71"/>
          <p:cNvCxnSpPr>
            <a:stCxn id="1303" idx="6"/>
            <a:endCxn id="1306" idx="2"/>
          </p:cNvCxnSpPr>
          <p:nvPr/>
        </p:nvCxnSpPr>
        <p:spPr>
          <a:xfrm>
            <a:off x="3886200" y="255240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11" name="AutoShape 72"/>
          <p:cNvCxnSpPr>
            <a:stCxn id="1296" idx="6"/>
            <a:endCxn id="1300" idx="2"/>
          </p:cNvCxnSpPr>
          <p:nvPr/>
        </p:nvCxnSpPr>
        <p:spPr>
          <a:xfrm>
            <a:off x="1238040" y="3161880"/>
            <a:ext cx="4388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12" name="AutoShape 73"/>
          <p:cNvCxnSpPr>
            <a:stCxn id="1300" idx="6"/>
            <a:endCxn id="1302" idx="2"/>
          </p:cNvCxnSpPr>
          <p:nvPr/>
        </p:nvCxnSpPr>
        <p:spPr>
          <a:xfrm>
            <a:off x="2057400" y="316188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13" name="AutoShape 74"/>
          <p:cNvCxnSpPr>
            <a:stCxn id="1302" idx="6"/>
            <a:endCxn id="1301" idx="2"/>
          </p:cNvCxnSpPr>
          <p:nvPr/>
        </p:nvCxnSpPr>
        <p:spPr>
          <a:xfrm>
            <a:off x="2971800" y="316188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14" name="AutoShape 75"/>
          <p:cNvCxnSpPr>
            <a:stCxn id="1296" idx="5"/>
            <a:endCxn id="1299" idx="1"/>
          </p:cNvCxnSpPr>
          <p:nvPr/>
        </p:nvCxnSpPr>
        <p:spPr>
          <a:xfrm>
            <a:off x="1163160" y="3316320"/>
            <a:ext cx="568800" cy="39744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15" name="AutoShape 76"/>
          <p:cNvCxnSpPr>
            <a:stCxn id="1299" idx="6"/>
            <a:endCxn id="1298" idx="2"/>
          </p:cNvCxnSpPr>
          <p:nvPr/>
        </p:nvCxnSpPr>
        <p:spPr>
          <a:xfrm>
            <a:off x="2057400" y="384768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16" name="AutoShape 77"/>
          <p:cNvCxnSpPr>
            <a:stCxn id="1298" idx="6"/>
            <a:endCxn id="1297" idx="2"/>
          </p:cNvCxnSpPr>
          <p:nvPr/>
        </p:nvCxnSpPr>
        <p:spPr>
          <a:xfrm>
            <a:off x="2971800" y="384768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sp>
        <p:nvSpPr>
          <p:cNvPr id="1317" name="Text Box 78"/>
          <p:cNvSpPr/>
          <p:nvPr/>
        </p:nvSpPr>
        <p:spPr>
          <a:xfrm>
            <a:off x="1219320" y="2590920"/>
            <a:ext cx="304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18" name="Text Box 79"/>
          <p:cNvSpPr/>
          <p:nvPr/>
        </p:nvSpPr>
        <p:spPr>
          <a:xfrm>
            <a:off x="1295280" y="287640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19" name="Text Box 80"/>
          <p:cNvSpPr/>
          <p:nvPr/>
        </p:nvSpPr>
        <p:spPr>
          <a:xfrm>
            <a:off x="1219320" y="3429000"/>
            <a:ext cx="304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20" name="Text Box 81"/>
          <p:cNvSpPr/>
          <p:nvPr/>
        </p:nvSpPr>
        <p:spPr>
          <a:xfrm>
            <a:off x="2144880" y="228600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21" name="Text Box 82"/>
          <p:cNvSpPr/>
          <p:nvPr/>
        </p:nvSpPr>
        <p:spPr>
          <a:xfrm>
            <a:off x="2133720" y="288432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22" name="Text Box 83"/>
          <p:cNvSpPr/>
          <p:nvPr/>
        </p:nvSpPr>
        <p:spPr>
          <a:xfrm>
            <a:off x="2133720" y="357012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23" name="Text Box 84"/>
          <p:cNvSpPr/>
          <p:nvPr/>
        </p:nvSpPr>
        <p:spPr>
          <a:xfrm>
            <a:off x="3068640" y="225432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24" name="Text Box 85"/>
          <p:cNvSpPr/>
          <p:nvPr/>
        </p:nvSpPr>
        <p:spPr>
          <a:xfrm>
            <a:off x="3068640" y="287820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25" name="Text Box 86"/>
          <p:cNvSpPr/>
          <p:nvPr/>
        </p:nvSpPr>
        <p:spPr>
          <a:xfrm>
            <a:off x="3068640" y="356400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26" name="Text Box 87"/>
          <p:cNvSpPr/>
          <p:nvPr/>
        </p:nvSpPr>
        <p:spPr>
          <a:xfrm>
            <a:off x="3962520" y="227484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327" name="AutoShape 89"/>
          <p:cNvCxnSpPr>
            <a:stCxn id="1291" idx="1"/>
            <a:endCxn id="1306" idx="5"/>
          </p:cNvCxnSpPr>
          <p:nvPr/>
        </p:nvCxnSpPr>
        <p:spPr>
          <a:xfrm flipH="1" flipV="1">
            <a:off x="4744800" y="2687040"/>
            <a:ext cx="264240" cy="38484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328" name="AutoShape 90"/>
          <p:cNvCxnSpPr>
            <a:stCxn id="1291" idx="2"/>
            <a:endCxn id="1301" idx="6"/>
          </p:cNvCxnSpPr>
          <p:nvPr/>
        </p:nvCxnSpPr>
        <p:spPr>
          <a:xfrm flipH="1" flipV="1">
            <a:off x="3885480" y="3161880"/>
            <a:ext cx="1067400" cy="4536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329" name="AutoShape 91"/>
          <p:cNvCxnSpPr>
            <a:stCxn id="1291" idx="3"/>
            <a:endCxn id="1297" idx="6"/>
          </p:cNvCxnSpPr>
          <p:nvPr/>
        </p:nvCxnSpPr>
        <p:spPr>
          <a:xfrm flipH="1">
            <a:off x="3886200" y="3341160"/>
            <a:ext cx="1122840" cy="5068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330" name="Oval 92"/>
          <p:cNvSpPr/>
          <p:nvPr/>
        </p:nvSpPr>
        <p:spPr>
          <a:xfrm>
            <a:off x="4495680" y="517032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31" name="Oval 98"/>
          <p:cNvSpPr/>
          <p:nvPr/>
        </p:nvSpPr>
        <p:spPr>
          <a:xfrm>
            <a:off x="2590920" y="5181480"/>
            <a:ext cx="38088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32" name="Oval 99"/>
          <p:cNvSpPr/>
          <p:nvPr/>
        </p:nvSpPr>
        <p:spPr>
          <a:xfrm>
            <a:off x="1676520" y="5181480"/>
            <a:ext cx="380880" cy="38124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8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33" name="Oval 103"/>
          <p:cNvSpPr/>
          <p:nvPr/>
        </p:nvSpPr>
        <p:spPr>
          <a:xfrm>
            <a:off x="3505320" y="456084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34" name="Oval 104"/>
          <p:cNvSpPr/>
          <p:nvPr/>
        </p:nvSpPr>
        <p:spPr>
          <a:xfrm>
            <a:off x="2590920" y="4560840"/>
            <a:ext cx="380880" cy="3808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35" name="Oval 105"/>
          <p:cNvSpPr/>
          <p:nvPr/>
        </p:nvSpPr>
        <p:spPr>
          <a:xfrm>
            <a:off x="1676520" y="4560840"/>
            <a:ext cx="380880" cy="3808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336" name="AutoShape 108"/>
          <p:cNvCxnSpPr>
            <a:stCxn id="1335" idx="6"/>
            <a:endCxn id="1334" idx="2"/>
          </p:cNvCxnSpPr>
          <p:nvPr/>
        </p:nvCxnSpPr>
        <p:spPr>
          <a:xfrm>
            <a:off x="2076480" y="4750920"/>
            <a:ext cx="4960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37" name="AutoShape 109"/>
          <p:cNvCxnSpPr>
            <a:stCxn id="1334" idx="6"/>
            <a:endCxn id="1333" idx="2"/>
          </p:cNvCxnSpPr>
          <p:nvPr/>
        </p:nvCxnSpPr>
        <p:spPr>
          <a:xfrm>
            <a:off x="2990520" y="4750920"/>
            <a:ext cx="51516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38" name="AutoShape 110"/>
          <p:cNvCxnSpPr>
            <a:stCxn id="1333" idx="6"/>
            <a:endCxn id="1330" idx="1"/>
          </p:cNvCxnSpPr>
          <p:nvPr/>
        </p:nvCxnSpPr>
        <p:spPr>
          <a:xfrm>
            <a:off x="3886200" y="4750920"/>
            <a:ext cx="665640" cy="47556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39" name="AutoShape 115"/>
          <p:cNvCxnSpPr>
            <a:stCxn id="1332" idx="6"/>
            <a:endCxn id="1331" idx="2"/>
          </p:cNvCxnSpPr>
          <p:nvPr/>
        </p:nvCxnSpPr>
        <p:spPr>
          <a:xfrm>
            <a:off x="2076120" y="5371920"/>
            <a:ext cx="51516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340" name="AutoShape 116"/>
          <p:cNvCxnSpPr>
            <a:stCxn id="1331" idx="6"/>
            <a:endCxn id="1330" idx="2"/>
          </p:cNvCxnSpPr>
          <p:nvPr/>
        </p:nvCxnSpPr>
        <p:spPr>
          <a:xfrm flipV="1">
            <a:off x="2971440" y="5360400"/>
            <a:ext cx="1524600" cy="118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sp>
        <p:nvSpPr>
          <p:cNvPr id="1341" name="Text Box 120"/>
          <p:cNvSpPr/>
          <p:nvPr/>
        </p:nvSpPr>
        <p:spPr>
          <a:xfrm>
            <a:off x="2144880" y="448452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42" name="Text Box 122"/>
          <p:cNvSpPr/>
          <p:nvPr/>
        </p:nvSpPr>
        <p:spPr>
          <a:xfrm>
            <a:off x="2133720" y="509436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43" name="Text Box 123"/>
          <p:cNvSpPr/>
          <p:nvPr/>
        </p:nvSpPr>
        <p:spPr>
          <a:xfrm>
            <a:off x="3068640" y="445284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44" name="Text Box 125"/>
          <p:cNvSpPr/>
          <p:nvPr/>
        </p:nvSpPr>
        <p:spPr>
          <a:xfrm>
            <a:off x="3429000" y="508320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45" name="Text Box 126"/>
          <p:cNvSpPr/>
          <p:nvPr/>
        </p:nvSpPr>
        <p:spPr>
          <a:xfrm>
            <a:off x="3962520" y="447372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46" name="Text Box 130"/>
          <p:cNvSpPr/>
          <p:nvPr/>
        </p:nvSpPr>
        <p:spPr>
          <a:xfrm>
            <a:off x="6019920" y="4941720"/>
            <a:ext cx="2819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subset(reverse(NFA))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48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0B8472B-9B09-423C-924E-869B17B2ED9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4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Alternative Approach to 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50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Step 2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Reverse it again &amp; use subset to merge prefixes …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51" name="Text Box 8"/>
          <p:cNvSpPr/>
          <p:nvPr/>
        </p:nvSpPr>
        <p:spPr>
          <a:xfrm>
            <a:off x="5943600" y="2514600"/>
            <a:ext cx="1981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Reverse it, again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52" name="Oval 43"/>
          <p:cNvSpPr/>
          <p:nvPr/>
        </p:nvSpPr>
        <p:spPr>
          <a:xfrm>
            <a:off x="4495680" y="2774880"/>
            <a:ext cx="381240" cy="38124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53" name="Oval 44"/>
          <p:cNvSpPr/>
          <p:nvPr/>
        </p:nvSpPr>
        <p:spPr>
          <a:xfrm>
            <a:off x="2590920" y="3124080"/>
            <a:ext cx="38088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54" name="Oval 45"/>
          <p:cNvSpPr/>
          <p:nvPr/>
        </p:nvSpPr>
        <p:spPr>
          <a:xfrm>
            <a:off x="1676520" y="3124080"/>
            <a:ext cx="38088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8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55" name="Oval 46"/>
          <p:cNvSpPr/>
          <p:nvPr/>
        </p:nvSpPr>
        <p:spPr>
          <a:xfrm>
            <a:off x="3505320" y="21654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56" name="Oval 47"/>
          <p:cNvSpPr/>
          <p:nvPr/>
        </p:nvSpPr>
        <p:spPr>
          <a:xfrm>
            <a:off x="2590920" y="21654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57" name="Oval 48"/>
          <p:cNvSpPr/>
          <p:nvPr/>
        </p:nvSpPr>
        <p:spPr>
          <a:xfrm>
            <a:off x="1676520" y="21654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358" name="AutoShape 49"/>
          <p:cNvCxnSpPr>
            <a:stCxn id="1357" idx="6"/>
            <a:endCxn id="1356" idx="2"/>
          </p:cNvCxnSpPr>
          <p:nvPr/>
        </p:nvCxnSpPr>
        <p:spPr>
          <a:xfrm>
            <a:off x="2057400" y="235548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359" name="AutoShape 50"/>
          <p:cNvCxnSpPr>
            <a:stCxn id="1356" idx="6"/>
            <a:endCxn id="1355" idx="2"/>
          </p:cNvCxnSpPr>
          <p:nvPr/>
        </p:nvCxnSpPr>
        <p:spPr>
          <a:xfrm>
            <a:off x="2971800" y="235548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360" name="AutoShape 51"/>
          <p:cNvCxnSpPr>
            <a:stCxn id="1355" idx="6"/>
            <a:endCxn id="1352" idx="1"/>
          </p:cNvCxnSpPr>
          <p:nvPr/>
        </p:nvCxnSpPr>
        <p:spPr>
          <a:xfrm>
            <a:off x="3886200" y="2355840"/>
            <a:ext cx="665640" cy="4564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361" name="AutoShape 52"/>
          <p:cNvCxnSpPr>
            <a:stCxn id="1354" idx="6"/>
            <a:endCxn id="1353" idx="2"/>
          </p:cNvCxnSpPr>
          <p:nvPr/>
        </p:nvCxnSpPr>
        <p:spPr>
          <a:xfrm>
            <a:off x="2057400" y="331452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362" name="AutoShape 53"/>
          <p:cNvCxnSpPr>
            <a:stCxn id="1353" idx="6"/>
            <a:endCxn id="1352" idx="2"/>
          </p:cNvCxnSpPr>
          <p:nvPr/>
        </p:nvCxnSpPr>
        <p:spPr>
          <a:xfrm flipV="1">
            <a:off x="2971800" y="2964600"/>
            <a:ext cx="1505520" cy="3502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363" name="Text Box 54"/>
          <p:cNvSpPr/>
          <p:nvPr/>
        </p:nvSpPr>
        <p:spPr>
          <a:xfrm>
            <a:off x="2144880" y="208908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64" name="Text Box 55"/>
          <p:cNvSpPr/>
          <p:nvPr/>
        </p:nvSpPr>
        <p:spPr>
          <a:xfrm>
            <a:off x="2133720" y="303696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65" name="Text Box 56"/>
          <p:cNvSpPr/>
          <p:nvPr/>
        </p:nvSpPr>
        <p:spPr>
          <a:xfrm>
            <a:off x="3068640" y="205740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66" name="Text Box 57"/>
          <p:cNvSpPr/>
          <p:nvPr/>
        </p:nvSpPr>
        <p:spPr>
          <a:xfrm>
            <a:off x="3429000" y="286380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67" name="Text Box 58"/>
          <p:cNvSpPr/>
          <p:nvPr/>
        </p:nvSpPr>
        <p:spPr>
          <a:xfrm>
            <a:off x="3962520" y="207792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68" name="Oval 60"/>
          <p:cNvSpPr/>
          <p:nvPr/>
        </p:nvSpPr>
        <p:spPr>
          <a:xfrm>
            <a:off x="914400" y="259092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369" name="AutoShape 61"/>
          <p:cNvCxnSpPr>
            <a:stCxn id="1368" idx="7"/>
            <a:endCxn id="1357" idx="2"/>
          </p:cNvCxnSpPr>
          <p:nvPr/>
        </p:nvCxnSpPr>
        <p:spPr>
          <a:xfrm flipV="1">
            <a:off x="1239480" y="2355120"/>
            <a:ext cx="437400" cy="29124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370" name="AutoShape 62"/>
          <p:cNvCxnSpPr>
            <a:stCxn id="1368" idx="6"/>
            <a:endCxn id="1356" idx="3"/>
          </p:cNvCxnSpPr>
          <p:nvPr/>
        </p:nvCxnSpPr>
        <p:spPr>
          <a:xfrm flipV="1">
            <a:off x="1294920" y="2490120"/>
            <a:ext cx="1351800" cy="291240"/>
          </a:xfrm>
          <a:prstGeom prst="curvedConnector2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371" name="AutoShape 63"/>
          <p:cNvCxnSpPr>
            <a:stCxn id="1368" idx="5"/>
            <a:endCxn id="1354" idx="1"/>
          </p:cNvCxnSpPr>
          <p:nvPr/>
        </p:nvCxnSpPr>
        <p:spPr>
          <a:xfrm>
            <a:off x="1239480" y="2916360"/>
            <a:ext cx="492840" cy="26424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372" name="Text Box 64"/>
          <p:cNvSpPr/>
          <p:nvPr/>
        </p:nvSpPr>
        <p:spPr>
          <a:xfrm>
            <a:off x="1447920" y="2492280"/>
            <a:ext cx="304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73" name="Text Box 65"/>
          <p:cNvSpPr/>
          <p:nvPr/>
        </p:nvSpPr>
        <p:spPr>
          <a:xfrm>
            <a:off x="1143000" y="230040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74" name="Text Box 66"/>
          <p:cNvSpPr/>
          <p:nvPr/>
        </p:nvSpPr>
        <p:spPr>
          <a:xfrm>
            <a:off x="1219320" y="2971800"/>
            <a:ext cx="304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375" name="Group 127"/>
          <p:cNvGrpSpPr/>
          <p:nvPr/>
        </p:nvGrpSpPr>
        <p:grpSpPr>
          <a:xfrm>
            <a:off x="990720" y="3733920"/>
            <a:ext cx="7619760" cy="2011320"/>
            <a:chOff x="990720" y="3733920"/>
            <a:chExt cx="7619760" cy="2011320"/>
          </a:xfrm>
        </p:grpSpPr>
        <p:sp>
          <p:nvSpPr>
            <p:cNvPr id="1376" name="Text Box 59"/>
            <p:cNvSpPr/>
            <p:nvPr/>
          </p:nvSpPr>
          <p:spPr>
            <a:xfrm>
              <a:off x="5791320" y="4386240"/>
              <a:ext cx="28191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B025A6"/>
                  </a:solidFill>
                  <a:effectLst/>
                  <a:uFillTx/>
                  <a:latin typeface="Comic Sans MS"/>
                </a:rPr>
                <a:t>And subset it, again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77" name="Oval 67"/>
            <p:cNvSpPr/>
            <p:nvPr/>
          </p:nvSpPr>
          <p:spPr>
            <a:xfrm>
              <a:off x="4191120" y="4767120"/>
              <a:ext cx="380880" cy="381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11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78" name="Oval 70"/>
            <p:cNvSpPr/>
            <p:nvPr/>
          </p:nvSpPr>
          <p:spPr>
            <a:xfrm>
              <a:off x="3048120" y="4767120"/>
              <a:ext cx="380880" cy="381240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3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79" name="Oval 71"/>
            <p:cNvSpPr/>
            <p:nvPr/>
          </p:nvSpPr>
          <p:spPr>
            <a:xfrm>
              <a:off x="1828800" y="4037040"/>
              <a:ext cx="380880" cy="380880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2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1380" name="AutoShape 73"/>
            <p:cNvCxnSpPr>
              <a:stCxn id="1381" idx="7"/>
              <a:endCxn id="1379" idx="2"/>
            </p:cNvCxnSpPr>
            <p:nvPr/>
          </p:nvCxnSpPr>
          <p:spPr>
            <a:xfrm flipV="1">
              <a:off x="1316160" y="4227120"/>
              <a:ext cx="513360" cy="5961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1382" name="AutoShape 74"/>
            <p:cNvCxnSpPr>
              <a:stCxn id="1379" idx="6"/>
              <a:endCxn id="1378" idx="1"/>
            </p:cNvCxnSpPr>
            <p:nvPr/>
          </p:nvCxnSpPr>
          <p:spPr>
            <a:xfrm>
              <a:off x="2209320" y="4227480"/>
              <a:ext cx="894600" cy="5961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1383" name="AutoShape 75"/>
            <p:cNvCxnSpPr>
              <a:stCxn id="1378" idx="6"/>
              <a:endCxn id="1377" idx="2"/>
            </p:cNvCxnSpPr>
            <p:nvPr/>
          </p:nvCxnSpPr>
          <p:spPr>
            <a:xfrm>
              <a:off x="3429000" y="4957560"/>
              <a:ext cx="74376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1384" name="Text Box 78"/>
            <p:cNvSpPr/>
            <p:nvPr/>
          </p:nvSpPr>
          <p:spPr>
            <a:xfrm>
              <a:off x="1447920" y="407520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a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85" name="Text Box 80"/>
            <p:cNvSpPr/>
            <p:nvPr/>
          </p:nvSpPr>
          <p:spPr>
            <a:xfrm>
              <a:off x="1676520" y="462600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86" name="Text Box 81"/>
            <p:cNvSpPr/>
            <p:nvPr/>
          </p:nvSpPr>
          <p:spPr>
            <a:xfrm>
              <a:off x="2514600" y="373392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d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87" name="Text Box 82"/>
            <p:cNvSpPr/>
            <p:nvPr/>
          </p:nvSpPr>
          <p:spPr>
            <a:xfrm>
              <a:off x="3581280" y="465948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c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81" name="Oval 83"/>
            <p:cNvSpPr/>
            <p:nvPr/>
          </p:nvSpPr>
          <p:spPr>
            <a:xfrm>
              <a:off x="990720" y="4767120"/>
              <a:ext cx="380880" cy="381240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0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88" name="Text Box 90"/>
            <p:cNvSpPr/>
            <p:nvPr/>
          </p:nvSpPr>
          <p:spPr>
            <a:xfrm>
              <a:off x="2503440" y="420228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1389" name="AutoShape 91"/>
            <p:cNvCxnSpPr>
              <a:stCxn id="1379" idx="7"/>
              <a:endCxn id="1377" idx="0"/>
            </p:cNvCxnSpPr>
            <p:nvPr/>
          </p:nvCxnSpPr>
          <p:spPr>
            <a:xfrm flipH="1" rot="16200000">
              <a:off x="2939760" y="3305520"/>
              <a:ext cx="656280" cy="2228040"/>
            </a:xfrm>
            <a:prstGeom prst="curvedConnector5">
              <a:avLst>
                <a:gd name="adj1" fmla="val -4335"/>
                <a:gd name="adj2" fmla="val 50000"/>
                <a:gd name="adj3" fmla="val -4335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1390" name="AutoShape 109"/>
            <p:cNvCxnSpPr>
              <a:stCxn id="1381" idx="6"/>
              <a:endCxn id="1378" idx="2"/>
            </p:cNvCxnSpPr>
            <p:nvPr/>
          </p:nvCxnSpPr>
          <p:spPr>
            <a:xfrm>
              <a:off x="1371240" y="4957560"/>
              <a:ext cx="167724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1391" name="Text Box 110"/>
            <p:cNvSpPr/>
            <p:nvPr/>
          </p:nvSpPr>
          <p:spPr>
            <a:xfrm>
              <a:off x="1905120" y="5376960"/>
              <a:ext cx="18288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Minimal DFA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1392" name="Group 111"/>
          <p:cNvGrpSpPr/>
          <p:nvPr/>
        </p:nvGrpSpPr>
        <p:grpSpPr>
          <a:xfrm>
            <a:off x="4921200" y="4952880"/>
            <a:ext cx="3765600" cy="1504440"/>
            <a:chOff x="4921200" y="4952880"/>
            <a:chExt cx="3765600" cy="1504440"/>
          </a:xfrm>
        </p:grpSpPr>
        <p:sp>
          <p:nvSpPr>
            <p:cNvPr id="1393" name="Text Box 112"/>
            <p:cNvSpPr/>
            <p:nvPr/>
          </p:nvSpPr>
          <p:spPr>
            <a:xfrm>
              <a:off x="7324560" y="5851440"/>
              <a:ext cx="990720" cy="60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2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minimal </a:t>
              </a: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94" name="Text Box 113"/>
            <p:cNvSpPr/>
            <p:nvPr/>
          </p:nvSpPr>
          <p:spPr>
            <a:xfrm>
              <a:off x="5343480" y="6016680"/>
              <a:ext cx="533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RE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95" name="Text Box 114"/>
            <p:cNvSpPr/>
            <p:nvPr/>
          </p:nvSpPr>
          <p:spPr>
            <a:xfrm>
              <a:off x="595296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96" name="Text Box 115"/>
            <p:cNvSpPr/>
            <p:nvPr/>
          </p:nvSpPr>
          <p:spPr>
            <a:xfrm>
              <a:off x="671508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97" name="Line 116"/>
            <p:cNvSpPr/>
            <p:nvPr/>
          </p:nvSpPr>
          <p:spPr>
            <a:xfrm>
              <a:off x="572436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98" name="Line 117"/>
            <p:cNvSpPr/>
            <p:nvPr/>
          </p:nvSpPr>
          <p:spPr>
            <a:xfrm>
              <a:off x="648648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99" name="Line 118"/>
            <p:cNvSpPr/>
            <p:nvPr/>
          </p:nvSpPr>
          <p:spPr>
            <a:xfrm>
              <a:off x="7248600" y="6168960"/>
              <a:ext cx="30456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00" name="Line 119"/>
            <p:cNvSpPr/>
            <p:nvPr/>
          </p:nvSpPr>
          <p:spPr>
            <a:xfrm>
              <a:off x="8010360" y="6172200"/>
              <a:ext cx="304920" cy="0"/>
            </a:xfrm>
            <a:prstGeom prst="line">
              <a:avLst/>
            </a:prstGeom>
            <a:ln w="93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01" name="Arc 120"/>
            <p:cNvSpPr/>
            <p:nvPr/>
          </p:nvSpPr>
          <p:spPr>
            <a:xfrm>
              <a:off x="8229600" y="5410080"/>
              <a:ext cx="457200" cy="3826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02" name="Arc 121"/>
            <p:cNvSpPr/>
            <p:nvPr/>
          </p:nvSpPr>
          <p:spPr>
            <a:xfrm flipV="1">
              <a:off x="8229600" y="5791320"/>
              <a:ext cx="457200" cy="3808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03" name="Arc 122"/>
            <p:cNvSpPr/>
            <p:nvPr/>
          </p:nvSpPr>
          <p:spPr>
            <a:xfrm flipH="1">
              <a:off x="4921200" y="5416560"/>
              <a:ext cx="457200" cy="3826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04" name="Arc 123"/>
            <p:cNvSpPr/>
            <p:nvPr/>
          </p:nvSpPr>
          <p:spPr>
            <a:xfrm flipH="1" flipV="1">
              <a:off x="4921200" y="5799240"/>
              <a:ext cx="457200" cy="3808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05" name="Line 124"/>
            <p:cNvSpPr/>
            <p:nvPr/>
          </p:nvSpPr>
          <p:spPr>
            <a:xfrm>
              <a:off x="5343480" y="5410080"/>
              <a:ext cx="2895480" cy="0"/>
            </a:xfrm>
            <a:prstGeom prst="line">
              <a:avLst/>
            </a:prstGeom>
            <a:ln w="93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06" name="Line 125"/>
            <p:cNvSpPr/>
            <p:nvPr/>
          </p:nvSpPr>
          <p:spPr>
            <a:xfrm>
              <a:off x="5267160" y="6172200"/>
              <a:ext cx="152640" cy="0"/>
            </a:xfrm>
            <a:prstGeom prst="line">
              <a:avLst/>
            </a:prstGeom>
            <a:ln w="9360">
              <a:solidFill>
                <a:srgbClr val="FF006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07" name="Text Box 126"/>
            <p:cNvSpPr/>
            <p:nvPr/>
          </p:nvSpPr>
          <p:spPr>
            <a:xfrm>
              <a:off x="5361120" y="4952880"/>
              <a:ext cx="2895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sng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The Cycle of Constructions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1408" name="Oval 128"/>
          <p:cNvSpPr/>
          <p:nvPr/>
        </p:nvSpPr>
        <p:spPr>
          <a:xfrm>
            <a:off x="6553080" y="5791320"/>
            <a:ext cx="1905120" cy="761760"/>
          </a:xfrm>
          <a:prstGeom prst="ellipse">
            <a:avLst/>
          </a:prstGeom>
          <a:noFill/>
          <a:ln w="12600">
            <a:solidFill>
              <a:srgbClr val="FF0065"/>
            </a:solidFill>
            <a:miter/>
          </a:ln>
          <a:effectLst>
            <a:outerShdw dist="38183" dir="2700000" rotWithShape="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09" name="Text Box 129"/>
          <p:cNvSpPr/>
          <p:nvPr/>
        </p:nvSpPr>
        <p:spPr>
          <a:xfrm>
            <a:off x="6095880" y="6400800"/>
            <a:ext cx="1600200" cy="337680"/>
          </a:xfrm>
          <a:prstGeom prst="rect">
            <a:avLst/>
          </a:prstGeom>
          <a:noFill/>
          <a:ln w="0">
            <a:noFill/>
          </a:ln>
          <a:effectLst>
            <a:outerShdw dist="38183" dir="2700000" rotWithShape="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Brzozowski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1161</TotalTime>
  <Application>LibreOffice/26.2.2.2$MacOSX_AARCH64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2011-01-04T17:34:40Z</dcterms:created>
  <dc:creator>Keith Cooper</dc:creator>
  <dc:description/>
  <dc:language>it-IT</dc:language>
  <cp:lastModifiedBy>Elsevier</cp:lastModifiedBy>
  <cp:lastPrinted>2010-09-03T13:23:04Z</cp:lastPrinted>
  <dcterms:modified xsi:type="dcterms:W3CDTF">2011-01-24T10:18:48Z</dcterms:modified>
  <cp:revision>37</cp:revision>
  <dc:subject/>
  <dc:title>PowerPoint Presentation</dc:title>
</cp:coreProperties>
</file>