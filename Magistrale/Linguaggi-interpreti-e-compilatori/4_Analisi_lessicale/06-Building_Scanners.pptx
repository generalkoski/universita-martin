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3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move the slide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8894170-C5DB-46DC-BD83-076E39A696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1E3969C-9064-443C-80FD-193DA6393C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B93C2B2-482C-4D69-8BD7-6E58B35D6B4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D53727-308F-4C66-9915-D3743E9C3C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BDFB976-7BC7-4F26-B526-ED80BFB028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ED28FC9-E316-4D47-8EBF-A38C1F8A47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42559EF-4129-4724-BD5B-9B539B40BD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F7A1E1B-D4B0-4DC5-93A5-2E78339F3AD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9906BDB-8046-489B-820F-10C541A3E1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467C713-318A-4985-8B6C-5B5B0FA86A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B58EA56-A228-431B-ADEE-6702DB694C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8C49A66-164B-4537-A69A-F4EC0FE50B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6ACB8C0-4C28-4DA7-9EC2-7885B1459E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7F142B9-F1D6-4D8F-A67B-6D9DBF974D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D10E74-5AD0-4731-8069-85E963886A7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  <a:lvl2pPr lvl="1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2pPr>
            <a:lvl3pPr lvl="2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3pPr>
            <a:lvl4pPr lvl="3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4pPr>
            <a:lvl5pPr lvl="4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5pPr>
            <a:lvl6pPr lvl="5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6pPr>
            <a:lvl7pPr lvl="6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7pPr>
          </a:lstStyle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600200" lvl="3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4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5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6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68544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AFA1C1D-3274-4CBB-8AE4-A17F12F956D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6" name="Picture 7" descr="2007Shield"/>
          <p:cNvPicPr/>
          <p:nvPr/>
        </p:nvPicPr>
        <p:blipFill>
          <a:blip r:embed="rId2"/>
          <a:stretch/>
        </p:blipFill>
        <p:spPr>
          <a:xfrm>
            <a:off x="7543800" y="228600"/>
            <a:ext cx="958680" cy="11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Line 8"/>
          <p:cNvSpPr/>
          <p:nvPr/>
        </p:nvSpPr>
        <p:spPr>
          <a:xfrm>
            <a:off x="685800" y="1066680"/>
            <a:ext cx="6858000" cy="0"/>
          </a:xfrm>
          <a:prstGeom prst="line">
            <a:avLst/>
          </a:prstGeom>
          <a:ln w="5724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1447920"/>
            <a:ext cx="7772400" cy="17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Lexical Analysis: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Building Scanners</a:t>
            </a:r>
            <a:br>
              <a:rPr sz="3200"/>
            </a:br>
            <a:br>
              <a:rPr sz="1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762120" y="4952520"/>
            <a:ext cx="7772400" cy="1295640"/>
          </a:xfrm>
          <a:prstGeom prst="rect">
            <a:avLst/>
          </a:prstGeom>
          <a:noFill/>
          <a:ln w="12600">
            <a:solidFill>
              <a:srgbClr val="003C75"/>
            </a:solidFill>
            <a:miter/>
          </a:ln>
        </p:spPr>
        <p:txBody>
          <a:bodyPr lIns="91440" tIns="45720" rIns="91440" bIns="45720" anchor="t">
            <a:noAutofit/>
          </a:bodyPr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Copyright 2010, Keith D. Cooper &amp; Linda Torczon, all rights 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Students enrolled in Comp 412 at Rice University have explicit permission to make copies of these materials for their personal use. 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Faculty from other educational institutions may use these materials for nonprofit educational purposes, provided this copyright notice is preserved.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17" name="Picture 4" descr="2007Logo"/>
          <p:cNvPicPr/>
          <p:nvPr/>
        </p:nvPicPr>
        <p:blipFill>
          <a:blip r:embed="rId1"/>
          <a:stretch/>
        </p:blipFill>
        <p:spPr>
          <a:xfrm>
            <a:off x="609480" y="304920"/>
            <a:ext cx="2330640" cy="94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Box 8"/>
          <p:cNvSpPr/>
          <p:nvPr/>
        </p:nvSpPr>
        <p:spPr>
          <a:xfrm>
            <a:off x="5791320" y="380880"/>
            <a:ext cx="26668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COMP 412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FALL 2010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402B25E-E6EC-43F3-8D4E-D182765BC3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Common strategy is to simulate DFA execution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 + Skeleton Scanner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So far, we have used a simplified skeleton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 practice, the skeleton is more complex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Character classification for table compression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Building the lexeme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Recognizing subexpressions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Practice is to combine all the REs into one DFA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34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Must recognize individual words without hitting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EOF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" name="Text Box 4"/>
          <p:cNvSpPr/>
          <p:nvPr/>
        </p:nvSpPr>
        <p:spPr>
          <a:xfrm>
            <a:off x="1066680" y="2314440"/>
            <a:ext cx="7247160" cy="12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 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exit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NextChar( 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read next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(state,char);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take the transition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4" name="Group 5"/>
          <p:cNvGrpSpPr/>
          <p:nvPr/>
        </p:nvGrpSpPr>
        <p:grpSpPr>
          <a:xfrm>
            <a:off x="6502320" y="4064040"/>
            <a:ext cx="2471760" cy="799920"/>
            <a:chOff x="6502320" y="4064040"/>
            <a:chExt cx="2471760" cy="799920"/>
          </a:xfrm>
        </p:grpSpPr>
        <p:sp>
          <p:nvSpPr>
            <p:cNvPr id="25" name="Text Box 6"/>
            <p:cNvSpPr/>
            <p:nvPr/>
          </p:nvSpPr>
          <p:spPr>
            <a:xfrm>
              <a:off x="6937560" y="442764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6" name="Oval 7"/>
            <p:cNvSpPr/>
            <p:nvPr/>
          </p:nvSpPr>
          <p:spPr>
            <a:xfrm>
              <a:off x="7313760" y="45813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7" name="Oval 8"/>
            <p:cNvSpPr/>
            <p:nvPr/>
          </p:nvSpPr>
          <p:spPr>
            <a:xfrm>
              <a:off x="6502320" y="45813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8" name="AutoShape 9"/>
            <p:cNvCxnSpPr>
              <a:stCxn id="27" idx="6"/>
              <a:endCxn id="26" idx="2"/>
            </p:cNvCxnSpPr>
            <p:nvPr/>
          </p:nvCxnSpPr>
          <p:spPr>
            <a:xfrm>
              <a:off x="6811920" y="4722480"/>
              <a:ext cx="50256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9" name="Oval 10"/>
            <p:cNvSpPr/>
            <p:nvPr/>
          </p:nvSpPr>
          <p:spPr>
            <a:xfrm>
              <a:off x="8245440" y="4581360"/>
              <a:ext cx="309600" cy="2826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f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30" name="AutoShape 11"/>
            <p:cNvCxnSpPr>
              <a:stCxn id="26" idx="6"/>
              <a:endCxn id="29" idx="2"/>
            </p:cNvCxnSpPr>
            <p:nvPr/>
          </p:nvCxnSpPr>
          <p:spPr>
            <a:xfrm>
              <a:off x="7623000" y="4722480"/>
              <a:ext cx="6037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31" name="Text Box 12"/>
            <p:cNvSpPr/>
            <p:nvPr/>
          </p:nvSpPr>
          <p:spPr>
            <a:xfrm>
              <a:off x="7539120" y="4427640"/>
              <a:ext cx="7621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0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 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…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 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9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32" name="AutoShape 13"/>
            <p:cNvCxnSpPr>
              <a:stCxn id="29" idx="6"/>
              <a:endCxn id="29" idx="0"/>
            </p:cNvCxnSpPr>
            <p:nvPr/>
          </p:nvCxnSpPr>
          <p:spPr>
            <a:xfrm flipH="1" flipV="1">
              <a:off x="8400240" y="4561920"/>
              <a:ext cx="173880" cy="160920"/>
            </a:xfrm>
            <a:prstGeom prst="curvedConnector5">
              <a:avLst>
                <a:gd name="adj1" fmla="val -120954"/>
                <a:gd name="adj2" fmla="val 115246"/>
                <a:gd name="adj3" fmla="val -120954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33" name="Text Box 14"/>
            <p:cNvSpPr/>
            <p:nvPr/>
          </p:nvSpPr>
          <p:spPr>
            <a:xfrm>
              <a:off x="8212320" y="4064040"/>
              <a:ext cx="761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0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 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…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 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MS PGothic"/>
                </a:rPr>
                <a:t>9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34" name="Freeform 15"/>
          <p:cNvSpPr/>
          <p:nvPr/>
        </p:nvSpPr>
        <p:spPr>
          <a:xfrm>
            <a:off x="6311880" y="3753000"/>
            <a:ext cx="1587600" cy="615960"/>
          </a:xfrm>
          <a:custGeom>
            <a:avLst/>
            <a:gdLst>
              <a:gd name="textAreaLeft" fmla="*/ 0 w 1587600"/>
              <a:gd name="textAreaRight" fmla="*/ 1587960 w 1587600"/>
              <a:gd name="textAreaTop" fmla="*/ 0 h 615960"/>
              <a:gd name="textAreaBottom" fmla="*/ 616320 h 615960"/>
              <a:gd name="GluePoint1X" fmla="*/ 0 w 1000"/>
              <a:gd name="GluePoint1Y" fmla="*/ 316 h 388"/>
              <a:gd name="GluePoint2X" fmla="*/ 456 w 1000"/>
              <a:gd name="GluePoint2Y" fmla="*/ 12 h 388"/>
              <a:gd name="GluePoint3X" fmla="*/ 1000 w 1000"/>
              <a:gd name="GluePoint3Y" fmla="*/ 388 h 3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000" h="388">
                <a:moveTo>
                  <a:pt x="0" y="316"/>
                </a:moveTo>
                <a:cubicBezTo>
                  <a:pt x="144" y="158"/>
                  <a:pt x="289" y="0"/>
                  <a:pt x="456" y="12"/>
                </a:cubicBezTo>
                <a:cubicBezTo>
                  <a:pt x="623" y="24"/>
                  <a:pt x="909" y="325"/>
                  <a:pt x="1000" y="388"/>
                </a:cubicBezTo>
              </a:path>
            </a:pathLst>
          </a:custGeom>
          <a:noFill/>
          <a:ln w="9360">
            <a:solidFill>
              <a:srgbClr val="ED181E"/>
            </a:solidFill>
            <a:round/>
            <a:tailEnd len="med" type="triangle" w="med"/>
          </a:ln>
          <a:effectLst>
            <a:outerShdw dist="38183" dir="270000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" name="Oval 16"/>
          <p:cNvSpPr/>
          <p:nvPr/>
        </p:nvSpPr>
        <p:spPr>
          <a:xfrm>
            <a:off x="7531200" y="4381560"/>
            <a:ext cx="774720" cy="419040"/>
          </a:xfrm>
          <a:prstGeom prst="ellipse">
            <a:avLst/>
          </a:prstGeom>
          <a:noFill/>
          <a:ln w="9360">
            <a:solidFill>
              <a:srgbClr val="ED181E"/>
            </a:solidFill>
            <a:miter/>
          </a:ln>
          <a:effectLst>
            <a:outerShdw dist="38183" dir="270000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" name="Oval 17"/>
          <p:cNvSpPr/>
          <p:nvPr/>
        </p:nvSpPr>
        <p:spPr>
          <a:xfrm>
            <a:off x="8115480" y="4025880"/>
            <a:ext cx="774360" cy="419040"/>
          </a:xfrm>
          <a:prstGeom prst="ellipse">
            <a:avLst/>
          </a:prstGeom>
          <a:noFill/>
          <a:ln w="9360">
            <a:solidFill>
              <a:srgbClr val="ED181E"/>
            </a:solidFill>
            <a:miter/>
          </a:ln>
          <a:effectLst>
            <a:outerShdw dist="38183" dir="270000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7" name="Freeform 18"/>
          <p:cNvSpPr/>
          <p:nvPr/>
        </p:nvSpPr>
        <p:spPr>
          <a:xfrm>
            <a:off x="6299280" y="3452760"/>
            <a:ext cx="1993680" cy="814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814320"/>
              <a:gd name="textAreaBottom" fmla="*/ 814680 h 814320"/>
              <a:gd name="GluePoint1X" fmla="*/ 0 w 1256"/>
              <a:gd name="GluePoint1Y" fmla="*/ 513 h 513"/>
              <a:gd name="GluePoint2X" fmla="*/ 648 w 1256"/>
              <a:gd name="GluePoint2Y" fmla="*/ 25 h 513"/>
              <a:gd name="GluePoint3X" fmla="*/ 1256 w 1256"/>
              <a:gd name="GluePoint3Y" fmla="*/ 361 h 5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256" h="513">
                <a:moveTo>
                  <a:pt x="0" y="513"/>
                </a:moveTo>
                <a:cubicBezTo>
                  <a:pt x="219" y="281"/>
                  <a:pt x="439" y="50"/>
                  <a:pt x="648" y="25"/>
                </a:cubicBezTo>
                <a:cubicBezTo>
                  <a:pt x="857" y="0"/>
                  <a:pt x="1056" y="180"/>
                  <a:pt x="1256" y="361"/>
                </a:cubicBezTo>
              </a:path>
            </a:pathLst>
          </a:custGeom>
          <a:noFill/>
          <a:ln w="9360">
            <a:solidFill>
              <a:srgbClr val="FF0065"/>
            </a:solidFill>
            <a:round/>
            <a:tailEnd len="med" type="triangle" w="med"/>
          </a:ln>
          <a:effectLst>
            <a:outerShdw dist="38183" dir="270000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F40FF29-957C-41D9-9FCA-DDE81086DEB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Character Classification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Group together characters by their actions in the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identical columns in the transition table,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Indexing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by class shrinks the table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Idea works well in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ASCII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(or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EBCDIC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compact, byte-oriented character sets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limited range of values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Not clear how it extends to larger character sets 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" name="Text Box 4"/>
          <p:cNvSpPr/>
          <p:nvPr/>
        </p:nvSpPr>
        <p:spPr>
          <a:xfrm>
            <a:off x="1103400" y="2725560"/>
            <a:ext cx="7246800" cy="15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 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exit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NextChar( 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read next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cat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CharCat(char)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classify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(state,cat)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take the transition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3" name="Group 9"/>
          <p:cNvGrpSpPr/>
          <p:nvPr/>
        </p:nvGrpSpPr>
        <p:grpSpPr>
          <a:xfrm>
            <a:off x="4572000" y="2049480"/>
            <a:ext cx="3873600" cy="4495680"/>
            <a:chOff x="4572000" y="2049480"/>
            <a:chExt cx="3873600" cy="4495680"/>
          </a:xfrm>
        </p:grpSpPr>
        <p:sp>
          <p:nvSpPr>
            <p:cNvPr id="44" name="Text Box 6"/>
            <p:cNvSpPr/>
            <p:nvPr/>
          </p:nvSpPr>
          <p:spPr>
            <a:xfrm>
              <a:off x="4572000" y="6019920"/>
              <a:ext cx="30481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Obvious algorithm is </a:t>
              </a:r>
              <a:r>
                <a:rPr lang="en-US" sz="1400" b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O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(|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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|</a:t>
              </a:r>
              <a:r>
                <a:rPr lang="en-US" sz="1400" b="0" u="none" strike="noStrike" baseline="30000">
                  <a:solidFill>
                    <a:srgbClr val="FF0065"/>
                  </a:solidFill>
                  <a:effectLst/>
                  <a:uFillTx/>
                  <a:latin typeface="Comic Sans MS"/>
                </a:rPr>
                <a:t>2</a:t>
              </a:r>
              <a:r>
                <a:rPr lang="en-US" sz="900" b="0" u="none" strike="noStrike" baseline="30000">
                  <a:solidFill>
                    <a:srgbClr val="FF0065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•</a:t>
              </a:r>
              <a:r>
                <a:rPr lang="en-US" sz="9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|S|). Can you do better?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" name="Line 7"/>
            <p:cNvSpPr/>
            <p:nvPr/>
          </p:nvSpPr>
          <p:spPr>
            <a:xfrm>
              <a:off x="7543800" y="6012000"/>
              <a:ext cx="0" cy="53316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" name="Freeform 8"/>
            <p:cNvSpPr/>
            <p:nvPr/>
          </p:nvSpPr>
          <p:spPr>
            <a:xfrm>
              <a:off x="7086600" y="2049480"/>
              <a:ext cx="1359000" cy="4241880"/>
            </a:xfrm>
            <a:custGeom>
              <a:avLst/>
              <a:gdLst>
                <a:gd name="textAreaLeft" fmla="*/ 0 w 1359000"/>
                <a:gd name="textAreaRight" fmla="*/ 1359000 w 1359000"/>
                <a:gd name="textAreaTop" fmla="*/ 0 h 4241880"/>
                <a:gd name="textAreaBottom" fmla="*/ 4242240 h 4241880"/>
                <a:gd name="GluePoint1X" fmla="*/ 288 w 856"/>
                <a:gd name="GluePoint1Y" fmla="*/ 2592 h 2672"/>
                <a:gd name="GluePoint2X" fmla="*/ 672 w 856"/>
                <a:gd name="GluePoint2Y" fmla="*/ 2544 h 2672"/>
                <a:gd name="GluePoint3X" fmla="*/ 816 w 856"/>
                <a:gd name="GluePoint3Y" fmla="*/ 1824 h 2672"/>
                <a:gd name="GluePoint4X" fmla="*/ 816 w 856"/>
                <a:gd name="GluePoint4Y" fmla="*/ 720 h 2672"/>
                <a:gd name="GluePoint5X" fmla="*/ 576 w 856"/>
                <a:gd name="GluePoint5Y" fmla="*/ 144 h 2672"/>
                <a:gd name="GluePoint6X" fmla="*/ 0 w 856"/>
                <a:gd name="GluePoint6Y" fmla="*/ 0 h 26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856" h="2672">
                  <a:moveTo>
                    <a:pt x="288" y="2592"/>
                  </a:moveTo>
                  <a:cubicBezTo>
                    <a:pt x="436" y="2632"/>
                    <a:pt x="584" y="2672"/>
                    <a:pt x="672" y="2544"/>
                  </a:cubicBezTo>
                  <a:cubicBezTo>
                    <a:pt x="760" y="2416"/>
                    <a:pt x="792" y="2128"/>
                    <a:pt x="816" y="1824"/>
                  </a:cubicBezTo>
                  <a:cubicBezTo>
                    <a:pt x="840" y="1520"/>
                    <a:pt x="856" y="1000"/>
                    <a:pt x="816" y="720"/>
                  </a:cubicBezTo>
                  <a:cubicBezTo>
                    <a:pt x="776" y="440"/>
                    <a:pt x="712" y="264"/>
                    <a:pt x="576" y="144"/>
                  </a:cubicBezTo>
                  <a:cubicBezTo>
                    <a:pt x="440" y="24"/>
                    <a:pt x="220" y="12"/>
                    <a:pt x="0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0C853C-3C83-49FE-9A83-9BE9520A6B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Building the Lexeme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produces syntactic category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part of speech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Most applications want the lexeme (word), too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0" algn="l">
              <a:spcBef>
                <a:spcPts val="45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problem is trivial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Save the characters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1" name="Text Box 4"/>
          <p:cNvSpPr/>
          <p:nvPr/>
        </p:nvSpPr>
        <p:spPr>
          <a:xfrm>
            <a:off x="1103400" y="2295360"/>
            <a:ext cx="7246800" cy="20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empty string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exit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NextChar( 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read next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lexeme + char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concatenate onto lexeme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cat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CharCat(char)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classify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(state,cat)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take the transition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11CE2E0-D171-4DCF-9797-25838ACE6EB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Choosing a Category from an Ambiguous 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want one DFA, so we combine all the REs into one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Some strings may fit RE for more than 1 syntactic category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Keywords versus general identifiers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Would like to encode them into the RE &amp; recognize them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must choose a category for ambiguous final states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Classic answer: specify priority by order of REs   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return 1</a:t>
            </a:r>
            <a:r>
              <a:rPr lang="en-US" sz="1600" b="0" i="1" u="none" strike="noStrike" baseline="30000">
                <a:solidFill>
                  <a:srgbClr val="FF0065"/>
                </a:solidFill>
                <a:effectLst/>
                <a:uFillTx/>
                <a:latin typeface="Comic Sans MS"/>
              </a:rPr>
              <a:t>st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Alternate Implementation Strategy              (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Quite popular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hash table of keywords &amp; fold keywords into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identifiers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Preload keywords into hash table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Makes sense if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will enter all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identifiers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in the table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is hand coded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Othersise, let the DFA handle them           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600" b="1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O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(1) cost per character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6" name="Text Box 5"/>
          <p:cNvSpPr/>
          <p:nvPr/>
        </p:nvSpPr>
        <p:spPr>
          <a:xfrm>
            <a:off x="6934320" y="4584600"/>
            <a:ext cx="1981080" cy="82512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  <a:effectLst>
            <a:outerShdw dist="38183" dir="2700000" rotWithShape="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Separate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keyword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table can make matters worse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41FED53-640C-4947-8AE0-84ECE3E481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Scanning a Stream of Words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Real scanners do not look for 1 word per input stream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0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Want scanner to find all the words in the input stream, in order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Want scanner to return one word at a time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Syntactic Solution: can insist on delimiters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Blank, tab, punctuation, …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 you want to force blanks everywhere? in expressions?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Implementation solution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Run DFA to error or EOF, back up to accepting state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Need the scanner to return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token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not boolean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Token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&lt;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Part of Speech,</a:t>
            </a:r>
            <a:r>
              <a:rPr lang="en-US" sz="9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lexeme</a:t>
            </a:r>
            <a:r>
              <a:rPr lang="en-US" sz="9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&gt; pair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 a map from DFA’s state to Part of Speech 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PoS)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E4F13A6-2D22-45DB-8CAD-3AE3C6529B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Handling a Stream of Words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5" name="Text Box 4"/>
          <p:cNvSpPr/>
          <p:nvPr/>
        </p:nvSpPr>
        <p:spPr>
          <a:xfrm>
            <a:off x="950760" y="1676520"/>
            <a:ext cx="3373560" cy="42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recognize words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empty string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clear stack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push (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bad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sng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e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NextChar( 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lexeme + char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if state ∈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then clear stack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push (state)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cat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CharCat(char)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(state,cat)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end;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6" name="Text Box 5"/>
          <p:cNvSpPr/>
          <p:nvPr/>
        </p:nvSpPr>
        <p:spPr>
          <a:xfrm>
            <a:off x="4419720" y="1676520"/>
            <a:ext cx="4267080" cy="29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clean up final state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∉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and state ≠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bad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state ← pop()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truncate lexeme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roll back the input one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end;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report the results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if (state ∈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then return &lt;PoS(state),</a:t>
            </a:r>
            <a:r>
              <a:rPr lang="en-US" sz="9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lexeme&gt;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else  return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invalid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7" name="Group 18"/>
          <p:cNvGrpSpPr/>
          <p:nvPr/>
        </p:nvGrpSpPr>
        <p:grpSpPr>
          <a:xfrm>
            <a:off x="4724280" y="3873600"/>
            <a:ext cx="3886200" cy="1689120"/>
            <a:chOff x="4724280" y="3873600"/>
            <a:chExt cx="3886200" cy="1689120"/>
          </a:xfrm>
        </p:grpSpPr>
        <p:sp>
          <p:nvSpPr>
            <p:cNvPr id="68" name="Text Box 10"/>
            <p:cNvSpPr/>
            <p:nvPr/>
          </p:nvSpPr>
          <p:spPr>
            <a:xfrm>
              <a:off x="4724280" y="5181480"/>
              <a:ext cx="35816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r"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PoS: state </a:t>
              </a: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</a:t>
              </a: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part of speech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" name="Line 12"/>
            <p:cNvSpPr/>
            <p:nvPr/>
          </p:nvSpPr>
          <p:spPr>
            <a:xfrm>
              <a:off x="8334360" y="5181480"/>
              <a:ext cx="0" cy="3812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" name="Freeform 13"/>
            <p:cNvSpPr/>
            <p:nvPr/>
          </p:nvSpPr>
          <p:spPr>
            <a:xfrm>
              <a:off x="6972480" y="3873600"/>
              <a:ext cx="1638000" cy="1460520"/>
            </a:xfrm>
            <a:custGeom>
              <a:avLst/>
              <a:gdLst>
                <a:gd name="textAreaLeft" fmla="*/ 0 w 1638000"/>
                <a:gd name="textAreaRight" fmla="*/ 1638360 w 1638000"/>
                <a:gd name="textAreaTop" fmla="*/ 0 h 1460520"/>
                <a:gd name="textAreaBottom" fmla="*/ 1460520 h 1460520"/>
                <a:gd name="GluePoint1X" fmla="*/ 864 w 1032"/>
                <a:gd name="GluePoint1Y" fmla="*/ 920 h 920"/>
                <a:gd name="GluePoint2X" fmla="*/ 1008 w 1032"/>
                <a:gd name="GluePoint2Y" fmla="*/ 824 h 920"/>
                <a:gd name="GluePoint3X" fmla="*/ 1008 w 1032"/>
                <a:gd name="GluePoint3Y" fmla="*/ 632 h 920"/>
                <a:gd name="GluePoint4X" fmla="*/ 912 w 1032"/>
                <a:gd name="GluePoint4Y" fmla="*/ 152 h 920"/>
                <a:gd name="GluePoint5X" fmla="*/ 432 w 1032"/>
                <a:gd name="GluePoint5Y" fmla="*/ 8 h 920"/>
                <a:gd name="GluePoint6X" fmla="*/ 0 w 1032"/>
                <a:gd name="GluePoint6Y" fmla="*/ 104 h 9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032" h="920">
                  <a:moveTo>
                    <a:pt x="864" y="920"/>
                  </a:moveTo>
                  <a:cubicBezTo>
                    <a:pt x="924" y="896"/>
                    <a:pt x="984" y="872"/>
                    <a:pt x="1008" y="824"/>
                  </a:cubicBezTo>
                  <a:cubicBezTo>
                    <a:pt x="1032" y="776"/>
                    <a:pt x="1024" y="744"/>
                    <a:pt x="1008" y="632"/>
                  </a:cubicBezTo>
                  <a:cubicBezTo>
                    <a:pt x="992" y="520"/>
                    <a:pt x="1008" y="256"/>
                    <a:pt x="912" y="152"/>
                  </a:cubicBezTo>
                  <a:cubicBezTo>
                    <a:pt x="816" y="48"/>
                    <a:pt x="584" y="16"/>
                    <a:pt x="432" y="8"/>
                  </a:cubicBezTo>
                  <a:cubicBezTo>
                    <a:pt x="280" y="0"/>
                    <a:pt x="140" y="52"/>
                    <a:pt x="0" y="104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71" name="Group 18"/>
          <p:cNvGrpSpPr/>
          <p:nvPr/>
        </p:nvGrpSpPr>
        <p:grpSpPr>
          <a:xfrm>
            <a:off x="3936960" y="2997360"/>
            <a:ext cx="4940280" cy="3416040"/>
            <a:chOff x="3936960" y="2997360"/>
            <a:chExt cx="4940280" cy="3416040"/>
          </a:xfrm>
        </p:grpSpPr>
        <p:sp>
          <p:nvSpPr>
            <p:cNvPr id="72" name="Text Box 7"/>
            <p:cNvSpPr/>
            <p:nvPr/>
          </p:nvSpPr>
          <p:spPr>
            <a:xfrm>
              <a:off x="3936960" y="5765760"/>
              <a:ext cx="46738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Need a clever buffering scheme, such as </a:t>
              </a: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double buffering </a:t>
              </a: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to support roll back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" name="Line 8"/>
            <p:cNvSpPr/>
            <p:nvPr/>
          </p:nvSpPr>
          <p:spPr>
            <a:xfrm>
              <a:off x="8445600" y="5765760"/>
              <a:ext cx="0" cy="6476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" name="Freeform 16"/>
            <p:cNvSpPr/>
            <p:nvPr/>
          </p:nvSpPr>
          <p:spPr>
            <a:xfrm>
              <a:off x="8382240" y="2997360"/>
              <a:ext cx="495000" cy="2929320"/>
            </a:xfrm>
            <a:custGeom>
              <a:avLst/>
              <a:gdLst>
                <a:gd name="textAreaLeft" fmla="*/ 0 w 495000"/>
                <a:gd name="textAreaRight" fmla="*/ 495360 w 495000"/>
                <a:gd name="textAreaTop" fmla="*/ 0 h 2929320"/>
                <a:gd name="textAreaBottom" fmla="*/ 2929680 h 2929320"/>
                <a:gd name="GluePoint1X" fmla="*/ 59267 w 495300"/>
                <a:gd name="GluePoint1Y" fmla="*/ 2929467 h 2929467"/>
                <a:gd name="GluePoint2X" fmla="*/ 330200 w 495300"/>
                <a:gd name="GluePoint2Y" fmla="*/ 2743201 h 2929467"/>
                <a:gd name="GluePoint3X" fmla="*/ 431800 w 495300"/>
                <a:gd name="GluePoint3Y" fmla="*/ 2243667 h 2929467"/>
                <a:gd name="GluePoint4X" fmla="*/ 423333 w 495300"/>
                <a:gd name="GluePoint4Y" fmla="*/ 482600 h 2929467"/>
                <a:gd name="GluePoint5X" fmla="*/ 0 w 495300"/>
                <a:gd name="GluePoint5Y" fmla="*/ 0 h 29294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95300" h="2929467">
                  <a:moveTo>
                    <a:pt x="59267" y="2929467"/>
                  </a:moveTo>
                  <a:cubicBezTo>
                    <a:pt x="163689" y="2893483"/>
                    <a:pt x="268111" y="2857500"/>
                    <a:pt x="330200" y="2743200"/>
                  </a:cubicBezTo>
                  <a:cubicBezTo>
                    <a:pt x="392289" y="2628900"/>
                    <a:pt x="416278" y="2620434"/>
                    <a:pt x="431800" y="2243667"/>
                  </a:cubicBezTo>
                  <a:cubicBezTo>
                    <a:pt x="447322" y="1866900"/>
                    <a:pt x="495300" y="856544"/>
                    <a:pt x="423333" y="482600"/>
                  </a:cubicBezTo>
                  <a:cubicBezTo>
                    <a:pt x="351366" y="108656"/>
                    <a:pt x="0" y="0"/>
                    <a:pt x="0" y="0"/>
                  </a:cubicBezTo>
                </a:path>
              </a:pathLst>
            </a:custGeom>
            <a:noFill/>
            <a:ln w="1260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75" name="TextBox 19"/>
          <p:cNvSpPr/>
          <p:nvPr/>
        </p:nvSpPr>
        <p:spPr>
          <a:xfrm>
            <a:off x="762120" y="6505560"/>
            <a:ext cx="5790960" cy="27684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This scanner differs significantly from the ones shown in Chapter 2 of EaC 1e.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Avoiding Excess Rollback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Some REs can produce quadratic rollback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Consider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 | (ab)* 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and its DFA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Input “ababababc”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Input “abababab”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rollback 6 characters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rollback 4 characters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rollback 2 characters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behavior is preventable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Have the scanner remember paths that fail on particular inputs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Simple modification creates the “maximal munch scanner”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B5DD19A-5210-44B5-8D8A-B219672B8B3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0" name="Group 37"/>
          <p:cNvGrpSpPr/>
          <p:nvPr/>
        </p:nvGrpSpPr>
        <p:grpSpPr>
          <a:xfrm>
            <a:off x="6477120" y="1292400"/>
            <a:ext cx="1981080" cy="2059920"/>
            <a:chOff x="6477120" y="1292400"/>
            <a:chExt cx="1981080" cy="2059920"/>
          </a:xfrm>
        </p:grpSpPr>
        <p:sp>
          <p:nvSpPr>
            <p:cNvPr id="81" name="TextBox 28"/>
            <p:cNvSpPr/>
            <p:nvPr/>
          </p:nvSpPr>
          <p:spPr>
            <a:xfrm>
              <a:off x="7848720" y="146160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" name="Oval 7"/>
            <p:cNvSpPr/>
            <p:nvPr/>
          </p:nvSpPr>
          <p:spPr>
            <a:xfrm>
              <a:off x="7704720" y="129240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" name="Oval 7"/>
            <p:cNvSpPr/>
            <p:nvPr/>
          </p:nvSpPr>
          <p:spPr>
            <a:xfrm>
              <a:off x="7704720" y="18478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" name="Oval 7"/>
            <p:cNvSpPr/>
            <p:nvPr/>
          </p:nvSpPr>
          <p:spPr>
            <a:xfrm>
              <a:off x="7704720" y="240372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" name="Oval 8"/>
            <p:cNvSpPr/>
            <p:nvPr/>
          </p:nvSpPr>
          <p:spPr>
            <a:xfrm>
              <a:off x="7713360" y="29937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5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" name="Oval 9"/>
            <p:cNvSpPr/>
            <p:nvPr/>
          </p:nvSpPr>
          <p:spPr>
            <a:xfrm>
              <a:off x="7018920" y="240372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3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" name="Oval 10"/>
            <p:cNvSpPr/>
            <p:nvPr/>
          </p:nvSpPr>
          <p:spPr>
            <a:xfrm>
              <a:off x="7018920" y="29912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4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8" name="Straight Arrow Connector 12"/>
            <p:cNvCxnSpPr>
              <a:stCxn id="82" idx="4"/>
              <a:endCxn id="83" idx="0"/>
            </p:cNvCxnSpPr>
            <p:nvPr/>
          </p:nvCxnSpPr>
          <p:spPr>
            <a:xfrm flipH="1">
              <a:off x="7858440" y="1575720"/>
              <a:ext cx="2160" cy="2732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89" name="Straight Arrow Connector 14"/>
            <p:cNvCxnSpPr>
              <a:stCxn id="83" idx="4"/>
              <a:endCxn id="84" idx="0"/>
            </p:cNvCxnSpPr>
            <p:nvPr/>
          </p:nvCxnSpPr>
          <p:spPr>
            <a:xfrm flipH="1">
              <a:off x="7858440" y="2131200"/>
              <a:ext cx="2160" cy="2732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90" name="Straight Arrow Connector 16"/>
            <p:cNvCxnSpPr>
              <a:stCxn id="84" idx="4"/>
              <a:endCxn id="85" idx="0"/>
            </p:cNvCxnSpPr>
            <p:nvPr/>
          </p:nvCxnSpPr>
          <p:spPr>
            <a:xfrm>
              <a:off x="7858440" y="2686320"/>
              <a:ext cx="9000" cy="308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91" name="Straight Arrow Connector 18"/>
            <p:cNvCxnSpPr>
              <a:stCxn id="84" idx="2"/>
              <a:endCxn id="86" idx="6"/>
            </p:cNvCxnSpPr>
            <p:nvPr/>
          </p:nvCxnSpPr>
          <p:spPr>
            <a:xfrm flipH="1" flipV="1">
              <a:off x="7327800" y="2544480"/>
              <a:ext cx="376920" cy="2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92" name="Straight Arrow Connector 22"/>
            <p:cNvCxnSpPr>
              <a:stCxn id="86" idx="5"/>
              <a:endCxn id="87" idx="7"/>
            </p:cNvCxnSpPr>
            <p:nvPr/>
          </p:nvCxnSpPr>
          <p:spPr>
            <a:xfrm flipH="1">
              <a:off x="7282080" y="2645640"/>
              <a:ext cx="2160" cy="388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93" name="Straight Arrow Connector 24"/>
            <p:cNvCxnSpPr>
              <a:stCxn id="87" idx="1"/>
              <a:endCxn id="86" idx="3"/>
            </p:cNvCxnSpPr>
            <p:nvPr/>
          </p:nvCxnSpPr>
          <p:spPr>
            <a:xfrm flipV="1">
              <a:off x="7063560" y="2645280"/>
              <a:ext cx="2160" cy="388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94" name="Straight Arrow Connector 26"/>
            <p:cNvCxnSpPr>
              <a:stCxn id="87" idx="6"/>
              <a:endCxn id="85" idx="2"/>
            </p:cNvCxnSpPr>
            <p:nvPr/>
          </p:nvCxnSpPr>
          <p:spPr>
            <a:xfrm>
              <a:off x="7328520" y="3132000"/>
              <a:ext cx="385200" cy="32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arrow" w="med"/>
            </a:ln>
          </p:spPr>
        </p:cxnSp>
        <p:sp>
          <p:nvSpPr>
            <p:cNvPr id="95" name="TextBox 29"/>
            <p:cNvSpPr/>
            <p:nvPr/>
          </p:nvSpPr>
          <p:spPr>
            <a:xfrm>
              <a:off x="7848720" y="20710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6" name="TextBox 30"/>
            <p:cNvSpPr/>
            <p:nvPr/>
          </p:nvSpPr>
          <p:spPr>
            <a:xfrm>
              <a:off x="7848720" y="263016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7" name="TextBox 31"/>
            <p:cNvSpPr/>
            <p:nvPr/>
          </p:nvSpPr>
          <p:spPr>
            <a:xfrm>
              <a:off x="7425360" y="224604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8" name="TextBox 32"/>
            <p:cNvSpPr/>
            <p:nvPr/>
          </p:nvSpPr>
          <p:spPr>
            <a:xfrm>
              <a:off x="6807240" y="263016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9" name="TextBox 33"/>
            <p:cNvSpPr/>
            <p:nvPr/>
          </p:nvSpPr>
          <p:spPr>
            <a:xfrm>
              <a:off x="7374600" y="30448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0" name="TextBox 34"/>
            <p:cNvSpPr/>
            <p:nvPr/>
          </p:nvSpPr>
          <p:spPr>
            <a:xfrm>
              <a:off x="7221960" y="263016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1" name="TextBox 37"/>
            <p:cNvSpPr/>
            <p:nvPr/>
          </p:nvSpPr>
          <p:spPr>
            <a:xfrm>
              <a:off x="6477120" y="1295280"/>
              <a:ext cx="1143000" cy="520920"/>
            </a:xfrm>
            <a:prstGeom prst="rect">
              <a:avLst/>
            </a:prstGeom>
            <a:solidFill>
              <a:srgbClr val="D9D9D9"/>
            </a:solidFill>
            <a:ln w="9360">
              <a:solidFill>
                <a:srgbClr val="7F7F7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DFA for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ab | (ab)* 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2" name="Oval 39"/>
            <p:cNvSpPr/>
            <p:nvPr/>
          </p:nvSpPr>
          <p:spPr>
            <a:xfrm>
              <a:off x="7675920" y="2959560"/>
              <a:ext cx="384480" cy="3510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3" name="Oval 40"/>
            <p:cNvSpPr/>
            <p:nvPr/>
          </p:nvSpPr>
          <p:spPr>
            <a:xfrm>
              <a:off x="7662240" y="2370600"/>
              <a:ext cx="384480" cy="3510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b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4" name="TextBox 30"/>
            <p:cNvSpPr/>
            <p:nvPr/>
          </p:nvSpPr>
          <p:spPr>
            <a:xfrm>
              <a:off x="8153640" y="15238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05" name="Group 44"/>
          <p:cNvGrpSpPr/>
          <p:nvPr/>
        </p:nvGrpSpPr>
        <p:grpSpPr>
          <a:xfrm>
            <a:off x="228600" y="2895480"/>
            <a:ext cx="990720" cy="990720"/>
            <a:chOff x="228600" y="2895480"/>
            <a:chExt cx="990720" cy="990720"/>
          </a:xfrm>
        </p:grpSpPr>
        <p:sp>
          <p:nvSpPr>
            <p:cNvPr id="106" name="Left Brace 42"/>
            <p:cNvSpPr/>
            <p:nvPr/>
          </p:nvSpPr>
          <p:spPr>
            <a:xfrm>
              <a:off x="990720" y="2895480"/>
              <a:ext cx="228600" cy="990720"/>
            </a:xfrm>
            <a:custGeom>
              <a:avLst/>
              <a:gdLst>
                <a:gd name="textAreaLeft" fmla="*/ 146160 w 228600"/>
                <a:gd name="textAreaRight" fmla="*/ 228960 w 228600"/>
                <a:gd name="textAreaTop" fmla="*/ 21600 h 990720"/>
                <a:gd name="textAreaBottom" fmla="*/ 969120 h 99072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6200" y="0"/>
                    <a:pt x="10800" y="762"/>
                    <a:pt x="10800" y="1523"/>
                  </a:cubicBezTo>
                  <a:lnTo>
                    <a:pt x="10800" y="9277"/>
                  </a:lnTo>
                  <a:cubicBezTo>
                    <a:pt x="10800" y="10039"/>
                    <a:pt x="5400" y="10800"/>
                    <a:pt x="0" y="10800"/>
                  </a:cubicBezTo>
                  <a:cubicBezTo>
                    <a:pt x="5400" y="10800"/>
                    <a:pt x="10800" y="11562"/>
                    <a:pt x="10800" y="12323"/>
                  </a:cubicBezTo>
                  <a:lnTo>
                    <a:pt x="10800" y="20077"/>
                  </a:lnTo>
                  <a:cubicBezTo>
                    <a:pt x="10800" y="20839"/>
                    <a:pt x="16200" y="21600"/>
                    <a:pt x="21600" y="21600"/>
                  </a:cubicBezTo>
                </a:path>
              </a:pathLst>
            </a:custGeom>
            <a:noFill/>
            <a:ln w="1908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" name="TextBox 43"/>
            <p:cNvSpPr/>
            <p:nvPr/>
          </p:nvSpPr>
          <p:spPr>
            <a:xfrm>
              <a:off x="228600" y="3083400"/>
              <a:ext cx="91476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Not too pretty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cxnSp>
        <p:nvCxnSpPr>
          <p:cNvPr id="108" name="Curved Connector 34"/>
          <p:cNvCxnSpPr>
            <a:stCxn id="82" idx="6"/>
            <a:endCxn id="102" idx="6"/>
          </p:cNvCxnSpPr>
          <p:nvPr/>
        </p:nvCxnSpPr>
        <p:spPr>
          <a:xfrm>
            <a:off x="8013600" y="1433160"/>
            <a:ext cx="46800" cy="1702440"/>
          </a:xfrm>
          <a:prstGeom prst="curvedConnector5">
            <a:avLst>
              <a:gd name="adj1" fmla="val 596124"/>
              <a:gd name="adj2" fmla="val 50000"/>
              <a:gd name="adj3" fmla="val 596124"/>
            </a:avLst>
          </a:prstGeom>
          <a:ln w="9360">
            <a:solidFill>
              <a:srgbClr val="000000"/>
            </a:solidFill>
            <a:miter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5A51E8-F523-4395-8DB4-F634266AE1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Maximal Munch Scanner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" name="Text Box 4"/>
          <p:cNvSpPr/>
          <p:nvPr/>
        </p:nvSpPr>
        <p:spPr>
          <a:xfrm>
            <a:off x="685800" y="1066680"/>
            <a:ext cx="3373560" cy="53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recognize words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empty string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clear stack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push (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bad</a:t>
            </a:r>
            <a:r>
              <a:rPr lang="en-US" sz="1800" b="0" i="1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,bad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sng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e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NextChar( 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InputPos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InputPos + 1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lexeme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lexeme + char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if Failed[state,InputPos]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   then break;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if state ∈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then clear stack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push (state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,InputPos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cat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CharCat(char)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(state,cat)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end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" name="Text Box 5"/>
          <p:cNvSpPr/>
          <p:nvPr/>
        </p:nvSpPr>
        <p:spPr>
          <a:xfrm>
            <a:off x="4154400" y="1066680"/>
            <a:ext cx="4267440" cy="53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clean up final state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while (state ∉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and state ≠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bad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Failed[state,InputPos)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true   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〈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state,InputPos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〉←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pop()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truncate lexeme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roll back the input one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end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report the results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if (state ∈ S</a:t>
            </a:r>
            <a:r>
              <a:rPr lang="en-US" sz="18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A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then return &lt;PoS(state),</a:t>
            </a:r>
            <a:r>
              <a:rPr lang="en-US" sz="9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lexeme&gt;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else  return </a:t>
            </a:r>
            <a:r>
              <a:rPr lang="en-US" sz="18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invalid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InitializeScanner()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InputPos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0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for each state s in the DFA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    for i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0 to |input|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Failed[s,i]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false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         end;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    end;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Maximal Munch Scanner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Uses a bit array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Failed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track dead-end paths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Initialize both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InputPos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&amp;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Failed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InitializeScanner()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Failed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requires space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Geneva"/>
              </a:rPr>
              <a:t>∝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input stream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Can reduce the space requirement with clever implementation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Avoids quadratic rollback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Produces an efficient scanner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Can your favorite language cause quadratic rollback?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If so, the solution is inexpensive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If not, you might encounter the problem in other applications of these technologies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14DD64A-3BB2-4314-9289-B2A43ED998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3809880" y="6019920"/>
            <a:ext cx="4648320" cy="73440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Thomas Reps, “`Maximal munch’ tokenization in linear time”, ACM TOPLAS, 20(2), March 1998, pp 259-273.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D987EC-A21C-44E8-A5F4-748B694DC20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73200" y="457200"/>
            <a:ext cx="7772400" cy="5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Versus Direct-Coded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77760" y="108432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Table-driven scanners make heavy use of indexing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Read the next character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Classify it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Find the next state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Branch back to the top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Alternative strategy: direct coding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Encode state in the program counter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00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Each state is a separate piece of code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 transition tests locally and directly branch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Generate ugly, spaghetti-like code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More efficient than table driven strategy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Fewer memory operations, might have more branches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" name="Text Box 4"/>
          <p:cNvSpPr/>
          <p:nvPr/>
        </p:nvSpPr>
        <p:spPr>
          <a:xfrm>
            <a:off x="5129280" y="1571760"/>
            <a:ext cx="3589200" cy="1503000"/>
          </a:xfrm>
          <a:prstGeom prst="rect">
            <a:avLst/>
          </a:prstGeom>
          <a:noFill/>
          <a:ln w="9360">
            <a:solidFill>
              <a:srgbClr val="B025A6"/>
            </a:solidFill>
            <a:miter/>
          </a:ln>
          <a:effectLst>
            <a:outerShdw dist="38183" dir="270000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 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while (state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sng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exit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) do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char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NextChar( 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cat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CharCat(char</a:t>
            </a:r>
            <a:r>
              <a:rPr lang="en-US" sz="9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state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(state,cat);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4" name="Text Box 5"/>
          <p:cNvSpPr/>
          <p:nvPr/>
        </p:nvSpPr>
        <p:spPr>
          <a:xfrm>
            <a:off x="39600" y="1779480"/>
            <a:ext cx="1807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" name="Text Box 6"/>
          <p:cNvSpPr/>
          <p:nvPr/>
        </p:nvSpPr>
        <p:spPr>
          <a:xfrm>
            <a:off x="246960" y="2193840"/>
            <a:ext cx="693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index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" name="Text Box 7"/>
          <p:cNvSpPr/>
          <p:nvPr/>
        </p:nvSpPr>
        <p:spPr>
          <a:xfrm>
            <a:off x="246960" y="1830240"/>
            <a:ext cx="693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index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27" name="Group 12"/>
          <p:cNvGrpSpPr/>
          <p:nvPr/>
        </p:nvGrpSpPr>
        <p:grpSpPr>
          <a:xfrm>
            <a:off x="5943600" y="3352680"/>
            <a:ext cx="3014640" cy="1546200"/>
            <a:chOff x="5943600" y="3352680"/>
            <a:chExt cx="3014640" cy="1546200"/>
          </a:xfrm>
        </p:grpSpPr>
        <p:sp>
          <p:nvSpPr>
            <p:cNvPr id="128" name="Text Box 9"/>
            <p:cNvSpPr/>
            <p:nvPr/>
          </p:nvSpPr>
          <p:spPr>
            <a:xfrm>
              <a:off x="6659640" y="3352680"/>
              <a:ext cx="2298600" cy="91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Code locality as opposed to random access in </a:t>
              </a: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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9" name="Line 10"/>
            <p:cNvSpPr/>
            <p:nvPr/>
          </p:nvSpPr>
          <p:spPr>
            <a:xfrm>
              <a:off x="6659640" y="3352680"/>
              <a:ext cx="0" cy="9050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0" name="Freeform 11"/>
            <p:cNvSpPr/>
            <p:nvPr/>
          </p:nvSpPr>
          <p:spPr>
            <a:xfrm>
              <a:off x="5943600" y="3718080"/>
              <a:ext cx="1332000" cy="1180800"/>
            </a:xfrm>
            <a:custGeom>
              <a:avLst/>
              <a:gdLst>
                <a:gd name="textAreaLeft" fmla="*/ 0 w 1332000"/>
                <a:gd name="textAreaRight" fmla="*/ 1332360 w 1332000"/>
                <a:gd name="textAreaTop" fmla="*/ 0 h 1180800"/>
                <a:gd name="textAreaBottom" fmla="*/ 1181160 h 1180800"/>
                <a:gd name="GluePoint1X" fmla="*/ 443 w 839"/>
                <a:gd name="GluePoint1Y" fmla="*/ 0 h 744"/>
                <a:gd name="GluePoint2X" fmla="*/ 277 w 839"/>
                <a:gd name="GluePoint2Y" fmla="*/ 158 h 744"/>
                <a:gd name="GluePoint3X" fmla="*/ 356 w 839"/>
                <a:gd name="GluePoint3Y" fmla="*/ 380 h 744"/>
                <a:gd name="GluePoint4X" fmla="*/ 760 w 839"/>
                <a:gd name="GluePoint4Y" fmla="*/ 427 h 744"/>
                <a:gd name="GluePoint5X" fmla="*/ 712 w 839"/>
                <a:gd name="GluePoint5Y" fmla="*/ 673 h 744"/>
                <a:gd name="GluePoint6X" fmla="*/ 0 w 839"/>
                <a:gd name="GluePoint6Y" fmla="*/ 744 h 7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839" h="744">
                  <a:moveTo>
                    <a:pt x="443" y="0"/>
                  </a:moveTo>
                  <a:cubicBezTo>
                    <a:pt x="367" y="47"/>
                    <a:pt x="291" y="95"/>
                    <a:pt x="277" y="158"/>
                  </a:cubicBezTo>
                  <a:cubicBezTo>
                    <a:pt x="263" y="221"/>
                    <a:pt x="276" y="335"/>
                    <a:pt x="356" y="380"/>
                  </a:cubicBezTo>
                  <a:cubicBezTo>
                    <a:pt x="436" y="425"/>
                    <a:pt x="701" y="378"/>
                    <a:pt x="760" y="427"/>
                  </a:cubicBezTo>
                  <a:cubicBezTo>
                    <a:pt x="819" y="476"/>
                    <a:pt x="839" y="620"/>
                    <a:pt x="712" y="673"/>
                  </a:cubicBezTo>
                  <a:cubicBezTo>
                    <a:pt x="585" y="726"/>
                    <a:pt x="292" y="735"/>
                    <a:pt x="0" y="744"/>
                  </a:cubicBezTo>
                </a:path>
              </a:pathLst>
            </a:custGeom>
            <a:noFill/>
            <a:ln w="1260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EF537E4-92A5-42C6-89EF-D5243257D83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73200" y="457200"/>
            <a:ext cx="7772400" cy="5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Table-Driven Versus Direct-Coded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77760" y="108432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Overhead of Table Lookup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Each lookup in CharCat 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involves an address calculation and a memory operation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CharCat(char) becomes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@CharCat</a:t>
            </a:r>
            <a:r>
              <a:rPr lang="en-US" sz="1600" b="0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+ char x w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 is sizeof(el’t of CharCat)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003C75"/>
              </a:buClr>
              <a:buFont typeface="Symbol" charset="2"/>
              <a:buChar char="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(state,cat) becomes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@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600" b="0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+ (state x cols + cat) x w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cols is # of columns in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 is sizeof(el’t of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references to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CharCat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expand into multiple ops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Fair amount of overhead work per character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Avoid the table lookups and the scanner will run faster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" name="Text Box 4"/>
          <p:cNvSpPr/>
          <p:nvPr/>
        </p:nvSpPr>
        <p:spPr>
          <a:xfrm>
            <a:off x="39600" y="1779480"/>
            <a:ext cx="1807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E118C66-CCB3-4D38-BDF4-A751506CF95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Building Faster Scanners from the DFA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85000"/>
              </a:lnSpc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 direct-coded recognizer for  </a:t>
            </a:r>
            <a:r>
              <a:rPr lang="en-US" sz="20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Digit Digit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0" name="Text Box 4"/>
          <p:cNvSpPr/>
          <p:nvPr/>
        </p:nvSpPr>
        <p:spPr>
          <a:xfrm>
            <a:off x="903240" y="1612800"/>
            <a:ext cx="3276720" cy="44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start: accept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lexeme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“”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count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: 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    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lexeme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count++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if (char = ‘r’)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:   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lexeme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count++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if (‘0’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‘9’)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" name="Text Box 5"/>
          <p:cNvSpPr/>
          <p:nvPr/>
        </p:nvSpPr>
        <p:spPr>
          <a:xfrm>
            <a:off x="4713120" y="1612800"/>
            <a:ext cx="3276720" cy="40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2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:  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lexeme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count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accept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if (‘0’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‘9’)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out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: if (accept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e</a:t>
            </a:r>
            <a:r>
              <a:rPr lang="en-US" sz="9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then begin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for i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1 to count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RollBack()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    report success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    end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 else report failure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" name="Text Box 6"/>
          <p:cNvSpPr/>
          <p:nvPr/>
        </p:nvSpPr>
        <p:spPr>
          <a:xfrm>
            <a:off x="3909960" y="5572080"/>
            <a:ext cx="4651560" cy="100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33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Fewer (complex) memory operations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33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 character classifier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33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 multiple strategies for test &amp; branch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4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5F9E0EE-A13A-4FB7-A825-867EEF35EF9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Building Faster Scanners from the DFA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85000"/>
              </a:lnSpc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direct-coded recognizer for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Digit Digit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7" name="Text Box 4"/>
          <p:cNvSpPr/>
          <p:nvPr/>
        </p:nvSpPr>
        <p:spPr>
          <a:xfrm>
            <a:off x="903240" y="1612800"/>
            <a:ext cx="3276720" cy="44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start: accept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lexeme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“”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count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goto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: 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    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char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lexeme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count++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if (char = ‘r’)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1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:   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lexeme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count++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if (‘0’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char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‘9’)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8" name="Text Box 5"/>
          <p:cNvSpPr/>
          <p:nvPr/>
        </p:nvSpPr>
        <p:spPr>
          <a:xfrm>
            <a:off x="4713120" y="1612800"/>
            <a:ext cx="3276720" cy="40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2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:   char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NextChar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lexeme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lexeme +  char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count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accept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if (‘0’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char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‘9’)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then goto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else goto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out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out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: if (accept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s</a:t>
            </a:r>
            <a:r>
              <a:rPr lang="en-US" sz="16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e</a:t>
            </a:r>
            <a:r>
              <a:rPr lang="en-US" sz="900" b="0" i="1" u="none" strike="noStrike" baseline="-25000">
                <a:solidFill>
                  <a:srgbClr val="999999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then begin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for i 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1 to count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RollBack()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    report success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    end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999999"/>
                </a:solidFill>
                <a:effectLst/>
                <a:uFillTx/>
                <a:latin typeface="Comic Sans MS"/>
              </a:rPr>
              <a:t>             else report failure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9" name="Text Box 6"/>
          <p:cNvSpPr/>
          <p:nvPr/>
        </p:nvSpPr>
        <p:spPr>
          <a:xfrm>
            <a:off x="4343400" y="4367160"/>
            <a:ext cx="4419720" cy="1580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If end of state test is complex (e.g., many cases), scanner generator should consider other schemes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51"/>
              </a:spcBef>
              <a:buClr>
                <a:srgbClr val="1822CD"/>
              </a:buClr>
              <a:buSzPct val="120000"/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Table lookup (with classification?)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51"/>
              </a:spcBef>
              <a:buClr>
                <a:srgbClr val="1822CD"/>
              </a:buClr>
              <a:buSzPct val="120000"/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Binary search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50" name="Group 13"/>
          <p:cNvGrpSpPr/>
          <p:nvPr/>
        </p:nvGrpSpPr>
        <p:grpSpPr>
          <a:xfrm>
            <a:off x="3327480" y="4443480"/>
            <a:ext cx="1023840" cy="1398600"/>
            <a:chOff x="3327480" y="4443480"/>
            <a:chExt cx="1023840" cy="1398600"/>
          </a:xfrm>
        </p:grpSpPr>
        <p:sp>
          <p:nvSpPr>
            <p:cNvPr id="151" name="AutoShape 7"/>
            <p:cNvSpPr/>
            <p:nvPr/>
          </p:nvSpPr>
          <p:spPr>
            <a:xfrm>
              <a:off x="3327480" y="5054760"/>
              <a:ext cx="355680" cy="787320"/>
            </a:xfrm>
            <a:custGeom>
              <a:avLst/>
              <a:gdLst>
                <a:gd name="textAreaLeft" fmla="*/ 0 w 355680"/>
                <a:gd name="textAreaRight" fmla="*/ 128520 w 355680"/>
                <a:gd name="textAreaTop" fmla="*/ 20520 h 787320"/>
                <a:gd name="textAreaBottom" fmla="*/ 766800 h 7873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1260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2" name="Freeform 12"/>
            <p:cNvSpPr/>
            <p:nvPr/>
          </p:nvSpPr>
          <p:spPr>
            <a:xfrm>
              <a:off x="3613320" y="4443480"/>
              <a:ext cx="738000" cy="1003320"/>
            </a:xfrm>
            <a:custGeom>
              <a:avLst/>
              <a:gdLst>
                <a:gd name="textAreaLeft" fmla="*/ 0 w 738000"/>
                <a:gd name="textAreaRight" fmla="*/ 738360 w 738000"/>
                <a:gd name="textAreaTop" fmla="*/ 0 h 1003320"/>
                <a:gd name="textAreaBottom" fmla="*/ 1003680 h 1003320"/>
                <a:gd name="GluePoint1X" fmla="*/ 0 w 528"/>
                <a:gd name="GluePoint1Y" fmla="*/ 624 h 632"/>
                <a:gd name="GluePoint2X" fmla="*/ 33 w 528"/>
                <a:gd name="GluePoint2Y" fmla="*/ 624 h 632"/>
                <a:gd name="GluePoint3X" fmla="*/ 99 w 528"/>
                <a:gd name="GluePoint3Y" fmla="*/ 576 h 632"/>
                <a:gd name="GluePoint4X" fmla="*/ 164 w 528"/>
                <a:gd name="GluePoint4Y" fmla="*/ 384 h 632"/>
                <a:gd name="GluePoint5X" fmla="*/ 197 w 528"/>
                <a:gd name="GluePoint5Y" fmla="*/ 144 h 632"/>
                <a:gd name="GluePoint6X" fmla="*/ 230 w 528"/>
                <a:gd name="GluePoint6Y" fmla="*/ 192 h 632"/>
                <a:gd name="GluePoint7X" fmla="*/ 262 w 528"/>
                <a:gd name="GluePoint7Y" fmla="*/ 48 h 632"/>
                <a:gd name="GluePoint8X" fmla="*/ 361 w 528"/>
                <a:gd name="GluePoint8Y" fmla="*/ 0 h 6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28" h="632">
                  <a:moveTo>
                    <a:pt x="0" y="624"/>
                  </a:moveTo>
                  <a:cubicBezTo>
                    <a:pt x="12" y="628"/>
                    <a:pt x="24" y="632"/>
                    <a:pt x="48" y="624"/>
                  </a:cubicBezTo>
                  <a:cubicBezTo>
                    <a:pt x="72" y="616"/>
                    <a:pt x="112" y="616"/>
                    <a:pt x="144" y="576"/>
                  </a:cubicBezTo>
                  <a:cubicBezTo>
                    <a:pt x="176" y="536"/>
                    <a:pt x="216" y="456"/>
                    <a:pt x="240" y="384"/>
                  </a:cubicBezTo>
                  <a:cubicBezTo>
                    <a:pt x="264" y="312"/>
                    <a:pt x="272" y="176"/>
                    <a:pt x="288" y="144"/>
                  </a:cubicBezTo>
                  <a:cubicBezTo>
                    <a:pt x="304" y="112"/>
                    <a:pt x="320" y="208"/>
                    <a:pt x="336" y="192"/>
                  </a:cubicBezTo>
                  <a:cubicBezTo>
                    <a:pt x="352" y="176"/>
                    <a:pt x="352" y="80"/>
                    <a:pt x="384" y="48"/>
                  </a:cubicBezTo>
                  <a:cubicBezTo>
                    <a:pt x="416" y="16"/>
                    <a:pt x="472" y="8"/>
                    <a:pt x="528" y="0"/>
                  </a:cubicBezTo>
                </a:path>
              </a:pathLst>
            </a:custGeom>
            <a:noFill/>
            <a:ln w="9360">
              <a:solidFill>
                <a:srgbClr val="B025A6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53" name="TextBox 11"/>
          <p:cNvSpPr/>
          <p:nvPr/>
        </p:nvSpPr>
        <p:spPr>
          <a:xfrm>
            <a:off x="2743200" y="6248520"/>
            <a:ext cx="4724280" cy="30744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Direct coding the maximal munch scanner is easy, too.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7A1E5EF-7BC6-4ACC-8B4C-CD472BDE1B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About Hand-Coded Scanners?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Many (most?) modern compilers use hand-coded scanners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Starting from a DFA simplifies design &amp; understanding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Avoiding straight-jacket of a tool allows flexibility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Computing the value of an integer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 LEX or FLEX, many folks use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sscanf()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&amp; touch chars many times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Can use old assembly trick and compute value as it appears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similar states                                    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serial or parallel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Scanners are fun to write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Compact, comprehensible, easy to debug, …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Don’t get too cute                    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e.g., perfect hashing for keywords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DF1D8E-0CF9-4DA6-8F25-81976F6384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29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Building Scanners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The point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this technology lets us automate scanner construction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Implementer writes down the regular expressions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generator builds NFA, DFA, minimal DFA, and then writes out the (table-driven or direct-coded) code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reliably produces fast, robust scanners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For most modern language features, this works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You should think twice before introducing a feature that defeats a DFA-based scanner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ones we’ve seen (e.g., insignificant blanks, non-reserved keywords) have not proven particularly useful or long lasting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Of course, not everything fits into a regular language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2010-09-08T03:37:43Z</dcterms:created>
  <dc:creator>Keith Cooper</dc:creator>
  <dc:description/>
  <dc:language>it-IT</dc:language>
  <cp:lastModifiedBy>Elsevier</cp:lastModifiedBy>
  <cp:lastPrinted>2009-09-15T13:30:20Z</cp:lastPrinted>
  <dcterms:modified xsi:type="dcterms:W3CDTF">2011-01-24T10:21:02Z</dcterms:modified>
  <cp:revision>32</cp:revision>
  <dc:subject/>
  <dc:title>PowerPoint Presentation</dc:title>
</cp:coreProperties>
</file>