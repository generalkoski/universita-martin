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93" r:id="rId29"/>
    <p:sldId id="285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0000"/>
    <a:srgbClr val="999999"/>
    <a:srgbClr val="B3B3B3"/>
    <a:srgbClr val="E6E6E6"/>
    <a:srgbClr val="B025A6"/>
    <a:srgbClr val="FF0065"/>
    <a:srgbClr val="003C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15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1E17C46-82C7-45E9-8538-DC20C9B3E6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BB1EAB-3C82-429F-98A0-97C202DF41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fld id="{2B09F2C8-7384-4CC2-8500-D79A7D191101}" type="datetime1">
              <a:rPr lang="en-US"/>
              <a:pPr>
                <a:defRPr/>
              </a:pPr>
              <a:t>10/19/2020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054CCC-4BBE-418A-864A-F9D366FE925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B3FE5-E5D9-4D6F-A812-3BE4E32D06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88E13505-864E-4449-B255-838515FCBDDD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A26D334-3091-4B15-806B-99C2BC6162F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6A4AB29-6EC8-43E8-B016-A3689F23090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22A904A1-3674-4EBD-B959-58C946E8695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7C20624C-854E-4D33-A845-B46FE1F5DF2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9A36C53B-136B-4D28-AA92-4E845149AC1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836A1D8C-8BEA-4721-9383-772CA37571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2CE4A04A-E0AE-452E-9CE8-FCC8B66B2DF2}" type="slidenum">
              <a:rPr lang="en-US" altLang="it-IT"/>
              <a:pPr/>
              <a:t>‹N›</a:t>
            </a:fld>
            <a:endParaRPr lang="en-US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D5C5D6DE-2E17-4634-BAF8-ACBEB9A76B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D6443F6-EB0E-4FDA-AF48-F4C8A0B8ABDC}" type="slidenum">
              <a:rPr lang="en-US" altLang="it-IT"/>
              <a:pPr/>
              <a:t>0</a:t>
            </a:fld>
            <a:endParaRPr lang="en-US" altLang="it-IT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11F97E40-6781-49CC-A36C-E33D3C9569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9726B9B-A354-4426-8D4C-8D343DDC18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75E2445C-C77E-495E-A6E3-DD74E6EC01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0C64E4B-0F13-4AC6-AE7E-05FDB180BDC0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ACE6E8D-6573-464C-8B75-A4CD6336693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A78E0E4-C0FE-49C2-AA8E-8A23F052D9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95211D02-DFD9-4DEF-9735-E5178CBFD7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D1C0E4C-F8CD-485D-A086-147E3F312C38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E3FFA200-C1B5-49BA-ABF0-CECD19083B3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9CCC0AF-80C1-4B45-B91B-28765DC74E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B534482C-23AE-478B-8FCE-D0E3BE5B7F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CE37C6C-9CD1-4AAB-82A9-833701C1B3B8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5E4E7383-99AB-4710-9A21-28CA937E7CA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5B75BF1-B9CA-49ED-9C75-B5CBBFC0BD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5BB1527D-B8DD-466E-9833-B625512827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36ABCB1-E821-4519-8B86-1944D8DD9DE1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0F6201EF-5059-4BE6-AA0B-C53C34DA22B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E2B9E76-0FEB-458A-BA3E-3A54CC6983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4DD3F8B3-A0C8-459D-9B85-89A4475821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437A592-5F2E-40B5-A878-146457741339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F1B11654-05C6-4EB0-B891-09093BF0648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E82368AB-8198-4459-BB94-9E4D47188A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DD8EB165-9F8A-4E30-BCF3-6EAD6BA5C8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3DE18F1-58C2-491D-AE07-914806B8E270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ABDECF9D-FDBB-4642-847F-1C80860B2FE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F0B47363-EA4C-486E-B75D-1D06042916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6A17955D-AA4C-4D87-96EF-97133FB623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0363FB7-F858-4260-8C16-20CE708AEC8A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3450581F-F44F-41D1-9937-C2950C42862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EB1455E-E386-47D3-AE4B-98DB98686A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C0F062C3-79B9-4178-ABDC-E35D18E492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327998F-25A4-466A-99ED-B7C41BDD0B90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69BEBDC8-0B91-4EDF-A6D3-DEB0AC99B9A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6F7108C3-FB33-4DBD-A1F0-DB8F62B99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A9AD2337-634C-480B-B5D3-24C3655B3D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540F768A-3384-48EB-8BCF-B5EBC0DF3379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57646BEA-16FA-4CF3-AEF5-CB8F8DFA7B3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F43FB2D4-8BA1-4E9F-BB15-AC4E995053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CD17FAD8-D40B-409D-BE89-CED6FA53A3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5B49A98-129D-4A45-A40D-21F7E3AA4CB9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6DFC9F5C-8156-4BB3-9998-7CE7DF2F8A2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D3B59CAC-743A-4D94-A926-BCC62931F8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AG is a specification for the computation, in the same way that a CFG is a specification for a parser.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742A80D5-321E-4B48-BB1E-D61E76E6EA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A982E2D-0B5D-4903-8707-18D547FD8221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29F308CD-3E3B-4ED1-B95B-E3624E2696F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0BC5F5E5-8CFD-4524-A426-7841467F3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38DE568F-247B-4288-B31E-B9C10D6F5E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27652EE-36B1-4C33-A227-121391987CAB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331F4E01-6AAF-4F77-B780-AF389EBEDAA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41315903-0DFD-46A1-AD8A-9D1037618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3BA64051-FED3-47A0-A4DA-9EB42D8BAB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471870B-4101-4464-B4AB-9594874B6149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0E8A5B61-C5D3-44AE-8061-DBE0387E8CC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80EAC8D-0AA7-4C44-89BF-1DD648E352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C847934A-8584-4575-86EA-A6DFABAA65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D0063A6-1C24-4352-B91F-15BB3C286A3A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AA60C2B3-43E0-4761-9561-76B02097162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00CEF8A2-4421-44E5-932B-9F4C098D75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C579045E-7C6F-46B5-B64B-0CA439B4A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C6924C3-D3CE-411A-BE19-A627415705D3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BA34D910-ABCC-4288-89A8-55DC19C7DB7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FD650FD5-50B3-4C3A-83EE-C132B177DB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4392CB3E-DDDD-458F-962F-31AC58128E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5DD61AD-7871-4B4B-A603-FB2264D8F11B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BF550EAF-2860-40B5-96D1-102B7C59A39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62B69B1E-B268-4E35-9307-0B685B1247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7DA6CC15-1E7F-48BC-8E90-435EE90884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F824187-F9D3-4CA3-A1E2-1DAF9D8EFCA7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D181BE28-38C3-498E-A256-E6A26F0E05C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6F75F19B-D77E-410D-87E4-E895730879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18DC900F-C6DD-494D-8988-30483EB07B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32FECFE-D061-4D46-B6A3-B2951D164375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9B59F4A0-CE41-4C2F-8E60-D34BC3F62B6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1F0B35C6-29B3-4475-A0BE-BBA408A996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D16A8095-AE38-461B-B83D-40C2880464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8CDB8D5-DE7F-4601-AF1F-290E8766ABC7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B71E5A2D-B674-4BA5-A08B-78200436436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15FE467C-FFCB-4401-B867-B25E2CD0C6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CDC27A4A-5C66-4979-B001-36BBA07C3E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2FEFE49-7E83-4177-B247-A2D362560932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6C0002FD-4277-4BA1-ABFD-67B199791E2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B6984C5-C693-4954-817E-25CB2E2622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255C47AE-3A9E-4093-A30C-E11E305121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8A9870C-6CBF-4437-9243-5858266768BA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FD7A4D3B-67F5-4147-BD7D-CB9C72D078B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CD129089-7AB7-4046-B36B-5D757BBC1E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it-IT">
                <a:latin typeface="Arial" panose="020B0604020202020204" pitchFamily="34" charset="0"/>
                <a:ea typeface="ヒラギノ角ゴ Pro W3"/>
                <a:cs typeface="ヒラギノ角ゴ Pro W3"/>
              </a:rPr>
              <a:t>In the interest of time, skip over the example.  It is in the published notes.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2FDA79C5-8307-4444-B42E-DD9BEB51A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8A12EC4-80E6-4D3E-BAC8-48BA666B8EBB}" type="slidenum">
              <a:rPr lang="en-US" altLang="it-IT"/>
              <a:pPr/>
              <a:t>22</a:t>
            </a:fld>
            <a:endParaRPr lang="en-US" altLang="it-IT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90937479-0B77-474D-863C-B1196F112B1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DA2379B9-6B66-4CD1-8C4D-30C07CF997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ED235869-DCDA-4000-A990-92820439BB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E1FC958-4833-4B31-93D2-D18448653017}" type="slidenum">
              <a:rPr lang="en-US" altLang="it-IT"/>
              <a:pPr/>
              <a:t>23</a:t>
            </a:fld>
            <a:endParaRPr lang="en-US" altLang="it-IT"/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3FC4B7FD-C605-4144-A099-99AF1719DF7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4116BA62-62F6-453E-AAD6-9B37ED625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C6B8767B-D12F-4A45-922A-441A6D8767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54F392A-F8B2-4DE4-8F96-F353B05B27D7}" type="slidenum">
              <a:rPr lang="en-US" altLang="it-IT"/>
              <a:pPr/>
              <a:t>24</a:t>
            </a:fld>
            <a:endParaRPr lang="en-US" altLang="it-IT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2D302A4B-8FF7-4142-BDC0-5F798C6DAAF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C0CE3DF8-D9AA-4682-82BB-B04AC3BC08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B9DC210E-87EF-42B6-997B-0CF3324077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51F311C-CE61-4683-ADF1-2D505BFC0CB4}" type="slidenum">
              <a:rPr lang="en-US" altLang="it-IT"/>
              <a:pPr/>
              <a:t>25</a:t>
            </a:fld>
            <a:endParaRPr lang="en-US" altLang="it-IT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BE12FCDC-DEE7-4F84-97C3-DF6A6A7EC39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B6EF8FE7-E935-4099-B838-47F849FF01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F4002569-6F99-4D7B-8FEC-92A3099DF7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753B63E-9D4B-4DD2-A838-D47E1EAFA1A9}" type="slidenum">
              <a:rPr lang="en-US" altLang="it-IT"/>
              <a:pPr/>
              <a:t>26</a:t>
            </a:fld>
            <a:endParaRPr lang="en-US" altLang="it-IT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82182272-D0A2-445C-AC6D-F5A3A634F3B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4D92FA2B-B32E-4AB2-829F-F1D6575C0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FE6C77AC-69CD-4346-838A-14EADE687F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2337D28-D4E9-4B57-A47E-CD461F6ECF36}" type="slidenum">
              <a:rPr lang="en-US" altLang="it-IT"/>
              <a:pPr/>
              <a:t>27</a:t>
            </a:fld>
            <a:endParaRPr lang="en-US" altLang="it-IT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B677FBE6-74AE-40F8-BC90-536E98BEC19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73158F00-32A6-4927-946D-A9C95E9002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DEF0F54D-B79B-488E-9D16-5E2B4FC5A7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BD31E31-07AD-4C3A-ACAC-17D089C3709A}" type="slidenum">
              <a:rPr lang="en-US" altLang="it-IT"/>
              <a:pPr/>
              <a:t>28</a:t>
            </a:fld>
            <a:endParaRPr lang="en-US" altLang="it-IT"/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BC16B501-AFA1-4569-9740-ADB6BC49DE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489699F5-4FC2-48D9-8069-BD709E7CD9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FF6782AF-7411-4070-B8A9-D774127881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642ABD4-04F8-4861-8595-18609D032755}" type="slidenum">
              <a:rPr lang="en-US" altLang="it-IT"/>
              <a:pPr/>
              <a:t>29</a:t>
            </a:fld>
            <a:endParaRPr lang="en-US" altLang="it-IT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F203989A-BA0F-43D4-BB40-20B45C6C81FA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19C16F62-2E33-4FBA-A08D-12074632EC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673FB0FF-4D59-49AB-9410-4588599F0D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1A6BE91-6A58-42E9-943B-99F1224D9C50}" type="slidenum">
              <a:rPr lang="en-US" altLang="it-IT"/>
              <a:pPr/>
              <a:t>30</a:t>
            </a:fld>
            <a:endParaRPr lang="en-US" altLang="it-IT"/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DEF80022-6351-4970-9E00-FA8B588B05C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98ED9532-1714-472E-ACF5-B31E8B7B7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F572B254-B68D-464F-B39C-D37DFDB4B8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2ACA9D4-4A29-43C4-9CCF-E88CBDAF3D0D}" type="slidenum">
              <a:rPr lang="en-US" altLang="it-IT"/>
              <a:pPr/>
              <a:t>31</a:t>
            </a:fld>
            <a:endParaRPr lang="en-US" altLang="it-IT"/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6B16C4F4-3355-416C-B63A-E132B7D4A90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69F08D08-058C-4104-8B88-C552EC6AA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AA972744-9765-4029-BA34-80203A3BEC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49E1BC6-EFB0-483F-A7A6-3C7712A56566}" type="slidenum">
              <a:rPr lang="en-US" altLang="it-IT"/>
              <a:pPr/>
              <a:t>32</a:t>
            </a:fld>
            <a:endParaRPr lang="en-US" altLang="it-IT"/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07E94467-06D6-4F4B-AC74-4932E30D40E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CF7F23D4-D79B-42E1-9FC1-7418865E7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FAB11E8A-D256-40DD-892C-23AD017D58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169DAF9-01B9-40B9-A9CE-0F3069303CE8}" type="slidenum">
              <a:rPr lang="en-US" altLang="it-IT"/>
              <a:pPr/>
              <a:t>33</a:t>
            </a:fld>
            <a:endParaRPr lang="en-US" altLang="it-IT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97C50BCA-733B-4777-AEA6-496285714F9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F3B8EFD-E039-4450-8201-DFEF4676E1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FDF5AC9E-020C-46F8-ADC6-EF0FA761E3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75F4BFF-2788-4A3E-9F73-6F1A6E97825A}" type="slidenum">
              <a:rPr lang="en-US" altLang="it-IT"/>
              <a:pPr/>
              <a:t>34</a:t>
            </a:fld>
            <a:endParaRPr lang="en-US" altLang="it-IT"/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020F1D26-3CE1-41EC-B9D0-E30D5A43B89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556E0FFC-A195-40E9-BAD9-CED0981637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0BE0FA30-E92B-4CA4-A3A8-157B814DA3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7DC9590-724F-43AE-A19A-D664922ADF4B}" type="slidenum">
              <a:rPr lang="en-US" altLang="it-IT"/>
              <a:pPr/>
              <a:t>35</a:t>
            </a:fld>
            <a:endParaRPr lang="en-US" altLang="it-IT"/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1C131A9A-B7C1-4B98-8322-9FD3E8EE3A5F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06EB7AA7-11A3-4AAB-B07B-B47CAFA9EC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>
            <a:extLst>
              <a:ext uri="{FF2B5EF4-FFF2-40B4-BE49-F238E27FC236}">
                <a16:creationId xmlns:a16="http://schemas.microsoft.com/office/drawing/2014/main" id="{681E54EF-4348-484E-91DB-E13066365A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9E3141F6-88DA-475A-8B46-7FDB284DC79B}" type="slidenum">
              <a:rPr lang="en-US" altLang="it-IT"/>
              <a:pPr/>
              <a:t>36</a:t>
            </a:fld>
            <a:endParaRPr lang="en-US" altLang="it-IT"/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D664783D-63F7-4944-BFE7-6DEA293DCE4E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7EECA4F8-ED8B-432B-9743-8B0A3140B7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GB" altLang="it-IT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D8ED572-85FA-4542-AF0D-57DB88E2845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520FE82-F45E-4B4C-9A8F-9581A8EFE54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FDC0B0-1BF0-4520-8C1E-9571AB7EFCB8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42389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469397-5C0F-4A9C-83BA-4F520F76C8D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5B33516-9134-4D59-B05A-4662EAA9C07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70E0B5-2D9E-4373-A199-8C12D3C96E8C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21526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9EF94ED-1C8A-463A-8771-267611F3C74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276B2E0-1AB5-41B6-93F5-28C7B040E7D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2A6E31-964F-420C-8EAD-415596DC2EC2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714062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8EFA78-2B6D-4897-BD0B-AC793AE1FE1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B83509-24D7-4325-BCE3-4E7C08270ED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CCBBC0-F8FF-400C-AB65-25B819617B3B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34623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1FBD793-FBF5-47B2-AE47-5D0D53B33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6337062-5400-40B9-B6A5-0C60C6124E3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0DD787-781A-4BEE-A223-FC66605F0D00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525496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82B3C26-3342-4229-BCBF-3881446B218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BEC4571-7A18-4FB2-A59E-FA20B4DB81D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F5E693-173B-47DD-8B4E-D131C0E7FFB5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684024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F3BB9F18-D0FB-45FE-9062-653AD6CF73C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31BA16EC-58E7-480A-AD5C-28EAE3C3BE0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15FC1F-ECD0-49C8-818D-F51D1A562E26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925236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03DB50-09ED-4E73-8834-C0E483C566C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D94AA8-AFC4-4CBE-9C5A-B278FE1B85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9C9F99-8C27-41B1-A9D8-82261C3E8120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677678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06ABC78-8EAA-4309-AF90-339438C3E65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B4B2410-507F-40DB-BC31-B880AA8ECB5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7D1BEB-8C79-4F6D-9759-84973C9CCF02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581565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77EA6F3-FF4E-4325-BF56-00DFF27AD9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32268F7-B45A-4306-8956-DFF3E5EF3B0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ADDA23-8CB8-4CCF-B18E-CE051BE04266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708379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A30A64D-3326-4840-86D0-073C040082A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F28BA65-50B8-465F-9E21-B765E27D1C5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C0995D-19F8-47D0-B6F5-C6833300267F}" type="slidenum">
              <a:rPr lang="en-US" altLang="it-IT"/>
              <a:pPr/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46746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4321EA5-F66D-405F-882E-6CE57ED3D5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FAA7365-FB7D-4AA6-876B-1638F77D1C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5D8299B-61A6-4B7C-820C-277AAF098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Comic Sans MS" charset="0"/>
                <a:ea typeface="ヒラギノ角ゴ Pro W3" charset="-128"/>
                <a:cs typeface="ヒラギノ角ゴ Pro W3" charset="-128"/>
              </a:defRPr>
            </a:lvl1pPr>
          </a:lstStyle>
          <a:p>
            <a:pPr>
              <a:defRPr/>
            </a:pPr>
            <a:r>
              <a:rPr lang="en-US"/>
              <a:t>Comp 412, Fall 2010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D6A8A04-B737-4121-B62F-DAF9DB5365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22534D00-DC16-43AE-B1AE-5DE4E8489846}" type="slidenum">
              <a:rPr lang="en-US" altLang="it-IT"/>
              <a:pPr/>
              <a:t>‹N›</a:t>
            </a:fld>
            <a:endParaRPr lang="en-US" altLang="it-IT"/>
          </a:p>
        </p:txBody>
      </p:sp>
      <p:pic>
        <p:nvPicPr>
          <p:cNvPr id="2" name="Picture 7" descr="2007Shield">
            <a:extLst>
              <a:ext uri="{FF2B5EF4-FFF2-40B4-BE49-F238E27FC236}">
                <a16:creationId xmlns:a16="http://schemas.microsoft.com/office/drawing/2014/main" id="{CA170117-8F75-4539-A6AD-F83AE63302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28600"/>
            <a:ext cx="95885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>
            <a:extLst>
              <a:ext uri="{FF2B5EF4-FFF2-40B4-BE49-F238E27FC236}">
                <a16:creationId xmlns:a16="http://schemas.microsoft.com/office/drawing/2014/main" id="{20025B65-3D58-4217-973C-B9FA7D30B50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1066800"/>
            <a:ext cx="6858000" cy="0"/>
          </a:xfrm>
          <a:prstGeom prst="line">
            <a:avLst/>
          </a:prstGeom>
          <a:noFill/>
          <a:ln w="57150">
            <a:solidFill>
              <a:srgbClr val="003C75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Comic Sans MS" charset="0"/>
          <a:ea typeface="ヒラギノ角ゴ Pro W3" charset="-128"/>
          <a:cs typeface="ヒラギノ角ゴ Pro W3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120000"/>
        <a:buFont typeface="Times" panose="02020603050405020304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—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SzPct val="90000"/>
        <a:buFont typeface="Symbol" panose="05050102010706020507" pitchFamily="18" charset="2"/>
        <a:buChar char="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C75"/>
        </a:buClr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CEE57877-44DF-476F-AC86-CDF08AA2F40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752600"/>
          </a:xfrm>
        </p:spPr>
        <p:txBody>
          <a:bodyPr/>
          <a:lstStyle/>
          <a:p>
            <a:pPr algn="ctr" eaLnBrk="1" hangingPunct="1"/>
            <a:r>
              <a:rPr lang="en-US" altLang="it-IT" sz="3200" i="1"/>
              <a:t>Context-sensitive Analysis </a:t>
            </a:r>
            <a:br>
              <a:rPr lang="en-US" altLang="it-IT" sz="3200" i="1"/>
            </a:br>
            <a:r>
              <a:rPr lang="en-US" altLang="it-IT" sz="3200" i="1"/>
              <a:t>or</a:t>
            </a:r>
            <a:br>
              <a:rPr lang="en-US" altLang="it-IT" sz="3200" i="1"/>
            </a:br>
            <a:r>
              <a:rPr lang="en-US" altLang="it-IT" sz="3200" i="1"/>
              <a:t>Semantic Elaboration</a:t>
            </a:r>
            <a:br>
              <a:rPr lang="en-US" altLang="it-IT" sz="3200" i="1"/>
            </a:br>
            <a:br>
              <a:rPr lang="en-US" altLang="it-IT" sz="1400" i="1"/>
            </a:br>
            <a:r>
              <a:rPr lang="en-US" altLang="it-IT" sz="3200" i="1"/>
              <a:t>Comp 412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B0625D10-8D9A-4E80-B855-FB4E293B57C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0" y="4953000"/>
            <a:ext cx="7772400" cy="1295400"/>
          </a:xfrm>
          <a:ln w="12700">
            <a:solidFill>
              <a:srgbClr val="003C75"/>
            </a:solidFill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Copyright 2010, Keith D. Cooper &amp; Linda Torczon, all rights reserved.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Students enrolled in Comp 412 at Rice University have explicit permission to make copies of these materials for their personal use.  </a:t>
            </a:r>
          </a:p>
          <a:p>
            <a:pPr algn="l" eaLnBrk="1" hangingPunct="1"/>
            <a:r>
              <a:rPr lang="en-US" altLang="it-IT" sz="1400">
                <a:solidFill>
                  <a:srgbClr val="003C75"/>
                </a:solidFill>
              </a:rPr>
              <a:t>Faculty from other educational institutions may use these materials for nonprofit educational purposes, provided this copyright notice is preserved.</a:t>
            </a:r>
            <a:endParaRPr lang="en-US" altLang="it-IT">
              <a:solidFill>
                <a:srgbClr val="003C75"/>
              </a:solidFill>
            </a:endParaRPr>
          </a:p>
        </p:txBody>
      </p:sp>
      <p:pic>
        <p:nvPicPr>
          <p:cNvPr id="15363" name="Picture 4" descr="2007Logo">
            <a:extLst>
              <a:ext uri="{FF2B5EF4-FFF2-40B4-BE49-F238E27FC236}">
                <a16:creationId xmlns:a16="http://schemas.microsoft.com/office/drawing/2014/main" id="{3A9D2BEE-9B1B-4B0D-A5C8-48BEE6B41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330450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8">
            <a:extLst>
              <a:ext uri="{FF2B5EF4-FFF2-40B4-BE49-F238E27FC236}">
                <a16:creationId xmlns:a16="http://schemas.microsoft.com/office/drawing/2014/main" id="{152B727A-2FFE-480A-9A6D-D696840F3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81000"/>
            <a:ext cx="2667000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COMP 412</a:t>
            </a:r>
          </a:p>
          <a:p>
            <a:pPr algn="r">
              <a:spcBef>
                <a:spcPct val="5000"/>
              </a:spcBef>
            </a:pPr>
            <a:r>
              <a:rPr lang="en-US" altLang="it-IT" sz="2400">
                <a:solidFill>
                  <a:srgbClr val="003C75"/>
                </a:solidFill>
                <a:latin typeface="Utopia Std"/>
              </a:rPr>
              <a:t>FALL 2010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Footer Placeholder 3">
            <a:extLst>
              <a:ext uri="{FF2B5EF4-FFF2-40B4-BE49-F238E27FC236}">
                <a16:creationId xmlns:a16="http://schemas.microsoft.com/office/drawing/2014/main" id="{D44D3004-B888-4642-ADFE-BAF3402C16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7410" name="Slide Number Placeholder 4">
            <a:extLst>
              <a:ext uri="{FF2B5EF4-FFF2-40B4-BE49-F238E27FC236}">
                <a16:creationId xmlns:a16="http://schemas.microsoft.com/office/drawing/2014/main" id="{F36A2773-0C08-4694-B42D-A959081BD1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198729B-82D0-47A9-BEC6-FD4F36A8FDDD}" type="slidenum">
              <a:rPr lang="en-US" altLang="it-IT"/>
              <a:pPr/>
              <a:t>1</a:t>
            </a:fld>
            <a:endParaRPr lang="en-US" altLang="it-IT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D3AC3306-8024-43E3-A3DE-807028EEE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Beyond Syntax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84CE98E2-9291-409E-8944-ECFBC1F775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There is a level of correctness that is deeper than grammar</a:t>
            </a:r>
          </a:p>
          <a:p>
            <a:pPr eaLnBrk="1" hangingPunct="1">
              <a:spcBef>
                <a:spcPct val="90000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ts val="6000"/>
              </a:spcBef>
              <a:buFont typeface="Times" panose="02020603050405020304" pitchFamily="18" charset="0"/>
              <a:buNone/>
            </a:pPr>
            <a:r>
              <a:rPr lang="en-US" altLang="it-IT"/>
              <a:t>To generate code, we need to understand its meaning !</a:t>
            </a:r>
          </a:p>
        </p:txBody>
      </p:sp>
      <p:sp>
        <p:nvSpPr>
          <p:cNvPr id="17414" name="Text Box 4">
            <a:extLst>
              <a:ext uri="{FF2B5EF4-FFF2-40B4-BE49-F238E27FC236}">
                <a16:creationId xmlns:a16="http://schemas.microsoft.com/office/drawing/2014/main" id="{0C5F99AA-190F-474D-980F-FDC840681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79575"/>
            <a:ext cx="3200400" cy="3425825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defTabSz="233363" eaLnBrk="0" hangingPunct="0">
              <a:defRPr/>
            </a:pP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fie(a,b,c,d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) {</a:t>
            </a:r>
          </a:p>
          <a:p>
            <a:pPr defTabSz="233363" eaLnBrk="0" hangingPunct="0">
              <a:defRPr/>
            </a:pP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	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 a, 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b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c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d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;</a:t>
            </a:r>
          </a:p>
          <a:p>
            <a:pPr defTabSz="233363" eaLnBrk="0" hangingPunct="0">
              <a:defRPr/>
            </a:pP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     … </a:t>
            </a:r>
          </a:p>
          <a:p>
            <a:pPr defTabSz="233363" eaLnBrk="0" hangingPunct="0">
              <a:defRPr/>
            </a:pP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}</a:t>
            </a:r>
          </a:p>
          <a:p>
            <a:pPr defTabSz="233363" eaLnBrk="0" hangingPunct="0">
              <a:spcBef>
                <a:spcPct val="30000"/>
              </a:spcBef>
              <a:defRPr/>
            </a:pP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fee() {</a:t>
            </a:r>
          </a:p>
          <a:p>
            <a:pPr defTabSz="233363" eaLnBrk="0" hangingPunct="0">
              <a:defRPr/>
            </a:pP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	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int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 f[3],g[0], 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h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i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j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k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;</a:t>
            </a:r>
          </a:p>
          <a:p>
            <a:pPr defTabSz="233363" eaLnBrk="0" hangingPunct="0">
              <a:defRPr/>
            </a:pP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    char *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p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;</a:t>
            </a:r>
          </a:p>
          <a:p>
            <a:pPr defTabSz="233363" eaLnBrk="0" hangingPunct="0">
              <a:spcBef>
                <a:spcPct val="30000"/>
              </a:spcBef>
              <a:defRPr/>
            </a:pP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	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fie(h,i,“ab”,j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, 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k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); </a:t>
            </a:r>
          </a:p>
          <a:p>
            <a:pPr defTabSz="233363" eaLnBrk="0" hangingPunct="0">
              <a:defRPr/>
            </a:pP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	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k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 = 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f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 * 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i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 + 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j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;</a:t>
            </a:r>
          </a:p>
          <a:p>
            <a:pPr defTabSz="233363" eaLnBrk="0" hangingPunct="0">
              <a:defRPr/>
            </a:pP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	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h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 = g[17];</a:t>
            </a:r>
          </a:p>
          <a:p>
            <a:pPr defTabSz="233363" eaLnBrk="0" hangingPunct="0">
              <a:defRPr/>
            </a:pP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	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printf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(“&lt;%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s,%s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&gt;.\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n”,p,q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);</a:t>
            </a:r>
          </a:p>
          <a:p>
            <a:pPr defTabSz="233363" eaLnBrk="0" hangingPunct="0">
              <a:defRPr/>
            </a:pP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	</a:t>
            </a:r>
            <a:r>
              <a:rPr lang="en-US" sz="1600" dirty="0" err="1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p</a:t>
            </a: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 = 10;</a:t>
            </a:r>
          </a:p>
          <a:p>
            <a:pPr defTabSz="233363" eaLnBrk="0" hangingPunct="0">
              <a:defRPr/>
            </a:pPr>
            <a:r>
              <a:rPr lang="en-US" sz="1600" dirty="0">
                <a:latin typeface="LucidaSansTypewriter" pitchFamily="1" charset="0"/>
                <a:ea typeface="ヒラギノ角ゴ Pro W3" charset="-128"/>
                <a:cs typeface="ヒラギノ角ゴ Pro W3" charset="-128"/>
              </a:rPr>
              <a:t>}</a:t>
            </a:r>
          </a:p>
        </p:txBody>
      </p:sp>
      <p:sp>
        <p:nvSpPr>
          <p:cNvPr id="5125" name="Text Box 5">
            <a:extLst>
              <a:ext uri="{FF2B5EF4-FFF2-40B4-BE49-F238E27FC236}">
                <a16:creationId xmlns:a16="http://schemas.microsoft.com/office/drawing/2014/main" id="{EB11D94D-0E95-4CC8-BB1C-AF08EEB7F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679575"/>
            <a:ext cx="4038600" cy="3389313"/>
          </a:xfrm>
          <a:prstGeom prst="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What is wrong with this program?</a:t>
            </a:r>
          </a:p>
          <a:p>
            <a:pPr algn="ctr" eaLnBrk="0" hangingPunct="0">
              <a:lnSpc>
                <a:spcPct val="80000"/>
              </a:lnSpc>
              <a:spcBef>
                <a:spcPct val="10000"/>
              </a:spcBef>
              <a:defRPr/>
            </a:pPr>
            <a:r>
              <a:rPr lang="en-US" sz="1600" i="1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(let me count the ways …)</a:t>
            </a:r>
            <a:endParaRPr lang="en-US" dirty="0">
              <a:solidFill>
                <a:srgbClr val="FF0065"/>
              </a:solidFill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lnSpc>
                <a:spcPct val="80000"/>
              </a:lnSpc>
              <a:spcBef>
                <a:spcPct val="6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number of </a:t>
            </a:r>
            <a:r>
              <a:rPr lang="en-US" dirty="0" err="1">
                <a:latin typeface="Comic Sans MS" charset="0"/>
                <a:ea typeface="ヒラギノ角ゴ Pro W3" charset="-128"/>
                <a:cs typeface="ヒラギノ角ゴ Pro W3" charset="-128"/>
              </a:rPr>
              <a:t>args</a:t>
            </a: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to fie()</a:t>
            </a:r>
          </a:p>
          <a:p>
            <a:pPr eaLnBrk="0" hangingPunct="0">
              <a:lnSpc>
                <a:spcPct val="80000"/>
              </a:lnSpc>
              <a:spcBef>
                <a:spcPct val="4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declared g[0], used g[17]</a:t>
            </a:r>
          </a:p>
          <a:p>
            <a:pPr eaLnBrk="0" hangingPunct="0">
              <a:lnSpc>
                <a:spcPct val="80000"/>
              </a:lnSpc>
              <a:spcBef>
                <a:spcPct val="4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“</a:t>
            </a:r>
            <a:r>
              <a:rPr lang="en-US" dirty="0" err="1">
                <a:latin typeface="Comic Sans MS" charset="0"/>
                <a:ea typeface="ヒラギノ角ゴ Pro W3" charset="-128"/>
                <a:cs typeface="ヒラギノ角ゴ Pro W3" charset="-128"/>
              </a:rPr>
              <a:t>ab</a:t>
            </a: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” is not an </a:t>
            </a:r>
            <a:r>
              <a:rPr lang="en-US" u="sng" dirty="0" err="1">
                <a:latin typeface="Comic Sans MS" charset="0"/>
                <a:ea typeface="ヒラギノ角ゴ Pro W3" charset="-128"/>
                <a:cs typeface="ヒラギノ角ゴ Pro W3" charset="-128"/>
              </a:rPr>
              <a:t>int</a:t>
            </a:r>
            <a:endParaRPr lang="en-US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lnSpc>
                <a:spcPct val="80000"/>
              </a:lnSpc>
              <a:spcBef>
                <a:spcPct val="4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wrong dimension on use of </a:t>
            </a:r>
            <a:r>
              <a:rPr lang="en-US" dirty="0" err="1">
                <a:latin typeface="Comic Sans MS" charset="0"/>
                <a:ea typeface="ヒラギノ角ゴ Pro W3" charset="-128"/>
                <a:cs typeface="ヒラギノ角ゴ Pro W3" charset="-128"/>
              </a:rPr>
              <a:t>f</a:t>
            </a:r>
            <a:endParaRPr lang="en-US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lnSpc>
                <a:spcPct val="80000"/>
              </a:lnSpc>
              <a:spcBef>
                <a:spcPct val="4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undeclared variable </a:t>
            </a:r>
            <a:r>
              <a:rPr lang="en-US" dirty="0" err="1">
                <a:latin typeface="Comic Sans MS" charset="0"/>
                <a:ea typeface="ヒラギノ角ゴ Pro W3" charset="-128"/>
                <a:cs typeface="ヒラギノ角ゴ Pro W3" charset="-128"/>
              </a:rPr>
              <a:t>q</a:t>
            </a:r>
            <a:endParaRPr lang="en-US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lnSpc>
                <a:spcPct val="80000"/>
              </a:lnSpc>
              <a:spcBef>
                <a:spcPct val="4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10 is not a character string</a:t>
            </a:r>
          </a:p>
          <a:p>
            <a:pPr eaLnBrk="0" hangingPunct="0">
              <a:lnSpc>
                <a:spcPct val="80000"/>
              </a:lnSpc>
              <a:spcBef>
                <a:spcPct val="100000"/>
              </a:spcBef>
              <a:buClr>
                <a:srgbClr val="0000CC"/>
              </a:buClr>
              <a:buSzPct val="120000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All of these are </a:t>
            </a:r>
          </a:p>
          <a:p>
            <a:pPr algn="ctr" eaLnBrk="0" hangingPunct="0">
              <a:lnSpc>
                <a:spcPct val="80000"/>
              </a:lnSpc>
              <a:spcBef>
                <a:spcPct val="40000"/>
              </a:spcBef>
              <a:buClr>
                <a:srgbClr val="0000CC"/>
              </a:buClr>
              <a:buSzPct val="120000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“deeper than syntax”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1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1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51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51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51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Footer Placeholder 3">
            <a:extLst>
              <a:ext uri="{FF2B5EF4-FFF2-40B4-BE49-F238E27FC236}">
                <a16:creationId xmlns:a16="http://schemas.microsoft.com/office/drawing/2014/main" id="{FB035A4A-814B-4E3E-A268-B970D4A855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19458" name="Slide Number Placeholder 4">
            <a:extLst>
              <a:ext uri="{FF2B5EF4-FFF2-40B4-BE49-F238E27FC236}">
                <a16:creationId xmlns:a16="http://schemas.microsoft.com/office/drawing/2014/main" id="{F56C3041-B861-4647-903F-511DA8FA3D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8D3EF631-C1FE-4B37-A2B3-A83F3B2DFA04}" type="slidenum">
              <a:rPr lang="en-US" altLang="it-IT"/>
              <a:pPr/>
              <a:t>2</a:t>
            </a:fld>
            <a:endParaRPr lang="en-US" altLang="it-IT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996FCFCE-9E17-44F2-B88E-03C3CD2BBA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Beyond Syntax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C4661DAC-FC3A-4593-8314-2632CC4E8D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05800" cy="49530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To generate code, the compiler needs to answer many questions </a:t>
            </a:r>
          </a:p>
          <a:p>
            <a:pPr eaLnBrk="1" hangingPunct="1"/>
            <a:r>
              <a:rPr lang="en-US" altLang="it-IT"/>
              <a:t>Is “x” a scalar, an array, or a function?  Is “x” declared?</a:t>
            </a:r>
          </a:p>
          <a:p>
            <a:pPr eaLnBrk="1" hangingPunct="1"/>
            <a:r>
              <a:rPr lang="en-US" altLang="it-IT"/>
              <a:t>Are there names that are not declared?  Declared but not used?</a:t>
            </a:r>
          </a:p>
          <a:p>
            <a:pPr eaLnBrk="1" hangingPunct="1"/>
            <a:r>
              <a:rPr lang="en-US" altLang="it-IT"/>
              <a:t>Which declaration of “x” does a given use reference?</a:t>
            </a:r>
          </a:p>
          <a:p>
            <a:pPr eaLnBrk="1" hangingPunct="1"/>
            <a:r>
              <a:rPr lang="en-US" altLang="it-IT"/>
              <a:t>Is the expression “x * y + z” type-consistent?</a:t>
            </a:r>
          </a:p>
          <a:p>
            <a:pPr eaLnBrk="1" hangingPunct="1"/>
            <a:r>
              <a:rPr lang="en-US" altLang="it-IT"/>
              <a:t>In “</a:t>
            </a:r>
            <a:r>
              <a:rPr lang="en-US" altLang="it-IT" i="1"/>
              <a:t>a</a:t>
            </a:r>
            <a:r>
              <a:rPr lang="en-US" altLang="it-IT"/>
              <a:t>[i,j,k]”, does </a:t>
            </a:r>
            <a:r>
              <a:rPr lang="en-US" altLang="it-IT" i="1"/>
              <a:t>a</a:t>
            </a:r>
            <a:r>
              <a:rPr lang="en-US" altLang="it-IT"/>
              <a:t> have three dimensions?</a:t>
            </a:r>
          </a:p>
          <a:p>
            <a:pPr eaLnBrk="1" hangingPunct="1"/>
            <a:r>
              <a:rPr lang="en-US" altLang="it-IT"/>
              <a:t>Where can “z” be stored?            </a:t>
            </a:r>
            <a:r>
              <a:rPr lang="en-US" altLang="it-IT" sz="1800" i="1">
                <a:solidFill>
                  <a:srgbClr val="FF0065"/>
                </a:solidFill>
              </a:rPr>
              <a:t>(register, local, global, heap, static)</a:t>
            </a:r>
            <a:endParaRPr lang="en-US" altLang="it-IT"/>
          </a:p>
          <a:p>
            <a:pPr eaLnBrk="1" hangingPunct="1"/>
            <a:r>
              <a:rPr lang="en-US" altLang="it-IT"/>
              <a:t>In “f </a:t>
            </a:r>
            <a:r>
              <a:rPr lang="en-US" altLang="it-IT">
                <a:sym typeface="Symbol" panose="05050102010706020507" pitchFamily="18" charset="2"/>
              </a:rPr>
              <a:t> 15”, how should 15 be represented?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How many arguments does “fie()” take? What about “printf ()” ?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Does “*p” reference the result of a “malloc()” ?  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Do “p” &amp; “q” refer to the same memory location?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Is “x” defined before it is used?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D4FCA2E2-B53D-4715-A9C7-F9E0F04CB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867400"/>
            <a:ext cx="5638800" cy="37941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These are beyond the expressive power of a CFG</a:t>
            </a: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Footer Placeholder 3">
            <a:extLst>
              <a:ext uri="{FF2B5EF4-FFF2-40B4-BE49-F238E27FC236}">
                <a16:creationId xmlns:a16="http://schemas.microsoft.com/office/drawing/2014/main" id="{CF44C984-68BD-416E-BEA2-BEE23E933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1506" name="Slide Number Placeholder 4">
            <a:extLst>
              <a:ext uri="{FF2B5EF4-FFF2-40B4-BE49-F238E27FC236}">
                <a16:creationId xmlns:a16="http://schemas.microsoft.com/office/drawing/2014/main" id="{13B9FEA3-C037-471A-A9EB-D39A7C376D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F24433A-F763-4643-B1A2-6691AD30B0D7}" type="slidenum">
              <a:rPr lang="en-US" altLang="it-IT"/>
              <a:pPr/>
              <a:t>3</a:t>
            </a:fld>
            <a:endParaRPr lang="en-US" altLang="it-IT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34817D97-262C-4A57-9751-CC228A748F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altLang="it-IT"/>
              <a:t>Beyond Syntax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7C9CCC77-B7F1-45D9-B91A-9310C27357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/>
              <a:t>These questions are part of context-sensitive analysis</a:t>
            </a:r>
          </a:p>
          <a:p>
            <a:pPr eaLnBrk="1" hangingPunct="1">
              <a:spcBef>
                <a:spcPts val="300"/>
              </a:spcBef>
            </a:pPr>
            <a:r>
              <a:rPr lang="en-US" altLang="it-IT"/>
              <a:t>Answers depend on values, not parts of speech</a:t>
            </a:r>
          </a:p>
          <a:p>
            <a:pPr eaLnBrk="1" hangingPunct="1">
              <a:spcBef>
                <a:spcPts val="300"/>
              </a:spcBef>
            </a:pPr>
            <a:r>
              <a:rPr lang="en-US" altLang="it-IT"/>
              <a:t>Questions &amp; answers involve non-local information</a:t>
            </a:r>
          </a:p>
          <a:p>
            <a:pPr eaLnBrk="1" hangingPunct="1">
              <a:spcBef>
                <a:spcPts val="300"/>
              </a:spcBef>
            </a:pPr>
            <a:r>
              <a:rPr lang="en-US" altLang="it-IT"/>
              <a:t>Answers may involve computation</a:t>
            </a:r>
          </a:p>
          <a:p>
            <a:pPr eaLnBrk="1" hangingPunct="1"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/>
              <a:t>How can we answer these questions?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Use formal methods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it-IT"/>
              <a:t>Context-sensitive grammars?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it-IT"/>
              <a:t>Attribute grammars?                                 </a:t>
            </a:r>
            <a:r>
              <a:rPr lang="en-US" altLang="it-IT" sz="1600" i="1">
                <a:solidFill>
                  <a:srgbClr val="FF0065"/>
                </a:solidFill>
              </a:rPr>
              <a:t>(attributed grammars?)</a:t>
            </a:r>
            <a:endParaRPr lang="en-US" altLang="it-IT" sz="1600" i="1">
              <a:solidFill>
                <a:srgbClr val="FF0000"/>
              </a:solidFill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Use </a:t>
            </a:r>
            <a:r>
              <a:rPr lang="en-US" altLang="it-IT" i="1"/>
              <a:t>ad-hoc </a:t>
            </a:r>
            <a:r>
              <a:rPr lang="en-US" altLang="it-IT"/>
              <a:t>techniques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it-IT"/>
              <a:t>Symbol tables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it-IT" i="1"/>
              <a:t>Ad-hoc </a:t>
            </a:r>
            <a:r>
              <a:rPr lang="en-US" altLang="it-IT"/>
              <a:t>code                                                         </a:t>
            </a:r>
            <a:r>
              <a:rPr lang="en-US" altLang="it-IT" sz="1600" i="1">
                <a:solidFill>
                  <a:srgbClr val="FF0065"/>
                </a:solidFill>
              </a:rPr>
              <a:t>(action routines)</a:t>
            </a:r>
            <a:endParaRPr lang="en-US" alt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9C6D8A-B0F2-46BB-87B3-89D4472E1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334000"/>
            <a:ext cx="6781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>
                <a:solidFill>
                  <a:srgbClr val="003C75"/>
                </a:solidFill>
              </a:rPr>
              <a:t>In parsing, formalisms won.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77F94-A3F9-492E-A114-74B54F02E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715000"/>
            <a:ext cx="7620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i="1">
                <a:solidFill>
                  <a:srgbClr val="003C75"/>
                </a:solidFill>
              </a:rPr>
              <a:t>In context-sensitive analysis, ad-hoc techniques dominate practice.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Footer Placeholder 3">
            <a:extLst>
              <a:ext uri="{FF2B5EF4-FFF2-40B4-BE49-F238E27FC236}">
                <a16:creationId xmlns:a16="http://schemas.microsoft.com/office/drawing/2014/main" id="{23D3EEC1-4C31-4230-8495-949B4A7769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3554" name="Slide Number Placeholder 4">
            <a:extLst>
              <a:ext uri="{FF2B5EF4-FFF2-40B4-BE49-F238E27FC236}">
                <a16:creationId xmlns:a16="http://schemas.microsoft.com/office/drawing/2014/main" id="{42F05735-CACC-487E-9278-216511C702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D3DDFC1-466D-443E-9837-97ECF3D99905}" type="slidenum">
              <a:rPr lang="en-US" altLang="it-IT"/>
              <a:pPr/>
              <a:t>4</a:t>
            </a:fld>
            <a:endParaRPr lang="en-US" altLang="it-IT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46E2DF3-1EC2-4CF2-8FE1-46ED58FC3E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Beyond Syntax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E598BB1B-6471-448B-86CA-6A8A32F456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924800" cy="49530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Telling the story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We will study the formalism — an attribute grammar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Clarify many issues in a succinct and immediate way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Separate analysis problems from their implementations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/>
              <a:t>We will see that the problems with attribute grammars motivate actual, </a:t>
            </a:r>
            <a:r>
              <a:rPr lang="en-US" altLang="it-IT" i="1"/>
              <a:t>ad-hoc </a:t>
            </a:r>
            <a:r>
              <a:rPr lang="en-US" altLang="it-IT"/>
              <a:t>practice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Non-local computation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Need for centralized information</a:t>
            </a:r>
          </a:p>
          <a:p>
            <a:pPr eaLnBrk="1" hangingPunct="1">
              <a:spcBef>
                <a:spcPts val="1800"/>
              </a:spcBef>
            </a:pPr>
            <a:r>
              <a:rPr lang="en-US" altLang="it-IT"/>
              <a:t>Some folks still argue for attribute grammars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Knowledge is power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it-IT"/>
              <a:t>Information is immunization</a:t>
            </a:r>
          </a:p>
          <a:p>
            <a:pPr eaLnBrk="1" hangingPunct="1">
              <a:spcBef>
                <a:spcPts val="1800"/>
              </a:spcBef>
              <a:buFont typeface="Times" panose="02020603050405020304" pitchFamily="18" charset="0"/>
              <a:buNone/>
            </a:pPr>
            <a:r>
              <a:rPr lang="en-US" altLang="it-IT"/>
              <a:t>We will cover attribute grammars, then move on to </a:t>
            </a:r>
            <a:r>
              <a:rPr lang="en-US" altLang="it-IT" i="1"/>
              <a:t>ad-hoc </a:t>
            </a:r>
            <a:r>
              <a:rPr lang="en-US" altLang="it-IT"/>
              <a:t>ideas</a:t>
            </a: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Footer Placeholder 3">
            <a:extLst>
              <a:ext uri="{FF2B5EF4-FFF2-40B4-BE49-F238E27FC236}">
                <a16:creationId xmlns:a16="http://schemas.microsoft.com/office/drawing/2014/main" id="{4BA7F24D-292F-483E-9DAB-D6958CA472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5602" name="Slide Number Placeholder 4">
            <a:extLst>
              <a:ext uri="{FF2B5EF4-FFF2-40B4-BE49-F238E27FC236}">
                <a16:creationId xmlns:a16="http://schemas.microsoft.com/office/drawing/2014/main" id="{E358DDB6-BBA1-40CA-B3E3-7F56CA7AC9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61960FF-0B81-426C-86F8-A1531AF974E9}" type="slidenum">
              <a:rPr lang="en-US" altLang="it-IT"/>
              <a:pPr/>
              <a:t>5</a:t>
            </a:fld>
            <a:endParaRPr lang="en-US" altLang="it-IT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0A43D857-09E4-49F3-B33B-6FBE212375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200000"/>
              </a:spcBef>
            </a:pPr>
            <a:r>
              <a:rPr lang="en-US" altLang="it-IT"/>
              <a:t>Attribute Grammars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E675D21E-244A-4784-A7AA-4075214384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848600" cy="4953000"/>
          </a:xfrm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What is an attribute grammar?</a:t>
            </a:r>
          </a:p>
          <a:p>
            <a:pPr eaLnBrk="1" hangingPunct="1"/>
            <a:r>
              <a:rPr lang="en-US" altLang="it-IT"/>
              <a:t>A context-free grammar augmented with a set of rules</a:t>
            </a:r>
          </a:p>
          <a:p>
            <a:pPr eaLnBrk="1" hangingPunct="1"/>
            <a:r>
              <a:rPr lang="en-US" altLang="it-IT"/>
              <a:t>Each symbol in the derivation (or parse tree) has a set of named values, or </a:t>
            </a:r>
            <a:r>
              <a:rPr lang="en-US" altLang="it-IT" i="1"/>
              <a:t>attributes</a:t>
            </a:r>
            <a:r>
              <a:rPr lang="en-US" altLang="it-IT"/>
              <a:t> </a:t>
            </a:r>
          </a:p>
          <a:p>
            <a:pPr eaLnBrk="1" hangingPunct="1"/>
            <a:r>
              <a:rPr lang="en-US" altLang="it-IT"/>
              <a:t>The rules specify how to compute a value for each attribute</a:t>
            </a:r>
          </a:p>
          <a:p>
            <a:pPr lvl="1" eaLnBrk="1" hangingPunct="1"/>
            <a:r>
              <a:rPr lang="en-US" altLang="it-IT"/>
              <a:t>Attribution rules are functional; they uniquely define the value</a:t>
            </a:r>
          </a:p>
        </p:txBody>
      </p:sp>
      <p:sp>
        <p:nvSpPr>
          <p:cNvPr id="25605" name="Text Box 5">
            <a:extLst>
              <a:ext uri="{FF2B5EF4-FFF2-40B4-BE49-F238E27FC236}">
                <a16:creationId xmlns:a16="http://schemas.microsoft.com/office/drawing/2014/main" id="{1416C550-046E-4997-B082-C490548CF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387725"/>
            <a:ext cx="312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i="1">
                <a:solidFill>
                  <a:srgbClr val="003C75"/>
                </a:solidFill>
              </a:rPr>
              <a:t>Example grammar</a:t>
            </a:r>
            <a:endParaRPr lang="en-US" altLang="it-IT" sz="1600">
              <a:solidFill>
                <a:srgbClr val="003C75"/>
              </a:solidFill>
            </a:endParaRPr>
          </a:p>
        </p:txBody>
      </p:sp>
      <p:sp>
        <p:nvSpPr>
          <p:cNvPr id="25606" name="Text Box 6">
            <a:extLst>
              <a:ext uri="{FF2B5EF4-FFF2-40B4-BE49-F238E27FC236}">
                <a16:creationId xmlns:a16="http://schemas.microsoft.com/office/drawing/2014/main" id="{32F873DD-512E-4DB7-A5D3-09346A5D3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965575"/>
            <a:ext cx="3276600" cy="189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/>
              <a:t>This grammar describes signed binary numbers</a:t>
            </a:r>
          </a:p>
          <a:p>
            <a:pPr>
              <a:spcBef>
                <a:spcPct val="50000"/>
              </a:spcBef>
            </a:pPr>
            <a:r>
              <a:rPr lang="en-US" altLang="it-IT"/>
              <a:t>We would like to augment it with rules that compute the decimal value of each valid input string</a:t>
            </a:r>
          </a:p>
        </p:txBody>
      </p:sp>
      <p:graphicFrame>
        <p:nvGraphicFramePr>
          <p:cNvPr id="13436" name="Group 124">
            <a:extLst>
              <a:ext uri="{FF2B5EF4-FFF2-40B4-BE49-F238E27FC236}">
                <a16:creationId xmlns:a16="http://schemas.microsoft.com/office/drawing/2014/main" id="{4621324E-D42E-4075-97D8-3D4746F303A0}"/>
              </a:ext>
            </a:extLst>
          </p:cNvPr>
          <p:cNvGraphicFramePr>
            <a:graphicFrameLocks noGrp="1"/>
          </p:cNvGraphicFramePr>
          <p:nvPr/>
        </p:nvGraphicFramePr>
        <p:xfrm>
          <a:off x="1066800" y="3843529"/>
          <a:ext cx="3352800" cy="2176272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Sign List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Sign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 Bit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Footer Placeholder 3">
            <a:extLst>
              <a:ext uri="{FF2B5EF4-FFF2-40B4-BE49-F238E27FC236}">
                <a16:creationId xmlns:a16="http://schemas.microsoft.com/office/drawing/2014/main" id="{7D91CB52-4CFA-4253-882B-C0515D1AAD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7650" name="Slide Number Placeholder 4">
            <a:extLst>
              <a:ext uri="{FF2B5EF4-FFF2-40B4-BE49-F238E27FC236}">
                <a16:creationId xmlns:a16="http://schemas.microsoft.com/office/drawing/2014/main" id="{C9E4C5B0-2D34-483F-9FFE-37B1ED0115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EE31347-BC14-4860-9ECC-9AFA26DDC8AE}" type="slidenum">
              <a:rPr lang="en-US" altLang="it-IT"/>
              <a:pPr/>
              <a:t>6</a:t>
            </a:fld>
            <a:endParaRPr lang="en-US" altLang="it-IT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E8C624F4-B147-429E-AF2E-1D41A99D82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altLang="it-IT"/>
              <a:t>Examples </a:t>
            </a:r>
          </a:p>
        </p:txBody>
      </p:sp>
      <p:sp>
        <p:nvSpPr>
          <p:cNvPr id="27652" name="Text Box 3">
            <a:extLst>
              <a:ext uri="{FF2B5EF4-FFF2-40B4-BE49-F238E27FC236}">
                <a16:creationId xmlns:a16="http://schemas.microsoft.com/office/drawing/2014/main" id="{350D382B-5391-4325-8ACF-524F93E88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913438"/>
            <a:ext cx="6096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i="1">
                <a:solidFill>
                  <a:srgbClr val="003C75"/>
                </a:solidFill>
              </a:rPr>
              <a:t>We will use these two examples throughout the lecture</a:t>
            </a:r>
            <a:endParaRPr lang="en-US" altLang="it-IT">
              <a:solidFill>
                <a:srgbClr val="003C75"/>
              </a:solidFill>
            </a:endParaRPr>
          </a:p>
        </p:txBody>
      </p:sp>
      <p:grpSp>
        <p:nvGrpSpPr>
          <p:cNvPr id="27653" name="Group 53">
            <a:extLst>
              <a:ext uri="{FF2B5EF4-FFF2-40B4-BE49-F238E27FC236}">
                <a16:creationId xmlns:a16="http://schemas.microsoft.com/office/drawing/2014/main" id="{229F85DF-C3F8-4B57-BA13-6B2B95001FB1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295400"/>
            <a:ext cx="2286000" cy="4495800"/>
            <a:chOff x="762000" y="1295400"/>
            <a:chExt cx="2286000" cy="4495800"/>
          </a:xfrm>
        </p:grpSpPr>
        <p:sp>
          <p:nvSpPr>
            <p:cNvPr id="27688" name="Rectangle 20">
              <a:extLst>
                <a:ext uri="{FF2B5EF4-FFF2-40B4-BE49-F238E27FC236}">
                  <a16:creationId xmlns:a16="http://schemas.microsoft.com/office/drawing/2014/main" id="{8078A915-A855-4FFF-807A-9D60A6827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1295400"/>
              <a:ext cx="2286000" cy="44958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bg1">
                  <a:lumMod val="5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27686" name="Text Box 6">
              <a:extLst>
                <a:ext uri="{FF2B5EF4-FFF2-40B4-BE49-F238E27FC236}">
                  <a16:creationId xmlns:a16="http://schemas.microsoft.com/office/drawing/2014/main" id="{E755AEE0-FD38-4072-9DE8-43AAFE342C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1295400"/>
              <a:ext cx="2286000" cy="156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it-IT" sz="1600">
                <a:latin typeface="Arial Rounded MT Bold" panose="020F0704030504030204" pitchFamily="34" charset="0"/>
              </a:endParaRPr>
            </a:p>
            <a:p>
              <a:pPr>
                <a:spcBef>
                  <a:spcPct val="25000"/>
                </a:spcBef>
              </a:pPr>
              <a:r>
                <a:rPr lang="en-US" altLang="it-IT" sz="1600" i="1">
                  <a:latin typeface="Arial Rounded MT Bold" panose="020F0704030504030204" pitchFamily="34" charset="0"/>
                </a:rPr>
                <a:t>Number 	</a:t>
              </a:r>
              <a:r>
                <a:rPr lang="en-US" altLang="it-IT" sz="1600" i="1">
                  <a:latin typeface="Arial Rounded MT Bold" panose="020F0704030504030204" pitchFamily="34" charset="0"/>
                  <a:sym typeface="Symbol" panose="05050102010706020507" pitchFamily="18" charset="2"/>
                </a:rPr>
                <a:t> Sign List</a:t>
              </a:r>
            </a:p>
            <a:p>
              <a:pPr>
                <a:spcBef>
                  <a:spcPct val="25000"/>
                </a:spcBef>
              </a:pPr>
              <a:r>
                <a:rPr lang="en-US" altLang="it-IT" sz="1600" i="1">
                  <a:latin typeface="Arial Rounded MT Bold" panose="020F0704030504030204" pitchFamily="34" charset="0"/>
                  <a:sym typeface="Symbol" panose="05050102010706020507" pitchFamily="18" charset="2"/>
                </a:rPr>
                <a:t>	 Sign Bit</a:t>
              </a:r>
            </a:p>
            <a:p>
              <a:pPr>
                <a:spcBef>
                  <a:spcPct val="25000"/>
                </a:spcBef>
              </a:pPr>
              <a:r>
                <a:rPr lang="en-US" altLang="it-IT" sz="1600" i="1">
                  <a:latin typeface="Arial Rounded MT Bold" panose="020F0704030504030204" pitchFamily="34" charset="0"/>
                  <a:sym typeface="Symbol" panose="05050102010706020507" pitchFamily="18" charset="2"/>
                </a:rPr>
                <a:t>	 Sign 1</a:t>
              </a:r>
            </a:p>
            <a:p>
              <a:pPr>
                <a:spcBef>
                  <a:spcPct val="25000"/>
                </a:spcBef>
              </a:pPr>
              <a:r>
                <a:rPr lang="en-US" altLang="it-IT" sz="1600" i="1">
                  <a:latin typeface="Arial Rounded MT Bold" panose="020F0704030504030204" pitchFamily="34" charset="0"/>
                  <a:sym typeface="Symbol" panose="05050102010706020507" pitchFamily="18" charset="2"/>
                </a:rPr>
                <a:t>	   –     1</a:t>
              </a:r>
            </a:p>
          </p:txBody>
        </p:sp>
        <p:grpSp>
          <p:nvGrpSpPr>
            <p:cNvPr id="27687" name="Group 7">
              <a:extLst>
                <a:ext uri="{FF2B5EF4-FFF2-40B4-BE49-F238E27FC236}">
                  <a16:creationId xmlns:a16="http://schemas.microsoft.com/office/drawing/2014/main" id="{8E505B16-5A98-4D4A-939B-0155319CE6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5550" y="3048000"/>
              <a:ext cx="1358900" cy="2484438"/>
              <a:chOff x="632" y="2112"/>
              <a:chExt cx="856" cy="1565"/>
            </a:xfrm>
          </p:grpSpPr>
          <p:sp>
            <p:nvSpPr>
              <p:cNvPr id="27689" name="Oval 8">
                <a:extLst>
                  <a:ext uri="{FF2B5EF4-FFF2-40B4-BE49-F238E27FC236}">
                    <a16:creationId xmlns:a16="http://schemas.microsoft.com/office/drawing/2014/main" id="{CE880E6E-85F3-44F0-BBF4-671CF6D9A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9" y="2112"/>
                <a:ext cx="432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 i="1">
                    <a:latin typeface="Arial Rounded MT Bold" panose="020F0704030504030204" pitchFamily="34" charset="0"/>
                  </a:rPr>
                  <a:t>Number</a:t>
                </a:r>
                <a:endParaRPr lang="en-US" altLang="it-IT" sz="12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7690" name="Line 9">
                <a:extLst>
                  <a:ext uri="{FF2B5EF4-FFF2-40B4-BE49-F238E27FC236}">
                    <a16:creationId xmlns:a16="http://schemas.microsoft.com/office/drawing/2014/main" id="{3E6E095F-9D27-4861-B81C-037F22AEC4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27" y="2395"/>
                <a:ext cx="148" cy="2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7691" name="Line 10">
                <a:extLst>
                  <a:ext uri="{FF2B5EF4-FFF2-40B4-BE49-F238E27FC236}">
                    <a16:creationId xmlns:a16="http://schemas.microsoft.com/office/drawing/2014/main" id="{923EBADA-D314-4133-A103-001AB80770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2394"/>
                <a:ext cx="159" cy="2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grpSp>
            <p:nvGrpSpPr>
              <p:cNvPr id="27692" name="Group 11">
                <a:extLst>
                  <a:ext uri="{FF2B5EF4-FFF2-40B4-BE49-F238E27FC236}">
                    <a16:creationId xmlns:a16="http://schemas.microsoft.com/office/drawing/2014/main" id="{A45D631E-2782-46E5-8DEE-B2F5296D28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0" y="2592"/>
                <a:ext cx="288" cy="1085"/>
                <a:chOff x="1200" y="2592"/>
                <a:chExt cx="288" cy="1085"/>
              </a:xfrm>
            </p:grpSpPr>
            <p:sp>
              <p:nvSpPr>
                <p:cNvPr id="27696" name="Oval 12">
                  <a:extLst>
                    <a:ext uri="{FF2B5EF4-FFF2-40B4-BE49-F238E27FC236}">
                      <a16:creationId xmlns:a16="http://schemas.microsoft.com/office/drawing/2014/main" id="{642930DB-D4B3-48D6-AD57-E0CF492C55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592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 i="1">
                      <a:latin typeface="Arial Rounded MT Bold" panose="020F0704030504030204" pitchFamily="34" charset="0"/>
                    </a:rPr>
                    <a:t>List</a:t>
                  </a:r>
                </a:p>
              </p:txBody>
            </p:sp>
            <p:sp>
              <p:nvSpPr>
                <p:cNvPr id="27697" name="Oval 13">
                  <a:extLst>
                    <a:ext uri="{FF2B5EF4-FFF2-40B4-BE49-F238E27FC236}">
                      <a16:creationId xmlns:a16="http://schemas.microsoft.com/office/drawing/2014/main" id="{222C5D7D-7B03-4533-AB78-25CAB6938A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3024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 i="1">
                      <a:latin typeface="Arial Rounded MT Bold" panose="020F0704030504030204" pitchFamily="34" charset="0"/>
                    </a:rPr>
                    <a:t>Bit</a:t>
                  </a:r>
                  <a:endParaRPr lang="en-US" altLang="it-IT" sz="1200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7698" name="Line 14">
                  <a:extLst>
                    <a:ext uri="{FF2B5EF4-FFF2-40B4-BE49-F238E27FC236}">
                      <a16:creationId xmlns:a16="http://schemas.microsoft.com/office/drawing/2014/main" id="{3E895797-EEFB-47D9-AC61-A527B9A0EA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4" y="2880"/>
                  <a:ext cx="1" cy="1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7699" name="Line 15">
                  <a:extLst>
                    <a:ext uri="{FF2B5EF4-FFF2-40B4-BE49-F238E27FC236}">
                      <a16:creationId xmlns:a16="http://schemas.microsoft.com/office/drawing/2014/main" id="{AC2FC0A8-AC89-463A-81BB-ACD03159BF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3" y="3321"/>
                  <a:ext cx="1" cy="1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7700" name="Text Box 16">
                  <a:extLst>
                    <a:ext uri="{FF2B5EF4-FFF2-40B4-BE49-F238E27FC236}">
                      <a16:creationId xmlns:a16="http://schemas.microsoft.com/office/drawing/2014/main" id="{E315C746-1C35-44DF-9C07-82DF0FEA379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24" y="3504"/>
                  <a:ext cx="240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it-IT" sz="1200">
                      <a:latin typeface="Arial Rounded MT Bold" panose="020F0704030504030204" pitchFamily="34" charset="0"/>
                    </a:rPr>
                    <a:t>1</a:t>
                  </a:r>
                  <a:endParaRPr lang="en-US" altLang="it-IT" sz="1600"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27693" name="Oval 17">
                <a:extLst>
                  <a:ext uri="{FF2B5EF4-FFF2-40B4-BE49-F238E27FC236}">
                    <a16:creationId xmlns:a16="http://schemas.microsoft.com/office/drawing/2014/main" id="{31042510-F086-4EC4-B380-3321306929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7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 i="1">
                    <a:latin typeface="Arial Rounded MT Bold" panose="020F0704030504030204" pitchFamily="34" charset="0"/>
                  </a:rPr>
                  <a:t>Sign</a:t>
                </a:r>
                <a:endParaRPr lang="en-US" altLang="it-IT" sz="12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7694" name="Line 18">
                <a:extLst>
                  <a:ext uri="{FF2B5EF4-FFF2-40B4-BE49-F238E27FC236}">
                    <a16:creationId xmlns:a16="http://schemas.microsoft.com/office/drawing/2014/main" id="{B6D6591D-C603-4E8A-B2A7-CD0B4ED559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6" y="2877"/>
                <a:ext cx="1" cy="1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7695" name="Text Box 19">
                <a:extLst>
                  <a:ext uri="{FF2B5EF4-FFF2-40B4-BE49-F238E27FC236}">
                    <a16:creationId xmlns:a16="http://schemas.microsoft.com/office/drawing/2014/main" id="{D1B98639-D61B-4AAA-B83F-E9070D5CF0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" y="3024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600">
                    <a:latin typeface="Arial Rounded MT Bold" panose="020F0704030504030204" pitchFamily="34" charset="0"/>
                  </a:rPr>
                  <a:t>–</a:t>
                </a:r>
              </a:p>
            </p:txBody>
          </p:sp>
        </p:grpSp>
        <p:sp>
          <p:nvSpPr>
            <p:cNvPr id="2" name="Text Box 21">
              <a:extLst>
                <a:ext uri="{FF2B5EF4-FFF2-40B4-BE49-F238E27FC236}">
                  <a16:creationId xmlns:a16="http://schemas.microsoft.com/office/drawing/2014/main" id="{C20A9716-2592-4B89-95A2-89AAAD943B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1295400"/>
              <a:ext cx="990600" cy="349250"/>
            </a:xfrm>
            <a:prstGeom prst="rect">
              <a:avLst/>
            </a:prstGeom>
            <a:noFill/>
            <a:ln w="19050">
              <a:solidFill>
                <a:srgbClr val="7F7F7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For “–1”</a:t>
              </a:r>
              <a:endParaRPr lang="en-US" altLang="it-IT" sz="1600">
                <a:latin typeface="Arial Narrow" panose="020B0606020202030204" pitchFamily="34" charset="0"/>
              </a:endParaRPr>
            </a:p>
          </p:txBody>
        </p:sp>
      </p:grpSp>
      <p:grpSp>
        <p:nvGrpSpPr>
          <p:cNvPr id="27654" name="Group 54">
            <a:extLst>
              <a:ext uri="{FF2B5EF4-FFF2-40B4-BE49-F238E27FC236}">
                <a16:creationId xmlns:a16="http://schemas.microsoft.com/office/drawing/2014/main" id="{1D311ADC-3F4A-4E9C-B0F7-87113FFD816B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295400"/>
            <a:ext cx="4724400" cy="4495800"/>
            <a:chOff x="3276600" y="1295400"/>
            <a:chExt cx="4724400" cy="4495800"/>
          </a:xfrm>
        </p:grpSpPr>
        <p:sp>
          <p:nvSpPr>
            <p:cNvPr id="27671" name="Rectangle 52">
              <a:extLst>
                <a:ext uri="{FF2B5EF4-FFF2-40B4-BE49-F238E27FC236}">
                  <a16:creationId xmlns:a16="http://schemas.microsoft.com/office/drawing/2014/main" id="{3EA707F7-B90D-4EED-B736-5A81CC80F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1295400"/>
              <a:ext cx="4724400" cy="44958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27656" name="Text Box 23">
              <a:extLst>
                <a:ext uri="{FF2B5EF4-FFF2-40B4-BE49-F238E27FC236}">
                  <a16:creationId xmlns:a16="http://schemas.microsoft.com/office/drawing/2014/main" id="{CB5430E2-ACA6-46DB-A80D-5160453C8D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1371600"/>
              <a:ext cx="2743200" cy="278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 altLang="it-IT" sz="1600">
                <a:latin typeface="Arial Rounded MT Bold" panose="020F0704030504030204" pitchFamily="34" charset="0"/>
              </a:endParaRPr>
            </a:p>
            <a:p>
              <a:pPr>
                <a:spcBef>
                  <a:spcPct val="25000"/>
                </a:spcBef>
              </a:pPr>
              <a:r>
                <a:rPr lang="en-US" altLang="it-IT" sz="1600" i="1">
                  <a:latin typeface="Arial Rounded MT Bold" panose="020F0704030504030204" pitchFamily="34" charset="0"/>
                </a:rPr>
                <a:t>Number 	</a:t>
              </a:r>
              <a:r>
                <a:rPr lang="en-US" altLang="it-IT" sz="1600" i="1">
                  <a:latin typeface="Arial Rounded MT Bold" panose="020F0704030504030204" pitchFamily="34" charset="0"/>
                  <a:sym typeface="Symbol" panose="05050102010706020507" pitchFamily="18" charset="2"/>
                </a:rPr>
                <a:t> Sign List</a:t>
              </a:r>
            </a:p>
            <a:p>
              <a:pPr>
                <a:spcBef>
                  <a:spcPct val="25000"/>
                </a:spcBef>
              </a:pPr>
              <a:r>
                <a:rPr lang="en-US" altLang="it-IT" sz="1600" i="1">
                  <a:latin typeface="Arial Rounded MT Bold" panose="020F0704030504030204" pitchFamily="34" charset="0"/>
                  <a:sym typeface="Symbol" panose="05050102010706020507" pitchFamily="18" charset="2"/>
                </a:rPr>
                <a:t>	 Sign List Bit</a:t>
              </a:r>
            </a:p>
            <a:p>
              <a:pPr>
                <a:spcBef>
                  <a:spcPct val="25000"/>
                </a:spcBef>
              </a:pPr>
              <a:r>
                <a:rPr lang="en-US" altLang="it-IT" sz="1600" i="1">
                  <a:latin typeface="Arial Rounded MT Bold" panose="020F0704030504030204" pitchFamily="34" charset="0"/>
                  <a:sym typeface="Symbol" panose="05050102010706020507" pitchFamily="18" charset="2"/>
                </a:rPr>
                <a:t>	 Sign List 1</a:t>
              </a:r>
            </a:p>
            <a:p>
              <a:pPr>
                <a:spcBef>
                  <a:spcPct val="25000"/>
                </a:spcBef>
              </a:pPr>
              <a:r>
                <a:rPr lang="en-US" altLang="it-IT" sz="1600" i="1">
                  <a:latin typeface="Arial Rounded MT Bold" panose="020F0704030504030204" pitchFamily="34" charset="0"/>
                  <a:sym typeface="Symbol" panose="05050102010706020507" pitchFamily="18" charset="2"/>
                </a:rPr>
                <a:t>	 Sign List Bit 1</a:t>
              </a:r>
            </a:p>
            <a:p>
              <a:pPr>
                <a:spcBef>
                  <a:spcPct val="25000"/>
                </a:spcBef>
              </a:pPr>
              <a:r>
                <a:rPr lang="en-US" altLang="it-IT" sz="1600" i="1">
                  <a:latin typeface="Arial Rounded MT Bold" panose="020F0704030504030204" pitchFamily="34" charset="0"/>
                  <a:sym typeface="Symbol" panose="05050102010706020507" pitchFamily="18" charset="2"/>
                </a:rPr>
                <a:t>	 Sign List 0 1</a:t>
              </a:r>
            </a:p>
            <a:p>
              <a:pPr>
                <a:spcBef>
                  <a:spcPct val="25000"/>
                </a:spcBef>
              </a:pPr>
              <a:r>
                <a:rPr lang="en-US" altLang="it-IT" sz="1600" i="1">
                  <a:latin typeface="Arial Rounded MT Bold" panose="020F0704030504030204" pitchFamily="34" charset="0"/>
                  <a:sym typeface="Symbol" panose="05050102010706020507" pitchFamily="18" charset="2"/>
                </a:rPr>
                <a:t>	 Sign Bit 0 1</a:t>
              </a:r>
            </a:p>
            <a:p>
              <a:pPr>
                <a:spcBef>
                  <a:spcPct val="25000"/>
                </a:spcBef>
              </a:pPr>
              <a:r>
                <a:rPr lang="en-US" altLang="it-IT" sz="1600" i="1">
                  <a:latin typeface="Arial Rounded MT Bold" panose="020F0704030504030204" pitchFamily="34" charset="0"/>
                  <a:sym typeface="Symbol" panose="05050102010706020507" pitchFamily="18" charset="2"/>
                </a:rPr>
                <a:t>	 Sign 1 0 1</a:t>
              </a:r>
            </a:p>
            <a:p>
              <a:pPr>
                <a:spcBef>
                  <a:spcPct val="25000"/>
                </a:spcBef>
              </a:pPr>
              <a:r>
                <a:rPr lang="en-US" altLang="it-IT" sz="1600" i="1">
                  <a:latin typeface="Arial Rounded MT Bold" panose="020F0704030504030204" pitchFamily="34" charset="0"/>
                  <a:sym typeface="Symbol" panose="05050102010706020507" pitchFamily="18" charset="2"/>
                </a:rPr>
                <a:t>	 –       101</a:t>
              </a:r>
            </a:p>
          </p:txBody>
        </p:sp>
        <p:sp>
          <p:nvSpPr>
            <p:cNvPr id="27657" name="Oval 25">
              <a:extLst>
                <a:ext uri="{FF2B5EF4-FFF2-40B4-BE49-F238E27FC236}">
                  <a16:creationId xmlns:a16="http://schemas.microsoft.com/office/drawing/2014/main" id="{5F7EB1A6-C6E3-4926-93EE-C04718DFE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0488" y="1481138"/>
              <a:ext cx="685800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Number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27658" name="Line 26">
              <a:extLst>
                <a:ext uri="{FF2B5EF4-FFF2-40B4-BE49-F238E27FC236}">
                  <a16:creationId xmlns:a16="http://schemas.microsoft.com/office/drawing/2014/main" id="{6EAE85EF-D2D6-4FF6-9949-5D5F8C8738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05563" y="1930400"/>
              <a:ext cx="234950" cy="320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7659" name="Line 27">
              <a:extLst>
                <a:ext uri="{FF2B5EF4-FFF2-40B4-BE49-F238E27FC236}">
                  <a16:creationId xmlns:a16="http://schemas.microsoft.com/office/drawing/2014/main" id="{2AC85271-8344-4457-B4B0-B0CAB7780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1500" y="1928813"/>
              <a:ext cx="252413" cy="330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7660" name="Oval 28">
              <a:extLst>
                <a:ext uri="{FF2B5EF4-FFF2-40B4-BE49-F238E27FC236}">
                  <a16:creationId xmlns:a16="http://schemas.microsoft.com/office/drawing/2014/main" id="{7FAA4777-FB03-47DB-9877-D90DC72E3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7700" y="2243138"/>
              <a:ext cx="457200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27661" name="Oval 29">
              <a:extLst>
                <a:ext uri="{FF2B5EF4-FFF2-40B4-BE49-F238E27FC236}">
                  <a16:creationId xmlns:a16="http://schemas.microsoft.com/office/drawing/2014/main" id="{4E8837FD-1B38-4E99-A3CF-CA7427A74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7588" y="2235200"/>
              <a:ext cx="457200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Sign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27662" name="Line 30">
              <a:extLst>
                <a:ext uri="{FF2B5EF4-FFF2-40B4-BE49-F238E27FC236}">
                  <a16:creationId xmlns:a16="http://schemas.microsoft.com/office/drawing/2014/main" id="{C2ACB5F0-2BD0-49C6-BC1B-0E1522E0DE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24600" y="2695575"/>
              <a:ext cx="0" cy="238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7663" name="Text Box 31">
              <a:extLst>
                <a:ext uri="{FF2B5EF4-FFF2-40B4-BE49-F238E27FC236}">
                  <a16:creationId xmlns:a16="http://schemas.microsoft.com/office/drawing/2014/main" id="{B92F696B-4F43-4CD0-B284-7337969A3C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2928938"/>
              <a:ext cx="457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–</a:t>
              </a:r>
            </a:p>
          </p:txBody>
        </p:sp>
        <p:grpSp>
          <p:nvGrpSpPr>
            <p:cNvPr id="27664" name="Group 32">
              <a:extLst>
                <a:ext uri="{FF2B5EF4-FFF2-40B4-BE49-F238E27FC236}">
                  <a16:creationId xmlns:a16="http://schemas.microsoft.com/office/drawing/2014/main" id="{46335DFA-BF10-4695-B9D6-BDDB3E2B86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94588" y="2921000"/>
              <a:ext cx="457200" cy="1036638"/>
              <a:chOff x="4552" y="1824"/>
              <a:chExt cx="288" cy="653"/>
            </a:xfrm>
          </p:grpSpPr>
          <p:sp>
            <p:nvSpPr>
              <p:cNvPr id="27682" name="Oval 33">
                <a:extLst>
                  <a:ext uri="{FF2B5EF4-FFF2-40B4-BE49-F238E27FC236}">
                    <a16:creationId xmlns:a16="http://schemas.microsoft.com/office/drawing/2014/main" id="{C3796370-5A98-41F7-A2F0-3B2131CEFE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2" y="1824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 i="1">
                    <a:latin typeface="Arial Rounded MT Bold" panose="020F0704030504030204" pitchFamily="34" charset="0"/>
                  </a:rPr>
                  <a:t>Bit</a:t>
                </a:r>
                <a:endParaRPr lang="en-US" altLang="it-IT" sz="12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7683" name="Line 34">
                <a:extLst>
                  <a:ext uri="{FF2B5EF4-FFF2-40B4-BE49-F238E27FC236}">
                    <a16:creationId xmlns:a16="http://schemas.microsoft.com/office/drawing/2014/main" id="{32548FBA-C163-4EE2-9630-5CEFA09E26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95" y="2121"/>
                <a:ext cx="1" cy="1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7684" name="Text Box 35">
                <a:extLst>
                  <a:ext uri="{FF2B5EF4-FFF2-40B4-BE49-F238E27FC236}">
                    <a16:creationId xmlns:a16="http://schemas.microsoft.com/office/drawing/2014/main" id="{ADCC12A0-C3CD-4E02-94F1-2A92DD321F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6" y="2304"/>
                <a:ext cx="24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200">
                    <a:latin typeface="Arial Rounded MT Bold" panose="020F0704030504030204" pitchFamily="34" charset="0"/>
                  </a:rPr>
                  <a:t>1</a:t>
                </a:r>
                <a:endParaRPr lang="en-US" altLang="it-IT" sz="1600"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27665" name="Oval 36">
              <a:extLst>
                <a:ext uri="{FF2B5EF4-FFF2-40B4-BE49-F238E27FC236}">
                  <a16:creationId xmlns:a16="http://schemas.microsoft.com/office/drawing/2014/main" id="{E563D86B-7250-4441-A402-48528265B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0025" y="2921000"/>
              <a:ext cx="457200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27666" name="Line 37">
              <a:extLst>
                <a:ext uri="{FF2B5EF4-FFF2-40B4-BE49-F238E27FC236}">
                  <a16:creationId xmlns:a16="http://schemas.microsoft.com/office/drawing/2014/main" id="{9CA12E48-4309-49BB-B42F-E481677E7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73938" y="2651125"/>
              <a:ext cx="277813" cy="27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7667" name="Line 38">
              <a:extLst>
                <a:ext uri="{FF2B5EF4-FFF2-40B4-BE49-F238E27FC236}">
                  <a16:creationId xmlns:a16="http://schemas.microsoft.com/office/drawing/2014/main" id="{8BC5B0DF-AEB8-40C9-BFB9-B33B9076CD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00850" y="2662238"/>
              <a:ext cx="277813" cy="27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grpSp>
          <p:nvGrpSpPr>
            <p:cNvPr id="27668" name="Group 39">
              <a:extLst>
                <a:ext uri="{FF2B5EF4-FFF2-40B4-BE49-F238E27FC236}">
                  <a16:creationId xmlns:a16="http://schemas.microsoft.com/office/drawing/2014/main" id="{EEA1D98E-183C-465F-A193-C49F34F622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0" y="3335338"/>
              <a:ext cx="1401763" cy="1306513"/>
              <a:chOff x="3984" y="2086"/>
              <a:chExt cx="883" cy="823"/>
            </a:xfrm>
          </p:grpSpPr>
          <p:grpSp>
            <p:nvGrpSpPr>
              <p:cNvPr id="27675" name="Group 40">
                <a:extLst>
                  <a:ext uri="{FF2B5EF4-FFF2-40B4-BE49-F238E27FC236}">
                    <a16:creationId xmlns:a16="http://schemas.microsoft.com/office/drawing/2014/main" id="{F5CA9075-92E6-4B3F-9090-A289D436B0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79" y="2256"/>
                <a:ext cx="288" cy="653"/>
                <a:chOff x="4552" y="1824"/>
                <a:chExt cx="288" cy="653"/>
              </a:xfrm>
            </p:grpSpPr>
            <p:sp>
              <p:nvSpPr>
                <p:cNvPr id="27679" name="Oval 41">
                  <a:extLst>
                    <a:ext uri="{FF2B5EF4-FFF2-40B4-BE49-F238E27FC236}">
                      <a16:creationId xmlns:a16="http://schemas.microsoft.com/office/drawing/2014/main" id="{54B5B7A6-B1F8-407D-9F9D-ECCD786AE9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52" y="1824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/>
                  <a:r>
                    <a:rPr lang="en-US" altLang="it-IT" sz="1200" i="1">
                      <a:latin typeface="Arial Rounded MT Bold" panose="020F0704030504030204" pitchFamily="34" charset="0"/>
                    </a:rPr>
                    <a:t>Bit</a:t>
                  </a:r>
                  <a:endParaRPr lang="en-US" altLang="it-IT" sz="1200">
                    <a:latin typeface="Arial Rounded MT Bold" panose="020F0704030504030204" pitchFamily="34" charset="0"/>
                  </a:endParaRPr>
                </a:p>
              </p:txBody>
            </p:sp>
            <p:sp>
              <p:nvSpPr>
                <p:cNvPr id="27680" name="Line 42">
                  <a:extLst>
                    <a:ext uri="{FF2B5EF4-FFF2-40B4-BE49-F238E27FC236}">
                      <a16:creationId xmlns:a16="http://schemas.microsoft.com/office/drawing/2014/main" id="{C4BBEE16-9E0E-46FB-A4BB-FBB020A46B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95" y="2121"/>
                  <a:ext cx="1" cy="1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it-IT"/>
                </a:p>
              </p:txBody>
            </p:sp>
            <p:sp>
              <p:nvSpPr>
                <p:cNvPr id="27681" name="Text Box 43">
                  <a:extLst>
                    <a:ext uri="{FF2B5EF4-FFF2-40B4-BE49-F238E27FC236}">
                      <a16:creationId xmlns:a16="http://schemas.microsoft.com/office/drawing/2014/main" id="{6D4E6CB3-6FBB-42FC-B368-DD83A29525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76" y="2304"/>
                  <a:ext cx="240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ヒラギノ角ゴ Pro W3"/>
                      <a:cs typeface="ヒラギノ角ゴ Pro W3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en-US" altLang="it-IT" sz="1200">
                      <a:latin typeface="Arial Rounded MT Bold" panose="020F0704030504030204" pitchFamily="34" charset="0"/>
                    </a:rPr>
                    <a:t>0</a:t>
                  </a:r>
                  <a:endParaRPr lang="en-US" altLang="it-IT" sz="1600">
                    <a:latin typeface="Arial Rounded MT Bold" panose="020F0704030504030204" pitchFamily="34" charset="0"/>
                  </a:endParaRPr>
                </a:p>
              </p:txBody>
            </p:sp>
          </p:grpSp>
          <p:sp>
            <p:nvSpPr>
              <p:cNvPr id="27676" name="Oval 44">
                <a:extLst>
                  <a:ext uri="{FF2B5EF4-FFF2-40B4-BE49-F238E27FC236}">
                    <a16:creationId xmlns:a16="http://schemas.microsoft.com/office/drawing/2014/main" id="{8461F0D0-73EC-430A-9C3A-799CCBEFE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2256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 i="1">
                    <a:latin typeface="Arial Rounded MT Bold" panose="020F0704030504030204" pitchFamily="34" charset="0"/>
                  </a:rPr>
                  <a:t>List</a:t>
                </a:r>
              </a:p>
            </p:txBody>
          </p:sp>
          <p:sp>
            <p:nvSpPr>
              <p:cNvPr id="27677" name="Line 45">
                <a:extLst>
                  <a:ext uri="{FF2B5EF4-FFF2-40B4-BE49-F238E27FC236}">
                    <a16:creationId xmlns:a16="http://schemas.microsoft.com/office/drawing/2014/main" id="{C6E35AAD-3018-4814-93DB-F9C6F6A2C2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03" y="2086"/>
                <a:ext cx="175" cy="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7678" name="Line 46">
                <a:extLst>
                  <a:ext uri="{FF2B5EF4-FFF2-40B4-BE49-F238E27FC236}">
                    <a16:creationId xmlns:a16="http://schemas.microsoft.com/office/drawing/2014/main" id="{1D8E2EF6-D4D9-4A9A-8D48-B59C470AA2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42" y="2093"/>
                <a:ext cx="175" cy="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</p:grpSp>
        <p:grpSp>
          <p:nvGrpSpPr>
            <p:cNvPr id="27669" name="Group 47">
              <a:extLst>
                <a:ext uri="{FF2B5EF4-FFF2-40B4-BE49-F238E27FC236}">
                  <a16:creationId xmlns:a16="http://schemas.microsoft.com/office/drawing/2014/main" id="{0C50001B-EDB7-450A-BDCB-F1DC897D95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0" y="4300538"/>
              <a:ext cx="457200" cy="1036638"/>
              <a:chOff x="4552" y="1824"/>
              <a:chExt cx="288" cy="653"/>
            </a:xfrm>
          </p:grpSpPr>
          <p:sp>
            <p:nvSpPr>
              <p:cNvPr id="27672" name="Oval 48">
                <a:extLst>
                  <a:ext uri="{FF2B5EF4-FFF2-40B4-BE49-F238E27FC236}">
                    <a16:creationId xmlns:a16="http://schemas.microsoft.com/office/drawing/2014/main" id="{1DB231B4-C74E-471C-AA61-CE054031D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2" y="1824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/>
                <a:r>
                  <a:rPr lang="en-US" altLang="it-IT" sz="1200" i="1">
                    <a:latin typeface="Arial Rounded MT Bold" panose="020F0704030504030204" pitchFamily="34" charset="0"/>
                  </a:rPr>
                  <a:t>Bit</a:t>
                </a:r>
                <a:endParaRPr lang="en-US" altLang="it-IT" sz="1200">
                  <a:latin typeface="Arial Rounded MT Bold" panose="020F0704030504030204" pitchFamily="34" charset="0"/>
                </a:endParaRPr>
              </a:p>
            </p:txBody>
          </p:sp>
          <p:sp>
            <p:nvSpPr>
              <p:cNvPr id="27673" name="Line 49">
                <a:extLst>
                  <a:ext uri="{FF2B5EF4-FFF2-40B4-BE49-F238E27FC236}">
                    <a16:creationId xmlns:a16="http://schemas.microsoft.com/office/drawing/2014/main" id="{02163CA4-0873-44A1-93FE-A023BAD9A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95" y="2121"/>
                <a:ext cx="1" cy="1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it-IT"/>
              </a:p>
            </p:txBody>
          </p:sp>
          <p:sp>
            <p:nvSpPr>
              <p:cNvPr id="27674" name="Text Box 50">
                <a:extLst>
                  <a:ext uri="{FF2B5EF4-FFF2-40B4-BE49-F238E27FC236}">
                    <a16:creationId xmlns:a16="http://schemas.microsoft.com/office/drawing/2014/main" id="{E68744ED-4043-4723-BA9C-ECF514F5D8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6" y="2304"/>
                <a:ext cx="24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ヒラギノ角ゴ Pro W3"/>
                    <a:cs typeface="ヒラギノ角ゴ Pro W3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it-IT" sz="1200">
                    <a:latin typeface="Arial Rounded MT Bold" panose="020F0704030504030204" pitchFamily="34" charset="0"/>
                  </a:rPr>
                  <a:t>1</a:t>
                </a:r>
                <a:endParaRPr lang="en-US" altLang="it-IT" sz="1600"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27670" name="Line 51">
              <a:extLst>
                <a:ext uri="{FF2B5EF4-FFF2-40B4-BE49-F238E27FC236}">
                  <a16:creationId xmlns:a16="http://schemas.microsoft.com/office/drawing/2014/main" id="{74957131-9735-4B58-B2ED-72267CB2A7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19838" y="4064000"/>
              <a:ext cx="0" cy="238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" name="Text Box 53">
              <a:extLst>
                <a:ext uri="{FF2B5EF4-FFF2-40B4-BE49-F238E27FC236}">
                  <a16:creationId xmlns:a16="http://schemas.microsoft.com/office/drawing/2014/main" id="{7E4EC5B5-4742-4D0B-BDAF-7DC3130D14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1295400"/>
              <a:ext cx="1295400" cy="349250"/>
            </a:xfrm>
            <a:prstGeom prst="rect">
              <a:avLst/>
            </a:prstGeom>
            <a:noFill/>
            <a:ln w="19050">
              <a:solidFill>
                <a:srgbClr val="7F7F7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For “–101”</a:t>
              </a:r>
              <a:endParaRPr lang="en-US" altLang="it-IT" sz="1600">
                <a:latin typeface="Arial Narrow" panose="020B0606020202030204" pitchFamily="34" charset="0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Footer Placeholder 3">
            <a:extLst>
              <a:ext uri="{FF2B5EF4-FFF2-40B4-BE49-F238E27FC236}">
                <a16:creationId xmlns:a16="http://schemas.microsoft.com/office/drawing/2014/main" id="{BD5DB409-3818-4ECF-9E69-89C5618E15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29698" name="Slide Number Placeholder 4">
            <a:extLst>
              <a:ext uri="{FF2B5EF4-FFF2-40B4-BE49-F238E27FC236}">
                <a16:creationId xmlns:a16="http://schemas.microsoft.com/office/drawing/2014/main" id="{AA4B9BD9-DF40-4941-AE9B-521EF56E11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97F783F-2D02-4160-B185-01AB822B102D}" type="slidenum">
              <a:rPr lang="en-US" altLang="it-IT"/>
              <a:pPr/>
              <a:t>7</a:t>
            </a:fld>
            <a:endParaRPr lang="en-US" altLang="it-IT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FAD3794C-D73D-48DE-9224-6CAF8DB64F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altLang="it-IT"/>
              <a:t>Attribute Grammars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58B7837C-E477-4E71-8D71-2FD186A3C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8077200" cy="4953000"/>
          </a:xfrm>
        </p:spPr>
        <p:txBody>
          <a:bodyPr/>
          <a:lstStyle/>
          <a:p>
            <a:pPr eaLnBrk="1" hangingPunct="1">
              <a:lnSpc>
                <a:spcPct val="50000"/>
              </a:lnSpc>
              <a:spcBef>
                <a:spcPct val="0"/>
              </a:spcBef>
              <a:buFont typeface="Times" panose="02020603050405020304" pitchFamily="18" charset="0"/>
              <a:buNone/>
            </a:pPr>
            <a:endParaRPr lang="en-US" altLang="it-IT"/>
          </a:p>
          <a:p>
            <a:pPr eaLnBrk="1" hangingPunct="1">
              <a:spcBef>
                <a:spcPct val="0"/>
              </a:spcBef>
              <a:buFont typeface="Times" panose="02020603050405020304" pitchFamily="18" charset="0"/>
              <a:buNone/>
            </a:pPr>
            <a:r>
              <a:rPr lang="en-US" altLang="it-IT"/>
              <a:t>Add rules to compute the decimal value of a signed binary number</a:t>
            </a:r>
          </a:p>
        </p:txBody>
      </p:sp>
      <p:graphicFrame>
        <p:nvGraphicFramePr>
          <p:cNvPr id="17473" name="Group 65">
            <a:extLst>
              <a:ext uri="{FF2B5EF4-FFF2-40B4-BE49-F238E27FC236}">
                <a16:creationId xmlns:a16="http://schemas.microsoft.com/office/drawing/2014/main" id="{E2407C81-D089-43F4-A5D9-24686E8A688A}"/>
              </a:ext>
            </a:extLst>
          </p:cNvPr>
          <p:cNvGraphicFramePr>
            <a:graphicFrameLocks noGrp="1"/>
          </p:cNvGraphicFramePr>
          <p:nvPr/>
        </p:nvGraphicFramePr>
        <p:xfrm>
          <a:off x="6629400" y="1797050"/>
          <a:ext cx="2209800" cy="1554480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Symbol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Attributes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val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Sign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neg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pos,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val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pos,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val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664" name="Group 256">
            <a:extLst>
              <a:ext uri="{FF2B5EF4-FFF2-40B4-BE49-F238E27FC236}">
                <a16:creationId xmlns:a16="http://schemas.microsoft.com/office/drawing/2014/main" id="{3648480F-8583-48C7-BB18-8B329BB38FED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1800225"/>
          <a:ext cx="5105400" cy="4005072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425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Productions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Attribution Rules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Sign 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List.pos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if Sign.neg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  then Number.val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-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List.val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else </a:t>
                      </a:r>
                      <a:r>
                        <a:rPr kumimoji="0" lang="en-US" sz="1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Number.val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List.val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Sign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</a:t>
                      </a:r>
                      <a:endParaRPr kumimoji="0" lang="en-US" sz="1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Sign.neg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false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endParaRPr kumimoji="0" lang="en-US" sz="1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Sign.neg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true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4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4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4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.pos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4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.pos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Bit.pos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4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.pos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4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.val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4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.val + </a:t>
                      </a:r>
                      <a:r>
                        <a:rPr kumimoji="0" lang="en-US" sz="1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Bit.val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endParaRPr kumimoji="0" lang="en-US" sz="1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Bit.pos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List.pos</a:t>
                      </a:r>
                      <a:endParaRPr kumimoji="0" lang="en-US" sz="1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List.val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Bit.val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1</a:t>
                      </a:r>
                      <a:endParaRPr kumimoji="0" lang="en-US" sz="1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2</a:t>
                      </a:r>
                      <a:r>
                        <a:rPr kumimoji="0" lang="en-US" sz="1400" b="0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Bit.pos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B025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Footer Placeholder 3">
            <a:extLst>
              <a:ext uri="{FF2B5EF4-FFF2-40B4-BE49-F238E27FC236}">
                <a16:creationId xmlns:a16="http://schemas.microsoft.com/office/drawing/2014/main" id="{B0258DA3-F8E8-425E-B4DE-783454AD58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1746" name="Slide Number Placeholder 4">
            <a:extLst>
              <a:ext uri="{FF2B5EF4-FFF2-40B4-BE49-F238E27FC236}">
                <a16:creationId xmlns:a16="http://schemas.microsoft.com/office/drawing/2014/main" id="{CBBD4721-E9B1-49D2-9C70-904E2870EF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F0A7501-0184-4CE0-A6EF-CA31A2C4DA59}" type="slidenum">
              <a:rPr lang="en-US" altLang="it-IT"/>
              <a:pPr/>
              <a:t>8</a:t>
            </a:fld>
            <a:endParaRPr lang="en-US" altLang="it-IT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CAB065EC-9707-4E8B-9A1D-248A73B8A0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altLang="it-IT"/>
              <a:t>Back to the Examples</a:t>
            </a:r>
          </a:p>
        </p:txBody>
      </p:sp>
      <p:grpSp>
        <p:nvGrpSpPr>
          <p:cNvPr id="2" name="Group 30">
            <a:extLst>
              <a:ext uri="{FF2B5EF4-FFF2-40B4-BE49-F238E27FC236}">
                <a16:creationId xmlns:a16="http://schemas.microsoft.com/office/drawing/2014/main" id="{12E3AD80-974B-4C7D-B366-B51385320EA9}"/>
              </a:ext>
            </a:extLst>
          </p:cNvPr>
          <p:cNvGrpSpPr/>
          <p:nvPr/>
        </p:nvGrpSpPr>
        <p:grpSpPr>
          <a:xfrm>
            <a:off x="762000" y="1524000"/>
            <a:ext cx="4038600" cy="2819400"/>
            <a:chOff x="762000" y="1524000"/>
            <a:chExt cx="4038600" cy="2819400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sp>
          <p:nvSpPr>
            <p:cNvPr id="31757" name="Rectangle 24">
              <a:extLst>
                <a:ext uri="{FF2B5EF4-FFF2-40B4-BE49-F238E27FC236}">
                  <a16:creationId xmlns:a16="http://schemas.microsoft.com/office/drawing/2014/main" id="{53D31041-1FBB-4A53-8E0D-6E66934DB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1524000"/>
              <a:ext cx="4038600" cy="28194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grpSp>
          <p:nvGrpSpPr>
            <p:cNvPr id="3" name="Group 5">
              <a:extLst>
                <a:ext uri="{FF2B5EF4-FFF2-40B4-BE49-F238E27FC236}">
                  <a16:creationId xmlns:a16="http://schemas.microsoft.com/office/drawing/2014/main" id="{33905E31-E680-4051-B80C-D94FDB9284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0200" y="1828800"/>
              <a:ext cx="1358900" cy="2484438"/>
              <a:chOff x="864" y="1392"/>
              <a:chExt cx="856" cy="1565"/>
            </a:xfrm>
          </p:grpSpPr>
          <p:sp>
            <p:nvSpPr>
              <p:cNvPr id="31763" name="Oval 6">
                <a:extLst>
                  <a:ext uri="{FF2B5EF4-FFF2-40B4-BE49-F238E27FC236}">
                    <a16:creationId xmlns:a16="http://schemas.microsoft.com/office/drawing/2014/main" id="{D5875CE1-C9EF-436D-BE9E-9594A4A569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392"/>
                <a:ext cx="432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200" i="1">
                    <a:latin typeface="Arial Rounded MT Bold" charset="0"/>
                    <a:ea typeface="ヒラギノ角ゴ Pro W3" charset="-128"/>
                    <a:cs typeface="ヒラギノ角ゴ Pro W3" charset="-128"/>
                  </a:rPr>
                  <a:t>Number</a:t>
                </a:r>
                <a:endParaRPr lang="en-US" sz="1200">
                  <a:latin typeface="Arial Rounded MT Bold" charset="0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31764" name="Line 7">
                <a:extLst>
                  <a:ext uri="{FF2B5EF4-FFF2-40B4-BE49-F238E27FC236}">
                    <a16:creationId xmlns:a16="http://schemas.microsoft.com/office/drawing/2014/main" id="{ECBB70A9-3510-4574-9268-B5852DC147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59" y="1675"/>
                <a:ext cx="148" cy="2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Comic Sans MS" charset="0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31765" name="Line 8">
                <a:extLst>
                  <a:ext uri="{FF2B5EF4-FFF2-40B4-BE49-F238E27FC236}">
                    <a16:creationId xmlns:a16="http://schemas.microsoft.com/office/drawing/2014/main" id="{2739F47D-1373-436D-98EB-45326B92AC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4" y="1674"/>
                <a:ext cx="159" cy="2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Comic Sans MS" charset="0"/>
                  <a:ea typeface="ヒラギノ角ゴ Pro W3" charset="-128"/>
                  <a:cs typeface="ヒラギノ角ゴ Pro W3" charset="-128"/>
                </a:endParaRPr>
              </a:p>
            </p:txBody>
          </p:sp>
          <p:grpSp>
            <p:nvGrpSpPr>
              <p:cNvPr id="4" name="Group 9">
                <a:extLst>
                  <a:ext uri="{FF2B5EF4-FFF2-40B4-BE49-F238E27FC236}">
                    <a16:creationId xmlns:a16="http://schemas.microsoft.com/office/drawing/2014/main" id="{62DCCE21-7785-49F2-A58B-3E2CE26B4C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2" y="1872"/>
                <a:ext cx="288" cy="1085"/>
                <a:chOff x="1200" y="2592"/>
                <a:chExt cx="288" cy="1085"/>
              </a:xfrm>
            </p:grpSpPr>
            <p:sp>
              <p:nvSpPr>
                <p:cNvPr id="31770" name="Oval 10">
                  <a:extLst>
                    <a:ext uri="{FF2B5EF4-FFF2-40B4-BE49-F238E27FC236}">
                      <a16:creationId xmlns:a16="http://schemas.microsoft.com/office/drawing/2014/main" id="{2A5FC448-949A-44D1-A97E-DF0D4D385A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592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200" i="1">
                      <a:latin typeface="Arial Rounded MT Bold" charset="0"/>
                      <a:ea typeface="ヒラギノ角ゴ Pro W3" charset="-128"/>
                      <a:cs typeface="ヒラギノ角ゴ Pro W3" charset="-128"/>
                    </a:rPr>
                    <a:t>List</a:t>
                  </a:r>
                </a:p>
              </p:txBody>
            </p:sp>
            <p:sp>
              <p:nvSpPr>
                <p:cNvPr id="31771" name="Oval 11">
                  <a:extLst>
                    <a:ext uri="{FF2B5EF4-FFF2-40B4-BE49-F238E27FC236}">
                      <a16:creationId xmlns:a16="http://schemas.microsoft.com/office/drawing/2014/main" id="{9C30AC85-2D00-4A60-B5AA-F64BD11F5A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3024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sz="1200" i="1">
                      <a:latin typeface="Arial Rounded MT Bold" charset="0"/>
                      <a:ea typeface="ヒラギノ角ゴ Pro W3" charset="-128"/>
                      <a:cs typeface="ヒラギノ角ゴ Pro W3" charset="-128"/>
                    </a:rPr>
                    <a:t>Bit</a:t>
                  </a:r>
                  <a:endParaRPr lang="en-US" sz="1200">
                    <a:latin typeface="Arial Rounded MT Bold" charset="0"/>
                    <a:ea typeface="ヒラギノ角ゴ Pro W3" charset="-128"/>
                    <a:cs typeface="ヒラギノ角ゴ Pro W3" charset="-128"/>
                  </a:endParaRPr>
                </a:p>
              </p:txBody>
            </p:sp>
            <p:sp>
              <p:nvSpPr>
                <p:cNvPr id="31772" name="Line 12">
                  <a:extLst>
                    <a:ext uri="{FF2B5EF4-FFF2-40B4-BE49-F238E27FC236}">
                      <a16:creationId xmlns:a16="http://schemas.microsoft.com/office/drawing/2014/main" id="{A8C2094C-2059-4772-8D33-16813358B9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4" y="2880"/>
                  <a:ext cx="1" cy="1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pPr eaLnBrk="0" hangingPunct="0">
                    <a:defRPr/>
                  </a:pPr>
                  <a:endParaRPr lang="en-US">
                    <a:latin typeface="Comic Sans MS" charset="0"/>
                    <a:ea typeface="ヒラギノ角ゴ Pro W3" charset="-128"/>
                    <a:cs typeface="ヒラギノ角ゴ Pro W3" charset="-128"/>
                  </a:endParaRPr>
                </a:p>
              </p:txBody>
            </p:sp>
            <p:sp>
              <p:nvSpPr>
                <p:cNvPr id="31773" name="Line 13">
                  <a:extLst>
                    <a:ext uri="{FF2B5EF4-FFF2-40B4-BE49-F238E27FC236}">
                      <a16:creationId xmlns:a16="http://schemas.microsoft.com/office/drawing/2014/main" id="{E174D2CD-6810-4DBB-A8EA-82EE207682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3" y="3321"/>
                  <a:ext cx="1" cy="1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pPr eaLnBrk="0" hangingPunct="0">
                    <a:defRPr/>
                  </a:pPr>
                  <a:endParaRPr lang="en-US">
                    <a:latin typeface="Comic Sans MS" charset="0"/>
                    <a:ea typeface="ヒラギノ角ゴ Pro W3" charset="-128"/>
                    <a:cs typeface="ヒラギノ角ゴ Pro W3" charset="-128"/>
                  </a:endParaRPr>
                </a:p>
              </p:txBody>
            </p:sp>
            <p:sp>
              <p:nvSpPr>
                <p:cNvPr id="31774" name="Text Box 14">
                  <a:extLst>
                    <a:ext uri="{FF2B5EF4-FFF2-40B4-BE49-F238E27FC236}">
                      <a16:creationId xmlns:a16="http://schemas.microsoft.com/office/drawing/2014/main" id="{A5C8E564-FF77-4CAE-BB9D-862F4CD6DF6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24" y="3504"/>
                  <a:ext cx="240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 eaLnBrk="0" hangingPunct="0">
                    <a:spcBef>
                      <a:spcPct val="50000"/>
                    </a:spcBef>
                    <a:defRPr/>
                  </a:pPr>
                  <a:r>
                    <a:rPr lang="en-US" sz="1200">
                      <a:latin typeface="Arial Rounded MT Bold" charset="0"/>
                      <a:ea typeface="ヒラギノ角ゴ Pro W3" charset="-128"/>
                      <a:cs typeface="ヒラギノ角ゴ Pro W3" charset="-128"/>
                    </a:rPr>
                    <a:t>1</a:t>
                  </a:r>
                  <a:endParaRPr lang="en-US" sz="1600">
                    <a:latin typeface="Arial Rounded MT Bold" charset="0"/>
                    <a:ea typeface="ヒラギノ角ゴ Pro W3" charset="-128"/>
                    <a:cs typeface="ヒラギノ角ゴ Pro W3" charset="-128"/>
                  </a:endParaRPr>
                </a:p>
              </p:txBody>
            </p:sp>
          </p:grpSp>
          <p:sp>
            <p:nvSpPr>
              <p:cNvPr id="31767" name="Oval 15">
                <a:extLst>
                  <a:ext uri="{FF2B5EF4-FFF2-40B4-BE49-F238E27FC236}">
                    <a16:creationId xmlns:a16="http://schemas.microsoft.com/office/drawing/2014/main" id="{FEBCA573-77BB-45FB-A3A0-B824202A7B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5" y="1867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eaLnBrk="0" hangingPunct="0">
                  <a:defRPr/>
                </a:pPr>
                <a:r>
                  <a:rPr lang="en-US" sz="1200" i="1">
                    <a:latin typeface="Arial Rounded MT Bold" charset="0"/>
                    <a:ea typeface="ヒラギノ角ゴ Pro W3" charset="-128"/>
                    <a:cs typeface="ヒラギノ角ゴ Pro W3" charset="-128"/>
                  </a:rPr>
                  <a:t>Sign</a:t>
                </a:r>
                <a:endParaRPr lang="en-US" sz="1200">
                  <a:latin typeface="Arial Rounded MT Bold" charset="0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31768" name="Line 16">
                <a:extLst>
                  <a:ext uri="{FF2B5EF4-FFF2-40B4-BE49-F238E27FC236}">
                    <a16:creationId xmlns:a16="http://schemas.microsoft.com/office/drawing/2014/main" id="{852AFFDF-4F2F-4575-9F6C-0A42E9CB20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157"/>
                <a:ext cx="1" cy="1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en-US">
                  <a:latin typeface="Comic Sans MS" charset="0"/>
                  <a:ea typeface="ヒラギノ角ゴ Pro W3" charset="-128"/>
                  <a:cs typeface="ヒラギノ角ゴ Pro W3" charset="-128"/>
                </a:endParaRPr>
              </a:p>
            </p:txBody>
          </p:sp>
          <p:sp>
            <p:nvSpPr>
              <p:cNvPr id="31769" name="Text Box 17">
                <a:extLst>
                  <a:ext uri="{FF2B5EF4-FFF2-40B4-BE49-F238E27FC236}">
                    <a16:creationId xmlns:a16="http://schemas.microsoft.com/office/drawing/2014/main" id="{EA7EEB98-8469-4EF7-899C-361B306F92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304"/>
                <a:ext cx="288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  <a:defRPr/>
                </a:pPr>
                <a:r>
                  <a:rPr lang="en-US" sz="1600">
                    <a:latin typeface="Arial Rounded MT Bold" charset="0"/>
                    <a:ea typeface="ヒラギノ角ゴ Pro W3" charset="-128"/>
                    <a:cs typeface="ヒラギノ角ゴ Pro W3" charset="-128"/>
                  </a:rPr>
                  <a:t>–</a:t>
                </a:r>
              </a:p>
            </p:txBody>
          </p:sp>
        </p:grpSp>
        <p:sp>
          <p:nvSpPr>
            <p:cNvPr id="31759" name="Text Box 18">
              <a:extLst>
                <a:ext uri="{FF2B5EF4-FFF2-40B4-BE49-F238E27FC236}">
                  <a16:creationId xmlns:a16="http://schemas.microsoft.com/office/drawing/2014/main" id="{A11B5CBC-3113-473C-8D8B-D3F5C363E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2362200"/>
              <a:ext cx="10668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neg </a:t>
              </a: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  <a:sym typeface="Symbol" charset="2"/>
                </a:rPr>
                <a:t> true</a:t>
              </a:r>
              <a:endParaRPr lang="en-US" sz="1400">
                <a:latin typeface="Arial Narrow Bold Italic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1760" name="Text Box 19">
              <a:extLst>
                <a:ext uri="{FF2B5EF4-FFF2-40B4-BE49-F238E27FC236}">
                  <a16:creationId xmlns:a16="http://schemas.microsoft.com/office/drawing/2014/main" id="{E0C4FF19-25B8-44F9-801C-1FC9647D38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4013" y="3224213"/>
              <a:ext cx="1600200" cy="58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Bit.pos </a:t>
              </a: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  <a:sym typeface="Symbol" charset="2"/>
                </a:rPr>
                <a:t> 0</a:t>
              </a:r>
            </a:p>
            <a:p>
              <a:pPr eaLnBrk="0" hangingPunct="0">
                <a:spcBef>
                  <a:spcPct val="3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Bit.val </a:t>
              </a: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  <a:sym typeface="Symbol" charset="2"/>
                </a:rPr>
                <a:t> 2</a:t>
              </a:r>
              <a:r>
                <a:rPr lang="en-US" sz="1400" b="1" i="1" baseline="30000">
                  <a:latin typeface="Arial Narrow" charset="0"/>
                  <a:ea typeface="ヒラギノ角ゴ Pro W3" charset="-128"/>
                  <a:cs typeface="ヒラギノ角ゴ Pro W3" charset="-128"/>
                  <a:sym typeface="Symbol" charset="2"/>
                </a:rPr>
                <a:t>Bit.pos </a:t>
              </a: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  <a:sym typeface="Symbol" charset="2"/>
                </a:rPr>
                <a:t> 1</a:t>
              </a:r>
              <a:endParaRPr lang="en-US" sz="1400">
                <a:latin typeface="Arial Narrow Bold Italic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1761" name="Text Box 20">
              <a:extLst>
                <a:ext uri="{FF2B5EF4-FFF2-40B4-BE49-F238E27FC236}">
                  <a16:creationId xmlns:a16="http://schemas.microsoft.com/office/drawing/2014/main" id="{5610E33E-68C5-42FC-844E-3472CC0952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4013" y="2514600"/>
              <a:ext cx="1830388" cy="581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List.pos </a:t>
              </a: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  <a:sym typeface="Symbol" charset="2"/>
                </a:rPr>
                <a:t> 0</a:t>
              </a:r>
              <a:endParaRPr lang="en-US" sz="1400" b="1" i="1">
                <a:latin typeface="Arial Narrow" charset="0"/>
                <a:ea typeface="ヒラギノ角ゴ Pro W3" charset="-128"/>
                <a:cs typeface="ヒラギノ角ゴ Pro W3" charset="-128"/>
              </a:endParaRPr>
            </a:p>
            <a:p>
              <a:pPr eaLnBrk="0" hangingPunct="0">
                <a:spcBef>
                  <a:spcPct val="3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List.val </a:t>
              </a: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  <a:sym typeface="Symbol" charset="2"/>
                </a:rPr>
                <a:t> Bit.val  1</a:t>
              </a:r>
              <a:endParaRPr lang="en-US" sz="1400">
                <a:latin typeface="Arial Narrow Bold Italic" charset="0"/>
                <a:ea typeface="ヒラギノ角ゴ Pro W3" charset="-128"/>
                <a:cs typeface="ヒラギノ角ゴ Pro W3" charset="-128"/>
                <a:sym typeface="Symbol" charset="2"/>
              </a:endParaRPr>
            </a:p>
          </p:txBody>
        </p:sp>
        <p:sp>
          <p:nvSpPr>
            <p:cNvPr id="31762" name="Text Box 21">
              <a:extLst>
                <a:ext uri="{FF2B5EF4-FFF2-40B4-BE49-F238E27FC236}">
                  <a16:creationId xmlns:a16="http://schemas.microsoft.com/office/drawing/2014/main" id="{A6D5C179-980A-46CA-9479-86B04BF9F1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600" y="1600200"/>
              <a:ext cx="2286000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3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Number.val </a:t>
              </a: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  <a:sym typeface="Symbol" charset="2"/>
                </a:rPr>
                <a:t>  – List.val  –1</a:t>
              </a:r>
              <a:endParaRPr lang="en-US" sz="1400">
                <a:latin typeface="Arial Narrow Bold Italic" charset="0"/>
                <a:ea typeface="ヒラギノ角ゴ Pro W3" charset="-128"/>
                <a:cs typeface="ヒラギノ角ゴ Pro W3" charset="-128"/>
                <a:sym typeface="Symbol" charset="2"/>
              </a:endParaRPr>
            </a:p>
          </p:txBody>
        </p:sp>
        <p:sp>
          <p:nvSpPr>
            <p:cNvPr id="31756" name="Text Box 23">
              <a:extLst>
                <a:ext uri="{FF2B5EF4-FFF2-40B4-BE49-F238E27FC236}">
                  <a16:creationId xmlns:a16="http://schemas.microsoft.com/office/drawing/2014/main" id="{F10E88D5-22BA-4DF5-B718-5DAF559361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1524000"/>
              <a:ext cx="1143000" cy="355600"/>
            </a:xfrm>
            <a:prstGeom prst="rect">
              <a:avLst/>
            </a:prstGeom>
            <a:noFill/>
            <a:ln w="19050">
              <a:solidFill>
                <a:srgbClr val="7F7F7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600">
                  <a:solidFill>
                    <a:srgbClr val="FF0065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For “–1”</a:t>
              </a:r>
            </a:p>
          </p:txBody>
        </p:sp>
      </p:grpSp>
      <p:sp>
        <p:nvSpPr>
          <p:cNvPr id="31750" name="Text Box 25">
            <a:extLst>
              <a:ext uri="{FF2B5EF4-FFF2-40B4-BE49-F238E27FC236}">
                <a16:creationId xmlns:a16="http://schemas.microsoft.com/office/drawing/2014/main" id="{2683D843-7428-4AA7-9FE0-2C851DFCE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524000"/>
            <a:ext cx="3276600" cy="253365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One possible evaluation order:</a:t>
            </a:r>
          </a:p>
          <a:p>
            <a:pPr lvl="1" eaLnBrk="0" hangingPunct="0">
              <a:lnSpc>
                <a:spcPct val="90000"/>
              </a:lnSpc>
              <a:spcBef>
                <a:spcPct val="60000"/>
              </a:spcBef>
              <a:buClr>
                <a:srgbClr val="003C75"/>
              </a:buClr>
              <a:buSzPct val="90000"/>
              <a:buFontTx/>
              <a:buChar char="1"/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 List.pos </a:t>
            </a:r>
          </a:p>
          <a:p>
            <a:pPr lvl="1" eaLnBrk="0" hangingPunct="0">
              <a:lnSpc>
                <a:spcPct val="90000"/>
              </a:lnSpc>
              <a:spcBef>
                <a:spcPct val="30000"/>
              </a:spcBef>
              <a:buClr>
                <a:srgbClr val="003C75"/>
              </a:buClr>
              <a:buSzPct val="90000"/>
              <a:buFontTx/>
              <a:buChar char="2"/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 Sign.neg</a:t>
            </a:r>
          </a:p>
          <a:p>
            <a:pPr lvl="1" eaLnBrk="0" hangingPunct="0">
              <a:lnSpc>
                <a:spcPct val="90000"/>
              </a:lnSpc>
              <a:spcBef>
                <a:spcPct val="30000"/>
              </a:spcBef>
              <a:buClr>
                <a:srgbClr val="003C75"/>
              </a:buClr>
              <a:buSzPct val="90000"/>
              <a:buFontTx/>
              <a:buChar char="3"/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 Bit.pos</a:t>
            </a:r>
          </a:p>
          <a:p>
            <a:pPr lvl="1" eaLnBrk="0" hangingPunct="0">
              <a:lnSpc>
                <a:spcPct val="90000"/>
              </a:lnSpc>
              <a:spcBef>
                <a:spcPct val="30000"/>
              </a:spcBef>
              <a:buClr>
                <a:srgbClr val="003C75"/>
              </a:buClr>
              <a:buSzPct val="90000"/>
              <a:buFontTx/>
              <a:buChar char="4"/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 Bit.val</a:t>
            </a:r>
          </a:p>
          <a:p>
            <a:pPr lvl="1" eaLnBrk="0" hangingPunct="0">
              <a:lnSpc>
                <a:spcPct val="90000"/>
              </a:lnSpc>
              <a:spcBef>
                <a:spcPct val="30000"/>
              </a:spcBef>
              <a:buClr>
                <a:srgbClr val="003C75"/>
              </a:buClr>
              <a:buSzPct val="90000"/>
              <a:buFontTx/>
              <a:buChar char="5"/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 List.val</a:t>
            </a:r>
          </a:p>
          <a:p>
            <a:pPr lvl="1" eaLnBrk="0" hangingPunct="0">
              <a:lnSpc>
                <a:spcPct val="90000"/>
              </a:lnSpc>
              <a:spcBef>
                <a:spcPct val="30000"/>
              </a:spcBef>
              <a:buClr>
                <a:srgbClr val="003C75"/>
              </a:buClr>
              <a:buSzPct val="90000"/>
              <a:buFontTx/>
              <a:buChar char="6"/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 Number.val</a:t>
            </a:r>
          </a:p>
          <a:p>
            <a:pPr eaLnBrk="0" hangingPunct="0">
              <a:lnSpc>
                <a:spcPct val="90000"/>
              </a:lnSpc>
              <a:spcBef>
                <a:spcPct val="60000"/>
              </a:spcBef>
              <a:buClr>
                <a:srgbClr val="0000CC"/>
              </a:buClr>
              <a:buSzPct val="90000"/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Other orders are possible</a:t>
            </a:r>
          </a:p>
        </p:txBody>
      </p:sp>
      <p:sp>
        <p:nvSpPr>
          <p:cNvPr id="31751" name="Text Box 26">
            <a:extLst>
              <a:ext uri="{FF2B5EF4-FFF2-40B4-BE49-F238E27FC236}">
                <a16:creationId xmlns:a16="http://schemas.microsoft.com/office/drawing/2014/main" id="{01BF129B-BB75-4D2A-A6B1-FC1E31F14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648200"/>
            <a:ext cx="6019800" cy="113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40000"/>
              </a:spcBef>
              <a:defRPr/>
            </a:pPr>
            <a:r>
              <a:rPr lang="en-US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Knuth suggested a data-flow model for evaluation</a:t>
            </a:r>
          </a:p>
          <a:p>
            <a:pPr marL="173038" indent="-173038" eaLnBrk="0" hangingPunct="0">
              <a:spcBef>
                <a:spcPct val="4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Independent attributes first</a:t>
            </a:r>
          </a:p>
          <a:p>
            <a:pPr marL="173038" indent="-173038" eaLnBrk="0" hangingPunct="0">
              <a:spcBef>
                <a:spcPct val="4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 dirty="0">
                <a:latin typeface="Comic Sans MS" charset="0"/>
                <a:ea typeface="ヒラギノ角ゴ Pro W3" charset="-128"/>
                <a:cs typeface="ヒラギノ角ゴ Pro W3" charset="-128"/>
              </a:rPr>
              <a:t> Others in order as input values become available</a:t>
            </a:r>
            <a:endParaRPr lang="en-US" dirty="0">
              <a:latin typeface="Arial Rounded MT Bold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31752" name="AutoShape 27">
            <a:extLst>
              <a:ext uri="{FF2B5EF4-FFF2-40B4-BE49-F238E27FC236}">
                <a16:creationId xmlns:a16="http://schemas.microsoft.com/office/drawing/2014/main" id="{1E1779CB-150D-49FC-AED8-B9821BB44E06}"/>
              </a:ext>
            </a:extLst>
          </p:cNvPr>
          <p:cNvSpPr>
            <a:spLocks/>
          </p:cNvSpPr>
          <p:nvPr/>
        </p:nvSpPr>
        <p:spPr bwMode="auto">
          <a:xfrm>
            <a:off x="4648200" y="228600"/>
            <a:ext cx="2514600" cy="523875"/>
          </a:xfrm>
          <a:prstGeom prst="accentBorderCallout1">
            <a:avLst>
              <a:gd name="adj1" fmla="val 14694"/>
              <a:gd name="adj2" fmla="val -3449"/>
              <a:gd name="adj3" fmla="val 280624"/>
              <a:gd name="adj4" fmla="val -92177"/>
            </a:avLst>
          </a:prstGeom>
          <a:noFill/>
          <a:ln w="12700">
            <a:solidFill>
              <a:srgbClr val="FF0065"/>
            </a:solidFill>
            <a:miter lim="800000"/>
            <a:headEnd/>
            <a:tailEnd type="triangle" w="med" len="med"/>
          </a:ln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1400">
                <a:solidFill>
                  <a:srgbClr val="FF0065"/>
                </a:solidFill>
                <a:latin typeface="+mn-lt"/>
                <a:ea typeface="ヒラギノ角ゴ Pro W3" charset="-128"/>
                <a:cs typeface="ヒラギノ角ゴ Pro W3" charset="-128"/>
              </a:rPr>
              <a:t>Rules + parse tree imply an attribute dependence graph</a:t>
            </a:r>
            <a:endParaRPr lang="en-US" sz="1600">
              <a:solidFill>
                <a:srgbClr val="FF0065"/>
              </a:solidFill>
              <a:latin typeface="+mn-lt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5" name="AutoShape 28">
            <a:extLst>
              <a:ext uri="{FF2B5EF4-FFF2-40B4-BE49-F238E27FC236}">
                <a16:creationId xmlns:a16="http://schemas.microsoft.com/office/drawing/2014/main" id="{61C7E328-C510-4339-8E06-DF167F9AFDCD}"/>
              </a:ext>
            </a:extLst>
          </p:cNvPr>
          <p:cNvSpPr>
            <a:spLocks/>
          </p:cNvSpPr>
          <p:nvPr/>
        </p:nvSpPr>
        <p:spPr bwMode="auto">
          <a:xfrm>
            <a:off x="6553200" y="4800600"/>
            <a:ext cx="1905000" cy="955675"/>
          </a:xfrm>
          <a:prstGeom prst="accentBorderCallout1">
            <a:avLst>
              <a:gd name="adj1" fmla="val 10435"/>
              <a:gd name="adj2" fmla="val -4000"/>
              <a:gd name="adj3" fmla="val -77537"/>
              <a:gd name="adj4" fmla="val -16833"/>
            </a:avLst>
          </a:prstGeom>
          <a:noFill/>
          <a:ln w="12700">
            <a:solidFill>
              <a:srgbClr val="FF006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>
                <a:solidFill>
                  <a:srgbClr val="FF0065"/>
                </a:solidFill>
              </a:rPr>
              <a:t>Evaluation order must be consistent with the  attribute dependence graph</a:t>
            </a:r>
            <a:endParaRPr lang="en-US" altLang="it-IT" sz="1600">
              <a:solidFill>
                <a:srgbClr val="FF0065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Footer Placeholder 3">
            <a:extLst>
              <a:ext uri="{FF2B5EF4-FFF2-40B4-BE49-F238E27FC236}">
                <a16:creationId xmlns:a16="http://schemas.microsoft.com/office/drawing/2014/main" id="{BBCABA8D-BBB7-421F-9028-A4B4652BBF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3794" name="Slide Number Placeholder 4">
            <a:extLst>
              <a:ext uri="{FF2B5EF4-FFF2-40B4-BE49-F238E27FC236}">
                <a16:creationId xmlns:a16="http://schemas.microsoft.com/office/drawing/2014/main" id="{CF93156F-D503-4974-9A55-0BB4A2145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6C85909-F226-437D-B920-BEC308A4FB23}" type="slidenum">
              <a:rPr lang="en-US" altLang="it-IT"/>
              <a:pPr/>
              <a:t>9</a:t>
            </a:fld>
            <a:endParaRPr lang="en-US" altLang="it-IT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0766CA99-E572-4B9B-BE40-79AA5E200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altLang="it-IT"/>
              <a:t>Back to the Examples</a:t>
            </a:r>
          </a:p>
        </p:txBody>
      </p:sp>
      <p:sp>
        <p:nvSpPr>
          <p:cNvPr id="33797" name="Text Box 3">
            <a:extLst>
              <a:ext uri="{FF2B5EF4-FFF2-40B4-BE49-F238E27FC236}">
                <a16:creationId xmlns:a16="http://schemas.microsoft.com/office/drawing/2014/main" id="{7FE40C2A-17F0-49FC-AAA8-1D47281D1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490663"/>
            <a:ext cx="2743200" cy="3567112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This is the complete attribute dependence graph for “</a:t>
            </a:r>
            <a:r>
              <a:rPr lang="en-US" sz="16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–101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”.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It shows the flow of </a:t>
            </a: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</a:rPr>
              <a:t>all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 attribute values in the examp</a:t>
            </a:r>
            <a:r>
              <a:rPr lang="en-US" sz="1600" dirty="0"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  <a:latin typeface="Comic Sans MS" charset="0"/>
                <a:ea typeface="ヒラギノ角ゴ Pro W3" charset="-128"/>
                <a:cs typeface="ヒラギノ角ゴ Pro W3" charset="-128"/>
              </a:rPr>
              <a:t>l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e.</a:t>
            </a: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</a:rPr>
              <a:t>Some flow </a:t>
            </a: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</a:rPr>
              <a:t>downward</a:t>
            </a:r>
            <a:endParaRPr lang="en-US" sz="1600" dirty="0">
              <a:latin typeface="Comic Sans MS" charset="0"/>
              <a:ea typeface="ヒラギノ角ゴ Pro W3" charset="-128"/>
              <a:cs typeface="ヒラギノ角ゴ Pro W3" charset="-128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</a:t>
            </a:r>
            <a:r>
              <a:rPr lang="en-US" sz="1600" dirty="0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inherited attributes</a:t>
            </a:r>
            <a:endParaRPr lang="en-US" sz="1600" dirty="0">
              <a:latin typeface="Comic Sans MS" charset="0"/>
              <a:ea typeface="ヒラギノ角ゴ Pro W3" charset="-128"/>
              <a:cs typeface="ヒラギノ角ゴ Pro W3" charset="-128"/>
              <a:sym typeface="Symbol" charset="2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Some flow </a:t>
            </a:r>
            <a:r>
              <a:rPr lang="en-US" sz="1600" i="1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upward</a:t>
            </a:r>
            <a:endParaRPr lang="en-US" sz="1600" dirty="0">
              <a:latin typeface="Comic Sans MS" charset="0"/>
              <a:ea typeface="ヒラギノ角ゴ Pro W3" charset="-128"/>
              <a:cs typeface="ヒラギノ角ゴ Pro W3" charset="-128"/>
              <a:sym typeface="Symbol" charset="2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1600" dirty="0" err="1">
                <a:solidFill>
                  <a:srgbClr val="003C7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</a:t>
            </a: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 </a:t>
            </a:r>
            <a:r>
              <a:rPr lang="en-US" sz="1600" dirty="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synthesized attributes</a:t>
            </a:r>
            <a:endParaRPr lang="en-US" sz="1600" dirty="0">
              <a:latin typeface="Comic Sans MS" charset="0"/>
              <a:ea typeface="ヒラギノ角ゴ Pro W3" charset="-128"/>
              <a:cs typeface="ヒラギノ角ゴ Pro W3" charset="-128"/>
              <a:sym typeface="Symbol" charset="2"/>
            </a:endParaRPr>
          </a:p>
          <a:p>
            <a:pPr eaLnBrk="0" hangingPunct="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1600" dirty="0">
                <a:latin typeface="Comic Sans MS" charset="0"/>
                <a:ea typeface="ヒラギノ角ゴ Pro W3" charset="-128"/>
                <a:cs typeface="ヒラギノ角ゴ Pro W3" charset="-128"/>
                <a:sym typeface="Symbol" charset="2"/>
              </a:rPr>
              <a:t>A rule may use attributes in the parent, children, or siblings of a node</a:t>
            </a:r>
          </a:p>
        </p:txBody>
      </p:sp>
      <p:grpSp>
        <p:nvGrpSpPr>
          <p:cNvPr id="2" name="Group 63">
            <a:extLst>
              <a:ext uri="{FF2B5EF4-FFF2-40B4-BE49-F238E27FC236}">
                <a16:creationId xmlns:a16="http://schemas.microsoft.com/office/drawing/2014/main" id="{B1FF5351-5727-4A33-BDE7-37EF0CD51748}"/>
              </a:ext>
            </a:extLst>
          </p:cNvPr>
          <p:cNvGrpSpPr/>
          <p:nvPr/>
        </p:nvGrpSpPr>
        <p:grpSpPr>
          <a:xfrm>
            <a:off x="838200" y="1447800"/>
            <a:ext cx="4038600" cy="3962400"/>
            <a:chOff x="838200" y="1447800"/>
            <a:chExt cx="4038600" cy="3962400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sp>
          <p:nvSpPr>
            <p:cNvPr id="33800" name="Rectangle 64">
              <a:extLst>
                <a:ext uri="{FF2B5EF4-FFF2-40B4-BE49-F238E27FC236}">
                  <a16:creationId xmlns:a16="http://schemas.microsoft.com/office/drawing/2014/main" id="{2D949865-D52C-458C-9549-B55A6CDC1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1447800"/>
              <a:ext cx="4038600" cy="3962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7F7F7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02" name="Oval 6">
              <a:extLst>
                <a:ext uri="{FF2B5EF4-FFF2-40B4-BE49-F238E27FC236}">
                  <a16:creationId xmlns:a16="http://schemas.microsoft.com/office/drawing/2014/main" id="{A8D38AB3-5CFF-454E-872B-0E806B74E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888" y="1524000"/>
              <a:ext cx="685800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2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Number</a:t>
              </a:r>
              <a:endParaRPr lang="en-US" sz="12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03" name="Line 7">
              <a:extLst>
                <a:ext uri="{FF2B5EF4-FFF2-40B4-BE49-F238E27FC236}">
                  <a16:creationId xmlns:a16="http://schemas.microsoft.com/office/drawing/2014/main" id="{CE553FC6-4B9C-49EA-8A3B-F3FEC018A1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3963" y="1973263"/>
              <a:ext cx="234950" cy="320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04" name="Line 8">
              <a:extLst>
                <a:ext uri="{FF2B5EF4-FFF2-40B4-BE49-F238E27FC236}">
                  <a16:creationId xmlns:a16="http://schemas.microsoft.com/office/drawing/2014/main" id="{9713B50E-1024-4DB7-9CAF-592572F0A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9900" y="1971675"/>
              <a:ext cx="14351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05" name="Oval 9">
              <a:extLst>
                <a:ext uri="{FF2B5EF4-FFF2-40B4-BE49-F238E27FC236}">
                  <a16:creationId xmlns:a16="http://schemas.microsoft.com/office/drawing/2014/main" id="{DD9733ED-D1E7-4301-AE03-7EA9E988F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988" y="2278063"/>
              <a:ext cx="457200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2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Sign</a:t>
              </a:r>
              <a:endParaRPr lang="en-US" sz="12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06" name="Line 10">
              <a:extLst>
                <a:ext uri="{FF2B5EF4-FFF2-40B4-BE49-F238E27FC236}">
                  <a16:creationId xmlns:a16="http://schemas.microsoft.com/office/drawing/2014/main" id="{AC70C3D9-0C03-47C6-989E-D31F2A06EF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43000" y="2738438"/>
              <a:ext cx="0" cy="238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07" name="Text Box 11">
              <a:extLst>
                <a:ext uri="{FF2B5EF4-FFF2-40B4-BE49-F238E27FC236}">
                  <a16:creationId xmlns:a16="http://schemas.microsoft.com/office/drawing/2014/main" id="{994245F0-BCBC-4B87-AF80-21F4A0C9AF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" y="2971800"/>
              <a:ext cx="4572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6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–</a:t>
              </a:r>
            </a:p>
          </p:txBody>
        </p:sp>
        <p:sp>
          <p:nvSpPr>
            <p:cNvPr id="33808" name="Oval 12">
              <a:extLst>
                <a:ext uri="{FF2B5EF4-FFF2-40B4-BE49-F238E27FC236}">
                  <a16:creationId xmlns:a16="http://schemas.microsoft.com/office/drawing/2014/main" id="{7F8B374B-3841-404A-938D-0EE67C951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500" y="2286000"/>
              <a:ext cx="457200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2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List</a:t>
              </a:r>
            </a:p>
          </p:txBody>
        </p:sp>
        <p:sp>
          <p:nvSpPr>
            <p:cNvPr id="33809" name="Oval 13">
              <a:extLst>
                <a:ext uri="{FF2B5EF4-FFF2-40B4-BE49-F238E27FC236}">
                  <a16:creationId xmlns:a16="http://schemas.microsoft.com/office/drawing/2014/main" id="{9833B0C8-64E7-4E58-AEEA-342739F25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8388" y="2963863"/>
              <a:ext cx="457200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2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Bit</a:t>
              </a:r>
              <a:endParaRPr lang="en-US" sz="12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10" name="Line 14">
              <a:extLst>
                <a:ext uri="{FF2B5EF4-FFF2-40B4-BE49-F238E27FC236}">
                  <a16:creationId xmlns:a16="http://schemas.microsoft.com/office/drawing/2014/main" id="{48F9772A-C724-415F-B69A-53B480C669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5400" y="3435350"/>
              <a:ext cx="1588" cy="246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11" name="Text Box 15">
              <a:extLst>
                <a:ext uri="{FF2B5EF4-FFF2-40B4-BE49-F238E27FC236}">
                  <a16:creationId xmlns:a16="http://schemas.microsoft.com/office/drawing/2014/main" id="{CFC61017-2C78-4CF1-AB1D-0BEA9A3F9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6488" y="3648075"/>
              <a:ext cx="3810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2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1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12" name="Oval 16">
              <a:extLst>
                <a:ext uri="{FF2B5EF4-FFF2-40B4-BE49-F238E27FC236}">
                  <a16:creationId xmlns:a16="http://schemas.microsoft.com/office/drawing/2014/main" id="{6329F6BD-DB9E-4FAD-BB1F-6BD3D7F55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0" y="2971800"/>
              <a:ext cx="457200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2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List</a:t>
              </a:r>
            </a:p>
          </p:txBody>
        </p:sp>
        <p:sp>
          <p:nvSpPr>
            <p:cNvPr id="33813" name="Line 17">
              <a:extLst>
                <a:ext uri="{FF2B5EF4-FFF2-40B4-BE49-F238E27FC236}">
                  <a16:creationId xmlns:a16="http://schemas.microsoft.com/office/drawing/2014/main" id="{10A425F4-6993-4912-9FD3-E16238E3C1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7738" y="2693988"/>
              <a:ext cx="277813" cy="27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14" name="Line 18">
              <a:extLst>
                <a:ext uri="{FF2B5EF4-FFF2-40B4-BE49-F238E27FC236}">
                  <a16:creationId xmlns:a16="http://schemas.microsoft.com/office/drawing/2014/main" id="{7624D59F-CDBB-4273-811D-C03A33343F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7138" y="2705100"/>
              <a:ext cx="695325" cy="3127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15" name="Oval 19">
              <a:extLst>
                <a:ext uri="{FF2B5EF4-FFF2-40B4-BE49-F238E27FC236}">
                  <a16:creationId xmlns:a16="http://schemas.microsoft.com/office/drawing/2014/main" id="{5A3246B2-B062-470D-927F-FF79F7795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4138" y="3656013"/>
              <a:ext cx="457200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2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Bit</a:t>
              </a:r>
              <a:endParaRPr lang="en-US" sz="12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16" name="Line 20">
              <a:extLst>
                <a:ext uri="{FF2B5EF4-FFF2-40B4-BE49-F238E27FC236}">
                  <a16:creationId xmlns:a16="http://schemas.microsoft.com/office/drawing/2014/main" id="{0A0E735D-AB46-4478-B8AE-53CF2C5D9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1150" y="4127500"/>
              <a:ext cx="1588" cy="246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17" name="Text Box 21">
              <a:extLst>
                <a:ext uri="{FF2B5EF4-FFF2-40B4-BE49-F238E27FC236}">
                  <a16:creationId xmlns:a16="http://schemas.microsoft.com/office/drawing/2014/main" id="{73E71146-1DC9-4758-BFC8-3B0BC4723A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2238" y="4418013"/>
              <a:ext cx="3810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2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0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18" name="Oval 22">
              <a:extLst>
                <a:ext uri="{FF2B5EF4-FFF2-40B4-BE49-F238E27FC236}">
                  <a16:creationId xmlns:a16="http://schemas.microsoft.com/office/drawing/2014/main" id="{8037489C-F138-4E19-9A95-70F401612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3657600"/>
              <a:ext cx="457200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2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List</a:t>
              </a:r>
            </a:p>
          </p:txBody>
        </p:sp>
        <p:sp>
          <p:nvSpPr>
            <p:cNvPr id="33819" name="Line 23">
              <a:extLst>
                <a:ext uri="{FF2B5EF4-FFF2-40B4-BE49-F238E27FC236}">
                  <a16:creationId xmlns:a16="http://schemas.microsoft.com/office/drawing/2014/main" id="{15E2B66F-CFF3-47C6-A72C-2EE64B0861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3488" y="3386138"/>
              <a:ext cx="277813" cy="279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20" name="Line 24">
              <a:extLst>
                <a:ext uri="{FF2B5EF4-FFF2-40B4-BE49-F238E27FC236}">
                  <a16:creationId xmlns:a16="http://schemas.microsoft.com/office/drawing/2014/main" id="{B7DF5348-AE36-4F64-8A5B-C3EE4BEB38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00200" y="3397250"/>
              <a:ext cx="608013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21" name="Oval 25">
              <a:extLst>
                <a:ext uri="{FF2B5EF4-FFF2-40B4-BE49-F238E27FC236}">
                  <a16:creationId xmlns:a16="http://schemas.microsoft.com/office/drawing/2014/main" id="{617454C3-3463-4CCB-A5AF-770836145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200" y="4352925"/>
              <a:ext cx="457200" cy="457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sz="1200" i="1">
                  <a:latin typeface="Arial Rounded MT Bold" charset="0"/>
                  <a:ea typeface="ヒラギノ角ゴ Pro W3" charset="-128"/>
                  <a:cs typeface="ヒラギノ角ゴ Pro W3" charset="-128"/>
                </a:rPr>
                <a:t>Bit</a:t>
              </a:r>
              <a:endParaRPr lang="en-US" sz="12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22" name="Line 26">
              <a:extLst>
                <a:ext uri="{FF2B5EF4-FFF2-40B4-BE49-F238E27FC236}">
                  <a16:creationId xmlns:a16="http://schemas.microsoft.com/office/drawing/2014/main" id="{29179621-AAB0-4A0B-8CE8-0A49D19D5E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6213" y="4824413"/>
              <a:ext cx="1588" cy="246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23" name="Text Box 27">
              <a:extLst>
                <a:ext uri="{FF2B5EF4-FFF2-40B4-BE49-F238E27FC236}">
                  <a16:creationId xmlns:a16="http://schemas.microsoft.com/office/drawing/2014/main" id="{2CA83D0B-FF22-4D50-B2F1-1EB892DBF3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8100" y="5114925"/>
              <a:ext cx="277813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1200">
                  <a:latin typeface="Arial Rounded MT Bold" charset="0"/>
                  <a:ea typeface="ヒラギノ角ゴ Pro W3" charset="-128"/>
                  <a:cs typeface="ヒラギノ角ゴ Pro W3" charset="-128"/>
                </a:rPr>
                <a:t>1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24" name="Line 28">
              <a:extLst>
                <a:ext uri="{FF2B5EF4-FFF2-40B4-BE49-F238E27FC236}">
                  <a16:creationId xmlns:a16="http://schemas.microsoft.com/office/drawing/2014/main" id="{F1AC87E1-3487-44E3-AF40-A83EC27F1B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7800" y="4116388"/>
              <a:ext cx="0" cy="2381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25" name="Text Box 29">
              <a:extLst>
                <a:ext uri="{FF2B5EF4-FFF2-40B4-BE49-F238E27FC236}">
                  <a16:creationId xmlns:a16="http://schemas.microsoft.com/office/drawing/2014/main" id="{03CF968D-8D13-4C73-9FB5-6AB781492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0663" y="2909888"/>
              <a:ext cx="769938" cy="538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1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pos: </a:t>
              </a:r>
              <a:r>
                <a:rPr lang="en-US" sz="1400" b="1" i="1">
                  <a:solidFill>
                    <a:srgbClr val="B025A6"/>
                  </a:solidFill>
                  <a:latin typeface="Arial Narrow" charset="0"/>
                  <a:ea typeface="ヒラギノ角ゴ Pro W3" charset="-128"/>
                  <a:cs typeface="ヒラギノ角ゴ Pro W3" charset="-128"/>
                </a:rPr>
                <a:t>0</a:t>
              </a:r>
              <a:endParaRPr lang="en-US" sz="1400" b="1" i="1">
                <a:latin typeface="Arial Narrow" charset="0"/>
                <a:ea typeface="ヒラギノ角ゴ Pro W3" charset="-128"/>
                <a:cs typeface="ヒラギノ角ゴ Pro W3" charset="-128"/>
              </a:endParaRPr>
            </a:p>
            <a:p>
              <a:pPr eaLnBrk="0" hangingPunct="0">
                <a:spcBef>
                  <a:spcPct val="1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val: </a:t>
              </a:r>
              <a:r>
                <a:rPr lang="en-US" sz="1400" b="1" i="1">
                  <a:solidFill>
                    <a:srgbClr val="B025A6"/>
                  </a:solidFill>
                  <a:latin typeface="Arial Narrow" charset="0"/>
                  <a:ea typeface="ヒラギノ角ゴ Pro W3" charset="-128"/>
                  <a:cs typeface="ヒラギノ角ゴ Pro W3" charset="-128"/>
                </a:rPr>
                <a:t>1</a:t>
              </a:r>
              <a:endParaRPr lang="en-US" sz="1600" b="1" i="1">
                <a:latin typeface="Arial Narrow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26" name="Text Box 30">
              <a:extLst>
                <a:ext uri="{FF2B5EF4-FFF2-40B4-BE49-F238E27FC236}">
                  <a16:creationId xmlns:a16="http://schemas.microsoft.com/office/drawing/2014/main" id="{B18AD0C4-588E-483F-9AF7-038B9CA80E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5125" y="4300538"/>
              <a:ext cx="1336675" cy="538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1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pos: </a:t>
              </a:r>
              <a:r>
                <a:rPr lang="en-US" sz="1400" b="1" i="1">
                  <a:solidFill>
                    <a:srgbClr val="B025A6"/>
                  </a:solidFill>
                  <a:latin typeface="Arial Narrow" charset="0"/>
                  <a:ea typeface="ヒラギノ角ゴ Pro W3" charset="-128"/>
                  <a:cs typeface="ヒラギノ角ゴ Pro W3" charset="-128"/>
                </a:rPr>
                <a:t>2</a:t>
              </a:r>
              <a:endParaRPr lang="en-US" sz="1400" b="1" i="1">
                <a:latin typeface="Arial Narrow" charset="0"/>
                <a:ea typeface="ヒラギノ角ゴ Pro W3" charset="-128"/>
                <a:cs typeface="ヒラギノ角ゴ Pro W3" charset="-128"/>
              </a:endParaRPr>
            </a:p>
            <a:p>
              <a:pPr eaLnBrk="0" hangingPunct="0">
                <a:spcBef>
                  <a:spcPct val="1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val: </a:t>
              </a:r>
              <a:r>
                <a:rPr lang="en-US" sz="1400" b="1" i="1">
                  <a:solidFill>
                    <a:srgbClr val="B025A6"/>
                  </a:solidFill>
                  <a:latin typeface="Arial Narrow" charset="0"/>
                  <a:ea typeface="ヒラギノ角ゴ Pro W3" charset="-128"/>
                  <a:cs typeface="ヒラギノ角ゴ Pro W3" charset="-128"/>
                </a:rPr>
                <a:t>4</a:t>
              </a:r>
              <a:endParaRPr lang="en-US" sz="1400" b="1" i="1">
                <a:latin typeface="Arial Narrow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27" name="Text Box 31">
              <a:extLst>
                <a:ext uri="{FF2B5EF4-FFF2-40B4-BE49-F238E27FC236}">
                  <a16:creationId xmlns:a16="http://schemas.microsoft.com/office/drawing/2014/main" id="{5DA0ACA0-22C0-4584-86A5-438EA5B2CE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0" y="3608388"/>
              <a:ext cx="838200" cy="538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1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pos: </a:t>
              </a:r>
              <a:r>
                <a:rPr lang="en-US" sz="1400" b="1" i="1">
                  <a:solidFill>
                    <a:srgbClr val="B025A6"/>
                  </a:solidFill>
                  <a:latin typeface="Arial Narrow" charset="0"/>
                  <a:ea typeface="ヒラギノ角ゴ Pro W3" charset="-128"/>
                  <a:cs typeface="ヒラギノ角ゴ Pro W3" charset="-128"/>
                </a:rPr>
                <a:t>1</a:t>
              </a:r>
              <a:endParaRPr lang="en-US" sz="1400" b="1" i="1">
                <a:latin typeface="Arial Narrow" charset="0"/>
                <a:ea typeface="ヒラギノ角ゴ Pro W3" charset="-128"/>
                <a:cs typeface="ヒラギノ角ゴ Pro W3" charset="-128"/>
              </a:endParaRPr>
            </a:p>
            <a:p>
              <a:pPr eaLnBrk="0" hangingPunct="0">
                <a:spcBef>
                  <a:spcPct val="1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val: </a:t>
              </a:r>
              <a:r>
                <a:rPr lang="en-US" sz="1400" b="1" i="1">
                  <a:solidFill>
                    <a:srgbClr val="B025A6"/>
                  </a:solidFill>
                  <a:latin typeface="Arial Narrow" charset="0"/>
                  <a:ea typeface="ヒラギノ角ゴ Pro W3" charset="-128"/>
                  <a:cs typeface="ヒラギノ角ゴ Pro W3" charset="-128"/>
                </a:rPr>
                <a:t>0</a:t>
              </a:r>
              <a:endParaRPr lang="en-US" sz="1400" b="1" i="1">
                <a:latin typeface="Arial Narrow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28" name="Text Box 32">
              <a:extLst>
                <a:ext uri="{FF2B5EF4-FFF2-40B4-BE49-F238E27FC236}">
                  <a16:creationId xmlns:a16="http://schemas.microsoft.com/office/drawing/2014/main" id="{B373F817-AEAE-4A75-8AA3-815900F9C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988" y="3608388"/>
              <a:ext cx="836613" cy="538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1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pos: </a:t>
              </a:r>
              <a:r>
                <a:rPr lang="en-US" sz="1400" b="1" i="1">
                  <a:solidFill>
                    <a:srgbClr val="B025A6"/>
                  </a:solidFill>
                  <a:latin typeface="Arial Narrow" charset="0"/>
                  <a:ea typeface="ヒラギノ角ゴ Pro W3" charset="-128"/>
                  <a:cs typeface="ヒラギノ角ゴ Pro W3" charset="-128"/>
                </a:rPr>
                <a:t>2</a:t>
              </a:r>
              <a:endParaRPr lang="en-US" sz="1400" b="1" i="1">
                <a:latin typeface="Arial Narrow" charset="0"/>
                <a:ea typeface="ヒラギノ角ゴ Pro W3" charset="-128"/>
                <a:cs typeface="ヒラギノ角ゴ Pro W3" charset="-128"/>
              </a:endParaRPr>
            </a:p>
            <a:p>
              <a:pPr eaLnBrk="0" hangingPunct="0">
                <a:spcBef>
                  <a:spcPct val="1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val: </a:t>
              </a:r>
              <a:r>
                <a:rPr lang="en-US" sz="1400" b="1" i="1">
                  <a:solidFill>
                    <a:srgbClr val="B025A6"/>
                  </a:solidFill>
                  <a:latin typeface="Arial Narrow" charset="0"/>
                  <a:ea typeface="ヒラギノ角ゴ Pro W3" charset="-128"/>
                  <a:cs typeface="ヒラギノ角ゴ Pro W3" charset="-128"/>
                </a:rPr>
                <a:t>4</a:t>
              </a:r>
              <a:endParaRPr lang="en-US" sz="1400" b="1" i="1">
                <a:latin typeface="Arial Narrow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29" name="Text Box 33">
              <a:extLst>
                <a:ext uri="{FF2B5EF4-FFF2-40B4-BE49-F238E27FC236}">
                  <a16:creationId xmlns:a16="http://schemas.microsoft.com/office/drawing/2014/main" id="{984DF735-FDE6-452C-9C61-4B3A46E672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4925" y="2916238"/>
              <a:ext cx="777875" cy="538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1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pos: </a:t>
              </a:r>
              <a:r>
                <a:rPr lang="en-US" sz="1400" b="1" i="1">
                  <a:solidFill>
                    <a:srgbClr val="B025A6"/>
                  </a:solidFill>
                  <a:latin typeface="Arial Narrow" charset="0"/>
                  <a:ea typeface="ヒラギノ角ゴ Pro W3" charset="-128"/>
                  <a:cs typeface="ヒラギノ角ゴ Pro W3" charset="-128"/>
                </a:rPr>
                <a:t>1</a:t>
              </a:r>
              <a:endParaRPr lang="en-US" sz="1400" b="1" i="1">
                <a:latin typeface="Arial Narrow" charset="0"/>
                <a:ea typeface="ヒラギノ角ゴ Pro W3" charset="-128"/>
                <a:cs typeface="ヒラギノ角ゴ Pro W3" charset="-128"/>
              </a:endParaRPr>
            </a:p>
            <a:p>
              <a:pPr eaLnBrk="0" hangingPunct="0">
                <a:spcBef>
                  <a:spcPct val="1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val: </a:t>
              </a:r>
              <a:r>
                <a:rPr lang="en-US" sz="1400" b="1" i="1">
                  <a:solidFill>
                    <a:srgbClr val="B025A6"/>
                  </a:solidFill>
                  <a:latin typeface="Arial Narrow" charset="0"/>
                  <a:ea typeface="ヒラギノ角ゴ Pro W3" charset="-128"/>
                  <a:cs typeface="ヒラギノ角ゴ Pro W3" charset="-128"/>
                </a:rPr>
                <a:t>4</a:t>
              </a:r>
              <a:endParaRPr lang="en-US" sz="1400" b="1" i="1">
                <a:latin typeface="Arial Narrow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30" name="Text Box 34">
              <a:extLst>
                <a:ext uri="{FF2B5EF4-FFF2-40B4-BE49-F238E27FC236}">
                  <a16:creationId xmlns:a16="http://schemas.microsoft.com/office/drawing/2014/main" id="{08CE231D-6B90-4C5E-A792-848B549C79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3938" y="2216150"/>
              <a:ext cx="779463" cy="538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1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pos: </a:t>
              </a:r>
              <a:r>
                <a:rPr lang="en-US" sz="1400" b="1" i="1">
                  <a:solidFill>
                    <a:srgbClr val="B025A6"/>
                  </a:solidFill>
                  <a:latin typeface="Arial Narrow" charset="0"/>
                  <a:ea typeface="ヒラギノ角ゴ Pro W3" charset="-128"/>
                  <a:cs typeface="ヒラギノ角ゴ Pro W3" charset="-128"/>
                </a:rPr>
                <a:t>0</a:t>
              </a:r>
              <a:endParaRPr lang="en-US" sz="1400" b="1" i="1">
                <a:latin typeface="Arial Narrow" charset="0"/>
                <a:ea typeface="ヒラギノ角ゴ Pro W3" charset="-128"/>
                <a:cs typeface="ヒラギノ角ゴ Pro W3" charset="-128"/>
              </a:endParaRPr>
            </a:p>
            <a:p>
              <a:pPr eaLnBrk="0" hangingPunct="0">
                <a:spcBef>
                  <a:spcPct val="1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val: </a:t>
              </a:r>
              <a:r>
                <a:rPr lang="en-US" sz="1400" b="1" i="1">
                  <a:solidFill>
                    <a:srgbClr val="B025A6"/>
                  </a:solidFill>
                  <a:latin typeface="Arial Narrow" charset="0"/>
                  <a:ea typeface="ヒラギノ角ゴ Pro W3" charset="-128"/>
                  <a:cs typeface="ヒラギノ角ゴ Pro W3" charset="-128"/>
                </a:rPr>
                <a:t>5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31" name="Text Box 35">
              <a:extLst>
                <a:ext uri="{FF2B5EF4-FFF2-40B4-BE49-F238E27FC236}">
                  <a16:creationId xmlns:a16="http://schemas.microsoft.com/office/drawing/2014/main" id="{92913495-37EA-42CF-9715-830B669C6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7863" y="1595438"/>
              <a:ext cx="947738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1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val: </a:t>
              </a:r>
              <a:r>
                <a:rPr lang="en-US" sz="1400" b="1" i="1">
                  <a:solidFill>
                    <a:srgbClr val="B025A6"/>
                  </a:solidFill>
                  <a:latin typeface="Arial Narrow" charset="0"/>
                  <a:ea typeface="ヒラギノ角ゴ Pro W3" charset="-128"/>
                  <a:cs typeface="ヒラギノ角ゴ Pro W3" charset="-128"/>
                </a:rPr>
                <a:t>–5</a:t>
              </a:r>
              <a:endParaRPr lang="en-US" sz="1600" b="1" i="1">
                <a:solidFill>
                  <a:srgbClr val="0000CC"/>
                </a:solidFill>
                <a:latin typeface="Arial Narrow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32" name="Text Box 36">
              <a:extLst>
                <a:ext uri="{FF2B5EF4-FFF2-40B4-BE49-F238E27FC236}">
                  <a16:creationId xmlns:a16="http://schemas.microsoft.com/office/drawing/2014/main" id="{86FEF4B8-5244-4F35-96FA-8AAA2F2761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3025" y="2373313"/>
              <a:ext cx="866775" cy="304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10000"/>
                </a:spcBef>
                <a:defRPr/>
              </a:pPr>
              <a:r>
                <a:rPr lang="en-US" sz="1400" b="1" i="1">
                  <a:latin typeface="Arial Narrow" charset="0"/>
                  <a:ea typeface="ヒラギノ角ゴ Pro W3" charset="-128"/>
                  <a:cs typeface="ヒラギノ角ゴ Pro W3" charset="-128"/>
                </a:rPr>
                <a:t>neg: </a:t>
              </a:r>
              <a:r>
                <a:rPr lang="en-US" sz="1400" b="1" i="1">
                  <a:solidFill>
                    <a:srgbClr val="B025A6"/>
                  </a:solidFill>
                  <a:latin typeface="Arial Narrow" charset="0"/>
                  <a:ea typeface="ヒラギノ角ゴ Pro W3" charset="-128"/>
                  <a:cs typeface="ヒラギノ角ゴ Pro W3" charset="-128"/>
                </a:rPr>
                <a:t>true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33" name="Line 37">
              <a:extLst>
                <a:ext uri="{FF2B5EF4-FFF2-40B4-BE49-F238E27FC236}">
                  <a16:creationId xmlns:a16="http://schemas.microsoft.com/office/drawing/2014/main" id="{A9AD505C-18EF-44BA-B6F3-64805EE47F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24000" y="4824413"/>
              <a:ext cx="255588" cy="357188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34" name="Line 39">
              <a:extLst>
                <a:ext uri="{FF2B5EF4-FFF2-40B4-BE49-F238E27FC236}">
                  <a16:creationId xmlns:a16="http://schemas.microsoft.com/office/drawing/2014/main" id="{2BEBE647-88BA-4C53-987B-C139B1392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1324" y="4485038"/>
              <a:ext cx="169863" cy="109538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35" name="Line 40">
              <a:extLst>
                <a:ext uri="{FF2B5EF4-FFF2-40B4-BE49-F238E27FC236}">
                  <a16:creationId xmlns:a16="http://schemas.microsoft.com/office/drawing/2014/main" id="{35501F75-8F47-45B8-9E1F-743FE9FDEF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55124" y="4591401"/>
              <a:ext cx="249238" cy="122238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36" name="Line 42">
              <a:extLst>
                <a:ext uri="{FF2B5EF4-FFF2-40B4-BE49-F238E27FC236}">
                  <a16:creationId xmlns:a16="http://schemas.microsoft.com/office/drawing/2014/main" id="{E2EFE71D-C01F-46C8-B6EB-C6281075CF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1563" y="3773488"/>
              <a:ext cx="169863" cy="109538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37" name="Line 43">
              <a:extLst>
                <a:ext uri="{FF2B5EF4-FFF2-40B4-BE49-F238E27FC236}">
                  <a16:creationId xmlns:a16="http://schemas.microsoft.com/office/drawing/2014/main" id="{9DAE014E-6C43-4D91-AD55-3413CCE5D0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35363" y="3879850"/>
              <a:ext cx="249238" cy="122238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38" name="Line 45">
              <a:extLst>
                <a:ext uri="{FF2B5EF4-FFF2-40B4-BE49-F238E27FC236}">
                  <a16:creationId xmlns:a16="http://schemas.microsoft.com/office/drawing/2014/main" id="{C0B454D2-8102-40AB-AB79-E3381BA61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6925" y="3098800"/>
              <a:ext cx="169863" cy="109538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39" name="Line 46">
              <a:extLst>
                <a:ext uri="{FF2B5EF4-FFF2-40B4-BE49-F238E27FC236}">
                  <a16:creationId xmlns:a16="http://schemas.microsoft.com/office/drawing/2014/main" id="{66F55F7E-B353-4C19-B524-A40045FF3A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0725" y="3205163"/>
              <a:ext cx="249238" cy="122238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40" name="Line 48">
              <a:extLst>
                <a:ext uri="{FF2B5EF4-FFF2-40B4-BE49-F238E27FC236}">
                  <a16:creationId xmlns:a16="http://schemas.microsoft.com/office/drawing/2014/main" id="{CAA7D228-8DE1-4B3C-8FA4-EFA4096EA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7400" y="3810000"/>
              <a:ext cx="228600" cy="381000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41" name="Line 49">
              <a:extLst>
                <a:ext uri="{FF2B5EF4-FFF2-40B4-BE49-F238E27FC236}">
                  <a16:creationId xmlns:a16="http://schemas.microsoft.com/office/drawing/2014/main" id="{084B665F-4000-4E84-97EE-C1ABB28744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0413" y="4192588"/>
              <a:ext cx="252413" cy="217488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42" name="Line 50">
              <a:extLst>
                <a:ext uri="{FF2B5EF4-FFF2-40B4-BE49-F238E27FC236}">
                  <a16:creationId xmlns:a16="http://schemas.microsoft.com/office/drawing/2014/main" id="{A84D41B5-9F20-4770-9FBC-63F44A5E2A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2800" y="3200400"/>
              <a:ext cx="660400" cy="549275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43" name="Line 51">
              <a:extLst>
                <a:ext uri="{FF2B5EF4-FFF2-40B4-BE49-F238E27FC236}">
                  <a16:creationId xmlns:a16="http://schemas.microsoft.com/office/drawing/2014/main" id="{3BE698CE-030E-4B0C-AF16-CADC0FAD95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65450" y="2490788"/>
              <a:ext cx="808038" cy="584200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44" name="Line 52">
              <a:extLst>
                <a:ext uri="{FF2B5EF4-FFF2-40B4-BE49-F238E27FC236}">
                  <a16:creationId xmlns:a16="http://schemas.microsoft.com/office/drawing/2014/main" id="{703A30A6-1C16-45A6-B229-540DEC8B31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7625" y="2479675"/>
              <a:ext cx="330200" cy="520700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45" name="Line 53">
              <a:extLst>
                <a:ext uri="{FF2B5EF4-FFF2-40B4-BE49-F238E27FC236}">
                  <a16:creationId xmlns:a16="http://schemas.microsoft.com/office/drawing/2014/main" id="{BB15FBA2-61FA-4DAB-BEC9-C39181B78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2575" y="3175000"/>
              <a:ext cx="365125" cy="512763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46" name="Line 54">
              <a:extLst>
                <a:ext uri="{FF2B5EF4-FFF2-40B4-BE49-F238E27FC236}">
                  <a16:creationId xmlns:a16="http://schemas.microsoft.com/office/drawing/2014/main" id="{71CA05CB-F1F7-4114-A5D5-C9B1D01B28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2450" y="4140200"/>
              <a:ext cx="0" cy="469900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47" name="Line 55">
              <a:extLst>
                <a:ext uri="{FF2B5EF4-FFF2-40B4-BE49-F238E27FC236}">
                  <a16:creationId xmlns:a16="http://schemas.microsoft.com/office/drawing/2014/main" id="{3759AB2C-2E20-438F-AEA5-A67CE508F7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2950" y="3417888"/>
              <a:ext cx="712788" cy="566738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48" name="Line 56">
              <a:extLst>
                <a:ext uri="{FF2B5EF4-FFF2-40B4-BE49-F238E27FC236}">
                  <a16:creationId xmlns:a16="http://schemas.microsoft.com/office/drawing/2014/main" id="{E8181B56-8B6F-4CE5-8E1A-E7FC37CC40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13050" y="3435350"/>
              <a:ext cx="365125" cy="496888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49" name="Line 57">
              <a:extLst>
                <a:ext uri="{FF2B5EF4-FFF2-40B4-BE49-F238E27FC236}">
                  <a16:creationId xmlns:a16="http://schemas.microsoft.com/office/drawing/2014/main" id="{5F2C0D8C-AC13-43B0-884F-7CC3C4172B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5600" y="2697163"/>
              <a:ext cx="762000" cy="579438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50" name="Line 58">
              <a:extLst>
                <a:ext uri="{FF2B5EF4-FFF2-40B4-BE49-F238E27FC236}">
                  <a16:creationId xmlns:a16="http://schemas.microsoft.com/office/drawing/2014/main" id="{AD182067-0A36-43CA-BBB9-82005E652A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22700" y="2714625"/>
              <a:ext cx="360363" cy="511175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51" name="Line 59">
              <a:extLst>
                <a:ext uri="{FF2B5EF4-FFF2-40B4-BE49-F238E27FC236}">
                  <a16:creationId xmlns:a16="http://schemas.microsoft.com/office/drawing/2014/main" id="{7CCDCCE3-1394-4A8F-A2DB-EA225537C4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6000" y="1828800"/>
              <a:ext cx="1371600" cy="762000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52" name="Line 60">
              <a:extLst>
                <a:ext uri="{FF2B5EF4-FFF2-40B4-BE49-F238E27FC236}">
                  <a16:creationId xmlns:a16="http://schemas.microsoft.com/office/drawing/2014/main" id="{EDFEB876-622B-4329-98C3-7A4DBF4028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5388" y="2662238"/>
              <a:ext cx="304800" cy="452438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53" name="Line 61">
              <a:extLst>
                <a:ext uri="{FF2B5EF4-FFF2-40B4-BE49-F238E27FC236}">
                  <a16:creationId xmlns:a16="http://schemas.microsoft.com/office/drawing/2014/main" id="{E57F4714-A914-4D65-8A0F-F363F0E297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55763" y="1887538"/>
              <a:ext cx="461963" cy="539750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54" name="Line 62">
              <a:extLst>
                <a:ext uri="{FF2B5EF4-FFF2-40B4-BE49-F238E27FC236}">
                  <a16:creationId xmlns:a16="http://schemas.microsoft.com/office/drawing/2014/main" id="{870A43A9-93C1-4CE6-B7A6-667F17F4E1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3225" y="4114800"/>
              <a:ext cx="227013" cy="373063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55" name="Line 63">
              <a:extLst>
                <a:ext uri="{FF2B5EF4-FFF2-40B4-BE49-F238E27FC236}">
                  <a16:creationId xmlns:a16="http://schemas.microsoft.com/office/drawing/2014/main" id="{DE31D3EB-3ED5-48E8-9745-C4593714F5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0013" y="3402013"/>
              <a:ext cx="268288" cy="347663"/>
            </a:xfrm>
            <a:prstGeom prst="line">
              <a:avLst/>
            </a:pr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3801" name="Text Box 65">
              <a:extLst>
                <a:ext uri="{FF2B5EF4-FFF2-40B4-BE49-F238E27FC236}">
                  <a16:creationId xmlns:a16="http://schemas.microsoft.com/office/drawing/2014/main" id="{AD367495-9012-433A-8D00-7905C9025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9000" y="5054600"/>
              <a:ext cx="1447800" cy="355600"/>
            </a:xfrm>
            <a:prstGeom prst="rect">
              <a:avLst/>
            </a:prstGeom>
            <a:noFill/>
            <a:ln w="19050">
              <a:solidFill>
                <a:srgbClr val="7F7F7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600">
                  <a:solidFill>
                    <a:srgbClr val="FF0065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For “–101”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Footer Placeholder 3">
            <a:extLst>
              <a:ext uri="{FF2B5EF4-FFF2-40B4-BE49-F238E27FC236}">
                <a16:creationId xmlns:a16="http://schemas.microsoft.com/office/drawing/2014/main" id="{3D1D849A-7BCE-4E2F-8625-AE1DD4BD53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5842" name="Slide Number Placeholder 4">
            <a:extLst>
              <a:ext uri="{FF2B5EF4-FFF2-40B4-BE49-F238E27FC236}">
                <a16:creationId xmlns:a16="http://schemas.microsoft.com/office/drawing/2014/main" id="{E25B4B30-4E45-4E62-A706-C08CB1B9A6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10BDD29-2098-4930-A179-A0C9BC52F004}" type="slidenum">
              <a:rPr lang="en-US" altLang="it-IT"/>
              <a:pPr/>
              <a:t>10</a:t>
            </a:fld>
            <a:endParaRPr lang="en-US" altLang="it-IT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B0DADE14-48BB-4F32-A246-0681674952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altLang="it-IT"/>
              <a:t>The Rules of the Game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1622E99E-4715-4A6C-AF9E-3997DF5B6D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Attributes associated with nodes in parse tree</a:t>
            </a:r>
          </a:p>
          <a:p>
            <a:pPr eaLnBrk="1" hangingPunct="1"/>
            <a:r>
              <a:rPr lang="en-US" altLang="it-IT"/>
              <a:t>Rules are value assignments associated with productions</a:t>
            </a:r>
          </a:p>
          <a:p>
            <a:pPr eaLnBrk="1" hangingPunct="1"/>
            <a:r>
              <a:rPr lang="en-US" altLang="it-IT"/>
              <a:t>Attribute is defined once, using local information</a:t>
            </a:r>
          </a:p>
          <a:p>
            <a:pPr eaLnBrk="1" hangingPunct="1"/>
            <a:r>
              <a:rPr lang="en-US" altLang="it-IT"/>
              <a:t>Label identical terms in production for uniqueness</a:t>
            </a:r>
          </a:p>
          <a:p>
            <a:pPr eaLnBrk="1" hangingPunct="1"/>
            <a:r>
              <a:rPr lang="en-US" altLang="it-IT"/>
              <a:t>Rules &amp; parse tree define an attribute dependence graph</a:t>
            </a:r>
          </a:p>
          <a:p>
            <a:pPr lvl="1" eaLnBrk="1" hangingPunct="1"/>
            <a:r>
              <a:rPr lang="en-US" altLang="it-IT"/>
              <a:t>Graph must be non-circular 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This produces a high-level, functional specification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Synthesized attribute</a:t>
            </a:r>
          </a:p>
          <a:p>
            <a:pPr lvl="1" eaLnBrk="1" hangingPunct="1"/>
            <a:r>
              <a:rPr lang="en-US" altLang="it-IT"/>
              <a:t>Depends on values from children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Inherited attribute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Depends on values from siblings &amp; parent</a:t>
            </a:r>
          </a:p>
        </p:txBody>
      </p:sp>
      <p:grpSp>
        <p:nvGrpSpPr>
          <p:cNvPr id="35845" name="Group 8">
            <a:extLst>
              <a:ext uri="{FF2B5EF4-FFF2-40B4-BE49-F238E27FC236}">
                <a16:creationId xmlns:a16="http://schemas.microsoft.com/office/drawing/2014/main" id="{27CC798E-4252-4B31-9AC5-359F8EBE3CC0}"/>
              </a:ext>
            </a:extLst>
          </p:cNvPr>
          <p:cNvGrpSpPr>
            <a:grpSpLocks/>
          </p:cNvGrpSpPr>
          <p:nvPr/>
        </p:nvGrpSpPr>
        <p:grpSpPr bwMode="auto">
          <a:xfrm>
            <a:off x="5854700" y="3573463"/>
            <a:ext cx="3136900" cy="1303337"/>
            <a:chOff x="3688" y="2251"/>
            <a:chExt cx="1976" cy="821"/>
          </a:xfrm>
        </p:grpSpPr>
        <p:sp>
          <p:nvSpPr>
            <p:cNvPr id="35846" name="Text Box 5">
              <a:extLst>
                <a:ext uri="{FF2B5EF4-FFF2-40B4-BE49-F238E27FC236}">
                  <a16:creationId xmlns:a16="http://schemas.microsoft.com/office/drawing/2014/main" id="{737ABC86-2D0C-47C8-952B-2E5234A42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544"/>
              <a:ext cx="1776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N.B.: AG is a specification for the computation, not an algorithm</a:t>
              </a:r>
            </a:p>
          </p:txBody>
        </p:sp>
        <p:sp>
          <p:nvSpPr>
            <p:cNvPr id="35847" name="Line 6">
              <a:extLst>
                <a:ext uri="{FF2B5EF4-FFF2-40B4-BE49-F238E27FC236}">
                  <a16:creationId xmlns:a16="http://schemas.microsoft.com/office/drawing/2014/main" id="{34E487A9-F93C-4623-B1A5-FFC8193F6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544"/>
              <a:ext cx="0" cy="528"/>
            </a:xfrm>
            <a:prstGeom prst="lin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35848" name="Freeform 7">
              <a:extLst>
                <a:ext uri="{FF2B5EF4-FFF2-40B4-BE49-F238E27FC236}">
                  <a16:creationId xmlns:a16="http://schemas.microsoft.com/office/drawing/2014/main" id="{C5A3BE45-BC6E-4681-893E-32CE55354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8" y="2251"/>
              <a:ext cx="200" cy="480"/>
            </a:xfrm>
            <a:custGeom>
              <a:avLst/>
              <a:gdLst>
                <a:gd name="T0" fmla="*/ 200 w 200"/>
                <a:gd name="T1" fmla="*/ 480 h 480"/>
                <a:gd name="T2" fmla="*/ 8 w 200"/>
                <a:gd name="T3" fmla="*/ 240 h 480"/>
                <a:gd name="T4" fmla="*/ 152 w 200"/>
                <a:gd name="T5" fmla="*/ 240 h 480"/>
                <a:gd name="T6" fmla="*/ 8 w 200"/>
                <a:gd name="T7" fmla="*/ 0 h 4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"/>
                <a:gd name="T13" fmla="*/ 0 h 480"/>
                <a:gd name="T14" fmla="*/ 200 w 200"/>
                <a:gd name="T15" fmla="*/ 480 h 4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" h="480">
                  <a:moveTo>
                    <a:pt x="200" y="480"/>
                  </a:moveTo>
                  <a:cubicBezTo>
                    <a:pt x="108" y="380"/>
                    <a:pt x="16" y="280"/>
                    <a:pt x="8" y="240"/>
                  </a:cubicBezTo>
                  <a:cubicBezTo>
                    <a:pt x="0" y="200"/>
                    <a:pt x="152" y="280"/>
                    <a:pt x="152" y="240"/>
                  </a:cubicBezTo>
                  <a:cubicBezTo>
                    <a:pt x="152" y="200"/>
                    <a:pt x="80" y="100"/>
                    <a:pt x="8" y="0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Footer Placeholder 3">
            <a:extLst>
              <a:ext uri="{FF2B5EF4-FFF2-40B4-BE49-F238E27FC236}">
                <a16:creationId xmlns:a16="http://schemas.microsoft.com/office/drawing/2014/main" id="{B3781E2D-6F7E-466C-BA6C-3AE1CF53B7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7890" name="Slide Number Placeholder 4">
            <a:extLst>
              <a:ext uri="{FF2B5EF4-FFF2-40B4-BE49-F238E27FC236}">
                <a16:creationId xmlns:a16="http://schemas.microsoft.com/office/drawing/2014/main" id="{456127B6-1F3F-492F-88A4-A6B750DFA2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3EC0A316-907F-44CA-A99E-24D01C354A68}" type="slidenum">
              <a:rPr lang="en-US" altLang="it-IT"/>
              <a:pPr/>
              <a:t>11</a:t>
            </a:fld>
            <a:endParaRPr lang="en-US" altLang="it-IT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5CC51104-FF27-46EC-ADA9-C77842509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Using Attribute Grammars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5103FA31-866B-448C-8742-D3B0A77E69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/>
              <a:t>Attribute grammars can specify context-sensitive actions</a:t>
            </a:r>
          </a:p>
          <a:p>
            <a:pPr eaLnBrk="1" hangingPunct="1"/>
            <a:r>
              <a:rPr lang="en-US" altLang="it-IT"/>
              <a:t>Take values from syntax</a:t>
            </a:r>
          </a:p>
          <a:p>
            <a:pPr eaLnBrk="1" hangingPunct="1"/>
            <a:r>
              <a:rPr lang="en-US" altLang="it-IT"/>
              <a:t>Perform computations with values</a:t>
            </a:r>
          </a:p>
          <a:p>
            <a:pPr eaLnBrk="1" hangingPunct="1"/>
            <a:r>
              <a:rPr lang="en-US" altLang="it-IT"/>
              <a:t>Insert tests, logic, …</a:t>
            </a:r>
          </a:p>
          <a:p>
            <a:pPr eaLnBrk="1" hangingPunct="1">
              <a:spcBef>
                <a:spcPct val="30000"/>
              </a:spcBef>
            </a:pPr>
            <a:endParaRPr lang="en-US" altLang="it-IT"/>
          </a:p>
          <a:p>
            <a:pPr eaLnBrk="1" hangingPunct="1">
              <a:spcBef>
                <a:spcPct val="30000"/>
              </a:spcBef>
            </a:pPr>
            <a:endParaRPr lang="en-US" altLang="it-IT"/>
          </a:p>
          <a:p>
            <a:pPr eaLnBrk="1" hangingPunct="1">
              <a:spcBef>
                <a:spcPct val="30000"/>
              </a:spcBef>
            </a:pPr>
            <a:endParaRPr lang="en-US" altLang="it-IT"/>
          </a:p>
          <a:p>
            <a:pPr eaLnBrk="1" hangingPunct="1">
              <a:spcBef>
                <a:spcPct val="30000"/>
              </a:spcBef>
            </a:pPr>
            <a:endParaRPr lang="en-US" altLang="it-IT"/>
          </a:p>
          <a:p>
            <a:pPr eaLnBrk="1" hangingPunct="1">
              <a:spcBef>
                <a:spcPct val="30000"/>
              </a:spcBef>
            </a:pPr>
            <a:endParaRPr lang="en-US" altLang="it-IT"/>
          </a:p>
          <a:p>
            <a:pPr eaLnBrk="1" hangingPunct="1">
              <a:spcBef>
                <a:spcPct val="30000"/>
              </a:spcBef>
            </a:pPr>
            <a:endParaRPr lang="en-US" altLang="it-IT"/>
          </a:p>
          <a:p>
            <a:pPr eaLnBrk="1" hangingPunct="1">
              <a:spcBef>
                <a:spcPct val="30000"/>
              </a:spcBef>
            </a:pPr>
            <a:endParaRPr lang="en-US" altLang="it-IT"/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 i="1"/>
              <a:t>We want to use both kinds of attributes</a:t>
            </a:r>
            <a:r>
              <a:rPr lang="en-US" altLang="it-IT"/>
              <a:t> </a:t>
            </a:r>
          </a:p>
        </p:txBody>
      </p:sp>
      <p:grpSp>
        <p:nvGrpSpPr>
          <p:cNvPr id="37893" name="Group 8">
            <a:extLst>
              <a:ext uri="{FF2B5EF4-FFF2-40B4-BE49-F238E27FC236}">
                <a16:creationId xmlns:a16="http://schemas.microsoft.com/office/drawing/2014/main" id="{861C3065-04F8-4087-BCC3-E489D4E0BE4F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2743200"/>
            <a:ext cx="7239000" cy="2527300"/>
            <a:chOff x="990600" y="2743200"/>
            <a:chExt cx="7239000" cy="2527300"/>
          </a:xfrm>
        </p:grpSpPr>
        <p:sp>
          <p:nvSpPr>
            <p:cNvPr id="37895" name="Text Box 5">
              <a:extLst>
                <a:ext uri="{FF2B5EF4-FFF2-40B4-BE49-F238E27FC236}">
                  <a16:creationId xmlns:a16="http://schemas.microsoft.com/office/drawing/2014/main" id="{CE31E1BB-5ECA-44F9-8490-79D285032C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0600" y="2757488"/>
              <a:ext cx="3505200" cy="2498725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defRPr/>
              </a:pPr>
              <a:r>
                <a:rPr lang="en-US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Synthesized Attributes</a:t>
              </a:r>
            </a:p>
            <a:p>
              <a:pPr eaLnBrk="0" hangingPunct="0">
                <a:lnSpc>
                  <a:spcPct val="90000"/>
                </a:lnSpc>
                <a:spcBef>
                  <a:spcPct val="60000"/>
                </a:spcBef>
                <a:buClr>
                  <a:srgbClr val="003C75"/>
                </a:buClr>
                <a:buSzPct val="120000"/>
                <a:buFont typeface="Times" charset="0"/>
                <a:buChar char="•"/>
                <a:defRPr/>
              </a:pPr>
              <a:r>
                <a:rPr lang="en-US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 Use values from children </a:t>
              </a:r>
            </a:p>
            <a:p>
              <a:pPr eaLnBrk="0" hangingPunct="0">
                <a:lnSpc>
                  <a:spcPct val="90000"/>
                </a:lnSpc>
                <a:spcBef>
                  <a:spcPct val="10000"/>
                </a:spcBef>
                <a:buClr>
                  <a:srgbClr val="0000CC"/>
                </a:buClr>
                <a:buSzPct val="120000"/>
                <a:defRPr/>
              </a:pPr>
              <a:r>
                <a:rPr lang="en-US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  &amp; from constants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rgbClr val="003C75"/>
                </a:buClr>
                <a:buSzPct val="120000"/>
                <a:buFont typeface="Times" charset="0"/>
                <a:buChar char="•"/>
                <a:defRPr/>
              </a:pPr>
              <a:r>
                <a:rPr lang="en-US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 S-attributed grammars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rgbClr val="003C75"/>
                </a:buClr>
                <a:buSzPct val="120000"/>
                <a:buFont typeface="Times" charset="0"/>
                <a:buChar char="•"/>
                <a:defRPr/>
              </a:pPr>
              <a:r>
                <a:rPr lang="en-US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 Evaluate in a single </a:t>
              </a:r>
            </a:p>
            <a:p>
              <a:pPr eaLnBrk="0" hangingPunct="0">
                <a:lnSpc>
                  <a:spcPct val="90000"/>
                </a:lnSpc>
                <a:spcBef>
                  <a:spcPct val="10000"/>
                </a:spcBef>
                <a:buClr>
                  <a:srgbClr val="0000CC"/>
                </a:buClr>
                <a:buSzPct val="120000"/>
                <a:defRPr/>
              </a:pPr>
              <a:r>
                <a:rPr lang="en-US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   bottom-up pass</a:t>
              </a:r>
            </a:p>
            <a:p>
              <a:pPr eaLnBrk="0" hangingPunct="0">
                <a:lnSpc>
                  <a:spcPct val="90000"/>
                </a:lnSpc>
                <a:spcBef>
                  <a:spcPct val="60000"/>
                </a:spcBef>
                <a:buClr>
                  <a:srgbClr val="0000CC"/>
                </a:buClr>
                <a:buSzPct val="120000"/>
                <a:defRPr/>
              </a:pPr>
              <a:r>
                <a:rPr lang="en-US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Good match to LR parsing</a:t>
              </a:r>
              <a:endParaRPr lang="en-US" dirty="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37896" name="Text Box 6">
              <a:extLst>
                <a:ext uri="{FF2B5EF4-FFF2-40B4-BE49-F238E27FC236}">
                  <a16:creationId xmlns:a16="http://schemas.microsoft.com/office/drawing/2014/main" id="{820C8733-0BFA-4B91-A1E6-796CC05C3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2743200"/>
              <a:ext cx="3505200" cy="2527300"/>
            </a:xfrm>
            <a:prstGeom prst="rect">
              <a:avLst/>
            </a:prstGeom>
            <a:solidFill>
              <a:srgbClr val="FFFFFF"/>
            </a:solidFill>
            <a:ln w="19050" cap="flat" cmpd="sng" algn="ctr">
              <a:solidFill>
                <a:srgbClr val="7F7F7F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blurRad="50800" dist="38100" dir="2700000">
                <a:srgbClr val="000000">
                  <a:alpha val="43000"/>
                </a:srgbClr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defRPr/>
              </a:pPr>
              <a:r>
                <a:rPr lang="en-US" dirty="0">
                  <a:solidFill>
                    <a:srgbClr val="003C75"/>
                  </a:solidFill>
                  <a:latin typeface="Comic Sans MS" charset="0"/>
                  <a:ea typeface="ヒラギノ角ゴ Pro W3" charset="-128"/>
                  <a:cs typeface="ヒラギノ角ゴ Pro W3" charset="-128"/>
                </a:rPr>
                <a:t>Inherited Attributes</a:t>
              </a:r>
            </a:p>
            <a:p>
              <a:pPr eaLnBrk="0" hangingPunct="0">
                <a:lnSpc>
                  <a:spcPct val="90000"/>
                </a:lnSpc>
                <a:spcBef>
                  <a:spcPct val="40000"/>
                </a:spcBef>
                <a:buClr>
                  <a:srgbClr val="003C75"/>
                </a:buClr>
                <a:buSzPct val="120000"/>
                <a:buFont typeface="Times" charset="0"/>
                <a:buChar char="•"/>
                <a:defRPr/>
              </a:pPr>
              <a:r>
                <a:rPr lang="en-US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 Use values from parent,  </a:t>
              </a:r>
            </a:p>
            <a:p>
              <a:pPr eaLnBrk="0" hangingPunct="0">
                <a:lnSpc>
                  <a:spcPct val="90000"/>
                </a:lnSpc>
                <a:spcBef>
                  <a:spcPct val="10000"/>
                </a:spcBef>
                <a:buClr>
                  <a:srgbClr val="0000CC"/>
                </a:buClr>
                <a:buSzPct val="120000"/>
                <a:defRPr/>
              </a:pPr>
              <a:r>
                <a:rPr lang="en-US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  constants, &amp; siblings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rgbClr val="003C75"/>
                </a:buClr>
                <a:buSzPct val="120000"/>
                <a:buFont typeface="Times" charset="0"/>
                <a:buChar char="•"/>
                <a:defRPr/>
              </a:pPr>
              <a:r>
                <a:rPr lang="en-US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 Directly express context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rgbClr val="003C75"/>
                </a:buClr>
                <a:buSzPct val="120000"/>
                <a:buFont typeface="Times" charset="0"/>
                <a:buChar char="•"/>
                <a:defRPr/>
              </a:pPr>
              <a:r>
                <a:rPr lang="en-US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 Can rewrite to avoid them</a:t>
              </a: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rgbClr val="003C75"/>
                </a:buClr>
                <a:buSzPct val="120000"/>
                <a:buFont typeface="Times" charset="0"/>
                <a:buChar char="•"/>
                <a:defRPr/>
              </a:pPr>
              <a:r>
                <a:rPr lang="en-US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 Thought to be more </a:t>
              </a:r>
              <a:r>
                <a:rPr lang="en-US" i="1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natural</a:t>
              </a:r>
              <a:endParaRPr lang="en-US" dirty="0">
                <a:latin typeface="Comic Sans MS" charset="0"/>
                <a:ea typeface="ヒラギノ角ゴ Pro W3" charset="-128"/>
                <a:cs typeface="ヒラギノ角ゴ Pro W3" charset="-128"/>
              </a:endParaRPr>
            </a:p>
            <a:p>
              <a:pPr eaLnBrk="0" hangingPunct="0">
                <a:lnSpc>
                  <a:spcPct val="90000"/>
                </a:lnSpc>
                <a:spcBef>
                  <a:spcPct val="50000"/>
                </a:spcBef>
                <a:buClr>
                  <a:srgbClr val="0000CC"/>
                </a:buClr>
                <a:buSzPct val="120000"/>
                <a:defRPr/>
              </a:pPr>
              <a:r>
                <a:rPr lang="en-US" dirty="0">
                  <a:latin typeface="Comic Sans MS" charset="0"/>
                  <a:ea typeface="ヒラギノ角ゴ Pro W3" charset="-128"/>
                  <a:cs typeface="ヒラギノ角ゴ Pro W3" charset="-128"/>
                </a:rPr>
                <a:t>Not easily done at parse time</a:t>
              </a:r>
              <a:endParaRPr lang="en-US" dirty="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</p:grp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Footer Placeholder 3">
            <a:extLst>
              <a:ext uri="{FF2B5EF4-FFF2-40B4-BE49-F238E27FC236}">
                <a16:creationId xmlns:a16="http://schemas.microsoft.com/office/drawing/2014/main" id="{C8A7D752-B163-4E47-8C27-6B4AC6C9D1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39938" name="Slide Number Placeholder 4">
            <a:extLst>
              <a:ext uri="{FF2B5EF4-FFF2-40B4-BE49-F238E27FC236}">
                <a16:creationId xmlns:a16="http://schemas.microsoft.com/office/drawing/2014/main" id="{96E59708-708A-4FBE-95A6-75B0E3FA82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C877169-E8C7-4D13-973B-AF34B2FBFCD4}" type="slidenum">
              <a:rPr lang="en-US" altLang="it-IT"/>
              <a:pPr/>
              <a:t>12</a:t>
            </a:fld>
            <a:endParaRPr lang="en-US" altLang="it-IT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71D8E0DB-1020-48F3-B6D6-06A37E971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Evaluation Methods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ED63498C-8BBC-4B65-B666-CCF7FC8C67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Dynamic, dependence-based methods</a:t>
            </a:r>
            <a:endParaRPr lang="en-US" altLang="it-IT"/>
          </a:p>
          <a:p>
            <a:pPr eaLnBrk="1" hangingPunct="1">
              <a:spcBef>
                <a:spcPts val="600"/>
              </a:spcBef>
            </a:pPr>
            <a:r>
              <a:rPr lang="en-US" altLang="it-IT" sz="1800"/>
              <a:t>Build the parse tree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 sz="1800"/>
              <a:t>Build the dependence graph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 sz="1800"/>
              <a:t>Topological sort the dependence graph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 sz="1800"/>
              <a:t>Define attributes in topological order</a:t>
            </a:r>
          </a:p>
          <a:p>
            <a:pPr eaLnBrk="1" hangingPunct="1"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Rule-based methods</a:t>
            </a:r>
            <a:r>
              <a:rPr lang="en-US" altLang="it-IT"/>
              <a:t>                                                    </a:t>
            </a:r>
            <a:r>
              <a:rPr lang="en-US" altLang="it-IT" sz="1800" i="1">
                <a:solidFill>
                  <a:srgbClr val="FF0065"/>
                </a:solidFill>
              </a:rPr>
              <a:t>(treewalk)</a:t>
            </a:r>
            <a:endParaRPr lang="en-US" altLang="it-IT"/>
          </a:p>
          <a:p>
            <a:pPr eaLnBrk="1" hangingPunct="1">
              <a:spcBef>
                <a:spcPts val="600"/>
              </a:spcBef>
            </a:pPr>
            <a:r>
              <a:rPr lang="en-US" altLang="it-IT" sz="1800"/>
              <a:t>Analyze rules at compiler-generation time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 sz="1800"/>
              <a:t>Determine a fixed (static) ordering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 sz="1800"/>
              <a:t>Evaluate nodes in that order</a:t>
            </a:r>
          </a:p>
          <a:p>
            <a:pPr eaLnBrk="1" hangingPunct="1">
              <a:spcBef>
                <a:spcPts val="2400"/>
              </a:spcBef>
              <a:buFont typeface="Times" panose="02020603050405020304" pitchFamily="18" charset="0"/>
              <a:buNone/>
            </a:pPr>
            <a:r>
              <a:rPr lang="en-US" altLang="it-IT">
                <a:solidFill>
                  <a:srgbClr val="003C75"/>
                </a:solidFill>
              </a:rPr>
              <a:t>Oblivious methods</a:t>
            </a:r>
            <a:r>
              <a:rPr lang="en-US" altLang="it-IT"/>
              <a:t>                                            </a:t>
            </a:r>
            <a:r>
              <a:rPr lang="en-US" altLang="it-IT" sz="1800" i="1">
                <a:solidFill>
                  <a:srgbClr val="FF0065"/>
                </a:solidFill>
              </a:rPr>
              <a:t>(passes, dataflow)</a:t>
            </a:r>
            <a:endParaRPr lang="en-US" altLang="it-IT"/>
          </a:p>
          <a:p>
            <a:pPr eaLnBrk="1" hangingPunct="1">
              <a:spcBef>
                <a:spcPts val="600"/>
              </a:spcBef>
            </a:pPr>
            <a:r>
              <a:rPr lang="en-US" altLang="it-IT" sz="1800"/>
              <a:t>Ignore rules &amp; parse tree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it-IT" sz="1800"/>
              <a:t>Pick a convenient order (at design time) &amp; use it</a:t>
            </a:r>
          </a:p>
        </p:txBody>
      </p:sp>
      <p:sp>
        <p:nvSpPr>
          <p:cNvPr id="39941" name="Octagon 5">
            <a:extLst>
              <a:ext uri="{FF2B5EF4-FFF2-40B4-BE49-F238E27FC236}">
                <a16:creationId xmlns:a16="http://schemas.microsoft.com/office/drawing/2014/main" id="{45B16EED-1945-45C4-8D68-3241258C7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6019800"/>
            <a:ext cx="533400" cy="5334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1" name="Rectangle 28">
            <a:extLst>
              <a:ext uri="{FF2B5EF4-FFF2-40B4-BE49-F238E27FC236}">
                <a16:creationId xmlns:a16="http://schemas.microsoft.com/office/drawing/2014/main" id="{042BF299-E28F-4B29-B002-6B0B52940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47800"/>
            <a:ext cx="4038600" cy="39624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41986" name="Footer Placeholder 3">
            <a:extLst>
              <a:ext uri="{FF2B5EF4-FFF2-40B4-BE49-F238E27FC236}">
                <a16:creationId xmlns:a16="http://schemas.microsoft.com/office/drawing/2014/main" id="{D1F183A8-DA3D-4949-9397-1D2570E07F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1987" name="Slide Number Placeholder 4">
            <a:extLst>
              <a:ext uri="{FF2B5EF4-FFF2-40B4-BE49-F238E27FC236}">
                <a16:creationId xmlns:a16="http://schemas.microsoft.com/office/drawing/2014/main" id="{AB990A79-A625-4353-AED2-0C96AAF43F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0FA886FD-41FA-41F1-8051-DF2039636DB5}" type="slidenum">
              <a:rPr lang="en-US" altLang="it-IT"/>
              <a:pPr/>
              <a:t>13</a:t>
            </a:fld>
            <a:endParaRPr lang="en-US" altLang="it-IT"/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DC2A99CD-D405-43AF-B77F-96A18C3F8E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Back to the Example</a:t>
            </a:r>
          </a:p>
        </p:txBody>
      </p:sp>
      <p:grpSp>
        <p:nvGrpSpPr>
          <p:cNvPr id="41989" name="Group 3">
            <a:extLst>
              <a:ext uri="{FF2B5EF4-FFF2-40B4-BE49-F238E27FC236}">
                <a16:creationId xmlns:a16="http://schemas.microsoft.com/office/drawing/2014/main" id="{B95ACAC5-EA36-4164-95DF-5E621A14558E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1524000"/>
            <a:ext cx="3149600" cy="3546475"/>
            <a:chOff x="577" y="960"/>
            <a:chExt cx="1984" cy="2234"/>
          </a:xfrm>
        </p:grpSpPr>
        <p:sp>
          <p:nvSpPr>
            <p:cNvPr id="41997" name="Line 4">
              <a:extLst>
                <a:ext uri="{FF2B5EF4-FFF2-40B4-BE49-F238E27FC236}">
                  <a16:creationId xmlns:a16="http://schemas.microsoft.com/office/drawing/2014/main" id="{B5DFB367-B446-4F78-B4D8-9BC5B4E76E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2164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1998" name="Oval 5">
              <a:extLst>
                <a:ext uri="{FF2B5EF4-FFF2-40B4-BE49-F238E27FC236}">
                  <a16:creationId xmlns:a16="http://schemas.microsoft.com/office/drawing/2014/main" id="{9513DAD3-D30F-47E9-BD94-1FD1AEDF7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960"/>
              <a:ext cx="432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Number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1999" name="Line 6">
              <a:extLst>
                <a:ext uri="{FF2B5EF4-FFF2-40B4-BE49-F238E27FC236}">
                  <a16:creationId xmlns:a16="http://schemas.microsoft.com/office/drawing/2014/main" id="{1EAC26C8-38A1-4634-97BF-45F65FB9E0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1" y="1243"/>
              <a:ext cx="148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2000" name="Line 7">
              <a:extLst>
                <a:ext uri="{FF2B5EF4-FFF2-40B4-BE49-F238E27FC236}">
                  <a16:creationId xmlns:a16="http://schemas.microsoft.com/office/drawing/2014/main" id="{7D932109-89B8-46E3-A74C-250C03537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1242"/>
              <a:ext cx="90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2001" name="Oval 8">
              <a:extLst>
                <a:ext uri="{FF2B5EF4-FFF2-40B4-BE49-F238E27FC236}">
                  <a16:creationId xmlns:a16="http://schemas.microsoft.com/office/drawing/2014/main" id="{C59B3B1D-11ED-4BB2-AF11-CB4428699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1435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Sign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2002" name="Line 9">
              <a:extLst>
                <a:ext uri="{FF2B5EF4-FFF2-40B4-BE49-F238E27FC236}">
                  <a16:creationId xmlns:a16="http://schemas.microsoft.com/office/drawing/2014/main" id="{7E61DF91-EE12-4D86-948D-C5FEAB9A49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725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2003" name="Oval 10">
              <a:extLst>
                <a:ext uri="{FF2B5EF4-FFF2-40B4-BE49-F238E27FC236}">
                  <a16:creationId xmlns:a16="http://schemas.microsoft.com/office/drawing/2014/main" id="{BAE6EE34-7409-42B5-85C8-0CFFDC092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44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42004" name="Oval 11">
              <a:extLst>
                <a:ext uri="{FF2B5EF4-FFF2-40B4-BE49-F238E27FC236}">
                  <a16:creationId xmlns:a16="http://schemas.microsoft.com/office/drawing/2014/main" id="{4FF6DDB7-F0D6-49FC-8562-AC6A4DF65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3" y="1867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2005" name="Oval 12">
              <a:extLst>
                <a:ext uri="{FF2B5EF4-FFF2-40B4-BE49-F238E27FC236}">
                  <a16:creationId xmlns:a16="http://schemas.microsoft.com/office/drawing/2014/main" id="{F6674CBF-33C7-4AC9-AAE9-E1CCC2D67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42006" name="Line 13">
              <a:extLst>
                <a:ext uri="{FF2B5EF4-FFF2-40B4-BE49-F238E27FC236}">
                  <a16:creationId xmlns:a16="http://schemas.microsoft.com/office/drawing/2014/main" id="{A806D0CC-14E8-4103-8ADF-B768CD66EF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7" y="1697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2007" name="Line 14">
              <a:extLst>
                <a:ext uri="{FF2B5EF4-FFF2-40B4-BE49-F238E27FC236}">
                  <a16:creationId xmlns:a16="http://schemas.microsoft.com/office/drawing/2014/main" id="{7AE671A9-AD71-48DE-955F-BC8EF00478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3" y="1704"/>
              <a:ext cx="438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2008" name="Oval 15">
              <a:extLst>
                <a:ext uri="{FF2B5EF4-FFF2-40B4-BE49-F238E27FC236}">
                  <a16:creationId xmlns:a16="http://schemas.microsoft.com/office/drawing/2014/main" id="{270A1156-AF0A-4556-BC8D-1FBCEF59B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3" y="2303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2009" name="Line 16">
              <a:extLst>
                <a:ext uri="{FF2B5EF4-FFF2-40B4-BE49-F238E27FC236}">
                  <a16:creationId xmlns:a16="http://schemas.microsoft.com/office/drawing/2014/main" id="{7A410713-7452-4B3A-BEB2-520A6B31F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6" y="2600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2010" name="Oval 17">
              <a:extLst>
                <a:ext uri="{FF2B5EF4-FFF2-40B4-BE49-F238E27FC236}">
                  <a16:creationId xmlns:a16="http://schemas.microsoft.com/office/drawing/2014/main" id="{88E6849C-D6FC-42D2-830E-34BFDB27A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304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42011" name="Line 18">
              <a:extLst>
                <a:ext uri="{FF2B5EF4-FFF2-40B4-BE49-F238E27FC236}">
                  <a16:creationId xmlns:a16="http://schemas.microsoft.com/office/drawing/2014/main" id="{EDF52BD4-DE1A-4723-9738-5399912FB2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7" y="2133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2012" name="Line 19">
              <a:extLst>
                <a:ext uri="{FF2B5EF4-FFF2-40B4-BE49-F238E27FC236}">
                  <a16:creationId xmlns:a16="http://schemas.microsoft.com/office/drawing/2014/main" id="{FBC77192-D132-40BD-8E39-AE39F5CD62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140"/>
              <a:ext cx="38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2013" name="Oval 20">
              <a:extLst>
                <a:ext uri="{FF2B5EF4-FFF2-40B4-BE49-F238E27FC236}">
                  <a16:creationId xmlns:a16="http://schemas.microsoft.com/office/drawing/2014/main" id="{5EF16BF6-56DA-481C-B189-373147707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74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2014" name="Line 21">
              <a:extLst>
                <a:ext uri="{FF2B5EF4-FFF2-40B4-BE49-F238E27FC236}">
                  <a16:creationId xmlns:a16="http://schemas.microsoft.com/office/drawing/2014/main" id="{FD486315-0C15-4400-80ED-0428CC0CD3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" y="3039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2015" name="Line 22">
              <a:extLst>
                <a:ext uri="{FF2B5EF4-FFF2-40B4-BE49-F238E27FC236}">
                  <a16:creationId xmlns:a16="http://schemas.microsoft.com/office/drawing/2014/main" id="{73343A8B-D67C-4323-99F0-2234CA04EE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593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grpSp>
        <p:nvGrpSpPr>
          <p:cNvPr id="41990" name="Group 23">
            <a:extLst>
              <a:ext uri="{FF2B5EF4-FFF2-40B4-BE49-F238E27FC236}">
                <a16:creationId xmlns:a16="http://schemas.microsoft.com/office/drawing/2014/main" id="{894468DD-8C41-4664-9EAF-D6998618A747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976563"/>
            <a:ext cx="3113088" cy="2417762"/>
            <a:chOff x="576" y="1875"/>
            <a:chExt cx="1961" cy="1523"/>
          </a:xfrm>
        </p:grpSpPr>
        <p:sp>
          <p:nvSpPr>
            <p:cNvPr id="41993" name="Text Box 24">
              <a:extLst>
                <a:ext uri="{FF2B5EF4-FFF2-40B4-BE49-F238E27FC236}">
                  <a16:creationId xmlns:a16="http://schemas.microsoft.com/office/drawing/2014/main" id="{4F8EA092-8138-40F7-A23F-B9816DB5EE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75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–</a:t>
              </a:r>
            </a:p>
          </p:txBody>
        </p:sp>
        <p:sp>
          <p:nvSpPr>
            <p:cNvPr id="41994" name="Text Box 25">
              <a:extLst>
                <a:ext uri="{FF2B5EF4-FFF2-40B4-BE49-F238E27FC236}">
                  <a16:creationId xmlns:a16="http://schemas.microsoft.com/office/drawing/2014/main" id="{71D9AE7A-E953-4CB9-ACCC-6DEC681A3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7" y="2301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1995" name="Text Box 26">
              <a:extLst>
                <a:ext uri="{FF2B5EF4-FFF2-40B4-BE49-F238E27FC236}">
                  <a16:creationId xmlns:a16="http://schemas.microsoft.com/office/drawing/2014/main" id="{53441455-A429-48EC-A5BF-A865B9AAF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" y="2786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0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1996" name="Text Box 27">
              <a:extLst>
                <a:ext uri="{FF2B5EF4-FFF2-40B4-BE49-F238E27FC236}">
                  <a16:creationId xmlns:a16="http://schemas.microsoft.com/office/drawing/2014/main" id="{653DAC18-2628-4AAB-89AF-B72F83E438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3225"/>
              <a:ext cx="17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2" name="Text Box 29">
            <a:extLst>
              <a:ext uri="{FF2B5EF4-FFF2-40B4-BE49-F238E27FC236}">
                <a16:creationId xmlns:a16="http://schemas.microsoft.com/office/drawing/2014/main" id="{A958F0AB-2EAB-43BC-9EA0-4E2048AFC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054600"/>
            <a:ext cx="1371600" cy="355600"/>
          </a:xfrm>
          <a:prstGeom prst="rect">
            <a:avLst/>
          </a:prstGeom>
          <a:noFill/>
          <a:ln w="19050">
            <a:solidFill>
              <a:srgbClr val="7F7F7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For “–101”</a:t>
            </a:r>
          </a:p>
        </p:txBody>
      </p:sp>
      <p:sp>
        <p:nvSpPr>
          <p:cNvPr id="41992" name="Text Box 44">
            <a:extLst>
              <a:ext uri="{FF2B5EF4-FFF2-40B4-BE49-F238E27FC236}">
                <a16:creationId xmlns:a16="http://schemas.microsoft.com/office/drawing/2014/main" id="{2D07CCF7-5017-4079-8AD5-D88304581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828800"/>
            <a:ext cx="3657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Syntax Tree</a:t>
            </a:r>
            <a:endParaRPr lang="en-US" altLang="it-IT" sz="1600">
              <a:solidFill>
                <a:srgbClr val="003C75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Footer Placeholder 3">
            <a:extLst>
              <a:ext uri="{FF2B5EF4-FFF2-40B4-BE49-F238E27FC236}">
                <a16:creationId xmlns:a16="http://schemas.microsoft.com/office/drawing/2014/main" id="{4322F2CA-5A97-49AF-8012-9B06C24CB8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4034" name="Slide Number Placeholder 4">
            <a:extLst>
              <a:ext uri="{FF2B5EF4-FFF2-40B4-BE49-F238E27FC236}">
                <a16:creationId xmlns:a16="http://schemas.microsoft.com/office/drawing/2014/main" id="{9645C607-65C5-4759-B20E-A6CFC7D4B1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A613041-29BE-4B14-8C76-DDB94B9CA586}" type="slidenum">
              <a:rPr lang="en-US" altLang="it-IT"/>
              <a:pPr/>
              <a:t>14</a:t>
            </a:fld>
            <a:endParaRPr lang="en-US" altLang="it-IT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2A9989B3-5D93-4931-B794-982A681F12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Back to the Example</a:t>
            </a:r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63F92B75-4696-4FF6-BE05-15FCEE5A0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47800"/>
            <a:ext cx="4038600" cy="39624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grpSp>
        <p:nvGrpSpPr>
          <p:cNvPr id="44037" name="Group 3">
            <a:extLst>
              <a:ext uri="{FF2B5EF4-FFF2-40B4-BE49-F238E27FC236}">
                <a16:creationId xmlns:a16="http://schemas.microsoft.com/office/drawing/2014/main" id="{48B6AC8C-242C-4B1A-AC74-E7B25B822923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1524000"/>
            <a:ext cx="3149600" cy="3546475"/>
            <a:chOff x="577" y="960"/>
            <a:chExt cx="1984" cy="2234"/>
          </a:xfrm>
        </p:grpSpPr>
        <p:sp>
          <p:nvSpPr>
            <p:cNvPr id="44053" name="Line 4">
              <a:extLst>
                <a:ext uri="{FF2B5EF4-FFF2-40B4-BE49-F238E27FC236}">
                  <a16:creationId xmlns:a16="http://schemas.microsoft.com/office/drawing/2014/main" id="{9EEE9E93-2AE0-4A02-AA6C-AA9B7FAC7C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2164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4054" name="Oval 5">
              <a:extLst>
                <a:ext uri="{FF2B5EF4-FFF2-40B4-BE49-F238E27FC236}">
                  <a16:creationId xmlns:a16="http://schemas.microsoft.com/office/drawing/2014/main" id="{D7D8CA2C-0CD4-4EB9-8E92-CD734821E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960"/>
              <a:ext cx="432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Number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4055" name="Line 6">
              <a:extLst>
                <a:ext uri="{FF2B5EF4-FFF2-40B4-BE49-F238E27FC236}">
                  <a16:creationId xmlns:a16="http://schemas.microsoft.com/office/drawing/2014/main" id="{CBC456FD-F68B-420E-9BF2-13F77D18CA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1" y="1243"/>
              <a:ext cx="148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4056" name="Line 7">
              <a:extLst>
                <a:ext uri="{FF2B5EF4-FFF2-40B4-BE49-F238E27FC236}">
                  <a16:creationId xmlns:a16="http://schemas.microsoft.com/office/drawing/2014/main" id="{6A75D63E-ED9B-45A9-B222-BFE52D10A3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1242"/>
              <a:ext cx="90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4057" name="Oval 8">
              <a:extLst>
                <a:ext uri="{FF2B5EF4-FFF2-40B4-BE49-F238E27FC236}">
                  <a16:creationId xmlns:a16="http://schemas.microsoft.com/office/drawing/2014/main" id="{F945E9ED-C7DF-4BD9-8CE8-A03A8AE65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1435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Sign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4058" name="Line 9">
              <a:extLst>
                <a:ext uri="{FF2B5EF4-FFF2-40B4-BE49-F238E27FC236}">
                  <a16:creationId xmlns:a16="http://schemas.microsoft.com/office/drawing/2014/main" id="{C8787BE8-A134-4E0B-A83F-ABC8B69BE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725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4059" name="Oval 10">
              <a:extLst>
                <a:ext uri="{FF2B5EF4-FFF2-40B4-BE49-F238E27FC236}">
                  <a16:creationId xmlns:a16="http://schemas.microsoft.com/office/drawing/2014/main" id="{6C7D9A7B-C945-47E0-802B-E603345D8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44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44060" name="Oval 11">
              <a:extLst>
                <a:ext uri="{FF2B5EF4-FFF2-40B4-BE49-F238E27FC236}">
                  <a16:creationId xmlns:a16="http://schemas.microsoft.com/office/drawing/2014/main" id="{CC48B0E5-FE96-4DDD-BD02-DC556342C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3" y="1867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4061" name="Oval 12">
              <a:extLst>
                <a:ext uri="{FF2B5EF4-FFF2-40B4-BE49-F238E27FC236}">
                  <a16:creationId xmlns:a16="http://schemas.microsoft.com/office/drawing/2014/main" id="{9DD0E8AD-EF29-498B-994F-6821FEBC3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44062" name="Line 13">
              <a:extLst>
                <a:ext uri="{FF2B5EF4-FFF2-40B4-BE49-F238E27FC236}">
                  <a16:creationId xmlns:a16="http://schemas.microsoft.com/office/drawing/2014/main" id="{D67FB762-14AF-4839-BB8A-55FBD4923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7" y="1697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4063" name="Line 14">
              <a:extLst>
                <a:ext uri="{FF2B5EF4-FFF2-40B4-BE49-F238E27FC236}">
                  <a16:creationId xmlns:a16="http://schemas.microsoft.com/office/drawing/2014/main" id="{1EDE7568-2B27-475F-AF4C-7D79341392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3" y="1704"/>
              <a:ext cx="438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4064" name="Oval 15">
              <a:extLst>
                <a:ext uri="{FF2B5EF4-FFF2-40B4-BE49-F238E27FC236}">
                  <a16:creationId xmlns:a16="http://schemas.microsoft.com/office/drawing/2014/main" id="{DFB8AFD5-92DA-49AF-A53D-7740C197B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3" y="2303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4065" name="Line 16">
              <a:extLst>
                <a:ext uri="{FF2B5EF4-FFF2-40B4-BE49-F238E27FC236}">
                  <a16:creationId xmlns:a16="http://schemas.microsoft.com/office/drawing/2014/main" id="{4D1DCD89-9F87-45D7-922F-755BB5DC89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6" y="2600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4066" name="Oval 17">
              <a:extLst>
                <a:ext uri="{FF2B5EF4-FFF2-40B4-BE49-F238E27FC236}">
                  <a16:creationId xmlns:a16="http://schemas.microsoft.com/office/drawing/2014/main" id="{9323533D-9DC6-4209-B31D-AEF5846F5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304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44067" name="Line 18">
              <a:extLst>
                <a:ext uri="{FF2B5EF4-FFF2-40B4-BE49-F238E27FC236}">
                  <a16:creationId xmlns:a16="http://schemas.microsoft.com/office/drawing/2014/main" id="{B5086B07-69CD-42A4-A58B-291D7E9873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7" y="2133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4068" name="Line 19">
              <a:extLst>
                <a:ext uri="{FF2B5EF4-FFF2-40B4-BE49-F238E27FC236}">
                  <a16:creationId xmlns:a16="http://schemas.microsoft.com/office/drawing/2014/main" id="{52FD15C7-31C8-40BF-920A-6EBED56475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140"/>
              <a:ext cx="38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4069" name="Oval 20">
              <a:extLst>
                <a:ext uri="{FF2B5EF4-FFF2-40B4-BE49-F238E27FC236}">
                  <a16:creationId xmlns:a16="http://schemas.microsoft.com/office/drawing/2014/main" id="{2B230DEB-E6A7-4437-BD5F-D25BDC4F0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74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4070" name="Line 21">
              <a:extLst>
                <a:ext uri="{FF2B5EF4-FFF2-40B4-BE49-F238E27FC236}">
                  <a16:creationId xmlns:a16="http://schemas.microsoft.com/office/drawing/2014/main" id="{6DC55C93-D394-4447-90BA-02CE027AF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" y="3039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4071" name="Line 22">
              <a:extLst>
                <a:ext uri="{FF2B5EF4-FFF2-40B4-BE49-F238E27FC236}">
                  <a16:creationId xmlns:a16="http://schemas.microsoft.com/office/drawing/2014/main" id="{4E685CF4-0819-4D89-8A66-BE43C5A7C5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593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grpSp>
        <p:nvGrpSpPr>
          <p:cNvPr id="44038" name="Group 23">
            <a:extLst>
              <a:ext uri="{FF2B5EF4-FFF2-40B4-BE49-F238E27FC236}">
                <a16:creationId xmlns:a16="http://schemas.microsoft.com/office/drawing/2014/main" id="{45736A1E-8FDE-4675-8E0B-CB6B3E1EE470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976563"/>
            <a:ext cx="3113088" cy="2417762"/>
            <a:chOff x="576" y="1875"/>
            <a:chExt cx="1961" cy="1523"/>
          </a:xfrm>
        </p:grpSpPr>
        <p:sp>
          <p:nvSpPr>
            <p:cNvPr id="44049" name="Text Box 24">
              <a:extLst>
                <a:ext uri="{FF2B5EF4-FFF2-40B4-BE49-F238E27FC236}">
                  <a16:creationId xmlns:a16="http://schemas.microsoft.com/office/drawing/2014/main" id="{9F1BC808-EB9F-4145-A040-EDD69F6FD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75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–</a:t>
              </a:r>
            </a:p>
          </p:txBody>
        </p:sp>
        <p:sp>
          <p:nvSpPr>
            <p:cNvPr id="44050" name="Text Box 25">
              <a:extLst>
                <a:ext uri="{FF2B5EF4-FFF2-40B4-BE49-F238E27FC236}">
                  <a16:creationId xmlns:a16="http://schemas.microsoft.com/office/drawing/2014/main" id="{076C04B8-BE79-4634-8600-B8598796E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7" y="2301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4051" name="Text Box 26">
              <a:extLst>
                <a:ext uri="{FF2B5EF4-FFF2-40B4-BE49-F238E27FC236}">
                  <a16:creationId xmlns:a16="http://schemas.microsoft.com/office/drawing/2014/main" id="{E3D9F7B7-B1B2-4C9E-B411-A5BEEF58A8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" y="2786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0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4052" name="Text Box 27">
              <a:extLst>
                <a:ext uri="{FF2B5EF4-FFF2-40B4-BE49-F238E27FC236}">
                  <a16:creationId xmlns:a16="http://schemas.microsoft.com/office/drawing/2014/main" id="{06E1C107-2E73-4602-9514-D60F5912EE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3225"/>
              <a:ext cx="17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4039" name="Text Box 29">
            <a:extLst>
              <a:ext uri="{FF2B5EF4-FFF2-40B4-BE49-F238E27FC236}">
                <a16:creationId xmlns:a16="http://schemas.microsoft.com/office/drawing/2014/main" id="{AFEC7DF5-F131-4EA5-A711-5F553CC74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613150"/>
            <a:ext cx="838200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1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44040" name="Text Box 30">
            <a:extLst>
              <a:ext uri="{FF2B5EF4-FFF2-40B4-BE49-F238E27FC236}">
                <a16:creationId xmlns:a16="http://schemas.microsoft.com/office/drawing/2014/main" id="{61ECC4FC-5B10-4A4F-BA5C-7DFF4ED30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914650"/>
            <a:ext cx="769937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0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 1</a:t>
            </a:r>
            <a:endParaRPr lang="en-US" altLang="it-IT" sz="1600" b="1" i="1">
              <a:solidFill>
                <a:srgbClr val="003C75"/>
              </a:solidFill>
              <a:latin typeface="Arial Narrow" panose="020B0606020202030204" pitchFamily="34" charset="0"/>
            </a:endParaRPr>
          </a:p>
        </p:txBody>
      </p:sp>
      <p:sp>
        <p:nvSpPr>
          <p:cNvPr id="44041" name="Text Box 31">
            <a:extLst>
              <a:ext uri="{FF2B5EF4-FFF2-40B4-BE49-F238E27FC236}">
                <a16:creationId xmlns:a16="http://schemas.microsoft.com/office/drawing/2014/main" id="{6250D117-0537-47A8-B762-E73013E83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25" y="4305300"/>
            <a:ext cx="133667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2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44042" name="Text Box 32">
            <a:extLst>
              <a:ext uri="{FF2B5EF4-FFF2-40B4-BE49-F238E27FC236}">
                <a16:creationId xmlns:a16="http://schemas.microsoft.com/office/drawing/2014/main" id="{5BC143E7-C2B3-4FF6-959A-40F1AAAED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7988" y="3613150"/>
            <a:ext cx="836612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2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44043" name="Text Box 33">
            <a:extLst>
              <a:ext uri="{FF2B5EF4-FFF2-40B4-BE49-F238E27FC236}">
                <a16:creationId xmlns:a16="http://schemas.microsoft.com/office/drawing/2014/main" id="{B3DA9614-2ACE-4523-B06A-F0DF6493E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2921000"/>
            <a:ext cx="77787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1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44044" name="Text Box 34">
            <a:extLst>
              <a:ext uri="{FF2B5EF4-FFF2-40B4-BE49-F238E27FC236}">
                <a16:creationId xmlns:a16="http://schemas.microsoft.com/office/drawing/2014/main" id="{1DD59421-BF49-4B57-AE95-9724A69B1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2220913"/>
            <a:ext cx="779462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0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5</a:t>
            </a:r>
            <a:endParaRPr lang="en-US" altLang="it-IT" sz="1600">
              <a:solidFill>
                <a:srgbClr val="003C75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045" name="Text Box 35">
            <a:extLst>
              <a:ext uri="{FF2B5EF4-FFF2-40B4-BE49-F238E27FC236}">
                <a16:creationId xmlns:a16="http://schemas.microsoft.com/office/drawing/2014/main" id="{3343CCE9-AE51-4790-B4EC-C61A1E503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863" y="1600200"/>
            <a:ext cx="947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–5</a:t>
            </a:r>
            <a:endParaRPr lang="en-US" altLang="it-IT" sz="1600" b="1" i="1">
              <a:solidFill>
                <a:srgbClr val="003C75"/>
              </a:solidFill>
              <a:latin typeface="Arial Narrow" panose="020B0606020202030204" pitchFamily="34" charset="0"/>
            </a:endParaRPr>
          </a:p>
        </p:txBody>
      </p:sp>
      <p:sp>
        <p:nvSpPr>
          <p:cNvPr id="44046" name="Text Box 36">
            <a:extLst>
              <a:ext uri="{FF2B5EF4-FFF2-40B4-BE49-F238E27FC236}">
                <a16:creationId xmlns:a16="http://schemas.microsoft.com/office/drawing/2014/main" id="{ABB1A8D6-D522-4459-8166-36738159E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2378075"/>
            <a:ext cx="8667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neg: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true</a:t>
            </a:r>
            <a:endParaRPr lang="en-US" altLang="it-IT" sz="1600">
              <a:solidFill>
                <a:srgbClr val="003C75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4047" name="Text Box 43">
            <a:extLst>
              <a:ext uri="{FF2B5EF4-FFF2-40B4-BE49-F238E27FC236}">
                <a16:creationId xmlns:a16="http://schemas.microsoft.com/office/drawing/2014/main" id="{363D91DD-1F44-414F-A818-66216A619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054600"/>
            <a:ext cx="1371600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For “–101”</a:t>
            </a:r>
          </a:p>
        </p:txBody>
      </p:sp>
      <p:sp>
        <p:nvSpPr>
          <p:cNvPr id="44048" name="Text Box 44">
            <a:extLst>
              <a:ext uri="{FF2B5EF4-FFF2-40B4-BE49-F238E27FC236}">
                <a16:creationId xmlns:a16="http://schemas.microsoft.com/office/drawing/2014/main" id="{30389569-AD62-4C87-8B37-8CA6B2770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828800"/>
            <a:ext cx="3657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Attributed Syntax Tree</a:t>
            </a:r>
            <a:endParaRPr lang="en-US" altLang="it-IT" sz="1600">
              <a:solidFill>
                <a:srgbClr val="003C75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01" name="Rectangle 42">
            <a:extLst>
              <a:ext uri="{FF2B5EF4-FFF2-40B4-BE49-F238E27FC236}">
                <a16:creationId xmlns:a16="http://schemas.microsoft.com/office/drawing/2014/main" id="{A938BC49-25C9-4BA5-B945-9A123CC34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47800"/>
            <a:ext cx="4038600" cy="39624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46082" name="Footer Placeholder 3">
            <a:extLst>
              <a:ext uri="{FF2B5EF4-FFF2-40B4-BE49-F238E27FC236}">
                <a16:creationId xmlns:a16="http://schemas.microsoft.com/office/drawing/2014/main" id="{D4DA1B2D-AEBA-4C8E-87F4-40B08C3D28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6083" name="Slide Number Placeholder 4">
            <a:extLst>
              <a:ext uri="{FF2B5EF4-FFF2-40B4-BE49-F238E27FC236}">
                <a16:creationId xmlns:a16="http://schemas.microsoft.com/office/drawing/2014/main" id="{9EA68A0A-77C3-4F93-83F9-3AF0A097A3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B681233-58CC-448A-A58F-7AF37DCD9CE0}" type="slidenum">
              <a:rPr lang="en-US" altLang="it-IT"/>
              <a:pPr/>
              <a:t>15</a:t>
            </a:fld>
            <a:endParaRPr lang="en-US" altLang="it-IT"/>
          </a:p>
        </p:txBody>
      </p:sp>
      <p:sp>
        <p:nvSpPr>
          <p:cNvPr id="46084" name="Rectangle 2">
            <a:extLst>
              <a:ext uri="{FF2B5EF4-FFF2-40B4-BE49-F238E27FC236}">
                <a16:creationId xmlns:a16="http://schemas.microsoft.com/office/drawing/2014/main" id="{194EDA9C-4BA1-4E8F-B238-81D23F38EF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Back to the Example</a:t>
            </a:r>
          </a:p>
        </p:txBody>
      </p:sp>
      <p:grpSp>
        <p:nvGrpSpPr>
          <p:cNvPr id="46085" name="Group 3">
            <a:extLst>
              <a:ext uri="{FF2B5EF4-FFF2-40B4-BE49-F238E27FC236}">
                <a16:creationId xmlns:a16="http://schemas.microsoft.com/office/drawing/2014/main" id="{FEEA17DD-4B07-4C82-BF50-2211AEFA84E9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1524000"/>
            <a:ext cx="3149600" cy="3546475"/>
            <a:chOff x="577" y="960"/>
            <a:chExt cx="1984" cy="2234"/>
          </a:xfrm>
        </p:grpSpPr>
        <p:sp>
          <p:nvSpPr>
            <p:cNvPr id="46107" name="Line 4">
              <a:extLst>
                <a:ext uri="{FF2B5EF4-FFF2-40B4-BE49-F238E27FC236}">
                  <a16:creationId xmlns:a16="http://schemas.microsoft.com/office/drawing/2014/main" id="{778C3321-C1C5-4646-891A-C8AAC8F38A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2164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6108" name="Oval 5">
              <a:extLst>
                <a:ext uri="{FF2B5EF4-FFF2-40B4-BE49-F238E27FC236}">
                  <a16:creationId xmlns:a16="http://schemas.microsoft.com/office/drawing/2014/main" id="{E82F4597-6D1E-4AA0-A2D0-6F45A7D8E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960"/>
              <a:ext cx="432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Number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6109" name="Line 6">
              <a:extLst>
                <a:ext uri="{FF2B5EF4-FFF2-40B4-BE49-F238E27FC236}">
                  <a16:creationId xmlns:a16="http://schemas.microsoft.com/office/drawing/2014/main" id="{D7E7773B-E9C1-4153-A4CF-25DF135AB1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1" y="1243"/>
              <a:ext cx="148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6110" name="Line 7">
              <a:extLst>
                <a:ext uri="{FF2B5EF4-FFF2-40B4-BE49-F238E27FC236}">
                  <a16:creationId xmlns:a16="http://schemas.microsoft.com/office/drawing/2014/main" id="{3DA01887-C41C-4B47-8CD2-854149B396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1242"/>
              <a:ext cx="90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6111" name="Oval 8">
              <a:extLst>
                <a:ext uri="{FF2B5EF4-FFF2-40B4-BE49-F238E27FC236}">
                  <a16:creationId xmlns:a16="http://schemas.microsoft.com/office/drawing/2014/main" id="{FA3E06BC-D7F4-484B-A02E-C7D322151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1435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Sign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6112" name="Line 9">
              <a:extLst>
                <a:ext uri="{FF2B5EF4-FFF2-40B4-BE49-F238E27FC236}">
                  <a16:creationId xmlns:a16="http://schemas.microsoft.com/office/drawing/2014/main" id="{818D0048-5527-46B4-A519-65CA3F8263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725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6113" name="Oval 10">
              <a:extLst>
                <a:ext uri="{FF2B5EF4-FFF2-40B4-BE49-F238E27FC236}">
                  <a16:creationId xmlns:a16="http://schemas.microsoft.com/office/drawing/2014/main" id="{3AE06B2F-D1C8-4D4A-8724-F1241281B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44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46114" name="Oval 11">
              <a:extLst>
                <a:ext uri="{FF2B5EF4-FFF2-40B4-BE49-F238E27FC236}">
                  <a16:creationId xmlns:a16="http://schemas.microsoft.com/office/drawing/2014/main" id="{CE05BD5E-F264-4D41-B815-FAC1DEC92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3" y="1867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6115" name="Oval 12">
              <a:extLst>
                <a:ext uri="{FF2B5EF4-FFF2-40B4-BE49-F238E27FC236}">
                  <a16:creationId xmlns:a16="http://schemas.microsoft.com/office/drawing/2014/main" id="{F22E0830-5B99-4CCE-9848-67D55E5FF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46116" name="Line 13">
              <a:extLst>
                <a:ext uri="{FF2B5EF4-FFF2-40B4-BE49-F238E27FC236}">
                  <a16:creationId xmlns:a16="http://schemas.microsoft.com/office/drawing/2014/main" id="{941DD00C-66CC-4CD3-8331-DE3D2B31A3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7" y="1697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6117" name="Line 14">
              <a:extLst>
                <a:ext uri="{FF2B5EF4-FFF2-40B4-BE49-F238E27FC236}">
                  <a16:creationId xmlns:a16="http://schemas.microsoft.com/office/drawing/2014/main" id="{2B89138C-8D25-4387-BB77-47939A0500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3" y="1704"/>
              <a:ext cx="438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6118" name="Oval 15">
              <a:extLst>
                <a:ext uri="{FF2B5EF4-FFF2-40B4-BE49-F238E27FC236}">
                  <a16:creationId xmlns:a16="http://schemas.microsoft.com/office/drawing/2014/main" id="{DC4FF38A-D09B-4A37-B361-7D767ADF2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3" y="2303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6119" name="Line 16">
              <a:extLst>
                <a:ext uri="{FF2B5EF4-FFF2-40B4-BE49-F238E27FC236}">
                  <a16:creationId xmlns:a16="http://schemas.microsoft.com/office/drawing/2014/main" id="{5F707F4A-70F1-47A7-B4B5-F49CDD2BC9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6" y="2600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6120" name="Oval 17">
              <a:extLst>
                <a:ext uri="{FF2B5EF4-FFF2-40B4-BE49-F238E27FC236}">
                  <a16:creationId xmlns:a16="http://schemas.microsoft.com/office/drawing/2014/main" id="{FA1E1AE0-F2EA-4FCB-B6A8-F1FB6E9BE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304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46121" name="Line 18">
              <a:extLst>
                <a:ext uri="{FF2B5EF4-FFF2-40B4-BE49-F238E27FC236}">
                  <a16:creationId xmlns:a16="http://schemas.microsoft.com/office/drawing/2014/main" id="{1213538B-45A3-4D63-B5EE-4AC4F61434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7" y="2133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6122" name="Line 19">
              <a:extLst>
                <a:ext uri="{FF2B5EF4-FFF2-40B4-BE49-F238E27FC236}">
                  <a16:creationId xmlns:a16="http://schemas.microsoft.com/office/drawing/2014/main" id="{E2B566A5-2843-4745-B81A-081DF8CBDF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140"/>
              <a:ext cx="38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6123" name="Oval 20">
              <a:extLst>
                <a:ext uri="{FF2B5EF4-FFF2-40B4-BE49-F238E27FC236}">
                  <a16:creationId xmlns:a16="http://schemas.microsoft.com/office/drawing/2014/main" id="{B695485F-E9D7-4A5A-96CA-4E50F817D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74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6124" name="Line 21">
              <a:extLst>
                <a:ext uri="{FF2B5EF4-FFF2-40B4-BE49-F238E27FC236}">
                  <a16:creationId xmlns:a16="http://schemas.microsoft.com/office/drawing/2014/main" id="{47E9DC91-0662-4C81-A9A5-FAB0CDC458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" y="3039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6125" name="Line 22">
              <a:extLst>
                <a:ext uri="{FF2B5EF4-FFF2-40B4-BE49-F238E27FC236}">
                  <a16:creationId xmlns:a16="http://schemas.microsoft.com/office/drawing/2014/main" id="{50A40246-9C96-4FE9-BD06-860EC748BC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593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grpSp>
        <p:nvGrpSpPr>
          <p:cNvPr id="46086" name="Group 23">
            <a:extLst>
              <a:ext uri="{FF2B5EF4-FFF2-40B4-BE49-F238E27FC236}">
                <a16:creationId xmlns:a16="http://schemas.microsoft.com/office/drawing/2014/main" id="{EDD084FB-E5C0-450F-ACD2-CAB497B37149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976563"/>
            <a:ext cx="3113088" cy="2417762"/>
            <a:chOff x="576" y="1875"/>
            <a:chExt cx="1961" cy="1523"/>
          </a:xfrm>
        </p:grpSpPr>
        <p:sp>
          <p:nvSpPr>
            <p:cNvPr id="46103" name="Text Box 24">
              <a:extLst>
                <a:ext uri="{FF2B5EF4-FFF2-40B4-BE49-F238E27FC236}">
                  <a16:creationId xmlns:a16="http://schemas.microsoft.com/office/drawing/2014/main" id="{50E76B00-B9E2-45AF-9DB7-4D972E7CE5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75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–</a:t>
              </a:r>
            </a:p>
          </p:txBody>
        </p:sp>
        <p:sp>
          <p:nvSpPr>
            <p:cNvPr id="46104" name="Text Box 25">
              <a:extLst>
                <a:ext uri="{FF2B5EF4-FFF2-40B4-BE49-F238E27FC236}">
                  <a16:creationId xmlns:a16="http://schemas.microsoft.com/office/drawing/2014/main" id="{01B01926-5718-422F-A3A6-746EFC3F5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7" y="2301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6105" name="Text Box 26">
              <a:extLst>
                <a:ext uri="{FF2B5EF4-FFF2-40B4-BE49-F238E27FC236}">
                  <a16:creationId xmlns:a16="http://schemas.microsoft.com/office/drawing/2014/main" id="{CFE312AD-1DD4-4E82-9A77-CE24420530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" y="2786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0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6106" name="Text Box 27">
              <a:extLst>
                <a:ext uri="{FF2B5EF4-FFF2-40B4-BE49-F238E27FC236}">
                  <a16:creationId xmlns:a16="http://schemas.microsoft.com/office/drawing/2014/main" id="{ACBBAAC4-7642-40B2-8940-A1221688C3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3225"/>
              <a:ext cx="17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6087" name="Line 28">
            <a:extLst>
              <a:ext uri="{FF2B5EF4-FFF2-40B4-BE49-F238E27FC236}">
                <a16:creationId xmlns:a16="http://schemas.microsoft.com/office/drawing/2014/main" id="{A5EC08D6-4272-4117-87F4-73D501ABFB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30413" y="4197350"/>
            <a:ext cx="252412" cy="21748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6088" name="Text Box 29">
            <a:extLst>
              <a:ext uri="{FF2B5EF4-FFF2-40B4-BE49-F238E27FC236}">
                <a16:creationId xmlns:a16="http://schemas.microsoft.com/office/drawing/2014/main" id="{50535965-EB12-4130-B136-C2DCB18B5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613150"/>
            <a:ext cx="838200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1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46089" name="Text Box 30">
            <a:extLst>
              <a:ext uri="{FF2B5EF4-FFF2-40B4-BE49-F238E27FC236}">
                <a16:creationId xmlns:a16="http://schemas.microsoft.com/office/drawing/2014/main" id="{E394D3F3-9F53-474C-9923-8C406F8EC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914650"/>
            <a:ext cx="769937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0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 1</a:t>
            </a:r>
            <a:endParaRPr lang="en-US" altLang="it-IT" sz="1600" b="1" i="1">
              <a:solidFill>
                <a:srgbClr val="003C75"/>
              </a:solidFill>
              <a:latin typeface="Arial Narrow" panose="020B0606020202030204" pitchFamily="34" charset="0"/>
            </a:endParaRPr>
          </a:p>
        </p:txBody>
      </p:sp>
      <p:sp>
        <p:nvSpPr>
          <p:cNvPr id="46090" name="Text Box 31">
            <a:extLst>
              <a:ext uri="{FF2B5EF4-FFF2-40B4-BE49-F238E27FC236}">
                <a16:creationId xmlns:a16="http://schemas.microsoft.com/office/drawing/2014/main" id="{BE7020CC-A4C5-402A-A0BB-3794A09D9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25" y="4305300"/>
            <a:ext cx="133667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2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46091" name="Text Box 32">
            <a:extLst>
              <a:ext uri="{FF2B5EF4-FFF2-40B4-BE49-F238E27FC236}">
                <a16:creationId xmlns:a16="http://schemas.microsoft.com/office/drawing/2014/main" id="{91F92F72-954F-4AC8-89C9-E0E99F7BE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7988" y="3613150"/>
            <a:ext cx="836612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2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46092" name="Text Box 33">
            <a:extLst>
              <a:ext uri="{FF2B5EF4-FFF2-40B4-BE49-F238E27FC236}">
                <a16:creationId xmlns:a16="http://schemas.microsoft.com/office/drawing/2014/main" id="{F4BE2B72-9721-439A-BB0D-996B90BD0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2921000"/>
            <a:ext cx="77787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1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46093" name="Text Box 34">
            <a:extLst>
              <a:ext uri="{FF2B5EF4-FFF2-40B4-BE49-F238E27FC236}">
                <a16:creationId xmlns:a16="http://schemas.microsoft.com/office/drawing/2014/main" id="{2CF58BDA-2EAF-458D-8F14-BCEA7ABCC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2220913"/>
            <a:ext cx="779462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0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5</a:t>
            </a:r>
            <a:endParaRPr lang="en-US" altLang="it-IT" sz="1600">
              <a:solidFill>
                <a:srgbClr val="003C75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6094" name="Text Box 35">
            <a:extLst>
              <a:ext uri="{FF2B5EF4-FFF2-40B4-BE49-F238E27FC236}">
                <a16:creationId xmlns:a16="http://schemas.microsoft.com/office/drawing/2014/main" id="{1BEDABB0-6F17-4E84-AAEE-D16D649A8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863" y="1600200"/>
            <a:ext cx="947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–5</a:t>
            </a:r>
            <a:endParaRPr lang="en-US" altLang="it-IT" sz="1600" b="1" i="1">
              <a:solidFill>
                <a:srgbClr val="003C75"/>
              </a:solidFill>
              <a:latin typeface="Arial Narrow" panose="020B0606020202030204" pitchFamily="34" charset="0"/>
            </a:endParaRPr>
          </a:p>
        </p:txBody>
      </p:sp>
      <p:sp>
        <p:nvSpPr>
          <p:cNvPr id="46095" name="Text Box 36">
            <a:extLst>
              <a:ext uri="{FF2B5EF4-FFF2-40B4-BE49-F238E27FC236}">
                <a16:creationId xmlns:a16="http://schemas.microsoft.com/office/drawing/2014/main" id="{B21CFEC6-92E9-4597-9DC7-72E3C36C5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2378075"/>
            <a:ext cx="8667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neg: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true</a:t>
            </a:r>
            <a:endParaRPr lang="en-US" altLang="it-IT" sz="1600">
              <a:solidFill>
                <a:srgbClr val="003C75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6096" name="Line 37">
            <a:extLst>
              <a:ext uri="{FF2B5EF4-FFF2-40B4-BE49-F238E27FC236}">
                <a16:creationId xmlns:a16="http://schemas.microsoft.com/office/drawing/2014/main" id="{144CD78F-0080-4653-82BE-DF60AA972D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814763"/>
            <a:ext cx="228600" cy="3810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6097" name="Line 38">
            <a:extLst>
              <a:ext uri="{FF2B5EF4-FFF2-40B4-BE49-F238E27FC236}">
                <a16:creationId xmlns:a16="http://schemas.microsoft.com/office/drawing/2014/main" id="{C5802BA3-3D2F-43D8-B7F1-51B0A1EA00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82800" y="3200400"/>
            <a:ext cx="660400" cy="549275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6098" name="Line 39">
            <a:extLst>
              <a:ext uri="{FF2B5EF4-FFF2-40B4-BE49-F238E27FC236}">
                <a16:creationId xmlns:a16="http://schemas.microsoft.com/office/drawing/2014/main" id="{39BA558C-82F4-4655-B1BC-3854368648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65450" y="2490788"/>
            <a:ext cx="808038" cy="5842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6099" name="Line 40">
            <a:extLst>
              <a:ext uri="{FF2B5EF4-FFF2-40B4-BE49-F238E27FC236}">
                <a16:creationId xmlns:a16="http://schemas.microsoft.com/office/drawing/2014/main" id="{03BF8B32-D8D1-4A94-B823-163E896077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625" y="2479675"/>
            <a:ext cx="330200" cy="5207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6100" name="Line 41">
            <a:extLst>
              <a:ext uri="{FF2B5EF4-FFF2-40B4-BE49-F238E27FC236}">
                <a16:creationId xmlns:a16="http://schemas.microsoft.com/office/drawing/2014/main" id="{86527C4A-13A1-4B32-8C04-2F60B885A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2575" y="3175000"/>
            <a:ext cx="365125" cy="512763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" name="Text Box 43">
            <a:extLst>
              <a:ext uri="{FF2B5EF4-FFF2-40B4-BE49-F238E27FC236}">
                <a16:creationId xmlns:a16="http://schemas.microsoft.com/office/drawing/2014/main" id="{3301055B-19D9-4673-899D-31CC834F7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054600"/>
            <a:ext cx="1371600" cy="355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For “–101”</a:t>
            </a:r>
          </a:p>
        </p:txBody>
      </p:sp>
      <p:sp>
        <p:nvSpPr>
          <p:cNvPr id="46102" name="Text Box 44">
            <a:extLst>
              <a:ext uri="{FF2B5EF4-FFF2-40B4-BE49-F238E27FC236}">
                <a16:creationId xmlns:a16="http://schemas.microsoft.com/office/drawing/2014/main" id="{2DEF62B2-ABCB-40D4-AB78-6D61D2BEA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828800"/>
            <a:ext cx="3657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Inherited Attributes</a:t>
            </a:r>
            <a:endParaRPr lang="en-US" altLang="it-IT" sz="1600">
              <a:solidFill>
                <a:srgbClr val="003C75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53" name="Rectangle 46">
            <a:extLst>
              <a:ext uri="{FF2B5EF4-FFF2-40B4-BE49-F238E27FC236}">
                <a16:creationId xmlns:a16="http://schemas.microsoft.com/office/drawing/2014/main" id="{B6EB7660-647C-4F13-941A-3F6541EFD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47800"/>
            <a:ext cx="4038600" cy="3962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48130" name="Footer Placeholder 3">
            <a:extLst>
              <a:ext uri="{FF2B5EF4-FFF2-40B4-BE49-F238E27FC236}">
                <a16:creationId xmlns:a16="http://schemas.microsoft.com/office/drawing/2014/main" id="{F49B1316-CF19-43ED-BCB7-0E50AA454B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48131" name="Slide Number Placeholder 4">
            <a:extLst>
              <a:ext uri="{FF2B5EF4-FFF2-40B4-BE49-F238E27FC236}">
                <a16:creationId xmlns:a16="http://schemas.microsoft.com/office/drawing/2014/main" id="{C8581602-CD90-4CA6-B05A-CE5782AD99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9E355CF-08FB-4E39-8CF1-330E4FF33262}" type="slidenum">
              <a:rPr lang="en-US" altLang="it-IT"/>
              <a:pPr/>
              <a:t>16</a:t>
            </a:fld>
            <a:endParaRPr lang="en-US" altLang="it-IT"/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id="{D59CDA64-DD9E-4483-9C4F-2DB56D50DE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Back to the Example</a:t>
            </a:r>
          </a:p>
        </p:txBody>
      </p:sp>
      <p:grpSp>
        <p:nvGrpSpPr>
          <p:cNvPr id="48133" name="Group 3">
            <a:extLst>
              <a:ext uri="{FF2B5EF4-FFF2-40B4-BE49-F238E27FC236}">
                <a16:creationId xmlns:a16="http://schemas.microsoft.com/office/drawing/2014/main" id="{25137132-C2B5-4F6A-801F-69C4905E4ACE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1524000"/>
            <a:ext cx="3149600" cy="3546475"/>
            <a:chOff x="577" y="960"/>
            <a:chExt cx="1984" cy="2234"/>
          </a:xfrm>
        </p:grpSpPr>
        <p:sp>
          <p:nvSpPr>
            <p:cNvPr id="48160" name="Line 4">
              <a:extLst>
                <a:ext uri="{FF2B5EF4-FFF2-40B4-BE49-F238E27FC236}">
                  <a16:creationId xmlns:a16="http://schemas.microsoft.com/office/drawing/2014/main" id="{5561EBCF-54D0-4AA8-924D-72A0C95D4D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2164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8161" name="Oval 5">
              <a:extLst>
                <a:ext uri="{FF2B5EF4-FFF2-40B4-BE49-F238E27FC236}">
                  <a16:creationId xmlns:a16="http://schemas.microsoft.com/office/drawing/2014/main" id="{0DF027B4-CC0B-4198-A217-1006C397F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960"/>
              <a:ext cx="432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Number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8162" name="Line 6">
              <a:extLst>
                <a:ext uri="{FF2B5EF4-FFF2-40B4-BE49-F238E27FC236}">
                  <a16:creationId xmlns:a16="http://schemas.microsoft.com/office/drawing/2014/main" id="{E2E09C4B-5DA3-4E69-8750-479CAA7C88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1" y="1243"/>
              <a:ext cx="148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8163" name="Line 7">
              <a:extLst>
                <a:ext uri="{FF2B5EF4-FFF2-40B4-BE49-F238E27FC236}">
                  <a16:creationId xmlns:a16="http://schemas.microsoft.com/office/drawing/2014/main" id="{9D4C1DAA-A88A-4EA5-81FE-7A6188A0CE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1242"/>
              <a:ext cx="90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8164" name="Oval 8">
              <a:extLst>
                <a:ext uri="{FF2B5EF4-FFF2-40B4-BE49-F238E27FC236}">
                  <a16:creationId xmlns:a16="http://schemas.microsoft.com/office/drawing/2014/main" id="{76146BAE-C050-4459-A5DF-A747F0960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1435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Sign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8165" name="Line 9">
              <a:extLst>
                <a:ext uri="{FF2B5EF4-FFF2-40B4-BE49-F238E27FC236}">
                  <a16:creationId xmlns:a16="http://schemas.microsoft.com/office/drawing/2014/main" id="{F4BEF470-5B4D-446F-8F8B-4B34593A76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725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8166" name="Oval 10">
              <a:extLst>
                <a:ext uri="{FF2B5EF4-FFF2-40B4-BE49-F238E27FC236}">
                  <a16:creationId xmlns:a16="http://schemas.microsoft.com/office/drawing/2014/main" id="{AA5F48B6-98E1-4CD9-AA85-C9BA4EB37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44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48167" name="Oval 11">
              <a:extLst>
                <a:ext uri="{FF2B5EF4-FFF2-40B4-BE49-F238E27FC236}">
                  <a16:creationId xmlns:a16="http://schemas.microsoft.com/office/drawing/2014/main" id="{A3EBF223-A2F9-4B50-A90A-7216AF65E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3" y="1867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8168" name="Oval 12">
              <a:extLst>
                <a:ext uri="{FF2B5EF4-FFF2-40B4-BE49-F238E27FC236}">
                  <a16:creationId xmlns:a16="http://schemas.microsoft.com/office/drawing/2014/main" id="{A0547F87-3121-4E5B-884D-B3556382E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48169" name="Line 13">
              <a:extLst>
                <a:ext uri="{FF2B5EF4-FFF2-40B4-BE49-F238E27FC236}">
                  <a16:creationId xmlns:a16="http://schemas.microsoft.com/office/drawing/2014/main" id="{63FD011A-7638-4828-B9B9-ACA135A78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7" y="1697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8170" name="Line 14">
              <a:extLst>
                <a:ext uri="{FF2B5EF4-FFF2-40B4-BE49-F238E27FC236}">
                  <a16:creationId xmlns:a16="http://schemas.microsoft.com/office/drawing/2014/main" id="{484783CE-C467-411D-9F81-FE4DEF980F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3" y="1704"/>
              <a:ext cx="438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8171" name="Oval 15">
              <a:extLst>
                <a:ext uri="{FF2B5EF4-FFF2-40B4-BE49-F238E27FC236}">
                  <a16:creationId xmlns:a16="http://schemas.microsoft.com/office/drawing/2014/main" id="{A308877D-0C57-40EF-A2A0-1D9289D72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3" y="2303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8172" name="Line 16">
              <a:extLst>
                <a:ext uri="{FF2B5EF4-FFF2-40B4-BE49-F238E27FC236}">
                  <a16:creationId xmlns:a16="http://schemas.microsoft.com/office/drawing/2014/main" id="{8BFE64C6-A8D7-40A7-BDCA-18784ECE8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6" y="2600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8173" name="Oval 17">
              <a:extLst>
                <a:ext uri="{FF2B5EF4-FFF2-40B4-BE49-F238E27FC236}">
                  <a16:creationId xmlns:a16="http://schemas.microsoft.com/office/drawing/2014/main" id="{96EA0A9A-036C-457A-80F9-9882C76FD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304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48174" name="Line 18">
              <a:extLst>
                <a:ext uri="{FF2B5EF4-FFF2-40B4-BE49-F238E27FC236}">
                  <a16:creationId xmlns:a16="http://schemas.microsoft.com/office/drawing/2014/main" id="{8445F75E-81B7-4D7E-B4F0-AB53D5DA99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7" y="2133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8175" name="Line 19">
              <a:extLst>
                <a:ext uri="{FF2B5EF4-FFF2-40B4-BE49-F238E27FC236}">
                  <a16:creationId xmlns:a16="http://schemas.microsoft.com/office/drawing/2014/main" id="{C8FFC525-63B0-4A5D-822D-FE2272E636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140"/>
              <a:ext cx="38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8176" name="Oval 20">
              <a:extLst>
                <a:ext uri="{FF2B5EF4-FFF2-40B4-BE49-F238E27FC236}">
                  <a16:creationId xmlns:a16="http://schemas.microsoft.com/office/drawing/2014/main" id="{003B2FB6-C392-403A-9557-3FCCF1F35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74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48177" name="Line 21">
              <a:extLst>
                <a:ext uri="{FF2B5EF4-FFF2-40B4-BE49-F238E27FC236}">
                  <a16:creationId xmlns:a16="http://schemas.microsoft.com/office/drawing/2014/main" id="{F90E671B-CF07-4E7A-A031-DB08D912C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" y="3039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48178" name="Line 22">
              <a:extLst>
                <a:ext uri="{FF2B5EF4-FFF2-40B4-BE49-F238E27FC236}">
                  <a16:creationId xmlns:a16="http://schemas.microsoft.com/office/drawing/2014/main" id="{B21F5246-6FD4-4516-84AA-D7B30710B4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593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grpSp>
        <p:nvGrpSpPr>
          <p:cNvPr id="48134" name="Group 23">
            <a:extLst>
              <a:ext uri="{FF2B5EF4-FFF2-40B4-BE49-F238E27FC236}">
                <a16:creationId xmlns:a16="http://schemas.microsoft.com/office/drawing/2014/main" id="{1EBA046D-7742-4524-8A89-A47298C138C6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976563"/>
            <a:ext cx="3113088" cy="2417762"/>
            <a:chOff x="576" y="1875"/>
            <a:chExt cx="1961" cy="1523"/>
          </a:xfrm>
        </p:grpSpPr>
        <p:sp>
          <p:nvSpPr>
            <p:cNvPr id="48156" name="Text Box 24">
              <a:extLst>
                <a:ext uri="{FF2B5EF4-FFF2-40B4-BE49-F238E27FC236}">
                  <a16:creationId xmlns:a16="http://schemas.microsoft.com/office/drawing/2014/main" id="{67766749-8734-4BDE-A97D-8748A0A34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75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–</a:t>
              </a:r>
            </a:p>
          </p:txBody>
        </p:sp>
        <p:sp>
          <p:nvSpPr>
            <p:cNvPr id="48157" name="Text Box 25">
              <a:extLst>
                <a:ext uri="{FF2B5EF4-FFF2-40B4-BE49-F238E27FC236}">
                  <a16:creationId xmlns:a16="http://schemas.microsoft.com/office/drawing/2014/main" id="{7DE0E668-3BB8-43DD-8D0C-E66EF7C6A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7" y="2301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8158" name="Text Box 26">
              <a:extLst>
                <a:ext uri="{FF2B5EF4-FFF2-40B4-BE49-F238E27FC236}">
                  <a16:creationId xmlns:a16="http://schemas.microsoft.com/office/drawing/2014/main" id="{51692365-EA6C-486D-929C-7076C9DE4C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" y="2786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0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48159" name="Text Box 27">
              <a:extLst>
                <a:ext uri="{FF2B5EF4-FFF2-40B4-BE49-F238E27FC236}">
                  <a16:creationId xmlns:a16="http://schemas.microsoft.com/office/drawing/2014/main" id="{918C12A3-2B93-4BFC-BB28-38CE47B88C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3225"/>
              <a:ext cx="17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8135" name="Text Box 28">
            <a:extLst>
              <a:ext uri="{FF2B5EF4-FFF2-40B4-BE49-F238E27FC236}">
                <a16:creationId xmlns:a16="http://schemas.microsoft.com/office/drawing/2014/main" id="{D204D16B-D964-4B58-8D1A-F5F853460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613150"/>
            <a:ext cx="838200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1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48136" name="Text Box 29">
            <a:extLst>
              <a:ext uri="{FF2B5EF4-FFF2-40B4-BE49-F238E27FC236}">
                <a16:creationId xmlns:a16="http://schemas.microsoft.com/office/drawing/2014/main" id="{5FE5E0E7-0AEF-4373-9B1A-CEEA2E91E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914650"/>
            <a:ext cx="769937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0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1</a:t>
            </a:r>
            <a:endParaRPr lang="en-US" altLang="it-IT" sz="1600" b="1" i="1">
              <a:solidFill>
                <a:srgbClr val="003C75"/>
              </a:solidFill>
              <a:latin typeface="Arial Narrow" panose="020B0606020202030204" pitchFamily="34" charset="0"/>
            </a:endParaRPr>
          </a:p>
        </p:txBody>
      </p:sp>
      <p:sp>
        <p:nvSpPr>
          <p:cNvPr id="48137" name="Text Box 30">
            <a:extLst>
              <a:ext uri="{FF2B5EF4-FFF2-40B4-BE49-F238E27FC236}">
                <a16:creationId xmlns:a16="http://schemas.microsoft.com/office/drawing/2014/main" id="{7929358B-E69A-4CC2-B250-3499DD716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25" y="4305300"/>
            <a:ext cx="133667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2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48138" name="Text Box 31">
            <a:extLst>
              <a:ext uri="{FF2B5EF4-FFF2-40B4-BE49-F238E27FC236}">
                <a16:creationId xmlns:a16="http://schemas.microsoft.com/office/drawing/2014/main" id="{15F2E606-DA04-4501-8D87-C1376742C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7988" y="3613150"/>
            <a:ext cx="836612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2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48139" name="Text Box 32">
            <a:extLst>
              <a:ext uri="{FF2B5EF4-FFF2-40B4-BE49-F238E27FC236}">
                <a16:creationId xmlns:a16="http://schemas.microsoft.com/office/drawing/2014/main" id="{B03677B0-E392-4BA9-83D8-DA6861F26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2921000"/>
            <a:ext cx="77787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1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48140" name="Text Box 33">
            <a:extLst>
              <a:ext uri="{FF2B5EF4-FFF2-40B4-BE49-F238E27FC236}">
                <a16:creationId xmlns:a16="http://schemas.microsoft.com/office/drawing/2014/main" id="{9363E510-47D5-4FC0-9BEA-A083C22CB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2220913"/>
            <a:ext cx="779462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0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B025A6"/>
                </a:solidFill>
                <a:latin typeface="Arial Narrow" panose="020B0606020202030204" pitchFamily="34" charset="0"/>
              </a:rPr>
              <a:t>5</a:t>
            </a:r>
            <a:endParaRPr lang="en-US" altLang="it-IT" sz="1600">
              <a:latin typeface="Arial Rounded MT Bold" panose="020F0704030504030204" pitchFamily="34" charset="0"/>
            </a:endParaRPr>
          </a:p>
        </p:txBody>
      </p:sp>
      <p:sp>
        <p:nvSpPr>
          <p:cNvPr id="48141" name="Text Box 34">
            <a:extLst>
              <a:ext uri="{FF2B5EF4-FFF2-40B4-BE49-F238E27FC236}">
                <a16:creationId xmlns:a16="http://schemas.microsoft.com/office/drawing/2014/main" id="{3A93A310-8CFD-4969-AF7A-E4F3BD2DF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863" y="1600200"/>
            <a:ext cx="947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–5</a:t>
            </a:r>
            <a:endParaRPr lang="en-US" altLang="it-IT" sz="1600" b="1" i="1">
              <a:solidFill>
                <a:srgbClr val="003C75"/>
              </a:solidFill>
              <a:latin typeface="Arial Narrow" panose="020B0606020202030204" pitchFamily="34" charset="0"/>
            </a:endParaRPr>
          </a:p>
        </p:txBody>
      </p:sp>
      <p:sp>
        <p:nvSpPr>
          <p:cNvPr id="48142" name="Text Box 35">
            <a:extLst>
              <a:ext uri="{FF2B5EF4-FFF2-40B4-BE49-F238E27FC236}">
                <a16:creationId xmlns:a16="http://schemas.microsoft.com/office/drawing/2014/main" id="{34176250-D2BE-4FD5-A88C-13098BAFA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2378075"/>
            <a:ext cx="8667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neg: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true</a:t>
            </a:r>
            <a:endParaRPr lang="en-US" altLang="it-IT" sz="1600">
              <a:solidFill>
                <a:srgbClr val="003C75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8143" name="Line 36">
            <a:extLst>
              <a:ext uri="{FF2B5EF4-FFF2-40B4-BE49-F238E27FC236}">
                <a16:creationId xmlns:a16="http://schemas.microsoft.com/office/drawing/2014/main" id="{4D133A57-97EB-47DB-95D3-3D560B585B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4829175"/>
            <a:ext cx="255588" cy="35718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8144" name="Line 37">
            <a:extLst>
              <a:ext uri="{FF2B5EF4-FFF2-40B4-BE49-F238E27FC236}">
                <a16:creationId xmlns:a16="http://schemas.microsoft.com/office/drawing/2014/main" id="{70C672D0-0B5E-4D84-818A-B3C5095A95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4500563"/>
            <a:ext cx="169863" cy="109537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8145" name="Line 38">
            <a:extLst>
              <a:ext uri="{FF2B5EF4-FFF2-40B4-BE49-F238E27FC236}">
                <a16:creationId xmlns:a16="http://schemas.microsoft.com/office/drawing/2014/main" id="{2D1A1913-1FF6-49FF-A684-EEBA7FDA07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3600" y="4606925"/>
            <a:ext cx="249238" cy="1222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8146" name="Line 39">
            <a:extLst>
              <a:ext uri="{FF2B5EF4-FFF2-40B4-BE49-F238E27FC236}">
                <a16:creationId xmlns:a16="http://schemas.microsoft.com/office/drawing/2014/main" id="{38A8CE86-5960-4300-9E79-8EA58C8290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1563" y="3778250"/>
            <a:ext cx="169862" cy="1095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8147" name="Line 40">
            <a:extLst>
              <a:ext uri="{FF2B5EF4-FFF2-40B4-BE49-F238E27FC236}">
                <a16:creationId xmlns:a16="http://schemas.microsoft.com/office/drawing/2014/main" id="{D1CDEDE3-5A57-414C-BE8B-6FB38518C4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35363" y="3884613"/>
            <a:ext cx="249237" cy="122237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8148" name="Line 41">
            <a:extLst>
              <a:ext uri="{FF2B5EF4-FFF2-40B4-BE49-F238E27FC236}">
                <a16:creationId xmlns:a16="http://schemas.microsoft.com/office/drawing/2014/main" id="{1D239A10-A9B5-44AE-AE16-5FA381468B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6925" y="3103563"/>
            <a:ext cx="169863" cy="109537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8149" name="Line 42">
            <a:extLst>
              <a:ext uri="{FF2B5EF4-FFF2-40B4-BE49-F238E27FC236}">
                <a16:creationId xmlns:a16="http://schemas.microsoft.com/office/drawing/2014/main" id="{2C5B91F8-E8A2-4DB8-80D6-9A7210B350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30725" y="3209925"/>
            <a:ext cx="249238" cy="1222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8150" name="Line 43">
            <a:extLst>
              <a:ext uri="{FF2B5EF4-FFF2-40B4-BE49-F238E27FC236}">
                <a16:creationId xmlns:a16="http://schemas.microsoft.com/office/drawing/2014/main" id="{12A20A95-B35A-4B43-B4BA-1A97D243E2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95388" y="2667000"/>
            <a:ext cx="304800" cy="4524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8151" name="Line 44">
            <a:extLst>
              <a:ext uri="{FF2B5EF4-FFF2-40B4-BE49-F238E27FC236}">
                <a16:creationId xmlns:a16="http://schemas.microsoft.com/office/drawing/2014/main" id="{90DE44C8-C1C8-479E-87B8-67BB896A35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3225" y="4119563"/>
            <a:ext cx="227013" cy="373062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48152" name="Line 45">
            <a:extLst>
              <a:ext uri="{FF2B5EF4-FFF2-40B4-BE49-F238E27FC236}">
                <a16:creationId xmlns:a16="http://schemas.microsoft.com/office/drawing/2014/main" id="{1EAFC322-6A03-4B07-96E4-030BF3A425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0013" y="3406775"/>
            <a:ext cx="268287" cy="347663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" name="Text Box 47">
            <a:extLst>
              <a:ext uri="{FF2B5EF4-FFF2-40B4-BE49-F238E27FC236}">
                <a16:creationId xmlns:a16="http://schemas.microsoft.com/office/drawing/2014/main" id="{511C5F65-470A-4EE6-BAF5-439107B13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054600"/>
            <a:ext cx="1371600" cy="355600"/>
          </a:xfrm>
          <a:prstGeom prst="rect">
            <a:avLst/>
          </a:prstGeom>
          <a:noFill/>
          <a:ln w="19050">
            <a:solidFill>
              <a:srgbClr val="7F7F7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For “–101”</a:t>
            </a:r>
          </a:p>
        </p:txBody>
      </p:sp>
      <p:sp>
        <p:nvSpPr>
          <p:cNvPr id="48154" name="Text Box 48">
            <a:extLst>
              <a:ext uri="{FF2B5EF4-FFF2-40B4-BE49-F238E27FC236}">
                <a16:creationId xmlns:a16="http://schemas.microsoft.com/office/drawing/2014/main" id="{9B079464-076F-452B-B804-3C1086452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828800"/>
            <a:ext cx="3657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Synthesized attributes</a:t>
            </a:r>
            <a:endParaRPr lang="en-US" altLang="it-IT" sz="1600">
              <a:solidFill>
                <a:srgbClr val="003C75"/>
              </a:solidFill>
              <a:latin typeface="Arial Narrow" panose="020B0606020202030204" pitchFamily="34" charset="0"/>
            </a:endParaRPr>
          </a:p>
        </p:txBody>
      </p:sp>
      <p:sp>
        <p:nvSpPr>
          <p:cNvPr id="48155" name="Text Box 48">
            <a:extLst>
              <a:ext uri="{FF2B5EF4-FFF2-40B4-BE49-F238E27FC236}">
                <a16:creationId xmlns:a16="http://schemas.microsoft.com/office/drawing/2014/main" id="{9DE085D3-E7DA-4229-B0A6-EFE91F3C5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638800"/>
            <a:ext cx="4038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it-IT" sz="1400" i="1">
                <a:solidFill>
                  <a:srgbClr val="003C75"/>
                </a:solidFill>
              </a:rPr>
              <a:t>Val draws from children &amp; the same node.</a:t>
            </a:r>
            <a:endParaRPr lang="en-US" altLang="it-IT" sz="1400" i="1">
              <a:solidFill>
                <a:srgbClr val="003C75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>
    <p:wipe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01" name="Rectangle 42">
            <a:extLst>
              <a:ext uri="{FF2B5EF4-FFF2-40B4-BE49-F238E27FC236}">
                <a16:creationId xmlns:a16="http://schemas.microsoft.com/office/drawing/2014/main" id="{052EF127-A87E-44BC-82F2-0F5E33E19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47800"/>
            <a:ext cx="4038600" cy="3962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50178" name="Footer Placeholder 3">
            <a:extLst>
              <a:ext uri="{FF2B5EF4-FFF2-40B4-BE49-F238E27FC236}">
                <a16:creationId xmlns:a16="http://schemas.microsoft.com/office/drawing/2014/main" id="{0BBFAB32-2EAC-4547-905A-93CEE59159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0179" name="Slide Number Placeholder 4">
            <a:extLst>
              <a:ext uri="{FF2B5EF4-FFF2-40B4-BE49-F238E27FC236}">
                <a16:creationId xmlns:a16="http://schemas.microsoft.com/office/drawing/2014/main" id="{369F5F9E-D7C4-4FF3-B9C8-0C3D530E8E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63E27711-F4A8-41DE-B0C4-BAA4CD2DF595}" type="slidenum">
              <a:rPr lang="en-US" altLang="it-IT"/>
              <a:pPr/>
              <a:t>17</a:t>
            </a:fld>
            <a:endParaRPr lang="en-US" altLang="it-IT"/>
          </a:p>
        </p:txBody>
      </p:sp>
      <p:sp>
        <p:nvSpPr>
          <p:cNvPr id="50180" name="Rectangle 2">
            <a:extLst>
              <a:ext uri="{FF2B5EF4-FFF2-40B4-BE49-F238E27FC236}">
                <a16:creationId xmlns:a16="http://schemas.microsoft.com/office/drawing/2014/main" id="{8AA36616-5572-423C-B81A-8606776F63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Back to the Example</a:t>
            </a:r>
          </a:p>
        </p:txBody>
      </p:sp>
      <p:grpSp>
        <p:nvGrpSpPr>
          <p:cNvPr id="50181" name="Group 3">
            <a:extLst>
              <a:ext uri="{FF2B5EF4-FFF2-40B4-BE49-F238E27FC236}">
                <a16:creationId xmlns:a16="http://schemas.microsoft.com/office/drawing/2014/main" id="{84C1D3B8-A780-4FB9-9AF0-B990CA38EC9C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1524000"/>
            <a:ext cx="3149600" cy="3546475"/>
            <a:chOff x="577" y="960"/>
            <a:chExt cx="1984" cy="2234"/>
          </a:xfrm>
        </p:grpSpPr>
        <p:sp>
          <p:nvSpPr>
            <p:cNvPr id="50203" name="Line 4">
              <a:extLst>
                <a:ext uri="{FF2B5EF4-FFF2-40B4-BE49-F238E27FC236}">
                  <a16:creationId xmlns:a16="http://schemas.microsoft.com/office/drawing/2014/main" id="{677C3E90-F67A-48AA-A38A-AA35437AB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2164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0204" name="Oval 5">
              <a:extLst>
                <a:ext uri="{FF2B5EF4-FFF2-40B4-BE49-F238E27FC236}">
                  <a16:creationId xmlns:a16="http://schemas.microsoft.com/office/drawing/2014/main" id="{8B7AA57C-FA90-4323-93F6-CDA0582FD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960"/>
              <a:ext cx="432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Number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50205" name="Line 6">
              <a:extLst>
                <a:ext uri="{FF2B5EF4-FFF2-40B4-BE49-F238E27FC236}">
                  <a16:creationId xmlns:a16="http://schemas.microsoft.com/office/drawing/2014/main" id="{1F142F51-1F26-41FE-9FAA-5D27BC4CC3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1" y="1243"/>
              <a:ext cx="148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0206" name="Line 7">
              <a:extLst>
                <a:ext uri="{FF2B5EF4-FFF2-40B4-BE49-F238E27FC236}">
                  <a16:creationId xmlns:a16="http://schemas.microsoft.com/office/drawing/2014/main" id="{E366A765-540B-4184-BBB1-852C70668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1242"/>
              <a:ext cx="90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0207" name="Oval 8">
              <a:extLst>
                <a:ext uri="{FF2B5EF4-FFF2-40B4-BE49-F238E27FC236}">
                  <a16:creationId xmlns:a16="http://schemas.microsoft.com/office/drawing/2014/main" id="{A551E614-B2D0-4718-BD7D-C38F7E0C7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1435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Sign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50208" name="Line 9">
              <a:extLst>
                <a:ext uri="{FF2B5EF4-FFF2-40B4-BE49-F238E27FC236}">
                  <a16:creationId xmlns:a16="http://schemas.microsoft.com/office/drawing/2014/main" id="{6300DCBE-9094-4B7B-A114-DE42EC5983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725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0209" name="Oval 10">
              <a:extLst>
                <a:ext uri="{FF2B5EF4-FFF2-40B4-BE49-F238E27FC236}">
                  <a16:creationId xmlns:a16="http://schemas.microsoft.com/office/drawing/2014/main" id="{A3DF10EB-B4A9-45C9-AA98-2C469136D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44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50210" name="Oval 11">
              <a:extLst>
                <a:ext uri="{FF2B5EF4-FFF2-40B4-BE49-F238E27FC236}">
                  <a16:creationId xmlns:a16="http://schemas.microsoft.com/office/drawing/2014/main" id="{D5E9D654-A075-42E1-AF73-717F15CE8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3" y="1867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50211" name="Oval 12">
              <a:extLst>
                <a:ext uri="{FF2B5EF4-FFF2-40B4-BE49-F238E27FC236}">
                  <a16:creationId xmlns:a16="http://schemas.microsoft.com/office/drawing/2014/main" id="{FEB19858-53F4-470E-8F78-788FF943A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50212" name="Line 13">
              <a:extLst>
                <a:ext uri="{FF2B5EF4-FFF2-40B4-BE49-F238E27FC236}">
                  <a16:creationId xmlns:a16="http://schemas.microsoft.com/office/drawing/2014/main" id="{BAE00393-9D3F-4786-AB1B-180878EAF8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7" y="1697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0213" name="Line 14">
              <a:extLst>
                <a:ext uri="{FF2B5EF4-FFF2-40B4-BE49-F238E27FC236}">
                  <a16:creationId xmlns:a16="http://schemas.microsoft.com/office/drawing/2014/main" id="{2F45F942-C328-4DA3-BB68-E9BB656362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3" y="1704"/>
              <a:ext cx="438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0214" name="Oval 15">
              <a:extLst>
                <a:ext uri="{FF2B5EF4-FFF2-40B4-BE49-F238E27FC236}">
                  <a16:creationId xmlns:a16="http://schemas.microsoft.com/office/drawing/2014/main" id="{05CD3E5C-05D3-4590-BC85-9EA0C75F3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3" y="2303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50215" name="Line 16">
              <a:extLst>
                <a:ext uri="{FF2B5EF4-FFF2-40B4-BE49-F238E27FC236}">
                  <a16:creationId xmlns:a16="http://schemas.microsoft.com/office/drawing/2014/main" id="{A2E8F66E-7222-4BB8-9E28-AB1A991EB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6" y="2600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0216" name="Oval 17">
              <a:extLst>
                <a:ext uri="{FF2B5EF4-FFF2-40B4-BE49-F238E27FC236}">
                  <a16:creationId xmlns:a16="http://schemas.microsoft.com/office/drawing/2014/main" id="{A1E4F5A9-78F5-4296-A9AA-CC98B744D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304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50217" name="Line 18">
              <a:extLst>
                <a:ext uri="{FF2B5EF4-FFF2-40B4-BE49-F238E27FC236}">
                  <a16:creationId xmlns:a16="http://schemas.microsoft.com/office/drawing/2014/main" id="{0BAEF3B8-FF3D-418D-9315-727B3042FF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7" y="2133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0218" name="Line 19">
              <a:extLst>
                <a:ext uri="{FF2B5EF4-FFF2-40B4-BE49-F238E27FC236}">
                  <a16:creationId xmlns:a16="http://schemas.microsoft.com/office/drawing/2014/main" id="{DF21A6EB-8E87-4E2B-924B-E40A153859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140"/>
              <a:ext cx="38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0219" name="Oval 20">
              <a:extLst>
                <a:ext uri="{FF2B5EF4-FFF2-40B4-BE49-F238E27FC236}">
                  <a16:creationId xmlns:a16="http://schemas.microsoft.com/office/drawing/2014/main" id="{91D89B4E-FE9A-42A3-8C7C-6DC2EA1B8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74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50220" name="Line 21">
              <a:extLst>
                <a:ext uri="{FF2B5EF4-FFF2-40B4-BE49-F238E27FC236}">
                  <a16:creationId xmlns:a16="http://schemas.microsoft.com/office/drawing/2014/main" id="{FDCD993E-98C7-4890-B727-2BCD528246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" y="3039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0221" name="Line 22">
              <a:extLst>
                <a:ext uri="{FF2B5EF4-FFF2-40B4-BE49-F238E27FC236}">
                  <a16:creationId xmlns:a16="http://schemas.microsoft.com/office/drawing/2014/main" id="{D66286F5-DE1A-4FD7-8C6C-AF099B3B87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593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50182" name="Text Box 23">
            <a:extLst>
              <a:ext uri="{FF2B5EF4-FFF2-40B4-BE49-F238E27FC236}">
                <a16:creationId xmlns:a16="http://schemas.microsoft.com/office/drawing/2014/main" id="{9F6C54BB-401E-45C6-AD28-C70DFF487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976563"/>
            <a:ext cx="457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600">
                <a:latin typeface="Arial Rounded MT Bold" panose="020F0704030504030204" pitchFamily="34" charset="0"/>
              </a:rPr>
              <a:t>–</a:t>
            </a:r>
          </a:p>
        </p:txBody>
      </p:sp>
      <p:sp>
        <p:nvSpPr>
          <p:cNvPr id="50183" name="Text Box 24">
            <a:extLst>
              <a:ext uri="{FF2B5EF4-FFF2-40B4-BE49-F238E27FC236}">
                <a16:creationId xmlns:a16="http://schemas.microsoft.com/office/drawing/2014/main" id="{4C6EFBC6-86F2-41FF-B846-BB7C4E981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6488" y="3652838"/>
            <a:ext cx="381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200">
                <a:latin typeface="Arial Rounded MT Bold" panose="020F0704030504030204" pitchFamily="34" charset="0"/>
              </a:rPr>
              <a:t>1</a:t>
            </a:r>
            <a:endParaRPr lang="en-US" altLang="it-IT" sz="1600">
              <a:latin typeface="Arial Rounded MT Bold" panose="020F0704030504030204" pitchFamily="34" charset="0"/>
            </a:endParaRPr>
          </a:p>
        </p:txBody>
      </p:sp>
      <p:sp>
        <p:nvSpPr>
          <p:cNvPr id="50184" name="Text Box 25">
            <a:extLst>
              <a:ext uri="{FF2B5EF4-FFF2-40B4-BE49-F238E27FC236}">
                <a16:creationId xmlns:a16="http://schemas.microsoft.com/office/drawing/2014/main" id="{1349CB3C-7D76-4D31-815B-5B5123F0C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2238" y="4422775"/>
            <a:ext cx="381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200">
                <a:latin typeface="Arial Rounded MT Bold" panose="020F0704030504030204" pitchFamily="34" charset="0"/>
              </a:rPr>
              <a:t>0</a:t>
            </a:r>
            <a:endParaRPr lang="en-US" altLang="it-IT" sz="1600">
              <a:latin typeface="Arial Rounded MT Bold" panose="020F0704030504030204" pitchFamily="34" charset="0"/>
            </a:endParaRPr>
          </a:p>
        </p:txBody>
      </p:sp>
      <p:sp>
        <p:nvSpPr>
          <p:cNvPr id="50185" name="Text Box 26">
            <a:extLst>
              <a:ext uri="{FF2B5EF4-FFF2-40B4-BE49-F238E27FC236}">
                <a16:creationId xmlns:a16="http://schemas.microsoft.com/office/drawing/2014/main" id="{8C80A6D5-92D2-4E5F-BA46-6C70F72F0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100" y="5119688"/>
            <a:ext cx="2778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200">
                <a:latin typeface="Arial Rounded MT Bold" panose="020F0704030504030204" pitchFamily="34" charset="0"/>
              </a:rPr>
              <a:t>1</a:t>
            </a:r>
            <a:endParaRPr lang="en-US" altLang="it-IT" sz="1600">
              <a:latin typeface="Arial Rounded MT Bold" panose="020F0704030504030204" pitchFamily="34" charset="0"/>
            </a:endParaRPr>
          </a:p>
        </p:txBody>
      </p:sp>
      <p:sp>
        <p:nvSpPr>
          <p:cNvPr id="50186" name="Line 27">
            <a:extLst>
              <a:ext uri="{FF2B5EF4-FFF2-40B4-BE49-F238E27FC236}">
                <a16:creationId xmlns:a16="http://schemas.microsoft.com/office/drawing/2014/main" id="{822A7E71-0DCF-40A0-AC4C-5BFEFA6F681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13050" y="3440113"/>
            <a:ext cx="365125" cy="496887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0187" name="Line 28">
            <a:extLst>
              <a:ext uri="{FF2B5EF4-FFF2-40B4-BE49-F238E27FC236}">
                <a16:creationId xmlns:a16="http://schemas.microsoft.com/office/drawing/2014/main" id="{E099A14E-65F1-4D4D-B3DD-FFBE5E4644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2701925"/>
            <a:ext cx="762000" cy="5794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0188" name="Text Box 29">
            <a:extLst>
              <a:ext uri="{FF2B5EF4-FFF2-40B4-BE49-F238E27FC236}">
                <a16:creationId xmlns:a16="http://schemas.microsoft.com/office/drawing/2014/main" id="{D671188D-4F91-40F6-A1CD-AD847F378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613150"/>
            <a:ext cx="838200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1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50189" name="Text Box 30">
            <a:extLst>
              <a:ext uri="{FF2B5EF4-FFF2-40B4-BE49-F238E27FC236}">
                <a16:creationId xmlns:a16="http://schemas.microsoft.com/office/drawing/2014/main" id="{3B873356-9E03-407E-8F3D-28F0C66B6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914650"/>
            <a:ext cx="769937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0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1</a:t>
            </a:r>
            <a:endParaRPr lang="en-US" altLang="it-IT" sz="1600" b="1" i="1">
              <a:solidFill>
                <a:srgbClr val="003C75"/>
              </a:solidFill>
              <a:latin typeface="Arial Narrow" panose="020B0606020202030204" pitchFamily="34" charset="0"/>
            </a:endParaRPr>
          </a:p>
        </p:txBody>
      </p:sp>
      <p:sp>
        <p:nvSpPr>
          <p:cNvPr id="50190" name="Text Box 31">
            <a:extLst>
              <a:ext uri="{FF2B5EF4-FFF2-40B4-BE49-F238E27FC236}">
                <a16:creationId xmlns:a16="http://schemas.microsoft.com/office/drawing/2014/main" id="{D0BCD2E1-ACA9-463E-BC74-6BB9FAF4E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25" y="4305300"/>
            <a:ext cx="133667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2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50191" name="Text Box 32">
            <a:extLst>
              <a:ext uri="{FF2B5EF4-FFF2-40B4-BE49-F238E27FC236}">
                <a16:creationId xmlns:a16="http://schemas.microsoft.com/office/drawing/2014/main" id="{6B8AB523-C305-4828-B837-B1336D594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7988" y="3613150"/>
            <a:ext cx="836612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2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50192" name="Text Box 33">
            <a:extLst>
              <a:ext uri="{FF2B5EF4-FFF2-40B4-BE49-F238E27FC236}">
                <a16:creationId xmlns:a16="http://schemas.microsoft.com/office/drawing/2014/main" id="{F24CB6F3-F000-4225-9645-A4F357631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2921000"/>
            <a:ext cx="77787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1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50193" name="Text Box 34">
            <a:extLst>
              <a:ext uri="{FF2B5EF4-FFF2-40B4-BE49-F238E27FC236}">
                <a16:creationId xmlns:a16="http://schemas.microsoft.com/office/drawing/2014/main" id="{5F8DA98A-8DDC-478C-9893-8A16954AD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2220913"/>
            <a:ext cx="779462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0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5</a:t>
            </a:r>
            <a:endParaRPr lang="en-US" altLang="it-IT" sz="1600">
              <a:solidFill>
                <a:srgbClr val="003C75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0194" name="Text Box 35">
            <a:extLst>
              <a:ext uri="{FF2B5EF4-FFF2-40B4-BE49-F238E27FC236}">
                <a16:creationId xmlns:a16="http://schemas.microsoft.com/office/drawing/2014/main" id="{03F8C994-4ED6-48A3-8366-52B252A26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863" y="1600200"/>
            <a:ext cx="947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–5</a:t>
            </a:r>
            <a:endParaRPr lang="en-US" altLang="it-IT" sz="1600" b="1" i="1">
              <a:solidFill>
                <a:srgbClr val="003C75"/>
              </a:solidFill>
              <a:latin typeface="Arial Narrow" panose="020B0606020202030204" pitchFamily="34" charset="0"/>
            </a:endParaRPr>
          </a:p>
        </p:txBody>
      </p:sp>
      <p:sp>
        <p:nvSpPr>
          <p:cNvPr id="50195" name="Text Box 36">
            <a:extLst>
              <a:ext uri="{FF2B5EF4-FFF2-40B4-BE49-F238E27FC236}">
                <a16:creationId xmlns:a16="http://schemas.microsoft.com/office/drawing/2014/main" id="{D532E565-DB56-425A-ADB1-31F969CC3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2378075"/>
            <a:ext cx="8667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neg: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true</a:t>
            </a:r>
            <a:endParaRPr lang="en-US" altLang="it-IT" sz="1600">
              <a:solidFill>
                <a:srgbClr val="003C75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0196" name="Line 37">
            <a:extLst>
              <a:ext uri="{FF2B5EF4-FFF2-40B4-BE49-F238E27FC236}">
                <a16:creationId xmlns:a16="http://schemas.microsoft.com/office/drawing/2014/main" id="{04556A82-00E5-4E73-93B8-5766115B14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2450" y="4144963"/>
            <a:ext cx="0" cy="4699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0197" name="Line 38">
            <a:extLst>
              <a:ext uri="{FF2B5EF4-FFF2-40B4-BE49-F238E27FC236}">
                <a16:creationId xmlns:a16="http://schemas.microsoft.com/office/drawing/2014/main" id="{7C4EBBF9-B88A-40E3-A1DB-47D174013C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12950" y="3422650"/>
            <a:ext cx="712788" cy="5667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0198" name="Line 39">
            <a:extLst>
              <a:ext uri="{FF2B5EF4-FFF2-40B4-BE49-F238E27FC236}">
                <a16:creationId xmlns:a16="http://schemas.microsoft.com/office/drawing/2014/main" id="{3C63B3BC-6856-4DC6-8E41-D5DCE6C166C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22700" y="2719388"/>
            <a:ext cx="360363" cy="511175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0199" name="Line 40">
            <a:extLst>
              <a:ext uri="{FF2B5EF4-FFF2-40B4-BE49-F238E27FC236}">
                <a16:creationId xmlns:a16="http://schemas.microsoft.com/office/drawing/2014/main" id="{86899A9B-FE79-4A2C-9531-B820B1EEF60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6000" y="1833563"/>
            <a:ext cx="1371600" cy="7620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0200" name="Line 41">
            <a:extLst>
              <a:ext uri="{FF2B5EF4-FFF2-40B4-BE49-F238E27FC236}">
                <a16:creationId xmlns:a16="http://schemas.microsoft.com/office/drawing/2014/main" id="{0437B715-CB78-48CF-B77E-DC6632538A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55763" y="1892300"/>
            <a:ext cx="461962" cy="53975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" name="Text Box 43">
            <a:extLst>
              <a:ext uri="{FF2B5EF4-FFF2-40B4-BE49-F238E27FC236}">
                <a16:creationId xmlns:a16="http://schemas.microsoft.com/office/drawing/2014/main" id="{CE1F546A-98F8-4926-AD31-80ACFE17A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054600"/>
            <a:ext cx="1371600" cy="355600"/>
          </a:xfrm>
          <a:prstGeom prst="rect">
            <a:avLst/>
          </a:prstGeom>
          <a:noFill/>
          <a:ln w="19050">
            <a:solidFill>
              <a:srgbClr val="7F7F7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For “–101”</a:t>
            </a:r>
          </a:p>
        </p:txBody>
      </p:sp>
      <p:sp>
        <p:nvSpPr>
          <p:cNvPr id="50202" name="Text Box 44">
            <a:extLst>
              <a:ext uri="{FF2B5EF4-FFF2-40B4-BE49-F238E27FC236}">
                <a16:creationId xmlns:a16="http://schemas.microsoft.com/office/drawing/2014/main" id="{100F0267-9115-4845-9590-43AE4ADD0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828800"/>
            <a:ext cx="3657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More Synthesized attributes</a:t>
            </a:r>
          </a:p>
        </p:txBody>
      </p:sp>
    </p:spTree>
  </p:cSld>
  <p:clrMapOvr>
    <a:masterClrMapping/>
  </p:clrMapOvr>
  <p:transition>
    <p:wipe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62" name="Rectangle 60">
            <a:extLst>
              <a:ext uri="{FF2B5EF4-FFF2-40B4-BE49-F238E27FC236}">
                <a16:creationId xmlns:a16="http://schemas.microsoft.com/office/drawing/2014/main" id="{1D8B4E00-4A99-46B6-ABB1-4587CD05D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47800"/>
            <a:ext cx="4038600" cy="3962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52226" name="Footer Placeholder 3">
            <a:extLst>
              <a:ext uri="{FF2B5EF4-FFF2-40B4-BE49-F238E27FC236}">
                <a16:creationId xmlns:a16="http://schemas.microsoft.com/office/drawing/2014/main" id="{53534B5A-93FB-49A3-836A-F45C7A6195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2227" name="Slide Number Placeholder 4">
            <a:extLst>
              <a:ext uri="{FF2B5EF4-FFF2-40B4-BE49-F238E27FC236}">
                <a16:creationId xmlns:a16="http://schemas.microsoft.com/office/drawing/2014/main" id="{E1F144F1-173D-4097-89CC-3A8AAF635E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ABBC425-3AA3-4B47-BF56-AA3F7200C8B5}" type="slidenum">
              <a:rPr lang="en-US" altLang="it-IT"/>
              <a:pPr/>
              <a:t>18</a:t>
            </a:fld>
            <a:endParaRPr lang="en-US" altLang="it-IT"/>
          </a:p>
        </p:txBody>
      </p:sp>
      <p:sp>
        <p:nvSpPr>
          <p:cNvPr id="52228" name="Rectangle 2">
            <a:extLst>
              <a:ext uri="{FF2B5EF4-FFF2-40B4-BE49-F238E27FC236}">
                <a16:creationId xmlns:a16="http://schemas.microsoft.com/office/drawing/2014/main" id="{466F45CD-3F71-40BF-A5BA-642EFF6655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Back to the Example</a:t>
            </a:r>
          </a:p>
        </p:txBody>
      </p:sp>
      <p:grpSp>
        <p:nvGrpSpPr>
          <p:cNvPr id="52229" name="Group 3">
            <a:extLst>
              <a:ext uri="{FF2B5EF4-FFF2-40B4-BE49-F238E27FC236}">
                <a16:creationId xmlns:a16="http://schemas.microsoft.com/office/drawing/2014/main" id="{464CB7DC-FC89-4B68-B0C7-9D6CA4019AEA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1524000"/>
            <a:ext cx="3149600" cy="3546475"/>
            <a:chOff x="577" y="960"/>
            <a:chExt cx="1984" cy="2234"/>
          </a:xfrm>
        </p:grpSpPr>
        <p:sp>
          <p:nvSpPr>
            <p:cNvPr id="52269" name="Line 4">
              <a:extLst>
                <a:ext uri="{FF2B5EF4-FFF2-40B4-BE49-F238E27FC236}">
                  <a16:creationId xmlns:a16="http://schemas.microsoft.com/office/drawing/2014/main" id="{C23C6E71-70A0-4EEC-A0D5-F2B7F668AD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2164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2270" name="Oval 5">
              <a:extLst>
                <a:ext uri="{FF2B5EF4-FFF2-40B4-BE49-F238E27FC236}">
                  <a16:creationId xmlns:a16="http://schemas.microsoft.com/office/drawing/2014/main" id="{EB795410-FFB0-4C33-BD94-735995A01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960"/>
              <a:ext cx="432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Number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52271" name="Line 6">
              <a:extLst>
                <a:ext uri="{FF2B5EF4-FFF2-40B4-BE49-F238E27FC236}">
                  <a16:creationId xmlns:a16="http://schemas.microsoft.com/office/drawing/2014/main" id="{7A39A640-D3F1-4F81-ABDF-BBB1F8EB57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1" y="1243"/>
              <a:ext cx="148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2272" name="Line 7">
              <a:extLst>
                <a:ext uri="{FF2B5EF4-FFF2-40B4-BE49-F238E27FC236}">
                  <a16:creationId xmlns:a16="http://schemas.microsoft.com/office/drawing/2014/main" id="{5588756E-F057-416A-BC1B-1EAB88C050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1242"/>
              <a:ext cx="90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2273" name="Oval 8">
              <a:extLst>
                <a:ext uri="{FF2B5EF4-FFF2-40B4-BE49-F238E27FC236}">
                  <a16:creationId xmlns:a16="http://schemas.microsoft.com/office/drawing/2014/main" id="{5F6FDAE0-A35F-4292-B64C-A144BF3FB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1435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Sign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52274" name="Line 9">
              <a:extLst>
                <a:ext uri="{FF2B5EF4-FFF2-40B4-BE49-F238E27FC236}">
                  <a16:creationId xmlns:a16="http://schemas.microsoft.com/office/drawing/2014/main" id="{3058C1E3-F151-4104-8724-D2C8AFD1E8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725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2275" name="Oval 10">
              <a:extLst>
                <a:ext uri="{FF2B5EF4-FFF2-40B4-BE49-F238E27FC236}">
                  <a16:creationId xmlns:a16="http://schemas.microsoft.com/office/drawing/2014/main" id="{E476E2A5-F3AC-4414-9632-FC1FEB454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44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52276" name="Oval 11">
              <a:extLst>
                <a:ext uri="{FF2B5EF4-FFF2-40B4-BE49-F238E27FC236}">
                  <a16:creationId xmlns:a16="http://schemas.microsoft.com/office/drawing/2014/main" id="{B14A22E2-BA20-4544-B9C8-8D33B237D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3" y="1867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52277" name="Oval 12">
              <a:extLst>
                <a:ext uri="{FF2B5EF4-FFF2-40B4-BE49-F238E27FC236}">
                  <a16:creationId xmlns:a16="http://schemas.microsoft.com/office/drawing/2014/main" id="{0B13BC7B-56FF-471B-8C18-2F345B358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52278" name="Line 13">
              <a:extLst>
                <a:ext uri="{FF2B5EF4-FFF2-40B4-BE49-F238E27FC236}">
                  <a16:creationId xmlns:a16="http://schemas.microsoft.com/office/drawing/2014/main" id="{E8AA513B-FAE0-4350-8BAD-5D76F88291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7" y="1697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2279" name="Line 14">
              <a:extLst>
                <a:ext uri="{FF2B5EF4-FFF2-40B4-BE49-F238E27FC236}">
                  <a16:creationId xmlns:a16="http://schemas.microsoft.com/office/drawing/2014/main" id="{5CC0FFD3-38C7-424D-A392-AAC5287FF7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3" y="1704"/>
              <a:ext cx="438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2280" name="Oval 15">
              <a:extLst>
                <a:ext uri="{FF2B5EF4-FFF2-40B4-BE49-F238E27FC236}">
                  <a16:creationId xmlns:a16="http://schemas.microsoft.com/office/drawing/2014/main" id="{E0D80F6D-D739-4148-AA8B-7936E11A4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3" y="2303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52281" name="Line 16">
              <a:extLst>
                <a:ext uri="{FF2B5EF4-FFF2-40B4-BE49-F238E27FC236}">
                  <a16:creationId xmlns:a16="http://schemas.microsoft.com/office/drawing/2014/main" id="{AB1C9A98-809D-49E6-A87F-36D8B47869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6" y="2600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2282" name="Oval 17">
              <a:extLst>
                <a:ext uri="{FF2B5EF4-FFF2-40B4-BE49-F238E27FC236}">
                  <a16:creationId xmlns:a16="http://schemas.microsoft.com/office/drawing/2014/main" id="{C28E9F7C-77E2-4210-9892-79146BF67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304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52283" name="Line 18">
              <a:extLst>
                <a:ext uri="{FF2B5EF4-FFF2-40B4-BE49-F238E27FC236}">
                  <a16:creationId xmlns:a16="http://schemas.microsoft.com/office/drawing/2014/main" id="{33A345CC-7DEA-4F46-A876-860A1C7131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7" y="2133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2284" name="Line 19">
              <a:extLst>
                <a:ext uri="{FF2B5EF4-FFF2-40B4-BE49-F238E27FC236}">
                  <a16:creationId xmlns:a16="http://schemas.microsoft.com/office/drawing/2014/main" id="{AC41949D-3D25-4973-A49B-0281F39008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140"/>
              <a:ext cx="38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2285" name="Oval 20">
              <a:extLst>
                <a:ext uri="{FF2B5EF4-FFF2-40B4-BE49-F238E27FC236}">
                  <a16:creationId xmlns:a16="http://schemas.microsoft.com/office/drawing/2014/main" id="{2F3B491A-A403-4D42-B438-F3E34DF49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74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52286" name="Line 21">
              <a:extLst>
                <a:ext uri="{FF2B5EF4-FFF2-40B4-BE49-F238E27FC236}">
                  <a16:creationId xmlns:a16="http://schemas.microsoft.com/office/drawing/2014/main" id="{B4A317AE-FF27-4385-ACA6-05B0BFE58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" y="3039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52287" name="Line 22">
              <a:extLst>
                <a:ext uri="{FF2B5EF4-FFF2-40B4-BE49-F238E27FC236}">
                  <a16:creationId xmlns:a16="http://schemas.microsoft.com/office/drawing/2014/main" id="{B561C083-5074-475C-8690-FD18FB34A0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593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grpSp>
        <p:nvGrpSpPr>
          <p:cNvPr id="52230" name="Group 23">
            <a:extLst>
              <a:ext uri="{FF2B5EF4-FFF2-40B4-BE49-F238E27FC236}">
                <a16:creationId xmlns:a16="http://schemas.microsoft.com/office/drawing/2014/main" id="{D61B241E-688A-463B-AE83-60A611B67DAA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976563"/>
            <a:ext cx="3113088" cy="2417762"/>
            <a:chOff x="576" y="1875"/>
            <a:chExt cx="1961" cy="1523"/>
          </a:xfrm>
        </p:grpSpPr>
        <p:sp>
          <p:nvSpPr>
            <p:cNvPr id="52265" name="Text Box 24">
              <a:extLst>
                <a:ext uri="{FF2B5EF4-FFF2-40B4-BE49-F238E27FC236}">
                  <a16:creationId xmlns:a16="http://schemas.microsoft.com/office/drawing/2014/main" id="{DAD9DAF0-DB74-434C-B959-73244A4E9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75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–</a:t>
              </a:r>
            </a:p>
          </p:txBody>
        </p:sp>
        <p:sp>
          <p:nvSpPr>
            <p:cNvPr id="52266" name="Text Box 25">
              <a:extLst>
                <a:ext uri="{FF2B5EF4-FFF2-40B4-BE49-F238E27FC236}">
                  <a16:creationId xmlns:a16="http://schemas.microsoft.com/office/drawing/2014/main" id="{31771FCE-DC8A-40C7-8073-34BCFF0AA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7" y="2301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52267" name="Text Box 26">
              <a:extLst>
                <a:ext uri="{FF2B5EF4-FFF2-40B4-BE49-F238E27FC236}">
                  <a16:creationId xmlns:a16="http://schemas.microsoft.com/office/drawing/2014/main" id="{D7F0A163-AE1B-436B-8770-C280E62AE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" y="2786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0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52268" name="Text Box 27">
              <a:extLst>
                <a:ext uri="{FF2B5EF4-FFF2-40B4-BE49-F238E27FC236}">
                  <a16:creationId xmlns:a16="http://schemas.microsoft.com/office/drawing/2014/main" id="{F02A7378-BF8E-408B-B704-5C1DD6C7C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3225"/>
              <a:ext cx="17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52231" name="Line 29">
            <a:extLst>
              <a:ext uri="{FF2B5EF4-FFF2-40B4-BE49-F238E27FC236}">
                <a16:creationId xmlns:a16="http://schemas.microsoft.com/office/drawing/2014/main" id="{EF2BF8DC-95B8-4B39-AD13-A32A975B0A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30413" y="4197350"/>
            <a:ext cx="252412" cy="21748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32" name="Line 30">
            <a:extLst>
              <a:ext uri="{FF2B5EF4-FFF2-40B4-BE49-F238E27FC236}">
                <a16:creationId xmlns:a16="http://schemas.microsoft.com/office/drawing/2014/main" id="{C47AC866-8F16-4521-B2B7-F91DC524D68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13050" y="3440113"/>
            <a:ext cx="365125" cy="496887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33" name="Line 31">
            <a:extLst>
              <a:ext uri="{FF2B5EF4-FFF2-40B4-BE49-F238E27FC236}">
                <a16:creationId xmlns:a16="http://schemas.microsoft.com/office/drawing/2014/main" id="{B7723DE6-6F9F-43EB-A245-D43888D9C6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2701925"/>
            <a:ext cx="762000" cy="5794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34" name="Text Box 32">
            <a:extLst>
              <a:ext uri="{FF2B5EF4-FFF2-40B4-BE49-F238E27FC236}">
                <a16:creationId xmlns:a16="http://schemas.microsoft.com/office/drawing/2014/main" id="{54B7E661-7192-421A-B338-76E392CD2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613150"/>
            <a:ext cx="838200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B025A6"/>
                </a:solidFill>
                <a:latin typeface="Arial Narrow" panose="020B0606020202030204" pitchFamily="34" charset="0"/>
              </a:rPr>
              <a:t>1</a:t>
            </a:r>
            <a:endParaRPr lang="en-US" altLang="it-IT" sz="1400" b="1" i="1">
              <a:latin typeface="Arial Narrow" panose="020B0606020202030204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B025A6"/>
                </a:solidFill>
                <a:latin typeface="Arial Narrow" panose="020B0606020202030204" pitchFamily="34" charset="0"/>
              </a:rPr>
              <a:t>0</a:t>
            </a:r>
            <a:endParaRPr lang="en-US" altLang="it-IT" sz="1400" b="1" i="1">
              <a:latin typeface="Arial Narrow" panose="020B0606020202030204" pitchFamily="34" charset="0"/>
            </a:endParaRPr>
          </a:p>
        </p:txBody>
      </p:sp>
      <p:sp>
        <p:nvSpPr>
          <p:cNvPr id="52235" name="Text Box 33">
            <a:extLst>
              <a:ext uri="{FF2B5EF4-FFF2-40B4-BE49-F238E27FC236}">
                <a16:creationId xmlns:a16="http://schemas.microsoft.com/office/drawing/2014/main" id="{113E349E-0255-49BB-B7BC-5A186C02A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914650"/>
            <a:ext cx="769937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B025A6"/>
                </a:solidFill>
                <a:latin typeface="Arial Narrow" panose="020B0606020202030204" pitchFamily="34" charset="0"/>
              </a:rPr>
              <a:t>0</a:t>
            </a:r>
            <a:endParaRPr lang="en-US" altLang="it-IT" sz="1400" b="1" i="1">
              <a:latin typeface="Arial Narrow" panose="020B0606020202030204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B025A6"/>
                </a:solidFill>
                <a:latin typeface="Arial Narrow" panose="020B0606020202030204" pitchFamily="34" charset="0"/>
              </a:rPr>
              <a:t>1</a:t>
            </a:r>
            <a:endParaRPr lang="en-US" altLang="it-IT" sz="1600" b="1" i="1">
              <a:latin typeface="Arial Narrow" panose="020B0606020202030204" pitchFamily="34" charset="0"/>
            </a:endParaRPr>
          </a:p>
        </p:txBody>
      </p:sp>
      <p:sp>
        <p:nvSpPr>
          <p:cNvPr id="52236" name="Text Box 34">
            <a:extLst>
              <a:ext uri="{FF2B5EF4-FFF2-40B4-BE49-F238E27FC236}">
                <a16:creationId xmlns:a16="http://schemas.microsoft.com/office/drawing/2014/main" id="{E4CD4BDE-3F9A-4A71-A8E2-A75A1F188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25" y="4305300"/>
            <a:ext cx="133667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B025A6"/>
                </a:solidFill>
                <a:latin typeface="Arial Narrow" panose="020B0606020202030204" pitchFamily="34" charset="0"/>
              </a:rPr>
              <a:t>2</a:t>
            </a:r>
            <a:endParaRPr lang="en-US" altLang="it-IT" sz="1400" b="1" i="1">
              <a:latin typeface="Arial Narrow" panose="020B0606020202030204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B025A6"/>
                </a:solidFill>
                <a:latin typeface="Arial Narrow" panose="020B0606020202030204" pitchFamily="34" charset="0"/>
              </a:rPr>
              <a:t>4</a:t>
            </a:r>
            <a:endParaRPr lang="en-US" altLang="it-IT" sz="1400" b="1" i="1">
              <a:latin typeface="Arial Narrow" panose="020B0606020202030204" pitchFamily="34" charset="0"/>
            </a:endParaRPr>
          </a:p>
        </p:txBody>
      </p:sp>
      <p:sp>
        <p:nvSpPr>
          <p:cNvPr id="52237" name="Text Box 35">
            <a:extLst>
              <a:ext uri="{FF2B5EF4-FFF2-40B4-BE49-F238E27FC236}">
                <a16:creationId xmlns:a16="http://schemas.microsoft.com/office/drawing/2014/main" id="{78C4C5B2-64B6-484C-8672-D9D126468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7988" y="3613150"/>
            <a:ext cx="836612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B025A6"/>
                </a:solidFill>
                <a:latin typeface="Arial Narrow" panose="020B0606020202030204" pitchFamily="34" charset="0"/>
              </a:rPr>
              <a:t>2</a:t>
            </a:r>
            <a:endParaRPr lang="en-US" altLang="it-IT" sz="1400" b="1" i="1">
              <a:latin typeface="Arial Narrow" panose="020B0606020202030204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B025A6"/>
                </a:solidFill>
                <a:latin typeface="Arial Narrow" panose="020B0606020202030204" pitchFamily="34" charset="0"/>
              </a:rPr>
              <a:t>4</a:t>
            </a:r>
            <a:endParaRPr lang="en-US" altLang="it-IT" sz="1400" b="1" i="1">
              <a:latin typeface="Arial Narrow" panose="020B0606020202030204" pitchFamily="34" charset="0"/>
            </a:endParaRPr>
          </a:p>
        </p:txBody>
      </p:sp>
      <p:sp>
        <p:nvSpPr>
          <p:cNvPr id="52238" name="Text Box 36">
            <a:extLst>
              <a:ext uri="{FF2B5EF4-FFF2-40B4-BE49-F238E27FC236}">
                <a16:creationId xmlns:a16="http://schemas.microsoft.com/office/drawing/2014/main" id="{50E0FF09-5DCE-4686-9BDA-607245BB5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2921000"/>
            <a:ext cx="77787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B025A6"/>
                </a:solidFill>
                <a:latin typeface="Arial Narrow" panose="020B0606020202030204" pitchFamily="34" charset="0"/>
              </a:rPr>
              <a:t>1</a:t>
            </a:r>
            <a:endParaRPr lang="en-US" altLang="it-IT" sz="1400" b="1" i="1">
              <a:latin typeface="Arial Narrow" panose="020B0606020202030204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B025A6"/>
                </a:solidFill>
                <a:latin typeface="Arial Narrow" panose="020B0606020202030204" pitchFamily="34" charset="0"/>
              </a:rPr>
              <a:t>4</a:t>
            </a:r>
            <a:endParaRPr lang="en-US" altLang="it-IT" sz="1400" b="1" i="1">
              <a:latin typeface="Arial Narrow" panose="020B0606020202030204" pitchFamily="34" charset="0"/>
            </a:endParaRPr>
          </a:p>
        </p:txBody>
      </p:sp>
      <p:sp>
        <p:nvSpPr>
          <p:cNvPr id="52239" name="Text Box 37">
            <a:extLst>
              <a:ext uri="{FF2B5EF4-FFF2-40B4-BE49-F238E27FC236}">
                <a16:creationId xmlns:a16="http://schemas.microsoft.com/office/drawing/2014/main" id="{C23980FA-8BB4-4422-9B86-964B39AC0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2220913"/>
            <a:ext cx="77946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B025A6"/>
                </a:solidFill>
                <a:latin typeface="Arial Narrow" panose="020B0606020202030204" pitchFamily="34" charset="0"/>
              </a:rPr>
              <a:t>0</a:t>
            </a:r>
            <a:endParaRPr lang="en-US" altLang="it-IT" sz="1400" b="1" i="1">
              <a:latin typeface="Arial Narrow" panose="020B0606020202030204" pitchFamily="34" charset="0"/>
            </a:endParaRP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B025A6"/>
                </a:solidFill>
                <a:latin typeface="Arial Narrow" panose="020B0606020202030204" pitchFamily="34" charset="0"/>
              </a:rPr>
              <a:t>5</a:t>
            </a:r>
            <a:endParaRPr lang="en-US" altLang="it-IT" sz="1600">
              <a:latin typeface="Arial Rounded MT Bold" panose="020F0704030504030204" pitchFamily="34" charset="0"/>
            </a:endParaRPr>
          </a:p>
        </p:txBody>
      </p:sp>
      <p:sp>
        <p:nvSpPr>
          <p:cNvPr id="52240" name="Text Box 38">
            <a:extLst>
              <a:ext uri="{FF2B5EF4-FFF2-40B4-BE49-F238E27FC236}">
                <a16:creationId xmlns:a16="http://schemas.microsoft.com/office/drawing/2014/main" id="{8952E910-A885-4E8B-9687-01EA40336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863" y="1600200"/>
            <a:ext cx="947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B025A6"/>
                </a:solidFill>
                <a:latin typeface="Arial Narrow" panose="020B0606020202030204" pitchFamily="34" charset="0"/>
              </a:rPr>
              <a:t>–5</a:t>
            </a:r>
            <a:endParaRPr lang="en-US" altLang="it-IT" sz="1600" b="1" i="1">
              <a:solidFill>
                <a:srgbClr val="0000CC"/>
              </a:solidFill>
              <a:latin typeface="Arial Narrow" panose="020B0606020202030204" pitchFamily="34" charset="0"/>
            </a:endParaRPr>
          </a:p>
        </p:txBody>
      </p:sp>
      <p:sp>
        <p:nvSpPr>
          <p:cNvPr id="52241" name="Text Box 39">
            <a:extLst>
              <a:ext uri="{FF2B5EF4-FFF2-40B4-BE49-F238E27FC236}">
                <a16:creationId xmlns:a16="http://schemas.microsoft.com/office/drawing/2014/main" id="{1E23A960-DFF8-40BE-BD44-594095368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2378075"/>
            <a:ext cx="8667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neg: </a:t>
            </a:r>
            <a:r>
              <a:rPr lang="en-US" altLang="it-IT" sz="1400" b="1" i="1">
                <a:solidFill>
                  <a:srgbClr val="B025A6"/>
                </a:solidFill>
                <a:latin typeface="Arial Narrow" panose="020B0606020202030204" pitchFamily="34" charset="0"/>
              </a:rPr>
              <a:t>true</a:t>
            </a:r>
            <a:endParaRPr lang="en-US" altLang="it-IT" sz="1600">
              <a:latin typeface="Arial Rounded MT Bold" panose="020F0704030504030204" pitchFamily="34" charset="0"/>
            </a:endParaRPr>
          </a:p>
        </p:txBody>
      </p:sp>
      <p:sp>
        <p:nvSpPr>
          <p:cNvPr id="52242" name="Line 40">
            <a:extLst>
              <a:ext uri="{FF2B5EF4-FFF2-40B4-BE49-F238E27FC236}">
                <a16:creationId xmlns:a16="http://schemas.microsoft.com/office/drawing/2014/main" id="{F25A3F98-7718-49ED-859A-94568D238B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4829175"/>
            <a:ext cx="255588" cy="35718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43" name="Line 41">
            <a:extLst>
              <a:ext uri="{FF2B5EF4-FFF2-40B4-BE49-F238E27FC236}">
                <a16:creationId xmlns:a16="http://schemas.microsoft.com/office/drawing/2014/main" id="{9F71777C-2EC6-46CB-9168-F696ABEF79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500563"/>
            <a:ext cx="169863" cy="109537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44" name="Line 42">
            <a:extLst>
              <a:ext uri="{FF2B5EF4-FFF2-40B4-BE49-F238E27FC236}">
                <a16:creationId xmlns:a16="http://schemas.microsoft.com/office/drawing/2014/main" id="{985AF575-8087-4784-AED7-45E24095E6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606925"/>
            <a:ext cx="249238" cy="1222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45" name="Line 43">
            <a:extLst>
              <a:ext uri="{FF2B5EF4-FFF2-40B4-BE49-F238E27FC236}">
                <a16:creationId xmlns:a16="http://schemas.microsoft.com/office/drawing/2014/main" id="{10AA7E86-6642-4046-B0DD-B6F0FD7259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1563" y="3778250"/>
            <a:ext cx="169862" cy="1095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46" name="Line 44">
            <a:extLst>
              <a:ext uri="{FF2B5EF4-FFF2-40B4-BE49-F238E27FC236}">
                <a16:creationId xmlns:a16="http://schemas.microsoft.com/office/drawing/2014/main" id="{F1D4BCF6-CAFC-428B-A22E-F7FA4A0CEC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35363" y="3884613"/>
            <a:ext cx="249237" cy="122237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47" name="Line 45">
            <a:extLst>
              <a:ext uri="{FF2B5EF4-FFF2-40B4-BE49-F238E27FC236}">
                <a16:creationId xmlns:a16="http://schemas.microsoft.com/office/drawing/2014/main" id="{60522BB0-B93F-4DB4-9B93-D2A3BA7B77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6925" y="3103563"/>
            <a:ext cx="169863" cy="109537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48" name="Line 46">
            <a:extLst>
              <a:ext uri="{FF2B5EF4-FFF2-40B4-BE49-F238E27FC236}">
                <a16:creationId xmlns:a16="http://schemas.microsoft.com/office/drawing/2014/main" id="{CF1D8BC4-F63E-4829-9BE1-9067446470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30725" y="3209925"/>
            <a:ext cx="249238" cy="1222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49" name="Line 47">
            <a:extLst>
              <a:ext uri="{FF2B5EF4-FFF2-40B4-BE49-F238E27FC236}">
                <a16:creationId xmlns:a16="http://schemas.microsoft.com/office/drawing/2014/main" id="{F91E8897-B668-4216-9A9E-65576C9C58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814763"/>
            <a:ext cx="228600" cy="3810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50" name="Line 48">
            <a:extLst>
              <a:ext uri="{FF2B5EF4-FFF2-40B4-BE49-F238E27FC236}">
                <a16:creationId xmlns:a16="http://schemas.microsoft.com/office/drawing/2014/main" id="{8E92E956-73EB-4951-9DB3-03FC56F126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82800" y="3205163"/>
            <a:ext cx="660400" cy="549275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51" name="Line 49">
            <a:extLst>
              <a:ext uri="{FF2B5EF4-FFF2-40B4-BE49-F238E27FC236}">
                <a16:creationId xmlns:a16="http://schemas.microsoft.com/office/drawing/2014/main" id="{8D8C1C6C-DBFB-481E-AD72-66E3575070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65450" y="2495550"/>
            <a:ext cx="808038" cy="5842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52" name="Line 50">
            <a:extLst>
              <a:ext uri="{FF2B5EF4-FFF2-40B4-BE49-F238E27FC236}">
                <a16:creationId xmlns:a16="http://schemas.microsoft.com/office/drawing/2014/main" id="{55E9E1EC-143E-4DAD-8416-3A356F1093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625" y="2484438"/>
            <a:ext cx="330200" cy="5207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53" name="Line 51">
            <a:extLst>
              <a:ext uri="{FF2B5EF4-FFF2-40B4-BE49-F238E27FC236}">
                <a16:creationId xmlns:a16="http://schemas.microsoft.com/office/drawing/2014/main" id="{82AFDF04-CC0A-4BA6-8CC5-2EBD910E74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2575" y="3179763"/>
            <a:ext cx="365125" cy="512762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54" name="Line 52">
            <a:extLst>
              <a:ext uri="{FF2B5EF4-FFF2-40B4-BE49-F238E27FC236}">
                <a16:creationId xmlns:a16="http://schemas.microsoft.com/office/drawing/2014/main" id="{108D0E00-88B1-4C1C-8EED-97DF1D715F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2450" y="4144963"/>
            <a:ext cx="0" cy="4699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55" name="Line 53">
            <a:extLst>
              <a:ext uri="{FF2B5EF4-FFF2-40B4-BE49-F238E27FC236}">
                <a16:creationId xmlns:a16="http://schemas.microsoft.com/office/drawing/2014/main" id="{9C1A31E7-180C-4259-B9C9-2E59F4CF2A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12950" y="3422650"/>
            <a:ext cx="712788" cy="5667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56" name="Line 54">
            <a:extLst>
              <a:ext uri="{FF2B5EF4-FFF2-40B4-BE49-F238E27FC236}">
                <a16:creationId xmlns:a16="http://schemas.microsoft.com/office/drawing/2014/main" id="{C92ACDB7-0E41-4E6C-939E-F4671E7BB51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22700" y="2719388"/>
            <a:ext cx="360363" cy="511175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57" name="Line 55">
            <a:extLst>
              <a:ext uri="{FF2B5EF4-FFF2-40B4-BE49-F238E27FC236}">
                <a16:creationId xmlns:a16="http://schemas.microsoft.com/office/drawing/2014/main" id="{1E640696-A0CD-4B5B-893D-EB409481591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6000" y="1833563"/>
            <a:ext cx="1371600" cy="7620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58" name="Line 56">
            <a:extLst>
              <a:ext uri="{FF2B5EF4-FFF2-40B4-BE49-F238E27FC236}">
                <a16:creationId xmlns:a16="http://schemas.microsoft.com/office/drawing/2014/main" id="{41B31F2D-789A-4179-B27B-644EAB2BE9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95388" y="2667000"/>
            <a:ext cx="304800" cy="4524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59" name="Line 57">
            <a:extLst>
              <a:ext uri="{FF2B5EF4-FFF2-40B4-BE49-F238E27FC236}">
                <a16:creationId xmlns:a16="http://schemas.microsoft.com/office/drawing/2014/main" id="{2E4B9DA7-94F8-40DD-A27E-0CF6372B17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55763" y="1892300"/>
            <a:ext cx="461962" cy="53975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60" name="Line 58">
            <a:extLst>
              <a:ext uri="{FF2B5EF4-FFF2-40B4-BE49-F238E27FC236}">
                <a16:creationId xmlns:a16="http://schemas.microsoft.com/office/drawing/2014/main" id="{0C570ED0-7828-423C-8674-658956D4C6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3225" y="4119563"/>
            <a:ext cx="227013" cy="373062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2261" name="Line 59">
            <a:extLst>
              <a:ext uri="{FF2B5EF4-FFF2-40B4-BE49-F238E27FC236}">
                <a16:creationId xmlns:a16="http://schemas.microsoft.com/office/drawing/2014/main" id="{4AF796B7-DCAB-4407-80BD-8086C0717C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0013" y="3406775"/>
            <a:ext cx="268287" cy="347663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" name="Text Box 61">
            <a:extLst>
              <a:ext uri="{FF2B5EF4-FFF2-40B4-BE49-F238E27FC236}">
                <a16:creationId xmlns:a16="http://schemas.microsoft.com/office/drawing/2014/main" id="{CD0D31EC-4E91-4761-9740-9D220EB37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054600"/>
            <a:ext cx="1371600" cy="355600"/>
          </a:xfrm>
          <a:prstGeom prst="rect">
            <a:avLst/>
          </a:prstGeom>
          <a:noFill/>
          <a:ln w="19050">
            <a:solidFill>
              <a:srgbClr val="7F7F7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For “–101”</a:t>
            </a:r>
          </a:p>
        </p:txBody>
      </p:sp>
      <p:sp>
        <p:nvSpPr>
          <p:cNvPr id="52263" name="Text Box 62">
            <a:extLst>
              <a:ext uri="{FF2B5EF4-FFF2-40B4-BE49-F238E27FC236}">
                <a16:creationId xmlns:a16="http://schemas.microsoft.com/office/drawing/2014/main" id="{B7F67A06-60D8-45B8-ACCB-C33DFF3FE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743200"/>
            <a:ext cx="3657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&amp; then peel away the parse tree ...</a:t>
            </a:r>
          </a:p>
        </p:txBody>
      </p:sp>
      <p:sp>
        <p:nvSpPr>
          <p:cNvPr id="52264" name="Text Box 63">
            <a:extLst>
              <a:ext uri="{FF2B5EF4-FFF2-40B4-BE49-F238E27FC236}">
                <a16:creationId xmlns:a16="http://schemas.microsoft.com/office/drawing/2014/main" id="{0E5E04A8-144F-4C2F-8D02-B765D1B07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828800"/>
            <a:ext cx="3657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003C75"/>
                </a:solidFill>
              </a:rPr>
              <a:t>If we show the computation ...</a:t>
            </a:r>
            <a:endParaRPr lang="en-US" altLang="it-IT" sz="1600">
              <a:solidFill>
                <a:srgbClr val="003C75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11" name="Rectangle 100">
            <a:extLst>
              <a:ext uri="{FF2B5EF4-FFF2-40B4-BE49-F238E27FC236}">
                <a16:creationId xmlns:a16="http://schemas.microsoft.com/office/drawing/2014/main" id="{6A9B4CE0-DCF9-409D-9D51-C08F6E244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47800"/>
            <a:ext cx="4038600" cy="396240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54274" name="Footer Placeholder 3">
            <a:extLst>
              <a:ext uri="{FF2B5EF4-FFF2-40B4-BE49-F238E27FC236}">
                <a16:creationId xmlns:a16="http://schemas.microsoft.com/office/drawing/2014/main" id="{45A446B1-7B2E-47B1-BFF4-43A17FAAEE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4275" name="Slide Number Placeholder 4">
            <a:extLst>
              <a:ext uri="{FF2B5EF4-FFF2-40B4-BE49-F238E27FC236}">
                <a16:creationId xmlns:a16="http://schemas.microsoft.com/office/drawing/2014/main" id="{71905ED5-A7AA-4103-B56D-A393882DD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89CD315-6E52-4885-A717-85CD2BE01484}" type="slidenum">
              <a:rPr lang="en-US" altLang="it-IT"/>
              <a:pPr/>
              <a:t>19</a:t>
            </a:fld>
            <a:endParaRPr lang="en-US" altLang="it-IT"/>
          </a:p>
        </p:txBody>
      </p:sp>
      <p:sp>
        <p:nvSpPr>
          <p:cNvPr id="54276" name="Rectangle 2">
            <a:extLst>
              <a:ext uri="{FF2B5EF4-FFF2-40B4-BE49-F238E27FC236}">
                <a16:creationId xmlns:a16="http://schemas.microsoft.com/office/drawing/2014/main" id="{DEB7590A-6120-4B21-ABC2-3DA1C03D33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Back to the Example</a:t>
            </a:r>
          </a:p>
        </p:txBody>
      </p:sp>
      <p:sp>
        <p:nvSpPr>
          <p:cNvPr id="2" name="Text Box 42">
            <a:extLst>
              <a:ext uri="{FF2B5EF4-FFF2-40B4-BE49-F238E27FC236}">
                <a16:creationId xmlns:a16="http://schemas.microsoft.com/office/drawing/2014/main" id="{BE5E9072-85F0-4866-BC9A-05EA3F803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447800"/>
            <a:ext cx="3352800" cy="341153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45000"/>
              </a:spcBef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All that is left is the </a:t>
            </a:r>
            <a:r>
              <a:rPr lang="en-US" sz="160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attribute</a:t>
            </a:r>
            <a:r>
              <a:rPr lang="en-US" sz="1600">
                <a:solidFill>
                  <a:srgbClr val="FF0000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 </a:t>
            </a:r>
            <a:r>
              <a:rPr lang="en-US" sz="1600">
                <a:solidFill>
                  <a:srgbClr val="FF0065"/>
                </a:solidFill>
                <a:latin typeface="Comic Sans MS" charset="0"/>
                <a:ea typeface="ヒラギノ角ゴ Pro W3" charset="-128"/>
                <a:cs typeface="ヒラギノ角ゴ Pro W3" charset="-128"/>
              </a:rPr>
              <a:t>dependence graph.</a:t>
            </a:r>
          </a:p>
          <a:p>
            <a:pPr eaLnBrk="0" hangingPunct="0">
              <a:lnSpc>
                <a:spcPct val="90000"/>
              </a:lnSpc>
              <a:spcBef>
                <a:spcPct val="45000"/>
              </a:spcBef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This succinctly represents the flow of values in the problem instance.</a:t>
            </a:r>
          </a:p>
          <a:p>
            <a:pPr eaLnBrk="0" hangingPunct="0">
              <a:lnSpc>
                <a:spcPct val="90000"/>
              </a:lnSpc>
              <a:spcBef>
                <a:spcPct val="45000"/>
              </a:spcBef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The dynamic methods sort this graph to find independent values, then work along graph edges.  </a:t>
            </a:r>
          </a:p>
          <a:p>
            <a:pPr eaLnBrk="0" hangingPunct="0">
              <a:lnSpc>
                <a:spcPct val="90000"/>
              </a:lnSpc>
              <a:spcBef>
                <a:spcPct val="45000"/>
              </a:spcBef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The rule-based methods try to discover “good” orders by analyzing the rules.</a:t>
            </a:r>
          </a:p>
          <a:p>
            <a:pPr eaLnBrk="0" hangingPunct="0">
              <a:lnSpc>
                <a:spcPct val="90000"/>
              </a:lnSpc>
              <a:spcBef>
                <a:spcPct val="45000"/>
              </a:spcBef>
              <a:defRPr/>
            </a:pPr>
            <a:r>
              <a:rPr lang="en-US" sz="1600">
                <a:latin typeface="Comic Sans MS" charset="0"/>
                <a:ea typeface="ヒラギノ角ゴ Pro W3" charset="-128"/>
                <a:cs typeface="ヒラギノ角ゴ Pro W3" charset="-128"/>
              </a:rPr>
              <a:t>The oblivious methods ignore the structure of this graph</a:t>
            </a:r>
            <a:r>
              <a:rPr lang="en-US" sz="1600">
                <a:latin typeface="Arial Rounded MT Bold" charset="0"/>
                <a:ea typeface="ヒラギノ角ゴ Pro W3" charset="-128"/>
                <a:cs typeface="ヒラギノ角ゴ Pro W3" charset="-128"/>
              </a:rPr>
              <a:t>.</a:t>
            </a:r>
            <a:endParaRPr lang="en-US" sz="1600">
              <a:latin typeface="Arial Narrow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54278" name="Text Box 43">
            <a:extLst>
              <a:ext uri="{FF2B5EF4-FFF2-40B4-BE49-F238E27FC236}">
                <a16:creationId xmlns:a16="http://schemas.microsoft.com/office/drawing/2014/main" id="{0A8D53D1-926C-4CEE-9973-0EE844510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788025"/>
            <a:ext cx="4191000" cy="355600"/>
          </a:xfrm>
          <a:prstGeom prst="rect">
            <a:avLst/>
          </a:prstGeom>
          <a:noFill/>
          <a:ln w="19050">
            <a:solidFill>
              <a:srgbClr val="FF006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600"/>
              <a:t>The dependence graph </a:t>
            </a:r>
            <a:r>
              <a:rPr lang="en-US" altLang="it-IT" sz="1600" u="sng">
                <a:solidFill>
                  <a:srgbClr val="FF0065"/>
                </a:solidFill>
              </a:rPr>
              <a:t>must</a:t>
            </a:r>
            <a:r>
              <a:rPr lang="en-US" altLang="it-IT" sz="1600"/>
              <a:t> be acyclic</a:t>
            </a:r>
          </a:p>
        </p:txBody>
      </p:sp>
      <p:grpSp>
        <p:nvGrpSpPr>
          <p:cNvPr id="54279" name="Group 64">
            <a:extLst>
              <a:ext uri="{FF2B5EF4-FFF2-40B4-BE49-F238E27FC236}">
                <a16:creationId xmlns:a16="http://schemas.microsoft.com/office/drawing/2014/main" id="{DFBECAF5-AD95-4D79-9A3A-B845920D9C9C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976563"/>
            <a:ext cx="3113088" cy="2417762"/>
            <a:chOff x="576" y="1875"/>
            <a:chExt cx="1961" cy="1523"/>
          </a:xfrm>
        </p:grpSpPr>
        <p:sp>
          <p:nvSpPr>
            <p:cNvPr id="54312" name="Text Box 65">
              <a:extLst>
                <a:ext uri="{FF2B5EF4-FFF2-40B4-BE49-F238E27FC236}">
                  <a16:creationId xmlns:a16="http://schemas.microsoft.com/office/drawing/2014/main" id="{25D349A4-DBB8-4D89-AC2E-C447E090C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75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–</a:t>
              </a:r>
            </a:p>
          </p:txBody>
        </p:sp>
        <p:sp>
          <p:nvSpPr>
            <p:cNvPr id="54313" name="Text Box 66">
              <a:extLst>
                <a:ext uri="{FF2B5EF4-FFF2-40B4-BE49-F238E27FC236}">
                  <a16:creationId xmlns:a16="http://schemas.microsoft.com/office/drawing/2014/main" id="{8F6BF16A-1A26-4AC0-983D-ABBD3F43F9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7" y="2301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54314" name="Text Box 67">
              <a:extLst>
                <a:ext uri="{FF2B5EF4-FFF2-40B4-BE49-F238E27FC236}">
                  <a16:creationId xmlns:a16="http://schemas.microsoft.com/office/drawing/2014/main" id="{D3472806-B32B-4D6F-8491-B39B567094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" y="2786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0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54315" name="Text Box 68">
              <a:extLst>
                <a:ext uri="{FF2B5EF4-FFF2-40B4-BE49-F238E27FC236}">
                  <a16:creationId xmlns:a16="http://schemas.microsoft.com/office/drawing/2014/main" id="{D14E69F8-BF81-4F30-922C-8C09BCE939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3225"/>
              <a:ext cx="17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54280" name="Line 69">
            <a:extLst>
              <a:ext uri="{FF2B5EF4-FFF2-40B4-BE49-F238E27FC236}">
                <a16:creationId xmlns:a16="http://schemas.microsoft.com/office/drawing/2014/main" id="{C1F22B02-4551-4FD7-B5AE-5C4CE14328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30413" y="4197350"/>
            <a:ext cx="252412" cy="21748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281" name="Line 70">
            <a:extLst>
              <a:ext uri="{FF2B5EF4-FFF2-40B4-BE49-F238E27FC236}">
                <a16:creationId xmlns:a16="http://schemas.microsoft.com/office/drawing/2014/main" id="{9A6EB858-14AF-4722-8B39-A0DAD7CE4E4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13050" y="3440113"/>
            <a:ext cx="365125" cy="496887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282" name="Line 71">
            <a:extLst>
              <a:ext uri="{FF2B5EF4-FFF2-40B4-BE49-F238E27FC236}">
                <a16:creationId xmlns:a16="http://schemas.microsoft.com/office/drawing/2014/main" id="{986104FB-5D1F-4A17-A47C-5761625ECD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2701925"/>
            <a:ext cx="762000" cy="5794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283" name="Text Box 72">
            <a:extLst>
              <a:ext uri="{FF2B5EF4-FFF2-40B4-BE49-F238E27FC236}">
                <a16:creationId xmlns:a16="http://schemas.microsoft.com/office/drawing/2014/main" id="{164DBCD9-9D7D-4710-B75D-AB0E46726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613150"/>
            <a:ext cx="838200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1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54284" name="Text Box 73">
            <a:extLst>
              <a:ext uri="{FF2B5EF4-FFF2-40B4-BE49-F238E27FC236}">
                <a16:creationId xmlns:a16="http://schemas.microsoft.com/office/drawing/2014/main" id="{E77F7DEA-6B0D-4BD8-858E-A960E32E7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2914650"/>
            <a:ext cx="769937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0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1</a:t>
            </a:r>
            <a:endParaRPr lang="en-US" altLang="it-IT" sz="1600" b="1" i="1">
              <a:solidFill>
                <a:srgbClr val="003C75"/>
              </a:solidFill>
              <a:latin typeface="Arial Narrow" panose="020B0606020202030204" pitchFamily="34" charset="0"/>
            </a:endParaRPr>
          </a:p>
        </p:txBody>
      </p:sp>
      <p:sp>
        <p:nvSpPr>
          <p:cNvPr id="54285" name="Text Box 74">
            <a:extLst>
              <a:ext uri="{FF2B5EF4-FFF2-40B4-BE49-F238E27FC236}">
                <a16:creationId xmlns:a16="http://schemas.microsoft.com/office/drawing/2014/main" id="{828608CD-B8D6-4876-B3AE-94512A7FB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25" y="4305300"/>
            <a:ext cx="133667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2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54286" name="Text Box 75">
            <a:extLst>
              <a:ext uri="{FF2B5EF4-FFF2-40B4-BE49-F238E27FC236}">
                <a16:creationId xmlns:a16="http://schemas.microsoft.com/office/drawing/2014/main" id="{54892F33-42AC-4B58-AAF9-A27E25B23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7988" y="3613150"/>
            <a:ext cx="836612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2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54287" name="Text Box 76">
            <a:extLst>
              <a:ext uri="{FF2B5EF4-FFF2-40B4-BE49-F238E27FC236}">
                <a16:creationId xmlns:a16="http://schemas.microsoft.com/office/drawing/2014/main" id="{7A35A0AB-6BAF-4EE5-B686-88BDB4F92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2921000"/>
            <a:ext cx="777875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1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54288" name="Text Box 77">
            <a:extLst>
              <a:ext uri="{FF2B5EF4-FFF2-40B4-BE49-F238E27FC236}">
                <a16:creationId xmlns:a16="http://schemas.microsoft.com/office/drawing/2014/main" id="{92E93452-9922-4035-B24F-940592995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2220913"/>
            <a:ext cx="779462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pos: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0</a:t>
            </a:r>
          </a:p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5</a:t>
            </a:r>
            <a:endParaRPr lang="en-US" altLang="it-IT" sz="1600">
              <a:solidFill>
                <a:srgbClr val="003C75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4289" name="Text Box 78">
            <a:extLst>
              <a:ext uri="{FF2B5EF4-FFF2-40B4-BE49-F238E27FC236}">
                <a16:creationId xmlns:a16="http://schemas.microsoft.com/office/drawing/2014/main" id="{AA785442-05DF-4878-9F93-1E886F7F5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863" y="1600200"/>
            <a:ext cx="9477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val: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–5</a:t>
            </a:r>
            <a:endParaRPr lang="en-US" altLang="it-IT" sz="1600" b="1" i="1">
              <a:solidFill>
                <a:srgbClr val="003C75"/>
              </a:solidFill>
              <a:latin typeface="Arial Narrow" panose="020B0606020202030204" pitchFamily="34" charset="0"/>
            </a:endParaRPr>
          </a:p>
        </p:txBody>
      </p:sp>
      <p:sp>
        <p:nvSpPr>
          <p:cNvPr id="54290" name="Text Box 79">
            <a:extLst>
              <a:ext uri="{FF2B5EF4-FFF2-40B4-BE49-F238E27FC236}">
                <a16:creationId xmlns:a16="http://schemas.microsoft.com/office/drawing/2014/main" id="{053C1D8C-27DC-4D94-8BD7-1C47388B0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2378075"/>
            <a:ext cx="8667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10000"/>
              </a:spcBef>
            </a:pPr>
            <a:r>
              <a:rPr lang="en-US" altLang="it-IT" sz="1400" b="1" i="1">
                <a:latin typeface="Arial Narrow" panose="020B0606020202030204" pitchFamily="34" charset="0"/>
              </a:rPr>
              <a:t>neg: </a:t>
            </a:r>
            <a:r>
              <a:rPr lang="en-US" altLang="it-IT" sz="1400" b="1" i="1">
                <a:solidFill>
                  <a:srgbClr val="003C75"/>
                </a:solidFill>
                <a:latin typeface="Arial Narrow" panose="020B0606020202030204" pitchFamily="34" charset="0"/>
              </a:rPr>
              <a:t>true</a:t>
            </a:r>
            <a:endParaRPr lang="en-US" altLang="it-IT" sz="1600">
              <a:solidFill>
                <a:srgbClr val="003C75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4291" name="Line 80">
            <a:extLst>
              <a:ext uri="{FF2B5EF4-FFF2-40B4-BE49-F238E27FC236}">
                <a16:creationId xmlns:a16="http://schemas.microsoft.com/office/drawing/2014/main" id="{186E63C0-70CB-4031-9B63-96822C9487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4829175"/>
            <a:ext cx="255588" cy="35718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292" name="Line 81">
            <a:extLst>
              <a:ext uri="{FF2B5EF4-FFF2-40B4-BE49-F238E27FC236}">
                <a16:creationId xmlns:a16="http://schemas.microsoft.com/office/drawing/2014/main" id="{54255F70-4097-4E54-91B2-150608B166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500563"/>
            <a:ext cx="169863" cy="109537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293" name="Line 82">
            <a:extLst>
              <a:ext uri="{FF2B5EF4-FFF2-40B4-BE49-F238E27FC236}">
                <a16:creationId xmlns:a16="http://schemas.microsoft.com/office/drawing/2014/main" id="{83A2528D-11D7-4470-A0AC-90C1F6C418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606925"/>
            <a:ext cx="249238" cy="1222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294" name="Line 83">
            <a:extLst>
              <a:ext uri="{FF2B5EF4-FFF2-40B4-BE49-F238E27FC236}">
                <a16:creationId xmlns:a16="http://schemas.microsoft.com/office/drawing/2014/main" id="{F902B3EB-1A37-4E38-AE1D-A96B279C00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1563" y="3778250"/>
            <a:ext cx="169862" cy="1095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295" name="Line 84">
            <a:extLst>
              <a:ext uri="{FF2B5EF4-FFF2-40B4-BE49-F238E27FC236}">
                <a16:creationId xmlns:a16="http://schemas.microsoft.com/office/drawing/2014/main" id="{0B15D16B-FDDE-4FB3-9184-F8F9823F28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35363" y="3884613"/>
            <a:ext cx="249237" cy="122237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296" name="Line 85">
            <a:extLst>
              <a:ext uri="{FF2B5EF4-FFF2-40B4-BE49-F238E27FC236}">
                <a16:creationId xmlns:a16="http://schemas.microsoft.com/office/drawing/2014/main" id="{C0B190BA-70D5-4011-ABFB-FA9B5B5774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6925" y="3103563"/>
            <a:ext cx="169863" cy="109537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297" name="Line 86">
            <a:extLst>
              <a:ext uri="{FF2B5EF4-FFF2-40B4-BE49-F238E27FC236}">
                <a16:creationId xmlns:a16="http://schemas.microsoft.com/office/drawing/2014/main" id="{AC6A8541-6829-460A-A545-250E4901F9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30725" y="3209925"/>
            <a:ext cx="249238" cy="1222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298" name="Line 87">
            <a:extLst>
              <a:ext uri="{FF2B5EF4-FFF2-40B4-BE49-F238E27FC236}">
                <a16:creationId xmlns:a16="http://schemas.microsoft.com/office/drawing/2014/main" id="{D6403436-2B7C-49CA-896E-A57ABB5E4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814763"/>
            <a:ext cx="228600" cy="3810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299" name="Line 88">
            <a:extLst>
              <a:ext uri="{FF2B5EF4-FFF2-40B4-BE49-F238E27FC236}">
                <a16:creationId xmlns:a16="http://schemas.microsoft.com/office/drawing/2014/main" id="{BC181581-2B2C-4391-ABD6-31C5C4BF50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82800" y="3205163"/>
            <a:ext cx="660400" cy="549275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300" name="Line 89">
            <a:extLst>
              <a:ext uri="{FF2B5EF4-FFF2-40B4-BE49-F238E27FC236}">
                <a16:creationId xmlns:a16="http://schemas.microsoft.com/office/drawing/2014/main" id="{32628598-1738-433D-9CE4-242A84B598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65450" y="2495550"/>
            <a:ext cx="808038" cy="5842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301" name="Line 90">
            <a:extLst>
              <a:ext uri="{FF2B5EF4-FFF2-40B4-BE49-F238E27FC236}">
                <a16:creationId xmlns:a16="http://schemas.microsoft.com/office/drawing/2014/main" id="{16521079-39C5-4683-9BB1-EE216B77FA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7625" y="2484438"/>
            <a:ext cx="330200" cy="5207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302" name="Line 91">
            <a:extLst>
              <a:ext uri="{FF2B5EF4-FFF2-40B4-BE49-F238E27FC236}">
                <a16:creationId xmlns:a16="http://schemas.microsoft.com/office/drawing/2014/main" id="{6F1128DF-2C1F-4A6E-9DF3-382B0F36DF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2575" y="3179763"/>
            <a:ext cx="365125" cy="512762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303" name="Line 92">
            <a:extLst>
              <a:ext uri="{FF2B5EF4-FFF2-40B4-BE49-F238E27FC236}">
                <a16:creationId xmlns:a16="http://schemas.microsoft.com/office/drawing/2014/main" id="{F2298333-2486-47AB-A8DB-A778B9E5F7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22450" y="4144963"/>
            <a:ext cx="0" cy="4699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304" name="Line 93">
            <a:extLst>
              <a:ext uri="{FF2B5EF4-FFF2-40B4-BE49-F238E27FC236}">
                <a16:creationId xmlns:a16="http://schemas.microsoft.com/office/drawing/2014/main" id="{5ECE10D4-2204-4A60-8C92-0892FF8615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12950" y="3422650"/>
            <a:ext cx="712788" cy="5667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305" name="Line 94">
            <a:extLst>
              <a:ext uri="{FF2B5EF4-FFF2-40B4-BE49-F238E27FC236}">
                <a16:creationId xmlns:a16="http://schemas.microsoft.com/office/drawing/2014/main" id="{A000FB92-DA89-4E59-B031-43B734DD96E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22700" y="2719388"/>
            <a:ext cx="360363" cy="511175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306" name="Line 95">
            <a:extLst>
              <a:ext uri="{FF2B5EF4-FFF2-40B4-BE49-F238E27FC236}">
                <a16:creationId xmlns:a16="http://schemas.microsoft.com/office/drawing/2014/main" id="{0955C741-C9BE-4329-A447-53D64CBB99B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6000" y="1833563"/>
            <a:ext cx="1371600" cy="7620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307" name="Line 96">
            <a:extLst>
              <a:ext uri="{FF2B5EF4-FFF2-40B4-BE49-F238E27FC236}">
                <a16:creationId xmlns:a16="http://schemas.microsoft.com/office/drawing/2014/main" id="{E1F3A419-2EDC-4EC9-8A81-5089A075FA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95388" y="2667000"/>
            <a:ext cx="304800" cy="452438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308" name="Line 97">
            <a:extLst>
              <a:ext uri="{FF2B5EF4-FFF2-40B4-BE49-F238E27FC236}">
                <a16:creationId xmlns:a16="http://schemas.microsoft.com/office/drawing/2014/main" id="{A77D5579-7012-4744-B2CB-3B3AD75AE1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55763" y="1892300"/>
            <a:ext cx="461962" cy="53975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309" name="Line 98">
            <a:extLst>
              <a:ext uri="{FF2B5EF4-FFF2-40B4-BE49-F238E27FC236}">
                <a16:creationId xmlns:a16="http://schemas.microsoft.com/office/drawing/2014/main" id="{913F45C5-89B8-43AA-8B78-B71E7D917D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3225" y="4119563"/>
            <a:ext cx="227013" cy="373062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4310" name="Line 99">
            <a:extLst>
              <a:ext uri="{FF2B5EF4-FFF2-40B4-BE49-F238E27FC236}">
                <a16:creationId xmlns:a16="http://schemas.microsoft.com/office/drawing/2014/main" id="{C09889B6-B998-4B71-A7B0-8B31A9BFC2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0013" y="3406775"/>
            <a:ext cx="268287" cy="347663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" name="Text Box 101">
            <a:extLst>
              <a:ext uri="{FF2B5EF4-FFF2-40B4-BE49-F238E27FC236}">
                <a16:creationId xmlns:a16="http://schemas.microsoft.com/office/drawing/2014/main" id="{FE1F174A-D5BF-4523-B1B8-CB7CD7ED6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054600"/>
            <a:ext cx="1371600" cy="355600"/>
          </a:xfrm>
          <a:prstGeom prst="rect">
            <a:avLst/>
          </a:prstGeom>
          <a:noFill/>
          <a:ln w="19050">
            <a:solidFill>
              <a:srgbClr val="7F7F7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For “–101”</a:t>
            </a: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Footer Placeholder 3">
            <a:extLst>
              <a:ext uri="{FF2B5EF4-FFF2-40B4-BE49-F238E27FC236}">
                <a16:creationId xmlns:a16="http://schemas.microsoft.com/office/drawing/2014/main" id="{B78C7106-3B14-4E0C-84A4-9D31F6F6C5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6322" name="Slide Number Placeholder 4">
            <a:extLst>
              <a:ext uri="{FF2B5EF4-FFF2-40B4-BE49-F238E27FC236}">
                <a16:creationId xmlns:a16="http://schemas.microsoft.com/office/drawing/2014/main" id="{D1051F2B-5907-4D64-9127-B86098B7A5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C2C0B628-EFCE-43E6-81AA-42B34298A49B}" type="slidenum">
              <a:rPr lang="en-US" altLang="it-IT"/>
              <a:pPr/>
              <a:t>20</a:t>
            </a:fld>
            <a:endParaRPr lang="en-US" altLang="it-IT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BF234C7E-1172-4599-A1F6-3EC2295AD3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Circularity</a:t>
            </a: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67AE4A04-2107-41D8-AC75-4FC03BCF2B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8001000" cy="4953000"/>
          </a:xfrm>
        </p:spPr>
        <p:txBody>
          <a:bodyPr/>
          <a:lstStyle/>
          <a:p>
            <a:pPr eaLnBrk="1" hangingPunct="1">
              <a:spcBef>
                <a:spcPct val="30000"/>
              </a:spcBef>
              <a:buFont typeface="Times" panose="02020603050405020304" pitchFamily="18" charset="0"/>
              <a:buNone/>
            </a:pPr>
            <a:r>
              <a:rPr lang="en-US" altLang="it-IT"/>
              <a:t>We can only evaluate acyclic instances</a:t>
            </a:r>
          </a:p>
          <a:p>
            <a:pPr eaLnBrk="1" hangingPunct="1"/>
            <a:r>
              <a:rPr lang="en-US" altLang="it-IT">
                <a:solidFill>
                  <a:srgbClr val="FF0065"/>
                </a:solidFill>
              </a:rPr>
              <a:t>General circularity testing</a:t>
            </a:r>
            <a:r>
              <a:rPr lang="en-US" altLang="it-IT"/>
              <a:t> problem is inherently exponential!</a:t>
            </a:r>
          </a:p>
          <a:p>
            <a:pPr eaLnBrk="1" hangingPunct="1"/>
            <a:r>
              <a:rPr lang="en-US" altLang="it-IT"/>
              <a:t>We can prove that some grammars can only generate instances with acyclic dependence graphs</a:t>
            </a:r>
          </a:p>
          <a:p>
            <a:pPr lvl="1" eaLnBrk="1" hangingPunct="1"/>
            <a:r>
              <a:rPr lang="en-US" altLang="it-IT"/>
              <a:t>Largest such class is “strongly non-circular” grammars (</a:t>
            </a:r>
            <a:r>
              <a:rPr lang="en-US" altLang="it-IT" i="1"/>
              <a:t>SNC</a:t>
            </a:r>
            <a:r>
              <a:rPr lang="en-US" altLang="it-IT"/>
              <a:t> )</a:t>
            </a:r>
          </a:p>
          <a:p>
            <a:pPr lvl="1" eaLnBrk="1" hangingPunct="1"/>
            <a:r>
              <a:rPr lang="en-US" altLang="it-IT" i="1"/>
              <a:t>SNC </a:t>
            </a:r>
            <a:r>
              <a:rPr lang="en-US" altLang="it-IT"/>
              <a:t>grammars can be tested in polynomial time</a:t>
            </a:r>
          </a:p>
          <a:p>
            <a:pPr lvl="1" eaLnBrk="1" hangingPunct="1"/>
            <a:r>
              <a:rPr lang="en-US" altLang="it-IT"/>
              <a:t>Failing the </a:t>
            </a:r>
            <a:r>
              <a:rPr lang="en-US" altLang="it-IT" i="1"/>
              <a:t>SNC</a:t>
            </a:r>
            <a:r>
              <a:rPr lang="en-US" altLang="it-IT"/>
              <a:t> test is </a:t>
            </a:r>
            <a:r>
              <a:rPr lang="en-US" altLang="it-IT" u="sng"/>
              <a:t>not</a:t>
            </a:r>
            <a:r>
              <a:rPr lang="en-US" altLang="it-IT"/>
              <a:t> conclusive</a:t>
            </a:r>
          </a:p>
          <a:p>
            <a:pPr eaLnBrk="1" hangingPunct="1">
              <a:spcBef>
                <a:spcPct val="150000"/>
              </a:spcBef>
              <a:buFont typeface="Times" panose="02020603050405020304" pitchFamily="18" charset="0"/>
              <a:buNone/>
            </a:pPr>
            <a:r>
              <a:rPr lang="en-US" altLang="it-IT"/>
              <a:t>Many evaluation methods discover circularity dynamically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sym typeface="Symbol" panose="05050102010706020507" pitchFamily="18" charset="2"/>
              </a:rPr>
              <a:t> Bad property for a compiler to have</a:t>
            </a:r>
          </a:p>
        </p:txBody>
      </p:sp>
      <p:sp>
        <p:nvSpPr>
          <p:cNvPr id="56325" name="Text Box 4">
            <a:extLst>
              <a:ext uri="{FF2B5EF4-FFF2-40B4-BE49-F238E27FC236}">
                <a16:creationId xmlns:a16="http://schemas.microsoft.com/office/drawing/2014/main" id="{18B37197-A46C-45FC-91C0-583B7D74A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216650"/>
            <a:ext cx="4876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</a:rPr>
              <a:t>SNC comes from Kennedy &amp; Warren, POPL 1976</a:t>
            </a:r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Footer Placeholder 3">
            <a:extLst>
              <a:ext uri="{FF2B5EF4-FFF2-40B4-BE49-F238E27FC236}">
                <a16:creationId xmlns:a16="http://schemas.microsoft.com/office/drawing/2014/main" id="{FE288E7D-76E5-42AC-BB7F-44A6E1A78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58370" name="Slide Number Placeholder 4">
            <a:extLst>
              <a:ext uri="{FF2B5EF4-FFF2-40B4-BE49-F238E27FC236}">
                <a16:creationId xmlns:a16="http://schemas.microsoft.com/office/drawing/2014/main" id="{BB3ACD68-FE36-4DA1-BB33-A23E72123C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F50F0340-7FB6-4114-BF6C-0D4E88A58480}" type="slidenum">
              <a:rPr lang="en-US" altLang="it-IT"/>
              <a:pPr/>
              <a:t>21</a:t>
            </a:fld>
            <a:endParaRPr lang="en-US" altLang="it-IT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29A04EDD-A7A1-4FDE-BC23-233EF789B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altLang="it-IT"/>
              <a:t>A Circular Attribute Grammar</a:t>
            </a:r>
          </a:p>
        </p:txBody>
      </p:sp>
      <p:graphicFrame>
        <p:nvGraphicFramePr>
          <p:cNvPr id="46232" name="Group 152">
            <a:extLst>
              <a:ext uri="{FF2B5EF4-FFF2-40B4-BE49-F238E27FC236}">
                <a16:creationId xmlns:a16="http://schemas.microsoft.com/office/drawing/2014/main" id="{4ED06C72-FDF9-4674-897F-75213CB453C2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579563"/>
          <a:ext cx="6172200" cy="2688192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65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Productions</a:t>
                      </a:r>
                    </a:p>
                  </a:txBody>
                  <a:tcPr marT="45708" marB="45708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Attribution Rules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marT="45708" marB="45708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List.a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8" marB="45708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2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8" marB="4570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Bit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.a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.a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+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Bit.val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marT="45708" marB="4570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1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8" marB="4570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.b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Bit.val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marT="45708" marB="4570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marT="45708" marB="4570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0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1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marT="45708" marB="4570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1</a:t>
                      </a:r>
                    </a:p>
                  </a:txBody>
                  <a:tcPr marT="45708" marB="4570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8398" name="Text Box 153">
            <a:extLst>
              <a:ext uri="{FF2B5EF4-FFF2-40B4-BE49-F238E27FC236}">
                <a16:creationId xmlns:a16="http://schemas.microsoft.com/office/drawing/2014/main" id="{B1DAA48A-641E-4FE6-B9A6-4D30DF23E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683250"/>
            <a:ext cx="7772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 sz="1600" i="1">
                <a:solidFill>
                  <a:srgbClr val="003C75"/>
                </a:solidFill>
              </a:rPr>
              <a:t>Remember, the circularity is in the attribution rules, not the underlying CFG</a:t>
            </a:r>
          </a:p>
        </p:txBody>
      </p:sp>
      <p:sp>
        <p:nvSpPr>
          <p:cNvPr id="58399" name="Rectangle 6">
            <a:extLst>
              <a:ext uri="{FF2B5EF4-FFF2-40B4-BE49-F238E27FC236}">
                <a16:creationId xmlns:a16="http://schemas.microsoft.com/office/drawing/2014/main" id="{FA894F01-A4A3-4D9E-9281-F76AD687D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930525"/>
            <a:ext cx="2514600" cy="304800"/>
          </a:xfrm>
          <a:prstGeom prst="rect">
            <a:avLst/>
          </a:prstGeom>
          <a:noFill/>
          <a:ln w="19050" algn="ctr">
            <a:solidFill>
              <a:srgbClr val="FF00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58400" name="Rectangle 7">
            <a:extLst>
              <a:ext uri="{FF2B5EF4-FFF2-40B4-BE49-F238E27FC236}">
                <a16:creationId xmlns:a16="http://schemas.microsoft.com/office/drawing/2014/main" id="{6447072E-F2ED-4EC2-BA63-2D50818E4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276600"/>
            <a:ext cx="3352800" cy="304800"/>
          </a:xfrm>
          <a:prstGeom prst="rect">
            <a:avLst/>
          </a:prstGeom>
          <a:noFill/>
          <a:ln w="19050" algn="ctr">
            <a:solidFill>
              <a:srgbClr val="FF006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3" name="Rectangle 29">
            <a:extLst>
              <a:ext uri="{FF2B5EF4-FFF2-40B4-BE49-F238E27FC236}">
                <a16:creationId xmlns:a16="http://schemas.microsoft.com/office/drawing/2014/main" id="{5FE5DD4F-BB5A-43C0-B043-4AF57AAA0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447800"/>
            <a:ext cx="4038600" cy="3962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F7F7F"/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60418" name="Footer Placeholder 3">
            <a:extLst>
              <a:ext uri="{FF2B5EF4-FFF2-40B4-BE49-F238E27FC236}">
                <a16:creationId xmlns:a16="http://schemas.microsoft.com/office/drawing/2014/main" id="{45F45DBD-4677-469C-9DF6-71AC913427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0419" name="Slide Number Placeholder 4">
            <a:extLst>
              <a:ext uri="{FF2B5EF4-FFF2-40B4-BE49-F238E27FC236}">
                <a16:creationId xmlns:a16="http://schemas.microsoft.com/office/drawing/2014/main" id="{E5C908AC-93BB-4F0C-ABBF-1D23448050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BFFEEED1-314D-4159-8C9E-EA11FE053640}" type="slidenum">
              <a:rPr lang="en-US" altLang="it-IT"/>
              <a:pPr/>
              <a:t>22</a:t>
            </a:fld>
            <a:endParaRPr lang="en-US" altLang="it-IT"/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C73658EA-0B96-47C2-916F-8AF871F048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Circular Grammar Example</a:t>
            </a:r>
          </a:p>
        </p:txBody>
      </p:sp>
      <p:grpSp>
        <p:nvGrpSpPr>
          <p:cNvPr id="60421" name="Group 3">
            <a:extLst>
              <a:ext uri="{FF2B5EF4-FFF2-40B4-BE49-F238E27FC236}">
                <a16:creationId xmlns:a16="http://schemas.microsoft.com/office/drawing/2014/main" id="{932EBE26-AD4E-41FC-95F4-D989EBDF55A5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1524000"/>
            <a:ext cx="3149600" cy="3546475"/>
            <a:chOff x="577" y="960"/>
            <a:chExt cx="1984" cy="2234"/>
          </a:xfrm>
        </p:grpSpPr>
        <p:sp>
          <p:nvSpPr>
            <p:cNvPr id="60437" name="Line 4">
              <a:extLst>
                <a:ext uri="{FF2B5EF4-FFF2-40B4-BE49-F238E27FC236}">
                  <a16:creationId xmlns:a16="http://schemas.microsoft.com/office/drawing/2014/main" id="{CA0290C4-8B70-4D20-97B2-CC436564CF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2164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0438" name="Oval 5">
              <a:extLst>
                <a:ext uri="{FF2B5EF4-FFF2-40B4-BE49-F238E27FC236}">
                  <a16:creationId xmlns:a16="http://schemas.microsoft.com/office/drawing/2014/main" id="{9C7D8030-BDAB-4403-8501-F054B42F9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960"/>
              <a:ext cx="432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Number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0439" name="Line 6">
              <a:extLst>
                <a:ext uri="{FF2B5EF4-FFF2-40B4-BE49-F238E27FC236}">
                  <a16:creationId xmlns:a16="http://schemas.microsoft.com/office/drawing/2014/main" id="{87A2FAB9-6B9A-4B9E-9C57-CB107C5848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1" y="1243"/>
              <a:ext cx="148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0440" name="Line 7">
              <a:extLst>
                <a:ext uri="{FF2B5EF4-FFF2-40B4-BE49-F238E27FC236}">
                  <a16:creationId xmlns:a16="http://schemas.microsoft.com/office/drawing/2014/main" id="{9BE8D911-08E2-4C7A-9887-0FF7E03880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1242"/>
              <a:ext cx="90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0441" name="Oval 8">
              <a:extLst>
                <a:ext uri="{FF2B5EF4-FFF2-40B4-BE49-F238E27FC236}">
                  <a16:creationId xmlns:a16="http://schemas.microsoft.com/office/drawing/2014/main" id="{C8A96550-3327-4304-9C3C-DE26FFD40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1435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Sign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0442" name="Line 9">
              <a:extLst>
                <a:ext uri="{FF2B5EF4-FFF2-40B4-BE49-F238E27FC236}">
                  <a16:creationId xmlns:a16="http://schemas.microsoft.com/office/drawing/2014/main" id="{B4E0687C-9669-4A27-964D-ED12CBB330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725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0443" name="Oval 10">
              <a:extLst>
                <a:ext uri="{FF2B5EF4-FFF2-40B4-BE49-F238E27FC236}">
                  <a16:creationId xmlns:a16="http://schemas.microsoft.com/office/drawing/2014/main" id="{AB930DB5-C006-4B07-A2FB-7E490FBD7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44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60444" name="Oval 11">
              <a:extLst>
                <a:ext uri="{FF2B5EF4-FFF2-40B4-BE49-F238E27FC236}">
                  <a16:creationId xmlns:a16="http://schemas.microsoft.com/office/drawing/2014/main" id="{88A3C926-A45D-4505-8855-13A9130B2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3" y="1867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0445" name="Oval 12">
              <a:extLst>
                <a:ext uri="{FF2B5EF4-FFF2-40B4-BE49-F238E27FC236}">
                  <a16:creationId xmlns:a16="http://schemas.microsoft.com/office/drawing/2014/main" id="{E9927DA4-7FBE-411F-A998-BEF5083C5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60446" name="Line 13">
              <a:extLst>
                <a:ext uri="{FF2B5EF4-FFF2-40B4-BE49-F238E27FC236}">
                  <a16:creationId xmlns:a16="http://schemas.microsoft.com/office/drawing/2014/main" id="{8C4E4EC4-81E5-445D-A247-7EF4273512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7" y="1697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0447" name="Line 14">
              <a:extLst>
                <a:ext uri="{FF2B5EF4-FFF2-40B4-BE49-F238E27FC236}">
                  <a16:creationId xmlns:a16="http://schemas.microsoft.com/office/drawing/2014/main" id="{DDB4AC66-8AE3-47B7-AB8A-9A157D9CAC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3" y="1704"/>
              <a:ext cx="438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0448" name="Oval 15">
              <a:extLst>
                <a:ext uri="{FF2B5EF4-FFF2-40B4-BE49-F238E27FC236}">
                  <a16:creationId xmlns:a16="http://schemas.microsoft.com/office/drawing/2014/main" id="{DE1D10AE-6B04-47C0-94B8-84E05C410F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3" y="2303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0449" name="Line 16">
              <a:extLst>
                <a:ext uri="{FF2B5EF4-FFF2-40B4-BE49-F238E27FC236}">
                  <a16:creationId xmlns:a16="http://schemas.microsoft.com/office/drawing/2014/main" id="{C250BE21-60BD-48D0-8D29-4AB89D44BF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6" y="2600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0450" name="Oval 17">
              <a:extLst>
                <a:ext uri="{FF2B5EF4-FFF2-40B4-BE49-F238E27FC236}">
                  <a16:creationId xmlns:a16="http://schemas.microsoft.com/office/drawing/2014/main" id="{DAD68FA0-3829-4FF1-91B7-FD489FD41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304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60451" name="Line 18">
              <a:extLst>
                <a:ext uri="{FF2B5EF4-FFF2-40B4-BE49-F238E27FC236}">
                  <a16:creationId xmlns:a16="http://schemas.microsoft.com/office/drawing/2014/main" id="{5881C238-513C-411E-BD02-4BE7D89F47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7" y="2133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0452" name="Line 19">
              <a:extLst>
                <a:ext uri="{FF2B5EF4-FFF2-40B4-BE49-F238E27FC236}">
                  <a16:creationId xmlns:a16="http://schemas.microsoft.com/office/drawing/2014/main" id="{299AF032-CDDE-475D-AEB6-4901969E25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140"/>
              <a:ext cx="38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0453" name="Oval 20">
              <a:extLst>
                <a:ext uri="{FF2B5EF4-FFF2-40B4-BE49-F238E27FC236}">
                  <a16:creationId xmlns:a16="http://schemas.microsoft.com/office/drawing/2014/main" id="{FC6F2417-D532-4E77-8498-132938CC2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74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0454" name="Line 21">
              <a:extLst>
                <a:ext uri="{FF2B5EF4-FFF2-40B4-BE49-F238E27FC236}">
                  <a16:creationId xmlns:a16="http://schemas.microsoft.com/office/drawing/2014/main" id="{69C49C4D-9C9B-489E-977C-864AC8C8D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" y="3039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0455" name="Line 22">
              <a:extLst>
                <a:ext uri="{FF2B5EF4-FFF2-40B4-BE49-F238E27FC236}">
                  <a16:creationId xmlns:a16="http://schemas.microsoft.com/office/drawing/2014/main" id="{C2C28915-37C6-46D6-9419-C537E38AD6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593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grpSp>
        <p:nvGrpSpPr>
          <p:cNvPr id="60422" name="Group 23">
            <a:extLst>
              <a:ext uri="{FF2B5EF4-FFF2-40B4-BE49-F238E27FC236}">
                <a16:creationId xmlns:a16="http://schemas.microsoft.com/office/drawing/2014/main" id="{5EC84F42-F0A6-4552-8A50-32E2A617A138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976563"/>
            <a:ext cx="3113088" cy="2417762"/>
            <a:chOff x="576" y="1875"/>
            <a:chExt cx="1961" cy="1523"/>
          </a:xfrm>
        </p:grpSpPr>
        <p:sp>
          <p:nvSpPr>
            <p:cNvPr id="60433" name="Text Box 24">
              <a:extLst>
                <a:ext uri="{FF2B5EF4-FFF2-40B4-BE49-F238E27FC236}">
                  <a16:creationId xmlns:a16="http://schemas.microsoft.com/office/drawing/2014/main" id="{3A8EC550-A986-43DC-8581-C84C4B6EA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75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–</a:t>
              </a:r>
            </a:p>
          </p:txBody>
        </p:sp>
        <p:sp>
          <p:nvSpPr>
            <p:cNvPr id="60434" name="Text Box 25">
              <a:extLst>
                <a:ext uri="{FF2B5EF4-FFF2-40B4-BE49-F238E27FC236}">
                  <a16:creationId xmlns:a16="http://schemas.microsoft.com/office/drawing/2014/main" id="{8F106EC8-6448-4CAB-AF2B-9BCF1B146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7" y="2301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0435" name="Text Box 26">
              <a:extLst>
                <a:ext uri="{FF2B5EF4-FFF2-40B4-BE49-F238E27FC236}">
                  <a16:creationId xmlns:a16="http://schemas.microsoft.com/office/drawing/2014/main" id="{AA844DDC-C6D5-44F8-A83A-E89BB5B18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" y="2786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0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0436" name="Text Box 27">
              <a:extLst>
                <a:ext uri="{FF2B5EF4-FFF2-40B4-BE49-F238E27FC236}">
                  <a16:creationId xmlns:a16="http://schemas.microsoft.com/office/drawing/2014/main" id="{88D1DE46-89C7-402D-96FD-F0A6E9FE3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3225"/>
              <a:ext cx="17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2" name="Text Box 30">
            <a:extLst>
              <a:ext uri="{FF2B5EF4-FFF2-40B4-BE49-F238E27FC236}">
                <a16:creationId xmlns:a16="http://schemas.microsoft.com/office/drawing/2014/main" id="{110179AB-BE41-4C4A-8D56-46A19271E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054600"/>
            <a:ext cx="1371600" cy="355600"/>
          </a:xfrm>
          <a:prstGeom prst="rect">
            <a:avLst/>
          </a:prstGeom>
          <a:noFill/>
          <a:ln w="19050">
            <a:solidFill>
              <a:srgbClr val="7F7F7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600">
                <a:solidFill>
                  <a:srgbClr val="FF0065"/>
                </a:solidFill>
                <a:latin typeface="Arial Rounded MT Bold" panose="020F0704030504030204" pitchFamily="34" charset="0"/>
              </a:rPr>
              <a:t>For “–101”</a:t>
            </a:r>
            <a:endParaRPr lang="en-US" altLang="it-IT" sz="1600">
              <a:latin typeface="Arial Rounded MT Bold" panose="020F0704030504030204" pitchFamily="34" charset="0"/>
            </a:endParaRPr>
          </a:p>
        </p:txBody>
      </p:sp>
      <p:sp>
        <p:nvSpPr>
          <p:cNvPr id="60424" name="Text Box 31">
            <a:extLst>
              <a:ext uri="{FF2B5EF4-FFF2-40B4-BE49-F238E27FC236}">
                <a16:creationId xmlns:a16="http://schemas.microsoft.com/office/drawing/2014/main" id="{2FF8C77E-88FA-42BA-A2A1-2F376DAAC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752600"/>
            <a:ext cx="6096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 </a:t>
            </a:r>
            <a:r>
              <a:rPr lang="en-US" altLang="it-IT" sz="1400">
                <a:solidFill>
                  <a:srgbClr val="B025A6"/>
                </a:solidFill>
              </a:rPr>
              <a:t>0</a:t>
            </a:r>
            <a:endParaRPr lang="en-US" altLang="it-IT" sz="1400"/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60425" name="Text Box 32">
            <a:extLst>
              <a:ext uri="{FF2B5EF4-FFF2-40B4-BE49-F238E27FC236}">
                <a16:creationId xmlns:a16="http://schemas.microsoft.com/office/drawing/2014/main" id="{0F4E1852-8383-4546-91A4-D753B455D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365375"/>
            <a:ext cx="4572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</a:t>
            </a:r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60426" name="Text Box 33">
            <a:extLst>
              <a:ext uri="{FF2B5EF4-FFF2-40B4-BE49-F238E27FC236}">
                <a16:creationId xmlns:a16="http://schemas.microsoft.com/office/drawing/2014/main" id="{5310AF5A-4BC6-49FC-99B9-ACFBAB6C7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8775" y="3008313"/>
            <a:ext cx="4572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</a:t>
            </a:r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60427" name="Text Box 34">
            <a:extLst>
              <a:ext uri="{FF2B5EF4-FFF2-40B4-BE49-F238E27FC236}">
                <a16:creationId xmlns:a16="http://schemas.microsoft.com/office/drawing/2014/main" id="{FF184032-E384-4E7E-B2E6-0B2C8DCAB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3851275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60428" name="Text Box 35">
            <a:extLst>
              <a:ext uri="{FF2B5EF4-FFF2-40B4-BE49-F238E27FC236}">
                <a16:creationId xmlns:a16="http://schemas.microsoft.com/office/drawing/2014/main" id="{70B03332-CDBE-4993-9F65-F4BAA4AA2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124200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60429" name="Text Box 36">
            <a:extLst>
              <a:ext uri="{FF2B5EF4-FFF2-40B4-BE49-F238E27FC236}">
                <a16:creationId xmlns:a16="http://schemas.microsoft.com/office/drawing/2014/main" id="{BDF93428-4D99-466D-AD3A-9038866D4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488" y="4551363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60430" name="Line 57">
            <a:extLst>
              <a:ext uri="{FF2B5EF4-FFF2-40B4-BE49-F238E27FC236}">
                <a16:creationId xmlns:a16="http://schemas.microsoft.com/office/drawing/2014/main" id="{65A246D6-B308-4678-841D-46E2223D11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1524000"/>
            <a:ext cx="381000" cy="304800"/>
          </a:xfrm>
          <a:prstGeom prst="line">
            <a:avLst/>
          </a:prstGeom>
          <a:noFill/>
          <a:ln w="2857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graphicFrame>
        <p:nvGraphicFramePr>
          <p:cNvPr id="48250" name="Group 122">
            <a:extLst>
              <a:ext uri="{FF2B5EF4-FFF2-40B4-BE49-F238E27FC236}">
                <a16:creationId xmlns:a16="http://schemas.microsoft.com/office/drawing/2014/main" id="{02947B67-7CF6-448D-AE37-F50886C1EE97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1447800"/>
          <a:ext cx="4191000" cy="3084576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23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Productions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Attribution Rules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List.a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.a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.a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Bit.val 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.b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Bit.val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0432" name="Rectangle 58">
            <a:extLst>
              <a:ext uri="{FF2B5EF4-FFF2-40B4-BE49-F238E27FC236}">
                <a16:creationId xmlns:a16="http://schemas.microsoft.com/office/drawing/2014/main" id="{65521B4E-B1F3-49A0-B094-C68D0382A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1828800"/>
            <a:ext cx="1371600" cy="304800"/>
          </a:xfrm>
          <a:prstGeom prst="rect">
            <a:avLst/>
          </a:prstGeom>
          <a:noFill/>
          <a:ln w="28575">
            <a:solidFill>
              <a:srgbClr val="FF006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1" name="Rectangle 29">
            <a:extLst>
              <a:ext uri="{FF2B5EF4-FFF2-40B4-BE49-F238E27FC236}">
                <a16:creationId xmlns:a16="http://schemas.microsoft.com/office/drawing/2014/main" id="{914205C7-262E-41EC-B654-14E1AA8C5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447800"/>
            <a:ext cx="4038600" cy="3962400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62466" name="Footer Placeholder 3">
            <a:extLst>
              <a:ext uri="{FF2B5EF4-FFF2-40B4-BE49-F238E27FC236}">
                <a16:creationId xmlns:a16="http://schemas.microsoft.com/office/drawing/2014/main" id="{B3ACBEF0-B4BA-4809-8516-DD82E3FE22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2467" name="Slide Number Placeholder 4">
            <a:extLst>
              <a:ext uri="{FF2B5EF4-FFF2-40B4-BE49-F238E27FC236}">
                <a16:creationId xmlns:a16="http://schemas.microsoft.com/office/drawing/2014/main" id="{7999B60F-4EB7-4078-84A9-46A51B4A27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F6CE5C4-ED48-444B-A905-1813D44A3355}" type="slidenum">
              <a:rPr lang="en-US" altLang="it-IT"/>
              <a:pPr/>
              <a:t>23</a:t>
            </a:fld>
            <a:endParaRPr lang="en-US" altLang="it-IT"/>
          </a:p>
        </p:txBody>
      </p:sp>
      <p:sp>
        <p:nvSpPr>
          <p:cNvPr id="62468" name="Rectangle 2">
            <a:extLst>
              <a:ext uri="{FF2B5EF4-FFF2-40B4-BE49-F238E27FC236}">
                <a16:creationId xmlns:a16="http://schemas.microsoft.com/office/drawing/2014/main" id="{E86B9EBE-B457-4429-B3B3-9C19294056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Circular Grammar Example</a:t>
            </a:r>
          </a:p>
        </p:txBody>
      </p:sp>
      <p:grpSp>
        <p:nvGrpSpPr>
          <p:cNvPr id="62469" name="Group 3">
            <a:extLst>
              <a:ext uri="{FF2B5EF4-FFF2-40B4-BE49-F238E27FC236}">
                <a16:creationId xmlns:a16="http://schemas.microsoft.com/office/drawing/2014/main" id="{512D6346-8CAC-48E9-8542-4A3EBA0A5E74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1524000"/>
            <a:ext cx="3149600" cy="3546475"/>
            <a:chOff x="577" y="960"/>
            <a:chExt cx="1984" cy="2234"/>
          </a:xfrm>
        </p:grpSpPr>
        <p:sp>
          <p:nvSpPr>
            <p:cNvPr id="62487" name="Line 4">
              <a:extLst>
                <a:ext uri="{FF2B5EF4-FFF2-40B4-BE49-F238E27FC236}">
                  <a16:creationId xmlns:a16="http://schemas.microsoft.com/office/drawing/2014/main" id="{38C5CB61-BFF7-4DC9-8F49-03199B9540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2164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2488" name="Oval 5">
              <a:extLst>
                <a:ext uri="{FF2B5EF4-FFF2-40B4-BE49-F238E27FC236}">
                  <a16:creationId xmlns:a16="http://schemas.microsoft.com/office/drawing/2014/main" id="{C64618A1-804B-41BB-944F-027CE7B23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960"/>
              <a:ext cx="432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Number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2489" name="Line 6">
              <a:extLst>
                <a:ext uri="{FF2B5EF4-FFF2-40B4-BE49-F238E27FC236}">
                  <a16:creationId xmlns:a16="http://schemas.microsoft.com/office/drawing/2014/main" id="{262E0D21-F628-4C6C-8114-668EA16070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1" y="1243"/>
              <a:ext cx="148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2490" name="Line 7">
              <a:extLst>
                <a:ext uri="{FF2B5EF4-FFF2-40B4-BE49-F238E27FC236}">
                  <a16:creationId xmlns:a16="http://schemas.microsoft.com/office/drawing/2014/main" id="{5E1C5CC7-54CA-4111-A518-03C5FD8C44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1242"/>
              <a:ext cx="90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2491" name="Oval 8">
              <a:extLst>
                <a:ext uri="{FF2B5EF4-FFF2-40B4-BE49-F238E27FC236}">
                  <a16:creationId xmlns:a16="http://schemas.microsoft.com/office/drawing/2014/main" id="{03E22B17-72BE-4C31-8F3D-ADBA8A3A0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1435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Sign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2492" name="Line 9">
              <a:extLst>
                <a:ext uri="{FF2B5EF4-FFF2-40B4-BE49-F238E27FC236}">
                  <a16:creationId xmlns:a16="http://schemas.microsoft.com/office/drawing/2014/main" id="{E64B5FB3-0DAA-45E0-A30A-8B5F52EF63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725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2493" name="Oval 10">
              <a:extLst>
                <a:ext uri="{FF2B5EF4-FFF2-40B4-BE49-F238E27FC236}">
                  <a16:creationId xmlns:a16="http://schemas.microsoft.com/office/drawing/2014/main" id="{2844A23A-E823-4366-B906-C4C2F3312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44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62494" name="Oval 11">
              <a:extLst>
                <a:ext uri="{FF2B5EF4-FFF2-40B4-BE49-F238E27FC236}">
                  <a16:creationId xmlns:a16="http://schemas.microsoft.com/office/drawing/2014/main" id="{92DEA927-D0B0-4844-9713-620B01DA2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3" y="1867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2495" name="Oval 12">
              <a:extLst>
                <a:ext uri="{FF2B5EF4-FFF2-40B4-BE49-F238E27FC236}">
                  <a16:creationId xmlns:a16="http://schemas.microsoft.com/office/drawing/2014/main" id="{4C1D28CA-7D00-4DB7-BB0D-7E8E4B058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62496" name="Line 13">
              <a:extLst>
                <a:ext uri="{FF2B5EF4-FFF2-40B4-BE49-F238E27FC236}">
                  <a16:creationId xmlns:a16="http://schemas.microsoft.com/office/drawing/2014/main" id="{BFF9257F-346B-4103-B12B-3A7C2F13A3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7" y="1697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2497" name="Line 14">
              <a:extLst>
                <a:ext uri="{FF2B5EF4-FFF2-40B4-BE49-F238E27FC236}">
                  <a16:creationId xmlns:a16="http://schemas.microsoft.com/office/drawing/2014/main" id="{72019334-A654-4709-BA4B-297FA90AE2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3" y="1704"/>
              <a:ext cx="438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2498" name="Oval 15">
              <a:extLst>
                <a:ext uri="{FF2B5EF4-FFF2-40B4-BE49-F238E27FC236}">
                  <a16:creationId xmlns:a16="http://schemas.microsoft.com/office/drawing/2014/main" id="{CF90F230-DF30-4C2C-B3AE-457EF4CBE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3" y="2303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2499" name="Line 16">
              <a:extLst>
                <a:ext uri="{FF2B5EF4-FFF2-40B4-BE49-F238E27FC236}">
                  <a16:creationId xmlns:a16="http://schemas.microsoft.com/office/drawing/2014/main" id="{82061638-C244-4CBD-8FFC-059FFC88D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6" y="2600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2500" name="Oval 17">
              <a:extLst>
                <a:ext uri="{FF2B5EF4-FFF2-40B4-BE49-F238E27FC236}">
                  <a16:creationId xmlns:a16="http://schemas.microsoft.com/office/drawing/2014/main" id="{964C7F8B-BEDE-4DFE-A780-68C6E1EF5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304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62501" name="Line 18">
              <a:extLst>
                <a:ext uri="{FF2B5EF4-FFF2-40B4-BE49-F238E27FC236}">
                  <a16:creationId xmlns:a16="http://schemas.microsoft.com/office/drawing/2014/main" id="{C0E8F816-EA16-4D7D-A533-5250FE5F9F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7" y="2133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2502" name="Line 19">
              <a:extLst>
                <a:ext uri="{FF2B5EF4-FFF2-40B4-BE49-F238E27FC236}">
                  <a16:creationId xmlns:a16="http://schemas.microsoft.com/office/drawing/2014/main" id="{CBD7CE71-8163-4E0F-B183-AF3D9B6BC7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140"/>
              <a:ext cx="38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2503" name="Oval 20">
              <a:extLst>
                <a:ext uri="{FF2B5EF4-FFF2-40B4-BE49-F238E27FC236}">
                  <a16:creationId xmlns:a16="http://schemas.microsoft.com/office/drawing/2014/main" id="{9F7B1226-DA58-4AA2-B831-D20DEE40D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74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2504" name="Line 21">
              <a:extLst>
                <a:ext uri="{FF2B5EF4-FFF2-40B4-BE49-F238E27FC236}">
                  <a16:creationId xmlns:a16="http://schemas.microsoft.com/office/drawing/2014/main" id="{C51C79C3-BA00-4DC6-8C71-108F0BF475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" y="3039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2505" name="Line 22">
              <a:extLst>
                <a:ext uri="{FF2B5EF4-FFF2-40B4-BE49-F238E27FC236}">
                  <a16:creationId xmlns:a16="http://schemas.microsoft.com/office/drawing/2014/main" id="{66A5F28E-3C86-4597-85D5-5516A3F090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593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grpSp>
        <p:nvGrpSpPr>
          <p:cNvPr id="62470" name="Group 23">
            <a:extLst>
              <a:ext uri="{FF2B5EF4-FFF2-40B4-BE49-F238E27FC236}">
                <a16:creationId xmlns:a16="http://schemas.microsoft.com/office/drawing/2014/main" id="{C012B2E3-ABB5-454C-8CD7-A22E3324373C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976563"/>
            <a:ext cx="3113088" cy="2417762"/>
            <a:chOff x="576" y="1875"/>
            <a:chExt cx="1961" cy="1523"/>
          </a:xfrm>
        </p:grpSpPr>
        <p:sp>
          <p:nvSpPr>
            <p:cNvPr id="62483" name="Text Box 24">
              <a:extLst>
                <a:ext uri="{FF2B5EF4-FFF2-40B4-BE49-F238E27FC236}">
                  <a16:creationId xmlns:a16="http://schemas.microsoft.com/office/drawing/2014/main" id="{FD75CC00-9767-4D8A-BD90-B481DAD9F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75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–</a:t>
              </a:r>
            </a:p>
          </p:txBody>
        </p:sp>
        <p:sp>
          <p:nvSpPr>
            <p:cNvPr id="62484" name="Text Box 25">
              <a:extLst>
                <a:ext uri="{FF2B5EF4-FFF2-40B4-BE49-F238E27FC236}">
                  <a16:creationId xmlns:a16="http://schemas.microsoft.com/office/drawing/2014/main" id="{20E1EF5B-4073-4FDF-8144-7F48ABDDB6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7" y="2301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2485" name="Text Box 26">
              <a:extLst>
                <a:ext uri="{FF2B5EF4-FFF2-40B4-BE49-F238E27FC236}">
                  <a16:creationId xmlns:a16="http://schemas.microsoft.com/office/drawing/2014/main" id="{18B2DD2E-AC12-46D7-A5B9-722BC5CA5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" y="2786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0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2486" name="Text Box 27">
              <a:extLst>
                <a:ext uri="{FF2B5EF4-FFF2-40B4-BE49-F238E27FC236}">
                  <a16:creationId xmlns:a16="http://schemas.microsoft.com/office/drawing/2014/main" id="{15E05CFC-5393-420A-BC64-D19D2159C5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3225"/>
              <a:ext cx="17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62472" name="Text Box 30">
            <a:extLst>
              <a:ext uri="{FF2B5EF4-FFF2-40B4-BE49-F238E27FC236}">
                <a16:creationId xmlns:a16="http://schemas.microsoft.com/office/drawing/2014/main" id="{97FB6C9C-AD13-4343-A980-3CBDD8B6A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054600"/>
            <a:ext cx="1371600" cy="355600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>
                <a:solidFill>
                  <a:srgbClr val="FF0065"/>
                </a:solidFill>
                <a:latin typeface="Arial Rounded MT Bold" charset="0"/>
                <a:ea typeface="ヒラギノ角ゴ Pro W3" charset="-128"/>
                <a:cs typeface="ヒラギノ角ゴ Pro W3" charset="-128"/>
              </a:rPr>
              <a:t>For “–101”</a:t>
            </a:r>
          </a:p>
        </p:txBody>
      </p:sp>
      <p:sp>
        <p:nvSpPr>
          <p:cNvPr id="2" name="Text Box 31">
            <a:extLst>
              <a:ext uri="{FF2B5EF4-FFF2-40B4-BE49-F238E27FC236}">
                <a16:creationId xmlns:a16="http://schemas.microsoft.com/office/drawing/2014/main" id="{60E7A15D-48F4-4D11-B77F-E7D4E449F2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752600"/>
            <a:ext cx="6096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 </a:t>
            </a:r>
            <a:r>
              <a:rPr lang="en-US" altLang="it-IT" sz="1400">
                <a:solidFill>
                  <a:srgbClr val="B025A6"/>
                </a:solidFill>
              </a:rPr>
              <a:t>0</a:t>
            </a:r>
            <a:endParaRPr lang="en-US" altLang="it-IT" sz="1400"/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62473" name="Text Box 32">
            <a:extLst>
              <a:ext uri="{FF2B5EF4-FFF2-40B4-BE49-F238E27FC236}">
                <a16:creationId xmlns:a16="http://schemas.microsoft.com/office/drawing/2014/main" id="{D64B6BEA-25EA-43CD-B119-E80785E59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365375"/>
            <a:ext cx="4572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</a:t>
            </a:r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62474" name="Text Box 33">
            <a:extLst>
              <a:ext uri="{FF2B5EF4-FFF2-40B4-BE49-F238E27FC236}">
                <a16:creationId xmlns:a16="http://schemas.microsoft.com/office/drawing/2014/main" id="{5B681DDE-A624-4737-8895-593837F1E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8775" y="3008313"/>
            <a:ext cx="4572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</a:t>
            </a:r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62475" name="Text Box 34">
            <a:extLst>
              <a:ext uri="{FF2B5EF4-FFF2-40B4-BE49-F238E27FC236}">
                <a16:creationId xmlns:a16="http://schemas.microsoft.com/office/drawing/2014/main" id="{446FCDA6-B95A-418C-8214-3E68DAC7B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3851275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62476" name="Text Box 35">
            <a:extLst>
              <a:ext uri="{FF2B5EF4-FFF2-40B4-BE49-F238E27FC236}">
                <a16:creationId xmlns:a16="http://schemas.microsoft.com/office/drawing/2014/main" id="{30E27569-CE5B-4702-970B-C5DB57442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124200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62477" name="Text Box 36">
            <a:extLst>
              <a:ext uri="{FF2B5EF4-FFF2-40B4-BE49-F238E27FC236}">
                <a16:creationId xmlns:a16="http://schemas.microsoft.com/office/drawing/2014/main" id="{AAC48D08-31A5-4A2F-A277-B07C6324A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488" y="4551363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62478" name="Line 57">
            <a:extLst>
              <a:ext uri="{FF2B5EF4-FFF2-40B4-BE49-F238E27FC236}">
                <a16:creationId xmlns:a16="http://schemas.microsoft.com/office/drawing/2014/main" id="{9BF98FD2-8363-415E-9B38-0B5B8726948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1524000"/>
            <a:ext cx="381000" cy="3048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2479" name="Line 58">
            <a:extLst>
              <a:ext uri="{FF2B5EF4-FFF2-40B4-BE49-F238E27FC236}">
                <a16:creationId xmlns:a16="http://schemas.microsoft.com/office/drawing/2014/main" id="{67289D8F-17BF-4F69-9470-8EC1D17793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1981200"/>
            <a:ext cx="762000" cy="457200"/>
          </a:xfrm>
          <a:prstGeom prst="line">
            <a:avLst/>
          </a:prstGeom>
          <a:noFill/>
          <a:ln w="2857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2480" name="Line 59">
            <a:extLst>
              <a:ext uri="{FF2B5EF4-FFF2-40B4-BE49-F238E27FC236}">
                <a16:creationId xmlns:a16="http://schemas.microsoft.com/office/drawing/2014/main" id="{1CA2F970-1A9B-44DF-AA90-72C356445C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05000" y="2590800"/>
            <a:ext cx="762000" cy="457200"/>
          </a:xfrm>
          <a:prstGeom prst="line">
            <a:avLst/>
          </a:prstGeom>
          <a:noFill/>
          <a:ln w="2857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graphicFrame>
        <p:nvGraphicFramePr>
          <p:cNvPr id="50237" name="Group 61">
            <a:extLst>
              <a:ext uri="{FF2B5EF4-FFF2-40B4-BE49-F238E27FC236}">
                <a16:creationId xmlns:a16="http://schemas.microsoft.com/office/drawing/2014/main" id="{15781F3B-3F25-405D-A3CB-3B44C9756D7F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1447800"/>
          <a:ext cx="4191000" cy="3084576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23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Productions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Attribution Rules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List.a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.a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.a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Bit.val 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.b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.a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+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Bit.val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2482" name="Rectangle 60">
            <a:extLst>
              <a:ext uri="{FF2B5EF4-FFF2-40B4-BE49-F238E27FC236}">
                <a16:creationId xmlns:a16="http://schemas.microsoft.com/office/drawing/2014/main" id="{70BD981E-2114-49BD-A8E3-1E7D05785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133600"/>
            <a:ext cx="2133600" cy="304800"/>
          </a:xfrm>
          <a:prstGeom prst="rect">
            <a:avLst/>
          </a:prstGeom>
          <a:noFill/>
          <a:ln w="28575">
            <a:solidFill>
              <a:srgbClr val="FF006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endParaRPr lang="en-GB" altLang="it-IT"/>
          </a:p>
        </p:txBody>
      </p: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8">
            <a:extLst>
              <a:ext uri="{FF2B5EF4-FFF2-40B4-BE49-F238E27FC236}">
                <a16:creationId xmlns:a16="http://schemas.microsoft.com/office/drawing/2014/main" id="{0D3BF38D-DA41-4BED-888B-933CB7D4958E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447800"/>
            <a:ext cx="4038600" cy="3962400"/>
            <a:chOff x="384" y="912"/>
            <a:chExt cx="2544" cy="2496"/>
          </a:xfrm>
          <a:solidFill>
            <a:srgbClr val="FFFFFF"/>
          </a:solidFill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sp>
          <p:nvSpPr>
            <p:cNvPr id="64558" name="Rectangle 29">
              <a:extLst>
                <a:ext uri="{FF2B5EF4-FFF2-40B4-BE49-F238E27FC236}">
                  <a16:creationId xmlns:a16="http://schemas.microsoft.com/office/drawing/2014/main" id="{38546EE3-6655-4413-B437-1FFD83B20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912"/>
              <a:ext cx="2544" cy="2496"/>
            </a:xfrm>
            <a:prstGeom prst="rect">
              <a:avLst/>
            </a:prstGeom>
            <a:grpFill/>
            <a:ln w="19050">
              <a:solidFill>
                <a:srgbClr val="7F7F7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4559" name="Text Box 30">
              <a:extLst>
                <a:ext uri="{FF2B5EF4-FFF2-40B4-BE49-F238E27FC236}">
                  <a16:creationId xmlns:a16="http://schemas.microsoft.com/office/drawing/2014/main" id="{ED279E1C-BBCB-4017-B2A3-D547D63FC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184"/>
              <a:ext cx="864" cy="224"/>
            </a:xfrm>
            <a:prstGeom prst="rect">
              <a:avLst/>
            </a:prstGeom>
            <a:grpFill/>
            <a:ln w="19050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600">
                  <a:solidFill>
                    <a:srgbClr val="FF0065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For “–101”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</p:grpSp>
      <p:sp>
        <p:nvSpPr>
          <p:cNvPr id="64514" name="Footer Placeholder 3">
            <a:extLst>
              <a:ext uri="{FF2B5EF4-FFF2-40B4-BE49-F238E27FC236}">
                <a16:creationId xmlns:a16="http://schemas.microsoft.com/office/drawing/2014/main" id="{78CF29A7-2DA4-4736-A629-7D14A8F6A2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4515" name="Slide Number Placeholder 4">
            <a:extLst>
              <a:ext uri="{FF2B5EF4-FFF2-40B4-BE49-F238E27FC236}">
                <a16:creationId xmlns:a16="http://schemas.microsoft.com/office/drawing/2014/main" id="{63105E30-9BC7-4621-8E01-60F24E86E6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65708ED-481F-4958-8074-81387A3FFEC0}" type="slidenum">
              <a:rPr lang="en-US" altLang="it-IT"/>
              <a:pPr/>
              <a:t>24</a:t>
            </a:fld>
            <a:endParaRPr lang="en-US" altLang="it-IT"/>
          </a:p>
        </p:txBody>
      </p:sp>
      <p:sp>
        <p:nvSpPr>
          <p:cNvPr id="64516" name="Rectangle 2">
            <a:extLst>
              <a:ext uri="{FF2B5EF4-FFF2-40B4-BE49-F238E27FC236}">
                <a16:creationId xmlns:a16="http://schemas.microsoft.com/office/drawing/2014/main" id="{3C7AEAF8-4ACB-414C-B80D-027831F327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Circular Grammar Example</a:t>
            </a:r>
          </a:p>
        </p:txBody>
      </p:sp>
      <p:grpSp>
        <p:nvGrpSpPr>
          <p:cNvPr id="64517" name="Group 3">
            <a:extLst>
              <a:ext uri="{FF2B5EF4-FFF2-40B4-BE49-F238E27FC236}">
                <a16:creationId xmlns:a16="http://schemas.microsoft.com/office/drawing/2014/main" id="{F55A9160-7D09-4F1A-A07E-B0691EAADE53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1524000"/>
            <a:ext cx="3149600" cy="3546475"/>
            <a:chOff x="577" y="960"/>
            <a:chExt cx="1984" cy="2234"/>
          </a:xfrm>
        </p:grpSpPr>
        <p:sp>
          <p:nvSpPr>
            <p:cNvPr id="64536" name="Line 4">
              <a:extLst>
                <a:ext uri="{FF2B5EF4-FFF2-40B4-BE49-F238E27FC236}">
                  <a16:creationId xmlns:a16="http://schemas.microsoft.com/office/drawing/2014/main" id="{CF5A3047-1335-428D-951F-185D877919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2164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4537" name="Oval 5">
              <a:extLst>
                <a:ext uri="{FF2B5EF4-FFF2-40B4-BE49-F238E27FC236}">
                  <a16:creationId xmlns:a16="http://schemas.microsoft.com/office/drawing/2014/main" id="{47EB9B41-E9E0-4832-A0EF-956907DFB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960"/>
              <a:ext cx="432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Number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4538" name="Line 6">
              <a:extLst>
                <a:ext uri="{FF2B5EF4-FFF2-40B4-BE49-F238E27FC236}">
                  <a16:creationId xmlns:a16="http://schemas.microsoft.com/office/drawing/2014/main" id="{D42CB237-A493-4CE8-81AE-92C6334D97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1" y="1243"/>
              <a:ext cx="148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4539" name="Line 7">
              <a:extLst>
                <a:ext uri="{FF2B5EF4-FFF2-40B4-BE49-F238E27FC236}">
                  <a16:creationId xmlns:a16="http://schemas.microsoft.com/office/drawing/2014/main" id="{6D57501D-68DA-49D2-A42D-A12292AC6C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1242"/>
              <a:ext cx="90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4540" name="Oval 8">
              <a:extLst>
                <a:ext uri="{FF2B5EF4-FFF2-40B4-BE49-F238E27FC236}">
                  <a16:creationId xmlns:a16="http://schemas.microsoft.com/office/drawing/2014/main" id="{A6C0E0CF-D8EE-48EB-84F1-302922B48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1435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Sign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4541" name="Line 9">
              <a:extLst>
                <a:ext uri="{FF2B5EF4-FFF2-40B4-BE49-F238E27FC236}">
                  <a16:creationId xmlns:a16="http://schemas.microsoft.com/office/drawing/2014/main" id="{D80CE7E4-F215-4F23-A7A7-5C3C986100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725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4542" name="Oval 10">
              <a:extLst>
                <a:ext uri="{FF2B5EF4-FFF2-40B4-BE49-F238E27FC236}">
                  <a16:creationId xmlns:a16="http://schemas.microsoft.com/office/drawing/2014/main" id="{ED663861-16C0-4BDF-8247-446CFC282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44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64543" name="Oval 11">
              <a:extLst>
                <a:ext uri="{FF2B5EF4-FFF2-40B4-BE49-F238E27FC236}">
                  <a16:creationId xmlns:a16="http://schemas.microsoft.com/office/drawing/2014/main" id="{88EAFA05-36B4-4878-BE46-E04CA9B05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3" y="1867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4544" name="Oval 12">
              <a:extLst>
                <a:ext uri="{FF2B5EF4-FFF2-40B4-BE49-F238E27FC236}">
                  <a16:creationId xmlns:a16="http://schemas.microsoft.com/office/drawing/2014/main" id="{600AD0D0-0D5B-4D8E-9553-C64816A6D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64545" name="Line 13">
              <a:extLst>
                <a:ext uri="{FF2B5EF4-FFF2-40B4-BE49-F238E27FC236}">
                  <a16:creationId xmlns:a16="http://schemas.microsoft.com/office/drawing/2014/main" id="{B1D3E2FF-6F04-45A9-AF4F-0CB2E3E488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7" y="1697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4546" name="Line 14">
              <a:extLst>
                <a:ext uri="{FF2B5EF4-FFF2-40B4-BE49-F238E27FC236}">
                  <a16:creationId xmlns:a16="http://schemas.microsoft.com/office/drawing/2014/main" id="{C4F9C142-27AC-4179-BBE0-C6FD0C91A5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3" y="1704"/>
              <a:ext cx="438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4547" name="Oval 15">
              <a:extLst>
                <a:ext uri="{FF2B5EF4-FFF2-40B4-BE49-F238E27FC236}">
                  <a16:creationId xmlns:a16="http://schemas.microsoft.com/office/drawing/2014/main" id="{09D1FDE8-16A4-42DC-8954-30E5D3DCB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3" y="2303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4548" name="Line 16">
              <a:extLst>
                <a:ext uri="{FF2B5EF4-FFF2-40B4-BE49-F238E27FC236}">
                  <a16:creationId xmlns:a16="http://schemas.microsoft.com/office/drawing/2014/main" id="{1F193C72-AE49-4969-A6AF-17499DD8E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6" y="2600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4549" name="Oval 17">
              <a:extLst>
                <a:ext uri="{FF2B5EF4-FFF2-40B4-BE49-F238E27FC236}">
                  <a16:creationId xmlns:a16="http://schemas.microsoft.com/office/drawing/2014/main" id="{5B08EA60-DA49-41FA-B7E1-B1B638507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304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64550" name="Line 18">
              <a:extLst>
                <a:ext uri="{FF2B5EF4-FFF2-40B4-BE49-F238E27FC236}">
                  <a16:creationId xmlns:a16="http://schemas.microsoft.com/office/drawing/2014/main" id="{45663C51-A49E-4A8A-9AC8-A53078AF3F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7" y="2133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4551" name="Line 19">
              <a:extLst>
                <a:ext uri="{FF2B5EF4-FFF2-40B4-BE49-F238E27FC236}">
                  <a16:creationId xmlns:a16="http://schemas.microsoft.com/office/drawing/2014/main" id="{B69E4147-02E9-42D2-BD0A-8FA811C648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140"/>
              <a:ext cx="38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4552" name="Oval 20">
              <a:extLst>
                <a:ext uri="{FF2B5EF4-FFF2-40B4-BE49-F238E27FC236}">
                  <a16:creationId xmlns:a16="http://schemas.microsoft.com/office/drawing/2014/main" id="{0A3B79D1-0DDF-420B-9752-A9170B66D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74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4553" name="Line 21">
              <a:extLst>
                <a:ext uri="{FF2B5EF4-FFF2-40B4-BE49-F238E27FC236}">
                  <a16:creationId xmlns:a16="http://schemas.microsoft.com/office/drawing/2014/main" id="{399AADA5-FC6F-4FA4-916F-29006EF562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" y="3039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4554" name="Line 22">
              <a:extLst>
                <a:ext uri="{FF2B5EF4-FFF2-40B4-BE49-F238E27FC236}">
                  <a16:creationId xmlns:a16="http://schemas.microsoft.com/office/drawing/2014/main" id="{FDE4DC52-A07F-46D1-9E02-327AD5B5AF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593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grpSp>
        <p:nvGrpSpPr>
          <p:cNvPr id="64518" name="Group 23">
            <a:extLst>
              <a:ext uri="{FF2B5EF4-FFF2-40B4-BE49-F238E27FC236}">
                <a16:creationId xmlns:a16="http://schemas.microsoft.com/office/drawing/2014/main" id="{E3BE227A-3696-43D9-8CFF-9C51A3944590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976563"/>
            <a:ext cx="3113088" cy="2417762"/>
            <a:chOff x="576" y="1875"/>
            <a:chExt cx="1961" cy="1523"/>
          </a:xfrm>
        </p:grpSpPr>
        <p:sp>
          <p:nvSpPr>
            <p:cNvPr id="64532" name="Text Box 24">
              <a:extLst>
                <a:ext uri="{FF2B5EF4-FFF2-40B4-BE49-F238E27FC236}">
                  <a16:creationId xmlns:a16="http://schemas.microsoft.com/office/drawing/2014/main" id="{2F17C813-CAB2-4482-A9FA-6CC5068FA2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75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–</a:t>
              </a:r>
            </a:p>
          </p:txBody>
        </p:sp>
        <p:sp>
          <p:nvSpPr>
            <p:cNvPr id="64533" name="Text Box 25">
              <a:extLst>
                <a:ext uri="{FF2B5EF4-FFF2-40B4-BE49-F238E27FC236}">
                  <a16:creationId xmlns:a16="http://schemas.microsoft.com/office/drawing/2014/main" id="{6271CBF1-4515-4E49-A8D3-D7251FFF55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7" y="2301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4534" name="Text Box 26">
              <a:extLst>
                <a:ext uri="{FF2B5EF4-FFF2-40B4-BE49-F238E27FC236}">
                  <a16:creationId xmlns:a16="http://schemas.microsoft.com/office/drawing/2014/main" id="{579272A8-190C-45B1-A1B2-618023581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" y="2786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0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4535" name="Text Box 27">
              <a:extLst>
                <a:ext uri="{FF2B5EF4-FFF2-40B4-BE49-F238E27FC236}">
                  <a16:creationId xmlns:a16="http://schemas.microsoft.com/office/drawing/2014/main" id="{716C9BDD-F5CC-40C4-9673-EE71FE211E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3225"/>
              <a:ext cx="17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64519" name="Text Box 31">
            <a:extLst>
              <a:ext uri="{FF2B5EF4-FFF2-40B4-BE49-F238E27FC236}">
                <a16:creationId xmlns:a16="http://schemas.microsoft.com/office/drawing/2014/main" id="{2CB7640F-F582-4AC7-BF9F-4A3826431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752600"/>
            <a:ext cx="6096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 </a:t>
            </a:r>
            <a:r>
              <a:rPr lang="en-US" altLang="it-IT" sz="1400">
                <a:solidFill>
                  <a:srgbClr val="B025A6"/>
                </a:solidFill>
              </a:rPr>
              <a:t>0</a:t>
            </a:r>
            <a:endParaRPr lang="en-US" altLang="it-IT" sz="1400"/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64520" name="Text Box 32">
            <a:extLst>
              <a:ext uri="{FF2B5EF4-FFF2-40B4-BE49-F238E27FC236}">
                <a16:creationId xmlns:a16="http://schemas.microsoft.com/office/drawing/2014/main" id="{426B812C-85FF-488E-9503-DEA8AFE7E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365375"/>
            <a:ext cx="4572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</a:t>
            </a:r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64521" name="Text Box 33">
            <a:extLst>
              <a:ext uri="{FF2B5EF4-FFF2-40B4-BE49-F238E27FC236}">
                <a16:creationId xmlns:a16="http://schemas.microsoft.com/office/drawing/2014/main" id="{F574796B-5AB8-4325-8C0F-980994336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8775" y="3008313"/>
            <a:ext cx="4572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</a:t>
            </a:r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64522" name="Text Box 34">
            <a:extLst>
              <a:ext uri="{FF2B5EF4-FFF2-40B4-BE49-F238E27FC236}">
                <a16:creationId xmlns:a16="http://schemas.microsoft.com/office/drawing/2014/main" id="{0EC65105-D978-4227-8216-B3D688C75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3851275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64523" name="Text Box 35">
            <a:extLst>
              <a:ext uri="{FF2B5EF4-FFF2-40B4-BE49-F238E27FC236}">
                <a16:creationId xmlns:a16="http://schemas.microsoft.com/office/drawing/2014/main" id="{5429A427-E07B-4A2C-A7F1-EEFD76950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124200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64524" name="Text Box 36">
            <a:extLst>
              <a:ext uri="{FF2B5EF4-FFF2-40B4-BE49-F238E27FC236}">
                <a16:creationId xmlns:a16="http://schemas.microsoft.com/office/drawing/2014/main" id="{B6D2FBAA-BD72-4BF8-AFE7-E4332D463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488" y="4551363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64525" name="Line 57">
            <a:extLst>
              <a:ext uri="{FF2B5EF4-FFF2-40B4-BE49-F238E27FC236}">
                <a16:creationId xmlns:a16="http://schemas.microsoft.com/office/drawing/2014/main" id="{5DF544D7-10F3-419C-B1D6-2FBB571D2C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1524000"/>
            <a:ext cx="381000" cy="3048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4526" name="Freeform 58">
            <a:extLst>
              <a:ext uri="{FF2B5EF4-FFF2-40B4-BE49-F238E27FC236}">
                <a16:creationId xmlns:a16="http://schemas.microsoft.com/office/drawing/2014/main" id="{9CA6C875-827E-473F-AC30-98A83485968F}"/>
              </a:ext>
            </a:extLst>
          </p:cNvPr>
          <p:cNvSpPr>
            <a:spLocks/>
          </p:cNvSpPr>
          <p:nvPr/>
        </p:nvSpPr>
        <p:spPr bwMode="auto">
          <a:xfrm>
            <a:off x="2298700" y="1968500"/>
            <a:ext cx="1282700" cy="774700"/>
          </a:xfrm>
          <a:custGeom>
            <a:avLst/>
            <a:gdLst>
              <a:gd name="T0" fmla="*/ 2147483647 w 808"/>
              <a:gd name="T1" fmla="*/ 2147483647 h 488"/>
              <a:gd name="T2" fmla="*/ 2147483647 w 808"/>
              <a:gd name="T3" fmla="*/ 2147483647 h 488"/>
              <a:gd name="T4" fmla="*/ 2147483647 w 808"/>
              <a:gd name="T5" fmla="*/ 2147483647 h 488"/>
              <a:gd name="T6" fmla="*/ 2147483647 w 808"/>
              <a:gd name="T7" fmla="*/ 2147483647 h 488"/>
              <a:gd name="T8" fmla="*/ 0 60000 65536"/>
              <a:gd name="T9" fmla="*/ 0 60000 65536"/>
              <a:gd name="T10" fmla="*/ 0 60000 65536"/>
              <a:gd name="T11" fmla="*/ 0 60000 65536"/>
              <a:gd name="T12" fmla="*/ 0 w 808"/>
              <a:gd name="T13" fmla="*/ 0 h 488"/>
              <a:gd name="T14" fmla="*/ 808 w 808"/>
              <a:gd name="T15" fmla="*/ 488 h 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08" h="488">
                <a:moveTo>
                  <a:pt x="232" y="488"/>
                </a:moveTo>
                <a:cubicBezTo>
                  <a:pt x="116" y="360"/>
                  <a:pt x="0" y="232"/>
                  <a:pt x="40" y="152"/>
                </a:cubicBezTo>
                <a:cubicBezTo>
                  <a:pt x="80" y="72"/>
                  <a:pt x="344" y="16"/>
                  <a:pt x="472" y="8"/>
                </a:cubicBezTo>
                <a:cubicBezTo>
                  <a:pt x="600" y="0"/>
                  <a:pt x="704" y="52"/>
                  <a:pt x="808" y="104"/>
                </a:cubicBezTo>
              </a:path>
            </a:pathLst>
          </a:custGeom>
          <a:noFill/>
          <a:ln w="2857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64527" name="Freeform 59">
            <a:extLst>
              <a:ext uri="{FF2B5EF4-FFF2-40B4-BE49-F238E27FC236}">
                <a16:creationId xmlns:a16="http://schemas.microsoft.com/office/drawing/2014/main" id="{28C3CBCF-BE60-4EFC-9096-ECAB3A3201F1}"/>
              </a:ext>
            </a:extLst>
          </p:cNvPr>
          <p:cNvSpPr>
            <a:spLocks/>
          </p:cNvSpPr>
          <p:nvPr/>
        </p:nvSpPr>
        <p:spPr bwMode="auto">
          <a:xfrm>
            <a:off x="1295400" y="2625725"/>
            <a:ext cx="1282700" cy="774700"/>
          </a:xfrm>
          <a:custGeom>
            <a:avLst/>
            <a:gdLst>
              <a:gd name="T0" fmla="*/ 2147483647 w 808"/>
              <a:gd name="T1" fmla="*/ 2147483647 h 488"/>
              <a:gd name="T2" fmla="*/ 2147483647 w 808"/>
              <a:gd name="T3" fmla="*/ 2147483647 h 488"/>
              <a:gd name="T4" fmla="*/ 2147483647 w 808"/>
              <a:gd name="T5" fmla="*/ 2147483647 h 488"/>
              <a:gd name="T6" fmla="*/ 2147483647 w 808"/>
              <a:gd name="T7" fmla="*/ 2147483647 h 488"/>
              <a:gd name="T8" fmla="*/ 0 60000 65536"/>
              <a:gd name="T9" fmla="*/ 0 60000 65536"/>
              <a:gd name="T10" fmla="*/ 0 60000 65536"/>
              <a:gd name="T11" fmla="*/ 0 60000 65536"/>
              <a:gd name="T12" fmla="*/ 0 w 808"/>
              <a:gd name="T13" fmla="*/ 0 h 488"/>
              <a:gd name="T14" fmla="*/ 808 w 808"/>
              <a:gd name="T15" fmla="*/ 488 h 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08" h="488">
                <a:moveTo>
                  <a:pt x="232" y="488"/>
                </a:moveTo>
                <a:cubicBezTo>
                  <a:pt x="116" y="360"/>
                  <a:pt x="0" y="232"/>
                  <a:pt x="40" y="152"/>
                </a:cubicBezTo>
                <a:cubicBezTo>
                  <a:pt x="80" y="72"/>
                  <a:pt x="344" y="16"/>
                  <a:pt x="472" y="8"/>
                </a:cubicBezTo>
                <a:cubicBezTo>
                  <a:pt x="600" y="0"/>
                  <a:pt x="704" y="52"/>
                  <a:pt x="808" y="104"/>
                </a:cubicBezTo>
              </a:path>
            </a:pathLst>
          </a:custGeom>
          <a:noFill/>
          <a:ln w="2857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64528" name="Line 60">
            <a:extLst>
              <a:ext uri="{FF2B5EF4-FFF2-40B4-BE49-F238E27FC236}">
                <a16:creationId xmlns:a16="http://schemas.microsoft.com/office/drawing/2014/main" id="{C426B4AB-6BCC-4495-8D22-7F3DD1F8EB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1981200"/>
            <a:ext cx="762000" cy="4572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4529" name="Line 61">
            <a:extLst>
              <a:ext uri="{FF2B5EF4-FFF2-40B4-BE49-F238E27FC236}">
                <a16:creationId xmlns:a16="http://schemas.microsoft.com/office/drawing/2014/main" id="{F7C98F03-DAB7-4140-AF77-BC86E96325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76425" y="2605088"/>
            <a:ext cx="762000" cy="4572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graphicFrame>
        <p:nvGraphicFramePr>
          <p:cNvPr id="52325" name="Group 101">
            <a:extLst>
              <a:ext uri="{FF2B5EF4-FFF2-40B4-BE49-F238E27FC236}">
                <a16:creationId xmlns:a16="http://schemas.microsoft.com/office/drawing/2014/main" id="{18D6D68E-B51E-42D5-BB78-420F23D229D9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1447800"/>
          <a:ext cx="4191000" cy="3084576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23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Productions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Attribution Rules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List.a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.a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.a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Bit.val 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.b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.a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+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Bit.val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4531" name="Rectangle 62">
            <a:extLst>
              <a:ext uri="{FF2B5EF4-FFF2-40B4-BE49-F238E27FC236}">
                <a16:creationId xmlns:a16="http://schemas.microsoft.com/office/drawing/2014/main" id="{2376017C-84AA-42E4-A84E-9F0E1E462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913" y="2438400"/>
            <a:ext cx="1843087" cy="304800"/>
          </a:xfrm>
          <a:prstGeom prst="rect">
            <a:avLst/>
          </a:prstGeom>
          <a:noFill/>
          <a:ln w="28575">
            <a:solidFill>
              <a:srgbClr val="FF006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endParaRPr lang="en-GB" altLang="it-IT"/>
          </a:p>
        </p:txBody>
      </p:sp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8">
            <a:extLst>
              <a:ext uri="{FF2B5EF4-FFF2-40B4-BE49-F238E27FC236}">
                <a16:creationId xmlns:a16="http://schemas.microsoft.com/office/drawing/2014/main" id="{D88C4272-52DF-4DEE-8646-76D4DD36346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447800"/>
            <a:ext cx="4038600" cy="3962400"/>
            <a:chOff x="384" y="912"/>
            <a:chExt cx="2544" cy="2496"/>
          </a:xfrm>
          <a:solidFill>
            <a:srgbClr val="FFFFFF"/>
          </a:solidFill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sp>
          <p:nvSpPr>
            <p:cNvPr id="66610" name="Rectangle 29">
              <a:extLst>
                <a:ext uri="{FF2B5EF4-FFF2-40B4-BE49-F238E27FC236}">
                  <a16:creationId xmlns:a16="http://schemas.microsoft.com/office/drawing/2014/main" id="{941530F1-14CC-49ED-B6F7-1BE8B081D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912"/>
              <a:ext cx="2544" cy="2496"/>
            </a:xfrm>
            <a:prstGeom prst="rect">
              <a:avLst/>
            </a:prstGeom>
            <a:grpFill/>
            <a:ln w="19050">
              <a:solidFill>
                <a:srgbClr val="7F7F7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6611" name="Text Box 30">
              <a:extLst>
                <a:ext uri="{FF2B5EF4-FFF2-40B4-BE49-F238E27FC236}">
                  <a16:creationId xmlns:a16="http://schemas.microsoft.com/office/drawing/2014/main" id="{2123BFA5-AD76-4B5D-B6EB-EC99816F0A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184"/>
              <a:ext cx="864" cy="224"/>
            </a:xfrm>
            <a:prstGeom prst="rect">
              <a:avLst/>
            </a:prstGeom>
            <a:grpFill/>
            <a:ln w="19050">
              <a:solidFill>
                <a:srgbClr val="7F7F7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600">
                  <a:solidFill>
                    <a:srgbClr val="FF0000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For “–101”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</p:grpSp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1A8D55F4-25FA-4497-8002-11CC6330A1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6563" name="Slide Number Placeholder 4">
            <a:extLst>
              <a:ext uri="{FF2B5EF4-FFF2-40B4-BE49-F238E27FC236}">
                <a16:creationId xmlns:a16="http://schemas.microsoft.com/office/drawing/2014/main" id="{EF95B128-E980-4EA9-8332-88B1AEC6B3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CFC9359-B798-4CB3-9585-FF94BA98F423}" type="slidenum">
              <a:rPr lang="en-US" altLang="it-IT"/>
              <a:pPr/>
              <a:t>25</a:t>
            </a:fld>
            <a:endParaRPr lang="en-US" altLang="it-IT"/>
          </a:p>
        </p:txBody>
      </p:sp>
      <p:sp>
        <p:nvSpPr>
          <p:cNvPr id="66564" name="Rectangle 2">
            <a:extLst>
              <a:ext uri="{FF2B5EF4-FFF2-40B4-BE49-F238E27FC236}">
                <a16:creationId xmlns:a16="http://schemas.microsoft.com/office/drawing/2014/main" id="{A11EB6B4-3327-41C6-BD72-8F5BA80327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Circular Grammar Example</a:t>
            </a:r>
          </a:p>
        </p:txBody>
      </p:sp>
      <p:grpSp>
        <p:nvGrpSpPr>
          <p:cNvPr id="66565" name="Group 3">
            <a:extLst>
              <a:ext uri="{FF2B5EF4-FFF2-40B4-BE49-F238E27FC236}">
                <a16:creationId xmlns:a16="http://schemas.microsoft.com/office/drawing/2014/main" id="{12C5B0F8-AE33-432E-960D-F51BEDDAA81D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1524000"/>
            <a:ext cx="3149600" cy="3546475"/>
            <a:chOff x="577" y="960"/>
            <a:chExt cx="1984" cy="2234"/>
          </a:xfrm>
        </p:grpSpPr>
        <p:sp>
          <p:nvSpPr>
            <p:cNvPr id="66588" name="Line 4">
              <a:extLst>
                <a:ext uri="{FF2B5EF4-FFF2-40B4-BE49-F238E27FC236}">
                  <a16:creationId xmlns:a16="http://schemas.microsoft.com/office/drawing/2014/main" id="{EE9D8DC0-51CF-4DE2-AE28-7D4D09A4A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2164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6589" name="Oval 5">
              <a:extLst>
                <a:ext uri="{FF2B5EF4-FFF2-40B4-BE49-F238E27FC236}">
                  <a16:creationId xmlns:a16="http://schemas.microsoft.com/office/drawing/2014/main" id="{A1784249-71A1-44EA-8305-D3454DE5C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960"/>
              <a:ext cx="432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Number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6590" name="Line 6">
              <a:extLst>
                <a:ext uri="{FF2B5EF4-FFF2-40B4-BE49-F238E27FC236}">
                  <a16:creationId xmlns:a16="http://schemas.microsoft.com/office/drawing/2014/main" id="{1BCEE852-3BBA-4B39-952B-70AF6863AF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1" y="1243"/>
              <a:ext cx="148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6591" name="Line 7">
              <a:extLst>
                <a:ext uri="{FF2B5EF4-FFF2-40B4-BE49-F238E27FC236}">
                  <a16:creationId xmlns:a16="http://schemas.microsoft.com/office/drawing/2014/main" id="{482BEBC6-47B2-4502-8573-DA4D39037B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1242"/>
              <a:ext cx="90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6592" name="Oval 8">
              <a:extLst>
                <a:ext uri="{FF2B5EF4-FFF2-40B4-BE49-F238E27FC236}">
                  <a16:creationId xmlns:a16="http://schemas.microsoft.com/office/drawing/2014/main" id="{EB2D3365-9153-4F60-BFEB-61D590159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1435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Sign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6593" name="Line 9">
              <a:extLst>
                <a:ext uri="{FF2B5EF4-FFF2-40B4-BE49-F238E27FC236}">
                  <a16:creationId xmlns:a16="http://schemas.microsoft.com/office/drawing/2014/main" id="{A584097F-4CAD-495F-8AD1-73B7AFDB18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725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6594" name="Oval 10">
              <a:extLst>
                <a:ext uri="{FF2B5EF4-FFF2-40B4-BE49-F238E27FC236}">
                  <a16:creationId xmlns:a16="http://schemas.microsoft.com/office/drawing/2014/main" id="{4541D8C1-A5FC-481E-A064-E2B10C02B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44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66595" name="Oval 11">
              <a:extLst>
                <a:ext uri="{FF2B5EF4-FFF2-40B4-BE49-F238E27FC236}">
                  <a16:creationId xmlns:a16="http://schemas.microsoft.com/office/drawing/2014/main" id="{B181F067-AB87-40E9-B2DD-CFD6C4A24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3" y="1867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6596" name="Oval 12">
              <a:extLst>
                <a:ext uri="{FF2B5EF4-FFF2-40B4-BE49-F238E27FC236}">
                  <a16:creationId xmlns:a16="http://schemas.microsoft.com/office/drawing/2014/main" id="{FE53B4E1-5A6A-4D5B-8CD5-278C844E5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66597" name="Line 13">
              <a:extLst>
                <a:ext uri="{FF2B5EF4-FFF2-40B4-BE49-F238E27FC236}">
                  <a16:creationId xmlns:a16="http://schemas.microsoft.com/office/drawing/2014/main" id="{8FA75572-0576-4478-A4EE-4592552663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7" y="1697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6598" name="Line 14">
              <a:extLst>
                <a:ext uri="{FF2B5EF4-FFF2-40B4-BE49-F238E27FC236}">
                  <a16:creationId xmlns:a16="http://schemas.microsoft.com/office/drawing/2014/main" id="{8624BFEC-A8F2-49C0-BC72-218FF92614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3" y="1704"/>
              <a:ext cx="438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6599" name="Oval 15">
              <a:extLst>
                <a:ext uri="{FF2B5EF4-FFF2-40B4-BE49-F238E27FC236}">
                  <a16:creationId xmlns:a16="http://schemas.microsoft.com/office/drawing/2014/main" id="{BE97CE40-75ED-47F6-8426-F50D0A0D3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3" y="2303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6600" name="Line 16">
              <a:extLst>
                <a:ext uri="{FF2B5EF4-FFF2-40B4-BE49-F238E27FC236}">
                  <a16:creationId xmlns:a16="http://schemas.microsoft.com/office/drawing/2014/main" id="{C32452FC-1E45-41AE-AE8C-CA869DACC5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6" y="2600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6601" name="Oval 17">
              <a:extLst>
                <a:ext uri="{FF2B5EF4-FFF2-40B4-BE49-F238E27FC236}">
                  <a16:creationId xmlns:a16="http://schemas.microsoft.com/office/drawing/2014/main" id="{F049D222-39D1-4592-B209-0796C5FCF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304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66602" name="Line 18">
              <a:extLst>
                <a:ext uri="{FF2B5EF4-FFF2-40B4-BE49-F238E27FC236}">
                  <a16:creationId xmlns:a16="http://schemas.microsoft.com/office/drawing/2014/main" id="{847CFB50-898F-448D-95D9-16907D888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7" y="2133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6603" name="Line 19">
              <a:extLst>
                <a:ext uri="{FF2B5EF4-FFF2-40B4-BE49-F238E27FC236}">
                  <a16:creationId xmlns:a16="http://schemas.microsoft.com/office/drawing/2014/main" id="{5F519650-5B17-4B63-B692-617B1D7B6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140"/>
              <a:ext cx="38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6604" name="Oval 20">
              <a:extLst>
                <a:ext uri="{FF2B5EF4-FFF2-40B4-BE49-F238E27FC236}">
                  <a16:creationId xmlns:a16="http://schemas.microsoft.com/office/drawing/2014/main" id="{263724F8-3876-49EA-8028-00E4DE5F9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74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6605" name="Line 21">
              <a:extLst>
                <a:ext uri="{FF2B5EF4-FFF2-40B4-BE49-F238E27FC236}">
                  <a16:creationId xmlns:a16="http://schemas.microsoft.com/office/drawing/2014/main" id="{40C47B25-3755-4002-837B-80A2801847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" y="3039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6606" name="Line 22">
              <a:extLst>
                <a:ext uri="{FF2B5EF4-FFF2-40B4-BE49-F238E27FC236}">
                  <a16:creationId xmlns:a16="http://schemas.microsoft.com/office/drawing/2014/main" id="{B72F6C42-E20B-43BD-9092-44733146AD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593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grpSp>
        <p:nvGrpSpPr>
          <p:cNvPr id="66566" name="Group 23">
            <a:extLst>
              <a:ext uri="{FF2B5EF4-FFF2-40B4-BE49-F238E27FC236}">
                <a16:creationId xmlns:a16="http://schemas.microsoft.com/office/drawing/2014/main" id="{D6B5AF9D-ED8F-4432-9D5D-007598A3C237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976563"/>
            <a:ext cx="3113088" cy="2417762"/>
            <a:chOff x="576" y="1875"/>
            <a:chExt cx="1961" cy="1523"/>
          </a:xfrm>
        </p:grpSpPr>
        <p:sp>
          <p:nvSpPr>
            <p:cNvPr id="66584" name="Text Box 24">
              <a:extLst>
                <a:ext uri="{FF2B5EF4-FFF2-40B4-BE49-F238E27FC236}">
                  <a16:creationId xmlns:a16="http://schemas.microsoft.com/office/drawing/2014/main" id="{AD939F69-0651-44F4-8C10-C72457FF3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75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–</a:t>
              </a:r>
            </a:p>
          </p:txBody>
        </p:sp>
        <p:sp>
          <p:nvSpPr>
            <p:cNvPr id="66585" name="Text Box 25">
              <a:extLst>
                <a:ext uri="{FF2B5EF4-FFF2-40B4-BE49-F238E27FC236}">
                  <a16:creationId xmlns:a16="http://schemas.microsoft.com/office/drawing/2014/main" id="{7B2E309B-BFDE-4EAF-A088-1ED6492C85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7" y="2301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6586" name="Text Box 26">
              <a:extLst>
                <a:ext uri="{FF2B5EF4-FFF2-40B4-BE49-F238E27FC236}">
                  <a16:creationId xmlns:a16="http://schemas.microsoft.com/office/drawing/2014/main" id="{3438658F-374C-4D40-A7A3-C64695D01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" y="2786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0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6587" name="Text Box 27">
              <a:extLst>
                <a:ext uri="{FF2B5EF4-FFF2-40B4-BE49-F238E27FC236}">
                  <a16:creationId xmlns:a16="http://schemas.microsoft.com/office/drawing/2014/main" id="{3EBF3D8C-ACD8-4899-B749-3E09B2015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3225"/>
              <a:ext cx="17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66567" name="Text Box 31">
            <a:extLst>
              <a:ext uri="{FF2B5EF4-FFF2-40B4-BE49-F238E27FC236}">
                <a16:creationId xmlns:a16="http://schemas.microsoft.com/office/drawing/2014/main" id="{05A2A76E-9A91-4C20-A43E-F8791035B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752600"/>
            <a:ext cx="6096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 </a:t>
            </a:r>
            <a:r>
              <a:rPr lang="en-US" altLang="it-IT" sz="1400">
                <a:solidFill>
                  <a:srgbClr val="B025A6"/>
                </a:solidFill>
              </a:rPr>
              <a:t>0</a:t>
            </a:r>
            <a:endParaRPr lang="en-US" altLang="it-IT" sz="1400"/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66568" name="Text Box 32">
            <a:extLst>
              <a:ext uri="{FF2B5EF4-FFF2-40B4-BE49-F238E27FC236}">
                <a16:creationId xmlns:a16="http://schemas.microsoft.com/office/drawing/2014/main" id="{4639052B-8EC0-413D-90B2-55F867F05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365375"/>
            <a:ext cx="4572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</a:t>
            </a:r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66569" name="Text Box 33">
            <a:extLst>
              <a:ext uri="{FF2B5EF4-FFF2-40B4-BE49-F238E27FC236}">
                <a16:creationId xmlns:a16="http://schemas.microsoft.com/office/drawing/2014/main" id="{2CB33E1D-C3AE-4E4E-8C5A-B3CB995AE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8775" y="3008313"/>
            <a:ext cx="4572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</a:t>
            </a:r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66570" name="Text Box 34">
            <a:extLst>
              <a:ext uri="{FF2B5EF4-FFF2-40B4-BE49-F238E27FC236}">
                <a16:creationId xmlns:a16="http://schemas.microsoft.com/office/drawing/2014/main" id="{99D5DFE6-4F72-4E97-84F1-0BF4E11F9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3851275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66571" name="Text Box 35">
            <a:extLst>
              <a:ext uri="{FF2B5EF4-FFF2-40B4-BE49-F238E27FC236}">
                <a16:creationId xmlns:a16="http://schemas.microsoft.com/office/drawing/2014/main" id="{886F2F57-BB57-4C1E-968F-E5B0498AE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124200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66572" name="Text Box 36">
            <a:extLst>
              <a:ext uri="{FF2B5EF4-FFF2-40B4-BE49-F238E27FC236}">
                <a16:creationId xmlns:a16="http://schemas.microsoft.com/office/drawing/2014/main" id="{95AA3516-0D51-478D-A0B7-3F22A47E8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488" y="4551363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66573" name="Line 57">
            <a:extLst>
              <a:ext uri="{FF2B5EF4-FFF2-40B4-BE49-F238E27FC236}">
                <a16:creationId xmlns:a16="http://schemas.microsoft.com/office/drawing/2014/main" id="{34D75DF0-22F7-4D86-860E-0172057397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1524000"/>
            <a:ext cx="381000" cy="3048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6574" name="Freeform 58">
            <a:extLst>
              <a:ext uri="{FF2B5EF4-FFF2-40B4-BE49-F238E27FC236}">
                <a16:creationId xmlns:a16="http://schemas.microsoft.com/office/drawing/2014/main" id="{C3ADC9CD-FD92-4FE2-89EF-4246C8F800FF}"/>
              </a:ext>
            </a:extLst>
          </p:cNvPr>
          <p:cNvSpPr>
            <a:spLocks/>
          </p:cNvSpPr>
          <p:nvPr/>
        </p:nvSpPr>
        <p:spPr bwMode="auto">
          <a:xfrm>
            <a:off x="2298700" y="1968500"/>
            <a:ext cx="1282700" cy="774700"/>
          </a:xfrm>
          <a:custGeom>
            <a:avLst/>
            <a:gdLst>
              <a:gd name="T0" fmla="*/ 2147483647 w 808"/>
              <a:gd name="T1" fmla="*/ 2147483647 h 488"/>
              <a:gd name="T2" fmla="*/ 2147483647 w 808"/>
              <a:gd name="T3" fmla="*/ 2147483647 h 488"/>
              <a:gd name="T4" fmla="*/ 2147483647 w 808"/>
              <a:gd name="T5" fmla="*/ 2147483647 h 488"/>
              <a:gd name="T6" fmla="*/ 2147483647 w 808"/>
              <a:gd name="T7" fmla="*/ 2147483647 h 488"/>
              <a:gd name="T8" fmla="*/ 0 60000 65536"/>
              <a:gd name="T9" fmla="*/ 0 60000 65536"/>
              <a:gd name="T10" fmla="*/ 0 60000 65536"/>
              <a:gd name="T11" fmla="*/ 0 60000 65536"/>
              <a:gd name="T12" fmla="*/ 0 w 808"/>
              <a:gd name="T13" fmla="*/ 0 h 488"/>
              <a:gd name="T14" fmla="*/ 808 w 808"/>
              <a:gd name="T15" fmla="*/ 488 h 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08" h="488">
                <a:moveTo>
                  <a:pt x="232" y="488"/>
                </a:moveTo>
                <a:cubicBezTo>
                  <a:pt x="116" y="360"/>
                  <a:pt x="0" y="232"/>
                  <a:pt x="40" y="152"/>
                </a:cubicBezTo>
                <a:cubicBezTo>
                  <a:pt x="80" y="72"/>
                  <a:pt x="344" y="16"/>
                  <a:pt x="472" y="8"/>
                </a:cubicBezTo>
                <a:cubicBezTo>
                  <a:pt x="600" y="0"/>
                  <a:pt x="704" y="52"/>
                  <a:pt x="808" y="104"/>
                </a:cubicBezTo>
              </a:path>
            </a:pathLst>
          </a:cu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66575" name="Freeform 59">
            <a:extLst>
              <a:ext uri="{FF2B5EF4-FFF2-40B4-BE49-F238E27FC236}">
                <a16:creationId xmlns:a16="http://schemas.microsoft.com/office/drawing/2014/main" id="{BE956BC0-7FD5-4FBD-A78E-C9D1A66E2C86}"/>
              </a:ext>
            </a:extLst>
          </p:cNvPr>
          <p:cNvSpPr>
            <a:spLocks/>
          </p:cNvSpPr>
          <p:nvPr/>
        </p:nvSpPr>
        <p:spPr bwMode="auto">
          <a:xfrm>
            <a:off x="1295400" y="2625725"/>
            <a:ext cx="1282700" cy="774700"/>
          </a:xfrm>
          <a:custGeom>
            <a:avLst/>
            <a:gdLst>
              <a:gd name="T0" fmla="*/ 2147483647 w 808"/>
              <a:gd name="T1" fmla="*/ 2147483647 h 488"/>
              <a:gd name="T2" fmla="*/ 2147483647 w 808"/>
              <a:gd name="T3" fmla="*/ 2147483647 h 488"/>
              <a:gd name="T4" fmla="*/ 2147483647 w 808"/>
              <a:gd name="T5" fmla="*/ 2147483647 h 488"/>
              <a:gd name="T6" fmla="*/ 2147483647 w 808"/>
              <a:gd name="T7" fmla="*/ 2147483647 h 488"/>
              <a:gd name="T8" fmla="*/ 0 60000 65536"/>
              <a:gd name="T9" fmla="*/ 0 60000 65536"/>
              <a:gd name="T10" fmla="*/ 0 60000 65536"/>
              <a:gd name="T11" fmla="*/ 0 60000 65536"/>
              <a:gd name="T12" fmla="*/ 0 w 808"/>
              <a:gd name="T13" fmla="*/ 0 h 488"/>
              <a:gd name="T14" fmla="*/ 808 w 808"/>
              <a:gd name="T15" fmla="*/ 488 h 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08" h="488">
                <a:moveTo>
                  <a:pt x="232" y="488"/>
                </a:moveTo>
                <a:cubicBezTo>
                  <a:pt x="116" y="360"/>
                  <a:pt x="0" y="232"/>
                  <a:pt x="40" y="152"/>
                </a:cubicBezTo>
                <a:cubicBezTo>
                  <a:pt x="80" y="72"/>
                  <a:pt x="344" y="16"/>
                  <a:pt x="472" y="8"/>
                </a:cubicBezTo>
                <a:cubicBezTo>
                  <a:pt x="600" y="0"/>
                  <a:pt x="704" y="52"/>
                  <a:pt x="808" y="104"/>
                </a:cubicBezTo>
              </a:path>
            </a:pathLst>
          </a:cu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66576" name="Line 60">
            <a:extLst>
              <a:ext uri="{FF2B5EF4-FFF2-40B4-BE49-F238E27FC236}">
                <a16:creationId xmlns:a16="http://schemas.microsoft.com/office/drawing/2014/main" id="{1A89CD9B-A6DB-4636-8EA5-C8E618625B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1981200"/>
            <a:ext cx="762000" cy="4572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6577" name="Line 61">
            <a:extLst>
              <a:ext uri="{FF2B5EF4-FFF2-40B4-BE49-F238E27FC236}">
                <a16:creationId xmlns:a16="http://schemas.microsoft.com/office/drawing/2014/main" id="{B4C66EA3-A6B9-43BB-9382-79A52923C4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76425" y="2605088"/>
            <a:ext cx="762000" cy="4572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6578" name="Freeform 62">
            <a:extLst>
              <a:ext uri="{FF2B5EF4-FFF2-40B4-BE49-F238E27FC236}">
                <a16:creationId xmlns:a16="http://schemas.microsoft.com/office/drawing/2014/main" id="{585F3397-DDA2-4ECC-9C71-019D6C9E6020}"/>
              </a:ext>
            </a:extLst>
          </p:cNvPr>
          <p:cNvSpPr>
            <a:spLocks/>
          </p:cNvSpPr>
          <p:nvPr/>
        </p:nvSpPr>
        <p:spPr bwMode="auto">
          <a:xfrm>
            <a:off x="2819400" y="2819400"/>
            <a:ext cx="152400" cy="152400"/>
          </a:xfrm>
          <a:custGeom>
            <a:avLst/>
            <a:gdLst>
              <a:gd name="T0" fmla="*/ 0 w 96"/>
              <a:gd name="T1" fmla="*/ 0 h 96"/>
              <a:gd name="T2" fmla="*/ 2147483647 w 96"/>
              <a:gd name="T3" fmla="*/ 2147483647 h 96"/>
              <a:gd name="T4" fmla="*/ 0 w 96"/>
              <a:gd name="T5" fmla="*/ 2147483647 h 96"/>
              <a:gd name="T6" fmla="*/ 0 60000 65536"/>
              <a:gd name="T7" fmla="*/ 0 60000 65536"/>
              <a:gd name="T8" fmla="*/ 0 60000 65536"/>
              <a:gd name="T9" fmla="*/ 0 w 96"/>
              <a:gd name="T10" fmla="*/ 0 h 96"/>
              <a:gd name="T11" fmla="*/ 96 w 96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96">
                <a:moveTo>
                  <a:pt x="0" y="0"/>
                </a:moveTo>
                <a:cubicBezTo>
                  <a:pt x="48" y="16"/>
                  <a:pt x="96" y="32"/>
                  <a:pt x="96" y="48"/>
                </a:cubicBezTo>
                <a:cubicBezTo>
                  <a:pt x="96" y="64"/>
                  <a:pt x="48" y="80"/>
                  <a:pt x="0" y="96"/>
                </a:cubicBezTo>
              </a:path>
            </a:pathLst>
          </a:custGeom>
          <a:noFill/>
          <a:ln w="2857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66579" name="Freeform 63">
            <a:extLst>
              <a:ext uri="{FF2B5EF4-FFF2-40B4-BE49-F238E27FC236}">
                <a16:creationId xmlns:a16="http://schemas.microsoft.com/office/drawing/2014/main" id="{BF119D4D-1EC1-4D71-BFE1-A04FE2A52599}"/>
              </a:ext>
            </a:extLst>
          </p:cNvPr>
          <p:cNvSpPr>
            <a:spLocks/>
          </p:cNvSpPr>
          <p:nvPr/>
        </p:nvSpPr>
        <p:spPr bwMode="auto">
          <a:xfrm>
            <a:off x="1871663" y="3476625"/>
            <a:ext cx="152400" cy="152400"/>
          </a:xfrm>
          <a:custGeom>
            <a:avLst/>
            <a:gdLst>
              <a:gd name="T0" fmla="*/ 0 w 96"/>
              <a:gd name="T1" fmla="*/ 0 h 96"/>
              <a:gd name="T2" fmla="*/ 2147483647 w 96"/>
              <a:gd name="T3" fmla="*/ 2147483647 h 96"/>
              <a:gd name="T4" fmla="*/ 0 w 96"/>
              <a:gd name="T5" fmla="*/ 2147483647 h 96"/>
              <a:gd name="T6" fmla="*/ 0 60000 65536"/>
              <a:gd name="T7" fmla="*/ 0 60000 65536"/>
              <a:gd name="T8" fmla="*/ 0 60000 65536"/>
              <a:gd name="T9" fmla="*/ 0 w 96"/>
              <a:gd name="T10" fmla="*/ 0 h 96"/>
              <a:gd name="T11" fmla="*/ 96 w 96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96">
                <a:moveTo>
                  <a:pt x="0" y="0"/>
                </a:moveTo>
                <a:cubicBezTo>
                  <a:pt x="48" y="16"/>
                  <a:pt x="96" y="32"/>
                  <a:pt x="96" y="48"/>
                </a:cubicBezTo>
                <a:cubicBezTo>
                  <a:pt x="96" y="64"/>
                  <a:pt x="48" y="80"/>
                  <a:pt x="0" y="96"/>
                </a:cubicBezTo>
              </a:path>
            </a:pathLst>
          </a:custGeom>
          <a:noFill/>
          <a:ln w="2857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66580" name="Freeform 65">
            <a:extLst>
              <a:ext uri="{FF2B5EF4-FFF2-40B4-BE49-F238E27FC236}">
                <a16:creationId xmlns:a16="http://schemas.microsoft.com/office/drawing/2014/main" id="{477B82BD-FF02-4DB4-9CB8-0DC6F29D0171}"/>
              </a:ext>
            </a:extLst>
          </p:cNvPr>
          <p:cNvSpPr>
            <a:spLocks/>
          </p:cNvSpPr>
          <p:nvPr/>
        </p:nvSpPr>
        <p:spPr bwMode="auto">
          <a:xfrm>
            <a:off x="2819400" y="3124200"/>
            <a:ext cx="1790700" cy="482600"/>
          </a:xfrm>
          <a:custGeom>
            <a:avLst/>
            <a:gdLst>
              <a:gd name="T0" fmla="*/ 2147483647 w 1128"/>
              <a:gd name="T1" fmla="*/ 2147483647 h 304"/>
              <a:gd name="T2" fmla="*/ 2147483647 w 1128"/>
              <a:gd name="T3" fmla="*/ 2147483647 h 304"/>
              <a:gd name="T4" fmla="*/ 2147483647 w 1128"/>
              <a:gd name="T5" fmla="*/ 2147483647 h 304"/>
              <a:gd name="T6" fmla="*/ 0 w 1128"/>
              <a:gd name="T7" fmla="*/ 0 h 304"/>
              <a:gd name="T8" fmla="*/ 0 60000 65536"/>
              <a:gd name="T9" fmla="*/ 0 60000 65536"/>
              <a:gd name="T10" fmla="*/ 0 60000 65536"/>
              <a:gd name="T11" fmla="*/ 0 60000 65536"/>
              <a:gd name="T12" fmla="*/ 0 w 1128"/>
              <a:gd name="T13" fmla="*/ 0 h 304"/>
              <a:gd name="T14" fmla="*/ 1128 w 1128"/>
              <a:gd name="T15" fmla="*/ 304 h 3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8" h="304">
                <a:moveTo>
                  <a:pt x="1056" y="96"/>
                </a:moveTo>
                <a:cubicBezTo>
                  <a:pt x="1092" y="184"/>
                  <a:pt x="1128" y="272"/>
                  <a:pt x="1008" y="288"/>
                </a:cubicBezTo>
                <a:cubicBezTo>
                  <a:pt x="888" y="304"/>
                  <a:pt x="504" y="240"/>
                  <a:pt x="336" y="192"/>
                </a:cubicBezTo>
                <a:cubicBezTo>
                  <a:pt x="168" y="144"/>
                  <a:pt x="84" y="72"/>
                  <a:pt x="0" y="0"/>
                </a:cubicBezTo>
              </a:path>
            </a:pathLst>
          </a:custGeom>
          <a:noFill/>
          <a:ln w="2857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66581" name="Freeform 66">
            <a:extLst>
              <a:ext uri="{FF2B5EF4-FFF2-40B4-BE49-F238E27FC236}">
                <a16:creationId xmlns:a16="http://schemas.microsoft.com/office/drawing/2014/main" id="{120A443B-68E9-49AA-8A77-DFCB043E481F}"/>
              </a:ext>
            </a:extLst>
          </p:cNvPr>
          <p:cNvSpPr>
            <a:spLocks/>
          </p:cNvSpPr>
          <p:nvPr/>
        </p:nvSpPr>
        <p:spPr bwMode="auto">
          <a:xfrm>
            <a:off x="1905000" y="3733800"/>
            <a:ext cx="1752600" cy="609600"/>
          </a:xfrm>
          <a:custGeom>
            <a:avLst/>
            <a:gdLst>
              <a:gd name="T0" fmla="*/ 2147483647 w 1104"/>
              <a:gd name="T1" fmla="*/ 2147483647 h 384"/>
              <a:gd name="T2" fmla="*/ 2147483647 w 1104"/>
              <a:gd name="T3" fmla="*/ 2147483647 h 384"/>
              <a:gd name="T4" fmla="*/ 2147483647 w 1104"/>
              <a:gd name="T5" fmla="*/ 2147483647 h 384"/>
              <a:gd name="T6" fmla="*/ 0 w 1104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1104"/>
              <a:gd name="T13" fmla="*/ 0 h 384"/>
              <a:gd name="T14" fmla="*/ 1104 w 1104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" h="384">
                <a:moveTo>
                  <a:pt x="1008" y="192"/>
                </a:moveTo>
                <a:cubicBezTo>
                  <a:pt x="1056" y="228"/>
                  <a:pt x="1104" y="264"/>
                  <a:pt x="1056" y="288"/>
                </a:cubicBezTo>
                <a:cubicBezTo>
                  <a:pt x="1008" y="312"/>
                  <a:pt x="896" y="384"/>
                  <a:pt x="720" y="336"/>
                </a:cubicBezTo>
                <a:cubicBezTo>
                  <a:pt x="544" y="288"/>
                  <a:pt x="272" y="144"/>
                  <a:pt x="0" y="0"/>
                </a:cubicBezTo>
              </a:path>
            </a:pathLst>
          </a:custGeom>
          <a:noFill/>
          <a:ln w="2857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graphicFrame>
        <p:nvGraphicFramePr>
          <p:cNvPr id="54339" name="Group 67">
            <a:extLst>
              <a:ext uri="{FF2B5EF4-FFF2-40B4-BE49-F238E27FC236}">
                <a16:creationId xmlns:a16="http://schemas.microsoft.com/office/drawing/2014/main" id="{352ACE6B-77AA-442E-8496-8098B679E3CB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1447800"/>
          <a:ext cx="4191000" cy="3084576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23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Productions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Attribution Rules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List.a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.a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.a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Bit.val 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.b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.a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+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Bit.val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6583" name="Rectangle 64">
            <a:extLst>
              <a:ext uri="{FF2B5EF4-FFF2-40B4-BE49-F238E27FC236}">
                <a16:creationId xmlns:a16="http://schemas.microsoft.com/office/drawing/2014/main" id="{02A94279-D875-4315-AF75-9DD36955B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743200"/>
            <a:ext cx="2133600" cy="609600"/>
          </a:xfrm>
          <a:prstGeom prst="rect">
            <a:avLst/>
          </a:prstGeom>
          <a:noFill/>
          <a:ln w="28575">
            <a:solidFill>
              <a:srgbClr val="FF006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endParaRPr lang="en-GB" altLang="it-IT"/>
          </a:p>
        </p:txBody>
      </p:sp>
    </p:spTree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8">
            <a:extLst>
              <a:ext uri="{FF2B5EF4-FFF2-40B4-BE49-F238E27FC236}">
                <a16:creationId xmlns:a16="http://schemas.microsoft.com/office/drawing/2014/main" id="{C5986AEB-2DE1-417C-9EA1-4BCFD0E3618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447800"/>
            <a:ext cx="4038600" cy="3962400"/>
            <a:chOff x="384" y="912"/>
            <a:chExt cx="2544" cy="2496"/>
          </a:xfrm>
          <a:solidFill>
            <a:srgbClr val="FFFFFF"/>
          </a:solidFill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sp>
          <p:nvSpPr>
            <p:cNvPr id="68662" name="Rectangle 29">
              <a:extLst>
                <a:ext uri="{FF2B5EF4-FFF2-40B4-BE49-F238E27FC236}">
                  <a16:creationId xmlns:a16="http://schemas.microsoft.com/office/drawing/2014/main" id="{36D9C663-02B8-4452-9099-4BFD593CD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912"/>
              <a:ext cx="2544" cy="2496"/>
            </a:xfrm>
            <a:prstGeom prst="rect">
              <a:avLst/>
            </a:prstGeom>
            <a:grpFill/>
            <a:ln w="19050">
              <a:solidFill>
                <a:srgbClr val="7F7F7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68663" name="Text Box 30">
              <a:extLst>
                <a:ext uri="{FF2B5EF4-FFF2-40B4-BE49-F238E27FC236}">
                  <a16:creationId xmlns:a16="http://schemas.microsoft.com/office/drawing/2014/main" id="{394F46C1-F47F-429B-883C-10003DBCD0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184"/>
              <a:ext cx="864" cy="224"/>
            </a:xfrm>
            <a:prstGeom prst="rect">
              <a:avLst/>
            </a:prstGeom>
            <a:grpFill/>
            <a:ln w="19050">
              <a:solidFill>
                <a:srgbClr val="7F7F7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600">
                  <a:solidFill>
                    <a:srgbClr val="FF0065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For “–101”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</p:grpSp>
      <p:sp>
        <p:nvSpPr>
          <p:cNvPr id="68610" name="Footer Placeholder 3">
            <a:extLst>
              <a:ext uri="{FF2B5EF4-FFF2-40B4-BE49-F238E27FC236}">
                <a16:creationId xmlns:a16="http://schemas.microsoft.com/office/drawing/2014/main" id="{9D6E469F-082C-4461-B6B5-C6950A6A87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68611" name="Slide Number Placeholder 4">
            <a:extLst>
              <a:ext uri="{FF2B5EF4-FFF2-40B4-BE49-F238E27FC236}">
                <a16:creationId xmlns:a16="http://schemas.microsoft.com/office/drawing/2014/main" id="{44503672-BF86-44BB-BF3D-99FEE0D4A2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F2C73C2-2A88-465B-8322-ACABEE39773D}" type="slidenum">
              <a:rPr lang="en-US" altLang="it-IT"/>
              <a:pPr/>
              <a:t>26</a:t>
            </a:fld>
            <a:endParaRPr lang="en-US" altLang="it-IT"/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id="{4BFAAB1F-17CD-448A-9639-CD189CC7F6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Circular Grammar Example</a:t>
            </a:r>
          </a:p>
        </p:txBody>
      </p:sp>
      <p:grpSp>
        <p:nvGrpSpPr>
          <p:cNvPr id="68613" name="Group 3">
            <a:extLst>
              <a:ext uri="{FF2B5EF4-FFF2-40B4-BE49-F238E27FC236}">
                <a16:creationId xmlns:a16="http://schemas.microsoft.com/office/drawing/2014/main" id="{FCFF9240-8B60-4E93-9DED-C976C1EDDF9B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1524000"/>
            <a:ext cx="3149600" cy="3546475"/>
            <a:chOff x="577" y="960"/>
            <a:chExt cx="1984" cy="2234"/>
          </a:xfrm>
        </p:grpSpPr>
        <p:sp>
          <p:nvSpPr>
            <p:cNvPr id="68640" name="Line 4">
              <a:extLst>
                <a:ext uri="{FF2B5EF4-FFF2-40B4-BE49-F238E27FC236}">
                  <a16:creationId xmlns:a16="http://schemas.microsoft.com/office/drawing/2014/main" id="{AB87B73F-7A53-45FE-B345-E87C78086D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2164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8641" name="Oval 5">
              <a:extLst>
                <a:ext uri="{FF2B5EF4-FFF2-40B4-BE49-F238E27FC236}">
                  <a16:creationId xmlns:a16="http://schemas.microsoft.com/office/drawing/2014/main" id="{7C409F74-2D82-4DBE-9198-EBD8A5882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960"/>
              <a:ext cx="432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Number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8642" name="Line 6">
              <a:extLst>
                <a:ext uri="{FF2B5EF4-FFF2-40B4-BE49-F238E27FC236}">
                  <a16:creationId xmlns:a16="http://schemas.microsoft.com/office/drawing/2014/main" id="{BB3D03AC-B23D-4AA9-9B56-18C7849D79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1" y="1243"/>
              <a:ext cx="148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8643" name="Line 7">
              <a:extLst>
                <a:ext uri="{FF2B5EF4-FFF2-40B4-BE49-F238E27FC236}">
                  <a16:creationId xmlns:a16="http://schemas.microsoft.com/office/drawing/2014/main" id="{928BFB99-0D68-4C2F-9530-6C1ADB90C7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1242"/>
              <a:ext cx="90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8644" name="Oval 8">
              <a:extLst>
                <a:ext uri="{FF2B5EF4-FFF2-40B4-BE49-F238E27FC236}">
                  <a16:creationId xmlns:a16="http://schemas.microsoft.com/office/drawing/2014/main" id="{4E41FE1C-97C4-4DAD-B6A5-5A2A8E471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1435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Sign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8645" name="Line 9">
              <a:extLst>
                <a:ext uri="{FF2B5EF4-FFF2-40B4-BE49-F238E27FC236}">
                  <a16:creationId xmlns:a16="http://schemas.microsoft.com/office/drawing/2014/main" id="{A5A98EBF-DD9A-4AAF-AA68-99D5547A78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725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8646" name="Oval 10">
              <a:extLst>
                <a:ext uri="{FF2B5EF4-FFF2-40B4-BE49-F238E27FC236}">
                  <a16:creationId xmlns:a16="http://schemas.microsoft.com/office/drawing/2014/main" id="{48A9ECDF-0CC3-45F5-AC48-F506CAF4E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44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68647" name="Oval 11">
              <a:extLst>
                <a:ext uri="{FF2B5EF4-FFF2-40B4-BE49-F238E27FC236}">
                  <a16:creationId xmlns:a16="http://schemas.microsoft.com/office/drawing/2014/main" id="{840B151E-1ED0-49A8-A72C-43FF8C6FA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3" y="1867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8648" name="Oval 12">
              <a:extLst>
                <a:ext uri="{FF2B5EF4-FFF2-40B4-BE49-F238E27FC236}">
                  <a16:creationId xmlns:a16="http://schemas.microsoft.com/office/drawing/2014/main" id="{4F06B7C6-5E28-432E-887D-5457FF45F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68649" name="Line 13">
              <a:extLst>
                <a:ext uri="{FF2B5EF4-FFF2-40B4-BE49-F238E27FC236}">
                  <a16:creationId xmlns:a16="http://schemas.microsoft.com/office/drawing/2014/main" id="{5A065C3D-B550-4B7E-87AB-12587EF6C4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7" y="1697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8650" name="Line 14">
              <a:extLst>
                <a:ext uri="{FF2B5EF4-FFF2-40B4-BE49-F238E27FC236}">
                  <a16:creationId xmlns:a16="http://schemas.microsoft.com/office/drawing/2014/main" id="{CE34B30E-ADCC-4CDA-8840-983D6ED27E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3" y="1704"/>
              <a:ext cx="438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8651" name="Oval 15">
              <a:extLst>
                <a:ext uri="{FF2B5EF4-FFF2-40B4-BE49-F238E27FC236}">
                  <a16:creationId xmlns:a16="http://schemas.microsoft.com/office/drawing/2014/main" id="{7961DB4F-3894-4378-AE75-80E8C467B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3" y="2303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8652" name="Line 16">
              <a:extLst>
                <a:ext uri="{FF2B5EF4-FFF2-40B4-BE49-F238E27FC236}">
                  <a16:creationId xmlns:a16="http://schemas.microsoft.com/office/drawing/2014/main" id="{5EAE6088-FDDA-459F-9023-1E168F4FDB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6" y="2600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8653" name="Oval 17">
              <a:extLst>
                <a:ext uri="{FF2B5EF4-FFF2-40B4-BE49-F238E27FC236}">
                  <a16:creationId xmlns:a16="http://schemas.microsoft.com/office/drawing/2014/main" id="{5BBF9189-BA37-43DF-B635-3BA708F1E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304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68654" name="Line 18">
              <a:extLst>
                <a:ext uri="{FF2B5EF4-FFF2-40B4-BE49-F238E27FC236}">
                  <a16:creationId xmlns:a16="http://schemas.microsoft.com/office/drawing/2014/main" id="{92345C9A-05CC-419C-B955-A6D63EFCD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7" y="2133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8655" name="Line 19">
              <a:extLst>
                <a:ext uri="{FF2B5EF4-FFF2-40B4-BE49-F238E27FC236}">
                  <a16:creationId xmlns:a16="http://schemas.microsoft.com/office/drawing/2014/main" id="{F8630017-1752-41B9-87FF-A0366F0795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140"/>
              <a:ext cx="38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8656" name="Oval 20">
              <a:extLst>
                <a:ext uri="{FF2B5EF4-FFF2-40B4-BE49-F238E27FC236}">
                  <a16:creationId xmlns:a16="http://schemas.microsoft.com/office/drawing/2014/main" id="{6A2EAE61-D07B-42C8-9866-D72F15FE9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74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68657" name="Line 21">
              <a:extLst>
                <a:ext uri="{FF2B5EF4-FFF2-40B4-BE49-F238E27FC236}">
                  <a16:creationId xmlns:a16="http://schemas.microsoft.com/office/drawing/2014/main" id="{B1EEFB7E-69D5-4A53-8BDE-4617BFC4E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" y="3039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68658" name="Line 22">
              <a:extLst>
                <a:ext uri="{FF2B5EF4-FFF2-40B4-BE49-F238E27FC236}">
                  <a16:creationId xmlns:a16="http://schemas.microsoft.com/office/drawing/2014/main" id="{27F5DBB8-A877-4D63-AD5E-80C5BF3736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593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grpSp>
        <p:nvGrpSpPr>
          <p:cNvPr id="68614" name="Group 23">
            <a:extLst>
              <a:ext uri="{FF2B5EF4-FFF2-40B4-BE49-F238E27FC236}">
                <a16:creationId xmlns:a16="http://schemas.microsoft.com/office/drawing/2014/main" id="{53BCE552-7988-4F7B-AE86-9D6146389036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976563"/>
            <a:ext cx="3113088" cy="2417762"/>
            <a:chOff x="576" y="1875"/>
            <a:chExt cx="1961" cy="1523"/>
          </a:xfrm>
        </p:grpSpPr>
        <p:sp>
          <p:nvSpPr>
            <p:cNvPr id="68636" name="Text Box 24">
              <a:extLst>
                <a:ext uri="{FF2B5EF4-FFF2-40B4-BE49-F238E27FC236}">
                  <a16:creationId xmlns:a16="http://schemas.microsoft.com/office/drawing/2014/main" id="{E32AF84F-4F07-4390-BE3A-D6633360FB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75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–</a:t>
              </a:r>
            </a:p>
          </p:txBody>
        </p:sp>
        <p:sp>
          <p:nvSpPr>
            <p:cNvPr id="68637" name="Text Box 25">
              <a:extLst>
                <a:ext uri="{FF2B5EF4-FFF2-40B4-BE49-F238E27FC236}">
                  <a16:creationId xmlns:a16="http://schemas.microsoft.com/office/drawing/2014/main" id="{87300516-34BC-49B6-B699-ACD3000100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7" y="2301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8638" name="Text Box 26">
              <a:extLst>
                <a:ext uri="{FF2B5EF4-FFF2-40B4-BE49-F238E27FC236}">
                  <a16:creationId xmlns:a16="http://schemas.microsoft.com/office/drawing/2014/main" id="{C024270E-A2B2-4741-9045-0FA57E5755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" y="2786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0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68639" name="Text Box 27">
              <a:extLst>
                <a:ext uri="{FF2B5EF4-FFF2-40B4-BE49-F238E27FC236}">
                  <a16:creationId xmlns:a16="http://schemas.microsoft.com/office/drawing/2014/main" id="{B0A7AB47-9D26-4FD2-8DA4-FCC83647D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3225"/>
              <a:ext cx="17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68615" name="Text Box 31">
            <a:extLst>
              <a:ext uri="{FF2B5EF4-FFF2-40B4-BE49-F238E27FC236}">
                <a16:creationId xmlns:a16="http://schemas.microsoft.com/office/drawing/2014/main" id="{AF4CAF2C-2977-41BA-AC95-FF7118FAF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7113" y="1752600"/>
            <a:ext cx="6096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 </a:t>
            </a:r>
            <a:r>
              <a:rPr lang="en-US" altLang="it-IT" sz="1400">
                <a:solidFill>
                  <a:srgbClr val="B025A6"/>
                </a:solidFill>
              </a:rPr>
              <a:t>0</a:t>
            </a:r>
            <a:endParaRPr lang="en-US" altLang="it-IT" sz="1400"/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68616" name="Text Box 32">
            <a:extLst>
              <a:ext uri="{FF2B5EF4-FFF2-40B4-BE49-F238E27FC236}">
                <a16:creationId xmlns:a16="http://schemas.microsoft.com/office/drawing/2014/main" id="{D1270A2A-5FE8-431B-81BE-9371BF90C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6513" y="2365375"/>
            <a:ext cx="4572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</a:t>
            </a:r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68617" name="Text Box 33">
            <a:extLst>
              <a:ext uri="{FF2B5EF4-FFF2-40B4-BE49-F238E27FC236}">
                <a16:creationId xmlns:a16="http://schemas.microsoft.com/office/drawing/2014/main" id="{4B3F28EC-57E2-44AB-BA30-571A5AEBC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488" y="3008313"/>
            <a:ext cx="4572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</a:t>
            </a:r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68618" name="Text Box 34">
            <a:extLst>
              <a:ext uri="{FF2B5EF4-FFF2-40B4-BE49-F238E27FC236}">
                <a16:creationId xmlns:a16="http://schemas.microsoft.com/office/drawing/2014/main" id="{054094B7-0EE6-471D-B1F9-7BD8009D6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5138" y="3851275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68619" name="Text Box 35">
            <a:extLst>
              <a:ext uri="{FF2B5EF4-FFF2-40B4-BE49-F238E27FC236}">
                <a16:creationId xmlns:a16="http://schemas.microsoft.com/office/drawing/2014/main" id="{FEBB536A-0C7E-4987-9E73-F2FFA7A24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3124200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68620" name="Text Box 36">
            <a:extLst>
              <a:ext uri="{FF2B5EF4-FFF2-40B4-BE49-F238E27FC236}">
                <a16:creationId xmlns:a16="http://schemas.microsoft.com/office/drawing/2014/main" id="{C09861E6-4B36-4494-93BB-29CAB8F47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551363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68621" name="Line 57">
            <a:extLst>
              <a:ext uri="{FF2B5EF4-FFF2-40B4-BE49-F238E27FC236}">
                <a16:creationId xmlns:a16="http://schemas.microsoft.com/office/drawing/2014/main" id="{97182E43-79C8-408D-B2A7-8153D73564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1524000"/>
            <a:ext cx="381000" cy="3048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8622" name="Freeform 58">
            <a:extLst>
              <a:ext uri="{FF2B5EF4-FFF2-40B4-BE49-F238E27FC236}">
                <a16:creationId xmlns:a16="http://schemas.microsoft.com/office/drawing/2014/main" id="{607C7284-74A6-4A8F-856C-C18A39B87A9B}"/>
              </a:ext>
            </a:extLst>
          </p:cNvPr>
          <p:cNvSpPr>
            <a:spLocks/>
          </p:cNvSpPr>
          <p:nvPr/>
        </p:nvSpPr>
        <p:spPr bwMode="auto">
          <a:xfrm>
            <a:off x="2298700" y="1968500"/>
            <a:ext cx="1282700" cy="774700"/>
          </a:xfrm>
          <a:custGeom>
            <a:avLst/>
            <a:gdLst>
              <a:gd name="T0" fmla="*/ 2147483647 w 808"/>
              <a:gd name="T1" fmla="*/ 2147483647 h 488"/>
              <a:gd name="T2" fmla="*/ 2147483647 w 808"/>
              <a:gd name="T3" fmla="*/ 2147483647 h 488"/>
              <a:gd name="T4" fmla="*/ 2147483647 w 808"/>
              <a:gd name="T5" fmla="*/ 2147483647 h 488"/>
              <a:gd name="T6" fmla="*/ 2147483647 w 808"/>
              <a:gd name="T7" fmla="*/ 2147483647 h 488"/>
              <a:gd name="T8" fmla="*/ 0 60000 65536"/>
              <a:gd name="T9" fmla="*/ 0 60000 65536"/>
              <a:gd name="T10" fmla="*/ 0 60000 65536"/>
              <a:gd name="T11" fmla="*/ 0 60000 65536"/>
              <a:gd name="T12" fmla="*/ 0 w 808"/>
              <a:gd name="T13" fmla="*/ 0 h 488"/>
              <a:gd name="T14" fmla="*/ 808 w 808"/>
              <a:gd name="T15" fmla="*/ 488 h 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08" h="488">
                <a:moveTo>
                  <a:pt x="232" y="488"/>
                </a:moveTo>
                <a:cubicBezTo>
                  <a:pt x="116" y="360"/>
                  <a:pt x="0" y="232"/>
                  <a:pt x="40" y="152"/>
                </a:cubicBezTo>
                <a:cubicBezTo>
                  <a:pt x="80" y="72"/>
                  <a:pt x="344" y="16"/>
                  <a:pt x="472" y="8"/>
                </a:cubicBezTo>
                <a:cubicBezTo>
                  <a:pt x="600" y="0"/>
                  <a:pt x="704" y="52"/>
                  <a:pt x="808" y="104"/>
                </a:cubicBezTo>
              </a:path>
            </a:pathLst>
          </a:cu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68623" name="Freeform 59">
            <a:extLst>
              <a:ext uri="{FF2B5EF4-FFF2-40B4-BE49-F238E27FC236}">
                <a16:creationId xmlns:a16="http://schemas.microsoft.com/office/drawing/2014/main" id="{F3270DA6-B66B-40B1-B0D9-A88DEB84C9A5}"/>
              </a:ext>
            </a:extLst>
          </p:cNvPr>
          <p:cNvSpPr>
            <a:spLocks/>
          </p:cNvSpPr>
          <p:nvPr/>
        </p:nvSpPr>
        <p:spPr bwMode="auto">
          <a:xfrm>
            <a:off x="1295400" y="2625725"/>
            <a:ext cx="1282700" cy="774700"/>
          </a:xfrm>
          <a:custGeom>
            <a:avLst/>
            <a:gdLst>
              <a:gd name="T0" fmla="*/ 2147483647 w 808"/>
              <a:gd name="T1" fmla="*/ 2147483647 h 488"/>
              <a:gd name="T2" fmla="*/ 2147483647 w 808"/>
              <a:gd name="T3" fmla="*/ 2147483647 h 488"/>
              <a:gd name="T4" fmla="*/ 2147483647 w 808"/>
              <a:gd name="T5" fmla="*/ 2147483647 h 488"/>
              <a:gd name="T6" fmla="*/ 2147483647 w 808"/>
              <a:gd name="T7" fmla="*/ 2147483647 h 488"/>
              <a:gd name="T8" fmla="*/ 0 60000 65536"/>
              <a:gd name="T9" fmla="*/ 0 60000 65536"/>
              <a:gd name="T10" fmla="*/ 0 60000 65536"/>
              <a:gd name="T11" fmla="*/ 0 60000 65536"/>
              <a:gd name="T12" fmla="*/ 0 w 808"/>
              <a:gd name="T13" fmla="*/ 0 h 488"/>
              <a:gd name="T14" fmla="*/ 808 w 808"/>
              <a:gd name="T15" fmla="*/ 488 h 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08" h="488">
                <a:moveTo>
                  <a:pt x="232" y="488"/>
                </a:moveTo>
                <a:cubicBezTo>
                  <a:pt x="116" y="360"/>
                  <a:pt x="0" y="232"/>
                  <a:pt x="40" y="152"/>
                </a:cubicBezTo>
                <a:cubicBezTo>
                  <a:pt x="80" y="72"/>
                  <a:pt x="344" y="16"/>
                  <a:pt x="472" y="8"/>
                </a:cubicBezTo>
                <a:cubicBezTo>
                  <a:pt x="600" y="0"/>
                  <a:pt x="704" y="52"/>
                  <a:pt x="808" y="104"/>
                </a:cubicBezTo>
              </a:path>
            </a:pathLst>
          </a:cu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68624" name="Line 60">
            <a:extLst>
              <a:ext uri="{FF2B5EF4-FFF2-40B4-BE49-F238E27FC236}">
                <a16:creationId xmlns:a16="http://schemas.microsoft.com/office/drawing/2014/main" id="{4F44610B-6F3C-40F1-8FE3-24BD9729FF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1981200"/>
            <a:ext cx="762000" cy="4572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8625" name="Line 61">
            <a:extLst>
              <a:ext uri="{FF2B5EF4-FFF2-40B4-BE49-F238E27FC236}">
                <a16:creationId xmlns:a16="http://schemas.microsoft.com/office/drawing/2014/main" id="{43579CB2-BBC1-415F-A351-6E83A96C27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76425" y="2605088"/>
            <a:ext cx="762000" cy="4572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68626" name="Freeform 62">
            <a:extLst>
              <a:ext uri="{FF2B5EF4-FFF2-40B4-BE49-F238E27FC236}">
                <a16:creationId xmlns:a16="http://schemas.microsoft.com/office/drawing/2014/main" id="{E71588A7-8BDA-4B76-B4A0-3436F8D9381C}"/>
              </a:ext>
            </a:extLst>
          </p:cNvPr>
          <p:cNvSpPr>
            <a:spLocks/>
          </p:cNvSpPr>
          <p:nvPr/>
        </p:nvSpPr>
        <p:spPr bwMode="auto">
          <a:xfrm>
            <a:off x="2819400" y="2819400"/>
            <a:ext cx="152400" cy="152400"/>
          </a:xfrm>
          <a:custGeom>
            <a:avLst/>
            <a:gdLst>
              <a:gd name="T0" fmla="*/ 0 w 96"/>
              <a:gd name="T1" fmla="*/ 0 h 96"/>
              <a:gd name="T2" fmla="*/ 2147483647 w 96"/>
              <a:gd name="T3" fmla="*/ 2147483647 h 96"/>
              <a:gd name="T4" fmla="*/ 0 w 96"/>
              <a:gd name="T5" fmla="*/ 2147483647 h 96"/>
              <a:gd name="T6" fmla="*/ 0 60000 65536"/>
              <a:gd name="T7" fmla="*/ 0 60000 65536"/>
              <a:gd name="T8" fmla="*/ 0 60000 65536"/>
              <a:gd name="T9" fmla="*/ 0 w 96"/>
              <a:gd name="T10" fmla="*/ 0 h 96"/>
              <a:gd name="T11" fmla="*/ 96 w 96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96">
                <a:moveTo>
                  <a:pt x="0" y="0"/>
                </a:moveTo>
                <a:cubicBezTo>
                  <a:pt x="48" y="16"/>
                  <a:pt x="96" y="32"/>
                  <a:pt x="96" y="48"/>
                </a:cubicBezTo>
                <a:cubicBezTo>
                  <a:pt x="96" y="64"/>
                  <a:pt x="48" y="80"/>
                  <a:pt x="0" y="96"/>
                </a:cubicBezTo>
              </a:path>
            </a:pathLst>
          </a:cu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68627" name="Freeform 63">
            <a:extLst>
              <a:ext uri="{FF2B5EF4-FFF2-40B4-BE49-F238E27FC236}">
                <a16:creationId xmlns:a16="http://schemas.microsoft.com/office/drawing/2014/main" id="{DE15AAEB-B09A-490D-B22F-C61C53CC594A}"/>
              </a:ext>
            </a:extLst>
          </p:cNvPr>
          <p:cNvSpPr>
            <a:spLocks/>
          </p:cNvSpPr>
          <p:nvPr/>
        </p:nvSpPr>
        <p:spPr bwMode="auto">
          <a:xfrm>
            <a:off x="1871663" y="3476625"/>
            <a:ext cx="152400" cy="152400"/>
          </a:xfrm>
          <a:custGeom>
            <a:avLst/>
            <a:gdLst>
              <a:gd name="T0" fmla="*/ 0 w 96"/>
              <a:gd name="T1" fmla="*/ 0 h 96"/>
              <a:gd name="T2" fmla="*/ 2147483647 w 96"/>
              <a:gd name="T3" fmla="*/ 2147483647 h 96"/>
              <a:gd name="T4" fmla="*/ 0 w 96"/>
              <a:gd name="T5" fmla="*/ 2147483647 h 96"/>
              <a:gd name="T6" fmla="*/ 0 60000 65536"/>
              <a:gd name="T7" fmla="*/ 0 60000 65536"/>
              <a:gd name="T8" fmla="*/ 0 60000 65536"/>
              <a:gd name="T9" fmla="*/ 0 w 96"/>
              <a:gd name="T10" fmla="*/ 0 h 96"/>
              <a:gd name="T11" fmla="*/ 96 w 96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96">
                <a:moveTo>
                  <a:pt x="0" y="0"/>
                </a:moveTo>
                <a:cubicBezTo>
                  <a:pt x="48" y="16"/>
                  <a:pt x="96" y="32"/>
                  <a:pt x="96" y="48"/>
                </a:cubicBezTo>
                <a:cubicBezTo>
                  <a:pt x="96" y="64"/>
                  <a:pt x="48" y="80"/>
                  <a:pt x="0" y="96"/>
                </a:cubicBezTo>
              </a:path>
            </a:pathLst>
          </a:cu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68628" name="Freeform 64">
            <a:extLst>
              <a:ext uri="{FF2B5EF4-FFF2-40B4-BE49-F238E27FC236}">
                <a16:creationId xmlns:a16="http://schemas.microsoft.com/office/drawing/2014/main" id="{9FD78A4C-8DCE-4837-99EF-3549DDA0EDD4}"/>
              </a:ext>
            </a:extLst>
          </p:cNvPr>
          <p:cNvSpPr>
            <a:spLocks/>
          </p:cNvSpPr>
          <p:nvPr/>
        </p:nvSpPr>
        <p:spPr bwMode="auto">
          <a:xfrm>
            <a:off x="1905000" y="3429000"/>
            <a:ext cx="685800" cy="1384300"/>
          </a:xfrm>
          <a:custGeom>
            <a:avLst/>
            <a:gdLst>
              <a:gd name="T0" fmla="*/ 2147483647 w 432"/>
              <a:gd name="T1" fmla="*/ 2147483647 h 872"/>
              <a:gd name="T2" fmla="*/ 2147483647 w 432"/>
              <a:gd name="T3" fmla="*/ 2147483647 h 872"/>
              <a:gd name="T4" fmla="*/ 2147483647 w 432"/>
              <a:gd name="T5" fmla="*/ 2147483647 h 872"/>
              <a:gd name="T6" fmla="*/ 0 w 432"/>
              <a:gd name="T7" fmla="*/ 0 h 87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872"/>
              <a:gd name="T14" fmla="*/ 432 w 432"/>
              <a:gd name="T15" fmla="*/ 872 h 8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872">
                <a:moveTo>
                  <a:pt x="96" y="816"/>
                </a:moveTo>
                <a:cubicBezTo>
                  <a:pt x="168" y="844"/>
                  <a:pt x="240" y="872"/>
                  <a:pt x="288" y="768"/>
                </a:cubicBezTo>
                <a:cubicBezTo>
                  <a:pt x="336" y="664"/>
                  <a:pt x="432" y="320"/>
                  <a:pt x="384" y="192"/>
                </a:cubicBezTo>
                <a:cubicBezTo>
                  <a:pt x="336" y="64"/>
                  <a:pt x="168" y="32"/>
                  <a:pt x="0" y="0"/>
                </a:cubicBezTo>
              </a:path>
            </a:pathLst>
          </a:custGeom>
          <a:noFill/>
          <a:ln w="2857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68629" name="Freeform 65">
            <a:extLst>
              <a:ext uri="{FF2B5EF4-FFF2-40B4-BE49-F238E27FC236}">
                <a16:creationId xmlns:a16="http://schemas.microsoft.com/office/drawing/2014/main" id="{B668B55D-268A-45D4-B949-FF8750B08A2A}"/>
              </a:ext>
            </a:extLst>
          </p:cNvPr>
          <p:cNvSpPr>
            <a:spLocks/>
          </p:cNvSpPr>
          <p:nvPr/>
        </p:nvSpPr>
        <p:spPr bwMode="auto">
          <a:xfrm>
            <a:off x="1905000" y="3200400"/>
            <a:ext cx="152400" cy="152400"/>
          </a:xfrm>
          <a:custGeom>
            <a:avLst/>
            <a:gdLst>
              <a:gd name="T0" fmla="*/ 0 w 96"/>
              <a:gd name="T1" fmla="*/ 0 h 96"/>
              <a:gd name="T2" fmla="*/ 2147483647 w 96"/>
              <a:gd name="T3" fmla="*/ 2147483647 h 96"/>
              <a:gd name="T4" fmla="*/ 0 w 96"/>
              <a:gd name="T5" fmla="*/ 2147483647 h 96"/>
              <a:gd name="T6" fmla="*/ 0 60000 65536"/>
              <a:gd name="T7" fmla="*/ 0 60000 65536"/>
              <a:gd name="T8" fmla="*/ 0 60000 65536"/>
              <a:gd name="T9" fmla="*/ 0 w 96"/>
              <a:gd name="T10" fmla="*/ 0 h 96"/>
              <a:gd name="T11" fmla="*/ 96 w 96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96">
                <a:moveTo>
                  <a:pt x="0" y="0"/>
                </a:moveTo>
                <a:cubicBezTo>
                  <a:pt x="48" y="16"/>
                  <a:pt x="96" y="32"/>
                  <a:pt x="96" y="48"/>
                </a:cubicBezTo>
                <a:cubicBezTo>
                  <a:pt x="96" y="64"/>
                  <a:pt x="48" y="80"/>
                  <a:pt x="0" y="96"/>
                </a:cubicBezTo>
              </a:path>
            </a:pathLst>
          </a:custGeom>
          <a:noFill/>
          <a:ln w="2857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68630" name="Freeform 66">
            <a:extLst>
              <a:ext uri="{FF2B5EF4-FFF2-40B4-BE49-F238E27FC236}">
                <a16:creationId xmlns:a16="http://schemas.microsoft.com/office/drawing/2014/main" id="{5AA6598F-3D2A-4338-9355-6CEE059D7EEA}"/>
              </a:ext>
            </a:extLst>
          </p:cNvPr>
          <p:cNvSpPr>
            <a:spLocks/>
          </p:cNvSpPr>
          <p:nvPr/>
        </p:nvSpPr>
        <p:spPr bwMode="auto">
          <a:xfrm>
            <a:off x="1054100" y="3429000"/>
            <a:ext cx="774700" cy="482600"/>
          </a:xfrm>
          <a:custGeom>
            <a:avLst/>
            <a:gdLst>
              <a:gd name="T0" fmla="*/ 2147483647 w 488"/>
              <a:gd name="T1" fmla="*/ 2147483647 h 304"/>
              <a:gd name="T2" fmla="*/ 2147483647 w 488"/>
              <a:gd name="T3" fmla="*/ 2147483647 h 304"/>
              <a:gd name="T4" fmla="*/ 2147483647 w 488"/>
              <a:gd name="T5" fmla="*/ 2147483647 h 304"/>
              <a:gd name="T6" fmla="*/ 2147483647 w 488"/>
              <a:gd name="T7" fmla="*/ 0 h 304"/>
              <a:gd name="T8" fmla="*/ 0 60000 65536"/>
              <a:gd name="T9" fmla="*/ 0 60000 65536"/>
              <a:gd name="T10" fmla="*/ 0 60000 65536"/>
              <a:gd name="T11" fmla="*/ 0 60000 65536"/>
              <a:gd name="T12" fmla="*/ 0 w 488"/>
              <a:gd name="T13" fmla="*/ 0 h 304"/>
              <a:gd name="T14" fmla="*/ 488 w 488"/>
              <a:gd name="T15" fmla="*/ 304 h 3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8" h="304">
                <a:moveTo>
                  <a:pt x="488" y="240"/>
                </a:moveTo>
                <a:cubicBezTo>
                  <a:pt x="456" y="272"/>
                  <a:pt x="424" y="304"/>
                  <a:pt x="344" y="288"/>
                </a:cubicBezTo>
                <a:cubicBezTo>
                  <a:pt x="264" y="272"/>
                  <a:pt x="0" y="192"/>
                  <a:pt x="8" y="144"/>
                </a:cubicBezTo>
                <a:cubicBezTo>
                  <a:pt x="16" y="96"/>
                  <a:pt x="204" y="48"/>
                  <a:pt x="392" y="0"/>
                </a:cubicBezTo>
              </a:path>
            </a:pathLst>
          </a:custGeom>
          <a:noFill/>
          <a:ln w="2857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68631" name="Freeform 68">
            <a:extLst>
              <a:ext uri="{FF2B5EF4-FFF2-40B4-BE49-F238E27FC236}">
                <a16:creationId xmlns:a16="http://schemas.microsoft.com/office/drawing/2014/main" id="{EDE6B0EF-0676-486D-8ABC-287B246B59A1}"/>
              </a:ext>
            </a:extLst>
          </p:cNvPr>
          <p:cNvSpPr>
            <a:spLocks/>
          </p:cNvSpPr>
          <p:nvPr/>
        </p:nvSpPr>
        <p:spPr bwMode="auto">
          <a:xfrm>
            <a:off x="2819400" y="3124200"/>
            <a:ext cx="1790700" cy="482600"/>
          </a:xfrm>
          <a:custGeom>
            <a:avLst/>
            <a:gdLst>
              <a:gd name="T0" fmla="*/ 2147483647 w 1128"/>
              <a:gd name="T1" fmla="*/ 2147483647 h 304"/>
              <a:gd name="T2" fmla="*/ 2147483647 w 1128"/>
              <a:gd name="T3" fmla="*/ 2147483647 h 304"/>
              <a:gd name="T4" fmla="*/ 2147483647 w 1128"/>
              <a:gd name="T5" fmla="*/ 2147483647 h 304"/>
              <a:gd name="T6" fmla="*/ 0 w 1128"/>
              <a:gd name="T7" fmla="*/ 0 h 304"/>
              <a:gd name="T8" fmla="*/ 0 60000 65536"/>
              <a:gd name="T9" fmla="*/ 0 60000 65536"/>
              <a:gd name="T10" fmla="*/ 0 60000 65536"/>
              <a:gd name="T11" fmla="*/ 0 60000 65536"/>
              <a:gd name="T12" fmla="*/ 0 w 1128"/>
              <a:gd name="T13" fmla="*/ 0 h 304"/>
              <a:gd name="T14" fmla="*/ 1128 w 1128"/>
              <a:gd name="T15" fmla="*/ 304 h 3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8" h="304">
                <a:moveTo>
                  <a:pt x="1056" y="96"/>
                </a:moveTo>
                <a:cubicBezTo>
                  <a:pt x="1092" y="184"/>
                  <a:pt x="1128" y="272"/>
                  <a:pt x="1008" y="288"/>
                </a:cubicBezTo>
                <a:cubicBezTo>
                  <a:pt x="888" y="304"/>
                  <a:pt x="504" y="240"/>
                  <a:pt x="336" y="192"/>
                </a:cubicBezTo>
                <a:cubicBezTo>
                  <a:pt x="168" y="144"/>
                  <a:pt x="84" y="72"/>
                  <a:pt x="0" y="0"/>
                </a:cubicBezTo>
              </a:path>
            </a:pathLst>
          </a:cu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68632" name="Freeform 69">
            <a:extLst>
              <a:ext uri="{FF2B5EF4-FFF2-40B4-BE49-F238E27FC236}">
                <a16:creationId xmlns:a16="http://schemas.microsoft.com/office/drawing/2014/main" id="{3801E5C5-3C26-493C-97B0-88A31FC4DF13}"/>
              </a:ext>
            </a:extLst>
          </p:cNvPr>
          <p:cNvSpPr>
            <a:spLocks/>
          </p:cNvSpPr>
          <p:nvPr/>
        </p:nvSpPr>
        <p:spPr bwMode="auto">
          <a:xfrm>
            <a:off x="1905000" y="3733800"/>
            <a:ext cx="1752600" cy="609600"/>
          </a:xfrm>
          <a:custGeom>
            <a:avLst/>
            <a:gdLst>
              <a:gd name="T0" fmla="*/ 2147483647 w 1104"/>
              <a:gd name="T1" fmla="*/ 2147483647 h 384"/>
              <a:gd name="T2" fmla="*/ 2147483647 w 1104"/>
              <a:gd name="T3" fmla="*/ 2147483647 h 384"/>
              <a:gd name="T4" fmla="*/ 2147483647 w 1104"/>
              <a:gd name="T5" fmla="*/ 2147483647 h 384"/>
              <a:gd name="T6" fmla="*/ 0 w 1104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1104"/>
              <a:gd name="T13" fmla="*/ 0 h 384"/>
              <a:gd name="T14" fmla="*/ 1104 w 1104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" h="384">
                <a:moveTo>
                  <a:pt x="1008" y="192"/>
                </a:moveTo>
                <a:cubicBezTo>
                  <a:pt x="1056" y="228"/>
                  <a:pt x="1104" y="264"/>
                  <a:pt x="1056" y="288"/>
                </a:cubicBezTo>
                <a:cubicBezTo>
                  <a:pt x="1008" y="312"/>
                  <a:pt x="896" y="384"/>
                  <a:pt x="720" y="336"/>
                </a:cubicBezTo>
                <a:cubicBezTo>
                  <a:pt x="544" y="288"/>
                  <a:pt x="272" y="144"/>
                  <a:pt x="0" y="0"/>
                </a:cubicBezTo>
              </a:path>
            </a:pathLst>
          </a:cu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56390" name="AutoShape 70">
            <a:extLst>
              <a:ext uri="{FF2B5EF4-FFF2-40B4-BE49-F238E27FC236}">
                <a16:creationId xmlns:a16="http://schemas.microsoft.com/office/drawing/2014/main" id="{2E37B1AC-0F87-41D2-AEAE-CBE46B05F13C}"/>
              </a:ext>
            </a:extLst>
          </p:cNvPr>
          <p:cNvSpPr>
            <a:spLocks/>
          </p:cNvSpPr>
          <p:nvPr/>
        </p:nvSpPr>
        <p:spPr bwMode="auto">
          <a:xfrm>
            <a:off x="3929063" y="5702300"/>
            <a:ext cx="3005137" cy="385763"/>
          </a:xfrm>
          <a:prstGeom prst="accentBorderCallout1">
            <a:avLst>
              <a:gd name="adj1" fmla="val 26569"/>
              <a:gd name="adj2" fmla="val -2537"/>
              <a:gd name="adj3" fmla="val -371588"/>
              <a:gd name="adj4" fmla="val -62653"/>
            </a:avLst>
          </a:prstGeom>
          <a:noFill/>
          <a:ln w="19050">
            <a:solidFill>
              <a:srgbClr val="FF006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solidFill>
                  <a:srgbClr val="FF0065"/>
                </a:solidFill>
              </a:rPr>
              <a:t>Here is the circularity …</a:t>
            </a:r>
          </a:p>
        </p:txBody>
      </p:sp>
      <p:graphicFrame>
        <p:nvGraphicFramePr>
          <p:cNvPr id="56391" name="Group 71">
            <a:extLst>
              <a:ext uri="{FF2B5EF4-FFF2-40B4-BE49-F238E27FC236}">
                <a16:creationId xmlns:a16="http://schemas.microsoft.com/office/drawing/2014/main" id="{A39164DC-5E65-4FEE-B3B8-2971905A1D50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1447800"/>
          <a:ext cx="4191000" cy="3084576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23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Productions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Attribution Rules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List.a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.a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.a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Bit.val 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.b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.a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+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Bit.val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635" name="Rectangle 67">
            <a:extLst>
              <a:ext uri="{FF2B5EF4-FFF2-40B4-BE49-F238E27FC236}">
                <a16:creationId xmlns:a16="http://schemas.microsoft.com/office/drawing/2014/main" id="{86B4A059-D56F-4932-A381-068D3F28D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8788" y="3344863"/>
            <a:ext cx="2133600" cy="838200"/>
          </a:xfrm>
          <a:prstGeom prst="rect">
            <a:avLst/>
          </a:prstGeom>
          <a:noFill/>
          <a:ln w="28575">
            <a:solidFill>
              <a:srgbClr val="FF006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/>
            <a:endParaRPr lang="en-GB" altLang="it-IT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90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8">
            <a:extLst>
              <a:ext uri="{FF2B5EF4-FFF2-40B4-BE49-F238E27FC236}">
                <a16:creationId xmlns:a16="http://schemas.microsoft.com/office/drawing/2014/main" id="{6C17E832-32F1-48CD-AEDA-5BA217DCA160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447800"/>
            <a:ext cx="4038600" cy="3962400"/>
            <a:chOff x="384" y="912"/>
            <a:chExt cx="2544" cy="2496"/>
          </a:xfrm>
          <a:solidFill>
            <a:srgbClr val="FFFFFF"/>
          </a:solidFill>
          <a:effectLst>
            <a:outerShdw blurRad="50800" dist="38100" dir="2700000">
              <a:srgbClr val="000000">
                <a:alpha val="43000"/>
              </a:srgbClr>
            </a:outerShdw>
          </a:effectLst>
        </p:grpSpPr>
        <p:sp>
          <p:nvSpPr>
            <p:cNvPr id="70712" name="Rectangle 29">
              <a:extLst>
                <a:ext uri="{FF2B5EF4-FFF2-40B4-BE49-F238E27FC236}">
                  <a16:creationId xmlns:a16="http://schemas.microsoft.com/office/drawing/2014/main" id="{2956C956-00F5-4ADD-95BB-B485752F6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912"/>
              <a:ext cx="2544" cy="2496"/>
            </a:xfrm>
            <a:prstGeom prst="rect">
              <a:avLst/>
            </a:prstGeom>
            <a:grpFill/>
            <a:ln w="19050">
              <a:solidFill>
                <a:srgbClr val="7F7F7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defRPr/>
              </a:pPr>
              <a:endParaRPr lang="en-US">
                <a:latin typeface="Comic Sans MS" charset="0"/>
                <a:ea typeface="ヒラギノ角ゴ Pro W3" charset="-128"/>
                <a:cs typeface="ヒラギノ角ゴ Pro W3" charset="-128"/>
              </a:endParaRPr>
            </a:p>
          </p:txBody>
        </p:sp>
        <p:sp>
          <p:nvSpPr>
            <p:cNvPr id="70713" name="Text Box 30">
              <a:extLst>
                <a:ext uri="{FF2B5EF4-FFF2-40B4-BE49-F238E27FC236}">
                  <a16:creationId xmlns:a16="http://schemas.microsoft.com/office/drawing/2014/main" id="{4C2A188D-613C-47BA-BC69-E5787AA9E1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184"/>
              <a:ext cx="864" cy="224"/>
            </a:xfrm>
            <a:prstGeom prst="rect">
              <a:avLst/>
            </a:prstGeom>
            <a:grpFill/>
            <a:ln w="19050">
              <a:solidFill>
                <a:srgbClr val="7F7F7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600">
                  <a:solidFill>
                    <a:srgbClr val="FF0065"/>
                  </a:solidFill>
                  <a:latin typeface="Arial Rounded MT Bold" charset="0"/>
                  <a:ea typeface="ヒラギノ角ゴ Pro W3" charset="-128"/>
                  <a:cs typeface="ヒラギノ角ゴ Pro W3" charset="-128"/>
                </a:rPr>
                <a:t>For “–101”</a:t>
              </a:r>
              <a:endParaRPr lang="en-US" sz="1600">
                <a:latin typeface="Arial Rounded MT Bold" charset="0"/>
                <a:ea typeface="ヒラギノ角ゴ Pro W3" charset="-128"/>
                <a:cs typeface="ヒラギノ角ゴ Pro W3" charset="-128"/>
              </a:endParaRPr>
            </a:p>
          </p:txBody>
        </p:sp>
      </p:grpSp>
      <p:sp>
        <p:nvSpPr>
          <p:cNvPr id="70658" name="Footer Placeholder 3">
            <a:extLst>
              <a:ext uri="{FF2B5EF4-FFF2-40B4-BE49-F238E27FC236}">
                <a16:creationId xmlns:a16="http://schemas.microsoft.com/office/drawing/2014/main" id="{75F81849-828F-4B91-A072-B9B4AE5E33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0659" name="Slide Number Placeholder 4">
            <a:extLst>
              <a:ext uri="{FF2B5EF4-FFF2-40B4-BE49-F238E27FC236}">
                <a16:creationId xmlns:a16="http://schemas.microsoft.com/office/drawing/2014/main" id="{2E70C0D1-2D1D-4E50-B9BE-C3962C2AD6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AA4AB54-CB89-41EB-A1EF-DAABEDA285D8}" type="slidenum">
              <a:rPr lang="en-US" altLang="it-IT"/>
              <a:pPr/>
              <a:t>27</a:t>
            </a:fld>
            <a:endParaRPr lang="en-US" altLang="it-IT"/>
          </a:p>
        </p:txBody>
      </p:sp>
      <p:sp>
        <p:nvSpPr>
          <p:cNvPr id="70660" name="Rectangle 2">
            <a:extLst>
              <a:ext uri="{FF2B5EF4-FFF2-40B4-BE49-F238E27FC236}">
                <a16:creationId xmlns:a16="http://schemas.microsoft.com/office/drawing/2014/main" id="{7495ADBE-7A6D-410E-8968-8DE8C5AED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Circular Grammar Example</a:t>
            </a:r>
          </a:p>
        </p:txBody>
      </p:sp>
      <p:grpSp>
        <p:nvGrpSpPr>
          <p:cNvPr id="70661" name="Group 3">
            <a:extLst>
              <a:ext uri="{FF2B5EF4-FFF2-40B4-BE49-F238E27FC236}">
                <a16:creationId xmlns:a16="http://schemas.microsoft.com/office/drawing/2014/main" id="{48939460-1A78-4100-B45F-3286F0F86553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1524000"/>
            <a:ext cx="3149600" cy="3546475"/>
            <a:chOff x="577" y="960"/>
            <a:chExt cx="1984" cy="2234"/>
          </a:xfrm>
        </p:grpSpPr>
        <p:sp>
          <p:nvSpPr>
            <p:cNvPr id="70690" name="Line 4">
              <a:extLst>
                <a:ext uri="{FF2B5EF4-FFF2-40B4-BE49-F238E27FC236}">
                  <a16:creationId xmlns:a16="http://schemas.microsoft.com/office/drawing/2014/main" id="{988C91AD-E09A-4F1E-8296-0811682B77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6" y="2164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0691" name="Oval 5">
              <a:extLst>
                <a:ext uri="{FF2B5EF4-FFF2-40B4-BE49-F238E27FC236}">
                  <a16:creationId xmlns:a16="http://schemas.microsoft.com/office/drawing/2014/main" id="{DD9470E1-8BB8-4D17-A4E5-641852087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960"/>
              <a:ext cx="432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Number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70692" name="Line 6">
              <a:extLst>
                <a:ext uri="{FF2B5EF4-FFF2-40B4-BE49-F238E27FC236}">
                  <a16:creationId xmlns:a16="http://schemas.microsoft.com/office/drawing/2014/main" id="{2C1720C6-3108-48B5-8979-122F3774F9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1" y="1243"/>
              <a:ext cx="148" cy="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0693" name="Line 7">
              <a:extLst>
                <a:ext uri="{FF2B5EF4-FFF2-40B4-BE49-F238E27FC236}">
                  <a16:creationId xmlns:a16="http://schemas.microsoft.com/office/drawing/2014/main" id="{4CD4308E-C25A-4416-9343-453440BB6C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1242"/>
              <a:ext cx="90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0694" name="Oval 8">
              <a:extLst>
                <a:ext uri="{FF2B5EF4-FFF2-40B4-BE49-F238E27FC236}">
                  <a16:creationId xmlns:a16="http://schemas.microsoft.com/office/drawing/2014/main" id="{B5DAE3B0-289D-42A0-9DC1-395E42DC4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1435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Sign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70695" name="Line 9">
              <a:extLst>
                <a:ext uri="{FF2B5EF4-FFF2-40B4-BE49-F238E27FC236}">
                  <a16:creationId xmlns:a16="http://schemas.microsoft.com/office/drawing/2014/main" id="{E53F43B9-F904-4300-AFED-45E1FCCB43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725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0696" name="Oval 10">
              <a:extLst>
                <a:ext uri="{FF2B5EF4-FFF2-40B4-BE49-F238E27FC236}">
                  <a16:creationId xmlns:a16="http://schemas.microsoft.com/office/drawing/2014/main" id="{56D1747C-4327-4EE5-97D8-FD611892E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" y="144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70697" name="Oval 11">
              <a:extLst>
                <a:ext uri="{FF2B5EF4-FFF2-40B4-BE49-F238E27FC236}">
                  <a16:creationId xmlns:a16="http://schemas.microsoft.com/office/drawing/2014/main" id="{9E1F12A0-D195-40E5-859A-8980410DF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3" y="1867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70698" name="Oval 12">
              <a:extLst>
                <a:ext uri="{FF2B5EF4-FFF2-40B4-BE49-F238E27FC236}">
                  <a16:creationId xmlns:a16="http://schemas.microsoft.com/office/drawing/2014/main" id="{FFABA8D8-7829-41BD-A076-00849F766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7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70699" name="Line 13">
              <a:extLst>
                <a:ext uri="{FF2B5EF4-FFF2-40B4-BE49-F238E27FC236}">
                  <a16:creationId xmlns:a16="http://schemas.microsoft.com/office/drawing/2014/main" id="{2A5606FF-69B1-438A-B970-B077A0E70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7" y="1697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0700" name="Line 14">
              <a:extLst>
                <a:ext uri="{FF2B5EF4-FFF2-40B4-BE49-F238E27FC236}">
                  <a16:creationId xmlns:a16="http://schemas.microsoft.com/office/drawing/2014/main" id="{7B9C63E0-B1DE-4A00-89C1-1311A46198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73" y="1704"/>
              <a:ext cx="438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0701" name="Oval 15">
              <a:extLst>
                <a:ext uri="{FF2B5EF4-FFF2-40B4-BE49-F238E27FC236}">
                  <a16:creationId xmlns:a16="http://schemas.microsoft.com/office/drawing/2014/main" id="{EF1BC8FF-4B61-46C5-A9B2-D54ED5FE0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3" y="2303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70702" name="Line 16">
              <a:extLst>
                <a:ext uri="{FF2B5EF4-FFF2-40B4-BE49-F238E27FC236}">
                  <a16:creationId xmlns:a16="http://schemas.microsoft.com/office/drawing/2014/main" id="{C34F77C6-3C7F-44D9-90AB-1AF668B70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6" y="2600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0703" name="Oval 17">
              <a:extLst>
                <a:ext uri="{FF2B5EF4-FFF2-40B4-BE49-F238E27FC236}">
                  <a16:creationId xmlns:a16="http://schemas.microsoft.com/office/drawing/2014/main" id="{9989FAD7-3C25-49AA-93EC-BC6FF2C62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304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List</a:t>
              </a:r>
            </a:p>
          </p:txBody>
        </p:sp>
        <p:sp>
          <p:nvSpPr>
            <p:cNvPr id="70704" name="Line 18">
              <a:extLst>
                <a:ext uri="{FF2B5EF4-FFF2-40B4-BE49-F238E27FC236}">
                  <a16:creationId xmlns:a16="http://schemas.microsoft.com/office/drawing/2014/main" id="{5AA2EC21-37D4-430D-AFB9-8D707B9E84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7" y="2133"/>
              <a:ext cx="175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0705" name="Line 19">
              <a:extLst>
                <a:ext uri="{FF2B5EF4-FFF2-40B4-BE49-F238E27FC236}">
                  <a16:creationId xmlns:a16="http://schemas.microsoft.com/office/drawing/2014/main" id="{89650D14-8693-4001-B7DD-745D87117B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140"/>
              <a:ext cx="383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0706" name="Oval 20">
              <a:extLst>
                <a:ext uri="{FF2B5EF4-FFF2-40B4-BE49-F238E27FC236}">
                  <a16:creationId xmlns:a16="http://schemas.microsoft.com/office/drawing/2014/main" id="{3291B0B8-61CF-48D1-8F4D-CA638B985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742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/>
              <a:r>
                <a:rPr lang="en-US" altLang="it-IT" sz="1200" i="1">
                  <a:latin typeface="Arial Rounded MT Bold" panose="020F0704030504030204" pitchFamily="34" charset="0"/>
                </a:rPr>
                <a:t>Bit</a:t>
              </a:r>
              <a:endParaRPr lang="en-US" altLang="it-IT" sz="1200">
                <a:latin typeface="Arial Rounded MT Bold" panose="020F0704030504030204" pitchFamily="34" charset="0"/>
              </a:endParaRPr>
            </a:p>
          </p:txBody>
        </p:sp>
        <p:sp>
          <p:nvSpPr>
            <p:cNvPr id="70707" name="Line 21">
              <a:extLst>
                <a:ext uri="{FF2B5EF4-FFF2-40B4-BE49-F238E27FC236}">
                  <a16:creationId xmlns:a16="http://schemas.microsoft.com/office/drawing/2014/main" id="{6C60C4DA-2558-431C-8508-56FAC6FC4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" y="3039"/>
              <a:ext cx="1" cy="1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0708" name="Line 22">
              <a:extLst>
                <a:ext uri="{FF2B5EF4-FFF2-40B4-BE49-F238E27FC236}">
                  <a16:creationId xmlns:a16="http://schemas.microsoft.com/office/drawing/2014/main" id="{4C4D747A-5B7C-4738-84D7-88C7902F9E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593"/>
              <a:ext cx="0" cy="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grpSp>
        <p:nvGrpSpPr>
          <p:cNvPr id="70662" name="Group 23">
            <a:extLst>
              <a:ext uri="{FF2B5EF4-FFF2-40B4-BE49-F238E27FC236}">
                <a16:creationId xmlns:a16="http://schemas.microsoft.com/office/drawing/2014/main" id="{D6ABAD15-BCF0-4DDB-BD17-BA945CE73646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976563"/>
            <a:ext cx="3113088" cy="2417762"/>
            <a:chOff x="576" y="1875"/>
            <a:chExt cx="1961" cy="1523"/>
          </a:xfrm>
        </p:grpSpPr>
        <p:sp>
          <p:nvSpPr>
            <p:cNvPr id="70686" name="Text Box 24">
              <a:extLst>
                <a:ext uri="{FF2B5EF4-FFF2-40B4-BE49-F238E27FC236}">
                  <a16:creationId xmlns:a16="http://schemas.microsoft.com/office/drawing/2014/main" id="{0A589690-6FFD-45FD-A9DF-610D378A8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75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600">
                  <a:latin typeface="Arial Rounded MT Bold" panose="020F0704030504030204" pitchFamily="34" charset="0"/>
                </a:rPr>
                <a:t>–</a:t>
              </a:r>
            </a:p>
          </p:txBody>
        </p:sp>
        <p:sp>
          <p:nvSpPr>
            <p:cNvPr id="70687" name="Text Box 25">
              <a:extLst>
                <a:ext uri="{FF2B5EF4-FFF2-40B4-BE49-F238E27FC236}">
                  <a16:creationId xmlns:a16="http://schemas.microsoft.com/office/drawing/2014/main" id="{F64917C8-747C-4212-9074-49A25B9A02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7" y="2301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70688" name="Text Box 26">
              <a:extLst>
                <a:ext uri="{FF2B5EF4-FFF2-40B4-BE49-F238E27FC236}">
                  <a16:creationId xmlns:a16="http://schemas.microsoft.com/office/drawing/2014/main" id="{6E7F4640-BB11-4DE3-A19C-FC93D5CC3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7" y="2786"/>
              <a:ext cx="24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0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  <p:sp>
          <p:nvSpPr>
            <p:cNvPr id="70689" name="Text Box 27">
              <a:extLst>
                <a:ext uri="{FF2B5EF4-FFF2-40B4-BE49-F238E27FC236}">
                  <a16:creationId xmlns:a16="http://schemas.microsoft.com/office/drawing/2014/main" id="{633F471F-0D01-4FD5-8871-AAB120A6CE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4" y="3225"/>
              <a:ext cx="17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it-IT" sz="1200">
                  <a:latin typeface="Arial Rounded MT Bold" panose="020F0704030504030204" pitchFamily="34" charset="0"/>
                </a:rPr>
                <a:t>1</a:t>
              </a:r>
              <a:endParaRPr lang="en-US" altLang="it-IT" sz="160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70663" name="Text Box 31">
            <a:extLst>
              <a:ext uri="{FF2B5EF4-FFF2-40B4-BE49-F238E27FC236}">
                <a16:creationId xmlns:a16="http://schemas.microsoft.com/office/drawing/2014/main" id="{B0261AAF-47F3-4E63-A8C7-1B42EDB4B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7113" y="1752600"/>
            <a:ext cx="6096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 </a:t>
            </a:r>
            <a:r>
              <a:rPr lang="en-US" altLang="it-IT" sz="1400">
                <a:solidFill>
                  <a:srgbClr val="B025A6"/>
                </a:solidFill>
              </a:rPr>
              <a:t>0</a:t>
            </a:r>
            <a:endParaRPr lang="en-US" altLang="it-IT" sz="1400"/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70664" name="Text Box 32">
            <a:extLst>
              <a:ext uri="{FF2B5EF4-FFF2-40B4-BE49-F238E27FC236}">
                <a16:creationId xmlns:a16="http://schemas.microsoft.com/office/drawing/2014/main" id="{C39B9C31-BCC4-4405-8FF6-4CA6C0EDE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6513" y="2365375"/>
            <a:ext cx="4572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</a:t>
            </a:r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70665" name="Text Box 33">
            <a:extLst>
              <a:ext uri="{FF2B5EF4-FFF2-40B4-BE49-F238E27FC236}">
                <a16:creationId xmlns:a16="http://schemas.microsoft.com/office/drawing/2014/main" id="{58BD3D05-098F-409C-81A9-E2455D744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488" y="3008313"/>
            <a:ext cx="4572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 sz="1400"/>
              <a:t>a:</a:t>
            </a:r>
          </a:p>
          <a:p>
            <a:r>
              <a:rPr lang="en-US" altLang="it-IT" sz="1400"/>
              <a:t>b:</a:t>
            </a:r>
          </a:p>
          <a:p>
            <a:r>
              <a:rPr lang="en-US" altLang="it-IT" sz="1400"/>
              <a:t>c:</a:t>
            </a:r>
          </a:p>
        </p:txBody>
      </p:sp>
      <p:sp>
        <p:nvSpPr>
          <p:cNvPr id="70666" name="Text Box 34">
            <a:extLst>
              <a:ext uri="{FF2B5EF4-FFF2-40B4-BE49-F238E27FC236}">
                <a16:creationId xmlns:a16="http://schemas.microsoft.com/office/drawing/2014/main" id="{57C61CA1-EB34-4A6F-B924-2EAC51C7C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5138" y="3851275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70667" name="Text Box 35">
            <a:extLst>
              <a:ext uri="{FF2B5EF4-FFF2-40B4-BE49-F238E27FC236}">
                <a16:creationId xmlns:a16="http://schemas.microsoft.com/office/drawing/2014/main" id="{B93F5FBE-D54A-4678-9B8E-C27967D9A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3124200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70668" name="Text Box 36">
            <a:extLst>
              <a:ext uri="{FF2B5EF4-FFF2-40B4-BE49-F238E27FC236}">
                <a16:creationId xmlns:a16="http://schemas.microsoft.com/office/drawing/2014/main" id="{B0CEC854-3619-49DE-A794-73FA087D0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551363"/>
            <a:ext cx="685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 sz="1400"/>
              <a:t>val:</a:t>
            </a:r>
          </a:p>
        </p:txBody>
      </p:sp>
      <p:sp>
        <p:nvSpPr>
          <p:cNvPr id="70669" name="Line 37">
            <a:extLst>
              <a:ext uri="{FF2B5EF4-FFF2-40B4-BE49-F238E27FC236}">
                <a16:creationId xmlns:a16="http://schemas.microsoft.com/office/drawing/2014/main" id="{75D22EDD-35D5-4607-BF80-7DC5D67407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1524000"/>
            <a:ext cx="381000" cy="3048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70670" name="Freeform 38">
            <a:extLst>
              <a:ext uri="{FF2B5EF4-FFF2-40B4-BE49-F238E27FC236}">
                <a16:creationId xmlns:a16="http://schemas.microsoft.com/office/drawing/2014/main" id="{C983466B-2490-463A-8E7D-787CCC86E9C7}"/>
              </a:ext>
            </a:extLst>
          </p:cNvPr>
          <p:cNvSpPr>
            <a:spLocks/>
          </p:cNvSpPr>
          <p:nvPr/>
        </p:nvSpPr>
        <p:spPr bwMode="auto">
          <a:xfrm>
            <a:off x="2298700" y="1968500"/>
            <a:ext cx="1282700" cy="774700"/>
          </a:xfrm>
          <a:custGeom>
            <a:avLst/>
            <a:gdLst>
              <a:gd name="T0" fmla="*/ 2147483647 w 808"/>
              <a:gd name="T1" fmla="*/ 2147483647 h 488"/>
              <a:gd name="T2" fmla="*/ 2147483647 w 808"/>
              <a:gd name="T3" fmla="*/ 2147483647 h 488"/>
              <a:gd name="T4" fmla="*/ 2147483647 w 808"/>
              <a:gd name="T5" fmla="*/ 2147483647 h 488"/>
              <a:gd name="T6" fmla="*/ 2147483647 w 808"/>
              <a:gd name="T7" fmla="*/ 2147483647 h 488"/>
              <a:gd name="T8" fmla="*/ 0 60000 65536"/>
              <a:gd name="T9" fmla="*/ 0 60000 65536"/>
              <a:gd name="T10" fmla="*/ 0 60000 65536"/>
              <a:gd name="T11" fmla="*/ 0 60000 65536"/>
              <a:gd name="T12" fmla="*/ 0 w 808"/>
              <a:gd name="T13" fmla="*/ 0 h 488"/>
              <a:gd name="T14" fmla="*/ 808 w 808"/>
              <a:gd name="T15" fmla="*/ 488 h 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08" h="488">
                <a:moveTo>
                  <a:pt x="232" y="488"/>
                </a:moveTo>
                <a:cubicBezTo>
                  <a:pt x="116" y="360"/>
                  <a:pt x="0" y="232"/>
                  <a:pt x="40" y="152"/>
                </a:cubicBezTo>
                <a:cubicBezTo>
                  <a:pt x="80" y="72"/>
                  <a:pt x="344" y="16"/>
                  <a:pt x="472" y="8"/>
                </a:cubicBezTo>
                <a:cubicBezTo>
                  <a:pt x="600" y="0"/>
                  <a:pt x="704" y="52"/>
                  <a:pt x="808" y="104"/>
                </a:cubicBezTo>
              </a:path>
            </a:pathLst>
          </a:cu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70671" name="Freeform 39">
            <a:extLst>
              <a:ext uri="{FF2B5EF4-FFF2-40B4-BE49-F238E27FC236}">
                <a16:creationId xmlns:a16="http://schemas.microsoft.com/office/drawing/2014/main" id="{C33CED7F-AB8E-4E6E-B08B-67CF49A82518}"/>
              </a:ext>
            </a:extLst>
          </p:cNvPr>
          <p:cNvSpPr>
            <a:spLocks/>
          </p:cNvSpPr>
          <p:nvPr/>
        </p:nvSpPr>
        <p:spPr bwMode="auto">
          <a:xfrm>
            <a:off x="1295400" y="2625725"/>
            <a:ext cx="1282700" cy="774700"/>
          </a:xfrm>
          <a:custGeom>
            <a:avLst/>
            <a:gdLst>
              <a:gd name="T0" fmla="*/ 2147483647 w 808"/>
              <a:gd name="T1" fmla="*/ 2147483647 h 488"/>
              <a:gd name="T2" fmla="*/ 2147483647 w 808"/>
              <a:gd name="T3" fmla="*/ 2147483647 h 488"/>
              <a:gd name="T4" fmla="*/ 2147483647 w 808"/>
              <a:gd name="T5" fmla="*/ 2147483647 h 488"/>
              <a:gd name="T6" fmla="*/ 2147483647 w 808"/>
              <a:gd name="T7" fmla="*/ 2147483647 h 488"/>
              <a:gd name="T8" fmla="*/ 0 60000 65536"/>
              <a:gd name="T9" fmla="*/ 0 60000 65536"/>
              <a:gd name="T10" fmla="*/ 0 60000 65536"/>
              <a:gd name="T11" fmla="*/ 0 60000 65536"/>
              <a:gd name="T12" fmla="*/ 0 w 808"/>
              <a:gd name="T13" fmla="*/ 0 h 488"/>
              <a:gd name="T14" fmla="*/ 808 w 808"/>
              <a:gd name="T15" fmla="*/ 488 h 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08" h="488">
                <a:moveTo>
                  <a:pt x="232" y="488"/>
                </a:moveTo>
                <a:cubicBezTo>
                  <a:pt x="116" y="360"/>
                  <a:pt x="0" y="232"/>
                  <a:pt x="40" y="152"/>
                </a:cubicBezTo>
                <a:cubicBezTo>
                  <a:pt x="80" y="72"/>
                  <a:pt x="344" y="16"/>
                  <a:pt x="472" y="8"/>
                </a:cubicBezTo>
                <a:cubicBezTo>
                  <a:pt x="600" y="0"/>
                  <a:pt x="704" y="52"/>
                  <a:pt x="808" y="104"/>
                </a:cubicBezTo>
              </a:path>
            </a:pathLst>
          </a:cu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70672" name="Line 40">
            <a:extLst>
              <a:ext uri="{FF2B5EF4-FFF2-40B4-BE49-F238E27FC236}">
                <a16:creationId xmlns:a16="http://schemas.microsoft.com/office/drawing/2014/main" id="{7C7BD4E9-06DD-4538-B02B-D0ED2D830E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1981200"/>
            <a:ext cx="762000" cy="4572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70673" name="Line 41">
            <a:extLst>
              <a:ext uri="{FF2B5EF4-FFF2-40B4-BE49-F238E27FC236}">
                <a16:creationId xmlns:a16="http://schemas.microsoft.com/office/drawing/2014/main" id="{B472EB5B-C421-4E35-9D7D-D4930E51D1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76425" y="2605088"/>
            <a:ext cx="762000" cy="457200"/>
          </a:xfrm>
          <a:prstGeom prst="line">
            <a:avLst/>
          </a:pr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70674" name="Freeform 42">
            <a:extLst>
              <a:ext uri="{FF2B5EF4-FFF2-40B4-BE49-F238E27FC236}">
                <a16:creationId xmlns:a16="http://schemas.microsoft.com/office/drawing/2014/main" id="{3BACDD6F-3AE2-44D0-B145-0CCDC411323F}"/>
              </a:ext>
            </a:extLst>
          </p:cNvPr>
          <p:cNvSpPr>
            <a:spLocks/>
          </p:cNvSpPr>
          <p:nvPr/>
        </p:nvSpPr>
        <p:spPr bwMode="auto">
          <a:xfrm>
            <a:off x="2819400" y="2819400"/>
            <a:ext cx="152400" cy="152400"/>
          </a:xfrm>
          <a:custGeom>
            <a:avLst/>
            <a:gdLst>
              <a:gd name="T0" fmla="*/ 0 w 96"/>
              <a:gd name="T1" fmla="*/ 0 h 96"/>
              <a:gd name="T2" fmla="*/ 2147483647 w 96"/>
              <a:gd name="T3" fmla="*/ 2147483647 h 96"/>
              <a:gd name="T4" fmla="*/ 0 w 96"/>
              <a:gd name="T5" fmla="*/ 2147483647 h 96"/>
              <a:gd name="T6" fmla="*/ 0 60000 65536"/>
              <a:gd name="T7" fmla="*/ 0 60000 65536"/>
              <a:gd name="T8" fmla="*/ 0 60000 65536"/>
              <a:gd name="T9" fmla="*/ 0 w 96"/>
              <a:gd name="T10" fmla="*/ 0 h 96"/>
              <a:gd name="T11" fmla="*/ 96 w 96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96">
                <a:moveTo>
                  <a:pt x="0" y="0"/>
                </a:moveTo>
                <a:cubicBezTo>
                  <a:pt x="48" y="16"/>
                  <a:pt x="96" y="32"/>
                  <a:pt x="96" y="48"/>
                </a:cubicBezTo>
                <a:cubicBezTo>
                  <a:pt x="96" y="64"/>
                  <a:pt x="48" y="80"/>
                  <a:pt x="0" y="96"/>
                </a:cubicBezTo>
              </a:path>
            </a:pathLst>
          </a:cu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70675" name="Freeform 43">
            <a:extLst>
              <a:ext uri="{FF2B5EF4-FFF2-40B4-BE49-F238E27FC236}">
                <a16:creationId xmlns:a16="http://schemas.microsoft.com/office/drawing/2014/main" id="{2DDA393B-92C1-4FAB-8B3E-0A7999361061}"/>
              </a:ext>
            </a:extLst>
          </p:cNvPr>
          <p:cNvSpPr>
            <a:spLocks/>
          </p:cNvSpPr>
          <p:nvPr/>
        </p:nvSpPr>
        <p:spPr bwMode="auto">
          <a:xfrm>
            <a:off x="1871663" y="3476625"/>
            <a:ext cx="152400" cy="152400"/>
          </a:xfrm>
          <a:custGeom>
            <a:avLst/>
            <a:gdLst>
              <a:gd name="T0" fmla="*/ 0 w 96"/>
              <a:gd name="T1" fmla="*/ 0 h 96"/>
              <a:gd name="T2" fmla="*/ 2147483647 w 96"/>
              <a:gd name="T3" fmla="*/ 2147483647 h 96"/>
              <a:gd name="T4" fmla="*/ 0 w 96"/>
              <a:gd name="T5" fmla="*/ 2147483647 h 96"/>
              <a:gd name="T6" fmla="*/ 0 60000 65536"/>
              <a:gd name="T7" fmla="*/ 0 60000 65536"/>
              <a:gd name="T8" fmla="*/ 0 60000 65536"/>
              <a:gd name="T9" fmla="*/ 0 w 96"/>
              <a:gd name="T10" fmla="*/ 0 h 96"/>
              <a:gd name="T11" fmla="*/ 96 w 96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96">
                <a:moveTo>
                  <a:pt x="0" y="0"/>
                </a:moveTo>
                <a:cubicBezTo>
                  <a:pt x="48" y="16"/>
                  <a:pt x="96" y="32"/>
                  <a:pt x="96" y="48"/>
                </a:cubicBezTo>
                <a:cubicBezTo>
                  <a:pt x="96" y="64"/>
                  <a:pt x="48" y="80"/>
                  <a:pt x="0" y="96"/>
                </a:cubicBezTo>
              </a:path>
            </a:pathLst>
          </a:cu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70676" name="Freeform 44">
            <a:extLst>
              <a:ext uri="{FF2B5EF4-FFF2-40B4-BE49-F238E27FC236}">
                <a16:creationId xmlns:a16="http://schemas.microsoft.com/office/drawing/2014/main" id="{23A98C43-AF04-4B5B-BE38-80B5187AECAA}"/>
              </a:ext>
            </a:extLst>
          </p:cNvPr>
          <p:cNvSpPr>
            <a:spLocks/>
          </p:cNvSpPr>
          <p:nvPr/>
        </p:nvSpPr>
        <p:spPr bwMode="auto">
          <a:xfrm>
            <a:off x="1905000" y="3429000"/>
            <a:ext cx="685800" cy="1384300"/>
          </a:xfrm>
          <a:custGeom>
            <a:avLst/>
            <a:gdLst>
              <a:gd name="T0" fmla="*/ 2147483647 w 432"/>
              <a:gd name="T1" fmla="*/ 2147483647 h 872"/>
              <a:gd name="T2" fmla="*/ 2147483647 w 432"/>
              <a:gd name="T3" fmla="*/ 2147483647 h 872"/>
              <a:gd name="T4" fmla="*/ 2147483647 w 432"/>
              <a:gd name="T5" fmla="*/ 2147483647 h 872"/>
              <a:gd name="T6" fmla="*/ 0 w 432"/>
              <a:gd name="T7" fmla="*/ 0 h 87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872"/>
              <a:gd name="T14" fmla="*/ 432 w 432"/>
              <a:gd name="T15" fmla="*/ 872 h 8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872">
                <a:moveTo>
                  <a:pt x="96" y="816"/>
                </a:moveTo>
                <a:cubicBezTo>
                  <a:pt x="168" y="844"/>
                  <a:pt x="240" y="872"/>
                  <a:pt x="288" y="768"/>
                </a:cubicBezTo>
                <a:cubicBezTo>
                  <a:pt x="336" y="664"/>
                  <a:pt x="432" y="320"/>
                  <a:pt x="384" y="192"/>
                </a:cubicBezTo>
                <a:cubicBezTo>
                  <a:pt x="336" y="64"/>
                  <a:pt x="168" y="32"/>
                  <a:pt x="0" y="0"/>
                </a:cubicBezTo>
              </a:path>
            </a:pathLst>
          </a:custGeom>
          <a:noFill/>
          <a:ln w="2857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70677" name="Freeform 45">
            <a:extLst>
              <a:ext uri="{FF2B5EF4-FFF2-40B4-BE49-F238E27FC236}">
                <a16:creationId xmlns:a16="http://schemas.microsoft.com/office/drawing/2014/main" id="{DC7B7A11-85C1-4A5F-95A3-B13A440F156C}"/>
              </a:ext>
            </a:extLst>
          </p:cNvPr>
          <p:cNvSpPr>
            <a:spLocks/>
          </p:cNvSpPr>
          <p:nvPr/>
        </p:nvSpPr>
        <p:spPr bwMode="auto">
          <a:xfrm>
            <a:off x="1905000" y="3200400"/>
            <a:ext cx="152400" cy="152400"/>
          </a:xfrm>
          <a:custGeom>
            <a:avLst/>
            <a:gdLst>
              <a:gd name="T0" fmla="*/ 0 w 96"/>
              <a:gd name="T1" fmla="*/ 0 h 96"/>
              <a:gd name="T2" fmla="*/ 2147483647 w 96"/>
              <a:gd name="T3" fmla="*/ 2147483647 h 96"/>
              <a:gd name="T4" fmla="*/ 0 w 96"/>
              <a:gd name="T5" fmla="*/ 2147483647 h 96"/>
              <a:gd name="T6" fmla="*/ 0 60000 65536"/>
              <a:gd name="T7" fmla="*/ 0 60000 65536"/>
              <a:gd name="T8" fmla="*/ 0 60000 65536"/>
              <a:gd name="T9" fmla="*/ 0 w 96"/>
              <a:gd name="T10" fmla="*/ 0 h 96"/>
              <a:gd name="T11" fmla="*/ 96 w 96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" h="96">
                <a:moveTo>
                  <a:pt x="0" y="0"/>
                </a:moveTo>
                <a:cubicBezTo>
                  <a:pt x="48" y="16"/>
                  <a:pt x="96" y="32"/>
                  <a:pt x="96" y="48"/>
                </a:cubicBezTo>
                <a:cubicBezTo>
                  <a:pt x="96" y="64"/>
                  <a:pt x="48" y="80"/>
                  <a:pt x="0" y="96"/>
                </a:cubicBezTo>
              </a:path>
            </a:pathLst>
          </a:custGeom>
          <a:noFill/>
          <a:ln w="2857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70678" name="Freeform 46">
            <a:extLst>
              <a:ext uri="{FF2B5EF4-FFF2-40B4-BE49-F238E27FC236}">
                <a16:creationId xmlns:a16="http://schemas.microsoft.com/office/drawing/2014/main" id="{0A19B6ED-7EFF-4EBC-A575-C29C399BCD20}"/>
              </a:ext>
            </a:extLst>
          </p:cNvPr>
          <p:cNvSpPr>
            <a:spLocks/>
          </p:cNvSpPr>
          <p:nvPr/>
        </p:nvSpPr>
        <p:spPr bwMode="auto">
          <a:xfrm>
            <a:off x="1054100" y="3429000"/>
            <a:ext cx="774700" cy="482600"/>
          </a:xfrm>
          <a:custGeom>
            <a:avLst/>
            <a:gdLst>
              <a:gd name="T0" fmla="*/ 2147483647 w 488"/>
              <a:gd name="T1" fmla="*/ 2147483647 h 304"/>
              <a:gd name="T2" fmla="*/ 2147483647 w 488"/>
              <a:gd name="T3" fmla="*/ 2147483647 h 304"/>
              <a:gd name="T4" fmla="*/ 2147483647 w 488"/>
              <a:gd name="T5" fmla="*/ 2147483647 h 304"/>
              <a:gd name="T6" fmla="*/ 2147483647 w 488"/>
              <a:gd name="T7" fmla="*/ 0 h 304"/>
              <a:gd name="T8" fmla="*/ 0 60000 65536"/>
              <a:gd name="T9" fmla="*/ 0 60000 65536"/>
              <a:gd name="T10" fmla="*/ 0 60000 65536"/>
              <a:gd name="T11" fmla="*/ 0 60000 65536"/>
              <a:gd name="T12" fmla="*/ 0 w 488"/>
              <a:gd name="T13" fmla="*/ 0 h 304"/>
              <a:gd name="T14" fmla="*/ 488 w 488"/>
              <a:gd name="T15" fmla="*/ 304 h 3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8" h="304">
                <a:moveTo>
                  <a:pt x="488" y="240"/>
                </a:moveTo>
                <a:cubicBezTo>
                  <a:pt x="456" y="272"/>
                  <a:pt x="424" y="304"/>
                  <a:pt x="344" y="288"/>
                </a:cubicBezTo>
                <a:cubicBezTo>
                  <a:pt x="264" y="272"/>
                  <a:pt x="0" y="192"/>
                  <a:pt x="8" y="144"/>
                </a:cubicBezTo>
                <a:cubicBezTo>
                  <a:pt x="16" y="96"/>
                  <a:pt x="204" y="48"/>
                  <a:pt x="392" y="0"/>
                </a:cubicBezTo>
              </a:path>
            </a:pathLst>
          </a:custGeom>
          <a:noFill/>
          <a:ln w="2857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70679" name="Freeform 47">
            <a:extLst>
              <a:ext uri="{FF2B5EF4-FFF2-40B4-BE49-F238E27FC236}">
                <a16:creationId xmlns:a16="http://schemas.microsoft.com/office/drawing/2014/main" id="{F0546736-199F-4CFC-B24E-879F1AB6F3A9}"/>
              </a:ext>
            </a:extLst>
          </p:cNvPr>
          <p:cNvSpPr>
            <a:spLocks/>
          </p:cNvSpPr>
          <p:nvPr/>
        </p:nvSpPr>
        <p:spPr bwMode="auto">
          <a:xfrm>
            <a:off x="2819400" y="3124200"/>
            <a:ext cx="1790700" cy="482600"/>
          </a:xfrm>
          <a:custGeom>
            <a:avLst/>
            <a:gdLst>
              <a:gd name="T0" fmla="*/ 2147483647 w 1128"/>
              <a:gd name="T1" fmla="*/ 2147483647 h 304"/>
              <a:gd name="T2" fmla="*/ 2147483647 w 1128"/>
              <a:gd name="T3" fmla="*/ 2147483647 h 304"/>
              <a:gd name="T4" fmla="*/ 2147483647 w 1128"/>
              <a:gd name="T5" fmla="*/ 2147483647 h 304"/>
              <a:gd name="T6" fmla="*/ 0 w 1128"/>
              <a:gd name="T7" fmla="*/ 0 h 304"/>
              <a:gd name="T8" fmla="*/ 0 60000 65536"/>
              <a:gd name="T9" fmla="*/ 0 60000 65536"/>
              <a:gd name="T10" fmla="*/ 0 60000 65536"/>
              <a:gd name="T11" fmla="*/ 0 60000 65536"/>
              <a:gd name="T12" fmla="*/ 0 w 1128"/>
              <a:gd name="T13" fmla="*/ 0 h 304"/>
              <a:gd name="T14" fmla="*/ 1128 w 1128"/>
              <a:gd name="T15" fmla="*/ 304 h 3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8" h="304">
                <a:moveTo>
                  <a:pt x="1056" y="96"/>
                </a:moveTo>
                <a:cubicBezTo>
                  <a:pt x="1092" y="184"/>
                  <a:pt x="1128" y="272"/>
                  <a:pt x="1008" y="288"/>
                </a:cubicBezTo>
                <a:cubicBezTo>
                  <a:pt x="888" y="304"/>
                  <a:pt x="504" y="240"/>
                  <a:pt x="336" y="192"/>
                </a:cubicBezTo>
                <a:cubicBezTo>
                  <a:pt x="168" y="144"/>
                  <a:pt x="84" y="72"/>
                  <a:pt x="0" y="0"/>
                </a:cubicBezTo>
              </a:path>
            </a:pathLst>
          </a:cu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70680" name="Freeform 48">
            <a:extLst>
              <a:ext uri="{FF2B5EF4-FFF2-40B4-BE49-F238E27FC236}">
                <a16:creationId xmlns:a16="http://schemas.microsoft.com/office/drawing/2014/main" id="{97D6AD45-9BEA-48AF-9277-0B20CB1E3AE5}"/>
              </a:ext>
            </a:extLst>
          </p:cNvPr>
          <p:cNvSpPr>
            <a:spLocks/>
          </p:cNvSpPr>
          <p:nvPr/>
        </p:nvSpPr>
        <p:spPr bwMode="auto">
          <a:xfrm>
            <a:off x="1905000" y="3733800"/>
            <a:ext cx="1752600" cy="609600"/>
          </a:xfrm>
          <a:custGeom>
            <a:avLst/>
            <a:gdLst>
              <a:gd name="T0" fmla="*/ 2147483647 w 1104"/>
              <a:gd name="T1" fmla="*/ 2147483647 h 384"/>
              <a:gd name="T2" fmla="*/ 2147483647 w 1104"/>
              <a:gd name="T3" fmla="*/ 2147483647 h 384"/>
              <a:gd name="T4" fmla="*/ 2147483647 w 1104"/>
              <a:gd name="T5" fmla="*/ 2147483647 h 384"/>
              <a:gd name="T6" fmla="*/ 0 w 1104"/>
              <a:gd name="T7" fmla="*/ 0 h 384"/>
              <a:gd name="T8" fmla="*/ 0 60000 65536"/>
              <a:gd name="T9" fmla="*/ 0 60000 65536"/>
              <a:gd name="T10" fmla="*/ 0 60000 65536"/>
              <a:gd name="T11" fmla="*/ 0 60000 65536"/>
              <a:gd name="T12" fmla="*/ 0 w 1104"/>
              <a:gd name="T13" fmla="*/ 0 h 384"/>
              <a:gd name="T14" fmla="*/ 1104 w 1104"/>
              <a:gd name="T15" fmla="*/ 384 h 3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04" h="384">
                <a:moveTo>
                  <a:pt x="1008" y="192"/>
                </a:moveTo>
                <a:cubicBezTo>
                  <a:pt x="1056" y="228"/>
                  <a:pt x="1104" y="264"/>
                  <a:pt x="1056" y="288"/>
                </a:cubicBezTo>
                <a:cubicBezTo>
                  <a:pt x="1008" y="312"/>
                  <a:pt x="896" y="384"/>
                  <a:pt x="720" y="336"/>
                </a:cubicBezTo>
                <a:cubicBezTo>
                  <a:pt x="544" y="288"/>
                  <a:pt x="272" y="144"/>
                  <a:pt x="0" y="0"/>
                </a:cubicBezTo>
              </a:path>
            </a:pathLst>
          </a:custGeom>
          <a:noFill/>
          <a:ln w="9525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77873" name="AutoShape 49">
            <a:extLst>
              <a:ext uri="{FF2B5EF4-FFF2-40B4-BE49-F238E27FC236}">
                <a16:creationId xmlns:a16="http://schemas.microsoft.com/office/drawing/2014/main" id="{8BECF3AE-DC6E-49DD-BCBE-1DA98B3B660B}"/>
              </a:ext>
            </a:extLst>
          </p:cNvPr>
          <p:cNvSpPr>
            <a:spLocks/>
          </p:cNvSpPr>
          <p:nvPr/>
        </p:nvSpPr>
        <p:spPr bwMode="auto">
          <a:xfrm>
            <a:off x="2971800" y="5715000"/>
            <a:ext cx="3005138" cy="385763"/>
          </a:xfrm>
          <a:prstGeom prst="accentBorderCallout1">
            <a:avLst>
              <a:gd name="adj1" fmla="val 29630"/>
              <a:gd name="adj2" fmla="val 102537"/>
              <a:gd name="adj3" fmla="val -479833"/>
              <a:gd name="adj4" fmla="val 126940"/>
            </a:avLst>
          </a:prstGeom>
          <a:noFill/>
          <a:ln w="19050">
            <a:solidFill>
              <a:srgbClr val="FF0065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>
                <a:solidFill>
                  <a:srgbClr val="FF0065"/>
                </a:solidFill>
              </a:rPr>
              <a:t>Here is the circularity …</a:t>
            </a:r>
          </a:p>
        </p:txBody>
      </p:sp>
      <p:graphicFrame>
        <p:nvGraphicFramePr>
          <p:cNvPr id="77874" name="Group 50">
            <a:extLst>
              <a:ext uri="{FF2B5EF4-FFF2-40B4-BE49-F238E27FC236}">
                <a16:creationId xmlns:a16="http://schemas.microsoft.com/office/drawing/2014/main" id="{4E1E7E8B-E70D-46C9-BF3D-E417C97B5871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1447800"/>
          <a:ext cx="4191000" cy="3084576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238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Productions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Attribution Rules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List.a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0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.a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.a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Bit.val 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.b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.a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+                     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List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Bit.val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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Bit.val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C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0683" name="Freeform 89">
            <a:extLst>
              <a:ext uri="{FF2B5EF4-FFF2-40B4-BE49-F238E27FC236}">
                <a16:creationId xmlns:a16="http://schemas.microsoft.com/office/drawing/2014/main" id="{0F7EA8CD-31E0-4CBC-B153-4A0BC8BD99E2}"/>
              </a:ext>
            </a:extLst>
          </p:cNvPr>
          <p:cNvSpPr>
            <a:spLocks/>
          </p:cNvSpPr>
          <p:nvPr/>
        </p:nvSpPr>
        <p:spPr bwMode="auto">
          <a:xfrm>
            <a:off x="6756400" y="3429000"/>
            <a:ext cx="254000" cy="304800"/>
          </a:xfrm>
          <a:custGeom>
            <a:avLst/>
            <a:gdLst>
              <a:gd name="T0" fmla="*/ 2147483647 w 160"/>
              <a:gd name="T1" fmla="*/ 2147483647 h 192"/>
              <a:gd name="T2" fmla="*/ 2147483647 w 160"/>
              <a:gd name="T3" fmla="*/ 2147483647 h 192"/>
              <a:gd name="T4" fmla="*/ 2147483647 w 160"/>
              <a:gd name="T5" fmla="*/ 2147483647 h 192"/>
              <a:gd name="T6" fmla="*/ 2147483647 w 160"/>
              <a:gd name="T7" fmla="*/ 0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160"/>
              <a:gd name="T13" fmla="*/ 0 h 192"/>
              <a:gd name="T14" fmla="*/ 160 w 160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0" h="192">
                <a:moveTo>
                  <a:pt x="160" y="192"/>
                </a:moveTo>
                <a:cubicBezTo>
                  <a:pt x="96" y="180"/>
                  <a:pt x="32" y="168"/>
                  <a:pt x="16" y="144"/>
                </a:cubicBezTo>
                <a:cubicBezTo>
                  <a:pt x="0" y="120"/>
                  <a:pt x="40" y="72"/>
                  <a:pt x="64" y="48"/>
                </a:cubicBezTo>
                <a:cubicBezTo>
                  <a:pt x="88" y="24"/>
                  <a:pt x="124" y="12"/>
                  <a:pt x="160" y="0"/>
                </a:cubicBezTo>
              </a:path>
            </a:pathLst>
          </a:custGeom>
          <a:noFill/>
          <a:ln w="19050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70684" name="Freeform 90">
            <a:extLst>
              <a:ext uri="{FF2B5EF4-FFF2-40B4-BE49-F238E27FC236}">
                <a16:creationId xmlns:a16="http://schemas.microsoft.com/office/drawing/2014/main" id="{0876D08E-20D9-47B1-98D3-C19E0528D8DB}"/>
              </a:ext>
            </a:extLst>
          </p:cNvPr>
          <p:cNvSpPr>
            <a:spLocks/>
          </p:cNvSpPr>
          <p:nvPr/>
        </p:nvSpPr>
        <p:spPr bwMode="auto">
          <a:xfrm>
            <a:off x="6756400" y="2730500"/>
            <a:ext cx="1320800" cy="165100"/>
          </a:xfrm>
          <a:custGeom>
            <a:avLst/>
            <a:gdLst>
              <a:gd name="T0" fmla="*/ 2147483647 w 832"/>
              <a:gd name="T1" fmla="*/ 2147483647 h 104"/>
              <a:gd name="T2" fmla="*/ 2147483647 w 832"/>
              <a:gd name="T3" fmla="*/ 2147483647 h 104"/>
              <a:gd name="T4" fmla="*/ 2147483647 w 832"/>
              <a:gd name="T5" fmla="*/ 2147483647 h 104"/>
              <a:gd name="T6" fmla="*/ 2147483647 w 832"/>
              <a:gd name="T7" fmla="*/ 2147483647 h 104"/>
              <a:gd name="T8" fmla="*/ 2147483647 w 832"/>
              <a:gd name="T9" fmla="*/ 2147483647 h 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32"/>
              <a:gd name="T16" fmla="*/ 0 h 104"/>
              <a:gd name="T17" fmla="*/ 832 w 832"/>
              <a:gd name="T18" fmla="*/ 104 h 1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32" h="104">
                <a:moveTo>
                  <a:pt x="832" y="56"/>
                </a:moveTo>
                <a:cubicBezTo>
                  <a:pt x="784" y="36"/>
                  <a:pt x="736" y="16"/>
                  <a:pt x="640" y="8"/>
                </a:cubicBezTo>
                <a:cubicBezTo>
                  <a:pt x="544" y="0"/>
                  <a:pt x="360" y="0"/>
                  <a:pt x="256" y="8"/>
                </a:cubicBezTo>
                <a:cubicBezTo>
                  <a:pt x="152" y="16"/>
                  <a:pt x="32" y="40"/>
                  <a:pt x="16" y="56"/>
                </a:cubicBezTo>
                <a:cubicBezTo>
                  <a:pt x="0" y="72"/>
                  <a:pt x="136" y="96"/>
                  <a:pt x="160" y="104"/>
                </a:cubicBezTo>
              </a:path>
            </a:pathLst>
          </a:custGeom>
          <a:noFill/>
          <a:ln w="19050">
            <a:solidFill>
              <a:srgbClr val="FF0065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  <p:sp>
        <p:nvSpPr>
          <p:cNvPr id="70685" name="Rectangle 91">
            <a:extLst>
              <a:ext uri="{FF2B5EF4-FFF2-40B4-BE49-F238E27FC236}">
                <a16:creationId xmlns:a16="http://schemas.microsoft.com/office/drawing/2014/main" id="{10C60806-70B5-40C9-A55D-3AA7966E3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2667000"/>
            <a:ext cx="2286000" cy="1219200"/>
          </a:xfrm>
          <a:prstGeom prst="rect">
            <a:avLst/>
          </a:prstGeom>
          <a:noFill/>
          <a:ln w="28575">
            <a:solidFill>
              <a:srgbClr val="FF006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endParaRPr lang="en-GB" altLang="it-IT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73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Footer Placeholder 3">
            <a:extLst>
              <a:ext uri="{FF2B5EF4-FFF2-40B4-BE49-F238E27FC236}">
                <a16:creationId xmlns:a16="http://schemas.microsoft.com/office/drawing/2014/main" id="{2E34F3E9-52F8-4EE8-B228-18747F40E7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2706" name="Slide Number Placeholder 4">
            <a:extLst>
              <a:ext uri="{FF2B5EF4-FFF2-40B4-BE49-F238E27FC236}">
                <a16:creationId xmlns:a16="http://schemas.microsoft.com/office/drawing/2014/main" id="{15740143-3C43-4D8B-97B4-3EC1D78531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95459F3-B289-41E0-8AFA-BB281495EBFA}" type="slidenum">
              <a:rPr lang="en-US" altLang="it-IT"/>
              <a:pPr/>
              <a:t>28</a:t>
            </a:fld>
            <a:endParaRPr lang="en-US" altLang="it-IT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0E0A3529-62A0-4AF1-BCBF-049886347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Circularity — The Point</a:t>
            </a:r>
          </a:p>
        </p:txBody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8C1FBACE-6E5B-4F08-8A29-13E88E8D0C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30000"/>
              </a:spcBef>
            </a:pPr>
            <a:r>
              <a:rPr lang="en-US" altLang="it-IT"/>
              <a:t>Circular grammars have indeterminate values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Algorithmic evaluators will fail 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/>
              <a:t>Noncircular grammars evaluate to a unique set of values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/>
              <a:t>Circular grammar might give rise to noncircular instance</a:t>
            </a:r>
          </a:p>
          <a:p>
            <a:pPr lvl="1" eaLnBrk="1" hangingPunct="1">
              <a:spcBef>
                <a:spcPct val="30000"/>
              </a:spcBef>
            </a:pPr>
            <a:r>
              <a:rPr lang="en-US" altLang="it-IT"/>
              <a:t>Probably shouldn’t bet the compiler on it …</a:t>
            </a:r>
          </a:p>
          <a:p>
            <a:pPr eaLnBrk="1" hangingPunct="1">
              <a:spcBef>
                <a:spcPct val="100000"/>
              </a:spcBef>
              <a:buFont typeface="Symbol" panose="05050102010706020507" pitchFamily="18" charset="2"/>
              <a:buChar char=""/>
            </a:pPr>
            <a:r>
              <a:rPr lang="en-US" altLang="it-IT"/>
              <a:t>Should</a:t>
            </a:r>
            <a:r>
              <a:rPr lang="en-US" altLang="it-IT" sz="1800"/>
              <a:t> (</a:t>
            </a:r>
            <a:r>
              <a:rPr lang="en-US" altLang="it-IT" sz="1800" i="1"/>
              <a:t>undoubtedly</a:t>
            </a:r>
            <a:r>
              <a:rPr lang="en-US" altLang="it-IT" sz="1800"/>
              <a:t>) </a:t>
            </a:r>
            <a:r>
              <a:rPr lang="en-US" altLang="it-IT"/>
              <a:t>use provably noncircular grammars</a:t>
            </a:r>
          </a:p>
          <a:p>
            <a:pPr eaLnBrk="1" hangingPunct="1">
              <a:spcBef>
                <a:spcPct val="150000"/>
              </a:spcBef>
              <a:buFont typeface="Times" panose="02020603050405020304" pitchFamily="18" charset="0"/>
              <a:buNone/>
            </a:pPr>
            <a:r>
              <a:rPr lang="en-US" altLang="it-IT"/>
              <a:t>Remember, we are studying AGs to gain insight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/>
              <a:t>We should avoid circular, indeterminate computations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it-IT"/>
              <a:t>If we stick to provably noncircular schemes, evaluation should be easier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Footer Placeholder 1">
            <a:extLst>
              <a:ext uri="{FF2B5EF4-FFF2-40B4-BE49-F238E27FC236}">
                <a16:creationId xmlns:a16="http://schemas.microsoft.com/office/drawing/2014/main" id="{91ABF2F3-90CE-421A-B2E1-FE0812F4DD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4754" name="Slide Number Placeholder 2">
            <a:extLst>
              <a:ext uri="{FF2B5EF4-FFF2-40B4-BE49-F238E27FC236}">
                <a16:creationId xmlns:a16="http://schemas.microsoft.com/office/drawing/2014/main" id="{F24E8865-6D35-468F-A13A-2A82C8EC1A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A54D71CC-9918-40BB-B75B-AB735594C7AA}" type="slidenum">
              <a:rPr lang="en-US" altLang="it-IT"/>
              <a:pPr/>
              <a:t>29</a:t>
            </a:fld>
            <a:endParaRPr lang="en-US" altLang="it-IT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AC7717F3-611A-4FAE-9845-E3094E4FB36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An Extended Attribute Grammar Example</a:t>
            </a:r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8122DFC2-9983-4C45-9891-324E5CFCECA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Grammar for a basic block                                  </a:t>
            </a:r>
            <a:r>
              <a:rPr lang="en-US" altLang="it-IT" sz="1800" i="1">
                <a:solidFill>
                  <a:srgbClr val="FF0065"/>
                </a:solidFill>
              </a:rPr>
              <a:t>(§ 4.3.3)</a:t>
            </a:r>
            <a:r>
              <a:rPr lang="en-US" altLang="it-IT"/>
              <a:t> </a:t>
            </a:r>
          </a:p>
        </p:txBody>
      </p:sp>
      <p:sp>
        <p:nvSpPr>
          <p:cNvPr id="17414" name="Text Box 5">
            <a:extLst>
              <a:ext uri="{FF2B5EF4-FFF2-40B4-BE49-F238E27FC236}">
                <a16:creationId xmlns:a16="http://schemas.microsoft.com/office/drawing/2014/main" id="{FB08B58C-CFEF-42C7-BB0B-4D2A8A4BB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8175" y="1828800"/>
            <a:ext cx="3505200" cy="2165350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Let’s estimate cycle counts</a:t>
            </a:r>
          </a:p>
          <a:p>
            <a:pPr eaLnBrk="0" hangingPunct="0">
              <a:spcBef>
                <a:spcPct val="3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Each operation has a COST</a:t>
            </a:r>
          </a:p>
          <a:p>
            <a:pPr eaLnBrk="0" hangingPunct="0">
              <a:spcBef>
                <a:spcPct val="3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Add them, bottom up</a:t>
            </a:r>
          </a:p>
          <a:p>
            <a:pPr eaLnBrk="0" hangingPunct="0">
              <a:spcBef>
                <a:spcPct val="3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Assume a load per value</a:t>
            </a:r>
          </a:p>
          <a:p>
            <a:pPr eaLnBrk="0" hangingPunct="0">
              <a:spcBef>
                <a:spcPct val="30000"/>
              </a:spcBef>
              <a:buClr>
                <a:srgbClr val="003C75"/>
              </a:buClr>
              <a:buSzPct val="120000"/>
              <a:buFont typeface="Times" charset="0"/>
              <a:buChar char="•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 Assume no reuse</a:t>
            </a:r>
          </a:p>
          <a:p>
            <a:pPr eaLnBrk="0" hangingPunct="0">
              <a:spcBef>
                <a:spcPct val="30000"/>
              </a:spcBef>
              <a:buClr>
                <a:srgbClr val="0000CC"/>
              </a:buClr>
              <a:buSzPct val="120000"/>
              <a:defRPr/>
            </a:pPr>
            <a:r>
              <a:rPr lang="en-US">
                <a:latin typeface="Comic Sans MS" charset="0"/>
                <a:ea typeface="ヒラギノ角ゴ Pro W3" charset="-128"/>
                <a:cs typeface="ヒラギノ角ゴ Pro W3" charset="-128"/>
              </a:rPr>
              <a:t>Simple problem for an </a:t>
            </a:r>
            <a:r>
              <a:rPr lang="en-US" i="1">
                <a:latin typeface="Comic Sans MS" charset="0"/>
                <a:ea typeface="ヒラギノ角ゴ Pro W3" charset="-128"/>
                <a:cs typeface="ヒラギノ角ゴ Pro W3" charset="-128"/>
              </a:rPr>
              <a:t>AG</a:t>
            </a:r>
            <a:endParaRPr lang="en-US">
              <a:latin typeface="Comic Sans MS" charset="0"/>
              <a:ea typeface="ヒラギノ角ゴ Pro W3" charset="-128"/>
              <a:cs typeface="ヒラギノ角ゴ Pro W3" charset="-128"/>
            </a:endParaRPr>
          </a:p>
        </p:txBody>
      </p:sp>
      <p:sp>
        <p:nvSpPr>
          <p:cNvPr id="74758" name="Text Box 6">
            <a:extLst>
              <a:ext uri="{FF2B5EF4-FFF2-40B4-BE49-F238E27FC236}">
                <a16:creationId xmlns:a16="http://schemas.microsoft.com/office/drawing/2014/main" id="{CEA4499B-5A4E-477D-BBBF-7829AFE3E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8175" y="5526088"/>
            <a:ext cx="3505200" cy="646112"/>
          </a:xfrm>
          <a:prstGeom prst="rect">
            <a:avLst/>
          </a:prstGeom>
          <a:noFill/>
          <a:ln w="19050" algn="ctr">
            <a:solidFill>
              <a:srgbClr val="B025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Hey, that is a practical application!</a:t>
            </a:r>
          </a:p>
        </p:txBody>
      </p:sp>
      <p:graphicFrame>
        <p:nvGraphicFramePr>
          <p:cNvPr id="5326" name="Group 206">
            <a:extLst>
              <a:ext uri="{FF2B5EF4-FFF2-40B4-BE49-F238E27FC236}">
                <a16:creationId xmlns:a16="http://schemas.microsoft.com/office/drawing/2014/main" id="{CB4134FF-ED0E-4EA7-9E4E-4AB31072E9FD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600200"/>
          <a:ext cx="3352800" cy="3730752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4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Block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Block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Assign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Assign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Assign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Ident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=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;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Term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  <a:endParaRPr kumimoji="0" lang="en-US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Ident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Footer Placeholder 1">
            <a:extLst>
              <a:ext uri="{FF2B5EF4-FFF2-40B4-BE49-F238E27FC236}">
                <a16:creationId xmlns:a16="http://schemas.microsoft.com/office/drawing/2014/main" id="{FF866B29-977D-4B38-B653-A3E8623CDC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6802" name="Slide Number Placeholder 2">
            <a:extLst>
              <a:ext uri="{FF2B5EF4-FFF2-40B4-BE49-F238E27FC236}">
                <a16:creationId xmlns:a16="http://schemas.microsoft.com/office/drawing/2014/main" id="{7C84C32E-59F4-4010-ABE6-C99EC6FCDF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471F1CAF-FDD6-4010-B0C6-62D46C7B54B1}" type="slidenum">
              <a:rPr lang="en-US" altLang="it-IT"/>
              <a:pPr/>
              <a:t>30</a:t>
            </a:fld>
            <a:endParaRPr lang="en-US" altLang="it-IT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0629E952-E1C7-4DBD-9F8C-A238047E23A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An Extended Example                       </a:t>
            </a:r>
            <a:r>
              <a:rPr lang="en-US" altLang="it-IT" sz="2000"/>
              <a:t>(</a:t>
            </a:r>
            <a:r>
              <a:rPr lang="en-US" altLang="it-IT" sz="2000" i="1"/>
              <a:t>continued</a:t>
            </a:r>
            <a:r>
              <a:rPr lang="en-US" altLang="it-IT" sz="2000"/>
              <a:t>)</a:t>
            </a:r>
            <a:r>
              <a:rPr lang="en-US" altLang="it-IT"/>
              <a:t>   </a:t>
            </a:r>
          </a:p>
        </p:txBody>
      </p:sp>
      <p:sp>
        <p:nvSpPr>
          <p:cNvPr id="76804" name="Text Box 4">
            <a:extLst>
              <a:ext uri="{FF2B5EF4-FFF2-40B4-BE49-F238E27FC236}">
                <a16:creationId xmlns:a16="http://schemas.microsoft.com/office/drawing/2014/main" id="{455BEBA5-BC53-4CF7-9A6C-E7C730251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438400"/>
            <a:ext cx="1600200" cy="187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FF0065"/>
                </a:solidFill>
              </a:rPr>
              <a:t>These are all synthesized attributes !</a:t>
            </a:r>
          </a:p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FF0065"/>
                </a:solidFill>
              </a:rPr>
              <a:t>Values flow from </a:t>
            </a:r>
            <a:r>
              <a:rPr lang="en-US" altLang="it-IT" i="1">
                <a:solidFill>
                  <a:srgbClr val="FF0065"/>
                </a:solidFill>
              </a:rPr>
              <a:t>rhs </a:t>
            </a:r>
            <a:r>
              <a:rPr lang="en-US" altLang="it-IT">
                <a:solidFill>
                  <a:srgbClr val="FF0065"/>
                </a:solidFill>
              </a:rPr>
              <a:t>to </a:t>
            </a:r>
            <a:r>
              <a:rPr lang="en-US" altLang="it-IT" i="1">
                <a:solidFill>
                  <a:srgbClr val="FF0065"/>
                </a:solidFill>
              </a:rPr>
              <a:t>lhs </a:t>
            </a:r>
            <a:r>
              <a:rPr lang="en-US" altLang="it-IT">
                <a:solidFill>
                  <a:srgbClr val="FF0065"/>
                </a:solidFill>
              </a:rPr>
              <a:t>in prod’ns</a:t>
            </a:r>
          </a:p>
        </p:txBody>
      </p:sp>
      <p:graphicFrame>
        <p:nvGraphicFramePr>
          <p:cNvPr id="7323" name="Group 155">
            <a:extLst>
              <a:ext uri="{FF2B5EF4-FFF2-40B4-BE49-F238E27FC236}">
                <a16:creationId xmlns:a16="http://schemas.microsoft.com/office/drawing/2014/main" id="{096BA060-04DC-460A-B8A8-4B8300A641F3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266825"/>
          <a:ext cx="6629400" cy="5047488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4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Block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Block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Assign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Block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.cost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Block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.cost +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                   Assign.cost</a:t>
                      </a:r>
                      <a:endParaRPr kumimoji="0" lang="en-US" sz="1600" b="0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Assign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Block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.cost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Assign.cost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Assign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Ident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=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;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Assign.cost 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(store) +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                   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Expr.cost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.cost 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.cost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</a:t>
                      </a: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   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(add)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Term.cost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-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.cost 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.cost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   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(sub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Term.cost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6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.cost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Term.cost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7</a:t>
                      </a:r>
                      <a:endParaRPr kumimoji="0" lang="en-US" sz="16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*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.cost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Term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.cost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    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(mult)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+ Factor.cost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8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/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.cost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Term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.cost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    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(div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+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Factor.cost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9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  <a:r>
                        <a:rPr kumimoji="0" lang="en-US" sz="1600" b="0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.cost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Factor.cost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Factor.cost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Expr.cost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Factor.cost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(loadI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Factor.cost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(load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Footer Placeholder 1">
            <a:extLst>
              <a:ext uri="{FF2B5EF4-FFF2-40B4-BE49-F238E27FC236}">
                <a16:creationId xmlns:a16="http://schemas.microsoft.com/office/drawing/2014/main" id="{F8391203-37A3-4F49-B3EB-D025ED681C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78850" name="Slide Number Placeholder 2">
            <a:extLst>
              <a:ext uri="{FF2B5EF4-FFF2-40B4-BE49-F238E27FC236}">
                <a16:creationId xmlns:a16="http://schemas.microsoft.com/office/drawing/2014/main" id="{CBC2FFE8-598D-4812-88BC-C425CB79C0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F2ED1CC-38B4-4FF8-99A9-730ED779280D}" type="slidenum">
              <a:rPr lang="en-US" altLang="it-IT"/>
              <a:pPr/>
              <a:t>31</a:t>
            </a:fld>
            <a:endParaRPr lang="en-US" altLang="it-IT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2B722E2F-35D0-420E-A586-0CE5F8E632F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An Extended Example                       </a:t>
            </a:r>
            <a:r>
              <a:rPr lang="en-US" altLang="it-IT" sz="2000">
                <a:ea typeface="Times" panose="02020603050405020304" pitchFamily="18" charset="0"/>
                <a:cs typeface="Times" panose="02020603050405020304" pitchFamily="18" charset="0"/>
              </a:rPr>
              <a:t>(</a:t>
            </a:r>
            <a:r>
              <a:rPr lang="en-US" altLang="it-IT" sz="2000" i="1">
                <a:ea typeface="Times" panose="02020603050405020304" pitchFamily="18" charset="0"/>
                <a:cs typeface="Times" panose="02020603050405020304" pitchFamily="18" charset="0"/>
              </a:rPr>
              <a:t>continued</a:t>
            </a:r>
            <a:r>
              <a:rPr lang="en-US" altLang="it-IT" sz="2000">
                <a:ea typeface="Times" panose="02020603050405020304" pitchFamily="18" charset="0"/>
                <a:cs typeface="Times" panose="02020603050405020304" pitchFamily="18" charset="0"/>
              </a:rPr>
              <a:t>)</a:t>
            </a:r>
            <a:endParaRPr lang="en-US" altLang="it-IT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B270CA42-A0EC-45B7-8EE0-2685DC9B839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Properties of the example grammar</a:t>
            </a:r>
          </a:p>
          <a:p>
            <a:pPr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All attributes are synthesized </a:t>
            </a: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 S-attributed grammar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Rules can be evaluated bottom-up in a single pass</a:t>
            </a:r>
          </a:p>
          <a:p>
            <a:pPr lvl="1"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Good fit to bottom-up, shift/reduce parser</a:t>
            </a:r>
          </a:p>
          <a:p>
            <a:pPr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Easily understood solution</a:t>
            </a:r>
          </a:p>
          <a:p>
            <a:pPr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Seems to fit the problem well</a:t>
            </a:r>
          </a:p>
          <a:p>
            <a:pPr eaLnBrk="1" hangingPunct="1">
              <a:spcBef>
                <a:spcPct val="200000"/>
              </a:spcBef>
              <a:buFont typeface="Times" panose="02020603050405020304" pitchFamily="18" charset="0"/>
              <a:buNone/>
            </a:pP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What about an improvement?</a:t>
            </a:r>
          </a:p>
          <a:p>
            <a:pPr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Values are loaded only once per block (not at each use)</a:t>
            </a:r>
          </a:p>
          <a:p>
            <a:pPr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Need to track which values have been already loaded</a:t>
            </a:r>
          </a:p>
        </p:txBody>
      </p:sp>
    </p:spTree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Footer Placeholder 1">
            <a:extLst>
              <a:ext uri="{FF2B5EF4-FFF2-40B4-BE49-F238E27FC236}">
                <a16:creationId xmlns:a16="http://schemas.microsoft.com/office/drawing/2014/main" id="{C503BBE5-FBF5-4D45-95B6-12DA299995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80898" name="Slide Number Placeholder 2">
            <a:extLst>
              <a:ext uri="{FF2B5EF4-FFF2-40B4-BE49-F238E27FC236}">
                <a16:creationId xmlns:a16="http://schemas.microsoft.com/office/drawing/2014/main" id="{7F7380B5-CB5A-43B1-BC6F-239823634D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D6A9B003-60FC-42E2-B9D6-94C467698123}" type="slidenum">
              <a:rPr lang="en-US" altLang="it-IT"/>
              <a:pPr/>
              <a:t>32</a:t>
            </a:fld>
            <a:endParaRPr lang="en-US" altLang="it-IT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5FD7391D-CAE1-4011-96D7-0286605A57F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Adding load tracking</a:t>
            </a:r>
          </a:p>
          <a:p>
            <a:pPr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Need sets </a:t>
            </a:r>
            <a:r>
              <a:rPr lang="en-US" altLang="it-IT" i="1">
                <a:ea typeface="Times" panose="02020603050405020304" pitchFamily="18" charset="0"/>
                <a:cs typeface="Times" panose="02020603050405020304" pitchFamily="18" charset="0"/>
              </a:rPr>
              <a:t>Before</a:t>
            </a: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 and </a:t>
            </a:r>
            <a:r>
              <a:rPr lang="en-US" altLang="it-IT" i="1">
                <a:ea typeface="Times" panose="02020603050405020304" pitchFamily="18" charset="0"/>
                <a:cs typeface="Times" panose="02020603050405020304" pitchFamily="18" charset="0"/>
              </a:rPr>
              <a:t>After </a:t>
            </a: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for each production</a:t>
            </a:r>
          </a:p>
          <a:p>
            <a:pPr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Must be initialized, updated, and passed around the tree</a:t>
            </a:r>
          </a:p>
        </p:txBody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87A33F6E-713C-4B50-B14C-72FD4DB70F9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A Better Execution Model</a:t>
            </a:r>
          </a:p>
        </p:txBody>
      </p:sp>
      <p:graphicFrame>
        <p:nvGraphicFramePr>
          <p:cNvPr id="11521" name="Group 257">
            <a:extLst>
              <a:ext uri="{FF2B5EF4-FFF2-40B4-BE49-F238E27FC236}">
                <a16:creationId xmlns:a16="http://schemas.microsoft.com/office/drawing/2014/main" id="{AEDBF32E-5D35-419B-B6B4-6CE5C7D79772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2438400"/>
          <a:ext cx="7010400" cy="3127248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4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(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 </a:t>
                      </a:r>
                      <a:r>
                        <a:rPr kumimoji="0" lang="en-US" sz="16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)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Factor.cost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Expr.cost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Expr.before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Factor.before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Factor.after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Expr.after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Number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Factor.cost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(loadI)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Factor.after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 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Factor.before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endParaRPr kumimoji="0" lang="en-US" sz="16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|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Ident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If (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Ident.name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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Factor.before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then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       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Factor.cost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(load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    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Factor.after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Factor.before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                         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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{</a:t>
                      </a:r>
                      <a:r>
                        <a:rPr kumimoji="0" 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Ident.name</a:t>
                      </a:r>
                      <a:r>
                        <a:rPr kumimoji="0" 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else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    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Factor.cost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    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Factor.after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Factor.before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0902" name="Text Box 258">
            <a:extLst>
              <a:ext uri="{FF2B5EF4-FFF2-40B4-BE49-F238E27FC236}">
                <a16:creationId xmlns:a16="http://schemas.microsoft.com/office/drawing/2014/main" id="{6F1820FB-EB88-4F9C-9DC6-5EBD9CA58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5943600"/>
            <a:ext cx="4038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solidFill>
                  <a:srgbClr val="003C75"/>
                </a:solidFill>
              </a:rPr>
              <a:t>This version is much more complex</a:t>
            </a:r>
          </a:p>
        </p:txBody>
      </p:sp>
    </p:spTree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Footer Placeholder 1">
            <a:extLst>
              <a:ext uri="{FF2B5EF4-FFF2-40B4-BE49-F238E27FC236}">
                <a16:creationId xmlns:a16="http://schemas.microsoft.com/office/drawing/2014/main" id="{0AE72E97-5A0A-45E4-B451-BC9C6CA1B4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82946" name="Slide Number Placeholder 2">
            <a:extLst>
              <a:ext uri="{FF2B5EF4-FFF2-40B4-BE49-F238E27FC236}">
                <a16:creationId xmlns:a16="http://schemas.microsoft.com/office/drawing/2014/main" id="{B882A632-B894-4238-AE73-31BF08466E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7FCC0CEB-AFC6-40E0-8C7E-864466522864}" type="slidenum">
              <a:rPr lang="en-US" altLang="it-IT"/>
              <a:pPr/>
              <a:t>33</a:t>
            </a:fld>
            <a:endParaRPr lang="en-US" altLang="it-IT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EB78D89B-A33E-4B99-B92D-9F6127CC6DC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Load tracking adds complexity</a:t>
            </a:r>
          </a:p>
          <a:p>
            <a:pPr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But, most of it is in the “copy rules”</a:t>
            </a:r>
          </a:p>
          <a:p>
            <a:pPr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Every production needs rules to copy </a:t>
            </a:r>
            <a:r>
              <a:rPr lang="en-US" altLang="it-IT" i="1">
                <a:ea typeface="Times" panose="02020603050405020304" pitchFamily="18" charset="0"/>
                <a:cs typeface="Times" panose="02020603050405020304" pitchFamily="18" charset="0"/>
              </a:rPr>
              <a:t>Before</a:t>
            </a: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 &amp; </a:t>
            </a:r>
            <a:r>
              <a:rPr lang="en-US" altLang="it-IT" i="1">
                <a:ea typeface="Times" panose="02020603050405020304" pitchFamily="18" charset="0"/>
                <a:cs typeface="Times" panose="02020603050405020304" pitchFamily="18" charset="0"/>
              </a:rPr>
              <a:t>After</a:t>
            </a:r>
            <a:endParaRPr lang="en-US" altLang="it-IT">
              <a:ea typeface="Times" panose="02020603050405020304" pitchFamily="18" charset="0"/>
              <a:cs typeface="Times" panose="02020603050405020304" pitchFamily="18" charset="0"/>
            </a:endParaRPr>
          </a:p>
          <a:p>
            <a:pPr eaLnBrk="1" hangingPunct="1">
              <a:spcBef>
                <a:spcPct val="75000"/>
              </a:spcBef>
              <a:buFont typeface="Times" panose="02020603050405020304" pitchFamily="18" charset="0"/>
              <a:buNone/>
            </a:pP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A sample production</a:t>
            </a:r>
          </a:p>
          <a:p>
            <a:pPr eaLnBrk="1" hangingPunct="1">
              <a:spcBef>
                <a:spcPct val="600000"/>
              </a:spcBef>
              <a:buFont typeface="Times" panose="02020603050405020304" pitchFamily="18" charset="0"/>
              <a:buNone/>
            </a:pP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These copy rules multiply rapidly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Each creates an instance of the set</a:t>
            </a:r>
          </a:p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Lots of work, lots of space, lots of rules to write</a:t>
            </a:r>
          </a:p>
        </p:txBody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D0011FE4-7E49-437E-AA62-306A1A6250E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A Better Execution Model</a:t>
            </a:r>
          </a:p>
        </p:txBody>
      </p:sp>
      <p:graphicFrame>
        <p:nvGraphicFramePr>
          <p:cNvPr id="13431" name="Group 119">
            <a:extLst>
              <a:ext uri="{FF2B5EF4-FFF2-40B4-BE49-F238E27FC236}">
                <a16:creationId xmlns:a16="http://schemas.microsoft.com/office/drawing/2014/main" id="{66CA26E7-D229-4709-B46D-F8316FA1BB34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2940050"/>
          <a:ext cx="6629400" cy="1188720"/>
        </p:xfrm>
        <a:graphic>
          <a:graphicData uri="http://schemas.openxmlformats.org/drawingml/2006/table">
            <a:tbl>
              <a:tblPr>
                <a:effectLst>
                  <a:outerShdw blurRad="50800" dist="38100" dir="2700000">
                    <a:srgbClr val="000000">
                      <a:alpha val="43000"/>
                    </a:srgbClr>
                  </a:outerShdw>
                </a:effectLst>
              </a:tblPr>
              <a:tblGrid>
                <a:gridCol w="44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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1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+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Term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</a:rPr>
                        <a:t>.cost 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.cost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       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COST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(add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)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+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Term.cost</a:t>
                      </a:r>
                      <a:endParaRPr kumimoji="0" lang="en-US" sz="16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.before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.before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Term.before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1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.before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3C75"/>
                        </a:buClr>
                        <a:buSzPct val="120000"/>
                        <a:buFont typeface="Times" charset="0"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Expr</a:t>
                      </a:r>
                      <a:r>
                        <a:rPr kumimoji="0" lang="en-US" sz="1600" b="0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0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.after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 </a:t>
                      </a:r>
                      <a:r>
                        <a:rPr kumimoji="0" lang="en-US" sz="16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ヒラギノ角ゴ Pro W3" charset="-128"/>
                          <a:cs typeface="ヒラギノ角ゴ Pro W3" charset="-128"/>
                          <a:sym typeface="Symbol" charset="2"/>
                        </a:rPr>
                        <a:t>Term.after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ヒラギノ角ゴ Pro W3" charset="-128"/>
                        <a:cs typeface="ヒラギノ角ゴ Pro W3" charset="-128"/>
                        <a:sym typeface="Symbol" charset="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2950" name="Group 122">
            <a:extLst>
              <a:ext uri="{FF2B5EF4-FFF2-40B4-BE49-F238E27FC236}">
                <a16:creationId xmlns:a16="http://schemas.microsoft.com/office/drawing/2014/main" id="{F01ECBEF-B47F-416E-A00D-5C8B830A5F10}"/>
              </a:ext>
            </a:extLst>
          </p:cNvPr>
          <p:cNvGrpSpPr>
            <a:grpSpLocks/>
          </p:cNvGrpSpPr>
          <p:nvPr/>
        </p:nvGrpSpPr>
        <p:grpSpPr bwMode="auto">
          <a:xfrm>
            <a:off x="4016375" y="1625600"/>
            <a:ext cx="4276725" cy="2549525"/>
            <a:chOff x="2530" y="1024"/>
            <a:chExt cx="2694" cy="1606"/>
          </a:xfrm>
        </p:grpSpPr>
        <p:sp>
          <p:nvSpPr>
            <p:cNvPr id="82951" name="AutoShape 6">
              <a:extLst>
                <a:ext uri="{FF2B5EF4-FFF2-40B4-BE49-F238E27FC236}">
                  <a16:creationId xmlns:a16="http://schemas.microsoft.com/office/drawing/2014/main" id="{9D0B4452-4E10-4063-AF84-7E1D05B3B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0" y="2150"/>
              <a:ext cx="2222" cy="48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rgbClr val="FF006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  <p:sp>
          <p:nvSpPr>
            <p:cNvPr id="82952" name="Freeform 121">
              <a:extLst>
                <a:ext uri="{FF2B5EF4-FFF2-40B4-BE49-F238E27FC236}">
                  <a16:creationId xmlns:a16="http://schemas.microsoft.com/office/drawing/2014/main" id="{D5712AA9-5E0A-45E4-A702-C60BC96A3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1024"/>
              <a:ext cx="1816" cy="1232"/>
            </a:xfrm>
            <a:custGeom>
              <a:avLst/>
              <a:gdLst>
                <a:gd name="T0" fmla="*/ 0 w 1816"/>
                <a:gd name="T1" fmla="*/ 80 h 1232"/>
                <a:gd name="T2" fmla="*/ 1296 w 1816"/>
                <a:gd name="T3" fmla="*/ 32 h 1232"/>
                <a:gd name="T4" fmla="*/ 1776 w 1816"/>
                <a:gd name="T5" fmla="*/ 272 h 1232"/>
                <a:gd name="T6" fmla="*/ 1536 w 1816"/>
                <a:gd name="T7" fmla="*/ 1040 h 1232"/>
                <a:gd name="T8" fmla="*/ 1344 w 1816"/>
                <a:gd name="T9" fmla="*/ 1232 h 1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16"/>
                <a:gd name="T16" fmla="*/ 0 h 1232"/>
                <a:gd name="T17" fmla="*/ 1816 w 1816"/>
                <a:gd name="T18" fmla="*/ 1232 h 12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16" h="1232">
                  <a:moveTo>
                    <a:pt x="0" y="80"/>
                  </a:moveTo>
                  <a:cubicBezTo>
                    <a:pt x="500" y="40"/>
                    <a:pt x="1000" y="0"/>
                    <a:pt x="1296" y="32"/>
                  </a:cubicBezTo>
                  <a:cubicBezTo>
                    <a:pt x="1592" y="64"/>
                    <a:pt x="1736" y="104"/>
                    <a:pt x="1776" y="272"/>
                  </a:cubicBezTo>
                  <a:cubicBezTo>
                    <a:pt x="1816" y="440"/>
                    <a:pt x="1608" y="880"/>
                    <a:pt x="1536" y="1040"/>
                  </a:cubicBezTo>
                  <a:cubicBezTo>
                    <a:pt x="1464" y="1200"/>
                    <a:pt x="1404" y="1216"/>
                    <a:pt x="1344" y="1232"/>
                  </a:cubicBezTo>
                </a:path>
              </a:pathLst>
            </a:custGeom>
            <a:noFill/>
            <a:ln w="9525">
              <a:solidFill>
                <a:srgbClr val="FF006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Footer Placeholder 1">
            <a:extLst>
              <a:ext uri="{FF2B5EF4-FFF2-40B4-BE49-F238E27FC236}">
                <a16:creationId xmlns:a16="http://schemas.microsoft.com/office/drawing/2014/main" id="{4CE1CFAA-59A8-49B5-957F-7DA124F05C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84994" name="Slide Number Placeholder 2">
            <a:extLst>
              <a:ext uri="{FF2B5EF4-FFF2-40B4-BE49-F238E27FC236}">
                <a16:creationId xmlns:a16="http://schemas.microsoft.com/office/drawing/2014/main" id="{8471DD67-1FB6-4BAF-BB0A-46B0532A79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13463B02-14B5-411F-9961-16DE9AE78DD7}" type="slidenum">
              <a:rPr lang="en-US" altLang="it-IT"/>
              <a:pPr/>
              <a:t>34</a:t>
            </a:fld>
            <a:endParaRPr lang="en-US" altLang="it-IT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4CAADF16-560B-4B69-B6C2-121C94A2F06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066800"/>
            <a:ext cx="8001000" cy="4953000"/>
          </a:xfrm>
        </p:spPr>
        <p:txBody>
          <a:bodyPr/>
          <a:lstStyle/>
          <a:p>
            <a:pPr eaLnBrk="1" hangingPunct="1">
              <a:spcBef>
                <a:spcPct val="40000"/>
              </a:spcBef>
              <a:buFont typeface="Times" panose="02020603050405020304" pitchFamily="18" charset="0"/>
              <a:buNone/>
            </a:pP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What about accounting for finite register sets?</a:t>
            </a:r>
          </a:p>
          <a:p>
            <a:pPr eaLnBrk="1" hangingPunct="1"/>
            <a:r>
              <a:rPr lang="en-US" altLang="it-IT" i="1">
                <a:ea typeface="Times" panose="02020603050405020304" pitchFamily="18" charset="0"/>
                <a:cs typeface="Times" panose="02020603050405020304" pitchFamily="18" charset="0"/>
              </a:rPr>
              <a:t>Before </a:t>
            </a: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&amp; </a:t>
            </a:r>
            <a:r>
              <a:rPr lang="en-US" altLang="it-IT" i="1">
                <a:ea typeface="Times" panose="02020603050405020304" pitchFamily="18" charset="0"/>
                <a:cs typeface="Times" panose="02020603050405020304" pitchFamily="18" charset="0"/>
              </a:rPr>
              <a:t>After</a:t>
            </a: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 must be of limited size</a:t>
            </a:r>
          </a:p>
          <a:p>
            <a:pPr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Adds complexity to </a:t>
            </a:r>
            <a:r>
              <a:rPr lang="en-US" altLang="it-IT" i="1">
                <a:ea typeface="Times" panose="02020603050405020304" pitchFamily="18" charset="0"/>
                <a:cs typeface="Times" panose="02020603050405020304" pitchFamily="18" charset="0"/>
              </a:rPr>
              <a:t>Factor</a:t>
            </a:r>
            <a:r>
              <a:rPr lang="en-US" altLang="it-IT" i="1"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Identifier </a:t>
            </a:r>
            <a:endParaRPr lang="en-US" altLang="it-IT">
              <a:ea typeface="Times" panose="02020603050405020304" pitchFamily="18" charset="0"/>
              <a:cs typeface="Times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  <a:sym typeface="Symbol" panose="05050102010706020507" pitchFamily="18" charset="2"/>
              </a:rPr>
              <a:t>Requires more complex initialization</a:t>
            </a:r>
          </a:p>
          <a:p>
            <a:pPr eaLnBrk="1" hangingPunct="1">
              <a:spcBef>
                <a:spcPct val="150000"/>
              </a:spcBef>
              <a:buFont typeface="Times" panose="02020603050405020304" pitchFamily="18" charset="0"/>
              <a:buNone/>
            </a:pP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Jump from tracking loads to tracking registers is small</a:t>
            </a:r>
          </a:p>
          <a:p>
            <a:pPr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Copy rules are already in place</a:t>
            </a:r>
          </a:p>
          <a:p>
            <a:pPr eaLnBrk="1" hangingPunct="1"/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Some local code to perform the allocation</a:t>
            </a:r>
          </a:p>
          <a:p>
            <a:pPr eaLnBrk="1" hangingPunct="1">
              <a:spcBef>
                <a:spcPct val="150000"/>
              </a:spcBef>
              <a:buFont typeface="Times" panose="02020603050405020304" pitchFamily="18" charset="0"/>
              <a:buNone/>
            </a:pPr>
            <a:endParaRPr lang="en-US" altLang="it-IT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2CF3F3E4-0C76-400D-A603-415F7D5D165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altLang="it-IT">
                <a:ea typeface="Times" panose="02020603050405020304" pitchFamily="18" charset="0"/>
                <a:cs typeface="Times" panose="02020603050405020304" pitchFamily="18" charset="0"/>
              </a:rPr>
              <a:t>An Even Better Model</a:t>
            </a:r>
          </a:p>
        </p:txBody>
      </p:sp>
    </p:spTree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Footer Placeholder 3">
            <a:extLst>
              <a:ext uri="{FF2B5EF4-FFF2-40B4-BE49-F238E27FC236}">
                <a16:creationId xmlns:a16="http://schemas.microsoft.com/office/drawing/2014/main" id="{93947D46-8984-4D5C-BC5D-701FE6E07D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87042" name="Slide Number Placeholder 4">
            <a:extLst>
              <a:ext uri="{FF2B5EF4-FFF2-40B4-BE49-F238E27FC236}">
                <a16:creationId xmlns:a16="http://schemas.microsoft.com/office/drawing/2014/main" id="{701E9455-CFF2-4166-B85E-1D5E6164A9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E5598140-1C9B-4615-9325-7032609CA909}" type="slidenum">
              <a:rPr lang="en-US" altLang="it-IT"/>
              <a:pPr/>
              <a:t>35</a:t>
            </a:fld>
            <a:endParaRPr lang="en-US" altLang="it-IT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DCD9CFDD-928C-416B-91CA-BCAE9D4395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And Its Extensions</a:t>
            </a:r>
          </a:p>
        </p:txBody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37F5C94E-57DC-49D6-AB49-61BBBA5C70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en-US" altLang="it-IT"/>
              <a:t>Tracking loads </a:t>
            </a:r>
          </a:p>
          <a:p>
            <a:pPr eaLnBrk="1" hangingPunct="1"/>
            <a:r>
              <a:rPr lang="en-US" altLang="it-IT"/>
              <a:t>Introduced </a:t>
            </a:r>
            <a:r>
              <a:rPr lang="en-US" altLang="it-IT" i="1"/>
              <a:t>Before</a:t>
            </a:r>
            <a:r>
              <a:rPr lang="en-US" altLang="it-IT"/>
              <a:t> and </a:t>
            </a:r>
            <a:r>
              <a:rPr lang="en-US" altLang="it-IT" i="1"/>
              <a:t>After </a:t>
            </a:r>
            <a:r>
              <a:rPr lang="en-US" altLang="it-IT"/>
              <a:t>sets to record loads</a:t>
            </a:r>
          </a:p>
          <a:p>
            <a:pPr eaLnBrk="1" hangingPunct="1"/>
            <a:r>
              <a:rPr lang="en-US" altLang="it-IT"/>
              <a:t>Added  ≥ 2 copy rules per production</a:t>
            </a:r>
          </a:p>
          <a:p>
            <a:pPr lvl="1" eaLnBrk="1" hangingPunct="1"/>
            <a:r>
              <a:rPr lang="en-US" altLang="it-IT"/>
              <a:t>Serialized evaluation into execution order</a:t>
            </a:r>
          </a:p>
          <a:p>
            <a:pPr eaLnBrk="1" hangingPunct="1"/>
            <a:r>
              <a:rPr lang="en-US" altLang="it-IT"/>
              <a:t>Made the whole attribute grammar large &amp; cumbersome</a:t>
            </a:r>
          </a:p>
          <a:p>
            <a:pPr eaLnBrk="1" hangingPunct="1">
              <a:spcBef>
                <a:spcPct val="100000"/>
              </a:spcBef>
              <a:buFont typeface="Times" panose="02020603050405020304" pitchFamily="18" charset="0"/>
              <a:buNone/>
            </a:pPr>
            <a:r>
              <a:rPr lang="en-US" altLang="it-IT"/>
              <a:t>Finite register set</a:t>
            </a:r>
          </a:p>
          <a:p>
            <a:pPr eaLnBrk="1" hangingPunct="1"/>
            <a:r>
              <a:rPr lang="en-US" altLang="it-IT"/>
              <a:t>Complicated one production (</a:t>
            </a:r>
            <a:r>
              <a:rPr lang="en-US" altLang="it-IT" i="1"/>
              <a:t>Factor </a:t>
            </a:r>
            <a:r>
              <a:rPr lang="en-US" altLang="it-IT" sz="1800">
                <a:sym typeface="Symbol" panose="05050102010706020507" pitchFamily="18" charset="2"/>
              </a:rPr>
              <a:t></a:t>
            </a:r>
            <a:r>
              <a:rPr lang="en-US" altLang="it-IT" sz="1800" i="1">
                <a:sym typeface="Symbol" panose="05050102010706020507" pitchFamily="18" charset="2"/>
              </a:rPr>
              <a:t> </a:t>
            </a:r>
            <a:r>
              <a:rPr lang="en-US" altLang="it-IT">
                <a:sym typeface="Symbol" panose="05050102010706020507" pitchFamily="18" charset="2"/>
              </a:rPr>
              <a:t>Identifier</a:t>
            </a:r>
            <a:r>
              <a:rPr lang="en-US" altLang="it-IT" i="1">
                <a:sym typeface="Symbol" panose="05050102010706020507" pitchFamily="18" charset="2"/>
              </a:rPr>
              <a:t>)</a:t>
            </a:r>
            <a:r>
              <a:rPr lang="en-US" altLang="it-IT">
                <a:sym typeface="Symbol" panose="05050102010706020507" pitchFamily="18" charset="2"/>
              </a:rPr>
              <a:t> </a:t>
            </a:r>
          </a:p>
          <a:p>
            <a:pPr eaLnBrk="1" hangingPunct="1"/>
            <a:r>
              <a:rPr lang="en-US" altLang="it-IT">
                <a:sym typeface="Symbol" panose="05050102010706020507" pitchFamily="18" charset="2"/>
              </a:rPr>
              <a:t>Needed a little fancier initialization</a:t>
            </a:r>
          </a:p>
          <a:p>
            <a:pPr eaLnBrk="1" hangingPunct="1"/>
            <a:r>
              <a:rPr lang="en-US" altLang="it-IT"/>
              <a:t>Changes were quite limited</a:t>
            </a:r>
          </a:p>
          <a:p>
            <a:pPr eaLnBrk="1" hangingPunct="1">
              <a:spcBef>
                <a:spcPct val="140000"/>
              </a:spcBef>
              <a:buFont typeface="Times" panose="02020603050405020304" pitchFamily="18" charset="0"/>
              <a:buNone/>
            </a:pPr>
            <a:r>
              <a:rPr lang="en-US" altLang="it-IT"/>
              <a:t>Why is one change hard and the other easy?</a:t>
            </a:r>
          </a:p>
        </p:txBody>
      </p:sp>
    </p:spTree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Footer Placeholder 3">
            <a:extLst>
              <a:ext uri="{FF2B5EF4-FFF2-40B4-BE49-F238E27FC236}">
                <a16:creationId xmlns:a16="http://schemas.microsoft.com/office/drawing/2014/main" id="{2C14136E-806C-4494-8039-37CA094B1C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r>
              <a:rPr lang="en-US" altLang="it-IT"/>
              <a:t>Comp 412, Fall 2010</a:t>
            </a:r>
          </a:p>
        </p:txBody>
      </p:sp>
      <p:sp>
        <p:nvSpPr>
          <p:cNvPr id="89090" name="Slide Number Placeholder 4">
            <a:extLst>
              <a:ext uri="{FF2B5EF4-FFF2-40B4-BE49-F238E27FC236}">
                <a16:creationId xmlns:a16="http://schemas.microsoft.com/office/drawing/2014/main" id="{40AE0556-6A23-4FED-B820-B39EDFAAC3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ヒラギノ角ゴ Pro W3"/>
                <a:cs typeface="ヒラギノ角ゴ Pro W3"/>
              </a:defRPr>
            </a:lvl9pPr>
          </a:lstStyle>
          <a:p>
            <a:fld id="{2BAC6712-640B-462F-BEA4-F95070985252}" type="slidenum">
              <a:rPr lang="en-US" altLang="it-IT"/>
              <a:pPr/>
              <a:t>36</a:t>
            </a:fld>
            <a:endParaRPr lang="en-US" altLang="it-IT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14FAAB91-F9A9-43FB-982D-0C093D5C3F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The Moral of the Story</a:t>
            </a:r>
          </a:p>
        </p:txBody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F96B5892-20BE-4253-9F00-D3EC3993FF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/>
              <a:t>Non-local computation needed lots of supporting rules</a:t>
            </a:r>
          </a:p>
          <a:p>
            <a:pPr eaLnBrk="1" hangingPunct="1"/>
            <a:r>
              <a:rPr lang="en-US" altLang="it-IT"/>
              <a:t>Complex local computation was relatively easy</a:t>
            </a:r>
          </a:p>
          <a:p>
            <a:pPr eaLnBrk="1" hangingPunct="1">
              <a:spcBef>
                <a:spcPct val="200000"/>
              </a:spcBef>
              <a:buFont typeface="Times" panose="02020603050405020304" pitchFamily="18" charset="0"/>
              <a:buNone/>
            </a:pPr>
            <a:r>
              <a:rPr lang="en-US" altLang="it-IT"/>
              <a:t>The Problems</a:t>
            </a:r>
          </a:p>
          <a:p>
            <a:pPr eaLnBrk="1" hangingPunct="1"/>
            <a:r>
              <a:rPr lang="en-US" altLang="it-IT"/>
              <a:t>Copy rules increase cognitive overhead</a:t>
            </a:r>
          </a:p>
          <a:p>
            <a:pPr eaLnBrk="1" hangingPunct="1"/>
            <a:r>
              <a:rPr lang="en-US" altLang="it-IT"/>
              <a:t>Copy rules increase space requirements</a:t>
            </a:r>
          </a:p>
          <a:p>
            <a:pPr lvl="1" eaLnBrk="1" hangingPunct="1"/>
            <a:r>
              <a:rPr lang="en-US" altLang="it-IT"/>
              <a:t>Need copies of attributes</a:t>
            </a:r>
          </a:p>
          <a:p>
            <a:pPr lvl="1" eaLnBrk="1" hangingPunct="1"/>
            <a:r>
              <a:rPr lang="en-US" altLang="it-IT"/>
              <a:t>Can use pointers, for even more cognitive overhead</a:t>
            </a:r>
          </a:p>
          <a:p>
            <a:pPr eaLnBrk="1" hangingPunct="1"/>
            <a:r>
              <a:rPr lang="en-US" altLang="it-IT"/>
              <a:t>Result is an attributed tree              </a:t>
            </a:r>
            <a:r>
              <a:rPr lang="en-US" altLang="it-IT" i="1">
                <a:solidFill>
                  <a:srgbClr val="FF0065"/>
                </a:solidFill>
              </a:rPr>
              <a:t>(</a:t>
            </a:r>
            <a:r>
              <a:rPr lang="en-US" altLang="it-IT" sz="1800" i="1">
                <a:solidFill>
                  <a:srgbClr val="FF0065"/>
                </a:solidFill>
              </a:rPr>
              <a:t>somewhat subtle points</a:t>
            </a:r>
            <a:r>
              <a:rPr lang="en-US" altLang="it-IT" i="1">
                <a:solidFill>
                  <a:srgbClr val="FF0065"/>
                </a:solidFill>
              </a:rPr>
              <a:t>)</a:t>
            </a:r>
            <a:endParaRPr lang="en-US" altLang="it-IT"/>
          </a:p>
          <a:p>
            <a:pPr lvl="1" eaLnBrk="1" hangingPunct="1"/>
            <a:r>
              <a:rPr lang="en-US" altLang="it-IT"/>
              <a:t>Must build the parse tree</a:t>
            </a:r>
          </a:p>
          <a:p>
            <a:pPr lvl="1" eaLnBrk="1" hangingPunct="1"/>
            <a:r>
              <a:rPr lang="en-US" altLang="it-IT"/>
              <a:t>Either search tree for answers or copy them to the root</a:t>
            </a:r>
          </a:p>
        </p:txBody>
      </p:sp>
      <p:grpSp>
        <p:nvGrpSpPr>
          <p:cNvPr id="89093" name="Group 8">
            <a:extLst>
              <a:ext uri="{FF2B5EF4-FFF2-40B4-BE49-F238E27FC236}">
                <a16:creationId xmlns:a16="http://schemas.microsoft.com/office/drawing/2014/main" id="{4D9DA6E4-E625-45CF-9251-2E289CDC0E05}"/>
              </a:ext>
            </a:extLst>
          </p:cNvPr>
          <p:cNvGrpSpPr>
            <a:grpSpLocks/>
          </p:cNvGrpSpPr>
          <p:nvPr/>
        </p:nvGrpSpPr>
        <p:grpSpPr bwMode="auto">
          <a:xfrm>
            <a:off x="5859463" y="2095500"/>
            <a:ext cx="3098800" cy="1077913"/>
            <a:chOff x="3691" y="1320"/>
            <a:chExt cx="1952" cy="679"/>
          </a:xfrm>
        </p:grpSpPr>
        <p:sp>
          <p:nvSpPr>
            <p:cNvPr id="89094" name="Text Box 5">
              <a:extLst>
                <a:ext uri="{FF2B5EF4-FFF2-40B4-BE49-F238E27FC236}">
                  <a16:creationId xmlns:a16="http://schemas.microsoft.com/office/drawing/2014/main" id="{D545806B-1A26-439E-A173-8ECB2CA34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2" y="1320"/>
              <a:ext cx="1721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it-IT" sz="1600">
                  <a:solidFill>
                    <a:srgbClr val="003C75"/>
                  </a:solidFill>
                </a:rPr>
                <a:t>A good rule of thumb is that the compiler touches all the space it allocates, usually multiple times</a:t>
              </a:r>
            </a:p>
          </p:txBody>
        </p:sp>
        <p:sp>
          <p:nvSpPr>
            <p:cNvPr id="89095" name="Line 6">
              <a:extLst>
                <a:ext uri="{FF2B5EF4-FFF2-40B4-BE49-F238E27FC236}">
                  <a16:creationId xmlns:a16="http://schemas.microsoft.com/office/drawing/2014/main" id="{2C246048-093A-41B1-BB91-B3B337A8C6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5" y="1320"/>
              <a:ext cx="0" cy="662"/>
            </a:xfrm>
            <a:prstGeom prst="line">
              <a:avLst/>
            </a:prstGeom>
            <a:noFill/>
            <a:ln w="19050">
              <a:solidFill>
                <a:srgbClr val="003C7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9096" name="Freeform 7">
              <a:extLst>
                <a:ext uri="{FF2B5EF4-FFF2-40B4-BE49-F238E27FC236}">
                  <a16:creationId xmlns:a16="http://schemas.microsoft.com/office/drawing/2014/main" id="{383FFB47-7599-4C63-8F79-0BACE3189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1526"/>
              <a:ext cx="223" cy="473"/>
            </a:xfrm>
            <a:custGeom>
              <a:avLst/>
              <a:gdLst>
                <a:gd name="T0" fmla="*/ 223 w 223"/>
                <a:gd name="T1" fmla="*/ 0 h 473"/>
                <a:gd name="T2" fmla="*/ 17 w 223"/>
                <a:gd name="T3" fmla="*/ 292 h 473"/>
                <a:gd name="T4" fmla="*/ 120 w 223"/>
                <a:gd name="T5" fmla="*/ 267 h 473"/>
                <a:gd name="T6" fmla="*/ 0 w 223"/>
                <a:gd name="T7" fmla="*/ 473 h 47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3"/>
                <a:gd name="T13" fmla="*/ 0 h 473"/>
                <a:gd name="T14" fmla="*/ 223 w 223"/>
                <a:gd name="T15" fmla="*/ 473 h 47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3" h="473">
                  <a:moveTo>
                    <a:pt x="223" y="0"/>
                  </a:moveTo>
                  <a:cubicBezTo>
                    <a:pt x="128" y="124"/>
                    <a:pt x="34" y="248"/>
                    <a:pt x="17" y="292"/>
                  </a:cubicBezTo>
                  <a:cubicBezTo>
                    <a:pt x="0" y="336"/>
                    <a:pt x="123" y="237"/>
                    <a:pt x="120" y="267"/>
                  </a:cubicBezTo>
                  <a:cubicBezTo>
                    <a:pt x="117" y="297"/>
                    <a:pt x="58" y="385"/>
                    <a:pt x="0" y="473"/>
                  </a:cubicBezTo>
                </a:path>
              </a:pathLst>
            </a:custGeom>
            <a:noFill/>
            <a:ln w="9525">
              <a:solidFill>
                <a:srgbClr val="003C7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ヒラギノ角ゴ Pro W3"/>
                  <a:cs typeface="ヒラギノ角ゴ Pro W3"/>
                </a:defRPr>
              </a:lvl9pPr>
            </a:lstStyle>
            <a:p>
              <a:endParaRPr lang="en-GB" altLang="it-IT"/>
            </a:p>
          </p:txBody>
        </p:sp>
      </p:grp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Comic Sans MS"/>
        <a:ea typeface="ヒラギノ角ゴ Pro W3"/>
        <a:cs typeface="ヒラギノ角ゴ Pro W3"/>
      </a:majorFont>
      <a:minorFont>
        <a:latin typeface="Comic Sans MS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ヒラギノ角ゴ Pro W3" charset="-128"/>
            <a:cs typeface="ヒラギノ角ゴ Pro W3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1811</TotalTime>
  <Words>2257</Words>
  <Application>Microsoft Office PowerPoint</Application>
  <PresentationFormat>Presentazione su schermo (4:3)</PresentationFormat>
  <Paragraphs>759</Paragraphs>
  <Slides>37</Slides>
  <Notes>37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37</vt:i4>
      </vt:variant>
    </vt:vector>
  </HeadingPairs>
  <TitlesOfParts>
    <vt:vector size="38" baseType="lpstr">
      <vt:lpstr>Blank Presentation</vt:lpstr>
      <vt:lpstr>Context-sensitive Analysis  or Semantic Elaboration  Comp 412</vt:lpstr>
      <vt:lpstr>Beyond Syntax</vt:lpstr>
      <vt:lpstr>Beyond Syntax</vt:lpstr>
      <vt:lpstr>Beyond Syntax</vt:lpstr>
      <vt:lpstr>Beyond Syntax</vt:lpstr>
      <vt:lpstr>Attribute Grammars</vt:lpstr>
      <vt:lpstr>Examples </vt:lpstr>
      <vt:lpstr>Attribute Grammars</vt:lpstr>
      <vt:lpstr>Back to the Examples</vt:lpstr>
      <vt:lpstr>Back to the Examples</vt:lpstr>
      <vt:lpstr>The Rules of the Game</vt:lpstr>
      <vt:lpstr>Using Attribute Grammars</vt:lpstr>
      <vt:lpstr>Evaluation Methods</vt:lpstr>
      <vt:lpstr>Back to the Example</vt:lpstr>
      <vt:lpstr>Back to the Example</vt:lpstr>
      <vt:lpstr>Back to the Example</vt:lpstr>
      <vt:lpstr>Back to the Example</vt:lpstr>
      <vt:lpstr>Back to the Example</vt:lpstr>
      <vt:lpstr>Back to the Example</vt:lpstr>
      <vt:lpstr>Back to the Example</vt:lpstr>
      <vt:lpstr>Circularity</vt:lpstr>
      <vt:lpstr>A Circular Attribute Grammar</vt:lpstr>
      <vt:lpstr>Circular Grammar Example</vt:lpstr>
      <vt:lpstr>Circular Grammar Example</vt:lpstr>
      <vt:lpstr>Circular Grammar Example</vt:lpstr>
      <vt:lpstr>Circular Grammar Example</vt:lpstr>
      <vt:lpstr>Circular Grammar Example</vt:lpstr>
      <vt:lpstr>Circular Grammar Example</vt:lpstr>
      <vt:lpstr>Circularity — The Point</vt:lpstr>
      <vt:lpstr>An Extended Attribute Grammar Example</vt:lpstr>
      <vt:lpstr>An Extended Example                       (continued)   </vt:lpstr>
      <vt:lpstr>An Extended Example                       (continued)</vt:lpstr>
      <vt:lpstr>A Better Execution Model</vt:lpstr>
      <vt:lpstr>A Better Execution Model</vt:lpstr>
      <vt:lpstr>An Even Better Model</vt:lpstr>
      <vt:lpstr>And Its Extensions</vt:lpstr>
      <vt:lpstr>The Moral of the Story</vt:lpstr>
    </vt:vector>
  </TitlesOfParts>
  <Company>Rice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Keith Cooper</dc:creator>
  <cp:lastModifiedBy>Elsevier</cp:lastModifiedBy>
  <cp:revision>31</cp:revision>
  <cp:lastPrinted>2010-10-01T12:52:56Z</cp:lastPrinted>
  <dcterms:created xsi:type="dcterms:W3CDTF">2010-10-01T17:54:07Z</dcterms:created>
  <dcterms:modified xsi:type="dcterms:W3CDTF">2020-10-19T09:03:40Z</dcterms:modified>
</cp:coreProperties>
</file>