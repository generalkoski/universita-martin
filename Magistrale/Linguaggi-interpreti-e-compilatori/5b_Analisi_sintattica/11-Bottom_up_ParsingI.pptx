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310" r:id="rId3"/>
    <p:sldId id="258" r:id="rId4"/>
    <p:sldId id="259" r:id="rId5"/>
    <p:sldId id="260" r:id="rId6"/>
    <p:sldId id="261" r:id="rId7"/>
    <p:sldId id="262" r:id="rId8"/>
    <p:sldId id="264" r:id="rId9"/>
    <p:sldId id="312" r:id="rId10"/>
    <p:sldId id="311" r:id="rId11"/>
    <p:sldId id="265" r:id="rId12"/>
    <p:sldId id="308" r:id="rId13"/>
    <p:sldId id="309" r:id="rId14"/>
    <p:sldId id="263" r:id="rId15"/>
    <p:sldId id="266" r:id="rId16"/>
    <p:sldId id="267" r:id="rId17"/>
    <p:sldId id="292" r:id="rId18"/>
    <p:sldId id="293" r:id="rId19"/>
    <p:sldId id="313" r:id="rId20"/>
    <p:sldId id="294" r:id="rId21"/>
    <p:sldId id="295" r:id="rId22"/>
    <p:sldId id="296" r:id="rId23"/>
    <p:sldId id="297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289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0" autoAdjust="0"/>
    <p:restoredTop sz="94660"/>
  </p:normalViewPr>
  <p:slideViewPr>
    <p:cSldViewPr>
      <p:cViewPr>
        <p:scale>
          <a:sx n="100" d="100"/>
          <a:sy n="100" d="100"/>
        </p:scale>
        <p:origin x="-216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CDF29E-9A2E-436B-B0A3-5A20A58FBF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71F3AE-0383-4D76-84F7-B7757D4063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33B2F55F-26DA-40E6-B07B-0D65503D0E34}" type="datetime1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F1C3C-59F4-4DAA-84F3-BDAF59CD3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FF987-CDD4-4964-98BB-D21CA990F7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B1D5D5DD-17A6-4DBC-AC96-7ABEF08D39E7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00E942A-3EC5-4E5D-9D97-B5E5D27571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D2BAA6D-0BB9-40C4-9429-82F16110D51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6B938195-3EC4-49A0-B498-C177A16DB38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4BB7AAA-C1C6-4610-9405-52A6C0EF9EE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DF7AD2F-5A15-4D1C-8870-5040824F2F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DD1CA05A-128D-4CCD-86BF-E97D399811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167F34C4-C964-40C1-A967-75A67422BD6F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14AA76E7-996B-4FBB-992D-02D9855FB1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90BDF14-BE15-427A-A97A-50436566A375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2969106-C90C-461D-8C8E-D634426DC4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87AF27F-A562-44C1-B8D5-8099F6FEC4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20393ABA-C255-4F78-A114-A63BC966BD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ECC9E72-AA3A-4685-B4E5-49441F41D004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D7959B6-1ED6-4D1E-A872-051D9199D74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5FED971-5CF0-4A28-8DC5-86BFB90857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517F2059-D208-4CB2-8E3A-57ACB303D4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458A674-98C4-4103-B935-75F69A6D353F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B617F589-B0A2-419C-99F8-445641846C7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EFAB788-ECFC-4E9C-A567-2E3700223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96C2063D-8CC0-44FE-8D5C-FB29C4CDC9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1B0F925-63C7-4D05-AC2D-6E95F059145C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1AA3BA74-F7BF-4A35-86F5-793165CC91B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DE5C71B-5B2F-4A4E-B5BD-BDACE60B11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3F8EF6EF-3AA6-4B3A-9F62-801BCF014B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5D41C12-8966-466D-8584-09D0C3771F2A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DFA5CD15-59DF-4322-8C3F-0DD2C3443DD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B381DF2-5468-4EAC-9D62-03B36757F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Work this example backward, then forward 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Show the derivation steps, then the parse steps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Remark that the parsing process is (at this stage) almost as mysterious as it looks.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4C6A9981-80C7-49B0-A809-0038B0A372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F482929-2FBC-42F4-A1DB-65DD048DC6E0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BB706259-81CC-47F2-A22E-5328DDAB6CF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D00BFD8-DED0-407A-B676-B31348C38B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CAD72634-DF72-4F07-BD98-7476B6274E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4799148-F2AC-427B-B812-30A746A88C21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D6048A8-6175-4EC1-8E53-A34278FED04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B0D6C99-C647-4127-B7FF-2D0057EE8C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9520AE4C-7AD3-4F81-AD87-848525572D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628F364-6A58-4389-AD01-9DCA646400EE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7DD97326-3FD4-4DD2-BA2B-9096A7407DF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1C3DB049-1F72-4174-B780-FF9AE3A70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DEAAECAB-D43B-4D5C-A35D-BF2E239137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A0DB6BC-6D31-46A5-94F2-3515230888AE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9B985942-25F7-4074-8297-E7830853259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00D3FE1-6AA9-4190-B99C-73C25EC2C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Look, for the derivation, at the idea that the upper fringe (e.g., the stack) consists of a trailing string of terminals, preceded by a string drawn from (NT | T)*.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3ACA215D-37BD-4DDA-B264-E517016D07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56A9CE2-85F6-4CF7-A89B-952B0E4437F8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C5037B65-E6F5-48A2-A37F-B18094DDAE8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2AC9DE78-E748-410E-BACD-AE8182FF9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48EC03F9-7600-4C50-B4A6-5472EED3B8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56BB293-A33A-4D6D-B2E7-F40AE89A25F9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A376EB81-F5C7-4E77-AF66-C797B12729D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277125B-4D57-4FE3-81A8-889AAC3FF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Answer to the question:  the language of handles is FINITE.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8E035C59-BAFF-4CB5-BA10-E662B112A5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5A654B3-0B7A-4FAE-995A-5EC29A56662C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0502CDA5-E4A0-4C3F-B127-74A4464703E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2C7E255-E08F-49A2-887D-A13C7DC7A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049180ED-E70F-4B78-B37B-A5D79B93C6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C336858-1902-4A24-BAE8-2B6DED190CC7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0B7C769D-E2E9-4BEA-B631-05F53D2C17F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54F4197-239C-48A6-8268-30A868DBB2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D51E90C5-E6E4-4B5C-A7FD-7343FD5A42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93ECCF3-2ECC-40E1-BE73-6126866DA3EE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6BE4A40C-EBF1-47C3-A6B4-AC358255A1D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972C66C7-70A9-4F44-AE0E-5BC70840DC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A57924CB-7C57-4FD8-AB02-AD0721F463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7395BA5-4C07-488B-80A3-87B861AD387B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3488A0C6-FE56-4B27-A39C-75D8261C737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64C55A8C-12DD-4495-A290-C43DAAD71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8A3CD165-6EC4-433E-9F3D-C9BB2A271B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E962945-7CF1-4AF6-ABE9-ECCC98B6B98E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76CC4819-74E7-406A-BA26-541A56CAAEF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93B27AA2-5CA3-4D7B-8EEA-7B6F820E9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64679BA0-3AD2-414B-B3F0-C3F472FB1E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2D20C95-D890-4171-B99C-5EBC1AEC4B8A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2D683460-1744-420D-9C7E-37E6748A181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B028B83-0CC0-44BC-AC28-65A7D383D5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129DF1CE-223A-4B49-8E6B-9D9A6D2454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781CC30-AC90-4869-92A3-A3200BBCD199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AFD930C4-20C5-4A87-8EC7-FEB921A0D93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9A95BAA8-EE6D-4805-BC9D-E8387B111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B976C211-5833-4FD9-99CF-F182C37FB5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0868AAD-BD9F-4206-86FD-9ECE5CBDD62F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6E70EB37-F161-4193-A52C-E7DE9686C6C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23252A19-E636-419A-8A3A-C5CA50E2DC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9CDCA865-341F-443F-9078-95BCB7C5E1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1F11528-1F09-481B-AF88-39DEBEC1CF39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5AD12960-55B9-47D7-A75E-06A18361F0C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ACA3DE4-F539-40B5-A621-311FD2AE53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39E0935B-1AE3-4331-907F-5E5BED69A9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578440D-EE34-4391-9D49-683576DD825F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28E58F9D-5388-4278-8219-A2CD0B7944E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4CC9AC8-D51B-4EEF-B9C5-9B7CD47192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C3896E09-1B9B-4990-9E30-0D896C8347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1611104-3B51-469F-A026-A60B2FB54BDF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404EC8C2-20C6-4990-80E2-CAB09152135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98B8077B-A141-4DEA-B256-C9DF136EF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73965AB6-7EEF-4B9D-9D57-FE82696B78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F641E83-E27F-484A-A50C-4F91D380B54E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608A82F5-B628-488B-AB0A-D70DBAC4973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CCD123A-564A-447E-A673-7C010EA73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06E6CB20-2D6E-46C3-8C87-CED8783359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428E6E2-EC2B-4E6A-B67C-7C621ADDD84A}" type="slidenum">
              <a:rPr lang="en-US" altLang="it-IT"/>
              <a:pPr/>
              <a:t>26</a:t>
            </a:fld>
            <a:endParaRPr lang="en-US" altLang="it-IT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F9CEB25D-7A4C-4289-A619-AFEECAFF97A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21DB8042-3FA1-424C-A8C6-10C56A3AC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670249A0-79B8-4D6D-9CF2-1F4D749A79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C587912-8032-4D07-96DF-3C466F0D858C}" type="slidenum">
              <a:rPr lang="en-US" altLang="it-IT"/>
              <a:pPr/>
              <a:t>27</a:t>
            </a:fld>
            <a:endParaRPr lang="en-US" altLang="it-IT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A9195FEE-7B4C-48C2-9E82-B0E2E001B5D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923BE27-AC8C-4E65-943D-858910E5CD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33B10AE9-ACE2-4C95-924C-5D9AB39EF8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D1BAF37-C726-4A4E-99B5-EDC46ECF8521}" type="slidenum">
              <a:rPr lang="en-US" altLang="it-IT"/>
              <a:pPr/>
              <a:t>28</a:t>
            </a:fld>
            <a:endParaRPr lang="en-US" altLang="it-IT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E41F6699-B8EB-41ED-9219-DF1D88E1E66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636B6DD-E329-48D1-A4C9-435289C619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7E80F662-4074-4787-B54B-074FF44BB2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C96BA1F-787B-4E7A-AD43-B3E549CFEBBA}" type="slidenum">
              <a:rPr lang="en-US" altLang="it-IT"/>
              <a:pPr/>
              <a:t>29</a:t>
            </a:fld>
            <a:endParaRPr lang="en-US" altLang="it-IT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4DD49588-353E-4486-BF55-9CDDB4357D1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760BA850-E726-406E-BDA2-3CCF11A37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A07F5C69-A3EE-46D0-9A08-3B6C5284A2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D71D0B6-6B43-496C-BDBF-0AF91A5A9AE3}" type="slidenum">
              <a:rPr lang="en-US" altLang="it-IT"/>
              <a:pPr/>
              <a:t>30</a:t>
            </a:fld>
            <a:endParaRPr lang="en-US" altLang="it-IT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F1C6CEF9-B62D-4584-AD2E-826804C0894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082ED380-6730-4952-8328-DA3E34EAB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68C95D3A-1D15-47AD-A96B-B3D919A1C7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34950FE-FA64-4899-B74D-12081F83B7CB}" type="slidenum">
              <a:rPr lang="en-US" altLang="it-IT"/>
              <a:pPr/>
              <a:t>31</a:t>
            </a:fld>
            <a:endParaRPr lang="en-US" altLang="it-IT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593E8E63-C20E-47A9-B214-CC0A7B83BFF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73393BE-850D-4F61-AA21-2D34D5B82A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6EA23CCB-4E5C-4885-BC27-2AA5DA61E9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5D206BA-5AA0-42F6-8C68-5BF5F84DCBF4}" type="slidenum">
              <a:rPr lang="en-US" altLang="it-IT"/>
              <a:pPr/>
              <a:t>32</a:t>
            </a:fld>
            <a:endParaRPr lang="en-US" altLang="it-IT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8EACC942-00F0-4EA6-9AAD-57C425052E0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E653E4D1-6DD6-4A42-ADA4-F88E4B0A7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6BE8F729-CB14-4FB7-AB9D-4AAAE69EA8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2A741E4-1E88-4FE1-BE59-3BC6479545B6}" type="slidenum">
              <a:rPr lang="en-US" altLang="it-IT"/>
              <a:pPr/>
              <a:t>33</a:t>
            </a:fld>
            <a:endParaRPr lang="en-US" altLang="it-IT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30659C96-B349-4FED-BA4E-3EDB5791FED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8E1A40B-2368-4487-A02D-04E987547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5223D7F3-F88D-42A5-9A9B-DDBDCACBC8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2711B07-E580-429E-9482-5BD173515D28}" type="slidenum">
              <a:rPr lang="en-US" altLang="it-IT"/>
              <a:pPr/>
              <a:t>34</a:t>
            </a:fld>
            <a:endParaRPr lang="en-US" altLang="it-IT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8E057960-8854-42BF-9756-F4F06285FED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CCAA8054-4490-445D-8EC3-7CC60CF53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53D33350-0567-4770-8484-0A1DA58DC5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2D83C1F-1D36-41A3-B8B1-80781147203C}" type="slidenum">
              <a:rPr lang="en-US" altLang="it-IT"/>
              <a:pPr/>
              <a:t>35</a:t>
            </a:fld>
            <a:endParaRPr lang="en-US" altLang="it-IT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9A6FF8A7-4F98-4601-9693-0E3F312E56B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EC218276-8FDF-4311-B753-441501E3E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6021517E-4B0B-4EF8-9A2F-554420A1B4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A0BAA38-2A0E-4C30-8CF4-90392143994A}" type="slidenum">
              <a:rPr lang="en-US" altLang="it-IT"/>
              <a:pPr/>
              <a:t>36</a:t>
            </a:fld>
            <a:endParaRPr lang="en-US" altLang="it-IT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2A656474-4246-4007-8FD1-AB73EE91642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AC8D0A05-75DB-409B-9D7B-355B68E12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D696EB47-8433-4B88-992A-1974619240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343CD0A-1FF8-48FA-9D10-EC579FD0F065}" type="slidenum">
              <a:rPr lang="en-US" altLang="it-IT"/>
              <a:pPr/>
              <a:t>37</a:t>
            </a:fld>
            <a:endParaRPr lang="en-US" altLang="it-IT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38BD1510-87FC-4BDE-8A56-449699F683D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38CCDDC0-223C-436D-A297-A649796960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5A47C260-76C1-40CF-A0FB-88E3E7F598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202CD00-ACCF-485E-9BCC-4BB2104293F7}" type="slidenum">
              <a:rPr lang="en-US" altLang="it-IT"/>
              <a:pPr/>
              <a:t>38</a:t>
            </a:fld>
            <a:endParaRPr lang="en-US" altLang="it-IT"/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7E963E49-945B-4F19-B29B-7E5C0893E0D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07F6B951-463B-4044-A9FC-0EF523DECD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2BB0B9D8-CBDC-4C6E-912F-52A06AC8F1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A4AC62B-CC57-42E1-A63B-87312A2E83FD}" type="slidenum">
              <a:rPr lang="en-US" altLang="it-IT"/>
              <a:pPr/>
              <a:t>39</a:t>
            </a:fld>
            <a:endParaRPr lang="en-US" altLang="it-IT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F2DBE463-FD1C-4F2D-A915-C82302F35FC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632764E1-562B-46F6-9B7C-938C8EF20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8CD7BE43-F3B7-41D8-BFB8-779AE3348B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C3D21C2-51C5-4367-B770-65837A52588D}" type="slidenum">
              <a:rPr lang="en-US" altLang="it-IT"/>
              <a:pPr/>
              <a:t>40</a:t>
            </a:fld>
            <a:endParaRPr lang="en-US" altLang="it-IT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AEE3DCCB-71DE-4C1F-8B42-634A7070205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D7740F41-4DD1-491A-8335-BD79865D7E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The reduce action is shown running from S0 to S1 because, in this grammar,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Every reduce action reveals state S0.  In practice, the actions appear to take 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The parser from S2 and S3 to S1 – although the actual code takes it through S0.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D980006-B846-421B-80DF-C9753C2471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B3F33A9-093F-41A7-84C9-1011E1E9881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10FFEF-638F-4096-8499-7FFC5EDC7382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19008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1871020-03FF-44D8-9116-63A1FDDE0EB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05F4D37-D6B1-4D7C-A066-F9F3182C50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6871F1-BA23-4D87-B6CE-57966B90CA6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80660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CBA088-0186-453B-A2C7-4E97608A35A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2F1CC64-BBA3-4384-B606-AF400E979B1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EF3EB-4194-4790-A247-71E2169AE06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09699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1A5A0E-7891-4E9E-AD69-8A10487A2D9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02D641-2E60-47D2-AFD3-8C4F2D5C28B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1A60BD-7828-43E3-84AA-3FF90421E40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77730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31861F0-7F45-4A33-9D0C-1D7210E23C1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9F26CFB-ED9F-4136-9934-AB72A495D87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848493-E918-410B-B45C-0C2E18A9AFC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06699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0C9F0D2-AF50-491F-8BFB-9E9F13EE489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42C660-078D-48E4-8856-CCB47304CCE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5BE00E-7CB8-46F9-8C0A-4AC10A1EFB3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01453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F218CC63-2541-45FF-9AFD-54B0EFE4718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8846930-9501-477B-8EB2-88DBCD3915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E3C388-10BD-4428-8D3A-AACA9A9447D2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8191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6E8C92-8422-44C5-AB6A-CFA7D439078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0086CB-A0CE-4756-82D4-19E1AF0951B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BDDE4D-382F-4A99-9D6B-A24ED4B35A4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99317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E980E0-ECF5-4A13-9C05-5829547E2D4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9FADD-8C60-4437-9C09-E0993104FC3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918564-D1E9-40EF-AE16-BC1CD3DD196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07480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A5FB29-C2A8-4F7C-B1E9-9EB4FAED599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EFBA7D7-0343-41D3-BE17-6CAE665C88B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9B452C-12CD-4126-B465-810FECF213F7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8783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DB877F0-4549-49B7-ACD9-0393CF927B9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5FD8B13-F190-4CD1-8125-6A6D714B397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AA8381-D120-4118-849A-9F90EFEA4AE9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26169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CF07F72-4B66-4B8D-B8A2-562B1D5C1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DD1BE18-AD89-44A7-92DF-E766D56BC0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C01C1CA-2455-4159-8E51-C0319838EAC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F96DCA3-4E39-4DD3-99CA-83B05AACFD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EE6B3877-5BDC-4751-9B65-4893908C0D22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52C6FD95-06DF-49D8-997A-E0A88F9404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0D526DF6-00B7-44E3-B5DF-555E9C1A528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D37B287-0810-443F-9F14-D2F035B30ED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Bottom-up Parsing, Part I</a:t>
            </a:r>
            <a:br>
              <a:rPr lang="en-US" altLang="it-IT" sz="3200" i="1"/>
            </a:br>
            <a:br>
              <a:rPr lang="en-US" altLang="it-IT" sz="32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70F2CD0C-1389-4FB4-8177-9075C3506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46ECA27E-6758-473E-B0E0-E3C341936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8">
            <a:extLst>
              <a:ext uri="{FF2B5EF4-FFF2-40B4-BE49-F238E27FC236}">
                <a16:creationId xmlns:a16="http://schemas.microsoft.com/office/drawing/2014/main" id="{78D6416E-8B72-4B39-849C-FA2878A2B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CC68B-518C-448E-8054-AA0F2AFAE257}"/>
              </a:ext>
            </a:extLst>
          </p:cNvPr>
          <p:cNvSpPr txBox="1"/>
          <p:nvPr/>
        </p:nvSpPr>
        <p:spPr>
          <a:xfrm>
            <a:off x="762000" y="3657600"/>
            <a:ext cx="7696200" cy="9239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Reorganize this entire lecture (based on Fall 2010 experience)</a:t>
            </a:r>
          </a:p>
          <a:p>
            <a:pPr eaLnBrk="0" hangingPunct="0">
              <a:defRPr/>
            </a:pPr>
            <a:r>
              <a:rPr lang="en-US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Try giving it once and then reorder the points, so that the points are in a logical order.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7ED1E66C-5F8E-44B4-A764-E5EF8D05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Recap of Top-down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FB874-B21E-45C4-8CE6-EE6FC3A21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5105400"/>
          </a:xfrm>
        </p:spPr>
        <p:txBody>
          <a:bodyPr/>
          <a:lstStyle/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Top-down parsers build syntax tree from root to leaves</a:t>
            </a:r>
          </a:p>
          <a:p>
            <a:pPr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dirty="0"/>
              <a:t>Left-recursion causes non-termination in top-down parsers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/>
              <a:t>Transformation to eliminate left recursion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/>
              <a:t>Transformation to eliminate common prefixes in right recursion</a:t>
            </a:r>
          </a:p>
          <a:p>
            <a:pPr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cap="small" dirty="0"/>
              <a:t>First, First</a:t>
            </a:r>
            <a:r>
              <a:rPr lang="en-US" baseline="30000" dirty="0"/>
              <a:t>+</a:t>
            </a:r>
            <a:r>
              <a:rPr lang="en-US" dirty="0"/>
              <a:t>, &amp; </a:t>
            </a:r>
            <a:r>
              <a:rPr lang="en-US" cap="small" dirty="0"/>
              <a:t>Follow </a:t>
            </a:r>
            <a:r>
              <a:rPr lang="en-US" dirty="0"/>
              <a:t>sets + LL(1) condition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/>
              <a:t>LL(1) uses </a:t>
            </a:r>
            <a:r>
              <a:rPr lang="en-US" u="sng" dirty="0">
                <a:solidFill>
                  <a:srgbClr val="003C75"/>
                </a:solidFill>
              </a:rPr>
              <a:t>l</a:t>
            </a:r>
            <a:r>
              <a:rPr lang="en-US" dirty="0">
                <a:solidFill>
                  <a:srgbClr val="003C75"/>
                </a:solidFill>
              </a:rPr>
              <a:t>eft-to-right scan </a:t>
            </a:r>
            <a:r>
              <a:rPr lang="en-US" dirty="0"/>
              <a:t>of the input, </a:t>
            </a:r>
            <a:r>
              <a:rPr lang="en-US" u="sng" dirty="0">
                <a:solidFill>
                  <a:srgbClr val="003C75"/>
                </a:solidFill>
              </a:rPr>
              <a:t>l</a:t>
            </a:r>
            <a:r>
              <a:rPr lang="en-US" dirty="0">
                <a:solidFill>
                  <a:srgbClr val="003C75"/>
                </a:solidFill>
              </a:rPr>
              <a:t>eftmost derivation</a:t>
            </a:r>
            <a:r>
              <a:rPr lang="en-US" dirty="0"/>
              <a:t> of the sentence, and </a:t>
            </a:r>
            <a:r>
              <a:rPr lang="en-US" u="sng" dirty="0">
                <a:solidFill>
                  <a:srgbClr val="003C75"/>
                </a:solidFill>
              </a:rPr>
              <a:t>1</a:t>
            </a:r>
            <a:r>
              <a:rPr lang="en-US" dirty="0"/>
              <a:t> word </a:t>
            </a:r>
            <a:r>
              <a:rPr lang="en-US" dirty="0" err="1"/>
              <a:t>lookahead</a:t>
            </a:r>
            <a:r>
              <a:rPr lang="en-US" dirty="0"/>
              <a:t> 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/>
              <a:t>LL(1) condition means grammar works for </a:t>
            </a:r>
            <a:r>
              <a:rPr lang="en-US" dirty="0">
                <a:solidFill>
                  <a:srgbClr val="003C75"/>
                </a:solidFill>
              </a:rPr>
              <a:t>predictive parsing</a:t>
            </a:r>
          </a:p>
          <a:p>
            <a:pPr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dirty="0"/>
              <a:t>Given an LL(1) grammar, we can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/>
              <a:t>Build a recursive descent parser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/>
              <a:t>Build a table-driven LL(1) parser</a:t>
            </a:r>
          </a:p>
          <a:p>
            <a:pPr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dirty="0"/>
              <a:t>LL(1) parser doesn’t build the parse tree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/>
              <a:t>Keeps lower fringe of partially complete tree on the stack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endParaRPr lang="en-US" dirty="0"/>
          </a:p>
        </p:txBody>
      </p:sp>
      <p:sp>
        <p:nvSpPr>
          <p:cNvPr id="17411" name="Footer Placeholder 3">
            <a:extLst>
              <a:ext uri="{FF2B5EF4-FFF2-40B4-BE49-F238E27FC236}">
                <a16:creationId xmlns:a16="http://schemas.microsoft.com/office/drawing/2014/main" id="{6016534B-C0B5-48C4-9B06-857E63B9AD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id="{44518DCA-61E4-431D-866C-C84BB2F41E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BE01799-DCBE-4D01-8D17-EAFC6F88A82C}" type="slidenum">
              <a:rPr lang="en-US" altLang="it-IT"/>
              <a:pPr/>
              <a:t>1</a:t>
            </a:fld>
            <a:endParaRPr lang="en-US" alt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Footer Placeholder 1">
            <a:extLst>
              <a:ext uri="{FF2B5EF4-FFF2-40B4-BE49-F238E27FC236}">
                <a16:creationId xmlns:a16="http://schemas.microsoft.com/office/drawing/2014/main" id="{44E0FB4F-595B-4977-A841-21142633B0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8434" name="Slide Number Placeholder 2">
            <a:extLst>
              <a:ext uri="{FF2B5EF4-FFF2-40B4-BE49-F238E27FC236}">
                <a16:creationId xmlns:a16="http://schemas.microsoft.com/office/drawing/2014/main" id="{E95CB256-03F8-4E37-812E-029D5DF5BB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781ECA9-CE7A-4E39-A8C4-2B7F0BF7BF7B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E16C459-4224-4AE2-B22A-0EE17E05B7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Parsing Techniques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B158809-F499-493E-86C2-12AB000493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Top-down parsers     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(LL(1), recursive descent)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Start at the root of the parse tree and grow toward leaves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Pick a production &amp; try to match the input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Bad “pick”  may need to backtrack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Some grammars are backtrack-free           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(predictive parsing)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Bottom-up parsers     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(LR(1), operator precedence)</a:t>
            </a:r>
            <a:endParaRPr lang="en-US" altLang="it-IT" i="1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Start at the leaves and grow toward root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As input is consumed, encode possibilities in an internal state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Start in a state valid for legal first tokens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Bottom-up parsers handle a large class of grammars</a:t>
            </a: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3">
            <a:extLst>
              <a:ext uri="{FF2B5EF4-FFF2-40B4-BE49-F238E27FC236}">
                <a16:creationId xmlns:a16="http://schemas.microsoft.com/office/drawing/2014/main" id="{D65B110C-B1FC-4093-9832-EA2B6DE057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AE722066-D9A2-42DA-8777-653A964DD8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79F3380-5D20-47F8-8E01-AC2F17610A57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1DDCB44-C1BA-478A-BA94-154FA3489F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/>
              <a:t>Bottom-up Parsing</a:t>
            </a:r>
            <a:r>
              <a:rPr lang="en-US" altLang="it-IT" i="1"/>
              <a:t>                          </a:t>
            </a:r>
            <a:r>
              <a:rPr lang="en-US" altLang="it-IT"/>
              <a:t>(definitions)</a:t>
            </a:r>
            <a:endParaRPr lang="en-US" altLang="it-IT" i="1"/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38D4336-F6F6-4015-A0A1-5C1F498A74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The point of parsing is to construct a </a:t>
            </a:r>
            <a:r>
              <a:rPr lang="en-US" altLang="it-IT" i="1" u="sng">
                <a:sym typeface="Symbol" panose="05050102010706020507" pitchFamily="18" charset="2"/>
              </a:rPr>
              <a:t>derivation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derivation consists of a series of rewrite steps</a:t>
            </a:r>
          </a:p>
          <a:p>
            <a:pPr algn="ctr"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0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2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…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n</a:t>
            </a:r>
            <a:r>
              <a:rPr lang="en-US" altLang="it-IT" i="1" baseline="-25000">
                <a:sym typeface="Symbol" panose="05050102010706020507" pitchFamily="18" charset="2"/>
              </a:rPr>
              <a:t>–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n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 i="1">
                <a:sym typeface="Symbol" panose="05050102010706020507" pitchFamily="18" charset="2"/>
              </a:rPr>
              <a:t>sentence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it-IT">
                <a:sym typeface="Symbol" panose="05050102010706020507" pitchFamily="18" charset="2"/>
              </a:rPr>
              <a:t>Each </a:t>
            </a:r>
            <a:r>
              <a:rPr lang="en-US" altLang="it-IT" i="1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is a sentential form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>
                <a:sym typeface="Symbol" panose="05050102010706020507" pitchFamily="18" charset="2"/>
              </a:rPr>
              <a:t>If  contains only terminal symbols,  is a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sentence</a:t>
            </a:r>
            <a:r>
              <a:rPr lang="en-US" altLang="it-IT">
                <a:sym typeface="Symbol" panose="05050102010706020507" pitchFamily="18" charset="2"/>
              </a:rPr>
              <a:t> in </a:t>
            </a:r>
            <a:r>
              <a:rPr lang="en-US" altLang="it-IT" i="1">
                <a:sym typeface="Symbol" panose="05050102010706020507" pitchFamily="18" charset="2"/>
              </a:rPr>
              <a:t>L(G)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>
                <a:sym typeface="Symbol" panose="05050102010706020507" pitchFamily="18" charset="2"/>
              </a:rPr>
              <a:t>If  contains 1 or more non-terminals,  is a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sentential form</a:t>
            </a:r>
            <a:endParaRPr lang="en-US" altLang="it-IT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it-IT">
                <a:sym typeface="Symbol" panose="05050102010706020507" pitchFamily="18" charset="2"/>
              </a:rPr>
              <a:t>To get 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from </a:t>
            </a:r>
            <a:r>
              <a:rPr lang="en-US" altLang="it-IT" baseline="-25000">
                <a:sym typeface="Symbol" panose="05050102010706020507" pitchFamily="18" charset="2"/>
              </a:rPr>
              <a:t>i–1</a:t>
            </a:r>
            <a:r>
              <a:rPr lang="en-US" altLang="it-IT">
                <a:sym typeface="Symbol" panose="05050102010706020507" pitchFamily="18" charset="2"/>
              </a:rPr>
              <a:t>, expand some NT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2400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</a:t>
            </a:r>
            <a:r>
              <a:rPr lang="en-US" altLang="it-IT" sz="18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</a:t>
            </a:r>
            <a:r>
              <a:rPr lang="en-US" altLang="it-IT" baseline="-25000">
                <a:sym typeface="Symbol" panose="05050102010706020507" pitchFamily="18" charset="2"/>
              </a:rPr>
              <a:t>i–1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by using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24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>
                <a:sym typeface="Symbol" panose="05050102010706020507" pitchFamily="18" charset="2"/>
              </a:rPr>
              <a:t>Replace the occurrence of </a:t>
            </a:r>
            <a:r>
              <a:rPr lang="en-US" altLang="it-IT" i="1">
                <a:sym typeface="Symbol" panose="05050102010706020507" pitchFamily="18" charset="2"/>
              </a:rPr>
              <a:t>A </a:t>
            </a:r>
            <a:r>
              <a:rPr lang="en-US" altLang="it-IT" sz="1400">
                <a:sym typeface="Symbol" panose="05050102010706020507" pitchFamily="18" charset="2"/>
              </a:rPr>
              <a:t></a:t>
            </a:r>
            <a:r>
              <a:rPr lang="en-US" altLang="it-IT" sz="16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</a:t>
            </a:r>
            <a:r>
              <a:rPr lang="en-US" altLang="it-IT" baseline="-25000">
                <a:sym typeface="Symbol" panose="05050102010706020507" pitchFamily="18" charset="2"/>
              </a:rPr>
              <a:t>i–1</a:t>
            </a:r>
            <a:r>
              <a:rPr lang="en-US" altLang="it-IT" i="1" baseline="-25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with  to get 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>
                <a:sym typeface="Symbol" panose="05050102010706020507" pitchFamily="18" charset="2"/>
              </a:rPr>
              <a:t>In a leftmost derivation, it would be the first </a:t>
            </a:r>
            <a:r>
              <a:rPr lang="en-US" altLang="it-IT" sz="2000">
                <a:sym typeface="Symbol" panose="05050102010706020507" pitchFamily="18" charset="2"/>
              </a:rPr>
              <a:t>NT </a:t>
            </a:r>
            <a:r>
              <a:rPr lang="en-US" altLang="it-IT" sz="2000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400">
                <a:sym typeface="Symbol" panose="05050102010706020507" pitchFamily="18" charset="2"/>
              </a:rPr>
              <a:t></a:t>
            </a:r>
            <a:r>
              <a:rPr lang="en-US" altLang="it-IT" sz="16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</a:t>
            </a:r>
            <a:r>
              <a:rPr lang="en-US" altLang="it-IT" baseline="-25000">
                <a:sym typeface="Symbol" panose="05050102010706020507" pitchFamily="18" charset="2"/>
              </a:rPr>
              <a:t>i–1</a:t>
            </a:r>
            <a:r>
              <a:rPr lang="en-US" altLang="it-IT" sz="2000" i="1" baseline="-25000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left-sentential form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occurs in a </a:t>
            </a:r>
            <a:r>
              <a:rPr lang="en-US" altLang="it-IT" i="1" u="sng">
                <a:sym typeface="Symbol" panose="05050102010706020507" pitchFamily="18" charset="2"/>
              </a:rPr>
              <a:t>leftmost</a:t>
            </a:r>
            <a:r>
              <a:rPr lang="en-US" altLang="it-IT">
                <a:sym typeface="Symbol" panose="05050102010706020507" pitchFamily="18" charset="2"/>
              </a:rPr>
              <a:t> derivation</a:t>
            </a:r>
          </a:p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right-sentential form</a:t>
            </a:r>
            <a:r>
              <a:rPr lang="en-US" altLang="it-IT">
                <a:sym typeface="Symbol" panose="05050102010706020507" pitchFamily="18" charset="2"/>
              </a:rPr>
              <a:t> occurs in a </a:t>
            </a:r>
            <a:r>
              <a:rPr lang="en-US" altLang="it-IT" i="1" u="sng">
                <a:sym typeface="Symbol" panose="05050102010706020507" pitchFamily="18" charset="2"/>
              </a:rPr>
              <a:t>rightmost</a:t>
            </a:r>
            <a:r>
              <a:rPr lang="en-US" altLang="it-IT">
                <a:sym typeface="Symbol" panose="05050102010706020507" pitchFamily="18" charset="2"/>
              </a:rPr>
              <a:t> derivation</a:t>
            </a:r>
          </a:p>
          <a:p>
            <a:pPr algn="ctr"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Bottom-up parsers build a rightmost derivation in reverse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A2D39-C5B5-4906-AE70-51449F7409A9}"/>
              </a:ext>
            </a:extLst>
          </p:cNvPr>
          <p:cNvSpPr txBox="1"/>
          <p:nvPr/>
        </p:nvSpPr>
        <p:spPr>
          <a:xfrm>
            <a:off x="4876800" y="6248400"/>
            <a:ext cx="3352800" cy="3381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We saw this definition earlier</a:t>
            </a: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>
            <a:extLst>
              <a:ext uri="{FF2B5EF4-FFF2-40B4-BE49-F238E27FC236}">
                <a16:creationId xmlns:a16="http://schemas.microsoft.com/office/drawing/2014/main" id="{A226C2D7-84BF-488F-9004-894B7877B6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C7D485A4-99A7-450B-996F-31D1DCDE7B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DC6920B-D74B-4917-96C7-413DAC8490FD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17DD603-3A89-40D6-8ADC-17F62EB43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Bottom-up Parsing                          (definitions)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4AC07B9-CAB1-49B4-9D11-B9AEC130B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bottom-up parser builds a derivation by working from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input sentence back toward the start symbol </a:t>
            </a: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0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2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…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n–1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n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 i="1">
                <a:sym typeface="Symbol" panose="05050102010706020507" pitchFamily="18" charset="2"/>
              </a:rPr>
              <a:t>sentence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To reduce 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 to </a:t>
            </a:r>
            <a:r>
              <a:rPr lang="en-US" altLang="it-IT" baseline="-25000">
                <a:sym typeface="Symbol" panose="05050102010706020507" pitchFamily="18" charset="2"/>
              </a:rPr>
              <a:t>i–1</a:t>
            </a:r>
            <a:r>
              <a:rPr lang="en-US" altLang="it-IT">
                <a:sym typeface="Symbol" panose="05050102010706020507" pitchFamily="18" charset="2"/>
              </a:rPr>
              <a:t> match some </a:t>
            </a:r>
            <a:r>
              <a:rPr lang="en-US" altLang="it-IT" i="1">
                <a:sym typeface="Symbol" panose="05050102010706020507" pitchFamily="18" charset="2"/>
              </a:rPr>
              <a:t>rhs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9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 against 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then  replace  with its corresponding </a:t>
            </a:r>
            <a:r>
              <a:rPr lang="en-US" altLang="it-IT" i="1">
                <a:sym typeface="Symbol" panose="05050102010706020507" pitchFamily="18" charset="2"/>
              </a:rPr>
              <a:t>lhs, </a:t>
            </a:r>
            <a:r>
              <a:rPr lang="en-US" altLang="it-IT" sz="2400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.    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(assuming the production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A</a:t>
            </a:r>
            <a:r>
              <a:rPr lang="en-US" altLang="it-IT" sz="1600" i="1">
                <a:solidFill>
                  <a:srgbClr val="FF0065"/>
                </a:solidFill>
                <a:sym typeface="Symbol" panose="05050102010706020507" pitchFamily="18" charset="2"/>
              </a:rPr>
              <a:t>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)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In terms of the parse tree, it works from leaves to root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 sz="1800">
                <a:sym typeface="Symbol" panose="05050102010706020507" pitchFamily="18" charset="2"/>
              </a:rPr>
              <a:t>Nodes  with no parent in a partial tree form its </a:t>
            </a:r>
            <a:r>
              <a:rPr lang="en-US" altLang="it-IT" sz="1800" i="1">
                <a:sym typeface="Symbol" panose="05050102010706020507" pitchFamily="18" charset="2"/>
              </a:rPr>
              <a:t>upper fringe</a:t>
            </a:r>
            <a:r>
              <a:rPr lang="en-US" altLang="it-IT" sz="1800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 sz="1800">
                <a:sym typeface="Symbol" panose="05050102010706020507" pitchFamily="18" charset="2"/>
              </a:rPr>
              <a:t>Since each replacement of  with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 shrinks the upper fringe,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      we call it a 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reduction</a:t>
            </a:r>
            <a:r>
              <a:rPr lang="en-US" altLang="it-IT" sz="1800"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 sz="1800">
                <a:sym typeface="Symbol" panose="05050102010706020507" pitchFamily="18" charset="2"/>
              </a:rPr>
              <a:t>“Rightmost derivation in reverse” processes words </a:t>
            </a:r>
            <a:r>
              <a:rPr lang="en-US" altLang="it-IT" sz="1800" i="1">
                <a:solidFill>
                  <a:srgbClr val="FF0065"/>
                </a:solidFill>
                <a:sym typeface="Symbol" panose="05050102010706020507" pitchFamily="18" charset="2"/>
              </a:rPr>
              <a:t>left to right</a:t>
            </a:r>
            <a:endParaRPr lang="en-US" altLang="it-IT" sz="2400" i="1">
              <a:solidFill>
                <a:srgbClr val="FF006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7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parse tree need not be built, it can be simulated</a:t>
            </a:r>
          </a:p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|</a:t>
            </a:r>
            <a:r>
              <a:rPr lang="en-US" altLang="it-IT" i="1">
                <a:sym typeface="Symbol" panose="05050102010706020507" pitchFamily="18" charset="2"/>
              </a:rPr>
              <a:t>parse tree nodes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|  =  |</a:t>
            </a:r>
            <a:r>
              <a:rPr lang="en-US" altLang="it-IT" i="1">
                <a:sym typeface="Symbol" panose="05050102010706020507" pitchFamily="18" charset="2"/>
              </a:rPr>
              <a:t>terminal symbols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| + |</a:t>
            </a:r>
            <a:r>
              <a:rPr lang="en-US" altLang="it-IT" i="1">
                <a:sym typeface="Symbol" panose="05050102010706020507" pitchFamily="18" charset="2"/>
              </a:rPr>
              <a:t>reductions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|</a:t>
            </a:r>
          </a:p>
        </p:txBody>
      </p:sp>
      <p:grpSp>
        <p:nvGrpSpPr>
          <p:cNvPr id="22533" name="Group 8">
            <a:extLst>
              <a:ext uri="{FF2B5EF4-FFF2-40B4-BE49-F238E27FC236}">
                <a16:creationId xmlns:a16="http://schemas.microsoft.com/office/drawing/2014/main" id="{94973966-B037-4174-9D1E-C93816441BDF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133600"/>
            <a:ext cx="6019800" cy="304800"/>
            <a:chOff x="1152" y="1280"/>
            <a:chExt cx="3792" cy="192"/>
          </a:xfrm>
        </p:grpSpPr>
        <p:sp>
          <p:nvSpPr>
            <p:cNvPr id="22535" name="Line 5">
              <a:extLst>
                <a:ext uri="{FF2B5EF4-FFF2-40B4-BE49-F238E27FC236}">
                  <a16:creationId xmlns:a16="http://schemas.microsoft.com/office/drawing/2014/main" id="{89DEC6BF-1467-4164-BA40-BD17356007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52" y="1376"/>
              <a:ext cx="2832" cy="0"/>
            </a:xfrm>
            <a:prstGeom prst="line">
              <a:avLst/>
            </a:prstGeom>
            <a:noFill/>
            <a:ln w="2857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2536" name="Text Box 6">
              <a:extLst>
                <a:ext uri="{FF2B5EF4-FFF2-40B4-BE49-F238E27FC236}">
                  <a16:creationId xmlns:a16="http://schemas.microsoft.com/office/drawing/2014/main" id="{D7CEA97E-CFA2-4D16-AD5B-FD140CA71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280"/>
              <a:ext cx="124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bottom-up</a:t>
              </a:r>
            </a:p>
          </p:txBody>
        </p:sp>
      </p:grpSp>
      <p:sp>
        <p:nvSpPr>
          <p:cNvPr id="22534" name="Line 7">
            <a:extLst>
              <a:ext uri="{FF2B5EF4-FFF2-40B4-BE49-F238E27FC236}">
                <a16:creationId xmlns:a16="http://schemas.microsoft.com/office/drawing/2014/main" id="{ADC03462-E9AE-425B-AC80-B5D111CA3B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790700"/>
            <a:ext cx="609600" cy="0"/>
          </a:xfrm>
          <a:prstGeom prst="line">
            <a:avLst/>
          </a:prstGeom>
          <a:noFill/>
          <a:ln w="28575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3">
            <a:extLst>
              <a:ext uri="{FF2B5EF4-FFF2-40B4-BE49-F238E27FC236}">
                <a16:creationId xmlns:a16="http://schemas.microsoft.com/office/drawing/2014/main" id="{D6CFC324-EECC-4160-849E-665190F9CA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BF3E2A75-5C09-42EF-891E-35128CA62C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04A0B05-792E-4275-B53E-4C9051885064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A47DF39-2C57-4262-BB2B-EEA9DA98F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/>
              <a:t>Finding Reductions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F2A9C78-7B75-423D-AFC5-F26CE147D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Consider the grammar</a:t>
            </a:r>
          </a:p>
          <a:p>
            <a:pPr eaLnBrk="1" hangingPunct="1">
              <a:spcBef>
                <a:spcPct val="600000"/>
              </a:spcBef>
              <a:buFont typeface="Times" panose="02020603050405020304" pitchFamily="18" charset="0"/>
              <a:buNone/>
            </a:pPr>
            <a:r>
              <a:rPr lang="en-US" altLang="it-IT"/>
              <a:t>And the input string </a:t>
            </a:r>
            <a:r>
              <a:rPr lang="en-US" altLang="it-IT" u="sng"/>
              <a:t>abbcde</a:t>
            </a:r>
          </a:p>
          <a:p>
            <a:pPr eaLnBrk="1" hangingPunct="1">
              <a:spcBef>
                <a:spcPts val="3000"/>
              </a:spcBef>
              <a:buFont typeface="Times" panose="02020603050405020304" pitchFamily="18" charset="0"/>
              <a:buNone/>
            </a:pPr>
            <a:r>
              <a:rPr lang="en-US" altLang="it-IT" i="1"/>
              <a:t>The trick is scanning the input and finding the next reduction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i="1"/>
              <a:t>The mechanism for doing this must be efficient</a:t>
            </a:r>
          </a:p>
        </p:txBody>
      </p:sp>
      <p:sp>
        <p:nvSpPr>
          <p:cNvPr id="23600" name="Text Box 7">
            <a:extLst>
              <a:ext uri="{FF2B5EF4-FFF2-40B4-BE49-F238E27FC236}">
                <a16:creationId xmlns:a16="http://schemas.microsoft.com/office/drawing/2014/main" id="{A0456229-DB35-443E-BAE1-AC85DEF59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511800"/>
            <a:ext cx="79517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While the process of finding the next reduction appears to be almost oracular, it can be automated in an efficient way for a large class of grammars</a:t>
            </a:r>
          </a:p>
        </p:txBody>
      </p:sp>
      <p:graphicFrame>
        <p:nvGraphicFramePr>
          <p:cNvPr id="11341" name="Group 77">
            <a:extLst>
              <a:ext uri="{FF2B5EF4-FFF2-40B4-BE49-F238E27FC236}">
                <a16:creationId xmlns:a16="http://schemas.microsoft.com/office/drawing/2014/main" id="{DD9440ED-D58A-4A24-90FE-E98C9504AEA8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701800"/>
          <a:ext cx="2819400" cy="1422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 B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d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452" name="Group 188">
            <a:extLst>
              <a:ext uri="{FF2B5EF4-FFF2-40B4-BE49-F238E27FC236}">
                <a16:creationId xmlns:a16="http://schemas.microsoft.com/office/drawing/2014/main" id="{535FB492-79EE-4F61-8504-23C2A7DCFAB8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308100"/>
          <a:ext cx="3429000" cy="250535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Next Reduction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Form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Prod’n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Pos’n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abbcde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bcde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de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 B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7F7A8375-94F9-4F54-AA3B-4E1EDDC68FA2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897063"/>
            <a:ext cx="4567238" cy="3514725"/>
            <a:chOff x="4114800" y="1896533"/>
            <a:chExt cx="4567767" cy="3514461"/>
          </a:xfrm>
        </p:grpSpPr>
        <p:sp>
          <p:nvSpPr>
            <p:cNvPr id="24624" name="TextBox 11">
              <a:extLst>
                <a:ext uri="{FF2B5EF4-FFF2-40B4-BE49-F238E27FC236}">
                  <a16:creationId xmlns:a16="http://schemas.microsoft.com/office/drawing/2014/main" id="{A3FD8DF3-79F1-4E44-8E5B-1C011EA90E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800600"/>
              <a:ext cx="426720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r"/>
              <a:r>
                <a:rPr lang="en-US" altLang="it-IT" sz="1600" i="1">
                  <a:solidFill>
                    <a:srgbClr val="003C75"/>
                  </a:solidFill>
                </a:rPr>
                <a:t>“Position” specifies where the right end of </a:t>
              </a:r>
              <a:r>
                <a:rPr lang="en-US" altLang="it-IT" sz="1600" i="1">
                  <a:solidFill>
                    <a:srgbClr val="003C75"/>
                  </a:solidFill>
                  <a:sym typeface="Symbol" panose="05050102010706020507" pitchFamily="18" charset="2"/>
                </a:rPr>
                <a:t></a:t>
              </a:r>
              <a:r>
                <a:rPr lang="en-US" altLang="it-IT" sz="1600" i="1">
                  <a:solidFill>
                    <a:srgbClr val="003C75"/>
                  </a:solidFill>
                </a:rPr>
                <a:t> occurs in the current sentential form. </a:t>
              </a:r>
            </a:p>
          </p:txBody>
        </p:sp>
        <p:cxnSp>
          <p:nvCxnSpPr>
            <p:cNvPr id="24625" name="Straight Connector 13">
              <a:extLst>
                <a:ext uri="{FF2B5EF4-FFF2-40B4-BE49-F238E27FC236}">
                  <a16:creationId xmlns:a16="http://schemas.microsoft.com/office/drawing/2014/main" id="{FA2FB9D8-791A-4789-A72A-25D1F2A9BF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077200" y="5105400"/>
              <a:ext cx="609600" cy="1588"/>
            </a:xfrm>
            <a:prstGeom prst="line">
              <a:avLst/>
            </a:prstGeom>
            <a:noFill/>
            <a:ln w="19050" algn="ctr">
              <a:solidFill>
                <a:srgbClr val="003C75"/>
              </a:solidFill>
              <a:round/>
              <a:headEnd/>
              <a:tailEnd/>
            </a:ln>
          </p:spPr>
        </p:cxnSp>
        <p:sp>
          <p:nvSpPr>
            <p:cNvPr id="24626" name="Freeform 14">
              <a:extLst>
                <a:ext uri="{FF2B5EF4-FFF2-40B4-BE49-F238E27FC236}">
                  <a16:creationId xmlns:a16="http://schemas.microsoft.com/office/drawing/2014/main" id="{268B0300-EA50-4A28-B3ED-3B64A5BAF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4067" y="1896533"/>
              <a:ext cx="698500" cy="3090334"/>
            </a:xfrm>
            <a:custGeom>
              <a:avLst/>
              <a:gdLst>
                <a:gd name="T0" fmla="*/ 389466 w 698500"/>
                <a:gd name="T1" fmla="*/ 3090334 h 3090334"/>
                <a:gd name="T2" fmla="*/ 592666 w 698500"/>
                <a:gd name="T3" fmla="*/ 2946400 h 3090334"/>
                <a:gd name="T4" fmla="*/ 685800 w 698500"/>
                <a:gd name="T5" fmla="*/ 2438400 h 3090334"/>
                <a:gd name="T6" fmla="*/ 668866 w 698500"/>
                <a:gd name="T7" fmla="*/ 1447800 h 3090334"/>
                <a:gd name="T8" fmla="*/ 516466 w 698500"/>
                <a:gd name="T9" fmla="*/ 1532467 h 3090334"/>
                <a:gd name="T10" fmla="*/ 397933 w 698500"/>
                <a:gd name="T11" fmla="*/ 499534 h 3090334"/>
                <a:gd name="T12" fmla="*/ 0 w 698500"/>
                <a:gd name="T13" fmla="*/ 0 h 30903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98500"/>
                <a:gd name="T22" fmla="*/ 0 h 3090334"/>
                <a:gd name="T23" fmla="*/ 698500 w 698500"/>
                <a:gd name="T24" fmla="*/ 3090334 h 30903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98500" h="3090334">
                  <a:moveTo>
                    <a:pt x="389466" y="3090334"/>
                  </a:moveTo>
                  <a:cubicBezTo>
                    <a:pt x="466371" y="3072695"/>
                    <a:pt x="543277" y="3055056"/>
                    <a:pt x="592666" y="2946400"/>
                  </a:cubicBezTo>
                  <a:cubicBezTo>
                    <a:pt x="642055" y="2837744"/>
                    <a:pt x="673100" y="2688167"/>
                    <a:pt x="685800" y="2438400"/>
                  </a:cubicBezTo>
                  <a:cubicBezTo>
                    <a:pt x="698500" y="2188633"/>
                    <a:pt x="697088" y="1598789"/>
                    <a:pt x="668866" y="1447800"/>
                  </a:cubicBezTo>
                  <a:cubicBezTo>
                    <a:pt x="640644" y="1296811"/>
                    <a:pt x="561622" y="1690511"/>
                    <a:pt x="516466" y="1532467"/>
                  </a:cubicBezTo>
                  <a:cubicBezTo>
                    <a:pt x="471310" y="1374423"/>
                    <a:pt x="484011" y="754945"/>
                    <a:pt x="397933" y="499534"/>
                  </a:cubicBezTo>
                  <a:cubicBezTo>
                    <a:pt x="311855" y="244123"/>
                    <a:pt x="0" y="0"/>
                    <a:pt x="0" y="0"/>
                  </a:cubicBezTo>
                </a:path>
              </a:pathLst>
            </a:custGeom>
            <a:noFill/>
            <a:ln w="19050" algn="ctr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0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>
            <a:extLst>
              <a:ext uri="{FF2B5EF4-FFF2-40B4-BE49-F238E27FC236}">
                <a16:creationId xmlns:a16="http://schemas.microsoft.com/office/drawing/2014/main" id="{790116EF-2E75-4B61-BD05-2D11266214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4D8ACCFB-1B53-4E43-92BF-48C260974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5EA544E-E969-4FCE-88B8-151C5227CC04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1FBA0AF-7626-4506-A3F9-1C928F3660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/>
              <a:t>Finding Reductions                              (Handles)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2CCE1AA-1DC7-4A3D-A4CF-7E59D6B8F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The parser must find a substring </a:t>
            </a:r>
            <a:r>
              <a:rPr lang="en-US" altLang="it-IT" i="1">
                <a:sym typeface="Symbol" panose="05050102010706020507" pitchFamily="18" charset="2"/>
              </a:rPr>
              <a:t></a:t>
            </a:r>
            <a:r>
              <a:rPr lang="en-US" altLang="it-IT">
                <a:sym typeface="Symbol" panose="05050102010706020507" pitchFamily="18" charset="2"/>
              </a:rPr>
              <a:t> of the tree’s frontier that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it-IT" sz="2000" i="1"/>
              <a:t>matches some production </a:t>
            </a:r>
            <a:r>
              <a:rPr lang="en-US" altLang="it-IT" sz="2000" i="1">
                <a:sym typeface="Symbol" panose="05050102010706020507" pitchFamily="18" charset="2"/>
              </a:rPr>
              <a:t>A</a:t>
            </a:r>
            <a:r>
              <a:rPr lang="en-US" altLang="it-IT" i="1">
                <a:sym typeface="Symbol" panose="05050102010706020507" pitchFamily="18" charset="2"/>
              </a:rPr>
              <a:t>  </a:t>
            </a:r>
            <a:r>
              <a:rPr lang="en-US" altLang="it-IT" sz="2000" i="1">
                <a:sym typeface="Symbol" panose="05050102010706020507" pitchFamily="18" charset="2"/>
              </a:rPr>
              <a:t> that occurs as one step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it-IT" sz="2000" i="1">
                <a:sym typeface="Symbol" panose="05050102010706020507" pitchFamily="18" charset="2"/>
              </a:rPr>
              <a:t>in the rightmost derivation</a:t>
            </a:r>
            <a:r>
              <a:rPr lang="en-US" altLang="it-IT">
                <a:sym typeface="Symbol" panose="05050102010706020507" pitchFamily="18" charset="2"/>
              </a:rPr>
              <a:t>                       </a:t>
            </a:r>
            <a:r>
              <a:rPr lang="en-US" altLang="it-IT" sz="2000">
                <a:sym typeface="Symbol" panose="05050102010706020507" pitchFamily="18" charset="2"/>
              </a:rPr>
              <a:t>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(</a:t>
            </a:r>
            <a:r>
              <a:rPr lang="en-US" altLang="it-IT" sz="1600" i="1">
                <a:solidFill>
                  <a:srgbClr val="FF0065"/>
                </a:solidFill>
                <a:sym typeface="Symbol" panose="05050102010706020507" pitchFamily="18" charset="2"/>
              </a:rPr>
              <a:t>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 </a:t>
            </a:r>
            <a:r>
              <a:rPr lang="en-US" altLang="it-IT" sz="1400" i="1">
                <a:solidFill>
                  <a:srgbClr val="FF0065"/>
                </a:solidFill>
                <a:sym typeface="Symbol" panose="05050102010706020507" pitchFamily="18" charset="2"/>
              </a:rPr>
              <a:t>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A is in </a:t>
            </a:r>
            <a:r>
              <a:rPr lang="en-US" altLang="it-IT" sz="1600" i="1">
                <a:solidFill>
                  <a:srgbClr val="FF0065"/>
                </a:solidFill>
                <a:sym typeface="Symbol" panose="05050102010706020507" pitchFamily="18" charset="2"/>
              </a:rPr>
              <a:t>RRD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)</a:t>
            </a:r>
            <a:endParaRPr lang="en-US" altLang="it-IT" sz="2000" i="1">
              <a:solidFill>
                <a:srgbClr val="FF0065"/>
              </a:solidFill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Informally, we call this substring </a:t>
            </a:r>
            <a:r>
              <a:rPr lang="en-US" altLang="it-IT">
                <a:sym typeface="Symbol" panose="05050102010706020507" pitchFamily="18" charset="2"/>
              </a:rPr>
              <a:t> a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handle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Formally,</a:t>
            </a:r>
          </a:p>
          <a:p>
            <a:pPr lvl="1" eaLnBrk="1" hangingPunct="1">
              <a:spcBef>
                <a:spcPct val="15000"/>
              </a:spcBef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A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handle</a:t>
            </a:r>
            <a:r>
              <a:rPr lang="en-US" altLang="it-IT">
                <a:sym typeface="Symbol" panose="05050102010706020507" pitchFamily="18" charset="2"/>
              </a:rPr>
              <a:t> of a right-sentential form  is a pair </a:t>
            </a:r>
            <a:r>
              <a:rPr lang="en-US" altLang="it-IT" sz="1600">
                <a:sym typeface="Symbol" panose="05050102010706020507" pitchFamily="18" charset="2"/>
              </a:rPr>
              <a:t>&lt;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,</a:t>
            </a:r>
            <a:r>
              <a:rPr lang="en-US" altLang="it-IT" b="1" i="1">
                <a:latin typeface="Arial Narrow" panose="020B0606020202030204" pitchFamily="34" charset="0"/>
                <a:sym typeface="Symbol" panose="05050102010706020507" pitchFamily="18" charset="2"/>
              </a:rPr>
              <a:t>k</a:t>
            </a:r>
            <a:r>
              <a:rPr lang="en-US" altLang="it-IT" sz="1600">
                <a:sym typeface="Symbol" panose="05050102010706020507" pitchFamily="18" charset="2"/>
              </a:rPr>
              <a:t>&gt;</a:t>
            </a:r>
            <a:r>
              <a:rPr lang="en-US" altLang="it-IT">
                <a:sym typeface="Symbol" panose="05050102010706020507" pitchFamily="18" charset="2"/>
              </a:rPr>
              <a:t> where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it-IT" sz="2000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 </a:t>
            </a:r>
            <a:r>
              <a:rPr lang="en-US" altLang="it-IT" sz="1600">
                <a:sym typeface="Symbol" panose="05050102010706020507" pitchFamily="18" charset="2"/>
              </a:rPr>
              <a:t>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P </a:t>
            </a:r>
            <a:r>
              <a:rPr lang="en-US" altLang="it-IT">
                <a:sym typeface="Symbol" panose="05050102010706020507" pitchFamily="18" charset="2"/>
              </a:rPr>
              <a:t>and </a:t>
            </a:r>
            <a:r>
              <a:rPr lang="en-US" altLang="it-IT" i="1">
                <a:latin typeface="Arial Narrow Bold" panose="020B0706020202030204" pitchFamily="34" charset="0"/>
                <a:sym typeface="Symbol" panose="05050102010706020507" pitchFamily="18" charset="2"/>
              </a:rPr>
              <a:t>k</a:t>
            </a:r>
            <a:r>
              <a:rPr lang="en-US" altLang="it-IT">
                <a:sym typeface="Symbol" panose="05050102010706020507" pitchFamily="18" charset="2"/>
              </a:rPr>
              <a:t> is the position in  of ’s rightmost symbol.</a:t>
            </a:r>
          </a:p>
          <a:p>
            <a:pPr lvl="1" eaLnBrk="1" hangingPunct="1"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If </a:t>
            </a:r>
            <a:r>
              <a:rPr lang="en-US" altLang="it-IT" sz="1600">
                <a:sym typeface="Symbol" panose="05050102010706020507" pitchFamily="18" charset="2"/>
              </a:rPr>
              <a:t>&lt;</a:t>
            </a:r>
            <a:r>
              <a:rPr lang="en-US" altLang="it-IT" sz="2000" i="1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>
                <a:sym typeface="Symbol" panose="05050102010706020507" pitchFamily="18" charset="2"/>
              </a:rPr>
              <a:t>,</a:t>
            </a:r>
            <a:r>
              <a:rPr lang="en-US" altLang="it-IT" i="1">
                <a:latin typeface="Arial Narrow" panose="020B0606020202030204" pitchFamily="34" charset="0"/>
                <a:sym typeface="Symbol" panose="05050102010706020507" pitchFamily="18" charset="2"/>
              </a:rPr>
              <a:t>k</a:t>
            </a:r>
            <a:r>
              <a:rPr lang="en-US" altLang="it-IT" sz="1600">
                <a:sym typeface="Symbol" panose="05050102010706020507" pitchFamily="18" charset="2"/>
              </a:rPr>
              <a:t>&gt;</a:t>
            </a:r>
            <a:r>
              <a:rPr lang="en-US" altLang="it-IT">
                <a:sym typeface="Symbol" panose="05050102010706020507" pitchFamily="18" charset="2"/>
              </a:rPr>
              <a:t> is a handle, then replacing  at </a:t>
            </a:r>
            <a:r>
              <a:rPr lang="en-US" altLang="it-IT" i="1">
                <a:latin typeface="Arial Narrow Bold" panose="020B0706020202030204" pitchFamily="34" charset="0"/>
                <a:sym typeface="Symbol" panose="05050102010706020507" pitchFamily="18" charset="2"/>
              </a:rPr>
              <a:t>k</a:t>
            </a:r>
            <a:r>
              <a:rPr lang="en-US" altLang="it-IT">
                <a:sym typeface="Symbol" panose="05050102010706020507" pitchFamily="18" charset="2"/>
              </a:rPr>
              <a:t> with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2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produces</a:t>
            </a:r>
            <a:r>
              <a:rPr lang="en-US" altLang="it-IT" sz="2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the right sentential form from which  is derived in the rightmost derivation.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Because  is a right-sentential form, the substring to the right of a handle contains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only terminal symbols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 the parser doesn’t need to scan (</a:t>
            </a:r>
            <a:r>
              <a:rPr lang="en-US" altLang="it-IT" sz="1800" i="1">
                <a:sym typeface="Symbol" panose="05050102010706020507" pitchFamily="18" charset="2"/>
              </a:rPr>
              <a:t>much</a:t>
            </a:r>
            <a:r>
              <a:rPr lang="en-US" altLang="it-IT">
                <a:sym typeface="Symbol" panose="05050102010706020507" pitchFamily="18" charset="2"/>
              </a:rPr>
              <a:t>) past the handle</a:t>
            </a:r>
            <a:endParaRPr lang="en-US" altLang="it-IT" sz="1800" i="1">
              <a:solidFill>
                <a:srgbClr val="FF0065"/>
              </a:solidFill>
              <a:sym typeface="Symbol" panose="05050102010706020507" pitchFamily="18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89DC4-420A-46B7-B83B-98144C33A0D2}"/>
              </a:ext>
            </a:extLst>
          </p:cNvPr>
          <p:cNvSpPr txBox="1"/>
          <p:nvPr/>
        </p:nvSpPr>
        <p:spPr>
          <a:xfrm>
            <a:off x="4267200" y="6045200"/>
            <a:ext cx="3962400" cy="584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Most students find handles mystifying; bear with me for a couple more slides.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>
            <a:extLst>
              <a:ext uri="{FF2B5EF4-FFF2-40B4-BE49-F238E27FC236}">
                <a16:creationId xmlns:a16="http://schemas.microsoft.com/office/drawing/2014/main" id="{85B89BEF-82E1-4EE5-ACB0-6637DD76B9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FA28C4A4-E8E7-4EBA-8FE3-B82B2CBE22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F0B09B8-6D2D-40F0-9D7F-ADBCA3EE66FD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0208DB1-22EB-4432-9F5D-AFA7A7D21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Example</a:t>
            </a:r>
            <a:endParaRPr lang="en-US" altLang="it-IT" sz="2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2C241148-4A72-4955-9053-4866EDFA5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62575"/>
            <a:ext cx="3352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 i="1"/>
              <a:t>A simple left-recursive form of the classic expression grammar</a:t>
            </a:r>
          </a:p>
        </p:txBody>
      </p:sp>
      <p:graphicFrame>
        <p:nvGraphicFramePr>
          <p:cNvPr id="17755" name="Group 347">
            <a:extLst>
              <a:ext uri="{FF2B5EF4-FFF2-40B4-BE49-F238E27FC236}">
                <a16:creationId xmlns:a16="http://schemas.microsoft.com/office/drawing/2014/main" id="{1EB5938E-8526-413C-BF70-0BC08D802C2F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600200"/>
          <a:ext cx="3352800" cy="338614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+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-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/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8718" name="TextBox 14">
            <a:extLst>
              <a:ext uri="{FF2B5EF4-FFF2-40B4-BE49-F238E27FC236}">
                <a16:creationId xmlns:a16="http://schemas.microsoft.com/office/drawing/2014/main" id="{403B4EAE-35E3-42D1-AB8B-C1453F7AE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600200"/>
            <a:ext cx="335280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Bottom up parsers handle either left-recursive or right-recursive grammars.</a:t>
            </a:r>
          </a:p>
          <a:p>
            <a:endParaRPr lang="en-US" altLang="it-IT"/>
          </a:p>
          <a:p>
            <a:r>
              <a:rPr lang="en-US" altLang="it-IT"/>
              <a:t>We will use left-recursive grammars for arithmetic because of our bias toward left-to-right evaluation in algebra.</a:t>
            </a: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>
            <a:extLst>
              <a:ext uri="{FF2B5EF4-FFF2-40B4-BE49-F238E27FC236}">
                <a16:creationId xmlns:a16="http://schemas.microsoft.com/office/drawing/2014/main" id="{56192F98-B2FD-4D1C-9493-E29A2D4B87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8F02DBD7-68A2-4ABB-816E-A53DDC19AB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6EDA3DA-691C-496F-BB28-FE33DCAAE15C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B09E9224-1A7B-476F-B151-627DBF7E6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Example</a:t>
            </a:r>
            <a:endParaRPr lang="en-US" altLang="it-IT" sz="2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494B742E-4FD8-4482-AE6B-ECBEF6CAC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62575"/>
            <a:ext cx="3352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 i="1"/>
              <a:t>A simple left-recursive form of the classic expression grammar</a:t>
            </a:r>
          </a:p>
        </p:txBody>
      </p:sp>
      <p:sp>
        <p:nvSpPr>
          <p:cNvPr id="30725" name="Text Box 6">
            <a:extLst>
              <a:ext uri="{FF2B5EF4-FFF2-40B4-BE49-F238E27FC236}">
                <a16:creationId xmlns:a16="http://schemas.microsoft.com/office/drawing/2014/main" id="{ACB91AE7-3D97-4249-B2DB-892020FF0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3675" y="5561013"/>
            <a:ext cx="46180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 i="1"/>
              <a:t>Rightmost derivation of  </a:t>
            </a:r>
            <a:r>
              <a:rPr lang="en-US" altLang="it-IT" sz="1600" u="sng">
                <a:solidFill>
                  <a:srgbClr val="FF0065"/>
                </a:solidFill>
              </a:rPr>
              <a:t>x</a:t>
            </a:r>
            <a:r>
              <a:rPr lang="en-US" altLang="it-IT" sz="1600">
                <a:solidFill>
                  <a:srgbClr val="FF0065"/>
                </a:solidFill>
              </a:rPr>
              <a:t> </a:t>
            </a:r>
            <a:r>
              <a:rPr lang="en-US" altLang="it-IT" sz="1600" u="sng">
                <a:solidFill>
                  <a:srgbClr val="FF0065"/>
                </a:solidFill>
              </a:rPr>
              <a:t>–</a:t>
            </a:r>
            <a:r>
              <a:rPr lang="en-US" altLang="it-IT" sz="1600">
                <a:solidFill>
                  <a:srgbClr val="FF0065"/>
                </a:solidFill>
              </a:rPr>
              <a:t> </a:t>
            </a:r>
            <a:r>
              <a:rPr lang="en-US" altLang="it-IT" sz="1600" u="sng">
                <a:solidFill>
                  <a:srgbClr val="FF0065"/>
                </a:solidFill>
              </a:rPr>
              <a:t>2</a:t>
            </a:r>
            <a:r>
              <a:rPr lang="en-US" altLang="it-IT" sz="1600">
                <a:solidFill>
                  <a:srgbClr val="FF0065"/>
                </a:solidFill>
              </a:rPr>
              <a:t> </a:t>
            </a:r>
            <a:r>
              <a:rPr lang="en-US" altLang="it-IT" sz="1600" u="sng">
                <a:solidFill>
                  <a:srgbClr val="FF0065"/>
                </a:solidFill>
              </a:rPr>
              <a:t>*</a:t>
            </a:r>
            <a:r>
              <a:rPr lang="en-US" altLang="it-IT" sz="1600">
                <a:solidFill>
                  <a:srgbClr val="FF0065"/>
                </a:solidFill>
              </a:rPr>
              <a:t> </a:t>
            </a:r>
            <a:r>
              <a:rPr lang="en-US" altLang="it-IT" sz="1600" u="sng">
                <a:solidFill>
                  <a:srgbClr val="FF0065"/>
                </a:solidFill>
              </a:rPr>
              <a:t>y</a:t>
            </a:r>
            <a:r>
              <a:rPr lang="en-US" altLang="it-IT" sz="1600" i="1">
                <a:solidFill>
                  <a:srgbClr val="FF0065"/>
                </a:solidFill>
              </a:rPr>
              <a:t> </a:t>
            </a:r>
          </a:p>
        </p:txBody>
      </p:sp>
      <p:graphicFrame>
        <p:nvGraphicFramePr>
          <p:cNvPr id="17755" name="Group 347">
            <a:extLst>
              <a:ext uri="{FF2B5EF4-FFF2-40B4-BE49-F238E27FC236}">
                <a16:creationId xmlns:a16="http://schemas.microsoft.com/office/drawing/2014/main" id="{94F868D8-1FDA-4CBE-AC3A-326F2380B366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600200"/>
          <a:ext cx="3352800" cy="338614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+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-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/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7754" name="Group 346">
            <a:extLst>
              <a:ext uri="{FF2B5EF4-FFF2-40B4-BE49-F238E27FC236}">
                <a16:creationId xmlns:a16="http://schemas.microsoft.com/office/drawing/2014/main" id="{447C4AAA-7D0A-4FF4-B3D0-90B6211997DE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1295400"/>
          <a:ext cx="3276600" cy="390050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Prod’n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3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5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- Term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3C7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3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5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&lt;num,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* 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&lt;num,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* 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&lt;num,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* 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0793" name="Group 12">
            <a:extLst>
              <a:ext uri="{FF2B5EF4-FFF2-40B4-BE49-F238E27FC236}">
                <a16:creationId xmlns:a16="http://schemas.microsoft.com/office/drawing/2014/main" id="{DA08141C-3F74-40EC-88EE-75AA33114B30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558800"/>
            <a:ext cx="1905000" cy="4649788"/>
            <a:chOff x="3200400" y="457200"/>
            <a:chExt cx="1905000" cy="4648994"/>
          </a:xfrm>
        </p:grpSpPr>
        <p:cxnSp>
          <p:nvCxnSpPr>
            <p:cNvPr id="30794" name="Straight Connector 10">
              <a:extLst>
                <a:ext uri="{FF2B5EF4-FFF2-40B4-BE49-F238E27FC236}">
                  <a16:creationId xmlns:a16="http://schemas.microsoft.com/office/drawing/2014/main" id="{F8A67C6D-35C3-4A81-9192-E9D421A8D7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019300" y="2971800"/>
              <a:ext cx="4267200" cy="1588"/>
            </a:xfrm>
            <a:prstGeom prst="line">
              <a:avLst/>
            </a:prstGeom>
            <a:noFill/>
            <a:ln w="38100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95" name="TextBox 11">
              <a:extLst>
                <a:ext uri="{FF2B5EF4-FFF2-40B4-BE49-F238E27FC236}">
                  <a16:creationId xmlns:a16="http://schemas.microsoft.com/office/drawing/2014/main" id="{2F800CF2-2054-4770-B754-5876C12B0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457200"/>
              <a:ext cx="1905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>
                  <a:solidFill>
                    <a:srgbClr val="FF0065"/>
                  </a:solidFill>
                </a:rPr>
                <a:t>derivation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3">
            <a:extLst>
              <a:ext uri="{FF2B5EF4-FFF2-40B4-BE49-F238E27FC236}">
                <a16:creationId xmlns:a16="http://schemas.microsoft.com/office/drawing/2014/main" id="{F0217D40-92F0-4E3A-B687-EF4999C908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6C4661F5-955A-4440-A2E8-BA032646F1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B2D8ADB-3FB6-441F-B1E8-0DD1F34A9F43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5DDA38D-F64D-4FEC-AC9A-77CBAE756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Example</a:t>
            </a:r>
            <a:endParaRPr lang="en-US" altLang="it-IT" sz="2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4A02A600-C62F-473C-8DC0-457055727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62575"/>
            <a:ext cx="3352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 i="1"/>
              <a:t>A simple left-recursive form of the classic expression grammar</a:t>
            </a:r>
          </a:p>
        </p:txBody>
      </p:sp>
      <p:sp>
        <p:nvSpPr>
          <p:cNvPr id="32773" name="Text Box 6">
            <a:extLst>
              <a:ext uri="{FF2B5EF4-FFF2-40B4-BE49-F238E27FC236}">
                <a16:creationId xmlns:a16="http://schemas.microsoft.com/office/drawing/2014/main" id="{E975F466-7C1C-42DC-A8FE-FAC5ACC8A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3675" y="5561013"/>
            <a:ext cx="46180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 i="1">
                <a:solidFill>
                  <a:srgbClr val="003C75"/>
                </a:solidFill>
              </a:rPr>
              <a:t>Handles </a:t>
            </a:r>
            <a:r>
              <a:rPr lang="en-US" altLang="it-IT" sz="1600" i="1"/>
              <a:t>for rightmost derivation of  </a:t>
            </a:r>
            <a:r>
              <a:rPr lang="en-US" altLang="it-IT" sz="1600" u="sng">
                <a:solidFill>
                  <a:srgbClr val="FF0065"/>
                </a:solidFill>
              </a:rPr>
              <a:t>x</a:t>
            </a:r>
            <a:r>
              <a:rPr lang="en-US" altLang="it-IT" sz="1600">
                <a:solidFill>
                  <a:srgbClr val="FF0065"/>
                </a:solidFill>
              </a:rPr>
              <a:t> </a:t>
            </a:r>
            <a:r>
              <a:rPr lang="en-US" altLang="it-IT" sz="1600" u="sng">
                <a:solidFill>
                  <a:srgbClr val="FF0065"/>
                </a:solidFill>
              </a:rPr>
              <a:t>–</a:t>
            </a:r>
            <a:r>
              <a:rPr lang="en-US" altLang="it-IT" sz="1600">
                <a:solidFill>
                  <a:srgbClr val="FF0065"/>
                </a:solidFill>
              </a:rPr>
              <a:t> </a:t>
            </a:r>
            <a:r>
              <a:rPr lang="en-US" altLang="it-IT" sz="1600" u="sng">
                <a:solidFill>
                  <a:srgbClr val="FF0065"/>
                </a:solidFill>
              </a:rPr>
              <a:t>2</a:t>
            </a:r>
            <a:r>
              <a:rPr lang="en-US" altLang="it-IT" sz="1600">
                <a:solidFill>
                  <a:srgbClr val="FF0065"/>
                </a:solidFill>
              </a:rPr>
              <a:t> </a:t>
            </a:r>
            <a:r>
              <a:rPr lang="en-US" altLang="it-IT" sz="1600" u="sng">
                <a:solidFill>
                  <a:srgbClr val="FF0065"/>
                </a:solidFill>
              </a:rPr>
              <a:t>*</a:t>
            </a:r>
            <a:r>
              <a:rPr lang="en-US" altLang="it-IT" sz="1600">
                <a:solidFill>
                  <a:srgbClr val="FF0065"/>
                </a:solidFill>
              </a:rPr>
              <a:t> </a:t>
            </a:r>
            <a:r>
              <a:rPr lang="en-US" altLang="it-IT" sz="1600" u="sng">
                <a:solidFill>
                  <a:srgbClr val="FF0065"/>
                </a:solidFill>
              </a:rPr>
              <a:t>y</a:t>
            </a:r>
            <a:r>
              <a:rPr lang="en-US" altLang="it-IT" sz="1600" i="1">
                <a:solidFill>
                  <a:srgbClr val="FF0065"/>
                </a:solidFill>
              </a:rPr>
              <a:t> </a:t>
            </a:r>
          </a:p>
        </p:txBody>
      </p:sp>
      <p:graphicFrame>
        <p:nvGraphicFramePr>
          <p:cNvPr id="17755" name="Group 347">
            <a:extLst>
              <a:ext uri="{FF2B5EF4-FFF2-40B4-BE49-F238E27FC236}">
                <a16:creationId xmlns:a16="http://schemas.microsoft.com/office/drawing/2014/main" id="{AA9A0683-DFDB-434A-895F-BE82E5BF6B2D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600200"/>
          <a:ext cx="3352800" cy="338614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+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-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/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6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7754" name="Group 346">
            <a:extLst>
              <a:ext uri="{FF2B5EF4-FFF2-40B4-BE49-F238E27FC236}">
                <a16:creationId xmlns:a16="http://schemas.microsoft.com/office/drawing/2014/main" id="{D439A204-07C8-4166-BF49-67D513122692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1295400"/>
          <a:ext cx="4114800" cy="390050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Prod’n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Sentential Form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3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0,1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5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- Term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2,3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3C7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4,5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3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8,5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5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6,3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7,3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&lt;num,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* 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3,1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&lt;num,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* 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6,1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&lt;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x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&lt;num,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 * &lt;id,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y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&gt;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8,1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2852" name="Group 17">
            <a:extLst>
              <a:ext uri="{FF2B5EF4-FFF2-40B4-BE49-F238E27FC236}">
                <a16:creationId xmlns:a16="http://schemas.microsoft.com/office/drawing/2014/main" id="{2F91A461-CF6A-4A88-8EFA-088EBDC763AE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1295400"/>
            <a:ext cx="1066800" cy="4256088"/>
            <a:chOff x="8077200" y="1295400"/>
            <a:chExt cx="1066800" cy="4255532"/>
          </a:xfrm>
        </p:grpSpPr>
        <p:cxnSp>
          <p:nvCxnSpPr>
            <p:cNvPr id="32853" name="Straight Connector 14">
              <a:extLst>
                <a:ext uri="{FF2B5EF4-FFF2-40B4-BE49-F238E27FC236}">
                  <a16:creationId xmlns:a16="http://schemas.microsoft.com/office/drawing/2014/main" id="{0E9CD0F9-B9B5-4C71-A2FC-92C11D4999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666706" y="3238500"/>
              <a:ext cx="3886994" cy="794"/>
            </a:xfrm>
            <a:prstGeom prst="line">
              <a:avLst/>
            </a:prstGeom>
            <a:noFill/>
            <a:ln w="38100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54" name="TextBox 15">
              <a:extLst>
                <a:ext uri="{FF2B5EF4-FFF2-40B4-BE49-F238E27FC236}">
                  <a16:creationId xmlns:a16="http://schemas.microsoft.com/office/drawing/2014/main" id="{A1290B2A-9F09-4A29-B0A0-A1C530B96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7200" y="5181600"/>
              <a:ext cx="1066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>
                  <a:solidFill>
                    <a:srgbClr val="FF0065"/>
                  </a:solidFill>
                </a:rPr>
                <a:t>parse</a:t>
              </a:r>
            </a:p>
          </p:txBody>
        </p:sp>
      </p:grp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>
            <a:extLst>
              <a:ext uri="{FF2B5EF4-FFF2-40B4-BE49-F238E27FC236}">
                <a16:creationId xmlns:a16="http://schemas.microsoft.com/office/drawing/2014/main" id="{133B7B3E-2079-4FE7-BB83-3F1341B2B4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4B5A1BC2-EB24-4DE4-A078-892DF41503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682DBB4-AFFB-48ED-BF1C-AC2A4838560C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2295DA4-3272-4D23-B874-920FEBEA5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chemeClr val="tx1"/>
                </a:solidFill>
                <a:sym typeface="Symbol" panose="05050102010706020507" pitchFamily="18" charset="2"/>
              </a:rPr>
              <a:t>Bottom-up Parsing                    (Abstract View)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FCF229D9-3F6B-4CDB-96D5-F2DA78CA3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bottom-up parser repeatedly finds a handle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</a:t>
            </a:r>
            <a:r>
              <a:rPr lang="en-US" altLang="it-IT" sz="9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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in the current right-sentential form and replaces  with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To construct a rightmost derivation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0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6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1</a:t>
            </a:r>
            <a:r>
              <a:rPr lang="en-US" altLang="it-IT" i="1">
                <a:sym typeface="Symbol" panose="05050102010706020507" pitchFamily="18" charset="2"/>
              </a:rPr>
              <a:t>  </a:t>
            </a:r>
            <a:r>
              <a:rPr lang="en-US" altLang="it-IT" sz="16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2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6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…  </a:t>
            </a:r>
            <a:r>
              <a:rPr lang="en-US" altLang="it-IT" sz="16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n–1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baseline="-25000">
                <a:sym typeface="Symbol" panose="05050102010706020507" pitchFamily="18" charset="2"/>
              </a:rPr>
              <a:t>n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w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Apply the following conceptual algorithm</a:t>
            </a:r>
          </a:p>
          <a:p>
            <a:pPr lvl="1" eaLnBrk="1" hangingPunct="1">
              <a:spcBef>
                <a:spcPts val="1200"/>
              </a:spcBef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for i  n to 1 by –1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     Find the handle </a:t>
            </a:r>
            <a:r>
              <a:rPr lang="en-US" altLang="it-IT">
                <a:sym typeface="Symbol" panose="05050102010706020507" pitchFamily="18" charset="2"/>
              </a:rPr>
              <a:t>&lt;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i="1" baseline="-25000">
                <a:sym typeface="Symbol" panose="05050102010706020507" pitchFamily="18" charset="2"/>
              </a:rPr>
              <a:t>i </a:t>
            </a:r>
            <a:r>
              <a:rPr lang="en-US" altLang="it-IT" i="1">
                <a:sym typeface="Symbol" panose="05050102010706020507" pitchFamily="18" charset="2"/>
              </a:rPr>
              <a:t>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 i="1" baseline="-25000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, k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 i="1" baseline="-25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&gt; in 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 b="1">
                <a:sym typeface="Symbol" panose="05050102010706020507" pitchFamily="18" charset="2"/>
              </a:rPr>
              <a:t> </a:t>
            </a:r>
            <a:endParaRPr lang="en-US" altLang="it-IT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     </a:t>
            </a:r>
            <a:r>
              <a:rPr lang="en-US" altLang="it-IT" i="1">
                <a:sym typeface="Symbol" panose="05050102010706020507" pitchFamily="18" charset="2"/>
              </a:rPr>
              <a:t>Replace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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 i="1">
                <a:sym typeface="Symbol" panose="05050102010706020507" pitchFamily="18" charset="2"/>
              </a:rPr>
              <a:t> with A</a:t>
            </a:r>
            <a:r>
              <a:rPr lang="en-US" altLang="it-IT" baseline="-25000">
                <a:sym typeface="Symbol" panose="05050102010706020507" pitchFamily="18" charset="2"/>
              </a:rPr>
              <a:t>i</a:t>
            </a:r>
            <a:r>
              <a:rPr lang="en-US" altLang="it-IT" i="1">
                <a:sym typeface="Symbol" panose="05050102010706020507" pitchFamily="18" charset="2"/>
              </a:rPr>
              <a:t> to generate </a:t>
            </a:r>
            <a:r>
              <a:rPr lang="en-US" altLang="it-IT">
                <a:sym typeface="Symbol" panose="05050102010706020507" pitchFamily="18" charset="2"/>
              </a:rPr>
              <a:t></a:t>
            </a:r>
            <a:r>
              <a:rPr lang="en-US" altLang="it-IT" baseline="-25000">
                <a:sym typeface="Symbol" panose="05050102010706020507" pitchFamily="18" charset="2"/>
              </a:rPr>
              <a:t>i–1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This takes </a:t>
            </a:r>
            <a:r>
              <a:rPr lang="en-US" altLang="it-IT" i="1">
                <a:sym typeface="Symbol" panose="05050102010706020507" pitchFamily="18" charset="2"/>
              </a:rPr>
              <a:t>2n</a:t>
            </a:r>
            <a:r>
              <a:rPr lang="en-US" altLang="it-IT">
                <a:sym typeface="Symbol" panose="05050102010706020507" pitchFamily="18" charset="2"/>
              </a:rPr>
              <a:t> steps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</p:txBody>
      </p:sp>
      <p:grpSp>
        <p:nvGrpSpPr>
          <p:cNvPr id="34821" name="Group 11">
            <a:extLst>
              <a:ext uri="{FF2B5EF4-FFF2-40B4-BE49-F238E27FC236}">
                <a16:creationId xmlns:a16="http://schemas.microsoft.com/office/drawing/2014/main" id="{4982D2C3-9A39-4E2F-B9AD-75A402AE18CB}"/>
              </a:ext>
            </a:extLst>
          </p:cNvPr>
          <p:cNvGrpSpPr>
            <a:grpSpLocks/>
          </p:cNvGrpSpPr>
          <p:nvPr/>
        </p:nvGrpSpPr>
        <p:grpSpPr bwMode="auto">
          <a:xfrm>
            <a:off x="2020888" y="3244850"/>
            <a:ext cx="6772275" cy="641350"/>
            <a:chOff x="2020888" y="3429000"/>
            <a:chExt cx="6772274" cy="641350"/>
          </a:xfrm>
        </p:grpSpPr>
        <p:sp>
          <p:nvSpPr>
            <p:cNvPr id="34823" name="Text Box 5">
              <a:extLst>
                <a:ext uri="{FF2B5EF4-FFF2-40B4-BE49-F238E27FC236}">
                  <a16:creationId xmlns:a16="http://schemas.microsoft.com/office/drawing/2014/main" id="{43F124DA-A297-44CD-99D7-44E3E51E1A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429000"/>
              <a:ext cx="3078162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>
                  <a:solidFill>
                    <a:srgbClr val="003C75"/>
                  </a:solidFill>
                </a:rPr>
                <a:t>of course, </a:t>
              </a:r>
              <a:r>
                <a:rPr lang="en-US" altLang="it-IT" i="1">
                  <a:solidFill>
                    <a:srgbClr val="003C75"/>
                  </a:solidFill>
                </a:rPr>
                <a:t>n</a:t>
              </a:r>
              <a:r>
                <a:rPr lang="en-US" altLang="it-IT">
                  <a:solidFill>
                    <a:srgbClr val="003C75"/>
                  </a:solidFill>
                </a:rPr>
                <a:t> is unknown until the derivation is built</a:t>
              </a:r>
            </a:p>
          </p:txBody>
        </p:sp>
        <p:sp>
          <p:nvSpPr>
            <p:cNvPr id="34824" name="Oval 6">
              <a:extLst>
                <a:ext uri="{FF2B5EF4-FFF2-40B4-BE49-F238E27FC236}">
                  <a16:creationId xmlns:a16="http://schemas.microsoft.com/office/drawing/2014/main" id="{421DBD03-FB85-4A91-BE51-5F14CF1A6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0888" y="3541713"/>
              <a:ext cx="239712" cy="239713"/>
            </a:xfrm>
            <a:prstGeom prst="ellips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4825" name="Freeform 10">
              <a:extLst>
                <a:ext uri="{FF2B5EF4-FFF2-40B4-BE49-F238E27FC236}">
                  <a16:creationId xmlns:a16="http://schemas.microsoft.com/office/drawing/2014/main" id="{E0EDD484-68AC-49CE-BD3A-60FDBF4E9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900" y="3437467"/>
              <a:ext cx="3492500" cy="194733"/>
            </a:xfrm>
            <a:custGeom>
              <a:avLst/>
              <a:gdLst>
                <a:gd name="T0" fmla="*/ 3492500 w 3492500"/>
                <a:gd name="T1" fmla="*/ 194733 h 194733"/>
                <a:gd name="T2" fmla="*/ 2794000 w 3492500"/>
                <a:gd name="T3" fmla="*/ 67733 h 194733"/>
                <a:gd name="T4" fmla="*/ 1701800 w 3492500"/>
                <a:gd name="T5" fmla="*/ 4233 h 194733"/>
                <a:gd name="T6" fmla="*/ 304800 w 3492500"/>
                <a:gd name="T7" fmla="*/ 42333 h 194733"/>
                <a:gd name="T8" fmla="*/ 0 w 3492500"/>
                <a:gd name="T9" fmla="*/ 143933 h 1947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92500"/>
                <a:gd name="T16" fmla="*/ 0 h 194733"/>
                <a:gd name="T17" fmla="*/ 3492500 w 3492500"/>
                <a:gd name="T18" fmla="*/ 194733 h 1947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92500" h="194733">
                  <a:moveTo>
                    <a:pt x="3492500" y="194733"/>
                  </a:moveTo>
                  <a:cubicBezTo>
                    <a:pt x="3292475" y="147108"/>
                    <a:pt x="3092450" y="99483"/>
                    <a:pt x="2794000" y="67733"/>
                  </a:cubicBezTo>
                  <a:cubicBezTo>
                    <a:pt x="2495550" y="35983"/>
                    <a:pt x="2116667" y="8466"/>
                    <a:pt x="1701800" y="4233"/>
                  </a:cubicBezTo>
                  <a:cubicBezTo>
                    <a:pt x="1286933" y="0"/>
                    <a:pt x="588433" y="19050"/>
                    <a:pt x="304800" y="42333"/>
                  </a:cubicBezTo>
                  <a:cubicBezTo>
                    <a:pt x="21167" y="65616"/>
                    <a:pt x="0" y="143933"/>
                    <a:pt x="0" y="143933"/>
                  </a:cubicBezTo>
                </a:path>
              </a:pathLst>
            </a:custGeom>
            <a:noFill/>
            <a:ln w="12700">
              <a:solidFill>
                <a:srgbClr val="B025A6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864238C-DCCD-45F5-ABD2-EA774574C3E3}"/>
              </a:ext>
            </a:extLst>
          </p:cNvPr>
          <p:cNvSpPr txBox="1"/>
          <p:nvPr/>
        </p:nvSpPr>
        <p:spPr>
          <a:xfrm>
            <a:off x="1295400" y="5029200"/>
            <a:ext cx="6553200" cy="123031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Some authors refer to this algorithm as a </a:t>
            </a: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handle-pruning parser.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The idea is that the parser finds a </a:t>
            </a: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handle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on the upper fringe of the partially complete parse tree and </a:t>
            </a:r>
            <a:r>
              <a:rPr lang="en-US" sz="1600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prunes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it out of the fringe.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The analogy is somewhat strained, so I will try to avoid using it.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DFC60C39-851C-4E47-B6D5-B738C44B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More on Handles</a:t>
            </a:r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7624846B-7B2C-4C5B-9DF9-C805C2884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/>
              <a:t>Bottom-up reduce parsers find a rightmost derivation in reverse order</a:t>
            </a:r>
          </a:p>
          <a:p>
            <a:pPr lvl="1">
              <a:spcBef>
                <a:spcPts val="600"/>
              </a:spcBef>
            </a:pPr>
            <a:r>
              <a:rPr lang="en-US" altLang="it-IT"/>
              <a:t>Rightmost derivation ⇒ rightmost NT expanded at each step in the derivation</a:t>
            </a:r>
          </a:p>
          <a:p>
            <a:pPr lvl="1">
              <a:spcBef>
                <a:spcPts val="600"/>
              </a:spcBef>
            </a:pPr>
            <a:r>
              <a:rPr lang="en-US" altLang="it-IT"/>
              <a:t>Processed in reverse ⇒ parser proceeds left to right</a:t>
            </a:r>
          </a:p>
          <a:p>
            <a:pPr>
              <a:spcBef>
                <a:spcPts val="1200"/>
              </a:spcBef>
              <a:buFont typeface="Times" panose="02020603050405020304" pitchFamily="18" charset="0"/>
              <a:buNone/>
            </a:pPr>
            <a:r>
              <a:rPr lang="en-US" altLang="it-IT"/>
              <a:t>These statements are somewhat counter-intuitive</a:t>
            </a:r>
          </a:p>
          <a:p>
            <a:pPr>
              <a:spcBef>
                <a:spcPts val="1200"/>
              </a:spcBef>
              <a:buFont typeface="Times" panose="02020603050405020304" pitchFamily="18" charset="0"/>
              <a:buNone/>
            </a:pPr>
            <a:endParaRPr lang="en-US" altLang="it-IT"/>
          </a:p>
        </p:txBody>
      </p:sp>
      <p:sp>
        <p:nvSpPr>
          <p:cNvPr id="36867" name="Footer Placeholder 3">
            <a:extLst>
              <a:ext uri="{FF2B5EF4-FFF2-40B4-BE49-F238E27FC236}">
                <a16:creationId xmlns:a16="http://schemas.microsoft.com/office/drawing/2014/main" id="{E2E46D9C-E07C-44D3-9097-6636DA0918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id="{6A92D768-C755-48FD-82BC-A8C6337D0B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2C1DB3E-FA5C-4B01-B13F-A8D6F41901E4}" type="slidenum">
              <a:rPr lang="en-US" altLang="it-IT"/>
              <a:pPr/>
              <a:t>11</a:t>
            </a:fld>
            <a:endParaRPr lang="en-US" altLang="it-I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B0FE2953-A95F-4C67-816B-33C5D5DB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More on Handles</a:t>
            </a:r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550973F5-F3DC-4E08-A168-464BA982F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/>
              <a:t>Bottom-up parsers find a reverse rightmost derivation</a:t>
            </a:r>
          </a:p>
          <a:p>
            <a:pPr>
              <a:spcBef>
                <a:spcPts val="1200"/>
              </a:spcBef>
            </a:pPr>
            <a:r>
              <a:rPr lang="en-US" altLang="it-IT"/>
              <a:t>Process input left to right</a:t>
            </a:r>
          </a:p>
          <a:p>
            <a:pPr lvl="1">
              <a:spcBef>
                <a:spcPts val="600"/>
              </a:spcBef>
            </a:pPr>
            <a:r>
              <a:rPr lang="en-US" altLang="it-IT"/>
              <a:t>Upper fringe of partially completed parse tree is  (</a:t>
            </a:r>
            <a:r>
              <a:rPr lang="en-US" altLang="it-IT" i="1"/>
              <a:t>NT </a:t>
            </a:r>
            <a:r>
              <a:rPr lang="en-US" altLang="it-IT"/>
              <a:t>|</a:t>
            </a:r>
            <a:r>
              <a:rPr lang="en-US" altLang="it-IT" i="1"/>
              <a:t>T)* T*</a:t>
            </a:r>
            <a:r>
              <a:rPr lang="en-US" altLang="it-IT"/>
              <a:t> </a:t>
            </a:r>
          </a:p>
          <a:p>
            <a:pPr lvl="1">
              <a:spcBef>
                <a:spcPts val="600"/>
              </a:spcBef>
            </a:pPr>
            <a:r>
              <a:rPr lang="en-US" altLang="it-IT"/>
              <a:t>The handle always appears with its right end at the junction between (</a:t>
            </a:r>
            <a:r>
              <a:rPr lang="en-US" altLang="it-IT" i="1"/>
              <a:t>NT </a:t>
            </a:r>
            <a:r>
              <a:rPr lang="en-US" altLang="it-IT"/>
              <a:t>|</a:t>
            </a:r>
            <a:r>
              <a:rPr lang="en-US" altLang="it-IT" i="1"/>
              <a:t> T)*</a:t>
            </a:r>
            <a:r>
              <a:rPr lang="en-US" altLang="it-IT"/>
              <a:t> and </a:t>
            </a:r>
            <a:r>
              <a:rPr lang="en-US" altLang="it-IT" i="1"/>
              <a:t>T*</a:t>
            </a:r>
            <a:r>
              <a:rPr lang="en-US" altLang="it-IT"/>
              <a:t>  	(</a:t>
            </a:r>
            <a:r>
              <a:rPr lang="en-US" altLang="it-IT" i="1"/>
              <a:t>the hot spot for LR parsing</a:t>
            </a:r>
            <a:r>
              <a:rPr lang="en-US" altLang="it-IT"/>
              <a:t>)</a:t>
            </a:r>
          </a:p>
          <a:p>
            <a:pPr lvl="1"/>
            <a:r>
              <a:rPr lang="en-US" altLang="it-IT"/>
              <a:t>We can keep the prefix of the upper fringe of the partially completed parse tree on a stack</a:t>
            </a:r>
          </a:p>
          <a:p>
            <a:pPr lvl="1"/>
            <a:r>
              <a:rPr lang="en-US" altLang="it-IT"/>
              <a:t>The stack makes the position information irrelevant</a:t>
            </a:r>
          </a:p>
          <a:p>
            <a:pPr>
              <a:spcBef>
                <a:spcPts val="1200"/>
              </a:spcBef>
            </a:pPr>
            <a:r>
              <a:rPr lang="en-US" altLang="it-IT"/>
              <a:t>Handles appear at the top of the stack</a:t>
            </a:r>
          </a:p>
          <a:p>
            <a:r>
              <a:rPr lang="en-US" altLang="it-IT"/>
              <a:t>All the information for the decision is at the hot spot</a:t>
            </a:r>
          </a:p>
          <a:p>
            <a:pPr lvl="1"/>
            <a:r>
              <a:rPr lang="en-US" altLang="it-IT"/>
              <a:t>The next word in the input stream</a:t>
            </a:r>
          </a:p>
          <a:p>
            <a:pPr lvl="1"/>
            <a:r>
              <a:rPr lang="en-US" altLang="it-IT"/>
              <a:t>The rightmost NT on the fringe &amp; its immediate left neighbors</a:t>
            </a:r>
          </a:p>
          <a:p>
            <a:pPr lvl="1"/>
            <a:r>
              <a:rPr lang="en-US" altLang="it-IT"/>
              <a:t>In an LR parser, additional information in the form of a “state”</a:t>
            </a:r>
          </a:p>
        </p:txBody>
      </p:sp>
      <p:sp>
        <p:nvSpPr>
          <p:cNvPr id="37891" name="Footer Placeholder 3">
            <a:extLst>
              <a:ext uri="{FF2B5EF4-FFF2-40B4-BE49-F238E27FC236}">
                <a16:creationId xmlns:a16="http://schemas.microsoft.com/office/drawing/2014/main" id="{7BE5C59E-37A8-4F95-87BA-06E6C99F26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7892" name="Slide Number Placeholder 4">
            <a:extLst>
              <a:ext uri="{FF2B5EF4-FFF2-40B4-BE49-F238E27FC236}">
                <a16:creationId xmlns:a16="http://schemas.microsoft.com/office/drawing/2014/main" id="{A3147391-A94A-42F7-AE8B-4F8B180615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9125E8E-D289-463B-A5E0-B99323B4ECEC}" type="slidenum">
              <a:rPr lang="en-US" altLang="it-IT"/>
              <a:pPr/>
              <a:t>12</a:t>
            </a:fld>
            <a:endParaRPr lang="en-US" altLang="it-I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3">
            <a:extLst>
              <a:ext uri="{FF2B5EF4-FFF2-40B4-BE49-F238E27FC236}">
                <a16:creationId xmlns:a16="http://schemas.microsoft.com/office/drawing/2014/main" id="{423F261B-4FD9-4283-9430-FCD779F89C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8914" name="Slide Number Placeholder 4">
            <a:extLst>
              <a:ext uri="{FF2B5EF4-FFF2-40B4-BE49-F238E27FC236}">
                <a16:creationId xmlns:a16="http://schemas.microsoft.com/office/drawing/2014/main" id="{42CEE2CD-F4DD-402D-B54C-2FEBB87C25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34AF276-9DD7-40A9-AB56-C9041B233617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D8A2943-0260-49E6-A919-0374992618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Handles Are Unique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3CE2A169-68D8-4B82-BEE1-763F7AA07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Theorem:</a:t>
            </a:r>
          </a:p>
          <a:p>
            <a:pPr lvl="1" eaLnBrk="1" hangingPunct="1">
              <a:buFontTx/>
              <a:buNone/>
            </a:pPr>
            <a:r>
              <a:rPr lang="en-US" altLang="it-IT" i="1">
                <a:sym typeface="Symbol" panose="05050102010706020507" pitchFamily="18" charset="2"/>
              </a:rPr>
              <a:t>If G is unambiguous, then every right-sentential form has a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unique</a:t>
            </a:r>
            <a:r>
              <a:rPr lang="en-US" altLang="it-IT" i="1">
                <a:sym typeface="Symbol" panose="05050102010706020507" pitchFamily="18" charset="2"/>
              </a:rPr>
              <a:t> handle. 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Sketch of Proof:</a:t>
            </a:r>
          </a:p>
          <a:p>
            <a:pPr eaLnBrk="1" hangingPunct="1">
              <a:spcBef>
                <a:spcPts val="600"/>
              </a:spcBef>
              <a:buSzPct val="90000"/>
              <a:buFontTx/>
              <a:buChar char="1"/>
            </a:pPr>
            <a:r>
              <a:rPr lang="en-US" altLang="it-IT" sz="1800" i="1">
                <a:sym typeface="Symbol" panose="05050102010706020507" pitchFamily="18" charset="2"/>
              </a:rPr>
              <a:t>G</a:t>
            </a:r>
            <a:r>
              <a:rPr lang="en-US" altLang="it-IT" sz="1800">
                <a:sym typeface="Symbol" panose="05050102010706020507" pitchFamily="18" charset="2"/>
              </a:rPr>
              <a:t> is unambiguous  rightmost derivation is unique</a:t>
            </a:r>
          </a:p>
          <a:p>
            <a:pPr eaLnBrk="1" hangingPunct="1">
              <a:spcBef>
                <a:spcPts val="600"/>
              </a:spcBef>
              <a:buSzPct val="90000"/>
              <a:buFontTx/>
              <a:buChar char="2"/>
            </a:pPr>
            <a:r>
              <a:rPr lang="en-US" altLang="it-IT" sz="1800">
                <a:sym typeface="Symbol" panose="05050102010706020507" pitchFamily="18" charset="2"/>
              </a:rPr>
              <a:t> a unique production </a:t>
            </a:r>
            <a:r>
              <a:rPr lang="en-US" altLang="it-IT" sz="1800" i="1">
                <a:sym typeface="Symbol" panose="05050102010706020507" pitchFamily="18" charset="2"/>
              </a:rPr>
              <a:t>A </a:t>
            </a:r>
            <a:r>
              <a:rPr lang="en-US" altLang="it-IT" sz="1800">
                <a:sym typeface="Symbol" panose="05050102010706020507" pitchFamily="18" charset="2"/>
              </a:rPr>
              <a:t>  applied to derive </a:t>
            </a:r>
            <a:r>
              <a:rPr lang="en-US" altLang="it-IT" sz="1800" i="1" baseline="-25000">
                <a:sym typeface="Symbol" panose="05050102010706020507" pitchFamily="18" charset="2"/>
              </a:rPr>
              <a:t>i</a:t>
            </a:r>
            <a:r>
              <a:rPr lang="en-US" altLang="it-IT" sz="1800">
                <a:sym typeface="Symbol" panose="05050102010706020507" pitchFamily="18" charset="2"/>
              </a:rPr>
              <a:t>  from </a:t>
            </a:r>
            <a:r>
              <a:rPr lang="en-US" altLang="it-IT" sz="1800" i="1" baseline="-25000">
                <a:sym typeface="Symbol" panose="05050102010706020507" pitchFamily="18" charset="2"/>
              </a:rPr>
              <a:t>i–</a:t>
            </a:r>
            <a:r>
              <a:rPr lang="en-US" altLang="it-IT" sz="1800" baseline="-25000">
                <a:sym typeface="Symbol" panose="05050102010706020507" pitchFamily="18" charset="2"/>
              </a:rPr>
              <a:t>1</a:t>
            </a:r>
            <a:endParaRPr lang="en-US" altLang="it-IT" sz="1800">
              <a:sym typeface="Symbol" panose="05050102010706020507" pitchFamily="18" charset="2"/>
            </a:endParaRPr>
          </a:p>
          <a:p>
            <a:pPr eaLnBrk="1" hangingPunct="1">
              <a:spcBef>
                <a:spcPts val="600"/>
              </a:spcBef>
              <a:buSzPct val="90000"/>
              <a:buFontTx/>
              <a:buChar char="3"/>
            </a:pPr>
            <a:r>
              <a:rPr lang="en-US" altLang="it-IT" sz="1800">
                <a:sym typeface="Symbol" panose="05050102010706020507" pitchFamily="18" charset="2"/>
              </a:rPr>
              <a:t> a unique position </a:t>
            </a:r>
            <a:r>
              <a:rPr lang="en-US" altLang="it-IT" sz="1800" b="1" i="1">
                <a:latin typeface="Arial Narrow" panose="020B0606020202030204" pitchFamily="34" charset="0"/>
                <a:sym typeface="Symbol" panose="05050102010706020507" pitchFamily="18" charset="2"/>
              </a:rPr>
              <a:t>k</a:t>
            </a:r>
            <a:r>
              <a:rPr lang="en-US" altLang="it-IT" sz="1800">
                <a:sym typeface="Symbol" panose="05050102010706020507" pitchFamily="18" charset="2"/>
              </a:rPr>
              <a:t> at which 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 is applied</a:t>
            </a:r>
          </a:p>
          <a:p>
            <a:pPr eaLnBrk="1" hangingPunct="1">
              <a:spcBef>
                <a:spcPts val="600"/>
              </a:spcBef>
              <a:buSzPct val="90000"/>
              <a:buFontTx/>
              <a:buChar char="4"/>
            </a:pPr>
            <a:r>
              <a:rPr lang="en-US" altLang="it-IT" sz="1800">
                <a:sym typeface="Symbol" panose="05050102010706020507" pitchFamily="18" charset="2"/>
              </a:rPr>
              <a:t> a unique handle &lt;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,</a:t>
            </a:r>
            <a:r>
              <a:rPr lang="en-US" altLang="it-IT" sz="1800" b="1" i="1">
                <a:latin typeface="Arial Narrow" panose="020B0606020202030204" pitchFamily="34" charset="0"/>
                <a:sym typeface="Symbol" panose="05050102010706020507" pitchFamily="18" charset="2"/>
              </a:rPr>
              <a:t>k</a:t>
            </a:r>
            <a:r>
              <a:rPr lang="en-US" altLang="it-IT" sz="1800">
                <a:sym typeface="Symbol" panose="05050102010706020507" pitchFamily="18" charset="2"/>
              </a:rPr>
              <a:t>&gt; </a:t>
            </a:r>
          </a:p>
          <a:p>
            <a:pPr eaLnBrk="1" hangingPunct="1">
              <a:spcBef>
                <a:spcPts val="600"/>
              </a:spcBef>
              <a:buSzPct val="90000"/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This all follows from the definitions</a:t>
            </a:r>
          </a:p>
          <a:p>
            <a:pPr eaLnBrk="1" hangingPunct="1">
              <a:spcBef>
                <a:spcPts val="1800"/>
              </a:spcBef>
              <a:buSzPct val="90000"/>
              <a:buFontTx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If we can find the handles, we can build a derivation!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CEF2FD-9CE9-496B-AB3D-C05BF1345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410200"/>
            <a:ext cx="6858000" cy="723900"/>
          </a:xfrm>
          <a:prstGeom prst="rect">
            <a:avLst/>
          </a:prstGeom>
          <a:solidFill>
            <a:srgbClr val="D9D9D9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it-IT" i="1">
                <a:solidFill>
                  <a:srgbClr val="003C75"/>
                </a:solidFill>
              </a:rPr>
              <a:t>The handle always appears with its right end at the stack top.</a:t>
            </a:r>
          </a:p>
          <a:p>
            <a:pPr>
              <a:spcBef>
                <a:spcPts val="600"/>
              </a:spcBef>
            </a:pP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 </a:t>
            </a:r>
            <a:r>
              <a:rPr lang="en-US" altLang="it-IT" i="1">
                <a:solidFill>
                  <a:srgbClr val="003C75"/>
                </a:solidFill>
              </a:rPr>
              <a:t>How many right-hand sides must the parser consider?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3">
            <a:extLst>
              <a:ext uri="{FF2B5EF4-FFF2-40B4-BE49-F238E27FC236}">
                <a16:creationId xmlns:a16="http://schemas.microsoft.com/office/drawing/2014/main" id="{93132BFF-A64D-4D46-A70D-A285D53681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0962" name="Slide Number Placeholder 4">
            <a:extLst>
              <a:ext uri="{FF2B5EF4-FFF2-40B4-BE49-F238E27FC236}">
                <a16:creationId xmlns:a16="http://schemas.microsoft.com/office/drawing/2014/main" id="{C288CF70-4E92-4A2F-B4A9-B083DBDA9C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D8FF03B-EE22-4894-84F6-577C884F5B3A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CAD4E56-D0A6-404F-A01B-5B05261F7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chemeClr val="tx1"/>
                </a:solidFill>
                <a:sym typeface="Symbol" panose="05050102010706020507" pitchFamily="18" charset="2"/>
              </a:rPr>
              <a:t>Shift-reduce Parsing</a:t>
            </a:r>
            <a:endParaRPr lang="en-US" altLang="it-IT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7555242-23F2-43B5-AA50-A678EDA1A4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To implement a bottom-up parser, we adopt the  shift-reduce paradigm 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shift-reduce parser </a:t>
            </a:r>
            <a:r>
              <a:rPr lang="en-US" altLang="it-IT">
                <a:sym typeface="Symbol" panose="05050102010706020507" pitchFamily="18" charset="2"/>
              </a:rPr>
              <a:t>is a stack automaton with four actions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Shift</a:t>
            </a:r>
            <a:r>
              <a:rPr lang="en-US" altLang="it-IT">
                <a:sym typeface="Symbol" panose="05050102010706020507" pitchFamily="18" charset="2"/>
              </a:rPr>
              <a:t> — next word is shifted onto the stack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Reduce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— right end of handle is at top of stack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    Locate left end of handle within the stack</a:t>
            </a: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    Pop handle off stack &amp; push appropriate </a:t>
            </a:r>
            <a:r>
              <a:rPr lang="en-US" altLang="it-IT" i="1">
                <a:sym typeface="Symbol" panose="05050102010706020507" pitchFamily="18" charset="2"/>
              </a:rPr>
              <a:t>lhs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Accept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—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stop parsing &amp; report success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Error</a:t>
            </a:r>
            <a:r>
              <a:rPr lang="en-US" altLang="it-IT" i="1">
                <a:sym typeface="Symbol" panose="05050102010706020507" pitchFamily="18" charset="2"/>
              </a:rPr>
              <a:t>  </a:t>
            </a:r>
            <a:r>
              <a:rPr lang="en-US" altLang="it-IT">
                <a:sym typeface="Symbol" panose="05050102010706020507" pitchFamily="18" charset="2"/>
              </a:rPr>
              <a:t>— call an error reporting/recovery routine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Accept &amp; Error </a:t>
            </a:r>
            <a:r>
              <a:rPr lang="en-US" altLang="it-IT">
                <a:sym typeface="Symbol" panose="05050102010706020507" pitchFamily="18" charset="2"/>
              </a:rPr>
              <a:t>are simple</a:t>
            </a:r>
          </a:p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Shift </a:t>
            </a:r>
            <a:r>
              <a:rPr lang="en-US" altLang="it-IT">
                <a:sym typeface="Symbol" panose="05050102010706020507" pitchFamily="18" charset="2"/>
              </a:rPr>
              <a:t>is just a push and a call to the scanner</a:t>
            </a:r>
          </a:p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Reduce</a:t>
            </a:r>
            <a:r>
              <a:rPr lang="en-US" altLang="it-IT">
                <a:sym typeface="Symbol" panose="05050102010706020507" pitchFamily="18" charset="2"/>
              </a:rPr>
              <a:t> takes |</a:t>
            </a:r>
            <a:r>
              <a:rPr lang="en-US" altLang="it-IT" i="1">
                <a:sym typeface="Symbol" panose="05050102010706020507" pitchFamily="18" charset="2"/>
              </a:rPr>
              <a:t>rhs</a:t>
            </a:r>
            <a:r>
              <a:rPr lang="en-US" altLang="it-IT">
                <a:sym typeface="Symbol" panose="05050102010706020507" pitchFamily="18" charset="2"/>
              </a:rPr>
              <a:t>| pops &amp; 1 push</a:t>
            </a:r>
          </a:p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endParaRPr lang="en-US" altLang="it-IT" i="1">
              <a:sym typeface="Symbol" panose="05050102010706020507" pitchFamily="18" charset="2"/>
            </a:endParaRP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D6F461A5-F021-429F-A12B-646209B43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830888"/>
            <a:ext cx="7772400" cy="646112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i="1">
                <a:solidFill>
                  <a:srgbClr val="003C75"/>
                </a:solidFill>
              </a:rPr>
              <a:t>But how does the parser know when to shift and when to reduce?</a:t>
            </a:r>
          </a:p>
          <a:p>
            <a:pPr algn="ctr"/>
            <a:r>
              <a:rPr lang="en-US" altLang="it-IT" i="1">
                <a:solidFill>
                  <a:srgbClr val="003C75"/>
                </a:solidFill>
              </a:rPr>
              <a:t>It shifts until it has a handle at the top of the stack.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3">
            <a:extLst>
              <a:ext uri="{FF2B5EF4-FFF2-40B4-BE49-F238E27FC236}">
                <a16:creationId xmlns:a16="http://schemas.microsoft.com/office/drawing/2014/main" id="{F5C6D60B-B4D2-4282-A12F-E2AC82E3BD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3010" name="Slide Number Placeholder 4">
            <a:extLst>
              <a:ext uri="{FF2B5EF4-FFF2-40B4-BE49-F238E27FC236}">
                <a16:creationId xmlns:a16="http://schemas.microsoft.com/office/drawing/2014/main" id="{BC7D1F35-56DA-40BB-BE3F-48394FFED4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1187A93-8A32-479A-B6B3-7228F4228519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1942731-47D4-44C4-84F6-1589F4307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Bottom-up Parser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745FDB31-42F9-4C1F-BCCD-AC69512832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simple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shift-reduce parser:</a:t>
            </a:r>
          </a:p>
        </p:txBody>
      </p:sp>
      <p:sp>
        <p:nvSpPr>
          <p:cNvPr id="43013" name="Text Box 4">
            <a:extLst>
              <a:ext uri="{FF2B5EF4-FFF2-40B4-BE49-F238E27FC236}">
                <a16:creationId xmlns:a16="http://schemas.microsoft.com/office/drawing/2014/main" id="{B895919B-408F-4E16-8613-9D990E0FE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800225"/>
            <a:ext cx="5105400" cy="3544888"/>
          </a:xfrm>
          <a:prstGeom prst="rect">
            <a:avLst/>
          </a:prstGeom>
          <a:noFill/>
          <a:ln w="12700">
            <a:solidFill>
              <a:srgbClr val="B025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600" i="1">
                <a:sym typeface="Symbol" panose="05050102010706020507" pitchFamily="18" charset="2"/>
              </a:rPr>
              <a:t>push INVALID</a:t>
            </a:r>
          </a:p>
          <a:p>
            <a:pPr>
              <a:spcBef>
                <a:spcPct val="10000"/>
              </a:spcBef>
            </a:pPr>
            <a:r>
              <a:rPr lang="en-US" altLang="it-IT" sz="1600" i="1">
                <a:sym typeface="Symbol" panose="05050102010706020507" pitchFamily="18" charset="2"/>
              </a:rPr>
              <a:t>token  next_token( )</a:t>
            </a:r>
          </a:p>
          <a:p>
            <a:pPr>
              <a:spcBef>
                <a:spcPct val="10000"/>
              </a:spcBef>
            </a:pPr>
            <a:r>
              <a:rPr lang="en-US" altLang="it-IT" sz="1600" i="1">
                <a:sym typeface="Symbol" panose="05050102010706020507" pitchFamily="18" charset="2"/>
              </a:rPr>
              <a:t>repeat until (top of stack = Goal and token = </a:t>
            </a:r>
            <a:r>
              <a:rPr lang="en-US" altLang="it-IT" sz="1600">
                <a:sym typeface="Symbol" panose="05050102010706020507" pitchFamily="18" charset="2"/>
              </a:rPr>
              <a:t>EOF</a:t>
            </a:r>
            <a:r>
              <a:rPr lang="en-US" altLang="it-IT" sz="1600" i="1">
                <a:sym typeface="Symbol" panose="05050102010706020507" pitchFamily="18" charset="2"/>
              </a:rPr>
              <a:t>)</a:t>
            </a:r>
          </a:p>
          <a:p>
            <a:pPr>
              <a:spcBef>
                <a:spcPct val="10000"/>
              </a:spcBef>
            </a:pPr>
            <a:r>
              <a:rPr lang="en-US" altLang="it-IT" sz="1600" i="1">
                <a:sym typeface="Symbol" panose="05050102010706020507" pitchFamily="18" charset="2"/>
              </a:rPr>
              <a:t>     if the top of the stack is a handle A </a:t>
            </a:r>
          </a:p>
          <a:p>
            <a:pPr>
              <a:spcBef>
                <a:spcPct val="10000"/>
              </a:spcBef>
            </a:pPr>
            <a:r>
              <a:rPr lang="en-US" altLang="it-IT" sz="1600" i="1">
                <a:sym typeface="Symbol" panose="05050102010706020507" pitchFamily="18" charset="2"/>
              </a:rPr>
              <a:t>          then      </a:t>
            </a:r>
            <a:r>
              <a:rPr lang="en-US" altLang="it-IT" sz="1600" i="1">
                <a:solidFill>
                  <a:srgbClr val="003C75"/>
                </a:solidFill>
                <a:sym typeface="Symbol" panose="05050102010706020507" pitchFamily="18" charset="2"/>
              </a:rPr>
              <a:t>// reduce  to A</a:t>
            </a:r>
          </a:p>
          <a:p>
            <a:pPr>
              <a:spcBef>
                <a:spcPct val="10000"/>
              </a:spcBef>
            </a:pPr>
            <a:r>
              <a:rPr lang="en-US" altLang="it-IT" sz="1600" i="1">
                <a:sym typeface="Symbol" panose="05050102010706020507" pitchFamily="18" charset="2"/>
              </a:rPr>
              <a:t>               pop </a:t>
            </a:r>
            <a:r>
              <a:rPr lang="en-US" altLang="it-IT" sz="1600">
                <a:sym typeface="Symbol" panose="05050102010706020507" pitchFamily="18" charset="2"/>
              </a:rPr>
              <a:t>|| </a:t>
            </a:r>
            <a:r>
              <a:rPr lang="en-US" altLang="it-IT" sz="1600" i="1">
                <a:sym typeface="Symbol" panose="05050102010706020507" pitchFamily="18" charset="2"/>
              </a:rPr>
              <a:t>symbols off the stack</a:t>
            </a:r>
          </a:p>
          <a:p>
            <a:pPr>
              <a:spcBef>
                <a:spcPct val="10000"/>
              </a:spcBef>
            </a:pPr>
            <a:r>
              <a:rPr lang="en-US" altLang="it-IT" sz="1600" i="1">
                <a:sym typeface="Symbol" panose="05050102010706020507" pitchFamily="18" charset="2"/>
              </a:rPr>
              <a:t>               push A onto the stack</a:t>
            </a:r>
          </a:p>
          <a:p>
            <a:pPr>
              <a:spcBef>
                <a:spcPct val="10000"/>
              </a:spcBef>
            </a:pPr>
            <a:r>
              <a:rPr lang="en-US" altLang="it-IT" sz="1600" i="1">
                <a:sym typeface="Symbol" panose="05050102010706020507" pitchFamily="18" charset="2"/>
              </a:rPr>
              <a:t>          else if (token  </a:t>
            </a:r>
            <a:r>
              <a:rPr lang="en-US" altLang="it-IT" sz="1600">
                <a:sym typeface="Symbol" panose="05050102010706020507" pitchFamily="18" charset="2"/>
              </a:rPr>
              <a:t>EOF</a:t>
            </a:r>
            <a:r>
              <a:rPr lang="en-US" altLang="it-IT" sz="1600" i="1">
                <a:sym typeface="Symbol" panose="05050102010706020507" pitchFamily="18" charset="2"/>
              </a:rPr>
              <a:t>)</a:t>
            </a:r>
          </a:p>
          <a:p>
            <a:pPr>
              <a:spcBef>
                <a:spcPct val="10000"/>
              </a:spcBef>
            </a:pPr>
            <a:r>
              <a:rPr lang="en-US" altLang="it-IT" sz="1600" i="1">
                <a:sym typeface="Symbol" panose="05050102010706020507" pitchFamily="18" charset="2"/>
              </a:rPr>
              <a:t>               then </a:t>
            </a:r>
            <a:r>
              <a:rPr lang="en-US" altLang="it-IT" sz="1600" i="1">
                <a:solidFill>
                  <a:srgbClr val="003C75"/>
                </a:solidFill>
                <a:sym typeface="Symbol" panose="05050102010706020507" pitchFamily="18" charset="2"/>
              </a:rPr>
              <a:t>// shift </a:t>
            </a:r>
          </a:p>
          <a:p>
            <a:pPr>
              <a:spcBef>
                <a:spcPct val="10000"/>
              </a:spcBef>
            </a:pPr>
            <a:r>
              <a:rPr lang="en-US" altLang="it-IT" sz="1600" i="1">
                <a:sym typeface="Symbol" panose="05050102010706020507" pitchFamily="18" charset="2"/>
              </a:rPr>
              <a:t>                     push token </a:t>
            </a:r>
          </a:p>
          <a:p>
            <a:pPr>
              <a:spcBef>
                <a:spcPct val="10000"/>
              </a:spcBef>
            </a:pPr>
            <a:r>
              <a:rPr lang="en-US" altLang="it-IT" sz="1600" i="1">
                <a:sym typeface="Symbol" panose="05050102010706020507" pitchFamily="18" charset="2"/>
              </a:rPr>
              <a:t>                     token  next_token( )</a:t>
            </a:r>
          </a:p>
          <a:p>
            <a:pPr>
              <a:spcBef>
                <a:spcPct val="10000"/>
              </a:spcBef>
            </a:pPr>
            <a:r>
              <a:rPr lang="en-US" altLang="it-IT" sz="1600" i="1">
                <a:sym typeface="Symbol" panose="05050102010706020507" pitchFamily="18" charset="2"/>
              </a:rPr>
              <a:t>           else     </a:t>
            </a:r>
            <a:r>
              <a:rPr lang="en-US" altLang="it-IT" sz="1600" i="1">
                <a:solidFill>
                  <a:srgbClr val="003C75"/>
                </a:solidFill>
                <a:sym typeface="Symbol" panose="05050102010706020507" pitchFamily="18" charset="2"/>
              </a:rPr>
              <a:t>// need to shift, but out of input </a:t>
            </a:r>
          </a:p>
          <a:p>
            <a:r>
              <a:rPr lang="en-US" altLang="it-IT" sz="1600" i="1">
                <a:sym typeface="Symbol" panose="05050102010706020507" pitchFamily="18" charset="2"/>
              </a:rPr>
              <a:t>	report an error   </a:t>
            </a:r>
            <a:endParaRPr lang="en-US" altLang="it-IT" sz="1600"/>
          </a:p>
        </p:txBody>
      </p:sp>
      <p:sp>
        <p:nvSpPr>
          <p:cNvPr id="43014" name="Text Box 5">
            <a:extLst>
              <a:ext uri="{FF2B5EF4-FFF2-40B4-BE49-F238E27FC236}">
                <a16:creationId xmlns:a16="http://schemas.microsoft.com/office/drawing/2014/main" id="{3B0257C2-7C59-408E-9E25-A1CD7CF54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172200"/>
            <a:ext cx="297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Figure 3.7 in EAC</a:t>
            </a:r>
          </a:p>
        </p:txBody>
      </p:sp>
      <p:sp>
        <p:nvSpPr>
          <p:cNvPr id="23561" name="Text Box 9">
            <a:extLst>
              <a:ext uri="{FF2B5EF4-FFF2-40B4-BE49-F238E27FC236}">
                <a16:creationId xmlns:a16="http://schemas.microsoft.com/office/drawing/2014/main" id="{7B2EBE4C-95F1-4EC2-A3EF-6FDBDCC92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447800"/>
            <a:ext cx="2819400" cy="4278313"/>
          </a:xfrm>
          <a:prstGeom prst="rect">
            <a:avLst/>
          </a:prstGeom>
          <a:noFill/>
          <a:ln w="19050">
            <a:solidFill>
              <a:srgbClr val="FF00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</a:rPr>
              <a:t>What happens on an error?</a:t>
            </a:r>
          </a:p>
          <a:p>
            <a:pPr>
              <a:spcBef>
                <a:spcPct val="50000"/>
              </a:spcBef>
              <a:buClr>
                <a:srgbClr val="FF006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 sz="1600">
                <a:solidFill>
                  <a:srgbClr val="FF0065"/>
                </a:solidFill>
              </a:rPr>
              <a:t> It fails to find a handle</a:t>
            </a:r>
          </a:p>
          <a:p>
            <a:pPr>
              <a:spcBef>
                <a:spcPct val="50000"/>
              </a:spcBef>
              <a:buClr>
                <a:srgbClr val="FF006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 sz="1600">
                <a:solidFill>
                  <a:srgbClr val="FF0065"/>
                </a:solidFill>
              </a:rPr>
              <a:t> Thus, it keeps shifting</a:t>
            </a:r>
          </a:p>
          <a:p>
            <a:pPr>
              <a:spcBef>
                <a:spcPct val="50000"/>
              </a:spcBef>
              <a:buClr>
                <a:srgbClr val="FF0065"/>
              </a:buClr>
              <a:buSzPct val="120000"/>
              <a:buFont typeface="Symbol" panose="05050102010706020507" pitchFamily="18" charset="2"/>
              <a:buChar char=""/>
            </a:pPr>
            <a:r>
              <a:rPr lang="en-US" altLang="it-IT" sz="1600">
                <a:solidFill>
                  <a:srgbClr val="FF0065"/>
                </a:solidFill>
              </a:rPr>
              <a:t> Eventually, it consumes</a:t>
            </a:r>
          </a:p>
          <a:p>
            <a:pPr>
              <a:buClr>
                <a:srgbClr val="FF0065"/>
              </a:buClr>
              <a:buSzPct val="120000"/>
              <a:buFont typeface="Symbol" panose="05050102010706020507" pitchFamily="18" charset="2"/>
              <a:buNone/>
            </a:pPr>
            <a:r>
              <a:rPr lang="en-US" altLang="it-IT" sz="1600">
                <a:solidFill>
                  <a:srgbClr val="FF0065"/>
                </a:solidFill>
              </a:rPr>
              <a:t>   all input</a:t>
            </a:r>
          </a:p>
          <a:p>
            <a:pPr>
              <a:spcBef>
                <a:spcPct val="5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None/>
            </a:pPr>
            <a:r>
              <a:rPr lang="en-US" altLang="it-IT" sz="1600">
                <a:solidFill>
                  <a:srgbClr val="FF0065"/>
                </a:solidFill>
              </a:rPr>
              <a:t>This parser reads all input before reporting an error, not a desirable property.</a:t>
            </a:r>
          </a:p>
          <a:p>
            <a:pPr>
              <a:spcBef>
                <a:spcPct val="5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None/>
            </a:pPr>
            <a:r>
              <a:rPr lang="en-US" altLang="it-IT" sz="1600">
                <a:solidFill>
                  <a:srgbClr val="FF0065"/>
                </a:solidFill>
              </a:rPr>
              <a:t>Error localization is an issue in the handle-finding process that affects the practicality of shift-reduce parsers…</a:t>
            </a:r>
          </a:p>
          <a:p>
            <a:pPr>
              <a:spcBef>
                <a:spcPct val="50000"/>
              </a:spcBef>
              <a:buClr>
                <a:srgbClr val="003C75"/>
              </a:buClr>
              <a:buSzPct val="120000"/>
              <a:buFont typeface="Symbol" panose="05050102010706020507" pitchFamily="18" charset="2"/>
              <a:buNone/>
            </a:pPr>
            <a:r>
              <a:rPr lang="en-US" altLang="it-IT" sz="1600">
                <a:solidFill>
                  <a:srgbClr val="FF0065"/>
                </a:solidFill>
              </a:rPr>
              <a:t>We will fix this issue later.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1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3">
            <a:extLst>
              <a:ext uri="{FF2B5EF4-FFF2-40B4-BE49-F238E27FC236}">
                <a16:creationId xmlns:a16="http://schemas.microsoft.com/office/drawing/2014/main" id="{29BE2346-0657-4887-8A0D-ADAE0B5C1D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5058" name="Slide Number Placeholder 4">
            <a:extLst>
              <a:ext uri="{FF2B5EF4-FFF2-40B4-BE49-F238E27FC236}">
                <a16:creationId xmlns:a16="http://schemas.microsoft.com/office/drawing/2014/main" id="{093F8650-64F7-475B-9763-1F0E1DD579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D1249CD-BD0F-4B22-B6BD-A489D99110AC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6753A84-3213-49FC-A8E9-B2D7AF72C5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Back to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x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-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2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*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y</a:t>
            </a:r>
            <a:endParaRPr lang="en-US" altLang="it-IT" u="sng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75779" name="Group 3">
            <a:extLst>
              <a:ext uri="{FF2B5EF4-FFF2-40B4-BE49-F238E27FC236}">
                <a16:creationId xmlns:a16="http://schemas.microsoft.com/office/drawing/2014/main" id="{189BD51C-EF28-4CDA-B9A2-7652937448DD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184275"/>
          <a:ext cx="5486400" cy="4546605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5127" name="Text Box 106">
            <a:extLst>
              <a:ext uri="{FF2B5EF4-FFF2-40B4-BE49-F238E27FC236}">
                <a16:creationId xmlns:a16="http://schemas.microsoft.com/office/drawing/2014/main" id="{03AC1C4A-8CF3-4E9D-94F6-FFDCBF314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943600"/>
            <a:ext cx="6324600" cy="642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1. Shift until the top of the stack is the right end of a handle</a:t>
            </a:r>
          </a:p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2. Find the left end of the handle and reduce </a:t>
            </a:r>
          </a:p>
        </p:txBody>
      </p:sp>
      <p:graphicFrame>
        <p:nvGraphicFramePr>
          <p:cNvPr id="75883" name="Group 107">
            <a:extLst>
              <a:ext uri="{FF2B5EF4-FFF2-40B4-BE49-F238E27FC236}">
                <a16:creationId xmlns:a16="http://schemas.microsoft.com/office/drawing/2014/main" id="{CD4CB5DC-4D41-482C-B15F-EFDE26A3B8DC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381125"/>
          <a:ext cx="2286000" cy="2365374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0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/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3">
            <a:extLst>
              <a:ext uri="{FF2B5EF4-FFF2-40B4-BE49-F238E27FC236}">
                <a16:creationId xmlns:a16="http://schemas.microsoft.com/office/drawing/2014/main" id="{B2B336E2-A8A1-47EB-A988-8E1095E0A3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7106" name="Slide Number Placeholder 4">
            <a:extLst>
              <a:ext uri="{FF2B5EF4-FFF2-40B4-BE49-F238E27FC236}">
                <a16:creationId xmlns:a16="http://schemas.microsoft.com/office/drawing/2014/main" id="{44232192-536C-4172-BFBE-10DA5FC39E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91BB701-8C19-478F-997D-0D505D628185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3DFF7DB-1D5A-48A8-8BD0-2A1766081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Back to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x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-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2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*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y</a:t>
            </a:r>
            <a:endParaRPr lang="en-US" altLang="it-IT" u="sng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77827" name="Group 3">
            <a:extLst>
              <a:ext uri="{FF2B5EF4-FFF2-40B4-BE49-F238E27FC236}">
                <a16:creationId xmlns:a16="http://schemas.microsoft.com/office/drawing/2014/main" id="{B7C1F59E-0A0A-4922-A2B8-284C4E4A8268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184275"/>
          <a:ext cx="5486400" cy="4546605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8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6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4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7175" name="Text Box 106">
            <a:extLst>
              <a:ext uri="{FF2B5EF4-FFF2-40B4-BE49-F238E27FC236}">
                <a16:creationId xmlns:a16="http://schemas.microsoft.com/office/drawing/2014/main" id="{669862FF-2422-4D23-9FCD-95277A55A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943600"/>
            <a:ext cx="6324600" cy="642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1. Shift until the top of the stack is the right end of a handle</a:t>
            </a:r>
          </a:p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2. Find the left end of the handle and reduce </a:t>
            </a:r>
          </a:p>
        </p:txBody>
      </p:sp>
      <p:graphicFrame>
        <p:nvGraphicFramePr>
          <p:cNvPr id="178" name="Group 107">
            <a:extLst>
              <a:ext uri="{FF2B5EF4-FFF2-40B4-BE49-F238E27FC236}">
                <a16:creationId xmlns:a16="http://schemas.microsoft.com/office/drawing/2014/main" id="{A5C87944-E10D-4A3B-8A43-5C9959D1B68F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381125"/>
          <a:ext cx="2286000" cy="2365374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0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/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3">
            <a:extLst>
              <a:ext uri="{FF2B5EF4-FFF2-40B4-BE49-F238E27FC236}">
                <a16:creationId xmlns:a16="http://schemas.microsoft.com/office/drawing/2014/main" id="{266C6718-78B7-4896-8D04-06BD328DE3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9154" name="Slide Number Placeholder 4">
            <a:extLst>
              <a:ext uri="{FF2B5EF4-FFF2-40B4-BE49-F238E27FC236}">
                <a16:creationId xmlns:a16="http://schemas.microsoft.com/office/drawing/2014/main" id="{E509119F-D16A-49CE-B620-A42E079C07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F718F6C-8F0A-41D3-BF39-FFEFC2BF7458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3079D91-9C72-42A2-A0AE-17FBCEE87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Back to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x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-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2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*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y</a:t>
            </a:r>
            <a:endParaRPr lang="en-US" altLang="it-IT" u="sng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77827" name="Group 3">
            <a:extLst>
              <a:ext uri="{FF2B5EF4-FFF2-40B4-BE49-F238E27FC236}">
                <a16:creationId xmlns:a16="http://schemas.microsoft.com/office/drawing/2014/main" id="{5A1D1B35-22D2-4D89-A87A-7B674769692A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184275"/>
          <a:ext cx="5486400" cy="4546605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8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6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4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9223" name="Text Box 106">
            <a:extLst>
              <a:ext uri="{FF2B5EF4-FFF2-40B4-BE49-F238E27FC236}">
                <a16:creationId xmlns:a16="http://schemas.microsoft.com/office/drawing/2014/main" id="{DC9B4BCB-927D-4D9B-B884-A53ADA4A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943600"/>
            <a:ext cx="6324600" cy="642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1. Shift until the top of the stack is the right end of a handle</a:t>
            </a:r>
          </a:p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2. Find the left end of the handle and reduce </a:t>
            </a:r>
          </a:p>
        </p:txBody>
      </p:sp>
      <p:graphicFrame>
        <p:nvGraphicFramePr>
          <p:cNvPr id="178" name="Group 107">
            <a:extLst>
              <a:ext uri="{FF2B5EF4-FFF2-40B4-BE49-F238E27FC236}">
                <a16:creationId xmlns:a16="http://schemas.microsoft.com/office/drawing/2014/main" id="{6EAD8629-CA6C-4B93-B0CB-9FE9725ACE97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381125"/>
          <a:ext cx="2286000" cy="2365374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0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/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9265" name="TextBox 7">
            <a:extLst>
              <a:ext uri="{FF2B5EF4-FFF2-40B4-BE49-F238E27FC236}">
                <a16:creationId xmlns:a16="http://schemas.microsoft.com/office/drawing/2014/main" id="{DE2675D3-9F93-4B87-B365-48E77465F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429000"/>
            <a:ext cx="5562600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 i="1">
                <a:solidFill>
                  <a:srgbClr val="003C75"/>
                </a:solidFill>
              </a:rPr>
              <a:t>Expr </a:t>
            </a:r>
            <a:r>
              <a:rPr lang="en-US" altLang="it-IT" sz="1600">
                <a:solidFill>
                  <a:srgbClr val="003C75"/>
                </a:solidFill>
              </a:rPr>
              <a:t>is not a handle at this point because it does not occur at this point in the derivation.</a:t>
            </a:r>
          </a:p>
          <a:p>
            <a:pPr>
              <a:spcBef>
                <a:spcPts val="600"/>
              </a:spcBef>
            </a:pPr>
            <a:r>
              <a:rPr lang="en-US" altLang="it-IT" sz="1600">
                <a:solidFill>
                  <a:srgbClr val="003C75"/>
                </a:solidFill>
              </a:rPr>
              <a:t>While that statement sounds like oracular mysticism, we will see that the decision can be automated efficiently.</a:t>
            </a: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3">
            <a:extLst>
              <a:ext uri="{FF2B5EF4-FFF2-40B4-BE49-F238E27FC236}">
                <a16:creationId xmlns:a16="http://schemas.microsoft.com/office/drawing/2014/main" id="{035B3B78-69B8-4D79-B081-10C2DA707F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1202" name="Slide Number Placeholder 4">
            <a:extLst>
              <a:ext uri="{FF2B5EF4-FFF2-40B4-BE49-F238E27FC236}">
                <a16:creationId xmlns:a16="http://schemas.microsoft.com/office/drawing/2014/main" id="{7C3B22F9-359C-46AA-BB45-15A1A9DF06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F5EF107-7F6D-4FC7-A2E0-6309C504ADC9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51DD06C2-9F8B-40F0-8B85-AB4E7E600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Back to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x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-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2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*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y</a:t>
            </a:r>
            <a:endParaRPr lang="en-US" altLang="it-IT" u="sng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79875" name="Group 3">
            <a:extLst>
              <a:ext uri="{FF2B5EF4-FFF2-40B4-BE49-F238E27FC236}">
                <a16:creationId xmlns:a16="http://schemas.microsoft.com/office/drawing/2014/main" id="{4D5575F4-E1CE-4958-B1E6-D4C9A897B7BD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184275"/>
          <a:ext cx="5486400" cy="4546605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8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6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1271" name="Text Box 175">
            <a:extLst>
              <a:ext uri="{FF2B5EF4-FFF2-40B4-BE49-F238E27FC236}">
                <a16:creationId xmlns:a16="http://schemas.microsoft.com/office/drawing/2014/main" id="{5D121D9B-603F-4416-8A12-F230E06D8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943600"/>
            <a:ext cx="6324600" cy="642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1. Shift until the top of the stack is the right end of a handle</a:t>
            </a:r>
          </a:p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2. Find the left end of the handle and reduce </a:t>
            </a:r>
          </a:p>
        </p:txBody>
      </p:sp>
      <p:graphicFrame>
        <p:nvGraphicFramePr>
          <p:cNvPr id="178" name="Group 107">
            <a:extLst>
              <a:ext uri="{FF2B5EF4-FFF2-40B4-BE49-F238E27FC236}">
                <a16:creationId xmlns:a16="http://schemas.microsoft.com/office/drawing/2014/main" id="{DC9998A6-60FC-4A05-A2D4-C43A3B89BAB0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381125"/>
          <a:ext cx="2286000" cy="2365374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0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/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3">
            <a:extLst>
              <a:ext uri="{FF2B5EF4-FFF2-40B4-BE49-F238E27FC236}">
                <a16:creationId xmlns:a16="http://schemas.microsoft.com/office/drawing/2014/main" id="{F273C63C-5087-4AAC-8D81-AB9133194D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3250" name="Slide Number Placeholder 4">
            <a:extLst>
              <a:ext uri="{FF2B5EF4-FFF2-40B4-BE49-F238E27FC236}">
                <a16:creationId xmlns:a16="http://schemas.microsoft.com/office/drawing/2014/main" id="{24CFA559-310B-4288-8D40-96C278D1EC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9F009AB-12BE-40BA-AABD-2472089BAD14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3982AD99-3F2D-46B3-82A9-181AFDC65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Back to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x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-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2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*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y</a:t>
            </a:r>
            <a:endParaRPr lang="en-US" altLang="it-IT" u="sng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81923" name="Group 3">
            <a:extLst>
              <a:ext uri="{FF2B5EF4-FFF2-40B4-BE49-F238E27FC236}">
                <a16:creationId xmlns:a16="http://schemas.microsoft.com/office/drawing/2014/main" id="{0221C72F-3CB8-4B6B-B0FA-012C5B8EB426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184275"/>
          <a:ext cx="5486400" cy="4546605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8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6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7,3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7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6,3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6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3319" name="Text Box 106">
            <a:extLst>
              <a:ext uri="{FF2B5EF4-FFF2-40B4-BE49-F238E27FC236}">
                <a16:creationId xmlns:a16="http://schemas.microsoft.com/office/drawing/2014/main" id="{4465EF17-A9DE-4515-AA08-660E76BCA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943600"/>
            <a:ext cx="6324600" cy="642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1. Shift until the top of the stack is the right end of a handle</a:t>
            </a:r>
          </a:p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2. Find the left end of the handle and reduce </a:t>
            </a:r>
          </a:p>
        </p:txBody>
      </p:sp>
      <p:graphicFrame>
        <p:nvGraphicFramePr>
          <p:cNvPr id="178" name="Group 107">
            <a:extLst>
              <a:ext uri="{FF2B5EF4-FFF2-40B4-BE49-F238E27FC236}">
                <a16:creationId xmlns:a16="http://schemas.microsoft.com/office/drawing/2014/main" id="{02D5A424-F289-4C74-A917-90D9698B25E9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381125"/>
          <a:ext cx="2286000" cy="2365374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0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/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3">
            <a:extLst>
              <a:ext uri="{FF2B5EF4-FFF2-40B4-BE49-F238E27FC236}">
                <a16:creationId xmlns:a16="http://schemas.microsoft.com/office/drawing/2014/main" id="{BD267DE4-8510-4A03-AD51-5072D602F9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5298" name="Slide Number Placeholder 4">
            <a:extLst>
              <a:ext uri="{FF2B5EF4-FFF2-40B4-BE49-F238E27FC236}">
                <a16:creationId xmlns:a16="http://schemas.microsoft.com/office/drawing/2014/main" id="{A8D85970-4311-4F88-BD91-28838737D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2E2BE23-5FB1-48C5-AC0A-FD812CA58E29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BF82A17D-A646-4CB5-AB9C-80FCE4CFB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Back to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x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-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2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*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y</a:t>
            </a:r>
            <a:endParaRPr lang="en-US" altLang="it-IT" u="sng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83971" name="Group 3">
            <a:extLst>
              <a:ext uri="{FF2B5EF4-FFF2-40B4-BE49-F238E27FC236}">
                <a16:creationId xmlns:a16="http://schemas.microsoft.com/office/drawing/2014/main" id="{0254EC92-B27E-4CE3-A797-F2C18E59D373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184275"/>
          <a:ext cx="5486400" cy="4546605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8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6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7,3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7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6,3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6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5367" name="Text Box 106">
            <a:extLst>
              <a:ext uri="{FF2B5EF4-FFF2-40B4-BE49-F238E27FC236}">
                <a16:creationId xmlns:a16="http://schemas.microsoft.com/office/drawing/2014/main" id="{86F55625-1A7C-4BE5-8434-81DC7BC1B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943600"/>
            <a:ext cx="6324600" cy="642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1.</a:t>
            </a:r>
            <a:r>
              <a:rPr lang="en-US" altLang="it-IT" sz="1600"/>
              <a:t> </a:t>
            </a:r>
            <a:r>
              <a:rPr lang="en-US" altLang="it-IT" sz="1600">
                <a:solidFill>
                  <a:srgbClr val="B025A6"/>
                </a:solidFill>
              </a:rPr>
              <a:t>Shift until the top of the stack is the right end of a handle</a:t>
            </a:r>
            <a:endParaRPr lang="en-US" altLang="it-IT" sz="1600"/>
          </a:p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2.</a:t>
            </a:r>
            <a:r>
              <a:rPr lang="en-US" altLang="it-IT" sz="1600"/>
              <a:t> </a:t>
            </a:r>
            <a:r>
              <a:rPr lang="en-US" altLang="it-IT" sz="1600">
                <a:solidFill>
                  <a:srgbClr val="B025A6"/>
                </a:solidFill>
              </a:rPr>
              <a:t>Find the left end of the handle and reduce</a:t>
            </a:r>
            <a:r>
              <a:rPr lang="en-US" altLang="it-IT" sz="1600"/>
              <a:t> </a:t>
            </a:r>
          </a:p>
        </p:txBody>
      </p:sp>
      <p:graphicFrame>
        <p:nvGraphicFramePr>
          <p:cNvPr id="178" name="Group 107">
            <a:extLst>
              <a:ext uri="{FF2B5EF4-FFF2-40B4-BE49-F238E27FC236}">
                <a16:creationId xmlns:a16="http://schemas.microsoft.com/office/drawing/2014/main" id="{4E7B7D7D-024B-4206-B3AA-21745568AB1D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381125"/>
          <a:ext cx="2286000" cy="2365374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0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/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3">
            <a:extLst>
              <a:ext uri="{FF2B5EF4-FFF2-40B4-BE49-F238E27FC236}">
                <a16:creationId xmlns:a16="http://schemas.microsoft.com/office/drawing/2014/main" id="{67258F8B-A95C-4DBA-9B81-22F65FC5B8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7346" name="Slide Number Placeholder 4">
            <a:extLst>
              <a:ext uri="{FF2B5EF4-FFF2-40B4-BE49-F238E27FC236}">
                <a16:creationId xmlns:a16="http://schemas.microsoft.com/office/drawing/2014/main" id="{D96C8FD3-6961-48A3-A656-6A6C5C0AC5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9F8B206-AAB9-4425-A340-09A53E35DD3F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82EC1705-AAF3-4FD7-A72D-70FAF08A9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Back to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x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-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2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*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y</a:t>
            </a:r>
            <a:endParaRPr lang="en-US" altLang="it-IT" u="sng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57348" name="Text Box 3">
            <a:extLst>
              <a:ext uri="{FF2B5EF4-FFF2-40B4-BE49-F238E27FC236}">
                <a16:creationId xmlns:a16="http://schemas.microsoft.com/office/drawing/2014/main" id="{BF4E6E4C-2E34-4FF5-9BED-B4BF998FA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114800"/>
            <a:ext cx="1371600" cy="858838"/>
          </a:xfrm>
          <a:prstGeom prst="rect">
            <a:avLst/>
          </a:prstGeom>
          <a:noFill/>
          <a:ln w="9525">
            <a:solidFill>
              <a:srgbClr val="B025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/>
              <a:t>5 shifts + </a:t>
            </a:r>
          </a:p>
          <a:p>
            <a:pPr>
              <a:spcBef>
                <a:spcPct val="10000"/>
              </a:spcBef>
            </a:pPr>
            <a:r>
              <a:rPr lang="en-US" altLang="it-IT" sz="1600"/>
              <a:t>9 reduces + 1 accept</a:t>
            </a:r>
          </a:p>
        </p:txBody>
      </p:sp>
      <p:graphicFrame>
        <p:nvGraphicFramePr>
          <p:cNvPr id="86020" name="Group 4">
            <a:extLst>
              <a:ext uri="{FF2B5EF4-FFF2-40B4-BE49-F238E27FC236}">
                <a16:creationId xmlns:a16="http://schemas.microsoft.com/office/drawing/2014/main" id="{00C59369-92E0-4381-B76E-4A230A7BA191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184275"/>
          <a:ext cx="5486400" cy="4546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Handle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8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6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7,3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7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6,3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6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8,5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8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4,5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4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2,3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0,1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none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7417" name="Text Box 104">
            <a:extLst>
              <a:ext uri="{FF2B5EF4-FFF2-40B4-BE49-F238E27FC236}">
                <a16:creationId xmlns:a16="http://schemas.microsoft.com/office/drawing/2014/main" id="{2526D7D7-0B5C-4AA2-85CD-BCE6AE4DD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943600"/>
            <a:ext cx="6324600" cy="642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1.</a:t>
            </a:r>
            <a:r>
              <a:rPr lang="en-US" altLang="it-IT" sz="1600"/>
              <a:t> </a:t>
            </a:r>
            <a:r>
              <a:rPr lang="en-US" altLang="it-IT" sz="1600">
                <a:solidFill>
                  <a:srgbClr val="B025A6"/>
                </a:solidFill>
              </a:rPr>
              <a:t>Shift until the top of the stack is the right end of a handle</a:t>
            </a:r>
            <a:endParaRPr lang="en-US" altLang="it-IT" sz="1600"/>
          </a:p>
          <a:p>
            <a:pPr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it-IT" sz="1600">
                <a:solidFill>
                  <a:srgbClr val="003C75"/>
                </a:solidFill>
              </a:rPr>
              <a:t>2.</a:t>
            </a:r>
            <a:r>
              <a:rPr lang="en-US" altLang="it-IT" sz="1600"/>
              <a:t> </a:t>
            </a:r>
            <a:r>
              <a:rPr lang="en-US" altLang="it-IT" sz="1600">
                <a:solidFill>
                  <a:srgbClr val="B025A6"/>
                </a:solidFill>
              </a:rPr>
              <a:t>Find the left end of the handle and reduce</a:t>
            </a:r>
            <a:r>
              <a:rPr lang="en-US" altLang="it-IT" sz="1600"/>
              <a:t> </a:t>
            </a:r>
          </a:p>
        </p:txBody>
      </p:sp>
      <p:graphicFrame>
        <p:nvGraphicFramePr>
          <p:cNvPr id="176" name="Group 107">
            <a:extLst>
              <a:ext uri="{FF2B5EF4-FFF2-40B4-BE49-F238E27FC236}">
                <a16:creationId xmlns:a16="http://schemas.microsoft.com/office/drawing/2014/main" id="{1E56E139-4BF4-49C3-B3E7-B4DD0061CF85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381125"/>
          <a:ext cx="2286000" cy="2365375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0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+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/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2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32" marB="4573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32" marB="457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endParaRPr kumimoji="0" lang="en-US" sz="1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32" marB="4573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Footer Placeholder 3">
            <a:extLst>
              <a:ext uri="{FF2B5EF4-FFF2-40B4-BE49-F238E27FC236}">
                <a16:creationId xmlns:a16="http://schemas.microsoft.com/office/drawing/2014/main" id="{98ADC2DA-3410-4EAF-AA34-2D520EF5E0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9394" name="Slide Number Placeholder 4">
            <a:extLst>
              <a:ext uri="{FF2B5EF4-FFF2-40B4-BE49-F238E27FC236}">
                <a16:creationId xmlns:a16="http://schemas.microsoft.com/office/drawing/2014/main" id="{E94D86EE-46A3-49E1-B2F0-A86B6D2D10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461C31B-D17F-49A3-9CB7-5B13C16E8056}" type="slidenum">
              <a:rPr lang="en-US" altLang="it-IT"/>
              <a:pPr/>
              <a:t>23</a:t>
            </a:fld>
            <a:endParaRPr lang="en-US" altLang="it-IT"/>
          </a:p>
        </p:txBody>
      </p:sp>
      <p:grpSp>
        <p:nvGrpSpPr>
          <p:cNvPr id="59395" name="Group 145">
            <a:extLst>
              <a:ext uri="{FF2B5EF4-FFF2-40B4-BE49-F238E27FC236}">
                <a16:creationId xmlns:a16="http://schemas.microsoft.com/office/drawing/2014/main" id="{8FEFB4C2-2743-4E90-9CE5-2659502D0A69}"/>
              </a:ext>
            </a:extLst>
          </p:cNvPr>
          <p:cNvGrpSpPr>
            <a:grpSpLocks/>
          </p:cNvGrpSpPr>
          <p:nvPr/>
        </p:nvGrpSpPr>
        <p:grpSpPr bwMode="auto">
          <a:xfrm>
            <a:off x="5829300" y="1600200"/>
            <a:ext cx="2693988" cy="3265488"/>
            <a:chOff x="3696" y="1008"/>
            <a:chExt cx="1697" cy="2057"/>
          </a:xfrm>
        </p:grpSpPr>
        <p:grpSp>
          <p:nvGrpSpPr>
            <p:cNvPr id="59450" name="Group 3">
              <a:extLst>
                <a:ext uri="{FF2B5EF4-FFF2-40B4-BE49-F238E27FC236}">
                  <a16:creationId xmlns:a16="http://schemas.microsoft.com/office/drawing/2014/main" id="{192EDDCB-F6FD-42CE-97C2-760960654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7" y="1008"/>
              <a:ext cx="336" cy="385"/>
              <a:chOff x="4147" y="1008"/>
              <a:chExt cx="336" cy="385"/>
            </a:xfrm>
          </p:grpSpPr>
          <p:sp>
            <p:nvSpPr>
              <p:cNvPr id="59486" name="Oval 4">
                <a:extLst>
                  <a:ext uri="{FF2B5EF4-FFF2-40B4-BE49-F238E27FC236}">
                    <a16:creationId xmlns:a16="http://schemas.microsoft.com/office/drawing/2014/main" id="{C5494AEF-AE87-4DA7-A7A4-902E1A08F7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7" y="1008"/>
                <a:ext cx="336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Goal</a:t>
                </a:r>
                <a:endParaRPr lang="en-US" altLang="it-IT" sz="1600"/>
              </a:p>
            </p:txBody>
          </p:sp>
          <p:sp>
            <p:nvSpPr>
              <p:cNvPr id="59487" name="Line 5">
                <a:extLst>
                  <a:ext uri="{FF2B5EF4-FFF2-40B4-BE49-F238E27FC236}">
                    <a16:creationId xmlns:a16="http://schemas.microsoft.com/office/drawing/2014/main" id="{6CDC56D6-6F1E-4A2B-BC20-86B9CA125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18" y="1246"/>
                <a:ext cx="0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sp>
          <p:nvSpPr>
            <p:cNvPr id="59451" name="Oval 6">
              <a:extLst>
                <a:ext uri="{FF2B5EF4-FFF2-40B4-BE49-F238E27FC236}">
                  <a16:creationId xmlns:a16="http://schemas.microsoft.com/office/drawing/2014/main" id="{706BF232-4BBB-49C3-A8C8-DB1C9AF0A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825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/>
                <a:t>&lt;</a:t>
              </a:r>
              <a:r>
                <a:rPr lang="en-US" altLang="it-IT" sz="1600"/>
                <a:t>id,</a:t>
              </a:r>
              <a:r>
                <a:rPr lang="en-US" altLang="it-IT" sz="1600">
                  <a:solidFill>
                    <a:srgbClr val="FF0065"/>
                  </a:solidFill>
                </a:rPr>
                <a:t>x</a:t>
              </a:r>
              <a:r>
                <a:rPr lang="en-US" altLang="it-IT" sz="1400"/>
                <a:t>&gt;</a:t>
              </a:r>
              <a:endParaRPr lang="en-US" altLang="it-IT" sz="1600"/>
            </a:p>
          </p:txBody>
        </p:sp>
        <p:grpSp>
          <p:nvGrpSpPr>
            <p:cNvPr id="59452" name="Group 7">
              <a:extLst>
                <a:ext uri="{FF2B5EF4-FFF2-40B4-BE49-F238E27FC236}">
                  <a16:creationId xmlns:a16="http://schemas.microsoft.com/office/drawing/2014/main" id="{3EA249DE-1945-4537-9E0C-4F46420848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112"/>
              <a:ext cx="336" cy="382"/>
              <a:chOff x="3696" y="2112"/>
              <a:chExt cx="336" cy="382"/>
            </a:xfrm>
          </p:grpSpPr>
          <p:sp>
            <p:nvSpPr>
              <p:cNvPr id="59484" name="Oval 8">
                <a:extLst>
                  <a:ext uri="{FF2B5EF4-FFF2-40B4-BE49-F238E27FC236}">
                    <a16:creationId xmlns:a16="http://schemas.microsoft.com/office/drawing/2014/main" id="{93B0752B-2F92-42ED-906A-6979B30E6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2112"/>
                <a:ext cx="336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Term</a:t>
                </a:r>
                <a:endParaRPr lang="en-US" altLang="it-IT" sz="1600"/>
              </a:p>
            </p:txBody>
          </p:sp>
          <p:sp>
            <p:nvSpPr>
              <p:cNvPr id="59485" name="Line 9">
                <a:extLst>
                  <a:ext uri="{FF2B5EF4-FFF2-40B4-BE49-F238E27FC236}">
                    <a16:creationId xmlns:a16="http://schemas.microsoft.com/office/drawing/2014/main" id="{E558E001-C4F6-48E4-BF62-0780E4557D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4" y="2352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grpSp>
          <p:nvGrpSpPr>
            <p:cNvPr id="59453" name="Group 10">
              <a:extLst>
                <a:ext uri="{FF2B5EF4-FFF2-40B4-BE49-F238E27FC236}">
                  <a16:creationId xmlns:a16="http://schemas.microsoft.com/office/drawing/2014/main" id="{D65036B8-F433-4B6E-95EE-38578CC387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496"/>
              <a:ext cx="336" cy="381"/>
              <a:chOff x="3696" y="2496"/>
              <a:chExt cx="336" cy="381"/>
            </a:xfrm>
          </p:grpSpPr>
          <p:sp>
            <p:nvSpPr>
              <p:cNvPr id="59482" name="Oval 11">
                <a:extLst>
                  <a:ext uri="{FF2B5EF4-FFF2-40B4-BE49-F238E27FC236}">
                    <a16:creationId xmlns:a16="http://schemas.microsoft.com/office/drawing/2014/main" id="{09FE743D-319C-4D59-A973-18DBFA477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2496"/>
                <a:ext cx="336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Fact.</a:t>
                </a:r>
                <a:endParaRPr lang="en-US" altLang="it-IT" sz="1600"/>
              </a:p>
            </p:txBody>
          </p:sp>
          <p:sp>
            <p:nvSpPr>
              <p:cNvPr id="59483" name="Line 12">
                <a:extLst>
                  <a:ext uri="{FF2B5EF4-FFF2-40B4-BE49-F238E27FC236}">
                    <a16:creationId xmlns:a16="http://schemas.microsoft.com/office/drawing/2014/main" id="{6E42E42B-BB06-4FBF-BE98-C5362292B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4" y="2735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grpSp>
          <p:nvGrpSpPr>
            <p:cNvPr id="59454" name="Group 13">
              <a:extLst>
                <a:ext uri="{FF2B5EF4-FFF2-40B4-BE49-F238E27FC236}">
                  <a16:creationId xmlns:a16="http://schemas.microsoft.com/office/drawing/2014/main" id="{C5850C1D-0724-4701-9544-09959E329D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728"/>
              <a:ext cx="336" cy="383"/>
              <a:chOff x="3696" y="1728"/>
              <a:chExt cx="336" cy="383"/>
            </a:xfrm>
          </p:grpSpPr>
          <p:sp>
            <p:nvSpPr>
              <p:cNvPr id="59480" name="Line 14">
                <a:extLst>
                  <a:ext uri="{FF2B5EF4-FFF2-40B4-BE49-F238E27FC236}">
                    <a16:creationId xmlns:a16="http://schemas.microsoft.com/office/drawing/2014/main" id="{59D7FD1A-F490-47FD-B9DF-EC1B7DAB49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4" y="1969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9481" name="Oval 15">
                <a:extLst>
                  <a:ext uri="{FF2B5EF4-FFF2-40B4-BE49-F238E27FC236}">
                    <a16:creationId xmlns:a16="http://schemas.microsoft.com/office/drawing/2014/main" id="{C55B3501-26E5-4C23-A5E2-5DB4AFAB1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728"/>
                <a:ext cx="336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Expr</a:t>
                </a:r>
                <a:endParaRPr lang="en-US" altLang="it-IT" sz="1600"/>
              </a:p>
            </p:txBody>
          </p:sp>
        </p:grpSp>
        <p:sp>
          <p:nvSpPr>
            <p:cNvPr id="59455" name="Oval 16">
              <a:extLst>
                <a:ext uri="{FF2B5EF4-FFF2-40B4-BE49-F238E27FC236}">
                  <a16:creationId xmlns:a16="http://schemas.microsoft.com/office/drawing/2014/main" id="{907356D0-7997-481F-8B16-D81868172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9" y="1728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solidFill>
                    <a:srgbClr val="FF0065"/>
                  </a:solidFill>
                </a:rPr>
                <a:t>–</a:t>
              </a:r>
              <a:endParaRPr lang="en-US" altLang="it-IT" sz="1600"/>
            </a:p>
          </p:txBody>
        </p:sp>
        <p:grpSp>
          <p:nvGrpSpPr>
            <p:cNvPr id="59456" name="Group 17">
              <a:extLst>
                <a:ext uri="{FF2B5EF4-FFF2-40B4-BE49-F238E27FC236}">
                  <a16:creationId xmlns:a16="http://schemas.microsoft.com/office/drawing/2014/main" id="{12A0A941-DB20-4259-9FA5-1798EBC238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8" y="1392"/>
              <a:ext cx="663" cy="394"/>
              <a:chOff x="3978" y="1392"/>
              <a:chExt cx="663" cy="394"/>
            </a:xfrm>
          </p:grpSpPr>
          <p:sp>
            <p:nvSpPr>
              <p:cNvPr id="59475" name="Oval 18">
                <a:extLst>
                  <a:ext uri="{FF2B5EF4-FFF2-40B4-BE49-F238E27FC236}">
                    <a16:creationId xmlns:a16="http://schemas.microsoft.com/office/drawing/2014/main" id="{FADE1036-DBC4-4B3E-9DB3-B1961BB6C6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9" y="1392"/>
                <a:ext cx="336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Expr</a:t>
                </a:r>
                <a:endParaRPr lang="en-US" altLang="it-IT" sz="1600"/>
              </a:p>
            </p:txBody>
          </p:sp>
          <p:grpSp>
            <p:nvGrpSpPr>
              <p:cNvPr id="59476" name="Group 19">
                <a:extLst>
                  <a:ext uri="{FF2B5EF4-FFF2-40B4-BE49-F238E27FC236}">
                    <a16:creationId xmlns:a16="http://schemas.microsoft.com/office/drawing/2014/main" id="{53794095-2391-450B-B1D3-E0BE1991F3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1574"/>
                <a:ext cx="663" cy="212"/>
                <a:chOff x="3978" y="1574"/>
                <a:chExt cx="663" cy="212"/>
              </a:xfrm>
            </p:grpSpPr>
            <p:sp>
              <p:nvSpPr>
                <p:cNvPr id="59477" name="Line 20">
                  <a:extLst>
                    <a:ext uri="{FF2B5EF4-FFF2-40B4-BE49-F238E27FC236}">
                      <a16:creationId xmlns:a16="http://schemas.microsoft.com/office/drawing/2014/main" id="{03B8807D-A6B0-47BF-8E49-FD8987CF84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978" y="1574"/>
                  <a:ext cx="186" cy="1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59478" name="Line 21">
                  <a:extLst>
                    <a:ext uri="{FF2B5EF4-FFF2-40B4-BE49-F238E27FC236}">
                      <a16:creationId xmlns:a16="http://schemas.microsoft.com/office/drawing/2014/main" id="{5C4A9944-39CA-4213-8ED7-ABA255CFE1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1" y="1584"/>
                  <a:ext cx="180" cy="18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59479" name="Line 22">
                  <a:extLst>
                    <a:ext uri="{FF2B5EF4-FFF2-40B4-BE49-F238E27FC236}">
                      <a16:creationId xmlns:a16="http://schemas.microsoft.com/office/drawing/2014/main" id="{A6637DED-51EF-42C6-B51E-5A27BFCF44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17" y="1644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</p:grpSp>
        </p:grpSp>
        <p:sp>
          <p:nvSpPr>
            <p:cNvPr id="59457" name="Oval 23">
              <a:extLst>
                <a:ext uri="{FF2B5EF4-FFF2-40B4-BE49-F238E27FC236}">
                  <a16:creationId xmlns:a16="http://schemas.microsoft.com/office/drawing/2014/main" id="{147F0516-4A6C-496A-93F4-98B0B2835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2449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/>
                <a:t>&lt;</a:t>
              </a:r>
              <a:r>
                <a:rPr lang="en-US" altLang="it-IT" sz="1600"/>
                <a:t>id,</a:t>
              </a:r>
              <a:r>
                <a:rPr lang="en-US" altLang="it-IT" sz="1600">
                  <a:solidFill>
                    <a:srgbClr val="FF0065"/>
                  </a:solidFill>
                </a:rPr>
                <a:t>y</a:t>
              </a:r>
              <a:r>
                <a:rPr lang="en-US" altLang="it-IT" sz="1400"/>
                <a:t>&gt;</a:t>
              </a:r>
              <a:endParaRPr lang="en-US" altLang="it-IT" sz="1600"/>
            </a:p>
          </p:txBody>
        </p:sp>
        <p:sp>
          <p:nvSpPr>
            <p:cNvPr id="59458" name="Oval 24">
              <a:extLst>
                <a:ext uri="{FF2B5EF4-FFF2-40B4-BE49-F238E27FC236}">
                  <a16:creationId xmlns:a16="http://schemas.microsoft.com/office/drawing/2014/main" id="{BEDE87AE-4E58-4431-B15F-4DF596723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825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/>
                <a:t>&lt;</a:t>
              </a:r>
              <a:r>
                <a:rPr lang="en-US" altLang="it-IT" sz="1600"/>
                <a:t>num,</a:t>
              </a:r>
              <a:r>
                <a:rPr lang="en-US" altLang="it-IT" sz="1600">
                  <a:solidFill>
                    <a:srgbClr val="FF0065"/>
                  </a:solidFill>
                </a:rPr>
                <a:t>2</a:t>
              </a:r>
              <a:r>
                <a:rPr lang="en-US" altLang="it-IT" sz="1400"/>
                <a:t>&gt;</a:t>
              </a:r>
              <a:endParaRPr lang="en-US" altLang="it-IT" sz="1600"/>
            </a:p>
          </p:txBody>
        </p:sp>
        <p:grpSp>
          <p:nvGrpSpPr>
            <p:cNvPr id="59459" name="Group 25">
              <a:extLst>
                <a:ext uri="{FF2B5EF4-FFF2-40B4-BE49-F238E27FC236}">
                  <a16:creationId xmlns:a16="http://schemas.microsoft.com/office/drawing/2014/main" id="{350D622A-3A09-4BC5-A21D-606A0E598D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5" y="2496"/>
              <a:ext cx="336" cy="381"/>
              <a:chOff x="4155" y="2496"/>
              <a:chExt cx="336" cy="381"/>
            </a:xfrm>
          </p:grpSpPr>
          <p:sp>
            <p:nvSpPr>
              <p:cNvPr id="59473" name="Oval 26">
                <a:extLst>
                  <a:ext uri="{FF2B5EF4-FFF2-40B4-BE49-F238E27FC236}">
                    <a16:creationId xmlns:a16="http://schemas.microsoft.com/office/drawing/2014/main" id="{CECE536A-F0C2-400D-B826-84441375D4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5" y="2496"/>
                <a:ext cx="336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Fact.</a:t>
                </a:r>
                <a:endParaRPr lang="en-US" altLang="it-IT" sz="1600"/>
              </a:p>
            </p:txBody>
          </p:sp>
          <p:sp>
            <p:nvSpPr>
              <p:cNvPr id="59474" name="Line 27">
                <a:extLst>
                  <a:ext uri="{FF2B5EF4-FFF2-40B4-BE49-F238E27FC236}">
                    <a16:creationId xmlns:a16="http://schemas.microsoft.com/office/drawing/2014/main" id="{B925BBEE-B9DF-494C-A951-ED8F8827E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2735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grpSp>
          <p:nvGrpSpPr>
            <p:cNvPr id="59460" name="Group 28">
              <a:extLst>
                <a:ext uri="{FF2B5EF4-FFF2-40B4-BE49-F238E27FC236}">
                  <a16:creationId xmlns:a16="http://schemas.microsoft.com/office/drawing/2014/main" id="{42E2C9BA-2880-48A2-9B09-C397E9EEC7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0" y="2112"/>
              <a:ext cx="336" cy="389"/>
              <a:chOff x="5040" y="2112"/>
              <a:chExt cx="336" cy="389"/>
            </a:xfrm>
          </p:grpSpPr>
          <p:sp>
            <p:nvSpPr>
              <p:cNvPr id="59471" name="Line 29">
                <a:extLst>
                  <a:ext uri="{FF2B5EF4-FFF2-40B4-BE49-F238E27FC236}">
                    <a16:creationId xmlns:a16="http://schemas.microsoft.com/office/drawing/2014/main" id="{C024D42C-C222-4794-9F8D-6F5242801F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5" y="2359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9472" name="Oval 30">
                <a:extLst>
                  <a:ext uri="{FF2B5EF4-FFF2-40B4-BE49-F238E27FC236}">
                    <a16:creationId xmlns:a16="http://schemas.microsoft.com/office/drawing/2014/main" id="{66133E34-EB88-49CD-91CF-EECE1B4F4B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2112"/>
                <a:ext cx="336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Fact.</a:t>
                </a:r>
                <a:endParaRPr lang="en-US" altLang="it-IT" sz="1600"/>
              </a:p>
            </p:txBody>
          </p:sp>
        </p:grpSp>
        <p:grpSp>
          <p:nvGrpSpPr>
            <p:cNvPr id="59461" name="Group 31">
              <a:extLst>
                <a:ext uri="{FF2B5EF4-FFF2-40B4-BE49-F238E27FC236}">
                  <a16:creationId xmlns:a16="http://schemas.microsoft.com/office/drawing/2014/main" id="{29EAA11F-B1A8-4990-A61B-B2A0CCBD88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9" y="2112"/>
              <a:ext cx="336" cy="382"/>
              <a:chOff x="4149" y="2112"/>
              <a:chExt cx="336" cy="382"/>
            </a:xfrm>
          </p:grpSpPr>
          <p:sp>
            <p:nvSpPr>
              <p:cNvPr id="59469" name="Line 32">
                <a:extLst>
                  <a:ext uri="{FF2B5EF4-FFF2-40B4-BE49-F238E27FC236}">
                    <a16:creationId xmlns:a16="http://schemas.microsoft.com/office/drawing/2014/main" id="{46F3A49C-C4DE-4C8E-9EFE-8EC38A31C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2352"/>
                <a:ext cx="0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9470" name="Oval 33">
                <a:extLst>
                  <a:ext uri="{FF2B5EF4-FFF2-40B4-BE49-F238E27FC236}">
                    <a16:creationId xmlns:a16="http://schemas.microsoft.com/office/drawing/2014/main" id="{017A6191-B500-4AB2-AD41-715CE00FD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9" y="2112"/>
                <a:ext cx="336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Term</a:t>
                </a:r>
                <a:endParaRPr lang="en-US" altLang="it-IT" sz="1600"/>
              </a:p>
            </p:txBody>
          </p:sp>
        </p:grpSp>
        <p:grpSp>
          <p:nvGrpSpPr>
            <p:cNvPr id="59462" name="Group 34">
              <a:extLst>
                <a:ext uri="{FF2B5EF4-FFF2-40B4-BE49-F238E27FC236}">
                  <a16:creationId xmlns:a16="http://schemas.microsoft.com/office/drawing/2014/main" id="{C843962A-57E8-4F23-A220-DDF6DD83E9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9" y="1728"/>
              <a:ext cx="635" cy="417"/>
              <a:chOff x="4449" y="1728"/>
              <a:chExt cx="635" cy="417"/>
            </a:xfrm>
          </p:grpSpPr>
          <p:sp>
            <p:nvSpPr>
              <p:cNvPr id="59464" name="Oval 35">
                <a:extLst>
                  <a:ext uri="{FF2B5EF4-FFF2-40B4-BE49-F238E27FC236}">
                    <a16:creationId xmlns:a16="http://schemas.microsoft.com/office/drawing/2014/main" id="{B14226E6-7DFF-40E3-9E1D-39DB0364A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" y="1728"/>
                <a:ext cx="336" cy="24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400" i="1"/>
                  <a:t>Term</a:t>
                </a:r>
                <a:endParaRPr lang="en-US" altLang="it-IT" sz="1600"/>
              </a:p>
            </p:txBody>
          </p:sp>
          <p:grpSp>
            <p:nvGrpSpPr>
              <p:cNvPr id="59465" name="Group 36">
                <a:extLst>
                  <a:ext uri="{FF2B5EF4-FFF2-40B4-BE49-F238E27FC236}">
                    <a16:creationId xmlns:a16="http://schemas.microsoft.com/office/drawing/2014/main" id="{45D836D8-36AF-4BB6-ADE3-05685FF042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49" y="1941"/>
                <a:ext cx="635" cy="204"/>
                <a:chOff x="4449" y="1941"/>
                <a:chExt cx="635" cy="204"/>
              </a:xfrm>
            </p:grpSpPr>
            <p:sp>
              <p:nvSpPr>
                <p:cNvPr id="59466" name="Line 37">
                  <a:extLst>
                    <a:ext uri="{FF2B5EF4-FFF2-40B4-BE49-F238E27FC236}">
                      <a16:creationId xmlns:a16="http://schemas.microsoft.com/office/drawing/2014/main" id="{9C2E9F91-2ECF-49DA-9F1A-C60DBDB27A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82" y="1972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59467" name="Line 38">
                  <a:extLst>
                    <a:ext uri="{FF2B5EF4-FFF2-40B4-BE49-F238E27FC236}">
                      <a16:creationId xmlns:a16="http://schemas.microsoft.com/office/drawing/2014/main" id="{DC296771-94CB-4943-AA6F-45CFB19819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49" y="1941"/>
                  <a:ext cx="207" cy="2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59468" name="Line 39">
                  <a:extLst>
                    <a:ext uri="{FF2B5EF4-FFF2-40B4-BE49-F238E27FC236}">
                      <a16:creationId xmlns:a16="http://schemas.microsoft.com/office/drawing/2014/main" id="{FE47A95F-ED76-414E-9E1A-34E2716F17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81" y="1947"/>
                  <a:ext cx="203" cy="19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</p:grpSp>
        </p:grpSp>
        <p:sp>
          <p:nvSpPr>
            <p:cNvPr id="59463" name="Oval 40">
              <a:extLst>
                <a:ext uri="{FF2B5EF4-FFF2-40B4-BE49-F238E27FC236}">
                  <a16:creationId xmlns:a16="http://schemas.microsoft.com/office/drawing/2014/main" id="{7901E26B-1A51-41AA-BE1D-1BFCD94AE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112"/>
              <a:ext cx="336" cy="240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solidFill>
                    <a:srgbClr val="FF0000"/>
                  </a:solidFill>
                </a:rPr>
                <a:t>*</a:t>
              </a:r>
              <a:endParaRPr lang="en-US" altLang="it-IT" sz="1600"/>
            </a:p>
          </p:txBody>
        </p:sp>
      </p:grpSp>
      <p:graphicFrame>
        <p:nvGraphicFramePr>
          <p:cNvPr id="38030" name="Group 142">
            <a:extLst>
              <a:ext uri="{FF2B5EF4-FFF2-40B4-BE49-F238E27FC236}">
                <a16:creationId xmlns:a16="http://schemas.microsoft.com/office/drawing/2014/main" id="{04BDB0B2-4843-4D56-93EB-A9F2C3DCD8B0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184275"/>
          <a:ext cx="4495800" cy="4546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8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6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7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6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rgbClr val="FF006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8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4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6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9448" name="Rectangle 143">
            <a:extLst>
              <a:ext uri="{FF2B5EF4-FFF2-40B4-BE49-F238E27FC236}">
                <a16:creationId xmlns:a16="http://schemas.microsoft.com/office/drawing/2014/main" id="{729EFDDA-1B65-4598-9FAD-E56D78C18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Back to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x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-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2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*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  <a:r>
              <a:rPr lang="en-US" altLang="it-IT" u="sng">
                <a:solidFill>
                  <a:srgbClr val="FF0065"/>
                </a:solidFill>
                <a:sym typeface="Symbol" panose="05050102010706020507" pitchFamily="18" charset="2"/>
              </a:rPr>
              <a:t>y</a:t>
            </a:r>
            <a:endParaRPr lang="en-US" altLang="it-IT" u="sng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59449" name="Text Box 144">
            <a:extLst>
              <a:ext uri="{FF2B5EF4-FFF2-40B4-BE49-F238E27FC236}">
                <a16:creationId xmlns:a16="http://schemas.microsoft.com/office/drawing/2014/main" id="{8AF7DDB6-B4D5-4075-82E8-FC8F708A0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0" y="5105400"/>
            <a:ext cx="2667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Corresponding Parse Tree</a:t>
            </a:r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Footer Placeholder 3">
            <a:extLst>
              <a:ext uri="{FF2B5EF4-FFF2-40B4-BE49-F238E27FC236}">
                <a16:creationId xmlns:a16="http://schemas.microsoft.com/office/drawing/2014/main" id="{FAD66B61-A61E-48A1-98C5-EEE5614AB1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1442" name="Slide Number Placeholder 4">
            <a:extLst>
              <a:ext uri="{FF2B5EF4-FFF2-40B4-BE49-F238E27FC236}">
                <a16:creationId xmlns:a16="http://schemas.microsoft.com/office/drawing/2014/main" id="{7C24785B-9B22-4040-83EF-2D77C6956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F20FA68-56B3-49C3-8742-AAF6526BA608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21D6AE06-AE1B-4A4A-8B64-2A719B4A9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/>
              <a:t>An Important Lesson about Handles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F96BB875-66CA-4F76-982A-29CB3E16B7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A handle must be a substring of a sentential form </a:t>
            </a:r>
            <a:r>
              <a:rPr lang="en-US" altLang="it-IT">
                <a:sym typeface="Symbol" panose="05050102010706020507" pitchFamily="18" charset="2"/>
              </a:rPr>
              <a:t></a:t>
            </a:r>
            <a:r>
              <a:rPr lang="en-US" altLang="it-IT"/>
              <a:t> such that :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/>
              <a:t>It must match the right hand side </a:t>
            </a:r>
            <a:r>
              <a:rPr lang="en-US" altLang="it-IT">
                <a:sym typeface="Symbol" panose="05050102010706020507" pitchFamily="18" charset="2"/>
              </a:rPr>
              <a:t></a:t>
            </a:r>
            <a:r>
              <a:rPr lang="en-US" altLang="it-IT"/>
              <a:t> of some rule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2000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 </a:t>
            </a:r>
            <a:r>
              <a:rPr lang="en-US" altLang="it-IT">
                <a:sym typeface="Symbol" panose="05050102010706020507" pitchFamily="18" charset="2"/>
              </a:rPr>
              <a:t>; and 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There must be some rightmost derivation from the goal symbol that produces the sentential form </a:t>
            </a:r>
            <a:r>
              <a:rPr lang="en-US" altLang="it-IT"/>
              <a:t> with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 sz="2000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 </a:t>
            </a:r>
            <a:r>
              <a:rPr lang="en-US" altLang="it-IT">
                <a:sym typeface="Symbol" panose="05050102010706020507" pitchFamily="18" charset="2"/>
              </a:rPr>
              <a:t> as the last production applied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it-IT">
                <a:sym typeface="Symbol" panose="05050102010706020507" pitchFamily="18" charset="2"/>
              </a:rPr>
              <a:t>Simply looking for right hand sides that match strings is not good enough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Critical Question</a:t>
            </a:r>
            <a:r>
              <a:rPr lang="en-US" altLang="it-IT">
                <a:solidFill>
                  <a:srgbClr val="FF0000"/>
                </a:solidFill>
                <a:sym typeface="Symbol" panose="05050102010706020507" pitchFamily="18" charset="2"/>
              </a:rPr>
              <a:t>:</a:t>
            </a:r>
            <a:r>
              <a:rPr lang="en-US" altLang="it-IT">
                <a:solidFill>
                  <a:srgbClr val="996600"/>
                </a:solidFill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How can we know when we have found a handle without generating lots of different derivations?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Answer:</a:t>
            </a:r>
            <a:r>
              <a:rPr lang="en-US" altLang="it-IT">
                <a:sym typeface="Symbol" panose="05050102010706020507" pitchFamily="18" charset="2"/>
              </a:rPr>
              <a:t> We use left context, encoded in the sentential form, left context encoded in a “parser state”, and a lookahead at the next word in the input.  (Formally, 1 word beyond the handle.)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>
                <a:sym typeface="Symbol" panose="05050102010706020507" pitchFamily="18" charset="2"/>
              </a:rPr>
              <a:t>Parser states are derived by reachability analysis on grammar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>
                <a:sym typeface="Symbol" panose="05050102010706020507" pitchFamily="18" charset="2"/>
              </a:rPr>
              <a:t>We build all of this knowledge into a handle-recognizing DFA</a:t>
            </a:r>
          </a:p>
        </p:txBody>
      </p:sp>
      <p:sp>
        <p:nvSpPr>
          <p:cNvPr id="54278" name="TextBox 5">
            <a:extLst>
              <a:ext uri="{FF2B5EF4-FFF2-40B4-BE49-F238E27FC236}">
                <a16:creationId xmlns:a16="http://schemas.microsoft.com/office/drawing/2014/main" id="{59B72FC6-D9CC-4A7F-A5A4-D6CC401E1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019800"/>
            <a:ext cx="7848600" cy="584200"/>
          </a:xfrm>
          <a:prstGeom prst="rect">
            <a:avLst/>
          </a:prstGeom>
          <a:solidFill>
            <a:srgbClr val="D9D9D9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solidFill>
                  <a:srgbClr val="003C75"/>
                </a:solidFill>
              </a:rPr>
              <a:t>The additional left context is precisely the reason that LR(1) grammars express a superset of the languages that can be expressed as LL(1) grammars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Footer Placeholder 1">
            <a:extLst>
              <a:ext uri="{FF2B5EF4-FFF2-40B4-BE49-F238E27FC236}">
                <a16:creationId xmlns:a16="http://schemas.microsoft.com/office/drawing/2014/main" id="{91A24F59-4D98-4D95-85BA-33F97DB177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3490" name="Slide Number Placeholder 2">
            <a:extLst>
              <a:ext uri="{FF2B5EF4-FFF2-40B4-BE49-F238E27FC236}">
                <a16:creationId xmlns:a16="http://schemas.microsoft.com/office/drawing/2014/main" id="{2A3CD2C5-D063-4641-819C-D77EB97C2C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6AFE2FC-0AFA-4B41-8731-6072BFF4A61E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7048E456-4390-4537-9BEC-322594972CC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/>
              <a:t>LR(1)</a:t>
            </a:r>
            <a:r>
              <a:rPr lang="en-US" altLang="it-IT"/>
              <a:t> Parsers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8F12E6F0-2FAB-4FC8-81B5-E12645D455B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it-IT" sz="1800"/>
              <a:t>LR(1)</a:t>
            </a:r>
            <a:r>
              <a:rPr lang="en-US" altLang="it-IT"/>
              <a:t> parsers are table-driven, shift-reduce parsers that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     use a limited right context </a:t>
            </a:r>
            <a:r>
              <a:rPr lang="en-US" altLang="it-IT" sz="1800"/>
              <a:t>(1 token)</a:t>
            </a:r>
            <a:r>
              <a:rPr lang="en-US" altLang="it-IT"/>
              <a:t> for handle recognition</a:t>
            </a:r>
          </a:p>
          <a:p>
            <a:pPr eaLnBrk="1" hangingPunct="1"/>
            <a:r>
              <a:rPr lang="en-US" altLang="it-IT" sz="1800"/>
              <a:t>The class of grammars that these parsers</a:t>
            </a:r>
            <a:r>
              <a:rPr lang="en-US" altLang="it-IT"/>
              <a:t> recognize is called the set of </a:t>
            </a:r>
            <a:r>
              <a:rPr lang="en-US" altLang="it-IT" sz="1800"/>
              <a:t>LR(1</a:t>
            </a:r>
            <a:r>
              <a:rPr lang="en-US" altLang="it-IT"/>
              <a:t>) grammars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 i="1"/>
              <a:t>Informal definition:</a:t>
            </a: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A grammar is LR(1) if, given a rightmost derivation</a:t>
            </a:r>
          </a:p>
          <a:p>
            <a:pPr algn="ctr"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 i="1">
                <a:sym typeface="Symbol" panose="05050102010706020507" pitchFamily="18" charset="2"/>
              </a:rPr>
              <a:t>S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i="1" baseline="-25000">
                <a:sym typeface="Symbol" panose="05050102010706020507" pitchFamily="18" charset="2"/>
              </a:rPr>
              <a:t>0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i="1" baseline="-25000"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i="1" baseline="-25000">
                <a:sym typeface="Symbol" panose="05050102010706020507" pitchFamily="18" charset="2"/>
              </a:rPr>
              <a:t>2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…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i="1" baseline="-25000">
                <a:sym typeface="Symbol" panose="05050102010706020507" pitchFamily="18" charset="2"/>
              </a:rPr>
              <a:t>n–1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</a:t>
            </a:r>
            <a:r>
              <a:rPr lang="en-US" altLang="it-IT" i="1" baseline="-25000">
                <a:sym typeface="Symbol" panose="05050102010706020507" pitchFamily="18" charset="2"/>
              </a:rPr>
              <a:t>n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 i="1">
                <a:sym typeface="Symbol" panose="05050102010706020507" pitchFamily="18" charset="2"/>
              </a:rPr>
              <a:t>sentence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  <a:buFont typeface="Times" panose="02020603050405020304" pitchFamily="18" charset="0"/>
              <a:buNone/>
            </a:pPr>
            <a:r>
              <a:rPr lang="en-US" altLang="it-IT"/>
              <a:t>We can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1.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isolate the handle of each right-sentential form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</a:t>
            </a:r>
            <a:r>
              <a:rPr lang="en-US" altLang="it-IT" i="1" baseline="-25000">
                <a:solidFill>
                  <a:srgbClr val="003C75"/>
                </a:solidFill>
                <a:sym typeface="Symbol" panose="05050102010706020507" pitchFamily="18" charset="2"/>
              </a:rPr>
              <a:t>i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,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and </a:t>
            </a:r>
          </a:p>
          <a:p>
            <a:pPr lvl="1" eaLnBrk="1" hangingPunct="1">
              <a:buFontTx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2.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determine the production by which to reduce,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by scanning </a:t>
            </a:r>
            <a:r>
              <a:rPr lang="en-US" altLang="it-IT" i="1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from </a:t>
            </a:r>
            <a:r>
              <a:rPr lang="en-US" altLang="it-IT" i="1">
                <a:sym typeface="Symbol" panose="05050102010706020507" pitchFamily="18" charset="2"/>
              </a:rPr>
              <a:t>left-to-right</a:t>
            </a:r>
            <a:r>
              <a:rPr lang="en-US" altLang="it-IT">
                <a:sym typeface="Symbol" panose="05050102010706020507" pitchFamily="18" charset="2"/>
              </a:rPr>
              <a:t>, going at most </a:t>
            </a:r>
            <a:r>
              <a:rPr lang="en-US" altLang="it-IT" i="1">
                <a:sym typeface="Symbol" panose="05050102010706020507" pitchFamily="18" charset="2"/>
              </a:rPr>
              <a:t>1 </a:t>
            </a:r>
            <a:r>
              <a:rPr lang="en-US" altLang="it-IT">
                <a:sym typeface="Symbol" panose="05050102010706020507" pitchFamily="18" charset="2"/>
              </a:rPr>
              <a:t>symbol beyond the right end of the handle of </a:t>
            </a:r>
            <a:r>
              <a:rPr lang="en-US" altLang="it-IT" i="1" baseline="-25000">
                <a:sym typeface="Symbol" panose="05050102010706020507" pitchFamily="18" charset="2"/>
              </a:rPr>
              <a:t>i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63493" name="TextBox 5">
            <a:extLst>
              <a:ext uri="{FF2B5EF4-FFF2-40B4-BE49-F238E27FC236}">
                <a16:creationId xmlns:a16="http://schemas.microsoft.com/office/drawing/2014/main" id="{7830E3DA-C9DB-4B94-BC0E-13ACD0C2C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38800"/>
            <a:ext cx="7620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 i="1"/>
              <a:t>LR(1) means </a:t>
            </a:r>
            <a:r>
              <a:rPr lang="en-US" altLang="it-IT" sz="1600" i="1">
                <a:solidFill>
                  <a:srgbClr val="003C75"/>
                </a:solidFill>
              </a:rPr>
              <a:t>left-to-right scan </a:t>
            </a:r>
            <a:r>
              <a:rPr lang="en-US" altLang="it-IT" sz="1600" i="1"/>
              <a:t>of the input, </a:t>
            </a:r>
            <a:r>
              <a:rPr lang="en-US" altLang="it-IT" sz="1600" i="1">
                <a:solidFill>
                  <a:srgbClr val="003C75"/>
                </a:solidFill>
              </a:rPr>
              <a:t>rightmost derivation </a:t>
            </a:r>
            <a:r>
              <a:rPr lang="en-US" altLang="it-IT" sz="1600" i="1"/>
              <a:t>(in reverse), and </a:t>
            </a:r>
            <a:r>
              <a:rPr lang="en-US" altLang="it-IT" sz="1600" i="1">
                <a:solidFill>
                  <a:srgbClr val="003C75"/>
                </a:solidFill>
              </a:rPr>
              <a:t>1</a:t>
            </a:r>
            <a:r>
              <a:rPr lang="en-US" altLang="it-IT" sz="1600" i="1"/>
              <a:t> word of lookahead.</a:t>
            </a:r>
          </a:p>
        </p:txBody>
      </p:sp>
      <p:sp>
        <p:nvSpPr>
          <p:cNvPr id="63494" name="Octagon 6">
            <a:extLst>
              <a:ext uri="{FF2B5EF4-FFF2-40B4-BE49-F238E27FC236}">
                <a16:creationId xmlns:a16="http://schemas.microsoft.com/office/drawing/2014/main" id="{E246CFEE-FDA8-4117-96D4-F1A8669C9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943600"/>
            <a:ext cx="533400" cy="5334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Footer Placeholder 1">
            <a:extLst>
              <a:ext uri="{FF2B5EF4-FFF2-40B4-BE49-F238E27FC236}">
                <a16:creationId xmlns:a16="http://schemas.microsoft.com/office/drawing/2014/main" id="{6834D024-2721-4112-BE14-D41C110449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5538" name="Slide Number Placeholder 2">
            <a:extLst>
              <a:ext uri="{FF2B5EF4-FFF2-40B4-BE49-F238E27FC236}">
                <a16:creationId xmlns:a16="http://schemas.microsoft.com/office/drawing/2014/main" id="{2E3B8730-E7BE-4E72-A433-D4243F7250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80E698A-C92E-4697-BE87-6B046C283125}" type="slidenum">
              <a:rPr lang="en-US" altLang="it-IT"/>
              <a:pPr/>
              <a:t>26</a:t>
            </a:fld>
            <a:endParaRPr lang="en-US" altLang="it-IT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C6902911-B65E-4DA8-97C3-CF58A8306F7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LR(1)</a:t>
            </a:r>
            <a:r>
              <a:rPr lang="en-US" altLang="it-IT">
                <a:sym typeface="Symbol" panose="05050102010706020507" pitchFamily="18" charset="2"/>
              </a:rPr>
              <a:t> Parsers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C3BD801-46F8-46AB-A3D3-081F56817B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table-driven LR(1) parser looks like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9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Tables </a:t>
            </a:r>
            <a:r>
              <a:rPr lang="en-US" altLang="it-IT" i="1" u="sng">
                <a:sym typeface="Symbol" panose="05050102010706020507" pitchFamily="18" charset="2"/>
              </a:rPr>
              <a:t>can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be built by hand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However, this is a perfect task to automate</a:t>
            </a:r>
          </a:p>
        </p:txBody>
      </p:sp>
      <p:sp>
        <p:nvSpPr>
          <p:cNvPr id="65541" name="Rectangle 4">
            <a:extLst>
              <a:ext uri="{FF2B5EF4-FFF2-40B4-BE49-F238E27FC236}">
                <a16:creationId xmlns:a16="http://schemas.microsoft.com/office/drawing/2014/main" id="{C8D1AF0D-9909-4A79-AF6F-7F2F69F60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905000"/>
            <a:ext cx="1447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/>
              <a:t>Scanner</a:t>
            </a:r>
          </a:p>
        </p:txBody>
      </p:sp>
      <p:sp>
        <p:nvSpPr>
          <p:cNvPr id="65542" name="Rectangle 5">
            <a:extLst>
              <a:ext uri="{FF2B5EF4-FFF2-40B4-BE49-F238E27FC236}">
                <a16:creationId xmlns:a16="http://schemas.microsoft.com/office/drawing/2014/main" id="{479CA129-7142-4349-B67C-CE67E2026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905000"/>
            <a:ext cx="1447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lnSpc>
                <a:spcPct val="95000"/>
              </a:lnSpc>
            </a:pPr>
            <a:r>
              <a:rPr lang="en-US" altLang="it-IT" sz="1600"/>
              <a:t>Table-driven</a:t>
            </a:r>
          </a:p>
          <a:p>
            <a:pPr algn="ctr">
              <a:lnSpc>
                <a:spcPct val="95000"/>
              </a:lnSpc>
            </a:pPr>
            <a:r>
              <a:rPr lang="en-US" altLang="it-IT" sz="1600"/>
              <a:t>Parser</a:t>
            </a:r>
          </a:p>
        </p:txBody>
      </p:sp>
      <p:sp>
        <p:nvSpPr>
          <p:cNvPr id="65543" name="Rectangle 6">
            <a:extLst>
              <a:ext uri="{FF2B5EF4-FFF2-40B4-BE49-F238E27FC236}">
                <a16:creationId xmlns:a16="http://schemas.microsoft.com/office/drawing/2014/main" id="{B74BE7E9-637B-44A2-A11D-0795A529F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429000"/>
            <a:ext cx="14478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/>
              <a:t>A</a:t>
            </a:r>
            <a:r>
              <a:rPr lang="en-US" altLang="it-IT" sz="1400"/>
              <a:t>CTION</a:t>
            </a:r>
            <a:r>
              <a:rPr lang="en-US" altLang="it-IT" sz="1600"/>
              <a:t> &amp; </a:t>
            </a:r>
          </a:p>
          <a:p>
            <a:pPr algn="ctr"/>
            <a:r>
              <a:rPr lang="en-US" altLang="it-IT" sz="1600"/>
              <a:t>G</a:t>
            </a:r>
            <a:r>
              <a:rPr lang="en-US" altLang="it-IT" sz="1400"/>
              <a:t>OTO</a:t>
            </a:r>
            <a:endParaRPr lang="en-US" altLang="it-IT" sz="1600"/>
          </a:p>
          <a:p>
            <a:pPr algn="ctr"/>
            <a:r>
              <a:rPr lang="en-US" altLang="it-IT" sz="1600"/>
              <a:t>Tables</a:t>
            </a:r>
          </a:p>
        </p:txBody>
      </p:sp>
      <p:sp>
        <p:nvSpPr>
          <p:cNvPr id="65544" name="Rectangle 7">
            <a:extLst>
              <a:ext uri="{FF2B5EF4-FFF2-40B4-BE49-F238E27FC236}">
                <a16:creationId xmlns:a16="http://schemas.microsoft.com/office/drawing/2014/main" id="{B223720C-34E1-4B8A-A6D0-2F9821A81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619500"/>
            <a:ext cx="1447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lnSpc>
                <a:spcPct val="95000"/>
              </a:lnSpc>
            </a:pPr>
            <a:r>
              <a:rPr lang="en-US" altLang="it-IT" sz="1600"/>
              <a:t>Parser</a:t>
            </a:r>
          </a:p>
          <a:p>
            <a:pPr algn="ctr">
              <a:lnSpc>
                <a:spcPct val="95000"/>
              </a:lnSpc>
            </a:pPr>
            <a:r>
              <a:rPr lang="en-US" altLang="it-IT" sz="1600"/>
              <a:t>Generator</a:t>
            </a:r>
          </a:p>
        </p:txBody>
      </p:sp>
      <p:sp>
        <p:nvSpPr>
          <p:cNvPr id="65545" name="Line 8">
            <a:extLst>
              <a:ext uri="{FF2B5EF4-FFF2-40B4-BE49-F238E27FC236}">
                <a16:creationId xmlns:a16="http://schemas.microsoft.com/office/drawing/2014/main" id="{1B8D92A3-E1D8-41E9-9709-6A653AE830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21138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5546" name="Line 9">
            <a:extLst>
              <a:ext uri="{FF2B5EF4-FFF2-40B4-BE49-F238E27FC236}">
                <a16:creationId xmlns:a16="http://schemas.microsoft.com/office/drawing/2014/main" id="{58017471-020A-46DC-A432-D5274EEE9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209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5547" name="Line 10">
            <a:extLst>
              <a:ext uri="{FF2B5EF4-FFF2-40B4-BE49-F238E27FC236}">
                <a16:creationId xmlns:a16="http://schemas.microsoft.com/office/drawing/2014/main" id="{8E60DEF0-BEFE-4CCB-8874-2C1E4D8A88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9068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5548" name="Line 11">
            <a:extLst>
              <a:ext uri="{FF2B5EF4-FFF2-40B4-BE49-F238E27FC236}">
                <a16:creationId xmlns:a16="http://schemas.microsoft.com/office/drawing/2014/main" id="{F279E4DB-C72C-4D00-9282-13D1E9998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9068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5549" name="Line 12">
            <a:extLst>
              <a:ext uri="{FF2B5EF4-FFF2-40B4-BE49-F238E27FC236}">
                <a16:creationId xmlns:a16="http://schemas.microsoft.com/office/drawing/2014/main" id="{0CF23C21-11FA-413B-9784-31BED5B99B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2514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5550" name="Line 13">
            <a:extLst>
              <a:ext uri="{FF2B5EF4-FFF2-40B4-BE49-F238E27FC236}">
                <a16:creationId xmlns:a16="http://schemas.microsoft.com/office/drawing/2014/main" id="{CD2CFF6F-FBFE-4556-8E86-657097A0C5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2514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5551" name="Line 14">
            <a:extLst>
              <a:ext uri="{FF2B5EF4-FFF2-40B4-BE49-F238E27FC236}">
                <a16:creationId xmlns:a16="http://schemas.microsoft.com/office/drawing/2014/main" id="{C32F7BA9-7DE5-4EA3-A58E-A02D345F4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209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5552" name="Text Box 15">
            <a:extLst>
              <a:ext uri="{FF2B5EF4-FFF2-40B4-BE49-F238E27FC236}">
                <a16:creationId xmlns:a16="http://schemas.microsoft.com/office/drawing/2014/main" id="{EA784D8D-01F3-4D75-8AA3-928C4718F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1887538"/>
            <a:ext cx="1219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 i="1"/>
              <a:t>source</a:t>
            </a:r>
          </a:p>
          <a:p>
            <a:pPr algn="ctr"/>
            <a:r>
              <a:rPr lang="en-US" altLang="it-IT" sz="1600" i="1"/>
              <a:t>code</a:t>
            </a:r>
          </a:p>
        </p:txBody>
      </p:sp>
      <p:sp>
        <p:nvSpPr>
          <p:cNvPr id="65553" name="Text Box 16">
            <a:extLst>
              <a:ext uri="{FF2B5EF4-FFF2-40B4-BE49-F238E27FC236}">
                <a16:creationId xmlns:a16="http://schemas.microsoft.com/office/drawing/2014/main" id="{03DAABE6-164A-46B6-9CFD-2ABF7B026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3603625"/>
            <a:ext cx="1219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it-IT" sz="1600" i="1"/>
              <a:t>grammar</a:t>
            </a:r>
            <a:endParaRPr lang="en-US" altLang="it-IT" sz="1600"/>
          </a:p>
        </p:txBody>
      </p:sp>
      <p:sp>
        <p:nvSpPr>
          <p:cNvPr id="65554" name="Text Box 17">
            <a:extLst>
              <a:ext uri="{FF2B5EF4-FFF2-40B4-BE49-F238E27FC236}">
                <a16:creationId xmlns:a16="http://schemas.microsoft.com/office/drawing/2014/main" id="{DD0E150D-A4FD-471A-9815-90F8665B5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75" y="2047875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it-IT" sz="1400" i="1"/>
              <a:t>IR</a:t>
            </a:r>
            <a:endParaRPr lang="en-US" altLang="it-IT" sz="1600"/>
          </a:p>
        </p:txBody>
      </p:sp>
    </p:spTree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Footer Placeholder 1">
            <a:extLst>
              <a:ext uri="{FF2B5EF4-FFF2-40B4-BE49-F238E27FC236}">
                <a16:creationId xmlns:a16="http://schemas.microsoft.com/office/drawing/2014/main" id="{3D0B8C9D-4D4A-494F-83E0-EE17FC67A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7586" name="Slide Number Placeholder 2">
            <a:extLst>
              <a:ext uri="{FF2B5EF4-FFF2-40B4-BE49-F238E27FC236}">
                <a16:creationId xmlns:a16="http://schemas.microsoft.com/office/drawing/2014/main" id="{25C34B43-FCBC-4D57-847B-7FF7E1782C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EAD5077-94C9-487A-8E47-133C3E09C369}" type="slidenum">
              <a:rPr lang="en-US" altLang="it-IT"/>
              <a:pPr/>
              <a:t>27</a:t>
            </a:fld>
            <a:endParaRPr lang="en-US" altLang="it-IT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5177FBFD-C1FF-4172-9188-E7BFB16DA4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LR(1)</a:t>
            </a:r>
            <a:r>
              <a:rPr lang="en-US" altLang="it-IT">
                <a:sym typeface="Symbol" panose="05050102010706020507" pitchFamily="18" charset="2"/>
              </a:rPr>
              <a:t> Parsers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0D396631-B63B-4DAF-B60D-EF03088B189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 table-driven LR(1) parser looks like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9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Tables </a:t>
            </a:r>
            <a:r>
              <a:rPr lang="en-US" altLang="it-IT" i="1" u="sng">
                <a:sym typeface="Symbol" panose="05050102010706020507" pitchFamily="18" charset="2"/>
              </a:rPr>
              <a:t>can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be built by hand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However, this is a perfect task to automate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Just like automating construction of scanners …</a:t>
            </a:r>
          </a:p>
          <a:p>
            <a:pPr algn="r" eaLnBrk="1" hangingPunct="1">
              <a:spcBef>
                <a:spcPct val="60000"/>
              </a:spcBef>
              <a:buFont typeface="Times" panose="02020603050405020304" pitchFamily="18" charset="0"/>
              <a:buNone/>
            </a:pPr>
            <a:r>
              <a:rPr lang="en-US" altLang="it-IT" sz="1600" i="1">
                <a:solidFill>
                  <a:srgbClr val="FF0065"/>
                </a:solidFill>
                <a:sym typeface="Symbol" panose="05050102010706020507" pitchFamily="18" charset="2"/>
              </a:rPr>
              <a:t>Except that compiler writers use parser generators …</a:t>
            </a:r>
            <a:endParaRPr lang="en-US" altLang="it-IT">
              <a:sym typeface="Symbol" panose="05050102010706020507" pitchFamily="18" charset="2"/>
            </a:endParaRPr>
          </a:p>
        </p:txBody>
      </p:sp>
      <p:sp>
        <p:nvSpPr>
          <p:cNvPr id="67589" name="Rectangle 4">
            <a:extLst>
              <a:ext uri="{FF2B5EF4-FFF2-40B4-BE49-F238E27FC236}">
                <a16:creationId xmlns:a16="http://schemas.microsoft.com/office/drawing/2014/main" id="{F2FCE060-9405-4E93-856A-6EF352A1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905000"/>
            <a:ext cx="1447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/>
              <a:t>Scanner</a:t>
            </a:r>
          </a:p>
        </p:txBody>
      </p:sp>
      <p:sp>
        <p:nvSpPr>
          <p:cNvPr id="67590" name="Rectangle 5">
            <a:extLst>
              <a:ext uri="{FF2B5EF4-FFF2-40B4-BE49-F238E27FC236}">
                <a16:creationId xmlns:a16="http://schemas.microsoft.com/office/drawing/2014/main" id="{DCC93BBA-BF20-4CB0-B092-BB9966DA4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905000"/>
            <a:ext cx="1447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lnSpc>
                <a:spcPct val="95000"/>
              </a:lnSpc>
            </a:pPr>
            <a:r>
              <a:rPr lang="en-US" altLang="it-IT" sz="1600"/>
              <a:t>Table-driven</a:t>
            </a:r>
          </a:p>
          <a:p>
            <a:pPr algn="ctr">
              <a:lnSpc>
                <a:spcPct val="95000"/>
              </a:lnSpc>
            </a:pPr>
            <a:r>
              <a:rPr lang="en-US" altLang="it-IT" sz="1600"/>
              <a:t>Parser</a:t>
            </a:r>
          </a:p>
        </p:txBody>
      </p:sp>
      <p:sp>
        <p:nvSpPr>
          <p:cNvPr id="67591" name="Rectangle 6">
            <a:extLst>
              <a:ext uri="{FF2B5EF4-FFF2-40B4-BE49-F238E27FC236}">
                <a16:creationId xmlns:a16="http://schemas.microsoft.com/office/drawing/2014/main" id="{4C778533-4FF2-4C51-99B2-29D67682C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429000"/>
            <a:ext cx="14478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/>
              <a:t>A</a:t>
            </a:r>
            <a:r>
              <a:rPr lang="en-US" altLang="it-IT" sz="1400"/>
              <a:t>CTION</a:t>
            </a:r>
            <a:r>
              <a:rPr lang="en-US" altLang="it-IT" sz="1600"/>
              <a:t> &amp; </a:t>
            </a:r>
          </a:p>
          <a:p>
            <a:pPr algn="ctr"/>
            <a:r>
              <a:rPr lang="en-US" altLang="it-IT" sz="1600"/>
              <a:t>G</a:t>
            </a:r>
            <a:r>
              <a:rPr lang="en-US" altLang="it-IT" sz="1400"/>
              <a:t>OTO</a:t>
            </a:r>
            <a:endParaRPr lang="en-US" altLang="it-IT" sz="1600"/>
          </a:p>
          <a:p>
            <a:pPr algn="ctr"/>
            <a:r>
              <a:rPr lang="en-US" altLang="it-IT" sz="1600"/>
              <a:t>Tables</a:t>
            </a:r>
          </a:p>
        </p:txBody>
      </p:sp>
      <p:sp>
        <p:nvSpPr>
          <p:cNvPr id="67592" name="Rectangle 7">
            <a:extLst>
              <a:ext uri="{FF2B5EF4-FFF2-40B4-BE49-F238E27FC236}">
                <a16:creationId xmlns:a16="http://schemas.microsoft.com/office/drawing/2014/main" id="{39131A3F-DEAB-42FC-8C8E-D29DEEB34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619500"/>
            <a:ext cx="1447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lnSpc>
                <a:spcPct val="95000"/>
              </a:lnSpc>
            </a:pPr>
            <a:r>
              <a:rPr lang="en-US" altLang="it-IT" sz="1600"/>
              <a:t>Parser</a:t>
            </a:r>
          </a:p>
          <a:p>
            <a:pPr algn="ctr">
              <a:lnSpc>
                <a:spcPct val="95000"/>
              </a:lnSpc>
            </a:pPr>
            <a:r>
              <a:rPr lang="en-US" altLang="it-IT" sz="1600"/>
              <a:t>Generator</a:t>
            </a:r>
          </a:p>
        </p:txBody>
      </p:sp>
      <p:sp>
        <p:nvSpPr>
          <p:cNvPr id="67593" name="Line 8">
            <a:extLst>
              <a:ext uri="{FF2B5EF4-FFF2-40B4-BE49-F238E27FC236}">
                <a16:creationId xmlns:a16="http://schemas.microsoft.com/office/drawing/2014/main" id="{4D4B59B9-7ED5-4549-977E-AC133391B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21138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7594" name="Line 9">
            <a:extLst>
              <a:ext uri="{FF2B5EF4-FFF2-40B4-BE49-F238E27FC236}">
                <a16:creationId xmlns:a16="http://schemas.microsoft.com/office/drawing/2014/main" id="{19039462-2F2F-4438-9CE4-560DFE0D99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209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7595" name="Line 10">
            <a:extLst>
              <a:ext uri="{FF2B5EF4-FFF2-40B4-BE49-F238E27FC236}">
                <a16:creationId xmlns:a16="http://schemas.microsoft.com/office/drawing/2014/main" id="{BDC0167F-29DF-4F0D-8549-B0159BA324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9068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7596" name="Line 11">
            <a:extLst>
              <a:ext uri="{FF2B5EF4-FFF2-40B4-BE49-F238E27FC236}">
                <a16:creationId xmlns:a16="http://schemas.microsoft.com/office/drawing/2014/main" id="{A0DEFBBD-741D-45CE-A427-8D2FD597F0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9068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7597" name="Line 12">
            <a:extLst>
              <a:ext uri="{FF2B5EF4-FFF2-40B4-BE49-F238E27FC236}">
                <a16:creationId xmlns:a16="http://schemas.microsoft.com/office/drawing/2014/main" id="{7064E8B9-B4BD-444D-865E-36C0E3B3DC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2514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7598" name="Line 13">
            <a:extLst>
              <a:ext uri="{FF2B5EF4-FFF2-40B4-BE49-F238E27FC236}">
                <a16:creationId xmlns:a16="http://schemas.microsoft.com/office/drawing/2014/main" id="{2FDE2D84-B4F4-47C3-8027-0918619FB4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2514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7599" name="Line 14">
            <a:extLst>
              <a:ext uri="{FF2B5EF4-FFF2-40B4-BE49-F238E27FC236}">
                <a16:creationId xmlns:a16="http://schemas.microsoft.com/office/drawing/2014/main" id="{90F4EE78-64BE-4B25-B950-39C5134B16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209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7600" name="Text Box 15">
            <a:extLst>
              <a:ext uri="{FF2B5EF4-FFF2-40B4-BE49-F238E27FC236}">
                <a16:creationId xmlns:a16="http://schemas.microsoft.com/office/drawing/2014/main" id="{5B3381D1-5BB3-487F-A69E-99B6BB6A5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1887538"/>
            <a:ext cx="1219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 sz="1600" i="1"/>
              <a:t>source</a:t>
            </a:r>
          </a:p>
          <a:p>
            <a:pPr algn="ctr"/>
            <a:r>
              <a:rPr lang="en-US" altLang="it-IT" sz="1600" i="1"/>
              <a:t>code</a:t>
            </a:r>
          </a:p>
        </p:txBody>
      </p:sp>
      <p:sp>
        <p:nvSpPr>
          <p:cNvPr id="67601" name="Text Box 16">
            <a:extLst>
              <a:ext uri="{FF2B5EF4-FFF2-40B4-BE49-F238E27FC236}">
                <a16:creationId xmlns:a16="http://schemas.microsoft.com/office/drawing/2014/main" id="{12824F31-39C2-4DF2-8F8F-D51B2BE40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3603625"/>
            <a:ext cx="1219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it-IT" sz="1600" i="1"/>
              <a:t>grammar</a:t>
            </a:r>
            <a:endParaRPr lang="en-US" altLang="it-IT" sz="1600"/>
          </a:p>
        </p:txBody>
      </p:sp>
      <p:sp>
        <p:nvSpPr>
          <p:cNvPr id="67602" name="Text Box 17">
            <a:extLst>
              <a:ext uri="{FF2B5EF4-FFF2-40B4-BE49-F238E27FC236}">
                <a16:creationId xmlns:a16="http://schemas.microsoft.com/office/drawing/2014/main" id="{FC819B9C-870A-4D03-974E-8729797EF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75" y="2047875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it-IT" sz="1400" i="1"/>
              <a:t>IR</a:t>
            </a:r>
            <a:endParaRPr lang="en-US" altLang="it-IT" sz="1600"/>
          </a:p>
        </p:txBody>
      </p:sp>
      <p:sp>
        <p:nvSpPr>
          <p:cNvPr id="67603" name="Rectangle 18">
            <a:extLst>
              <a:ext uri="{FF2B5EF4-FFF2-40B4-BE49-F238E27FC236}">
                <a16:creationId xmlns:a16="http://schemas.microsoft.com/office/drawing/2014/main" id="{670375B1-D63A-4B82-8B2E-E6FA73D49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778125"/>
            <a:ext cx="1447800" cy="609600"/>
          </a:xfrm>
          <a:prstGeom prst="rect">
            <a:avLst/>
          </a:prstGeom>
          <a:noFill/>
          <a:ln w="9525">
            <a:solidFill>
              <a:srgbClr val="B025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lnSpc>
                <a:spcPct val="95000"/>
              </a:lnSpc>
            </a:pPr>
            <a:r>
              <a:rPr lang="en-US" altLang="it-IT" sz="1600">
                <a:solidFill>
                  <a:srgbClr val="003C75"/>
                </a:solidFill>
              </a:rPr>
              <a:t>Scanner</a:t>
            </a:r>
          </a:p>
          <a:p>
            <a:pPr algn="ctr">
              <a:lnSpc>
                <a:spcPct val="95000"/>
              </a:lnSpc>
            </a:pPr>
            <a:r>
              <a:rPr lang="en-US" altLang="it-IT" sz="1600">
                <a:solidFill>
                  <a:srgbClr val="003C75"/>
                </a:solidFill>
              </a:rPr>
              <a:t>Generator</a:t>
            </a:r>
          </a:p>
        </p:txBody>
      </p:sp>
      <p:sp>
        <p:nvSpPr>
          <p:cNvPr id="67604" name="Line 19">
            <a:extLst>
              <a:ext uri="{FF2B5EF4-FFF2-40B4-BE49-F238E27FC236}">
                <a16:creationId xmlns:a16="http://schemas.microsoft.com/office/drawing/2014/main" id="{BF767A3A-64A6-4542-ABAF-F3D3748A3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046413"/>
            <a:ext cx="762000" cy="0"/>
          </a:xfrm>
          <a:prstGeom prst="line">
            <a:avLst/>
          </a:prstGeom>
          <a:noFill/>
          <a:ln w="9525">
            <a:solidFill>
              <a:srgbClr val="003C7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7605" name="Text Box 20">
            <a:extLst>
              <a:ext uri="{FF2B5EF4-FFF2-40B4-BE49-F238E27FC236}">
                <a16:creationId xmlns:a16="http://schemas.microsoft.com/office/drawing/2014/main" id="{88BA3006-A0FC-42DD-B81E-91238E4C7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2762250"/>
            <a:ext cx="12192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it-IT" sz="1600" i="1">
                <a:solidFill>
                  <a:srgbClr val="003C75"/>
                </a:solidFill>
              </a:rPr>
              <a:t>regular</a:t>
            </a:r>
          </a:p>
          <a:p>
            <a:pPr algn="ctr">
              <a:spcBef>
                <a:spcPct val="5000"/>
              </a:spcBef>
            </a:pPr>
            <a:r>
              <a:rPr lang="en-US" altLang="it-IT" sz="1600" i="1">
                <a:solidFill>
                  <a:srgbClr val="003C75"/>
                </a:solidFill>
              </a:rPr>
              <a:t>expression</a:t>
            </a:r>
            <a:endParaRPr lang="en-US" altLang="it-IT" sz="1600">
              <a:solidFill>
                <a:srgbClr val="003C75"/>
              </a:solidFill>
            </a:endParaRPr>
          </a:p>
        </p:txBody>
      </p:sp>
      <p:sp>
        <p:nvSpPr>
          <p:cNvPr id="67606" name="Line 21">
            <a:extLst>
              <a:ext uri="{FF2B5EF4-FFF2-40B4-BE49-F238E27FC236}">
                <a16:creationId xmlns:a16="http://schemas.microsoft.com/office/drawing/2014/main" id="{BBAE6842-8B6D-42D7-992F-5E23BD9B9D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514600"/>
            <a:ext cx="0" cy="228600"/>
          </a:xfrm>
          <a:prstGeom prst="line">
            <a:avLst/>
          </a:prstGeom>
          <a:noFill/>
          <a:ln w="9525">
            <a:solidFill>
              <a:srgbClr val="003C7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7607" name="Line 22">
            <a:extLst>
              <a:ext uri="{FF2B5EF4-FFF2-40B4-BE49-F238E27FC236}">
                <a16:creationId xmlns:a16="http://schemas.microsoft.com/office/drawing/2014/main" id="{7A705104-83D1-419C-A229-62A6D99B9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514600"/>
            <a:ext cx="0" cy="228600"/>
          </a:xfrm>
          <a:prstGeom prst="line">
            <a:avLst/>
          </a:prstGeom>
          <a:noFill/>
          <a:ln w="9525">
            <a:solidFill>
              <a:srgbClr val="003C7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Footer Placeholder 1">
            <a:extLst>
              <a:ext uri="{FF2B5EF4-FFF2-40B4-BE49-F238E27FC236}">
                <a16:creationId xmlns:a16="http://schemas.microsoft.com/office/drawing/2014/main" id="{45EDA643-5806-40B2-A43F-6C8FF9F54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9634" name="Slide Number Placeholder 2">
            <a:extLst>
              <a:ext uri="{FF2B5EF4-FFF2-40B4-BE49-F238E27FC236}">
                <a16:creationId xmlns:a16="http://schemas.microsoft.com/office/drawing/2014/main" id="{A10AD7E9-815C-488C-9604-232FEB17E2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F22D61E-0C4E-4310-B5A0-F8FC5F78E452}" type="slidenum">
              <a:rPr lang="en-US" altLang="it-IT"/>
              <a:pPr/>
              <a:t>28</a:t>
            </a:fld>
            <a:endParaRPr lang="en-US" altLang="it-IT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559DCF4C-127A-4B48-B419-E70842BAAEF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LR(1)</a:t>
            </a:r>
            <a:r>
              <a:rPr lang="en-US" altLang="it-IT">
                <a:sym typeface="Symbol" panose="05050102010706020507" pitchFamily="18" charset="2"/>
              </a:rPr>
              <a:t> Skeleton Parser</a:t>
            </a:r>
            <a:endParaRPr lang="en-US" altLang="it-IT" sz="2000">
              <a:sym typeface="Symbol" panose="05050102010706020507" pitchFamily="18" charset="2"/>
            </a:endParaRPr>
          </a:p>
        </p:txBody>
      </p:sp>
      <p:sp>
        <p:nvSpPr>
          <p:cNvPr id="69636" name="Text Box 3">
            <a:extLst>
              <a:ext uri="{FF2B5EF4-FFF2-40B4-BE49-F238E27FC236}">
                <a16:creationId xmlns:a16="http://schemas.microsoft.com/office/drawing/2014/main" id="{29055646-65D7-46FC-9210-FA07C6532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47775"/>
            <a:ext cx="4800600" cy="4521200"/>
          </a:xfrm>
          <a:prstGeom prst="rect">
            <a:avLst/>
          </a:prstGeom>
          <a:noFill/>
          <a:ln w="19050">
            <a:solidFill>
              <a:srgbClr val="003C7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it-IT" sz="1400"/>
              <a:t>stack.push(</a:t>
            </a:r>
            <a:r>
              <a:rPr lang="en-US" altLang="it-IT" sz="1200"/>
              <a:t>INVALID</a:t>
            </a:r>
            <a:r>
              <a:rPr lang="en-US" altLang="it-IT" sz="1400"/>
              <a:t>);</a:t>
            </a:r>
          </a:p>
          <a:p>
            <a:pPr>
              <a:lnSpc>
                <a:spcPct val="95000"/>
              </a:lnSpc>
            </a:pPr>
            <a:r>
              <a:rPr lang="en-US" altLang="it-IT" sz="1400"/>
              <a:t>stack.push(</a:t>
            </a:r>
            <a:r>
              <a:rPr lang="en-US" altLang="it-IT" sz="1400" i="1"/>
              <a:t>s</a:t>
            </a:r>
            <a:r>
              <a:rPr lang="en-US" altLang="it-IT" sz="1400" i="1" baseline="-25000"/>
              <a:t>0</a:t>
            </a:r>
            <a:r>
              <a:rPr lang="en-US" altLang="it-IT" sz="1400"/>
              <a:t>);                              </a:t>
            </a:r>
            <a:r>
              <a:rPr lang="en-US" altLang="it-IT" sz="1400">
                <a:solidFill>
                  <a:srgbClr val="003C75"/>
                </a:solidFill>
              </a:rPr>
              <a:t>// initial state</a:t>
            </a:r>
          </a:p>
          <a:p>
            <a:pPr>
              <a:lnSpc>
                <a:spcPct val="95000"/>
              </a:lnSpc>
            </a:pPr>
            <a:r>
              <a:rPr lang="en-US" altLang="it-IT" sz="1400"/>
              <a:t>token </a:t>
            </a:r>
            <a:r>
              <a:rPr lang="en-US" altLang="it-IT" sz="1400">
                <a:sym typeface="Symbol" panose="05050102010706020507" pitchFamily="18" charset="2"/>
              </a:rPr>
              <a:t>= scanner.next_token();</a:t>
            </a:r>
          </a:p>
          <a:p>
            <a:pPr>
              <a:lnSpc>
                <a:spcPct val="95000"/>
              </a:lnSpc>
              <a:spcBef>
                <a:spcPct val="20000"/>
              </a:spcBef>
            </a:pPr>
            <a:r>
              <a:rPr lang="en-US" altLang="it-IT" sz="1400">
                <a:sym typeface="Symbol" panose="05050102010706020507" pitchFamily="18" charset="2"/>
              </a:rPr>
              <a:t>loop forever {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   	s = stack.top();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   	if ( ACTION[s,token] == </a:t>
            </a:r>
            <a:r>
              <a:rPr lang="en-US" altLang="it-IT" sz="1400" i="1">
                <a:sym typeface="Symbol" panose="05050102010706020507" pitchFamily="18" charset="2"/>
              </a:rPr>
              <a:t>“</a:t>
            </a:r>
            <a:r>
              <a:rPr lang="en-US" altLang="it-IT" sz="1400" i="1">
                <a:solidFill>
                  <a:srgbClr val="003C75"/>
                </a:solidFill>
                <a:sym typeface="Symbol" panose="05050102010706020507" pitchFamily="18" charset="2"/>
              </a:rPr>
              <a:t>reduce</a:t>
            </a:r>
            <a:r>
              <a:rPr lang="en-US" altLang="it-IT" sz="1400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 sz="1400" i="1">
                <a:solidFill>
                  <a:srgbClr val="003C75"/>
                </a:solidFill>
                <a:sym typeface="Symbol" panose="05050102010706020507" pitchFamily="18" charset="2"/>
              </a:rPr>
              <a:t>A</a:t>
            </a:r>
            <a:r>
              <a:rPr lang="en-US" altLang="it-IT" sz="1400">
                <a:solidFill>
                  <a:srgbClr val="003C75"/>
                </a:solidFill>
                <a:sym typeface="Symbol" panose="05050102010706020507" pitchFamily="18" charset="2"/>
              </a:rPr>
              <a:t></a:t>
            </a:r>
            <a:r>
              <a:rPr lang="en-US" altLang="it-IT" sz="1400">
                <a:sym typeface="Symbol" panose="05050102010706020507" pitchFamily="18" charset="2"/>
              </a:rPr>
              <a:t>” ) then {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	    stack.popnum(2*||);       </a:t>
            </a:r>
            <a:r>
              <a:rPr lang="en-US" altLang="it-IT" sz="1400">
                <a:solidFill>
                  <a:srgbClr val="003C75"/>
                </a:solidFill>
                <a:sym typeface="Symbol" panose="05050102010706020507" pitchFamily="18" charset="2"/>
              </a:rPr>
              <a:t>// pop 2*|| symbols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             s = stack.top(); 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             stack.push(</a:t>
            </a:r>
            <a:r>
              <a:rPr lang="en-US" altLang="it-IT" sz="1400" i="1">
                <a:sym typeface="Symbol" panose="05050102010706020507" pitchFamily="18" charset="2"/>
              </a:rPr>
              <a:t>A</a:t>
            </a:r>
            <a:r>
              <a:rPr lang="en-US" altLang="it-IT" sz="1400">
                <a:sym typeface="Symbol" panose="05050102010706020507" pitchFamily="18" charset="2"/>
              </a:rPr>
              <a:t>);                 </a:t>
            </a:r>
            <a:r>
              <a:rPr lang="en-US" altLang="it-IT" sz="1400">
                <a:solidFill>
                  <a:srgbClr val="003C75"/>
                </a:solidFill>
                <a:sym typeface="Symbol" panose="05050102010706020507" pitchFamily="18" charset="2"/>
              </a:rPr>
              <a:t>// push A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             stack.push(GOTO[s,</a:t>
            </a:r>
            <a:r>
              <a:rPr lang="en-US" altLang="it-IT" sz="1400" i="1">
                <a:sym typeface="Symbol" panose="05050102010706020507" pitchFamily="18" charset="2"/>
              </a:rPr>
              <a:t>A</a:t>
            </a:r>
            <a:r>
              <a:rPr lang="en-US" altLang="it-IT" sz="1400">
                <a:sym typeface="Symbol" panose="05050102010706020507" pitchFamily="18" charset="2"/>
              </a:rPr>
              <a:t>]);</a:t>
            </a:r>
            <a:r>
              <a:rPr lang="en-US" altLang="it-IT" sz="1400">
                <a:solidFill>
                  <a:srgbClr val="FF0000"/>
                </a:solidFill>
                <a:sym typeface="Symbol" panose="05050102010706020507" pitchFamily="18" charset="2"/>
              </a:rPr>
              <a:t>  </a:t>
            </a:r>
            <a:r>
              <a:rPr lang="en-US" altLang="it-IT" sz="1400">
                <a:solidFill>
                  <a:srgbClr val="003C75"/>
                </a:solidFill>
                <a:sym typeface="Symbol" panose="05050102010706020507" pitchFamily="18" charset="2"/>
              </a:rPr>
              <a:t>// push next state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	}</a:t>
            </a:r>
          </a:p>
          <a:p>
            <a:pPr>
              <a:lnSpc>
                <a:spcPct val="95000"/>
              </a:lnSpc>
              <a:spcBef>
                <a:spcPct val="20000"/>
              </a:spcBef>
            </a:pPr>
            <a:r>
              <a:rPr lang="en-US" altLang="it-IT" sz="1400">
                <a:sym typeface="Symbol" panose="05050102010706020507" pitchFamily="18" charset="2"/>
              </a:rPr>
              <a:t>   	else if ( ACTION[s,token] == “</a:t>
            </a:r>
            <a:r>
              <a:rPr lang="en-US" altLang="it-IT" sz="1400" i="1">
                <a:solidFill>
                  <a:srgbClr val="003C75"/>
                </a:solidFill>
                <a:sym typeface="Symbol" panose="05050102010706020507" pitchFamily="18" charset="2"/>
              </a:rPr>
              <a:t>shift s</a:t>
            </a:r>
            <a:r>
              <a:rPr lang="en-US" altLang="it-IT" sz="1400" i="1" baseline="-25000">
                <a:solidFill>
                  <a:srgbClr val="003C75"/>
                </a:solidFill>
                <a:sym typeface="Symbol" panose="05050102010706020507" pitchFamily="18" charset="2"/>
              </a:rPr>
              <a:t>i</a:t>
            </a:r>
            <a:r>
              <a:rPr lang="en-US" altLang="it-IT" sz="1400">
                <a:sym typeface="Symbol" panose="05050102010706020507" pitchFamily="18" charset="2"/>
              </a:rPr>
              <a:t>” ) then {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		stack.push(token); stack.push(</a:t>
            </a:r>
            <a:r>
              <a:rPr lang="en-US" altLang="it-IT" sz="1400" i="1">
                <a:sym typeface="Symbol" panose="05050102010706020507" pitchFamily="18" charset="2"/>
              </a:rPr>
              <a:t>s</a:t>
            </a:r>
            <a:r>
              <a:rPr lang="en-US" altLang="it-IT" sz="1400" i="1" baseline="-25000">
                <a:sym typeface="Symbol" panose="05050102010706020507" pitchFamily="18" charset="2"/>
              </a:rPr>
              <a:t>i</a:t>
            </a:r>
            <a:r>
              <a:rPr lang="en-US" altLang="it-IT" sz="1400">
                <a:sym typeface="Symbol" panose="05050102010706020507" pitchFamily="18" charset="2"/>
              </a:rPr>
              <a:t>);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		token  scanner.next_token();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	}</a:t>
            </a:r>
          </a:p>
          <a:p>
            <a:pPr>
              <a:lnSpc>
                <a:spcPct val="95000"/>
              </a:lnSpc>
              <a:spcBef>
                <a:spcPct val="20000"/>
              </a:spcBef>
            </a:pPr>
            <a:r>
              <a:rPr lang="en-US" altLang="it-IT" sz="1400">
                <a:sym typeface="Symbol" panose="05050102010706020507" pitchFamily="18" charset="2"/>
              </a:rPr>
              <a:t>   	else if ( ACTION[s,token] == “</a:t>
            </a:r>
            <a:r>
              <a:rPr lang="en-US" altLang="it-IT" sz="1400" i="1">
                <a:solidFill>
                  <a:srgbClr val="003C75"/>
                </a:solidFill>
                <a:sym typeface="Symbol" panose="05050102010706020507" pitchFamily="18" charset="2"/>
              </a:rPr>
              <a:t>accept</a:t>
            </a:r>
            <a:r>
              <a:rPr lang="en-US" altLang="it-IT" sz="1400">
                <a:sym typeface="Symbol" panose="05050102010706020507" pitchFamily="18" charset="2"/>
              </a:rPr>
              <a:t>”  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				&amp; token == EOF )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		then break; 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	else throw a syntax error;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} </a:t>
            </a:r>
          </a:p>
          <a:p>
            <a:pPr>
              <a:lnSpc>
                <a:spcPct val="95000"/>
              </a:lnSpc>
            </a:pPr>
            <a:r>
              <a:rPr lang="en-US" altLang="it-IT" sz="1400">
                <a:sym typeface="Symbol" panose="05050102010706020507" pitchFamily="18" charset="2"/>
              </a:rPr>
              <a:t>report success;</a:t>
            </a:r>
          </a:p>
        </p:txBody>
      </p:sp>
      <p:sp>
        <p:nvSpPr>
          <p:cNvPr id="69637" name="Text Box 6">
            <a:extLst>
              <a:ext uri="{FF2B5EF4-FFF2-40B4-BE49-F238E27FC236}">
                <a16:creationId xmlns:a16="http://schemas.microsoft.com/office/drawing/2014/main" id="{6782E2CF-0D5C-4709-80D2-938EF5510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520825"/>
            <a:ext cx="3124200" cy="4044950"/>
          </a:xfrm>
          <a:prstGeom prst="rect">
            <a:avLst/>
          </a:prstGeom>
          <a:noFill/>
          <a:ln w="19050">
            <a:solidFill>
              <a:srgbClr val="003C7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173038" indent="-173038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  <a:buClr>
                <a:srgbClr val="0000CC"/>
              </a:buClr>
              <a:buSzPct val="120000"/>
            </a:pPr>
            <a:r>
              <a:rPr lang="en-US" altLang="it-IT" sz="1600" i="1"/>
              <a:t>The skeleton parser</a:t>
            </a:r>
            <a:r>
              <a:rPr lang="en-US" altLang="it-IT" sz="1600"/>
              <a:t> </a:t>
            </a: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1600"/>
              <a:t>relies on a stack &amp; a scanner</a:t>
            </a: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1600"/>
              <a:t>uses two tables, called ACTION &amp; GOTO</a:t>
            </a: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 sz="1600"/>
              <a:t>	</a:t>
            </a:r>
            <a:r>
              <a:rPr lang="en-US" altLang="it-IT" sz="1400">
                <a:solidFill>
                  <a:srgbClr val="003C75"/>
                </a:solidFill>
              </a:rPr>
              <a:t>ACTION:</a:t>
            </a:r>
            <a:r>
              <a:rPr lang="en-US" altLang="it-IT" sz="1000">
                <a:solidFill>
                  <a:srgbClr val="003C75"/>
                </a:solidFill>
              </a:rPr>
              <a:t> </a:t>
            </a:r>
            <a:r>
              <a:rPr lang="en-US" altLang="it-IT" sz="1400">
                <a:solidFill>
                  <a:srgbClr val="003C75"/>
                </a:solidFill>
              </a:rPr>
              <a:t>state</a:t>
            </a:r>
            <a:r>
              <a:rPr lang="en-US" altLang="it-IT" sz="1000">
                <a:solidFill>
                  <a:srgbClr val="003C75"/>
                </a:solidFill>
              </a:rPr>
              <a:t> </a:t>
            </a:r>
            <a:r>
              <a:rPr lang="en-US" altLang="it-IT" sz="1400">
                <a:solidFill>
                  <a:srgbClr val="003C75"/>
                </a:solidFill>
              </a:rPr>
              <a:t>x</a:t>
            </a:r>
            <a:r>
              <a:rPr lang="en-US" altLang="it-IT" sz="1000">
                <a:solidFill>
                  <a:srgbClr val="003C75"/>
                </a:solidFill>
              </a:rPr>
              <a:t> </a:t>
            </a:r>
            <a:r>
              <a:rPr lang="en-US" altLang="it-IT" sz="1400">
                <a:solidFill>
                  <a:srgbClr val="003C75"/>
                </a:solidFill>
              </a:rPr>
              <a:t>word</a:t>
            </a:r>
            <a:r>
              <a:rPr lang="en-US" altLang="it-IT" sz="1000">
                <a:solidFill>
                  <a:srgbClr val="003C75"/>
                </a:solidFill>
              </a:rPr>
              <a:t> </a:t>
            </a:r>
            <a:r>
              <a:rPr lang="en-US" altLang="it-IT" sz="1400">
                <a:solidFill>
                  <a:srgbClr val="003C75"/>
                </a:solidFill>
                <a:sym typeface="Symbol" panose="05050102010706020507" pitchFamily="18" charset="2"/>
              </a:rPr>
              <a:t></a:t>
            </a:r>
            <a:r>
              <a:rPr lang="en-US" altLang="it-IT" sz="1000">
                <a:solidFill>
                  <a:srgbClr val="003C75"/>
                </a:solidFill>
              </a:rPr>
              <a:t> </a:t>
            </a:r>
            <a:r>
              <a:rPr lang="en-US" altLang="it-IT" sz="1400">
                <a:solidFill>
                  <a:srgbClr val="003C75"/>
                </a:solidFill>
              </a:rPr>
              <a:t>state</a:t>
            </a: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None/>
            </a:pPr>
            <a:r>
              <a:rPr lang="en-US" altLang="it-IT" sz="1400">
                <a:solidFill>
                  <a:srgbClr val="003C75"/>
                </a:solidFill>
              </a:rPr>
              <a:t>    GOTO:</a:t>
            </a:r>
            <a:r>
              <a:rPr lang="en-US" altLang="it-IT" sz="1000">
                <a:solidFill>
                  <a:srgbClr val="003C75"/>
                </a:solidFill>
              </a:rPr>
              <a:t> </a:t>
            </a:r>
            <a:r>
              <a:rPr lang="en-US" altLang="it-IT" sz="1400">
                <a:solidFill>
                  <a:srgbClr val="003C75"/>
                </a:solidFill>
              </a:rPr>
              <a:t>state</a:t>
            </a:r>
            <a:r>
              <a:rPr lang="en-US" altLang="it-IT" sz="1000">
                <a:solidFill>
                  <a:srgbClr val="003C75"/>
                </a:solidFill>
              </a:rPr>
              <a:t> </a:t>
            </a:r>
            <a:r>
              <a:rPr lang="en-US" altLang="it-IT" sz="1400">
                <a:solidFill>
                  <a:srgbClr val="003C75"/>
                </a:solidFill>
              </a:rPr>
              <a:t>x</a:t>
            </a:r>
            <a:r>
              <a:rPr lang="en-US" altLang="it-IT" sz="1000">
                <a:solidFill>
                  <a:srgbClr val="003C75"/>
                </a:solidFill>
              </a:rPr>
              <a:t> </a:t>
            </a:r>
            <a:r>
              <a:rPr lang="en-US" altLang="it-IT" sz="1400" i="1">
                <a:solidFill>
                  <a:srgbClr val="003C75"/>
                </a:solidFill>
              </a:rPr>
              <a:t>NT</a:t>
            </a:r>
            <a:r>
              <a:rPr lang="en-US" altLang="it-IT" sz="1000">
                <a:solidFill>
                  <a:srgbClr val="003C75"/>
                </a:solidFill>
              </a:rPr>
              <a:t> </a:t>
            </a:r>
            <a:r>
              <a:rPr lang="en-US" altLang="it-IT" sz="1400">
                <a:solidFill>
                  <a:srgbClr val="003C75"/>
                </a:solidFill>
                <a:sym typeface="Symbol" panose="05050102010706020507" pitchFamily="18" charset="2"/>
              </a:rPr>
              <a:t></a:t>
            </a:r>
            <a:r>
              <a:rPr lang="en-US" altLang="it-IT" sz="1000">
                <a:solidFill>
                  <a:srgbClr val="003C75"/>
                </a:solidFill>
              </a:rPr>
              <a:t> </a:t>
            </a:r>
            <a:r>
              <a:rPr lang="en-US" altLang="it-IT" sz="1400">
                <a:solidFill>
                  <a:srgbClr val="003C75"/>
                </a:solidFill>
              </a:rPr>
              <a:t>state</a:t>
            </a:r>
            <a:endParaRPr lang="en-US" altLang="it-IT" sz="1600">
              <a:solidFill>
                <a:srgbClr val="003C75"/>
              </a:solidFill>
            </a:endParaRP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1600"/>
              <a:t>shifts |</a:t>
            </a:r>
            <a:r>
              <a:rPr lang="en-US" altLang="it-IT" sz="1600" i="1"/>
              <a:t>words</a:t>
            </a:r>
            <a:r>
              <a:rPr lang="en-US" altLang="it-IT" sz="1600"/>
              <a:t>| times</a:t>
            </a: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1600"/>
              <a:t>reduces |derivation| times</a:t>
            </a: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1600"/>
              <a:t>accepts at most once</a:t>
            </a: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1600"/>
              <a:t>detects errors by failure of the other three cases </a:t>
            </a:r>
          </a:p>
          <a:p>
            <a:pPr>
              <a:spcBef>
                <a:spcPct val="25000"/>
              </a:spcBef>
              <a:buClr>
                <a:srgbClr val="003C75"/>
              </a:buClr>
              <a:buSzPct val="120000"/>
              <a:buFont typeface="Times" panose="02020603050405020304" pitchFamily="18" charset="0"/>
              <a:buChar char="•"/>
            </a:pPr>
            <a:r>
              <a:rPr lang="en-US" altLang="it-IT" sz="1600"/>
              <a:t>follows basic scheme for shift-reduce parsing from last lecture</a:t>
            </a:r>
          </a:p>
        </p:txBody>
      </p:sp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Footer Placeholder 1">
            <a:extLst>
              <a:ext uri="{FF2B5EF4-FFF2-40B4-BE49-F238E27FC236}">
                <a16:creationId xmlns:a16="http://schemas.microsoft.com/office/drawing/2014/main" id="{61276716-120B-4C41-83FC-FF49A49BE1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1682" name="Slide Number Placeholder 2">
            <a:extLst>
              <a:ext uri="{FF2B5EF4-FFF2-40B4-BE49-F238E27FC236}">
                <a16:creationId xmlns:a16="http://schemas.microsoft.com/office/drawing/2014/main" id="{773618CD-E967-446A-A2C5-D1F17737FF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BB3DD1C-A981-454C-B6E5-16D6A80FCFFD}" type="slidenum">
              <a:rPr lang="en-US" altLang="it-IT"/>
              <a:pPr/>
              <a:t>29</a:t>
            </a:fld>
            <a:endParaRPr lang="en-US" altLang="it-IT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7C9FF485-428E-4526-9CC3-830656CC9BF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To make a parser for </a:t>
            </a:r>
            <a:r>
              <a:rPr lang="en-US" altLang="it-IT" sz="1800" i="1">
                <a:sym typeface="Symbol" panose="05050102010706020507" pitchFamily="18" charset="2"/>
              </a:rPr>
              <a:t>L(G)</a:t>
            </a:r>
            <a:r>
              <a:rPr lang="en-US" altLang="it-IT" i="1">
                <a:sym typeface="Symbol" panose="05050102010706020507" pitchFamily="18" charset="2"/>
              </a:rPr>
              <a:t>, </a:t>
            </a:r>
            <a:r>
              <a:rPr lang="en-US" altLang="it-IT">
                <a:sym typeface="Symbol" panose="05050102010706020507" pitchFamily="18" charset="2"/>
              </a:rPr>
              <a:t>need a set of tables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grammar </a:t>
            </a:r>
          </a:p>
          <a:p>
            <a:pPr eaLnBrk="1" hangingPunct="1">
              <a:spcBef>
                <a:spcPct val="4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tables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7D489764-6546-4764-9C10-C79F18CA08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LR(1) Parsers                                              (</a:t>
            </a:r>
            <a:r>
              <a:rPr lang="en-US" altLang="it-IT" sz="2000" i="1">
                <a:sym typeface="Symbol" panose="05050102010706020507" pitchFamily="18" charset="2"/>
              </a:rPr>
              <a:t>parse tables</a:t>
            </a:r>
            <a:r>
              <a:rPr lang="en-US" altLang="it-IT" sz="20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0183" name="Text Box 7">
            <a:extLst>
              <a:ext uri="{FF2B5EF4-FFF2-40B4-BE49-F238E27FC236}">
                <a16:creationId xmlns:a16="http://schemas.microsoft.com/office/drawing/2014/main" id="{93CC86AE-3F75-48B2-8398-92BD44EB5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447800"/>
            <a:ext cx="1828800" cy="11699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Remember, this is the left-recursive SheepNoise; EaC shows the right-recursive version.</a:t>
            </a:r>
          </a:p>
        </p:txBody>
      </p:sp>
      <p:graphicFrame>
        <p:nvGraphicFramePr>
          <p:cNvPr id="50240" name="Group 64">
            <a:extLst>
              <a:ext uri="{FF2B5EF4-FFF2-40B4-BE49-F238E27FC236}">
                <a16:creationId xmlns:a16="http://schemas.microsoft.com/office/drawing/2014/main" id="{A6114BBD-6A11-4F03-86FC-B84B68683209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2190750"/>
          <a:ext cx="3962400" cy="9334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0334" name="Group 158">
            <a:extLst>
              <a:ext uri="{FF2B5EF4-FFF2-40B4-BE49-F238E27FC236}">
                <a16:creationId xmlns:a16="http://schemas.microsoft.com/office/drawing/2014/main" id="{89072B8D-3E4E-4837-AEC9-8A1613504761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759200"/>
          <a:ext cx="3200400" cy="2108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 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0379" name="Group 203">
            <a:extLst>
              <a:ext uri="{FF2B5EF4-FFF2-40B4-BE49-F238E27FC236}">
                <a16:creationId xmlns:a16="http://schemas.microsoft.com/office/drawing/2014/main" id="{01359C50-D397-45B1-8ED8-CCDE3AB4D9E4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759200"/>
          <a:ext cx="2362200" cy="2108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Footer Placeholder 1">
            <a:extLst>
              <a:ext uri="{FF2B5EF4-FFF2-40B4-BE49-F238E27FC236}">
                <a16:creationId xmlns:a16="http://schemas.microsoft.com/office/drawing/2014/main" id="{ED7D6A38-DEAE-4ED0-B1ED-649239B7F7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3730" name="Slide Number Placeholder 2">
            <a:extLst>
              <a:ext uri="{FF2B5EF4-FFF2-40B4-BE49-F238E27FC236}">
                <a16:creationId xmlns:a16="http://schemas.microsoft.com/office/drawing/2014/main" id="{F2948125-1511-4F2A-98FC-2BBE3EA832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08BCD3F-95EC-45E8-8242-4028C6B6D3C7}" type="slidenum">
              <a:rPr lang="en-US" altLang="it-IT"/>
              <a:pPr/>
              <a:t>30</a:t>
            </a:fld>
            <a:endParaRPr lang="en-US" altLang="it-IT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7DFA9366-F547-43A3-B784-525A430CC68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334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string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endParaRPr lang="en-US" altLang="it-IT">
              <a:sym typeface="Symbol" panose="05050102010706020507" pitchFamily="18" charset="2"/>
            </a:endParaRP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D24B590D-250A-499C-AA75-E09BD50088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Example Parse 1</a:t>
            </a:r>
          </a:p>
        </p:txBody>
      </p:sp>
      <p:graphicFrame>
        <p:nvGraphicFramePr>
          <p:cNvPr id="88068" name="Group 4">
            <a:extLst>
              <a:ext uri="{FF2B5EF4-FFF2-40B4-BE49-F238E27FC236}">
                <a16:creationId xmlns:a16="http://schemas.microsoft.com/office/drawing/2014/main" id="{F9234C15-0286-4F14-A6DF-F06CF33828CC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1752600"/>
          <a:ext cx="3962400" cy="9334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8095" name="Group 31">
            <a:extLst>
              <a:ext uri="{FF2B5EF4-FFF2-40B4-BE49-F238E27FC236}">
                <a16:creationId xmlns:a16="http://schemas.microsoft.com/office/drawing/2014/main" id="{4122A325-9047-4D93-9537-DAF3D5A1577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52600"/>
          <a:ext cx="3505200" cy="14224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121" name="Group 57">
            <a:extLst>
              <a:ext uri="{FF2B5EF4-FFF2-40B4-BE49-F238E27FC236}">
                <a16:creationId xmlns:a16="http://schemas.microsoft.com/office/drawing/2014/main" id="{1D438EA8-AC2F-40B3-AE3B-E333D64112A1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987800"/>
          <a:ext cx="3200400" cy="2108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 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8153" name="Group 89">
            <a:extLst>
              <a:ext uri="{FF2B5EF4-FFF2-40B4-BE49-F238E27FC236}">
                <a16:creationId xmlns:a16="http://schemas.microsoft.com/office/drawing/2014/main" id="{4517B59F-C7E3-4A70-B11E-B2388AF590AC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987800"/>
          <a:ext cx="2362200" cy="2108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Footer Placeholder 1">
            <a:extLst>
              <a:ext uri="{FF2B5EF4-FFF2-40B4-BE49-F238E27FC236}">
                <a16:creationId xmlns:a16="http://schemas.microsoft.com/office/drawing/2014/main" id="{6F928241-9621-47CC-998E-F953131A7D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5778" name="Slide Number Placeholder 2">
            <a:extLst>
              <a:ext uri="{FF2B5EF4-FFF2-40B4-BE49-F238E27FC236}">
                <a16:creationId xmlns:a16="http://schemas.microsoft.com/office/drawing/2014/main" id="{1ED4E26D-E595-4204-8718-A233E731B9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4AC3B9F-7A7B-4735-A9A0-4B7B7E774C31}" type="slidenum">
              <a:rPr lang="en-US" altLang="it-IT"/>
              <a:pPr/>
              <a:t>31</a:t>
            </a:fld>
            <a:endParaRPr lang="en-US" altLang="it-IT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14331479-64EB-4ED0-AD1C-28A7E986CCF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334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string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endParaRPr lang="en-US" altLang="it-IT">
              <a:sym typeface="Symbol" panose="05050102010706020507" pitchFamily="18" charset="2"/>
            </a:endParaRP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503AA438-D165-499B-9AFD-D8759EEA91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Example Parse 1</a:t>
            </a:r>
          </a:p>
        </p:txBody>
      </p:sp>
      <p:graphicFrame>
        <p:nvGraphicFramePr>
          <p:cNvPr id="90116" name="Group 4">
            <a:extLst>
              <a:ext uri="{FF2B5EF4-FFF2-40B4-BE49-F238E27FC236}">
                <a16:creationId xmlns:a16="http://schemas.microsoft.com/office/drawing/2014/main" id="{062F6DEB-1D2D-4D4D-B72F-E41C21E37273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1752600"/>
          <a:ext cx="3962400" cy="9334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0143" name="Group 31">
            <a:extLst>
              <a:ext uri="{FF2B5EF4-FFF2-40B4-BE49-F238E27FC236}">
                <a16:creationId xmlns:a16="http://schemas.microsoft.com/office/drawing/2014/main" id="{26E35C8B-7CB3-490C-8B2E-39461C3423E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52600"/>
          <a:ext cx="3505200" cy="14224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0169" name="Group 57">
            <a:extLst>
              <a:ext uri="{FF2B5EF4-FFF2-40B4-BE49-F238E27FC236}">
                <a16:creationId xmlns:a16="http://schemas.microsoft.com/office/drawing/2014/main" id="{357D16B8-F273-4476-B3AE-DDEED9B06177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987800"/>
          <a:ext cx="3200400" cy="2108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 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0201" name="Group 89">
            <a:extLst>
              <a:ext uri="{FF2B5EF4-FFF2-40B4-BE49-F238E27FC236}">
                <a16:creationId xmlns:a16="http://schemas.microsoft.com/office/drawing/2014/main" id="{D2853A1B-9529-46C8-ACCF-BABAB8738B5F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987800"/>
          <a:ext cx="2362200" cy="2108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Footer Placeholder 1">
            <a:extLst>
              <a:ext uri="{FF2B5EF4-FFF2-40B4-BE49-F238E27FC236}">
                <a16:creationId xmlns:a16="http://schemas.microsoft.com/office/drawing/2014/main" id="{3303696D-9797-4FED-BF6F-DD3D0AA6EE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7826" name="Slide Number Placeholder 2">
            <a:extLst>
              <a:ext uri="{FF2B5EF4-FFF2-40B4-BE49-F238E27FC236}">
                <a16:creationId xmlns:a16="http://schemas.microsoft.com/office/drawing/2014/main" id="{2AAE28BB-5BB0-45CD-A537-262ECE2B78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31B337B-FFF2-45C1-B2BB-75771EE82FB0}" type="slidenum">
              <a:rPr lang="en-US" altLang="it-IT"/>
              <a:pPr/>
              <a:t>32</a:t>
            </a:fld>
            <a:endParaRPr lang="en-US" altLang="it-IT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0BE391BB-F62B-422B-8E7F-1A846935D1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334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string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endParaRPr lang="en-US" altLang="it-IT">
              <a:sym typeface="Symbol" panose="05050102010706020507" pitchFamily="18" charset="2"/>
            </a:endParaRP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57996203-5933-4A84-B1C9-92CD15E8332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Example Parse 1</a:t>
            </a:r>
          </a:p>
        </p:txBody>
      </p:sp>
      <p:graphicFrame>
        <p:nvGraphicFramePr>
          <p:cNvPr id="92164" name="Group 4">
            <a:extLst>
              <a:ext uri="{FF2B5EF4-FFF2-40B4-BE49-F238E27FC236}">
                <a16:creationId xmlns:a16="http://schemas.microsoft.com/office/drawing/2014/main" id="{03071FA2-A7E8-4492-808F-094C1FB82234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1752600"/>
          <a:ext cx="3962400" cy="9334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2191" name="Group 31">
            <a:extLst>
              <a:ext uri="{FF2B5EF4-FFF2-40B4-BE49-F238E27FC236}">
                <a16:creationId xmlns:a16="http://schemas.microsoft.com/office/drawing/2014/main" id="{2CFF18E9-CF11-4028-84F9-07EC28A9BE5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52600"/>
          <a:ext cx="3505200" cy="14224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SN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217" name="Group 57">
            <a:extLst>
              <a:ext uri="{FF2B5EF4-FFF2-40B4-BE49-F238E27FC236}">
                <a16:creationId xmlns:a16="http://schemas.microsoft.com/office/drawing/2014/main" id="{D8724A46-885F-4905-9C0B-893CA2C24419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987800"/>
          <a:ext cx="3200400" cy="2108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 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2249" name="Group 89">
            <a:extLst>
              <a:ext uri="{FF2B5EF4-FFF2-40B4-BE49-F238E27FC236}">
                <a16:creationId xmlns:a16="http://schemas.microsoft.com/office/drawing/2014/main" id="{DF1CEEBB-8328-4BC6-9B6A-B75177E4A483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987800"/>
          <a:ext cx="2362200" cy="2108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Footer Placeholder 1">
            <a:extLst>
              <a:ext uri="{FF2B5EF4-FFF2-40B4-BE49-F238E27FC236}">
                <a16:creationId xmlns:a16="http://schemas.microsoft.com/office/drawing/2014/main" id="{6B3D89EC-BF8B-4031-880F-09635BF8E6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9874" name="Slide Number Placeholder 2">
            <a:extLst>
              <a:ext uri="{FF2B5EF4-FFF2-40B4-BE49-F238E27FC236}">
                <a16:creationId xmlns:a16="http://schemas.microsoft.com/office/drawing/2014/main" id="{2A45B81C-6E0D-4E1C-9821-934260047C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2716A29-D54D-4025-958B-A0970D67D349}" type="slidenum">
              <a:rPr lang="en-US" altLang="it-IT"/>
              <a:pPr/>
              <a:t>33</a:t>
            </a:fld>
            <a:endParaRPr lang="en-US" altLang="it-IT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C69B3D-DD31-4338-AC64-1D44D8D17F5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334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string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endParaRPr lang="en-US" altLang="it-IT">
              <a:sym typeface="Symbol" panose="05050102010706020507" pitchFamily="18" charset="2"/>
            </a:endParaRP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8F417F6F-F7CC-4923-9C57-8A4C8B0E13C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Example Parse 1</a:t>
            </a:r>
          </a:p>
        </p:txBody>
      </p:sp>
      <p:graphicFrame>
        <p:nvGraphicFramePr>
          <p:cNvPr id="94212" name="Group 4">
            <a:extLst>
              <a:ext uri="{FF2B5EF4-FFF2-40B4-BE49-F238E27FC236}">
                <a16:creationId xmlns:a16="http://schemas.microsoft.com/office/drawing/2014/main" id="{C44219B7-87F3-44B1-8148-F0184E340F47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1752600"/>
          <a:ext cx="3962400" cy="9334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57" marB="4575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57" marB="4575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4239" name="Group 31">
            <a:extLst>
              <a:ext uri="{FF2B5EF4-FFF2-40B4-BE49-F238E27FC236}">
                <a16:creationId xmlns:a16="http://schemas.microsoft.com/office/drawing/2014/main" id="{28B0E4F8-213A-4877-8E09-D01D1F65E14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752600"/>
          <a:ext cx="3505200" cy="14224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5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SN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0" marB="4570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0" marB="4570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55">
            <a:extLst>
              <a:ext uri="{FF2B5EF4-FFF2-40B4-BE49-F238E27FC236}">
                <a16:creationId xmlns:a16="http://schemas.microsoft.com/office/drawing/2014/main" id="{09A47779-9144-43A2-9EA6-08C497B8277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819400"/>
            <a:ext cx="7620000" cy="738188"/>
            <a:chOff x="480" y="1776"/>
            <a:chExt cx="4800" cy="465"/>
          </a:xfrm>
        </p:grpSpPr>
        <p:sp>
          <p:nvSpPr>
            <p:cNvPr id="79942" name="Text Box 56">
              <a:extLst>
                <a:ext uri="{FF2B5EF4-FFF2-40B4-BE49-F238E27FC236}">
                  <a16:creationId xmlns:a16="http://schemas.microsoft.com/office/drawing/2014/main" id="{C670BF69-52D8-4355-AC03-5AA3139AE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776"/>
              <a:ext cx="1968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>
                  <a:solidFill>
                    <a:srgbClr val="003C75"/>
                  </a:solidFill>
                </a:rPr>
                <a:t>Notice that we never cleared the stack — the table construction moved </a:t>
              </a:r>
              <a:r>
                <a:rPr lang="en-US" altLang="it-IT" sz="1400" i="1">
                  <a:solidFill>
                    <a:srgbClr val="003C75"/>
                  </a:solidFill>
                </a:rPr>
                <a:t>accept</a:t>
              </a:r>
              <a:r>
                <a:rPr lang="en-US" altLang="it-IT" sz="1400">
                  <a:solidFill>
                    <a:srgbClr val="003C75"/>
                  </a:solidFill>
                </a:rPr>
                <a:t> earlier by one action</a:t>
              </a:r>
            </a:p>
          </p:txBody>
        </p:sp>
        <p:sp>
          <p:nvSpPr>
            <p:cNvPr id="79943" name="Oval 57">
              <a:extLst>
                <a:ext uri="{FF2B5EF4-FFF2-40B4-BE49-F238E27FC236}">
                  <a16:creationId xmlns:a16="http://schemas.microsoft.com/office/drawing/2014/main" id="{9E27FADF-A871-46CB-8B61-A726E2135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776"/>
              <a:ext cx="816" cy="240"/>
            </a:xfrm>
            <a:prstGeom prst="ellips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79944" name="Line 58">
              <a:extLst>
                <a:ext uri="{FF2B5EF4-FFF2-40B4-BE49-F238E27FC236}">
                  <a16:creationId xmlns:a16="http://schemas.microsoft.com/office/drawing/2014/main" id="{6D1EC575-4B58-4DED-9BC6-C2B6E8E0A8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776"/>
              <a:ext cx="0" cy="432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9945" name="Freeform 59">
              <a:extLst>
                <a:ext uri="{FF2B5EF4-FFF2-40B4-BE49-F238E27FC236}">
                  <a16:creationId xmlns:a16="http://schemas.microsoft.com/office/drawing/2014/main" id="{23C32007-E2B5-4760-8C38-F503F1543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1920"/>
              <a:ext cx="2064" cy="296"/>
            </a:xfrm>
            <a:custGeom>
              <a:avLst/>
              <a:gdLst>
                <a:gd name="T0" fmla="*/ 2064 w 2064"/>
                <a:gd name="T1" fmla="*/ 0 h 296"/>
                <a:gd name="T2" fmla="*/ 1152 w 2064"/>
                <a:gd name="T3" fmla="*/ 288 h 296"/>
                <a:gd name="T4" fmla="*/ 0 w 2064"/>
                <a:gd name="T5" fmla="*/ 48 h 296"/>
                <a:gd name="T6" fmla="*/ 0 60000 65536"/>
                <a:gd name="T7" fmla="*/ 0 60000 65536"/>
                <a:gd name="T8" fmla="*/ 0 60000 65536"/>
                <a:gd name="T9" fmla="*/ 0 w 2064"/>
                <a:gd name="T10" fmla="*/ 0 h 296"/>
                <a:gd name="T11" fmla="*/ 2064 w 2064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4" h="296">
                  <a:moveTo>
                    <a:pt x="2064" y="0"/>
                  </a:moveTo>
                  <a:cubicBezTo>
                    <a:pt x="1780" y="140"/>
                    <a:pt x="1496" y="280"/>
                    <a:pt x="1152" y="288"/>
                  </a:cubicBezTo>
                  <a:cubicBezTo>
                    <a:pt x="808" y="296"/>
                    <a:pt x="192" y="96"/>
                    <a:pt x="0" y="48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aphicFrame>
        <p:nvGraphicFramePr>
          <p:cNvPr id="94268" name="Group 60">
            <a:extLst>
              <a:ext uri="{FF2B5EF4-FFF2-40B4-BE49-F238E27FC236}">
                <a16:creationId xmlns:a16="http://schemas.microsoft.com/office/drawing/2014/main" id="{318090E4-E212-41DD-A84F-D1C752FF101E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987800"/>
          <a:ext cx="3200400" cy="2108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 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4300" name="Group 92">
            <a:extLst>
              <a:ext uri="{FF2B5EF4-FFF2-40B4-BE49-F238E27FC236}">
                <a16:creationId xmlns:a16="http://schemas.microsoft.com/office/drawing/2014/main" id="{5060348C-455B-4B43-B93D-85111E6277F7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987800"/>
          <a:ext cx="2362200" cy="2108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Footer Placeholder 1">
            <a:extLst>
              <a:ext uri="{FF2B5EF4-FFF2-40B4-BE49-F238E27FC236}">
                <a16:creationId xmlns:a16="http://schemas.microsoft.com/office/drawing/2014/main" id="{D95791E7-F970-49A8-BAD1-BF57214DBA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1922" name="Slide Number Placeholder 2">
            <a:extLst>
              <a:ext uri="{FF2B5EF4-FFF2-40B4-BE49-F238E27FC236}">
                <a16:creationId xmlns:a16="http://schemas.microsoft.com/office/drawing/2014/main" id="{79F48FD7-98F2-43DC-BC57-F3A893EC7F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9BE5769-790A-4F6A-8CB1-FBEAFFA277C4}" type="slidenum">
              <a:rPr lang="en-US" altLang="it-IT"/>
              <a:pPr/>
              <a:t>34</a:t>
            </a:fld>
            <a:endParaRPr lang="en-US" altLang="it-IT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06EED757-7B3E-452D-9348-8A7C1315723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334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string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endParaRPr lang="en-US" altLang="it-IT">
              <a:sym typeface="Symbol" panose="05050102010706020507" pitchFamily="18" charset="2"/>
            </a:endParaRP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E3B67331-38FE-4E35-89D4-261E79F22D5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Example Parse 2</a:t>
            </a:r>
          </a:p>
        </p:txBody>
      </p:sp>
      <p:graphicFrame>
        <p:nvGraphicFramePr>
          <p:cNvPr id="96260" name="Group 4">
            <a:extLst>
              <a:ext uri="{FF2B5EF4-FFF2-40B4-BE49-F238E27FC236}">
                <a16:creationId xmlns:a16="http://schemas.microsoft.com/office/drawing/2014/main" id="{306F8A48-99B3-49AD-B893-867A32C326EF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987800"/>
          <a:ext cx="3200400" cy="2108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 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6292" name="Group 36">
            <a:extLst>
              <a:ext uri="{FF2B5EF4-FFF2-40B4-BE49-F238E27FC236}">
                <a16:creationId xmlns:a16="http://schemas.microsoft.com/office/drawing/2014/main" id="{F4113B48-D018-4DAB-A555-72F3EFE84D56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987800"/>
          <a:ext cx="2362200" cy="2108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6319" name="Group 63">
            <a:extLst>
              <a:ext uri="{FF2B5EF4-FFF2-40B4-BE49-F238E27FC236}">
                <a16:creationId xmlns:a16="http://schemas.microsoft.com/office/drawing/2014/main" id="{23C14E07-902C-4B73-A060-BF90F1B8721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76400"/>
          <a:ext cx="4495800" cy="2133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9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6351" name="Group 95">
            <a:extLst>
              <a:ext uri="{FF2B5EF4-FFF2-40B4-BE49-F238E27FC236}">
                <a16:creationId xmlns:a16="http://schemas.microsoft.com/office/drawing/2014/main" id="{FC5263E6-E0EA-43F0-BE96-D73E7AEF0399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1676400"/>
          <a:ext cx="3429000" cy="850900"/>
        </p:xfrm>
        <a:graphic>
          <a:graphicData uri="http://schemas.openxmlformats.org/drawingml/2006/table">
            <a:tbl>
              <a:tblPr/>
              <a:tblGrid>
                <a:gridCol w="33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Footer Placeholder 1">
            <a:extLst>
              <a:ext uri="{FF2B5EF4-FFF2-40B4-BE49-F238E27FC236}">
                <a16:creationId xmlns:a16="http://schemas.microsoft.com/office/drawing/2014/main" id="{A8C42BBE-EBBF-4E69-B8D8-DC2507FC12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3970" name="Slide Number Placeholder 2">
            <a:extLst>
              <a:ext uri="{FF2B5EF4-FFF2-40B4-BE49-F238E27FC236}">
                <a16:creationId xmlns:a16="http://schemas.microsoft.com/office/drawing/2014/main" id="{25636124-EAAD-4CF2-8C62-C5AE38D5C6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0E97928-9321-4893-9B08-5C08DC45CCD9}" type="slidenum">
              <a:rPr lang="en-US" altLang="it-IT"/>
              <a:pPr/>
              <a:t>35</a:t>
            </a:fld>
            <a:endParaRPr lang="en-US" altLang="it-IT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56084095-FFB8-40C9-AC49-3DBB8550180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334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string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endParaRPr lang="en-US" altLang="it-IT">
              <a:sym typeface="Symbol" panose="05050102010706020507" pitchFamily="18" charset="2"/>
            </a:endParaRP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B7F0F6F4-956A-45A9-8082-542EDAF1384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Example Parse 2</a:t>
            </a:r>
          </a:p>
        </p:txBody>
      </p:sp>
      <p:graphicFrame>
        <p:nvGraphicFramePr>
          <p:cNvPr id="98308" name="Group 4">
            <a:extLst>
              <a:ext uri="{FF2B5EF4-FFF2-40B4-BE49-F238E27FC236}">
                <a16:creationId xmlns:a16="http://schemas.microsoft.com/office/drawing/2014/main" id="{A2278C39-EC30-41C9-BF8D-AD48638F3584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987800"/>
          <a:ext cx="3200400" cy="2108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 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8340" name="Group 36">
            <a:extLst>
              <a:ext uri="{FF2B5EF4-FFF2-40B4-BE49-F238E27FC236}">
                <a16:creationId xmlns:a16="http://schemas.microsoft.com/office/drawing/2014/main" id="{238DE40F-726D-4000-A7B3-ABEE102240E7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987800"/>
          <a:ext cx="2362200" cy="2108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8367" name="Group 63">
            <a:extLst>
              <a:ext uri="{FF2B5EF4-FFF2-40B4-BE49-F238E27FC236}">
                <a16:creationId xmlns:a16="http://schemas.microsoft.com/office/drawing/2014/main" id="{63E26C3B-FC34-4B96-85BE-A18E7C63E66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76400"/>
          <a:ext cx="4495800" cy="2133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9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4" name="Group 95">
            <a:extLst>
              <a:ext uri="{FF2B5EF4-FFF2-40B4-BE49-F238E27FC236}">
                <a16:creationId xmlns:a16="http://schemas.microsoft.com/office/drawing/2014/main" id="{63A7382F-60D3-4829-A419-18DCE97C12B2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1676400"/>
          <a:ext cx="3429000" cy="850900"/>
        </p:xfrm>
        <a:graphic>
          <a:graphicData uri="http://schemas.openxmlformats.org/drawingml/2006/table">
            <a:tbl>
              <a:tblPr/>
              <a:tblGrid>
                <a:gridCol w="33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Footer Placeholder 1">
            <a:extLst>
              <a:ext uri="{FF2B5EF4-FFF2-40B4-BE49-F238E27FC236}">
                <a16:creationId xmlns:a16="http://schemas.microsoft.com/office/drawing/2014/main" id="{423AD0F1-4439-4F6C-9A78-098907BE54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6018" name="Slide Number Placeholder 2">
            <a:extLst>
              <a:ext uri="{FF2B5EF4-FFF2-40B4-BE49-F238E27FC236}">
                <a16:creationId xmlns:a16="http://schemas.microsoft.com/office/drawing/2014/main" id="{DBAE9096-87B8-48C5-AB51-F99CC7A085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D7CE920-A6AC-4121-BC4A-E9EC07EBC966}" type="slidenum">
              <a:rPr lang="en-US" altLang="it-IT"/>
              <a:pPr/>
              <a:t>36</a:t>
            </a:fld>
            <a:endParaRPr lang="en-US" altLang="it-IT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A8CC14E6-AF5A-4F79-B6E6-B7B9E646CB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334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string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endParaRPr lang="en-US" altLang="it-IT">
              <a:sym typeface="Symbol" panose="05050102010706020507" pitchFamily="18" charset="2"/>
            </a:endParaRP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54198122-DBDD-446B-BC1B-EC0B8FFF57B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Example Parse 2</a:t>
            </a:r>
          </a:p>
        </p:txBody>
      </p:sp>
      <p:graphicFrame>
        <p:nvGraphicFramePr>
          <p:cNvPr id="100356" name="Group 4">
            <a:extLst>
              <a:ext uri="{FF2B5EF4-FFF2-40B4-BE49-F238E27FC236}">
                <a16:creationId xmlns:a16="http://schemas.microsoft.com/office/drawing/2014/main" id="{8E13DC2C-CC0B-4660-9534-7AB40B8DBADE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987800"/>
          <a:ext cx="3200400" cy="2108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 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0388" name="Group 36">
            <a:extLst>
              <a:ext uri="{FF2B5EF4-FFF2-40B4-BE49-F238E27FC236}">
                <a16:creationId xmlns:a16="http://schemas.microsoft.com/office/drawing/2014/main" id="{2CFD2A71-686A-490F-A694-2D57AF85E5A0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987800"/>
          <a:ext cx="2362200" cy="2108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0415" name="Group 63">
            <a:extLst>
              <a:ext uri="{FF2B5EF4-FFF2-40B4-BE49-F238E27FC236}">
                <a16:creationId xmlns:a16="http://schemas.microsoft.com/office/drawing/2014/main" id="{8AB94F31-2026-4D6A-94EB-BA76EB442D3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76400"/>
          <a:ext cx="4495800" cy="2133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SN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9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6077" name="Group 124">
            <a:extLst>
              <a:ext uri="{FF2B5EF4-FFF2-40B4-BE49-F238E27FC236}">
                <a16:creationId xmlns:a16="http://schemas.microsoft.com/office/drawing/2014/main" id="{5E116B27-B8F8-47C3-A379-EBF2EF55AD77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743200"/>
            <a:ext cx="7086600" cy="825500"/>
            <a:chOff x="1056" y="1728"/>
            <a:chExt cx="4464" cy="520"/>
          </a:xfrm>
        </p:grpSpPr>
        <p:sp>
          <p:nvSpPr>
            <p:cNvPr id="86091" name="Text Box 125">
              <a:extLst>
                <a:ext uri="{FF2B5EF4-FFF2-40B4-BE49-F238E27FC236}">
                  <a16:creationId xmlns:a16="http://schemas.microsoft.com/office/drawing/2014/main" id="{70FF8AE9-C90C-4F56-9E27-D68A23A2D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776"/>
              <a:ext cx="225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Last example, we faced EOF and we accepted.  With </a:t>
              </a:r>
              <a:r>
                <a:rPr lang="en-US" altLang="it-IT" sz="1600" u="sng">
                  <a:solidFill>
                    <a:srgbClr val="003C75"/>
                  </a:solidFill>
                </a:rPr>
                <a:t>baa</a:t>
              </a:r>
              <a:r>
                <a:rPr lang="en-US" altLang="it-IT" sz="1600">
                  <a:solidFill>
                    <a:srgbClr val="003C75"/>
                  </a:solidFill>
                </a:rPr>
                <a:t>, we shift …</a:t>
              </a:r>
            </a:p>
          </p:txBody>
        </p:sp>
        <p:sp>
          <p:nvSpPr>
            <p:cNvPr id="86092" name="Oval 126">
              <a:extLst>
                <a:ext uri="{FF2B5EF4-FFF2-40B4-BE49-F238E27FC236}">
                  <a16:creationId xmlns:a16="http://schemas.microsoft.com/office/drawing/2014/main" id="{79AD5CD0-0262-41AB-AC9B-E976303D2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744"/>
              <a:ext cx="240" cy="240"/>
            </a:xfrm>
            <a:prstGeom prst="ellips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6093" name="Oval 127">
              <a:extLst>
                <a:ext uri="{FF2B5EF4-FFF2-40B4-BE49-F238E27FC236}">
                  <a16:creationId xmlns:a16="http://schemas.microsoft.com/office/drawing/2014/main" id="{A247E763-E40B-4A0E-949B-A269701B2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728"/>
              <a:ext cx="336" cy="240"/>
            </a:xfrm>
            <a:prstGeom prst="ellips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6094" name="Line 128">
              <a:extLst>
                <a:ext uri="{FF2B5EF4-FFF2-40B4-BE49-F238E27FC236}">
                  <a16:creationId xmlns:a16="http://schemas.microsoft.com/office/drawing/2014/main" id="{9FD6170F-2FAA-4B1A-92AE-138CEC1A9A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776"/>
              <a:ext cx="0" cy="384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95" name="Freeform 129">
              <a:extLst>
                <a:ext uri="{FF2B5EF4-FFF2-40B4-BE49-F238E27FC236}">
                  <a16:creationId xmlns:a16="http://schemas.microsoft.com/office/drawing/2014/main" id="{03822E31-E0B6-4A3D-9FFE-C9B94E40E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1880"/>
              <a:ext cx="1008" cy="192"/>
            </a:xfrm>
            <a:custGeom>
              <a:avLst/>
              <a:gdLst>
                <a:gd name="T0" fmla="*/ 1489 w 960"/>
                <a:gd name="T1" fmla="*/ 0 h 168"/>
                <a:gd name="T2" fmla="*/ 819 w 960"/>
                <a:gd name="T3" fmla="*/ 481 h 168"/>
                <a:gd name="T4" fmla="*/ 299 w 960"/>
                <a:gd name="T5" fmla="*/ 481 h 168"/>
                <a:gd name="T6" fmla="*/ 0 w 960"/>
                <a:gd name="T7" fmla="*/ 322 h 1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168"/>
                <a:gd name="T14" fmla="*/ 960 w 960"/>
                <a:gd name="T15" fmla="*/ 168 h 1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168">
                  <a:moveTo>
                    <a:pt x="960" y="0"/>
                  </a:moveTo>
                  <a:cubicBezTo>
                    <a:pt x="808" y="60"/>
                    <a:pt x="656" y="120"/>
                    <a:pt x="528" y="144"/>
                  </a:cubicBezTo>
                  <a:cubicBezTo>
                    <a:pt x="400" y="168"/>
                    <a:pt x="280" y="152"/>
                    <a:pt x="192" y="144"/>
                  </a:cubicBezTo>
                  <a:cubicBezTo>
                    <a:pt x="104" y="136"/>
                    <a:pt x="52" y="116"/>
                    <a:pt x="0" y="96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6096" name="Freeform 130">
              <a:extLst>
                <a:ext uri="{FF2B5EF4-FFF2-40B4-BE49-F238E27FC236}">
                  <a16:creationId xmlns:a16="http://schemas.microsoft.com/office/drawing/2014/main" id="{C2EC934E-F971-4C7E-9DAE-956471AF0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1880"/>
              <a:ext cx="2016" cy="368"/>
            </a:xfrm>
            <a:custGeom>
              <a:avLst/>
              <a:gdLst>
                <a:gd name="T0" fmla="*/ 2016 w 2016"/>
                <a:gd name="T1" fmla="*/ 0 h 368"/>
                <a:gd name="T2" fmla="*/ 1488 w 2016"/>
                <a:gd name="T3" fmla="*/ 288 h 368"/>
                <a:gd name="T4" fmla="*/ 720 w 2016"/>
                <a:gd name="T5" fmla="*/ 336 h 368"/>
                <a:gd name="T6" fmla="*/ 0 w 2016"/>
                <a:gd name="T7" fmla="*/ 96 h 3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6"/>
                <a:gd name="T13" fmla="*/ 0 h 368"/>
                <a:gd name="T14" fmla="*/ 2016 w 2016"/>
                <a:gd name="T15" fmla="*/ 368 h 3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6" h="368">
                  <a:moveTo>
                    <a:pt x="2016" y="0"/>
                  </a:moveTo>
                  <a:cubicBezTo>
                    <a:pt x="1860" y="116"/>
                    <a:pt x="1704" y="232"/>
                    <a:pt x="1488" y="288"/>
                  </a:cubicBezTo>
                  <a:cubicBezTo>
                    <a:pt x="1272" y="344"/>
                    <a:pt x="968" y="368"/>
                    <a:pt x="720" y="336"/>
                  </a:cubicBezTo>
                  <a:cubicBezTo>
                    <a:pt x="472" y="304"/>
                    <a:pt x="236" y="200"/>
                    <a:pt x="0" y="96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aphicFrame>
        <p:nvGraphicFramePr>
          <p:cNvPr id="134" name="Group 95">
            <a:extLst>
              <a:ext uri="{FF2B5EF4-FFF2-40B4-BE49-F238E27FC236}">
                <a16:creationId xmlns:a16="http://schemas.microsoft.com/office/drawing/2014/main" id="{9821E4FC-7A26-4011-ABCA-6D9995D69C13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1676400"/>
          <a:ext cx="3429000" cy="850900"/>
        </p:xfrm>
        <a:graphic>
          <a:graphicData uri="http://schemas.openxmlformats.org/drawingml/2006/table">
            <a:tbl>
              <a:tblPr/>
              <a:tblGrid>
                <a:gridCol w="33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Footer Placeholder 1">
            <a:extLst>
              <a:ext uri="{FF2B5EF4-FFF2-40B4-BE49-F238E27FC236}">
                <a16:creationId xmlns:a16="http://schemas.microsoft.com/office/drawing/2014/main" id="{97AE80AF-9796-4373-BF3D-1364547CF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8066" name="Slide Number Placeholder 2">
            <a:extLst>
              <a:ext uri="{FF2B5EF4-FFF2-40B4-BE49-F238E27FC236}">
                <a16:creationId xmlns:a16="http://schemas.microsoft.com/office/drawing/2014/main" id="{CA623280-F73E-46C9-9AE6-4E7E00985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624999C-AA3A-4BD4-891E-F585544F65BF}" type="slidenum">
              <a:rPr lang="en-US" altLang="it-IT"/>
              <a:pPr/>
              <a:t>37</a:t>
            </a:fld>
            <a:endParaRPr lang="en-US" altLang="it-IT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5FC8F738-1E75-4344-9B58-544DEDCC6D7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334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string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endParaRPr lang="en-US" altLang="it-IT">
              <a:sym typeface="Symbol" panose="05050102010706020507" pitchFamily="18" charset="2"/>
            </a:endParaRPr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89B372F-0E00-426D-8795-C5676048DB5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Example Parse 2</a:t>
            </a:r>
          </a:p>
        </p:txBody>
      </p:sp>
      <p:graphicFrame>
        <p:nvGraphicFramePr>
          <p:cNvPr id="102404" name="Group 4">
            <a:extLst>
              <a:ext uri="{FF2B5EF4-FFF2-40B4-BE49-F238E27FC236}">
                <a16:creationId xmlns:a16="http://schemas.microsoft.com/office/drawing/2014/main" id="{804315C1-A1C2-4F3F-A126-F9A82EEE0734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987800"/>
          <a:ext cx="3200400" cy="2108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 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2436" name="Group 36">
            <a:extLst>
              <a:ext uri="{FF2B5EF4-FFF2-40B4-BE49-F238E27FC236}">
                <a16:creationId xmlns:a16="http://schemas.microsoft.com/office/drawing/2014/main" id="{6172BBAB-EA9F-4BFA-8CA1-279F54D6A422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987800"/>
          <a:ext cx="2362200" cy="2108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2463" name="Group 63">
            <a:extLst>
              <a:ext uri="{FF2B5EF4-FFF2-40B4-BE49-F238E27FC236}">
                <a16:creationId xmlns:a16="http://schemas.microsoft.com/office/drawing/2014/main" id="{C42F78FC-B5CC-42B4-8F6A-7ED1EA9BDEC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76400"/>
          <a:ext cx="4495800" cy="2133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SN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SN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  <a:endParaRPr kumimoji="0" lang="en-US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9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4" name="Group 95">
            <a:extLst>
              <a:ext uri="{FF2B5EF4-FFF2-40B4-BE49-F238E27FC236}">
                <a16:creationId xmlns:a16="http://schemas.microsoft.com/office/drawing/2014/main" id="{E8A21518-6126-417C-8D3F-40857FD5FCCE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1676400"/>
          <a:ext cx="3429000" cy="850900"/>
        </p:xfrm>
        <a:graphic>
          <a:graphicData uri="http://schemas.openxmlformats.org/drawingml/2006/table">
            <a:tbl>
              <a:tblPr/>
              <a:tblGrid>
                <a:gridCol w="33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Footer Placeholder 1">
            <a:extLst>
              <a:ext uri="{FF2B5EF4-FFF2-40B4-BE49-F238E27FC236}">
                <a16:creationId xmlns:a16="http://schemas.microsoft.com/office/drawing/2014/main" id="{776E9C67-3D2E-4D98-878F-300570C507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90114" name="Slide Number Placeholder 2">
            <a:extLst>
              <a:ext uri="{FF2B5EF4-FFF2-40B4-BE49-F238E27FC236}">
                <a16:creationId xmlns:a16="http://schemas.microsoft.com/office/drawing/2014/main" id="{15FF6371-B036-4EAF-BA22-3D96A417BD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812CDE7-A287-4592-A678-4C434F1D15BA}" type="slidenum">
              <a:rPr lang="en-US" altLang="it-IT"/>
              <a:pPr/>
              <a:t>38</a:t>
            </a:fld>
            <a:endParaRPr lang="en-US" altLang="it-IT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CBEC4F63-00AF-4266-B214-2DB909684D1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334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string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endParaRPr lang="en-US" altLang="it-IT">
              <a:sym typeface="Symbol" panose="05050102010706020507" pitchFamily="18" charset="2"/>
            </a:endParaRP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159058D7-FD98-4377-8F23-ACE7F856FA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Example Parse 2</a:t>
            </a:r>
          </a:p>
        </p:txBody>
      </p:sp>
      <p:graphicFrame>
        <p:nvGraphicFramePr>
          <p:cNvPr id="104452" name="Group 4">
            <a:extLst>
              <a:ext uri="{FF2B5EF4-FFF2-40B4-BE49-F238E27FC236}">
                <a16:creationId xmlns:a16="http://schemas.microsoft.com/office/drawing/2014/main" id="{C0744326-ADFE-4C98-A42A-B9E2FA1AB3E2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987800"/>
          <a:ext cx="3200400" cy="2108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 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4484" name="Group 36">
            <a:extLst>
              <a:ext uri="{FF2B5EF4-FFF2-40B4-BE49-F238E27FC236}">
                <a16:creationId xmlns:a16="http://schemas.microsoft.com/office/drawing/2014/main" id="{18301DE1-004C-4E48-B1A6-63963FF6E500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987800"/>
          <a:ext cx="2362200" cy="2108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4511" name="Group 63">
            <a:extLst>
              <a:ext uri="{FF2B5EF4-FFF2-40B4-BE49-F238E27FC236}">
                <a16:creationId xmlns:a16="http://schemas.microsoft.com/office/drawing/2014/main" id="{1490D444-C2F5-40DF-8A4E-DE190275607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76400"/>
          <a:ext cx="4495800" cy="2133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SN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SN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  <a:endParaRPr kumimoji="0" lang="en-US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9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SN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173" name="Line 122">
            <a:extLst>
              <a:ext uri="{FF2B5EF4-FFF2-40B4-BE49-F238E27FC236}">
                <a16:creationId xmlns:a16="http://schemas.microsoft.com/office/drawing/2014/main" id="{13F2EDB8-6A4F-4B90-98C9-85BC938F6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971800"/>
            <a:ext cx="0" cy="381000"/>
          </a:xfrm>
          <a:prstGeom prst="line">
            <a:avLst/>
          </a:prstGeom>
          <a:noFill/>
          <a:ln w="19050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grpSp>
        <p:nvGrpSpPr>
          <p:cNvPr id="90174" name="Group 123">
            <a:extLst>
              <a:ext uri="{FF2B5EF4-FFF2-40B4-BE49-F238E27FC236}">
                <a16:creationId xmlns:a16="http://schemas.microsoft.com/office/drawing/2014/main" id="{9D95662F-D48A-4C4E-832B-599EFC7EE1F4}"/>
              </a:ext>
            </a:extLst>
          </p:cNvPr>
          <p:cNvGrpSpPr>
            <a:grpSpLocks/>
          </p:cNvGrpSpPr>
          <p:nvPr/>
        </p:nvGrpSpPr>
        <p:grpSpPr bwMode="auto">
          <a:xfrm>
            <a:off x="1651000" y="2971800"/>
            <a:ext cx="6273800" cy="939800"/>
            <a:chOff x="1040" y="1872"/>
            <a:chExt cx="3952" cy="592"/>
          </a:xfrm>
        </p:grpSpPr>
        <p:sp>
          <p:nvSpPr>
            <p:cNvPr id="90188" name="Text Box 124">
              <a:extLst>
                <a:ext uri="{FF2B5EF4-FFF2-40B4-BE49-F238E27FC236}">
                  <a16:creationId xmlns:a16="http://schemas.microsoft.com/office/drawing/2014/main" id="{E9054F39-9EDA-44D3-96A0-188B101BEE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872"/>
              <a:ext cx="129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Now, we accept</a:t>
              </a:r>
            </a:p>
          </p:txBody>
        </p:sp>
        <p:sp>
          <p:nvSpPr>
            <p:cNvPr id="90189" name="Oval 125">
              <a:extLst>
                <a:ext uri="{FF2B5EF4-FFF2-40B4-BE49-F238E27FC236}">
                  <a16:creationId xmlns:a16="http://schemas.microsoft.com/office/drawing/2014/main" id="{CF662305-EC10-4259-912B-AB5CDBBE5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" y="2208"/>
              <a:ext cx="240" cy="240"/>
            </a:xfrm>
            <a:prstGeom prst="ellips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90190" name="Oval 126">
              <a:extLst>
                <a:ext uri="{FF2B5EF4-FFF2-40B4-BE49-F238E27FC236}">
                  <a16:creationId xmlns:a16="http://schemas.microsoft.com/office/drawing/2014/main" id="{893CED06-43DA-4E7E-94BB-654DED13B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160"/>
              <a:ext cx="384" cy="240"/>
            </a:xfrm>
            <a:prstGeom prst="ellips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90191" name="Freeform 127">
              <a:extLst>
                <a:ext uri="{FF2B5EF4-FFF2-40B4-BE49-F238E27FC236}">
                  <a16:creationId xmlns:a16="http://schemas.microsoft.com/office/drawing/2014/main" id="{21A3C531-E6C2-4C9E-88E4-9DC1D8A22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1936"/>
              <a:ext cx="1056" cy="336"/>
            </a:xfrm>
            <a:custGeom>
              <a:avLst/>
              <a:gdLst>
                <a:gd name="T0" fmla="*/ 1056 w 1056"/>
                <a:gd name="T1" fmla="*/ 0 h 336"/>
                <a:gd name="T2" fmla="*/ 576 w 1056"/>
                <a:gd name="T3" fmla="*/ 240 h 336"/>
                <a:gd name="T4" fmla="*/ 0 w 1056"/>
                <a:gd name="T5" fmla="*/ 336 h 336"/>
                <a:gd name="T6" fmla="*/ 0 60000 65536"/>
                <a:gd name="T7" fmla="*/ 0 60000 65536"/>
                <a:gd name="T8" fmla="*/ 0 60000 65536"/>
                <a:gd name="T9" fmla="*/ 0 w 1056"/>
                <a:gd name="T10" fmla="*/ 0 h 336"/>
                <a:gd name="T11" fmla="*/ 1056 w 1056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6" h="336">
                  <a:moveTo>
                    <a:pt x="1056" y="0"/>
                  </a:moveTo>
                  <a:cubicBezTo>
                    <a:pt x="904" y="92"/>
                    <a:pt x="752" y="184"/>
                    <a:pt x="576" y="240"/>
                  </a:cubicBezTo>
                  <a:cubicBezTo>
                    <a:pt x="400" y="296"/>
                    <a:pt x="200" y="316"/>
                    <a:pt x="0" y="336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90192" name="Freeform 128">
              <a:extLst>
                <a:ext uri="{FF2B5EF4-FFF2-40B4-BE49-F238E27FC236}">
                  <a16:creationId xmlns:a16="http://schemas.microsoft.com/office/drawing/2014/main" id="{527FAC91-296A-43B7-802B-2DD198CB4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1936"/>
              <a:ext cx="2400" cy="528"/>
            </a:xfrm>
            <a:custGeom>
              <a:avLst/>
              <a:gdLst>
                <a:gd name="T0" fmla="*/ 2400 w 2400"/>
                <a:gd name="T1" fmla="*/ 0 h 528"/>
                <a:gd name="T2" fmla="*/ 1968 w 2400"/>
                <a:gd name="T3" fmla="*/ 336 h 528"/>
                <a:gd name="T4" fmla="*/ 1440 w 2400"/>
                <a:gd name="T5" fmla="*/ 480 h 528"/>
                <a:gd name="T6" fmla="*/ 1056 w 2400"/>
                <a:gd name="T7" fmla="*/ 528 h 528"/>
                <a:gd name="T8" fmla="*/ 384 w 2400"/>
                <a:gd name="T9" fmla="*/ 480 h 528"/>
                <a:gd name="T10" fmla="*/ 0 w 2400"/>
                <a:gd name="T11" fmla="*/ 432 h 5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00"/>
                <a:gd name="T19" fmla="*/ 0 h 528"/>
                <a:gd name="T20" fmla="*/ 2400 w 2400"/>
                <a:gd name="T21" fmla="*/ 528 h 5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00" h="528">
                  <a:moveTo>
                    <a:pt x="2400" y="0"/>
                  </a:moveTo>
                  <a:cubicBezTo>
                    <a:pt x="2264" y="128"/>
                    <a:pt x="2128" y="256"/>
                    <a:pt x="1968" y="336"/>
                  </a:cubicBezTo>
                  <a:cubicBezTo>
                    <a:pt x="1808" y="416"/>
                    <a:pt x="1592" y="448"/>
                    <a:pt x="1440" y="480"/>
                  </a:cubicBezTo>
                  <a:cubicBezTo>
                    <a:pt x="1288" y="512"/>
                    <a:pt x="1232" y="528"/>
                    <a:pt x="1056" y="528"/>
                  </a:cubicBezTo>
                  <a:cubicBezTo>
                    <a:pt x="880" y="528"/>
                    <a:pt x="560" y="496"/>
                    <a:pt x="384" y="480"/>
                  </a:cubicBezTo>
                  <a:cubicBezTo>
                    <a:pt x="208" y="464"/>
                    <a:pt x="104" y="448"/>
                    <a:pt x="0" y="432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graphicFrame>
        <p:nvGraphicFramePr>
          <p:cNvPr id="131" name="Group 95">
            <a:extLst>
              <a:ext uri="{FF2B5EF4-FFF2-40B4-BE49-F238E27FC236}">
                <a16:creationId xmlns:a16="http://schemas.microsoft.com/office/drawing/2014/main" id="{3676EA2C-30A4-4356-9C6B-9A2CE529B2D1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1676400"/>
          <a:ext cx="3429000" cy="850900"/>
        </p:xfrm>
        <a:graphic>
          <a:graphicData uri="http://schemas.openxmlformats.org/drawingml/2006/table">
            <a:tbl>
              <a:tblPr/>
              <a:tblGrid>
                <a:gridCol w="33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Footer Placeholder 1">
            <a:extLst>
              <a:ext uri="{FF2B5EF4-FFF2-40B4-BE49-F238E27FC236}">
                <a16:creationId xmlns:a16="http://schemas.microsoft.com/office/drawing/2014/main" id="{BCB03C1C-ADBF-4D72-BF56-FCD8BCE225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92162" name="Slide Number Placeholder 2">
            <a:extLst>
              <a:ext uri="{FF2B5EF4-FFF2-40B4-BE49-F238E27FC236}">
                <a16:creationId xmlns:a16="http://schemas.microsoft.com/office/drawing/2014/main" id="{902ADBE3-F1F2-4428-A68A-3DB8CA99B5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D4F2C26-F7F6-4A50-9095-756175C5A817}" type="slidenum">
              <a:rPr lang="en-US" altLang="it-IT"/>
              <a:pPr/>
              <a:t>39</a:t>
            </a:fld>
            <a:endParaRPr lang="en-US" altLang="it-IT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A8C32AC8-6EEA-409A-887C-49071A2C203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143000"/>
            <a:ext cx="7772400" cy="5334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 string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baa</a:t>
            </a:r>
            <a:endParaRPr lang="en-US" altLang="it-IT">
              <a:sym typeface="Symbol" panose="05050102010706020507" pitchFamily="18" charset="2"/>
            </a:endParaRP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FB82DBDD-0B98-4538-885A-55B13CF618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 sz="2000">
                <a:sym typeface="Symbol" panose="05050102010706020507" pitchFamily="18" charset="2"/>
              </a:rPr>
              <a:t>Example Parse 2</a:t>
            </a:r>
          </a:p>
        </p:txBody>
      </p:sp>
      <p:graphicFrame>
        <p:nvGraphicFramePr>
          <p:cNvPr id="106500" name="Group 4">
            <a:extLst>
              <a:ext uri="{FF2B5EF4-FFF2-40B4-BE49-F238E27FC236}">
                <a16:creationId xmlns:a16="http://schemas.microsoft.com/office/drawing/2014/main" id="{156F1923-5229-42DA-8D4D-7CFC0E13345D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987800"/>
          <a:ext cx="3200400" cy="2108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 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6532" name="Group 36">
            <a:extLst>
              <a:ext uri="{FF2B5EF4-FFF2-40B4-BE49-F238E27FC236}">
                <a16:creationId xmlns:a16="http://schemas.microsoft.com/office/drawing/2014/main" id="{6DAECB56-874D-4BCB-A037-43D9DD208108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3987800"/>
          <a:ext cx="2362200" cy="2108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0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GOTO Table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State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6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6559" name="Group 63">
            <a:extLst>
              <a:ext uri="{FF2B5EF4-FFF2-40B4-BE49-F238E27FC236}">
                <a16:creationId xmlns:a16="http://schemas.microsoft.com/office/drawing/2014/main" id="{D00376F6-E595-49F4-8786-6639571ECF9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76400"/>
          <a:ext cx="4495800" cy="2133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Stack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Input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Action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SN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shift 3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4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SN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  <a:endParaRPr kumimoji="0" lang="en-US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reduce 2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9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$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SN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s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6" marB="4570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accept</a:t>
                      </a:r>
                    </a:p>
                  </a:txBody>
                  <a:tcPr marT="45706" marB="4570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2" name="Group 95">
            <a:extLst>
              <a:ext uri="{FF2B5EF4-FFF2-40B4-BE49-F238E27FC236}">
                <a16:creationId xmlns:a16="http://schemas.microsoft.com/office/drawing/2014/main" id="{AB3F0F4F-3E74-4055-82DA-D557A41A8245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1676400"/>
          <a:ext cx="3429000" cy="850900"/>
        </p:xfrm>
        <a:graphic>
          <a:graphicData uri="http://schemas.openxmlformats.org/drawingml/2006/table">
            <a:tbl>
              <a:tblPr/>
              <a:tblGrid>
                <a:gridCol w="33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SheepNoise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47" marB="4574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baa</a:t>
                      </a:r>
                    </a:p>
                  </a:txBody>
                  <a:tcPr marT="45747" marB="4574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Footer Placeholder 1">
            <a:extLst>
              <a:ext uri="{FF2B5EF4-FFF2-40B4-BE49-F238E27FC236}">
                <a16:creationId xmlns:a16="http://schemas.microsoft.com/office/drawing/2014/main" id="{E7EFACAB-5198-4579-9311-C87B997C83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94210" name="Slide Number Placeholder 2">
            <a:extLst>
              <a:ext uri="{FF2B5EF4-FFF2-40B4-BE49-F238E27FC236}">
                <a16:creationId xmlns:a16="http://schemas.microsoft.com/office/drawing/2014/main" id="{121621EB-6A91-4511-B035-48900735DD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6FB31D2-7B3E-45D0-A7C1-0B01FE678B51}" type="slidenum">
              <a:rPr lang="en-US" altLang="it-IT"/>
              <a:pPr/>
              <a:t>40</a:t>
            </a:fld>
            <a:endParaRPr lang="en-US" altLang="it-IT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E4B73BF3-5FE2-42C1-B4C1-676DAECA7F7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>
                <a:sym typeface="Symbol" panose="05050102010706020507" pitchFamily="18" charset="2"/>
              </a:rPr>
              <a:t>LR(1) Parsers</a:t>
            </a:r>
          </a:p>
        </p:txBody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BDD42FB-905C-445E-8E6A-977ADE32F6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How does this LR(1) stuff work?</a:t>
            </a:r>
          </a:p>
          <a:p>
            <a:pPr eaLnBrk="1" hangingPunct="1"/>
            <a:r>
              <a:rPr lang="en-US" altLang="it-IT" sz="1800">
                <a:sym typeface="Symbol" panose="05050102010706020507" pitchFamily="18" charset="2"/>
              </a:rPr>
              <a:t>Unambiguous grammar  unique rightmost derivation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 sz="1800">
                <a:sym typeface="Symbol" panose="05050102010706020507" pitchFamily="18" charset="2"/>
              </a:rPr>
              <a:t>Keep upper fringe on a stack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All active handles include top of stack (TOS)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Shift inputs until TOS is right end of a handle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 sz="1800">
                <a:sym typeface="Symbol" panose="05050102010706020507" pitchFamily="18" charset="2"/>
              </a:rPr>
              <a:t>Language of handles is regular (finite)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Build a handle-recognizing </a:t>
            </a:r>
            <a:r>
              <a:rPr lang="en-US" altLang="it-IT" sz="1600">
                <a:sym typeface="Symbol" panose="05050102010706020507" pitchFamily="18" charset="2"/>
              </a:rPr>
              <a:t>DFA</a:t>
            </a:r>
            <a:endParaRPr lang="en-US" altLang="it-IT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A</a:t>
            </a:r>
            <a:r>
              <a:rPr lang="en-US" altLang="it-IT" sz="1600">
                <a:sym typeface="Symbol" panose="05050102010706020507" pitchFamily="18" charset="2"/>
              </a:rPr>
              <a:t>CTION</a:t>
            </a:r>
            <a:r>
              <a:rPr lang="en-US" altLang="it-IT">
                <a:sym typeface="Symbol" panose="05050102010706020507" pitchFamily="18" charset="2"/>
              </a:rPr>
              <a:t> &amp; G</a:t>
            </a:r>
            <a:r>
              <a:rPr lang="en-US" altLang="it-IT" sz="1600">
                <a:sym typeface="Symbol" panose="05050102010706020507" pitchFamily="18" charset="2"/>
              </a:rPr>
              <a:t>OTO</a:t>
            </a:r>
            <a:r>
              <a:rPr lang="en-US" altLang="it-IT">
                <a:sym typeface="Symbol" panose="05050102010706020507" pitchFamily="18" charset="2"/>
              </a:rPr>
              <a:t>  tables encode the </a:t>
            </a:r>
            <a:r>
              <a:rPr lang="en-US" altLang="it-IT" sz="1600">
                <a:sym typeface="Symbol" panose="05050102010706020507" pitchFamily="18" charset="2"/>
              </a:rPr>
              <a:t>DFA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it-IT" sz="1800">
                <a:sym typeface="Symbol" panose="05050102010706020507" pitchFamily="18" charset="2"/>
              </a:rPr>
              <a:t>To match subterm, invoke subterm </a:t>
            </a:r>
            <a:r>
              <a:rPr lang="en-US" altLang="it-IT" sz="1600">
                <a:sym typeface="Symbol" panose="05050102010706020507" pitchFamily="18" charset="2"/>
              </a:rPr>
              <a:t>DFA</a:t>
            </a:r>
            <a:endParaRPr lang="en-US" altLang="it-IT" sz="1800">
              <a:sym typeface="Symbol" panose="05050102010706020507" pitchFamily="18" charset="2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600">
                <a:sym typeface="Symbol" panose="05050102010706020507" pitchFamily="18" charset="2"/>
              </a:rPr>
              <a:t> 		</a:t>
            </a:r>
            <a:r>
              <a:rPr lang="en-US" altLang="it-IT" sz="1800">
                <a:sym typeface="Symbol" panose="05050102010706020507" pitchFamily="18" charset="2"/>
              </a:rPr>
              <a:t>&amp; leave old </a:t>
            </a:r>
            <a:r>
              <a:rPr lang="en-US" altLang="it-IT" sz="1600">
                <a:sym typeface="Symbol" panose="05050102010706020507" pitchFamily="18" charset="2"/>
              </a:rPr>
              <a:t>DFA</a:t>
            </a:r>
            <a:r>
              <a:rPr lang="en-US" altLang="it-IT" sz="1800">
                <a:sym typeface="Symbol" panose="05050102010706020507" pitchFamily="18" charset="2"/>
              </a:rPr>
              <a:t>’s state on stack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 sz="1800">
                <a:sym typeface="Symbol" panose="05050102010706020507" pitchFamily="18" charset="2"/>
              </a:rPr>
              <a:t>Final state in </a:t>
            </a:r>
            <a:r>
              <a:rPr lang="en-US" altLang="it-IT" sz="1600">
                <a:sym typeface="Symbol" panose="05050102010706020507" pitchFamily="18" charset="2"/>
              </a:rPr>
              <a:t>DFA </a:t>
            </a:r>
            <a:r>
              <a:rPr lang="en-US" altLang="it-IT" sz="1800">
                <a:sym typeface="Symbol" panose="05050102010706020507" pitchFamily="18" charset="2"/>
              </a:rPr>
              <a:t> a </a:t>
            </a:r>
            <a:r>
              <a:rPr lang="en-US" altLang="it-IT" sz="1800" i="1">
                <a:sym typeface="Symbol" panose="05050102010706020507" pitchFamily="18" charset="2"/>
              </a:rPr>
              <a:t>reduce</a:t>
            </a:r>
            <a:r>
              <a:rPr lang="en-US" altLang="it-IT" sz="1800">
                <a:sym typeface="Symbol" panose="05050102010706020507" pitchFamily="18" charset="2"/>
              </a:rPr>
              <a:t> action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New state is G</a:t>
            </a:r>
            <a:r>
              <a:rPr lang="en-US" altLang="it-IT" sz="1600">
                <a:sym typeface="Symbol" panose="05050102010706020507" pitchFamily="18" charset="2"/>
              </a:rPr>
              <a:t>OTO[state at TOS (after pop), </a:t>
            </a:r>
            <a:r>
              <a:rPr lang="en-US" altLang="it-IT" sz="1600" i="1">
                <a:sym typeface="Symbol" panose="05050102010706020507" pitchFamily="18" charset="2"/>
              </a:rPr>
              <a:t>lhs</a:t>
            </a:r>
            <a:r>
              <a:rPr lang="en-US" altLang="it-IT" sz="1600">
                <a:sym typeface="Symbol" panose="05050102010706020507" pitchFamily="18" charset="2"/>
              </a:rPr>
              <a:t>]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>
                <a:sym typeface="Symbol" panose="05050102010706020507" pitchFamily="18" charset="2"/>
              </a:rPr>
              <a:t>For </a:t>
            </a:r>
            <a:r>
              <a:rPr lang="en-US" altLang="it-IT" i="1">
                <a:sym typeface="Symbol" panose="05050102010706020507" pitchFamily="18" charset="2"/>
              </a:rPr>
              <a:t>SN</a:t>
            </a:r>
            <a:r>
              <a:rPr lang="en-US" altLang="it-IT">
                <a:sym typeface="Symbol" panose="05050102010706020507" pitchFamily="18" charset="2"/>
              </a:rPr>
              <a:t>, this takes the </a:t>
            </a:r>
            <a:r>
              <a:rPr lang="en-US" altLang="it-IT" sz="1600">
                <a:sym typeface="Symbol" panose="05050102010706020507" pitchFamily="18" charset="2"/>
              </a:rPr>
              <a:t>DFA</a:t>
            </a:r>
            <a:r>
              <a:rPr lang="en-US" altLang="it-IT">
                <a:sym typeface="Symbol" panose="05050102010706020507" pitchFamily="18" charset="2"/>
              </a:rPr>
              <a:t> to s</a:t>
            </a:r>
            <a:r>
              <a:rPr lang="en-US" altLang="it-IT" i="1" baseline="-25000">
                <a:sym typeface="Symbol" panose="05050102010706020507" pitchFamily="18" charset="2"/>
              </a:rPr>
              <a:t>1</a:t>
            </a:r>
          </a:p>
        </p:txBody>
      </p:sp>
      <p:grpSp>
        <p:nvGrpSpPr>
          <p:cNvPr id="94213" name="Group 4">
            <a:extLst>
              <a:ext uri="{FF2B5EF4-FFF2-40B4-BE49-F238E27FC236}">
                <a16:creationId xmlns:a16="http://schemas.microsoft.com/office/drawing/2014/main" id="{1F058452-24E6-4A71-952D-66CFF7E5C5D7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895600"/>
            <a:ext cx="2366963" cy="2851150"/>
            <a:chOff x="3888" y="1968"/>
            <a:chExt cx="1491" cy="1796"/>
          </a:xfrm>
        </p:grpSpPr>
        <p:sp>
          <p:nvSpPr>
            <p:cNvPr id="94214" name="Oval 5">
              <a:extLst>
                <a:ext uri="{FF2B5EF4-FFF2-40B4-BE49-F238E27FC236}">
                  <a16:creationId xmlns:a16="http://schemas.microsoft.com/office/drawing/2014/main" id="{3E6487F8-88E3-4218-9124-597220733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259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94215" name="Oval 6">
              <a:extLst>
                <a:ext uri="{FF2B5EF4-FFF2-40B4-BE49-F238E27FC236}">
                  <a16:creationId xmlns:a16="http://schemas.microsoft.com/office/drawing/2014/main" id="{4050521D-EC71-40BC-A141-360BE8083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1" y="2307"/>
              <a:ext cx="288" cy="288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3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94216" name="Oval 7">
              <a:extLst>
                <a:ext uri="{FF2B5EF4-FFF2-40B4-BE49-F238E27FC236}">
                  <a16:creationId xmlns:a16="http://schemas.microsoft.com/office/drawing/2014/main" id="{28903AF2-3931-418E-896B-FA7196899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" y="2979"/>
              <a:ext cx="288" cy="288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2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94217" name="Oval 8">
              <a:extLst>
                <a:ext uri="{FF2B5EF4-FFF2-40B4-BE49-F238E27FC236}">
                  <a16:creationId xmlns:a16="http://schemas.microsoft.com/office/drawing/2014/main" id="{09995830-CC94-473D-9987-243D6A9CC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" y="230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</a:t>
              </a:r>
              <a:r>
                <a:rPr lang="en-US" altLang="it-IT" sz="1400" baseline="-250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94218" name="Line 9">
              <a:extLst>
                <a:ext uri="{FF2B5EF4-FFF2-40B4-BE49-F238E27FC236}">
                  <a16:creationId xmlns:a16="http://schemas.microsoft.com/office/drawing/2014/main" id="{06963216-994E-4D8E-91C4-F664B3BEE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7" y="2493"/>
              <a:ext cx="245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94219" name="Line 10">
              <a:extLst>
                <a:ext uri="{FF2B5EF4-FFF2-40B4-BE49-F238E27FC236}">
                  <a16:creationId xmlns:a16="http://schemas.microsoft.com/office/drawing/2014/main" id="{B2218D25-E229-4403-A957-98970A7834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3" y="2813"/>
              <a:ext cx="23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94220" name="Line 11">
              <a:extLst>
                <a:ext uri="{FF2B5EF4-FFF2-40B4-BE49-F238E27FC236}">
                  <a16:creationId xmlns:a16="http://schemas.microsoft.com/office/drawing/2014/main" id="{EE16C438-79A7-4107-8761-80B1CBDC0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55"/>
              <a:ext cx="3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94221" name="Text Box 12">
              <a:extLst>
                <a:ext uri="{FF2B5EF4-FFF2-40B4-BE49-F238E27FC236}">
                  <a16:creationId xmlns:a16="http://schemas.microsoft.com/office/drawing/2014/main" id="{ECD8B68A-158B-4209-96E7-5CB8D52DC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3" y="2739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u="sng">
                  <a:latin typeface="Arial Rounded MT Bold" panose="020F0704030504030204" pitchFamily="34" charset="0"/>
                </a:rPr>
                <a:t>baa</a:t>
              </a:r>
              <a:endParaRPr lang="en-US" altLang="it-IT" sz="1600" u="sng">
                <a:latin typeface="Arial Rounded MT Bold" panose="020F0704030504030204" pitchFamily="34" charset="0"/>
              </a:endParaRPr>
            </a:p>
          </p:txBody>
        </p:sp>
        <p:sp>
          <p:nvSpPr>
            <p:cNvPr id="94222" name="Text Box 13">
              <a:extLst>
                <a:ext uri="{FF2B5EF4-FFF2-40B4-BE49-F238E27FC236}">
                  <a16:creationId xmlns:a16="http://schemas.microsoft.com/office/drawing/2014/main" id="{8B2A7D66-7606-429B-856D-362112218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3" y="2244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u="sng">
                  <a:latin typeface="Arial Rounded MT Bold" panose="020F0704030504030204" pitchFamily="34" charset="0"/>
                </a:rPr>
                <a:t>baa</a:t>
              </a:r>
              <a:endParaRPr lang="en-US" altLang="it-IT" sz="1600" u="sng">
                <a:latin typeface="Arial Rounded MT Bold" panose="020F0704030504030204" pitchFamily="34" charset="0"/>
              </a:endParaRPr>
            </a:p>
          </p:txBody>
        </p:sp>
        <p:sp>
          <p:nvSpPr>
            <p:cNvPr id="94223" name="Text Box 14">
              <a:extLst>
                <a:ext uri="{FF2B5EF4-FFF2-40B4-BE49-F238E27FC236}">
                  <a16:creationId xmlns:a16="http://schemas.microsoft.com/office/drawing/2014/main" id="{6B175C33-8703-4D0F-8727-C0FD1B664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6" y="254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>
                  <a:latin typeface="Arial Rounded MT Bold" panose="020F0704030504030204" pitchFamily="34" charset="0"/>
                </a:rPr>
                <a:t>SN</a:t>
              </a:r>
              <a:endParaRPr lang="en-US" altLang="it-IT" sz="1600" u="sng">
                <a:latin typeface="Arial Rounded MT Bold" panose="020F0704030504030204" pitchFamily="34" charset="0"/>
              </a:endParaRPr>
            </a:p>
          </p:txBody>
        </p:sp>
        <p:sp>
          <p:nvSpPr>
            <p:cNvPr id="94224" name="Text Box 15">
              <a:extLst>
                <a:ext uri="{FF2B5EF4-FFF2-40B4-BE49-F238E27FC236}">
                  <a16:creationId xmlns:a16="http://schemas.microsoft.com/office/drawing/2014/main" id="{86383E2F-D9DD-4949-8661-D678340B6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552"/>
              <a:ext cx="13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 i="1"/>
                <a:t>Control </a:t>
              </a:r>
              <a:r>
                <a:rPr lang="en-US" altLang="it-IT" sz="1400" i="1"/>
                <a:t>DFA</a:t>
              </a:r>
              <a:r>
                <a:rPr lang="en-US" altLang="it-IT" sz="1600" i="1"/>
                <a:t> for SN</a:t>
              </a:r>
            </a:p>
          </p:txBody>
        </p:sp>
        <p:cxnSp>
          <p:nvCxnSpPr>
            <p:cNvPr id="94225" name="AutoShape 16">
              <a:extLst>
                <a:ext uri="{FF2B5EF4-FFF2-40B4-BE49-F238E27FC236}">
                  <a16:creationId xmlns:a16="http://schemas.microsoft.com/office/drawing/2014/main" id="{5D49EAF6-8CC6-4CE7-832D-993DA58FCA03}"/>
                </a:ext>
              </a:extLst>
            </p:cNvPr>
            <p:cNvCxnSpPr>
              <a:cxnSpLocks noChangeShapeType="1"/>
              <a:stCxn id="94214" idx="0"/>
              <a:endCxn id="94217" idx="0"/>
            </p:cNvCxnSpPr>
            <p:nvPr/>
          </p:nvCxnSpPr>
          <p:spPr bwMode="auto">
            <a:xfrm rot="5400000" flipH="1" flipV="1">
              <a:off x="4227" y="2211"/>
              <a:ext cx="288" cy="480"/>
            </a:xfrm>
            <a:prstGeom prst="curvedConnector3">
              <a:avLst>
                <a:gd name="adj1" fmla="val 150000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4226" name="Text Box 19">
              <a:extLst>
                <a:ext uri="{FF2B5EF4-FFF2-40B4-BE49-F238E27FC236}">
                  <a16:creationId xmlns:a16="http://schemas.microsoft.com/office/drawing/2014/main" id="{69B42972-28BC-4632-AED7-64D4063FB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968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/>
                <a:t>Reduce action</a:t>
              </a:r>
              <a:endParaRPr lang="en-US" altLang="it-IT" sz="1600"/>
            </a:p>
          </p:txBody>
        </p:sp>
      </p:grp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4127</Words>
  <Application>Microsoft Office PowerPoint</Application>
  <PresentationFormat>Presentazione su schermo (4:3)</PresentationFormat>
  <Paragraphs>1710</Paragraphs>
  <Slides>41</Slides>
  <Notes>38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42" baseType="lpstr">
      <vt:lpstr>Blank Presentation</vt:lpstr>
      <vt:lpstr>Bottom-up Parsing, Part I  Comp 412</vt:lpstr>
      <vt:lpstr>Recap of Top-down Parsing</vt:lpstr>
      <vt:lpstr>Parsing Techniques</vt:lpstr>
      <vt:lpstr>Bottom-up Parsing                          (definitions)</vt:lpstr>
      <vt:lpstr>Bottom-up Parsing                          (definitions)</vt:lpstr>
      <vt:lpstr>Finding Reductions</vt:lpstr>
      <vt:lpstr>Finding Reductions                              (Handles)</vt:lpstr>
      <vt:lpstr>Example</vt:lpstr>
      <vt:lpstr>Example</vt:lpstr>
      <vt:lpstr>Example</vt:lpstr>
      <vt:lpstr>Bottom-up Parsing                    (Abstract View)</vt:lpstr>
      <vt:lpstr>More on Handles</vt:lpstr>
      <vt:lpstr>More on Handles</vt:lpstr>
      <vt:lpstr>Handles Are Unique</vt:lpstr>
      <vt:lpstr>Shift-reduce Parsing</vt:lpstr>
      <vt:lpstr>Bottom-up Parser</vt:lpstr>
      <vt:lpstr>Back to x - 2 * y</vt:lpstr>
      <vt:lpstr>Back to x - 2 * y</vt:lpstr>
      <vt:lpstr>Back to x - 2 * y</vt:lpstr>
      <vt:lpstr>Back to x - 2 * y</vt:lpstr>
      <vt:lpstr>Back to x - 2 * y</vt:lpstr>
      <vt:lpstr>Back to x - 2 * y</vt:lpstr>
      <vt:lpstr>Back to x - 2 * y</vt:lpstr>
      <vt:lpstr>Back to x - 2 * y</vt:lpstr>
      <vt:lpstr>An Important Lesson about Handles</vt:lpstr>
      <vt:lpstr>LR(1) Parsers</vt:lpstr>
      <vt:lpstr>LR(1) Parsers</vt:lpstr>
      <vt:lpstr>LR(1) Parsers</vt:lpstr>
      <vt:lpstr>LR(1) Skeleton Parser</vt:lpstr>
      <vt:lpstr>LR(1) Parsers                                              (parse tables)</vt:lpstr>
      <vt:lpstr>Example Parse 1</vt:lpstr>
      <vt:lpstr>Example Parse 1</vt:lpstr>
      <vt:lpstr>Example Parse 1</vt:lpstr>
      <vt:lpstr>Example Parse 1</vt:lpstr>
      <vt:lpstr>Example Parse 2</vt:lpstr>
      <vt:lpstr>Example Parse 2</vt:lpstr>
      <vt:lpstr>Example Parse 2</vt:lpstr>
      <vt:lpstr>Example Parse 2</vt:lpstr>
      <vt:lpstr>Example Parse 2</vt:lpstr>
      <vt:lpstr>Example Parse 2</vt:lpstr>
      <vt:lpstr>LR(1) Parsers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48</cp:revision>
  <cp:lastPrinted>2009-09-28T17:35:19Z</cp:lastPrinted>
  <dcterms:created xsi:type="dcterms:W3CDTF">2010-11-13T20:09:21Z</dcterms:created>
  <dcterms:modified xsi:type="dcterms:W3CDTF">2020-10-19T08:08:07Z</dcterms:modified>
</cp:coreProperties>
</file>