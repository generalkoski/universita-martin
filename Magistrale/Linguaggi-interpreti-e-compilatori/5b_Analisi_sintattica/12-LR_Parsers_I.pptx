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256" r:id="rId2"/>
    <p:sldId id="292" r:id="rId3"/>
    <p:sldId id="293" r:id="rId4"/>
    <p:sldId id="294" r:id="rId5"/>
    <p:sldId id="296" r:id="rId6"/>
    <p:sldId id="297" r:id="rId7"/>
    <p:sldId id="298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clrMru>
    <a:srgbClr val="E6E6E6"/>
    <a:srgbClr val="B025A6"/>
    <a:srgbClr val="FF0065"/>
    <a:srgbClr val="003C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-15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914854-989A-4E69-9230-C5DBFC58EC0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0BFC06-28DA-47AB-8017-1D08019FABD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fld id="{BC762763-1634-4FBF-A40D-774B297F5813}" type="datetime1">
              <a:rPr lang="en-US"/>
              <a:pPr>
                <a:defRPr/>
              </a:pPr>
              <a:t>10/19/2020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3E4765-ED05-4496-AF35-AD43A2814F7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E14936-A6F8-41B9-84CA-BA77A507D65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430DA8FE-9D85-49D1-8BF8-3F9306408B1E}" type="slidenum">
              <a:rPr lang="en-US" altLang="it-IT"/>
              <a:pPr/>
              <a:t>‹N›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C00F30F-484A-4543-BD12-AEFD1AA83AB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B3783C71-9610-4005-9C00-7278FC3B1C8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E089FB8F-1DEE-4363-A254-82B98A59C68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F0E7A670-7AB4-4D92-96DA-F9B1BAF74EF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BB0A1D2E-A503-4CC9-A5AF-70126EE5423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1ACB5DD-11EC-4F64-81B4-7A12D66AB5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574CBFEA-0F88-486D-ABD4-69A47AC7BB3C}" type="slidenum">
              <a:rPr lang="en-US" altLang="it-IT"/>
              <a:pPr/>
              <a:t>‹N›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50C08840-5C9D-4628-8E17-7132F2EE47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F1F8BDF-57E0-44B2-936C-C33C0F8082C8}" type="slidenum">
              <a:rPr lang="en-US" altLang="it-IT"/>
              <a:pPr/>
              <a:t>0</a:t>
            </a:fld>
            <a:endParaRPr lang="en-US" altLang="it-IT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63607F89-F916-4A15-86D0-D1B4B27ABF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89C3E4DE-5605-4F5A-BF7A-37A4649578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50C7A592-6326-436A-BF07-8B51FAF907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76899B3-87C7-4B37-B023-857842A2F338}" type="slidenum">
              <a:rPr lang="en-US" altLang="it-IT"/>
              <a:pPr/>
              <a:t>6</a:t>
            </a:fld>
            <a:endParaRPr lang="en-US" altLang="it-IT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D7122A67-85FC-4FB3-91A4-883B869AEF9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46F5AB83-FB8D-4035-B4D9-C63CFC81DC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F6D38E09-9D5A-49DD-8A4F-2BD16A5D1A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888C7D6-43D4-4959-8CF3-29315AEDED09}" type="slidenum">
              <a:rPr lang="en-US" altLang="it-IT"/>
              <a:pPr/>
              <a:t>7</a:t>
            </a:fld>
            <a:endParaRPr lang="en-US" altLang="it-IT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97FB534C-2B5B-442C-AA22-CEC5EA2A622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01BDAFA2-5881-4268-ACE6-5213D308B6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14A6AAE8-2EEA-4BC8-B820-361020EB86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B4E8222-4B74-42C7-B94E-BEA9CFC82335}" type="slidenum">
              <a:rPr lang="en-US" altLang="it-IT"/>
              <a:pPr/>
              <a:t>8</a:t>
            </a:fld>
            <a:endParaRPr lang="en-US" altLang="it-IT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05A6A7B3-2BDC-4449-AB6F-FE98A36A90C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416B62D5-D385-4E3A-8511-747A0CB822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8509CB4B-B81A-4493-8BD8-294A092E1B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8E3079C-3500-4878-9341-B78B92D58A38}" type="slidenum">
              <a:rPr lang="en-US" altLang="it-IT"/>
              <a:pPr/>
              <a:t>9</a:t>
            </a:fld>
            <a:endParaRPr lang="en-US" altLang="it-IT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CFF14AD3-48DB-436F-BCEA-4D6AAF68842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B034DE47-8AC7-4FAF-95D6-81F23FF76E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5C70147A-E54D-4A09-9B16-47B5F56BB1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19D4BD7-5FF7-47D6-9947-058082D77252}" type="slidenum">
              <a:rPr lang="en-US" altLang="it-IT"/>
              <a:pPr/>
              <a:t>10</a:t>
            </a:fld>
            <a:endParaRPr lang="en-US" altLang="it-IT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04FA257D-672F-4D46-842C-D42A0B649B62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308390F6-F8F1-4A5B-A095-0F4728BF16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159EAD52-C949-4336-A4DE-B4C9BDC6C8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13D5700-FC31-4DE3-964C-E2EEBF82021B}" type="slidenum">
              <a:rPr lang="en-US" altLang="it-IT"/>
              <a:pPr/>
              <a:t>11</a:t>
            </a:fld>
            <a:endParaRPr lang="en-US" altLang="it-IT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52B84CE0-D5F0-4392-981E-5ADA845F77E2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30880E64-3736-4128-82F9-D8E80A8610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DDCD784E-2AF2-4BB1-AA96-6D0E7B5B4E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09AD088-2554-4C7E-8978-0E8312233423}" type="slidenum">
              <a:rPr lang="en-US" altLang="it-IT"/>
              <a:pPr/>
              <a:t>12</a:t>
            </a:fld>
            <a:endParaRPr lang="en-US" altLang="it-IT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A9CA5808-2325-48DD-B3D1-3B0DF70C1F9E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864392C8-F3E5-4CE9-ABA3-DE77FFCAB3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095AA46B-86BC-4BC5-8E53-C60C97E245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2AE05BD-C0B4-4E86-8314-93D5739B6811}" type="slidenum">
              <a:rPr lang="en-US" altLang="it-IT"/>
              <a:pPr/>
              <a:t>13</a:t>
            </a:fld>
            <a:endParaRPr lang="en-US" altLang="it-IT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C2DBFB7D-4129-4F37-8A77-3619362B5BC4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06FAD8AD-FECE-4468-81B7-A2DBD8C901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5A3A41AD-240F-4F3C-B186-EA0431FA78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4F53550-BDD9-4F1B-B9EF-394505E858D6}" type="slidenum">
              <a:rPr lang="en-US" altLang="it-IT"/>
              <a:pPr/>
              <a:t>14</a:t>
            </a:fld>
            <a:endParaRPr lang="en-US" altLang="it-IT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95CFBE93-6234-4777-996B-167821826727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09D92DA0-B9A2-4EFB-92D9-3E1A2B7CCB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C08CEF68-F782-493D-87D5-15B89EDC15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A5ADD51-D7B2-43EA-B281-0D653DB37D84}" type="slidenum">
              <a:rPr lang="en-US" altLang="it-IT"/>
              <a:pPr/>
              <a:t>15</a:t>
            </a:fld>
            <a:endParaRPr lang="en-US" altLang="it-IT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819A2669-5EC8-44EB-B282-E1F2AC37984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CBEEC4DD-84AC-4076-8B36-3A5517B8D5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>
            <a:extLst>
              <a:ext uri="{FF2B5EF4-FFF2-40B4-BE49-F238E27FC236}">
                <a16:creationId xmlns:a16="http://schemas.microsoft.com/office/drawing/2014/main" id="{DE0F9845-5072-4C67-81C8-F2A6581CD2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2989FCB-1E71-404A-8C55-36E2C8CFD224}" type="slidenum">
              <a:rPr lang="en-US" altLang="it-IT"/>
              <a:pPr/>
              <a:t>16</a:t>
            </a:fld>
            <a:endParaRPr lang="en-US" altLang="it-IT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AD55B58B-F8EF-438E-972C-B7C2B7D524F2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34E9C270-12CE-478B-AE00-8E731BD41C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0FA23112-EE0A-488B-B700-EBAB877893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8129BB4-38FA-4D54-83AE-66BCF0F5F380}" type="slidenum">
              <a:rPr lang="en-US" altLang="it-IT"/>
              <a:pPr/>
              <a:t>17</a:t>
            </a:fld>
            <a:endParaRPr lang="en-US" altLang="it-IT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AED1AF65-478A-4854-AEFB-F07EB2395BC0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8A1AC22D-2017-4835-8A72-0B502266E3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FE25A66C-BE7C-4B02-9B6C-00731AA59E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6362C5F-51A1-4F0D-A787-CFDD288C2817}" type="slidenum">
              <a:rPr lang="en-US" altLang="it-IT"/>
              <a:pPr/>
              <a:t>18</a:t>
            </a:fld>
            <a:endParaRPr lang="en-US" altLang="it-IT"/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64F65D1F-20F1-497A-A2CD-0B7FC2509E5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AADAD1A2-BF23-4241-8577-12CB1D8883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>
            <a:extLst>
              <a:ext uri="{FF2B5EF4-FFF2-40B4-BE49-F238E27FC236}">
                <a16:creationId xmlns:a16="http://schemas.microsoft.com/office/drawing/2014/main" id="{0060FBA7-1863-4BF9-823D-5F90A97C22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AEAD1BA-7F3B-484E-9224-1BBE3870BEE1}" type="slidenum">
              <a:rPr lang="en-US" altLang="it-IT"/>
              <a:pPr/>
              <a:t>19</a:t>
            </a:fld>
            <a:endParaRPr lang="en-US" altLang="it-IT"/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DA511A37-49C1-455F-9F34-07E526964A14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5FFDBF90-DA0D-4FE1-B7BB-40635E8AED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3898B8A0-48F9-4102-B54B-F742BC7F50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9CA7315-9C1F-428C-9310-5CDBA2712DB7}" type="slidenum">
              <a:rPr lang="en-US" altLang="it-IT"/>
              <a:pPr/>
              <a:t>20</a:t>
            </a:fld>
            <a:endParaRPr lang="en-US" altLang="it-IT"/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1E59BD67-83E0-4987-9710-42F65856E237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E074BE16-3C49-4A4D-A777-13C8EAAC75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A139F9D9-08C5-4BE4-B071-A7BC41B76A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3F2D30F-137A-4791-9C4F-E5B971261453}" type="slidenum">
              <a:rPr lang="en-US" altLang="it-IT"/>
              <a:pPr/>
              <a:t>21</a:t>
            </a:fld>
            <a:endParaRPr lang="en-US" altLang="it-IT"/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740A2548-B9C9-4D6F-A229-E40F4733C05C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A6BFBFAF-27D4-45C3-BB98-9A059C4EF1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>
            <a:extLst>
              <a:ext uri="{FF2B5EF4-FFF2-40B4-BE49-F238E27FC236}">
                <a16:creationId xmlns:a16="http://schemas.microsoft.com/office/drawing/2014/main" id="{2C79FF9D-3DBB-4C70-83CF-2311BF3862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2839FD6-9D55-42E7-8794-086FE87979EC}" type="slidenum">
              <a:rPr lang="en-US" altLang="it-IT"/>
              <a:pPr/>
              <a:t>22</a:t>
            </a:fld>
            <a:endParaRPr lang="en-US" altLang="it-IT"/>
          </a:p>
        </p:txBody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BF030CEB-3A2F-44DD-B396-4C8C0E902A02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5A73BC36-26A3-474F-8B1B-4DD32751BC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D341ADFA-B3D0-421F-AB9C-29D41573AC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8DCF8C9-ACD4-40BE-B14E-A423476528E8}" type="slidenum">
              <a:rPr lang="en-US" altLang="it-IT"/>
              <a:pPr/>
              <a:t>23</a:t>
            </a:fld>
            <a:endParaRPr lang="en-US" altLang="it-IT"/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6735B2EA-EA38-43A1-9172-5DF9046C9010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20B265B0-3D46-4048-A5ED-A1EB6DEE92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>
            <a:extLst>
              <a:ext uri="{FF2B5EF4-FFF2-40B4-BE49-F238E27FC236}">
                <a16:creationId xmlns:a16="http://schemas.microsoft.com/office/drawing/2014/main" id="{D3D53550-4FE5-4ECF-B3F4-E3E5E60E64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3AE81EF-EECF-42B3-A504-FCACB5F435C6}" type="slidenum">
              <a:rPr lang="en-US" altLang="it-IT"/>
              <a:pPr/>
              <a:t>24</a:t>
            </a:fld>
            <a:endParaRPr lang="en-US" altLang="it-IT"/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3A139DA8-AC4D-4A3C-8A14-99AE691D8050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5C43717F-8DD1-46F5-9BED-6B385BAABE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>
            <a:extLst>
              <a:ext uri="{FF2B5EF4-FFF2-40B4-BE49-F238E27FC236}">
                <a16:creationId xmlns:a16="http://schemas.microsoft.com/office/drawing/2014/main" id="{64D66180-331D-4B77-B914-8755D637E1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D642862-CE20-4AC1-A01E-AD6C00883DF8}" type="slidenum">
              <a:rPr lang="en-US" altLang="it-IT"/>
              <a:pPr/>
              <a:t>25</a:t>
            </a:fld>
            <a:endParaRPr lang="en-US" altLang="it-IT"/>
          </a:p>
        </p:txBody>
      </p:sp>
      <p:sp>
        <p:nvSpPr>
          <p:cNvPr id="62466" name="Rectangle 2">
            <a:extLst>
              <a:ext uri="{FF2B5EF4-FFF2-40B4-BE49-F238E27FC236}">
                <a16:creationId xmlns:a16="http://schemas.microsoft.com/office/drawing/2014/main" id="{5701C98F-1324-4E74-A6BB-4F693CF86229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FCBA0B15-FF3E-450A-A5FE-B7092A6E65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>
            <a:extLst>
              <a:ext uri="{FF2B5EF4-FFF2-40B4-BE49-F238E27FC236}">
                <a16:creationId xmlns:a16="http://schemas.microsoft.com/office/drawing/2014/main" id="{16F6E979-2878-409E-8906-B4E1E693C8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2F9D71E-C72C-47D0-A314-D64BF45DF696}" type="slidenum">
              <a:rPr lang="en-US" altLang="it-IT"/>
              <a:pPr/>
              <a:t>26</a:t>
            </a:fld>
            <a:endParaRPr lang="en-US" altLang="it-IT"/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5E9FC63F-50A7-4B62-B172-604D4C9C9792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36AEF072-E4C9-4B6F-9DF1-FD1E7DE1A6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>
            <a:extLst>
              <a:ext uri="{FF2B5EF4-FFF2-40B4-BE49-F238E27FC236}">
                <a16:creationId xmlns:a16="http://schemas.microsoft.com/office/drawing/2014/main" id="{D2CBBF6F-C6EB-4791-97AA-7DEFE5019B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924629B-D9E5-4E5E-82C3-4EAF54B31C87}" type="slidenum">
              <a:rPr lang="en-US" altLang="it-IT"/>
              <a:pPr/>
              <a:t>27</a:t>
            </a:fld>
            <a:endParaRPr lang="en-US" altLang="it-IT"/>
          </a:p>
        </p:txBody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CD8F1F1E-CC69-424A-B01E-2CFC9E8094FB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C6119790-232D-4F51-9C27-2B7C14B30C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>
            <a:extLst>
              <a:ext uri="{FF2B5EF4-FFF2-40B4-BE49-F238E27FC236}">
                <a16:creationId xmlns:a16="http://schemas.microsoft.com/office/drawing/2014/main" id="{F2BBDB7E-03B3-4D03-9453-C41B3DB8FE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74D408B-7B39-4E5B-8244-8467F8125533}" type="slidenum">
              <a:rPr lang="en-US" altLang="it-IT"/>
              <a:pPr/>
              <a:t>28</a:t>
            </a:fld>
            <a:endParaRPr lang="en-US" altLang="it-IT"/>
          </a:p>
        </p:txBody>
      </p:sp>
      <p:sp>
        <p:nvSpPr>
          <p:cNvPr id="68610" name="Rectangle 2">
            <a:extLst>
              <a:ext uri="{FF2B5EF4-FFF2-40B4-BE49-F238E27FC236}">
                <a16:creationId xmlns:a16="http://schemas.microsoft.com/office/drawing/2014/main" id="{3121EA7B-1770-44EC-A662-42EF92F235C4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6E613B94-BA27-449F-BB54-591A0BD180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>
            <a:extLst>
              <a:ext uri="{FF2B5EF4-FFF2-40B4-BE49-F238E27FC236}">
                <a16:creationId xmlns:a16="http://schemas.microsoft.com/office/drawing/2014/main" id="{47174B7C-4395-4E24-8889-037D6D57FE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0CB43F8-2967-4DC6-BD16-FAB53962BD1B}" type="slidenum">
              <a:rPr lang="en-US" altLang="it-IT"/>
              <a:pPr/>
              <a:t>29</a:t>
            </a:fld>
            <a:endParaRPr lang="en-US" altLang="it-IT"/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C265E0B8-0205-48AD-A8D1-A59EAFC88FC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BC2E1B5C-6B37-414A-9206-661F723569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>
            <a:extLst>
              <a:ext uri="{FF2B5EF4-FFF2-40B4-BE49-F238E27FC236}">
                <a16:creationId xmlns:a16="http://schemas.microsoft.com/office/drawing/2014/main" id="{9CB01AB0-0086-4F87-BD23-A3FA2FF86E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2A5275B-8AB3-4649-807A-05D9106C19A5}" type="slidenum">
              <a:rPr lang="en-US" altLang="it-IT"/>
              <a:pPr/>
              <a:t>30</a:t>
            </a:fld>
            <a:endParaRPr lang="en-US" altLang="it-IT"/>
          </a:p>
        </p:txBody>
      </p:sp>
      <p:sp>
        <p:nvSpPr>
          <p:cNvPr id="72706" name="Rectangle 2">
            <a:extLst>
              <a:ext uri="{FF2B5EF4-FFF2-40B4-BE49-F238E27FC236}">
                <a16:creationId xmlns:a16="http://schemas.microsoft.com/office/drawing/2014/main" id="{8F318D5F-8645-43EC-8879-F6193BE3BDCB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0B5520FC-6E4B-429D-AA05-E925279124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>
            <a:extLst>
              <a:ext uri="{FF2B5EF4-FFF2-40B4-BE49-F238E27FC236}">
                <a16:creationId xmlns:a16="http://schemas.microsoft.com/office/drawing/2014/main" id="{CFAA8354-7708-47C3-B214-CF68AA6FFD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8EC0AC8-DAEE-4C39-9D32-00BC500DD298}" type="slidenum">
              <a:rPr lang="en-US" altLang="it-IT"/>
              <a:pPr/>
              <a:t>31</a:t>
            </a:fld>
            <a:endParaRPr lang="en-US" altLang="it-IT"/>
          </a:p>
        </p:txBody>
      </p:sp>
      <p:sp>
        <p:nvSpPr>
          <p:cNvPr id="74754" name="Rectangle 2">
            <a:extLst>
              <a:ext uri="{FF2B5EF4-FFF2-40B4-BE49-F238E27FC236}">
                <a16:creationId xmlns:a16="http://schemas.microsoft.com/office/drawing/2014/main" id="{F3F450C1-24E6-4882-9E9B-6E2CDB6AFFA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F2AFB56D-D25C-4572-B5D9-898D3154B1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>
            <a:extLst>
              <a:ext uri="{FF2B5EF4-FFF2-40B4-BE49-F238E27FC236}">
                <a16:creationId xmlns:a16="http://schemas.microsoft.com/office/drawing/2014/main" id="{55B13B33-0671-43F2-9EE3-265106A9E5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1E8C709-9888-489F-A5B0-CAB2A02602EE}" type="slidenum">
              <a:rPr lang="en-US" altLang="it-IT"/>
              <a:pPr/>
              <a:t>32</a:t>
            </a:fld>
            <a:endParaRPr lang="en-US" altLang="it-IT"/>
          </a:p>
        </p:txBody>
      </p:sp>
      <p:sp>
        <p:nvSpPr>
          <p:cNvPr id="76802" name="Rectangle 2">
            <a:extLst>
              <a:ext uri="{FF2B5EF4-FFF2-40B4-BE49-F238E27FC236}">
                <a16:creationId xmlns:a16="http://schemas.microsoft.com/office/drawing/2014/main" id="{BF726A2B-9611-4148-BFC0-4DCE497E78C9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C0DA9F95-0F7C-482B-AAF5-DFB32E54E5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7">
            <a:extLst>
              <a:ext uri="{FF2B5EF4-FFF2-40B4-BE49-F238E27FC236}">
                <a16:creationId xmlns:a16="http://schemas.microsoft.com/office/drawing/2014/main" id="{5C3C994A-0ABA-4006-9801-2FC205B8E5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E11B204-936C-49A7-9FC2-AE80B5C30FE8}" type="slidenum">
              <a:rPr lang="en-US" altLang="it-IT"/>
              <a:pPr/>
              <a:t>33</a:t>
            </a:fld>
            <a:endParaRPr lang="en-US" altLang="it-IT"/>
          </a:p>
        </p:txBody>
      </p:sp>
      <p:sp>
        <p:nvSpPr>
          <p:cNvPr id="78850" name="Rectangle 2">
            <a:extLst>
              <a:ext uri="{FF2B5EF4-FFF2-40B4-BE49-F238E27FC236}">
                <a16:creationId xmlns:a16="http://schemas.microsoft.com/office/drawing/2014/main" id="{647E6B97-BA17-4E54-86EC-77521DB9C72C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85693D9C-D6D8-4524-B3E4-286B051609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7">
            <a:extLst>
              <a:ext uri="{FF2B5EF4-FFF2-40B4-BE49-F238E27FC236}">
                <a16:creationId xmlns:a16="http://schemas.microsoft.com/office/drawing/2014/main" id="{BA968F72-FD45-4A48-8072-8E170EED88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C7F413C-DA8C-4210-966B-63913317F900}" type="slidenum">
              <a:rPr lang="en-US" altLang="it-IT"/>
              <a:pPr/>
              <a:t>34</a:t>
            </a:fld>
            <a:endParaRPr lang="en-US" altLang="it-IT"/>
          </a:p>
        </p:txBody>
      </p:sp>
      <p:sp>
        <p:nvSpPr>
          <p:cNvPr id="80898" name="Rectangle 2">
            <a:extLst>
              <a:ext uri="{FF2B5EF4-FFF2-40B4-BE49-F238E27FC236}">
                <a16:creationId xmlns:a16="http://schemas.microsoft.com/office/drawing/2014/main" id="{FD785F24-6CA2-4D75-9E03-A289CF90CCAE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C4C472C3-2D3C-4A56-9B0F-6B2564B19E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7">
            <a:extLst>
              <a:ext uri="{FF2B5EF4-FFF2-40B4-BE49-F238E27FC236}">
                <a16:creationId xmlns:a16="http://schemas.microsoft.com/office/drawing/2014/main" id="{6DCBEC5D-2E9D-4A60-804D-1B58EF81EC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29890CA-DF50-465C-9F65-F6F1D6426EB2}" type="slidenum">
              <a:rPr lang="en-US" altLang="it-IT"/>
              <a:pPr/>
              <a:t>35</a:t>
            </a:fld>
            <a:endParaRPr lang="en-US" altLang="it-IT"/>
          </a:p>
        </p:txBody>
      </p:sp>
      <p:sp>
        <p:nvSpPr>
          <p:cNvPr id="82946" name="Rectangle 2">
            <a:extLst>
              <a:ext uri="{FF2B5EF4-FFF2-40B4-BE49-F238E27FC236}">
                <a16:creationId xmlns:a16="http://schemas.microsoft.com/office/drawing/2014/main" id="{20C131F8-1C37-44F7-B02D-702016CA0B5B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09934A88-6AF0-4752-9D0E-C3288C9E23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7">
            <a:extLst>
              <a:ext uri="{FF2B5EF4-FFF2-40B4-BE49-F238E27FC236}">
                <a16:creationId xmlns:a16="http://schemas.microsoft.com/office/drawing/2014/main" id="{F464B2FB-BBC5-430F-BB4E-4F85856A55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68E6A73-91D7-411B-B966-C2E18F2B72A8}" type="slidenum">
              <a:rPr lang="en-US" altLang="it-IT"/>
              <a:pPr/>
              <a:t>36</a:t>
            </a:fld>
            <a:endParaRPr lang="en-US" altLang="it-IT"/>
          </a:p>
        </p:txBody>
      </p:sp>
      <p:sp>
        <p:nvSpPr>
          <p:cNvPr id="84994" name="Rectangle 2">
            <a:extLst>
              <a:ext uri="{FF2B5EF4-FFF2-40B4-BE49-F238E27FC236}">
                <a16:creationId xmlns:a16="http://schemas.microsoft.com/office/drawing/2014/main" id="{7A32ED97-B8BA-4016-97A8-EB9EF975F59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9D0C18AE-2967-4D9B-80AA-55E3E70A5C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>
            <a:extLst>
              <a:ext uri="{FF2B5EF4-FFF2-40B4-BE49-F238E27FC236}">
                <a16:creationId xmlns:a16="http://schemas.microsoft.com/office/drawing/2014/main" id="{D6677B43-DB29-4D02-857E-2A4E257B1F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052A3C8-56E1-4751-A354-E2C5B77B74CA}" type="slidenum">
              <a:rPr lang="en-US" altLang="it-IT"/>
              <a:pPr/>
              <a:t>37</a:t>
            </a:fld>
            <a:endParaRPr lang="en-US" altLang="it-IT"/>
          </a:p>
        </p:txBody>
      </p:sp>
      <p:sp>
        <p:nvSpPr>
          <p:cNvPr id="87042" name="Rectangle 2">
            <a:extLst>
              <a:ext uri="{FF2B5EF4-FFF2-40B4-BE49-F238E27FC236}">
                <a16:creationId xmlns:a16="http://schemas.microsoft.com/office/drawing/2014/main" id="{153D15A2-11F7-4C53-B43E-5177A03F0E5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9C574E61-29FF-49B5-ADFB-95F4949C8E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7">
            <a:extLst>
              <a:ext uri="{FF2B5EF4-FFF2-40B4-BE49-F238E27FC236}">
                <a16:creationId xmlns:a16="http://schemas.microsoft.com/office/drawing/2014/main" id="{C973498F-17D1-4502-BA22-212E87DF62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CCEB28F-0B4C-4E6A-BBE7-B8CD58C56092}" type="slidenum">
              <a:rPr lang="en-US" altLang="it-IT"/>
              <a:pPr/>
              <a:t>38</a:t>
            </a:fld>
            <a:endParaRPr lang="en-US" altLang="it-IT"/>
          </a:p>
        </p:txBody>
      </p:sp>
      <p:sp>
        <p:nvSpPr>
          <p:cNvPr id="89090" name="Rectangle 2">
            <a:extLst>
              <a:ext uri="{FF2B5EF4-FFF2-40B4-BE49-F238E27FC236}">
                <a16:creationId xmlns:a16="http://schemas.microsoft.com/office/drawing/2014/main" id="{2ABC643D-292C-4042-81ED-316ADDFA660E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25893308-6C5E-42F4-8C3D-5536B93D4C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>
            <a:extLst>
              <a:ext uri="{FF2B5EF4-FFF2-40B4-BE49-F238E27FC236}">
                <a16:creationId xmlns:a16="http://schemas.microsoft.com/office/drawing/2014/main" id="{A8932C59-7227-47C5-A005-F8BBEA5880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30B1CDD-470B-4822-9E94-33271DDCA18B}" type="slidenum">
              <a:rPr lang="en-US" altLang="it-IT"/>
              <a:pPr/>
              <a:t>39</a:t>
            </a:fld>
            <a:endParaRPr lang="en-US" altLang="it-IT"/>
          </a:p>
        </p:txBody>
      </p:sp>
      <p:sp>
        <p:nvSpPr>
          <p:cNvPr id="91138" name="Rectangle 2">
            <a:extLst>
              <a:ext uri="{FF2B5EF4-FFF2-40B4-BE49-F238E27FC236}">
                <a16:creationId xmlns:a16="http://schemas.microsoft.com/office/drawing/2014/main" id="{4AB87BE1-859F-479A-9D8A-B5C5F73079B9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1B36C1D5-7A3B-473C-A556-407D91748E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>
            <a:extLst>
              <a:ext uri="{FF2B5EF4-FFF2-40B4-BE49-F238E27FC236}">
                <a16:creationId xmlns:a16="http://schemas.microsoft.com/office/drawing/2014/main" id="{5DC677BC-223D-4D8C-86E4-17D62B576B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F98F31E-931A-4246-B4EB-FDBD835B38E0}" type="slidenum">
              <a:rPr lang="en-US" altLang="it-IT"/>
              <a:pPr/>
              <a:t>40</a:t>
            </a:fld>
            <a:endParaRPr lang="en-US" altLang="it-IT"/>
          </a:p>
        </p:txBody>
      </p:sp>
      <p:sp>
        <p:nvSpPr>
          <p:cNvPr id="93186" name="Rectangle 2">
            <a:extLst>
              <a:ext uri="{FF2B5EF4-FFF2-40B4-BE49-F238E27FC236}">
                <a16:creationId xmlns:a16="http://schemas.microsoft.com/office/drawing/2014/main" id="{AB15EE4C-4361-4157-ADF1-E13E5FCD33AE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E5162DD3-459A-49F1-B736-1DAA580620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EC57714-B720-4066-8614-3BEC43CAA2E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F4BB8B8-622D-47A2-B561-D0A83C088E9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078C22-14E8-439D-A160-EFB8208C8C87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585911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98269CC-9A48-4F21-924C-DDC49B7A7F2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930AFE3-29C8-4A8D-AE82-E471B4CC1A3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FBBE88-C636-4575-B934-D440D9E76A00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761395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EF1BC62-A57C-4AB5-B13E-5479352B3C5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F93B1C4-540B-41F0-B93D-9AF2F21E5F0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02E78F-2940-4E42-BCD2-19215491076E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366830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1430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A185F90-92FB-487C-9321-383289D9942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0CD0C8B-7B7E-4722-9AE7-C273137FEE1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84C310-FDDE-4549-A9D6-B317F34A7C32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919528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D0DE3CB-986A-484E-BF02-08034B423AE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3AE64DD-1073-4768-B37D-5650651387C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7A6FFE-9A8D-48EA-BF55-9624F97BDEC5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968800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83A64AC-5840-4774-958B-3D93B3C98FB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2068EF1-4988-4E2F-9024-E33BB9D3EB6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50E00C-1E88-4F8D-9931-59C46EEF747C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995475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F83E42D3-5FCD-450F-8FE1-73B841E99DB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4C54C8F6-72BF-474B-B7B9-275B2572546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9D9EE4-311F-40F7-B7B6-D53326858ECC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17288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5A72F34-AAB1-49EF-9002-CC87C85D47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5A4189F-593C-495C-88B8-0998563D18F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BA45D3-28BE-488C-8277-BD4377DA9BA3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534224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87E150C-320E-48A0-B1BB-952E628E761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5AEBA5D-6F99-4C1E-9AC7-022FC965D6E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739398-3BEE-4526-977B-322AF61825C1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834287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D9684BD-82AC-41DE-ACD7-7F840215B96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B6B8846-C23F-4290-9227-5F89F75EF46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F07F68-E150-4AC7-AD3D-AC829B364B2B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72666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533400"/>
            <a:ext cx="1943100" cy="5562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533400"/>
            <a:ext cx="5676900" cy="5562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2730B06-1BDB-446D-9A69-0B8A97B620C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0A37694-5879-4A2A-A1DA-CBB733FDD8B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51C971-6620-48D5-B82F-0D62C9B824E5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742286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84A8685-0828-4793-AE25-C79F1BECB9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533400"/>
            <a:ext cx="777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5A8D56E-23E7-4D67-9A01-E70AF51955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772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Third level</a:t>
            </a:r>
          </a:p>
          <a:p>
            <a:pPr lvl="3"/>
            <a:r>
              <a:rPr lang="en-US" altLang="it-IT"/>
              <a:t>Fourth level</a:t>
            </a:r>
          </a:p>
          <a:p>
            <a:pPr lvl="4"/>
            <a:r>
              <a:rPr lang="en-US" altLang="it-IT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0196EE6-5D62-4E06-9AFA-12D618FE58D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smtClean="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7B9E61B-F4B7-429F-8243-BF5B3BDA169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A1840AE0-3783-4FF6-BD34-6FBDF11AF852}" type="slidenum">
              <a:rPr lang="en-US" altLang="it-IT"/>
              <a:pPr/>
              <a:t>‹N›</a:t>
            </a:fld>
            <a:endParaRPr lang="en-US" altLang="it-IT"/>
          </a:p>
        </p:txBody>
      </p:sp>
      <p:pic>
        <p:nvPicPr>
          <p:cNvPr id="2" name="Picture 7" descr="2007Shield">
            <a:extLst>
              <a:ext uri="{FF2B5EF4-FFF2-40B4-BE49-F238E27FC236}">
                <a16:creationId xmlns:a16="http://schemas.microsoft.com/office/drawing/2014/main" id="{A8F72EC1-3CEB-4B63-8A85-6060C0C56CA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28600"/>
            <a:ext cx="958850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Line 8">
            <a:extLst>
              <a:ext uri="{FF2B5EF4-FFF2-40B4-BE49-F238E27FC236}">
                <a16:creationId xmlns:a16="http://schemas.microsoft.com/office/drawing/2014/main" id="{98B18C8E-0A26-44E5-9A79-5610575D767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85800" y="1066800"/>
            <a:ext cx="6858000" cy="0"/>
          </a:xfrm>
          <a:prstGeom prst="line">
            <a:avLst/>
          </a:prstGeom>
          <a:noFill/>
          <a:ln w="57150">
            <a:solidFill>
              <a:srgbClr val="003C75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SzPct val="12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Char char="—"/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SzPct val="90000"/>
        <a:buFont typeface="Symbol" panose="05050102010706020507" pitchFamily="18" charset="2"/>
        <a:buChar char=""/>
        <a:defRPr sz="16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Char char="–"/>
        <a:defRPr sz="16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7082FD7E-536E-4431-B62F-FDC7B033E16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447800"/>
            <a:ext cx="7772400" cy="1752600"/>
          </a:xfrm>
        </p:spPr>
        <p:txBody>
          <a:bodyPr/>
          <a:lstStyle/>
          <a:p>
            <a:pPr algn="ctr" eaLnBrk="1" hangingPunct="1"/>
            <a:r>
              <a:rPr lang="en-US" altLang="it-IT" sz="3200" i="1"/>
              <a:t>LR(1) Parsers</a:t>
            </a:r>
            <a:br>
              <a:rPr lang="en-US" altLang="it-IT" sz="3200" i="1"/>
            </a:br>
            <a:br>
              <a:rPr lang="en-US" altLang="it-IT" sz="3200" i="1"/>
            </a:br>
            <a:r>
              <a:rPr lang="en-US" altLang="it-IT" sz="3200" i="1"/>
              <a:t>Comp 412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FD380B13-607A-4179-BA57-43EB7632EAF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62000" y="4953000"/>
            <a:ext cx="7772400" cy="1295400"/>
          </a:xfrm>
          <a:ln w="12700">
            <a:solidFill>
              <a:srgbClr val="003C75"/>
            </a:solidFill>
            <a:miter lim="800000"/>
            <a:headEnd/>
            <a:tailEnd/>
          </a:ln>
        </p:spPr>
        <p:txBody>
          <a:bodyPr/>
          <a:lstStyle/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Copyright 2010, Keith D. Cooper &amp; Linda Torczon, all rights reserved.</a:t>
            </a:r>
          </a:p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Students enrolled in Comp 412 at Rice University have explicit permission to make copies of these materials for their personal use.  </a:t>
            </a:r>
          </a:p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Faculty from other educational institutions may use these materials for nonprofit educational purposes, provided this copyright notice is preserved.</a:t>
            </a:r>
            <a:endParaRPr lang="en-US" altLang="it-IT">
              <a:solidFill>
                <a:srgbClr val="003C75"/>
              </a:solidFill>
            </a:endParaRPr>
          </a:p>
        </p:txBody>
      </p:sp>
      <p:pic>
        <p:nvPicPr>
          <p:cNvPr id="15363" name="Picture 4" descr="2007Logo">
            <a:extLst>
              <a:ext uri="{FF2B5EF4-FFF2-40B4-BE49-F238E27FC236}">
                <a16:creationId xmlns:a16="http://schemas.microsoft.com/office/drawing/2014/main" id="{11A9729C-093E-4E9E-A771-A9076102E0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4800"/>
            <a:ext cx="2330450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Text Box 8">
            <a:extLst>
              <a:ext uri="{FF2B5EF4-FFF2-40B4-BE49-F238E27FC236}">
                <a16:creationId xmlns:a16="http://schemas.microsoft.com/office/drawing/2014/main" id="{6B147C5B-06AA-429A-B5A0-2B12B6DBB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381000"/>
            <a:ext cx="2667000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r">
              <a:spcBef>
                <a:spcPct val="5000"/>
              </a:spcBef>
            </a:pPr>
            <a:r>
              <a:rPr lang="en-US" altLang="it-IT" sz="2400">
                <a:solidFill>
                  <a:srgbClr val="003C75"/>
                </a:solidFill>
                <a:latin typeface="Utopia Std"/>
              </a:rPr>
              <a:t>COMP 412</a:t>
            </a:r>
          </a:p>
          <a:p>
            <a:pPr algn="r">
              <a:spcBef>
                <a:spcPct val="5000"/>
              </a:spcBef>
            </a:pPr>
            <a:r>
              <a:rPr lang="en-US" altLang="it-IT" sz="2400">
                <a:solidFill>
                  <a:srgbClr val="003C75"/>
                </a:solidFill>
                <a:latin typeface="Utopia Std"/>
              </a:rPr>
              <a:t>FALL 2010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15A4FD02-F352-4B38-BB5E-C0F03DF6E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LR Parsers — A Roadmap</a:t>
            </a:r>
          </a:p>
        </p:txBody>
      </p:sp>
      <p:sp>
        <p:nvSpPr>
          <p:cNvPr id="17410" name="Content Placeholder 2">
            <a:extLst>
              <a:ext uri="{FF2B5EF4-FFF2-40B4-BE49-F238E27FC236}">
                <a16:creationId xmlns:a16="http://schemas.microsoft.com/office/drawing/2014/main" id="{B6DB1247-7A38-4990-8BD7-6F12091C8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it-IT"/>
              <a:t>Last Lecture</a:t>
            </a:r>
          </a:p>
          <a:p>
            <a:pPr lvl="1"/>
            <a:r>
              <a:rPr lang="en-US" altLang="it-IT"/>
              <a:t>Handles, handles, and more handles</a:t>
            </a:r>
          </a:p>
          <a:p>
            <a:r>
              <a:rPr lang="en-US" altLang="it-IT"/>
              <a:t>Today</a:t>
            </a:r>
          </a:p>
          <a:p>
            <a:pPr lvl="1"/>
            <a:r>
              <a:rPr lang="en-US" altLang="it-IT"/>
              <a:t>Revisit handles (briefly)</a:t>
            </a:r>
          </a:p>
          <a:p>
            <a:pPr lvl="1"/>
            <a:r>
              <a:rPr lang="en-US" altLang="it-IT"/>
              <a:t>Skeleton LR(1) parser &amp; its operation</a:t>
            </a:r>
          </a:p>
          <a:p>
            <a:pPr lvl="1"/>
            <a:r>
              <a:rPr lang="en-US" altLang="it-IT"/>
              <a:t>Introduce notation &amp; concepts for LR(1) Table Construction</a:t>
            </a:r>
          </a:p>
          <a:p>
            <a:r>
              <a:rPr lang="en-US" altLang="it-IT"/>
              <a:t>Monday</a:t>
            </a:r>
          </a:p>
          <a:p>
            <a:pPr lvl="1"/>
            <a:r>
              <a:rPr lang="en-US" altLang="it-IT"/>
              <a:t>LR(1) Table construction</a:t>
            </a:r>
          </a:p>
        </p:txBody>
      </p:sp>
      <p:sp>
        <p:nvSpPr>
          <p:cNvPr id="17411" name="Footer Placeholder 3">
            <a:extLst>
              <a:ext uri="{FF2B5EF4-FFF2-40B4-BE49-F238E27FC236}">
                <a16:creationId xmlns:a16="http://schemas.microsoft.com/office/drawing/2014/main" id="{3B8F5432-E7CD-402F-B316-D1B22EA98A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17412" name="Slide Number Placeholder 4">
            <a:extLst>
              <a:ext uri="{FF2B5EF4-FFF2-40B4-BE49-F238E27FC236}">
                <a16:creationId xmlns:a16="http://schemas.microsoft.com/office/drawing/2014/main" id="{CD6C24F2-CEF3-4B21-A2FC-510CE49019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5B8AC19-4CE2-4960-88CE-93F3BA74E7EB}" type="slidenum">
              <a:rPr lang="en-US" altLang="it-IT"/>
              <a:pPr/>
              <a:t>1</a:t>
            </a:fld>
            <a:endParaRPr lang="en-US" altLang="it-IT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8DE75E29-EDF1-463A-BD97-DDC603720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Handles </a:t>
            </a:r>
          </a:p>
        </p:txBody>
      </p:sp>
      <p:sp>
        <p:nvSpPr>
          <p:cNvPr id="18434" name="Content Placeholder 2">
            <a:extLst>
              <a:ext uri="{FF2B5EF4-FFF2-40B4-BE49-F238E27FC236}">
                <a16:creationId xmlns:a16="http://schemas.microsoft.com/office/drawing/2014/main" id="{A71F338B-8B3E-4B57-94BE-AFCC76E63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43000"/>
            <a:ext cx="3200400" cy="914400"/>
          </a:xfrm>
        </p:spPr>
        <p:txBody>
          <a:bodyPr/>
          <a:lstStyle/>
          <a:p>
            <a:pPr>
              <a:buFont typeface="Times" panose="02020603050405020304" pitchFamily="18" charset="0"/>
              <a:buNone/>
            </a:pPr>
            <a:r>
              <a:rPr lang="en-US" altLang="it-IT"/>
              <a:t>Consider our example</a:t>
            </a:r>
          </a:p>
        </p:txBody>
      </p:sp>
      <p:sp>
        <p:nvSpPr>
          <p:cNvPr id="18435" name="Footer Placeholder 3">
            <a:extLst>
              <a:ext uri="{FF2B5EF4-FFF2-40B4-BE49-F238E27FC236}">
                <a16:creationId xmlns:a16="http://schemas.microsoft.com/office/drawing/2014/main" id="{8C2BB92D-638E-4427-9B90-09B6A0BFE6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18436" name="Slide Number Placeholder 4">
            <a:extLst>
              <a:ext uri="{FF2B5EF4-FFF2-40B4-BE49-F238E27FC236}">
                <a16:creationId xmlns:a16="http://schemas.microsoft.com/office/drawing/2014/main" id="{8EA6184C-199A-45FC-9C94-BC10DA714D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FD812D8-D155-4E94-9BB3-4B6AD5A7E972}" type="slidenum">
              <a:rPr lang="en-US" altLang="it-IT"/>
              <a:pPr/>
              <a:t>2</a:t>
            </a:fld>
            <a:endParaRPr lang="en-US" altLang="it-IT"/>
          </a:p>
        </p:txBody>
      </p:sp>
      <p:sp>
        <p:nvSpPr>
          <p:cNvPr id="18437" name="TextBox 5">
            <a:extLst>
              <a:ext uri="{FF2B5EF4-FFF2-40B4-BE49-F238E27FC236}">
                <a16:creationId xmlns:a16="http://schemas.microsoft.com/office/drawing/2014/main" id="{F2A39F64-FC42-45F9-8C6C-90F448DDB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609600"/>
            <a:ext cx="32766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600">
                <a:solidFill>
                  <a:srgbClr val="003C75"/>
                </a:solidFill>
              </a:rPr>
              <a:t>One more time, with less tedium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C7C38B3-B490-4781-B7B5-64F00234C66E}"/>
              </a:ext>
            </a:extLst>
          </p:cNvPr>
          <p:cNvGraphicFramePr>
            <a:graphicFrameLocks noGrp="1"/>
          </p:cNvGraphicFramePr>
          <p:nvPr/>
        </p:nvGraphicFramePr>
        <p:xfrm>
          <a:off x="990600" y="1793875"/>
          <a:ext cx="3733800" cy="40735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782">
                <a:tc gridSpan="5">
                  <a:txBody>
                    <a:bodyPr/>
                    <a:lstStyle/>
                    <a:p>
                      <a:pPr algn="ctr"/>
                      <a:r>
                        <a:rPr lang="en-US" sz="1800" b="0" i="1" dirty="0">
                          <a:solidFill>
                            <a:schemeClr val="tx1"/>
                          </a:solidFill>
                        </a:rPr>
                        <a:t>Sentential Form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82"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Goal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82">
                <a:tc>
                  <a:txBody>
                    <a:bodyPr/>
                    <a:lstStyle/>
                    <a:p>
                      <a:r>
                        <a:rPr lang="en-US" sz="1800" i="1" dirty="0" err="1">
                          <a:solidFill>
                            <a:schemeClr val="tx1"/>
                          </a:solidFill>
                        </a:rPr>
                        <a:t>Expr</a:t>
                      </a:r>
                      <a:endParaRPr lang="en-US" sz="1800" i="1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03">
                <a:tc>
                  <a:txBody>
                    <a:bodyPr/>
                    <a:lstStyle/>
                    <a:p>
                      <a:r>
                        <a:rPr lang="en-US" sz="1800" i="1" dirty="0" err="1">
                          <a:solidFill>
                            <a:schemeClr val="tx1"/>
                          </a:solidFill>
                        </a:rPr>
                        <a:t>Expr</a:t>
                      </a:r>
                      <a:endParaRPr lang="en-US" sz="1800" i="1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Term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82">
                <a:tc>
                  <a:txBody>
                    <a:bodyPr/>
                    <a:lstStyle/>
                    <a:p>
                      <a:r>
                        <a:rPr lang="en-US" sz="1800" i="1" dirty="0" err="1">
                          <a:solidFill>
                            <a:schemeClr val="tx1"/>
                          </a:solidFill>
                        </a:rPr>
                        <a:t>Expr</a:t>
                      </a:r>
                      <a:endParaRPr lang="en-US" sz="1800" i="1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Term 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*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Factor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82">
                <a:tc>
                  <a:txBody>
                    <a:bodyPr/>
                    <a:lstStyle/>
                    <a:p>
                      <a:r>
                        <a:rPr lang="en-US" sz="1800" i="1" dirty="0" err="1">
                          <a:solidFill>
                            <a:schemeClr val="tx1"/>
                          </a:solidFill>
                        </a:rPr>
                        <a:t>Expr</a:t>
                      </a:r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Term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*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id,y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82">
                <a:tc>
                  <a:txBody>
                    <a:bodyPr/>
                    <a:lstStyle/>
                    <a:p>
                      <a:r>
                        <a:rPr lang="en-US" sz="1800" i="1" dirty="0" err="1">
                          <a:solidFill>
                            <a:schemeClr val="tx1"/>
                          </a:solidFill>
                        </a:rPr>
                        <a:t>Expr</a:t>
                      </a:r>
                      <a:endParaRPr lang="en-US" sz="1800" i="1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Factor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*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&lt;id,y&gt;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782">
                <a:tc>
                  <a:txBody>
                    <a:bodyPr/>
                    <a:lstStyle/>
                    <a:p>
                      <a:r>
                        <a:rPr lang="en-US" sz="1800" i="1" dirty="0" err="1">
                          <a:solidFill>
                            <a:schemeClr val="tx1"/>
                          </a:solidFill>
                        </a:rPr>
                        <a:t>Expr</a:t>
                      </a:r>
                      <a:endParaRPr lang="en-US" sz="1800" i="1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&lt;num,2&gt;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*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&lt;id,y&gt;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782"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Term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&lt;num,2&gt;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*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&lt;id,y&gt;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782"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Factor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&lt;num,2&gt;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*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&lt;id,y&gt;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782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id,x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&lt;num,2&gt;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*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id,y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A0692FB-E23A-449C-9634-67F52E4FB744}"/>
              </a:ext>
            </a:extLst>
          </p:cNvPr>
          <p:cNvSpPr txBox="1">
            <a:spLocks/>
          </p:cNvSpPr>
          <p:nvPr/>
        </p:nvSpPr>
        <p:spPr bwMode="auto">
          <a:xfrm>
            <a:off x="5029200" y="1752600"/>
            <a:ext cx="35052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Times" charset="0"/>
              <a:buNone/>
              <a:defRPr/>
            </a:pPr>
            <a:r>
              <a:rPr lang="en-US" kern="0" dirty="0">
                <a:latin typeface="+mn-lt"/>
                <a:ea typeface="+mn-ea"/>
                <a:cs typeface="+mn-cs"/>
              </a:rPr>
              <a:t>Unambiguous grammar implies unique rightmost derivation</a:t>
            </a:r>
          </a:p>
          <a:p>
            <a:pPr marL="230188" indent="-230188"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Arial"/>
              <a:buChar char="•"/>
              <a:defRPr/>
            </a:pPr>
            <a:r>
              <a:rPr lang="en-US" kern="0" dirty="0">
                <a:latin typeface="+mn-lt"/>
                <a:ea typeface="+mn-ea"/>
                <a:cs typeface="+mn-cs"/>
              </a:rPr>
              <a:t>At each step, we have one step that leads to </a:t>
            </a:r>
            <a:r>
              <a:rPr lang="en-US" kern="0" dirty="0" err="1">
                <a:latin typeface="+mn-lt"/>
                <a:ea typeface="+mn-ea"/>
                <a:cs typeface="+mn-cs"/>
              </a:rPr>
              <a:t>x</a:t>
            </a:r>
            <a:r>
              <a:rPr lang="en-US" kern="0" dirty="0">
                <a:latin typeface="+mn-lt"/>
                <a:ea typeface="+mn-ea"/>
                <a:cs typeface="+mn-cs"/>
              </a:rPr>
              <a:t> – 2 * </a:t>
            </a:r>
            <a:r>
              <a:rPr lang="en-US" kern="0" dirty="0" err="1">
                <a:latin typeface="+mn-lt"/>
                <a:ea typeface="+mn-ea"/>
                <a:cs typeface="+mn-cs"/>
              </a:rPr>
              <a:t>y</a:t>
            </a:r>
            <a:endParaRPr lang="en-US" kern="0" dirty="0">
              <a:latin typeface="+mn-lt"/>
              <a:ea typeface="+mn-ea"/>
              <a:cs typeface="+mn-cs"/>
            </a:endParaRPr>
          </a:p>
          <a:p>
            <a:pPr marL="230188" indent="-230188"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Arial"/>
              <a:buChar char="•"/>
              <a:defRPr/>
            </a:pPr>
            <a:r>
              <a:rPr lang="en-US" kern="0" dirty="0">
                <a:latin typeface="+mn-lt"/>
                <a:ea typeface="+mn-ea"/>
                <a:cs typeface="+mn-cs"/>
              </a:rPr>
              <a:t>Any other choice leads to another distinct expression</a:t>
            </a:r>
          </a:p>
          <a:p>
            <a:pPr marL="230188" indent="-230188" eaLnBrk="0" hangingPunct="0">
              <a:spcBef>
                <a:spcPts val="1800"/>
              </a:spcBef>
              <a:buClr>
                <a:srgbClr val="003C75"/>
              </a:buClr>
              <a:buSzPct val="120000"/>
              <a:defRPr/>
            </a:pPr>
            <a:r>
              <a:rPr lang="en-US" kern="0" dirty="0">
                <a:latin typeface="+mn-lt"/>
                <a:ea typeface="+mn-ea"/>
                <a:cs typeface="+mn-cs"/>
              </a:rPr>
              <a:t>A bottom-up parse reverses the rightmost derivation</a:t>
            </a:r>
          </a:p>
          <a:p>
            <a:pPr marL="230188" indent="-230188"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Arial"/>
              <a:buChar char="•"/>
              <a:defRPr/>
            </a:pPr>
            <a:r>
              <a:rPr lang="en-US" kern="0" dirty="0">
                <a:latin typeface="+mn-lt"/>
                <a:ea typeface="+mn-ea"/>
                <a:cs typeface="+mn-cs"/>
              </a:rPr>
              <a:t>It has a unique reduction at each step</a:t>
            </a:r>
          </a:p>
          <a:p>
            <a:pPr marL="230188" indent="-230188"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Arial"/>
              <a:buChar char="•"/>
              <a:defRPr/>
            </a:pPr>
            <a:r>
              <a:rPr lang="en-US" kern="0" dirty="0">
                <a:latin typeface="+mn-lt"/>
                <a:ea typeface="+mn-ea"/>
                <a:cs typeface="+mn-cs"/>
              </a:rPr>
              <a:t>The key is finding that reduction</a:t>
            </a:r>
          </a:p>
          <a:p>
            <a:pPr marL="230188" indent="-230188" eaLnBrk="0" hangingPunct="0">
              <a:spcBef>
                <a:spcPct val="20000"/>
              </a:spcBef>
              <a:buClr>
                <a:srgbClr val="003C75"/>
              </a:buClr>
              <a:buSzPct val="120000"/>
              <a:buFont typeface="Arial"/>
              <a:buChar char="•"/>
              <a:defRPr/>
            </a:pPr>
            <a:endParaRPr lang="en-US" kern="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>
            <a:extLst>
              <a:ext uri="{FF2B5EF4-FFF2-40B4-BE49-F238E27FC236}">
                <a16:creationId xmlns:a16="http://schemas.microsoft.com/office/drawing/2014/main" id="{56F26058-6751-4588-9EE9-67924ABB4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Handles </a:t>
            </a:r>
          </a:p>
        </p:txBody>
      </p:sp>
      <p:sp>
        <p:nvSpPr>
          <p:cNvPr id="19458" name="Content Placeholder 2">
            <a:extLst>
              <a:ext uri="{FF2B5EF4-FFF2-40B4-BE49-F238E27FC236}">
                <a16:creationId xmlns:a16="http://schemas.microsoft.com/office/drawing/2014/main" id="{92299497-EEFF-4290-9FEA-DF22B0078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43000"/>
            <a:ext cx="3200400" cy="914400"/>
          </a:xfrm>
        </p:spPr>
        <p:txBody>
          <a:bodyPr/>
          <a:lstStyle/>
          <a:p>
            <a:pPr>
              <a:buFont typeface="Times" panose="02020603050405020304" pitchFamily="18" charset="0"/>
              <a:buNone/>
            </a:pPr>
            <a:r>
              <a:rPr lang="en-US" altLang="it-IT"/>
              <a:t>Consider our example</a:t>
            </a:r>
          </a:p>
        </p:txBody>
      </p:sp>
      <p:sp>
        <p:nvSpPr>
          <p:cNvPr id="19459" name="Footer Placeholder 3">
            <a:extLst>
              <a:ext uri="{FF2B5EF4-FFF2-40B4-BE49-F238E27FC236}">
                <a16:creationId xmlns:a16="http://schemas.microsoft.com/office/drawing/2014/main" id="{8ECD34BC-AF5E-416A-9722-287A86B5956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19460" name="Slide Number Placeholder 4">
            <a:extLst>
              <a:ext uri="{FF2B5EF4-FFF2-40B4-BE49-F238E27FC236}">
                <a16:creationId xmlns:a16="http://schemas.microsoft.com/office/drawing/2014/main" id="{4A0B8CEA-48AA-411D-892A-9B66CAED7A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0E62165-3A9E-4074-B649-6DD36A797626}" type="slidenum">
              <a:rPr lang="en-US" altLang="it-IT"/>
              <a:pPr/>
              <a:t>3</a:t>
            </a:fld>
            <a:endParaRPr lang="en-US" altLang="it-IT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B40781F-159C-4752-BA86-90E967004442}"/>
              </a:ext>
            </a:extLst>
          </p:cNvPr>
          <p:cNvGraphicFramePr>
            <a:graphicFrameLocks noGrp="1"/>
          </p:cNvGraphicFramePr>
          <p:nvPr/>
        </p:nvGraphicFramePr>
        <p:xfrm>
          <a:off x="990600" y="1793875"/>
          <a:ext cx="6553200" cy="40735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782">
                <a:tc gridSpan="5">
                  <a:txBody>
                    <a:bodyPr/>
                    <a:lstStyle/>
                    <a:p>
                      <a:pPr algn="ctr"/>
                      <a:r>
                        <a:rPr lang="en-US" sz="1800" b="0" i="1" dirty="0">
                          <a:solidFill>
                            <a:schemeClr val="tx1"/>
                          </a:solidFill>
                        </a:rPr>
                        <a:t>Sentential Form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1" dirty="0">
                          <a:solidFill>
                            <a:schemeClr val="tx1"/>
                          </a:solidFill>
                        </a:rPr>
                        <a:t>Reduction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82"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Goal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82">
                <a:tc>
                  <a:txBody>
                    <a:bodyPr/>
                    <a:lstStyle/>
                    <a:p>
                      <a:r>
                        <a:rPr lang="en-US" sz="1800" i="1" dirty="0" err="1">
                          <a:solidFill>
                            <a:schemeClr val="tx1"/>
                          </a:solidFill>
                        </a:rPr>
                        <a:t>Expr</a:t>
                      </a:r>
                      <a:endParaRPr lang="en-US" sz="1800" i="1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Goal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sym typeface="Symbol" charset="2"/>
                        </a:rPr>
                        <a:t>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sym typeface="Symbol" charset="2"/>
                        </a:rPr>
                        <a:t> </a:t>
                      </a:r>
                      <a:r>
                        <a:rPr lang="en-US" sz="1800" i="1" dirty="0" err="1">
                          <a:solidFill>
                            <a:srgbClr val="000000"/>
                          </a:solidFill>
                          <a:sym typeface="Symbol" charset="2"/>
                        </a:rPr>
                        <a:t>Expr</a:t>
                      </a:r>
                      <a:endParaRPr lang="en-US" sz="1800" i="1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03">
                <a:tc>
                  <a:txBody>
                    <a:bodyPr/>
                    <a:lstStyle/>
                    <a:p>
                      <a:r>
                        <a:rPr lang="en-US" sz="1800" i="1" dirty="0" err="1">
                          <a:solidFill>
                            <a:schemeClr val="tx1"/>
                          </a:solidFill>
                        </a:rPr>
                        <a:t>Expr</a:t>
                      </a:r>
                      <a:endParaRPr lang="en-US" sz="1800" i="1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Term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i="1" dirty="0" err="1">
                          <a:solidFill>
                            <a:schemeClr val="tx1"/>
                          </a:solidFill>
                        </a:rPr>
                        <a:t>Expr</a:t>
                      </a:r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sym typeface="Symbol" charset="2"/>
                        </a:rPr>
                        <a:t>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sym typeface="Symbol" charset="2"/>
                        </a:rPr>
                        <a:t> </a:t>
                      </a:r>
                      <a:r>
                        <a:rPr lang="en-US" sz="1800" i="1" dirty="0" err="1">
                          <a:solidFill>
                            <a:srgbClr val="000000"/>
                          </a:solidFill>
                          <a:sym typeface="Symbol" charset="2"/>
                        </a:rPr>
                        <a:t>Expr</a:t>
                      </a:r>
                      <a:r>
                        <a:rPr lang="en-US" sz="1800" i="1" dirty="0">
                          <a:solidFill>
                            <a:srgbClr val="000000"/>
                          </a:solidFill>
                          <a:sym typeface="Symbol" charset="2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sym typeface="Symbol" charset="2"/>
                        </a:rPr>
                        <a:t>— </a:t>
                      </a:r>
                      <a:r>
                        <a:rPr lang="en-US" sz="1800" i="1" dirty="0">
                          <a:solidFill>
                            <a:srgbClr val="000000"/>
                          </a:solidFill>
                          <a:sym typeface="Symbol" charset="2"/>
                        </a:rPr>
                        <a:t>Term</a:t>
                      </a:r>
                      <a:endParaRPr lang="en-US" sz="1800" i="1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82">
                <a:tc>
                  <a:txBody>
                    <a:bodyPr/>
                    <a:lstStyle/>
                    <a:p>
                      <a:r>
                        <a:rPr lang="en-US" sz="1800" i="1" dirty="0" err="1">
                          <a:solidFill>
                            <a:schemeClr val="tx1"/>
                          </a:solidFill>
                        </a:rPr>
                        <a:t>Expr</a:t>
                      </a:r>
                      <a:endParaRPr lang="en-US" sz="1800" i="1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Term 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*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Factor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Term 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sym typeface="Symbol" charset="2"/>
                        </a:rPr>
                        <a:t>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sym typeface="Symbol" charset="2"/>
                        </a:rPr>
                        <a:t> </a:t>
                      </a:r>
                      <a:r>
                        <a:rPr lang="en-US" sz="1800" i="1" dirty="0">
                          <a:solidFill>
                            <a:srgbClr val="000000"/>
                          </a:solidFill>
                          <a:sym typeface="Symbol" charset="2"/>
                        </a:rPr>
                        <a:t>Term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sym typeface="Symbol" charset="2"/>
                        </a:rPr>
                        <a:t>* Factor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82">
                <a:tc>
                  <a:txBody>
                    <a:bodyPr/>
                    <a:lstStyle/>
                    <a:p>
                      <a:r>
                        <a:rPr lang="en-US" sz="1800" i="1" dirty="0" err="1">
                          <a:solidFill>
                            <a:schemeClr val="tx1"/>
                          </a:solidFill>
                        </a:rPr>
                        <a:t>Expr</a:t>
                      </a:r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Term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*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id,y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Factor 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sym typeface="Symbol" charset="2"/>
                        </a:rPr>
                        <a:t>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sym typeface="Symbol" charset="2"/>
                        </a:rPr>
                        <a:t> </a:t>
                      </a:r>
                      <a:r>
                        <a:rPr lang="en-US" sz="1800" u="sng" dirty="0">
                          <a:solidFill>
                            <a:srgbClr val="000000"/>
                          </a:solidFill>
                          <a:sym typeface="Symbol" charset="2"/>
                        </a:rPr>
                        <a:t>id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82">
                <a:tc>
                  <a:txBody>
                    <a:bodyPr/>
                    <a:lstStyle/>
                    <a:p>
                      <a:r>
                        <a:rPr lang="en-US" sz="1800" i="1" dirty="0" err="1">
                          <a:solidFill>
                            <a:schemeClr val="tx1"/>
                          </a:solidFill>
                        </a:rPr>
                        <a:t>Expr</a:t>
                      </a:r>
                      <a:endParaRPr lang="en-US" sz="1800" i="1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Factor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*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&lt;id,y&gt;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Term 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sym typeface="Symbol" charset="2"/>
                        </a:rPr>
                        <a:t>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sym typeface="Symbol" charset="2"/>
                        </a:rPr>
                        <a:t> </a:t>
                      </a:r>
                      <a:r>
                        <a:rPr lang="en-US" sz="1800" i="1" dirty="0">
                          <a:solidFill>
                            <a:srgbClr val="000000"/>
                          </a:solidFill>
                          <a:sym typeface="Symbol" charset="2"/>
                        </a:rPr>
                        <a:t>Factor</a:t>
                      </a:r>
                      <a:endParaRPr lang="en-US" sz="1800" i="1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782">
                <a:tc>
                  <a:txBody>
                    <a:bodyPr/>
                    <a:lstStyle/>
                    <a:p>
                      <a:r>
                        <a:rPr lang="en-US" sz="1800" i="1" dirty="0" err="1">
                          <a:solidFill>
                            <a:schemeClr val="tx1"/>
                          </a:solidFill>
                        </a:rPr>
                        <a:t>Expr</a:t>
                      </a:r>
                      <a:endParaRPr lang="en-US" sz="1800" i="1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&lt;num,2&gt;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*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&lt;id,y&gt;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Factor 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sym typeface="Symbol" charset="2"/>
                        </a:rPr>
                        <a:t>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sym typeface="Symbol" charset="2"/>
                        </a:rPr>
                        <a:t> </a:t>
                      </a:r>
                      <a:r>
                        <a:rPr lang="en-US" sz="1800" u="sng" dirty="0">
                          <a:solidFill>
                            <a:srgbClr val="000000"/>
                          </a:solidFill>
                          <a:sym typeface="Symbol" charset="2"/>
                        </a:rPr>
                        <a:t>num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782"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Term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&lt;num,2&gt;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*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&lt;id,y&gt;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i="1" dirty="0" err="1">
                          <a:solidFill>
                            <a:schemeClr val="tx1"/>
                          </a:solidFill>
                        </a:rPr>
                        <a:t>Expr</a:t>
                      </a:r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sym typeface="Symbol" charset="2"/>
                        </a:rPr>
                        <a:t>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sym typeface="Symbol" charset="2"/>
                        </a:rPr>
                        <a:t> </a:t>
                      </a:r>
                      <a:r>
                        <a:rPr lang="en-US" sz="1800" i="1" dirty="0">
                          <a:solidFill>
                            <a:srgbClr val="000000"/>
                          </a:solidFill>
                          <a:sym typeface="Symbol" charset="2"/>
                        </a:rPr>
                        <a:t>Term</a:t>
                      </a:r>
                      <a:endParaRPr lang="en-US" sz="1800" i="1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782"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Factor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&lt;num,2&gt;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*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&lt;id,y&gt;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Term</a:t>
                      </a:r>
                      <a:r>
                        <a:rPr lang="en-US" sz="1800" i="1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sym typeface="Symbol" charset="2"/>
                        </a:rPr>
                        <a:t>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sym typeface="Symbol" charset="2"/>
                        </a:rPr>
                        <a:t> </a:t>
                      </a:r>
                      <a:r>
                        <a:rPr lang="en-US" sz="1800" i="1" dirty="0">
                          <a:solidFill>
                            <a:srgbClr val="000000"/>
                          </a:solidFill>
                          <a:sym typeface="Symbol" charset="2"/>
                        </a:rPr>
                        <a:t>Factor</a:t>
                      </a:r>
                      <a:endParaRPr lang="en-US" sz="1800" i="1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782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id,x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&lt;num,2&gt;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*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id,y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Factor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sym typeface="Symbol" charset="2"/>
                        </a:rPr>
                        <a:t>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sym typeface="Symbol" charset="2"/>
                        </a:rPr>
                        <a:t> </a:t>
                      </a:r>
                      <a:r>
                        <a:rPr lang="en-US" sz="1800" u="sng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D4A68D22-A13E-4F1B-87C8-EDA6F855B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Handles </a:t>
            </a:r>
          </a:p>
        </p:txBody>
      </p:sp>
      <p:sp>
        <p:nvSpPr>
          <p:cNvPr id="20482" name="Content Placeholder 2">
            <a:extLst>
              <a:ext uri="{FF2B5EF4-FFF2-40B4-BE49-F238E27FC236}">
                <a16:creationId xmlns:a16="http://schemas.microsoft.com/office/drawing/2014/main" id="{04039477-AD5F-4D65-BF3C-8F7D13FFD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43000"/>
            <a:ext cx="3200400" cy="914400"/>
          </a:xfrm>
        </p:spPr>
        <p:txBody>
          <a:bodyPr/>
          <a:lstStyle/>
          <a:p>
            <a:pPr>
              <a:buFont typeface="Times" panose="02020603050405020304" pitchFamily="18" charset="0"/>
              <a:buNone/>
            </a:pPr>
            <a:r>
              <a:rPr lang="en-US" altLang="it-IT"/>
              <a:t>Consider our example</a:t>
            </a:r>
          </a:p>
        </p:txBody>
      </p:sp>
      <p:sp>
        <p:nvSpPr>
          <p:cNvPr id="20483" name="Footer Placeholder 3">
            <a:extLst>
              <a:ext uri="{FF2B5EF4-FFF2-40B4-BE49-F238E27FC236}">
                <a16:creationId xmlns:a16="http://schemas.microsoft.com/office/drawing/2014/main" id="{CBE307F4-FAAA-4D97-BC13-8C92FB0E6D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0484" name="Slide Number Placeholder 4">
            <a:extLst>
              <a:ext uri="{FF2B5EF4-FFF2-40B4-BE49-F238E27FC236}">
                <a16:creationId xmlns:a16="http://schemas.microsoft.com/office/drawing/2014/main" id="{252E5EAC-EEE6-4041-8708-01CD9EBDE3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859329B-C0F7-4FE8-861C-163C682EC657}" type="slidenum">
              <a:rPr lang="en-US" altLang="it-IT"/>
              <a:pPr/>
              <a:t>4</a:t>
            </a:fld>
            <a:endParaRPr lang="en-US" altLang="it-IT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510E72D-1052-4FCE-9F32-2B45302A1FC5}"/>
              </a:ext>
            </a:extLst>
          </p:cNvPr>
          <p:cNvGraphicFramePr>
            <a:graphicFrameLocks noGrp="1"/>
          </p:cNvGraphicFramePr>
          <p:nvPr/>
        </p:nvGraphicFramePr>
        <p:xfrm>
          <a:off x="990600" y="1793875"/>
          <a:ext cx="3733800" cy="40735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782">
                <a:tc gridSpan="5">
                  <a:txBody>
                    <a:bodyPr/>
                    <a:lstStyle/>
                    <a:p>
                      <a:pPr algn="ctr"/>
                      <a:r>
                        <a:rPr lang="en-US" sz="1800" b="0" i="1" dirty="0">
                          <a:solidFill>
                            <a:schemeClr val="tx1"/>
                          </a:solidFill>
                        </a:rPr>
                        <a:t>Sentential Form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82"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Goal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82">
                <a:tc>
                  <a:txBody>
                    <a:bodyPr/>
                    <a:lstStyle/>
                    <a:p>
                      <a:r>
                        <a:rPr lang="en-US" sz="1800" i="1" dirty="0" err="1">
                          <a:solidFill>
                            <a:schemeClr val="tx1"/>
                          </a:solidFill>
                        </a:rPr>
                        <a:t>Expr</a:t>
                      </a:r>
                      <a:endParaRPr lang="en-US" sz="1800" i="1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03">
                <a:tc>
                  <a:txBody>
                    <a:bodyPr/>
                    <a:lstStyle/>
                    <a:p>
                      <a:r>
                        <a:rPr lang="en-US" sz="1800" i="1" dirty="0" err="1">
                          <a:solidFill>
                            <a:schemeClr val="tx1"/>
                          </a:solidFill>
                        </a:rPr>
                        <a:t>Expr</a:t>
                      </a:r>
                      <a:endParaRPr lang="en-US" sz="1800" i="1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Term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82">
                <a:tc>
                  <a:txBody>
                    <a:bodyPr/>
                    <a:lstStyle/>
                    <a:p>
                      <a:r>
                        <a:rPr lang="en-US" sz="1800" i="1" dirty="0" err="1">
                          <a:solidFill>
                            <a:schemeClr val="tx1"/>
                          </a:solidFill>
                        </a:rPr>
                        <a:t>Expr</a:t>
                      </a:r>
                      <a:endParaRPr lang="en-US" sz="1800" i="1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Term 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*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Factor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82">
                <a:tc>
                  <a:txBody>
                    <a:bodyPr/>
                    <a:lstStyle/>
                    <a:p>
                      <a:r>
                        <a:rPr lang="en-US" sz="1800" i="1" dirty="0" err="1">
                          <a:solidFill>
                            <a:schemeClr val="tx1"/>
                          </a:solidFill>
                        </a:rPr>
                        <a:t>Expr</a:t>
                      </a:r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Term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*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id,y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82">
                <a:tc>
                  <a:txBody>
                    <a:bodyPr/>
                    <a:lstStyle/>
                    <a:p>
                      <a:r>
                        <a:rPr lang="en-US" sz="1800" i="1" dirty="0" err="1">
                          <a:solidFill>
                            <a:schemeClr val="tx1"/>
                          </a:solidFill>
                        </a:rPr>
                        <a:t>Expr</a:t>
                      </a:r>
                      <a:endParaRPr lang="en-US" sz="1800" i="1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Factor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*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&lt;id,y&gt;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782">
                <a:tc>
                  <a:txBody>
                    <a:bodyPr/>
                    <a:lstStyle/>
                    <a:p>
                      <a:r>
                        <a:rPr lang="en-US" sz="1800" i="1" dirty="0" err="1">
                          <a:solidFill>
                            <a:schemeClr val="tx1"/>
                          </a:solidFill>
                        </a:rPr>
                        <a:t>Expr</a:t>
                      </a:r>
                      <a:endParaRPr lang="en-US" sz="1800" i="1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&lt;num,2&gt;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*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&lt;id,y&gt;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782"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Term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&lt;num,2&gt;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*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&lt;id,y&gt;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782"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Factor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&lt;num,2&gt;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*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&lt;id,y&gt;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782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id,x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&lt;num,2&gt;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*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id,y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</a:txBody>
                  <a:tcPr marT="45713" marB="457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0D16953-0133-4A32-8AAA-159580628EE8}"/>
              </a:ext>
            </a:extLst>
          </p:cNvPr>
          <p:cNvSpPr txBox="1">
            <a:spLocks/>
          </p:cNvSpPr>
          <p:nvPr/>
        </p:nvSpPr>
        <p:spPr bwMode="auto">
          <a:xfrm>
            <a:off x="5029200" y="1752600"/>
            <a:ext cx="35052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Times" charset="0"/>
              <a:buNone/>
              <a:defRPr/>
            </a:pPr>
            <a:r>
              <a:rPr lang="en-US" kern="0" dirty="0">
                <a:latin typeface="+mn-lt"/>
                <a:ea typeface="+mn-ea"/>
                <a:cs typeface="+mn-cs"/>
              </a:rPr>
              <a:t>Now, look at the sentential forms in the example</a:t>
            </a:r>
          </a:p>
          <a:p>
            <a:pPr marL="342900" indent="-342900"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Arial"/>
              <a:buChar char="•"/>
              <a:defRPr/>
            </a:pPr>
            <a:r>
              <a:rPr lang="en-US" kern="0" dirty="0">
                <a:latin typeface="+mn-lt"/>
                <a:ea typeface="+mn-ea"/>
                <a:cs typeface="+mn-cs"/>
              </a:rPr>
              <a:t>They have a specific form</a:t>
            </a:r>
          </a:p>
          <a:p>
            <a:pPr marL="342900" indent="-342900"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Arial"/>
              <a:buChar char="•"/>
              <a:defRPr/>
            </a:pPr>
            <a:r>
              <a:rPr lang="en-US" i="1" kern="0" dirty="0">
                <a:latin typeface="+mn-lt"/>
                <a:ea typeface="+mn-ea"/>
                <a:cs typeface="+mn-cs"/>
              </a:rPr>
              <a:t>NT </a:t>
            </a:r>
            <a:r>
              <a:rPr lang="en-US" kern="0" dirty="0">
                <a:latin typeface="+mn-lt"/>
                <a:ea typeface="+mn-ea"/>
                <a:cs typeface="+mn-cs"/>
              </a:rPr>
              <a:t>*  (</a:t>
            </a:r>
            <a:r>
              <a:rPr lang="en-US" i="1" kern="0" dirty="0">
                <a:latin typeface="+mn-lt"/>
                <a:ea typeface="+mn-ea"/>
                <a:cs typeface="+mn-cs"/>
              </a:rPr>
              <a:t>NT </a:t>
            </a:r>
            <a:r>
              <a:rPr lang="en-US" kern="0" dirty="0">
                <a:latin typeface="+mn-lt"/>
                <a:ea typeface="+mn-ea"/>
                <a:cs typeface="+mn-cs"/>
              </a:rPr>
              <a:t>|</a:t>
            </a:r>
            <a:r>
              <a:rPr lang="en-US" i="1" kern="0" dirty="0">
                <a:latin typeface="+mn-lt"/>
                <a:ea typeface="+mn-ea"/>
                <a:cs typeface="+mn-cs"/>
              </a:rPr>
              <a:t>T</a:t>
            </a:r>
            <a:r>
              <a:rPr lang="en-US" kern="0" dirty="0">
                <a:latin typeface="+mn-lt"/>
                <a:ea typeface="+mn-ea"/>
                <a:cs typeface="+mn-cs"/>
              </a:rPr>
              <a:t>)*  </a:t>
            </a:r>
            <a:r>
              <a:rPr lang="en-US" i="1" kern="0" dirty="0">
                <a:latin typeface="+mn-lt"/>
                <a:ea typeface="+mn-ea"/>
                <a:cs typeface="+mn-cs"/>
              </a:rPr>
              <a:t>T</a:t>
            </a:r>
            <a:r>
              <a:rPr lang="en-US" kern="0" dirty="0">
                <a:latin typeface="+mn-lt"/>
                <a:ea typeface="+mn-ea"/>
                <a:cs typeface="+mn-cs"/>
              </a:rPr>
              <a:t>*</a:t>
            </a:r>
          </a:p>
          <a:p>
            <a:pPr marL="342900" indent="-342900"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Arial"/>
              <a:buChar char="•"/>
              <a:defRPr/>
            </a:pPr>
            <a:r>
              <a:rPr lang="en-US" kern="0" dirty="0">
                <a:latin typeface="+mn-lt"/>
                <a:ea typeface="+mn-ea"/>
                <a:cs typeface="+mn-cs"/>
              </a:rPr>
              <a:t>Reductions happen in the (</a:t>
            </a:r>
            <a:r>
              <a:rPr lang="en-US" i="1" kern="0" dirty="0">
                <a:latin typeface="+mn-lt"/>
                <a:ea typeface="+mn-ea"/>
                <a:cs typeface="+mn-cs"/>
              </a:rPr>
              <a:t>NT </a:t>
            </a:r>
            <a:r>
              <a:rPr lang="en-US" kern="0" dirty="0">
                <a:latin typeface="+mn-lt"/>
                <a:ea typeface="+mn-ea"/>
                <a:cs typeface="+mn-cs"/>
              </a:rPr>
              <a:t>|</a:t>
            </a:r>
            <a:r>
              <a:rPr lang="en-US" i="1" kern="0" dirty="0">
                <a:latin typeface="+mn-lt"/>
                <a:ea typeface="+mn-ea"/>
                <a:cs typeface="+mn-cs"/>
              </a:rPr>
              <a:t>T </a:t>
            </a:r>
            <a:r>
              <a:rPr lang="en-US" kern="0" dirty="0">
                <a:latin typeface="+mn-lt"/>
                <a:ea typeface="+mn-ea"/>
                <a:cs typeface="+mn-cs"/>
              </a:rPr>
              <a:t>)* portion</a:t>
            </a:r>
          </a:p>
          <a:p>
            <a:pPr marL="571500" lvl="1" indent="-227013" eaLnBrk="0" hangingPunct="0">
              <a:spcBef>
                <a:spcPts val="300"/>
              </a:spcBef>
              <a:buClr>
                <a:srgbClr val="003C75"/>
              </a:buClr>
              <a:buSzPct val="100000"/>
              <a:buFont typeface="Lucida Grande"/>
              <a:buChar char="−"/>
              <a:defRPr/>
            </a:pPr>
            <a:r>
              <a:rPr lang="en-US" sz="1600" kern="0" dirty="0">
                <a:latin typeface="+mn-lt"/>
                <a:ea typeface="+mn-ea"/>
                <a:cs typeface="+mn-cs"/>
              </a:rPr>
              <a:t>Track right end of region</a:t>
            </a:r>
          </a:p>
          <a:p>
            <a:pPr marL="571500" lvl="1" indent="-227013" eaLnBrk="0" hangingPunct="0">
              <a:spcBef>
                <a:spcPts val="300"/>
              </a:spcBef>
              <a:buClr>
                <a:srgbClr val="003C75"/>
              </a:buClr>
              <a:buSzPct val="100000"/>
              <a:buFont typeface="Lucida Grande"/>
              <a:buChar char="−"/>
              <a:defRPr/>
            </a:pPr>
            <a:r>
              <a:rPr lang="en-US" sz="1600" kern="0" dirty="0">
                <a:latin typeface="+mn-lt"/>
                <a:ea typeface="+mn-ea"/>
                <a:cs typeface="+mn-cs"/>
              </a:rPr>
              <a:t>Search left from there</a:t>
            </a:r>
          </a:p>
          <a:p>
            <a:pPr marL="571500" lvl="1" indent="-227013" eaLnBrk="0" hangingPunct="0">
              <a:spcBef>
                <a:spcPts val="300"/>
              </a:spcBef>
              <a:buClr>
                <a:srgbClr val="003C75"/>
              </a:buClr>
              <a:buSzPct val="100000"/>
              <a:buFont typeface="Lucida Grande"/>
              <a:buChar char="−"/>
              <a:defRPr/>
            </a:pPr>
            <a:r>
              <a:rPr lang="en-US" sz="1600" kern="0" dirty="0">
                <a:latin typeface="+mn-lt"/>
                <a:ea typeface="+mn-ea"/>
                <a:cs typeface="+mn-cs"/>
              </a:rPr>
              <a:t>Finite set of </a:t>
            </a:r>
            <a:r>
              <a:rPr lang="en-US" sz="1600" kern="0" dirty="0" err="1">
                <a:latin typeface="+mn-lt"/>
                <a:ea typeface="+mn-ea"/>
                <a:cs typeface="+mn-cs"/>
              </a:rPr>
              <a:t>rhs</a:t>
            </a:r>
            <a:r>
              <a:rPr lang="en-US" sz="1600" kern="0" dirty="0">
                <a:latin typeface="+mn-lt"/>
                <a:ea typeface="+mn-ea"/>
                <a:cs typeface="+mn-cs"/>
              </a:rPr>
              <a:t> strings</a:t>
            </a:r>
          </a:p>
          <a:p>
            <a:pPr marL="227013" indent="-227013" eaLnBrk="0" hangingPunct="0">
              <a:spcBef>
                <a:spcPts val="1800"/>
              </a:spcBef>
              <a:buClr>
                <a:srgbClr val="003C75"/>
              </a:buClr>
              <a:buSzPct val="100000"/>
              <a:defRPr/>
            </a:pPr>
            <a:r>
              <a:rPr lang="en-US" kern="0" dirty="0">
                <a:latin typeface="+mn-lt"/>
                <a:ea typeface="+mn-ea"/>
                <a:cs typeface="+mn-cs"/>
              </a:rPr>
              <a:t>We know that each step has a unique reduction</a:t>
            </a:r>
          </a:p>
          <a:p>
            <a:pPr marL="227013" indent="-227013" eaLnBrk="0" hangingPunct="0">
              <a:spcBef>
                <a:spcPts val="600"/>
              </a:spcBef>
              <a:buClr>
                <a:srgbClr val="003C75"/>
              </a:buClr>
              <a:buSzPct val="100000"/>
              <a:defRPr/>
            </a:pPr>
            <a:r>
              <a:rPr lang="en-US" kern="0" dirty="0">
                <a:latin typeface="+mn-lt"/>
                <a:ea typeface="+mn-ea"/>
                <a:cs typeface="+mn-cs"/>
              </a:rPr>
              <a:t>That reduction is the handle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>
            <a:extLst>
              <a:ext uri="{FF2B5EF4-FFF2-40B4-BE49-F238E27FC236}">
                <a16:creationId xmlns:a16="http://schemas.microsoft.com/office/drawing/2014/main" id="{3DCCF64A-8DB8-4D28-8FAC-F6321D1FC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From Handles to Parsers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98001-DBF1-4552-97C3-A43DE8FCF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buFont typeface="Times" charset="0"/>
              <a:buNone/>
              <a:defRPr/>
            </a:pPr>
            <a:r>
              <a:rPr lang="en-US" dirty="0"/>
              <a:t>Consider the sentential forms in the derivation</a:t>
            </a:r>
          </a:p>
          <a:p>
            <a:pPr>
              <a:spcBef>
                <a:spcPts val="600"/>
              </a:spcBef>
              <a:buFont typeface="Times" charset="0"/>
              <a:buNone/>
              <a:defRPr/>
            </a:pPr>
            <a:r>
              <a:rPr lang="en-US" i="1" dirty="0"/>
              <a:t>		NT*   </a:t>
            </a:r>
            <a:r>
              <a:rPr lang="en-US" dirty="0"/>
              <a:t>(</a:t>
            </a:r>
            <a:r>
              <a:rPr lang="en-US" i="1" dirty="0"/>
              <a:t>NT</a:t>
            </a:r>
            <a:r>
              <a:rPr lang="en-US" dirty="0"/>
              <a:t> |</a:t>
            </a:r>
            <a:r>
              <a:rPr lang="en-US" i="1" dirty="0"/>
              <a:t>T</a:t>
            </a:r>
            <a:r>
              <a:rPr lang="en-US" dirty="0"/>
              <a:t>)*  </a:t>
            </a:r>
            <a:r>
              <a:rPr lang="en-US" i="1" dirty="0"/>
              <a:t>T*</a:t>
            </a:r>
          </a:p>
          <a:p>
            <a:pPr marL="228600" indent="-228600">
              <a:spcBef>
                <a:spcPts val="600"/>
              </a:spcBef>
              <a:buFont typeface="Times" charset="0"/>
              <a:buChar char="•"/>
              <a:defRPr/>
            </a:pPr>
            <a:r>
              <a:rPr lang="en-US" dirty="0"/>
              <a:t>They are the upper fringe of partially complete syntax tree</a:t>
            </a:r>
          </a:p>
          <a:p>
            <a:pPr marL="228600" indent="-228600">
              <a:spcBef>
                <a:spcPts val="600"/>
              </a:spcBef>
              <a:buFont typeface="Times" charset="0"/>
              <a:buChar char="•"/>
              <a:defRPr/>
            </a:pPr>
            <a:r>
              <a:rPr lang="en-US" dirty="0"/>
              <a:t>The suffix consisting of </a:t>
            </a:r>
            <a:r>
              <a:rPr lang="en-US" i="1" dirty="0"/>
              <a:t>T* </a:t>
            </a:r>
            <a:r>
              <a:rPr lang="en-US" dirty="0"/>
              <a:t>is, at each step, the unread input</a:t>
            </a:r>
          </a:p>
          <a:p>
            <a:pPr marL="228600" indent="-228600">
              <a:spcBef>
                <a:spcPts val="6000"/>
              </a:spcBef>
              <a:buFont typeface="Times" charset="0"/>
              <a:buNone/>
              <a:defRPr/>
            </a:pPr>
            <a:r>
              <a:rPr lang="en-US" dirty="0"/>
              <a:t>So, our shift-reduce parser operates by:</a:t>
            </a:r>
          </a:p>
          <a:p>
            <a:pPr marL="228600" indent="-228600">
              <a:spcBef>
                <a:spcPts val="600"/>
              </a:spcBef>
              <a:buFont typeface="Times" charset="0"/>
              <a:buChar char="•"/>
              <a:defRPr/>
            </a:pPr>
            <a:r>
              <a:rPr lang="en-US" dirty="0"/>
              <a:t>Keeping the portion </a:t>
            </a:r>
            <a:r>
              <a:rPr lang="en-US" i="1" dirty="0"/>
              <a:t>NT* </a:t>
            </a:r>
            <a:r>
              <a:rPr lang="en-US" dirty="0"/>
              <a:t>(</a:t>
            </a:r>
            <a:r>
              <a:rPr lang="en-US" i="1" dirty="0"/>
              <a:t>NT</a:t>
            </a:r>
            <a:r>
              <a:rPr lang="en-US" dirty="0"/>
              <a:t> |</a:t>
            </a:r>
            <a:r>
              <a:rPr lang="en-US" i="1" dirty="0"/>
              <a:t>T</a:t>
            </a:r>
            <a:r>
              <a:rPr lang="en-US" dirty="0"/>
              <a:t>)* on a stack</a:t>
            </a:r>
          </a:p>
          <a:p>
            <a:pPr marL="519113" lvl="1" indent="-290513">
              <a:spcBef>
                <a:spcPts val="600"/>
              </a:spcBef>
              <a:defRPr/>
            </a:pPr>
            <a:r>
              <a:rPr lang="en-US" dirty="0"/>
              <a:t>Leftmost symbol at bottom of stack, rightmost at stack top</a:t>
            </a:r>
          </a:p>
          <a:p>
            <a:pPr marL="119063" indent="-290513">
              <a:spcBef>
                <a:spcPts val="600"/>
              </a:spcBef>
              <a:buFont typeface="Times" charset="0"/>
              <a:buChar char="•"/>
              <a:defRPr/>
            </a:pPr>
            <a:r>
              <a:rPr lang="en-US" dirty="0"/>
              <a:t>Searching for handles from stack top to stack bottom</a:t>
            </a:r>
          </a:p>
          <a:p>
            <a:pPr marL="119063" indent="-290513">
              <a:spcBef>
                <a:spcPts val="600"/>
              </a:spcBef>
              <a:buFont typeface="Times" charset="0"/>
              <a:buChar char="•"/>
              <a:defRPr/>
            </a:pPr>
            <a:r>
              <a:rPr lang="en-US" dirty="0"/>
              <a:t>If search fails, shift another terminal onto stack</a:t>
            </a:r>
          </a:p>
        </p:txBody>
      </p:sp>
      <p:sp>
        <p:nvSpPr>
          <p:cNvPr id="21507" name="Footer Placeholder 3">
            <a:extLst>
              <a:ext uri="{FF2B5EF4-FFF2-40B4-BE49-F238E27FC236}">
                <a16:creationId xmlns:a16="http://schemas.microsoft.com/office/drawing/2014/main" id="{A3FD11B5-D586-436B-BD8F-810E78F9138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1508" name="Slide Number Placeholder 4">
            <a:extLst>
              <a:ext uri="{FF2B5EF4-FFF2-40B4-BE49-F238E27FC236}">
                <a16:creationId xmlns:a16="http://schemas.microsoft.com/office/drawing/2014/main" id="{1A5C973B-BE44-4592-AD1A-EB4481FA5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C2326B5-BD23-4899-B863-BD694882FDF2}" type="slidenum">
              <a:rPr lang="en-US" altLang="it-IT"/>
              <a:pPr/>
              <a:t>5</a:t>
            </a:fld>
            <a:endParaRPr lang="en-US" altLang="it-IT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Footer Placeholder 3">
            <a:extLst>
              <a:ext uri="{FF2B5EF4-FFF2-40B4-BE49-F238E27FC236}">
                <a16:creationId xmlns:a16="http://schemas.microsoft.com/office/drawing/2014/main" id="{10BBFAD3-DF6D-492F-93C3-080B229CB3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2530" name="Slide Number Placeholder 4">
            <a:extLst>
              <a:ext uri="{FF2B5EF4-FFF2-40B4-BE49-F238E27FC236}">
                <a16:creationId xmlns:a16="http://schemas.microsoft.com/office/drawing/2014/main" id="{3DA5F346-C8EF-4FA1-9150-66604832C3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2EC6EA9-1E23-48A3-87A6-752C48177DB7}" type="slidenum">
              <a:rPr lang="en-US" altLang="it-IT"/>
              <a:pPr/>
              <a:t>6</a:t>
            </a:fld>
            <a:endParaRPr lang="en-US" altLang="it-IT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071DC4DA-99FC-4E63-B633-169AA5E779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>
                <a:sym typeface="Symbol" panose="05050102010706020507" pitchFamily="18" charset="2"/>
              </a:rPr>
              <a:t>Bottom-up Parser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8452E115-31F2-41DA-930E-DABACBC6DD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A conceptual </a:t>
            </a: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shift-reduce parser:</a:t>
            </a:r>
          </a:p>
        </p:txBody>
      </p:sp>
      <p:sp>
        <p:nvSpPr>
          <p:cNvPr id="37894" name="Text Box 4">
            <a:extLst>
              <a:ext uri="{FF2B5EF4-FFF2-40B4-BE49-F238E27FC236}">
                <a16:creationId xmlns:a16="http://schemas.microsoft.com/office/drawing/2014/main" id="{54469782-3ED6-4DAD-B085-2185A70FD6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38" y="1752600"/>
            <a:ext cx="5105400" cy="3544888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ct val="10000"/>
              </a:spcBef>
              <a:defRPr/>
            </a:pPr>
            <a:r>
              <a:rPr lang="en-US" sz="1600" i="1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push INVALID</a:t>
            </a:r>
          </a:p>
          <a:p>
            <a:pPr eaLnBrk="0" hangingPunct="0">
              <a:spcBef>
                <a:spcPct val="10000"/>
              </a:spcBef>
              <a:defRPr/>
            </a:pPr>
            <a:r>
              <a:rPr lang="en-US" sz="1600" i="1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word </a:t>
            </a:r>
            <a:r>
              <a:rPr lang="en-US" sz="1600" i="1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</a:t>
            </a:r>
            <a:r>
              <a:rPr lang="en-US" sz="1600" i="1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sz="1600" i="1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NextWord</a:t>
            </a:r>
            <a:r>
              <a:rPr lang="en-US" sz="1600" i="1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( )</a:t>
            </a:r>
          </a:p>
          <a:p>
            <a:pPr eaLnBrk="0" hangingPunct="0">
              <a:spcBef>
                <a:spcPct val="10000"/>
              </a:spcBef>
              <a:defRPr/>
            </a:pPr>
            <a:r>
              <a:rPr lang="en-US" sz="1600" i="1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repeat until (top of stack = Goal and word = </a:t>
            </a: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EOF</a:t>
            </a:r>
            <a:r>
              <a:rPr lang="en-US" sz="1600" i="1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)</a:t>
            </a:r>
          </a:p>
          <a:p>
            <a:pPr eaLnBrk="0" hangingPunct="0">
              <a:spcBef>
                <a:spcPct val="10000"/>
              </a:spcBef>
              <a:defRPr/>
            </a:pPr>
            <a:r>
              <a:rPr lang="en-US" sz="1600" i="1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    if the top of the stack is a handle A </a:t>
            </a:r>
          </a:p>
          <a:p>
            <a:pPr eaLnBrk="0" hangingPunct="0">
              <a:spcBef>
                <a:spcPct val="10000"/>
              </a:spcBef>
              <a:defRPr/>
            </a:pPr>
            <a:r>
              <a:rPr lang="en-US" sz="1600" i="1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         then      </a:t>
            </a:r>
            <a:r>
              <a:rPr lang="en-US" sz="1600" i="1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// reduce </a:t>
            </a:r>
            <a:r>
              <a:rPr lang="en-US" sz="1600" i="1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</a:t>
            </a:r>
            <a:r>
              <a:rPr lang="en-US" sz="1600" i="1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to A</a:t>
            </a:r>
          </a:p>
          <a:p>
            <a:pPr eaLnBrk="0" hangingPunct="0">
              <a:spcBef>
                <a:spcPct val="10000"/>
              </a:spcBef>
              <a:defRPr/>
            </a:pPr>
            <a:r>
              <a:rPr lang="en-US" sz="1600" i="1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              pop </a:t>
            </a: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|</a:t>
            </a:r>
            <a:r>
              <a:rPr lang="en-US" sz="16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</a:t>
            </a: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| </a:t>
            </a:r>
            <a:r>
              <a:rPr lang="en-US" sz="1600" i="1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symbols off the stack</a:t>
            </a:r>
          </a:p>
          <a:p>
            <a:pPr eaLnBrk="0" hangingPunct="0">
              <a:spcBef>
                <a:spcPct val="10000"/>
              </a:spcBef>
              <a:defRPr/>
            </a:pPr>
            <a:r>
              <a:rPr lang="en-US" sz="1600" i="1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              push A onto the stack</a:t>
            </a:r>
          </a:p>
          <a:p>
            <a:pPr eaLnBrk="0" hangingPunct="0">
              <a:spcBef>
                <a:spcPct val="10000"/>
              </a:spcBef>
              <a:defRPr/>
            </a:pPr>
            <a:r>
              <a:rPr lang="en-US" sz="1600" i="1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         else if (word </a:t>
            </a:r>
            <a:r>
              <a:rPr lang="en-US" sz="1600" i="1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</a:t>
            </a:r>
            <a:r>
              <a:rPr lang="en-US" sz="1600" i="1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EOF</a:t>
            </a:r>
            <a:r>
              <a:rPr lang="en-US" sz="1600" i="1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)</a:t>
            </a:r>
          </a:p>
          <a:p>
            <a:pPr eaLnBrk="0" hangingPunct="0">
              <a:spcBef>
                <a:spcPct val="10000"/>
              </a:spcBef>
              <a:defRPr/>
            </a:pPr>
            <a:r>
              <a:rPr lang="en-US" sz="1600" i="1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              then </a:t>
            </a:r>
            <a:r>
              <a:rPr lang="en-US" sz="1600" i="1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// shift </a:t>
            </a:r>
          </a:p>
          <a:p>
            <a:pPr eaLnBrk="0" hangingPunct="0">
              <a:spcBef>
                <a:spcPct val="10000"/>
              </a:spcBef>
              <a:defRPr/>
            </a:pPr>
            <a:r>
              <a:rPr lang="en-US" sz="1600" i="1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                    push word </a:t>
            </a:r>
          </a:p>
          <a:p>
            <a:pPr eaLnBrk="0" hangingPunct="0">
              <a:spcBef>
                <a:spcPct val="10000"/>
              </a:spcBef>
              <a:defRPr/>
            </a:pPr>
            <a:r>
              <a:rPr lang="en-US" sz="1600" i="1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                    word </a:t>
            </a:r>
            <a:r>
              <a:rPr lang="en-US" sz="1600" i="1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</a:t>
            </a:r>
            <a:r>
              <a:rPr lang="en-US" sz="1600" i="1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sz="1600" i="1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NextWord</a:t>
            </a:r>
            <a:r>
              <a:rPr lang="en-US" sz="1600" i="1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( )</a:t>
            </a:r>
          </a:p>
          <a:p>
            <a:pPr eaLnBrk="0" hangingPunct="0">
              <a:spcBef>
                <a:spcPct val="10000"/>
              </a:spcBef>
              <a:defRPr/>
            </a:pPr>
            <a:r>
              <a:rPr lang="en-US" sz="1600" i="1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          else     </a:t>
            </a:r>
            <a:r>
              <a:rPr lang="en-US" sz="1600" i="1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// need to shift, but out of input </a:t>
            </a:r>
          </a:p>
          <a:p>
            <a:pPr eaLnBrk="0" hangingPunct="0">
              <a:defRPr/>
            </a:pPr>
            <a:r>
              <a:rPr lang="en-US" sz="1600" i="1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	report an error   </a:t>
            </a:r>
            <a:endParaRPr lang="en-US" sz="1600" dirty="0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23561" name="Text Box 9">
            <a:extLst>
              <a:ext uri="{FF2B5EF4-FFF2-40B4-BE49-F238E27FC236}">
                <a16:creationId xmlns:a16="http://schemas.microsoft.com/office/drawing/2014/main" id="{CB2EB96B-930E-4380-86C8-993A8AB2FE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6938" y="1752600"/>
            <a:ext cx="2819400" cy="3533775"/>
          </a:xfrm>
          <a:prstGeom prst="rect">
            <a:avLst/>
          </a:prstGeom>
          <a:solidFill>
            <a:schemeClr val="bg1"/>
          </a:solidFill>
          <a:ln w="19050">
            <a:solidFill>
              <a:srgbClr val="7F7F7F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ts val="600"/>
              </a:spcBef>
              <a:defRPr/>
            </a:pP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What happens on an error?</a:t>
            </a:r>
          </a:p>
          <a:p>
            <a:pPr marL="169863" indent="-169863"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It fails to find a handle</a:t>
            </a:r>
          </a:p>
          <a:p>
            <a:pPr marL="169863" indent="-169863"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Thus, it keeps shifting</a:t>
            </a:r>
          </a:p>
          <a:p>
            <a:pPr marL="169863" indent="-169863"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Eventually, it consumes all input</a:t>
            </a:r>
          </a:p>
          <a:p>
            <a:pPr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Symbol" charset="2"/>
              <a:buNone/>
              <a:defRPr/>
            </a:pP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This parser reads all input before reporting an error, not a desirable property.</a:t>
            </a:r>
          </a:p>
          <a:p>
            <a:pPr eaLnBrk="0" hangingPunct="0">
              <a:spcBef>
                <a:spcPts val="1400"/>
              </a:spcBef>
              <a:buClr>
                <a:srgbClr val="003C75"/>
              </a:buClr>
              <a:buSzPct val="120000"/>
              <a:buFont typeface="Symbol" charset="2"/>
              <a:buNone/>
              <a:defRPr/>
            </a:pP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Table-driven LR parsers do much better. The handle finder reports errors as soon as possible.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61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Footer Placeholder 1">
            <a:extLst>
              <a:ext uri="{FF2B5EF4-FFF2-40B4-BE49-F238E27FC236}">
                <a16:creationId xmlns:a16="http://schemas.microsoft.com/office/drawing/2014/main" id="{9F3D4AF8-C382-45F5-9D51-7FF1086C03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4578" name="Slide Number Placeholder 2">
            <a:extLst>
              <a:ext uri="{FF2B5EF4-FFF2-40B4-BE49-F238E27FC236}">
                <a16:creationId xmlns:a16="http://schemas.microsoft.com/office/drawing/2014/main" id="{EDBD3B35-4846-4035-AC08-A03A82314C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8826191-B013-4C09-8BB1-D17AE2E371C8}" type="slidenum">
              <a:rPr lang="en-US" altLang="it-IT"/>
              <a:pPr/>
              <a:t>7</a:t>
            </a:fld>
            <a:endParaRPr lang="en-US" altLang="it-IT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D9A613CE-14D7-48AF-B778-AB6F15B57C2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>
                <a:sym typeface="Symbol" panose="05050102010706020507" pitchFamily="18" charset="2"/>
              </a:rPr>
              <a:t>Actual LR(1) Skeleton Parser</a:t>
            </a:r>
            <a:endParaRPr lang="en-US" altLang="it-IT" sz="2000">
              <a:sym typeface="Symbol" panose="05050102010706020507" pitchFamily="18" charset="2"/>
            </a:endParaRPr>
          </a:p>
        </p:txBody>
      </p:sp>
      <p:sp>
        <p:nvSpPr>
          <p:cNvPr id="5124" name="Text Box 4">
            <a:extLst>
              <a:ext uri="{FF2B5EF4-FFF2-40B4-BE49-F238E27FC236}">
                <a16:creationId xmlns:a16="http://schemas.microsoft.com/office/drawing/2014/main" id="{DC4C1635-347F-458C-AA24-8750B1075F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1520825"/>
            <a:ext cx="3124200" cy="4278313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>
            <a:spAutoFit/>
          </a:bodyPr>
          <a:lstStyle/>
          <a:p>
            <a:pPr marL="173038" indent="-173038" eaLnBrk="0" hangingPunct="0">
              <a:spcBef>
                <a:spcPct val="50000"/>
              </a:spcBef>
              <a:buClr>
                <a:srgbClr val="0000CC"/>
              </a:buClr>
              <a:buSzPct val="120000"/>
              <a:defRPr/>
            </a:pPr>
            <a:r>
              <a:rPr lang="en-US" sz="1600" i="1" dirty="0">
                <a:latin typeface="Comic Sans MS" charset="0"/>
                <a:ea typeface="ヒラギノ角ゴ Pro W3" charset="-128"/>
                <a:cs typeface="ヒラギノ角ゴ Pro W3" charset="-128"/>
              </a:rPr>
              <a:t>The skeleton parser</a:t>
            </a: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 </a:t>
            </a:r>
          </a:p>
          <a:p>
            <a:pPr marL="173038" indent="-173038" eaLnBrk="0" hangingPunct="0">
              <a:spcBef>
                <a:spcPct val="25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follows basic scheme for shift-reduce parsing from last slide</a:t>
            </a:r>
          </a:p>
          <a:p>
            <a:pPr marL="173038" indent="-173038" eaLnBrk="0" hangingPunct="0">
              <a:spcBef>
                <a:spcPct val="25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relies on a stack &amp; a scanner</a:t>
            </a:r>
          </a:p>
          <a:p>
            <a:pPr marL="173038" indent="-173038" eaLnBrk="0" hangingPunct="0">
              <a:spcBef>
                <a:spcPct val="25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keeps both symbols &amp; states on the stack</a:t>
            </a:r>
          </a:p>
          <a:p>
            <a:pPr marL="173038" indent="-173038" eaLnBrk="0" hangingPunct="0">
              <a:spcBef>
                <a:spcPct val="25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uses two tables, called ACTION &amp; GOTO</a:t>
            </a:r>
          </a:p>
          <a:p>
            <a:pPr marL="173038" indent="-173038" eaLnBrk="0" hangingPunct="0">
              <a:spcBef>
                <a:spcPct val="25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shifts |</a:t>
            </a:r>
            <a:r>
              <a:rPr lang="en-US" sz="1600" i="1" dirty="0">
                <a:latin typeface="Comic Sans MS" charset="0"/>
                <a:ea typeface="ヒラギノ角ゴ Pro W3" charset="-128"/>
                <a:cs typeface="ヒラギノ角ゴ Pro W3" charset="-128"/>
              </a:rPr>
              <a:t>words</a:t>
            </a: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| times</a:t>
            </a:r>
          </a:p>
          <a:p>
            <a:pPr marL="173038" indent="-173038" eaLnBrk="0" hangingPunct="0">
              <a:spcBef>
                <a:spcPct val="25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reduces |derivation| times</a:t>
            </a:r>
          </a:p>
          <a:p>
            <a:pPr marL="173038" indent="-173038" eaLnBrk="0" hangingPunct="0">
              <a:spcBef>
                <a:spcPct val="25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accepts at most once</a:t>
            </a:r>
          </a:p>
          <a:p>
            <a:pPr marL="173038" indent="-173038" eaLnBrk="0" hangingPunct="0">
              <a:spcBef>
                <a:spcPct val="25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detects errors by failure of the other three cases, which is a failure to find a handle</a:t>
            </a:r>
          </a:p>
        </p:txBody>
      </p:sp>
      <p:sp>
        <p:nvSpPr>
          <p:cNvPr id="24581" name="Rectangle 6">
            <a:extLst>
              <a:ext uri="{FF2B5EF4-FFF2-40B4-BE49-F238E27FC236}">
                <a16:creationId xmlns:a16="http://schemas.microsoft.com/office/drawing/2014/main" id="{CA279955-0AC4-4BD9-AE94-96B2AE00D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172200"/>
            <a:ext cx="2057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5123" name="Text Box 3">
            <a:extLst>
              <a:ext uri="{FF2B5EF4-FFF2-40B4-BE49-F238E27FC236}">
                <a16:creationId xmlns:a16="http://schemas.microsoft.com/office/drawing/2014/main" id="{C50B81E5-F3F4-4E4B-8673-9BEA9DF77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143000"/>
            <a:ext cx="4800600" cy="519430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>
            <a:spAutoFit/>
          </a:bodyPr>
          <a:lstStyle/>
          <a:p>
            <a:pPr defTabSz="457200" eaLnBrk="0" hangingPunct="0">
              <a:lnSpc>
                <a:spcPct val="110000"/>
              </a:lnSpc>
              <a:defRPr/>
            </a:pP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</a:rPr>
              <a:t>stack.push(</a:t>
            </a:r>
            <a:r>
              <a:rPr lang="en-US" sz="1200" dirty="0" err="1">
                <a:latin typeface="Comic Sans MS" charset="0"/>
                <a:ea typeface="ヒラギノ角ゴ Pro W3" charset="-128"/>
                <a:cs typeface="ヒラギノ角ゴ Pro W3" charset="-128"/>
              </a:rPr>
              <a:t>INVALID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</a:rPr>
              <a:t>);</a:t>
            </a:r>
          </a:p>
          <a:p>
            <a:pPr defTabSz="457200" eaLnBrk="0" hangingPunct="0">
              <a:lnSpc>
                <a:spcPct val="110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</a:rPr>
              <a:t>stack.push(</a:t>
            </a:r>
            <a:r>
              <a:rPr lang="en-US" sz="1400" i="1" dirty="0">
                <a:latin typeface="Comic Sans MS" charset="0"/>
                <a:ea typeface="ヒラギノ角ゴ Pro W3" charset="-128"/>
                <a:cs typeface="ヒラギノ角ゴ Pro W3" charset="-128"/>
              </a:rPr>
              <a:t>s</a:t>
            </a:r>
            <a:r>
              <a:rPr lang="en-US" sz="1400" i="1" baseline="-25000" dirty="0">
                <a:latin typeface="Comic Sans MS" charset="0"/>
                <a:ea typeface="ヒラギノ角ゴ Pro W3" charset="-128"/>
                <a:cs typeface="ヒラギノ角ゴ Pro W3" charset="-128"/>
              </a:rPr>
              <a:t>0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</a:rPr>
              <a:t>);                             </a:t>
            </a:r>
            <a:r>
              <a:rPr lang="en-US" sz="1400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// initial state</a:t>
            </a:r>
            <a:endParaRPr lang="en-US" sz="1400" dirty="0">
              <a:latin typeface="Comic Sans MS" charset="0"/>
              <a:ea typeface="ヒラギノ角ゴ Pro W3" charset="-128"/>
              <a:cs typeface="ヒラギノ角ゴ Pro W3" charset="-128"/>
            </a:endParaRPr>
          </a:p>
          <a:p>
            <a:pPr defTabSz="457200" eaLnBrk="0" hangingPunct="0">
              <a:lnSpc>
                <a:spcPct val="110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</a:rPr>
              <a:t>word 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= 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scanner.next_word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();</a:t>
            </a:r>
          </a:p>
          <a:p>
            <a:pPr defTabSz="457200" eaLnBrk="0" hangingPunct="0">
              <a:lnSpc>
                <a:spcPct val="110000"/>
              </a:lnSpc>
              <a:spcBef>
                <a:spcPct val="20000"/>
              </a:spcBef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loop forever {</a:t>
            </a:r>
          </a:p>
          <a:p>
            <a:pPr defTabSz="457200" eaLnBrk="0" hangingPunct="0">
              <a:lnSpc>
                <a:spcPct val="110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  	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= 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stack.top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();</a:t>
            </a:r>
          </a:p>
          <a:p>
            <a:pPr defTabSz="457200" eaLnBrk="0" hangingPunct="0">
              <a:lnSpc>
                <a:spcPct val="110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  	if ( 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ACTION[s,word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] == </a:t>
            </a:r>
            <a:r>
              <a:rPr lang="en-US" sz="1400" i="1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“</a:t>
            </a:r>
            <a:r>
              <a:rPr lang="en-US" sz="1400" i="1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reduce</a:t>
            </a:r>
            <a:r>
              <a:rPr lang="en-US" sz="1400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sz="1400" i="1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A</a:t>
            </a:r>
            <a:r>
              <a:rPr lang="en-US" sz="1400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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” ) then {</a:t>
            </a:r>
          </a:p>
          <a:p>
            <a:pPr defTabSz="457200" eaLnBrk="0" hangingPunct="0">
              <a:lnSpc>
                <a:spcPct val="110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	    stack.popnum(2*|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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|);       </a:t>
            </a:r>
            <a:r>
              <a:rPr lang="en-US" sz="1400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// pop 2*|</a:t>
            </a:r>
            <a:r>
              <a:rPr lang="en-US" sz="1400" dirty="0" err="1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</a:t>
            </a:r>
            <a:r>
              <a:rPr lang="en-US" sz="1400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| symbols</a:t>
            </a:r>
            <a:endParaRPr lang="en-US" sz="1400" dirty="0">
              <a:solidFill>
                <a:srgbClr val="FF0000"/>
              </a:solidFill>
              <a:latin typeface="Comic Sans MS" charset="0"/>
              <a:ea typeface="ヒラギノ角ゴ Pro W3" charset="-128"/>
              <a:cs typeface="ヒラギノ角ゴ Pro W3" charset="-128"/>
              <a:sym typeface="Symbol" charset="2"/>
            </a:endParaRPr>
          </a:p>
          <a:p>
            <a:pPr defTabSz="457200" eaLnBrk="0" hangingPunct="0">
              <a:lnSpc>
                <a:spcPct val="110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            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= 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stack.top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(); </a:t>
            </a:r>
          </a:p>
          <a:p>
            <a:pPr defTabSz="457200" eaLnBrk="0" hangingPunct="0">
              <a:lnSpc>
                <a:spcPct val="110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            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stack.push(</a:t>
            </a:r>
            <a:r>
              <a:rPr lang="en-US" sz="1400" i="1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A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);                 </a:t>
            </a:r>
            <a:r>
              <a:rPr lang="en-US" sz="1400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// push A</a:t>
            </a:r>
          </a:p>
          <a:p>
            <a:pPr defTabSz="457200" eaLnBrk="0" hangingPunct="0">
              <a:lnSpc>
                <a:spcPct val="110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            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stack.push(GOTO[s,</a:t>
            </a:r>
            <a:r>
              <a:rPr lang="en-US" sz="1400" i="1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A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]);</a:t>
            </a:r>
            <a:r>
              <a:rPr lang="en-US" sz="1400" dirty="0">
                <a:solidFill>
                  <a:srgbClr val="FF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 </a:t>
            </a:r>
            <a:r>
              <a:rPr lang="en-US" sz="1400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// push next state</a:t>
            </a:r>
            <a:endParaRPr lang="en-US" sz="1400" dirty="0">
              <a:latin typeface="Comic Sans MS" charset="0"/>
              <a:ea typeface="ヒラギノ角ゴ Pro W3" charset="-128"/>
              <a:cs typeface="ヒラギノ角ゴ Pro W3" charset="-128"/>
              <a:sym typeface="Symbol" charset="2"/>
            </a:endParaRPr>
          </a:p>
          <a:p>
            <a:pPr defTabSz="457200" eaLnBrk="0" hangingPunct="0">
              <a:lnSpc>
                <a:spcPct val="110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	}</a:t>
            </a:r>
          </a:p>
          <a:p>
            <a:pPr defTabSz="457200" eaLnBrk="0" hangingPunct="0">
              <a:lnSpc>
                <a:spcPct val="110000"/>
              </a:lnSpc>
              <a:spcBef>
                <a:spcPct val="20000"/>
              </a:spcBef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  	else if ( 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ACTION[s,word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] == “</a:t>
            </a:r>
            <a:r>
              <a:rPr lang="en-US" sz="1400" i="1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shift </a:t>
            </a:r>
            <a:r>
              <a:rPr lang="en-US" sz="1400" i="1" dirty="0" err="1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</a:t>
            </a:r>
            <a:r>
              <a:rPr lang="en-US" sz="1400" i="1" baseline="-25000" dirty="0" err="1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i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” ) then {</a:t>
            </a:r>
          </a:p>
          <a:p>
            <a:pPr defTabSz="457200" eaLnBrk="0" hangingPunct="0">
              <a:lnSpc>
                <a:spcPct val="110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		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stack.push(word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); 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stack.push(</a:t>
            </a:r>
            <a:r>
              <a:rPr lang="en-US" sz="1400" i="1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</a:t>
            </a:r>
            <a:r>
              <a:rPr lang="en-US" sz="1400" i="1" baseline="-250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i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);</a:t>
            </a:r>
          </a:p>
          <a:p>
            <a:pPr defTabSz="457200" eaLnBrk="0" hangingPunct="0">
              <a:lnSpc>
                <a:spcPct val="110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		word 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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scanner.next_word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();</a:t>
            </a:r>
          </a:p>
          <a:p>
            <a:pPr defTabSz="457200" eaLnBrk="0" hangingPunct="0">
              <a:lnSpc>
                <a:spcPct val="110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	}</a:t>
            </a:r>
          </a:p>
          <a:p>
            <a:pPr defTabSz="457200" eaLnBrk="0" hangingPunct="0">
              <a:lnSpc>
                <a:spcPct val="110000"/>
              </a:lnSpc>
              <a:spcBef>
                <a:spcPct val="20000"/>
              </a:spcBef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  	else if ( </a:t>
            </a: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ACTION[s,word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] == “</a:t>
            </a:r>
            <a:r>
              <a:rPr lang="en-US" sz="1400" i="1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accept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”  </a:t>
            </a:r>
          </a:p>
          <a:p>
            <a:pPr defTabSz="457200" eaLnBrk="0" hangingPunct="0">
              <a:lnSpc>
                <a:spcPct val="110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				&amp; word == EOF )</a:t>
            </a:r>
          </a:p>
          <a:p>
            <a:pPr defTabSz="457200" eaLnBrk="0" hangingPunct="0">
              <a:lnSpc>
                <a:spcPct val="110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		then break; </a:t>
            </a:r>
          </a:p>
          <a:p>
            <a:pPr defTabSz="457200" eaLnBrk="0" hangingPunct="0">
              <a:lnSpc>
                <a:spcPct val="110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	else throw a syntax error;</a:t>
            </a:r>
          </a:p>
          <a:p>
            <a:pPr defTabSz="457200" eaLnBrk="0" hangingPunct="0">
              <a:lnSpc>
                <a:spcPct val="110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} </a:t>
            </a:r>
          </a:p>
          <a:p>
            <a:pPr defTabSz="457200" eaLnBrk="0" hangingPunct="0">
              <a:lnSpc>
                <a:spcPct val="110000"/>
              </a:lnSpc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report success;</a:t>
            </a:r>
          </a:p>
        </p:txBody>
      </p:sp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43">
            <a:extLst>
              <a:ext uri="{FF2B5EF4-FFF2-40B4-BE49-F238E27FC236}">
                <a16:creationId xmlns:a16="http://schemas.microsoft.com/office/drawing/2014/main" id="{851BEEF1-36E8-48AA-B944-6AC64013B50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Language of balanced parentheses</a:t>
            </a:r>
          </a:p>
          <a:p>
            <a:pPr eaLnBrk="1" hangingPunct="1"/>
            <a:r>
              <a:rPr lang="en-US" altLang="it-IT"/>
              <a:t>Beyond power of REs</a:t>
            </a:r>
          </a:p>
          <a:p>
            <a:pPr eaLnBrk="1" hangingPunct="1"/>
            <a:r>
              <a:rPr lang="en-US" altLang="it-IT"/>
              <a:t>Exhibits role of context in LR(1)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     parsing</a:t>
            </a:r>
          </a:p>
        </p:txBody>
      </p:sp>
      <p:sp>
        <p:nvSpPr>
          <p:cNvPr id="26626" name="Footer Placeholder 1">
            <a:extLst>
              <a:ext uri="{FF2B5EF4-FFF2-40B4-BE49-F238E27FC236}">
                <a16:creationId xmlns:a16="http://schemas.microsoft.com/office/drawing/2014/main" id="{E86B68DF-41D5-48F1-97D2-ACF6724F4F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6627" name="Slide Number Placeholder 2">
            <a:extLst>
              <a:ext uri="{FF2B5EF4-FFF2-40B4-BE49-F238E27FC236}">
                <a16:creationId xmlns:a16="http://schemas.microsoft.com/office/drawing/2014/main" id="{07672161-A220-496E-8189-5180D03535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5B10B6C-E741-44D9-8723-A7BA66C9181A}" type="slidenum">
              <a:rPr lang="en-US" altLang="it-IT"/>
              <a:pPr/>
              <a:t>8</a:t>
            </a:fld>
            <a:endParaRPr lang="en-US" altLang="it-IT"/>
          </a:p>
        </p:txBody>
      </p:sp>
      <p:sp>
        <p:nvSpPr>
          <p:cNvPr id="26628" name="Rectangle 2">
            <a:extLst>
              <a:ext uri="{FF2B5EF4-FFF2-40B4-BE49-F238E27FC236}">
                <a16:creationId xmlns:a16="http://schemas.microsoft.com/office/drawing/2014/main" id="{3A4BE159-F1C7-48C9-B820-92BA34ACB1F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The Parentheses Language</a:t>
            </a:r>
          </a:p>
        </p:txBody>
      </p:sp>
      <p:graphicFrame>
        <p:nvGraphicFramePr>
          <p:cNvPr id="7171" name="Group 3">
            <a:extLst>
              <a:ext uri="{FF2B5EF4-FFF2-40B4-BE49-F238E27FC236}">
                <a16:creationId xmlns:a16="http://schemas.microsoft.com/office/drawing/2014/main" id="{D8128746-9DD9-4A97-8917-8C4442E4882C}"/>
              </a:ext>
            </a:extLst>
          </p:cNvPr>
          <p:cNvGraphicFramePr>
            <a:graphicFrameLocks noGrp="1"/>
          </p:cNvGraphicFramePr>
          <p:nvPr/>
        </p:nvGraphicFramePr>
        <p:xfrm>
          <a:off x="5486400" y="1219200"/>
          <a:ext cx="2819400" cy="2184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 Pair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Pair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Pair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Pair </a:t>
                      </a: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endParaRPr kumimoji="0" lang="en-US" sz="18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650" name="Rectangle 42">
            <a:extLst>
              <a:ext uri="{FF2B5EF4-FFF2-40B4-BE49-F238E27FC236}">
                <a16:creationId xmlns:a16="http://schemas.microsoft.com/office/drawing/2014/main" id="{54A42E55-91C1-4634-95FC-64C59057B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7525" y="1298575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Footer Placeholder 1">
            <a:extLst>
              <a:ext uri="{FF2B5EF4-FFF2-40B4-BE49-F238E27FC236}">
                <a16:creationId xmlns:a16="http://schemas.microsoft.com/office/drawing/2014/main" id="{F63FABF2-41BD-45D9-B01D-14127DF277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8674" name="Slide Number Placeholder 2">
            <a:extLst>
              <a:ext uri="{FF2B5EF4-FFF2-40B4-BE49-F238E27FC236}">
                <a16:creationId xmlns:a16="http://schemas.microsoft.com/office/drawing/2014/main" id="{0467B3A5-310A-4945-BE82-3C38A0815D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C87BA08-7E7C-4377-B6CB-A4A483E47729}" type="slidenum">
              <a:rPr lang="en-US" altLang="it-IT"/>
              <a:pPr/>
              <a:t>9</a:t>
            </a:fld>
            <a:endParaRPr lang="en-US" altLang="it-IT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9D834C34-11EC-43C6-9FBF-C29E3E1E0A1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The Parentheses Language</a:t>
            </a:r>
          </a:p>
        </p:txBody>
      </p:sp>
      <p:sp>
        <p:nvSpPr>
          <p:cNvPr id="28676" name="Rectangle 42">
            <a:extLst>
              <a:ext uri="{FF2B5EF4-FFF2-40B4-BE49-F238E27FC236}">
                <a16:creationId xmlns:a16="http://schemas.microsoft.com/office/drawing/2014/main" id="{3DAD98F0-3BD7-4BFB-BDCF-4997BB3EC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7525" y="1298575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graphicFrame>
        <p:nvGraphicFramePr>
          <p:cNvPr id="9617" name="Group 401">
            <a:extLst>
              <a:ext uri="{FF2B5EF4-FFF2-40B4-BE49-F238E27FC236}">
                <a16:creationId xmlns:a16="http://schemas.microsoft.com/office/drawing/2014/main" id="{3F612740-371F-4BBE-89F4-350C22F9E6E0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143000"/>
          <a:ext cx="2895600" cy="4754796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1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05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36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ACTION TABLE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State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 3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 3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 2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 2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 6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 7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 1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 1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 8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 6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 10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 4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 4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 3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 3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9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 11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 4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5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11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 3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9482" name="Group 266">
            <a:extLst>
              <a:ext uri="{FF2B5EF4-FFF2-40B4-BE49-F238E27FC236}">
                <a16:creationId xmlns:a16="http://schemas.microsoft.com/office/drawing/2014/main" id="{96731BB4-07A1-4AD0-80BA-D5FD749E117E}"/>
              </a:ext>
            </a:extLst>
          </p:cNvPr>
          <p:cNvGraphicFramePr>
            <a:graphicFrameLocks noGrp="1"/>
          </p:cNvGraphicFramePr>
          <p:nvPr/>
        </p:nvGraphicFramePr>
        <p:xfrm>
          <a:off x="3810000" y="1143000"/>
          <a:ext cx="2430463" cy="4754796"/>
        </p:xfrm>
        <a:graphic>
          <a:graphicData uri="http://schemas.openxmlformats.org/drawingml/2006/table">
            <a:tbl>
              <a:tblPr/>
              <a:tblGrid>
                <a:gridCol w="80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3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GOTO TABLE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State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Pair</a:t>
                      </a:r>
                      <a:endParaRPr kumimoji="0" lang="en-US" sz="18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9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9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10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5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11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9620" name="Group 404">
            <a:extLst>
              <a:ext uri="{FF2B5EF4-FFF2-40B4-BE49-F238E27FC236}">
                <a16:creationId xmlns:a16="http://schemas.microsoft.com/office/drawing/2014/main" id="{53930E33-C587-4894-AF60-0DA4C3C87395}"/>
              </a:ext>
            </a:extLst>
          </p:cNvPr>
          <p:cNvGraphicFramePr>
            <a:graphicFrameLocks noGrp="1"/>
          </p:cNvGraphicFramePr>
          <p:nvPr/>
        </p:nvGraphicFramePr>
        <p:xfrm>
          <a:off x="6324600" y="4414838"/>
          <a:ext cx="2362200" cy="1530352"/>
        </p:xfrm>
        <a:graphic>
          <a:graphicData uri="http://schemas.openxmlformats.org/drawingml/2006/table">
            <a:tbl>
              <a:tblPr/>
              <a:tblGrid>
                <a:gridCol w="382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07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 Pair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Pair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Pair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Pair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endParaRPr kumimoji="0" lang="en-US" sz="14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Footer Placeholder 1">
            <a:extLst>
              <a:ext uri="{FF2B5EF4-FFF2-40B4-BE49-F238E27FC236}">
                <a16:creationId xmlns:a16="http://schemas.microsoft.com/office/drawing/2014/main" id="{81F10D94-4B2A-40BB-809A-C572280949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0722" name="Slide Number Placeholder 2">
            <a:extLst>
              <a:ext uri="{FF2B5EF4-FFF2-40B4-BE49-F238E27FC236}">
                <a16:creationId xmlns:a16="http://schemas.microsoft.com/office/drawing/2014/main" id="{26107E06-E27E-4926-860A-8466B6BE65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DEF41D7-A409-4E3B-8F71-83384F2C4A65}" type="slidenum">
              <a:rPr lang="en-US" altLang="it-IT"/>
              <a:pPr/>
              <a:t>10</a:t>
            </a:fld>
            <a:endParaRPr lang="en-US" altLang="it-IT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A30BC595-D10E-4662-B2AC-4D5967F69E6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The Parentheses Language</a:t>
            </a:r>
          </a:p>
        </p:txBody>
      </p:sp>
      <p:graphicFrame>
        <p:nvGraphicFramePr>
          <p:cNvPr id="11267" name="Group 3">
            <a:extLst>
              <a:ext uri="{FF2B5EF4-FFF2-40B4-BE49-F238E27FC236}">
                <a16:creationId xmlns:a16="http://schemas.microsoft.com/office/drawing/2014/main" id="{1BD8D792-30CA-4E42-9D8E-08D0FA553F18}"/>
              </a:ext>
            </a:extLst>
          </p:cNvPr>
          <p:cNvGraphicFramePr>
            <a:graphicFrameLocks noGrp="1"/>
          </p:cNvGraphicFramePr>
          <p:nvPr/>
        </p:nvGraphicFramePr>
        <p:xfrm>
          <a:off x="6324600" y="4414838"/>
          <a:ext cx="2362200" cy="1530352"/>
        </p:xfrm>
        <a:graphic>
          <a:graphicData uri="http://schemas.openxmlformats.org/drawingml/2006/table">
            <a:tbl>
              <a:tblPr/>
              <a:tblGrid>
                <a:gridCol w="382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07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 Pair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Pair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Pair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Pair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endParaRPr kumimoji="0" lang="en-US" sz="14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745" name="Rectangle 42">
            <a:extLst>
              <a:ext uri="{FF2B5EF4-FFF2-40B4-BE49-F238E27FC236}">
                <a16:creationId xmlns:a16="http://schemas.microsoft.com/office/drawing/2014/main" id="{5C43CB0B-FF6D-4AD5-B472-DB3171B881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7525" y="1298575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graphicFrame>
        <p:nvGraphicFramePr>
          <p:cNvPr id="11434" name="Group 170">
            <a:extLst>
              <a:ext uri="{FF2B5EF4-FFF2-40B4-BE49-F238E27FC236}">
                <a16:creationId xmlns:a16="http://schemas.microsoft.com/office/drawing/2014/main" id="{71A8E9A2-2FC1-4E06-BDC9-853D60B25EE0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244600"/>
          <a:ext cx="6477000" cy="2946403"/>
        </p:xfrm>
        <a:graphic>
          <a:graphicData uri="http://schemas.openxmlformats.org/drawingml/2006/table">
            <a:tbl>
              <a:tblPr/>
              <a:tblGrid>
                <a:gridCol w="947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97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4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State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Lookahead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Stack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Handle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Action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—none—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999999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—none—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3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—none—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7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3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7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4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Pair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Pair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2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1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accept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0785" name="Text Box 113">
            <a:extLst>
              <a:ext uri="{FF2B5EF4-FFF2-40B4-BE49-F238E27FC236}">
                <a16:creationId xmlns:a16="http://schemas.microsoft.com/office/drawing/2014/main" id="{8BFBB3A0-58E9-4A39-A2DA-679D67DB7D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4267200"/>
            <a:ext cx="2362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>
                <a:solidFill>
                  <a:srgbClr val="B025A6"/>
                </a:solidFill>
              </a:rPr>
              <a:t>Parsing “</a:t>
            </a:r>
            <a:r>
              <a:rPr lang="en-US" altLang="it-IT" u="sng">
                <a:solidFill>
                  <a:srgbClr val="B025A6"/>
                </a:solidFill>
              </a:rPr>
              <a:t>(</a:t>
            </a:r>
            <a:r>
              <a:rPr lang="en-US" altLang="it-IT">
                <a:solidFill>
                  <a:srgbClr val="B025A6"/>
                </a:solidFill>
              </a:rPr>
              <a:t> </a:t>
            </a:r>
            <a:r>
              <a:rPr lang="en-US" altLang="it-IT" u="sng">
                <a:solidFill>
                  <a:srgbClr val="B025A6"/>
                </a:solidFill>
              </a:rPr>
              <a:t>)</a:t>
            </a:r>
            <a:r>
              <a:rPr lang="en-US" altLang="it-IT">
                <a:solidFill>
                  <a:srgbClr val="B025A6"/>
                </a:solidFill>
              </a:rPr>
              <a:t>”</a:t>
            </a:r>
          </a:p>
        </p:txBody>
      </p:sp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Footer Placeholder 1">
            <a:extLst>
              <a:ext uri="{FF2B5EF4-FFF2-40B4-BE49-F238E27FC236}">
                <a16:creationId xmlns:a16="http://schemas.microsoft.com/office/drawing/2014/main" id="{24617BD4-39C5-4BAC-BCB7-05C8DAF6FE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2770" name="Slide Number Placeholder 2">
            <a:extLst>
              <a:ext uri="{FF2B5EF4-FFF2-40B4-BE49-F238E27FC236}">
                <a16:creationId xmlns:a16="http://schemas.microsoft.com/office/drawing/2014/main" id="{E9BA2D7B-97E8-4434-9C87-7CDADB8178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DEA99A3-E5E6-4F6D-A8C8-48981368E66C}" type="slidenum">
              <a:rPr lang="en-US" altLang="it-IT"/>
              <a:pPr/>
              <a:t>11</a:t>
            </a:fld>
            <a:endParaRPr lang="en-US" altLang="it-IT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70BEB675-4227-4282-A467-05DA106DF27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The Parentheses Language</a:t>
            </a: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00EFCCEA-31FD-428C-AEF3-F1538D7A3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7525" y="1298575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graphicFrame>
        <p:nvGraphicFramePr>
          <p:cNvPr id="13626" name="Group 314">
            <a:extLst>
              <a:ext uri="{FF2B5EF4-FFF2-40B4-BE49-F238E27FC236}">
                <a16:creationId xmlns:a16="http://schemas.microsoft.com/office/drawing/2014/main" id="{641D6C2B-CE1A-4FB7-9EA5-CAAD4995C5C6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066800"/>
          <a:ext cx="6096000" cy="5427679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20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State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L’ahead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Stack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Handle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Action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—none—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999999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6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—none—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3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0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3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—none—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6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3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—none—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10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0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10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3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10</a:t>
                      </a:r>
                      <a:endParaRPr kumimoji="0" lang="en-US" sz="16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endParaRPr kumimoji="0" lang="en-US" sz="1600" b="0" i="1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4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0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3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Pair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5 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—none—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8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0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3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Pair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5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8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Pair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endParaRPr kumimoji="0" lang="en-US" sz="1600" b="0" i="1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3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5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Pair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Pair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2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0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1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—none—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3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0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1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3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—none—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7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0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3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7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endParaRPr kumimoji="0" lang="en-US" sz="1600" b="0" i="1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4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05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1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Pair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4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 Pair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1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52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1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accept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32847" name="Text Box 116">
            <a:extLst>
              <a:ext uri="{FF2B5EF4-FFF2-40B4-BE49-F238E27FC236}">
                <a16:creationId xmlns:a16="http://schemas.microsoft.com/office/drawing/2014/main" id="{84D53206-705C-42D0-8267-CA1F53BCF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1752600"/>
            <a:ext cx="1295400" cy="69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it-IT">
                <a:solidFill>
                  <a:srgbClr val="B025A6"/>
                </a:solidFill>
              </a:rPr>
              <a:t>Parsing </a:t>
            </a:r>
          </a:p>
          <a:p>
            <a:pPr>
              <a:spcBef>
                <a:spcPct val="20000"/>
              </a:spcBef>
            </a:pPr>
            <a:r>
              <a:rPr lang="en-US" altLang="it-IT">
                <a:solidFill>
                  <a:srgbClr val="B025A6"/>
                </a:solidFill>
              </a:rPr>
              <a:t>“</a:t>
            </a:r>
            <a:r>
              <a:rPr lang="en-US" altLang="it-IT" u="sng">
                <a:solidFill>
                  <a:srgbClr val="B025A6"/>
                </a:solidFill>
              </a:rPr>
              <a:t>((</a:t>
            </a:r>
            <a:r>
              <a:rPr lang="en-US" altLang="it-IT">
                <a:solidFill>
                  <a:srgbClr val="B025A6"/>
                </a:solidFill>
              </a:rPr>
              <a:t> </a:t>
            </a:r>
            <a:r>
              <a:rPr lang="en-US" altLang="it-IT" u="sng">
                <a:solidFill>
                  <a:srgbClr val="B025A6"/>
                </a:solidFill>
              </a:rPr>
              <a:t>))</a:t>
            </a:r>
            <a:r>
              <a:rPr lang="en-US" altLang="it-IT">
                <a:solidFill>
                  <a:srgbClr val="B025A6"/>
                </a:solidFill>
              </a:rPr>
              <a:t> </a:t>
            </a:r>
            <a:r>
              <a:rPr lang="en-US" altLang="it-IT" u="sng">
                <a:solidFill>
                  <a:srgbClr val="B025A6"/>
                </a:solidFill>
              </a:rPr>
              <a:t>(</a:t>
            </a:r>
            <a:r>
              <a:rPr lang="en-US" altLang="it-IT">
                <a:solidFill>
                  <a:srgbClr val="B025A6"/>
                </a:solidFill>
              </a:rPr>
              <a:t> )”</a:t>
            </a:r>
          </a:p>
        </p:txBody>
      </p:sp>
      <p:graphicFrame>
        <p:nvGraphicFramePr>
          <p:cNvPr id="13429" name="Group 117">
            <a:extLst>
              <a:ext uri="{FF2B5EF4-FFF2-40B4-BE49-F238E27FC236}">
                <a16:creationId xmlns:a16="http://schemas.microsoft.com/office/drawing/2014/main" id="{9F741C3E-3E86-4C53-8DBB-8727344CF737}"/>
              </a:ext>
            </a:extLst>
          </p:cNvPr>
          <p:cNvGraphicFramePr>
            <a:graphicFrameLocks noGrp="1"/>
          </p:cNvGraphicFramePr>
          <p:nvPr/>
        </p:nvGraphicFramePr>
        <p:xfrm>
          <a:off x="6781800" y="0"/>
          <a:ext cx="2362200" cy="1530352"/>
        </p:xfrm>
        <a:graphic>
          <a:graphicData uri="http://schemas.openxmlformats.org/drawingml/2006/table">
            <a:tbl>
              <a:tblPr/>
              <a:tblGrid>
                <a:gridCol w="382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07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 Pair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Pair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Pair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Pair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endParaRPr kumimoji="0" lang="en-US" sz="14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5702" name="Group 315">
            <a:extLst>
              <a:ext uri="{FF2B5EF4-FFF2-40B4-BE49-F238E27FC236}">
                <a16:creationId xmlns:a16="http://schemas.microsoft.com/office/drawing/2014/main" id="{D0EF7CA4-D914-4209-9190-D6F6E9E56DFB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3060700"/>
            <a:ext cx="3200400" cy="2654300"/>
            <a:chOff x="3600" y="1928"/>
            <a:chExt cx="2016" cy="1672"/>
          </a:xfrm>
        </p:grpSpPr>
        <p:sp>
          <p:nvSpPr>
            <p:cNvPr id="32870" name="Text Box 157">
              <a:extLst>
                <a:ext uri="{FF2B5EF4-FFF2-40B4-BE49-F238E27FC236}">
                  <a16:creationId xmlns:a16="http://schemas.microsoft.com/office/drawing/2014/main" id="{8A4E2860-91B7-450D-B28D-F230BBEDF9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1968"/>
              <a:ext cx="1152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>
                  <a:solidFill>
                    <a:srgbClr val="B025A6"/>
                  </a:solidFill>
                </a:rPr>
                <a:t>Let’s look at how the parser reduces “</a:t>
              </a:r>
              <a:r>
                <a:rPr lang="en-US" altLang="it-IT" u="sng">
                  <a:solidFill>
                    <a:srgbClr val="B025A6"/>
                  </a:solidFill>
                </a:rPr>
                <a:t>(</a:t>
              </a:r>
              <a:r>
                <a:rPr lang="en-US" altLang="it-IT">
                  <a:solidFill>
                    <a:srgbClr val="B025A6"/>
                  </a:solidFill>
                </a:rPr>
                <a:t> </a:t>
              </a:r>
              <a:r>
                <a:rPr lang="en-US" altLang="it-IT" u="sng">
                  <a:solidFill>
                    <a:srgbClr val="B025A6"/>
                  </a:solidFill>
                </a:rPr>
                <a:t>)</a:t>
              </a:r>
              <a:r>
                <a:rPr lang="en-US" altLang="it-IT">
                  <a:solidFill>
                    <a:srgbClr val="B025A6"/>
                  </a:solidFill>
                </a:rPr>
                <a:t>”</a:t>
              </a:r>
            </a:p>
          </p:txBody>
        </p:sp>
        <p:sp>
          <p:nvSpPr>
            <p:cNvPr id="32871" name="AutoShape 158">
              <a:extLst>
                <a:ext uri="{FF2B5EF4-FFF2-40B4-BE49-F238E27FC236}">
                  <a16:creationId xmlns:a16="http://schemas.microsoft.com/office/drawing/2014/main" id="{05B07887-FD28-4FED-81B3-D9550D1CE9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1928"/>
              <a:ext cx="672" cy="192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B025A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2872" name="AutoShape 159">
              <a:extLst>
                <a:ext uri="{FF2B5EF4-FFF2-40B4-BE49-F238E27FC236}">
                  <a16:creationId xmlns:a16="http://schemas.microsoft.com/office/drawing/2014/main" id="{88AA1216-D1A4-4790-B634-03F557C530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3408"/>
              <a:ext cx="672" cy="192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B025A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2873" name="Freeform 160">
              <a:extLst>
                <a:ext uri="{FF2B5EF4-FFF2-40B4-BE49-F238E27FC236}">
                  <a16:creationId xmlns:a16="http://schemas.microsoft.com/office/drawing/2014/main" id="{8DF60E9D-2BC3-48DD-B167-E1B5A297A5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2" y="1968"/>
              <a:ext cx="240" cy="192"/>
            </a:xfrm>
            <a:custGeom>
              <a:avLst/>
              <a:gdLst>
                <a:gd name="T0" fmla="*/ 0 w 240"/>
                <a:gd name="T1" fmla="*/ 0 h 192"/>
                <a:gd name="T2" fmla="*/ 144 w 240"/>
                <a:gd name="T3" fmla="*/ 48 h 192"/>
                <a:gd name="T4" fmla="*/ 96 w 240"/>
                <a:gd name="T5" fmla="*/ 144 h 192"/>
                <a:gd name="T6" fmla="*/ 240 w 240"/>
                <a:gd name="T7" fmla="*/ 192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0"/>
                <a:gd name="T13" fmla="*/ 0 h 192"/>
                <a:gd name="T14" fmla="*/ 240 w 240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0" h="192">
                  <a:moveTo>
                    <a:pt x="0" y="0"/>
                  </a:moveTo>
                  <a:cubicBezTo>
                    <a:pt x="64" y="12"/>
                    <a:pt x="128" y="24"/>
                    <a:pt x="144" y="48"/>
                  </a:cubicBezTo>
                  <a:cubicBezTo>
                    <a:pt x="160" y="72"/>
                    <a:pt x="80" y="120"/>
                    <a:pt x="96" y="144"/>
                  </a:cubicBezTo>
                  <a:cubicBezTo>
                    <a:pt x="112" y="168"/>
                    <a:pt x="176" y="180"/>
                    <a:pt x="240" y="192"/>
                  </a:cubicBezTo>
                </a:path>
              </a:pathLst>
            </a:custGeom>
            <a:noFill/>
            <a:ln w="9525">
              <a:solidFill>
                <a:srgbClr val="B025A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2874" name="Freeform 161">
              <a:extLst>
                <a:ext uri="{FF2B5EF4-FFF2-40B4-BE49-F238E27FC236}">
                  <a16:creationId xmlns:a16="http://schemas.microsoft.com/office/drawing/2014/main" id="{0CF6CF54-E54C-44FF-BDF5-484108C78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6" y="2256"/>
              <a:ext cx="336" cy="1152"/>
            </a:xfrm>
            <a:custGeom>
              <a:avLst/>
              <a:gdLst>
                <a:gd name="T0" fmla="*/ 336 w 336"/>
                <a:gd name="T1" fmla="*/ 0 h 1152"/>
                <a:gd name="T2" fmla="*/ 144 w 336"/>
                <a:gd name="T3" fmla="*/ 720 h 1152"/>
                <a:gd name="T4" fmla="*/ 288 w 336"/>
                <a:gd name="T5" fmla="*/ 768 h 1152"/>
                <a:gd name="T6" fmla="*/ 0 w 336"/>
                <a:gd name="T7" fmla="*/ 1152 h 11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6"/>
                <a:gd name="T13" fmla="*/ 0 h 1152"/>
                <a:gd name="T14" fmla="*/ 336 w 336"/>
                <a:gd name="T15" fmla="*/ 1152 h 11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6" h="1152">
                  <a:moveTo>
                    <a:pt x="336" y="0"/>
                  </a:moveTo>
                  <a:cubicBezTo>
                    <a:pt x="244" y="296"/>
                    <a:pt x="152" y="592"/>
                    <a:pt x="144" y="720"/>
                  </a:cubicBezTo>
                  <a:cubicBezTo>
                    <a:pt x="136" y="848"/>
                    <a:pt x="312" y="696"/>
                    <a:pt x="288" y="768"/>
                  </a:cubicBezTo>
                  <a:cubicBezTo>
                    <a:pt x="264" y="840"/>
                    <a:pt x="48" y="1088"/>
                    <a:pt x="0" y="1152"/>
                  </a:cubicBezTo>
                </a:path>
              </a:pathLst>
            </a:custGeom>
            <a:noFill/>
            <a:ln w="9525">
              <a:solidFill>
                <a:srgbClr val="B025A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5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Footer Placeholder 1">
            <a:extLst>
              <a:ext uri="{FF2B5EF4-FFF2-40B4-BE49-F238E27FC236}">
                <a16:creationId xmlns:a16="http://schemas.microsoft.com/office/drawing/2014/main" id="{8E6F178D-8F72-4D7D-AD5A-4819C037C8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4818" name="Slide Number Placeholder 2">
            <a:extLst>
              <a:ext uri="{FF2B5EF4-FFF2-40B4-BE49-F238E27FC236}">
                <a16:creationId xmlns:a16="http://schemas.microsoft.com/office/drawing/2014/main" id="{43DE0788-4342-4579-B349-E881A9124E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D097F0C-DC21-46FE-A838-1BDA8F715977}" type="slidenum">
              <a:rPr lang="en-US" altLang="it-IT"/>
              <a:pPr/>
              <a:t>12</a:t>
            </a:fld>
            <a:endParaRPr lang="en-US" altLang="it-IT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73106ED7-1C48-41BC-9BBD-B932050ED25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The Parentheses Language</a:t>
            </a:r>
          </a:p>
        </p:txBody>
      </p:sp>
      <p:graphicFrame>
        <p:nvGraphicFramePr>
          <p:cNvPr id="15363" name="Group 3">
            <a:extLst>
              <a:ext uri="{FF2B5EF4-FFF2-40B4-BE49-F238E27FC236}">
                <a16:creationId xmlns:a16="http://schemas.microsoft.com/office/drawing/2014/main" id="{EC3F5A26-69C5-4D58-B05F-BE28143F9DD4}"/>
              </a:ext>
            </a:extLst>
          </p:cNvPr>
          <p:cNvGraphicFramePr>
            <a:graphicFrameLocks noGrp="1"/>
          </p:cNvGraphicFramePr>
          <p:nvPr/>
        </p:nvGraphicFramePr>
        <p:xfrm>
          <a:off x="6324600" y="4414838"/>
          <a:ext cx="2362200" cy="1530352"/>
        </p:xfrm>
        <a:graphic>
          <a:graphicData uri="http://schemas.openxmlformats.org/drawingml/2006/table">
            <a:tbl>
              <a:tblPr/>
              <a:tblGrid>
                <a:gridCol w="382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07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 Pair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Pair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Pair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Pair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endParaRPr kumimoji="0" lang="en-US" sz="14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841" name="Rectangle 42">
            <a:extLst>
              <a:ext uri="{FF2B5EF4-FFF2-40B4-BE49-F238E27FC236}">
                <a16:creationId xmlns:a16="http://schemas.microsoft.com/office/drawing/2014/main" id="{C8C2F188-C46E-4307-9FA4-731CAEF0D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7525" y="1298575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graphicFrame>
        <p:nvGraphicFramePr>
          <p:cNvPr id="15534" name="Group 174">
            <a:extLst>
              <a:ext uri="{FF2B5EF4-FFF2-40B4-BE49-F238E27FC236}">
                <a16:creationId xmlns:a16="http://schemas.microsoft.com/office/drawing/2014/main" id="{044A9AAC-609B-4769-BC0F-CF3D8D77783F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168400"/>
          <a:ext cx="6248400" cy="2946403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State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Lookahead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Stack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Handle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Action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—none—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999999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—none—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3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—none—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7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3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7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reduce4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Pair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Pair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2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1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accept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4881" name="Text Box 113">
            <a:extLst>
              <a:ext uri="{FF2B5EF4-FFF2-40B4-BE49-F238E27FC236}">
                <a16:creationId xmlns:a16="http://schemas.microsoft.com/office/drawing/2014/main" id="{A00D16AA-38D5-4DD6-84D5-921F1F29D4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4267200"/>
            <a:ext cx="2362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>
                <a:solidFill>
                  <a:srgbClr val="B025A6"/>
                </a:solidFill>
              </a:rPr>
              <a:t>Parsing “</a:t>
            </a:r>
            <a:r>
              <a:rPr lang="en-US" altLang="it-IT" u="sng">
                <a:solidFill>
                  <a:srgbClr val="B025A6"/>
                </a:solidFill>
              </a:rPr>
              <a:t>(</a:t>
            </a:r>
            <a:r>
              <a:rPr lang="en-US" altLang="it-IT">
                <a:solidFill>
                  <a:srgbClr val="B025A6"/>
                </a:solidFill>
              </a:rPr>
              <a:t> </a:t>
            </a:r>
            <a:r>
              <a:rPr lang="en-US" altLang="it-IT" u="sng">
                <a:solidFill>
                  <a:srgbClr val="B025A6"/>
                </a:solidFill>
              </a:rPr>
              <a:t>)</a:t>
            </a:r>
            <a:r>
              <a:rPr lang="en-US" altLang="it-IT">
                <a:solidFill>
                  <a:srgbClr val="B025A6"/>
                </a:solidFill>
              </a:rPr>
              <a:t>”</a:t>
            </a:r>
          </a:p>
        </p:txBody>
      </p:sp>
      <p:sp>
        <p:nvSpPr>
          <p:cNvPr id="34882" name="AutoShape 114">
            <a:extLst>
              <a:ext uri="{FF2B5EF4-FFF2-40B4-BE49-F238E27FC236}">
                <a16:creationId xmlns:a16="http://schemas.microsoft.com/office/drawing/2014/main" id="{B34F6A16-DC86-447E-9485-A4D144B5F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4863" y="2870200"/>
            <a:ext cx="10668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B025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endParaRPr lang="en-GB" altLang="it-IT"/>
          </a:p>
        </p:txBody>
      </p:sp>
      <p:sp>
        <p:nvSpPr>
          <p:cNvPr id="34883" name="AutoShape 115">
            <a:extLst>
              <a:ext uri="{FF2B5EF4-FFF2-40B4-BE49-F238E27FC236}">
                <a16:creationId xmlns:a16="http://schemas.microsoft.com/office/drawing/2014/main" id="{76A949A5-0AD3-487D-B64E-2B992F143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5025" y="2873375"/>
            <a:ext cx="2286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B025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cxnSp>
        <p:nvCxnSpPr>
          <p:cNvPr id="34884" name="AutoShape 116">
            <a:extLst>
              <a:ext uri="{FF2B5EF4-FFF2-40B4-BE49-F238E27FC236}">
                <a16:creationId xmlns:a16="http://schemas.microsoft.com/office/drawing/2014/main" id="{6FFF1936-8F1D-4DE7-927D-D86A889E66B9}"/>
              </a:ext>
            </a:extLst>
          </p:cNvPr>
          <p:cNvCxnSpPr>
            <a:cxnSpLocks noChangeShapeType="1"/>
            <a:stCxn id="34882" idx="0"/>
            <a:endCxn id="34883" idx="0"/>
          </p:cNvCxnSpPr>
          <p:nvPr/>
        </p:nvCxnSpPr>
        <p:spPr bwMode="auto">
          <a:xfrm rot="-5400000" flipH="1" flipV="1">
            <a:off x="4952206" y="1397794"/>
            <a:ext cx="3175" cy="2928938"/>
          </a:xfrm>
          <a:prstGeom prst="curvedConnector3">
            <a:avLst>
              <a:gd name="adj1" fmla="val -6900000"/>
            </a:avLst>
          </a:prstGeom>
          <a:noFill/>
          <a:ln w="9525">
            <a:solidFill>
              <a:srgbClr val="B025A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85" name="Text Box 117">
            <a:extLst>
              <a:ext uri="{FF2B5EF4-FFF2-40B4-BE49-F238E27FC236}">
                <a16:creationId xmlns:a16="http://schemas.microsoft.com/office/drawing/2014/main" id="{ABE797CC-4A66-40C6-95A4-0B848FEA4A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800600"/>
            <a:ext cx="4724400" cy="779463"/>
          </a:xfrm>
          <a:prstGeom prst="rect">
            <a:avLst/>
          </a:pr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/>
              <a:t>Here, peeling </a:t>
            </a:r>
            <a:r>
              <a:rPr lang="en-US" altLang="it-IT" u="sng"/>
              <a:t>(</a:t>
            </a:r>
            <a:r>
              <a:rPr lang="en-US" altLang="it-IT"/>
              <a:t> </a:t>
            </a:r>
            <a:r>
              <a:rPr lang="en-US" altLang="it-IT" u="sng"/>
              <a:t>)</a:t>
            </a:r>
            <a:r>
              <a:rPr lang="en-US" altLang="it-IT"/>
              <a:t> off the stack reveals </a:t>
            </a:r>
            <a:r>
              <a:rPr lang="en-US" altLang="it-IT" i="1"/>
              <a:t>s</a:t>
            </a:r>
            <a:r>
              <a:rPr lang="en-US" altLang="it-IT" i="1" baseline="-25000"/>
              <a:t>0</a:t>
            </a:r>
            <a:r>
              <a:rPr lang="en-US" altLang="it-IT"/>
              <a:t>.</a:t>
            </a:r>
          </a:p>
          <a:p>
            <a:pPr>
              <a:spcBef>
                <a:spcPct val="50000"/>
              </a:spcBef>
            </a:pPr>
            <a:r>
              <a:rPr lang="en-US" altLang="it-IT"/>
              <a:t>Goto(</a:t>
            </a:r>
            <a:r>
              <a:rPr lang="en-US" altLang="it-IT" i="1"/>
              <a:t>s</a:t>
            </a:r>
            <a:r>
              <a:rPr lang="en-US" altLang="it-IT" i="1" baseline="-25000"/>
              <a:t>0</a:t>
            </a:r>
            <a:r>
              <a:rPr lang="en-US" altLang="it-IT" i="1"/>
              <a:t>,Pair</a:t>
            </a:r>
            <a:r>
              <a:rPr lang="en-US" altLang="it-IT"/>
              <a:t>) is </a:t>
            </a:r>
            <a:r>
              <a:rPr lang="en-US" altLang="it-IT" i="1"/>
              <a:t>s</a:t>
            </a:r>
            <a:r>
              <a:rPr lang="en-US" altLang="it-IT" i="1" baseline="-25000"/>
              <a:t>2</a:t>
            </a:r>
            <a:r>
              <a:rPr lang="en-US" altLang="it-IT" i="1"/>
              <a:t>.</a:t>
            </a:r>
            <a:endParaRPr lang="en-US" altLang="it-IT"/>
          </a:p>
        </p:txBody>
      </p:sp>
    </p:spTree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Footer Placeholder 1">
            <a:extLst>
              <a:ext uri="{FF2B5EF4-FFF2-40B4-BE49-F238E27FC236}">
                <a16:creationId xmlns:a16="http://schemas.microsoft.com/office/drawing/2014/main" id="{9EB316A0-AF57-48B9-B46D-4012A0EF29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6866" name="Slide Number Placeholder 2">
            <a:extLst>
              <a:ext uri="{FF2B5EF4-FFF2-40B4-BE49-F238E27FC236}">
                <a16:creationId xmlns:a16="http://schemas.microsoft.com/office/drawing/2014/main" id="{6174E255-279F-45C1-994A-C044430429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94D672E-17C7-4FA6-BAA2-BB214146E267}" type="slidenum">
              <a:rPr lang="en-US" altLang="it-IT"/>
              <a:pPr/>
              <a:t>13</a:t>
            </a:fld>
            <a:endParaRPr lang="en-US" altLang="it-IT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FFB5FF5A-035D-479C-A576-CC8AE85DA3E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The Parentheses Language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D317E16A-FDD0-4A36-88B2-35B448914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7525" y="1298575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36869" name="Text Box 116">
            <a:extLst>
              <a:ext uri="{FF2B5EF4-FFF2-40B4-BE49-F238E27FC236}">
                <a16:creationId xmlns:a16="http://schemas.microsoft.com/office/drawing/2014/main" id="{A56C9417-5318-416B-BFC6-3A889E3ED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1752600"/>
            <a:ext cx="1295400" cy="69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it-IT">
                <a:solidFill>
                  <a:srgbClr val="B025A6"/>
                </a:solidFill>
              </a:rPr>
              <a:t>Parsing </a:t>
            </a:r>
          </a:p>
          <a:p>
            <a:pPr>
              <a:spcBef>
                <a:spcPct val="20000"/>
              </a:spcBef>
            </a:pPr>
            <a:r>
              <a:rPr lang="en-US" altLang="it-IT">
                <a:solidFill>
                  <a:srgbClr val="B025A6"/>
                </a:solidFill>
              </a:rPr>
              <a:t>“</a:t>
            </a:r>
            <a:r>
              <a:rPr lang="en-US" altLang="it-IT" u="sng">
                <a:solidFill>
                  <a:srgbClr val="B025A6"/>
                </a:solidFill>
              </a:rPr>
              <a:t>((</a:t>
            </a:r>
            <a:r>
              <a:rPr lang="en-US" altLang="it-IT">
                <a:solidFill>
                  <a:srgbClr val="B025A6"/>
                </a:solidFill>
              </a:rPr>
              <a:t> </a:t>
            </a:r>
            <a:r>
              <a:rPr lang="en-US" altLang="it-IT" u="sng">
                <a:solidFill>
                  <a:srgbClr val="B025A6"/>
                </a:solidFill>
              </a:rPr>
              <a:t>))</a:t>
            </a:r>
            <a:r>
              <a:rPr lang="en-US" altLang="it-IT">
                <a:solidFill>
                  <a:srgbClr val="B025A6"/>
                </a:solidFill>
              </a:rPr>
              <a:t> </a:t>
            </a:r>
            <a:r>
              <a:rPr lang="en-US" altLang="it-IT" u="sng">
                <a:solidFill>
                  <a:srgbClr val="B025A6"/>
                </a:solidFill>
              </a:rPr>
              <a:t>(</a:t>
            </a:r>
            <a:r>
              <a:rPr lang="en-US" altLang="it-IT">
                <a:solidFill>
                  <a:srgbClr val="B025A6"/>
                </a:solidFill>
              </a:rPr>
              <a:t> )”</a:t>
            </a:r>
          </a:p>
        </p:txBody>
      </p:sp>
      <p:graphicFrame>
        <p:nvGraphicFramePr>
          <p:cNvPr id="17525" name="Group 117">
            <a:extLst>
              <a:ext uri="{FF2B5EF4-FFF2-40B4-BE49-F238E27FC236}">
                <a16:creationId xmlns:a16="http://schemas.microsoft.com/office/drawing/2014/main" id="{C311AC3E-6ED0-48FD-B556-F4DD5D10FFE3}"/>
              </a:ext>
            </a:extLst>
          </p:cNvPr>
          <p:cNvGraphicFramePr>
            <a:graphicFrameLocks noGrp="1"/>
          </p:cNvGraphicFramePr>
          <p:nvPr/>
        </p:nvGraphicFramePr>
        <p:xfrm>
          <a:off x="6781800" y="0"/>
          <a:ext cx="2362200" cy="1530352"/>
        </p:xfrm>
        <a:graphic>
          <a:graphicData uri="http://schemas.openxmlformats.org/drawingml/2006/table">
            <a:tbl>
              <a:tblPr/>
              <a:tblGrid>
                <a:gridCol w="382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07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 Pair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Pair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Pair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Pair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endParaRPr kumimoji="0" lang="en-US" sz="14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7412" name="Group 4">
            <a:extLst>
              <a:ext uri="{FF2B5EF4-FFF2-40B4-BE49-F238E27FC236}">
                <a16:creationId xmlns:a16="http://schemas.microsoft.com/office/drawing/2014/main" id="{E44DCA67-7A28-4472-BF06-F7B8B0E63F98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066800"/>
          <a:ext cx="6096000" cy="5427679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20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State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L’ahead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Stack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Handle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Action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—none—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999999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6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—none—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3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0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3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—none—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6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3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—none—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10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0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10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3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10</a:t>
                      </a:r>
                      <a:endParaRPr kumimoji="0" lang="en-US" sz="16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endParaRPr kumimoji="0" lang="en-US" sz="1600" b="0" i="1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4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0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3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Pair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5 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—none—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8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0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3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Pair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5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8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Pair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endParaRPr kumimoji="0" lang="en-US" sz="1600" b="0" i="1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3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5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Pair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Pair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2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0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1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—none—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3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0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1 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3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—none—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7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0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 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3 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7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endParaRPr kumimoji="0" lang="en-US" sz="1600" b="0" i="1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4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05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1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Pair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4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 Pair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1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52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1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accept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36979" name="Text Box 159">
            <a:extLst>
              <a:ext uri="{FF2B5EF4-FFF2-40B4-BE49-F238E27FC236}">
                <a16:creationId xmlns:a16="http://schemas.microsoft.com/office/drawing/2014/main" id="{A239D989-7179-4971-A106-5F4DC46839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4294188"/>
            <a:ext cx="4800600" cy="1878012"/>
          </a:xfrm>
          <a:prstGeom prst="rect">
            <a:avLst/>
          </a:pr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/>
              <a:t>Here, peeling </a:t>
            </a:r>
            <a:r>
              <a:rPr lang="en-US" altLang="it-IT" u="sng"/>
              <a:t>(</a:t>
            </a:r>
            <a:r>
              <a:rPr lang="en-US" altLang="it-IT"/>
              <a:t> </a:t>
            </a:r>
            <a:r>
              <a:rPr lang="en-US" altLang="it-IT" u="sng"/>
              <a:t>)</a:t>
            </a:r>
            <a:r>
              <a:rPr lang="en-US" altLang="it-IT"/>
              <a:t> off the stack reveals </a:t>
            </a:r>
            <a:r>
              <a:rPr lang="en-US" altLang="it-IT" i="1"/>
              <a:t>s</a:t>
            </a:r>
            <a:r>
              <a:rPr lang="en-US" altLang="it-IT" i="1" baseline="-25000"/>
              <a:t>3</a:t>
            </a:r>
            <a:r>
              <a:rPr lang="en-US" altLang="it-IT"/>
              <a:t>, which represents the left context of an unmatched </a:t>
            </a:r>
            <a:r>
              <a:rPr lang="en-US" altLang="it-IT" u="sng"/>
              <a:t>(</a:t>
            </a:r>
            <a:r>
              <a:rPr lang="en-US" altLang="it-IT"/>
              <a:t>. </a:t>
            </a:r>
          </a:p>
          <a:p>
            <a:pPr>
              <a:spcBef>
                <a:spcPct val="50000"/>
              </a:spcBef>
            </a:pPr>
            <a:r>
              <a:rPr lang="en-US" altLang="it-IT"/>
              <a:t>Goto(</a:t>
            </a:r>
            <a:r>
              <a:rPr lang="en-US" altLang="it-IT" i="1"/>
              <a:t>s</a:t>
            </a:r>
            <a:r>
              <a:rPr lang="en-US" altLang="it-IT" i="1" baseline="-25000"/>
              <a:t>3</a:t>
            </a:r>
            <a:r>
              <a:rPr lang="en-US" altLang="it-IT" i="1"/>
              <a:t>,Pair</a:t>
            </a:r>
            <a:r>
              <a:rPr lang="en-US" altLang="it-IT"/>
              <a:t>) is </a:t>
            </a:r>
            <a:r>
              <a:rPr lang="en-US" altLang="it-IT" i="1"/>
              <a:t>s</a:t>
            </a:r>
            <a:r>
              <a:rPr lang="en-US" altLang="it-IT" i="1" baseline="-25000"/>
              <a:t>5</a:t>
            </a:r>
            <a:r>
              <a:rPr lang="en-US" altLang="it-IT"/>
              <a:t>, a state in which we expect a </a:t>
            </a:r>
            <a:r>
              <a:rPr lang="en-US" altLang="it-IT" u="sng"/>
              <a:t>)</a:t>
            </a:r>
            <a:r>
              <a:rPr lang="en-US" altLang="it-IT"/>
              <a:t>.  That path leads to a reduction by production 3, </a:t>
            </a:r>
            <a:r>
              <a:rPr lang="en-US" altLang="it-IT" i="1"/>
              <a:t>Pair </a:t>
            </a:r>
            <a:r>
              <a:rPr lang="en-US" altLang="it-IT" i="1">
                <a:sym typeface="Symbol" panose="05050102010706020507" pitchFamily="18" charset="2"/>
              </a:rPr>
              <a:t> </a:t>
            </a:r>
            <a:r>
              <a:rPr lang="en-US" altLang="it-IT" u="sng">
                <a:sym typeface="Symbol" panose="05050102010706020507" pitchFamily="18" charset="2"/>
              </a:rPr>
              <a:t>(</a:t>
            </a:r>
            <a:r>
              <a:rPr lang="en-US" altLang="it-IT" i="1">
                <a:sym typeface="Symbol" panose="05050102010706020507" pitchFamily="18" charset="2"/>
              </a:rPr>
              <a:t> Pair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u="sng">
                <a:sym typeface="Symbol" panose="05050102010706020507" pitchFamily="18" charset="2"/>
              </a:rPr>
              <a:t>)</a:t>
            </a:r>
            <a:r>
              <a:rPr lang="en-US" altLang="it-IT">
                <a:sym typeface="Symbol" panose="05050102010706020507" pitchFamily="18" charset="2"/>
              </a:rPr>
              <a:t> .</a:t>
            </a:r>
            <a:endParaRPr lang="en-US" altLang="it-IT"/>
          </a:p>
        </p:txBody>
      </p:sp>
      <p:sp>
        <p:nvSpPr>
          <p:cNvPr id="36980" name="AutoShape 157">
            <a:extLst>
              <a:ext uri="{FF2B5EF4-FFF2-40B4-BE49-F238E27FC236}">
                <a16:creationId xmlns:a16="http://schemas.microsoft.com/office/drawing/2014/main" id="{847871A0-1811-475A-9D2E-62CA6288B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9600" y="3019425"/>
            <a:ext cx="2286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B025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cxnSp>
        <p:nvCxnSpPr>
          <p:cNvPr id="36981" name="AutoShape 158">
            <a:extLst>
              <a:ext uri="{FF2B5EF4-FFF2-40B4-BE49-F238E27FC236}">
                <a16:creationId xmlns:a16="http://schemas.microsoft.com/office/drawing/2014/main" id="{FE65BAB1-D461-483C-AE41-B6DE570E78FB}"/>
              </a:ext>
            </a:extLst>
          </p:cNvPr>
          <p:cNvCxnSpPr>
            <a:cxnSpLocks noChangeShapeType="1"/>
            <a:stCxn id="36982" idx="0"/>
            <a:endCxn id="36980" idx="0"/>
          </p:cNvCxnSpPr>
          <p:nvPr/>
        </p:nvCxnSpPr>
        <p:spPr bwMode="auto">
          <a:xfrm rot="16200000" flipV="1">
            <a:off x="4730750" y="1552575"/>
            <a:ext cx="50800" cy="2984500"/>
          </a:xfrm>
          <a:prstGeom prst="curvedConnector3">
            <a:avLst>
              <a:gd name="adj1" fmla="val 556690"/>
            </a:avLst>
          </a:prstGeom>
          <a:noFill/>
          <a:ln w="9525">
            <a:solidFill>
              <a:srgbClr val="B025A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982" name="AutoShape 156">
            <a:extLst>
              <a:ext uri="{FF2B5EF4-FFF2-40B4-BE49-F238E27FC236}">
                <a16:creationId xmlns:a16="http://schemas.microsoft.com/office/drawing/2014/main" id="{C51B1468-F551-477A-AE07-2530EF952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3070225"/>
            <a:ext cx="10668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B025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</p:spTree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Footer Placeholder 1">
            <a:extLst>
              <a:ext uri="{FF2B5EF4-FFF2-40B4-BE49-F238E27FC236}">
                <a16:creationId xmlns:a16="http://schemas.microsoft.com/office/drawing/2014/main" id="{264B0854-C522-4815-99D2-DB9FE3D31DF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8914" name="Slide Number Placeholder 2">
            <a:extLst>
              <a:ext uri="{FF2B5EF4-FFF2-40B4-BE49-F238E27FC236}">
                <a16:creationId xmlns:a16="http://schemas.microsoft.com/office/drawing/2014/main" id="{BF21AA23-D131-4E70-94E9-346F1D8E30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09ABF50-3248-4D30-8C0A-AF650C2B7A01}" type="slidenum">
              <a:rPr lang="en-US" altLang="it-IT"/>
              <a:pPr/>
              <a:t>14</a:t>
            </a:fld>
            <a:endParaRPr lang="en-US" altLang="it-IT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5E8A3B42-D2EA-442A-ADB0-80D7619E25F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The Parentheses Language </a:t>
            </a: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B2691EC2-C20A-4765-B739-58AB28344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7525" y="1298575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38917" name="Text Box 116">
            <a:extLst>
              <a:ext uri="{FF2B5EF4-FFF2-40B4-BE49-F238E27FC236}">
                <a16:creationId xmlns:a16="http://schemas.microsoft.com/office/drawing/2014/main" id="{5788A9BB-64D3-44F7-8CCA-21E13973D1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1752600"/>
            <a:ext cx="1295400" cy="69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it-IT">
                <a:solidFill>
                  <a:srgbClr val="B025A6"/>
                </a:solidFill>
              </a:rPr>
              <a:t>Parsing </a:t>
            </a:r>
          </a:p>
          <a:p>
            <a:pPr>
              <a:spcBef>
                <a:spcPct val="20000"/>
              </a:spcBef>
            </a:pPr>
            <a:r>
              <a:rPr lang="en-US" altLang="it-IT">
                <a:solidFill>
                  <a:srgbClr val="B025A6"/>
                </a:solidFill>
              </a:rPr>
              <a:t>“</a:t>
            </a:r>
            <a:r>
              <a:rPr lang="en-US" altLang="it-IT" u="sng">
                <a:solidFill>
                  <a:srgbClr val="B025A6"/>
                </a:solidFill>
              </a:rPr>
              <a:t>((</a:t>
            </a:r>
            <a:r>
              <a:rPr lang="en-US" altLang="it-IT">
                <a:solidFill>
                  <a:srgbClr val="B025A6"/>
                </a:solidFill>
              </a:rPr>
              <a:t> </a:t>
            </a:r>
            <a:r>
              <a:rPr lang="en-US" altLang="it-IT" u="sng">
                <a:solidFill>
                  <a:srgbClr val="B025A6"/>
                </a:solidFill>
              </a:rPr>
              <a:t>))</a:t>
            </a:r>
            <a:r>
              <a:rPr lang="en-US" altLang="it-IT">
                <a:solidFill>
                  <a:srgbClr val="B025A6"/>
                </a:solidFill>
              </a:rPr>
              <a:t> </a:t>
            </a:r>
            <a:r>
              <a:rPr lang="en-US" altLang="it-IT" u="sng">
                <a:solidFill>
                  <a:srgbClr val="B025A6"/>
                </a:solidFill>
              </a:rPr>
              <a:t>(</a:t>
            </a:r>
            <a:r>
              <a:rPr lang="en-US" altLang="it-IT">
                <a:solidFill>
                  <a:srgbClr val="B025A6"/>
                </a:solidFill>
              </a:rPr>
              <a:t> )”</a:t>
            </a:r>
          </a:p>
        </p:txBody>
      </p:sp>
      <p:graphicFrame>
        <p:nvGraphicFramePr>
          <p:cNvPr id="19573" name="Group 117">
            <a:extLst>
              <a:ext uri="{FF2B5EF4-FFF2-40B4-BE49-F238E27FC236}">
                <a16:creationId xmlns:a16="http://schemas.microsoft.com/office/drawing/2014/main" id="{4AF86224-0367-4326-976C-30120B3B748D}"/>
              </a:ext>
            </a:extLst>
          </p:cNvPr>
          <p:cNvGraphicFramePr>
            <a:graphicFrameLocks noGrp="1"/>
          </p:cNvGraphicFramePr>
          <p:nvPr/>
        </p:nvGraphicFramePr>
        <p:xfrm>
          <a:off x="6781800" y="0"/>
          <a:ext cx="2362200" cy="1530352"/>
        </p:xfrm>
        <a:graphic>
          <a:graphicData uri="http://schemas.openxmlformats.org/drawingml/2006/table">
            <a:tbl>
              <a:tblPr/>
              <a:tblGrid>
                <a:gridCol w="382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07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 Pair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Pair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Pair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Pair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endParaRPr kumimoji="0" lang="en-US" sz="14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9460" name="Group 4">
            <a:extLst>
              <a:ext uri="{FF2B5EF4-FFF2-40B4-BE49-F238E27FC236}">
                <a16:creationId xmlns:a16="http://schemas.microsoft.com/office/drawing/2014/main" id="{C1AFF970-7358-49D0-93AC-ED4BAE1C4C28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066800"/>
          <a:ext cx="6096000" cy="5427679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20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State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L’ahead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Stack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Handle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Action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—none—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999999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6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—none—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3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0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3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—none—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6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3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—none—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10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0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10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3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10</a:t>
                      </a:r>
                      <a:endParaRPr kumimoji="0" lang="en-US" sz="16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endParaRPr kumimoji="0" lang="en-US" sz="1600" b="0" i="1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4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0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3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Pair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5 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—none—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8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0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3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Pair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5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8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Pair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endParaRPr kumimoji="0" lang="en-US" sz="1600" b="0" i="1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3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5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Pair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Pair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2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0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1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—none—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3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0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1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3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—none—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7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0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3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7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endParaRPr kumimoji="0" lang="en-US" sz="1600" b="0" i="1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1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05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1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Pair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4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 Pair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0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52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$ 0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1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accept</a:t>
                      </a:r>
                    </a:p>
                  </a:txBody>
                  <a:tcPr marT="45717" marB="4571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39027" name="Text Box 159">
            <a:extLst>
              <a:ext uri="{FF2B5EF4-FFF2-40B4-BE49-F238E27FC236}">
                <a16:creationId xmlns:a16="http://schemas.microsoft.com/office/drawing/2014/main" id="{62CD7CC2-0AE3-4AB7-A34C-5EC3E50607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286000"/>
            <a:ext cx="4800600" cy="1878013"/>
          </a:xfrm>
          <a:prstGeom prst="rect">
            <a:avLst/>
          </a:pr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/>
              <a:t>Here, peeling </a:t>
            </a:r>
            <a:r>
              <a:rPr lang="en-US" altLang="it-IT" u="sng"/>
              <a:t>(</a:t>
            </a:r>
            <a:r>
              <a:rPr lang="en-US" altLang="it-IT"/>
              <a:t> </a:t>
            </a:r>
            <a:r>
              <a:rPr lang="en-US" altLang="it-IT" u="sng"/>
              <a:t>)</a:t>
            </a:r>
            <a:r>
              <a:rPr lang="en-US" altLang="it-IT"/>
              <a:t> off the stack reveals </a:t>
            </a:r>
            <a:r>
              <a:rPr lang="en-US" altLang="it-IT" i="1"/>
              <a:t>s</a:t>
            </a:r>
            <a:r>
              <a:rPr lang="en-US" altLang="it-IT" i="1" baseline="-25000"/>
              <a:t>1</a:t>
            </a:r>
            <a:r>
              <a:rPr lang="en-US" altLang="it-IT"/>
              <a:t>, which represents the left context of a previously recognized List. </a:t>
            </a:r>
          </a:p>
          <a:p>
            <a:pPr>
              <a:spcBef>
                <a:spcPct val="50000"/>
              </a:spcBef>
            </a:pPr>
            <a:r>
              <a:rPr lang="en-US" altLang="it-IT"/>
              <a:t>Goto(</a:t>
            </a:r>
            <a:r>
              <a:rPr lang="en-US" altLang="it-IT" i="1"/>
              <a:t>s</a:t>
            </a:r>
            <a:r>
              <a:rPr lang="en-US" altLang="it-IT" i="1" baseline="-25000"/>
              <a:t>1</a:t>
            </a:r>
            <a:r>
              <a:rPr lang="en-US" altLang="it-IT" i="1"/>
              <a:t>,Pair</a:t>
            </a:r>
            <a:r>
              <a:rPr lang="en-US" altLang="it-IT"/>
              <a:t>) is </a:t>
            </a:r>
            <a:r>
              <a:rPr lang="en-US" altLang="it-IT" i="1"/>
              <a:t>s</a:t>
            </a:r>
            <a:r>
              <a:rPr lang="en-US" altLang="it-IT" i="1" baseline="-25000"/>
              <a:t>4</a:t>
            </a:r>
            <a:r>
              <a:rPr lang="en-US" altLang="it-IT"/>
              <a:t>, a state in which we can reduce </a:t>
            </a:r>
            <a:r>
              <a:rPr lang="en-US" altLang="it-IT" i="1"/>
              <a:t>List Pair </a:t>
            </a:r>
            <a:r>
              <a:rPr lang="en-US" altLang="it-IT"/>
              <a:t>to </a:t>
            </a:r>
            <a:r>
              <a:rPr lang="en-US" altLang="it-IT" i="1"/>
              <a:t>List </a:t>
            </a:r>
            <a:r>
              <a:rPr lang="en-US" altLang="it-IT"/>
              <a:t>(on lookahead of either </a:t>
            </a:r>
            <a:r>
              <a:rPr lang="en-US" altLang="it-IT" u="sng"/>
              <a:t>(</a:t>
            </a:r>
            <a:r>
              <a:rPr lang="en-US" altLang="it-IT"/>
              <a:t> or eof). </a:t>
            </a:r>
          </a:p>
        </p:txBody>
      </p:sp>
      <p:sp>
        <p:nvSpPr>
          <p:cNvPr id="39028" name="Text Box 160">
            <a:extLst>
              <a:ext uri="{FF2B5EF4-FFF2-40B4-BE49-F238E27FC236}">
                <a16:creationId xmlns:a16="http://schemas.microsoft.com/office/drawing/2014/main" id="{B1A91514-264D-4673-940F-65D25139FE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2971800"/>
            <a:ext cx="198120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>
                <a:solidFill>
                  <a:srgbClr val="B025A6"/>
                </a:solidFill>
              </a:rPr>
              <a:t>Three copies of “reduce 4” with different context — produce three distinct behaviors</a:t>
            </a:r>
          </a:p>
        </p:txBody>
      </p:sp>
      <p:sp>
        <p:nvSpPr>
          <p:cNvPr id="39029" name="AutoShape 156">
            <a:extLst>
              <a:ext uri="{FF2B5EF4-FFF2-40B4-BE49-F238E27FC236}">
                <a16:creationId xmlns:a16="http://schemas.microsoft.com/office/drawing/2014/main" id="{570F2E70-A7C6-4F4F-BCB5-384201E9C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5410200"/>
            <a:ext cx="10668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B025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39030" name="AutoShape 157">
            <a:extLst>
              <a:ext uri="{FF2B5EF4-FFF2-40B4-BE49-F238E27FC236}">
                <a16:creationId xmlns:a16="http://schemas.microsoft.com/office/drawing/2014/main" id="{EB92C3B6-A076-46AF-82AE-D30D617E9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5384800"/>
            <a:ext cx="2286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B025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cxnSp>
        <p:nvCxnSpPr>
          <p:cNvPr id="39031" name="AutoShape 158">
            <a:extLst>
              <a:ext uri="{FF2B5EF4-FFF2-40B4-BE49-F238E27FC236}">
                <a16:creationId xmlns:a16="http://schemas.microsoft.com/office/drawing/2014/main" id="{1DFF84ED-109F-4622-8B46-447C18DD1F57}"/>
              </a:ext>
            </a:extLst>
          </p:cNvPr>
          <p:cNvCxnSpPr>
            <a:cxnSpLocks noChangeShapeType="1"/>
            <a:stCxn id="39029" idx="0"/>
            <a:endCxn id="39030" idx="0"/>
          </p:cNvCxnSpPr>
          <p:nvPr/>
        </p:nvCxnSpPr>
        <p:spPr bwMode="auto">
          <a:xfrm rot="5400000" flipH="1">
            <a:off x="4883150" y="4035425"/>
            <a:ext cx="25400" cy="2705100"/>
          </a:xfrm>
          <a:prstGeom prst="curvedConnector3">
            <a:avLst>
              <a:gd name="adj1" fmla="val 962500"/>
            </a:avLst>
          </a:prstGeom>
          <a:noFill/>
          <a:ln w="9525">
            <a:solidFill>
              <a:srgbClr val="B025A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Footer Placeholder 1">
            <a:extLst>
              <a:ext uri="{FF2B5EF4-FFF2-40B4-BE49-F238E27FC236}">
                <a16:creationId xmlns:a16="http://schemas.microsoft.com/office/drawing/2014/main" id="{A29CBEE8-2ED2-4775-BA13-F7A07BF0011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0962" name="Slide Number Placeholder 2">
            <a:extLst>
              <a:ext uri="{FF2B5EF4-FFF2-40B4-BE49-F238E27FC236}">
                <a16:creationId xmlns:a16="http://schemas.microsoft.com/office/drawing/2014/main" id="{D0A1F4F5-574F-47A8-840D-21AE41FAF6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6B335A9-B038-4888-9942-5E07AD51170E}" type="slidenum">
              <a:rPr lang="en-US" altLang="it-IT"/>
              <a:pPr/>
              <a:t>15</a:t>
            </a:fld>
            <a:endParaRPr lang="en-US" altLang="it-IT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3056B00E-9972-4E28-921F-0DEDB92EB5C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>
                <a:sym typeface="Symbol" panose="05050102010706020507" pitchFamily="18" charset="2"/>
              </a:rPr>
              <a:t>LR(1) Parsers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C41CA034-6866-4C9C-948A-73D697AFD9E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How does this LR(1) stuff work?</a:t>
            </a:r>
          </a:p>
          <a:p>
            <a:pPr eaLnBrk="1" hangingPunct="1"/>
            <a:r>
              <a:rPr lang="en-US" altLang="it-IT" sz="1800">
                <a:sym typeface="Symbol" panose="05050102010706020507" pitchFamily="18" charset="2"/>
              </a:rPr>
              <a:t>Unambiguous grammar  unique rightmost derivation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it-IT" sz="1800">
                <a:sym typeface="Symbol" panose="05050102010706020507" pitchFamily="18" charset="2"/>
              </a:rPr>
              <a:t>Keep upper fringe on a stack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it-IT" sz="1600">
                <a:sym typeface="Symbol" panose="05050102010706020507" pitchFamily="18" charset="2"/>
              </a:rPr>
              <a:t>All active handles include top of stack (TOS)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it-IT" sz="1600">
                <a:sym typeface="Symbol" panose="05050102010706020507" pitchFamily="18" charset="2"/>
              </a:rPr>
              <a:t>Shift inputs until TOS is right end of a handle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it-IT" sz="1800">
                <a:sym typeface="Symbol" panose="05050102010706020507" pitchFamily="18" charset="2"/>
              </a:rPr>
              <a:t>Language of handles is regular (finite)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it-IT" sz="1600">
                <a:sym typeface="Symbol" panose="05050102010706020507" pitchFamily="18" charset="2"/>
              </a:rPr>
              <a:t>Build a handle-recognizing </a:t>
            </a:r>
            <a:r>
              <a:rPr lang="en-US" altLang="it-IT" sz="1400">
                <a:sym typeface="Symbol" panose="05050102010706020507" pitchFamily="18" charset="2"/>
              </a:rPr>
              <a:t>DFA </a:t>
            </a:r>
            <a:r>
              <a:rPr lang="en-US" altLang="it-IT" sz="1600">
                <a:sym typeface="Symbol" panose="05050102010706020507" pitchFamily="18" charset="2"/>
              </a:rPr>
              <a:t>to control the stack-based recognizer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it-IT" sz="1600">
                <a:sym typeface="Symbol" panose="05050102010706020507" pitchFamily="18" charset="2"/>
              </a:rPr>
              <a:t>A</a:t>
            </a:r>
            <a:r>
              <a:rPr lang="en-US" altLang="it-IT" sz="1400">
                <a:sym typeface="Symbol" panose="05050102010706020507" pitchFamily="18" charset="2"/>
              </a:rPr>
              <a:t>CTION</a:t>
            </a:r>
            <a:r>
              <a:rPr lang="en-US" altLang="it-IT" sz="1600">
                <a:sym typeface="Symbol" panose="05050102010706020507" pitchFamily="18" charset="2"/>
              </a:rPr>
              <a:t> &amp; G</a:t>
            </a:r>
            <a:r>
              <a:rPr lang="en-US" altLang="it-IT" sz="1400">
                <a:sym typeface="Symbol" panose="05050102010706020507" pitchFamily="18" charset="2"/>
              </a:rPr>
              <a:t>OTO</a:t>
            </a:r>
            <a:r>
              <a:rPr lang="en-US" altLang="it-IT" sz="1600">
                <a:sym typeface="Symbol" panose="05050102010706020507" pitchFamily="18" charset="2"/>
              </a:rPr>
              <a:t>  tables encode the </a:t>
            </a:r>
            <a:r>
              <a:rPr lang="en-US" altLang="it-IT" sz="1400">
                <a:sym typeface="Symbol" panose="05050102010706020507" pitchFamily="18" charset="2"/>
              </a:rPr>
              <a:t>DFA</a:t>
            </a:r>
            <a:endParaRPr lang="en-US" altLang="it-IT" sz="1600">
              <a:sym typeface="Symbol" panose="05050102010706020507" pitchFamily="18" charset="2"/>
            </a:endParaRPr>
          </a:p>
          <a:p>
            <a:pPr eaLnBrk="1" hangingPunct="1">
              <a:spcBef>
                <a:spcPct val="30000"/>
              </a:spcBef>
            </a:pPr>
            <a:r>
              <a:rPr lang="en-US" altLang="it-IT" sz="1800">
                <a:sym typeface="Symbol" panose="05050102010706020507" pitchFamily="18" charset="2"/>
              </a:rPr>
              <a:t>To match a subterm, invoke the </a:t>
            </a:r>
            <a:r>
              <a:rPr lang="en-US" altLang="it-IT" sz="1600">
                <a:sym typeface="Symbol" panose="05050102010706020507" pitchFamily="18" charset="2"/>
              </a:rPr>
              <a:t>DFA</a:t>
            </a:r>
            <a:r>
              <a:rPr lang="en-US" altLang="it-IT" sz="1800">
                <a:sym typeface="Symbol" panose="05050102010706020507" pitchFamily="18" charset="2"/>
              </a:rPr>
              <a:t> recursively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it-IT" sz="1600">
                <a:sym typeface="Symbol" panose="05050102010706020507" pitchFamily="18" charset="2"/>
              </a:rPr>
              <a:t>leave old </a:t>
            </a:r>
            <a:r>
              <a:rPr lang="en-US" altLang="it-IT" sz="1400">
                <a:sym typeface="Symbol" panose="05050102010706020507" pitchFamily="18" charset="2"/>
              </a:rPr>
              <a:t>DFA</a:t>
            </a:r>
            <a:r>
              <a:rPr lang="en-US" altLang="it-IT" sz="1600">
                <a:sym typeface="Symbol" panose="05050102010706020507" pitchFamily="18" charset="2"/>
              </a:rPr>
              <a:t>’s state on stack and go on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it-IT" sz="1800">
                <a:sym typeface="Symbol" panose="05050102010706020507" pitchFamily="18" charset="2"/>
              </a:rPr>
              <a:t>Final state in </a:t>
            </a:r>
            <a:r>
              <a:rPr lang="en-US" altLang="it-IT" sz="1600">
                <a:sym typeface="Symbol" panose="05050102010706020507" pitchFamily="18" charset="2"/>
              </a:rPr>
              <a:t>DFA </a:t>
            </a:r>
            <a:r>
              <a:rPr lang="en-US" altLang="it-IT" sz="1800">
                <a:sym typeface="Symbol" panose="05050102010706020507" pitchFamily="18" charset="2"/>
              </a:rPr>
              <a:t> a </a:t>
            </a:r>
            <a:r>
              <a:rPr lang="en-US" altLang="it-IT" sz="1800" i="1">
                <a:sym typeface="Symbol" panose="05050102010706020507" pitchFamily="18" charset="2"/>
              </a:rPr>
              <a:t>reduce</a:t>
            </a:r>
            <a:r>
              <a:rPr lang="en-US" altLang="it-IT" sz="1800">
                <a:sym typeface="Symbol" panose="05050102010706020507" pitchFamily="18" charset="2"/>
              </a:rPr>
              <a:t> action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it-IT" sz="1600">
                <a:sym typeface="Symbol" panose="05050102010706020507" pitchFamily="18" charset="2"/>
              </a:rPr>
              <a:t>Pop rhs off the stack to reveal invoking state</a:t>
            </a:r>
          </a:p>
          <a:p>
            <a:pPr lvl="2" eaLnBrk="1" hangingPunct="1">
              <a:spcBef>
                <a:spcPct val="10000"/>
              </a:spcBef>
            </a:pPr>
            <a:r>
              <a:rPr lang="en-US" altLang="it-IT" sz="1400">
                <a:solidFill>
                  <a:srgbClr val="B025A6"/>
                </a:solidFill>
                <a:sym typeface="Symbol" panose="05050102010706020507" pitchFamily="18" charset="2"/>
              </a:rPr>
              <a:t>“It would be legal to recognize an </a:t>
            </a:r>
            <a:r>
              <a:rPr lang="en-US" altLang="it-IT" sz="1400" i="1">
                <a:solidFill>
                  <a:srgbClr val="B025A6"/>
                </a:solidFill>
                <a:sym typeface="Symbol" panose="05050102010706020507" pitchFamily="18" charset="2"/>
              </a:rPr>
              <a:t>x</a:t>
            </a:r>
            <a:r>
              <a:rPr lang="en-US" altLang="it-IT" sz="1400">
                <a:solidFill>
                  <a:srgbClr val="B025A6"/>
                </a:solidFill>
                <a:sym typeface="Symbol" panose="05050102010706020507" pitchFamily="18" charset="2"/>
              </a:rPr>
              <a:t>, and we did …”</a:t>
            </a:r>
            <a:endParaRPr lang="en-US" altLang="it-IT" sz="1400">
              <a:sym typeface="Symbol" panose="05050102010706020507" pitchFamily="18" charset="2"/>
            </a:endParaRPr>
          </a:p>
          <a:p>
            <a:pPr lvl="1" eaLnBrk="1" hangingPunct="1">
              <a:spcBef>
                <a:spcPct val="10000"/>
              </a:spcBef>
            </a:pPr>
            <a:r>
              <a:rPr lang="en-US" altLang="it-IT" sz="1600">
                <a:sym typeface="Symbol" panose="05050102010706020507" pitchFamily="18" charset="2"/>
              </a:rPr>
              <a:t>New state is G</a:t>
            </a:r>
            <a:r>
              <a:rPr lang="en-US" altLang="it-IT" sz="1400">
                <a:sym typeface="Symbol" panose="05050102010706020507" pitchFamily="18" charset="2"/>
              </a:rPr>
              <a:t>OTO[revealed state, </a:t>
            </a:r>
            <a:r>
              <a:rPr lang="en-US" altLang="it-IT" sz="1400" i="1">
                <a:sym typeface="Symbol" panose="05050102010706020507" pitchFamily="18" charset="2"/>
              </a:rPr>
              <a:t>lhs</a:t>
            </a:r>
            <a:r>
              <a:rPr lang="en-US" altLang="it-IT" sz="1400">
                <a:sym typeface="Symbol" panose="05050102010706020507" pitchFamily="18" charset="2"/>
              </a:rPr>
              <a:t>]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it-IT" sz="1600">
                <a:sym typeface="Symbol" panose="05050102010706020507" pitchFamily="18" charset="2"/>
              </a:rPr>
              <a:t>Take a </a:t>
            </a:r>
            <a:r>
              <a:rPr lang="en-US" altLang="it-IT" sz="1400">
                <a:sym typeface="Symbol" panose="05050102010706020507" pitchFamily="18" charset="2"/>
              </a:rPr>
              <a:t>DFA</a:t>
            </a:r>
            <a:r>
              <a:rPr lang="en-US" altLang="it-IT" sz="1600">
                <a:sym typeface="Symbol" panose="05050102010706020507" pitchFamily="18" charset="2"/>
              </a:rPr>
              <a:t> transition on the new </a:t>
            </a:r>
            <a:r>
              <a:rPr lang="en-US" altLang="it-IT" sz="1400" i="1">
                <a:sym typeface="Symbol" panose="05050102010706020507" pitchFamily="18" charset="2"/>
              </a:rPr>
              <a:t>NT</a:t>
            </a:r>
            <a:r>
              <a:rPr lang="en-US" altLang="it-IT" sz="1600" i="1">
                <a:sym typeface="Symbol" panose="05050102010706020507" pitchFamily="18" charset="2"/>
              </a:rPr>
              <a:t> — </a:t>
            </a:r>
            <a:r>
              <a:rPr lang="en-US" altLang="it-IT" sz="1600">
                <a:sym typeface="Symbol" panose="05050102010706020507" pitchFamily="18" charset="2"/>
              </a:rPr>
              <a:t>the lhs we just pushed…</a:t>
            </a:r>
            <a:endParaRPr lang="en-US" altLang="it-IT" sz="1600" i="1" baseline="-25000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Footer Placeholder 1">
            <a:extLst>
              <a:ext uri="{FF2B5EF4-FFF2-40B4-BE49-F238E27FC236}">
                <a16:creationId xmlns:a16="http://schemas.microsoft.com/office/drawing/2014/main" id="{FB161FDE-11C4-4812-9241-7875832F70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3010" name="Slide Number Placeholder 2">
            <a:extLst>
              <a:ext uri="{FF2B5EF4-FFF2-40B4-BE49-F238E27FC236}">
                <a16:creationId xmlns:a16="http://schemas.microsoft.com/office/drawing/2014/main" id="{68D05FE3-E7C4-41DC-A548-32871BCC70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E46037A-0B70-43A4-902B-A1C6306A7DA6}" type="slidenum">
              <a:rPr lang="en-US" altLang="it-IT"/>
              <a:pPr/>
              <a:t>16</a:t>
            </a:fld>
            <a:endParaRPr lang="en-US" altLang="it-IT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87236A32-D4AE-4749-A7A6-978292A8CF4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>
                <a:sym typeface="Symbol" panose="05050102010706020507" pitchFamily="18" charset="2"/>
              </a:rPr>
              <a:t>LR(1) Parsers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F5B9D8CC-5BAC-4216-957D-0191BD85EB3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The Control </a:t>
            </a:r>
            <a:r>
              <a:rPr lang="en-US" altLang="it-IT" sz="1800">
                <a:sym typeface="Symbol" panose="05050102010706020507" pitchFamily="18" charset="2"/>
              </a:rPr>
              <a:t>DFA</a:t>
            </a:r>
            <a:r>
              <a:rPr lang="en-US" altLang="it-IT">
                <a:sym typeface="Symbol" panose="05050102010706020507" pitchFamily="18" charset="2"/>
              </a:rPr>
              <a:t> for the Parentheses Language</a:t>
            </a:r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Transitions on terminals represent shift actions           [</a:t>
            </a:r>
            <a:r>
              <a:rPr lang="en-US" altLang="it-IT" sz="1600">
                <a:sym typeface="Symbol" panose="05050102010706020507" pitchFamily="18" charset="2"/>
              </a:rPr>
              <a:t>ACTION</a:t>
            </a:r>
            <a:r>
              <a:rPr lang="en-US" altLang="it-IT">
                <a:sym typeface="Symbol" panose="05050102010706020507" pitchFamily="18" charset="2"/>
              </a:rPr>
              <a:t>]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Transitions on 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nonterminals </a:t>
            </a:r>
            <a:r>
              <a:rPr lang="en-US" altLang="it-IT">
                <a:sym typeface="Symbol" panose="05050102010706020507" pitchFamily="18" charset="2"/>
              </a:rPr>
              <a:t>represent reduce actions     [</a:t>
            </a:r>
            <a:r>
              <a:rPr lang="en-US" altLang="it-IT" sz="1600">
                <a:sym typeface="Symbol" panose="05050102010706020507" pitchFamily="18" charset="2"/>
              </a:rPr>
              <a:t>GOTO</a:t>
            </a:r>
            <a:r>
              <a:rPr lang="en-US" altLang="it-IT">
                <a:sym typeface="Symbol" panose="05050102010706020507" pitchFamily="18" charset="2"/>
              </a:rPr>
              <a:t>]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The table construction derives this </a:t>
            </a: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DFA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 from the grammar </a:t>
            </a:r>
          </a:p>
        </p:txBody>
      </p:sp>
      <p:sp>
        <p:nvSpPr>
          <p:cNvPr id="43013" name="Text Box 5">
            <a:extLst>
              <a:ext uri="{FF2B5EF4-FFF2-40B4-BE49-F238E27FC236}">
                <a16:creationId xmlns:a16="http://schemas.microsoft.com/office/drawing/2014/main" id="{C7DD9FD5-CB6E-4126-B99A-9CEC762177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3533775"/>
            <a:ext cx="2438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sz="1600" i="1">
                <a:solidFill>
                  <a:srgbClr val="003C75"/>
                </a:solidFill>
              </a:rPr>
              <a:t>Control </a:t>
            </a:r>
            <a:r>
              <a:rPr lang="en-US" altLang="it-IT" sz="1400" i="1">
                <a:solidFill>
                  <a:srgbClr val="003C75"/>
                </a:solidFill>
              </a:rPr>
              <a:t>DFA</a:t>
            </a:r>
            <a:r>
              <a:rPr lang="en-US" altLang="it-IT" sz="1600" i="1">
                <a:solidFill>
                  <a:srgbClr val="003C75"/>
                </a:solidFill>
              </a:rPr>
              <a:t> for  the Parentheses Language</a:t>
            </a:r>
          </a:p>
        </p:txBody>
      </p:sp>
      <p:grpSp>
        <p:nvGrpSpPr>
          <p:cNvPr id="43014" name="Group 44">
            <a:extLst>
              <a:ext uri="{FF2B5EF4-FFF2-40B4-BE49-F238E27FC236}">
                <a16:creationId xmlns:a16="http://schemas.microsoft.com/office/drawing/2014/main" id="{ADE12323-3C34-490C-8C9F-DF6058528675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1628775"/>
            <a:ext cx="5715000" cy="2362200"/>
            <a:chOff x="768" y="1026"/>
            <a:chExt cx="3600" cy="1488"/>
          </a:xfrm>
        </p:grpSpPr>
        <p:sp>
          <p:nvSpPr>
            <p:cNvPr id="43015" name="Oval 6">
              <a:extLst>
                <a:ext uri="{FF2B5EF4-FFF2-40B4-BE49-F238E27FC236}">
                  <a16:creationId xmlns:a16="http://schemas.microsoft.com/office/drawing/2014/main" id="{D2B3D2CE-7B78-4282-8996-0E8044E1D1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165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latin typeface="Arial Rounded MT Bold" panose="020F0704030504030204" pitchFamily="34" charset="0"/>
                </a:rPr>
                <a:t>S</a:t>
              </a:r>
              <a:r>
                <a:rPr lang="en-US" altLang="it-IT" sz="1400" baseline="-25000">
                  <a:latin typeface="Arial Rounded MT Bold" panose="020F0704030504030204" pitchFamily="34" charset="0"/>
                </a:rPr>
                <a:t>0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43016" name="Oval 7">
              <a:extLst>
                <a:ext uri="{FF2B5EF4-FFF2-40B4-BE49-F238E27FC236}">
                  <a16:creationId xmlns:a16="http://schemas.microsoft.com/office/drawing/2014/main" id="{EDC10669-DCDE-41C6-BDAD-ABFBE83E4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2" y="1122"/>
              <a:ext cx="288" cy="288"/>
            </a:xfrm>
            <a:prstGeom prst="ellips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latin typeface="Arial Rounded MT Bold" panose="020F0704030504030204" pitchFamily="34" charset="0"/>
                </a:rPr>
                <a:t>S</a:t>
              </a:r>
              <a:r>
                <a:rPr lang="en-US" altLang="it-IT" sz="1400" baseline="-25000">
                  <a:latin typeface="Arial Rounded MT Bold" panose="020F0704030504030204" pitchFamily="34" charset="0"/>
                </a:rPr>
                <a:t>1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43017" name="Oval 8">
              <a:extLst>
                <a:ext uri="{FF2B5EF4-FFF2-40B4-BE49-F238E27FC236}">
                  <a16:creationId xmlns:a16="http://schemas.microsoft.com/office/drawing/2014/main" id="{B94B0EC9-969B-4224-8F31-AA3887633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2" y="2226"/>
              <a:ext cx="288" cy="288"/>
            </a:xfrm>
            <a:prstGeom prst="ellips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latin typeface="Arial Rounded MT Bold" panose="020F0704030504030204" pitchFamily="34" charset="0"/>
                </a:rPr>
                <a:t>S</a:t>
              </a:r>
              <a:r>
                <a:rPr lang="en-US" altLang="it-IT" sz="1400" baseline="-25000">
                  <a:latin typeface="Arial Rounded MT Bold" panose="020F0704030504030204" pitchFamily="34" charset="0"/>
                </a:rPr>
                <a:t>2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43018" name="Oval 9">
              <a:extLst>
                <a:ext uri="{FF2B5EF4-FFF2-40B4-BE49-F238E27FC236}">
                  <a16:creationId xmlns:a16="http://schemas.microsoft.com/office/drawing/2014/main" id="{44DB616F-CFCB-49DD-BBCF-441019E7A2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165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latin typeface="Arial Rounded MT Bold" panose="020F0704030504030204" pitchFamily="34" charset="0"/>
                </a:rPr>
                <a:t>S</a:t>
              </a:r>
              <a:r>
                <a:rPr lang="en-US" altLang="it-IT" sz="1400" baseline="-25000">
                  <a:latin typeface="Arial Rounded MT Bold" panose="020F0704030504030204" pitchFamily="34" charset="0"/>
                </a:rPr>
                <a:t>3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43019" name="Oval 10">
              <a:extLst>
                <a:ext uri="{FF2B5EF4-FFF2-40B4-BE49-F238E27FC236}">
                  <a16:creationId xmlns:a16="http://schemas.microsoft.com/office/drawing/2014/main" id="{E9490FAC-1564-44A0-86F1-3F09671220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165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latin typeface="Arial Rounded MT Bold" panose="020F0704030504030204" pitchFamily="34" charset="0"/>
                </a:rPr>
                <a:t>S</a:t>
              </a:r>
              <a:r>
                <a:rPr lang="en-US" altLang="it-IT" sz="1400" baseline="-25000">
                  <a:latin typeface="Arial Rounded MT Bold" panose="020F0704030504030204" pitchFamily="34" charset="0"/>
                </a:rPr>
                <a:t>6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43020" name="Oval 11">
              <a:extLst>
                <a:ext uri="{FF2B5EF4-FFF2-40B4-BE49-F238E27FC236}">
                  <a16:creationId xmlns:a16="http://schemas.microsoft.com/office/drawing/2014/main" id="{FB065C7D-7A52-495D-92F8-5A00751987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2" y="165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latin typeface="Arial Rounded MT Bold" panose="020F0704030504030204" pitchFamily="34" charset="0"/>
                </a:rPr>
                <a:t>S</a:t>
              </a:r>
              <a:r>
                <a:rPr lang="en-US" altLang="it-IT" sz="1400" baseline="-25000">
                  <a:latin typeface="Arial Rounded MT Bold" panose="020F0704030504030204" pitchFamily="34" charset="0"/>
                </a:rPr>
                <a:t>9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43021" name="Oval 12">
              <a:extLst>
                <a:ext uri="{FF2B5EF4-FFF2-40B4-BE49-F238E27FC236}">
                  <a16:creationId xmlns:a16="http://schemas.microsoft.com/office/drawing/2014/main" id="{3D99E897-6712-4D9B-BFFD-49015F5733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165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latin typeface="Arial Rounded MT Bold" panose="020F0704030504030204" pitchFamily="34" charset="0"/>
                </a:rPr>
                <a:t>S</a:t>
              </a:r>
              <a:r>
                <a:rPr lang="en-US" altLang="it-IT" sz="1400" baseline="-25000">
                  <a:latin typeface="Arial Rounded MT Bold" panose="020F0704030504030204" pitchFamily="34" charset="0"/>
                </a:rPr>
                <a:t>11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43022" name="Oval 13">
              <a:extLst>
                <a:ext uri="{FF2B5EF4-FFF2-40B4-BE49-F238E27FC236}">
                  <a16:creationId xmlns:a16="http://schemas.microsoft.com/office/drawing/2014/main" id="{34A1EFF8-5680-4082-AF4D-E9E9C114F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1122"/>
              <a:ext cx="288" cy="288"/>
            </a:xfrm>
            <a:prstGeom prst="ellips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latin typeface="Arial Rounded MT Bold" panose="020F0704030504030204" pitchFamily="34" charset="0"/>
                </a:rPr>
                <a:t>S</a:t>
              </a:r>
              <a:r>
                <a:rPr lang="en-US" altLang="it-IT" sz="1400" baseline="-25000">
                  <a:latin typeface="Arial Rounded MT Bold" panose="020F0704030504030204" pitchFamily="34" charset="0"/>
                </a:rPr>
                <a:t>4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43023" name="Oval 14">
              <a:extLst>
                <a:ext uri="{FF2B5EF4-FFF2-40B4-BE49-F238E27FC236}">
                  <a16:creationId xmlns:a16="http://schemas.microsoft.com/office/drawing/2014/main" id="{22BB9E93-B42A-43A3-B2C9-D2B90B80CB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112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latin typeface="Arial Rounded MT Bold" panose="020F0704030504030204" pitchFamily="34" charset="0"/>
                </a:rPr>
                <a:t>S</a:t>
              </a:r>
              <a:r>
                <a:rPr lang="en-US" altLang="it-IT" sz="1400" baseline="-25000">
                  <a:latin typeface="Arial Rounded MT Bold" panose="020F0704030504030204" pitchFamily="34" charset="0"/>
                </a:rPr>
                <a:t>5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43024" name="Oval 15">
              <a:extLst>
                <a:ext uri="{FF2B5EF4-FFF2-40B4-BE49-F238E27FC236}">
                  <a16:creationId xmlns:a16="http://schemas.microsoft.com/office/drawing/2014/main" id="{60C18026-7A36-4545-9E9E-9AA3408A88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122"/>
              <a:ext cx="288" cy="288"/>
            </a:xfrm>
            <a:prstGeom prst="ellips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latin typeface="Arial Rounded MT Bold" panose="020F0704030504030204" pitchFamily="34" charset="0"/>
                </a:rPr>
                <a:t>S</a:t>
              </a:r>
              <a:r>
                <a:rPr lang="en-US" altLang="it-IT" sz="1400" baseline="-25000">
                  <a:latin typeface="Arial Rounded MT Bold" panose="020F0704030504030204" pitchFamily="34" charset="0"/>
                </a:rPr>
                <a:t>8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43025" name="Oval 16">
              <a:extLst>
                <a:ext uri="{FF2B5EF4-FFF2-40B4-BE49-F238E27FC236}">
                  <a16:creationId xmlns:a16="http://schemas.microsoft.com/office/drawing/2014/main" id="{AF99719D-9F03-482E-BDF6-1F1DF8A725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2226"/>
              <a:ext cx="288" cy="288"/>
            </a:xfrm>
            <a:prstGeom prst="ellips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latin typeface="Arial Rounded MT Bold" panose="020F0704030504030204" pitchFamily="34" charset="0"/>
                </a:rPr>
                <a:t>S</a:t>
              </a:r>
              <a:r>
                <a:rPr lang="en-US" altLang="it-IT" sz="1400" baseline="-25000">
                  <a:latin typeface="Arial Rounded MT Bold" panose="020F0704030504030204" pitchFamily="34" charset="0"/>
                </a:rPr>
                <a:t>7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43026" name="Oval 17">
              <a:extLst>
                <a:ext uri="{FF2B5EF4-FFF2-40B4-BE49-F238E27FC236}">
                  <a16:creationId xmlns:a16="http://schemas.microsoft.com/office/drawing/2014/main" id="{441F0DD2-89E5-45DB-8EF7-746CEF542D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2" y="2226"/>
              <a:ext cx="288" cy="288"/>
            </a:xfrm>
            <a:prstGeom prst="ellips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latin typeface="Arial Rounded MT Bold" panose="020F0704030504030204" pitchFamily="34" charset="0"/>
                </a:rPr>
                <a:t>S</a:t>
              </a:r>
              <a:r>
                <a:rPr lang="en-US" altLang="it-IT" sz="1400" baseline="-25000">
                  <a:latin typeface="Arial Rounded MT Bold" panose="020F0704030504030204" pitchFamily="34" charset="0"/>
                </a:rPr>
                <a:t>10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cxnSp>
          <p:nvCxnSpPr>
            <p:cNvPr id="43027" name="AutoShape 18">
              <a:extLst>
                <a:ext uri="{FF2B5EF4-FFF2-40B4-BE49-F238E27FC236}">
                  <a16:creationId xmlns:a16="http://schemas.microsoft.com/office/drawing/2014/main" id="{666B52DA-C25D-44DA-9A5A-BCD5AF6E0F3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014" y="1386"/>
              <a:ext cx="300" cy="312"/>
            </a:xfrm>
            <a:prstGeom prst="straightConnector1">
              <a:avLst/>
            </a:prstGeom>
            <a:noFill/>
            <a:ln w="9525">
              <a:solidFill>
                <a:srgbClr val="FF006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28" name="AutoShape 19">
              <a:extLst>
                <a:ext uri="{FF2B5EF4-FFF2-40B4-BE49-F238E27FC236}">
                  <a16:creationId xmlns:a16="http://schemas.microsoft.com/office/drawing/2014/main" id="{F5A78DBF-8AF6-468F-BD84-DB1C8ECEC8D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14" y="1902"/>
              <a:ext cx="300" cy="360"/>
            </a:xfrm>
            <a:prstGeom prst="straightConnector1">
              <a:avLst/>
            </a:prstGeom>
            <a:noFill/>
            <a:ln w="9525">
              <a:solidFill>
                <a:srgbClr val="FF006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29" name="AutoShape 20">
              <a:extLst>
                <a:ext uri="{FF2B5EF4-FFF2-40B4-BE49-F238E27FC236}">
                  <a16:creationId xmlns:a16="http://schemas.microsoft.com/office/drawing/2014/main" id="{129DB82F-F2E6-4CFE-AF0F-96A7DB4B8AD5}"/>
                </a:ext>
              </a:extLst>
            </p:cNvPr>
            <p:cNvCxnSpPr>
              <a:cxnSpLocks noChangeShapeType="1"/>
              <a:stCxn id="43015" idx="6"/>
              <a:endCxn id="43018" idx="2"/>
            </p:cNvCxnSpPr>
            <p:nvPr/>
          </p:nvCxnSpPr>
          <p:spPr bwMode="auto">
            <a:xfrm>
              <a:off x="1056" y="1794"/>
              <a:ext cx="86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30" name="AutoShape 21">
              <a:extLst>
                <a:ext uri="{FF2B5EF4-FFF2-40B4-BE49-F238E27FC236}">
                  <a16:creationId xmlns:a16="http://schemas.microsoft.com/office/drawing/2014/main" id="{C4371008-321E-4F3C-B5FE-D828F7BAEDF0}"/>
                </a:ext>
              </a:extLst>
            </p:cNvPr>
            <p:cNvCxnSpPr>
              <a:cxnSpLocks noChangeShapeType="1"/>
              <a:stCxn id="43016" idx="6"/>
              <a:endCxn id="43022" idx="2"/>
            </p:cNvCxnSpPr>
            <p:nvPr/>
          </p:nvCxnSpPr>
          <p:spPr bwMode="auto">
            <a:xfrm>
              <a:off x="1572" y="1266"/>
              <a:ext cx="336" cy="0"/>
            </a:xfrm>
            <a:prstGeom prst="straightConnector1">
              <a:avLst/>
            </a:prstGeom>
            <a:noFill/>
            <a:ln w="9525">
              <a:solidFill>
                <a:srgbClr val="FF006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31" name="AutoShape 22">
              <a:extLst>
                <a:ext uri="{FF2B5EF4-FFF2-40B4-BE49-F238E27FC236}">
                  <a16:creationId xmlns:a16="http://schemas.microsoft.com/office/drawing/2014/main" id="{4E8916D4-0D05-46F4-91B9-B185BEB60B74}"/>
                </a:ext>
              </a:extLst>
            </p:cNvPr>
            <p:cNvCxnSpPr>
              <a:cxnSpLocks noChangeShapeType="1"/>
              <a:stCxn id="43016" idx="5"/>
              <a:endCxn id="43018" idx="1"/>
            </p:cNvCxnSpPr>
            <p:nvPr/>
          </p:nvCxnSpPr>
          <p:spPr bwMode="auto">
            <a:xfrm>
              <a:off x="1518" y="1380"/>
              <a:ext cx="444" cy="3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32" name="AutoShape 23">
              <a:extLst>
                <a:ext uri="{FF2B5EF4-FFF2-40B4-BE49-F238E27FC236}">
                  <a16:creationId xmlns:a16="http://schemas.microsoft.com/office/drawing/2014/main" id="{056D72BC-BAF1-44FC-B42F-E9434D89DA5C}"/>
                </a:ext>
              </a:extLst>
            </p:cNvPr>
            <p:cNvCxnSpPr>
              <a:cxnSpLocks noChangeShapeType="1"/>
              <a:stCxn id="43018" idx="7"/>
              <a:endCxn id="43023" idx="3"/>
            </p:cNvCxnSpPr>
            <p:nvPr/>
          </p:nvCxnSpPr>
          <p:spPr bwMode="auto">
            <a:xfrm flipV="1">
              <a:off x="2166" y="1368"/>
              <a:ext cx="468" cy="324"/>
            </a:xfrm>
            <a:prstGeom prst="straightConnector1">
              <a:avLst/>
            </a:prstGeom>
            <a:noFill/>
            <a:ln w="9525">
              <a:solidFill>
                <a:srgbClr val="FF006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33" name="AutoShape 24">
              <a:extLst>
                <a:ext uri="{FF2B5EF4-FFF2-40B4-BE49-F238E27FC236}">
                  <a16:creationId xmlns:a16="http://schemas.microsoft.com/office/drawing/2014/main" id="{579D04EF-296F-4611-9A66-0983BBDFF166}"/>
                </a:ext>
              </a:extLst>
            </p:cNvPr>
            <p:cNvCxnSpPr>
              <a:cxnSpLocks noChangeShapeType="1"/>
              <a:stCxn id="43018" idx="5"/>
              <a:endCxn id="43025" idx="1"/>
            </p:cNvCxnSpPr>
            <p:nvPr/>
          </p:nvCxnSpPr>
          <p:spPr bwMode="auto">
            <a:xfrm>
              <a:off x="2166" y="1896"/>
              <a:ext cx="468" cy="36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34" name="AutoShape 25">
              <a:extLst>
                <a:ext uri="{FF2B5EF4-FFF2-40B4-BE49-F238E27FC236}">
                  <a16:creationId xmlns:a16="http://schemas.microsoft.com/office/drawing/2014/main" id="{A23D9608-8459-4621-AF5D-604519B34B81}"/>
                </a:ext>
              </a:extLst>
            </p:cNvPr>
            <p:cNvCxnSpPr>
              <a:cxnSpLocks noChangeShapeType="1"/>
              <a:stCxn id="43018" idx="6"/>
              <a:endCxn id="43019" idx="2"/>
            </p:cNvCxnSpPr>
            <p:nvPr/>
          </p:nvCxnSpPr>
          <p:spPr bwMode="auto">
            <a:xfrm>
              <a:off x="2208" y="1794"/>
              <a:ext cx="38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35" name="AutoShape 26">
              <a:extLst>
                <a:ext uri="{FF2B5EF4-FFF2-40B4-BE49-F238E27FC236}">
                  <a16:creationId xmlns:a16="http://schemas.microsoft.com/office/drawing/2014/main" id="{7C72B0C5-6FA8-4F80-AE48-9978A75C95BF}"/>
                </a:ext>
              </a:extLst>
            </p:cNvPr>
            <p:cNvCxnSpPr>
              <a:cxnSpLocks noChangeShapeType="1"/>
              <a:stCxn id="43019" idx="6"/>
              <a:endCxn id="43020" idx="2"/>
            </p:cNvCxnSpPr>
            <p:nvPr/>
          </p:nvCxnSpPr>
          <p:spPr bwMode="auto">
            <a:xfrm>
              <a:off x="2880" y="1794"/>
              <a:ext cx="552" cy="0"/>
            </a:xfrm>
            <a:prstGeom prst="straightConnector1">
              <a:avLst/>
            </a:prstGeom>
            <a:noFill/>
            <a:ln w="9525">
              <a:solidFill>
                <a:srgbClr val="FF006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36" name="AutoShape 27">
              <a:extLst>
                <a:ext uri="{FF2B5EF4-FFF2-40B4-BE49-F238E27FC236}">
                  <a16:creationId xmlns:a16="http://schemas.microsoft.com/office/drawing/2014/main" id="{1E5C346F-F17C-4412-84B7-A35FA8C9AAC8}"/>
                </a:ext>
              </a:extLst>
            </p:cNvPr>
            <p:cNvCxnSpPr>
              <a:cxnSpLocks noChangeShapeType="1"/>
              <a:stCxn id="43019" idx="5"/>
              <a:endCxn id="43026" idx="1"/>
            </p:cNvCxnSpPr>
            <p:nvPr/>
          </p:nvCxnSpPr>
          <p:spPr bwMode="auto">
            <a:xfrm>
              <a:off x="2838" y="1896"/>
              <a:ext cx="636" cy="36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37" name="AutoShape 28">
              <a:extLst>
                <a:ext uri="{FF2B5EF4-FFF2-40B4-BE49-F238E27FC236}">
                  <a16:creationId xmlns:a16="http://schemas.microsoft.com/office/drawing/2014/main" id="{39E5A503-C06B-4736-B9D4-558C328DBC5E}"/>
                </a:ext>
              </a:extLst>
            </p:cNvPr>
            <p:cNvCxnSpPr>
              <a:cxnSpLocks noChangeShapeType="1"/>
              <a:stCxn id="43023" idx="6"/>
              <a:endCxn id="43024" idx="2"/>
            </p:cNvCxnSpPr>
            <p:nvPr/>
          </p:nvCxnSpPr>
          <p:spPr bwMode="auto">
            <a:xfrm>
              <a:off x="2880" y="1266"/>
              <a:ext cx="37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38" name="AutoShape 29">
              <a:extLst>
                <a:ext uri="{FF2B5EF4-FFF2-40B4-BE49-F238E27FC236}">
                  <a16:creationId xmlns:a16="http://schemas.microsoft.com/office/drawing/2014/main" id="{6FBFBB61-D653-47DF-A442-0FA5274DF545}"/>
                </a:ext>
              </a:extLst>
            </p:cNvPr>
            <p:cNvCxnSpPr>
              <a:cxnSpLocks noChangeShapeType="1"/>
              <a:stCxn id="43020" idx="6"/>
              <a:endCxn id="43021" idx="2"/>
            </p:cNvCxnSpPr>
            <p:nvPr/>
          </p:nvCxnSpPr>
          <p:spPr bwMode="auto">
            <a:xfrm>
              <a:off x="3720" y="1794"/>
              <a:ext cx="36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39" name="AutoShape 30">
              <a:extLst>
                <a:ext uri="{FF2B5EF4-FFF2-40B4-BE49-F238E27FC236}">
                  <a16:creationId xmlns:a16="http://schemas.microsoft.com/office/drawing/2014/main" id="{3DB27507-7B50-44D8-BD2F-3AD6C0C88028}"/>
                </a:ext>
              </a:extLst>
            </p:cNvPr>
            <p:cNvCxnSpPr>
              <a:cxnSpLocks noChangeShapeType="1"/>
              <a:stCxn id="43019" idx="6"/>
              <a:endCxn id="43019" idx="0"/>
            </p:cNvCxnSpPr>
            <p:nvPr/>
          </p:nvCxnSpPr>
          <p:spPr bwMode="auto">
            <a:xfrm flipH="1" flipV="1">
              <a:off x="2736" y="1650"/>
              <a:ext cx="144" cy="144"/>
            </a:xfrm>
            <a:prstGeom prst="curvedConnector4">
              <a:avLst>
                <a:gd name="adj1" fmla="val -100000"/>
                <a:gd name="adj2" fmla="val 2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3040" name="Text Box 31">
              <a:extLst>
                <a:ext uri="{FF2B5EF4-FFF2-40B4-BE49-F238E27FC236}">
                  <a16:creationId xmlns:a16="http://schemas.microsoft.com/office/drawing/2014/main" id="{B9448154-DFE2-4046-9BA4-691B3E7F5C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571"/>
              <a:ext cx="4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i="1">
                  <a:solidFill>
                    <a:srgbClr val="FF0065"/>
                  </a:solidFill>
                </a:rPr>
                <a:t>Pair</a:t>
              </a:r>
            </a:p>
          </p:txBody>
        </p:sp>
        <p:sp>
          <p:nvSpPr>
            <p:cNvPr id="43041" name="Text Box 32">
              <a:extLst>
                <a:ext uri="{FF2B5EF4-FFF2-40B4-BE49-F238E27FC236}">
                  <a16:creationId xmlns:a16="http://schemas.microsoft.com/office/drawing/2014/main" id="{BB0D1903-7463-4903-9DE6-2597B28F46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1314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u="sng"/>
                <a:t>(</a:t>
              </a:r>
              <a:endParaRPr lang="en-US" altLang="it-IT" i="1"/>
            </a:p>
          </p:txBody>
        </p:sp>
        <p:sp>
          <p:nvSpPr>
            <p:cNvPr id="43042" name="Text Box 33">
              <a:extLst>
                <a:ext uri="{FF2B5EF4-FFF2-40B4-BE49-F238E27FC236}">
                  <a16:creationId xmlns:a16="http://schemas.microsoft.com/office/drawing/2014/main" id="{545CF2F3-3E8A-44D2-8434-4410F09273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371"/>
              <a:ext cx="4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i="1">
                  <a:solidFill>
                    <a:srgbClr val="FF0065"/>
                  </a:solidFill>
                </a:rPr>
                <a:t>List</a:t>
              </a:r>
            </a:p>
          </p:txBody>
        </p:sp>
        <p:sp>
          <p:nvSpPr>
            <p:cNvPr id="43043" name="Text Box 34">
              <a:extLst>
                <a:ext uri="{FF2B5EF4-FFF2-40B4-BE49-F238E27FC236}">
                  <a16:creationId xmlns:a16="http://schemas.microsoft.com/office/drawing/2014/main" id="{B25ACB9B-3804-4801-A25F-2B2208A7CF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1986"/>
              <a:ext cx="4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i="1">
                  <a:solidFill>
                    <a:srgbClr val="FF0065"/>
                  </a:solidFill>
                </a:rPr>
                <a:t>Pair</a:t>
              </a:r>
            </a:p>
          </p:txBody>
        </p:sp>
        <p:sp>
          <p:nvSpPr>
            <p:cNvPr id="43044" name="Text Box 35">
              <a:extLst>
                <a:ext uri="{FF2B5EF4-FFF2-40B4-BE49-F238E27FC236}">
                  <a16:creationId xmlns:a16="http://schemas.microsoft.com/office/drawing/2014/main" id="{D63CBAF9-63FA-4EC9-9AAD-1338EC506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026"/>
              <a:ext cx="4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i="1">
                  <a:solidFill>
                    <a:srgbClr val="FF0065"/>
                  </a:solidFill>
                </a:rPr>
                <a:t>Pair</a:t>
              </a:r>
            </a:p>
          </p:txBody>
        </p:sp>
        <p:sp>
          <p:nvSpPr>
            <p:cNvPr id="43045" name="Text Box 36">
              <a:extLst>
                <a:ext uri="{FF2B5EF4-FFF2-40B4-BE49-F238E27FC236}">
                  <a16:creationId xmlns:a16="http://schemas.microsoft.com/office/drawing/2014/main" id="{56470141-D9B5-4AC0-BE46-A7AD65A85A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1362"/>
              <a:ext cx="4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i="1">
                  <a:solidFill>
                    <a:srgbClr val="FF0065"/>
                  </a:solidFill>
                </a:rPr>
                <a:t>Pair</a:t>
              </a:r>
            </a:p>
          </p:txBody>
        </p:sp>
        <p:sp>
          <p:nvSpPr>
            <p:cNvPr id="43046" name="Text Box 37">
              <a:extLst>
                <a:ext uri="{FF2B5EF4-FFF2-40B4-BE49-F238E27FC236}">
                  <a16:creationId xmlns:a16="http://schemas.microsoft.com/office/drawing/2014/main" id="{BAF6AB3F-E3D7-4D4B-A00D-3A50EBD902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034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u="sng"/>
                <a:t>)</a:t>
              </a:r>
              <a:endParaRPr lang="en-US" altLang="it-IT" i="1"/>
            </a:p>
          </p:txBody>
        </p:sp>
        <p:sp>
          <p:nvSpPr>
            <p:cNvPr id="43047" name="Text Box 38">
              <a:extLst>
                <a:ext uri="{FF2B5EF4-FFF2-40B4-BE49-F238E27FC236}">
                  <a16:creationId xmlns:a16="http://schemas.microsoft.com/office/drawing/2014/main" id="{703D0259-3662-4EAC-9B4D-8D34915ECC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2034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u="sng"/>
                <a:t>)</a:t>
              </a:r>
              <a:endParaRPr lang="en-US" altLang="it-IT" i="1"/>
            </a:p>
          </p:txBody>
        </p:sp>
        <p:sp>
          <p:nvSpPr>
            <p:cNvPr id="43048" name="Text Box 39">
              <a:extLst>
                <a:ext uri="{FF2B5EF4-FFF2-40B4-BE49-F238E27FC236}">
                  <a16:creationId xmlns:a16="http://schemas.microsoft.com/office/drawing/2014/main" id="{86032C05-D4F8-46D6-A7F2-68E6985FE5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1035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u="sng"/>
                <a:t>)</a:t>
              </a:r>
              <a:endParaRPr lang="en-US" altLang="it-IT" i="1"/>
            </a:p>
          </p:txBody>
        </p:sp>
        <p:sp>
          <p:nvSpPr>
            <p:cNvPr id="43049" name="Text Box 40">
              <a:extLst>
                <a:ext uri="{FF2B5EF4-FFF2-40B4-BE49-F238E27FC236}">
                  <a16:creationId xmlns:a16="http://schemas.microsoft.com/office/drawing/2014/main" id="{C26206A4-2635-4E93-87ED-BB200E010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1563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u="sng"/>
                <a:t>)</a:t>
              </a:r>
              <a:endParaRPr lang="en-US" altLang="it-IT" i="1"/>
            </a:p>
          </p:txBody>
        </p:sp>
        <p:sp>
          <p:nvSpPr>
            <p:cNvPr id="43050" name="Text Box 41">
              <a:extLst>
                <a:ext uri="{FF2B5EF4-FFF2-40B4-BE49-F238E27FC236}">
                  <a16:creationId xmlns:a16="http://schemas.microsoft.com/office/drawing/2014/main" id="{5F4CBCC4-4927-40AB-B551-888E4278D8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6" y="1314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u="sng"/>
                <a:t>(</a:t>
              </a:r>
              <a:endParaRPr lang="en-US" altLang="it-IT" i="1"/>
            </a:p>
          </p:txBody>
        </p:sp>
        <p:sp>
          <p:nvSpPr>
            <p:cNvPr id="43051" name="Text Box 42">
              <a:extLst>
                <a:ext uri="{FF2B5EF4-FFF2-40B4-BE49-F238E27FC236}">
                  <a16:creationId xmlns:a16="http://schemas.microsoft.com/office/drawing/2014/main" id="{01302EF9-C014-49F1-822B-967D7EA7B5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578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u="sng"/>
                <a:t>(</a:t>
              </a:r>
              <a:endParaRPr lang="en-US" altLang="it-IT" i="1"/>
            </a:p>
          </p:txBody>
        </p:sp>
        <p:sp>
          <p:nvSpPr>
            <p:cNvPr id="43052" name="Text Box 43">
              <a:extLst>
                <a:ext uri="{FF2B5EF4-FFF2-40B4-BE49-F238E27FC236}">
                  <a16:creationId xmlns:a16="http://schemas.microsoft.com/office/drawing/2014/main" id="{A7686DC1-F61E-4421-9F76-D232E28501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2" y="1579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u="sng"/>
                <a:t>(</a:t>
              </a:r>
              <a:endParaRPr lang="en-US" altLang="it-IT" i="1"/>
            </a:p>
          </p:txBody>
        </p:sp>
      </p:grpSp>
    </p:spTree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Footer Placeholder 1">
            <a:extLst>
              <a:ext uri="{FF2B5EF4-FFF2-40B4-BE49-F238E27FC236}">
                <a16:creationId xmlns:a16="http://schemas.microsoft.com/office/drawing/2014/main" id="{92B7C6F3-816B-4DC3-9A93-1251F2291E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5058" name="Slide Number Placeholder 2">
            <a:extLst>
              <a:ext uri="{FF2B5EF4-FFF2-40B4-BE49-F238E27FC236}">
                <a16:creationId xmlns:a16="http://schemas.microsoft.com/office/drawing/2014/main" id="{18A21884-478B-4390-BF61-E8A4891BE1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85828A3-5CA7-4E15-8F5C-9009E1E8789E}" type="slidenum">
              <a:rPr lang="en-US" altLang="it-IT"/>
              <a:pPr/>
              <a:t>17</a:t>
            </a:fld>
            <a:endParaRPr lang="en-US" altLang="it-IT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7F7A9B04-A1A8-4162-9733-348A1D14B16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>
                <a:sym typeface="Symbol" panose="05050102010706020507" pitchFamily="18" charset="2"/>
              </a:rPr>
              <a:t>Building</a:t>
            </a:r>
            <a:r>
              <a:rPr lang="en-US" altLang="it-IT" sz="2000">
                <a:sym typeface="Symbol" panose="05050102010706020507" pitchFamily="18" charset="2"/>
              </a:rPr>
              <a:t> LR(1)</a:t>
            </a:r>
            <a:r>
              <a:rPr lang="en-US" altLang="it-IT">
                <a:sym typeface="Symbol" panose="05050102010706020507" pitchFamily="18" charset="2"/>
              </a:rPr>
              <a:t> Tables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18D8FC83-33D5-4969-B523-E7DE3F0B274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How do we generate the A</a:t>
            </a:r>
            <a:r>
              <a:rPr lang="en-US" altLang="it-IT" sz="1800">
                <a:sym typeface="Symbol" panose="05050102010706020507" pitchFamily="18" charset="2"/>
              </a:rPr>
              <a:t>CTION</a:t>
            </a:r>
            <a:r>
              <a:rPr lang="en-US" altLang="it-IT">
                <a:sym typeface="Symbol" panose="05050102010706020507" pitchFamily="18" charset="2"/>
              </a:rPr>
              <a:t> and G</a:t>
            </a:r>
            <a:r>
              <a:rPr lang="en-US" altLang="it-IT" sz="1800">
                <a:sym typeface="Symbol" panose="05050102010706020507" pitchFamily="18" charset="2"/>
              </a:rPr>
              <a:t>OTO </a:t>
            </a:r>
            <a:r>
              <a:rPr lang="en-US" altLang="it-IT">
                <a:sym typeface="Symbol" panose="05050102010706020507" pitchFamily="18" charset="2"/>
              </a:rPr>
              <a:t>tables?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Use the grammar to build a model of the Control </a:t>
            </a:r>
            <a:r>
              <a:rPr lang="en-US" altLang="it-IT" sz="1800">
                <a:sym typeface="Symbol" panose="05050102010706020507" pitchFamily="18" charset="2"/>
              </a:rPr>
              <a:t>DFA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Encode actions &amp; transitions in A</a:t>
            </a:r>
            <a:r>
              <a:rPr lang="en-US" altLang="it-IT" sz="1800">
                <a:sym typeface="Symbol" panose="05050102010706020507" pitchFamily="18" charset="2"/>
              </a:rPr>
              <a:t>CTION</a:t>
            </a:r>
            <a:r>
              <a:rPr lang="en-US" altLang="it-IT">
                <a:sym typeface="Symbol" panose="05050102010706020507" pitchFamily="18" charset="2"/>
              </a:rPr>
              <a:t> &amp; G</a:t>
            </a:r>
            <a:r>
              <a:rPr lang="en-US" altLang="it-IT" sz="1800">
                <a:sym typeface="Symbol" panose="05050102010706020507" pitchFamily="18" charset="2"/>
              </a:rPr>
              <a:t>OTO</a:t>
            </a:r>
            <a:r>
              <a:rPr lang="en-US" altLang="it-IT">
                <a:sym typeface="Symbol" panose="05050102010706020507" pitchFamily="18" charset="2"/>
              </a:rPr>
              <a:t> tables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If construction succeeds, the grammar is </a:t>
            </a:r>
            <a:r>
              <a:rPr lang="en-US" altLang="it-IT" sz="1800">
                <a:sym typeface="Symbol" panose="05050102010706020507" pitchFamily="18" charset="2"/>
              </a:rPr>
              <a:t>LR(1)</a:t>
            </a:r>
          </a:p>
          <a:p>
            <a:pPr lvl="1" eaLnBrk="1" hangingPunct="1"/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“Succeeds” means defines each table entry uniquely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The Big Picture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Model the state of the parser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Use two functions </a:t>
            </a:r>
            <a:r>
              <a:rPr lang="en-US" altLang="it-IT" i="1">
                <a:sym typeface="Symbol" panose="05050102010706020507" pitchFamily="18" charset="2"/>
              </a:rPr>
              <a:t>goto(</a:t>
            </a:r>
            <a:r>
              <a:rPr lang="en-US" altLang="it-IT" sz="1000" i="1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s, X</a:t>
            </a:r>
            <a:r>
              <a:rPr lang="en-US" altLang="it-IT" sz="1000" i="1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) </a:t>
            </a:r>
            <a:r>
              <a:rPr lang="en-US" altLang="it-IT">
                <a:sym typeface="Symbol" panose="05050102010706020507" pitchFamily="18" charset="2"/>
              </a:rPr>
              <a:t> and </a:t>
            </a:r>
            <a:r>
              <a:rPr lang="en-US" altLang="it-IT" i="1">
                <a:sym typeface="Symbol" panose="05050102010706020507" pitchFamily="18" charset="2"/>
              </a:rPr>
              <a:t>closure(</a:t>
            </a:r>
            <a:r>
              <a:rPr lang="en-US" altLang="it-IT" sz="1000" i="1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s</a:t>
            </a:r>
            <a:r>
              <a:rPr lang="en-US" altLang="it-IT" sz="1000" i="1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)</a:t>
            </a:r>
          </a:p>
          <a:p>
            <a:pPr lvl="1" eaLnBrk="1" hangingPunct="1"/>
            <a:r>
              <a:rPr lang="en-US" altLang="it-IT" i="1">
                <a:sym typeface="Symbol" panose="05050102010706020507" pitchFamily="18" charset="2"/>
              </a:rPr>
              <a:t>goto() </a:t>
            </a:r>
            <a:r>
              <a:rPr lang="en-US" altLang="it-IT">
                <a:sym typeface="Symbol" panose="05050102010706020507" pitchFamily="18" charset="2"/>
              </a:rPr>
              <a:t>is analogous to </a:t>
            </a:r>
            <a:r>
              <a:rPr lang="en-US" altLang="it-IT" i="1">
                <a:sym typeface="Symbol" panose="05050102010706020507" pitchFamily="18" charset="2"/>
              </a:rPr>
              <a:t>move() </a:t>
            </a:r>
            <a:r>
              <a:rPr lang="en-US" altLang="it-IT">
                <a:sym typeface="Symbol" panose="05050102010706020507" pitchFamily="18" charset="2"/>
              </a:rPr>
              <a:t>in the subset construction</a:t>
            </a:r>
          </a:p>
          <a:p>
            <a:pPr lvl="1" eaLnBrk="1" hangingPunct="1"/>
            <a:r>
              <a:rPr lang="en-US" altLang="it-IT" i="1">
                <a:sym typeface="Symbol" panose="05050102010706020507" pitchFamily="18" charset="2"/>
              </a:rPr>
              <a:t>closure() </a:t>
            </a:r>
            <a:r>
              <a:rPr lang="en-US" altLang="it-IT">
                <a:sym typeface="Symbol" panose="05050102010706020507" pitchFamily="18" charset="2"/>
              </a:rPr>
              <a:t>adds information to round out a state 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Build up the states and transition functions of the </a:t>
            </a:r>
            <a:r>
              <a:rPr lang="en-US" altLang="it-IT" sz="1800">
                <a:sym typeface="Symbol" panose="05050102010706020507" pitchFamily="18" charset="2"/>
              </a:rPr>
              <a:t>DFA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Use this information to fill in the A</a:t>
            </a:r>
            <a:r>
              <a:rPr lang="en-US" altLang="it-IT" sz="1800">
                <a:sym typeface="Symbol" panose="05050102010706020507" pitchFamily="18" charset="2"/>
              </a:rPr>
              <a:t>CTION</a:t>
            </a:r>
            <a:r>
              <a:rPr lang="en-US" altLang="it-IT">
                <a:sym typeface="Symbol" panose="05050102010706020507" pitchFamily="18" charset="2"/>
              </a:rPr>
              <a:t> and G</a:t>
            </a:r>
            <a:r>
              <a:rPr lang="en-US" altLang="it-IT" sz="1800">
                <a:sym typeface="Symbol" panose="05050102010706020507" pitchFamily="18" charset="2"/>
              </a:rPr>
              <a:t>OTO</a:t>
            </a:r>
            <a:r>
              <a:rPr lang="en-US" altLang="it-IT">
                <a:sym typeface="Symbol" panose="05050102010706020507" pitchFamily="18" charset="2"/>
              </a:rPr>
              <a:t> tables</a:t>
            </a:r>
          </a:p>
        </p:txBody>
      </p:sp>
      <p:grpSp>
        <p:nvGrpSpPr>
          <p:cNvPr id="45061" name="Group 13">
            <a:extLst>
              <a:ext uri="{FF2B5EF4-FFF2-40B4-BE49-F238E27FC236}">
                <a16:creationId xmlns:a16="http://schemas.microsoft.com/office/drawing/2014/main" id="{E9BA4837-19E1-426D-8892-A149A4FE84C1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3048000"/>
            <a:ext cx="3429000" cy="927100"/>
            <a:chOff x="2880" y="1872"/>
            <a:chExt cx="2160" cy="584"/>
          </a:xfrm>
        </p:grpSpPr>
        <p:sp>
          <p:nvSpPr>
            <p:cNvPr id="45066" name="Text Box 5">
              <a:extLst>
                <a:ext uri="{FF2B5EF4-FFF2-40B4-BE49-F238E27FC236}">
                  <a16:creationId xmlns:a16="http://schemas.microsoft.com/office/drawing/2014/main" id="{BDD87BD1-90A6-478D-AB07-5883DE691B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872"/>
              <a:ext cx="1200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600">
                  <a:solidFill>
                    <a:srgbClr val="003C75"/>
                  </a:solidFill>
                </a:rPr>
                <a:t>grammar symbol, </a:t>
              </a:r>
              <a:r>
                <a:rPr lang="en-US" altLang="it-IT" sz="1600" i="1">
                  <a:solidFill>
                    <a:srgbClr val="003C75"/>
                  </a:solidFill>
                </a:rPr>
                <a:t>T </a:t>
              </a:r>
              <a:r>
                <a:rPr lang="en-US" altLang="it-IT" sz="1600">
                  <a:solidFill>
                    <a:srgbClr val="003C75"/>
                  </a:solidFill>
                </a:rPr>
                <a:t>or </a:t>
              </a:r>
              <a:r>
                <a:rPr lang="en-US" altLang="it-IT" sz="1600" i="1">
                  <a:solidFill>
                    <a:srgbClr val="003C75"/>
                  </a:solidFill>
                </a:rPr>
                <a:t>NT</a:t>
              </a:r>
              <a:endParaRPr lang="en-US" altLang="it-IT" sz="1600">
                <a:solidFill>
                  <a:srgbClr val="003C75"/>
                </a:solidFill>
              </a:endParaRPr>
            </a:p>
          </p:txBody>
        </p:sp>
        <p:sp>
          <p:nvSpPr>
            <p:cNvPr id="45067" name="Line 6">
              <a:extLst>
                <a:ext uri="{FF2B5EF4-FFF2-40B4-BE49-F238E27FC236}">
                  <a16:creationId xmlns:a16="http://schemas.microsoft.com/office/drawing/2014/main" id="{CB7CC558-6949-46DF-A0E0-4D2E501C11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1872"/>
              <a:ext cx="0" cy="384"/>
            </a:xfrm>
            <a:prstGeom prst="line">
              <a:avLst/>
            </a:prstGeom>
            <a:noFill/>
            <a:ln w="1905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5068" name="Freeform 7">
              <a:extLst>
                <a:ext uri="{FF2B5EF4-FFF2-40B4-BE49-F238E27FC236}">
                  <a16:creationId xmlns:a16="http://schemas.microsoft.com/office/drawing/2014/main" id="{A810B088-25A5-4CC1-B0C1-E4F4F9DDB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1976"/>
              <a:ext cx="960" cy="480"/>
            </a:xfrm>
            <a:custGeom>
              <a:avLst/>
              <a:gdLst>
                <a:gd name="T0" fmla="*/ 960 w 960"/>
                <a:gd name="T1" fmla="*/ 0 h 480"/>
                <a:gd name="T2" fmla="*/ 192 w 960"/>
                <a:gd name="T3" fmla="*/ 240 h 480"/>
                <a:gd name="T4" fmla="*/ 288 w 960"/>
                <a:gd name="T5" fmla="*/ 336 h 480"/>
                <a:gd name="T6" fmla="*/ 0 w 960"/>
                <a:gd name="T7" fmla="*/ 480 h 4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0"/>
                <a:gd name="T13" fmla="*/ 0 h 480"/>
                <a:gd name="T14" fmla="*/ 960 w 960"/>
                <a:gd name="T15" fmla="*/ 480 h 4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0" h="480">
                  <a:moveTo>
                    <a:pt x="960" y="0"/>
                  </a:moveTo>
                  <a:cubicBezTo>
                    <a:pt x="632" y="92"/>
                    <a:pt x="304" y="184"/>
                    <a:pt x="192" y="240"/>
                  </a:cubicBezTo>
                  <a:cubicBezTo>
                    <a:pt x="80" y="296"/>
                    <a:pt x="320" y="296"/>
                    <a:pt x="288" y="336"/>
                  </a:cubicBezTo>
                  <a:cubicBezTo>
                    <a:pt x="256" y="376"/>
                    <a:pt x="128" y="428"/>
                    <a:pt x="0" y="480"/>
                  </a:cubicBezTo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  <p:grpSp>
        <p:nvGrpSpPr>
          <p:cNvPr id="45062" name="Group 12">
            <a:extLst>
              <a:ext uri="{FF2B5EF4-FFF2-40B4-BE49-F238E27FC236}">
                <a16:creationId xmlns:a16="http://schemas.microsoft.com/office/drawing/2014/main" id="{C58FA529-43D6-4203-BD09-FA4A78E37296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5105400"/>
            <a:ext cx="3251200" cy="1371600"/>
            <a:chOff x="3408" y="3168"/>
            <a:chExt cx="2048" cy="864"/>
          </a:xfrm>
        </p:grpSpPr>
        <p:sp>
          <p:nvSpPr>
            <p:cNvPr id="45063" name="Text Box 9">
              <a:extLst>
                <a:ext uri="{FF2B5EF4-FFF2-40B4-BE49-F238E27FC236}">
                  <a16:creationId xmlns:a16="http://schemas.microsoft.com/office/drawing/2014/main" id="{61C80AF2-48E2-48A8-A987-E068D81C79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3648"/>
              <a:ext cx="1584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r">
                <a:spcBef>
                  <a:spcPct val="50000"/>
                </a:spcBef>
              </a:pPr>
              <a:r>
                <a:rPr lang="en-US" altLang="it-IT" sz="1600">
                  <a:solidFill>
                    <a:srgbClr val="003C75"/>
                  </a:solidFill>
                </a:rPr>
                <a:t>fixed-point algorithm, like subset construction</a:t>
              </a:r>
            </a:p>
          </p:txBody>
        </p:sp>
        <p:sp>
          <p:nvSpPr>
            <p:cNvPr id="45064" name="Line 10">
              <a:extLst>
                <a:ext uri="{FF2B5EF4-FFF2-40B4-BE49-F238E27FC236}">
                  <a16:creationId xmlns:a16="http://schemas.microsoft.com/office/drawing/2014/main" id="{63301CBB-C25E-48F0-97E1-61EE658E8D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3648"/>
              <a:ext cx="0" cy="384"/>
            </a:xfrm>
            <a:prstGeom prst="line">
              <a:avLst/>
            </a:prstGeom>
            <a:noFill/>
            <a:ln w="1905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5065" name="Freeform 11">
              <a:extLst>
                <a:ext uri="{FF2B5EF4-FFF2-40B4-BE49-F238E27FC236}">
                  <a16:creationId xmlns:a16="http://schemas.microsoft.com/office/drawing/2014/main" id="{DBFB5A29-866C-4B8A-9403-81F21A13E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6" y="3168"/>
              <a:ext cx="560" cy="624"/>
            </a:xfrm>
            <a:custGeom>
              <a:avLst/>
              <a:gdLst>
                <a:gd name="T0" fmla="*/ 96 w 560"/>
                <a:gd name="T1" fmla="*/ 624 h 624"/>
                <a:gd name="T2" fmla="*/ 480 w 560"/>
                <a:gd name="T3" fmla="*/ 432 h 624"/>
                <a:gd name="T4" fmla="*/ 480 w 560"/>
                <a:gd name="T5" fmla="*/ 96 h 624"/>
                <a:gd name="T6" fmla="*/ 0 w 560"/>
                <a:gd name="T7" fmla="*/ 0 h 62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624"/>
                <a:gd name="T14" fmla="*/ 560 w 560"/>
                <a:gd name="T15" fmla="*/ 624 h 62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624">
                  <a:moveTo>
                    <a:pt x="96" y="624"/>
                  </a:moveTo>
                  <a:cubicBezTo>
                    <a:pt x="256" y="572"/>
                    <a:pt x="416" y="520"/>
                    <a:pt x="480" y="432"/>
                  </a:cubicBezTo>
                  <a:cubicBezTo>
                    <a:pt x="544" y="344"/>
                    <a:pt x="560" y="168"/>
                    <a:pt x="480" y="96"/>
                  </a:cubicBezTo>
                  <a:cubicBezTo>
                    <a:pt x="400" y="24"/>
                    <a:pt x="200" y="12"/>
                    <a:pt x="0" y="0"/>
                  </a:cubicBezTo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</p:spTree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Footer Placeholder 1">
            <a:extLst>
              <a:ext uri="{FF2B5EF4-FFF2-40B4-BE49-F238E27FC236}">
                <a16:creationId xmlns:a16="http://schemas.microsoft.com/office/drawing/2014/main" id="{4E83D634-D074-4ED7-8628-F1A7563A96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7106" name="Slide Number Placeholder 2">
            <a:extLst>
              <a:ext uri="{FF2B5EF4-FFF2-40B4-BE49-F238E27FC236}">
                <a16:creationId xmlns:a16="http://schemas.microsoft.com/office/drawing/2014/main" id="{20F78916-F289-4C85-8C68-83E34A93C7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1F814F2-4374-45AB-B547-B818C76076B3}" type="slidenum">
              <a:rPr lang="en-US" altLang="it-IT"/>
              <a:pPr/>
              <a:t>18</a:t>
            </a:fld>
            <a:endParaRPr lang="en-US" altLang="it-IT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DEC006F1-7791-4A5E-8825-12162FE79BD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 sz="2000">
                <a:sym typeface="Symbol" panose="05050102010706020507" pitchFamily="18" charset="2"/>
              </a:rPr>
              <a:t>LR(</a:t>
            </a:r>
            <a:r>
              <a:rPr lang="en-US" altLang="it-IT" sz="2000" i="1">
                <a:solidFill>
                  <a:srgbClr val="003C75"/>
                </a:solidFill>
                <a:sym typeface="Symbol" panose="05050102010706020507" pitchFamily="18" charset="2"/>
              </a:rPr>
              <a:t>k</a:t>
            </a:r>
            <a:r>
              <a:rPr lang="en-US" altLang="it-IT" sz="2000">
                <a:sym typeface="Symbol" panose="05050102010706020507" pitchFamily="18" charset="2"/>
              </a:rPr>
              <a:t>) </a:t>
            </a:r>
            <a:r>
              <a:rPr lang="en-US" altLang="it-IT">
                <a:sym typeface="Symbol" panose="05050102010706020507" pitchFamily="18" charset="2"/>
              </a:rPr>
              <a:t>Items</a:t>
            </a: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BC88330B-3ACC-49E1-B99E-6E6789152D5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  <a:buFont typeface="Times" panose="02020603050405020304" pitchFamily="18" charset="0"/>
              <a:buNone/>
            </a:pPr>
            <a:r>
              <a:rPr lang="en-US" altLang="it-IT" sz="1800" i="1">
                <a:solidFill>
                  <a:srgbClr val="003C75"/>
                </a:solidFill>
                <a:sym typeface="Symbol" panose="05050102010706020507" pitchFamily="18" charset="2"/>
              </a:rPr>
              <a:t>The LR(1) table construction algorithm represents a valid configuration of an LR(1) parser with a data structure called an LR(1) items</a:t>
            </a:r>
          </a:p>
          <a:p>
            <a:pPr eaLnBrk="1" hangingPunct="1">
              <a:spcBef>
                <a:spcPts val="2400"/>
              </a:spcBef>
              <a:buFont typeface="Times" panose="02020603050405020304" pitchFamily="18" charset="0"/>
              <a:buNone/>
            </a:pPr>
            <a:r>
              <a:rPr lang="en-US" altLang="it-IT" sz="1800">
                <a:sym typeface="Symbol" panose="05050102010706020507" pitchFamily="18" charset="2"/>
              </a:rPr>
              <a:t>An </a:t>
            </a:r>
            <a:r>
              <a:rPr lang="en-US" altLang="it-IT" sz="1600">
                <a:sym typeface="Symbol" panose="05050102010706020507" pitchFamily="18" charset="2"/>
              </a:rPr>
              <a:t>LR(</a:t>
            </a:r>
            <a:r>
              <a:rPr lang="en-US" altLang="it-IT" sz="1600" i="1">
                <a:solidFill>
                  <a:srgbClr val="B025A6"/>
                </a:solidFill>
                <a:sym typeface="Symbol" panose="05050102010706020507" pitchFamily="18" charset="2"/>
              </a:rPr>
              <a:t>k</a:t>
            </a:r>
            <a:r>
              <a:rPr lang="en-US" altLang="it-IT" sz="1600">
                <a:sym typeface="Symbol" panose="05050102010706020507" pitchFamily="18" charset="2"/>
              </a:rPr>
              <a:t>)</a:t>
            </a:r>
            <a:r>
              <a:rPr lang="en-US" altLang="it-IT" sz="1800">
                <a:sym typeface="Symbol" panose="05050102010706020507" pitchFamily="18" charset="2"/>
              </a:rPr>
              <a:t> item is a pair [</a:t>
            </a:r>
            <a:r>
              <a:rPr lang="en-US" altLang="it-IT" sz="1600" i="1">
                <a:sym typeface="Symbol" panose="05050102010706020507" pitchFamily="18" charset="2"/>
              </a:rPr>
              <a:t>P, </a:t>
            </a:r>
            <a:r>
              <a:rPr lang="en-US" altLang="it-IT" sz="1800">
                <a:sym typeface="Symbol" panose="05050102010706020507" pitchFamily="18" charset="2"/>
              </a:rPr>
              <a:t>], where</a:t>
            </a:r>
          </a:p>
          <a:p>
            <a:pPr lvl="1" eaLnBrk="1" hangingPunct="1">
              <a:spcBef>
                <a:spcPct val="30000"/>
              </a:spcBef>
              <a:buFontTx/>
              <a:buNone/>
            </a:pPr>
            <a:r>
              <a:rPr lang="en-US" altLang="it-IT" i="1">
                <a:sym typeface="Symbol" panose="05050102010706020507" pitchFamily="18" charset="2"/>
              </a:rPr>
              <a:t>P </a:t>
            </a:r>
            <a:r>
              <a:rPr lang="en-US" altLang="it-IT">
                <a:sym typeface="Symbol" panose="05050102010706020507" pitchFamily="18" charset="2"/>
              </a:rPr>
              <a:t>is a production 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 with a • at some position in the </a:t>
            </a:r>
            <a:r>
              <a:rPr lang="en-US" altLang="it-IT" i="1">
                <a:sym typeface="Symbol" panose="05050102010706020507" pitchFamily="18" charset="2"/>
              </a:rPr>
              <a:t>rhs</a:t>
            </a:r>
          </a:p>
          <a:p>
            <a:pPr lvl="1" eaLnBrk="1" hangingPunct="1">
              <a:spcBef>
                <a:spcPct val="30000"/>
              </a:spcBef>
              <a:buFontTx/>
              <a:buNone/>
            </a:pPr>
            <a:r>
              <a:rPr lang="en-US" altLang="it-IT">
                <a:sym typeface="Symbol" panose="05050102010706020507" pitchFamily="18" charset="2"/>
              </a:rPr>
              <a:t> is a lookahead string of length ≤ </a:t>
            </a:r>
            <a:r>
              <a:rPr lang="en-US" altLang="it-IT" i="1">
                <a:solidFill>
                  <a:srgbClr val="B025A6"/>
                </a:solidFill>
                <a:sym typeface="Symbol" panose="05050102010706020507" pitchFamily="18" charset="2"/>
              </a:rPr>
              <a:t>k</a:t>
            </a:r>
            <a:r>
              <a:rPr lang="en-US" altLang="it-IT" sz="1600">
                <a:sym typeface="Symbol" panose="05050102010706020507" pitchFamily="18" charset="2"/>
              </a:rPr>
              <a:t>          	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(</a:t>
            </a:r>
            <a:r>
              <a:rPr lang="en-US" altLang="it-IT" sz="1600" i="1">
                <a:solidFill>
                  <a:srgbClr val="FF0065"/>
                </a:solidFill>
                <a:sym typeface="Symbol" panose="05050102010706020507" pitchFamily="18" charset="2"/>
              </a:rPr>
              <a:t>words or EOF</a:t>
            </a:r>
            <a:r>
              <a:rPr lang="en-US" altLang="it-IT" sz="900" i="1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)</a:t>
            </a:r>
            <a:endParaRPr lang="en-US" altLang="it-IT" sz="140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 sz="1800">
                <a:sym typeface="Symbol" panose="05050102010706020507" pitchFamily="18" charset="2"/>
              </a:rPr>
              <a:t>The • in an item indicates the position of the top of the stack</a:t>
            </a:r>
          </a:p>
          <a:p>
            <a:pPr eaLnBrk="1" hangingPunct="1">
              <a:spcBef>
                <a:spcPts val="1800"/>
              </a:spcBef>
              <a:buFont typeface="Times" panose="02020603050405020304" pitchFamily="18" charset="0"/>
              <a:buNone/>
            </a:pPr>
            <a:r>
              <a:rPr lang="en-US" altLang="it-IT" sz="1600">
                <a:sym typeface="Symbol" panose="05050102010706020507" pitchFamily="18" charset="2"/>
              </a:rPr>
              <a:t>[</a:t>
            </a:r>
            <a:r>
              <a:rPr lang="en-US" altLang="it-IT" sz="1800" i="1">
                <a:sym typeface="Symbol" panose="05050102010706020507" pitchFamily="18" charset="2"/>
              </a:rPr>
              <a:t>A</a:t>
            </a:r>
            <a:r>
              <a:rPr lang="en-US" altLang="it-IT" sz="1800">
                <a:sym typeface="Symbol" panose="05050102010706020507" pitchFamily="18" charset="2"/>
              </a:rPr>
              <a:t>•,</a:t>
            </a:r>
            <a:r>
              <a:rPr lang="en-US" altLang="it-IT" sz="1800" u="sng">
                <a:sym typeface="Symbol" panose="05050102010706020507" pitchFamily="18" charset="2"/>
              </a:rPr>
              <a:t>a</a:t>
            </a:r>
            <a:r>
              <a:rPr lang="en-US" altLang="it-IT" sz="1800">
                <a:sym typeface="Symbol" panose="05050102010706020507" pitchFamily="18" charset="2"/>
              </a:rPr>
              <a:t>] means that the input seen so far is consistent with the use of </a:t>
            </a:r>
            <a:r>
              <a:rPr lang="en-US" altLang="it-IT" sz="1800" i="1">
                <a:sym typeface="Symbol" panose="05050102010706020507" pitchFamily="18" charset="2"/>
              </a:rPr>
              <a:t>A</a:t>
            </a:r>
            <a:r>
              <a:rPr lang="en-US" altLang="it-IT" sz="1800">
                <a:sym typeface="Symbol" panose="05050102010706020507" pitchFamily="18" charset="2"/>
              </a:rPr>
              <a:t>  immediately after the symbol on top of the stack</a:t>
            </a:r>
          </a:p>
          <a:p>
            <a:pPr eaLnBrk="1" hangingPunct="1">
              <a:spcBef>
                <a:spcPts val="1200"/>
              </a:spcBef>
              <a:buFont typeface="Times" panose="02020603050405020304" pitchFamily="18" charset="0"/>
              <a:buNone/>
            </a:pPr>
            <a:r>
              <a:rPr lang="en-US" altLang="it-IT" sz="1800">
                <a:sym typeface="Symbol" panose="05050102010706020507" pitchFamily="18" charset="2"/>
              </a:rPr>
              <a:t>[</a:t>
            </a:r>
            <a:r>
              <a:rPr lang="en-US" altLang="it-IT" sz="1800" i="1">
                <a:sym typeface="Symbol" panose="05050102010706020507" pitchFamily="18" charset="2"/>
              </a:rPr>
              <a:t>A</a:t>
            </a:r>
            <a:r>
              <a:rPr lang="en-US" altLang="it-IT" sz="1800">
                <a:sym typeface="Symbol" panose="05050102010706020507" pitchFamily="18" charset="2"/>
              </a:rPr>
              <a:t> •,</a:t>
            </a:r>
            <a:r>
              <a:rPr lang="en-US" altLang="it-IT" sz="1800" u="sng">
                <a:sym typeface="Symbol" panose="05050102010706020507" pitchFamily="18" charset="2"/>
              </a:rPr>
              <a:t>a</a:t>
            </a:r>
            <a:r>
              <a:rPr lang="en-US" altLang="it-IT" sz="1800">
                <a:sym typeface="Symbol" panose="05050102010706020507" pitchFamily="18" charset="2"/>
              </a:rPr>
              <a:t>] means that the input sees so far is consistent with the use of </a:t>
            </a:r>
            <a:r>
              <a:rPr lang="en-US" altLang="it-IT" sz="1800" i="1">
                <a:sym typeface="Symbol" panose="05050102010706020507" pitchFamily="18" charset="2"/>
              </a:rPr>
              <a:t>A</a:t>
            </a:r>
            <a:r>
              <a:rPr lang="en-US" altLang="it-IT" sz="1800">
                <a:sym typeface="Symbol" panose="05050102010706020507" pitchFamily="18" charset="2"/>
              </a:rPr>
              <a:t>  at this point in the parse, </a:t>
            </a:r>
            <a:r>
              <a:rPr lang="en-US" altLang="it-IT" sz="1800" i="1" u="sng">
                <a:sym typeface="Symbol" panose="05050102010706020507" pitchFamily="18" charset="2"/>
              </a:rPr>
              <a:t>and</a:t>
            </a:r>
            <a:r>
              <a:rPr lang="en-US" altLang="it-IT" sz="1800">
                <a:sym typeface="Symbol" panose="05050102010706020507" pitchFamily="18" charset="2"/>
              </a:rPr>
              <a:t> that the parser has already recognized  (that is,  is on top of the stack).</a:t>
            </a:r>
          </a:p>
          <a:p>
            <a:pPr eaLnBrk="1" hangingPunct="1">
              <a:spcBef>
                <a:spcPts val="1200"/>
              </a:spcBef>
              <a:buFont typeface="Times" panose="02020603050405020304" pitchFamily="18" charset="0"/>
              <a:buNone/>
            </a:pPr>
            <a:r>
              <a:rPr lang="en-US" altLang="it-IT" sz="1800">
                <a:sym typeface="Symbol" panose="05050102010706020507" pitchFamily="18" charset="2"/>
              </a:rPr>
              <a:t>[</a:t>
            </a:r>
            <a:r>
              <a:rPr lang="en-US" altLang="it-IT" sz="1800" i="1">
                <a:sym typeface="Symbol" panose="05050102010706020507" pitchFamily="18" charset="2"/>
              </a:rPr>
              <a:t>A</a:t>
            </a:r>
            <a:r>
              <a:rPr lang="en-US" altLang="it-IT" sz="1800">
                <a:sym typeface="Symbol" panose="05050102010706020507" pitchFamily="18" charset="2"/>
              </a:rPr>
              <a:t> •,</a:t>
            </a:r>
            <a:r>
              <a:rPr lang="en-US" altLang="it-IT" sz="1800" u="sng">
                <a:sym typeface="Symbol" panose="05050102010706020507" pitchFamily="18" charset="2"/>
              </a:rPr>
              <a:t>a</a:t>
            </a:r>
            <a:r>
              <a:rPr lang="en-US" altLang="it-IT" sz="1800">
                <a:sym typeface="Symbol" panose="05050102010706020507" pitchFamily="18" charset="2"/>
              </a:rPr>
              <a:t>] means that the parser has seen , </a:t>
            </a:r>
            <a:r>
              <a:rPr lang="en-US" altLang="it-IT" sz="1800" i="1" u="sng">
                <a:sym typeface="Symbol" panose="05050102010706020507" pitchFamily="18" charset="2"/>
              </a:rPr>
              <a:t>and</a:t>
            </a:r>
            <a:r>
              <a:rPr lang="en-US" altLang="it-IT" sz="1800">
                <a:sym typeface="Symbol" panose="05050102010706020507" pitchFamily="18" charset="2"/>
              </a:rPr>
              <a:t> that a lookahead symbol of </a:t>
            </a:r>
            <a:r>
              <a:rPr lang="en-US" altLang="it-IT" sz="1800" u="sng">
                <a:sym typeface="Symbol" panose="05050102010706020507" pitchFamily="18" charset="2"/>
              </a:rPr>
              <a:t>a</a:t>
            </a:r>
            <a:r>
              <a:rPr lang="en-US" altLang="it-IT" sz="1800">
                <a:sym typeface="Symbol" panose="05050102010706020507" pitchFamily="18" charset="2"/>
              </a:rPr>
              <a:t> is consistent with reducing to </a:t>
            </a:r>
            <a:r>
              <a:rPr lang="en-US" altLang="it-IT" sz="1800" i="1">
                <a:sym typeface="Symbol" panose="05050102010706020507" pitchFamily="18" charset="2"/>
              </a:rPr>
              <a:t>A</a:t>
            </a:r>
            <a:r>
              <a:rPr lang="en-US" altLang="it-IT" sz="1800"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Footer Placeholder 1">
            <a:extLst>
              <a:ext uri="{FF2B5EF4-FFF2-40B4-BE49-F238E27FC236}">
                <a16:creationId xmlns:a16="http://schemas.microsoft.com/office/drawing/2014/main" id="{16644432-7655-461E-BDC7-E00B40A0865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9154" name="Slide Number Placeholder 2">
            <a:extLst>
              <a:ext uri="{FF2B5EF4-FFF2-40B4-BE49-F238E27FC236}">
                <a16:creationId xmlns:a16="http://schemas.microsoft.com/office/drawing/2014/main" id="{B883CDB2-113D-4960-B051-5AADD17CF7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CF8AE41-36E5-41A0-8DBB-B464ADF4D4EC}" type="slidenum">
              <a:rPr lang="en-US" altLang="it-IT"/>
              <a:pPr/>
              <a:t>19</a:t>
            </a:fld>
            <a:endParaRPr lang="en-US" altLang="it-IT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B1A73877-67A4-46AF-83B1-9C32AD96640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100000"/>
              </a:spcBef>
            </a:pPr>
            <a:r>
              <a:rPr lang="en-US" altLang="it-IT" sz="2000">
                <a:sym typeface="Symbol" panose="05050102010706020507" pitchFamily="18" charset="2"/>
              </a:rPr>
              <a:t>LR(1)</a:t>
            </a:r>
            <a:r>
              <a:rPr lang="en-US" altLang="it-IT">
                <a:sym typeface="Symbol" panose="05050102010706020507" pitchFamily="18" charset="2"/>
              </a:rPr>
              <a:t> Items</a:t>
            </a: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41B962CF-604C-4CBC-996A-4B10578297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066800"/>
            <a:ext cx="7772400" cy="5257800"/>
          </a:xfrm>
        </p:spPr>
        <p:txBody>
          <a:bodyPr/>
          <a:lstStyle/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The production 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 sz="1800">
                <a:sym typeface="Symbol" panose="05050102010706020507" pitchFamily="18" charset="2"/>
              </a:rPr>
              <a:t></a:t>
            </a:r>
            <a:r>
              <a:rPr lang="en-US" altLang="it-IT">
                <a:sym typeface="Symbol" panose="05050102010706020507" pitchFamily="18" charset="2"/>
              </a:rPr>
              <a:t>, where  = </a:t>
            </a:r>
            <a:r>
              <a:rPr lang="en-US" altLang="it-IT" i="1">
                <a:sym typeface="Symbol" panose="05050102010706020507" pitchFamily="18" charset="2"/>
              </a:rPr>
              <a:t>B</a:t>
            </a:r>
            <a:r>
              <a:rPr lang="en-US" altLang="it-IT" baseline="-25000">
                <a:sym typeface="Symbol" panose="05050102010706020507" pitchFamily="18" charset="2"/>
              </a:rPr>
              <a:t>1</a:t>
            </a:r>
            <a:r>
              <a:rPr lang="en-US" altLang="it-IT" i="1">
                <a:sym typeface="Symbol" panose="05050102010706020507" pitchFamily="18" charset="2"/>
              </a:rPr>
              <a:t>B</a:t>
            </a:r>
            <a:r>
              <a:rPr lang="en-US" altLang="it-IT" baseline="-25000">
                <a:sym typeface="Symbol" panose="05050102010706020507" pitchFamily="18" charset="2"/>
              </a:rPr>
              <a:t>1</a:t>
            </a:r>
            <a:r>
              <a:rPr lang="en-US" altLang="it-IT" i="1">
                <a:sym typeface="Symbol" panose="05050102010706020507" pitchFamily="18" charset="2"/>
              </a:rPr>
              <a:t>B</a:t>
            </a:r>
            <a:r>
              <a:rPr lang="en-US" altLang="it-IT" baseline="-25000">
                <a:sym typeface="Symbol" panose="05050102010706020507" pitchFamily="18" charset="2"/>
              </a:rPr>
              <a:t>1 </a:t>
            </a:r>
            <a:r>
              <a:rPr lang="en-US" altLang="it-IT">
                <a:sym typeface="Symbol" panose="05050102010706020507" pitchFamily="18" charset="2"/>
              </a:rPr>
              <a:t>with lookahead </a:t>
            </a:r>
            <a:r>
              <a:rPr lang="en-US" altLang="it-IT" u="sng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, </a:t>
            </a:r>
          </a:p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can give rise to 4 items</a:t>
            </a:r>
          </a:p>
          <a:p>
            <a:pPr lvl="1" eaLnBrk="1" hangingPunct="1">
              <a:spcBef>
                <a:spcPts val="1200"/>
              </a:spcBef>
              <a:spcAft>
                <a:spcPts val="600"/>
              </a:spcAft>
              <a:buFontTx/>
              <a:buNone/>
            </a:pPr>
            <a:r>
              <a:rPr lang="en-US" altLang="it-IT">
                <a:sym typeface="Symbol" panose="05050102010706020507" pitchFamily="18" charset="2"/>
              </a:rPr>
              <a:t>[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 sz="1600">
                <a:sym typeface="Symbol" panose="05050102010706020507" pitchFamily="18" charset="2"/>
              </a:rPr>
              <a:t></a:t>
            </a:r>
            <a:r>
              <a:rPr lang="en-US" altLang="it-IT">
                <a:sym typeface="Symbol" panose="05050102010706020507" pitchFamily="18" charset="2"/>
              </a:rPr>
              <a:t>•</a:t>
            </a:r>
            <a:r>
              <a:rPr lang="en-US" altLang="it-IT" i="1">
                <a:sym typeface="Symbol" panose="05050102010706020507" pitchFamily="18" charset="2"/>
              </a:rPr>
              <a:t>B</a:t>
            </a:r>
            <a:r>
              <a:rPr lang="en-US" altLang="it-IT" baseline="-25000">
                <a:sym typeface="Symbol" panose="05050102010706020507" pitchFamily="18" charset="2"/>
              </a:rPr>
              <a:t>1</a:t>
            </a:r>
            <a:r>
              <a:rPr lang="en-US" altLang="it-IT" i="1">
                <a:sym typeface="Symbol" panose="05050102010706020507" pitchFamily="18" charset="2"/>
              </a:rPr>
              <a:t>B</a:t>
            </a:r>
            <a:r>
              <a:rPr lang="en-US" altLang="it-IT" baseline="-25000">
                <a:sym typeface="Symbol" panose="05050102010706020507" pitchFamily="18" charset="2"/>
              </a:rPr>
              <a:t>2</a:t>
            </a:r>
            <a:r>
              <a:rPr lang="en-US" altLang="it-IT" i="1">
                <a:sym typeface="Symbol" panose="05050102010706020507" pitchFamily="18" charset="2"/>
              </a:rPr>
              <a:t>B</a:t>
            </a:r>
            <a:r>
              <a:rPr lang="en-US" altLang="it-IT" baseline="-25000">
                <a:sym typeface="Symbol" panose="05050102010706020507" pitchFamily="18" charset="2"/>
              </a:rPr>
              <a:t>3</a:t>
            </a:r>
            <a:r>
              <a:rPr lang="en-US" altLang="it-IT">
                <a:sym typeface="Symbol" panose="05050102010706020507" pitchFamily="18" charset="2"/>
              </a:rPr>
              <a:t>,</a:t>
            </a:r>
            <a:r>
              <a:rPr lang="en-US" altLang="it-IT" u="sng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], [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 sz="1600">
                <a:sym typeface="Symbol" panose="05050102010706020507" pitchFamily="18" charset="2"/>
              </a:rPr>
              <a:t></a:t>
            </a:r>
            <a:r>
              <a:rPr lang="en-US" altLang="it-IT" i="1">
                <a:sym typeface="Symbol" panose="05050102010706020507" pitchFamily="18" charset="2"/>
              </a:rPr>
              <a:t>B</a:t>
            </a:r>
            <a:r>
              <a:rPr lang="en-US" altLang="it-IT" baseline="-25000">
                <a:sym typeface="Symbol" panose="05050102010706020507" pitchFamily="18" charset="2"/>
              </a:rPr>
              <a:t>1</a:t>
            </a:r>
            <a:r>
              <a:rPr lang="en-US" altLang="it-IT">
                <a:sym typeface="Symbol" panose="05050102010706020507" pitchFamily="18" charset="2"/>
              </a:rPr>
              <a:t>•</a:t>
            </a:r>
            <a:r>
              <a:rPr lang="en-US" altLang="it-IT" i="1">
                <a:sym typeface="Symbol" panose="05050102010706020507" pitchFamily="18" charset="2"/>
              </a:rPr>
              <a:t>B</a:t>
            </a:r>
            <a:r>
              <a:rPr lang="en-US" altLang="it-IT" baseline="-25000">
                <a:sym typeface="Symbol" panose="05050102010706020507" pitchFamily="18" charset="2"/>
              </a:rPr>
              <a:t>2</a:t>
            </a:r>
            <a:r>
              <a:rPr lang="en-US" altLang="it-IT" i="1">
                <a:sym typeface="Symbol" panose="05050102010706020507" pitchFamily="18" charset="2"/>
              </a:rPr>
              <a:t>B</a:t>
            </a:r>
            <a:r>
              <a:rPr lang="en-US" altLang="it-IT" baseline="-25000">
                <a:sym typeface="Symbol" panose="05050102010706020507" pitchFamily="18" charset="2"/>
              </a:rPr>
              <a:t>3</a:t>
            </a:r>
            <a:r>
              <a:rPr lang="en-US" altLang="it-IT">
                <a:sym typeface="Symbol" panose="05050102010706020507" pitchFamily="18" charset="2"/>
              </a:rPr>
              <a:t>,</a:t>
            </a:r>
            <a:r>
              <a:rPr lang="en-US" altLang="it-IT" u="sng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], [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 sz="1600">
                <a:sym typeface="Symbol" panose="05050102010706020507" pitchFamily="18" charset="2"/>
              </a:rPr>
              <a:t></a:t>
            </a:r>
            <a:r>
              <a:rPr lang="en-US" altLang="it-IT" i="1">
                <a:sym typeface="Symbol" panose="05050102010706020507" pitchFamily="18" charset="2"/>
              </a:rPr>
              <a:t>B</a:t>
            </a:r>
            <a:r>
              <a:rPr lang="en-US" altLang="it-IT" baseline="-25000">
                <a:sym typeface="Symbol" panose="05050102010706020507" pitchFamily="18" charset="2"/>
              </a:rPr>
              <a:t>1</a:t>
            </a:r>
            <a:r>
              <a:rPr lang="en-US" altLang="it-IT" i="1">
                <a:sym typeface="Symbol" panose="05050102010706020507" pitchFamily="18" charset="2"/>
              </a:rPr>
              <a:t>B</a:t>
            </a:r>
            <a:r>
              <a:rPr lang="en-US" altLang="it-IT" baseline="-25000">
                <a:sym typeface="Symbol" panose="05050102010706020507" pitchFamily="18" charset="2"/>
              </a:rPr>
              <a:t>2</a:t>
            </a:r>
            <a:r>
              <a:rPr lang="en-US" altLang="it-IT">
                <a:sym typeface="Symbol" panose="05050102010706020507" pitchFamily="18" charset="2"/>
              </a:rPr>
              <a:t>•</a:t>
            </a:r>
            <a:r>
              <a:rPr lang="en-US" altLang="it-IT" i="1">
                <a:sym typeface="Symbol" panose="05050102010706020507" pitchFamily="18" charset="2"/>
              </a:rPr>
              <a:t>B</a:t>
            </a:r>
            <a:r>
              <a:rPr lang="en-US" altLang="it-IT" baseline="-25000">
                <a:sym typeface="Symbol" panose="05050102010706020507" pitchFamily="18" charset="2"/>
              </a:rPr>
              <a:t>3</a:t>
            </a:r>
            <a:r>
              <a:rPr lang="en-US" altLang="it-IT">
                <a:sym typeface="Symbol" panose="05050102010706020507" pitchFamily="18" charset="2"/>
              </a:rPr>
              <a:t>,</a:t>
            </a:r>
            <a:r>
              <a:rPr lang="en-US" altLang="it-IT" u="sng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], &amp; [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 sz="1600">
                <a:sym typeface="Symbol" panose="05050102010706020507" pitchFamily="18" charset="2"/>
              </a:rPr>
              <a:t></a:t>
            </a:r>
            <a:r>
              <a:rPr lang="en-US" altLang="it-IT" i="1">
                <a:sym typeface="Symbol" panose="05050102010706020507" pitchFamily="18" charset="2"/>
              </a:rPr>
              <a:t>B</a:t>
            </a:r>
            <a:r>
              <a:rPr lang="en-US" altLang="it-IT" baseline="-25000">
                <a:sym typeface="Symbol" panose="05050102010706020507" pitchFamily="18" charset="2"/>
              </a:rPr>
              <a:t>1</a:t>
            </a:r>
            <a:r>
              <a:rPr lang="en-US" altLang="it-IT" i="1">
                <a:sym typeface="Symbol" panose="05050102010706020507" pitchFamily="18" charset="2"/>
              </a:rPr>
              <a:t>B</a:t>
            </a:r>
            <a:r>
              <a:rPr lang="en-US" altLang="it-IT" baseline="-25000">
                <a:sym typeface="Symbol" panose="05050102010706020507" pitchFamily="18" charset="2"/>
              </a:rPr>
              <a:t>2</a:t>
            </a:r>
            <a:r>
              <a:rPr lang="en-US" altLang="it-IT" i="1">
                <a:sym typeface="Symbol" panose="05050102010706020507" pitchFamily="18" charset="2"/>
              </a:rPr>
              <a:t>B</a:t>
            </a:r>
            <a:r>
              <a:rPr lang="en-US" altLang="it-IT" baseline="-25000">
                <a:sym typeface="Symbol" panose="05050102010706020507" pitchFamily="18" charset="2"/>
              </a:rPr>
              <a:t>3</a:t>
            </a:r>
            <a:r>
              <a:rPr lang="en-US" altLang="it-IT">
                <a:sym typeface="Symbol" panose="05050102010706020507" pitchFamily="18" charset="2"/>
              </a:rPr>
              <a:t>•,</a:t>
            </a:r>
            <a:r>
              <a:rPr lang="en-US" altLang="it-IT" u="sng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]</a:t>
            </a:r>
            <a:r>
              <a:rPr lang="en-US" altLang="it-IT" sz="1600">
                <a:sym typeface="Symbol" panose="05050102010706020507" pitchFamily="18" charset="2"/>
              </a:rPr>
              <a:t> 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ts val="6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The set of </a:t>
            </a:r>
            <a:r>
              <a:rPr lang="en-US" altLang="it-IT" sz="1800">
                <a:sym typeface="Symbol" panose="05050102010706020507" pitchFamily="18" charset="2"/>
              </a:rPr>
              <a:t>LR(1)</a:t>
            </a:r>
            <a:r>
              <a:rPr lang="en-US" altLang="it-IT">
                <a:sym typeface="Symbol" panose="05050102010706020507" pitchFamily="18" charset="2"/>
              </a:rPr>
              <a:t> items for a grammar is 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finite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ts val="3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What’s the point of all these lookahead symbols?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Carry them along to help choose the correct reduction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Lookaheads are bookkeeping, unless item has • at right end</a:t>
            </a:r>
          </a:p>
          <a:p>
            <a:pPr lvl="1" eaLnBrk="1" hangingPunct="1"/>
            <a:r>
              <a:rPr lang="en-US" altLang="it-IT">
                <a:sym typeface="Symbol" panose="05050102010706020507" pitchFamily="18" charset="2"/>
              </a:rPr>
              <a:t>Has no direct use in [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 sz="1600">
                <a:sym typeface="Symbol" panose="05050102010706020507" pitchFamily="18" charset="2"/>
              </a:rPr>
              <a:t></a:t>
            </a:r>
            <a:r>
              <a:rPr lang="en-US" altLang="it-IT">
                <a:sym typeface="Symbol" panose="05050102010706020507" pitchFamily="18" charset="2"/>
              </a:rPr>
              <a:t>•,</a:t>
            </a:r>
            <a:r>
              <a:rPr lang="en-US" altLang="it-IT" u="sng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]</a:t>
            </a:r>
          </a:p>
          <a:p>
            <a:pPr lvl="1" eaLnBrk="1" hangingPunct="1"/>
            <a:r>
              <a:rPr lang="en-US" altLang="it-IT">
                <a:sym typeface="Symbol" panose="05050102010706020507" pitchFamily="18" charset="2"/>
              </a:rPr>
              <a:t>In [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 sz="1600">
                <a:sym typeface="Symbol" panose="05050102010706020507" pitchFamily="18" charset="2"/>
              </a:rPr>
              <a:t></a:t>
            </a:r>
            <a:r>
              <a:rPr lang="en-US" altLang="it-IT">
                <a:sym typeface="Symbol" panose="05050102010706020507" pitchFamily="18" charset="2"/>
              </a:rPr>
              <a:t>•,</a:t>
            </a:r>
            <a:r>
              <a:rPr lang="en-US" altLang="it-IT" u="sng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], a lookahead of </a:t>
            </a:r>
            <a:r>
              <a:rPr lang="en-US" altLang="it-IT" u="sng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 implies a reduction by 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sz="1600">
                <a:sym typeface="Symbol" panose="05050102010706020507" pitchFamily="18" charset="2"/>
              </a:rPr>
              <a:t></a:t>
            </a:r>
            <a:r>
              <a:rPr lang="en-US" altLang="it-IT">
                <a:sym typeface="Symbol" panose="05050102010706020507" pitchFamily="18" charset="2"/>
              </a:rPr>
              <a:t></a:t>
            </a:r>
          </a:p>
          <a:p>
            <a:pPr lvl="1" eaLnBrk="1" hangingPunct="1"/>
            <a:r>
              <a:rPr lang="en-US" altLang="it-IT">
                <a:sym typeface="Symbol" panose="05050102010706020507" pitchFamily="18" charset="2"/>
              </a:rPr>
              <a:t>For { [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 sz="1600">
                <a:sym typeface="Symbol" panose="05050102010706020507" pitchFamily="18" charset="2"/>
              </a:rPr>
              <a:t></a:t>
            </a:r>
            <a:r>
              <a:rPr lang="en-US" altLang="it-IT">
                <a:sym typeface="Symbol" panose="05050102010706020507" pitchFamily="18" charset="2"/>
              </a:rPr>
              <a:t>•,</a:t>
            </a:r>
            <a:r>
              <a:rPr lang="en-US" altLang="it-IT" u="sng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],[</a:t>
            </a:r>
            <a:r>
              <a:rPr lang="en-US" altLang="it-IT" i="1">
                <a:sym typeface="Symbol" panose="05050102010706020507" pitchFamily="18" charset="2"/>
              </a:rPr>
              <a:t>B</a:t>
            </a:r>
            <a:r>
              <a:rPr lang="en-US" altLang="it-IT" sz="1600">
                <a:sym typeface="Symbol" panose="05050102010706020507" pitchFamily="18" charset="2"/>
              </a:rPr>
              <a:t></a:t>
            </a:r>
            <a:r>
              <a:rPr lang="en-US" altLang="it-IT">
                <a:sym typeface="Symbol" panose="05050102010706020507" pitchFamily="18" charset="2"/>
              </a:rPr>
              <a:t>•,</a:t>
            </a:r>
            <a:r>
              <a:rPr lang="en-US" altLang="it-IT" u="sng">
                <a:sym typeface="Symbol" panose="05050102010706020507" pitchFamily="18" charset="2"/>
              </a:rPr>
              <a:t>b</a:t>
            </a:r>
            <a:r>
              <a:rPr lang="en-US" altLang="it-IT">
                <a:sym typeface="Symbol" panose="05050102010706020507" pitchFamily="18" charset="2"/>
              </a:rPr>
              <a:t>] }, </a:t>
            </a:r>
            <a:r>
              <a:rPr lang="en-US" altLang="it-IT" u="sng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sz="1600">
                <a:sym typeface="Symbol" panose="05050102010706020507" pitchFamily="18" charset="2"/>
              </a:rPr>
              <a:t>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reduce</a:t>
            </a:r>
            <a:r>
              <a:rPr lang="en-US" altLang="it-IT">
                <a:sym typeface="Symbol" panose="05050102010706020507" pitchFamily="18" charset="2"/>
              </a:rPr>
              <a:t> to 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; F</a:t>
            </a:r>
            <a:r>
              <a:rPr lang="en-US" altLang="it-IT" sz="1600">
                <a:sym typeface="Symbol" panose="05050102010706020507" pitchFamily="18" charset="2"/>
              </a:rPr>
              <a:t>IRST</a:t>
            </a:r>
            <a:r>
              <a:rPr lang="en-US" altLang="it-IT">
                <a:sym typeface="Symbol" panose="05050102010706020507" pitchFamily="18" charset="2"/>
              </a:rPr>
              <a:t>() </a:t>
            </a:r>
            <a:r>
              <a:rPr lang="en-US" altLang="it-IT" sz="1600">
                <a:sym typeface="Symbol" panose="05050102010706020507" pitchFamily="18" charset="2"/>
              </a:rPr>
              <a:t>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shift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ts val="3000"/>
              </a:spcBef>
              <a:buFont typeface="Symbol" panose="05050102010706020507" pitchFamily="18" charset="2"/>
              <a:buChar char=""/>
            </a:pPr>
            <a:r>
              <a:rPr lang="en-US" altLang="it-IT">
                <a:sym typeface="Symbol" panose="05050102010706020507" pitchFamily="18" charset="2"/>
              </a:rPr>
              <a:t> Limited right context is enough to pick the actions</a:t>
            </a:r>
          </a:p>
        </p:txBody>
      </p:sp>
    </p:spTree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Footer Placeholder 3">
            <a:extLst>
              <a:ext uri="{FF2B5EF4-FFF2-40B4-BE49-F238E27FC236}">
                <a16:creationId xmlns:a16="http://schemas.microsoft.com/office/drawing/2014/main" id="{1F89CF04-01F1-4E39-A269-CC75E9B90A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1202" name="Slide Number Placeholder 4">
            <a:extLst>
              <a:ext uri="{FF2B5EF4-FFF2-40B4-BE49-F238E27FC236}">
                <a16:creationId xmlns:a16="http://schemas.microsoft.com/office/drawing/2014/main" id="{51CBE2D1-8C8E-4FC4-BA11-C2CDA4EDE2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44B9A62-0519-4508-A367-88680FBA86AC}" type="slidenum">
              <a:rPr lang="en-US" altLang="it-IT"/>
              <a:pPr/>
              <a:t>20</a:t>
            </a:fld>
            <a:endParaRPr lang="en-US" altLang="it-IT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979EEB8F-10FA-4FC4-A9BA-BAEDC429A2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  <a:buFont typeface="Symbol" panose="05050102010706020507" pitchFamily="18" charset="2"/>
              <a:buNone/>
            </a:pPr>
            <a:r>
              <a:rPr lang="en-US" altLang="it-IT">
                <a:sym typeface="Symbol" panose="05050102010706020507" pitchFamily="18" charset="2"/>
              </a:rPr>
              <a:t>High-level overview</a:t>
            </a:r>
          </a:p>
          <a:p>
            <a:pPr eaLnBrk="1" hangingPunct="1">
              <a:buSzTx/>
              <a:buFont typeface="Symbol" panose="05050102010706020507" pitchFamily="18" charset="2"/>
              <a:buChar char="1"/>
            </a:pPr>
            <a:r>
              <a:rPr lang="en-US" altLang="it-IT">
                <a:sym typeface="Symbol" panose="05050102010706020507" pitchFamily="18" charset="2"/>
              </a:rPr>
              <a:t>Build the canonical collection of sets of LR(1) Items, </a:t>
            </a:r>
            <a:r>
              <a:rPr lang="en-US" altLang="it-IT" i="1">
                <a:sym typeface="Symbol" panose="05050102010706020507" pitchFamily="18" charset="2"/>
              </a:rPr>
              <a:t>I </a:t>
            </a:r>
            <a:endParaRPr lang="en-US" altLang="it-IT" i="1" u="sng">
              <a:sym typeface="Symbol" panose="05050102010706020507" pitchFamily="18" charset="2"/>
            </a:endParaRPr>
          </a:p>
          <a:p>
            <a:pPr lvl="1" eaLnBrk="1" hangingPunct="1">
              <a:buFontTx/>
              <a:buChar char="a"/>
            </a:pPr>
            <a:r>
              <a:rPr lang="en-US" altLang="it-IT">
                <a:sym typeface="Symbol" panose="05050102010706020507" pitchFamily="18" charset="2"/>
              </a:rPr>
              <a:t>Begin in an appropriate state, </a:t>
            </a:r>
            <a:r>
              <a:rPr lang="en-US" altLang="it-IT" i="1">
                <a:sym typeface="Symbol" panose="05050102010706020507" pitchFamily="18" charset="2"/>
              </a:rPr>
              <a:t>s</a:t>
            </a:r>
            <a:r>
              <a:rPr lang="en-US" altLang="it-IT" i="1" baseline="-25000">
                <a:sym typeface="Symbol" panose="05050102010706020507" pitchFamily="18" charset="2"/>
              </a:rPr>
              <a:t>0</a:t>
            </a:r>
            <a:endParaRPr lang="en-US" altLang="it-IT">
              <a:sym typeface="Symbol" panose="05050102010706020507" pitchFamily="18" charset="2"/>
            </a:endParaRPr>
          </a:p>
          <a:p>
            <a:pPr lvl="2" eaLnBrk="1" hangingPunct="1">
              <a:buFont typeface="Symbol" panose="05050102010706020507" pitchFamily="18" charset="2"/>
              <a:buChar char="¨"/>
            </a:pPr>
            <a:r>
              <a:rPr lang="en-US" altLang="it-IT">
                <a:sym typeface="Symbol" panose="05050102010706020507" pitchFamily="18" charset="2"/>
              </a:rPr>
              <a:t>[</a:t>
            </a:r>
            <a:r>
              <a:rPr lang="en-US" altLang="it-IT" i="1">
                <a:sym typeface="Symbol" panose="05050102010706020507" pitchFamily="18" charset="2"/>
              </a:rPr>
              <a:t>S’ </a:t>
            </a:r>
            <a:r>
              <a:rPr lang="en-US" altLang="it-IT" sz="1400">
                <a:sym typeface="Symbol" panose="05050102010706020507" pitchFamily="18" charset="2"/>
              </a:rPr>
              <a:t>•</a:t>
            </a:r>
            <a:r>
              <a:rPr lang="en-US" altLang="it-IT" i="1">
                <a:sym typeface="Symbol" panose="05050102010706020507" pitchFamily="18" charset="2"/>
              </a:rPr>
              <a:t>S</a:t>
            </a:r>
            <a:r>
              <a:rPr lang="en-US" altLang="it-IT">
                <a:sym typeface="Symbol" panose="05050102010706020507" pitchFamily="18" charset="2"/>
              </a:rPr>
              <a:t>,</a:t>
            </a:r>
            <a:r>
              <a:rPr lang="en-US" altLang="it-IT" sz="1400" u="sng">
                <a:sym typeface="Symbol" panose="05050102010706020507" pitchFamily="18" charset="2"/>
              </a:rPr>
              <a:t>EOF</a:t>
            </a:r>
            <a:r>
              <a:rPr lang="en-US" altLang="it-IT">
                <a:sym typeface="Symbol" panose="05050102010706020507" pitchFamily="18" charset="2"/>
              </a:rPr>
              <a:t>], along with any equivalent items</a:t>
            </a:r>
            <a:endParaRPr lang="en-US" altLang="it-IT" sz="1400">
              <a:sym typeface="Symbol" panose="05050102010706020507" pitchFamily="18" charset="2"/>
            </a:endParaRPr>
          </a:p>
          <a:p>
            <a:pPr lvl="2" eaLnBrk="1" hangingPunct="1">
              <a:buFont typeface="Symbol" panose="05050102010706020507" pitchFamily="18" charset="2"/>
              <a:buChar char="¨"/>
            </a:pPr>
            <a:r>
              <a:rPr lang="en-US" altLang="it-IT">
                <a:sym typeface="Symbol" panose="05050102010706020507" pitchFamily="18" charset="2"/>
              </a:rPr>
              <a:t>Derive equivalent items as </a:t>
            </a:r>
            <a:r>
              <a:rPr lang="en-US" altLang="it-IT" i="1">
                <a:sym typeface="Symbol" panose="05050102010706020507" pitchFamily="18" charset="2"/>
              </a:rPr>
              <a:t>closure( s</a:t>
            </a:r>
            <a:r>
              <a:rPr lang="en-US" altLang="it-IT" i="1" baseline="-25000">
                <a:sym typeface="Symbol" panose="05050102010706020507" pitchFamily="18" charset="2"/>
              </a:rPr>
              <a:t>0</a:t>
            </a:r>
            <a:r>
              <a:rPr lang="en-US" altLang="it-IT" i="1">
                <a:sym typeface="Symbol" panose="05050102010706020507" pitchFamily="18" charset="2"/>
              </a:rPr>
              <a:t> )</a:t>
            </a:r>
          </a:p>
          <a:p>
            <a:pPr lvl="1" eaLnBrk="1" hangingPunct="1">
              <a:buFontTx/>
              <a:buChar char="b"/>
            </a:pPr>
            <a:r>
              <a:rPr lang="en-US" altLang="it-IT">
                <a:sym typeface="Symbol" panose="05050102010706020507" pitchFamily="18" charset="2"/>
              </a:rPr>
              <a:t>Repeatedly compute, for each </a:t>
            </a:r>
            <a:r>
              <a:rPr lang="en-US" altLang="it-IT" i="1">
                <a:sym typeface="Symbol" panose="05050102010706020507" pitchFamily="18" charset="2"/>
              </a:rPr>
              <a:t>s</a:t>
            </a:r>
            <a:r>
              <a:rPr lang="en-US" altLang="it-IT" i="1" baseline="-25000">
                <a:sym typeface="Symbol" panose="05050102010706020507" pitchFamily="18" charset="2"/>
              </a:rPr>
              <a:t>k</a:t>
            </a:r>
            <a:r>
              <a:rPr lang="en-US" altLang="it-IT" i="1">
                <a:sym typeface="Symbol" panose="05050102010706020507" pitchFamily="18" charset="2"/>
              </a:rPr>
              <a:t>, </a:t>
            </a:r>
            <a:r>
              <a:rPr lang="en-US" altLang="it-IT">
                <a:sym typeface="Symbol" panose="05050102010706020507" pitchFamily="18" charset="2"/>
              </a:rPr>
              <a:t>and each </a:t>
            </a:r>
            <a:r>
              <a:rPr lang="en-US" altLang="it-IT" sz="1600" i="1">
                <a:sym typeface="Symbol" panose="05050102010706020507" pitchFamily="18" charset="2"/>
              </a:rPr>
              <a:t>X</a:t>
            </a:r>
            <a:r>
              <a:rPr lang="en-US" altLang="it-IT" i="1">
                <a:sym typeface="Symbol" panose="05050102010706020507" pitchFamily="18" charset="2"/>
              </a:rPr>
              <a:t>, goto(s</a:t>
            </a:r>
            <a:r>
              <a:rPr lang="en-US" altLang="it-IT" i="1" baseline="-25000">
                <a:sym typeface="Symbol" panose="05050102010706020507" pitchFamily="18" charset="2"/>
              </a:rPr>
              <a:t>k</a:t>
            </a:r>
            <a:r>
              <a:rPr lang="en-US" altLang="it-IT" i="1">
                <a:sym typeface="Symbol" panose="05050102010706020507" pitchFamily="18" charset="2"/>
              </a:rPr>
              <a:t>,</a:t>
            </a:r>
            <a:r>
              <a:rPr lang="en-US" altLang="it-IT" sz="1600" i="1">
                <a:sym typeface="Symbol" panose="05050102010706020507" pitchFamily="18" charset="2"/>
              </a:rPr>
              <a:t>X</a:t>
            </a:r>
            <a:r>
              <a:rPr lang="en-US" altLang="it-IT" i="1">
                <a:sym typeface="Symbol" panose="05050102010706020507" pitchFamily="18" charset="2"/>
              </a:rPr>
              <a:t>)</a:t>
            </a:r>
          </a:p>
          <a:p>
            <a:pPr lvl="2" eaLnBrk="1" hangingPunct="1">
              <a:buFont typeface="Symbol" panose="05050102010706020507" pitchFamily="18" charset="2"/>
              <a:buChar char="¨"/>
            </a:pPr>
            <a:r>
              <a:rPr lang="en-US" altLang="it-IT">
                <a:sym typeface="Symbol" panose="05050102010706020507" pitchFamily="18" charset="2"/>
              </a:rPr>
              <a:t>If the set is not already in the collection, add it</a:t>
            </a:r>
          </a:p>
          <a:p>
            <a:pPr lvl="2" eaLnBrk="1" hangingPunct="1">
              <a:buFont typeface="Symbol" panose="05050102010706020507" pitchFamily="18" charset="2"/>
              <a:buChar char="¨"/>
            </a:pPr>
            <a:r>
              <a:rPr lang="en-US" altLang="it-IT">
                <a:sym typeface="Symbol" panose="05050102010706020507" pitchFamily="18" charset="2"/>
              </a:rPr>
              <a:t>Record all the transitions created by </a:t>
            </a:r>
            <a:r>
              <a:rPr lang="en-US" altLang="it-IT" i="1">
                <a:sym typeface="Symbol" panose="05050102010706020507" pitchFamily="18" charset="2"/>
              </a:rPr>
              <a:t>goto( )</a:t>
            </a:r>
          </a:p>
          <a:p>
            <a:pPr lvl="1" eaLnBrk="1" hangingPunct="1">
              <a:buFontTx/>
              <a:buNone/>
            </a:pPr>
            <a:r>
              <a:rPr lang="en-US" altLang="it-IT">
                <a:sym typeface="Symbol" panose="05050102010706020507" pitchFamily="18" charset="2"/>
              </a:rPr>
              <a:t>     This eventually reaches a fixed point</a:t>
            </a:r>
          </a:p>
          <a:p>
            <a:pPr eaLnBrk="1" hangingPunct="1">
              <a:spcBef>
                <a:spcPct val="100000"/>
              </a:spcBef>
              <a:buSzTx/>
              <a:buFontTx/>
              <a:buChar char="2"/>
            </a:pPr>
            <a:r>
              <a:rPr lang="en-US" altLang="it-IT">
                <a:sym typeface="Symbol" panose="05050102010706020507" pitchFamily="18" charset="2"/>
              </a:rPr>
              <a:t>Fill in the table from the collection of sets of </a:t>
            </a:r>
            <a:r>
              <a:rPr lang="en-US" altLang="it-IT" sz="1800">
                <a:sym typeface="Symbol" panose="05050102010706020507" pitchFamily="18" charset="2"/>
              </a:rPr>
              <a:t>LR(1) </a:t>
            </a:r>
            <a:r>
              <a:rPr lang="en-US" altLang="it-IT">
                <a:sym typeface="Symbol" panose="05050102010706020507" pitchFamily="18" charset="2"/>
              </a:rPr>
              <a:t>items</a:t>
            </a:r>
          </a:p>
          <a:p>
            <a:pPr algn="r" eaLnBrk="1" hangingPunct="1">
              <a:spcBef>
                <a:spcPct val="50000"/>
              </a:spcBef>
              <a:buSzPct val="90000"/>
              <a:buFont typeface="Symbol" panose="05050102010706020507" pitchFamily="18" charset="2"/>
              <a:buNone/>
            </a:pPr>
            <a:endParaRPr lang="en-US" altLang="it-IT" sz="1800" i="1">
              <a:solidFill>
                <a:srgbClr val="FF0065"/>
              </a:solidFill>
              <a:sym typeface="Symbol" panose="05050102010706020507" pitchFamily="18" charset="2"/>
            </a:endParaRPr>
          </a:p>
        </p:txBody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AA5281E1-D7DD-4C4D-ABF4-7795ABE7FB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  <a:buFont typeface="Symbol" panose="05050102010706020507" pitchFamily="18" charset="2"/>
              <a:buNone/>
            </a:pPr>
            <a:r>
              <a:rPr lang="en-US" altLang="it-IT">
                <a:sym typeface="Symbol" panose="05050102010706020507" pitchFamily="18" charset="2"/>
              </a:rPr>
              <a:t>LR(1) Table Construction</a:t>
            </a:r>
          </a:p>
        </p:txBody>
      </p:sp>
      <p:graphicFrame>
        <p:nvGraphicFramePr>
          <p:cNvPr id="31748" name="Group 4">
            <a:extLst>
              <a:ext uri="{FF2B5EF4-FFF2-40B4-BE49-F238E27FC236}">
                <a16:creationId xmlns:a16="http://schemas.microsoft.com/office/drawing/2014/main" id="{E79C6B72-F78F-4BB5-BBAC-DF7E0C165DAF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5257800"/>
          <a:ext cx="3810000" cy="933450"/>
        </p:xfrm>
        <a:graphic>
          <a:graphicData uri="http://schemas.openxmlformats.org/drawingml/2006/table">
            <a:tbl>
              <a:tblPr/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1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57" marB="45757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57" marB="4575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57" marB="4575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57" marB="4575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1218" name="Text Box 31">
            <a:extLst>
              <a:ext uri="{FF2B5EF4-FFF2-40B4-BE49-F238E27FC236}">
                <a16:creationId xmlns:a16="http://schemas.microsoft.com/office/drawing/2014/main" id="{C301B6CE-E102-4F02-A3F4-E15407041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4800600"/>
            <a:ext cx="2590800" cy="1281113"/>
          </a:xfrm>
          <a:prstGeom prst="rect">
            <a:avLst/>
          </a:prstGeom>
          <a:solidFill>
            <a:srgbClr val="E6E6E6"/>
          </a:solidFill>
          <a:ln w="19050">
            <a:solidFill>
              <a:srgbClr val="FF0065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400">
                <a:solidFill>
                  <a:srgbClr val="FF0065"/>
                </a:solidFill>
              </a:rPr>
              <a:t>The states of the canonical collection are precisely the states of the Control DFA</a:t>
            </a:r>
          </a:p>
          <a:p>
            <a:pPr>
              <a:spcBef>
                <a:spcPct val="50000"/>
              </a:spcBef>
            </a:pPr>
            <a:r>
              <a:rPr lang="en-US" altLang="it-IT" sz="1400">
                <a:solidFill>
                  <a:srgbClr val="FF0065"/>
                </a:solidFill>
              </a:rPr>
              <a:t>The construction traces the DFA’s transitions</a:t>
            </a:r>
          </a:p>
        </p:txBody>
      </p:sp>
      <p:sp>
        <p:nvSpPr>
          <p:cNvPr id="51219" name="Text Box 32">
            <a:extLst>
              <a:ext uri="{FF2B5EF4-FFF2-40B4-BE49-F238E27FC236}">
                <a16:creationId xmlns:a16="http://schemas.microsoft.com/office/drawing/2014/main" id="{2ABBE616-1707-433B-B31B-B264A67B7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800600"/>
            <a:ext cx="5181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>
                <a:solidFill>
                  <a:srgbClr val="B025A6"/>
                </a:solidFill>
              </a:rPr>
              <a:t>Let’s build the tables for the </a:t>
            </a:r>
            <a:r>
              <a:rPr lang="en-US" altLang="it-IT" sz="1600" i="1">
                <a:solidFill>
                  <a:srgbClr val="B025A6"/>
                </a:solidFill>
              </a:rPr>
              <a:t>SheepNoise </a:t>
            </a:r>
            <a:r>
              <a:rPr lang="en-US" altLang="it-IT" sz="1600">
                <a:solidFill>
                  <a:srgbClr val="B025A6"/>
                </a:solidFill>
              </a:rPr>
              <a:t>grammar</a:t>
            </a:r>
          </a:p>
        </p:txBody>
      </p:sp>
      <p:sp>
        <p:nvSpPr>
          <p:cNvPr id="31777" name="Rectangle 33">
            <a:extLst>
              <a:ext uri="{FF2B5EF4-FFF2-40B4-BE49-F238E27FC236}">
                <a16:creationId xmlns:a16="http://schemas.microsoft.com/office/drawing/2014/main" id="{AC09FDC7-94D4-4A6E-A257-12C8BDD97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600575"/>
            <a:ext cx="5715000" cy="1676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endParaRPr lang="en-GB" altLang="it-IT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2000"/>
                                        <p:tgtEl>
                                          <p:spTgt spid="317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7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Footer Placeholder 3">
            <a:extLst>
              <a:ext uri="{FF2B5EF4-FFF2-40B4-BE49-F238E27FC236}">
                <a16:creationId xmlns:a16="http://schemas.microsoft.com/office/drawing/2014/main" id="{69C6BD5E-3CCC-4BCD-90AD-655434ADB4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3250" name="Slide Number Placeholder 4">
            <a:extLst>
              <a:ext uri="{FF2B5EF4-FFF2-40B4-BE49-F238E27FC236}">
                <a16:creationId xmlns:a16="http://schemas.microsoft.com/office/drawing/2014/main" id="{D66D7D80-3559-4D61-9C12-D70080226C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A5C60F9-9AAE-472E-A28B-E8C3DF95D0C6}" type="slidenum">
              <a:rPr lang="en-US" altLang="it-IT"/>
              <a:pPr/>
              <a:t>21</a:t>
            </a:fld>
            <a:endParaRPr lang="en-US" altLang="it-IT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606BA333-EAD1-4164-9442-CFA7882CAC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</a:pPr>
            <a:r>
              <a:rPr lang="en-US" altLang="it-IT">
                <a:sym typeface="Symbol" panose="05050102010706020507" pitchFamily="18" charset="2"/>
              </a:rPr>
              <a:t>Computing Closures</a:t>
            </a:r>
          </a:p>
        </p:txBody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C51F23C8-4459-4643-B19C-029C29A031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  <a:buFont typeface="Times" panose="02020603050405020304" pitchFamily="18" charset="0"/>
              <a:buNone/>
            </a:pPr>
            <a:r>
              <a:rPr lang="en-US" altLang="it-IT" i="1">
                <a:sym typeface="Symbol" panose="05050102010706020507" pitchFamily="18" charset="2"/>
              </a:rPr>
              <a:t>Closure(s) </a:t>
            </a:r>
            <a:r>
              <a:rPr lang="en-US" altLang="it-IT">
                <a:sym typeface="Symbol" panose="05050102010706020507" pitchFamily="18" charset="2"/>
              </a:rPr>
              <a:t> adds all the items implied by items already in </a:t>
            </a:r>
            <a:r>
              <a:rPr lang="en-US" altLang="it-IT" i="1">
                <a:sym typeface="Symbol" panose="05050102010706020507" pitchFamily="18" charset="2"/>
              </a:rPr>
              <a:t>s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it-IT">
                <a:sym typeface="Symbol" panose="05050102010706020507" pitchFamily="18" charset="2"/>
              </a:rPr>
              <a:t>Any item [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 sz="1800" i="1">
                <a:sym typeface="Symbol" panose="05050102010706020507" pitchFamily="18" charset="2"/>
              </a:rPr>
              <a:t></a:t>
            </a:r>
            <a:r>
              <a:rPr lang="en-US" altLang="it-IT">
                <a:sym typeface="Symbol" panose="05050102010706020507" pitchFamily="18" charset="2"/>
              </a:rPr>
              <a:t></a:t>
            </a:r>
            <a:r>
              <a:rPr lang="en-US" altLang="it-IT" i="1">
                <a:sym typeface="Symbol" panose="05050102010706020507" pitchFamily="18" charset="2"/>
              </a:rPr>
              <a:t>B</a:t>
            </a:r>
            <a:r>
              <a:rPr lang="en-US" altLang="it-IT">
                <a:sym typeface="Symbol" panose="05050102010706020507" pitchFamily="18" charset="2"/>
              </a:rPr>
              <a:t>,</a:t>
            </a:r>
            <a:r>
              <a:rPr lang="en-US" altLang="it-IT" u="sng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] implies [</a:t>
            </a:r>
            <a:r>
              <a:rPr lang="en-US" altLang="it-IT" i="1">
                <a:sym typeface="Symbol" panose="05050102010706020507" pitchFamily="18" charset="2"/>
              </a:rPr>
              <a:t>B</a:t>
            </a:r>
            <a:r>
              <a:rPr lang="en-US" altLang="it-IT" sz="1800">
                <a:sym typeface="Symbol" panose="05050102010706020507" pitchFamily="18" charset="2"/>
              </a:rPr>
              <a:t></a:t>
            </a:r>
            <a:r>
              <a:rPr lang="en-US" altLang="it-IT">
                <a:sym typeface="Symbol" panose="05050102010706020507" pitchFamily="18" charset="2"/>
              </a:rPr>
              <a:t>,</a:t>
            </a:r>
            <a:r>
              <a:rPr lang="en-US" altLang="it-IT" i="1">
                <a:sym typeface="Symbol" panose="05050102010706020507" pitchFamily="18" charset="2"/>
              </a:rPr>
              <a:t>x</a:t>
            </a:r>
            <a:r>
              <a:rPr lang="en-US" altLang="it-IT">
                <a:sym typeface="Symbol" panose="05050102010706020507" pitchFamily="18" charset="2"/>
              </a:rPr>
              <a:t>] for each production </a:t>
            </a:r>
          </a:p>
          <a:p>
            <a:pPr eaLnBrk="1" hangingPunct="1">
              <a:spcBef>
                <a:spcPct val="1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	with </a:t>
            </a:r>
            <a:r>
              <a:rPr lang="en-US" altLang="it-IT" i="1">
                <a:sym typeface="Symbol" panose="05050102010706020507" pitchFamily="18" charset="2"/>
              </a:rPr>
              <a:t>B</a:t>
            </a:r>
            <a:r>
              <a:rPr lang="en-US" altLang="it-IT">
                <a:sym typeface="Symbol" panose="05050102010706020507" pitchFamily="18" charset="2"/>
              </a:rPr>
              <a:t> on the </a:t>
            </a:r>
            <a:r>
              <a:rPr lang="en-US" altLang="it-IT" i="1">
                <a:sym typeface="Symbol" panose="05050102010706020507" pitchFamily="18" charset="2"/>
              </a:rPr>
              <a:t>lhs,  </a:t>
            </a:r>
            <a:r>
              <a:rPr lang="en-US" altLang="it-IT">
                <a:sym typeface="Symbol" panose="05050102010706020507" pitchFamily="18" charset="2"/>
              </a:rPr>
              <a:t>and each </a:t>
            </a:r>
            <a:r>
              <a:rPr lang="en-US" altLang="it-IT" i="1">
                <a:sym typeface="Symbol" panose="05050102010706020507" pitchFamily="18" charset="2"/>
              </a:rPr>
              <a:t>x </a:t>
            </a:r>
            <a:r>
              <a:rPr lang="en-US" altLang="it-IT" sz="1600">
                <a:sym typeface="Symbol" panose="05050102010706020507" pitchFamily="18" charset="2"/>
              </a:rPr>
              <a:t></a:t>
            </a:r>
            <a:r>
              <a:rPr lang="en-US" altLang="it-IT">
                <a:sym typeface="Symbol" panose="05050102010706020507" pitchFamily="18" charset="2"/>
              </a:rPr>
              <a:t> F</a:t>
            </a:r>
            <a:r>
              <a:rPr lang="en-US" altLang="it-IT" sz="1800">
                <a:sym typeface="Symbol" panose="05050102010706020507" pitchFamily="18" charset="2"/>
              </a:rPr>
              <a:t>IRST</a:t>
            </a:r>
            <a:r>
              <a:rPr lang="en-US" altLang="it-IT">
                <a:sym typeface="Symbol" panose="05050102010706020507" pitchFamily="18" charset="2"/>
              </a:rPr>
              <a:t>(</a:t>
            </a:r>
            <a:r>
              <a:rPr lang="en-US" altLang="it-IT" u="sng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)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it-IT">
                <a:sym typeface="Symbol" panose="05050102010706020507" pitchFamily="18" charset="2"/>
              </a:rPr>
              <a:t>Since </a:t>
            </a:r>
            <a:r>
              <a:rPr lang="en-US" altLang="it-IT">
                <a:latin typeface="Symbol" panose="05050102010706020507" pitchFamily="18" charset="2"/>
                <a:sym typeface="Symbol" panose="05050102010706020507" pitchFamily="18" charset="2"/>
              </a:rPr>
              <a:t></a:t>
            </a:r>
            <a:r>
              <a:rPr lang="en-US" altLang="it-IT" i="1">
                <a:sym typeface="Symbol" panose="05050102010706020507" pitchFamily="18" charset="2"/>
              </a:rPr>
              <a:t>B</a:t>
            </a:r>
            <a:r>
              <a:rPr lang="en-US" altLang="it-IT">
                <a:latin typeface="Symbol" panose="05050102010706020507" pitchFamily="18" charset="2"/>
                <a:sym typeface="Symbol" panose="05050102010706020507" pitchFamily="18" charset="2"/>
              </a:rPr>
              <a:t></a:t>
            </a:r>
            <a:r>
              <a:rPr lang="en-US" altLang="it-IT">
                <a:sym typeface="Symbol" panose="05050102010706020507" pitchFamily="18" charset="2"/>
              </a:rPr>
              <a:t> is valid, any way to derive </a:t>
            </a:r>
            <a:r>
              <a:rPr lang="en-US" altLang="it-IT">
                <a:latin typeface="Symbol" panose="05050102010706020507" pitchFamily="18" charset="2"/>
                <a:sym typeface="Symbol" panose="05050102010706020507" pitchFamily="18" charset="2"/>
              </a:rPr>
              <a:t></a:t>
            </a:r>
            <a:r>
              <a:rPr lang="en-US" altLang="it-IT" i="1">
                <a:sym typeface="Symbol" panose="05050102010706020507" pitchFamily="18" charset="2"/>
              </a:rPr>
              <a:t>B</a:t>
            </a:r>
            <a:r>
              <a:rPr lang="en-US" altLang="it-IT">
                <a:latin typeface="Symbol" panose="05050102010706020507" pitchFamily="18" charset="2"/>
                <a:sym typeface="Symbol" panose="05050102010706020507" pitchFamily="18" charset="2"/>
              </a:rPr>
              <a:t></a:t>
            </a:r>
            <a:r>
              <a:rPr lang="en-US" altLang="it-IT">
                <a:sym typeface="Symbol" panose="05050102010706020507" pitchFamily="18" charset="2"/>
              </a:rPr>
              <a:t> is valid, too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The algorithm</a:t>
            </a:r>
          </a:p>
        </p:txBody>
      </p:sp>
      <p:sp>
        <p:nvSpPr>
          <p:cNvPr id="53253" name="Text Box 4">
            <a:extLst>
              <a:ext uri="{FF2B5EF4-FFF2-40B4-BE49-F238E27FC236}">
                <a16:creationId xmlns:a16="http://schemas.microsoft.com/office/drawing/2014/main" id="{F7F50702-9A45-45BD-8ADE-7DD0ECB241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635375"/>
            <a:ext cx="4572000" cy="2093913"/>
          </a:xfrm>
          <a:prstGeom prst="rect">
            <a:avLst/>
          </a:prstGeom>
          <a:noFill/>
          <a:ln w="19050">
            <a:solidFill>
              <a:srgbClr val="B025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i="1"/>
              <a:t>Closure( s )</a:t>
            </a:r>
          </a:p>
          <a:p>
            <a:r>
              <a:rPr lang="en-US" altLang="it-IT" i="1"/>
              <a:t>  while ( s is still changing )</a:t>
            </a:r>
          </a:p>
          <a:p>
            <a:r>
              <a:rPr lang="en-US" altLang="it-IT" i="1"/>
              <a:t>     </a:t>
            </a:r>
            <a:r>
              <a:rPr lang="en-US" altLang="it-IT">
                <a:sym typeface="Symbol" panose="05050102010706020507" pitchFamily="18" charset="2"/>
              </a:rPr>
              <a:t></a:t>
            </a:r>
            <a:r>
              <a:rPr lang="en-US" altLang="it-IT" i="1">
                <a:sym typeface="Symbol" panose="05050102010706020507" pitchFamily="18" charset="2"/>
              </a:rPr>
              <a:t> items </a:t>
            </a:r>
            <a:r>
              <a:rPr lang="en-US" altLang="it-IT">
                <a:sym typeface="Symbol" panose="05050102010706020507" pitchFamily="18" charset="2"/>
              </a:rPr>
              <a:t>[</a:t>
            </a:r>
            <a:r>
              <a:rPr lang="en-US" altLang="it-IT" i="1">
                <a:sym typeface="Symbol" panose="05050102010706020507" pitchFamily="18" charset="2"/>
              </a:rPr>
              <a:t>A </a:t>
            </a:r>
            <a:r>
              <a:rPr lang="en-US" altLang="it-IT">
                <a:sym typeface="Symbol" panose="05050102010706020507" pitchFamily="18" charset="2"/>
              </a:rPr>
              <a:t> </a:t>
            </a:r>
            <a:r>
              <a:rPr lang="en-US" altLang="it-IT" sz="1000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•</a:t>
            </a:r>
            <a:r>
              <a:rPr lang="en-US" altLang="it-IT" i="1">
                <a:sym typeface="Symbol" panose="05050102010706020507" pitchFamily="18" charset="2"/>
              </a:rPr>
              <a:t>B</a:t>
            </a:r>
            <a:r>
              <a:rPr lang="en-US" altLang="it-IT">
                <a:sym typeface="Symbol" panose="05050102010706020507" pitchFamily="18" charset="2"/>
              </a:rPr>
              <a:t>,</a:t>
            </a:r>
            <a:r>
              <a:rPr lang="en-US" altLang="it-IT" u="sng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]  </a:t>
            </a:r>
            <a:r>
              <a:rPr lang="en-US" altLang="it-IT" i="1">
                <a:sym typeface="Symbol" panose="05050102010706020507" pitchFamily="18" charset="2"/>
              </a:rPr>
              <a:t>s</a:t>
            </a:r>
          </a:p>
          <a:p>
            <a:r>
              <a:rPr lang="en-US" altLang="it-IT" i="1">
                <a:sym typeface="Symbol" panose="05050102010706020507" pitchFamily="18" charset="2"/>
              </a:rPr>
              <a:t>        </a:t>
            </a:r>
            <a:r>
              <a:rPr lang="en-US" altLang="it-IT">
                <a:sym typeface="Symbol" panose="05050102010706020507" pitchFamily="18" charset="2"/>
              </a:rPr>
              <a:t> </a:t>
            </a:r>
            <a:r>
              <a:rPr lang="en-US" altLang="it-IT" i="1">
                <a:sym typeface="Symbol" panose="05050102010706020507" pitchFamily="18" charset="2"/>
              </a:rPr>
              <a:t>productions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B </a:t>
            </a:r>
            <a:r>
              <a:rPr lang="en-US" altLang="it-IT">
                <a:sym typeface="Symbol" panose="05050102010706020507" pitchFamily="18" charset="2"/>
              </a:rPr>
              <a:t> </a:t>
            </a:r>
            <a:r>
              <a:rPr lang="en-US" altLang="it-IT" i="1">
                <a:sym typeface="Symbol" panose="05050102010706020507" pitchFamily="18" charset="2"/>
              </a:rPr>
              <a:t>  </a:t>
            </a:r>
            <a:r>
              <a:rPr lang="en-US" altLang="it-IT">
                <a:sym typeface="Symbol" panose="05050102010706020507" pitchFamily="18" charset="2"/>
              </a:rPr>
              <a:t> </a:t>
            </a:r>
            <a:r>
              <a:rPr lang="en-US" altLang="it-IT" i="1">
                <a:sym typeface="Symbol" panose="05050102010706020507" pitchFamily="18" charset="2"/>
              </a:rPr>
              <a:t>P</a:t>
            </a:r>
          </a:p>
          <a:p>
            <a:r>
              <a:rPr lang="en-US" altLang="it-IT">
                <a:sym typeface="Symbol" panose="05050102010706020507" pitchFamily="18" charset="2"/>
              </a:rPr>
              <a:t>           </a:t>
            </a:r>
            <a:r>
              <a:rPr lang="en-US" altLang="it-IT" u="sng">
                <a:sym typeface="Symbol" panose="05050102010706020507" pitchFamily="18" charset="2"/>
              </a:rPr>
              <a:t>b</a:t>
            </a:r>
            <a:r>
              <a:rPr lang="en-US" altLang="it-IT">
                <a:sym typeface="Symbol" panose="05050102010706020507" pitchFamily="18" charset="2"/>
              </a:rPr>
              <a:t>   F</a:t>
            </a:r>
            <a:r>
              <a:rPr lang="en-US" altLang="it-IT" sz="1400" b="1">
                <a:sym typeface="Symbol" panose="05050102010706020507" pitchFamily="18" charset="2"/>
              </a:rPr>
              <a:t>IRST</a:t>
            </a:r>
            <a:r>
              <a:rPr lang="en-US" altLang="it-IT">
                <a:sym typeface="Symbol" panose="05050102010706020507" pitchFamily="18" charset="2"/>
              </a:rPr>
              <a:t>(</a:t>
            </a:r>
            <a:r>
              <a:rPr lang="en-US" altLang="it-IT" u="sng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) 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//  might be </a:t>
            </a:r>
            <a:r>
              <a:rPr lang="en-US" altLang="it-IT" i="1">
                <a:solidFill>
                  <a:srgbClr val="FF0065"/>
                </a:solidFill>
                <a:sym typeface="Symbol" panose="05050102010706020507" pitchFamily="18" charset="2"/>
              </a:rPr>
              <a:t></a:t>
            </a:r>
            <a:endParaRPr lang="en-US" altLang="it-IT">
              <a:solidFill>
                <a:srgbClr val="FF0000"/>
              </a:solidFill>
              <a:sym typeface="Symbol" panose="05050102010706020507" pitchFamily="18" charset="2"/>
            </a:endParaRPr>
          </a:p>
          <a:p>
            <a:r>
              <a:rPr lang="en-US" altLang="it-IT">
                <a:sym typeface="Symbol" panose="05050102010706020507" pitchFamily="18" charset="2"/>
              </a:rPr>
              <a:t>            </a:t>
            </a:r>
            <a:r>
              <a:rPr lang="en-US" altLang="it-IT" i="1">
                <a:sym typeface="Symbol" panose="05050102010706020507" pitchFamily="18" charset="2"/>
              </a:rPr>
              <a:t>if</a:t>
            </a:r>
            <a:r>
              <a:rPr lang="en-US" altLang="it-IT">
                <a:sym typeface="Symbol" panose="05050102010706020507" pitchFamily="18" charset="2"/>
              </a:rPr>
              <a:t>  [</a:t>
            </a:r>
            <a:r>
              <a:rPr lang="en-US" altLang="it-IT" i="1">
                <a:sym typeface="Symbol" panose="05050102010706020507" pitchFamily="18" charset="2"/>
              </a:rPr>
              <a:t>B</a:t>
            </a:r>
            <a:r>
              <a:rPr lang="en-US" altLang="it-IT">
                <a:sym typeface="Symbol" panose="05050102010706020507" pitchFamily="18" charset="2"/>
              </a:rPr>
              <a:t> • </a:t>
            </a:r>
            <a:r>
              <a:rPr lang="en-US" altLang="it-IT" sz="2000">
                <a:sym typeface="Symbol" panose="05050102010706020507" pitchFamily="18" charset="2"/>
              </a:rPr>
              <a:t></a:t>
            </a:r>
            <a:r>
              <a:rPr lang="en-US" altLang="it-IT">
                <a:sym typeface="Symbol" panose="05050102010706020507" pitchFamily="18" charset="2"/>
              </a:rPr>
              <a:t>,</a:t>
            </a:r>
            <a:r>
              <a:rPr lang="en-US" altLang="it-IT" u="sng">
                <a:sym typeface="Symbol" panose="05050102010706020507" pitchFamily="18" charset="2"/>
              </a:rPr>
              <a:t>b</a:t>
            </a:r>
            <a:r>
              <a:rPr lang="en-US" altLang="it-IT">
                <a:sym typeface="Symbol" panose="05050102010706020507" pitchFamily="18" charset="2"/>
              </a:rPr>
              <a:t>]  </a:t>
            </a:r>
            <a:r>
              <a:rPr lang="en-US" altLang="it-IT" i="1">
                <a:sym typeface="Symbol" panose="05050102010706020507" pitchFamily="18" charset="2"/>
              </a:rPr>
              <a:t>s</a:t>
            </a:r>
          </a:p>
          <a:p>
            <a:r>
              <a:rPr lang="en-US" altLang="it-IT" i="1">
                <a:sym typeface="Symbol" panose="05050102010706020507" pitchFamily="18" charset="2"/>
              </a:rPr>
              <a:t>                then s  s </a:t>
            </a:r>
            <a:r>
              <a:rPr lang="en-US" altLang="it-IT">
                <a:sym typeface="Symbol" panose="05050102010706020507" pitchFamily="18" charset="2"/>
              </a:rPr>
              <a:t> {</a:t>
            </a:r>
            <a:r>
              <a:rPr lang="en-US" altLang="it-IT" sz="1400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[</a:t>
            </a:r>
            <a:r>
              <a:rPr lang="en-US" altLang="it-IT" i="1">
                <a:sym typeface="Symbol" panose="05050102010706020507" pitchFamily="18" charset="2"/>
              </a:rPr>
              <a:t>B</a:t>
            </a:r>
            <a:r>
              <a:rPr lang="en-US" altLang="it-IT">
                <a:sym typeface="Symbol" panose="05050102010706020507" pitchFamily="18" charset="2"/>
              </a:rPr>
              <a:t> • </a:t>
            </a:r>
            <a:r>
              <a:rPr lang="en-US" altLang="it-IT" sz="2000">
                <a:sym typeface="Symbol" panose="05050102010706020507" pitchFamily="18" charset="2"/>
              </a:rPr>
              <a:t></a:t>
            </a:r>
            <a:r>
              <a:rPr lang="en-US" altLang="it-IT">
                <a:sym typeface="Symbol" panose="05050102010706020507" pitchFamily="18" charset="2"/>
              </a:rPr>
              <a:t>,</a:t>
            </a:r>
            <a:r>
              <a:rPr lang="en-US" altLang="it-IT" u="sng">
                <a:sym typeface="Symbol" panose="05050102010706020507" pitchFamily="18" charset="2"/>
              </a:rPr>
              <a:t>b</a:t>
            </a:r>
            <a:r>
              <a:rPr lang="en-US" altLang="it-IT">
                <a:sym typeface="Symbol" panose="05050102010706020507" pitchFamily="18" charset="2"/>
              </a:rPr>
              <a:t>]</a:t>
            </a:r>
            <a:r>
              <a:rPr lang="en-US" altLang="it-IT" sz="1400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}</a:t>
            </a:r>
            <a:endParaRPr lang="en-US" altLang="it-IT" i="1">
              <a:sym typeface="Symbol" panose="05050102010706020507" pitchFamily="18" charset="2"/>
            </a:endParaRPr>
          </a:p>
        </p:txBody>
      </p:sp>
      <p:sp>
        <p:nvSpPr>
          <p:cNvPr id="53254" name="Text Box 5">
            <a:extLst>
              <a:ext uri="{FF2B5EF4-FFF2-40B4-BE49-F238E27FC236}">
                <a16:creationId xmlns:a16="http://schemas.microsoft.com/office/drawing/2014/main" id="{9625375F-D2FD-46CD-91A1-A598982DE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3657600"/>
            <a:ext cx="3352800" cy="1449388"/>
          </a:xfrm>
          <a:prstGeom prst="rect">
            <a:avLst/>
          </a:prstGeom>
          <a:noFill/>
          <a:ln w="19050">
            <a:solidFill>
              <a:srgbClr val="B025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2286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30000"/>
              </a:spcBef>
              <a:buClr>
                <a:srgbClr val="003C75"/>
              </a:buClr>
              <a:buSzPct val="120000"/>
              <a:buFont typeface="Symbol" panose="05050102010706020507" pitchFamily="18" charset="2"/>
              <a:buChar char=""/>
            </a:pPr>
            <a:r>
              <a:rPr lang="en-US" altLang="it-IT"/>
              <a:t>Classic fixed-point method</a:t>
            </a:r>
          </a:p>
          <a:p>
            <a:pPr>
              <a:spcBef>
                <a:spcPct val="30000"/>
              </a:spcBef>
              <a:buClr>
                <a:srgbClr val="003C75"/>
              </a:buClr>
              <a:buSzPct val="120000"/>
              <a:buFont typeface="Symbol" panose="05050102010706020507" pitchFamily="18" charset="2"/>
              <a:buChar char=""/>
            </a:pPr>
            <a:r>
              <a:rPr lang="en-US" altLang="it-IT"/>
              <a:t>Halts because </a:t>
            </a:r>
            <a:r>
              <a:rPr lang="en-US" altLang="it-IT" i="1"/>
              <a:t>s </a:t>
            </a:r>
            <a:r>
              <a:rPr lang="en-US" altLang="it-IT">
                <a:sym typeface="Symbol" panose="05050102010706020507" pitchFamily="18" charset="2"/>
              </a:rPr>
              <a:t> I</a:t>
            </a:r>
            <a:r>
              <a:rPr lang="en-US" altLang="it-IT" sz="1400" b="1">
                <a:sym typeface="Symbol" panose="05050102010706020507" pitchFamily="18" charset="2"/>
              </a:rPr>
              <a:t>TEMS</a:t>
            </a:r>
            <a:endParaRPr lang="en-US" altLang="it-IT"/>
          </a:p>
          <a:p>
            <a:pPr>
              <a:spcBef>
                <a:spcPct val="30000"/>
              </a:spcBef>
              <a:buClr>
                <a:srgbClr val="003C75"/>
              </a:buClr>
              <a:buSzPct val="120000"/>
              <a:buFont typeface="Symbol" panose="05050102010706020507" pitchFamily="18" charset="2"/>
              <a:buChar char=""/>
            </a:pPr>
            <a:r>
              <a:rPr lang="en-US" altLang="it-IT"/>
              <a:t>Worklist version is faster</a:t>
            </a:r>
          </a:p>
          <a:p>
            <a:pPr>
              <a:spcBef>
                <a:spcPct val="30000"/>
              </a:spcBef>
              <a:buClr>
                <a:srgbClr val="003C75"/>
              </a:buClr>
              <a:buSzPct val="120000"/>
              <a:buFont typeface="Symbol" panose="05050102010706020507" pitchFamily="18" charset="2"/>
              <a:buChar char=""/>
            </a:pPr>
            <a:r>
              <a:rPr lang="en-US" altLang="it-IT" i="1"/>
              <a:t>Closure “fills out” a state</a:t>
            </a:r>
            <a:endParaRPr lang="en-US" altLang="it-IT"/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0B3D869C-5AD9-4B39-9CEB-39D275F33770}"/>
              </a:ext>
            </a:extLst>
          </p:cNvPr>
          <p:cNvGrpSpPr>
            <a:grpSpLocks/>
          </p:cNvGrpSpPr>
          <p:nvPr/>
        </p:nvGrpSpPr>
        <p:grpSpPr bwMode="auto">
          <a:xfrm>
            <a:off x="3614738" y="5230813"/>
            <a:ext cx="4310062" cy="1246187"/>
            <a:chOff x="3539067" y="5129389"/>
            <a:chExt cx="4309533" cy="124658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8FDF06E-0917-42E4-983A-71C573D87B5D}"/>
                </a:ext>
              </a:extLst>
            </p:cNvPr>
            <p:cNvSpPr txBox="1"/>
            <p:nvPr/>
          </p:nvSpPr>
          <p:spPr>
            <a:xfrm>
              <a:off x="6096215" y="5791588"/>
              <a:ext cx="1752385" cy="5843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>
              <a:spAutoFit/>
            </a:bodyPr>
            <a:lstStyle/>
            <a:p>
              <a:pPr algn="ctr" eaLnBrk="0" hangingPunct="0">
                <a:defRPr/>
              </a:pPr>
              <a:r>
                <a:rPr lang="en-US" sz="1600" dirty="0" err="1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Lookaheads</a:t>
              </a:r>
              <a:r>
                <a:rPr lang="en-US" sz="160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 are generated here</a:t>
              </a: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84F694B-F58E-4370-B207-90698689DE07}"/>
                </a:ext>
              </a:extLst>
            </p:cNvPr>
            <p:cNvSpPr/>
            <p:nvPr/>
          </p:nvSpPr>
          <p:spPr bwMode="auto">
            <a:xfrm>
              <a:off x="3539067" y="5129389"/>
              <a:ext cx="2557148" cy="805120"/>
            </a:xfrm>
            <a:custGeom>
              <a:avLst/>
              <a:gdLst>
                <a:gd name="connsiteX0" fmla="*/ 2556933 w 2556933"/>
                <a:gd name="connsiteY0" fmla="*/ 805744 h 805744"/>
                <a:gd name="connsiteX1" fmla="*/ 1811866 w 2556933"/>
                <a:gd name="connsiteY1" fmla="*/ 458611 h 805744"/>
                <a:gd name="connsiteX2" fmla="*/ 1871133 w 2556933"/>
                <a:gd name="connsiteY2" fmla="*/ 678744 h 805744"/>
                <a:gd name="connsiteX3" fmla="*/ 1126066 w 2556933"/>
                <a:gd name="connsiteY3" fmla="*/ 111478 h 805744"/>
                <a:gd name="connsiteX4" fmla="*/ 0 w 2556933"/>
                <a:gd name="connsiteY4" fmla="*/ 9878 h 805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6933" h="805744">
                  <a:moveTo>
                    <a:pt x="2556933" y="805744"/>
                  </a:moveTo>
                  <a:cubicBezTo>
                    <a:pt x="2241549" y="642761"/>
                    <a:pt x="1926166" y="479778"/>
                    <a:pt x="1811866" y="458611"/>
                  </a:cubicBezTo>
                  <a:cubicBezTo>
                    <a:pt x="1697566" y="437444"/>
                    <a:pt x="1985433" y="736600"/>
                    <a:pt x="1871133" y="678744"/>
                  </a:cubicBezTo>
                  <a:cubicBezTo>
                    <a:pt x="1756833" y="620889"/>
                    <a:pt x="1437921" y="222956"/>
                    <a:pt x="1126066" y="111478"/>
                  </a:cubicBezTo>
                  <a:cubicBezTo>
                    <a:pt x="814211" y="0"/>
                    <a:pt x="0" y="9878"/>
                    <a:pt x="0" y="9878"/>
                  </a:cubicBezTo>
                </a:path>
              </a:pathLst>
            </a:custGeom>
            <a:noFill/>
            <a:ln w="190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Footer Placeholder 3">
            <a:extLst>
              <a:ext uri="{FF2B5EF4-FFF2-40B4-BE49-F238E27FC236}">
                <a16:creationId xmlns:a16="http://schemas.microsoft.com/office/drawing/2014/main" id="{619C81FF-419B-488D-9EA9-F3D272C1A4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5298" name="Slide Number Placeholder 4">
            <a:extLst>
              <a:ext uri="{FF2B5EF4-FFF2-40B4-BE49-F238E27FC236}">
                <a16:creationId xmlns:a16="http://schemas.microsoft.com/office/drawing/2014/main" id="{282B97F2-DC3C-425B-9CAC-3486DFF5B2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80CA064-5C23-4062-BED9-31C6A9E12E76}" type="slidenum">
              <a:rPr lang="en-US" altLang="it-IT"/>
              <a:pPr/>
              <a:t>22</a:t>
            </a:fld>
            <a:endParaRPr lang="en-US" altLang="it-IT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8A74F5E9-1394-4A64-96F7-A4ACB58E2D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00000"/>
              </a:spcBef>
            </a:pPr>
            <a:r>
              <a:rPr lang="en-US" altLang="it-IT">
                <a:sym typeface="Symbol" panose="05050102010706020507" pitchFamily="18" charset="2"/>
              </a:rPr>
              <a:t>Example From SheepNoise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A70EA0A1-D310-42C5-95C5-E1756A493E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200000"/>
              </a:spcBef>
              <a:buFont typeface="Times" panose="02020603050405020304" pitchFamily="18" charset="0"/>
              <a:buNone/>
            </a:pPr>
            <a:r>
              <a:rPr lang="en-US" altLang="it-IT" sz="1600">
                <a:sym typeface="Symbol" panose="05050102010706020507" pitchFamily="18" charset="2"/>
              </a:rPr>
              <a:t>Initial step builds the item [</a:t>
            </a:r>
            <a:r>
              <a:rPr lang="en-US" altLang="it-IT" sz="1600" i="1">
                <a:sym typeface="Symbol" panose="05050102010706020507" pitchFamily="18" charset="2"/>
              </a:rPr>
              <a:t>Goal•SheepNoise,</a:t>
            </a:r>
            <a:r>
              <a:rPr lang="en-US" altLang="it-IT" sz="1400">
                <a:sym typeface="Symbol" panose="05050102010706020507" pitchFamily="18" charset="2"/>
              </a:rPr>
              <a:t>EOF</a:t>
            </a:r>
            <a:r>
              <a:rPr lang="en-US" altLang="it-IT" sz="1600">
                <a:sym typeface="Symbol" panose="05050102010706020507" pitchFamily="18" charset="2"/>
              </a:rPr>
              <a:t>]</a:t>
            </a:r>
          </a:p>
          <a:p>
            <a:pPr eaLnBrk="1" hangingPunct="1">
              <a:spcBef>
                <a:spcPct val="10000"/>
              </a:spcBef>
              <a:buFont typeface="Times" panose="02020603050405020304" pitchFamily="18" charset="0"/>
              <a:buNone/>
            </a:pPr>
            <a:r>
              <a:rPr lang="en-US" altLang="it-IT" sz="1600">
                <a:sym typeface="Symbol" panose="05050102010706020507" pitchFamily="18" charset="2"/>
              </a:rPr>
              <a:t>and takes its </a:t>
            </a:r>
            <a:r>
              <a:rPr lang="en-US" altLang="it-IT" sz="1600" i="1">
                <a:sym typeface="Symbol" panose="05050102010706020507" pitchFamily="18" charset="2"/>
              </a:rPr>
              <a:t>closure( )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 sz="1600" i="1">
                <a:sym typeface="Symbol" panose="05050102010706020507" pitchFamily="18" charset="2"/>
              </a:rPr>
              <a:t>Closure( </a:t>
            </a:r>
            <a:r>
              <a:rPr lang="en-US" altLang="it-IT" sz="1600">
                <a:sym typeface="Symbol" panose="05050102010706020507" pitchFamily="18" charset="2"/>
              </a:rPr>
              <a:t>[</a:t>
            </a:r>
            <a:r>
              <a:rPr lang="en-US" altLang="it-IT" sz="1600" i="1">
                <a:sym typeface="Symbol" panose="05050102010706020507" pitchFamily="18" charset="2"/>
              </a:rPr>
              <a:t>Goal•SheepNoise,</a:t>
            </a:r>
            <a:r>
              <a:rPr lang="en-US" altLang="it-IT" sz="1400">
                <a:sym typeface="Symbol" panose="05050102010706020507" pitchFamily="18" charset="2"/>
              </a:rPr>
              <a:t>EOF</a:t>
            </a:r>
            <a:r>
              <a:rPr lang="en-US" altLang="it-IT" sz="1600">
                <a:sym typeface="Symbol" panose="05050102010706020507" pitchFamily="18" charset="2"/>
              </a:rPr>
              <a:t>] </a:t>
            </a:r>
            <a:r>
              <a:rPr lang="en-US" altLang="it-IT" sz="1600" i="1">
                <a:sym typeface="Symbol" panose="05050102010706020507" pitchFamily="18" charset="2"/>
              </a:rPr>
              <a:t>)</a:t>
            </a:r>
          </a:p>
          <a:p>
            <a:pPr eaLnBrk="1" hangingPunct="1">
              <a:spcBef>
                <a:spcPct val="950000"/>
              </a:spcBef>
              <a:buFont typeface="Times" panose="02020603050405020304" pitchFamily="18" charset="0"/>
              <a:buNone/>
            </a:pPr>
            <a:r>
              <a:rPr lang="en-US" altLang="it-IT" sz="1600">
                <a:sym typeface="Symbol" panose="05050102010706020507" pitchFamily="18" charset="2"/>
              </a:rPr>
              <a:t>So, </a:t>
            </a:r>
            <a:r>
              <a:rPr lang="en-US" altLang="it-IT" sz="1600" i="1">
                <a:sym typeface="Symbol" panose="05050102010706020507" pitchFamily="18" charset="2"/>
              </a:rPr>
              <a:t>S</a:t>
            </a:r>
            <a:r>
              <a:rPr lang="en-US" altLang="it-IT" sz="1600" i="1" baseline="-25000">
                <a:sym typeface="Symbol" panose="05050102010706020507" pitchFamily="18" charset="2"/>
              </a:rPr>
              <a:t>0</a:t>
            </a:r>
            <a:r>
              <a:rPr lang="en-US" altLang="it-IT" sz="1600" i="1">
                <a:sym typeface="Symbol" panose="05050102010706020507" pitchFamily="18" charset="2"/>
              </a:rPr>
              <a:t> </a:t>
            </a:r>
            <a:r>
              <a:rPr lang="en-US" altLang="it-IT" sz="1600">
                <a:sym typeface="Symbol" panose="05050102010706020507" pitchFamily="18" charset="2"/>
              </a:rPr>
              <a:t> is </a:t>
            </a:r>
          </a:p>
          <a:p>
            <a:pPr lvl="1" eaLnBrk="1" hangingPunct="1">
              <a:spcBef>
                <a:spcPct val="5000"/>
              </a:spcBef>
              <a:buFontTx/>
              <a:buNone/>
            </a:pPr>
            <a:r>
              <a:rPr lang="en-US" altLang="it-IT">
                <a:sym typeface="Symbol" panose="05050102010706020507" pitchFamily="18" charset="2"/>
              </a:rPr>
              <a:t>{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Goal</a:t>
            </a:r>
            <a:r>
              <a:rPr lang="en-US" altLang="it-IT" sz="14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i="1">
                <a:sym typeface="Symbol" panose="05050102010706020507" pitchFamily="18" charset="2"/>
              </a:rPr>
              <a:t>•</a:t>
            </a:r>
            <a:r>
              <a:rPr lang="en-US" altLang="it-IT" sz="14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SheepNoise,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4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i="1">
                <a:sym typeface="Symbol" panose="05050102010706020507" pitchFamily="18" charset="2"/>
              </a:rPr>
              <a:t>•</a:t>
            </a:r>
            <a:r>
              <a:rPr lang="en-US" altLang="it-IT" sz="14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,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</a:p>
          <a:p>
            <a:pPr lvl="1" eaLnBrk="1" hangingPunct="1">
              <a:spcBef>
                <a:spcPct val="5000"/>
              </a:spcBef>
              <a:buFontTx/>
              <a:buNone/>
            </a:pP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 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4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it-IT" i="1">
                <a:sym typeface="Symbol" panose="05050102010706020507" pitchFamily="18" charset="2"/>
              </a:rPr>
              <a:t>•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,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], 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4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i="1">
                <a:sym typeface="Symbol" panose="05050102010706020507" pitchFamily="18" charset="2"/>
              </a:rPr>
              <a:t>•</a:t>
            </a:r>
            <a:r>
              <a:rPr lang="en-US" altLang="it-IT" sz="14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,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,</a:t>
            </a:r>
          </a:p>
          <a:p>
            <a:pPr lvl="1" eaLnBrk="1" hangingPunct="1">
              <a:spcBef>
                <a:spcPct val="5000"/>
              </a:spcBef>
              <a:buFontTx/>
              <a:buNone/>
            </a:pP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 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4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•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,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  <a:endParaRPr lang="en-US" altLang="it-IT" sz="1400" b="1">
              <a:latin typeface="Times" panose="02020603050405020304" pitchFamily="18" charset="0"/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55301" name="Text Box 5">
            <a:extLst>
              <a:ext uri="{FF2B5EF4-FFF2-40B4-BE49-F238E27FC236}">
                <a16:creationId xmlns:a16="http://schemas.microsoft.com/office/drawing/2014/main" id="{F441932C-162B-4DAD-A390-D62736806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1371600"/>
            <a:ext cx="1828800" cy="1168400"/>
          </a:xfrm>
          <a:prstGeom prst="rect">
            <a:avLst/>
          </a:prstGeom>
          <a:solidFill>
            <a:srgbClr val="E6E6E6"/>
          </a:solidFill>
          <a:ln w="12700">
            <a:solidFill>
              <a:srgbClr val="B025A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400">
                <a:solidFill>
                  <a:srgbClr val="B025A6"/>
                </a:solidFill>
              </a:rPr>
              <a:t>Remember, this is the left-recursive SheepNoise; EaC shows the right-recursive version.</a:t>
            </a:r>
          </a:p>
        </p:txBody>
      </p:sp>
      <p:graphicFrame>
        <p:nvGraphicFramePr>
          <p:cNvPr id="35923" name="Group 83">
            <a:extLst>
              <a:ext uri="{FF2B5EF4-FFF2-40B4-BE49-F238E27FC236}">
                <a16:creationId xmlns:a16="http://schemas.microsoft.com/office/drawing/2014/main" id="{5F5E95A6-A1F5-4AEA-AF9D-0570C108FFE1}"/>
              </a:ext>
            </a:extLst>
          </p:cNvPr>
          <p:cNvGraphicFramePr>
            <a:graphicFrameLocks noGrp="1"/>
          </p:cNvGraphicFramePr>
          <p:nvPr/>
        </p:nvGraphicFramePr>
        <p:xfrm>
          <a:off x="990600" y="2311400"/>
          <a:ext cx="5867400" cy="2032000"/>
        </p:xfrm>
        <a:graphic>
          <a:graphicData uri="http://schemas.openxmlformats.org/drawingml/2006/table">
            <a:tbl>
              <a:tblPr/>
              <a:tblGrid>
                <a:gridCol w="403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Item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Source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[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 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SheepNoise,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EOF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]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Original item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[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 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SheepNoise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,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EOF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]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1,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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is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EOF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[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 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,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EOF]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1,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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is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EOF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[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 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SheepNoise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,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]</a:t>
                      </a:r>
                      <a:endParaRPr kumimoji="0" lang="en-US" sz="16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2,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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is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EOF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[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 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,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]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2,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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is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EOF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2" name="Group 111">
            <a:extLst>
              <a:ext uri="{FF2B5EF4-FFF2-40B4-BE49-F238E27FC236}">
                <a16:creationId xmlns:a16="http://schemas.microsoft.com/office/drawing/2014/main" id="{F83A9EB1-DCE7-4EB7-BA5F-D7E1B4687FEB}"/>
              </a:ext>
            </a:extLst>
          </p:cNvPr>
          <p:cNvGraphicFramePr>
            <a:graphicFrameLocks noGrp="1"/>
          </p:cNvGraphicFramePr>
          <p:nvPr/>
        </p:nvGraphicFramePr>
        <p:xfrm>
          <a:off x="5105400" y="5715000"/>
          <a:ext cx="3429000" cy="768350"/>
        </p:xfrm>
        <a:graphic>
          <a:graphicData uri="http://schemas.openxmlformats.org/drawingml/2006/table">
            <a:tbl>
              <a:tblPr/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4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4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5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1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35" marB="45735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marT="45735" marB="4573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5" marB="4573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  <a:endParaRPr kumimoji="0" lang="en-US" sz="1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5" marB="45735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1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35" marB="4573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  <a:endParaRPr kumimoji="0" lang="en-US" sz="1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5" marB="4573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marT="45735" marB="4573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 </a:t>
                      </a:r>
                      <a:r>
                        <a:rPr kumimoji="0" lang="en-US" sz="1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endParaRPr kumimoji="0" lang="en-US" sz="1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5" marB="4573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1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35" marB="4573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5" marB="4573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5" marB="4573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</a:p>
                  </a:txBody>
                  <a:tcPr marT="45735" marB="4573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Footer Placeholder 3">
            <a:extLst>
              <a:ext uri="{FF2B5EF4-FFF2-40B4-BE49-F238E27FC236}">
                <a16:creationId xmlns:a16="http://schemas.microsoft.com/office/drawing/2014/main" id="{DE29DD91-9FEF-4B23-974B-BAD615C7C41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7346" name="Slide Number Placeholder 4">
            <a:extLst>
              <a:ext uri="{FF2B5EF4-FFF2-40B4-BE49-F238E27FC236}">
                <a16:creationId xmlns:a16="http://schemas.microsoft.com/office/drawing/2014/main" id="{6A339EB2-04C9-46BC-A651-0E028EC48F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62459C7-338E-44FF-88C7-A6187088DC07}" type="slidenum">
              <a:rPr lang="en-US" altLang="it-IT"/>
              <a:pPr/>
              <a:t>23</a:t>
            </a:fld>
            <a:endParaRPr lang="en-US" altLang="it-IT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D5526B33-7AE1-4386-AB0F-21CBCBD55E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5000"/>
              </a:spcBef>
            </a:pPr>
            <a:r>
              <a:rPr lang="en-US" altLang="it-IT">
                <a:ea typeface="Times" panose="02020603050405020304" pitchFamily="18" charset="0"/>
                <a:cs typeface="Times" panose="02020603050405020304" pitchFamily="18" charset="0"/>
              </a:rPr>
              <a:t>Computing Gotos</a:t>
            </a:r>
          </a:p>
        </p:txBody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5366F560-2555-46C9-844A-0DE3BCFBBE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000"/>
              </a:spcBef>
              <a:buFont typeface="Times" panose="02020603050405020304" pitchFamily="18" charset="0"/>
              <a:buNone/>
            </a:pPr>
            <a:r>
              <a:rPr lang="en-US" altLang="it-IT" i="1">
                <a:ea typeface="Times" panose="02020603050405020304" pitchFamily="18" charset="0"/>
                <a:cs typeface="Times" panose="02020603050405020304" pitchFamily="18" charset="0"/>
              </a:rPr>
              <a:t>Goto(s,x)</a:t>
            </a:r>
            <a:r>
              <a:rPr lang="en-US" altLang="it-IT">
                <a:ea typeface="Times" panose="02020603050405020304" pitchFamily="18" charset="0"/>
                <a:cs typeface="Times" panose="02020603050405020304" pitchFamily="18" charset="0"/>
              </a:rPr>
              <a:t> computes the state that the parser would reach </a:t>
            </a:r>
          </a:p>
          <a:p>
            <a:pPr eaLnBrk="1" hangingPunct="1">
              <a:spcBef>
                <a:spcPct val="5000"/>
              </a:spcBef>
              <a:buFont typeface="Times" panose="02020603050405020304" pitchFamily="18" charset="0"/>
              <a:buNone/>
            </a:pPr>
            <a:r>
              <a:rPr lang="en-US" altLang="it-IT">
                <a:ea typeface="Times" panose="02020603050405020304" pitchFamily="18" charset="0"/>
                <a:cs typeface="Times" panose="02020603050405020304" pitchFamily="18" charset="0"/>
              </a:rPr>
              <a:t>if it recognized an </a:t>
            </a:r>
            <a:r>
              <a:rPr lang="en-US" altLang="it-IT" i="1">
                <a:ea typeface="Times" panose="02020603050405020304" pitchFamily="18" charset="0"/>
                <a:cs typeface="Times" panose="02020603050405020304" pitchFamily="18" charset="0"/>
              </a:rPr>
              <a:t>x</a:t>
            </a:r>
            <a:r>
              <a:rPr lang="en-US" altLang="it-IT">
                <a:ea typeface="Times" panose="02020603050405020304" pitchFamily="18" charset="0"/>
                <a:cs typeface="Times" panose="02020603050405020304" pitchFamily="18" charset="0"/>
              </a:rPr>
              <a:t>  while in state </a:t>
            </a:r>
            <a:r>
              <a:rPr lang="en-US" altLang="it-IT" i="1">
                <a:ea typeface="Times" panose="02020603050405020304" pitchFamily="18" charset="0"/>
                <a:cs typeface="Times" panose="02020603050405020304" pitchFamily="18" charset="0"/>
              </a:rPr>
              <a:t>s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it-IT" i="1">
                <a:sym typeface="Symbol" panose="05050102010706020507" pitchFamily="18" charset="2"/>
              </a:rPr>
              <a:t>Goto(</a:t>
            </a:r>
            <a:r>
              <a:rPr lang="en-US" altLang="it-IT">
                <a:sym typeface="Symbol" panose="05050102010706020507" pitchFamily="18" charset="2"/>
              </a:rPr>
              <a:t> { [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 sz="1800">
                <a:sym typeface="Symbol" panose="05050102010706020507" pitchFamily="18" charset="2"/>
              </a:rPr>
              <a:t></a:t>
            </a:r>
            <a:r>
              <a:rPr lang="en-US" altLang="it-IT">
                <a:sym typeface="Symbol" panose="05050102010706020507" pitchFamily="18" charset="2"/>
              </a:rPr>
              <a:t></a:t>
            </a:r>
            <a:r>
              <a:rPr lang="en-US" altLang="it-IT" i="1">
                <a:sym typeface="Symbol" panose="05050102010706020507" pitchFamily="18" charset="2"/>
              </a:rPr>
              <a:t>X</a:t>
            </a:r>
            <a:r>
              <a:rPr lang="en-US" altLang="it-IT">
                <a:sym typeface="Symbol" panose="05050102010706020507" pitchFamily="18" charset="2"/>
              </a:rPr>
              <a:t>,</a:t>
            </a:r>
            <a:r>
              <a:rPr lang="en-US" altLang="it-IT" u="sng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] }, </a:t>
            </a:r>
            <a:r>
              <a:rPr lang="en-US" altLang="it-IT" i="1">
                <a:sym typeface="Symbol" panose="05050102010706020507" pitchFamily="18" charset="2"/>
              </a:rPr>
              <a:t>X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)</a:t>
            </a:r>
            <a:r>
              <a:rPr lang="en-US" altLang="it-IT">
                <a:sym typeface="Symbol" panose="05050102010706020507" pitchFamily="18" charset="2"/>
              </a:rPr>
              <a:t> produces [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 sz="1800">
                <a:sym typeface="Symbol" panose="05050102010706020507" pitchFamily="18" charset="2"/>
              </a:rPr>
              <a:t></a:t>
            </a:r>
            <a:r>
              <a:rPr lang="en-US" altLang="it-IT">
                <a:sym typeface="Symbol" panose="05050102010706020507" pitchFamily="18" charset="2"/>
              </a:rPr>
              <a:t></a:t>
            </a:r>
            <a:r>
              <a:rPr lang="en-US" altLang="it-IT" i="1">
                <a:sym typeface="Symbol" panose="05050102010706020507" pitchFamily="18" charset="2"/>
              </a:rPr>
              <a:t>X</a:t>
            </a:r>
            <a:r>
              <a:rPr lang="en-US" altLang="it-IT">
                <a:sym typeface="Symbol" panose="05050102010706020507" pitchFamily="18" charset="2"/>
              </a:rPr>
              <a:t>,</a:t>
            </a:r>
            <a:r>
              <a:rPr lang="en-US" altLang="it-IT" u="sng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]      </a:t>
            </a:r>
            <a:r>
              <a:rPr lang="en-US" altLang="it-IT" sz="1800" i="1">
                <a:solidFill>
                  <a:srgbClr val="FF0065"/>
                </a:solidFill>
                <a:sym typeface="Symbol" panose="05050102010706020507" pitchFamily="18" charset="2"/>
              </a:rPr>
              <a:t>(obviously)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ct val="30000"/>
              </a:spcBef>
            </a:pPr>
            <a:r>
              <a:rPr lang="en-US" altLang="it-IT">
                <a:sym typeface="Symbol" panose="05050102010706020507" pitchFamily="18" charset="2"/>
              </a:rPr>
              <a:t>It finds all such items &amp; uses </a:t>
            </a:r>
            <a:r>
              <a:rPr lang="en-US" altLang="it-IT" i="1">
                <a:sym typeface="Symbol" panose="05050102010706020507" pitchFamily="18" charset="2"/>
              </a:rPr>
              <a:t>closure()</a:t>
            </a:r>
            <a:r>
              <a:rPr lang="en-US" altLang="it-IT">
                <a:sym typeface="Symbol" panose="05050102010706020507" pitchFamily="18" charset="2"/>
              </a:rPr>
              <a:t> to fill out the state</a:t>
            </a:r>
          </a:p>
          <a:p>
            <a:pPr eaLnBrk="1" hangingPunct="1">
              <a:spcBef>
                <a:spcPct val="15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The algorithm</a:t>
            </a:r>
          </a:p>
        </p:txBody>
      </p:sp>
      <p:sp>
        <p:nvSpPr>
          <p:cNvPr id="57349" name="Text Box 4">
            <a:extLst>
              <a:ext uri="{FF2B5EF4-FFF2-40B4-BE49-F238E27FC236}">
                <a16:creationId xmlns:a16="http://schemas.microsoft.com/office/drawing/2014/main" id="{FE7B1472-6533-4EF8-838B-DB57B8ECA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429000"/>
            <a:ext cx="3733800" cy="1566863"/>
          </a:xfrm>
          <a:prstGeom prst="rect">
            <a:avLst/>
          </a:prstGeom>
          <a:noFill/>
          <a:ln w="19050">
            <a:solidFill>
              <a:srgbClr val="B025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i="1"/>
              <a:t>Goto( s, X )</a:t>
            </a:r>
          </a:p>
          <a:p>
            <a:r>
              <a:rPr lang="en-US" altLang="it-IT" i="1"/>
              <a:t>    new </a:t>
            </a:r>
            <a:r>
              <a:rPr lang="en-US" altLang="it-IT" i="1">
                <a:sym typeface="Symbol" panose="05050102010706020507" pitchFamily="18" charset="2"/>
              </a:rPr>
              <a:t>Ø</a:t>
            </a:r>
            <a:endParaRPr lang="en-US" altLang="it-IT" i="1"/>
          </a:p>
          <a:p>
            <a:r>
              <a:rPr lang="en-US" altLang="it-IT" i="1"/>
              <a:t>     </a:t>
            </a:r>
            <a:r>
              <a:rPr lang="en-US" altLang="it-IT">
                <a:sym typeface="Symbol" panose="05050102010706020507" pitchFamily="18" charset="2"/>
              </a:rPr>
              <a:t></a:t>
            </a:r>
            <a:r>
              <a:rPr lang="en-US" altLang="it-IT" i="1">
                <a:sym typeface="Symbol" panose="05050102010706020507" pitchFamily="18" charset="2"/>
              </a:rPr>
              <a:t> items </a:t>
            </a:r>
            <a:r>
              <a:rPr lang="en-US" altLang="it-IT">
                <a:sym typeface="Symbol" panose="05050102010706020507" pitchFamily="18" charset="2"/>
              </a:rPr>
              <a:t>[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•</a:t>
            </a:r>
            <a:r>
              <a:rPr lang="en-US" altLang="it-IT" i="1">
                <a:sym typeface="Symbol" panose="05050102010706020507" pitchFamily="18" charset="2"/>
              </a:rPr>
              <a:t>X</a:t>
            </a:r>
            <a:r>
              <a:rPr lang="en-US" altLang="it-IT">
                <a:sym typeface="Symbol" panose="05050102010706020507" pitchFamily="18" charset="2"/>
              </a:rPr>
              <a:t>,</a:t>
            </a:r>
            <a:r>
              <a:rPr lang="en-US" altLang="it-IT" u="sng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]  </a:t>
            </a:r>
            <a:r>
              <a:rPr lang="en-US" altLang="it-IT" i="1">
                <a:sym typeface="Symbol" panose="05050102010706020507" pitchFamily="18" charset="2"/>
              </a:rPr>
              <a:t>s</a:t>
            </a:r>
          </a:p>
          <a:p>
            <a:r>
              <a:rPr lang="en-US" altLang="it-IT" i="1">
                <a:sym typeface="Symbol" panose="05050102010706020507" pitchFamily="18" charset="2"/>
              </a:rPr>
              <a:t>        new  new </a:t>
            </a:r>
            <a:r>
              <a:rPr lang="en-US" altLang="it-IT">
                <a:sym typeface="Symbol" panose="05050102010706020507" pitchFamily="18" charset="2"/>
              </a:rPr>
              <a:t> {</a:t>
            </a:r>
            <a:r>
              <a:rPr lang="en-US" altLang="it-IT" sz="900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[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</a:t>
            </a:r>
            <a:r>
              <a:rPr lang="en-US" altLang="it-IT" i="1">
                <a:sym typeface="Symbol" panose="05050102010706020507" pitchFamily="18" charset="2"/>
              </a:rPr>
              <a:t>X</a:t>
            </a:r>
            <a:r>
              <a:rPr lang="en-US" altLang="it-IT">
                <a:sym typeface="Symbol" panose="05050102010706020507" pitchFamily="18" charset="2"/>
              </a:rPr>
              <a:t>•,</a:t>
            </a:r>
            <a:r>
              <a:rPr lang="en-US" altLang="it-IT" u="sng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]</a:t>
            </a:r>
            <a:r>
              <a:rPr lang="en-US" altLang="it-IT" sz="900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}</a:t>
            </a:r>
            <a:endParaRPr lang="en-US" altLang="it-IT" i="1">
              <a:sym typeface="Symbol" panose="05050102010706020507" pitchFamily="18" charset="2"/>
            </a:endParaRPr>
          </a:p>
          <a:p>
            <a:pPr>
              <a:spcBef>
                <a:spcPct val="30000"/>
              </a:spcBef>
            </a:pPr>
            <a:r>
              <a:rPr lang="en-US" altLang="it-IT" i="1">
                <a:sym typeface="Symbol" panose="05050102010706020507" pitchFamily="18" charset="2"/>
              </a:rPr>
              <a:t>     return closure(new)</a:t>
            </a:r>
          </a:p>
        </p:txBody>
      </p:sp>
      <p:sp>
        <p:nvSpPr>
          <p:cNvPr id="57350" name="Text Box 5">
            <a:extLst>
              <a:ext uri="{FF2B5EF4-FFF2-40B4-BE49-F238E27FC236}">
                <a16:creationId xmlns:a16="http://schemas.microsoft.com/office/drawing/2014/main" id="{13D6439A-33CD-45BA-94B8-2AE68A44F3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3429000"/>
            <a:ext cx="3657600" cy="1546225"/>
          </a:xfrm>
          <a:prstGeom prst="rect">
            <a:avLst/>
          </a:prstGeom>
          <a:noFill/>
          <a:ln w="19050">
            <a:solidFill>
              <a:srgbClr val="B025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2286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ts val="900"/>
              </a:spcBef>
              <a:buClr>
                <a:srgbClr val="003C75"/>
              </a:buClr>
              <a:buSzPct val="120000"/>
              <a:buFont typeface="Times" panose="02020603050405020304" pitchFamily="18" charset="0"/>
              <a:buChar char="•"/>
            </a:pPr>
            <a:r>
              <a:rPr lang="en-US" altLang="it-IT">
                <a:latin typeface="Arial Rounded MT Bold" panose="020F0704030504030204" pitchFamily="34" charset="0"/>
              </a:rPr>
              <a:t> </a:t>
            </a:r>
            <a:r>
              <a:rPr lang="en-US" altLang="it-IT"/>
              <a:t>Not a fixed-point method!</a:t>
            </a:r>
          </a:p>
          <a:p>
            <a:pPr>
              <a:spcBef>
                <a:spcPts val="900"/>
              </a:spcBef>
              <a:buClr>
                <a:srgbClr val="003C75"/>
              </a:buClr>
              <a:buSzPct val="120000"/>
              <a:buFont typeface="Times" panose="02020603050405020304" pitchFamily="18" charset="0"/>
              <a:buChar char="•"/>
            </a:pPr>
            <a:r>
              <a:rPr lang="en-US" altLang="it-IT"/>
              <a:t> Straightforward computation</a:t>
            </a:r>
          </a:p>
          <a:p>
            <a:pPr>
              <a:spcBef>
                <a:spcPts val="900"/>
              </a:spcBef>
              <a:buClr>
                <a:srgbClr val="003C75"/>
              </a:buClr>
              <a:buSzPct val="120000"/>
              <a:buFont typeface="Times" panose="02020603050405020304" pitchFamily="18" charset="0"/>
              <a:buChar char="•"/>
            </a:pPr>
            <a:r>
              <a:rPr lang="en-US" altLang="it-IT"/>
              <a:t> Uses </a:t>
            </a:r>
            <a:r>
              <a:rPr lang="en-US" altLang="it-IT" i="1"/>
              <a:t>closure</a:t>
            </a:r>
            <a:r>
              <a:rPr lang="en-US" altLang="it-IT" sz="900" i="1"/>
              <a:t> </a:t>
            </a:r>
            <a:r>
              <a:rPr lang="en-US" altLang="it-IT"/>
              <a:t>( )</a:t>
            </a:r>
          </a:p>
          <a:p>
            <a:pPr>
              <a:spcBef>
                <a:spcPts val="900"/>
              </a:spcBef>
              <a:buClr>
                <a:srgbClr val="003C75"/>
              </a:buClr>
              <a:buSzPct val="120000"/>
              <a:buFont typeface="Times" panose="02020603050405020304" pitchFamily="18" charset="0"/>
              <a:buChar char="•"/>
            </a:pPr>
            <a:r>
              <a:rPr lang="en-US" altLang="it-IT"/>
              <a:t> </a:t>
            </a:r>
            <a:r>
              <a:rPr lang="en-US" altLang="it-IT" i="1"/>
              <a:t>Goto() moves us forward</a:t>
            </a:r>
            <a:endParaRPr lang="en-US" altLang="it-IT" sz="1600"/>
          </a:p>
        </p:txBody>
      </p:sp>
    </p:spTree>
  </p:cSld>
  <p:clrMapOvr>
    <a:masterClrMapping/>
  </p:clrMapOvr>
  <p:transition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Footer Placeholder 3">
            <a:extLst>
              <a:ext uri="{FF2B5EF4-FFF2-40B4-BE49-F238E27FC236}">
                <a16:creationId xmlns:a16="http://schemas.microsoft.com/office/drawing/2014/main" id="{ED33F615-4878-4F23-91A0-84F1018207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9394" name="Slide Number Placeholder 4">
            <a:extLst>
              <a:ext uri="{FF2B5EF4-FFF2-40B4-BE49-F238E27FC236}">
                <a16:creationId xmlns:a16="http://schemas.microsoft.com/office/drawing/2014/main" id="{42E35D8D-5B7A-49E5-A074-E8A19222F2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82AB5D5-DD27-492C-B78D-E15348BE0007}" type="slidenum">
              <a:rPr lang="en-US" altLang="it-IT"/>
              <a:pPr/>
              <a:t>24</a:t>
            </a:fld>
            <a:endParaRPr lang="en-US" altLang="it-IT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FBF789B1-2E4E-4AAE-B889-55900BC66F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Example from SheepNoise</a:t>
            </a:r>
          </a:p>
        </p:txBody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621B7E54-6A64-44E7-B7A3-C04211D1A1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40000"/>
              </a:lnSpc>
              <a:spcBef>
                <a:spcPct val="0"/>
              </a:spcBef>
              <a:buFont typeface="Times" panose="02020603050405020304" pitchFamily="18" charset="0"/>
              <a:buNone/>
            </a:pPr>
            <a:endParaRPr lang="en-US" altLang="it-IT" sz="1800" i="1">
              <a:sym typeface="Symbol" panose="05050102010706020507" pitchFamily="18" charset="2"/>
            </a:endParaRPr>
          </a:p>
          <a:p>
            <a:pPr eaLnBrk="1" hangingPunct="1">
              <a:spcBef>
                <a:spcPct val="40000"/>
              </a:spcBef>
              <a:buFont typeface="Times" panose="02020603050405020304" pitchFamily="18" charset="0"/>
              <a:buNone/>
            </a:pPr>
            <a:r>
              <a:rPr lang="en-US" altLang="it-IT" sz="1800" i="1">
                <a:sym typeface="Symbol" panose="05050102010706020507" pitchFamily="18" charset="2"/>
              </a:rPr>
              <a:t>S</a:t>
            </a:r>
            <a:r>
              <a:rPr lang="en-US" altLang="it-IT" sz="1800" i="1" baseline="-25000">
                <a:sym typeface="Symbol" panose="05050102010706020507" pitchFamily="18" charset="2"/>
              </a:rPr>
              <a:t>0</a:t>
            </a:r>
            <a:r>
              <a:rPr lang="en-US" altLang="it-IT" sz="1800" i="1">
                <a:sym typeface="Symbol" panose="05050102010706020507" pitchFamily="18" charset="2"/>
              </a:rPr>
              <a:t> </a:t>
            </a:r>
            <a:r>
              <a:rPr lang="en-US" altLang="it-IT" sz="1800">
                <a:sym typeface="Symbol" panose="05050102010706020507" pitchFamily="18" charset="2"/>
              </a:rPr>
              <a:t> is </a:t>
            </a:r>
            <a:r>
              <a:rPr lang="en-US" altLang="it-IT" sz="1600">
                <a:sym typeface="Symbol" panose="05050102010706020507" pitchFamily="18" charset="2"/>
              </a:rPr>
              <a:t>{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Goal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SheepNoise,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], 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,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</a:p>
          <a:p>
            <a:pPr lvl="1" eaLnBrk="1" hangingPunct="1">
              <a:spcBef>
                <a:spcPct val="5000"/>
              </a:spcBef>
              <a:buFontTx/>
              <a:buNone/>
            </a:pP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      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,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],  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,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,</a:t>
            </a:r>
          </a:p>
          <a:p>
            <a:pPr lvl="1" eaLnBrk="1" hangingPunct="1">
              <a:spcBef>
                <a:spcPct val="5000"/>
              </a:spcBef>
              <a:buFontTx/>
              <a:buNone/>
            </a:pP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      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,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</a:p>
          <a:p>
            <a:pPr eaLnBrk="1" hangingPunct="1">
              <a:spcBef>
                <a:spcPct val="75000"/>
              </a:spcBef>
              <a:buFont typeface="Times" panose="02020603050405020304" pitchFamily="18" charset="0"/>
              <a:buNone/>
            </a:pPr>
            <a:r>
              <a:rPr lang="en-US" altLang="it-IT" sz="1800" i="1"/>
              <a:t>Goto( S</a:t>
            </a:r>
            <a:r>
              <a:rPr lang="en-US" altLang="it-IT" sz="1800" i="1" baseline="-25000"/>
              <a:t>0</a:t>
            </a:r>
            <a:r>
              <a:rPr lang="en-US" altLang="it-IT" sz="1800" i="1"/>
              <a:t> , </a:t>
            </a:r>
            <a:r>
              <a:rPr lang="en-US" altLang="it-IT" sz="1800" u="sng"/>
              <a:t>baa</a:t>
            </a:r>
            <a:r>
              <a:rPr lang="en-US" altLang="it-IT" sz="1800"/>
              <a:t> </a:t>
            </a:r>
            <a:r>
              <a:rPr lang="en-US" altLang="it-IT" sz="1800" i="1"/>
              <a:t>)</a:t>
            </a:r>
          </a:p>
          <a:p>
            <a:pPr eaLnBrk="1" hangingPunct="1"/>
            <a:r>
              <a:rPr lang="en-US" altLang="it-IT" sz="1800"/>
              <a:t>Loop produces</a:t>
            </a:r>
          </a:p>
          <a:p>
            <a:pPr eaLnBrk="1" hangingPunct="1">
              <a:spcBef>
                <a:spcPct val="500000"/>
              </a:spcBef>
            </a:pPr>
            <a:r>
              <a:rPr lang="en-US" altLang="it-IT" sz="1800"/>
              <a:t>Closure adds nothing since • is at end of </a:t>
            </a:r>
            <a:r>
              <a:rPr lang="en-US" altLang="it-IT" sz="1800" i="1"/>
              <a:t>rhs</a:t>
            </a:r>
            <a:r>
              <a:rPr lang="en-US" altLang="it-IT" sz="1800"/>
              <a:t> in each item</a:t>
            </a:r>
          </a:p>
          <a:p>
            <a:pPr eaLnBrk="1" hangingPunct="1">
              <a:spcBef>
                <a:spcPct val="50000"/>
              </a:spcBef>
              <a:buFont typeface="Times" panose="02020603050405020304" pitchFamily="18" charset="0"/>
              <a:buNone/>
            </a:pPr>
            <a:r>
              <a:rPr lang="en-US" altLang="it-IT" sz="1800"/>
              <a:t>In the construction, this produces </a:t>
            </a:r>
            <a:r>
              <a:rPr lang="en-US" altLang="it-IT" sz="1800" i="1"/>
              <a:t>s</a:t>
            </a:r>
            <a:r>
              <a:rPr lang="en-US" altLang="it-IT" sz="1800" i="1" baseline="-25000"/>
              <a:t>2</a:t>
            </a:r>
            <a:r>
              <a:rPr lang="en-US" altLang="it-IT" sz="1800" i="1"/>
              <a:t> </a:t>
            </a:r>
          </a:p>
          <a:p>
            <a:pPr lvl="1" eaLnBrk="1" hangingPunct="1">
              <a:spcBef>
                <a:spcPct val="30000"/>
              </a:spcBef>
              <a:buFontTx/>
              <a:buNone/>
            </a:pPr>
            <a:r>
              <a:rPr lang="en-US" altLang="it-IT" sz="1600"/>
              <a:t>{</a:t>
            </a:r>
            <a:r>
              <a:rPr lang="en-US" altLang="it-IT" sz="900"/>
              <a:t> </a:t>
            </a:r>
            <a:r>
              <a:rPr lang="en-US" altLang="it-IT" sz="1600"/>
              <a:t>[</a:t>
            </a:r>
            <a:r>
              <a:rPr lang="en-US" altLang="it-IT" sz="1600" i="1"/>
              <a:t>SheepNoise</a:t>
            </a:r>
            <a:r>
              <a:rPr lang="en-US" altLang="it-IT" sz="1600" i="1">
                <a:sym typeface="Symbol" panose="05050102010706020507" pitchFamily="18" charset="2"/>
              </a:rPr>
              <a:t></a:t>
            </a:r>
            <a:r>
              <a:rPr lang="en-US" altLang="it-IT" sz="1600" u="sng">
                <a:sym typeface="Symbol" panose="05050102010706020507" pitchFamily="18" charset="2"/>
              </a:rPr>
              <a:t>baa </a:t>
            </a:r>
            <a:r>
              <a:rPr lang="en-US" altLang="it-IT" sz="1600"/>
              <a:t>•, {</a:t>
            </a:r>
            <a:r>
              <a:rPr lang="en-US" altLang="it-IT" sz="1600" u="sng"/>
              <a:t>EOF</a:t>
            </a:r>
            <a:r>
              <a:rPr lang="en-US" altLang="it-IT" sz="1600"/>
              <a:t>,</a:t>
            </a:r>
            <a:r>
              <a:rPr lang="en-US" altLang="it-IT" sz="1600" u="sng"/>
              <a:t>baa</a:t>
            </a:r>
            <a:r>
              <a:rPr lang="en-US" altLang="it-IT" sz="1600"/>
              <a:t>}]</a:t>
            </a:r>
            <a:r>
              <a:rPr lang="en-US" altLang="it-IT" sz="900"/>
              <a:t> </a:t>
            </a:r>
            <a:r>
              <a:rPr lang="en-US" altLang="it-IT" sz="1600"/>
              <a:t>}</a:t>
            </a:r>
          </a:p>
        </p:txBody>
      </p:sp>
      <p:sp>
        <p:nvSpPr>
          <p:cNvPr id="39941" name="AutoShape 5">
            <a:extLst>
              <a:ext uri="{FF2B5EF4-FFF2-40B4-BE49-F238E27FC236}">
                <a16:creationId xmlns:a16="http://schemas.microsoft.com/office/drawing/2014/main" id="{1B7D81D2-482D-4138-AFE4-643D12541E29}"/>
              </a:ext>
            </a:extLst>
          </p:cNvPr>
          <p:cNvSpPr>
            <a:spLocks/>
          </p:cNvSpPr>
          <p:nvPr/>
        </p:nvSpPr>
        <p:spPr bwMode="auto">
          <a:xfrm>
            <a:off x="6324600" y="4695825"/>
            <a:ext cx="2438400" cy="885825"/>
          </a:xfrm>
          <a:prstGeom prst="accentBorderCallout1">
            <a:avLst>
              <a:gd name="adj1" fmla="val 9889"/>
              <a:gd name="adj2" fmla="val -2565"/>
              <a:gd name="adj3" fmla="val 66509"/>
              <a:gd name="adj4" fmla="val -73398"/>
            </a:avLst>
          </a:prstGeom>
          <a:solidFill>
            <a:srgbClr val="D9D9D9"/>
          </a:solidFill>
          <a:ln w="19050">
            <a:solidFill>
              <a:srgbClr val="7F7F7F"/>
            </a:solidFill>
            <a:miter lim="800000"/>
            <a:headEnd/>
            <a:tailEnd type="triangle" w="med" len="med"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>
                <a:solidFill>
                  <a:srgbClr val="003C75"/>
                </a:solidFill>
              </a:rPr>
              <a:t>New, but </a:t>
            </a:r>
            <a:r>
              <a:rPr lang="en-US" altLang="it-IT" sz="1200" i="1">
                <a:solidFill>
                  <a:srgbClr val="003C75"/>
                </a:solidFill>
              </a:rPr>
              <a:t>obvious</a:t>
            </a:r>
            <a:r>
              <a:rPr lang="en-US" altLang="it-IT" sz="1200">
                <a:solidFill>
                  <a:srgbClr val="003C75"/>
                </a:solidFill>
              </a:rPr>
              <a:t>, notation for two distinct items</a:t>
            </a:r>
          </a:p>
          <a:p>
            <a:pPr>
              <a:spcBef>
                <a:spcPct val="30000"/>
              </a:spcBef>
            </a:pPr>
            <a:r>
              <a:rPr lang="en-US" altLang="it-IT" sz="1200">
                <a:solidFill>
                  <a:srgbClr val="003C75"/>
                </a:solidFill>
              </a:rPr>
              <a:t>[</a:t>
            </a:r>
            <a:r>
              <a:rPr lang="en-US" altLang="it-IT" sz="1200" i="1">
                <a:solidFill>
                  <a:srgbClr val="003C75"/>
                </a:solidFill>
              </a:rPr>
              <a:t>SheepNoise</a:t>
            </a:r>
            <a:r>
              <a:rPr lang="en-US" altLang="it-IT" sz="1200" i="1">
                <a:solidFill>
                  <a:srgbClr val="003C75"/>
                </a:solidFill>
                <a:sym typeface="Symbol" panose="05050102010706020507" pitchFamily="18" charset="2"/>
              </a:rPr>
              <a:t></a:t>
            </a:r>
            <a:r>
              <a:rPr lang="en-US" altLang="it-IT" sz="1200" u="sng">
                <a:solidFill>
                  <a:srgbClr val="003C75"/>
                </a:solidFill>
                <a:sym typeface="Symbol" panose="05050102010706020507" pitchFamily="18" charset="2"/>
              </a:rPr>
              <a:t>baa </a:t>
            </a:r>
            <a:r>
              <a:rPr lang="en-US" altLang="it-IT" sz="1200">
                <a:solidFill>
                  <a:srgbClr val="003C75"/>
                </a:solidFill>
              </a:rPr>
              <a:t>•, </a:t>
            </a:r>
            <a:r>
              <a:rPr lang="en-US" altLang="it-IT" sz="1200" u="sng">
                <a:solidFill>
                  <a:srgbClr val="003C75"/>
                </a:solidFill>
              </a:rPr>
              <a:t>EOF</a:t>
            </a:r>
            <a:r>
              <a:rPr lang="en-US" altLang="it-IT" sz="1200">
                <a:solidFill>
                  <a:srgbClr val="003C75"/>
                </a:solidFill>
              </a:rPr>
              <a:t>] &amp; [</a:t>
            </a:r>
            <a:r>
              <a:rPr lang="en-US" altLang="it-IT" sz="1200" i="1">
                <a:solidFill>
                  <a:srgbClr val="003C75"/>
                </a:solidFill>
              </a:rPr>
              <a:t>SheepNoise</a:t>
            </a:r>
            <a:r>
              <a:rPr lang="en-US" altLang="it-IT" sz="1200" i="1">
                <a:solidFill>
                  <a:srgbClr val="003C75"/>
                </a:solidFill>
                <a:sym typeface="Symbol" panose="05050102010706020507" pitchFamily="18" charset="2"/>
              </a:rPr>
              <a:t></a:t>
            </a:r>
            <a:r>
              <a:rPr lang="en-US" altLang="it-IT" sz="1200" u="sng">
                <a:solidFill>
                  <a:srgbClr val="003C75"/>
                </a:solidFill>
                <a:sym typeface="Symbol" panose="05050102010706020507" pitchFamily="18" charset="2"/>
              </a:rPr>
              <a:t>baa </a:t>
            </a:r>
            <a:r>
              <a:rPr lang="en-US" altLang="it-IT" sz="1200">
                <a:solidFill>
                  <a:srgbClr val="003C75"/>
                </a:solidFill>
              </a:rPr>
              <a:t>•, </a:t>
            </a:r>
            <a:r>
              <a:rPr lang="en-US" altLang="it-IT" sz="1200" u="sng">
                <a:solidFill>
                  <a:srgbClr val="003C75"/>
                </a:solidFill>
              </a:rPr>
              <a:t>baa</a:t>
            </a:r>
            <a:r>
              <a:rPr lang="en-US" altLang="it-IT" sz="1200">
                <a:solidFill>
                  <a:srgbClr val="003C75"/>
                </a:solidFill>
              </a:rPr>
              <a:t>]</a:t>
            </a:r>
          </a:p>
        </p:txBody>
      </p:sp>
      <p:graphicFrame>
        <p:nvGraphicFramePr>
          <p:cNvPr id="39983" name="Group 47">
            <a:extLst>
              <a:ext uri="{FF2B5EF4-FFF2-40B4-BE49-F238E27FC236}">
                <a16:creationId xmlns:a16="http://schemas.microsoft.com/office/drawing/2014/main" id="{642399DF-26FB-4953-86D2-5A569E56F2D4}"/>
              </a:ext>
            </a:extLst>
          </p:cNvPr>
          <p:cNvGraphicFramePr>
            <a:graphicFrameLocks noGrp="1"/>
          </p:cNvGraphicFramePr>
          <p:nvPr/>
        </p:nvGraphicFramePr>
        <p:xfrm>
          <a:off x="1447800" y="3149600"/>
          <a:ext cx="4876800" cy="1041400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Item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Source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[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,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EOF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]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Item 3 in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[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,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]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Item 5 in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1" name="Group 111">
            <a:extLst>
              <a:ext uri="{FF2B5EF4-FFF2-40B4-BE49-F238E27FC236}">
                <a16:creationId xmlns:a16="http://schemas.microsoft.com/office/drawing/2014/main" id="{E64A9CD0-CCBC-49E1-9CD5-49FF1437A92E}"/>
              </a:ext>
            </a:extLst>
          </p:cNvPr>
          <p:cNvGraphicFramePr>
            <a:graphicFrameLocks noGrp="1"/>
          </p:cNvGraphicFramePr>
          <p:nvPr/>
        </p:nvGraphicFramePr>
        <p:xfrm>
          <a:off x="5105400" y="5715000"/>
          <a:ext cx="3429000" cy="768350"/>
        </p:xfrm>
        <a:graphic>
          <a:graphicData uri="http://schemas.openxmlformats.org/drawingml/2006/table">
            <a:tbl>
              <a:tblPr/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4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4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5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1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35" marB="45735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marT="45735" marB="4573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5" marB="4573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  <a:endParaRPr kumimoji="0" lang="en-US" sz="1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5" marB="45735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1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35" marB="4573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  <a:endParaRPr kumimoji="0" lang="en-US" sz="1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5" marB="4573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marT="45735" marB="4573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 </a:t>
                      </a:r>
                      <a:r>
                        <a:rPr kumimoji="0" lang="en-US" sz="1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endParaRPr kumimoji="0" lang="en-US" sz="1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5" marB="4573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1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35" marB="4573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5" marB="4573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5" marB="4573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</a:p>
                  </a:txBody>
                  <a:tcPr marT="45735" marB="4573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9421" name="TextBox 8">
            <a:extLst>
              <a:ext uri="{FF2B5EF4-FFF2-40B4-BE49-F238E27FC236}">
                <a16:creationId xmlns:a16="http://schemas.microsoft.com/office/drawing/2014/main" id="{5AA76D21-79DC-4233-BF47-EAF6BE925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2133600"/>
            <a:ext cx="1447800" cy="307975"/>
          </a:xfrm>
          <a:prstGeom prst="rect">
            <a:avLst/>
          </a:prstGeom>
          <a:solidFill>
            <a:srgbClr val="D9D9D9"/>
          </a:solidFill>
          <a:ln w="9525">
            <a:solidFill>
              <a:srgbClr val="7F7F7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1400">
                <a:solidFill>
                  <a:srgbClr val="003C75"/>
                </a:solidFill>
              </a:rPr>
              <a:t>From Slide 16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1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Footer Placeholder 3">
            <a:extLst>
              <a:ext uri="{FF2B5EF4-FFF2-40B4-BE49-F238E27FC236}">
                <a16:creationId xmlns:a16="http://schemas.microsoft.com/office/drawing/2014/main" id="{993DEB9A-478A-42B5-BF20-6614690739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61442" name="Slide Number Placeholder 4">
            <a:extLst>
              <a:ext uri="{FF2B5EF4-FFF2-40B4-BE49-F238E27FC236}">
                <a16:creationId xmlns:a16="http://schemas.microsoft.com/office/drawing/2014/main" id="{ED132570-D7B6-4871-803A-7C1533B2F1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E128528-C86A-479A-B21F-570C11AC20D9}" type="slidenum">
              <a:rPr lang="en-US" altLang="it-IT"/>
              <a:pPr/>
              <a:t>25</a:t>
            </a:fld>
            <a:endParaRPr lang="en-US" altLang="it-IT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A5AC04D7-106F-40E3-86D0-ECCD0E5DD0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Example from SheepNoise</a:t>
            </a:r>
          </a:p>
        </p:txBody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6C385C9D-87E6-4EBE-A783-B7E6AB7022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8325" y="1270000"/>
            <a:ext cx="8007350" cy="4876800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endParaRPr lang="en-US" altLang="it-IT" sz="1600" i="1">
              <a:sym typeface="Symbol" panose="05050102010706020507" pitchFamily="18" charset="2"/>
            </a:endParaRPr>
          </a:p>
          <a:p>
            <a:pPr eaLnBrk="1" hangingPunct="1">
              <a:spcBef>
                <a:spcPct val="40000"/>
              </a:spcBef>
              <a:buFont typeface="Times" panose="02020603050405020304" pitchFamily="18" charset="0"/>
              <a:buNone/>
            </a:pPr>
            <a:r>
              <a:rPr lang="en-US" altLang="it-IT" sz="1600" i="1">
                <a:sym typeface="Symbol" panose="05050102010706020507" pitchFamily="18" charset="2"/>
              </a:rPr>
              <a:t>S</a:t>
            </a:r>
            <a:r>
              <a:rPr lang="en-US" altLang="it-IT" sz="1600" i="1" baseline="-25000">
                <a:sym typeface="Symbol" panose="05050102010706020507" pitchFamily="18" charset="2"/>
              </a:rPr>
              <a:t>0</a:t>
            </a:r>
            <a:r>
              <a:rPr lang="en-US" altLang="it-IT" sz="1600" i="1">
                <a:sym typeface="Symbol" panose="05050102010706020507" pitchFamily="18" charset="2"/>
              </a:rPr>
              <a:t> </a:t>
            </a:r>
            <a:r>
              <a:rPr lang="en-US" altLang="it-IT" sz="1600">
                <a:sym typeface="Symbol" panose="05050102010706020507" pitchFamily="18" charset="2"/>
              </a:rPr>
              <a:t>: {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Goal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], 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</a:p>
          <a:p>
            <a:pPr lvl="1" eaLnBrk="1" hangingPunct="1">
              <a:spcBef>
                <a:spcPct val="5000"/>
              </a:spcBef>
              <a:buFontTx/>
              <a:buNone/>
            </a:pP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 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], 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,</a:t>
            </a:r>
          </a:p>
          <a:p>
            <a:pPr lvl="1" eaLnBrk="1" hangingPunct="1">
              <a:spcBef>
                <a:spcPct val="5000"/>
              </a:spcBef>
              <a:buFontTx/>
              <a:buNone/>
            </a:pP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 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</a:p>
          <a:p>
            <a:pPr eaLnBrk="1" hangingPunct="1">
              <a:spcBef>
                <a:spcPct val="120000"/>
              </a:spcBef>
              <a:buFont typeface="Times" panose="02020603050405020304" pitchFamily="18" charset="0"/>
              <a:buNone/>
            </a:pPr>
            <a:r>
              <a:rPr lang="en-US" altLang="it-IT" sz="1600" i="1"/>
              <a:t>S</a:t>
            </a:r>
            <a:r>
              <a:rPr lang="en-US" altLang="it-IT" sz="1600" i="1" baseline="-25000"/>
              <a:t>1  </a:t>
            </a:r>
            <a:r>
              <a:rPr lang="en-US" altLang="it-IT" sz="1600"/>
              <a:t>= </a:t>
            </a:r>
            <a:r>
              <a:rPr lang="en-US" altLang="it-IT" sz="1600" i="1"/>
              <a:t>Goto</a:t>
            </a:r>
            <a:r>
              <a:rPr lang="en-US" altLang="it-IT" sz="1600"/>
              <a:t>(</a:t>
            </a:r>
            <a:r>
              <a:rPr lang="en-US" altLang="it-IT" sz="1600" i="1"/>
              <a:t>S</a:t>
            </a:r>
            <a:r>
              <a:rPr lang="en-US" altLang="it-IT" sz="1600" i="1" baseline="-25000"/>
              <a:t>0</a:t>
            </a:r>
            <a:r>
              <a:rPr lang="en-US" altLang="it-IT" sz="1600" i="1"/>
              <a:t> , 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/>
              <a:t>) = </a:t>
            </a:r>
          </a:p>
          <a:p>
            <a:pPr eaLnBrk="1" hangingPunct="1">
              <a:spcBef>
                <a:spcPct val="10000"/>
              </a:spcBef>
              <a:buFont typeface="Times" panose="02020603050405020304" pitchFamily="18" charset="0"/>
              <a:buNone/>
            </a:pPr>
            <a:r>
              <a:rPr lang="en-US" altLang="it-IT" sz="1600">
                <a:sym typeface="Symbol" panose="05050102010706020507" pitchFamily="18" charset="2"/>
              </a:rPr>
              <a:t>	{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Goal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], 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</a:p>
          <a:p>
            <a:pPr lvl="1" eaLnBrk="1" hangingPunct="1">
              <a:spcBef>
                <a:spcPct val="5000"/>
              </a:spcBef>
              <a:buFontTx/>
              <a:buNone/>
            </a:pP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 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</a:p>
          <a:p>
            <a:pPr eaLnBrk="1" hangingPunct="1">
              <a:spcBef>
                <a:spcPct val="120000"/>
              </a:spcBef>
              <a:buFont typeface="Times" panose="02020603050405020304" pitchFamily="18" charset="0"/>
              <a:buNone/>
            </a:pPr>
            <a:r>
              <a:rPr lang="en-US" altLang="it-IT" sz="1600" i="1"/>
              <a:t>S</a:t>
            </a:r>
            <a:r>
              <a:rPr lang="en-US" altLang="it-IT" sz="1600" i="1" baseline="-25000"/>
              <a:t>2  </a:t>
            </a:r>
            <a:r>
              <a:rPr lang="en-US" altLang="it-IT" sz="1600"/>
              <a:t>= </a:t>
            </a:r>
            <a:r>
              <a:rPr lang="en-US" altLang="it-IT" sz="1600" i="1"/>
              <a:t>Goto</a:t>
            </a:r>
            <a:r>
              <a:rPr lang="en-US" altLang="it-IT" sz="1600"/>
              <a:t>(</a:t>
            </a:r>
            <a:r>
              <a:rPr lang="en-US" altLang="it-IT" sz="1600" i="1"/>
              <a:t>S</a:t>
            </a:r>
            <a:r>
              <a:rPr lang="en-US" altLang="it-IT" sz="1600" i="1" baseline="-25000"/>
              <a:t>0</a:t>
            </a:r>
            <a:r>
              <a:rPr lang="en-US" altLang="it-IT" sz="1600" i="1"/>
              <a:t> 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/>
              <a:t>) = </a:t>
            </a:r>
            <a:r>
              <a:rPr lang="en-US" altLang="it-IT" sz="1600">
                <a:sym typeface="Symbol" panose="05050102010706020507" pitchFamily="18" charset="2"/>
              </a:rPr>
              <a:t>{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], 					       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</a:p>
          <a:p>
            <a:pPr eaLnBrk="1" hangingPunct="1">
              <a:spcBef>
                <a:spcPct val="120000"/>
              </a:spcBef>
              <a:buFont typeface="Times" panose="02020603050405020304" pitchFamily="18" charset="0"/>
              <a:buNone/>
            </a:pPr>
            <a:r>
              <a:rPr lang="en-US" altLang="it-IT" sz="1600" i="1"/>
              <a:t>S</a:t>
            </a:r>
            <a:r>
              <a:rPr lang="en-US" altLang="it-IT" sz="1600" i="1" baseline="-25000"/>
              <a:t>3  </a:t>
            </a:r>
            <a:r>
              <a:rPr lang="en-US" altLang="it-IT" sz="1600"/>
              <a:t>= </a:t>
            </a:r>
            <a:r>
              <a:rPr lang="en-US" altLang="it-IT" sz="1600" i="1"/>
              <a:t>Goto</a:t>
            </a:r>
            <a:r>
              <a:rPr lang="en-US" altLang="it-IT" sz="1600"/>
              <a:t>(</a:t>
            </a:r>
            <a:r>
              <a:rPr lang="en-US" altLang="it-IT" sz="1600" i="1"/>
              <a:t>S</a:t>
            </a:r>
            <a:r>
              <a:rPr lang="en-US" altLang="it-IT" sz="1600" i="1" baseline="-25000"/>
              <a:t>1</a:t>
            </a:r>
            <a:r>
              <a:rPr lang="en-US" altLang="it-IT" sz="1600" i="1"/>
              <a:t> 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/>
              <a:t>) = </a:t>
            </a:r>
            <a:r>
              <a:rPr lang="en-US" altLang="it-IT" sz="1600">
                <a:sym typeface="Symbol" panose="05050102010706020507" pitchFamily="18" charset="2"/>
              </a:rPr>
              <a:t>{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</a:p>
          <a:p>
            <a:pPr lvl="1" eaLnBrk="1" hangingPunct="1">
              <a:spcBef>
                <a:spcPct val="5000"/>
              </a:spcBef>
              <a:buFontTx/>
              <a:buNone/>
            </a:pP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                                    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</a:p>
        </p:txBody>
      </p:sp>
      <p:graphicFrame>
        <p:nvGraphicFramePr>
          <p:cNvPr id="34" name="Group 111">
            <a:extLst>
              <a:ext uri="{FF2B5EF4-FFF2-40B4-BE49-F238E27FC236}">
                <a16:creationId xmlns:a16="http://schemas.microsoft.com/office/drawing/2014/main" id="{B178AFAF-5198-45C5-B2BA-9904873E19C1}"/>
              </a:ext>
            </a:extLst>
          </p:cNvPr>
          <p:cNvGraphicFramePr>
            <a:graphicFrameLocks noGrp="1"/>
          </p:cNvGraphicFramePr>
          <p:nvPr/>
        </p:nvGraphicFramePr>
        <p:xfrm>
          <a:off x="5105400" y="5715000"/>
          <a:ext cx="3429000" cy="768350"/>
        </p:xfrm>
        <a:graphic>
          <a:graphicData uri="http://schemas.openxmlformats.org/drawingml/2006/table">
            <a:tbl>
              <a:tblPr/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4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4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5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1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35" marB="45735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marT="45735" marB="4573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5" marB="4573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  <a:endParaRPr kumimoji="0" lang="en-US" sz="1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5" marB="45735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1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35" marB="4573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  <a:endParaRPr kumimoji="0" lang="en-US" sz="1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5" marB="4573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marT="45735" marB="4573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 </a:t>
                      </a:r>
                      <a:r>
                        <a:rPr kumimoji="0" lang="en-US" sz="1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endParaRPr kumimoji="0" lang="en-US" sz="1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5" marB="4573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1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35" marB="4573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5" marB="4573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5" marB="4573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</a:p>
                  </a:txBody>
                  <a:tcPr marT="45735" marB="4573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Footer Placeholder 3">
            <a:extLst>
              <a:ext uri="{FF2B5EF4-FFF2-40B4-BE49-F238E27FC236}">
                <a16:creationId xmlns:a16="http://schemas.microsoft.com/office/drawing/2014/main" id="{57794DAC-719E-4C2C-B035-FB7303C098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63490" name="Slide Number Placeholder 4">
            <a:extLst>
              <a:ext uri="{FF2B5EF4-FFF2-40B4-BE49-F238E27FC236}">
                <a16:creationId xmlns:a16="http://schemas.microsoft.com/office/drawing/2014/main" id="{384BB7EC-BB74-43CF-AC87-F0EA54201D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0D3D0D1-AFAB-4113-8561-990B89C5F49C}" type="slidenum">
              <a:rPr lang="en-US" altLang="it-IT"/>
              <a:pPr/>
              <a:t>26</a:t>
            </a:fld>
            <a:endParaRPr lang="en-US" altLang="it-IT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F6C4FE2A-D1D6-4C9C-B2DE-FC915D9670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/>
              <a:t>Building the Canonical Collection</a:t>
            </a:r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B5AB0002-D9FB-4A53-B79F-73A63CD383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  <a:buFont typeface="Times" panose="02020603050405020304" pitchFamily="18" charset="0"/>
              <a:buNone/>
            </a:pPr>
            <a:r>
              <a:rPr lang="en-US" altLang="it-IT"/>
              <a:t>Start from </a:t>
            </a:r>
            <a:r>
              <a:rPr lang="en-US" altLang="it-IT" i="1"/>
              <a:t>s</a:t>
            </a:r>
            <a:r>
              <a:rPr lang="en-US" altLang="it-IT" i="1" baseline="-25000"/>
              <a:t>0</a:t>
            </a:r>
            <a:r>
              <a:rPr lang="en-US" altLang="it-IT" i="1"/>
              <a:t> </a:t>
            </a:r>
            <a:r>
              <a:rPr lang="en-US" altLang="it-IT"/>
              <a:t>= </a:t>
            </a:r>
            <a:r>
              <a:rPr lang="en-US" altLang="it-IT" i="1"/>
              <a:t>closure( </a:t>
            </a:r>
            <a:r>
              <a:rPr lang="en-US" altLang="it-IT"/>
              <a:t>[</a:t>
            </a:r>
            <a:r>
              <a:rPr lang="en-US" altLang="it-IT" i="1"/>
              <a:t>S’</a:t>
            </a:r>
            <a:r>
              <a:rPr lang="en-US" altLang="it-IT" i="1">
                <a:sym typeface="Symbol" panose="05050102010706020507" pitchFamily="18" charset="2"/>
              </a:rPr>
              <a:t>S</a:t>
            </a:r>
            <a:r>
              <a:rPr lang="en-US" altLang="it-IT">
                <a:sym typeface="Symbol" panose="05050102010706020507" pitchFamily="18" charset="2"/>
              </a:rPr>
              <a:t>,</a:t>
            </a:r>
            <a:r>
              <a:rPr lang="en-US" altLang="it-IT" sz="1800" u="sng">
                <a:sym typeface="Symbol" panose="05050102010706020507" pitchFamily="18" charset="2"/>
              </a:rPr>
              <a:t>EOF</a:t>
            </a:r>
            <a:r>
              <a:rPr lang="en-US" altLang="it-IT" sz="1000">
                <a:sym typeface="Symbol" panose="05050102010706020507" pitchFamily="18" charset="2"/>
              </a:rPr>
              <a:t> </a:t>
            </a:r>
            <a:r>
              <a:rPr lang="en-US" altLang="it-IT"/>
              <a:t>] </a:t>
            </a:r>
            <a:r>
              <a:rPr lang="en-US" altLang="it-IT" i="1"/>
              <a:t>)</a:t>
            </a:r>
          </a:p>
          <a:p>
            <a:pPr eaLnBrk="1" hangingPunct="1">
              <a:spcBef>
                <a:spcPct val="30000"/>
              </a:spcBef>
              <a:buFont typeface="Times" panose="02020603050405020304" pitchFamily="18" charset="0"/>
              <a:buNone/>
            </a:pPr>
            <a:r>
              <a:rPr lang="en-US" altLang="it-IT"/>
              <a:t>Repeatedly construct new states, until all are found</a:t>
            </a:r>
          </a:p>
          <a:p>
            <a:pPr eaLnBrk="1" hangingPunct="1">
              <a:spcBef>
                <a:spcPct val="80000"/>
              </a:spcBef>
              <a:buFont typeface="Times" panose="02020603050405020304" pitchFamily="18" charset="0"/>
              <a:buNone/>
            </a:pPr>
            <a:r>
              <a:rPr lang="en-US" altLang="it-IT"/>
              <a:t>The algorithm</a:t>
            </a:r>
          </a:p>
        </p:txBody>
      </p:sp>
      <p:sp>
        <p:nvSpPr>
          <p:cNvPr id="63493" name="Text Box 4">
            <a:extLst>
              <a:ext uri="{FF2B5EF4-FFF2-40B4-BE49-F238E27FC236}">
                <a16:creationId xmlns:a16="http://schemas.microsoft.com/office/drawing/2014/main" id="{00CB83C1-7DC7-4793-90FD-4593B114D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667000"/>
            <a:ext cx="3657600" cy="2940050"/>
          </a:xfrm>
          <a:prstGeom prst="rect">
            <a:avLst/>
          </a:prstGeom>
          <a:noFill/>
          <a:ln w="19050">
            <a:solidFill>
              <a:srgbClr val="B025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4572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defTabSz="4572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defTabSz="4572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defTabSz="4572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defTabSz="4572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i="1"/>
              <a:t>s</a:t>
            </a:r>
            <a:r>
              <a:rPr lang="en-US" altLang="it-IT" i="1" baseline="-25000"/>
              <a:t>0</a:t>
            </a:r>
            <a:r>
              <a:rPr lang="en-US" altLang="it-IT" i="1"/>
              <a:t> </a:t>
            </a:r>
            <a:r>
              <a:rPr lang="en-US" altLang="it-IT" i="1">
                <a:sym typeface="Symbol" panose="05050102010706020507" pitchFamily="18" charset="2"/>
              </a:rPr>
              <a:t>  </a:t>
            </a:r>
            <a:r>
              <a:rPr lang="en-US" altLang="it-IT" i="1"/>
              <a:t>closure</a:t>
            </a:r>
            <a:r>
              <a:rPr lang="en-US" altLang="it-IT" sz="1000" i="1"/>
              <a:t> </a:t>
            </a:r>
            <a:r>
              <a:rPr lang="en-US" altLang="it-IT"/>
              <a:t>(</a:t>
            </a:r>
            <a:r>
              <a:rPr lang="en-US" altLang="it-IT" i="1"/>
              <a:t> </a:t>
            </a:r>
            <a:r>
              <a:rPr lang="en-US" altLang="it-IT"/>
              <a:t>[</a:t>
            </a:r>
            <a:r>
              <a:rPr lang="en-US" altLang="it-IT" i="1"/>
              <a:t>S’</a:t>
            </a:r>
            <a:r>
              <a:rPr lang="en-US" altLang="it-IT" i="1">
                <a:sym typeface="Symbol" panose="05050102010706020507" pitchFamily="18" charset="2"/>
              </a:rPr>
              <a:t>S</a:t>
            </a:r>
            <a:r>
              <a:rPr lang="en-US" altLang="it-IT">
                <a:sym typeface="Symbol" panose="05050102010706020507" pitchFamily="18" charset="2"/>
              </a:rPr>
              <a:t>,</a:t>
            </a:r>
            <a:r>
              <a:rPr lang="en-US" altLang="it-IT" u="sng">
                <a:sym typeface="Symbol" panose="05050102010706020507" pitchFamily="18" charset="2"/>
              </a:rPr>
              <a:t>EOF</a:t>
            </a:r>
            <a:r>
              <a:rPr lang="en-US" altLang="it-IT"/>
              <a:t>]</a:t>
            </a:r>
            <a:r>
              <a:rPr lang="en-US" altLang="it-IT" sz="1000"/>
              <a:t> </a:t>
            </a:r>
            <a:r>
              <a:rPr lang="en-US" altLang="it-IT"/>
              <a:t>)</a:t>
            </a:r>
          </a:p>
          <a:p>
            <a:r>
              <a:rPr lang="en-US" altLang="it-IT" i="1"/>
              <a:t>S  </a:t>
            </a:r>
            <a:r>
              <a:rPr lang="en-US" altLang="it-IT" i="1">
                <a:sym typeface="Symbol" panose="05050102010706020507" pitchFamily="18" charset="2"/>
              </a:rPr>
              <a:t>  </a:t>
            </a:r>
            <a:r>
              <a:rPr lang="en-US" altLang="it-IT">
                <a:sym typeface="Symbol" panose="05050102010706020507" pitchFamily="18" charset="2"/>
              </a:rPr>
              <a:t>{</a:t>
            </a:r>
            <a:r>
              <a:rPr lang="en-US" altLang="it-IT" i="1">
                <a:sym typeface="Symbol" panose="05050102010706020507" pitchFamily="18" charset="2"/>
              </a:rPr>
              <a:t> s</a:t>
            </a:r>
            <a:r>
              <a:rPr lang="en-US" altLang="it-IT" i="1" baseline="-25000">
                <a:sym typeface="Symbol" panose="05050102010706020507" pitchFamily="18" charset="2"/>
              </a:rPr>
              <a:t>0</a:t>
            </a:r>
            <a:r>
              <a:rPr lang="en-US" altLang="it-IT" i="1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 }</a:t>
            </a:r>
          </a:p>
          <a:p>
            <a:r>
              <a:rPr lang="en-US" altLang="it-IT" i="1">
                <a:sym typeface="Symbol" panose="05050102010706020507" pitchFamily="18" charset="2"/>
              </a:rPr>
              <a:t>k    </a:t>
            </a:r>
            <a:r>
              <a:rPr lang="en-US" altLang="it-IT">
                <a:sym typeface="Symbol" panose="05050102010706020507" pitchFamily="18" charset="2"/>
              </a:rPr>
              <a:t>1</a:t>
            </a:r>
            <a:endParaRPr lang="en-US" altLang="it-IT" i="1">
              <a:sym typeface="Symbol" panose="05050102010706020507" pitchFamily="18" charset="2"/>
            </a:endParaRPr>
          </a:p>
          <a:p>
            <a:pPr>
              <a:spcBef>
                <a:spcPct val="30000"/>
              </a:spcBef>
            </a:pPr>
            <a:r>
              <a:rPr lang="en-US" altLang="it-IT" i="1">
                <a:sym typeface="Symbol" panose="05050102010706020507" pitchFamily="18" charset="2"/>
              </a:rPr>
              <a:t>while </a:t>
            </a:r>
            <a:r>
              <a:rPr lang="en-US" altLang="it-IT">
                <a:sym typeface="Symbol" panose="05050102010706020507" pitchFamily="18" charset="2"/>
              </a:rPr>
              <a:t>(</a:t>
            </a:r>
            <a:r>
              <a:rPr lang="en-US" altLang="it-IT" sz="1000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S is still changing</a:t>
            </a:r>
            <a:r>
              <a:rPr lang="en-US" altLang="it-IT" sz="1000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)</a:t>
            </a:r>
            <a:endParaRPr lang="en-US" altLang="it-IT" i="1">
              <a:sym typeface="Symbol" panose="05050102010706020507" pitchFamily="18" charset="2"/>
            </a:endParaRPr>
          </a:p>
          <a:p>
            <a:r>
              <a:rPr lang="en-US" altLang="it-IT" i="1">
                <a:sym typeface="Symbol" panose="05050102010706020507" pitchFamily="18" charset="2"/>
              </a:rPr>
              <a:t>   </a:t>
            </a:r>
            <a:r>
              <a:rPr lang="en-US" altLang="it-IT" sz="1400" i="1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s</a:t>
            </a:r>
            <a:r>
              <a:rPr lang="en-US" altLang="it-IT" i="1" baseline="-25000">
                <a:sym typeface="Symbol" panose="05050102010706020507" pitchFamily="18" charset="2"/>
              </a:rPr>
              <a:t>j</a:t>
            </a:r>
            <a:r>
              <a:rPr lang="en-US" altLang="it-IT" sz="1400" i="1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</a:t>
            </a:r>
            <a:r>
              <a:rPr lang="en-US" altLang="it-IT" sz="1400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S and </a:t>
            </a:r>
            <a:r>
              <a:rPr lang="en-US" altLang="it-IT" sz="1400" i="1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x</a:t>
            </a:r>
            <a:r>
              <a:rPr lang="en-US" altLang="it-IT" sz="1600" i="1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</a:t>
            </a:r>
            <a:r>
              <a:rPr lang="en-US" altLang="it-IT" sz="1400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(</a:t>
            </a:r>
            <a:r>
              <a:rPr lang="en-US" altLang="it-IT" sz="1000" i="1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T </a:t>
            </a:r>
            <a:r>
              <a:rPr lang="en-US" altLang="it-IT">
                <a:sym typeface="Symbol" panose="05050102010706020507" pitchFamily="18" charset="2"/>
              </a:rPr>
              <a:t></a:t>
            </a:r>
            <a:r>
              <a:rPr lang="en-US" altLang="it-IT" sz="1200" i="1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NT</a:t>
            </a:r>
            <a:r>
              <a:rPr lang="en-US" altLang="it-IT" sz="1400" i="1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)</a:t>
            </a:r>
          </a:p>
          <a:p>
            <a:r>
              <a:rPr lang="en-US" altLang="it-IT" i="1">
                <a:sym typeface="Symbol" panose="05050102010706020507" pitchFamily="18" charset="2"/>
              </a:rPr>
              <a:t>         s</a:t>
            </a:r>
            <a:r>
              <a:rPr lang="en-US" altLang="it-IT" i="1" baseline="-25000">
                <a:sym typeface="Symbol" panose="05050102010706020507" pitchFamily="18" charset="2"/>
              </a:rPr>
              <a:t>k</a:t>
            </a:r>
            <a:r>
              <a:rPr lang="en-US" altLang="it-IT" i="1">
                <a:sym typeface="Symbol" panose="05050102010706020507" pitchFamily="18" charset="2"/>
              </a:rPr>
              <a:t>  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goto(s</a:t>
            </a:r>
            <a:r>
              <a:rPr lang="en-US" altLang="it-IT" i="1" baseline="-25000">
                <a:sym typeface="Symbol" panose="05050102010706020507" pitchFamily="18" charset="2"/>
              </a:rPr>
              <a:t>j</a:t>
            </a:r>
            <a:r>
              <a:rPr lang="en-US" altLang="it-IT" i="1">
                <a:sym typeface="Symbol" panose="05050102010706020507" pitchFamily="18" charset="2"/>
              </a:rPr>
              <a:t>,x)</a:t>
            </a:r>
          </a:p>
          <a:p>
            <a:r>
              <a:rPr lang="en-US" altLang="it-IT" i="1">
                <a:sym typeface="Symbol" panose="05050102010706020507" pitchFamily="18" charset="2"/>
              </a:rPr>
              <a:t>         record s</a:t>
            </a:r>
            <a:r>
              <a:rPr lang="en-US" altLang="it-IT" i="1" baseline="-25000">
                <a:sym typeface="Symbol" panose="05050102010706020507" pitchFamily="18" charset="2"/>
              </a:rPr>
              <a:t>j </a:t>
            </a:r>
            <a:r>
              <a:rPr lang="en-US" altLang="it-IT" i="1">
                <a:sym typeface="Symbol" panose="05050102010706020507" pitchFamily="18" charset="2"/>
              </a:rPr>
              <a:t> s</a:t>
            </a:r>
            <a:r>
              <a:rPr lang="en-US" altLang="it-IT" i="1" baseline="-25000">
                <a:sym typeface="Symbol" panose="05050102010706020507" pitchFamily="18" charset="2"/>
              </a:rPr>
              <a:t>k</a:t>
            </a:r>
            <a:r>
              <a:rPr lang="en-US" altLang="it-IT" i="1">
                <a:sym typeface="Symbol" panose="05050102010706020507" pitchFamily="18" charset="2"/>
              </a:rPr>
              <a:t> on x</a:t>
            </a:r>
          </a:p>
          <a:p>
            <a:r>
              <a:rPr lang="en-US" altLang="it-IT" i="1">
                <a:sym typeface="Symbol" panose="05050102010706020507" pitchFamily="18" charset="2"/>
              </a:rPr>
              <a:t>    if  s</a:t>
            </a:r>
            <a:r>
              <a:rPr lang="en-US" altLang="it-IT" i="1" baseline="-25000">
                <a:sym typeface="Symbol" panose="05050102010706020507" pitchFamily="18" charset="2"/>
              </a:rPr>
              <a:t>k</a:t>
            </a:r>
            <a:r>
              <a:rPr lang="en-US" altLang="it-IT">
                <a:sym typeface="Symbol" panose="05050102010706020507" pitchFamily="18" charset="2"/>
              </a:rPr>
              <a:t>  </a:t>
            </a:r>
            <a:r>
              <a:rPr lang="en-US" altLang="it-IT" i="1">
                <a:sym typeface="Symbol" panose="05050102010706020507" pitchFamily="18" charset="2"/>
              </a:rPr>
              <a:t>S then </a:t>
            </a:r>
          </a:p>
          <a:p>
            <a:r>
              <a:rPr lang="en-US" altLang="it-IT" i="1">
                <a:sym typeface="Symbol" panose="05050102010706020507" pitchFamily="18" charset="2"/>
              </a:rPr>
              <a:t>	  S  S </a:t>
            </a:r>
            <a:r>
              <a:rPr lang="en-US" altLang="it-IT">
                <a:sym typeface="Symbol" panose="05050102010706020507" pitchFamily="18" charset="2"/>
              </a:rPr>
              <a:t> { </a:t>
            </a:r>
            <a:r>
              <a:rPr lang="en-US" altLang="it-IT" i="1">
                <a:sym typeface="Symbol" panose="05050102010706020507" pitchFamily="18" charset="2"/>
              </a:rPr>
              <a:t>s</a:t>
            </a:r>
            <a:r>
              <a:rPr lang="en-US" altLang="it-IT" i="1" baseline="-25000">
                <a:sym typeface="Symbol" panose="05050102010706020507" pitchFamily="18" charset="2"/>
              </a:rPr>
              <a:t>k }</a:t>
            </a:r>
          </a:p>
          <a:p>
            <a:r>
              <a:rPr lang="en-US" altLang="it-IT" i="1" baseline="-25000">
                <a:sym typeface="Symbol" panose="05050102010706020507" pitchFamily="18" charset="2"/>
              </a:rPr>
              <a:t>	    </a:t>
            </a:r>
            <a:r>
              <a:rPr lang="en-US" altLang="it-IT" i="1">
                <a:sym typeface="Symbol" panose="05050102010706020507" pitchFamily="18" charset="2"/>
              </a:rPr>
              <a:t>k  k + 1</a:t>
            </a:r>
          </a:p>
        </p:txBody>
      </p:sp>
      <p:sp>
        <p:nvSpPr>
          <p:cNvPr id="63494" name="Text Box 5">
            <a:extLst>
              <a:ext uri="{FF2B5EF4-FFF2-40B4-BE49-F238E27FC236}">
                <a16:creationId xmlns:a16="http://schemas.microsoft.com/office/drawing/2014/main" id="{0BBB9576-A248-46F5-BDEC-5050AA6AC0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2667000"/>
            <a:ext cx="3352800" cy="1546225"/>
          </a:xfrm>
          <a:prstGeom prst="rect">
            <a:avLst/>
          </a:prstGeom>
          <a:noFill/>
          <a:ln w="19050">
            <a:solidFill>
              <a:srgbClr val="B025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2286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25000"/>
              </a:spcBef>
              <a:buClr>
                <a:srgbClr val="003C75"/>
              </a:buClr>
              <a:buSzPct val="120000"/>
              <a:buFont typeface="Symbol" panose="05050102010706020507" pitchFamily="18" charset="2"/>
              <a:buChar char=""/>
            </a:pPr>
            <a:r>
              <a:rPr lang="en-US" altLang="it-IT"/>
              <a:t>Fixed-point computation</a:t>
            </a:r>
          </a:p>
          <a:p>
            <a:pPr>
              <a:spcBef>
                <a:spcPct val="25000"/>
              </a:spcBef>
              <a:buClr>
                <a:srgbClr val="003C75"/>
              </a:buClr>
              <a:buSzPct val="120000"/>
              <a:buFont typeface="Symbol" panose="05050102010706020507" pitchFamily="18" charset="2"/>
              <a:buChar char=""/>
            </a:pPr>
            <a:r>
              <a:rPr lang="en-US" altLang="it-IT"/>
              <a:t>Loop adds to</a:t>
            </a:r>
            <a:r>
              <a:rPr lang="en-US" altLang="it-IT" sz="1200"/>
              <a:t> </a:t>
            </a:r>
            <a:r>
              <a:rPr lang="en-US" altLang="it-IT" i="1"/>
              <a:t>S</a:t>
            </a:r>
            <a:endParaRPr lang="en-US" altLang="it-IT"/>
          </a:p>
          <a:p>
            <a:pPr>
              <a:spcBef>
                <a:spcPct val="25000"/>
              </a:spcBef>
              <a:buClr>
                <a:srgbClr val="003C75"/>
              </a:buClr>
              <a:buSzPct val="120000"/>
              <a:buFont typeface="Symbol" panose="05050102010706020507" pitchFamily="18" charset="2"/>
              <a:buChar char=""/>
            </a:pPr>
            <a:r>
              <a:rPr lang="en-US" altLang="it-IT" i="1"/>
              <a:t>S </a:t>
            </a:r>
            <a:r>
              <a:rPr lang="en-US" altLang="it-IT">
                <a:sym typeface="Symbol" panose="05050102010706020507" pitchFamily="18" charset="2"/>
              </a:rPr>
              <a:t> 2</a:t>
            </a:r>
            <a:r>
              <a:rPr lang="en-US" altLang="it-IT" baseline="30000">
                <a:sym typeface="Symbol" panose="05050102010706020507" pitchFamily="18" charset="2"/>
              </a:rPr>
              <a:t>ITEMS</a:t>
            </a:r>
            <a:r>
              <a:rPr lang="en-US" altLang="it-IT">
                <a:sym typeface="Symbol" panose="05050102010706020507" pitchFamily="18" charset="2"/>
              </a:rPr>
              <a:t>, so </a:t>
            </a:r>
            <a:r>
              <a:rPr lang="en-US" altLang="it-IT" i="1">
                <a:sym typeface="Symbol" panose="05050102010706020507" pitchFamily="18" charset="2"/>
              </a:rPr>
              <a:t>S</a:t>
            </a:r>
            <a:r>
              <a:rPr lang="en-US" altLang="it-IT">
                <a:sym typeface="Symbol" panose="05050102010706020507" pitchFamily="18" charset="2"/>
              </a:rPr>
              <a:t> is finite</a:t>
            </a:r>
          </a:p>
          <a:p>
            <a:pPr>
              <a:spcBef>
                <a:spcPct val="75000"/>
              </a:spcBef>
              <a:buClr>
                <a:srgbClr val="003C75"/>
              </a:buClr>
              <a:buSzPct val="120000"/>
              <a:buFont typeface="Symbol" panose="05050102010706020507" pitchFamily="18" charset="2"/>
              <a:buChar char=""/>
            </a:pPr>
            <a:r>
              <a:rPr lang="en-US" altLang="it-IT" i="1">
                <a:sym typeface="Symbol" panose="05050102010706020507" pitchFamily="18" charset="2"/>
              </a:rPr>
              <a:t>Worklist version is faster</a:t>
            </a:r>
            <a:endParaRPr lang="en-US" altLang="it-IT" sz="1600"/>
          </a:p>
        </p:txBody>
      </p:sp>
    </p:spTree>
  </p:cSld>
  <p:clrMapOvr>
    <a:masterClrMapping/>
  </p:clrMapOvr>
  <p:transition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Footer Placeholder 3">
            <a:extLst>
              <a:ext uri="{FF2B5EF4-FFF2-40B4-BE49-F238E27FC236}">
                <a16:creationId xmlns:a16="http://schemas.microsoft.com/office/drawing/2014/main" id="{374A1F51-8973-43D3-90E1-14954A8C19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65538" name="Slide Number Placeholder 4">
            <a:extLst>
              <a:ext uri="{FF2B5EF4-FFF2-40B4-BE49-F238E27FC236}">
                <a16:creationId xmlns:a16="http://schemas.microsoft.com/office/drawing/2014/main" id="{5B572B2C-6E74-446E-9A1C-CCCF299A67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6EFB824-1803-40F8-BDCB-AEA5A6DF78AA}" type="slidenum">
              <a:rPr lang="en-US" altLang="it-IT"/>
              <a:pPr/>
              <a:t>27</a:t>
            </a:fld>
            <a:endParaRPr lang="en-US" altLang="it-IT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D7B09C16-5C29-424E-852C-90F5EA7D13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80000"/>
              </a:spcBef>
            </a:pPr>
            <a:r>
              <a:rPr lang="en-US" altLang="it-IT"/>
              <a:t>Example from SheepNoise</a:t>
            </a:r>
          </a:p>
        </p:txBody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36C7E00A-4C7E-49FF-BCF2-3BB8E9B276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80000"/>
              </a:spcBef>
              <a:buFont typeface="Times" panose="02020603050405020304" pitchFamily="18" charset="0"/>
              <a:buNone/>
            </a:pPr>
            <a:r>
              <a:rPr lang="en-US" altLang="it-IT"/>
              <a:t>Starts with S</a:t>
            </a:r>
            <a:r>
              <a:rPr lang="en-US" altLang="it-IT" baseline="-25000"/>
              <a:t>0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Times" panose="02020603050405020304" pitchFamily="18" charset="0"/>
              <a:buNone/>
            </a:pPr>
            <a:r>
              <a:rPr lang="en-US" altLang="it-IT" sz="1800" i="1">
                <a:sym typeface="Symbol" panose="05050102010706020507" pitchFamily="18" charset="2"/>
              </a:rPr>
              <a:t>S</a:t>
            </a:r>
            <a:r>
              <a:rPr lang="en-US" altLang="it-IT" sz="1800" i="1" baseline="-25000">
                <a:sym typeface="Symbol" panose="05050102010706020507" pitchFamily="18" charset="2"/>
              </a:rPr>
              <a:t>0</a:t>
            </a:r>
            <a:r>
              <a:rPr lang="en-US" altLang="it-IT" sz="1800" i="1">
                <a:sym typeface="Symbol" panose="05050102010706020507" pitchFamily="18" charset="2"/>
              </a:rPr>
              <a:t> </a:t>
            </a:r>
            <a:r>
              <a:rPr lang="en-US" altLang="it-IT" sz="1800">
                <a:sym typeface="Symbol" panose="05050102010706020507" pitchFamily="18" charset="2"/>
              </a:rPr>
              <a:t>: </a:t>
            </a:r>
            <a:r>
              <a:rPr lang="en-US" altLang="it-IT" sz="1600">
                <a:sym typeface="Symbol" panose="05050102010706020507" pitchFamily="18" charset="2"/>
              </a:rPr>
              <a:t>{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Goal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], 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</a:p>
          <a:p>
            <a:pPr lvl="1" eaLnBrk="1" hangingPunct="1">
              <a:lnSpc>
                <a:spcPct val="90000"/>
              </a:lnSpc>
              <a:spcBef>
                <a:spcPct val="5000"/>
              </a:spcBef>
              <a:buFontTx/>
              <a:buNone/>
            </a:pP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 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 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], 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,</a:t>
            </a:r>
          </a:p>
          <a:p>
            <a:pPr lvl="1" eaLnBrk="1" hangingPunct="1">
              <a:lnSpc>
                <a:spcPct val="90000"/>
              </a:lnSpc>
              <a:spcBef>
                <a:spcPct val="5000"/>
              </a:spcBef>
              <a:buFontTx/>
              <a:buNone/>
            </a:pP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 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</a:p>
          <a:p>
            <a:pPr lvl="1" eaLnBrk="1" hangingPunct="1">
              <a:lnSpc>
                <a:spcPct val="90000"/>
              </a:lnSpc>
              <a:spcBef>
                <a:spcPct val="5000"/>
              </a:spcBef>
              <a:buFontTx/>
              <a:buNone/>
            </a:pPr>
            <a:endParaRPr lang="en-US" altLang="it-IT"/>
          </a:p>
          <a:p>
            <a:pPr lvl="1" eaLnBrk="1" hangingPunct="1">
              <a:lnSpc>
                <a:spcPct val="90000"/>
              </a:lnSpc>
              <a:spcBef>
                <a:spcPct val="5000"/>
              </a:spcBef>
              <a:buFontTx/>
              <a:buNone/>
            </a:pPr>
            <a:endParaRPr lang="en-US" altLang="it-IT"/>
          </a:p>
          <a:p>
            <a:pPr lvl="1" eaLnBrk="1" hangingPunct="1">
              <a:lnSpc>
                <a:spcPct val="90000"/>
              </a:lnSpc>
              <a:spcBef>
                <a:spcPct val="5000"/>
              </a:spcBef>
              <a:buFontTx/>
              <a:buNone/>
            </a:pPr>
            <a:endParaRPr lang="en-US" altLang="it-IT"/>
          </a:p>
          <a:p>
            <a:pPr lvl="1" eaLnBrk="1" hangingPunct="1">
              <a:lnSpc>
                <a:spcPct val="90000"/>
              </a:lnSpc>
              <a:spcBef>
                <a:spcPct val="5000"/>
              </a:spcBef>
              <a:buFontTx/>
              <a:buNone/>
            </a:pPr>
            <a:endParaRPr lang="en-US" altLang="it-IT"/>
          </a:p>
          <a:p>
            <a:pPr lvl="1" eaLnBrk="1" hangingPunct="1">
              <a:lnSpc>
                <a:spcPct val="90000"/>
              </a:lnSpc>
              <a:spcBef>
                <a:spcPct val="5000"/>
              </a:spcBef>
              <a:buFontTx/>
              <a:buNone/>
            </a:pPr>
            <a:endParaRPr lang="en-US" altLang="it-IT"/>
          </a:p>
          <a:p>
            <a:pPr lvl="1" eaLnBrk="1" hangingPunct="1">
              <a:lnSpc>
                <a:spcPct val="90000"/>
              </a:lnSpc>
              <a:spcBef>
                <a:spcPct val="5000"/>
              </a:spcBef>
              <a:buFontTx/>
              <a:buNone/>
            </a:pPr>
            <a:endParaRPr lang="en-US" altLang="it-IT"/>
          </a:p>
          <a:p>
            <a:pPr lvl="1" eaLnBrk="1" hangingPunct="1">
              <a:lnSpc>
                <a:spcPct val="90000"/>
              </a:lnSpc>
              <a:spcBef>
                <a:spcPct val="5000"/>
              </a:spcBef>
              <a:buFontTx/>
              <a:buNone/>
            </a:pPr>
            <a:endParaRPr lang="en-US" altLang="it-IT"/>
          </a:p>
          <a:p>
            <a:pPr lvl="1" eaLnBrk="1" hangingPunct="1">
              <a:lnSpc>
                <a:spcPct val="90000"/>
              </a:lnSpc>
              <a:spcBef>
                <a:spcPct val="5000"/>
              </a:spcBef>
              <a:buFontTx/>
              <a:buNone/>
            </a:pPr>
            <a:endParaRPr lang="en-US" altLang="it-IT"/>
          </a:p>
          <a:p>
            <a:pPr lvl="1" eaLnBrk="1" hangingPunct="1">
              <a:lnSpc>
                <a:spcPct val="90000"/>
              </a:lnSpc>
              <a:spcBef>
                <a:spcPct val="5000"/>
              </a:spcBef>
              <a:buFontTx/>
              <a:buNone/>
            </a:pPr>
            <a:endParaRPr lang="en-US" altLang="it-IT"/>
          </a:p>
          <a:p>
            <a:pPr lvl="1" eaLnBrk="1" hangingPunct="1">
              <a:lnSpc>
                <a:spcPct val="90000"/>
              </a:lnSpc>
              <a:spcBef>
                <a:spcPct val="5000"/>
              </a:spcBef>
              <a:buFontTx/>
              <a:buNone/>
            </a:pPr>
            <a:endParaRPr lang="en-US" altLang="it-IT"/>
          </a:p>
          <a:p>
            <a:pPr lvl="1" eaLnBrk="1" hangingPunct="1">
              <a:lnSpc>
                <a:spcPct val="90000"/>
              </a:lnSpc>
              <a:spcBef>
                <a:spcPct val="5000"/>
              </a:spcBef>
              <a:buFontTx/>
              <a:buNone/>
            </a:pPr>
            <a:endParaRPr lang="en-US" altLang="it-IT"/>
          </a:p>
          <a:p>
            <a:pPr lvl="1" eaLnBrk="1" hangingPunct="1">
              <a:lnSpc>
                <a:spcPct val="90000"/>
              </a:lnSpc>
              <a:spcBef>
                <a:spcPct val="5000"/>
              </a:spcBef>
              <a:buFontTx/>
              <a:buNone/>
            </a:pPr>
            <a:endParaRPr lang="en-US" altLang="it-IT"/>
          </a:p>
          <a:p>
            <a:pPr lvl="1" eaLnBrk="1" hangingPunct="1">
              <a:lnSpc>
                <a:spcPct val="90000"/>
              </a:lnSpc>
              <a:spcBef>
                <a:spcPct val="5000"/>
              </a:spcBef>
              <a:buFontTx/>
              <a:buNone/>
            </a:pPr>
            <a:endParaRPr lang="en-US" altLang="it-IT"/>
          </a:p>
          <a:p>
            <a:pPr lvl="1" eaLnBrk="1" hangingPunct="1">
              <a:lnSpc>
                <a:spcPct val="90000"/>
              </a:lnSpc>
              <a:spcBef>
                <a:spcPct val="5000"/>
              </a:spcBef>
              <a:buFontTx/>
              <a:buNone/>
            </a:pPr>
            <a:endParaRPr lang="en-US" altLang="it-IT"/>
          </a:p>
        </p:txBody>
      </p:sp>
      <p:sp>
        <p:nvSpPr>
          <p:cNvPr id="46084" name="Text Box 4">
            <a:extLst>
              <a:ext uri="{FF2B5EF4-FFF2-40B4-BE49-F238E27FC236}">
                <a16:creationId xmlns:a16="http://schemas.microsoft.com/office/drawing/2014/main" id="{F466D9E4-3563-4F26-BBB0-A51381CE89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4572000"/>
            <a:ext cx="6721475" cy="170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1822CD"/>
              </a:buClr>
              <a:buSzPct val="120000"/>
              <a:buFont typeface="Times" panose="02020603050405020304" pitchFamily="18" charset="0"/>
              <a:buNone/>
            </a:pPr>
            <a:r>
              <a:rPr lang="en-US" altLang="it-IT" sz="2000">
                <a:ea typeface="Times" panose="02020603050405020304" pitchFamily="18" charset="0"/>
                <a:cs typeface="Times" panose="02020603050405020304" pitchFamily="18" charset="0"/>
              </a:rPr>
              <a:t>Iteration 2 computes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>
                <a:srgbClr val="1822CD"/>
              </a:buClr>
              <a:buSzPct val="120000"/>
              <a:buFont typeface="Times" panose="02020603050405020304" pitchFamily="18" charset="0"/>
              <a:buNone/>
            </a:pPr>
            <a:r>
              <a:rPr lang="en-US" altLang="it-IT" sz="2000"/>
              <a:t> </a:t>
            </a:r>
            <a:r>
              <a:rPr lang="en-US" altLang="it-IT" i="1"/>
              <a:t>S</a:t>
            </a:r>
            <a:r>
              <a:rPr lang="en-US" altLang="it-IT" i="1" baseline="-25000"/>
              <a:t>3  </a:t>
            </a:r>
            <a:r>
              <a:rPr lang="en-US" altLang="it-IT"/>
              <a:t>= </a:t>
            </a:r>
            <a:r>
              <a:rPr lang="en-US" altLang="it-IT" i="1"/>
              <a:t>Goto</a:t>
            </a:r>
            <a:r>
              <a:rPr lang="en-US" altLang="it-IT"/>
              <a:t>(</a:t>
            </a:r>
            <a:r>
              <a:rPr lang="en-US" altLang="it-IT" i="1"/>
              <a:t>S</a:t>
            </a:r>
            <a:r>
              <a:rPr lang="en-US" altLang="it-IT" i="1" baseline="-25000"/>
              <a:t>1</a:t>
            </a:r>
            <a:r>
              <a:rPr lang="en-US" altLang="it-IT" i="1"/>
              <a:t> 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/>
              <a:t>) = </a:t>
            </a:r>
            <a:r>
              <a:rPr lang="en-US" altLang="it-IT" sz="1600">
                <a:sym typeface="Symbol" panose="05050102010706020507" pitchFamily="18" charset="2"/>
              </a:rPr>
              <a:t>{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</a:p>
          <a:p>
            <a:pPr lvl="1" eaLnBrk="1" hangingPunct="1">
              <a:lnSpc>
                <a:spcPct val="90000"/>
              </a:lnSpc>
              <a:spcBef>
                <a:spcPct val="5000"/>
              </a:spcBef>
              <a:buClr>
                <a:srgbClr val="1822CD"/>
              </a:buClr>
              <a:buSzPct val="80000"/>
            </a:pP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                                      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  <a:endParaRPr lang="en-US" altLang="it-IT" sz="1600" b="1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5000"/>
              </a:spcBef>
              <a:buClr>
                <a:srgbClr val="1822CD"/>
              </a:buClr>
              <a:buSzPct val="80000"/>
            </a:pPr>
            <a:endParaRPr lang="en-US" altLang="it-IT"/>
          </a:p>
          <a:p>
            <a:pPr lvl="1" eaLnBrk="1" hangingPunct="1">
              <a:lnSpc>
                <a:spcPct val="90000"/>
              </a:lnSpc>
              <a:spcBef>
                <a:spcPct val="5000"/>
              </a:spcBef>
              <a:buClr>
                <a:srgbClr val="1822CD"/>
              </a:buClr>
              <a:buSzPct val="80000"/>
            </a:pPr>
            <a:endParaRPr lang="en-US" altLang="it-IT"/>
          </a:p>
          <a:p>
            <a:endParaRPr lang="en-US" altLang="it-IT"/>
          </a:p>
        </p:txBody>
      </p:sp>
      <p:sp>
        <p:nvSpPr>
          <p:cNvPr id="46085" name="Text Box 5">
            <a:extLst>
              <a:ext uri="{FF2B5EF4-FFF2-40B4-BE49-F238E27FC236}">
                <a16:creationId xmlns:a16="http://schemas.microsoft.com/office/drawing/2014/main" id="{22D938B5-E66C-4A76-BDBA-715715AF05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514600"/>
            <a:ext cx="7696200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4025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defTabSz="454025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defTabSz="454025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defTabSz="454025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defTabSz="454025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defTabSz="454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defTabSz="454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defTabSz="454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defTabSz="454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1822CD"/>
              </a:buClr>
              <a:buSzPct val="120000"/>
              <a:buFont typeface="Times" panose="02020603050405020304" pitchFamily="18" charset="0"/>
              <a:buNone/>
            </a:pPr>
            <a:r>
              <a:rPr lang="en-US" altLang="it-IT" sz="2000"/>
              <a:t>Iteration 1 computes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>
                <a:srgbClr val="1822CD"/>
              </a:buClr>
              <a:buSzPct val="120000"/>
              <a:buFont typeface="Times" panose="02020603050405020304" pitchFamily="18" charset="0"/>
              <a:buNone/>
            </a:pPr>
            <a:r>
              <a:rPr lang="en-US" altLang="it-IT" i="1"/>
              <a:t>S</a:t>
            </a:r>
            <a:r>
              <a:rPr lang="en-US" altLang="it-IT" i="1" baseline="-25000"/>
              <a:t>1  </a:t>
            </a:r>
            <a:r>
              <a:rPr lang="en-US" altLang="it-IT"/>
              <a:t>= </a:t>
            </a:r>
            <a:r>
              <a:rPr lang="en-US" altLang="it-IT" i="1"/>
              <a:t>Goto</a:t>
            </a:r>
            <a:r>
              <a:rPr lang="en-US" altLang="it-IT"/>
              <a:t>(</a:t>
            </a:r>
            <a:r>
              <a:rPr lang="en-US" altLang="it-IT" i="1"/>
              <a:t>S</a:t>
            </a:r>
            <a:r>
              <a:rPr lang="en-US" altLang="it-IT" i="1" baseline="-25000"/>
              <a:t>0</a:t>
            </a:r>
            <a:r>
              <a:rPr lang="en-US" altLang="it-IT" i="1"/>
              <a:t> , 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/>
              <a:t>) = 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>
                <a:srgbClr val="1822CD"/>
              </a:buClr>
              <a:buSzPct val="120000"/>
              <a:buFont typeface="Times" panose="02020603050405020304" pitchFamily="18" charset="0"/>
              <a:buNone/>
            </a:pPr>
            <a:r>
              <a:rPr lang="en-US" altLang="it-IT" sz="1600">
                <a:sym typeface="Symbol" panose="05050102010706020507" pitchFamily="18" charset="2"/>
              </a:rPr>
              <a:t>	{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Goal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], 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</a:p>
          <a:p>
            <a:pPr lvl="1" eaLnBrk="1" hangingPunct="1">
              <a:lnSpc>
                <a:spcPct val="90000"/>
              </a:lnSpc>
              <a:spcBef>
                <a:spcPct val="5000"/>
              </a:spcBef>
              <a:buClr>
                <a:srgbClr val="1822CD"/>
              </a:buClr>
              <a:buSzPct val="80000"/>
            </a:pP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 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1822CD"/>
              </a:buClr>
              <a:buSzPct val="120000"/>
              <a:buFont typeface="Times" panose="02020603050405020304" pitchFamily="18" charset="0"/>
              <a:buNone/>
            </a:pPr>
            <a:r>
              <a:rPr lang="en-US" altLang="it-IT" i="1"/>
              <a:t>S</a:t>
            </a:r>
            <a:r>
              <a:rPr lang="en-US" altLang="it-IT" i="1" baseline="-25000"/>
              <a:t>2  </a:t>
            </a:r>
            <a:r>
              <a:rPr lang="en-US" altLang="it-IT"/>
              <a:t>= </a:t>
            </a:r>
            <a:r>
              <a:rPr lang="en-US" altLang="it-IT" i="1"/>
              <a:t>Goto</a:t>
            </a:r>
            <a:r>
              <a:rPr lang="en-US" altLang="it-IT"/>
              <a:t>(</a:t>
            </a:r>
            <a:r>
              <a:rPr lang="en-US" altLang="it-IT" i="1"/>
              <a:t>S</a:t>
            </a:r>
            <a:r>
              <a:rPr lang="en-US" altLang="it-IT" i="1" baseline="-25000"/>
              <a:t>0</a:t>
            </a:r>
            <a:r>
              <a:rPr lang="en-US" altLang="it-IT" i="1"/>
              <a:t> 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/>
              <a:t>) = </a:t>
            </a:r>
            <a:r>
              <a:rPr lang="en-US" altLang="it-IT" sz="1600">
                <a:sym typeface="Symbol" panose="05050102010706020507" pitchFamily="18" charset="2"/>
              </a:rPr>
              <a:t>{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400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], 					      </a:t>
            </a:r>
            <a:r>
              <a:rPr lang="en-US" altLang="it-IT" sz="1000">
                <a:ea typeface="Times" panose="02020603050405020304" pitchFamily="18" charset="0"/>
                <a:cs typeface="Times" panose="02020603050405020304" pitchFamily="18" charset="0"/>
              </a:rPr>
              <a:t> 					              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  <a:endParaRPr lang="en-US" altLang="it-IT" sz="2000">
              <a:ea typeface="Times" panose="02020603050405020304" pitchFamily="18" charset="0"/>
              <a:cs typeface="Times" panose="02020603050405020304" pitchFamily="18" charset="0"/>
            </a:endParaRPr>
          </a:p>
          <a:p>
            <a:endParaRPr lang="en-US" altLang="it-IT"/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0DCD01CC-AA3C-42A3-906D-F1702742922F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3429000"/>
            <a:ext cx="2628900" cy="2200275"/>
            <a:chOff x="4008" y="2246"/>
            <a:chExt cx="1656" cy="1386"/>
          </a:xfrm>
        </p:grpSpPr>
        <p:sp>
          <p:nvSpPr>
            <p:cNvPr id="65557" name="Text Box 7">
              <a:extLst>
                <a:ext uri="{FF2B5EF4-FFF2-40B4-BE49-F238E27FC236}">
                  <a16:creationId xmlns:a16="http://schemas.microsoft.com/office/drawing/2014/main" id="{C22E344F-33E5-482A-AE0A-9D618F6179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2246"/>
              <a:ext cx="1488" cy="682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B025A6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600">
                  <a:solidFill>
                    <a:srgbClr val="B025A6"/>
                  </a:solidFill>
                </a:rPr>
                <a:t>Nothing more to compute, since • is at the end of every item in </a:t>
              </a:r>
              <a:r>
                <a:rPr lang="en-US" altLang="it-IT" sz="1600" i="1">
                  <a:solidFill>
                    <a:srgbClr val="B025A6"/>
                  </a:solidFill>
                </a:rPr>
                <a:t>S</a:t>
              </a:r>
              <a:r>
                <a:rPr lang="en-US" altLang="it-IT" sz="1600" i="1" baseline="-25000">
                  <a:solidFill>
                    <a:srgbClr val="B025A6"/>
                  </a:solidFill>
                </a:rPr>
                <a:t>3</a:t>
              </a:r>
              <a:r>
                <a:rPr lang="en-US" altLang="it-IT" sz="1600" i="1">
                  <a:solidFill>
                    <a:srgbClr val="B025A6"/>
                  </a:solidFill>
                </a:rPr>
                <a:t> .</a:t>
              </a:r>
              <a:endParaRPr lang="en-US" altLang="it-IT" sz="1600">
                <a:solidFill>
                  <a:srgbClr val="B025A6"/>
                </a:solidFill>
              </a:endParaRPr>
            </a:p>
          </p:txBody>
        </p:sp>
        <p:sp>
          <p:nvSpPr>
            <p:cNvPr id="65558" name="Oval 8">
              <a:extLst>
                <a:ext uri="{FF2B5EF4-FFF2-40B4-BE49-F238E27FC236}">
                  <a16:creationId xmlns:a16="http://schemas.microsoft.com/office/drawing/2014/main" id="{464E6C09-4286-42DA-9C2D-B6FA3F80DE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8" y="3104"/>
              <a:ext cx="192" cy="528"/>
            </a:xfrm>
            <a:prstGeom prst="ellipse">
              <a:avLst/>
            </a:prstGeom>
            <a:noFill/>
            <a:ln w="12700">
              <a:solidFill>
                <a:srgbClr val="B025A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cxnSp>
          <p:nvCxnSpPr>
            <p:cNvPr id="65559" name="AutoShape 9">
              <a:extLst>
                <a:ext uri="{FF2B5EF4-FFF2-40B4-BE49-F238E27FC236}">
                  <a16:creationId xmlns:a16="http://schemas.microsoft.com/office/drawing/2014/main" id="{29677298-D9F1-4266-AF1B-5AC5D18A0F87}"/>
                </a:ext>
              </a:extLst>
            </p:cNvPr>
            <p:cNvCxnSpPr>
              <a:cxnSpLocks noChangeShapeType="1"/>
              <a:stCxn id="65557" idx="2"/>
              <a:endCxn id="65558" idx="6"/>
            </p:cNvCxnSpPr>
            <p:nvPr/>
          </p:nvCxnSpPr>
          <p:spPr bwMode="auto">
            <a:xfrm rot="5400000">
              <a:off x="4388" y="2836"/>
              <a:ext cx="344" cy="720"/>
            </a:xfrm>
            <a:prstGeom prst="curvedConnector2">
              <a:avLst/>
            </a:prstGeom>
            <a:noFill/>
            <a:ln w="12700">
              <a:solidFill>
                <a:srgbClr val="B025A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40" name="Group 111">
            <a:extLst>
              <a:ext uri="{FF2B5EF4-FFF2-40B4-BE49-F238E27FC236}">
                <a16:creationId xmlns:a16="http://schemas.microsoft.com/office/drawing/2014/main" id="{90DF9570-4788-4BBA-BACA-947A810903B4}"/>
              </a:ext>
            </a:extLst>
          </p:cNvPr>
          <p:cNvGraphicFramePr>
            <a:graphicFrameLocks noGrp="1"/>
          </p:cNvGraphicFramePr>
          <p:nvPr/>
        </p:nvGraphicFramePr>
        <p:xfrm>
          <a:off x="5105400" y="5715000"/>
          <a:ext cx="3429000" cy="768350"/>
        </p:xfrm>
        <a:graphic>
          <a:graphicData uri="http://schemas.openxmlformats.org/drawingml/2006/table">
            <a:tbl>
              <a:tblPr/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4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4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5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1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35" marB="45735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marT="45735" marB="4573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5" marB="4573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  <a:endParaRPr kumimoji="0" lang="en-US" sz="1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5" marB="45735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1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35" marB="4573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  <a:endParaRPr kumimoji="0" lang="en-US" sz="1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5" marB="4573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marT="45735" marB="4573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 </a:t>
                      </a:r>
                      <a:r>
                        <a:rPr kumimoji="0" lang="en-US" sz="1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endParaRPr kumimoji="0" lang="en-US" sz="1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5" marB="4573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1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35" marB="4573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5" marB="4573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5" marB="4573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</a:p>
                  </a:txBody>
                  <a:tcPr marT="45735" marB="4573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4" grpId="0" autoUpdateAnimBg="0"/>
      <p:bldP spid="46085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Footer Placeholder 3">
            <a:extLst>
              <a:ext uri="{FF2B5EF4-FFF2-40B4-BE49-F238E27FC236}">
                <a16:creationId xmlns:a16="http://schemas.microsoft.com/office/drawing/2014/main" id="{A0505393-AA60-4B1F-A217-B9E8FF7992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67586" name="Slide Number Placeholder 4">
            <a:extLst>
              <a:ext uri="{FF2B5EF4-FFF2-40B4-BE49-F238E27FC236}">
                <a16:creationId xmlns:a16="http://schemas.microsoft.com/office/drawing/2014/main" id="{AB06C8C1-1150-4A11-BACD-C2251D1CAC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CE2A437-38AC-4954-9584-32EBC0830059}" type="slidenum">
              <a:rPr lang="en-US" altLang="it-IT"/>
              <a:pPr/>
              <a:t>28</a:t>
            </a:fld>
            <a:endParaRPr lang="en-US" altLang="it-IT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80AA3DEE-F6E4-4B2B-8074-9AF4B7C6D2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Example from SheepNoise</a:t>
            </a:r>
          </a:p>
        </p:txBody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5D1F50E3-C78D-4D5B-95C9-6E2CB01D63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8325" y="1270000"/>
            <a:ext cx="8007350" cy="4876800"/>
          </a:xfrm>
        </p:spPr>
        <p:txBody>
          <a:bodyPr/>
          <a:lstStyle/>
          <a:p>
            <a:pPr eaLnBrk="1" hangingPunct="1">
              <a:lnSpc>
                <a:spcPct val="30000"/>
              </a:lnSpc>
              <a:spcBef>
                <a:spcPct val="0"/>
              </a:spcBef>
              <a:buFont typeface="Times" panose="02020603050405020304" pitchFamily="18" charset="0"/>
              <a:buNone/>
            </a:pPr>
            <a:endParaRPr lang="en-US" altLang="it-IT" sz="1600" i="1">
              <a:sym typeface="Symbol" panose="05050102010706020507" pitchFamily="18" charset="2"/>
            </a:endParaRPr>
          </a:p>
          <a:p>
            <a:pPr eaLnBrk="1" hangingPunct="1">
              <a:spcBef>
                <a:spcPct val="40000"/>
              </a:spcBef>
              <a:buFont typeface="Times" panose="02020603050405020304" pitchFamily="18" charset="0"/>
              <a:buNone/>
            </a:pPr>
            <a:r>
              <a:rPr lang="en-US" altLang="it-IT" sz="1600" i="1">
                <a:sym typeface="Symbol" panose="05050102010706020507" pitchFamily="18" charset="2"/>
              </a:rPr>
              <a:t>S</a:t>
            </a:r>
            <a:r>
              <a:rPr lang="en-US" altLang="it-IT" sz="1600" i="1" baseline="-25000">
                <a:sym typeface="Symbol" panose="05050102010706020507" pitchFamily="18" charset="2"/>
              </a:rPr>
              <a:t>0</a:t>
            </a:r>
            <a:r>
              <a:rPr lang="en-US" altLang="it-IT" sz="1600" i="1">
                <a:sym typeface="Symbol" panose="05050102010706020507" pitchFamily="18" charset="2"/>
              </a:rPr>
              <a:t> </a:t>
            </a:r>
            <a:r>
              <a:rPr lang="en-US" altLang="it-IT" sz="1600">
                <a:sym typeface="Symbol" panose="05050102010706020507" pitchFamily="18" charset="2"/>
              </a:rPr>
              <a:t>: {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Goal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], 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</a:p>
          <a:p>
            <a:pPr lvl="1" eaLnBrk="1" hangingPunct="1">
              <a:spcBef>
                <a:spcPct val="5000"/>
              </a:spcBef>
              <a:buFontTx/>
              <a:buNone/>
            </a:pP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 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], 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,</a:t>
            </a:r>
          </a:p>
          <a:p>
            <a:pPr lvl="1" eaLnBrk="1" hangingPunct="1">
              <a:spcBef>
                <a:spcPct val="5000"/>
              </a:spcBef>
              <a:buFontTx/>
              <a:buNone/>
            </a:pP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 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</a:p>
          <a:p>
            <a:pPr eaLnBrk="1" hangingPunct="1">
              <a:spcBef>
                <a:spcPct val="120000"/>
              </a:spcBef>
              <a:buFont typeface="Times" panose="02020603050405020304" pitchFamily="18" charset="0"/>
              <a:buNone/>
            </a:pPr>
            <a:r>
              <a:rPr lang="en-US" altLang="it-IT" sz="1600" i="1"/>
              <a:t>S</a:t>
            </a:r>
            <a:r>
              <a:rPr lang="en-US" altLang="it-IT" sz="1600" i="1" baseline="-25000"/>
              <a:t>1  </a:t>
            </a:r>
            <a:r>
              <a:rPr lang="en-US" altLang="it-IT" sz="1600"/>
              <a:t>= </a:t>
            </a:r>
            <a:r>
              <a:rPr lang="en-US" altLang="it-IT" sz="1600" i="1"/>
              <a:t>Goto</a:t>
            </a:r>
            <a:r>
              <a:rPr lang="en-US" altLang="it-IT" sz="1600"/>
              <a:t>(</a:t>
            </a:r>
            <a:r>
              <a:rPr lang="en-US" altLang="it-IT" sz="1600" i="1"/>
              <a:t>S</a:t>
            </a:r>
            <a:r>
              <a:rPr lang="en-US" altLang="it-IT" sz="1600" i="1" baseline="-25000"/>
              <a:t>0</a:t>
            </a:r>
            <a:r>
              <a:rPr lang="en-US" altLang="it-IT" sz="1600" i="1"/>
              <a:t> , 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/>
              <a:t>) = </a:t>
            </a:r>
          </a:p>
          <a:p>
            <a:pPr eaLnBrk="1" hangingPunct="1">
              <a:spcBef>
                <a:spcPct val="10000"/>
              </a:spcBef>
              <a:buFont typeface="Times" panose="02020603050405020304" pitchFamily="18" charset="0"/>
              <a:buNone/>
            </a:pPr>
            <a:r>
              <a:rPr lang="en-US" altLang="it-IT" sz="1600">
                <a:sym typeface="Symbol" panose="05050102010706020507" pitchFamily="18" charset="2"/>
              </a:rPr>
              <a:t>	{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Goal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], 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</a:p>
          <a:p>
            <a:pPr lvl="1" eaLnBrk="1" hangingPunct="1">
              <a:spcBef>
                <a:spcPct val="5000"/>
              </a:spcBef>
              <a:buFontTx/>
              <a:buNone/>
            </a:pP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 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</a:p>
          <a:p>
            <a:pPr eaLnBrk="1" hangingPunct="1">
              <a:spcBef>
                <a:spcPct val="120000"/>
              </a:spcBef>
              <a:buFont typeface="Times" panose="02020603050405020304" pitchFamily="18" charset="0"/>
              <a:buNone/>
            </a:pPr>
            <a:r>
              <a:rPr lang="en-US" altLang="it-IT" sz="1600" i="1"/>
              <a:t>S</a:t>
            </a:r>
            <a:r>
              <a:rPr lang="en-US" altLang="it-IT" sz="1600" i="1" baseline="-25000"/>
              <a:t>2  </a:t>
            </a:r>
            <a:r>
              <a:rPr lang="en-US" altLang="it-IT" sz="1600"/>
              <a:t>= </a:t>
            </a:r>
            <a:r>
              <a:rPr lang="en-US" altLang="it-IT" sz="1600" i="1"/>
              <a:t>Goto</a:t>
            </a:r>
            <a:r>
              <a:rPr lang="en-US" altLang="it-IT" sz="1600"/>
              <a:t>(</a:t>
            </a:r>
            <a:r>
              <a:rPr lang="en-US" altLang="it-IT" sz="1600" i="1"/>
              <a:t>S</a:t>
            </a:r>
            <a:r>
              <a:rPr lang="en-US" altLang="it-IT" sz="1600" i="1" baseline="-25000"/>
              <a:t>0</a:t>
            </a:r>
            <a:r>
              <a:rPr lang="en-US" altLang="it-IT" sz="1600" i="1"/>
              <a:t> 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/>
              <a:t>) = </a:t>
            </a:r>
            <a:r>
              <a:rPr lang="en-US" altLang="it-IT" sz="1600">
                <a:sym typeface="Symbol" panose="05050102010706020507" pitchFamily="18" charset="2"/>
              </a:rPr>
              <a:t>{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], 					       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</a:p>
          <a:p>
            <a:pPr eaLnBrk="1" hangingPunct="1">
              <a:spcBef>
                <a:spcPct val="120000"/>
              </a:spcBef>
              <a:buFont typeface="Times" panose="02020603050405020304" pitchFamily="18" charset="0"/>
              <a:buNone/>
            </a:pPr>
            <a:r>
              <a:rPr lang="en-US" altLang="it-IT" sz="1600" i="1"/>
              <a:t>S</a:t>
            </a:r>
            <a:r>
              <a:rPr lang="en-US" altLang="it-IT" sz="1600" i="1" baseline="-25000"/>
              <a:t>3  </a:t>
            </a:r>
            <a:r>
              <a:rPr lang="en-US" altLang="it-IT" sz="1600"/>
              <a:t>= </a:t>
            </a:r>
            <a:r>
              <a:rPr lang="en-US" altLang="it-IT" sz="1600" i="1"/>
              <a:t>Goto</a:t>
            </a:r>
            <a:r>
              <a:rPr lang="en-US" altLang="it-IT" sz="1600"/>
              <a:t>(</a:t>
            </a:r>
            <a:r>
              <a:rPr lang="en-US" altLang="it-IT" sz="1600" i="1"/>
              <a:t>S</a:t>
            </a:r>
            <a:r>
              <a:rPr lang="en-US" altLang="it-IT" sz="1600" i="1" baseline="-25000"/>
              <a:t>1</a:t>
            </a:r>
            <a:r>
              <a:rPr lang="en-US" altLang="it-IT" sz="1600" i="1"/>
              <a:t> 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/>
              <a:t>) = </a:t>
            </a:r>
            <a:r>
              <a:rPr lang="en-US" altLang="it-IT" sz="1600">
                <a:sym typeface="Symbol" panose="05050102010706020507" pitchFamily="18" charset="2"/>
              </a:rPr>
              <a:t>{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</a:p>
          <a:p>
            <a:pPr lvl="1" eaLnBrk="1" hangingPunct="1">
              <a:spcBef>
                <a:spcPct val="5000"/>
              </a:spcBef>
              <a:buFontTx/>
              <a:buNone/>
            </a:pP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                                    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i="1">
                <a:sym typeface="Symbol" panose="05050102010706020507" pitchFamily="18" charset="2"/>
              </a:rPr>
              <a:t>•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</a:p>
        </p:txBody>
      </p:sp>
      <p:graphicFrame>
        <p:nvGraphicFramePr>
          <p:cNvPr id="33" name="Group 111">
            <a:extLst>
              <a:ext uri="{FF2B5EF4-FFF2-40B4-BE49-F238E27FC236}">
                <a16:creationId xmlns:a16="http://schemas.microsoft.com/office/drawing/2014/main" id="{DAD3A175-7976-47EE-931F-16F7453144FC}"/>
              </a:ext>
            </a:extLst>
          </p:cNvPr>
          <p:cNvGraphicFramePr>
            <a:graphicFrameLocks noGrp="1"/>
          </p:cNvGraphicFramePr>
          <p:nvPr/>
        </p:nvGraphicFramePr>
        <p:xfrm>
          <a:off x="4953000" y="5708650"/>
          <a:ext cx="3429000" cy="768350"/>
        </p:xfrm>
        <a:graphic>
          <a:graphicData uri="http://schemas.openxmlformats.org/drawingml/2006/table">
            <a:tbl>
              <a:tblPr/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4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4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5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1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35" marB="45735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marT="45735" marB="4573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5" marB="4573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  <a:endParaRPr kumimoji="0" lang="en-US" sz="1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5" marB="45735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1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35" marB="4573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  <a:endParaRPr kumimoji="0" lang="en-US" sz="1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5" marB="4573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marT="45735" marB="4573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 </a:t>
                      </a:r>
                      <a:r>
                        <a:rPr kumimoji="0" lang="en-US" sz="1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endParaRPr kumimoji="0" lang="en-US" sz="1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5" marB="4573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1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35" marB="4573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5" marB="4573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5" marB="4573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2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</a:p>
                  </a:txBody>
                  <a:tcPr marT="45735" marB="4573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Footer Placeholder 3">
            <a:extLst>
              <a:ext uri="{FF2B5EF4-FFF2-40B4-BE49-F238E27FC236}">
                <a16:creationId xmlns:a16="http://schemas.microsoft.com/office/drawing/2014/main" id="{8434E910-1B09-4AF4-A9BD-BB16B780A5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69634" name="Slide Number Placeholder 4">
            <a:extLst>
              <a:ext uri="{FF2B5EF4-FFF2-40B4-BE49-F238E27FC236}">
                <a16:creationId xmlns:a16="http://schemas.microsoft.com/office/drawing/2014/main" id="{5D8D59FE-64FD-4A5E-A789-2FEDDB3525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AFC6D4A-CBC5-4756-A572-728411247C0F}" type="slidenum">
              <a:rPr lang="en-US" altLang="it-IT"/>
              <a:pPr/>
              <a:t>29</a:t>
            </a:fld>
            <a:endParaRPr lang="en-US" altLang="it-IT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5DBAFCDE-3373-4463-BC6D-BAB9FA9DD6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00000"/>
              </a:spcBef>
            </a:pPr>
            <a:r>
              <a:rPr lang="en-US" altLang="it-IT"/>
              <a:t>Filling in the A</a:t>
            </a:r>
            <a:r>
              <a:rPr lang="en-US" altLang="it-IT" sz="2000"/>
              <a:t>CTION</a:t>
            </a:r>
            <a:r>
              <a:rPr lang="en-US" altLang="it-IT"/>
              <a:t> and G</a:t>
            </a:r>
            <a:r>
              <a:rPr lang="en-US" altLang="it-IT" sz="2000"/>
              <a:t>OTO</a:t>
            </a:r>
            <a:r>
              <a:rPr lang="en-US" altLang="it-IT"/>
              <a:t> Tables</a:t>
            </a:r>
          </a:p>
        </p:txBody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2C080CF4-D624-4184-B0D6-B95D646D40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Times" panose="02020603050405020304" pitchFamily="18" charset="0"/>
              <a:buNone/>
            </a:pPr>
            <a:r>
              <a:rPr lang="en-US" altLang="it-IT"/>
              <a:t>The algorithm</a:t>
            </a:r>
            <a:endParaRPr lang="en-US" altLang="it-IT" sz="1800"/>
          </a:p>
          <a:p>
            <a:pPr eaLnBrk="1" hangingPunct="1">
              <a:spcBef>
                <a:spcPct val="800000"/>
              </a:spcBef>
              <a:buFont typeface="Times" panose="02020603050405020304" pitchFamily="18" charset="0"/>
              <a:buNone/>
            </a:pPr>
            <a:endParaRPr lang="en-US" altLang="it-IT" sz="1800"/>
          </a:p>
          <a:p>
            <a:pPr eaLnBrk="1" hangingPunct="1">
              <a:spcBef>
                <a:spcPct val="400000"/>
              </a:spcBef>
              <a:buFont typeface="Times" panose="02020603050405020304" pitchFamily="18" charset="0"/>
              <a:buNone/>
            </a:pPr>
            <a:r>
              <a:rPr lang="en-US" altLang="it-IT" sz="1800"/>
              <a:t>Many items generate no table entry </a:t>
            </a:r>
          </a:p>
          <a:p>
            <a:pPr lvl="1" eaLnBrk="1" hangingPunct="1">
              <a:lnSpc>
                <a:spcPct val="90000"/>
              </a:lnSpc>
              <a:spcBef>
                <a:spcPct val="30000"/>
              </a:spcBef>
              <a:buClr>
                <a:srgbClr val="0000FF"/>
              </a:buClr>
              <a:buSzPct val="90000"/>
              <a:buFont typeface="Symbol" panose="05050102010706020507" pitchFamily="18" charset="2"/>
              <a:buChar char=""/>
            </a:pPr>
            <a:r>
              <a:rPr lang="en-US" altLang="it-IT" i="1"/>
              <a:t>Closure( )</a:t>
            </a:r>
            <a:r>
              <a:rPr lang="en-US" altLang="it-IT"/>
              <a:t> instantiates FIRST(</a:t>
            </a:r>
            <a:r>
              <a:rPr lang="en-US" altLang="it-IT" i="1">
                <a:sym typeface="Symbol" panose="05050102010706020507" pitchFamily="18" charset="2"/>
              </a:rPr>
              <a:t>X</a:t>
            </a:r>
            <a:r>
              <a:rPr lang="en-US" altLang="it-IT">
                <a:sym typeface="Symbol" panose="05050102010706020507" pitchFamily="18" charset="2"/>
              </a:rPr>
              <a:t>) </a:t>
            </a:r>
            <a:r>
              <a:rPr lang="en-US" altLang="it-IT"/>
              <a:t>directly for [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</a:t>
            </a:r>
            <a:r>
              <a:rPr lang="en-US" altLang="it-IT" i="1">
                <a:sym typeface="Symbol" panose="05050102010706020507" pitchFamily="18" charset="2"/>
              </a:rPr>
              <a:t></a:t>
            </a:r>
            <a:r>
              <a:rPr lang="en-US" altLang="it-IT" sz="1000" i="1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•</a:t>
            </a:r>
            <a:r>
              <a:rPr lang="en-US" altLang="it-IT" sz="1000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X</a:t>
            </a:r>
            <a:r>
              <a:rPr lang="en-US" altLang="it-IT" sz="1000" i="1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,</a:t>
            </a:r>
            <a:r>
              <a:rPr lang="en-US" altLang="it-IT" sz="1000">
                <a:sym typeface="Symbol" panose="05050102010706020507" pitchFamily="18" charset="2"/>
              </a:rPr>
              <a:t> </a:t>
            </a:r>
            <a:r>
              <a:rPr lang="en-US" altLang="it-IT" u="sng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]</a:t>
            </a:r>
          </a:p>
        </p:txBody>
      </p:sp>
      <p:sp>
        <p:nvSpPr>
          <p:cNvPr id="69637" name="Text Box 4">
            <a:extLst>
              <a:ext uri="{FF2B5EF4-FFF2-40B4-BE49-F238E27FC236}">
                <a16:creationId xmlns:a16="http://schemas.microsoft.com/office/drawing/2014/main" id="{527C2733-3683-40F4-B2D0-3FE593844C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531938"/>
            <a:ext cx="5638800" cy="328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"/>
              </a:spcBef>
            </a:pPr>
            <a:r>
              <a:rPr lang="en-US" altLang="it-IT">
                <a:latin typeface="Arial Rounded MT Bold" panose="020F0704030504030204" pitchFamily="34" charset="0"/>
                <a:sym typeface="Symbol" panose="05050102010706020507" pitchFamily="18" charset="2"/>
              </a:rPr>
              <a:t></a:t>
            </a:r>
            <a:r>
              <a:rPr lang="en-US" altLang="it-IT"/>
              <a:t> </a:t>
            </a:r>
            <a:r>
              <a:rPr lang="en-US" altLang="it-IT" i="1"/>
              <a:t>set S</a:t>
            </a:r>
            <a:r>
              <a:rPr lang="en-US" altLang="it-IT" i="1" baseline="-25000"/>
              <a:t>x</a:t>
            </a:r>
            <a:r>
              <a:rPr lang="en-US" altLang="it-IT" i="1">
                <a:latin typeface="Arial Rounded MT Bold" panose="020F0704030504030204" pitchFamily="34" charset="0"/>
                <a:sym typeface="Symbol" panose="05050102010706020507" pitchFamily="18" charset="2"/>
              </a:rPr>
              <a:t> </a:t>
            </a:r>
            <a:r>
              <a:rPr lang="en-US" altLang="it-IT" sz="1600">
                <a:latin typeface="Arial Rounded MT Bold" panose="020F0704030504030204" pitchFamily="34" charset="0"/>
                <a:sym typeface="Symbol" panose="05050102010706020507" pitchFamily="18" charset="2"/>
              </a:rPr>
              <a:t></a:t>
            </a:r>
            <a:r>
              <a:rPr lang="en-US" altLang="it-IT"/>
              <a:t> </a:t>
            </a:r>
            <a:r>
              <a:rPr lang="en-US" altLang="it-IT" i="1"/>
              <a:t>S </a:t>
            </a:r>
            <a:endParaRPr lang="en-US" altLang="it-IT" i="1">
              <a:latin typeface="Arial Rounded MT Bold" panose="020F0704030504030204" pitchFamily="34" charset="0"/>
              <a:sym typeface="Symbol" panose="05050102010706020507" pitchFamily="18" charset="2"/>
            </a:endParaRPr>
          </a:p>
          <a:p>
            <a:pPr>
              <a:spcBef>
                <a:spcPct val="5000"/>
              </a:spcBef>
            </a:pPr>
            <a:r>
              <a:rPr lang="en-US" altLang="it-IT" i="1">
                <a:latin typeface="Arial Rounded MT Bold" panose="020F0704030504030204" pitchFamily="34" charset="0"/>
                <a:sym typeface="Symbol" panose="05050102010706020507" pitchFamily="18" charset="2"/>
              </a:rPr>
              <a:t>    </a:t>
            </a:r>
            <a:r>
              <a:rPr lang="en-US" altLang="it-IT">
                <a:latin typeface="Arial Rounded MT Bold" panose="020F0704030504030204" pitchFamily="34" charset="0"/>
                <a:sym typeface="Symbol" panose="05050102010706020507" pitchFamily="18" charset="2"/>
              </a:rPr>
              <a:t></a:t>
            </a:r>
            <a:r>
              <a:rPr lang="en-US" altLang="it-IT"/>
              <a:t> </a:t>
            </a:r>
            <a:r>
              <a:rPr lang="en-US" altLang="it-IT" i="1"/>
              <a:t>item i</a:t>
            </a:r>
            <a:r>
              <a:rPr lang="en-US" altLang="it-IT"/>
              <a:t> </a:t>
            </a:r>
            <a:r>
              <a:rPr lang="en-US" altLang="it-IT" sz="1600">
                <a:latin typeface="Arial Rounded MT Bold" panose="020F0704030504030204" pitchFamily="34" charset="0"/>
                <a:sym typeface="Symbol" panose="05050102010706020507" pitchFamily="18" charset="2"/>
              </a:rPr>
              <a:t></a:t>
            </a:r>
            <a:r>
              <a:rPr lang="en-US" altLang="it-IT"/>
              <a:t> </a:t>
            </a:r>
            <a:r>
              <a:rPr lang="en-US" altLang="it-IT" i="1"/>
              <a:t>S</a:t>
            </a:r>
            <a:r>
              <a:rPr lang="en-US" altLang="it-IT" i="1" baseline="-25000"/>
              <a:t>x</a:t>
            </a:r>
            <a:endParaRPr lang="en-US" altLang="it-IT" i="1">
              <a:latin typeface="Arial Rounded MT Bold" panose="020F0704030504030204" pitchFamily="34" charset="0"/>
              <a:sym typeface="Symbol" panose="05050102010706020507" pitchFamily="18" charset="2"/>
            </a:endParaRPr>
          </a:p>
          <a:p>
            <a:pPr>
              <a:spcBef>
                <a:spcPct val="5000"/>
              </a:spcBef>
            </a:pPr>
            <a:r>
              <a:rPr lang="en-US" altLang="it-IT" i="1"/>
              <a:t>       if  i is </a:t>
            </a:r>
            <a:r>
              <a:rPr lang="en-US" altLang="it-IT"/>
              <a:t>[</a:t>
            </a:r>
            <a:r>
              <a:rPr lang="en-US" altLang="it-IT" i="1"/>
              <a:t>A</a:t>
            </a:r>
            <a:r>
              <a:rPr lang="en-US" altLang="it-IT" sz="1600">
                <a:latin typeface="Arial Rounded MT Bold" panose="020F0704030504030204" pitchFamily="34" charset="0"/>
                <a:sym typeface="Symbol" panose="05050102010706020507" pitchFamily="18" charset="2"/>
              </a:rPr>
              <a:t></a:t>
            </a:r>
            <a:r>
              <a:rPr lang="en-US" altLang="it-IT" i="1">
                <a:latin typeface="Arial Rounded MT Bold" panose="020F0704030504030204" pitchFamily="34" charset="0"/>
                <a:sym typeface="Symbol" panose="05050102010706020507" pitchFamily="18" charset="2"/>
              </a:rPr>
              <a:t></a:t>
            </a:r>
            <a:r>
              <a:rPr lang="en-US" altLang="it-IT" sz="1200">
                <a:latin typeface="Arial Rounded MT Bold" panose="020F0704030504030204" pitchFamily="34" charset="0"/>
                <a:sym typeface="Symbol" panose="05050102010706020507" pitchFamily="18" charset="2"/>
              </a:rPr>
              <a:t> </a:t>
            </a:r>
            <a:r>
              <a:rPr lang="en-US" altLang="it-IT">
                <a:latin typeface="Arial Rounded MT Bold" panose="020F0704030504030204" pitchFamily="34" charset="0"/>
                <a:sym typeface="Symbol" panose="05050102010706020507" pitchFamily="18" charset="2"/>
              </a:rPr>
              <a:t>•</a:t>
            </a:r>
            <a:r>
              <a:rPr lang="en-US" altLang="it-IT" sz="1200">
                <a:latin typeface="Arial Rounded MT Bold" panose="020F0704030504030204" pitchFamily="34" charset="0"/>
                <a:sym typeface="Symbol" panose="05050102010706020507" pitchFamily="18" charset="2"/>
              </a:rPr>
              <a:t> </a:t>
            </a:r>
            <a:r>
              <a:rPr lang="en-US" altLang="it-IT" u="sng"/>
              <a:t>a</a:t>
            </a:r>
            <a:r>
              <a:rPr lang="en-US" altLang="it-IT"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lang="en-US" altLang="it-IT">
                <a:latin typeface="Arial Rounded MT Bold" panose="020F0704030504030204" pitchFamily="34" charset="0"/>
                <a:sym typeface="Symbol" panose="05050102010706020507" pitchFamily="18" charset="2"/>
              </a:rPr>
              <a:t>,</a:t>
            </a:r>
            <a:r>
              <a:rPr lang="en-US" altLang="it-IT" u="sng"/>
              <a:t>b</a:t>
            </a:r>
            <a:r>
              <a:rPr lang="en-US" altLang="it-IT"/>
              <a:t>] </a:t>
            </a:r>
            <a:r>
              <a:rPr lang="en-US" altLang="it-IT" i="1"/>
              <a:t>and goto(S</a:t>
            </a:r>
            <a:r>
              <a:rPr lang="en-US" altLang="it-IT" i="1" baseline="-25000"/>
              <a:t>x</a:t>
            </a:r>
            <a:r>
              <a:rPr lang="en-US" altLang="it-IT" i="1"/>
              <a:t>,</a:t>
            </a:r>
            <a:r>
              <a:rPr lang="en-US" altLang="it-IT" u="sng"/>
              <a:t>a</a:t>
            </a:r>
            <a:r>
              <a:rPr lang="en-US" altLang="it-IT" i="1"/>
              <a:t>) = S</a:t>
            </a:r>
            <a:r>
              <a:rPr lang="en-US" altLang="it-IT" i="1" baseline="-25000"/>
              <a:t>k</a:t>
            </a:r>
            <a:r>
              <a:rPr lang="en-US" altLang="it-IT" i="1"/>
              <a:t> , </a:t>
            </a:r>
            <a:r>
              <a:rPr lang="en-US" altLang="it-IT" u="sng"/>
              <a:t>a</a:t>
            </a:r>
            <a:r>
              <a:rPr lang="en-US" altLang="it-IT"/>
              <a:t> </a:t>
            </a:r>
            <a:r>
              <a:rPr lang="en-US" altLang="it-IT" sz="1600">
                <a:latin typeface="Arial Rounded MT Bold" panose="020F0704030504030204" pitchFamily="34" charset="0"/>
                <a:sym typeface="Symbol" panose="05050102010706020507" pitchFamily="18" charset="2"/>
              </a:rPr>
              <a:t></a:t>
            </a:r>
            <a:r>
              <a:rPr lang="en-US" altLang="it-IT"/>
              <a:t> </a:t>
            </a:r>
            <a:r>
              <a:rPr lang="en-US" altLang="it-IT" i="1"/>
              <a:t>T</a:t>
            </a:r>
          </a:p>
          <a:p>
            <a:pPr>
              <a:spcBef>
                <a:spcPct val="5000"/>
              </a:spcBef>
            </a:pPr>
            <a:r>
              <a:rPr lang="en-US" altLang="it-IT" i="1"/>
              <a:t>           then </a:t>
            </a:r>
            <a:r>
              <a:rPr lang="en-US" altLang="it-IT"/>
              <a:t>A</a:t>
            </a:r>
            <a:r>
              <a:rPr lang="en-US" altLang="it-IT" sz="1600"/>
              <a:t>CTION</a:t>
            </a:r>
            <a:r>
              <a:rPr lang="en-US" altLang="it-IT"/>
              <a:t>[</a:t>
            </a:r>
            <a:r>
              <a:rPr lang="en-US" altLang="it-IT" i="1"/>
              <a:t>x,</a:t>
            </a:r>
            <a:r>
              <a:rPr lang="en-US" altLang="it-IT" u="sng"/>
              <a:t>a</a:t>
            </a:r>
            <a:r>
              <a:rPr lang="en-US" altLang="it-IT"/>
              <a:t>] </a:t>
            </a:r>
            <a:r>
              <a:rPr lang="en-US" altLang="it-IT">
                <a:latin typeface="Arial Rounded MT Bold" panose="020F0704030504030204" pitchFamily="34" charset="0"/>
                <a:sym typeface="Symbol" panose="05050102010706020507" pitchFamily="18" charset="2"/>
              </a:rPr>
              <a:t></a:t>
            </a:r>
            <a:r>
              <a:rPr lang="en-US" altLang="it-IT"/>
              <a:t> “</a:t>
            </a:r>
            <a:r>
              <a:rPr lang="en-US" altLang="it-IT" i="1">
                <a:solidFill>
                  <a:srgbClr val="FF0065"/>
                </a:solidFill>
              </a:rPr>
              <a:t>shift k</a:t>
            </a:r>
            <a:r>
              <a:rPr lang="en-US" altLang="it-IT" i="1"/>
              <a:t>”</a:t>
            </a:r>
          </a:p>
          <a:p>
            <a:pPr>
              <a:spcBef>
                <a:spcPct val="5000"/>
              </a:spcBef>
            </a:pPr>
            <a:r>
              <a:rPr lang="en-US" altLang="it-IT" i="1"/>
              <a:t>       else if  i is </a:t>
            </a:r>
            <a:r>
              <a:rPr lang="en-US" altLang="it-IT"/>
              <a:t>[</a:t>
            </a:r>
            <a:r>
              <a:rPr lang="en-US" altLang="it-IT" i="1"/>
              <a:t>S’</a:t>
            </a:r>
            <a:r>
              <a:rPr lang="en-US" altLang="it-IT">
                <a:latin typeface="Arial Rounded MT Bold" panose="020F0704030504030204" pitchFamily="34" charset="0"/>
                <a:sym typeface="Symbol" panose="05050102010706020507" pitchFamily="18" charset="2"/>
              </a:rPr>
              <a:t></a:t>
            </a:r>
            <a:r>
              <a:rPr lang="en-US" altLang="it-IT" i="1"/>
              <a:t>S</a:t>
            </a:r>
            <a:r>
              <a:rPr lang="en-US" altLang="it-IT" i="1">
                <a:latin typeface="Arial Rounded MT Bold" panose="020F0704030504030204" pitchFamily="34" charset="0"/>
              </a:rPr>
              <a:t> </a:t>
            </a:r>
            <a:r>
              <a:rPr lang="en-US" altLang="it-IT">
                <a:latin typeface="Arial Rounded MT Bold" panose="020F0704030504030204" pitchFamily="34" charset="0"/>
              </a:rPr>
              <a:t>•</a:t>
            </a:r>
            <a:r>
              <a:rPr lang="en-US" altLang="it-IT"/>
              <a:t>,</a:t>
            </a:r>
            <a:r>
              <a:rPr lang="en-US" altLang="it-IT" sz="1600" u="sng"/>
              <a:t>EOF</a:t>
            </a:r>
            <a:r>
              <a:rPr lang="en-US" altLang="it-IT"/>
              <a:t>]</a:t>
            </a:r>
          </a:p>
          <a:p>
            <a:pPr>
              <a:spcBef>
                <a:spcPct val="5000"/>
              </a:spcBef>
            </a:pPr>
            <a:r>
              <a:rPr lang="en-US" altLang="it-IT" i="1"/>
              <a:t>             then </a:t>
            </a:r>
            <a:r>
              <a:rPr lang="en-US" altLang="it-IT"/>
              <a:t>A</a:t>
            </a:r>
            <a:r>
              <a:rPr lang="en-US" altLang="it-IT" sz="1600"/>
              <a:t>CTION</a:t>
            </a:r>
            <a:r>
              <a:rPr lang="en-US" altLang="it-IT"/>
              <a:t>[</a:t>
            </a:r>
            <a:r>
              <a:rPr lang="en-US" altLang="it-IT" i="1"/>
              <a:t>x ,</a:t>
            </a:r>
            <a:r>
              <a:rPr lang="en-US" altLang="it-IT" sz="1600" u="sng"/>
              <a:t>EOF</a:t>
            </a:r>
            <a:r>
              <a:rPr lang="en-US" altLang="it-IT"/>
              <a:t>] </a:t>
            </a:r>
            <a:r>
              <a:rPr lang="en-US" altLang="it-IT">
                <a:latin typeface="Arial Rounded MT Bold" panose="020F0704030504030204" pitchFamily="34" charset="0"/>
                <a:sym typeface="Symbol" panose="05050102010706020507" pitchFamily="18" charset="2"/>
              </a:rPr>
              <a:t></a:t>
            </a:r>
            <a:r>
              <a:rPr lang="en-US" altLang="it-IT"/>
              <a:t> “</a:t>
            </a:r>
            <a:r>
              <a:rPr lang="en-US" altLang="it-IT" i="1">
                <a:solidFill>
                  <a:srgbClr val="FF0065"/>
                </a:solidFill>
              </a:rPr>
              <a:t>accept</a:t>
            </a:r>
            <a:r>
              <a:rPr lang="en-US" altLang="it-IT" i="1"/>
              <a:t>”</a:t>
            </a:r>
          </a:p>
          <a:p>
            <a:pPr>
              <a:spcBef>
                <a:spcPct val="5000"/>
              </a:spcBef>
            </a:pPr>
            <a:r>
              <a:rPr lang="en-US" altLang="it-IT" i="1"/>
              <a:t>       else if  i is </a:t>
            </a:r>
            <a:r>
              <a:rPr lang="en-US" altLang="it-IT"/>
              <a:t>[</a:t>
            </a:r>
            <a:r>
              <a:rPr lang="en-US" altLang="it-IT" i="1"/>
              <a:t>A</a:t>
            </a:r>
            <a:r>
              <a:rPr lang="en-US" altLang="it-IT" sz="1600">
                <a:latin typeface="Arial Rounded MT Bold" panose="020F0704030504030204" pitchFamily="34" charset="0"/>
                <a:sym typeface="Symbol" panose="05050102010706020507" pitchFamily="18" charset="2"/>
              </a:rPr>
              <a:t></a:t>
            </a:r>
            <a:r>
              <a:rPr lang="en-US" altLang="it-IT" i="1">
                <a:latin typeface="Arial Rounded MT Bold" panose="020F0704030504030204" pitchFamily="34" charset="0"/>
                <a:sym typeface="Symbol" panose="05050102010706020507" pitchFamily="18" charset="2"/>
              </a:rPr>
              <a:t></a:t>
            </a:r>
            <a:r>
              <a:rPr lang="en-US" altLang="it-IT" sz="1200">
                <a:latin typeface="Arial Rounded MT Bold" panose="020F0704030504030204" pitchFamily="34" charset="0"/>
                <a:sym typeface="Symbol" panose="05050102010706020507" pitchFamily="18" charset="2"/>
              </a:rPr>
              <a:t> </a:t>
            </a:r>
            <a:r>
              <a:rPr lang="en-US" altLang="it-IT">
                <a:latin typeface="Arial Rounded MT Bold" panose="020F0704030504030204" pitchFamily="34" charset="0"/>
                <a:sym typeface="Symbol" panose="05050102010706020507" pitchFamily="18" charset="2"/>
              </a:rPr>
              <a:t>•</a:t>
            </a:r>
            <a:r>
              <a:rPr lang="en-US" altLang="it-IT"/>
              <a:t>,</a:t>
            </a:r>
            <a:r>
              <a:rPr lang="en-US" altLang="it-IT" u="sng"/>
              <a:t>a</a:t>
            </a:r>
            <a:r>
              <a:rPr lang="en-US" altLang="it-IT"/>
              <a:t>]</a:t>
            </a:r>
          </a:p>
          <a:p>
            <a:pPr>
              <a:spcBef>
                <a:spcPct val="5000"/>
              </a:spcBef>
            </a:pPr>
            <a:r>
              <a:rPr lang="en-US" altLang="it-IT"/>
              <a:t>              </a:t>
            </a:r>
            <a:r>
              <a:rPr lang="en-US" altLang="it-IT" i="1"/>
              <a:t>then </a:t>
            </a:r>
            <a:r>
              <a:rPr lang="en-US" altLang="it-IT"/>
              <a:t>A</a:t>
            </a:r>
            <a:r>
              <a:rPr lang="en-US" altLang="it-IT" sz="1600"/>
              <a:t>CTION</a:t>
            </a:r>
            <a:r>
              <a:rPr lang="en-US" altLang="it-IT"/>
              <a:t>[</a:t>
            </a:r>
            <a:r>
              <a:rPr lang="en-US" altLang="it-IT" i="1"/>
              <a:t>x,</a:t>
            </a:r>
            <a:r>
              <a:rPr lang="en-US" altLang="it-IT" u="sng"/>
              <a:t>a</a:t>
            </a:r>
            <a:r>
              <a:rPr lang="en-US" altLang="it-IT"/>
              <a:t>] </a:t>
            </a:r>
            <a:r>
              <a:rPr lang="en-US" altLang="it-IT">
                <a:latin typeface="Arial Rounded MT Bold" panose="020F0704030504030204" pitchFamily="34" charset="0"/>
                <a:sym typeface="Symbol" panose="05050102010706020507" pitchFamily="18" charset="2"/>
              </a:rPr>
              <a:t></a:t>
            </a:r>
            <a:r>
              <a:rPr lang="en-US" altLang="it-IT"/>
              <a:t> “reduce </a:t>
            </a:r>
            <a:r>
              <a:rPr lang="en-US" altLang="it-IT" i="1"/>
              <a:t>A</a:t>
            </a:r>
            <a:r>
              <a:rPr lang="en-US" altLang="it-IT">
                <a:latin typeface="Symbol" panose="05050102010706020507" pitchFamily="18" charset="2"/>
                <a:sym typeface="Symbol" panose="05050102010706020507" pitchFamily="18" charset="2"/>
              </a:rPr>
              <a:t></a:t>
            </a:r>
            <a:r>
              <a:rPr lang="en-US" altLang="it-IT" i="1">
                <a:latin typeface="Symbol" panose="05050102010706020507" pitchFamily="18" charset="2"/>
                <a:sym typeface="Symbol" panose="05050102010706020507" pitchFamily="18" charset="2"/>
              </a:rPr>
              <a:t></a:t>
            </a:r>
            <a:r>
              <a:rPr lang="en-US" altLang="it-IT"/>
              <a:t>”</a:t>
            </a:r>
            <a:endParaRPr lang="en-US" altLang="it-IT">
              <a:latin typeface="Arial Rounded MT Bold" panose="020F0704030504030204" pitchFamily="34" charset="0"/>
            </a:endParaRPr>
          </a:p>
          <a:p>
            <a:pPr>
              <a:spcBef>
                <a:spcPct val="5000"/>
              </a:spcBef>
            </a:pPr>
            <a:r>
              <a:rPr lang="en-US" altLang="it-IT">
                <a:latin typeface="Arial Rounded MT Bold" panose="020F0704030504030204" pitchFamily="34" charset="0"/>
              </a:rPr>
              <a:t>    </a:t>
            </a:r>
            <a:r>
              <a:rPr lang="en-US" altLang="it-IT">
                <a:latin typeface="Arial Rounded MT Bold" panose="020F0704030504030204" pitchFamily="34" charset="0"/>
                <a:sym typeface="Symbol" panose="05050102010706020507" pitchFamily="18" charset="2"/>
              </a:rPr>
              <a:t> </a:t>
            </a:r>
            <a:r>
              <a:rPr lang="en-US" altLang="it-IT" i="1"/>
              <a:t>n</a:t>
            </a:r>
            <a:r>
              <a:rPr lang="en-US" altLang="it-IT" i="1">
                <a:latin typeface="Arial Rounded MT Bold" panose="020F0704030504030204" pitchFamily="34" charset="0"/>
                <a:sym typeface="Symbol" panose="05050102010706020507" pitchFamily="18" charset="2"/>
              </a:rPr>
              <a:t> </a:t>
            </a:r>
            <a:r>
              <a:rPr lang="en-US" altLang="it-IT" sz="1600">
                <a:latin typeface="Arial Rounded MT Bold" panose="020F0704030504030204" pitchFamily="34" charset="0"/>
                <a:sym typeface="Symbol" panose="05050102010706020507" pitchFamily="18" charset="2"/>
              </a:rPr>
              <a:t></a:t>
            </a:r>
            <a:r>
              <a:rPr lang="en-US" altLang="it-IT"/>
              <a:t> </a:t>
            </a:r>
            <a:r>
              <a:rPr lang="en-US" altLang="it-IT" i="1"/>
              <a:t>NT</a:t>
            </a:r>
          </a:p>
          <a:p>
            <a:pPr>
              <a:spcBef>
                <a:spcPct val="5000"/>
              </a:spcBef>
            </a:pPr>
            <a:r>
              <a:rPr lang="en-US" altLang="it-IT" i="1"/>
              <a:t>      if </a:t>
            </a:r>
            <a:r>
              <a:rPr lang="en-US" altLang="it-IT"/>
              <a:t> </a:t>
            </a:r>
            <a:r>
              <a:rPr lang="en-US" altLang="it-IT" i="1"/>
              <a:t>goto(S</a:t>
            </a:r>
            <a:r>
              <a:rPr lang="en-US" altLang="it-IT" i="1" baseline="-25000"/>
              <a:t>x</a:t>
            </a:r>
            <a:r>
              <a:rPr lang="en-US" altLang="it-IT" i="1"/>
              <a:t> ,n) = S</a:t>
            </a:r>
            <a:r>
              <a:rPr lang="en-US" altLang="it-IT" i="1" baseline="-25000"/>
              <a:t>k</a:t>
            </a:r>
            <a:endParaRPr lang="en-US" altLang="it-IT" i="1"/>
          </a:p>
          <a:p>
            <a:pPr>
              <a:spcBef>
                <a:spcPct val="5000"/>
              </a:spcBef>
              <a:spcAft>
                <a:spcPct val="10000"/>
              </a:spcAft>
            </a:pPr>
            <a:r>
              <a:rPr lang="en-US" altLang="it-IT" i="1"/>
              <a:t>          then </a:t>
            </a:r>
            <a:r>
              <a:rPr lang="en-US" altLang="it-IT"/>
              <a:t>G</a:t>
            </a:r>
            <a:r>
              <a:rPr lang="en-US" altLang="it-IT" sz="1600"/>
              <a:t>OTO</a:t>
            </a:r>
            <a:r>
              <a:rPr lang="en-US" altLang="it-IT"/>
              <a:t>[</a:t>
            </a:r>
            <a:r>
              <a:rPr lang="en-US" altLang="it-IT" i="1"/>
              <a:t>x,n</a:t>
            </a:r>
            <a:r>
              <a:rPr lang="en-US" altLang="it-IT"/>
              <a:t>] </a:t>
            </a:r>
            <a:r>
              <a:rPr lang="en-US" altLang="it-IT">
                <a:latin typeface="Arial Rounded MT Bold" panose="020F0704030504030204" pitchFamily="34" charset="0"/>
                <a:sym typeface="Symbol" panose="05050102010706020507" pitchFamily="18" charset="2"/>
              </a:rPr>
              <a:t></a:t>
            </a:r>
            <a:r>
              <a:rPr lang="en-US" altLang="it-IT"/>
              <a:t> </a:t>
            </a:r>
            <a:r>
              <a:rPr lang="en-US" altLang="it-IT" i="1"/>
              <a:t>k</a:t>
            </a:r>
            <a:endParaRPr lang="en-US" altLang="it-IT">
              <a:latin typeface="Arial Rounded MT Bold" panose="020F0704030504030204" pitchFamily="34" charset="0"/>
              <a:sym typeface="Symbol" panose="05050102010706020507" pitchFamily="18" charset="2"/>
            </a:endParaRPr>
          </a:p>
        </p:txBody>
      </p:sp>
      <p:grpSp>
        <p:nvGrpSpPr>
          <p:cNvPr id="69638" name="Group 24">
            <a:extLst>
              <a:ext uri="{FF2B5EF4-FFF2-40B4-BE49-F238E27FC236}">
                <a16:creationId xmlns:a16="http://schemas.microsoft.com/office/drawing/2014/main" id="{2EE15BE3-E856-4E5A-BE17-1574DE3E33FE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1066800"/>
            <a:ext cx="5029200" cy="685800"/>
            <a:chOff x="1056" y="672"/>
            <a:chExt cx="3168" cy="432"/>
          </a:xfrm>
        </p:grpSpPr>
        <p:sp>
          <p:nvSpPr>
            <p:cNvPr id="69652" name="Text Box 6">
              <a:extLst>
                <a:ext uri="{FF2B5EF4-FFF2-40B4-BE49-F238E27FC236}">
                  <a16:creationId xmlns:a16="http://schemas.microsoft.com/office/drawing/2014/main" id="{DD6E621A-BC00-4D3E-8234-78DD8D83D2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674"/>
              <a:ext cx="15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600" i="1">
                  <a:solidFill>
                    <a:srgbClr val="B025A6"/>
                  </a:solidFill>
                </a:rPr>
                <a:t>x</a:t>
              </a:r>
              <a:r>
                <a:rPr lang="en-US" altLang="it-IT" sz="1600">
                  <a:solidFill>
                    <a:srgbClr val="B025A6"/>
                  </a:solidFill>
                </a:rPr>
                <a:t> is the state number</a:t>
              </a:r>
              <a:endParaRPr lang="en-US" altLang="it-IT" sz="1600" i="1">
                <a:solidFill>
                  <a:srgbClr val="B025A6"/>
                </a:solidFill>
              </a:endParaRPr>
            </a:p>
          </p:txBody>
        </p:sp>
        <p:sp>
          <p:nvSpPr>
            <p:cNvPr id="69653" name="Line 7">
              <a:extLst>
                <a:ext uri="{FF2B5EF4-FFF2-40B4-BE49-F238E27FC236}">
                  <a16:creationId xmlns:a16="http://schemas.microsoft.com/office/drawing/2014/main" id="{B7E916C9-D325-4008-B983-54285762C2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4" y="672"/>
              <a:ext cx="0" cy="240"/>
            </a:xfrm>
            <a:prstGeom prst="line">
              <a:avLst/>
            </a:prstGeom>
            <a:noFill/>
            <a:ln w="19050">
              <a:solidFill>
                <a:srgbClr val="B025A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9654" name="Freeform 8">
              <a:extLst>
                <a:ext uri="{FF2B5EF4-FFF2-40B4-BE49-F238E27FC236}">
                  <a16:creationId xmlns:a16="http://schemas.microsoft.com/office/drawing/2014/main" id="{15C7624F-9603-4035-AC89-40C43F7138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" y="768"/>
              <a:ext cx="1632" cy="336"/>
            </a:xfrm>
            <a:custGeom>
              <a:avLst/>
              <a:gdLst>
                <a:gd name="T0" fmla="*/ 0 w 1632"/>
                <a:gd name="T1" fmla="*/ 336 h 336"/>
                <a:gd name="T2" fmla="*/ 48 w 1632"/>
                <a:gd name="T3" fmla="*/ 240 h 336"/>
                <a:gd name="T4" fmla="*/ 240 w 1632"/>
                <a:gd name="T5" fmla="*/ 144 h 336"/>
                <a:gd name="T6" fmla="*/ 624 w 1632"/>
                <a:gd name="T7" fmla="*/ 144 h 336"/>
                <a:gd name="T8" fmla="*/ 1632 w 1632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32"/>
                <a:gd name="T16" fmla="*/ 0 h 336"/>
                <a:gd name="T17" fmla="*/ 1632 w 1632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32" h="336">
                  <a:moveTo>
                    <a:pt x="0" y="336"/>
                  </a:moveTo>
                  <a:cubicBezTo>
                    <a:pt x="4" y="304"/>
                    <a:pt x="8" y="272"/>
                    <a:pt x="48" y="240"/>
                  </a:cubicBezTo>
                  <a:cubicBezTo>
                    <a:pt x="88" y="208"/>
                    <a:pt x="144" y="160"/>
                    <a:pt x="240" y="144"/>
                  </a:cubicBezTo>
                  <a:cubicBezTo>
                    <a:pt x="336" y="128"/>
                    <a:pt x="392" y="168"/>
                    <a:pt x="624" y="144"/>
                  </a:cubicBezTo>
                  <a:cubicBezTo>
                    <a:pt x="856" y="120"/>
                    <a:pt x="1244" y="60"/>
                    <a:pt x="1632" y="0"/>
                  </a:cubicBezTo>
                </a:path>
              </a:pathLst>
            </a:custGeom>
            <a:noFill/>
            <a:ln w="9525">
              <a:solidFill>
                <a:srgbClr val="B025A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  <p:grpSp>
        <p:nvGrpSpPr>
          <p:cNvPr id="69639" name="Group 28">
            <a:extLst>
              <a:ext uri="{FF2B5EF4-FFF2-40B4-BE49-F238E27FC236}">
                <a16:creationId xmlns:a16="http://schemas.microsoft.com/office/drawing/2014/main" id="{D01CD8FD-CB98-447A-8A84-5CFB3579158A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3708400"/>
            <a:ext cx="5029200" cy="539750"/>
            <a:chOff x="2256" y="2336"/>
            <a:chExt cx="3168" cy="340"/>
          </a:xfrm>
        </p:grpSpPr>
        <p:sp>
          <p:nvSpPr>
            <p:cNvPr id="69648" name="Text Box 11">
              <a:extLst>
                <a:ext uri="{FF2B5EF4-FFF2-40B4-BE49-F238E27FC236}">
                  <a16:creationId xmlns:a16="http://schemas.microsoft.com/office/drawing/2014/main" id="{A8B3971E-9D65-48F2-AFE7-9B8F2F2F2A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2438"/>
              <a:ext cx="129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600" i="1">
                  <a:solidFill>
                    <a:srgbClr val="B025A6"/>
                  </a:solidFill>
                  <a:latin typeface="Arial Rounded MT Bold" panose="020F0704030504030204" pitchFamily="34" charset="0"/>
                  <a:sym typeface="Symbol" panose="05050102010706020507" pitchFamily="18" charset="2"/>
                </a:rPr>
                <a:t>•  </a:t>
              </a:r>
              <a:r>
                <a:rPr lang="en-US" altLang="it-IT" sz="1600">
                  <a:solidFill>
                    <a:srgbClr val="B025A6"/>
                  </a:solidFill>
                </a:rPr>
                <a:t>at end </a:t>
              </a:r>
              <a:r>
                <a:rPr lang="en-US" altLang="it-IT" sz="1600">
                  <a:solidFill>
                    <a:srgbClr val="B025A6"/>
                  </a:solidFill>
                  <a:sym typeface="Symbol" panose="05050102010706020507" pitchFamily="18" charset="2"/>
                </a:rPr>
                <a:t></a:t>
              </a:r>
              <a:r>
                <a:rPr lang="en-US" altLang="it-IT" sz="1600" i="1">
                  <a:solidFill>
                    <a:srgbClr val="B025A6"/>
                  </a:solidFill>
                  <a:sym typeface="Symbol" panose="05050102010706020507" pitchFamily="18" charset="2"/>
                </a:rPr>
                <a:t> reduce</a:t>
              </a:r>
            </a:p>
          </p:txBody>
        </p:sp>
        <p:grpSp>
          <p:nvGrpSpPr>
            <p:cNvPr id="69649" name="Group 27">
              <a:extLst>
                <a:ext uri="{FF2B5EF4-FFF2-40B4-BE49-F238E27FC236}">
                  <a16:creationId xmlns:a16="http://schemas.microsoft.com/office/drawing/2014/main" id="{CB9B335A-61BB-4445-9417-A59AA635A6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56" y="2336"/>
              <a:ext cx="1872" cy="340"/>
              <a:chOff x="2256" y="2336"/>
              <a:chExt cx="1872" cy="340"/>
            </a:xfrm>
          </p:grpSpPr>
          <p:sp>
            <p:nvSpPr>
              <p:cNvPr id="69650" name="Line 12">
                <a:extLst>
                  <a:ext uri="{FF2B5EF4-FFF2-40B4-BE49-F238E27FC236}">
                    <a16:creationId xmlns:a16="http://schemas.microsoft.com/office/drawing/2014/main" id="{4B128484-B9E3-47B3-966E-BBDD5AD954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8" y="2436"/>
                <a:ext cx="0" cy="240"/>
              </a:xfrm>
              <a:prstGeom prst="line">
                <a:avLst/>
              </a:prstGeom>
              <a:noFill/>
              <a:ln w="19050">
                <a:solidFill>
                  <a:srgbClr val="B025A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69651" name="Freeform 13">
                <a:extLst>
                  <a:ext uri="{FF2B5EF4-FFF2-40B4-BE49-F238E27FC236}">
                    <a16:creationId xmlns:a16="http://schemas.microsoft.com/office/drawing/2014/main" id="{D939A9B1-5B7E-4CAF-AF4D-3B8A14633D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6" y="2336"/>
                <a:ext cx="1872" cy="208"/>
              </a:xfrm>
              <a:custGeom>
                <a:avLst/>
                <a:gdLst>
                  <a:gd name="T0" fmla="*/ 1872 w 1872"/>
                  <a:gd name="T1" fmla="*/ 208 h 208"/>
                  <a:gd name="T2" fmla="*/ 1680 w 1872"/>
                  <a:gd name="T3" fmla="*/ 112 h 208"/>
                  <a:gd name="T4" fmla="*/ 912 w 1872"/>
                  <a:gd name="T5" fmla="*/ 16 h 208"/>
                  <a:gd name="T6" fmla="*/ 0 w 1872"/>
                  <a:gd name="T7" fmla="*/ 16 h 20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72"/>
                  <a:gd name="T13" fmla="*/ 0 h 208"/>
                  <a:gd name="T14" fmla="*/ 1872 w 1872"/>
                  <a:gd name="T15" fmla="*/ 208 h 20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72" h="208">
                    <a:moveTo>
                      <a:pt x="1872" y="208"/>
                    </a:moveTo>
                    <a:cubicBezTo>
                      <a:pt x="1856" y="176"/>
                      <a:pt x="1840" y="144"/>
                      <a:pt x="1680" y="112"/>
                    </a:cubicBezTo>
                    <a:cubicBezTo>
                      <a:pt x="1520" y="80"/>
                      <a:pt x="1192" y="32"/>
                      <a:pt x="912" y="16"/>
                    </a:cubicBezTo>
                    <a:cubicBezTo>
                      <a:pt x="632" y="0"/>
                      <a:pt x="316" y="8"/>
                      <a:pt x="0" y="16"/>
                    </a:cubicBezTo>
                  </a:path>
                </a:pathLst>
              </a:custGeom>
              <a:noFill/>
              <a:ln w="9525">
                <a:solidFill>
                  <a:srgbClr val="B025A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</p:grpSp>
      </p:grpSp>
      <p:grpSp>
        <p:nvGrpSpPr>
          <p:cNvPr id="69640" name="Group 26">
            <a:extLst>
              <a:ext uri="{FF2B5EF4-FFF2-40B4-BE49-F238E27FC236}">
                <a16:creationId xmlns:a16="http://schemas.microsoft.com/office/drawing/2014/main" id="{64FC98F5-EAD4-468E-AD52-4A237D6BE9EA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3022600"/>
            <a:ext cx="4648200" cy="482600"/>
            <a:chOff x="2496" y="1904"/>
            <a:chExt cx="2928" cy="304"/>
          </a:xfrm>
        </p:grpSpPr>
        <p:sp>
          <p:nvSpPr>
            <p:cNvPr id="69645" name="Text Box 16">
              <a:extLst>
                <a:ext uri="{FF2B5EF4-FFF2-40B4-BE49-F238E27FC236}">
                  <a16:creationId xmlns:a16="http://schemas.microsoft.com/office/drawing/2014/main" id="{A9396EBF-D01D-4C4B-8FAE-A7EA498571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1970"/>
              <a:ext cx="129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600">
                  <a:solidFill>
                    <a:srgbClr val="B025A6"/>
                  </a:solidFill>
                </a:rPr>
                <a:t>have </a:t>
              </a:r>
              <a:r>
                <a:rPr lang="en-US" altLang="it-IT" sz="1600" i="1">
                  <a:solidFill>
                    <a:srgbClr val="B025A6"/>
                  </a:solidFill>
                </a:rPr>
                <a:t>Goal</a:t>
              </a:r>
              <a:r>
                <a:rPr lang="en-US" altLang="it-IT" sz="1600" i="1">
                  <a:solidFill>
                    <a:srgbClr val="B025A6"/>
                  </a:solidFill>
                  <a:latin typeface="Arial Rounded MT Bold" panose="020F0704030504030204" pitchFamily="34" charset="0"/>
                  <a:sym typeface="Symbol" panose="05050102010706020507" pitchFamily="18" charset="2"/>
                </a:rPr>
                <a:t> </a:t>
              </a:r>
              <a:r>
                <a:rPr lang="en-US" altLang="it-IT" sz="1600">
                  <a:solidFill>
                    <a:srgbClr val="B025A6"/>
                  </a:solidFill>
                  <a:sym typeface="Symbol" panose="05050102010706020507" pitchFamily="18" charset="2"/>
                </a:rPr>
                <a:t></a:t>
              </a:r>
              <a:r>
                <a:rPr lang="en-US" altLang="it-IT" sz="1600" i="1">
                  <a:solidFill>
                    <a:srgbClr val="B025A6"/>
                  </a:solidFill>
                  <a:sym typeface="Symbol" panose="05050102010706020507" pitchFamily="18" charset="2"/>
                </a:rPr>
                <a:t> accept</a:t>
              </a:r>
            </a:p>
          </p:txBody>
        </p:sp>
        <p:sp>
          <p:nvSpPr>
            <p:cNvPr id="69646" name="Line 17">
              <a:extLst>
                <a:ext uri="{FF2B5EF4-FFF2-40B4-BE49-F238E27FC236}">
                  <a16:creationId xmlns:a16="http://schemas.microsoft.com/office/drawing/2014/main" id="{06231582-1C84-42B9-BF0F-F44F711033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1968"/>
              <a:ext cx="0" cy="240"/>
            </a:xfrm>
            <a:prstGeom prst="line">
              <a:avLst/>
            </a:prstGeom>
            <a:noFill/>
            <a:ln w="19050">
              <a:solidFill>
                <a:srgbClr val="B025A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9647" name="Freeform 18">
              <a:extLst>
                <a:ext uri="{FF2B5EF4-FFF2-40B4-BE49-F238E27FC236}">
                  <a16:creationId xmlns:a16="http://schemas.microsoft.com/office/drawing/2014/main" id="{33AFD7A6-8E24-422C-B030-D1996F9F4A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6" y="1904"/>
              <a:ext cx="1632" cy="160"/>
            </a:xfrm>
            <a:custGeom>
              <a:avLst/>
              <a:gdLst>
                <a:gd name="T0" fmla="*/ 1632 w 1632"/>
                <a:gd name="T1" fmla="*/ 160 h 160"/>
                <a:gd name="T2" fmla="*/ 1392 w 1632"/>
                <a:gd name="T3" fmla="*/ 112 h 160"/>
                <a:gd name="T4" fmla="*/ 960 w 1632"/>
                <a:gd name="T5" fmla="*/ 16 h 160"/>
                <a:gd name="T6" fmla="*/ 0 w 1632"/>
                <a:gd name="T7" fmla="*/ 16 h 1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32"/>
                <a:gd name="T13" fmla="*/ 0 h 160"/>
                <a:gd name="T14" fmla="*/ 1632 w 1632"/>
                <a:gd name="T15" fmla="*/ 160 h 1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32" h="160">
                  <a:moveTo>
                    <a:pt x="1632" y="160"/>
                  </a:moveTo>
                  <a:cubicBezTo>
                    <a:pt x="1568" y="148"/>
                    <a:pt x="1504" y="136"/>
                    <a:pt x="1392" y="112"/>
                  </a:cubicBezTo>
                  <a:cubicBezTo>
                    <a:pt x="1280" y="88"/>
                    <a:pt x="1192" y="32"/>
                    <a:pt x="960" y="16"/>
                  </a:cubicBezTo>
                  <a:cubicBezTo>
                    <a:pt x="728" y="0"/>
                    <a:pt x="364" y="8"/>
                    <a:pt x="0" y="16"/>
                  </a:cubicBezTo>
                </a:path>
              </a:pathLst>
            </a:custGeom>
            <a:noFill/>
            <a:ln w="9525">
              <a:solidFill>
                <a:srgbClr val="B025A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  <p:grpSp>
        <p:nvGrpSpPr>
          <p:cNvPr id="69641" name="Group 25">
            <a:extLst>
              <a:ext uri="{FF2B5EF4-FFF2-40B4-BE49-F238E27FC236}">
                <a16:creationId xmlns:a16="http://schemas.microsoft.com/office/drawing/2014/main" id="{BF06F250-C996-46F3-A0BB-17343C2960C6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1955800"/>
            <a:ext cx="5486400" cy="787400"/>
            <a:chOff x="1968" y="1232"/>
            <a:chExt cx="3456" cy="496"/>
          </a:xfrm>
        </p:grpSpPr>
        <p:sp>
          <p:nvSpPr>
            <p:cNvPr id="69642" name="Text Box 21">
              <a:extLst>
                <a:ext uri="{FF2B5EF4-FFF2-40B4-BE49-F238E27FC236}">
                  <a16:creationId xmlns:a16="http://schemas.microsoft.com/office/drawing/2014/main" id="{54507071-79F9-4606-864D-05DEF700F8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1490"/>
              <a:ext cx="129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600" i="1">
                  <a:solidFill>
                    <a:srgbClr val="B025A6"/>
                  </a:solidFill>
                  <a:latin typeface="Arial Rounded MT Bold" panose="020F0704030504030204" pitchFamily="34" charset="0"/>
                  <a:sym typeface="Symbol" panose="05050102010706020507" pitchFamily="18" charset="2"/>
                </a:rPr>
                <a:t>•  </a:t>
              </a:r>
              <a:r>
                <a:rPr lang="en-US" altLang="it-IT" sz="1600">
                  <a:solidFill>
                    <a:srgbClr val="B025A6"/>
                  </a:solidFill>
                </a:rPr>
                <a:t>before</a:t>
              </a:r>
              <a:r>
                <a:rPr lang="en-US" altLang="it-IT" sz="1600" i="1">
                  <a:solidFill>
                    <a:srgbClr val="B025A6"/>
                  </a:solidFill>
                </a:rPr>
                <a:t> T </a:t>
              </a:r>
              <a:r>
                <a:rPr lang="en-US" altLang="it-IT" sz="1600">
                  <a:solidFill>
                    <a:srgbClr val="B025A6"/>
                  </a:solidFill>
                  <a:sym typeface="Symbol" panose="05050102010706020507" pitchFamily="18" charset="2"/>
                </a:rPr>
                <a:t></a:t>
              </a:r>
              <a:r>
                <a:rPr lang="en-US" altLang="it-IT" sz="1600" i="1">
                  <a:solidFill>
                    <a:srgbClr val="B025A6"/>
                  </a:solidFill>
                  <a:sym typeface="Symbol" panose="05050102010706020507" pitchFamily="18" charset="2"/>
                </a:rPr>
                <a:t> shift</a:t>
              </a:r>
            </a:p>
          </p:txBody>
        </p:sp>
        <p:sp>
          <p:nvSpPr>
            <p:cNvPr id="69643" name="Line 22">
              <a:extLst>
                <a:ext uri="{FF2B5EF4-FFF2-40B4-BE49-F238E27FC236}">
                  <a16:creationId xmlns:a16="http://schemas.microsoft.com/office/drawing/2014/main" id="{E12B9DFB-1194-4B96-BF4F-56F9612CC2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1488"/>
              <a:ext cx="0" cy="240"/>
            </a:xfrm>
            <a:prstGeom prst="line">
              <a:avLst/>
            </a:prstGeom>
            <a:noFill/>
            <a:ln w="19050">
              <a:solidFill>
                <a:srgbClr val="B025A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9644" name="Freeform 23">
              <a:extLst>
                <a:ext uri="{FF2B5EF4-FFF2-40B4-BE49-F238E27FC236}">
                  <a16:creationId xmlns:a16="http://schemas.microsoft.com/office/drawing/2014/main" id="{7A723664-1D6E-45E1-851A-9E8B1CF31B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8" y="1232"/>
              <a:ext cx="2160" cy="352"/>
            </a:xfrm>
            <a:custGeom>
              <a:avLst/>
              <a:gdLst>
                <a:gd name="T0" fmla="*/ 2160 w 2160"/>
                <a:gd name="T1" fmla="*/ 352 h 352"/>
                <a:gd name="T2" fmla="*/ 2016 w 2160"/>
                <a:gd name="T3" fmla="*/ 256 h 352"/>
                <a:gd name="T4" fmla="*/ 1776 w 2160"/>
                <a:gd name="T5" fmla="*/ 64 h 352"/>
                <a:gd name="T6" fmla="*/ 864 w 2160"/>
                <a:gd name="T7" fmla="*/ 16 h 352"/>
                <a:gd name="T8" fmla="*/ 0 w 2160"/>
                <a:gd name="T9" fmla="*/ 160 h 3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60"/>
                <a:gd name="T16" fmla="*/ 0 h 352"/>
                <a:gd name="T17" fmla="*/ 2160 w 2160"/>
                <a:gd name="T18" fmla="*/ 352 h 3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60" h="352">
                  <a:moveTo>
                    <a:pt x="2160" y="352"/>
                  </a:moveTo>
                  <a:cubicBezTo>
                    <a:pt x="2120" y="328"/>
                    <a:pt x="2080" y="304"/>
                    <a:pt x="2016" y="256"/>
                  </a:cubicBezTo>
                  <a:cubicBezTo>
                    <a:pt x="1952" y="208"/>
                    <a:pt x="1968" y="104"/>
                    <a:pt x="1776" y="64"/>
                  </a:cubicBezTo>
                  <a:cubicBezTo>
                    <a:pt x="1584" y="24"/>
                    <a:pt x="1160" y="0"/>
                    <a:pt x="864" y="16"/>
                  </a:cubicBezTo>
                  <a:cubicBezTo>
                    <a:pt x="568" y="32"/>
                    <a:pt x="284" y="96"/>
                    <a:pt x="0" y="160"/>
                  </a:cubicBezTo>
                </a:path>
              </a:pathLst>
            </a:custGeom>
            <a:noFill/>
            <a:ln w="9525">
              <a:solidFill>
                <a:srgbClr val="B025A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</p:spTree>
  </p:cSld>
  <p:clrMapOvr>
    <a:masterClrMapping/>
  </p:clrMapOvr>
  <p:transition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Footer Placeholder 3">
            <a:extLst>
              <a:ext uri="{FF2B5EF4-FFF2-40B4-BE49-F238E27FC236}">
                <a16:creationId xmlns:a16="http://schemas.microsoft.com/office/drawing/2014/main" id="{2B4AC4B0-C6B3-43CF-81DC-77DDB34419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71682" name="Slide Number Placeholder 4">
            <a:extLst>
              <a:ext uri="{FF2B5EF4-FFF2-40B4-BE49-F238E27FC236}">
                <a16:creationId xmlns:a16="http://schemas.microsoft.com/office/drawing/2014/main" id="{FEB2064E-9536-4C57-9EB3-EA8D101F8D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C948D00-73D2-44AD-AFE9-50C01BA6EC3D}" type="slidenum">
              <a:rPr lang="en-US" altLang="it-IT"/>
              <a:pPr/>
              <a:t>30</a:t>
            </a:fld>
            <a:endParaRPr lang="en-US" altLang="it-IT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4CE47A43-AD02-4948-A346-C8D1CCB37D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Example from SheepNoise</a:t>
            </a:r>
          </a:p>
        </p:txBody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31EC3318-D979-470A-AE4F-3FAB38E189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8325" y="1270000"/>
            <a:ext cx="8007350" cy="4876800"/>
          </a:xfrm>
        </p:spPr>
        <p:txBody>
          <a:bodyPr/>
          <a:lstStyle/>
          <a:p>
            <a:pPr eaLnBrk="1" hangingPunct="1">
              <a:lnSpc>
                <a:spcPct val="30000"/>
              </a:lnSpc>
              <a:spcBef>
                <a:spcPct val="0"/>
              </a:spcBef>
              <a:buFont typeface="Times" panose="02020603050405020304" pitchFamily="18" charset="0"/>
              <a:buNone/>
            </a:pPr>
            <a:endParaRPr lang="en-US" altLang="it-IT" sz="1800" i="1">
              <a:sym typeface="Symbol" panose="05050102010706020507" pitchFamily="18" charset="2"/>
            </a:endParaRPr>
          </a:p>
          <a:p>
            <a:pPr eaLnBrk="1" hangingPunct="1">
              <a:spcBef>
                <a:spcPct val="40000"/>
              </a:spcBef>
              <a:buFont typeface="Times" panose="02020603050405020304" pitchFamily="18" charset="0"/>
              <a:buNone/>
            </a:pPr>
            <a:r>
              <a:rPr lang="en-US" altLang="it-IT" sz="1800" i="1">
                <a:sym typeface="Symbol" panose="05050102010706020507" pitchFamily="18" charset="2"/>
              </a:rPr>
              <a:t>S</a:t>
            </a:r>
            <a:r>
              <a:rPr lang="en-US" altLang="it-IT" sz="1800" i="1" baseline="-25000">
                <a:sym typeface="Symbol" panose="05050102010706020507" pitchFamily="18" charset="2"/>
              </a:rPr>
              <a:t>0</a:t>
            </a:r>
            <a:r>
              <a:rPr lang="en-US" altLang="it-IT" sz="1800" i="1">
                <a:sym typeface="Symbol" panose="05050102010706020507" pitchFamily="18" charset="2"/>
              </a:rPr>
              <a:t> </a:t>
            </a:r>
            <a:r>
              <a:rPr lang="en-US" altLang="it-IT" sz="1800">
                <a:sym typeface="Symbol" panose="05050102010706020507" pitchFamily="18" charset="2"/>
              </a:rPr>
              <a:t>: </a:t>
            </a:r>
            <a:r>
              <a:rPr lang="en-US" altLang="it-IT" sz="1600" b="1">
                <a:sym typeface="Symbol" panose="05050102010706020507" pitchFamily="18" charset="2"/>
              </a:rPr>
              <a:t>{ 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Goal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b="1" i="1">
                <a:sym typeface="Symbol" panose="05050102010706020507" pitchFamily="18" charset="2"/>
              </a:rPr>
              <a:t>•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SheepNoise,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], [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b="1" i="1">
                <a:sym typeface="Symbol" panose="05050102010706020507" pitchFamily="18" charset="2"/>
              </a:rPr>
              <a:t>•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</a:p>
          <a:p>
            <a:pPr lvl="1" eaLnBrk="1" hangingPunct="1">
              <a:spcBef>
                <a:spcPct val="5000"/>
              </a:spcBef>
              <a:buFontTx/>
              <a:buNone/>
            </a:pP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  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b="1" i="1">
                <a:sym typeface="Symbol" panose="05050102010706020507" pitchFamily="18" charset="2"/>
              </a:rPr>
              <a:t>•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], [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b="1" i="1">
                <a:sym typeface="Symbol" panose="05050102010706020507" pitchFamily="18" charset="2"/>
              </a:rPr>
              <a:t>•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,</a:t>
            </a:r>
          </a:p>
          <a:p>
            <a:pPr lvl="1" eaLnBrk="1" hangingPunct="1">
              <a:spcBef>
                <a:spcPct val="5000"/>
              </a:spcBef>
              <a:buFontTx/>
              <a:buNone/>
            </a:pP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  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it-IT" sz="10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 i="1">
                <a:sym typeface="Symbol" panose="05050102010706020507" pitchFamily="18" charset="2"/>
              </a:rPr>
              <a:t>•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  <a:endParaRPr lang="en-US" altLang="it-IT" sz="1600">
              <a:ea typeface="Times" panose="02020603050405020304" pitchFamily="18" charset="0"/>
              <a:cs typeface="Times" panose="02020603050405020304" pitchFamily="18" charset="0"/>
            </a:endParaRPr>
          </a:p>
          <a:p>
            <a:pPr eaLnBrk="1" hangingPunct="1">
              <a:spcBef>
                <a:spcPct val="120000"/>
              </a:spcBef>
              <a:buFont typeface="Times" panose="02020603050405020304" pitchFamily="18" charset="0"/>
              <a:buNone/>
            </a:pPr>
            <a:r>
              <a:rPr lang="en-US" altLang="it-IT" sz="1800" i="1"/>
              <a:t>S</a:t>
            </a:r>
            <a:r>
              <a:rPr lang="en-US" altLang="it-IT" sz="1800" i="1" baseline="-25000"/>
              <a:t>1  </a:t>
            </a:r>
            <a:r>
              <a:rPr lang="en-US" altLang="it-IT" sz="1800"/>
              <a:t>= </a:t>
            </a:r>
            <a:r>
              <a:rPr lang="en-US" altLang="it-IT" sz="1800" i="1"/>
              <a:t>Goto</a:t>
            </a:r>
            <a:r>
              <a:rPr lang="en-US" altLang="it-IT" sz="1800"/>
              <a:t>(</a:t>
            </a:r>
            <a:r>
              <a:rPr lang="en-US" altLang="it-IT" sz="1800" i="1"/>
              <a:t>S</a:t>
            </a:r>
            <a:r>
              <a:rPr lang="en-US" altLang="it-IT" sz="1800" i="1" baseline="-25000"/>
              <a:t>0</a:t>
            </a:r>
            <a:r>
              <a:rPr lang="en-US" altLang="it-IT" sz="1800" i="1"/>
              <a:t> , 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800"/>
              <a:t>) = </a:t>
            </a:r>
          </a:p>
          <a:p>
            <a:pPr eaLnBrk="1" hangingPunct="1">
              <a:spcBef>
                <a:spcPct val="10000"/>
              </a:spcBef>
              <a:buFont typeface="Times" panose="02020603050405020304" pitchFamily="18" charset="0"/>
              <a:buNone/>
            </a:pPr>
            <a:r>
              <a:rPr lang="en-US" altLang="it-IT" sz="1800">
                <a:sym typeface="Symbol" panose="05050102010706020507" pitchFamily="18" charset="2"/>
              </a:rPr>
              <a:t>	</a:t>
            </a:r>
            <a:r>
              <a:rPr lang="en-US" altLang="it-IT" sz="1600" b="1">
                <a:sym typeface="Symbol" panose="05050102010706020507" pitchFamily="18" charset="2"/>
              </a:rPr>
              <a:t>{ 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Goal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b="1" i="1">
                <a:sym typeface="Symbol" panose="05050102010706020507" pitchFamily="18" charset="2"/>
              </a:rPr>
              <a:t>•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], [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b="1" i="1">
                <a:sym typeface="Symbol" panose="05050102010706020507" pitchFamily="18" charset="2"/>
              </a:rPr>
              <a:t>•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</a:p>
          <a:p>
            <a:pPr lvl="1" eaLnBrk="1" hangingPunct="1">
              <a:spcBef>
                <a:spcPct val="5000"/>
              </a:spcBef>
              <a:buFontTx/>
              <a:buNone/>
            </a:pP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  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b="1" i="1">
                <a:sym typeface="Symbol" panose="05050102010706020507" pitchFamily="18" charset="2"/>
              </a:rPr>
              <a:t>•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</a:p>
          <a:p>
            <a:pPr eaLnBrk="1" hangingPunct="1">
              <a:spcBef>
                <a:spcPct val="120000"/>
              </a:spcBef>
              <a:buFont typeface="Times" panose="02020603050405020304" pitchFamily="18" charset="0"/>
              <a:buNone/>
            </a:pPr>
            <a:r>
              <a:rPr lang="en-US" altLang="it-IT" sz="1800" i="1"/>
              <a:t>S</a:t>
            </a:r>
            <a:r>
              <a:rPr lang="en-US" altLang="it-IT" sz="1800" i="1" baseline="-25000"/>
              <a:t>2  </a:t>
            </a:r>
            <a:r>
              <a:rPr lang="en-US" altLang="it-IT" sz="1800"/>
              <a:t>= </a:t>
            </a:r>
            <a:r>
              <a:rPr lang="en-US" altLang="it-IT" sz="1800" i="1"/>
              <a:t>Goto</a:t>
            </a:r>
            <a:r>
              <a:rPr lang="en-US" altLang="it-IT" sz="1800"/>
              <a:t>(</a:t>
            </a:r>
            <a:r>
              <a:rPr lang="en-US" altLang="it-IT" sz="1800" i="1"/>
              <a:t>S</a:t>
            </a:r>
            <a:r>
              <a:rPr lang="en-US" altLang="it-IT" sz="1800" i="1" baseline="-25000"/>
              <a:t>0</a:t>
            </a:r>
            <a:r>
              <a:rPr lang="en-US" altLang="it-IT" sz="1800" i="1"/>
              <a:t> ,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800"/>
              <a:t>) = </a:t>
            </a:r>
            <a:r>
              <a:rPr lang="en-US" altLang="it-IT" sz="1600" b="1">
                <a:sym typeface="Symbol" panose="05050102010706020507" pitchFamily="18" charset="2"/>
              </a:rPr>
              <a:t>{ 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 i="1">
                <a:sym typeface="Symbol" panose="05050102010706020507" pitchFamily="18" charset="2"/>
              </a:rPr>
              <a:t>•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], 					       </a:t>
            </a:r>
            <a:r>
              <a:rPr lang="en-US" altLang="it-IT" sz="1000" b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 i="1">
                <a:sym typeface="Symbol" panose="05050102010706020507" pitchFamily="18" charset="2"/>
              </a:rPr>
              <a:t>•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  <a:endParaRPr lang="en-US" altLang="it-IT" sz="1800">
              <a:ea typeface="Times" panose="02020603050405020304" pitchFamily="18" charset="0"/>
              <a:cs typeface="Times" panose="02020603050405020304" pitchFamily="18" charset="0"/>
            </a:endParaRPr>
          </a:p>
          <a:p>
            <a:pPr eaLnBrk="1" hangingPunct="1">
              <a:spcBef>
                <a:spcPct val="120000"/>
              </a:spcBef>
              <a:buFont typeface="Times" panose="02020603050405020304" pitchFamily="18" charset="0"/>
              <a:buNone/>
            </a:pPr>
            <a:r>
              <a:rPr lang="en-US" altLang="it-IT" sz="1800" i="1"/>
              <a:t>S</a:t>
            </a:r>
            <a:r>
              <a:rPr lang="en-US" altLang="it-IT" sz="1800" i="1" baseline="-25000"/>
              <a:t>3  </a:t>
            </a:r>
            <a:r>
              <a:rPr lang="en-US" altLang="it-IT" sz="1800"/>
              <a:t>= </a:t>
            </a:r>
            <a:r>
              <a:rPr lang="en-US" altLang="it-IT" sz="1800" i="1"/>
              <a:t>Goto</a:t>
            </a:r>
            <a:r>
              <a:rPr lang="en-US" altLang="it-IT" sz="1800"/>
              <a:t>(</a:t>
            </a:r>
            <a:r>
              <a:rPr lang="en-US" altLang="it-IT" sz="1800" i="1"/>
              <a:t>S</a:t>
            </a:r>
            <a:r>
              <a:rPr lang="en-US" altLang="it-IT" sz="1800" i="1" baseline="-25000"/>
              <a:t>1</a:t>
            </a:r>
            <a:r>
              <a:rPr lang="en-US" altLang="it-IT" sz="1800" i="1"/>
              <a:t> ,</a:t>
            </a:r>
            <a:r>
              <a:rPr lang="en-US" altLang="it-IT" sz="1800" b="1" i="1"/>
              <a:t>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800"/>
              <a:t>) = </a:t>
            </a:r>
            <a:r>
              <a:rPr lang="en-US" altLang="it-IT" sz="1600" b="1">
                <a:sym typeface="Symbol" panose="05050102010706020507" pitchFamily="18" charset="2"/>
              </a:rPr>
              <a:t>{ 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 i="1">
                <a:sym typeface="Symbol" panose="05050102010706020507" pitchFamily="18" charset="2"/>
              </a:rPr>
              <a:t>•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</a:p>
          <a:p>
            <a:pPr lvl="1" eaLnBrk="1" hangingPunct="1">
              <a:spcBef>
                <a:spcPct val="5000"/>
              </a:spcBef>
              <a:buFontTx/>
              <a:buNone/>
            </a:pP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                                     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 i="1">
                <a:sym typeface="Symbol" panose="05050102010706020507" pitchFamily="18" charset="2"/>
              </a:rPr>
              <a:t>•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76738BE7-0C8F-4B67-B875-178AE8190CCC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1747838"/>
            <a:ext cx="4572000" cy="995362"/>
            <a:chOff x="1728" y="1152"/>
            <a:chExt cx="2880" cy="627"/>
          </a:xfrm>
        </p:grpSpPr>
        <p:sp>
          <p:nvSpPr>
            <p:cNvPr id="71693" name="AutoShape 5">
              <a:extLst>
                <a:ext uri="{FF2B5EF4-FFF2-40B4-BE49-F238E27FC236}">
                  <a16:creationId xmlns:a16="http://schemas.microsoft.com/office/drawing/2014/main" id="{72E4B76F-24B0-4A0F-A5B4-FC9422743D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152"/>
              <a:ext cx="432" cy="48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B025A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1694" name="Text Box 6">
              <a:extLst>
                <a:ext uri="{FF2B5EF4-FFF2-40B4-BE49-F238E27FC236}">
                  <a16:creationId xmlns:a16="http://schemas.microsoft.com/office/drawing/2014/main" id="{186C7E0B-26A5-4644-841B-D6D484BA1A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1536"/>
              <a:ext cx="1680" cy="243"/>
            </a:xfrm>
            <a:prstGeom prst="rect">
              <a:avLst/>
            </a:prstGeom>
            <a:noFill/>
            <a:ln w="19050">
              <a:solidFill>
                <a:srgbClr val="B025A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b="1" i="1">
                  <a:solidFill>
                    <a:srgbClr val="B025A6"/>
                  </a:solidFill>
                  <a:sym typeface="Symbol" panose="05050102010706020507" pitchFamily="18" charset="2"/>
                </a:rPr>
                <a:t>•</a:t>
              </a:r>
              <a:r>
                <a:rPr lang="en-US" altLang="it-IT">
                  <a:solidFill>
                    <a:srgbClr val="B025A6"/>
                  </a:solidFill>
                </a:rPr>
                <a:t> before </a:t>
              </a:r>
              <a:r>
                <a:rPr lang="en-US" altLang="it-IT" i="1">
                  <a:solidFill>
                    <a:srgbClr val="B025A6"/>
                  </a:solidFill>
                </a:rPr>
                <a:t>T </a:t>
              </a:r>
              <a:r>
                <a:rPr lang="en-US" altLang="it-IT" i="1">
                  <a:solidFill>
                    <a:srgbClr val="B025A6"/>
                  </a:solidFill>
                  <a:sym typeface="Symbol" panose="05050102010706020507" pitchFamily="18" charset="2"/>
                </a:rPr>
                <a:t> shift </a:t>
              </a:r>
              <a:r>
                <a:rPr lang="en-US" altLang="it-IT" sz="1400" i="1">
                  <a:solidFill>
                    <a:srgbClr val="B025A6"/>
                  </a:solidFill>
                  <a:sym typeface="Symbol" panose="05050102010706020507" pitchFamily="18" charset="2"/>
                </a:rPr>
                <a:t> </a:t>
              </a:r>
              <a:r>
                <a:rPr lang="en-US" altLang="it-IT" i="1">
                  <a:solidFill>
                    <a:srgbClr val="B025A6"/>
                  </a:solidFill>
                  <a:sym typeface="Symbol" panose="05050102010706020507" pitchFamily="18" charset="2"/>
                </a:rPr>
                <a:t>k</a:t>
              </a:r>
            </a:p>
          </p:txBody>
        </p:sp>
        <p:cxnSp>
          <p:nvCxnSpPr>
            <p:cNvPr id="71695" name="AutoShape 7">
              <a:extLst>
                <a:ext uri="{FF2B5EF4-FFF2-40B4-BE49-F238E27FC236}">
                  <a16:creationId xmlns:a16="http://schemas.microsoft.com/office/drawing/2014/main" id="{569337F5-B9DC-4D11-A502-EAEB02D7537B}"/>
                </a:ext>
              </a:extLst>
            </p:cNvPr>
            <p:cNvCxnSpPr>
              <a:cxnSpLocks noChangeShapeType="1"/>
              <a:stCxn id="71693" idx="2"/>
              <a:endCxn id="71694" idx="1"/>
            </p:cNvCxnSpPr>
            <p:nvPr/>
          </p:nvCxnSpPr>
          <p:spPr bwMode="auto">
            <a:xfrm rot="16200000" flipH="1">
              <a:off x="2416" y="1166"/>
              <a:ext cx="34" cy="978"/>
            </a:xfrm>
            <a:prstGeom prst="curvedConnector2">
              <a:avLst/>
            </a:prstGeom>
            <a:noFill/>
            <a:ln w="19050">
              <a:solidFill>
                <a:srgbClr val="B025A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" name="Group 8">
            <a:extLst>
              <a:ext uri="{FF2B5EF4-FFF2-40B4-BE49-F238E27FC236}">
                <a16:creationId xmlns:a16="http://schemas.microsoft.com/office/drawing/2014/main" id="{309E0F71-3F90-4672-8FB5-B893EAA3708A}"/>
              </a:ext>
            </a:extLst>
          </p:cNvPr>
          <p:cNvGrpSpPr>
            <a:grpSpLocks/>
          </p:cNvGrpSpPr>
          <p:nvPr/>
        </p:nvGrpSpPr>
        <p:grpSpPr bwMode="auto">
          <a:xfrm>
            <a:off x="474663" y="2362200"/>
            <a:ext cx="6629400" cy="1905000"/>
            <a:chOff x="336" y="1488"/>
            <a:chExt cx="4176" cy="1200"/>
          </a:xfrm>
        </p:grpSpPr>
        <p:sp>
          <p:nvSpPr>
            <p:cNvPr id="71690" name="AutoShape 9">
              <a:extLst>
                <a:ext uri="{FF2B5EF4-FFF2-40B4-BE49-F238E27FC236}">
                  <a16:creationId xmlns:a16="http://schemas.microsoft.com/office/drawing/2014/main" id="{A6F906D6-13A3-444B-99AD-E619868ADF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352"/>
              <a:ext cx="1488" cy="336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FF006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1691" name="Oval 10">
              <a:extLst>
                <a:ext uri="{FF2B5EF4-FFF2-40B4-BE49-F238E27FC236}">
                  <a16:creationId xmlns:a16="http://schemas.microsoft.com/office/drawing/2014/main" id="{E4670C9B-3ED5-4772-AFC4-39D3D7C801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1488"/>
              <a:ext cx="144" cy="192"/>
            </a:xfrm>
            <a:prstGeom prst="ellipse">
              <a:avLst/>
            </a:prstGeom>
            <a:noFill/>
            <a:ln w="19050">
              <a:solidFill>
                <a:srgbClr val="FF006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cxnSp>
          <p:nvCxnSpPr>
            <p:cNvPr id="71692" name="AutoShape 11">
              <a:extLst>
                <a:ext uri="{FF2B5EF4-FFF2-40B4-BE49-F238E27FC236}">
                  <a16:creationId xmlns:a16="http://schemas.microsoft.com/office/drawing/2014/main" id="{A4FC714F-152A-4BDA-A93C-75D519742ABA}"/>
                </a:ext>
              </a:extLst>
            </p:cNvPr>
            <p:cNvCxnSpPr>
              <a:cxnSpLocks noChangeShapeType="1"/>
              <a:stCxn id="71691" idx="4"/>
              <a:endCxn id="71690" idx="3"/>
            </p:cNvCxnSpPr>
            <p:nvPr/>
          </p:nvCxnSpPr>
          <p:spPr bwMode="auto">
            <a:xfrm rot="5400000">
              <a:off x="2718" y="798"/>
              <a:ext cx="834" cy="2610"/>
            </a:xfrm>
            <a:prstGeom prst="curvedConnector2">
              <a:avLst/>
            </a:prstGeom>
            <a:noFill/>
            <a:ln w="19050">
              <a:solidFill>
                <a:srgbClr val="FF006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" name="Group 12">
            <a:extLst>
              <a:ext uri="{FF2B5EF4-FFF2-40B4-BE49-F238E27FC236}">
                <a16:creationId xmlns:a16="http://schemas.microsoft.com/office/drawing/2014/main" id="{552F32F5-3A0B-4D7B-864C-F8CAFD8571FE}"/>
              </a:ext>
            </a:extLst>
          </p:cNvPr>
          <p:cNvGrpSpPr>
            <a:grpSpLocks/>
          </p:cNvGrpSpPr>
          <p:nvPr/>
        </p:nvGrpSpPr>
        <p:grpSpPr bwMode="auto">
          <a:xfrm>
            <a:off x="6400800" y="2551113"/>
            <a:ext cx="2286000" cy="2038350"/>
            <a:chOff x="4032" y="1607"/>
            <a:chExt cx="1440" cy="1284"/>
          </a:xfrm>
        </p:grpSpPr>
        <p:sp>
          <p:nvSpPr>
            <p:cNvPr id="71688" name="Text Box 13">
              <a:extLst>
                <a:ext uri="{FF2B5EF4-FFF2-40B4-BE49-F238E27FC236}">
                  <a16:creationId xmlns:a16="http://schemas.microsoft.com/office/drawing/2014/main" id="{18660E90-E3B6-4B17-9D8B-1B28992CF7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340"/>
              <a:ext cx="1440" cy="551"/>
            </a:xfrm>
            <a:prstGeom prst="rect">
              <a:avLst/>
            </a:prstGeom>
            <a:noFill/>
            <a:ln w="19050">
              <a:solidFill>
                <a:srgbClr val="B025A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600">
                  <a:solidFill>
                    <a:srgbClr val="B025A6"/>
                  </a:solidFill>
                </a:rPr>
                <a:t>so, ACTION[</a:t>
              </a:r>
              <a:r>
                <a:rPr lang="en-US" altLang="it-IT" sz="1600" i="1">
                  <a:solidFill>
                    <a:srgbClr val="B025A6"/>
                  </a:solidFill>
                </a:rPr>
                <a:t>s</a:t>
              </a:r>
              <a:r>
                <a:rPr lang="en-US" altLang="it-IT" sz="1600" i="1" baseline="-25000">
                  <a:solidFill>
                    <a:srgbClr val="B025A6"/>
                  </a:solidFill>
                </a:rPr>
                <a:t>0</a:t>
              </a:r>
              <a:r>
                <a:rPr lang="en-US" altLang="it-IT" sz="1600">
                  <a:solidFill>
                    <a:srgbClr val="B025A6"/>
                  </a:solidFill>
                </a:rPr>
                <a:t>,</a:t>
              </a:r>
              <a:r>
                <a:rPr lang="en-US" altLang="it-IT" sz="1600" u="sng">
                  <a:solidFill>
                    <a:srgbClr val="B025A6"/>
                  </a:solidFill>
                </a:rPr>
                <a:t>baa</a:t>
              </a:r>
              <a:r>
                <a:rPr lang="en-US" altLang="it-IT" sz="1600">
                  <a:solidFill>
                    <a:srgbClr val="B025A6"/>
                  </a:solidFill>
                </a:rPr>
                <a:t>] is “</a:t>
              </a:r>
              <a:r>
                <a:rPr lang="en-US" altLang="it-IT" sz="1600" i="1">
                  <a:solidFill>
                    <a:srgbClr val="B025A6"/>
                  </a:solidFill>
                </a:rPr>
                <a:t>shift S</a:t>
              </a:r>
              <a:r>
                <a:rPr lang="en-US" altLang="it-IT" sz="1600" i="1" baseline="-25000">
                  <a:solidFill>
                    <a:srgbClr val="B025A6"/>
                  </a:solidFill>
                </a:rPr>
                <a:t>2</a:t>
              </a:r>
              <a:r>
                <a:rPr lang="en-US" altLang="it-IT" sz="1600">
                  <a:solidFill>
                    <a:srgbClr val="B025A6"/>
                  </a:solidFill>
                </a:rPr>
                <a:t>” (clause 1)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it-IT" sz="1200">
                  <a:solidFill>
                    <a:srgbClr val="B025A6"/>
                  </a:solidFill>
                </a:rPr>
                <a:t>(items define same entry)</a:t>
              </a:r>
            </a:p>
          </p:txBody>
        </p:sp>
        <p:cxnSp>
          <p:nvCxnSpPr>
            <p:cNvPr id="71689" name="AutoShape 14">
              <a:extLst>
                <a:ext uri="{FF2B5EF4-FFF2-40B4-BE49-F238E27FC236}">
                  <a16:creationId xmlns:a16="http://schemas.microsoft.com/office/drawing/2014/main" id="{7F6B8500-822B-4E80-9956-B32A157F4B73}"/>
                </a:ext>
              </a:extLst>
            </p:cNvPr>
            <p:cNvCxnSpPr>
              <a:cxnSpLocks noChangeShapeType="1"/>
              <a:stCxn id="71694" idx="3"/>
              <a:endCxn id="71688" idx="0"/>
            </p:cNvCxnSpPr>
            <p:nvPr/>
          </p:nvCxnSpPr>
          <p:spPr bwMode="auto">
            <a:xfrm>
              <a:off x="4608" y="1607"/>
              <a:ext cx="144" cy="733"/>
            </a:xfrm>
            <a:prstGeom prst="curvedConnector2">
              <a:avLst/>
            </a:prstGeom>
            <a:noFill/>
            <a:ln w="9525">
              <a:solidFill>
                <a:srgbClr val="B025A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Footer Placeholder 3">
            <a:extLst>
              <a:ext uri="{FF2B5EF4-FFF2-40B4-BE49-F238E27FC236}">
                <a16:creationId xmlns:a16="http://schemas.microsoft.com/office/drawing/2014/main" id="{0CAA2086-AFD2-4D39-8C13-58C6FE6E66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73730" name="Slide Number Placeholder 4">
            <a:extLst>
              <a:ext uri="{FF2B5EF4-FFF2-40B4-BE49-F238E27FC236}">
                <a16:creationId xmlns:a16="http://schemas.microsoft.com/office/drawing/2014/main" id="{53DC99D1-057D-47B8-9DA3-519BCF496E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49F039F-F005-45F3-8520-26F91FCB8E3E}" type="slidenum">
              <a:rPr lang="en-US" altLang="it-IT"/>
              <a:pPr/>
              <a:t>31</a:t>
            </a:fld>
            <a:endParaRPr lang="en-US" altLang="it-IT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49CAAE55-30F8-4558-A863-656048198B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Example from SheepNoise</a:t>
            </a:r>
          </a:p>
        </p:txBody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086C87F5-50CE-44E0-8F74-E11C95B103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8325" y="1270000"/>
            <a:ext cx="8007350" cy="4876800"/>
          </a:xfrm>
        </p:spPr>
        <p:txBody>
          <a:bodyPr/>
          <a:lstStyle/>
          <a:p>
            <a:pPr eaLnBrk="1" hangingPunct="1">
              <a:lnSpc>
                <a:spcPct val="30000"/>
              </a:lnSpc>
              <a:spcBef>
                <a:spcPct val="0"/>
              </a:spcBef>
              <a:buFont typeface="Times" panose="02020603050405020304" pitchFamily="18" charset="0"/>
              <a:buNone/>
            </a:pPr>
            <a:endParaRPr lang="en-US" altLang="it-IT" sz="1600" i="1">
              <a:sym typeface="Symbol" panose="05050102010706020507" pitchFamily="18" charset="2"/>
            </a:endParaRPr>
          </a:p>
          <a:p>
            <a:pPr eaLnBrk="1" hangingPunct="1">
              <a:spcBef>
                <a:spcPct val="40000"/>
              </a:spcBef>
              <a:buFont typeface="Times" panose="02020603050405020304" pitchFamily="18" charset="0"/>
              <a:buNone/>
            </a:pPr>
            <a:r>
              <a:rPr lang="en-US" altLang="it-IT" sz="1600" i="1">
                <a:sym typeface="Symbol" panose="05050102010706020507" pitchFamily="18" charset="2"/>
              </a:rPr>
              <a:t>S</a:t>
            </a:r>
            <a:r>
              <a:rPr lang="en-US" altLang="it-IT" sz="1600" i="1" baseline="-25000">
                <a:sym typeface="Symbol" panose="05050102010706020507" pitchFamily="18" charset="2"/>
              </a:rPr>
              <a:t>0</a:t>
            </a:r>
            <a:r>
              <a:rPr lang="en-US" altLang="it-IT" sz="1600" i="1">
                <a:sym typeface="Symbol" panose="05050102010706020507" pitchFamily="18" charset="2"/>
              </a:rPr>
              <a:t> </a:t>
            </a:r>
            <a:r>
              <a:rPr lang="en-US" altLang="it-IT" sz="1600">
                <a:sym typeface="Symbol" panose="05050102010706020507" pitchFamily="18" charset="2"/>
              </a:rPr>
              <a:t>: </a:t>
            </a:r>
            <a:r>
              <a:rPr lang="en-US" altLang="it-IT" sz="1400" b="1">
                <a:sym typeface="Symbol" panose="05050102010706020507" pitchFamily="18" charset="2"/>
              </a:rPr>
              <a:t>{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Goal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400" b="1" i="1">
                <a:sym typeface="Symbol" panose="05050102010706020507" pitchFamily="18" charset="2"/>
              </a:rPr>
              <a:t>•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SheepNoise, </a:t>
            </a:r>
            <a:r>
              <a:rPr lang="en-US" altLang="it-IT" sz="12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], [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400" b="1" i="1">
                <a:sym typeface="Symbol" panose="05050102010706020507" pitchFamily="18" charset="2"/>
              </a:rPr>
              <a:t>•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2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</a:p>
          <a:p>
            <a:pPr lvl="1" eaLnBrk="1" hangingPunct="1">
              <a:spcBef>
                <a:spcPct val="5000"/>
              </a:spcBef>
              <a:buFontTx/>
              <a:buNone/>
            </a:pP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 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400" b="1" i="1">
                <a:sym typeface="Symbol" panose="05050102010706020507" pitchFamily="18" charset="2"/>
              </a:rPr>
              <a:t>•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2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], [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400" b="1" i="1">
                <a:sym typeface="Symbol" panose="05050102010706020507" pitchFamily="18" charset="2"/>
              </a:rPr>
              <a:t>•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,</a:t>
            </a:r>
          </a:p>
          <a:p>
            <a:pPr lvl="1" eaLnBrk="1" hangingPunct="1">
              <a:spcBef>
                <a:spcPct val="5000"/>
              </a:spcBef>
              <a:buFontTx/>
              <a:buNone/>
            </a:pP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 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it-IT" sz="9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 i="1">
                <a:sym typeface="Symbol" panose="05050102010706020507" pitchFamily="18" charset="2"/>
              </a:rPr>
              <a:t>•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  <a:endParaRPr lang="en-US" altLang="it-IT" sz="1400">
              <a:ea typeface="Times" panose="02020603050405020304" pitchFamily="18" charset="0"/>
              <a:cs typeface="Times" panose="02020603050405020304" pitchFamily="18" charset="0"/>
            </a:endParaRPr>
          </a:p>
          <a:p>
            <a:pPr eaLnBrk="1" hangingPunct="1">
              <a:spcBef>
                <a:spcPct val="120000"/>
              </a:spcBef>
              <a:buFont typeface="Times" panose="02020603050405020304" pitchFamily="18" charset="0"/>
              <a:buNone/>
            </a:pPr>
            <a:r>
              <a:rPr lang="en-US" altLang="it-IT" sz="1600" i="1"/>
              <a:t>S</a:t>
            </a:r>
            <a:r>
              <a:rPr lang="en-US" altLang="it-IT" sz="1600" i="1" baseline="-25000"/>
              <a:t>1  </a:t>
            </a:r>
            <a:r>
              <a:rPr lang="en-US" altLang="it-IT" sz="1600"/>
              <a:t>= </a:t>
            </a:r>
            <a:r>
              <a:rPr lang="en-US" altLang="it-IT" sz="1600" i="1"/>
              <a:t>Goto</a:t>
            </a:r>
            <a:r>
              <a:rPr lang="en-US" altLang="it-IT" sz="1600"/>
              <a:t>(</a:t>
            </a:r>
            <a:r>
              <a:rPr lang="en-US" altLang="it-IT" sz="1600" i="1"/>
              <a:t>S</a:t>
            </a:r>
            <a:r>
              <a:rPr lang="en-US" altLang="it-IT" sz="1600" i="1" baseline="-25000"/>
              <a:t>0</a:t>
            </a:r>
            <a:r>
              <a:rPr lang="en-US" altLang="it-IT" sz="1600" i="1"/>
              <a:t> , 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/>
              <a:t>) = </a:t>
            </a:r>
          </a:p>
          <a:p>
            <a:pPr eaLnBrk="1" hangingPunct="1">
              <a:spcBef>
                <a:spcPct val="10000"/>
              </a:spcBef>
              <a:buFont typeface="Times" panose="02020603050405020304" pitchFamily="18" charset="0"/>
              <a:buNone/>
            </a:pPr>
            <a:r>
              <a:rPr lang="en-US" altLang="it-IT" sz="1600">
                <a:sym typeface="Symbol" panose="05050102010706020507" pitchFamily="18" charset="2"/>
              </a:rPr>
              <a:t>	</a:t>
            </a:r>
            <a:r>
              <a:rPr lang="en-US" altLang="it-IT" sz="1400" b="1">
                <a:sym typeface="Symbol" panose="05050102010706020507" pitchFamily="18" charset="2"/>
              </a:rPr>
              <a:t>{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Goal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400" b="1" i="1">
                <a:sym typeface="Symbol" panose="05050102010706020507" pitchFamily="18" charset="2"/>
              </a:rPr>
              <a:t>•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2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], [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400" b="1" i="1">
                <a:sym typeface="Symbol" panose="05050102010706020507" pitchFamily="18" charset="2"/>
              </a:rPr>
              <a:t>•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2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</a:p>
          <a:p>
            <a:pPr lvl="1" eaLnBrk="1" hangingPunct="1">
              <a:spcBef>
                <a:spcPct val="5000"/>
              </a:spcBef>
              <a:buFontTx/>
              <a:buNone/>
            </a:pP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 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400" b="1" i="1">
                <a:sym typeface="Symbol" panose="05050102010706020507" pitchFamily="18" charset="2"/>
              </a:rPr>
              <a:t>•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</a:p>
          <a:p>
            <a:pPr eaLnBrk="1" hangingPunct="1">
              <a:spcBef>
                <a:spcPct val="140000"/>
              </a:spcBef>
              <a:buFont typeface="Times" panose="02020603050405020304" pitchFamily="18" charset="0"/>
              <a:buNone/>
            </a:pPr>
            <a:r>
              <a:rPr lang="en-US" altLang="it-IT" sz="1600" i="1"/>
              <a:t>S</a:t>
            </a:r>
            <a:r>
              <a:rPr lang="en-US" altLang="it-IT" sz="1600" i="1" baseline="-25000"/>
              <a:t>2  </a:t>
            </a:r>
            <a:r>
              <a:rPr lang="en-US" altLang="it-IT" sz="1600"/>
              <a:t>= </a:t>
            </a:r>
            <a:r>
              <a:rPr lang="en-US" altLang="it-IT" sz="1600" i="1"/>
              <a:t>Goto</a:t>
            </a:r>
            <a:r>
              <a:rPr lang="en-US" altLang="it-IT" sz="1600"/>
              <a:t>(</a:t>
            </a:r>
            <a:r>
              <a:rPr lang="en-US" altLang="it-IT" sz="1600" i="1"/>
              <a:t>S</a:t>
            </a:r>
            <a:r>
              <a:rPr lang="en-US" altLang="it-IT" sz="1600" i="1" baseline="-25000"/>
              <a:t>0</a:t>
            </a:r>
            <a:r>
              <a:rPr lang="en-US" altLang="it-IT" sz="1600" i="1"/>
              <a:t> ,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/>
              <a:t>) = </a:t>
            </a:r>
            <a:r>
              <a:rPr lang="en-US" altLang="it-IT" sz="1400" b="1">
                <a:sym typeface="Symbol" panose="05050102010706020507" pitchFamily="18" charset="2"/>
              </a:rPr>
              <a:t>{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 i="1">
                <a:sym typeface="Symbol" panose="05050102010706020507" pitchFamily="18" charset="2"/>
              </a:rPr>
              <a:t>•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2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], 					       </a:t>
            </a:r>
            <a:r>
              <a:rPr lang="en-US" altLang="it-IT" sz="900" b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 i="1">
                <a:sym typeface="Symbol" panose="05050102010706020507" pitchFamily="18" charset="2"/>
              </a:rPr>
              <a:t>•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  <a:endParaRPr lang="en-US" altLang="it-IT" sz="1600">
              <a:ea typeface="Times" panose="02020603050405020304" pitchFamily="18" charset="0"/>
              <a:cs typeface="Times" panose="02020603050405020304" pitchFamily="18" charset="0"/>
            </a:endParaRPr>
          </a:p>
          <a:p>
            <a:pPr eaLnBrk="1" hangingPunct="1">
              <a:spcBef>
                <a:spcPct val="145000"/>
              </a:spcBef>
              <a:buFont typeface="Times" panose="02020603050405020304" pitchFamily="18" charset="0"/>
              <a:buNone/>
            </a:pPr>
            <a:r>
              <a:rPr lang="en-US" altLang="it-IT" sz="1600" i="1"/>
              <a:t>S</a:t>
            </a:r>
            <a:r>
              <a:rPr lang="en-US" altLang="it-IT" sz="1600" i="1" baseline="-25000"/>
              <a:t>3  </a:t>
            </a:r>
            <a:r>
              <a:rPr lang="en-US" altLang="it-IT" sz="1600"/>
              <a:t>= </a:t>
            </a:r>
            <a:r>
              <a:rPr lang="en-US" altLang="it-IT" sz="1600" i="1"/>
              <a:t>Goto</a:t>
            </a:r>
            <a:r>
              <a:rPr lang="en-US" altLang="it-IT" sz="1600"/>
              <a:t>(</a:t>
            </a:r>
            <a:r>
              <a:rPr lang="en-US" altLang="it-IT" sz="1600" i="1"/>
              <a:t>S</a:t>
            </a:r>
            <a:r>
              <a:rPr lang="en-US" altLang="it-IT" sz="1600" i="1" baseline="-25000"/>
              <a:t>1</a:t>
            </a:r>
            <a:r>
              <a:rPr lang="en-US" altLang="it-IT" sz="1600" i="1"/>
              <a:t> ,</a:t>
            </a:r>
            <a:r>
              <a:rPr lang="en-US" altLang="it-IT" sz="1600" b="1" i="1"/>
              <a:t>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/>
              <a:t>) = </a:t>
            </a:r>
            <a:r>
              <a:rPr lang="en-US" altLang="it-IT" sz="1400" b="1">
                <a:sym typeface="Symbol" panose="05050102010706020507" pitchFamily="18" charset="2"/>
              </a:rPr>
              <a:t>{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 i="1">
                <a:sym typeface="Symbol" panose="05050102010706020507" pitchFamily="18" charset="2"/>
              </a:rPr>
              <a:t>•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2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</a:p>
          <a:p>
            <a:pPr lvl="1" eaLnBrk="1" hangingPunct="1">
              <a:spcBef>
                <a:spcPct val="5000"/>
              </a:spcBef>
              <a:buFontTx/>
              <a:buNone/>
            </a:pP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                                    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 i="1">
                <a:sym typeface="Symbol" panose="05050102010706020507" pitchFamily="18" charset="2"/>
              </a:rPr>
              <a:t>•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</a:p>
        </p:txBody>
      </p:sp>
      <p:grpSp>
        <p:nvGrpSpPr>
          <p:cNvPr id="73733" name="Group 13">
            <a:extLst>
              <a:ext uri="{FF2B5EF4-FFF2-40B4-BE49-F238E27FC236}">
                <a16:creationId xmlns:a16="http://schemas.microsoft.com/office/drawing/2014/main" id="{6B8758D7-8959-4431-86E7-7B5A376E6216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514600"/>
            <a:ext cx="8153400" cy="2362200"/>
            <a:chOff x="336" y="1584"/>
            <a:chExt cx="5136" cy="1488"/>
          </a:xfrm>
        </p:grpSpPr>
        <p:sp>
          <p:nvSpPr>
            <p:cNvPr id="73734" name="Text Box 5">
              <a:extLst>
                <a:ext uri="{FF2B5EF4-FFF2-40B4-BE49-F238E27FC236}">
                  <a16:creationId xmlns:a16="http://schemas.microsoft.com/office/drawing/2014/main" id="{C75E35C8-D305-47B3-94DB-C188D83627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304"/>
              <a:ext cx="1440" cy="378"/>
            </a:xfrm>
            <a:prstGeom prst="rect">
              <a:avLst/>
            </a:prstGeom>
            <a:noFill/>
            <a:ln w="19050">
              <a:solidFill>
                <a:srgbClr val="B025A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600">
                  <a:solidFill>
                    <a:srgbClr val="B025A6"/>
                  </a:solidFill>
                </a:rPr>
                <a:t>so, ACTION[</a:t>
              </a:r>
              <a:r>
                <a:rPr lang="en-US" altLang="it-IT" sz="1600" i="1">
                  <a:solidFill>
                    <a:srgbClr val="B025A6"/>
                  </a:solidFill>
                </a:rPr>
                <a:t>S</a:t>
              </a:r>
              <a:r>
                <a:rPr lang="en-US" altLang="it-IT" sz="1600" i="1" baseline="-25000">
                  <a:solidFill>
                    <a:srgbClr val="B025A6"/>
                  </a:solidFill>
                </a:rPr>
                <a:t>1</a:t>
              </a:r>
              <a:r>
                <a:rPr lang="en-US" altLang="it-IT" sz="1600">
                  <a:solidFill>
                    <a:srgbClr val="B025A6"/>
                  </a:solidFill>
                </a:rPr>
                <a:t>,</a:t>
              </a:r>
              <a:r>
                <a:rPr lang="en-US" altLang="it-IT" sz="1600" u="sng">
                  <a:solidFill>
                    <a:srgbClr val="B025A6"/>
                  </a:solidFill>
                </a:rPr>
                <a:t>baa</a:t>
              </a:r>
              <a:r>
                <a:rPr lang="en-US" altLang="it-IT" sz="1600">
                  <a:solidFill>
                    <a:srgbClr val="B025A6"/>
                  </a:solidFill>
                </a:rPr>
                <a:t>] is “</a:t>
              </a:r>
              <a:r>
                <a:rPr lang="en-US" altLang="it-IT" sz="1600" i="1">
                  <a:solidFill>
                    <a:srgbClr val="B025A6"/>
                  </a:solidFill>
                </a:rPr>
                <a:t>shift S</a:t>
              </a:r>
              <a:r>
                <a:rPr lang="en-US" altLang="it-IT" sz="1600" i="1" baseline="-25000">
                  <a:solidFill>
                    <a:srgbClr val="B025A6"/>
                  </a:solidFill>
                </a:rPr>
                <a:t>3</a:t>
              </a:r>
              <a:r>
                <a:rPr lang="en-US" altLang="it-IT" sz="1600">
                  <a:solidFill>
                    <a:srgbClr val="B025A6"/>
                  </a:solidFill>
                </a:rPr>
                <a:t>” (clause 1)</a:t>
              </a:r>
            </a:p>
          </p:txBody>
        </p:sp>
        <p:sp>
          <p:nvSpPr>
            <p:cNvPr id="73735" name="AutoShape 6">
              <a:extLst>
                <a:ext uri="{FF2B5EF4-FFF2-40B4-BE49-F238E27FC236}">
                  <a16:creationId xmlns:a16="http://schemas.microsoft.com/office/drawing/2014/main" id="{31EA09C2-7356-4B7A-B56C-CFAAE536EA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584"/>
              <a:ext cx="720" cy="432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B025A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3736" name="AutoShape 7">
              <a:extLst>
                <a:ext uri="{FF2B5EF4-FFF2-40B4-BE49-F238E27FC236}">
                  <a16:creationId xmlns:a16="http://schemas.microsoft.com/office/drawing/2014/main" id="{9B31DD31-19F2-4B02-8940-5D8B1DADEB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1728"/>
              <a:ext cx="672" cy="432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B025A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3737" name="AutoShape 8">
              <a:extLst>
                <a:ext uri="{FF2B5EF4-FFF2-40B4-BE49-F238E27FC236}">
                  <a16:creationId xmlns:a16="http://schemas.microsoft.com/office/drawing/2014/main" id="{8B7A6DE9-6AC2-4CC8-BC9F-111452E2FE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688"/>
              <a:ext cx="1488" cy="384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FF006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cxnSp>
          <p:nvCxnSpPr>
            <p:cNvPr id="73738" name="AutoShape 9">
              <a:extLst>
                <a:ext uri="{FF2B5EF4-FFF2-40B4-BE49-F238E27FC236}">
                  <a16:creationId xmlns:a16="http://schemas.microsoft.com/office/drawing/2014/main" id="{995DEFD8-051D-4A86-BA11-720FE6CE2171}"/>
                </a:ext>
              </a:extLst>
            </p:cNvPr>
            <p:cNvCxnSpPr>
              <a:cxnSpLocks noChangeShapeType="1"/>
              <a:stCxn id="73736" idx="3"/>
              <a:endCxn id="73734" idx="1"/>
            </p:cNvCxnSpPr>
            <p:nvPr/>
          </p:nvCxnSpPr>
          <p:spPr bwMode="auto">
            <a:xfrm>
              <a:off x="2982" y="1944"/>
              <a:ext cx="1044" cy="549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rgbClr val="B025A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739" name="AutoShape 10">
              <a:extLst>
                <a:ext uri="{FF2B5EF4-FFF2-40B4-BE49-F238E27FC236}">
                  <a16:creationId xmlns:a16="http://schemas.microsoft.com/office/drawing/2014/main" id="{B472D902-CB57-4C22-AEB1-80762024F28F}"/>
                </a:ext>
              </a:extLst>
            </p:cNvPr>
            <p:cNvCxnSpPr>
              <a:cxnSpLocks noChangeShapeType="1"/>
              <a:stCxn id="73735" idx="2"/>
              <a:endCxn id="73734" idx="1"/>
            </p:cNvCxnSpPr>
            <p:nvPr/>
          </p:nvCxnSpPr>
          <p:spPr bwMode="auto">
            <a:xfrm rot="5400000">
              <a:off x="3877" y="2171"/>
              <a:ext cx="471" cy="174"/>
            </a:xfrm>
            <a:prstGeom prst="curvedConnector4">
              <a:avLst>
                <a:gd name="adj1" fmla="val 29301"/>
                <a:gd name="adj2" fmla="val 179310"/>
              </a:avLst>
            </a:prstGeom>
            <a:noFill/>
            <a:ln w="19050">
              <a:solidFill>
                <a:srgbClr val="B025A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740" name="AutoShape 11">
              <a:extLst>
                <a:ext uri="{FF2B5EF4-FFF2-40B4-BE49-F238E27FC236}">
                  <a16:creationId xmlns:a16="http://schemas.microsoft.com/office/drawing/2014/main" id="{B64022EA-72CF-426A-9591-1F17DDAAA415}"/>
                </a:ext>
              </a:extLst>
            </p:cNvPr>
            <p:cNvCxnSpPr>
              <a:cxnSpLocks noChangeShapeType="1"/>
              <a:stCxn id="73737" idx="0"/>
              <a:endCxn id="73734" idx="1"/>
            </p:cNvCxnSpPr>
            <p:nvPr/>
          </p:nvCxnSpPr>
          <p:spPr bwMode="auto">
            <a:xfrm rot="-5400000">
              <a:off x="2458" y="1115"/>
              <a:ext cx="189" cy="2946"/>
            </a:xfrm>
            <a:prstGeom prst="curvedConnector2">
              <a:avLst/>
            </a:prstGeom>
            <a:noFill/>
            <a:ln w="19050">
              <a:solidFill>
                <a:srgbClr val="FF006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3741" name="Text Box 12">
              <a:extLst>
                <a:ext uri="{FF2B5EF4-FFF2-40B4-BE49-F238E27FC236}">
                  <a16:creationId xmlns:a16="http://schemas.microsoft.com/office/drawing/2014/main" id="{9ABFC745-5D54-4E14-A53E-0FC9D597F6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0" y="2500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</p:spTree>
  </p:cSld>
  <p:clrMapOvr>
    <a:masterClrMapping/>
  </p:clrMapOvr>
  <p:transition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Footer Placeholder 3">
            <a:extLst>
              <a:ext uri="{FF2B5EF4-FFF2-40B4-BE49-F238E27FC236}">
                <a16:creationId xmlns:a16="http://schemas.microsoft.com/office/drawing/2014/main" id="{2DCC63DD-531B-42D9-8F4C-09DD619B194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75778" name="Slide Number Placeholder 4">
            <a:extLst>
              <a:ext uri="{FF2B5EF4-FFF2-40B4-BE49-F238E27FC236}">
                <a16:creationId xmlns:a16="http://schemas.microsoft.com/office/drawing/2014/main" id="{0A320020-1BF2-4474-8F31-D0FEFFE646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4A6CC20-D2FD-440A-8EC8-C1CEBDABA0B1}" type="slidenum">
              <a:rPr lang="en-US" altLang="it-IT"/>
              <a:pPr/>
              <a:t>32</a:t>
            </a:fld>
            <a:endParaRPr lang="en-US" altLang="it-IT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DE67823F-CF20-4A29-98FC-05FBAB0B3E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Example from SheepNoise</a:t>
            </a:r>
          </a:p>
        </p:txBody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1EA984B2-38B5-4B26-B538-E5335D1F1B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8325" y="1270000"/>
            <a:ext cx="8007350" cy="4876800"/>
          </a:xfrm>
        </p:spPr>
        <p:txBody>
          <a:bodyPr/>
          <a:lstStyle/>
          <a:p>
            <a:pPr eaLnBrk="1" hangingPunct="1">
              <a:lnSpc>
                <a:spcPct val="30000"/>
              </a:lnSpc>
              <a:spcBef>
                <a:spcPct val="0"/>
              </a:spcBef>
              <a:buFont typeface="Times" panose="02020603050405020304" pitchFamily="18" charset="0"/>
              <a:buNone/>
            </a:pPr>
            <a:endParaRPr lang="en-US" altLang="it-IT" sz="1800" i="1">
              <a:sym typeface="Symbol" panose="05050102010706020507" pitchFamily="18" charset="2"/>
            </a:endParaRPr>
          </a:p>
          <a:p>
            <a:pPr eaLnBrk="1" hangingPunct="1">
              <a:spcBef>
                <a:spcPct val="40000"/>
              </a:spcBef>
              <a:buFont typeface="Times" panose="02020603050405020304" pitchFamily="18" charset="0"/>
              <a:buNone/>
            </a:pPr>
            <a:r>
              <a:rPr lang="en-US" altLang="it-IT" sz="1800" i="1">
                <a:sym typeface="Symbol" panose="05050102010706020507" pitchFamily="18" charset="2"/>
              </a:rPr>
              <a:t>S</a:t>
            </a:r>
            <a:r>
              <a:rPr lang="en-US" altLang="it-IT" sz="1800" i="1" baseline="-25000">
                <a:sym typeface="Symbol" panose="05050102010706020507" pitchFamily="18" charset="2"/>
              </a:rPr>
              <a:t>0</a:t>
            </a:r>
            <a:r>
              <a:rPr lang="en-US" altLang="it-IT" sz="1800" i="1">
                <a:sym typeface="Symbol" panose="05050102010706020507" pitchFamily="18" charset="2"/>
              </a:rPr>
              <a:t> </a:t>
            </a:r>
            <a:r>
              <a:rPr lang="en-US" altLang="it-IT" sz="1800">
                <a:sym typeface="Symbol" panose="05050102010706020507" pitchFamily="18" charset="2"/>
              </a:rPr>
              <a:t>: </a:t>
            </a:r>
            <a:r>
              <a:rPr lang="en-US" altLang="it-IT" sz="1600" b="1">
                <a:sym typeface="Symbol" panose="05050102010706020507" pitchFamily="18" charset="2"/>
              </a:rPr>
              <a:t>{ 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Goal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b="1" i="1">
                <a:sym typeface="Symbol" panose="05050102010706020507" pitchFamily="18" charset="2"/>
              </a:rPr>
              <a:t>•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SheepNoise,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], [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b="1" i="1">
                <a:sym typeface="Symbol" panose="05050102010706020507" pitchFamily="18" charset="2"/>
              </a:rPr>
              <a:t>•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</a:p>
          <a:p>
            <a:pPr lvl="1" eaLnBrk="1" hangingPunct="1">
              <a:spcBef>
                <a:spcPct val="5000"/>
              </a:spcBef>
              <a:buFontTx/>
              <a:buNone/>
            </a:pP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  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b="1" i="1">
                <a:sym typeface="Symbol" panose="05050102010706020507" pitchFamily="18" charset="2"/>
              </a:rPr>
              <a:t>•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], [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b="1" i="1">
                <a:sym typeface="Symbol" panose="05050102010706020507" pitchFamily="18" charset="2"/>
              </a:rPr>
              <a:t>•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,</a:t>
            </a:r>
          </a:p>
          <a:p>
            <a:pPr lvl="1" eaLnBrk="1" hangingPunct="1">
              <a:spcBef>
                <a:spcPct val="5000"/>
              </a:spcBef>
              <a:buFontTx/>
              <a:buNone/>
            </a:pP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  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it-IT" sz="10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 i="1">
                <a:sym typeface="Symbol" panose="05050102010706020507" pitchFamily="18" charset="2"/>
              </a:rPr>
              <a:t>•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  <a:endParaRPr lang="en-US" altLang="it-IT" sz="1600">
              <a:ea typeface="Times" panose="02020603050405020304" pitchFamily="18" charset="0"/>
              <a:cs typeface="Times" panose="02020603050405020304" pitchFamily="18" charset="0"/>
            </a:endParaRPr>
          </a:p>
          <a:p>
            <a:pPr eaLnBrk="1" hangingPunct="1">
              <a:spcBef>
                <a:spcPct val="120000"/>
              </a:spcBef>
              <a:buFont typeface="Times" panose="02020603050405020304" pitchFamily="18" charset="0"/>
              <a:buNone/>
            </a:pPr>
            <a:r>
              <a:rPr lang="en-US" altLang="it-IT" sz="1800" i="1"/>
              <a:t>S</a:t>
            </a:r>
            <a:r>
              <a:rPr lang="en-US" altLang="it-IT" sz="1800" i="1" baseline="-25000"/>
              <a:t>1  </a:t>
            </a:r>
            <a:r>
              <a:rPr lang="en-US" altLang="it-IT" sz="1800"/>
              <a:t>= </a:t>
            </a:r>
            <a:r>
              <a:rPr lang="en-US" altLang="it-IT" sz="1800" i="1"/>
              <a:t>Goto</a:t>
            </a:r>
            <a:r>
              <a:rPr lang="en-US" altLang="it-IT" sz="1800"/>
              <a:t>(</a:t>
            </a:r>
            <a:r>
              <a:rPr lang="en-US" altLang="it-IT" sz="1800" i="1"/>
              <a:t>S</a:t>
            </a:r>
            <a:r>
              <a:rPr lang="en-US" altLang="it-IT" sz="1800" i="1" baseline="-25000"/>
              <a:t>0</a:t>
            </a:r>
            <a:r>
              <a:rPr lang="en-US" altLang="it-IT" sz="1800" i="1"/>
              <a:t> , 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800"/>
              <a:t>) = </a:t>
            </a:r>
          </a:p>
          <a:p>
            <a:pPr eaLnBrk="1" hangingPunct="1">
              <a:spcBef>
                <a:spcPct val="10000"/>
              </a:spcBef>
              <a:buFont typeface="Times" panose="02020603050405020304" pitchFamily="18" charset="0"/>
              <a:buNone/>
            </a:pPr>
            <a:r>
              <a:rPr lang="en-US" altLang="it-IT" sz="1800">
                <a:sym typeface="Symbol" panose="05050102010706020507" pitchFamily="18" charset="2"/>
              </a:rPr>
              <a:t>	</a:t>
            </a:r>
            <a:r>
              <a:rPr lang="en-US" altLang="it-IT" sz="1600" b="1">
                <a:sym typeface="Symbol" panose="05050102010706020507" pitchFamily="18" charset="2"/>
              </a:rPr>
              <a:t>{ 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Goal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b="1" i="1">
                <a:sym typeface="Symbol" panose="05050102010706020507" pitchFamily="18" charset="2"/>
              </a:rPr>
              <a:t>•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], [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b="1" i="1">
                <a:sym typeface="Symbol" panose="05050102010706020507" pitchFamily="18" charset="2"/>
              </a:rPr>
              <a:t>•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</a:p>
          <a:p>
            <a:pPr lvl="1" eaLnBrk="1" hangingPunct="1">
              <a:spcBef>
                <a:spcPct val="5000"/>
              </a:spcBef>
              <a:buFontTx/>
              <a:buNone/>
            </a:pP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  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b="1" i="1">
                <a:sym typeface="Symbol" panose="05050102010706020507" pitchFamily="18" charset="2"/>
              </a:rPr>
              <a:t>•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</a:p>
          <a:p>
            <a:pPr eaLnBrk="1" hangingPunct="1">
              <a:spcBef>
                <a:spcPct val="135000"/>
              </a:spcBef>
              <a:buFont typeface="Times" panose="02020603050405020304" pitchFamily="18" charset="0"/>
              <a:buNone/>
            </a:pPr>
            <a:r>
              <a:rPr lang="en-US" altLang="it-IT" sz="1800" i="1"/>
              <a:t>S</a:t>
            </a:r>
            <a:r>
              <a:rPr lang="en-US" altLang="it-IT" sz="1800" i="1" baseline="-25000"/>
              <a:t>2  </a:t>
            </a:r>
            <a:r>
              <a:rPr lang="en-US" altLang="it-IT" sz="1800"/>
              <a:t>= </a:t>
            </a:r>
            <a:r>
              <a:rPr lang="en-US" altLang="it-IT" sz="1800" i="1"/>
              <a:t>Goto</a:t>
            </a:r>
            <a:r>
              <a:rPr lang="en-US" altLang="it-IT" sz="1800"/>
              <a:t>(</a:t>
            </a:r>
            <a:r>
              <a:rPr lang="en-US" altLang="it-IT" sz="1800" i="1"/>
              <a:t>S</a:t>
            </a:r>
            <a:r>
              <a:rPr lang="en-US" altLang="it-IT" sz="1800" i="1" baseline="-25000"/>
              <a:t>0</a:t>
            </a:r>
            <a:r>
              <a:rPr lang="en-US" altLang="it-IT" sz="1800" i="1"/>
              <a:t> ,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800"/>
              <a:t>) = </a:t>
            </a:r>
            <a:r>
              <a:rPr lang="en-US" altLang="it-IT" sz="1600" b="1">
                <a:sym typeface="Symbol" panose="05050102010706020507" pitchFamily="18" charset="2"/>
              </a:rPr>
              <a:t>{ 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 i="1">
                <a:sym typeface="Symbol" panose="05050102010706020507" pitchFamily="18" charset="2"/>
              </a:rPr>
              <a:t>•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], 					       </a:t>
            </a:r>
            <a:r>
              <a:rPr lang="en-US" altLang="it-IT" sz="1000" b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 i="1">
                <a:sym typeface="Symbol" panose="05050102010706020507" pitchFamily="18" charset="2"/>
              </a:rPr>
              <a:t>•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  <a:endParaRPr lang="en-US" altLang="it-IT" sz="1800">
              <a:ea typeface="Times" panose="02020603050405020304" pitchFamily="18" charset="0"/>
              <a:cs typeface="Times" panose="02020603050405020304" pitchFamily="18" charset="0"/>
            </a:endParaRPr>
          </a:p>
          <a:p>
            <a:pPr eaLnBrk="1" hangingPunct="1">
              <a:spcBef>
                <a:spcPct val="45000"/>
              </a:spcBef>
              <a:buFont typeface="Times" panose="02020603050405020304" pitchFamily="18" charset="0"/>
              <a:buNone/>
            </a:pPr>
            <a:r>
              <a:rPr lang="en-US" altLang="it-IT" sz="1800" i="1"/>
              <a:t>S</a:t>
            </a:r>
            <a:r>
              <a:rPr lang="en-US" altLang="it-IT" sz="1800" i="1" baseline="-25000"/>
              <a:t>3  </a:t>
            </a:r>
            <a:r>
              <a:rPr lang="en-US" altLang="it-IT" sz="1800"/>
              <a:t>= </a:t>
            </a:r>
            <a:r>
              <a:rPr lang="en-US" altLang="it-IT" sz="1800" i="1"/>
              <a:t>Goto</a:t>
            </a:r>
            <a:r>
              <a:rPr lang="en-US" altLang="it-IT" sz="1800"/>
              <a:t>(</a:t>
            </a:r>
            <a:r>
              <a:rPr lang="en-US" altLang="it-IT" sz="1800" i="1"/>
              <a:t>S</a:t>
            </a:r>
            <a:r>
              <a:rPr lang="en-US" altLang="it-IT" sz="1800" i="1" baseline="-25000"/>
              <a:t>1</a:t>
            </a:r>
            <a:r>
              <a:rPr lang="en-US" altLang="it-IT" sz="1800" i="1"/>
              <a:t> ,</a:t>
            </a:r>
            <a:r>
              <a:rPr lang="en-US" altLang="it-IT" sz="1800" b="1" i="1"/>
              <a:t>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800"/>
              <a:t>) = </a:t>
            </a:r>
            <a:r>
              <a:rPr lang="en-US" altLang="it-IT" sz="1600" b="1">
                <a:sym typeface="Symbol" panose="05050102010706020507" pitchFamily="18" charset="2"/>
              </a:rPr>
              <a:t>{ 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 i="1">
                <a:sym typeface="Symbol" panose="05050102010706020507" pitchFamily="18" charset="2"/>
              </a:rPr>
              <a:t>•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</a:p>
          <a:p>
            <a:pPr lvl="1" eaLnBrk="1" hangingPunct="1">
              <a:spcBef>
                <a:spcPct val="45000"/>
              </a:spcBef>
              <a:buFontTx/>
              <a:buNone/>
            </a:pP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                                     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 i="1">
                <a:sym typeface="Symbol" panose="05050102010706020507" pitchFamily="18" charset="2"/>
              </a:rPr>
              <a:t>•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FFD78CEF-955C-41FB-8AE0-DE912F25DD03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895600"/>
            <a:ext cx="7620000" cy="1133475"/>
            <a:chOff x="672" y="2016"/>
            <a:chExt cx="4800" cy="714"/>
          </a:xfrm>
        </p:grpSpPr>
        <p:sp>
          <p:nvSpPr>
            <p:cNvPr id="75782" name="AutoShape 5">
              <a:extLst>
                <a:ext uri="{FF2B5EF4-FFF2-40B4-BE49-F238E27FC236}">
                  <a16:creationId xmlns:a16="http://schemas.microsoft.com/office/drawing/2014/main" id="{290F6FA1-472B-4D7E-8200-A7916AA52C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016"/>
              <a:ext cx="1872" cy="24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B025A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5783" name="Text Box 6">
              <a:extLst>
                <a:ext uri="{FF2B5EF4-FFF2-40B4-BE49-F238E27FC236}">
                  <a16:creationId xmlns:a16="http://schemas.microsoft.com/office/drawing/2014/main" id="{40B43414-0563-4076-9346-A48F9D55BC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352"/>
              <a:ext cx="1440" cy="378"/>
            </a:xfrm>
            <a:prstGeom prst="rect">
              <a:avLst/>
            </a:prstGeom>
            <a:noFill/>
            <a:ln w="19050">
              <a:solidFill>
                <a:srgbClr val="B025A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600">
                  <a:solidFill>
                    <a:srgbClr val="B025A6"/>
                  </a:solidFill>
                </a:rPr>
                <a:t>so, ACTION[</a:t>
              </a:r>
              <a:r>
                <a:rPr lang="en-US" altLang="it-IT" sz="1600" i="1">
                  <a:solidFill>
                    <a:srgbClr val="B025A6"/>
                  </a:solidFill>
                </a:rPr>
                <a:t>S</a:t>
              </a:r>
              <a:r>
                <a:rPr lang="en-US" altLang="it-IT" sz="1600" i="1" baseline="-25000">
                  <a:solidFill>
                    <a:srgbClr val="B025A6"/>
                  </a:solidFill>
                </a:rPr>
                <a:t>1</a:t>
              </a:r>
              <a:r>
                <a:rPr lang="en-US" altLang="it-IT" sz="1600">
                  <a:solidFill>
                    <a:srgbClr val="B025A6"/>
                  </a:solidFill>
                </a:rPr>
                <a:t>,EOF] is “</a:t>
              </a:r>
              <a:r>
                <a:rPr lang="en-US" altLang="it-IT" sz="1600" i="1">
                  <a:solidFill>
                    <a:srgbClr val="B025A6"/>
                  </a:solidFill>
                </a:rPr>
                <a:t>accept</a:t>
              </a:r>
              <a:r>
                <a:rPr lang="en-US" altLang="it-IT" sz="800" i="1">
                  <a:solidFill>
                    <a:srgbClr val="B025A6"/>
                  </a:solidFill>
                </a:rPr>
                <a:t> </a:t>
              </a:r>
              <a:r>
                <a:rPr lang="en-US" altLang="it-IT" sz="1600">
                  <a:solidFill>
                    <a:srgbClr val="B025A6"/>
                  </a:solidFill>
                </a:rPr>
                <a:t>” (clause 2)</a:t>
              </a:r>
            </a:p>
          </p:txBody>
        </p:sp>
        <p:cxnSp>
          <p:nvCxnSpPr>
            <p:cNvPr id="75784" name="AutoShape 7">
              <a:extLst>
                <a:ext uri="{FF2B5EF4-FFF2-40B4-BE49-F238E27FC236}">
                  <a16:creationId xmlns:a16="http://schemas.microsoft.com/office/drawing/2014/main" id="{94635E7B-45E2-4C86-B4D0-BC247360A373}"/>
                </a:ext>
              </a:extLst>
            </p:cNvPr>
            <p:cNvCxnSpPr>
              <a:cxnSpLocks noChangeShapeType="1"/>
              <a:stCxn id="75782" idx="3"/>
              <a:endCxn id="75783" idx="1"/>
            </p:cNvCxnSpPr>
            <p:nvPr/>
          </p:nvCxnSpPr>
          <p:spPr bwMode="auto">
            <a:xfrm>
              <a:off x="2550" y="2136"/>
              <a:ext cx="1476" cy="429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rgbClr val="B025A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Footer Placeholder 3">
            <a:extLst>
              <a:ext uri="{FF2B5EF4-FFF2-40B4-BE49-F238E27FC236}">
                <a16:creationId xmlns:a16="http://schemas.microsoft.com/office/drawing/2014/main" id="{E539D7AC-3F7A-4FC4-AD77-1E8B15529D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77826" name="Slide Number Placeholder 4">
            <a:extLst>
              <a:ext uri="{FF2B5EF4-FFF2-40B4-BE49-F238E27FC236}">
                <a16:creationId xmlns:a16="http://schemas.microsoft.com/office/drawing/2014/main" id="{669FF7A1-9E02-4CA3-9540-4B4B382634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7516CDD-898E-489D-8273-D0D3E0950C43}" type="slidenum">
              <a:rPr lang="en-US" altLang="it-IT"/>
              <a:pPr/>
              <a:t>33</a:t>
            </a:fld>
            <a:endParaRPr lang="en-US" altLang="it-IT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9F3DB847-46C0-45D8-A0A5-4280FD7228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Example from SheepNoise</a:t>
            </a:r>
          </a:p>
        </p:txBody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96A4FF9C-3A43-4BFE-82BC-3CE70ACBD7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8325" y="1270000"/>
            <a:ext cx="8007350" cy="4876800"/>
          </a:xfrm>
        </p:spPr>
        <p:txBody>
          <a:bodyPr/>
          <a:lstStyle/>
          <a:p>
            <a:pPr eaLnBrk="1" hangingPunct="1">
              <a:lnSpc>
                <a:spcPct val="30000"/>
              </a:lnSpc>
              <a:spcBef>
                <a:spcPct val="0"/>
              </a:spcBef>
              <a:buFont typeface="Times" panose="02020603050405020304" pitchFamily="18" charset="0"/>
              <a:buNone/>
            </a:pPr>
            <a:endParaRPr lang="en-US" altLang="it-IT" sz="1800" i="1">
              <a:sym typeface="Symbol" panose="05050102010706020507" pitchFamily="18" charset="2"/>
            </a:endParaRPr>
          </a:p>
          <a:p>
            <a:pPr eaLnBrk="1" hangingPunct="1">
              <a:spcBef>
                <a:spcPct val="40000"/>
              </a:spcBef>
              <a:buFont typeface="Times" panose="02020603050405020304" pitchFamily="18" charset="0"/>
              <a:buNone/>
            </a:pPr>
            <a:r>
              <a:rPr lang="en-US" altLang="it-IT" sz="1800" i="1">
                <a:sym typeface="Symbol" panose="05050102010706020507" pitchFamily="18" charset="2"/>
              </a:rPr>
              <a:t>S</a:t>
            </a:r>
            <a:r>
              <a:rPr lang="en-US" altLang="it-IT" sz="1800" i="1" baseline="-25000">
                <a:sym typeface="Symbol" panose="05050102010706020507" pitchFamily="18" charset="2"/>
              </a:rPr>
              <a:t>0</a:t>
            </a:r>
            <a:r>
              <a:rPr lang="en-US" altLang="it-IT" sz="1800" i="1">
                <a:sym typeface="Symbol" panose="05050102010706020507" pitchFamily="18" charset="2"/>
              </a:rPr>
              <a:t> </a:t>
            </a:r>
            <a:r>
              <a:rPr lang="en-US" altLang="it-IT" sz="1800">
                <a:sym typeface="Symbol" panose="05050102010706020507" pitchFamily="18" charset="2"/>
              </a:rPr>
              <a:t>: </a:t>
            </a:r>
            <a:r>
              <a:rPr lang="en-US" altLang="it-IT" sz="1600" b="1">
                <a:sym typeface="Symbol" panose="05050102010706020507" pitchFamily="18" charset="2"/>
              </a:rPr>
              <a:t>{ 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Goal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b="1" i="1">
                <a:sym typeface="Symbol" panose="05050102010706020507" pitchFamily="18" charset="2"/>
              </a:rPr>
              <a:t>•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SheepNoise,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], [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b="1" i="1">
                <a:sym typeface="Symbol" panose="05050102010706020507" pitchFamily="18" charset="2"/>
              </a:rPr>
              <a:t>•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</a:p>
          <a:p>
            <a:pPr lvl="1" eaLnBrk="1" hangingPunct="1">
              <a:spcBef>
                <a:spcPct val="5000"/>
              </a:spcBef>
              <a:buFontTx/>
              <a:buNone/>
            </a:pP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  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b="1" i="1">
                <a:sym typeface="Symbol" panose="05050102010706020507" pitchFamily="18" charset="2"/>
              </a:rPr>
              <a:t>•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], [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b="1" i="1">
                <a:sym typeface="Symbol" panose="05050102010706020507" pitchFamily="18" charset="2"/>
              </a:rPr>
              <a:t>•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,</a:t>
            </a:r>
          </a:p>
          <a:p>
            <a:pPr lvl="1" eaLnBrk="1" hangingPunct="1">
              <a:spcBef>
                <a:spcPct val="5000"/>
              </a:spcBef>
              <a:buFontTx/>
              <a:buNone/>
            </a:pP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  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it-IT" sz="10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 i="1">
                <a:sym typeface="Symbol" panose="05050102010706020507" pitchFamily="18" charset="2"/>
              </a:rPr>
              <a:t>•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  <a:endParaRPr lang="en-US" altLang="it-IT" sz="1600">
              <a:ea typeface="Times" panose="02020603050405020304" pitchFamily="18" charset="0"/>
              <a:cs typeface="Times" panose="02020603050405020304" pitchFamily="18" charset="0"/>
            </a:endParaRPr>
          </a:p>
          <a:p>
            <a:pPr eaLnBrk="1" hangingPunct="1">
              <a:spcBef>
                <a:spcPct val="120000"/>
              </a:spcBef>
              <a:buFont typeface="Times" panose="02020603050405020304" pitchFamily="18" charset="0"/>
              <a:buNone/>
            </a:pPr>
            <a:r>
              <a:rPr lang="en-US" altLang="it-IT" sz="1800" i="1"/>
              <a:t>S</a:t>
            </a:r>
            <a:r>
              <a:rPr lang="en-US" altLang="it-IT" sz="1800" i="1" baseline="-25000"/>
              <a:t>1  </a:t>
            </a:r>
            <a:r>
              <a:rPr lang="en-US" altLang="it-IT" sz="1800"/>
              <a:t>= </a:t>
            </a:r>
            <a:r>
              <a:rPr lang="en-US" altLang="it-IT" sz="1800" i="1"/>
              <a:t>Goto</a:t>
            </a:r>
            <a:r>
              <a:rPr lang="en-US" altLang="it-IT" sz="1800"/>
              <a:t>(</a:t>
            </a:r>
            <a:r>
              <a:rPr lang="en-US" altLang="it-IT" sz="1800" i="1"/>
              <a:t>S</a:t>
            </a:r>
            <a:r>
              <a:rPr lang="en-US" altLang="it-IT" sz="1800" i="1" baseline="-25000"/>
              <a:t>0</a:t>
            </a:r>
            <a:r>
              <a:rPr lang="en-US" altLang="it-IT" sz="1800" i="1"/>
              <a:t> , 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800"/>
              <a:t>) = </a:t>
            </a:r>
          </a:p>
          <a:p>
            <a:pPr eaLnBrk="1" hangingPunct="1">
              <a:spcBef>
                <a:spcPct val="10000"/>
              </a:spcBef>
              <a:buFont typeface="Times" panose="02020603050405020304" pitchFamily="18" charset="0"/>
              <a:buNone/>
            </a:pPr>
            <a:r>
              <a:rPr lang="en-US" altLang="it-IT" sz="1800">
                <a:sym typeface="Symbol" panose="05050102010706020507" pitchFamily="18" charset="2"/>
              </a:rPr>
              <a:t>	</a:t>
            </a:r>
            <a:r>
              <a:rPr lang="en-US" altLang="it-IT" sz="1600" b="1">
                <a:sym typeface="Symbol" panose="05050102010706020507" pitchFamily="18" charset="2"/>
              </a:rPr>
              <a:t>{ 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Goal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b="1" i="1">
                <a:sym typeface="Symbol" panose="05050102010706020507" pitchFamily="18" charset="2"/>
              </a:rPr>
              <a:t>•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], [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b="1" i="1">
                <a:sym typeface="Symbol" panose="05050102010706020507" pitchFamily="18" charset="2"/>
              </a:rPr>
              <a:t>•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</a:p>
          <a:p>
            <a:pPr lvl="1" eaLnBrk="1" hangingPunct="1">
              <a:spcBef>
                <a:spcPct val="5000"/>
              </a:spcBef>
              <a:buFontTx/>
              <a:buNone/>
            </a:pP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  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b="1" i="1">
                <a:sym typeface="Symbol" panose="05050102010706020507" pitchFamily="18" charset="2"/>
              </a:rPr>
              <a:t>•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</a:p>
          <a:p>
            <a:pPr eaLnBrk="1" hangingPunct="1">
              <a:spcBef>
                <a:spcPct val="120000"/>
              </a:spcBef>
              <a:buFont typeface="Times" panose="02020603050405020304" pitchFamily="18" charset="0"/>
              <a:buNone/>
            </a:pPr>
            <a:r>
              <a:rPr lang="en-US" altLang="it-IT" sz="1800" i="1"/>
              <a:t>S</a:t>
            </a:r>
            <a:r>
              <a:rPr lang="en-US" altLang="it-IT" sz="1800" i="1" baseline="-25000"/>
              <a:t>2  </a:t>
            </a:r>
            <a:r>
              <a:rPr lang="en-US" altLang="it-IT" sz="1800"/>
              <a:t>= </a:t>
            </a:r>
            <a:r>
              <a:rPr lang="en-US" altLang="it-IT" sz="1800" i="1"/>
              <a:t>Goto</a:t>
            </a:r>
            <a:r>
              <a:rPr lang="en-US" altLang="it-IT" sz="1800"/>
              <a:t>(</a:t>
            </a:r>
            <a:r>
              <a:rPr lang="en-US" altLang="it-IT" sz="1800" i="1"/>
              <a:t>S</a:t>
            </a:r>
            <a:r>
              <a:rPr lang="en-US" altLang="it-IT" sz="1800" i="1" baseline="-25000"/>
              <a:t>0</a:t>
            </a:r>
            <a:r>
              <a:rPr lang="en-US" altLang="it-IT" sz="1800" i="1"/>
              <a:t> ,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800"/>
              <a:t>) = </a:t>
            </a:r>
            <a:r>
              <a:rPr lang="en-US" altLang="it-IT" sz="1600" b="1">
                <a:sym typeface="Symbol" panose="05050102010706020507" pitchFamily="18" charset="2"/>
              </a:rPr>
              <a:t>{ 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 i="1">
                <a:sym typeface="Symbol" panose="05050102010706020507" pitchFamily="18" charset="2"/>
              </a:rPr>
              <a:t>•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], 					       </a:t>
            </a:r>
            <a:r>
              <a:rPr lang="en-US" altLang="it-IT" sz="1000" b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 i="1">
                <a:sym typeface="Symbol" panose="05050102010706020507" pitchFamily="18" charset="2"/>
              </a:rPr>
              <a:t>•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  <a:endParaRPr lang="en-US" altLang="it-IT" sz="1800">
              <a:ea typeface="Times" panose="02020603050405020304" pitchFamily="18" charset="0"/>
              <a:cs typeface="Times" panose="02020603050405020304" pitchFamily="18" charset="0"/>
            </a:endParaRPr>
          </a:p>
          <a:p>
            <a:pPr eaLnBrk="1" hangingPunct="1">
              <a:spcBef>
                <a:spcPct val="120000"/>
              </a:spcBef>
              <a:buFont typeface="Times" panose="02020603050405020304" pitchFamily="18" charset="0"/>
              <a:buNone/>
            </a:pPr>
            <a:r>
              <a:rPr lang="en-US" altLang="it-IT" sz="1800" i="1"/>
              <a:t>S</a:t>
            </a:r>
            <a:r>
              <a:rPr lang="en-US" altLang="it-IT" sz="1800" i="1" baseline="-25000"/>
              <a:t>3  </a:t>
            </a:r>
            <a:r>
              <a:rPr lang="en-US" altLang="it-IT" sz="1800"/>
              <a:t>= </a:t>
            </a:r>
            <a:r>
              <a:rPr lang="en-US" altLang="it-IT" sz="1800" i="1"/>
              <a:t>Goto</a:t>
            </a:r>
            <a:r>
              <a:rPr lang="en-US" altLang="it-IT" sz="1800"/>
              <a:t>(</a:t>
            </a:r>
            <a:r>
              <a:rPr lang="en-US" altLang="it-IT" sz="1800" i="1"/>
              <a:t>S</a:t>
            </a:r>
            <a:r>
              <a:rPr lang="en-US" altLang="it-IT" sz="1800" i="1" baseline="-25000"/>
              <a:t>1</a:t>
            </a:r>
            <a:r>
              <a:rPr lang="en-US" altLang="it-IT" sz="1800" i="1"/>
              <a:t> ,</a:t>
            </a:r>
            <a:r>
              <a:rPr lang="en-US" altLang="it-IT" sz="1800" b="1" i="1"/>
              <a:t>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800"/>
              <a:t>) = </a:t>
            </a:r>
            <a:r>
              <a:rPr lang="en-US" altLang="it-IT" sz="1600" b="1">
                <a:sym typeface="Symbol" panose="05050102010706020507" pitchFamily="18" charset="2"/>
              </a:rPr>
              <a:t>{ 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 i="1">
                <a:sym typeface="Symbol" panose="05050102010706020507" pitchFamily="18" charset="2"/>
              </a:rPr>
              <a:t>•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</a:p>
          <a:p>
            <a:pPr lvl="1" eaLnBrk="1" hangingPunct="1">
              <a:spcBef>
                <a:spcPct val="5000"/>
              </a:spcBef>
              <a:buFontTx/>
              <a:buNone/>
            </a:pP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                                     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6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 i="1">
                <a:sym typeface="Symbol" panose="05050102010706020507" pitchFamily="18" charset="2"/>
              </a:rPr>
              <a:t>•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6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6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600" b="1"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C85F1D33-B40C-4AD9-8BB8-E2FA7EEE6790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3327400"/>
            <a:ext cx="5867400" cy="787400"/>
            <a:chOff x="1920" y="2352"/>
            <a:chExt cx="3696" cy="496"/>
          </a:xfrm>
        </p:grpSpPr>
        <p:sp>
          <p:nvSpPr>
            <p:cNvPr id="77830" name="AutoShape 5">
              <a:extLst>
                <a:ext uri="{FF2B5EF4-FFF2-40B4-BE49-F238E27FC236}">
                  <a16:creationId xmlns:a16="http://schemas.microsoft.com/office/drawing/2014/main" id="{9ADB0C91-9868-4271-85E0-8583FA0BF3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608"/>
              <a:ext cx="1872" cy="24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B025A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7831" name="Text Box 6">
              <a:extLst>
                <a:ext uri="{FF2B5EF4-FFF2-40B4-BE49-F238E27FC236}">
                  <a16:creationId xmlns:a16="http://schemas.microsoft.com/office/drawing/2014/main" id="{5BCB1F61-D88E-4093-AE9B-F2096EF041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352"/>
              <a:ext cx="1584" cy="378"/>
            </a:xfrm>
            <a:prstGeom prst="rect">
              <a:avLst/>
            </a:prstGeom>
            <a:noFill/>
            <a:ln w="19050">
              <a:solidFill>
                <a:srgbClr val="B025A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600">
                  <a:solidFill>
                    <a:srgbClr val="B025A6"/>
                  </a:solidFill>
                </a:rPr>
                <a:t>so, ACTION[</a:t>
              </a:r>
              <a:r>
                <a:rPr lang="en-US" altLang="it-IT" sz="1600" i="1">
                  <a:solidFill>
                    <a:srgbClr val="B025A6"/>
                  </a:solidFill>
                </a:rPr>
                <a:t>S</a:t>
              </a:r>
              <a:r>
                <a:rPr lang="en-US" altLang="it-IT" sz="1600" i="1" baseline="-25000">
                  <a:solidFill>
                    <a:srgbClr val="B025A6"/>
                  </a:solidFill>
                </a:rPr>
                <a:t>2</a:t>
              </a:r>
              <a:r>
                <a:rPr lang="en-US" altLang="it-IT" sz="1600">
                  <a:solidFill>
                    <a:srgbClr val="B025A6"/>
                  </a:solidFill>
                </a:rPr>
                <a:t>,EOF] is “</a:t>
              </a:r>
              <a:r>
                <a:rPr lang="en-US" altLang="it-IT" sz="1600" i="1">
                  <a:solidFill>
                    <a:srgbClr val="B025A6"/>
                  </a:solidFill>
                </a:rPr>
                <a:t>reduce</a:t>
              </a:r>
              <a:r>
                <a:rPr lang="en-US" altLang="it-IT" sz="800" i="1">
                  <a:solidFill>
                    <a:srgbClr val="B025A6"/>
                  </a:solidFill>
                </a:rPr>
                <a:t> </a:t>
              </a:r>
              <a:r>
                <a:rPr lang="en-US" altLang="it-IT" sz="1400" i="1">
                  <a:solidFill>
                    <a:srgbClr val="B025A6"/>
                  </a:solidFill>
                </a:rPr>
                <a:t> </a:t>
              </a:r>
              <a:r>
                <a:rPr lang="en-US" altLang="it-IT" sz="1600" i="1">
                  <a:solidFill>
                    <a:srgbClr val="B025A6"/>
                  </a:solidFill>
                </a:rPr>
                <a:t>3</a:t>
              </a:r>
              <a:r>
                <a:rPr lang="en-US" altLang="it-IT" sz="800" i="1">
                  <a:solidFill>
                    <a:srgbClr val="B025A6"/>
                  </a:solidFill>
                </a:rPr>
                <a:t> </a:t>
              </a:r>
              <a:r>
                <a:rPr lang="en-US" altLang="it-IT" sz="1600">
                  <a:solidFill>
                    <a:srgbClr val="B025A6"/>
                  </a:solidFill>
                </a:rPr>
                <a:t>”    (clause 3)</a:t>
              </a:r>
            </a:p>
          </p:txBody>
        </p:sp>
        <p:cxnSp>
          <p:nvCxnSpPr>
            <p:cNvPr id="77832" name="AutoShape 7">
              <a:extLst>
                <a:ext uri="{FF2B5EF4-FFF2-40B4-BE49-F238E27FC236}">
                  <a16:creationId xmlns:a16="http://schemas.microsoft.com/office/drawing/2014/main" id="{9EF16E0B-5572-4577-8C25-109E36160682}"/>
                </a:ext>
              </a:extLst>
            </p:cNvPr>
            <p:cNvCxnSpPr>
              <a:cxnSpLocks noChangeShapeType="1"/>
              <a:stCxn id="77830" idx="3"/>
              <a:endCxn id="77831" idx="1"/>
            </p:cNvCxnSpPr>
            <p:nvPr/>
          </p:nvCxnSpPr>
          <p:spPr bwMode="auto">
            <a:xfrm flipV="1">
              <a:off x="3798" y="2565"/>
              <a:ext cx="228" cy="163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rgbClr val="B025A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Footer Placeholder 3">
            <a:extLst>
              <a:ext uri="{FF2B5EF4-FFF2-40B4-BE49-F238E27FC236}">
                <a16:creationId xmlns:a16="http://schemas.microsoft.com/office/drawing/2014/main" id="{CE1C7B9B-3664-4DC9-88D3-EAE929A80E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79874" name="Slide Number Placeholder 4">
            <a:extLst>
              <a:ext uri="{FF2B5EF4-FFF2-40B4-BE49-F238E27FC236}">
                <a16:creationId xmlns:a16="http://schemas.microsoft.com/office/drawing/2014/main" id="{78F63AA6-63B4-4E2A-87E2-223120F7B3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EE490EA-4970-4E34-BDA5-4769F868DA15}" type="slidenum">
              <a:rPr lang="en-US" altLang="it-IT"/>
              <a:pPr/>
              <a:t>34</a:t>
            </a:fld>
            <a:endParaRPr lang="en-US" altLang="it-IT"/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D10DF41A-DCA4-4952-9AA5-77FE421C19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Example from SheepNoise</a:t>
            </a:r>
          </a:p>
        </p:txBody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6C4E2979-1310-4EB8-8081-3F330E712A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8325" y="1270000"/>
            <a:ext cx="8007350" cy="4876800"/>
          </a:xfrm>
        </p:spPr>
        <p:txBody>
          <a:bodyPr/>
          <a:lstStyle/>
          <a:p>
            <a:pPr eaLnBrk="1" hangingPunct="1">
              <a:lnSpc>
                <a:spcPct val="30000"/>
              </a:lnSpc>
              <a:spcBef>
                <a:spcPct val="0"/>
              </a:spcBef>
              <a:buFont typeface="Times" panose="02020603050405020304" pitchFamily="18" charset="0"/>
              <a:buNone/>
            </a:pPr>
            <a:endParaRPr lang="en-US" altLang="it-IT" sz="1600" i="1">
              <a:sym typeface="Symbol" panose="05050102010706020507" pitchFamily="18" charset="2"/>
            </a:endParaRPr>
          </a:p>
          <a:p>
            <a:pPr eaLnBrk="1" hangingPunct="1">
              <a:spcBef>
                <a:spcPct val="40000"/>
              </a:spcBef>
              <a:buFont typeface="Times" panose="02020603050405020304" pitchFamily="18" charset="0"/>
              <a:buNone/>
            </a:pPr>
            <a:r>
              <a:rPr lang="en-US" altLang="it-IT" sz="1600" i="1">
                <a:sym typeface="Symbol" panose="05050102010706020507" pitchFamily="18" charset="2"/>
              </a:rPr>
              <a:t>S</a:t>
            </a:r>
            <a:r>
              <a:rPr lang="en-US" altLang="it-IT" sz="1600" i="1" baseline="-25000">
                <a:sym typeface="Symbol" panose="05050102010706020507" pitchFamily="18" charset="2"/>
              </a:rPr>
              <a:t>0</a:t>
            </a:r>
            <a:r>
              <a:rPr lang="en-US" altLang="it-IT" sz="1600" i="1">
                <a:sym typeface="Symbol" panose="05050102010706020507" pitchFamily="18" charset="2"/>
              </a:rPr>
              <a:t> </a:t>
            </a:r>
            <a:r>
              <a:rPr lang="en-US" altLang="it-IT" sz="1600">
                <a:sym typeface="Symbol" panose="05050102010706020507" pitchFamily="18" charset="2"/>
              </a:rPr>
              <a:t>: </a:t>
            </a:r>
            <a:r>
              <a:rPr lang="en-US" altLang="it-IT" sz="1400" b="1">
                <a:sym typeface="Symbol" panose="05050102010706020507" pitchFamily="18" charset="2"/>
              </a:rPr>
              <a:t>{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Goal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400" b="1" i="1">
                <a:sym typeface="Symbol" panose="05050102010706020507" pitchFamily="18" charset="2"/>
              </a:rPr>
              <a:t>•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SheepNoise, </a:t>
            </a:r>
            <a:r>
              <a:rPr lang="en-US" altLang="it-IT" sz="12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], [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400" b="1" i="1">
                <a:sym typeface="Symbol" panose="05050102010706020507" pitchFamily="18" charset="2"/>
              </a:rPr>
              <a:t>•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2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</a:p>
          <a:p>
            <a:pPr lvl="1" eaLnBrk="1" hangingPunct="1">
              <a:spcBef>
                <a:spcPct val="5000"/>
              </a:spcBef>
              <a:buFontTx/>
              <a:buNone/>
            </a:pP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 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400" b="1" i="1">
                <a:sym typeface="Symbol" panose="05050102010706020507" pitchFamily="18" charset="2"/>
              </a:rPr>
              <a:t>•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2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], [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400" b="1" i="1">
                <a:sym typeface="Symbol" panose="05050102010706020507" pitchFamily="18" charset="2"/>
              </a:rPr>
              <a:t>•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,</a:t>
            </a:r>
          </a:p>
          <a:p>
            <a:pPr lvl="1" eaLnBrk="1" hangingPunct="1">
              <a:spcBef>
                <a:spcPct val="5000"/>
              </a:spcBef>
              <a:buFontTx/>
              <a:buNone/>
            </a:pP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 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it-IT" sz="9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 i="1">
                <a:sym typeface="Symbol" panose="05050102010706020507" pitchFamily="18" charset="2"/>
              </a:rPr>
              <a:t>•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  <a:endParaRPr lang="en-US" altLang="it-IT" sz="1400">
              <a:ea typeface="Times" panose="02020603050405020304" pitchFamily="18" charset="0"/>
              <a:cs typeface="Times" panose="02020603050405020304" pitchFamily="18" charset="0"/>
            </a:endParaRPr>
          </a:p>
          <a:p>
            <a:pPr eaLnBrk="1" hangingPunct="1">
              <a:spcBef>
                <a:spcPct val="120000"/>
              </a:spcBef>
              <a:buFont typeface="Times" panose="02020603050405020304" pitchFamily="18" charset="0"/>
              <a:buNone/>
            </a:pPr>
            <a:r>
              <a:rPr lang="en-US" altLang="it-IT" sz="1600" i="1"/>
              <a:t>S</a:t>
            </a:r>
            <a:r>
              <a:rPr lang="en-US" altLang="it-IT" sz="1600" i="1" baseline="-25000"/>
              <a:t>1  </a:t>
            </a:r>
            <a:r>
              <a:rPr lang="en-US" altLang="it-IT" sz="1600"/>
              <a:t>= </a:t>
            </a:r>
            <a:r>
              <a:rPr lang="en-US" altLang="it-IT" sz="1600" i="1"/>
              <a:t>Goto</a:t>
            </a:r>
            <a:r>
              <a:rPr lang="en-US" altLang="it-IT" sz="1600"/>
              <a:t>(</a:t>
            </a:r>
            <a:r>
              <a:rPr lang="en-US" altLang="it-IT" sz="1600" i="1"/>
              <a:t>S</a:t>
            </a:r>
            <a:r>
              <a:rPr lang="en-US" altLang="it-IT" sz="1600" i="1" baseline="-25000"/>
              <a:t>0</a:t>
            </a:r>
            <a:r>
              <a:rPr lang="en-US" altLang="it-IT" sz="1600" i="1"/>
              <a:t> , 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/>
              <a:t>) = </a:t>
            </a:r>
          </a:p>
          <a:p>
            <a:pPr eaLnBrk="1" hangingPunct="1">
              <a:spcBef>
                <a:spcPct val="10000"/>
              </a:spcBef>
              <a:buFont typeface="Times" panose="02020603050405020304" pitchFamily="18" charset="0"/>
              <a:buNone/>
            </a:pPr>
            <a:r>
              <a:rPr lang="en-US" altLang="it-IT" sz="1600">
                <a:sym typeface="Symbol" panose="05050102010706020507" pitchFamily="18" charset="2"/>
              </a:rPr>
              <a:t>	</a:t>
            </a:r>
            <a:r>
              <a:rPr lang="en-US" altLang="it-IT" sz="1400" b="1">
                <a:sym typeface="Symbol" panose="05050102010706020507" pitchFamily="18" charset="2"/>
              </a:rPr>
              <a:t>{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Goal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400" b="1" i="1">
                <a:sym typeface="Symbol" panose="05050102010706020507" pitchFamily="18" charset="2"/>
              </a:rPr>
              <a:t>•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2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], [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400" b="1" i="1">
                <a:sym typeface="Symbol" panose="05050102010706020507" pitchFamily="18" charset="2"/>
              </a:rPr>
              <a:t>•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2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</a:p>
          <a:p>
            <a:pPr lvl="1" eaLnBrk="1" hangingPunct="1">
              <a:spcBef>
                <a:spcPct val="5000"/>
              </a:spcBef>
              <a:buFontTx/>
              <a:buNone/>
            </a:pP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 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400" b="1" i="1">
                <a:sym typeface="Symbol" panose="05050102010706020507" pitchFamily="18" charset="2"/>
              </a:rPr>
              <a:t>•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</a:p>
          <a:p>
            <a:pPr eaLnBrk="1" hangingPunct="1">
              <a:spcBef>
                <a:spcPct val="135000"/>
              </a:spcBef>
              <a:buFont typeface="Times" panose="02020603050405020304" pitchFamily="18" charset="0"/>
              <a:buNone/>
            </a:pPr>
            <a:r>
              <a:rPr lang="en-US" altLang="it-IT" sz="1600" i="1"/>
              <a:t>S</a:t>
            </a:r>
            <a:r>
              <a:rPr lang="en-US" altLang="it-IT" sz="1600" i="1" baseline="-25000"/>
              <a:t>2  </a:t>
            </a:r>
            <a:r>
              <a:rPr lang="en-US" altLang="it-IT" sz="1600"/>
              <a:t>= </a:t>
            </a:r>
            <a:r>
              <a:rPr lang="en-US" altLang="it-IT" sz="1600" i="1"/>
              <a:t>Goto</a:t>
            </a:r>
            <a:r>
              <a:rPr lang="en-US" altLang="it-IT" sz="1600"/>
              <a:t>(</a:t>
            </a:r>
            <a:r>
              <a:rPr lang="en-US" altLang="it-IT" sz="1600" i="1"/>
              <a:t>S</a:t>
            </a:r>
            <a:r>
              <a:rPr lang="en-US" altLang="it-IT" sz="1600" i="1" baseline="-25000"/>
              <a:t>0</a:t>
            </a:r>
            <a:r>
              <a:rPr lang="en-US" altLang="it-IT" sz="1600" i="1"/>
              <a:t> ,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/>
              <a:t>) = </a:t>
            </a:r>
            <a:r>
              <a:rPr lang="en-US" altLang="it-IT" sz="1400" b="1">
                <a:sym typeface="Symbol" panose="05050102010706020507" pitchFamily="18" charset="2"/>
              </a:rPr>
              <a:t>{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 i="1">
                <a:sym typeface="Symbol" panose="05050102010706020507" pitchFamily="18" charset="2"/>
              </a:rPr>
              <a:t>•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2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], 					     </a:t>
            </a:r>
            <a:r>
              <a:rPr lang="en-US" altLang="it-IT" sz="500" b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900" b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 i="1">
                <a:sym typeface="Symbol" panose="05050102010706020507" pitchFamily="18" charset="2"/>
              </a:rPr>
              <a:t>•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  <a:endParaRPr lang="en-US" altLang="it-IT" sz="1600">
              <a:ea typeface="Times" panose="02020603050405020304" pitchFamily="18" charset="0"/>
              <a:cs typeface="Times" panose="02020603050405020304" pitchFamily="18" charset="0"/>
            </a:endParaRPr>
          </a:p>
          <a:p>
            <a:pPr eaLnBrk="1" hangingPunct="1">
              <a:spcBef>
                <a:spcPct val="145000"/>
              </a:spcBef>
              <a:buFont typeface="Times" panose="02020603050405020304" pitchFamily="18" charset="0"/>
              <a:buNone/>
            </a:pPr>
            <a:r>
              <a:rPr lang="en-US" altLang="it-IT" sz="1600" i="1"/>
              <a:t>S</a:t>
            </a:r>
            <a:r>
              <a:rPr lang="en-US" altLang="it-IT" sz="1600" i="1" baseline="-25000"/>
              <a:t>3  </a:t>
            </a:r>
            <a:r>
              <a:rPr lang="en-US" altLang="it-IT" sz="1600"/>
              <a:t>= </a:t>
            </a:r>
            <a:r>
              <a:rPr lang="en-US" altLang="it-IT" sz="1600" i="1"/>
              <a:t>Goto</a:t>
            </a:r>
            <a:r>
              <a:rPr lang="en-US" altLang="it-IT" sz="1600"/>
              <a:t>(</a:t>
            </a:r>
            <a:r>
              <a:rPr lang="en-US" altLang="it-IT" sz="1600" i="1"/>
              <a:t>S</a:t>
            </a:r>
            <a:r>
              <a:rPr lang="en-US" altLang="it-IT" sz="1600" i="1" baseline="-25000"/>
              <a:t>1</a:t>
            </a:r>
            <a:r>
              <a:rPr lang="en-US" altLang="it-IT" sz="1600" i="1"/>
              <a:t> ,</a:t>
            </a:r>
            <a:r>
              <a:rPr lang="en-US" altLang="it-IT" sz="1600" b="1" i="1"/>
              <a:t>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/>
              <a:t>) = </a:t>
            </a:r>
            <a:r>
              <a:rPr lang="en-US" altLang="it-IT" sz="1400" b="1">
                <a:sym typeface="Symbol" panose="05050102010706020507" pitchFamily="18" charset="2"/>
              </a:rPr>
              <a:t>{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 i="1">
                <a:sym typeface="Symbol" panose="05050102010706020507" pitchFamily="18" charset="2"/>
              </a:rPr>
              <a:t>•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2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</a:p>
          <a:p>
            <a:pPr lvl="1" eaLnBrk="1" hangingPunct="1">
              <a:spcBef>
                <a:spcPct val="5000"/>
              </a:spcBef>
              <a:buFontTx/>
              <a:buNone/>
            </a:pP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                                    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 i="1">
                <a:sym typeface="Symbol" panose="05050102010706020507" pitchFamily="18" charset="2"/>
              </a:rPr>
              <a:t>•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B733BE27-8B32-4F52-8FC8-196007D8350B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2971800"/>
            <a:ext cx="5892800" cy="1143000"/>
            <a:chOff x="1904" y="2352"/>
            <a:chExt cx="3712" cy="720"/>
          </a:xfrm>
        </p:grpSpPr>
        <p:sp>
          <p:nvSpPr>
            <p:cNvPr id="79887" name="AutoShape 5">
              <a:extLst>
                <a:ext uri="{FF2B5EF4-FFF2-40B4-BE49-F238E27FC236}">
                  <a16:creationId xmlns:a16="http://schemas.microsoft.com/office/drawing/2014/main" id="{41400F5F-1912-4B56-90CB-EC1F6E2699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4" y="2832"/>
              <a:ext cx="1872" cy="24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B025A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9888" name="Text Box 6">
              <a:extLst>
                <a:ext uri="{FF2B5EF4-FFF2-40B4-BE49-F238E27FC236}">
                  <a16:creationId xmlns:a16="http://schemas.microsoft.com/office/drawing/2014/main" id="{44515592-E5F7-47A5-857C-B81AF1370F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352"/>
              <a:ext cx="1584" cy="378"/>
            </a:xfrm>
            <a:prstGeom prst="rect">
              <a:avLst/>
            </a:prstGeom>
            <a:noFill/>
            <a:ln w="19050">
              <a:solidFill>
                <a:srgbClr val="B025A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600">
                  <a:solidFill>
                    <a:srgbClr val="B025A6"/>
                  </a:solidFill>
                </a:rPr>
                <a:t>ACTION[</a:t>
              </a:r>
              <a:r>
                <a:rPr lang="en-US" altLang="it-IT" sz="1600" i="1">
                  <a:solidFill>
                    <a:srgbClr val="B025A6"/>
                  </a:solidFill>
                </a:rPr>
                <a:t>S</a:t>
              </a:r>
              <a:r>
                <a:rPr lang="en-US" altLang="it-IT" sz="1600" i="1" baseline="-25000">
                  <a:solidFill>
                    <a:srgbClr val="B025A6"/>
                  </a:solidFill>
                </a:rPr>
                <a:t>2</a:t>
              </a:r>
              <a:r>
                <a:rPr lang="en-US" altLang="it-IT" sz="1600">
                  <a:solidFill>
                    <a:srgbClr val="B025A6"/>
                  </a:solidFill>
                </a:rPr>
                <a:t>,</a:t>
              </a:r>
              <a:r>
                <a:rPr lang="en-US" altLang="it-IT" sz="1600" u="sng">
                  <a:solidFill>
                    <a:srgbClr val="B025A6"/>
                  </a:solidFill>
                </a:rPr>
                <a:t>baa</a:t>
              </a:r>
              <a:r>
                <a:rPr lang="en-US" altLang="it-IT" sz="1600">
                  <a:solidFill>
                    <a:srgbClr val="B025A6"/>
                  </a:solidFill>
                </a:rPr>
                <a:t>] is “</a:t>
              </a:r>
              <a:r>
                <a:rPr lang="en-US" altLang="it-IT" sz="1600" i="1">
                  <a:solidFill>
                    <a:srgbClr val="B025A6"/>
                  </a:solidFill>
                </a:rPr>
                <a:t>reduce</a:t>
              </a:r>
              <a:r>
                <a:rPr lang="en-US" altLang="it-IT" sz="800" i="1">
                  <a:solidFill>
                    <a:srgbClr val="B025A6"/>
                  </a:solidFill>
                </a:rPr>
                <a:t> </a:t>
              </a:r>
              <a:r>
                <a:rPr lang="en-US" altLang="it-IT" sz="1400" i="1">
                  <a:solidFill>
                    <a:srgbClr val="B025A6"/>
                  </a:solidFill>
                </a:rPr>
                <a:t> </a:t>
              </a:r>
              <a:r>
                <a:rPr lang="en-US" altLang="it-IT" sz="1600" i="1">
                  <a:solidFill>
                    <a:srgbClr val="B025A6"/>
                  </a:solidFill>
                </a:rPr>
                <a:t>3</a:t>
              </a:r>
              <a:r>
                <a:rPr lang="en-US" altLang="it-IT" sz="800" i="1">
                  <a:solidFill>
                    <a:srgbClr val="B025A6"/>
                  </a:solidFill>
                </a:rPr>
                <a:t> </a:t>
              </a:r>
              <a:r>
                <a:rPr lang="en-US" altLang="it-IT" sz="1600">
                  <a:solidFill>
                    <a:srgbClr val="B025A6"/>
                  </a:solidFill>
                </a:rPr>
                <a:t>”    (clause 3)</a:t>
              </a:r>
            </a:p>
          </p:txBody>
        </p:sp>
        <p:cxnSp>
          <p:nvCxnSpPr>
            <p:cNvPr id="79889" name="AutoShape 7">
              <a:extLst>
                <a:ext uri="{FF2B5EF4-FFF2-40B4-BE49-F238E27FC236}">
                  <a16:creationId xmlns:a16="http://schemas.microsoft.com/office/drawing/2014/main" id="{318ACC37-4DA3-4083-A7BE-B6594BEA6CB8}"/>
                </a:ext>
              </a:extLst>
            </p:cNvPr>
            <p:cNvCxnSpPr>
              <a:cxnSpLocks noChangeShapeType="1"/>
              <a:stCxn id="79887" idx="3"/>
              <a:endCxn id="79888" idx="1"/>
            </p:cNvCxnSpPr>
            <p:nvPr/>
          </p:nvCxnSpPr>
          <p:spPr bwMode="auto">
            <a:xfrm flipV="1">
              <a:off x="3782" y="2565"/>
              <a:ext cx="244" cy="387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rgbClr val="B025A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" name="Group 8">
            <a:extLst>
              <a:ext uri="{FF2B5EF4-FFF2-40B4-BE49-F238E27FC236}">
                <a16:creationId xmlns:a16="http://schemas.microsoft.com/office/drawing/2014/main" id="{151890D5-614E-4793-BBAC-61C35A4D187D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3438525"/>
            <a:ext cx="5029200" cy="2581275"/>
            <a:chOff x="1872" y="2352"/>
            <a:chExt cx="3168" cy="1626"/>
          </a:xfrm>
        </p:grpSpPr>
        <p:sp>
          <p:nvSpPr>
            <p:cNvPr id="79884" name="AutoShape 9">
              <a:extLst>
                <a:ext uri="{FF2B5EF4-FFF2-40B4-BE49-F238E27FC236}">
                  <a16:creationId xmlns:a16="http://schemas.microsoft.com/office/drawing/2014/main" id="{85D4965D-589A-4BFC-B622-78F667E4AB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352"/>
              <a:ext cx="1968" cy="24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B025A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9885" name="Text Box 10">
              <a:extLst>
                <a:ext uri="{FF2B5EF4-FFF2-40B4-BE49-F238E27FC236}">
                  <a16:creationId xmlns:a16="http://schemas.microsoft.com/office/drawing/2014/main" id="{FAA02A0E-DEDB-4D93-A6DA-21C7C91DCF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3600"/>
              <a:ext cx="1584" cy="37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B025A6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600">
                  <a:solidFill>
                    <a:srgbClr val="B025A6"/>
                  </a:solidFill>
                </a:rPr>
                <a:t>ACTION[</a:t>
              </a:r>
              <a:r>
                <a:rPr lang="en-US" altLang="it-IT" sz="1600" i="1">
                  <a:solidFill>
                    <a:srgbClr val="B025A6"/>
                  </a:solidFill>
                </a:rPr>
                <a:t>S</a:t>
              </a:r>
              <a:r>
                <a:rPr lang="en-US" altLang="it-IT" sz="1600" i="1" baseline="-25000">
                  <a:solidFill>
                    <a:srgbClr val="B025A6"/>
                  </a:solidFill>
                </a:rPr>
                <a:t>2</a:t>
              </a:r>
              <a:r>
                <a:rPr lang="en-US" altLang="it-IT" sz="1600">
                  <a:solidFill>
                    <a:srgbClr val="B025A6"/>
                  </a:solidFill>
                </a:rPr>
                <a:t>,</a:t>
              </a:r>
              <a:r>
                <a:rPr lang="en-US" altLang="it-IT" sz="1600" u="sng">
                  <a:solidFill>
                    <a:srgbClr val="B025A6"/>
                  </a:solidFill>
                </a:rPr>
                <a:t>EOF</a:t>
              </a:r>
              <a:r>
                <a:rPr lang="en-US" altLang="it-IT" sz="1600">
                  <a:solidFill>
                    <a:srgbClr val="B025A6"/>
                  </a:solidFill>
                </a:rPr>
                <a:t>] is “</a:t>
              </a:r>
              <a:r>
                <a:rPr lang="en-US" altLang="it-IT" sz="1600" i="1">
                  <a:solidFill>
                    <a:srgbClr val="B025A6"/>
                  </a:solidFill>
                </a:rPr>
                <a:t>reduce</a:t>
              </a:r>
              <a:r>
                <a:rPr lang="en-US" altLang="it-IT" sz="800" i="1">
                  <a:solidFill>
                    <a:srgbClr val="B025A6"/>
                  </a:solidFill>
                </a:rPr>
                <a:t> </a:t>
              </a:r>
              <a:r>
                <a:rPr lang="en-US" altLang="it-IT" sz="1400" i="1">
                  <a:solidFill>
                    <a:srgbClr val="B025A6"/>
                  </a:solidFill>
                </a:rPr>
                <a:t> </a:t>
              </a:r>
              <a:r>
                <a:rPr lang="en-US" altLang="it-IT" sz="1600" i="1">
                  <a:solidFill>
                    <a:srgbClr val="B025A6"/>
                  </a:solidFill>
                </a:rPr>
                <a:t>2</a:t>
              </a:r>
              <a:r>
                <a:rPr lang="en-US" altLang="it-IT" sz="800" i="1">
                  <a:solidFill>
                    <a:srgbClr val="B025A6"/>
                  </a:solidFill>
                </a:rPr>
                <a:t> </a:t>
              </a:r>
              <a:r>
                <a:rPr lang="en-US" altLang="it-IT" sz="1600">
                  <a:solidFill>
                    <a:srgbClr val="B025A6"/>
                  </a:solidFill>
                </a:rPr>
                <a:t>”    (clause 3)</a:t>
              </a:r>
            </a:p>
          </p:txBody>
        </p:sp>
        <p:cxnSp>
          <p:nvCxnSpPr>
            <p:cNvPr id="79886" name="AutoShape 11">
              <a:extLst>
                <a:ext uri="{FF2B5EF4-FFF2-40B4-BE49-F238E27FC236}">
                  <a16:creationId xmlns:a16="http://schemas.microsoft.com/office/drawing/2014/main" id="{AC69609E-8AE8-429B-B9BC-DAF22699C88E}"/>
                </a:ext>
              </a:extLst>
            </p:cNvPr>
            <p:cNvCxnSpPr>
              <a:cxnSpLocks noChangeShapeType="1"/>
              <a:stCxn id="79884" idx="2"/>
              <a:endCxn id="79885" idx="1"/>
            </p:cNvCxnSpPr>
            <p:nvPr/>
          </p:nvCxnSpPr>
          <p:spPr bwMode="auto">
            <a:xfrm rot="16200000" flipH="1">
              <a:off x="2557" y="2897"/>
              <a:ext cx="1191" cy="594"/>
            </a:xfrm>
            <a:prstGeom prst="curvedConnector2">
              <a:avLst/>
            </a:prstGeom>
            <a:noFill/>
            <a:ln w="19050">
              <a:solidFill>
                <a:srgbClr val="B025A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" name="Group 12">
            <a:extLst>
              <a:ext uri="{FF2B5EF4-FFF2-40B4-BE49-F238E27FC236}">
                <a16:creationId xmlns:a16="http://schemas.microsoft.com/office/drawing/2014/main" id="{9BF71C7A-4104-41F0-B614-AC1960823C70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438400"/>
            <a:ext cx="6096000" cy="2209800"/>
            <a:chOff x="720" y="2064"/>
            <a:chExt cx="3840" cy="1392"/>
          </a:xfrm>
        </p:grpSpPr>
        <p:sp>
          <p:nvSpPr>
            <p:cNvPr id="79881" name="AutoShape 13">
              <a:extLst>
                <a:ext uri="{FF2B5EF4-FFF2-40B4-BE49-F238E27FC236}">
                  <a16:creationId xmlns:a16="http://schemas.microsoft.com/office/drawing/2014/main" id="{D332C551-2C5D-48EA-AA2D-A5F37A115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3264"/>
              <a:ext cx="2640" cy="192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B025A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9882" name="Text Box 14">
              <a:extLst>
                <a:ext uri="{FF2B5EF4-FFF2-40B4-BE49-F238E27FC236}">
                  <a16:creationId xmlns:a16="http://schemas.microsoft.com/office/drawing/2014/main" id="{06EECB1B-8816-4445-896F-3DD636265D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2064"/>
              <a:ext cx="1488" cy="37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B025A6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600">
                  <a:solidFill>
                    <a:srgbClr val="B025A6"/>
                  </a:solidFill>
                </a:rPr>
                <a:t>ACTION[</a:t>
              </a:r>
              <a:r>
                <a:rPr lang="en-US" altLang="it-IT" sz="1600" i="1">
                  <a:solidFill>
                    <a:srgbClr val="B025A6"/>
                  </a:solidFill>
                </a:rPr>
                <a:t>S</a:t>
              </a:r>
              <a:r>
                <a:rPr lang="en-US" altLang="it-IT" sz="1600" i="1" baseline="-25000">
                  <a:solidFill>
                    <a:srgbClr val="B025A6"/>
                  </a:solidFill>
                </a:rPr>
                <a:t>3</a:t>
              </a:r>
              <a:r>
                <a:rPr lang="en-US" altLang="it-IT" sz="1600">
                  <a:solidFill>
                    <a:srgbClr val="B025A6"/>
                  </a:solidFill>
                </a:rPr>
                <a:t>,</a:t>
              </a:r>
              <a:r>
                <a:rPr lang="en-US" altLang="it-IT" sz="1600" u="sng">
                  <a:solidFill>
                    <a:srgbClr val="B025A6"/>
                  </a:solidFill>
                </a:rPr>
                <a:t>EOF</a:t>
              </a:r>
              <a:r>
                <a:rPr lang="en-US" altLang="it-IT" sz="1600">
                  <a:solidFill>
                    <a:srgbClr val="B025A6"/>
                  </a:solidFill>
                </a:rPr>
                <a:t>] is “</a:t>
              </a:r>
              <a:r>
                <a:rPr lang="en-US" altLang="it-IT" sz="1600" i="1">
                  <a:solidFill>
                    <a:srgbClr val="B025A6"/>
                  </a:solidFill>
                </a:rPr>
                <a:t>reduce 2”   </a:t>
              </a:r>
              <a:r>
                <a:rPr lang="en-US" altLang="it-IT" sz="1600">
                  <a:solidFill>
                    <a:srgbClr val="B025A6"/>
                  </a:solidFill>
                </a:rPr>
                <a:t>(clause 3)</a:t>
              </a:r>
            </a:p>
          </p:txBody>
        </p:sp>
        <p:cxnSp>
          <p:nvCxnSpPr>
            <p:cNvPr id="79883" name="AutoShape 15">
              <a:extLst>
                <a:ext uri="{FF2B5EF4-FFF2-40B4-BE49-F238E27FC236}">
                  <a16:creationId xmlns:a16="http://schemas.microsoft.com/office/drawing/2014/main" id="{3A6B15DE-FF58-4161-AD9D-C2E42C7448FE}"/>
                </a:ext>
              </a:extLst>
            </p:cNvPr>
            <p:cNvCxnSpPr>
              <a:cxnSpLocks noChangeShapeType="1"/>
              <a:stCxn id="79881" idx="1"/>
              <a:endCxn id="79882" idx="2"/>
            </p:cNvCxnSpPr>
            <p:nvPr/>
          </p:nvCxnSpPr>
          <p:spPr bwMode="auto">
            <a:xfrm rot="10800000">
              <a:off x="1464" y="2496"/>
              <a:ext cx="450" cy="864"/>
            </a:xfrm>
            <a:prstGeom prst="curvedConnector2">
              <a:avLst/>
            </a:prstGeom>
            <a:noFill/>
            <a:ln w="19050">
              <a:solidFill>
                <a:srgbClr val="B025A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668A990F-87DE-4E1A-A429-2FE3F34CF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181600"/>
            <a:ext cx="1905000" cy="523875"/>
          </a:xfrm>
          <a:prstGeom prst="rect">
            <a:avLst/>
          </a:prstGeom>
          <a:noFill/>
          <a:ln w="19050">
            <a:solidFill>
              <a:srgbClr val="B025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>
                <a:solidFill>
                  <a:srgbClr val="B025A6"/>
                </a:solidFill>
              </a:rPr>
              <a:t>ACTION[S</a:t>
            </a:r>
            <a:r>
              <a:rPr lang="en-US" altLang="it-IT" sz="1400" baseline="-25000">
                <a:solidFill>
                  <a:srgbClr val="B025A6"/>
                </a:solidFill>
              </a:rPr>
              <a:t>3</a:t>
            </a:r>
            <a:r>
              <a:rPr lang="en-US" altLang="it-IT" sz="1400">
                <a:solidFill>
                  <a:srgbClr val="B025A6"/>
                </a:solidFill>
              </a:rPr>
              <a:t>,</a:t>
            </a:r>
            <a:r>
              <a:rPr lang="en-US" altLang="it-IT" sz="1400" u="sng">
                <a:solidFill>
                  <a:srgbClr val="B025A6"/>
                </a:solidFill>
              </a:rPr>
              <a:t>baa</a:t>
            </a:r>
            <a:r>
              <a:rPr lang="en-US" altLang="it-IT" sz="1400">
                <a:solidFill>
                  <a:srgbClr val="B025A6"/>
                </a:solidFill>
              </a:rPr>
              <a:t>] is “reduce 2”, as well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Footer Placeholder 3">
            <a:extLst>
              <a:ext uri="{FF2B5EF4-FFF2-40B4-BE49-F238E27FC236}">
                <a16:creationId xmlns:a16="http://schemas.microsoft.com/office/drawing/2014/main" id="{0C241022-3694-4CC4-86B2-C456437F2F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81922" name="Slide Number Placeholder 4">
            <a:extLst>
              <a:ext uri="{FF2B5EF4-FFF2-40B4-BE49-F238E27FC236}">
                <a16:creationId xmlns:a16="http://schemas.microsoft.com/office/drawing/2014/main" id="{077E8444-97DA-48D9-B3FE-442C9BF97E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0DB9410-D458-4DE8-8ECB-14AF12345378}" type="slidenum">
              <a:rPr lang="en-US" altLang="it-IT"/>
              <a:pPr/>
              <a:t>35</a:t>
            </a:fld>
            <a:endParaRPr lang="en-US" altLang="it-IT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1EC43321-68D8-4492-9224-70A0F0C741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Example from SheepNoise</a:t>
            </a:r>
          </a:p>
        </p:txBody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16F63D99-7F17-4F01-A6E0-951F1042E6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8325" y="1219200"/>
            <a:ext cx="8007350" cy="4876800"/>
          </a:xfrm>
        </p:spPr>
        <p:txBody>
          <a:bodyPr/>
          <a:lstStyle/>
          <a:p>
            <a:pPr eaLnBrk="1" hangingPunct="1">
              <a:lnSpc>
                <a:spcPct val="30000"/>
              </a:lnSpc>
              <a:spcBef>
                <a:spcPct val="0"/>
              </a:spcBef>
              <a:buFont typeface="Times" panose="02020603050405020304" pitchFamily="18" charset="0"/>
              <a:buNone/>
            </a:pPr>
            <a:endParaRPr lang="en-US" altLang="it-IT" sz="1600" i="1">
              <a:sym typeface="Symbol" panose="05050102010706020507" pitchFamily="18" charset="2"/>
            </a:endParaRPr>
          </a:p>
          <a:p>
            <a:pPr eaLnBrk="1" hangingPunct="1">
              <a:spcBef>
                <a:spcPct val="40000"/>
              </a:spcBef>
              <a:buFont typeface="Times" panose="02020603050405020304" pitchFamily="18" charset="0"/>
              <a:buNone/>
            </a:pPr>
            <a:r>
              <a:rPr lang="en-US" altLang="it-IT" sz="1600" i="1">
                <a:sym typeface="Symbol" panose="05050102010706020507" pitchFamily="18" charset="2"/>
              </a:rPr>
              <a:t>S</a:t>
            </a:r>
            <a:r>
              <a:rPr lang="en-US" altLang="it-IT" sz="1600" i="1" baseline="-25000">
                <a:sym typeface="Symbol" panose="05050102010706020507" pitchFamily="18" charset="2"/>
              </a:rPr>
              <a:t>0</a:t>
            </a:r>
            <a:r>
              <a:rPr lang="en-US" altLang="it-IT" sz="1600" i="1">
                <a:sym typeface="Symbol" panose="05050102010706020507" pitchFamily="18" charset="2"/>
              </a:rPr>
              <a:t> </a:t>
            </a:r>
            <a:r>
              <a:rPr lang="en-US" altLang="it-IT" sz="1600">
                <a:sym typeface="Symbol" panose="05050102010706020507" pitchFamily="18" charset="2"/>
              </a:rPr>
              <a:t>: </a:t>
            </a:r>
            <a:r>
              <a:rPr lang="en-US" altLang="it-IT" sz="1400" b="1">
                <a:sym typeface="Symbol" panose="05050102010706020507" pitchFamily="18" charset="2"/>
              </a:rPr>
              <a:t>{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Goal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400" b="1" i="1">
                <a:sym typeface="Symbol" panose="05050102010706020507" pitchFamily="18" charset="2"/>
              </a:rPr>
              <a:t>•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SheepNoise, </a:t>
            </a:r>
            <a:r>
              <a:rPr lang="en-US" altLang="it-IT" sz="12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], [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400" b="1" i="1">
                <a:sym typeface="Symbol" panose="05050102010706020507" pitchFamily="18" charset="2"/>
              </a:rPr>
              <a:t>•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2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</a:p>
          <a:p>
            <a:pPr lvl="1" eaLnBrk="1" hangingPunct="1">
              <a:spcBef>
                <a:spcPct val="5000"/>
              </a:spcBef>
              <a:buFontTx/>
              <a:buNone/>
            </a:pP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 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400" b="1" i="1">
                <a:sym typeface="Symbol" panose="05050102010706020507" pitchFamily="18" charset="2"/>
              </a:rPr>
              <a:t>•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2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], [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400" b="1" i="1">
                <a:sym typeface="Symbol" panose="05050102010706020507" pitchFamily="18" charset="2"/>
              </a:rPr>
              <a:t>•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,</a:t>
            </a:r>
          </a:p>
          <a:p>
            <a:pPr lvl="1" eaLnBrk="1" hangingPunct="1">
              <a:spcBef>
                <a:spcPct val="5000"/>
              </a:spcBef>
              <a:buFontTx/>
              <a:buNone/>
            </a:pP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 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it-IT" sz="9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 i="1">
                <a:sym typeface="Symbol" panose="05050102010706020507" pitchFamily="18" charset="2"/>
              </a:rPr>
              <a:t>•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  <a:endParaRPr lang="en-US" altLang="it-IT" sz="1400">
              <a:ea typeface="Times" panose="02020603050405020304" pitchFamily="18" charset="0"/>
              <a:cs typeface="Times" panose="02020603050405020304" pitchFamily="18" charset="0"/>
            </a:endParaRPr>
          </a:p>
          <a:p>
            <a:pPr eaLnBrk="1" hangingPunct="1">
              <a:spcBef>
                <a:spcPct val="120000"/>
              </a:spcBef>
              <a:buFont typeface="Times" panose="02020603050405020304" pitchFamily="18" charset="0"/>
              <a:buNone/>
            </a:pPr>
            <a:r>
              <a:rPr lang="en-US" altLang="it-IT" sz="1600" i="1"/>
              <a:t>S</a:t>
            </a:r>
            <a:r>
              <a:rPr lang="en-US" altLang="it-IT" sz="1600" i="1" baseline="-25000"/>
              <a:t>1  </a:t>
            </a:r>
            <a:r>
              <a:rPr lang="en-US" altLang="it-IT" sz="1600"/>
              <a:t>= </a:t>
            </a:r>
            <a:r>
              <a:rPr lang="en-US" altLang="it-IT" sz="1600" i="1"/>
              <a:t>Goto</a:t>
            </a:r>
            <a:r>
              <a:rPr lang="en-US" altLang="it-IT" sz="1600"/>
              <a:t>(</a:t>
            </a:r>
            <a:r>
              <a:rPr lang="en-US" altLang="it-IT" sz="1600" i="1"/>
              <a:t>S</a:t>
            </a:r>
            <a:r>
              <a:rPr lang="en-US" altLang="it-IT" sz="1600" i="1" baseline="-25000"/>
              <a:t>0</a:t>
            </a:r>
            <a:r>
              <a:rPr lang="en-US" altLang="it-IT" sz="1600" i="1"/>
              <a:t> , 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600"/>
              <a:t>) = </a:t>
            </a:r>
          </a:p>
          <a:p>
            <a:pPr eaLnBrk="1" hangingPunct="1">
              <a:spcBef>
                <a:spcPct val="10000"/>
              </a:spcBef>
              <a:buFont typeface="Times" panose="02020603050405020304" pitchFamily="18" charset="0"/>
              <a:buNone/>
            </a:pPr>
            <a:r>
              <a:rPr lang="en-US" altLang="it-IT" sz="1600">
                <a:sym typeface="Symbol" panose="05050102010706020507" pitchFamily="18" charset="2"/>
              </a:rPr>
              <a:t>	</a:t>
            </a:r>
            <a:r>
              <a:rPr lang="en-US" altLang="it-IT" sz="1400" b="1">
                <a:sym typeface="Symbol" panose="05050102010706020507" pitchFamily="18" charset="2"/>
              </a:rPr>
              <a:t>{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Goal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400" b="1" i="1">
                <a:sym typeface="Symbol" panose="05050102010706020507" pitchFamily="18" charset="2"/>
              </a:rPr>
              <a:t>•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2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], [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400" b="1" i="1">
                <a:sym typeface="Symbol" panose="05050102010706020507" pitchFamily="18" charset="2"/>
              </a:rPr>
              <a:t>•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2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</a:p>
          <a:p>
            <a:pPr lvl="1" eaLnBrk="1" hangingPunct="1">
              <a:spcBef>
                <a:spcPct val="5000"/>
              </a:spcBef>
              <a:buFontTx/>
              <a:buNone/>
            </a:pP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 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400" b="1" i="1">
                <a:sym typeface="Symbol" panose="05050102010706020507" pitchFamily="18" charset="2"/>
              </a:rPr>
              <a:t>•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</a:p>
          <a:p>
            <a:pPr eaLnBrk="1" hangingPunct="1">
              <a:spcBef>
                <a:spcPct val="135000"/>
              </a:spcBef>
              <a:buFont typeface="Times" panose="02020603050405020304" pitchFamily="18" charset="0"/>
              <a:buNone/>
            </a:pPr>
            <a:r>
              <a:rPr lang="en-US" altLang="it-IT" sz="1600" i="1"/>
              <a:t>S</a:t>
            </a:r>
            <a:r>
              <a:rPr lang="en-US" altLang="it-IT" sz="1600" i="1" baseline="-25000"/>
              <a:t>2  </a:t>
            </a:r>
            <a:r>
              <a:rPr lang="en-US" altLang="it-IT" sz="1600"/>
              <a:t>= </a:t>
            </a:r>
            <a:r>
              <a:rPr lang="en-US" altLang="it-IT" sz="1600" i="1"/>
              <a:t>Goto</a:t>
            </a:r>
            <a:r>
              <a:rPr lang="en-US" altLang="it-IT" sz="1600"/>
              <a:t>(</a:t>
            </a:r>
            <a:r>
              <a:rPr lang="en-US" altLang="it-IT" sz="1600" i="1"/>
              <a:t>S</a:t>
            </a:r>
            <a:r>
              <a:rPr lang="en-US" altLang="it-IT" sz="1600" i="1" baseline="-25000"/>
              <a:t>0</a:t>
            </a:r>
            <a:r>
              <a:rPr lang="en-US" altLang="it-IT" sz="1600" i="1"/>
              <a:t> ,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/>
              <a:t>) = </a:t>
            </a:r>
            <a:r>
              <a:rPr lang="en-US" altLang="it-IT" sz="1400" b="1">
                <a:sym typeface="Symbol" panose="05050102010706020507" pitchFamily="18" charset="2"/>
              </a:rPr>
              <a:t>{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 i="1">
                <a:sym typeface="Symbol" panose="05050102010706020507" pitchFamily="18" charset="2"/>
              </a:rPr>
              <a:t>•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2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], 					     </a:t>
            </a:r>
            <a:r>
              <a:rPr lang="en-US" altLang="it-IT" sz="500" b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900" b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 i="1">
                <a:sym typeface="Symbol" panose="05050102010706020507" pitchFamily="18" charset="2"/>
              </a:rPr>
              <a:t>•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  <a:endParaRPr lang="en-US" altLang="it-IT" sz="1600">
              <a:ea typeface="Times" panose="02020603050405020304" pitchFamily="18" charset="0"/>
              <a:cs typeface="Times" panose="02020603050405020304" pitchFamily="18" charset="0"/>
            </a:endParaRPr>
          </a:p>
          <a:p>
            <a:pPr eaLnBrk="1" hangingPunct="1">
              <a:spcBef>
                <a:spcPct val="145000"/>
              </a:spcBef>
              <a:buFont typeface="Times" panose="02020603050405020304" pitchFamily="18" charset="0"/>
              <a:buNone/>
            </a:pPr>
            <a:r>
              <a:rPr lang="en-US" altLang="it-IT" sz="1600" i="1"/>
              <a:t>S</a:t>
            </a:r>
            <a:r>
              <a:rPr lang="en-US" altLang="it-IT" sz="1600" i="1" baseline="-25000"/>
              <a:t>3  </a:t>
            </a:r>
            <a:r>
              <a:rPr lang="en-US" altLang="it-IT" sz="1600"/>
              <a:t>= </a:t>
            </a:r>
            <a:r>
              <a:rPr lang="en-US" altLang="it-IT" sz="1600" i="1"/>
              <a:t>Goto</a:t>
            </a:r>
            <a:r>
              <a:rPr lang="en-US" altLang="it-IT" sz="1600"/>
              <a:t>(</a:t>
            </a:r>
            <a:r>
              <a:rPr lang="en-US" altLang="it-IT" sz="1600" i="1"/>
              <a:t>S</a:t>
            </a:r>
            <a:r>
              <a:rPr lang="en-US" altLang="it-IT" sz="1600" i="1" baseline="-25000"/>
              <a:t>1</a:t>
            </a:r>
            <a:r>
              <a:rPr lang="en-US" altLang="it-IT" sz="1600" i="1"/>
              <a:t> ,</a:t>
            </a:r>
            <a:r>
              <a:rPr lang="en-US" altLang="it-IT" sz="1600" b="1" i="1"/>
              <a:t>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600"/>
              <a:t>) = </a:t>
            </a:r>
            <a:r>
              <a:rPr lang="en-US" altLang="it-IT" sz="1400" b="1">
                <a:sym typeface="Symbol" panose="05050102010706020507" pitchFamily="18" charset="2"/>
              </a:rPr>
              <a:t>{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 i="1">
                <a:sym typeface="Symbol" panose="05050102010706020507" pitchFamily="18" charset="2"/>
              </a:rPr>
              <a:t>•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200" b="1" u="sng">
                <a:ea typeface="Times" panose="02020603050405020304" pitchFamily="18" charset="0"/>
                <a:cs typeface="Times" panose="02020603050405020304" pitchFamily="18" charset="0"/>
              </a:rPr>
              <a:t>EOF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</a:p>
          <a:p>
            <a:pPr lvl="1" eaLnBrk="1" hangingPunct="1">
              <a:spcBef>
                <a:spcPct val="5000"/>
              </a:spcBef>
              <a:buFontTx/>
              <a:buNone/>
            </a:pP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                                    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[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it-IT" sz="1400" b="1" i="1">
                <a:ea typeface="Times" panose="02020603050405020304" pitchFamily="18" charset="0"/>
                <a:cs typeface="Times" panose="02020603050405020304" pitchFamily="18" charset="0"/>
              </a:rPr>
              <a:t>SheepNoise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 i="1">
                <a:sym typeface="Symbol" panose="05050102010706020507" pitchFamily="18" charset="2"/>
              </a:rPr>
              <a:t>•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it-IT" sz="1400" b="1" u="sng">
                <a:ea typeface="Times" panose="02020603050405020304" pitchFamily="18" charset="0"/>
                <a:cs typeface="Times" panose="02020603050405020304" pitchFamily="18" charset="0"/>
              </a:rPr>
              <a:t>baa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]</a:t>
            </a:r>
            <a:r>
              <a:rPr lang="en-US" altLang="it-IT" sz="1400" b="1" i="1"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it-IT" sz="1400" b="1"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</a:p>
        </p:txBody>
      </p:sp>
      <p:sp>
        <p:nvSpPr>
          <p:cNvPr id="81925" name="Text Box 4">
            <a:extLst>
              <a:ext uri="{FF2B5EF4-FFF2-40B4-BE49-F238E27FC236}">
                <a16:creationId xmlns:a16="http://schemas.microsoft.com/office/drawing/2014/main" id="{880CE63A-87F2-4486-AE1E-6AB54F27B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066800"/>
            <a:ext cx="609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>
                <a:solidFill>
                  <a:srgbClr val="B025A6"/>
                </a:solidFill>
              </a:rPr>
              <a:t>The GOTO Table records Goto transitions on NTs</a:t>
            </a:r>
          </a:p>
        </p:txBody>
      </p:sp>
      <p:sp>
        <p:nvSpPr>
          <p:cNvPr id="62469" name="AutoShape 5">
            <a:extLst>
              <a:ext uri="{FF2B5EF4-FFF2-40B4-BE49-F238E27FC236}">
                <a16:creationId xmlns:a16="http://schemas.microsoft.com/office/drawing/2014/main" id="{F96AAA6C-6B90-4365-9762-0220580C8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286000"/>
            <a:ext cx="3429000" cy="4572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B025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endParaRPr lang="en-GB" altLang="it-IT">
              <a:solidFill>
                <a:srgbClr val="0000FF"/>
              </a:solidFill>
            </a:endParaRPr>
          </a:p>
        </p:txBody>
      </p:sp>
      <p:grpSp>
        <p:nvGrpSpPr>
          <p:cNvPr id="2" name="Group 11">
            <a:extLst>
              <a:ext uri="{FF2B5EF4-FFF2-40B4-BE49-F238E27FC236}">
                <a16:creationId xmlns:a16="http://schemas.microsoft.com/office/drawing/2014/main" id="{774A0CE8-0066-4BCE-97FA-E365539FA6FF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276600"/>
            <a:ext cx="2514600" cy="1524000"/>
            <a:chOff x="336" y="2064"/>
            <a:chExt cx="1584" cy="960"/>
          </a:xfrm>
        </p:grpSpPr>
        <p:sp>
          <p:nvSpPr>
            <p:cNvPr id="81929" name="AutoShape 7">
              <a:extLst>
                <a:ext uri="{FF2B5EF4-FFF2-40B4-BE49-F238E27FC236}">
                  <a16:creationId xmlns:a16="http://schemas.microsoft.com/office/drawing/2014/main" id="{08BF6D88-45BB-4839-ABA0-881B23DC7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064"/>
              <a:ext cx="1392" cy="336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FF006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81930" name="AutoShape 8">
              <a:extLst>
                <a:ext uri="{FF2B5EF4-FFF2-40B4-BE49-F238E27FC236}">
                  <a16:creationId xmlns:a16="http://schemas.microsoft.com/office/drawing/2014/main" id="{1D9C174D-45B9-4311-AEB5-D10DFA26B9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688"/>
              <a:ext cx="1392" cy="336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FF006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81931" name="Text Box 9">
              <a:extLst>
                <a:ext uri="{FF2B5EF4-FFF2-40B4-BE49-F238E27FC236}">
                  <a16:creationId xmlns:a16="http://schemas.microsoft.com/office/drawing/2014/main" id="{6CA90D83-1C59-49E0-80D2-17C3038AFC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2400"/>
              <a:ext cx="15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>
                  <a:solidFill>
                    <a:srgbClr val="FF0065"/>
                  </a:solidFill>
                </a:rPr>
                <a:t>Based on T, not NT</a:t>
              </a:r>
            </a:p>
          </p:txBody>
        </p:sp>
      </p:grpSp>
      <p:sp>
        <p:nvSpPr>
          <p:cNvPr id="81928" name="Text Box 10">
            <a:extLst>
              <a:ext uri="{FF2B5EF4-FFF2-40B4-BE49-F238E27FC236}">
                <a16:creationId xmlns:a16="http://schemas.microsoft.com/office/drawing/2014/main" id="{F4B79503-0A1F-4527-94BE-B40DC56D31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5105400"/>
            <a:ext cx="3124200" cy="118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/>
              <a:t>Only 1 transition in the entire </a:t>
            </a:r>
            <a:r>
              <a:rPr lang="en-US" altLang="it-IT" sz="1600"/>
              <a:t>GOTO</a:t>
            </a:r>
            <a:r>
              <a:rPr lang="en-US" altLang="it-IT"/>
              <a:t> table</a:t>
            </a:r>
          </a:p>
          <a:p>
            <a:pPr>
              <a:spcBef>
                <a:spcPct val="50000"/>
              </a:spcBef>
            </a:pPr>
            <a:r>
              <a:rPr lang="en-US" altLang="it-IT" sz="1400"/>
              <a:t>Remember, we recorded these so we don’t need to recompute them.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9" grpId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Footer Placeholder 1">
            <a:extLst>
              <a:ext uri="{FF2B5EF4-FFF2-40B4-BE49-F238E27FC236}">
                <a16:creationId xmlns:a16="http://schemas.microsoft.com/office/drawing/2014/main" id="{CCA06039-F477-451C-8463-91F608DB59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83970" name="Slide Number Placeholder 2">
            <a:extLst>
              <a:ext uri="{FF2B5EF4-FFF2-40B4-BE49-F238E27FC236}">
                <a16:creationId xmlns:a16="http://schemas.microsoft.com/office/drawing/2014/main" id="{FB8C0A94-1943-4173-8C7E-3985AE95B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D0C6610-FF95-499C-B964-40FE2CE4DC9D}" type="slidenum">
              <a:rPr lang="en-US" altLang="it-IT"/>
              <a:pPr/>
              <a:t>36</a:t>
            </a:fld>
            <a:endParaRPr lang="en-US" altLang="it-IT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08DE8D26-F824-40FF-9B4D-25AC1AFA4DE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Here are the tables for the augmented</a:t>
            </a:r>
          </a:p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     left-recursive </a:t>
            </a:r>
            <a:r>
              <a:rPr lang="en-US" altLang="it-IT" i="1">
                <a:sym typeface="Symbol" panose="05050102010706020507" pitchFamily="18" charset="2"/>
              </a:rPr>
              <a:t>SheepNoise</a:t>
            </a:r>
            <a:r>
              <a:rPr lang="en-US" altLang="it-IT">
                <a:sym typeface="Symbol" panose="05050102010706020507" pitchFamily="18" charset="2"/>
              </a:rPr>
              <a:t> grammar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The tables </a:t>
            </a:r>
          </a:p>
          <a:p>
            <a:pPr eaLnBrk="1" hangingPunct="1">
              <a:spcBef>
                <a:spcPct val="70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The grammar</a:t>
            </a:r>
          </a:p>
        </p:txBody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CDD3305F-2BEE-4886-9992-A1528903934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 sz="2000">
                <a:sym typeface="Symbol" panose="05050102010706020507" pitchFamily="18" charset="2"/>
              </a:rPr>
              <a:t>ACTION &amp; GOTO Tables </a:t>
            </a:r>
          </a:p>
        </p:txBody>
      </p:sp>
      <p:sp>
        <p:nvSpPr>
          <p:cNvPr id="83973" name="Text Box 7">
            <a:extLst>
              <a:ext uri="{FF2B5EF4-FFF2-40B4-BE49-F238E27FC236}">
                <a16:creationId xmlns:a16="http://schemas.microsoft.com/office/drawing/2014/main" id="{1429C997-DC8B-41FF-B3BD-55F141782E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1371600"/>
            <a:ext cx="1828800" cy="1168400"/>
          </a:xfrm>
          <a:prstGeom prst="rect">
            <a:avLst/>
          </a:prstGeom>
          <a:solidFill>
            <a:srgbClr val="EEEEEE"/>
          </a:solidFill>
          <a:ln w="12700">
            <a:solidFill>
              <a:srgbClr val="1822CD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400">
                <a:solidFill>
                  <a:srgbClr val="1822CD"/>
                </a:solidFill>
              </a:rPr>
              <a:t>Remember, this is the left-recursive SheepNoise; EaC shows the right-recursive version.</a:t>
            </a:r>
          </a:p>
        </p:txBody>
      </p:sp>
      <p:graphicFrame>
        <p:nvGraphicFramePr>
          <p:cNvPr id="64581" name="Group 69">
            <a:extLst>
              <a:ext uri="{FF2B5EF4-FFF2-40B4-BE49-F238E27FC236}">
                <a16:creationId xmlns:a16="http://schemas.microsoft.com/office/drawing/2014/main" id="{AF961728-94C8-4CD5-890B-825457E717B4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5010150"/>
          <a:ext cx="3810000" cy="933450"/>
        </p:xfrm>
        <a:graphic>
          <a:graphicData uri="http://schemas.openxmlformats.org/drawingml/2006/table">
            <a:tbl>
              <a:tblPr/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1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57" marB="45757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57" marB="4575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57" marB="4575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57" marB="4575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4698" name="Group 186">
            <a:extLst>
              <a:ext uri="{FF2B5EF4-FFF2-40B4-BE49-F238E27FC236}">
                <a16:creationId xmlns:a16="http://schemas.microsoft.com/office/drawing/2014/main" id="{25D9E456-D711-4115-95F1-D3E42E2BB46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2514600"/>
          <a:ext cx="2789238" cy="1865313"/>
        </p:xfrm>
        <a:graphic>
          <a:graphicData uri="http://schemas.openxmlformats.org/drawingml/2006/table">
            <a:tbl>
              <a:tblPr/>
              <a:tblGrid>
                <a:gridCol w="731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0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6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8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ACTION TABLE </a:t>
                      </a:r>
                    </a:p>
                  </a:txBody>
                  <a:tcPr marT="45718" marB="45718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State</a:t>
                      </a:r>
                    </a:p>
                  </a:txBody>
                  <a:tcPr marT="45718" marB="4571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marT="45718" marB="4571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</a:p>
                  </a:txBody>
                  <a:tcPr marT="45718" marB="4571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18" marB="45718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marT="45718" marB="4571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2</a:t>
                      </a:r>
                    </a:p>
                  </a:txBody>
                  <a:tcPr marT="45718" marB="45718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18" marB="4571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accept</a:t>
                      </a:r>
                    </a:p>
                  </a:txBody>
                  <a:tcPr marT="45718" marB="4571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3</a:t>
                      </a:r>
                    </a:p>
                  </a:txBody>
                  <a:tcPr marT="45718" marB="4571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18" marB="4571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2</a:t>
                      </a:r>
                    </a:p>
                  </a:txBody>
                  <a:tcPr marT="45718" marB="4571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2</a:t>
                      </a:r>
                    </a:p>
                  </a:txBody>
                  <a:tcPr marT="45718" marB="4571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18" marB="4571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1</a:t>
                      </a:r>
                    </a:p>
                  </a:txBody>
                  <a:tcPr marT="45718" marB="4571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1</a:t>
                      </a:r>
                    </a:p>
                  </a:txBody>
                  <a:tcPr marT="45718" marB="4571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4732" name="Group 220">
            <a:extLst>
              <a:ext uri="{FF2B5EF4-FFF2-40B4-BE49-F238E27FC236}">
                <a16:creationId xmlns:a16="http://schemas.microsoft.com/office/drawing/2014/main" id="{22F23A51-C2FD-4402-8C83-9C0C383E261E}"/>
              </a:ext>
            </a:extLst>
          </p:cNvPr>
          <p:cNvGraphicFramePr>
            <a:graphicFrameLocks noGrp="1"/>
          </p:cNvGraphicFramePr>
          <p:nvPr/>
        </p:nvGraphicFramePr>
        <p:xfrm>
          <a:off x="4343400" y="2514600"/>
          <a:ext cx="2133600" cy="1865313"/>
        </p:xfrm>
        <a:graphic>
          <a:graphicData uri="http://schemas.openxmlformats.org/drawingml/2006/table">
            <a:tbl>
              <a:tblPr/>
              <a:tblGrid>
                <a:gridCol w="731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1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8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GOTO TABLE </a:t>
                      </a:r>
                    </a:p>
                  </a:txBody>
                  <a:tcPr marT="45718" marB="45718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State</a:t>
                      </a:r>
                    </a:p>
                  </a:txBody>
                  <a:tcPr marT="45718" marB="4571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8" marB="4571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18" marB="45718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18" marB="45718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18" marB="4571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18" marB="4571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18" marB="4571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18" marB="4571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18" marB="4571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18" marB="4571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Footer Placeholder 1">
            <a:extLst>
              <a:ext uri="{FF2B5EF4-FFF2-40B4-BE49-F238E27FC236}">
                <a16:creationId xmlns:a16="http://schemas.microsoft.com/office/drawing/2014/main" id="{918479C7-00B0-47A6-A4BA-E24E43AC88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86018" name="Slide Number Placeholder 2">
            <a:extLst>
              <a:ext uri="{FF2B5EF4-FFF2-40B4-BE49-F238E27FC236}">
                <a16:creationId xmlns:a16="http://schemas.microsoft.com/office/drawing/2014/main" id="{E8F2EC5E-7AC4-4538-A10E-E93C6586B2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F75EF95-858C-4DA3-B496-E65C3976338C}" type="slidenum">
              <a:rPr lang="en-US" altLang="it-IT"/>
              <a:pPr/>
              <a:t>37</a:t>
            </a:fld>
            <a:endParaRPr lang="en-US" altLang="it-IT"/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02CF66A2-1FD8-4664-83EB-8F65F8045AA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/>
              <a:t>What can go wrong?</a:t>
            </a:r>
          </a:p>
        </p:txBody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72537BDB-C270-4F46-88C5-6CF48B23784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30000"/>
              </a:spcBef>
              <a:buFont typeface="Times" panose="02020603050405020304" pitchFamily="18" charset="0"/>
              <a:buNone/>
            </a:pPr>
            <a:r>
              <a:rPr lang="en-US" altLang="it-IT" sz="1800"/>
              <a:t>What if set </a:t>
            </a:r>
            <a:r>
              <a:rPr lang="en-US" altLang="it-IT" sz="1800" i="1"/>
              <a:t>s</a:t>
            </a:r>
            <a:r>
              <a:rPr lang="en-US" altLang="it-IT" sz="1800"/>
              <a:t> contains [</a:t>
            </a:r>
            <a:r>
              <a:rPr lang="en-US" altLang="it-IT" sz="1800" i="1">
                <a:sym typeface="Symbol" panose="05050102010706020507" pitchFamily="18" charset="2"/>
              </a:rPr>
              <a:t>A</a:t>
            </a:r>
            <a:r>
              <a:rPr lang="en-US" altLang="it-IT" sz="1800">
                <a:sym typeface="Symbol" panose="05050102010706020507" pitchFamily="18" charset="2"/>
              </a:rPr>
              <a:t>•</a:t>
            </a:r>
            <a:r>
              <a:rPr lang="en-US" altLang="it-IT" sz="1800" u="sng">
                <a:sym typeface="Symbol" panose="05050102010706020507" pitchFamily="18" charset="2"/>
              </a:rPr>
              <a:t>a</a:t>
            </a:r>
            <a:r>
              <a:rPr lang="en-US" altLang="it-IT" sz="1800">
                <a:sym typeface="Symbol" panose="05050102010706020507" pitchFamily="18" charset="2"/>
              </a:rPr>
              <a:t>,</a:t>
            </a:r>
            <a:r>
              <a:rPr lang="en-US" altLang="it-IT" sz="1800" u="sng">
                <a:sym typeface="Symbol" panose="05050102010706020507" pitchFamily="18" charset="2"/>
              </a:rPr>
              <a:t>b</a:t>
            </a:r>
            <a:r>
              <a:rPr lang="en-US" altLang="it-IT" sz="1800">
                <a:sym typeface="Symbol" panose="05050102010706020507" pitchFamily="18" charset="2"/>
              </a:rPr>
              <a:t>] and [</a:t>
            </a:r>
            <a:r>
              <a:rPr lang="en-US" altLang="it-IT" sz="1800" i="1">
                <a:sym typeface="Symbol" panose="05050102010706020507" pitchFamily="18" charset="2"/>
              </a:rPr>
              <a:t>B</a:t>
            </a:r>
            <a:r>
              <a:rPr lang="en-US" altLang="it-IT" sz="1800">
                <a:sym typeface="Symbol" panose="05050102010706020507" pitchFamily="18" charset="2"/>
              </a:rPr>
              <a:t>•,</a:t>
            </a:r>
            <a:r>
              <a:rPr lang="en-US" altLang="it-IT" sz="1800" u="sng">
                <a:sym typeface="Symbol" panose="05050102010706020507" pitchFamily="18" charset="2"/>
              </a:rPr>
              <a:t>a</a:t>
            </a:r>
            <a:r>
              <a:rPr lang="en-US" altLang="it-IT" sz="1800">
                <a:sym typeface="Symbol" panose="05050102010706020507" pitchFamily="18" charset="2"/>
              </a:rPr>
              <a:t>] ?</a:t>
            </a:r>
          </a:p>
          <a:p>
            <a:pPr eaLnBrk="1" hangingPunct="1">
              <a:lnSpc>
                <a:spcPct val="90000"/>
              </a:lnSpc>
              <a:spcBef>
                <a:spcPct val="30000"/>
              </a:spcBef>
            </a:pPr>
            <a:r>
              <a:rPr lang="en-US" altLang="it-IT" sz="1800"/>
              <a:t>First item generates “shift”, second generates “reduce” </a:t>
            </a:r>
          </a:p>
          <a:p>
            <a:pPr eaLnBrk="1" hangingPunct="1">
              <a:lnSpc>
                <a:spcPct val="90000"/>
              </a:lnSpc>
              <a:spcBef>
                <a:spcPct val="30000"/>
              </a:spcBef>
            </a:pPr>
            <a:r>
              <a:rPr lang="en-US" altLang="it-IT" sz="1800"/>
              <a:t>Both define ACTION[s,</a:t>
            </a:r>
            <a:r>
              <a:rPr lang="en-US" altLang="it-IT" sz="1800" u="sng"/>
              <a:t>a</a:t>
            </a:r>
            <a:r>
              <a:rPr lang="en-US" altLang="it-IT" sz="1800"/>
              <a:t>] — cannot do both actions</a:t>
            </a:r>
          </a:p>
          <a:p>
            <a:pPr eaLnBrk="1" hangingPunct="1">
              <a:lnSpc>
                <a:spcPct val="90000"/>
              </a:lnSpc>
              <a:spcBef>
                <a:spcPct val="30000"/>
              </a:spcBef>
            </a:pPr>
            <a:r>
              <a:rPr lang="en-US" altLang="it-IT" sz="1800"/>
              <a:t>This is a fundamental ambiguity, called a </a:t>
            </a:r>
            <a:r>
              <a:rPr lang="en-US" altLang="it-IT" sz="1800" i="1"/>
              <a:t>shift/reduce error</a:t>
            </a:r>
          </a:p>
          <a:p>
            <a:pPr eaLnBrk="1" hangingPunct="1">
              <a:lnSpc>
                <a:spcPct val="90000"/>
              </a:lnSpc>
              <a:spcBef>
                <a:spcPct val="30000"/>
              </a:spcBef>
            </a:pPr>
            <a:r>
              <a:rPr lang="en-US" altLang="it-IT" sz="1800"/>
              <a:t>Modify the grammar to eliminate it	                        </a:t>
            </a:r>
            <a:r>
              <a:rPr lang="en-US" altLang="it-IT" sz="1600" i="1"/>
              <a:t>(if-then-else)</a:t>
            </a:r>
            <a:endParaRPr lang="en-US" altLang="it-IT" sz="1800"/>
          </a:p>
          <a:p>
            <a:pPr eaLnBrk="1" hangingPunct="1">
              <a:lnSpc>
                <a:spcPct val="90000"/>
              </a:lnSpc>
              <a:spcBef>
                <a:spcPct val="30000"/>
              </a:spcBef>
            </a:pPr>
            <a:r>
              <a:rPr lang="en-US" altLang="it-IT" sz="1800"/>
              <a:t>Shifting will often resolve it correctly </a:t>
            </a:r>
            <a:endParaRPr lang="en-US" altLang="it-IT" sz="1600" i="1"/>
          </a:p>
          <a:p>
            <a:pPr eaLnBrk="1" hangingPunct="1">
              <a:lnSpc>
                <a:spcPct val="90000"/>
              </a:lnSpc>
              <a:spcBef>
                <a:spcPct val="150000"/>
              </a:spcBef>
              <a:buFont typeface="Times" panose="02020603050405020304" pitchFamily="18" charset="0"/>
              <a:buNone/>
            </a:pPr>
            <a:r>
              <a:rPr lang="en-US" altLang="it-IT" sz="1800"/>
              <a:t>What is set </a:t>
            </a:r>
            <a:r>
              <a:rPr lang="en-US" altLang="it-IT" sz="1800" i="1"/>
              <a:t>s</a:t>
            </a:r>
            <a:r>
              <a:rPr lang="en-US" altLang="it-IT" sz="1800"/>
              <a:t> contains [</a:t>
            </a:r>
            <a:r>
              <a:rPr lang="en-US" altLang="it-IT" sz="1800" i="1">
                <a:sym typeface="Symbol" panose="05050102010706020507" pitchFamily="18" charset="2"/>
              </a:rPr>
              <a:t>A</a:t>
            </a:r>
            <a:r>
              <a:rPr lang="en-US" altLang="it-IT" sz="1800">
                <a:sym typeface="Symbol" panose="05050102010706020507" pitchFamily="18" charset="2"/>
              </a:rPr>
              <a:t>•, </a:t>
            </a:r>
            <a:r>
              <a:rPr lang="en-US" altLang="it-IT" sz="1800" u="sng">
                <a:sym typeface="Symbol" panose="05050102010706020507" pitchFamily="18" charset="2"/>
              </a:rPr>
              <a:t>a</a:t>
            </a:r>
            <a:r>
              <a:rPr lang="en-US" altLang="it-IT" sz="1800">
                <a:sym typeface="Symbol" panose="05050102010706020507" pitchFamily="18" charset="2"/>
              </a:rPr>
              <a:t>] and [</a:t>
            </a:r>
            <a:r>
              <a:rPr lang="en-US" altLang="it-IT" sz="1800" i="1">
                <a:sym typeface="Symbol" panose="05050102010706020507" pitchFamily="18" charset="2"/>
              </a:rPr>
              <a:t>B</a:t>
            </a:r>
            <a:r>
              <a:rPr lang="en-US" altLang="it-IT" sz="1800">
                <a:sym typeface="Symbol" panose="05050102010706020507" pitchFamily="18" charset="2"/>
              </a:rPr>
              <a:t>•, </a:t>
            </a:r>
            <a:r>
              <a:rPr lang="en-US" altLang="it-IT" sz="1800" u="sng">
                <a:sym typeface="Symbol" panose="05050102010706020507" pitchFamily="18" charset="2"/>
              </a:rPr>
              <a:t>a</a:t>
            </a:r>
            <a:r>
              <a:rPr lang="en-US" altLang="it-IT" sz="1800">
                <a:sym typeface="Symbol" panose="05050102010706020507" pitchFamily="18" charset="2"/>
              </a:rPr>
              <a:t>] ?</a:t>
            </a:r>
          </a:p>
          <a:p>
            <a:pPr eaLnBrk="1" hangingPunct="1">
              <a:lnSpc>
                <a:spcPct val="90000"/>
              </a:lnSpc>
              <a:spcBef>
                <a:spcPct val="30000"/>
              </a:spcBef>
            </a:pPr>
            <a:r>
              <a:rPr lang="en-US" altLang="it-IT" sz="1800">
                <a:sym typeface="Symbol" panose="05050102010706020507" pitchFamily="18" charset="2"/>
              </a:rPr>
              <a:t>Each generates “reduce”, but with a different production</a:t>
            </a:r>
          </a:p>
          <a:p>
            <a:pPr eaLnBrk="1" hangingPunct="1">
              <a:lnSpc>
                <a:spcPct val="90000"/>
              </a:lnSpc>
              <a:spcBef>
                <a:spcPct val="30000"/>
              </a:spcBef>
            </a:pPr>
            <a:r>
              <a:rPr lang="en-US" altLang="it-IT" sz="1800">
                <a:sym typeface="Symbol" panose="05050102010706020507" pitchFamily="18" charset="2"/>
              </a:rPr>
              <a:t>Both define ACTION[s,</a:t>
            </a:r>
            <a:r>
              <a:rPr lang="en-US" altLang="it-IT" sz="1800" u="sng">
                <a:sym typeface="Symbol" panose="05050102010706020507" pitchFamily="18" charset="2"/>
              </a:rPr>
              <a:t>a</a:t>
            </a:r>
            <a:r>
              <a:rPr lang="en-US" altLang="it-IT" sz="1800">
                <a:sym typeface="Symbol" panose="05050102010706020507" pitchFamily="18" charset="2"/>
              </a:rPr>
              <a:t>] </a:t>
            </a:r>
            <a:r>
              <a:rPr lang="en-US" altLang="it-IT" sz="1800"/>
              <a:t>— cannot do both reductions</a:t>
            </a:r>
          </a:p>
          <a:p>
            <a:pPr eaLnBrk="1" hangingPunct="1">
              <a:lnSpc>
                <a:spcPct val="90000"/>
              </a:lnSpc>
              <a:spcBef>
                <a:spcPct val="30000"/>
              </a:spcBef>
            </a:pPr>
            <a:r>
              <a:rPr lang="en-US" altLang="it-IT" sz="1800"/>
              <a:t>This is a fundamental ambiguity, called a </a:t>
            </a:r>
            <a:r>
              <a:rPr lang="en-US" altLang="it-IT" sz="1800" i="1"/>
              <a:t>reduce/reduce conflict</a:t>
            </a:r>
          </a:p>
          <a:p>
            <a:pPr eaLnBrk="1" hangingPunct="1">
              <a:lnSpc>
                <a:spcPct val="90000"/>
              </a:lnSpc>
              <a:spcBef>
                <a:spcPct val="30000"/>
              </a:spcBef>
            </a:pPr>
            <a:r>
              <a:rPr lang="en-US" altLang="it-IT" sz="1800"/>
              <a:t>Modify the grammar to eliminate it               </a:t>
            </a:r>
            <a:r>
              <a:rPr lang="en-US" altLang="it-IT" sz="1600" i="1"/>
              <a:t>(P</a:t>
            </a:r>
            <a:r>
              <a:rPr lang="en-US" altLang="it-IT" sz="1400" i="1"/>
              <a:t>L/I’</a:t>
            </a:r>
            <a:r>
              <a:rPr lang="en-US" altLang="it-IT" sz="1600" i="1"/>
              <a:t>s overloading of (...))</a:t>
            </a:r>
            <a:endParaRPr lang="en-US" altLang="it-IT" sz="1800"/>
          </a:p>
          <a:p>
            <a:pPr algn="ctr" eaLnBrk="1" hangingPunct="1">
              <a:lnSpc>
                <a:spcPct val="90000"/>
              </a:lnSpc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 sz="1800" i="1"/>
              <a:t>In  either case, the grammar is not LR(1)</a:t>
            </a:r>
          </a:p>
        </p:txBody>
      </p:sp>
    </p:spTree>
  </p:cSld>
  <p:clrMapOvr>
    <a:masterClrMapping/>
  </p:clrMapOvr>
  <p:transition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Footer Placeholder 1">
            <a:extLst>
              <a:ext uri="{FF2B5EF4-FFF2-40B4-BE49-F238E27FC236}">
                <a16:creationId xmlns:a16="http://schemas.microsoft.com/office/drawing/2014/main" id="{4FFF1C10-A5F9-4286-A1AE-6F1E041AE0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88066" name="Slide Number Placeholder 2">
            <a:extLst>
              <a:ext uri="{FF2B5EF4-FFF2-40B4-BE49-F238E27FC236}">
                <a16:creationId xmlns:a16="http://schemas.microsoft.com/office/drawing/2014/main" id="{0EF6811A-4D44-4BD8-ABCE-75563B6604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DCCFE79-1D93-4C4B-BA19-B930D0E49ACA}" type="slidenum">
              <a:rPr lang="en-US" altLang="it-IT"/>
              <a:pPr/>
              <a:t>38</a:t>
            </a:fld>
            <a:endParaRPr lang="en-US" altLang="it-IT"/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F3454FC-7326-40FE-93B6-00A1041F03A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100000"/>
              </a:spcBef>
            </a:pPr>
            <a:r>
              <a:rPr lang="en-US" altLang="it-IT"/>
              <a:t>Shrinking the Tables</a:t>
            </a:r>
          </a:p>
        </p:txBody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C9F90652-7E16-4C88-B0D0-B3269DFACBA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  <a:buFont typeface="Times" panose="02020603050405020304" pitchFamily="18" charset="0"/>
              <a:buNone/>
            </a:pPr>
            <a:r>
              <a:rPr lang="en-US" altLang="it-IT"/>
              <a:t>Three options:</a:t>
            </a:r>
          </a:p>
          <a:p>
            <a:pPr eaLnBrk="1" hangingPunct="1">
              <a:spcBef>
                <a:spcPct val="40000"/>
              </a:spcBef>
            </a:pPr>
            <a:r>
              <a:rPr lang="en-US" altLang="it-IT"/>
              <a:t>Combine terminals such as </a:t>
            </a:r>
            <a:r>
              <a:rPr lang="en-US" altLang="it-IT" u="sng"/>
              <a:t>number</a:t>
            </a:r>
            <a:r>
              <a:rPr lang="en-US" altLang="it-IT"/>
              <a:t> &amp; </a:t>
            </a:r>
            <a:r>
              <a:rPr lang="en-US" altLang="it-IT" u="sng"/>
              <a:t>identifier</a:t>
            </a:r>
            <a:r>
              <a:rPr lang="en-US" altLang="it-IT"/>
              <a:t>, </a:t>
            </a:r>
            <a:r>
              <a:rPr lang="en-US" altLang="it-IT" u="sng"/>
              <a:t>+</a:t>
            </a:r>
            <a:r>
              <a:rPr lang="en-US" altLang="it-IT"/>
              <a:t> &amp; </a:t>
            </a:r>
            <a:r>
              <a:rPr lang="en-US" altLang="it-IT" u="sng"/>
              <a:t>-</a:t>
            </a:r>
            <a:r>
              <a:rPr lang="en-US" altLang="it-IT"/>
              <a:t>, </a:t>
            </a:r>
            <a:r>
              <a:rPr lang="en-US" altLang="it-IT" u="sng"/>
              <a:t>*</a:t>
            </a:r>
            <a:r>
              <a:rPr lang="en-US" altLang="it-IT"/>
              <a:t> &amp; </a:t>
            </a:r>
            <a:r>
              <a:rPr lang="en-US" altLang="it-IT" u="sng"/>
              <a:t>/</a:t>
            </a:r>
            <a:endParaRPr lang="en-US" altLang="it-IT"/>
          </a:p>
          <a:p>
            <a:pPr lvl="1" eaLnBrk="1" hangingPunct="1">
              <a:spcBef>
                <a:spcPct val="30000"/>
              </a:spcBef>
            </a:pPr>
            <a:r>
              <a:rPr lang="en-US" altLang="it-IT"/>
              <a:t>Directly removes a column, may remove a row</a:t>
            </a:r>
          </a:p>
          <a:p>
            <a:pPr lvl="1" eaLnBrk="1" hangingPunct="1">
              <a:spcBef>
                <a:spcPct val="30000"/>
              </a:spcBef>
            </a:pPr>
            <a:r>
              <a:rPr lang="en-US" altLang="it-IT"/>
              <a:t>For expression grammar, 198 (vs. 384) table entries 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it-IT"/>
              <a:t>Combine rows or columns</a:t>
            </a:r>
          </a:p>
          <a:p>
            <a:pPr lvl="1" eaLnBrk="1" hangingPunct="1">
              <a:spcBef>
                <a:spcPct val="30000"/>
              </a:spcBef>
            </a:pPr>
            <a:r>
              <a:rPr lang="en-US" altLang="it-IT"/>
              <a:t>Implement identical rows once &amp; remap states</a:t>
            </a:r>
          </a:p>
          <a:p>
            <a:pPr lvl="1" eaLnBrk="1" hangingPunct="1">
              <a:spcBef>
                <a:spcPct val="30000"/>
              </a:spcBef>
            </a:pPr>
            <a:r>
              <a:rPr lang="en-US" altLang="it-IT"/>
              <a:t>Requires extra indirection on each lookup</a:t>
            </a:r>
          </a:p>
          <a:p>
            <a:pPr lvl="1" eaLnBrk="1" hangingPunct="1">
              <a:spcBef>
                <a:spcPct val="30000"/>
              </a:spcBef>
            </a:pPr>
            <a:r>
              <a:rPr lang="en-US" altLang="it-IT"/>
              <a:t>Use separate mapping for A</a:t>
            </a:r>
            <a:r>
              <a:rPr lang="en-US" altLang="it-IT" sz="1600"/>
              <a:t>CTION</a:t>
            </a:r>
            <a:r>
              <a:rPr lang="en-US" altLang="it-IT"/>
              <a:t> &amp; for G</a:t>
            </a:r>
            <a:r>
              <a:rPr lang="en-US" altLang="it-IT" sz="1600"/>
              <a:t>OTO</a:t>
            </a:r>
            <a:endParaRPr lang="en-US" altLang="it-IT" i="1"/>
          </a:p>
          <a:p>
            <a:pPr eaLnBrk="1" hangingPunct="1">
              <a:spcBef>
                <a:spcPct val="50000"/>
              </a:spcBef>
            </a:pPr>
            <a:r>
              <a:rPr lang="en-US" altLang="it-IT"/>
              <a:t>Use another construction algorithm</a:t>
            </a:r>
          </a:p>
          <a:p>
            <a:pPr lvl="1" eaLnBrk="1" hangingPunct="1">
              <a:spcBef>
                <a:spcPct val="30000"/>
              </a:spcBef>
            </a:pPr>
            <a:r>
              <a:rPr lang="en-US" altLang="it-IT"/>
              <a:t>Both L</a:t>
            </a:r>
            <a:r>
              <a:rPr lang="en-US" altLang="it-IT" sz="1600"/>
              <a:t>ALR(1)</a:t>
            </a:r>
            <a:r>
              <a:rPr lang="en-US" altLang="it-IT"/>
              <a:t> and S</a:t>
            </a:r>
            <a:r>
              <a:rPr lang="en-US" altLang="it-IT" sz="1600"/>
              <a:t>LR(1)</a:t>
            </a:r>
            <a:r>
              <a:rPr lang="en-US" altLang="it-IT"/>
              <a:t> produce smaller tables</a:t>
            </a:r>
          </a:p>
          <a:p>
            <a:pPr lvl="1" eaLnBrk="1" hangingPunct="1">
              <a:spcBef>
                <a:spcPct val="30000"/>
              </a:spcBef>
            </a:pPr>
            <a:r>
              <a:rPr lang="en-US" altLang="it-IT"/>
              <a:t>Implementations are readily available</a:t>
            </a:r>
          </a:p>
        </p:txBody>
      </p:sp>
      <p:grpSp>
        <p:nvGrpSpPr>
          <p:cNvPr id="2" name="Group 16">
            <a:extLst>
              <a:ext uri="{FF2B5EF4-FFF2-40B4-BE49-F238E27FC236}">
                <a16:creationId xmlns:a16="http://schemas.microsoft.com/office/drawing/2014/main" id="{075B96B9-1358-44AA-9D24-B0E908BB5399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2514600"/>
            <a:ext cx="6019800" cy="846138"/>
            <a:chOff x="1824" y="1584"/>
            <a:chExt cx="3792" cy="533"/>
          </a:xfrm>
        </p:grpSpPr>
        <p:sp>
          <p:nvSpPr>
            <p:cNvPr id="88078" name="Text Box 5">
              <a:extLst>
                <a:ext uri="{FF2B5EF4-FFF2-40B4-BE49-F238E27FC236}">
                  <a16:creationId xmlns:a16="http://schemas.microsoft.com/office/drawing/2014/main" id="{E4CCEBDB-7D7B-4CDD-8BB8-682879BF14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1680"/>
              <a:ext cx="1344" cy="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lnSpc>
                  <a:spcPct val="95000"/>
                </a:lnSpc>
                <a:spcBef>
                  <a:spcPct val="50000"/>
                </a:spcBef>
              </a:pPr>
              <a:r>
                <a:rPr lang="en-US" altLang="it-IT" sz="1200">
                  <a:solidFill>
                    <a:srgbClr val="B025A6"/>
                  </a:solidFill>
                </a:rPr>
                <a:t>left-recursive expression grammar with precedence, see §3.7.2 in EAC</a:t>
              </a:r>
            </a:p>
          </p:txBody>
        </p:sp>
        <p:sp>
          <p:nvSpPr>
            <p:cNvPr id="88079" name="Line 6">
              <a:extLst>
                <a:ext uri="{FF2B5EF4-FFF2-40B4-BE49-F238E27FC236}">
                  <a16:creationId xmlns:a16="http://schemas.microsoft.com/office/drawing/2014/main" id="{6F298C4B-CA44-441F-872F-256EE932B5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1685"/>
              <a:ext cx="0" cy="432"/>
            </a:xfrm>
            <a:prstGeom prst="line">
              <a:avLst/>
            </a:prstGeom>
            <a:noFill/>
            <a:ln w="19050">
              <a:solidFill>
                <a:srgbClr val="B025A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8080" name="Freeform 7">
              <a:extLst>
                <a:ext uri="{FF2B5EF4-FFF2-40B4-BE49-F238E27FC236}">
                  <a16:creationId xmlns:a16="http://schemas.microsoft.com/office/drawing/2014/main" id="{D5FDBF1F-1344-4AB7-B8F0-0463BDE92E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4" y="1584"/>
              <a:ext cx="2448" cy="240"/>
            </a:xfrm>
            <a:custGeom>
              <a:avLst/>
              <a:gdLst>
                <a:gd name="T0" fmla="*/ 0 w 2448"/>
                <a:gd name="T1" fmla="*/ 0 h 240"/>
                <a:gd name="T2" fmla="*/ 288 w 2448"/>
                <a:gd name="T3" fmla="*/ 96 h 240"/>
                <a:gd name="T4" fmla="*/ 1392 w 2448"/>
                <a:gd name="T5" fmla="*/ 96 h 240"/>
                <a:gd name="T6" fmla="*/ 2016 w 2448"/>
                <a:gd name="T7" fmla="*/ 192 h 240"/>
                <a:gd name="T8" fmla="*/ 2448 w 2448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48"/>
                <a:gd name="T16" fmla="*/ 0 h 240"/>
                <a:gd name="T17" fmla="*/ 2448 w 2448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48" h="240">
                  <a:moveTo>
                    <a:pt x="0" y="0"/>
                  </a:moveTo>
                  <a:cubicBezTo>
                    <a:pt x="28" y="40"/>
                    <a:pt x="56" y="80"/>
                    <a:pt x="288" y="96"/>
                  </a:cubicBezTo>
                  <a:cubicBezTo>
                    <a:pt x="520" y="112"/>
                    <a:pt x="1104" y="80"/>
                    <a:pt x="1392" y="96"/>
                  </a:cubicBezTo>
                  <a:cubicBezTo>
                    <a:pt x="1680" y="112"/>
                    <a:pt x="1840" y="168"/>
                    <a:pt x="2016" y="192"/>
                  </a:cubicBezTo>
                  <a:cubicBezTo>
                    <a:pt x="2192" y="216"/>
                    <a:pt x="2320" y="228"/>
                    <a:pt x="2448" y="240"/>
                  </a:cubicBezTo>
                </a:path>
              </a:pathLst>
            </a:custGeom>
            <a:noFill/>
            <a:ln w="9525">
              <a:solidFill>
                <a:srgbClr val="B025A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  <p:grpSp>
        <p:nvGrpSpPr>
          <p:cNvPr id="3" name="Group 17">
            <a:extLst>
              <a:ext uri="{FF2B5EF4-FFF2-40B4-BE49-F238E27FC236}">
                <a16:creationId xmlns:a16="http://schemas.microsoft.com/office/drawing/2014/main" id="{4F3D7B27-4B2E-41D9-9658-19F7E97CDAD5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3505200"/>
            <a:ext cx="2362200" cy="533400"/>
            <a:chOff x="3744" y="2208"/>
            <a:chExt cx="1488" cy="336"/>
          </a:xfrm>
        </p:grpSpPr>
        <p:sp>
          <p:nvSpPr>
            <p:cNvPr id="88075" name="Text Box 9">
              <a:extLst>
                <a:ext uri="{FF2B5EF4-FFF2-40B4-BE49-F238E27FC236}">
                  <a16:creationId xmlns:a16="http://schemas.microsoft.com/office/drawing/2014/main" id="{DBF0B990-02DD-4622-B483-772C416EEA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212"/>
              <a:ext cx="9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200">
                  <a:solidFill>
                    <a:srgbClr val="B025A6"/>
                  </a:solidFill>
                </a:rPr>
                <a:t>classic space-time tradeoff</a:t>
              </a:r>
            </a:p>
          </p:txBody>
        </p:sp>
        <p:sp>
          <p:nvSpPr>
            <p:cNvPr id="88076" name="Line 10">
              <a:extLst>
                <a:ext uri="{FF2B5EF4-FFF2-40B4-BE49-F238E27FC236}">
                  <a16:creationId xmlns:a16="http://schemas.microsoft.com/office/drawing/2014/main" id="{7DD05252-6209-4D93-B060-6590507AC4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208"/>
              <a:ext cx="0" cy="336"/>
            </a:xfrm>
            <a:prstGeom prst="line">
              <a:avLst/>
            </a:prstGeom>
            <a:noFill/>
            <a:ln w="19050">
              <a:solidFill>
                <a:srgbClr val="B025A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8077" name="Freeform 11">
              <a:extLst>
                <a:ext uri="{FF2B5EF4-FFF2-40B4-BE49-F238E27FC236}">
                  <a16:creationId xmlns:a16="http://schemas.microsoft.com/office/drawing/2014/main" id="{CE0B69B7-BD6D-45A5-915B-F7ACDC3EB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2248"/>
              <a:ext cx="528" cy="56"/>
            </a:xfrm>
            <a:custGeom>
              <a:avLst/>
              <a:gdLst>
                <a:gd name="T0" fmla="*/ 0 w 528"/>
                <a:gd name="T1" fmla="*/ 8 h 56"/>
                <a:gd name="T2" fmla="*/ 288 w 528"/>
                <a:gd name="T3" fmla="*/ 8 h 56"/>
                <a:gd name="T4" fmla="*/ 528 w 528"/>
                <a:gd name="T5" fmla="*/ 56 h 56"/>
                <a:gd name="T6" fmla="*/ 0 60000 65536"/>
                <a:gd name="T7" fmla="*/ 0 60000 65536"/>
                <a:gd name="T8" fmla="*/ 0 60000 65536"/>
                <a:gd name="T9" fmla="*/ 0 w 528"/>
                <a:gd name="T10" fmla="*/ 0 h 56"/>
                <a:gd name="T11" fmla="*/ 528 w 528"/>
                <a:gd name="T12" fmla="*/ 56 h 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56">
                  <a:moveTo>
                    <a:pt x="0" y="8"/>
                  </a:moveTo>
                  <a:cubicBezTo>
                    <a:pt x="100" y="4"/>
                    <a:pt x="200" y="0"/>
                    <a:pt x="288" y="8"/>
                  </a:cubicBezTo>
                  <a:cubicBezTo>
                    <a:pt x="376" y="16"/>
                    <a:pt x="452" y="36"/>
                    <a:pt x="528" y="56"/>
                  </a:cubicBezTo>
                </a:path>
              </a:pathLst>
            </a:custGeom>
            <a:noFill/>
            <a:ln w="9525">
              <a:solidFill>
                <a:srgbClr val="B025A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  <p:grpSp>
        <p:nvGrpSpPr>
          <p:cNvPr id="4" name="Group 18">
            <a:extLst>
              <a:ext uri="{FF2B5EF4-FFF2-40B4-BE49-F238E27FC236}">
                <a16:creationId xmlns:a16="http://schemas.microsoft.com/office/drawing/2014/main" id="{0FB33B57-EF81-42BA-99D8-2E95B558F4BD}"/>
              </a:ext>
            </a:extLst>
          </p:cNvPr>
          <p:cNvGrpSpPr>
            <a:grpSpLocks/>
          </p:cNvGrpSpPr>
          <p:nvPr/>
        </p:nvGrpSpPr>
        <p:grpSpPr bwMode="auto">
          <a:xfrm>
            <a:off x="5461000" y="4419600"/>
            <a:ext cx="3073400" cy="1524000"/>
            <a:chOff x="3440" y="2784"/>
            <a:chExt cx="1936" cy="960"/>
          </a:xfrm>
        </p:grpSpPr>
        <p:sp>
          <p:nvSpPr>
            <p:cNvPr id="88072" name="Text Box 13">
              <a:extLst>
                <a:ext uri="{FF2B5EF4-FFF2-40B4-BE49-F238E27FC236}">
                  <a16:creationId xmlns:a16="http://schemas.microsoft.com/office/drawing/2014/main" id="{04B72F06-6D82-4EC0-AAC5-9105472C9E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3552"/>
              <a:ext cx="177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200">
                  <a:solidFill>
                    <a:srgbClr val="FF0065"/>
                  </a:solidFill>
                </a:rPr>
                <a:t>Is handle recognizing DFA minimal?</a:t>
              </a:r>
            </a:p>
          </p:txBody>
        </p:sp>
        <p:sp>
          <p:nvSpPr>
            <p:cNvPr id="88073" name="Line 14">
              <a:extLst>
                <a:ext uri="{FF2B5EF4-FFF2-40B4-BE49-F238E27FC236}">
                  <a16:creationId xmlns:a16="http://schemas.microsoft.com/office/drawing/2014/main" id="{07FDA8CB-9EA2-4224-BCD6-CD62E58D2A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3552"/>
              <a:ext cx="0" cy="192"/>
            </a:xfrm>
            <a:prstGeom prst="line">
              <a:avLst/>
            </a:prstGeom>
            <a:noFill/>
            <a:ln w="19050">
              <a:solidFill>
                <a:srgbClr val="FF006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8074" name="Freeform 15">
              <a:extLst>
                <a:ext uri="{FF2B5EF4-FFF2-40B4-BE49-F238E27FC236}">
                  <a16:creationId xmlns:a16="http://schemas.microsoft.com/office/drawing/2014/main" id="{DA0391C8-1200-4B4F-8F5A-C4F0128E5D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0" y="2784"/>
              <a:ext cx="1072" cy="816"/>
            </a:xfrm>
            <a:custGeom>
              <a:avLst/>
              <a:gdLst>
                <a:gd name="T0" fmla="*/ 152 w 1072"/>
                <a:gd name="T1" fmla="*/ 816 h 816"/>
                <a:gd name="T2" fmla="*/ 8 w 1072"/>
                <a:gd name="T3" fmla="*/ 720 h 816"/>
                <a:gd name="T4" fmla="*/ 200 w 1072"/>
                <a:gd name="T5" fmla="*/ 672 h 816"/>
                <a:gd name="T6" fmla="*/ 824 w 1072"/>
                <a:gd name="T7" fmla="*/ 624 h 816"/>
                <a:gd name="T8" fmla="*/ 1064 w 1072"/>
                <a:gd name="T9" fmla="*/ 480 h 816"/>
                <a:gd name="T10" fmla="*/ 872 w 1072"/>
                <a:gd name="T11" fmla="*/ 96 h 816"/>
                <a:gd name="T12" fmla="*/ 104 w 1072"/>
                <a:gd name="T13" fmla="*/ 0 h 8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2"/>
                <a:gd name="T22" fmla="*/ 0 h 816"/>
                <a:gd name="T23" fmla="*/ 1072 w 1072"/>
                <a:gd name="T24" fmla="*/ 816 h 81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2" h="816">
                  <a:moveTo>
                    <a:pt x="152" y="816"/>
                  </a:moveTo>
                  <a:cubicBezTo>
                    <a:pt x="76" y="780"/>
                    <a:pt x="0" y="744"/>
                    <a:pt x="8" y="720"/>
                  </a:cubicBezTo>
                  <a:cubicBezTo>
                    <a:pt x="16" y="696"/>
                    <a:pt x="64" y="688"/>
                    <a:pt x="200" y="672"/>
                  </a:cubicBezTo>
                  <a:cubicBezTo>
                    <a:pt x="336" y="656"/>
                    <a:pt x="680" y="656"/>
                    <a:pt x="824" y="624"/>
                  </a:cubicBezTo>
                  <a:cubicBezTo>
                    <a:pt x="968" y="592"/>
                    <a:pt x="1056" y="568"/>
                    <a:pt x="1064" y="480"/>
                  </a:cubicBezTo>
                  <a:cubicBezTo>
                    <a:pt x="1072" y="392"/>
                    <a:pt x="1032" y="176"/>
                    <a:pt x="872" y="96"/>
                  </a:cubicBezTo>
                  <a:cubicBezTo>
                    <a:pt x="712" y="16"/>
                    <a:pt x="408" y="8"/>
                    <a:pt x="104" y="0"/>
                  </a:cubicBezTo>
                </a:path>
              </a:pathLst>
            </a:custGeom>
            <a:noFill/>
            <a:ln w="9525">
              <a:solidFill>
                <a:srgbClr val="FF006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Footer Placeholder 1">
            <a:extLst>
              <a:ext uri="{FF2B5EF4-FFF2-40B4-BE49-F238E27FC236}">
                <a16:creationId xmlns:a16="http://schemas.microsoft.com/office/drawing/2014/main" id="{811EA1BD-5289-43D5-930B-C00E72AF32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90114" name="Slide Number Placeholder 2">
            <a:extLst>
              <a:ext uri="{FF2B5EF4-FFF2-40B4-BE49-F238E27FC236}">
                <a16:creationId xmlns:a16="http://schemas.microsoft.com/office/drawing/2014/main" id="{A9ABBD0C-2BD9-49DE-9286-EE3090A65B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0B89EA6-6F0F-4EA8-AF8F-8B37F9CB99E6}" type="slidenum">
              <a:rPr lang="en-US" altLang="it-IT"/>
              <a:pPr/>
              <a:t>39</a:t>
            </a:fld>
            <a:endParaRPr lang="en-US" altLang="it-IT"/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111100A4-9FA5-4913-9929-55541197C01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300000"/>
              </a:spcBef>
            </a:pPr>
            <a:r>
              <a:rPr lang="en-US" altLang="it-IT"/>
              <a:t>LR(</a:t>
            </a:r>
            <a:r>
              <a:rPr lang="en-US" altLang="it-IT" i="1"/>
              <a:t>k</a:t>
            </a:r>
            <a:r>
              <a:rPr lang="en-US" altLang="it-IT" sz="900" i="1"/>
              <a:t> </a:t>
            </a:r>
            <a:r>
              <a:rPr lang="en-US" altLang="it-IT"/>
              <a:t>) versus LL(</a:t>
            </a:r>
            <a:r>
              <a:rPr lang="en-US" altLang="it-IT" i="1"/>
              <a:t>k</a:t>
            </a:r>
            <a:r>
              <a:rPr lang="en-US" altLang="it-IT" sz="900" i="1"/>
              <a:t> </a:t>
            </a:r>
            <a:r>
              <a:rPr lang="en-US" altLang="it-IT"/>
              <a:t>)</a:t>
            </a:r>
          </a:p>
        </p:txBody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1E6DCA09-45AB-4389-8F3B-81D85FC42B2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  <a:buFont typeface="Times" panose="02020603050405020304" pitchFamily="18" charset="0"/>
              <a:buNone/>
            </a:pPr>
            <a:r>
              <a:rPr lang="en-US" altLang="it-IT"/>
              <a:t>Finding Reductions</a:t>
            </a:r>
            <a:endParaRPr lang="en-US" altLang="it-IT" sz="1800"/>
          </a:p>
          <a:p>
            <a:pPr eaLnBrk="1" hangingPunct="1">
              <a:spcBef>
                <a:spcPct val="50000"/>
              </a:spcBef>
              <a:buFont typeface="Times" panose="02020603050405020304" pitchFamily="18" charset="0"/>
              <a:buNone/>
            </a:pPr>
            <a:r>
              <a:rPr lang="en-US" altLang="it-IT" sz="1800"/>
              <a:t>LR(</a:t>
            </a:r>
            <a:r>
              <a:rPr lang="en-US" altLang="it-IT" sz="1800" i="1"/>
              <a:t>k</a:t>
            </a:r>
            <a:r>
              <a:rPr lang="en-US" altLang="it-IT" sz="1800"/>
              <a:t>) </a:t>
            </a:r>
            <a:r>
              <a:rPr lang="en-US" altLang="it-IT" sz="1800">
                <a:sym typeface="Symbol" panose="05050102010706020507" pitchFamily="18" charset="2"/>
              </a:rPr>
              <a:t> Each reduction in the parse is detectable with </a:t>
            </a:r>
          </a:p>
          <a:p>
            <a:pPr eaLnBrk="1" hangingPunct="1">
              <a:spcBef>
                <a:spcPct val="25000"/>
              </a:spcBef>
              <a:buSzPct val="90000"/>
              <a:buFont typeface="Symbol" panose="05050102010706020507" pitchFamily="18" charset="2"/>
              <a:buChar char=""/>
            </a:pPr>
            <a:r>
              <a:rPr lang="en-US" altLang="it-IT" sz="1800"/>
              <a:t>the complete left context,</a:t>
            </a:r>
          </a:p>
          <a:p>
            <a:pPr eaLnBrk="1" hangingPunct="1">
              <a:spcBef>
                <a:spcPct val="25000"/>
              </a:spcBef>
              <a:buSzPct val="90000"/>
              <a:buFont typeface="Symbol" panose="05050102010706020507" pitchFamily="18" charset="2"/>
              <a:buChar char=""/>
            </a:pPr>
            <a:r>
              <a:rPr lang="en-US" altLang="it-IT" sz="1800"/>
              <a:t>the reducible phrase, itself, and</a:t>
            </a:r>
          </a:p>
          <a:p>
            <a:pPr eaLnBrk="1" hangingPunct="1">
              <a:spcBef>
                <a:spcPct val="25000"/>
              </a:spcBef>
              <a:buSzPct val="90000"/>
              <a:buFont typeface="Symbol" panose="05050102010706020507" pitchFamily="18" charset="2"/>
              <a:buChar char=""/>
            </a:pPr>
            <a:r>
              <a:rPr lang="en-US" altLang="it-IT" sz="1800"/>
              <a:t>the </a:t>
            </a:r>
            <a:r>
              <a:rPr lang="en-US" altLang="it-IT" sz="1800" i="1"/>
              <a:t>k</a:t>
            </a:r>
            <a:r>
              <a:rPr lang="en-US" altLang="it-IT" sz="1800"/>
              <a:t> terminal symbols to its right</a:t>
            </a:r>
          </a:p>
          <a:p>
            <a:pPr eaLnBrk="1" hangingPunct="1">
              <a:spcBef>
                <a:spcPct val="75000"/>
              </a:spcBef>
              <a:buSzPct val="90000"/>
              <a:buFont typeface="Symbol" panose="05050102010706020507" pitchFamily="18" charset="2"/>
              <a:buNone/>
            </a:pPr>
            <a:r>
              <a:rPr lang="en-US" altLang="it-IT" sz="1800"/>
              <a:t>LL(</a:t>
            </a:r>
            <a:r>
              <a:rPr lang="en-US" altLang="it-IT" sz="1800" i="1"/>
              <a:t>k</a:t>
            </a:r>
            <a:r>
              <a:rPr lang="en-US" altLang="it-IT" sz="1800"/>
              <a:t>) </a:t>
            </a:r>
            <a:r>
              <a:rPr lang="en-US" altLang="it-IT" sz="1800">
                <a:sym typeface="Symbol" panose="05050102010706020507" pitchFamily="18" charset="2"/>
              </a:rPr>
              <a:t> Parser must select the reduction based on</a:t>
            </a:r>
          </a:p>
          <a:p>
            <a:pPr eaLnBrk="1" hangingPunct="1">
              <a:spcBef>
                <a:spcPct val="25000"/>
              </a:spcBef>
              <a:buSzPct val="90000"/>
              <a:buFont typeface="Symbol" panose="05050102010706020507" pitchFamily="18" charset="2"/>
              <a:buChar char=""/>
            </a:pPr>
            <a:r>
              <a:rPr lang="en-US" altLang="it-IT" sz="1800">
                <a:sym typeface="Symbol" panose="05050102010706020507" pitchFamily="18" charset="2"/>
              </a:rPr>
              <a:t>The complete left context</a:t>
            </a:r>
          </a:p>
          <a:p>
            <a:pPr eaLnBrk="1" hangingPunct="1">
              <a:spcBef>
                <a:spcPct val="25000"/>
              </a:spcBef>
              <a:buSzPct val="90000"/>
              <a:buFont typeface="Symbol" panose="05050102010706020507" pitchFamily="18" charset="2"/>
              <a:buChar char=""/>
            </a:pPr>
            <a:r>
              <a:rPr lang="en-US" altLang="it-IT" sz="1800">
                <a:sym typeface="Symbol" panose="05050102010706020507" pitchFamily="18" charset="2"/>
              </a:rPr>
              <a:t>The next </a:t>
            </a:r>
            <a:r>
              <a:rPr lang="en-US" altLang="it-IT" sz="1800" i="1">
                <a:sym typeface="Symbol" panose="05050102010706020507" pitchFamily="18" charset="2"/>
              </a:rPr>
              <a:t>k</a:t>
            </a:r>
            <a:r>
              <a:rPr lang="en-US" altLang="it-IT" sz="1800">
                <a:sym typeface="Symbol" panose="05050102010706020507" pitchFamily="18" charset="2"/>
              </a:rPr>
              <a:t> terminals</a:t>
            </a:r>
          </a:p>
          <a:p>
            <a:pPr eaLnBrk="1" hangingPunct="1">
              <a:spcBef>
                <a:spcPct val="50000"/>
              </a:spcBef>
              <a:buSzPct val="90000"/>
              <a:buFont typeface="Symbol" panose="05050102010706020507" pitchFamily="18" charset="2"/>
              <a:buNone/>
            </a:pPr>
            <a:r>
              <a:rPr lang="en-US" altLang="it-IT" sz="1800">
                <a:sym typeface="Symbol" panose="05050102010706020507" pitchFamily="18" charset="2"/>
              </a:rPr>
              <a:t>Thus, LR(</a:t>
            </a:r>
            <a:r>
              <a:rPr lang="en-US" altLang="it-IT" sz="1800" i="1">
                <a:sym typeface="Symbol" panose="05050102010706020507" pitchFamily="18" charset="2"/>
              </a:rPr>
              <a:t>k</a:t>
            </a:r>
            <a:r>
              <a:rPr lang="en-US" altLang="it-IT" sz="1800">
                <a:sym typeface="Symbol" panose="05050102010706020507" pitchFamily="18" charset="2"/>
              </a:rPr>
              <a:t>) examines more context </a:t>
            </a:r>
          </a:p>
          <a:p>
            <a:pPr eaLnBrk="1" hangingPunct="1">
              <a:spcBef>
                <a:spcPct val="75000"/>
              </a:spcBef>
              <a:buSzPct val="90000"/>
              <a:buFont typeface="Symbol" panose="05050102010706020507" pitchFamily="18" charset="2"/>
              <a:buNone/>
            </a:pPr>
            <a:r>
              <a:rPr lang="en-US" altLang="it-IT" sz="1800">
                <a:sym typeface="Symbol" panose="05050102010706020507" pitchFamily="18" charset="2"/>
              </a:rPr>
              <a:t>“</a:t>
            </a:r>
            <a:r>
              <a:rPr lang="en-US" altLang="it-IT" sz="1800" i="1">
                <a:sym typeface="Symbol" panose="05050102010706020507" pitchFamily="18" charset="2"/>
              </a:rPr>
              <a:t>… in practice, programming languages do not actually seem to fall in the gap between LL(1) languages and deterministic languages”   </a:t>
            </a:r>
            <a:r>
              <a:rPr lang="en-US" altLang="it-IT" sz="1600" i="1">
                <a:sym typeface="Symbol" panose="05050102010706020507" pitchFamily="18" charset="2"/>
              </a:rPr>
              <a:t>    J.J. Horning, “LR Grammars and Analysers”, in Compiler Construction, An Advanced Course, Springer-Verlag, 1976</a:t>
            </a:r>
            <a:r>
              <a:rPr lang="en-US" altLang="it-IT" sz="1800" i="1">
                <a:sym typeface="Symbol" panose="05050102010706020507" pitchFamily="18" charset="2"/>
              </a:rPr>
              <a:t> </a:t>
            </a:r>
            <a:endParaRPr lang="en-US" altLang="it-IT" sz="1800">
              <a:sym typeface="Symbol" panose="05050102010706020507" pitchFamily="18" charset="2"/>
            </a:endParaRPr>
          </a:p>
        </p:txBody>
      </p:sp>
      <p:grpSp>
        <p:nvGrpSpPr>
          <p:cNvPr id="90117" name="Group 10">
            <a:extLst>
              <a:ext uri="{FF2B5EF4-FFF2-40B4-BE49-F238E27FC236}">
                <a16:creationId xmlns:a16="http://schemas.microsoft.com/office/drawing/2014/main" id="{6796A357-1E5E-4A6C-8B25-967DE48D49C3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1752600"/>
            <a:ext cx="7239000" cy="1447800"/>
            <a:chOff x="816" y="1104"/>
            <a:chExt cx="4560" cy="912"/>
          </a:xfrm>
        </p:grpSpPr>
        <p:sp>
          <p:nvSpPr>
            <p:cNvPr id="90118" name="Text Box 6">
              <a:extLst>
                <a:ext uri="{FF2B5EF4-FFF2-40B4-BE49-F238E27FC236}">
                  <a16:creationId xmlns:a16="http://schemas.microsoft.com/office/drawing/2014/main" id="{92CBAD72-E241-43C5-9479-FA2F729D1A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1360"/>
              <a:ext cx="1344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600">
                  <a:solidFill>
                    <a:srgbClr val="B025A6"/>
                  </a:solidFill>
                </a:rPr>
                <a:t>generalizations of LR(1) and LL(1) to longer lookaheads</a:t>
              </a:r>
            </a:p>
          </p:txBody>
        </p:sp>
        <p:sp>
          <p:nvSpPr>
            <p:cNvPr id="90119" name="Line 7">
              <a:extLst>
                <a:ext uri="{FF2B5EF4-FFF2-40B4-BE49-F238E27FC236}">
                  <a16:creationId xmlns:a16="http://schemas.microsoft.com/office/drawing/2014/main" id="{F129CC4A-0E70-4A91-BD7A-71E4EE62EA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1368"/>
              <a:ext cx="0" cy="576"/>
            </a:xfrm>
            <a:prstGeom prst="line">
              <a:avLst/>
            </a:prstGeom>
            <a:noFill/>
            <a:ln w="28575">
              <a:solidFill>
                <a:srgbClr val="B025A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90120" name="Freeform 8">
              <a:extLst>
                <a:ext uri="{FF2B5EF4-FFF2-40B4-BE49-F238E27FC236}">
                  <a16:creationId xmlns:a16="http://schemas.microsoft.com/office/drawing/2014/main" id="{195CB4BB-CF5A-4588-B400-F095E1E08BD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104"/>
              <a:ext cx="3216" cy="432"/>
            </a:xfrm>
            <a:custGeom>
              <a:avLst/>
              <a:gdLst>
                <a:gd name="T0" fmla="*/ 0 w 3216"/>
                <a:gd name="T1" fmla="*/ 0 h 432"/>
                <a:gd name="T2" fmla="*/ 240 w 3216"/>
                <a:gd name="T3" fmla="*/ 96 h 432"/>
                <a:gd name="T4" fmla="*/ 768 w 3216"/>
                <a:gd name="T5" fmla="*/ 96 h 432"/>
                <a:gd name="T6" fmla="*/ 1776 w 3216"/>
                <a:gd name="T7" fmla="*/ 144 h 432"/>
                <a:gd name="T8" fmla="*/ 3216 w 3216"/>
                <a:gd name="T9" fmla="*/ 432 h 4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16"/>
                <a:gd name="T16" fmla="*/ 0 h 432"/>
                <a:gd name="T17" fmla="*/ 3216 w 3216"/>
                <a:gd name="T18" fmla="*/ 432 h 4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16" h="432">
                  <a:moveTo>
                    <a:pt x="0" y="0"/>
                  </a:moveTo>
                  <a:cubicBezTo>
                    <a:pt x="56" y="40"/>
                    <a:pt x="112" y="80"/>
                    <a:pt x="240" y="96"/>
                  </a:cubicBezTo>
                  <a:cubicBezTo>
                    <a:pt x="368" y="112"/>
                    <a:pt x="512" y="88"/>
                    <a:pt x="768" y="96"/>
                  </a:cubicBezTo>
                  <a:cubicBezTo>
                    <a:pt x="1024" y="104"/>
                    <a:pt x="1368" y="88"/>
                    <a:pt x="1776" y="144"/>
                  </a:cubicBezTo>
                  <a:cubicBezTo>
                    <a:pt x="2184" y="200"/>
                    <a:pt x="2700" y="316"/>
                    <a:pt x="3216" y="432"/>
                  </a:cubicBezTo>
                </a:path>
              </a:pathLst>
            </a:custGeom>
            <a:noFill/>
            <a:ln w="9525">
              <a:solidFill>
                <a:srgbClr val="B025A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90121" name="Freeform 9">
              <a:extLst>
                <a:ext uri="{FF2B5EF4-FFF2-40B4-BE49-F238E27FC236}">
                  <a16:creationId xmlns:a16="http://schemas.microsoft.com/office/drawing/2014/main" id="{84423E92-9275-4905-BD19-3EA09941C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584"/>
              <a:ext cx="3216" cy="432"/>
            </a:xfrm>
            <a:custGeom>
              <a:avLst/>
              <a:gdLst>
                <a:gd name="T0" fmla="*/ 0 w 3216"/>
                <a:gd name="T1" fmla="*/ 432 h 432"/>
                <a:gd name="T2" fmla="*/ 240 w 3216"/>
                <a:gd name="T3" fmla="*/ 384 h 432"/>
                <a:gd name="T4" fmla="*/ 1200 w 3216"/>
                <a:gd name="T5" fmla="*/ 336 h 432"/>
                <a:gd name="T6" fmla="*/ 2400 w 3216"/>
                <a:gd name="T7" fmla="*/ 336 h 432"/>
                <a:gd name="T8" fmla="*/ 3216 w 3216"/>
                <a:gd name="T9" fmla="*/ 0 h 4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16"/>
                <a:gd name="T16" fmla="*/ 0 h 432"/>
                <a:gd name="T17" fmla="*/ 3216 w 3216"/>
                <a:gd name="T18" fmla="*/ 432 h 4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16" h="432">
                  <a:moveTo>
                    <a:pt x="0" y="432"/>
                  </a:moveTo>
                  <a:cubicBezTo>
                    <a:pt x="20" y="416"/>
                    <a:pt x="40" y="400"/>
                    <a:pt x="240" y="384"/>
                  </a:cubicBezTo>
                  <a:cubicBezTo>
                    <a:pt x="440" y="368"/>
                    <a:pt x="840" y="344"/>
                    <a:pt x="1200" y="336"/>
                  </a:cubicBezTo>
                  <a:cubicBezTo>
                    <a:pt x="1560" y="328"/>
                    <a:pt x="2064" y="392"/>
                    <a:pt x="2400" y="336"/>
                  </a:cubicBezTo>
                  <a:cubicBezTo>
                    <a:pt x="2736" y="280"/>
                    <a:pt x="2976" y="140"/>
                    <a:pt x="3216" y="0"/>
                  </a:cubicBezTo>
                </a:path>
              </a:pathLst>
            </a:custGeom>
            <a:noFill/>
            <a:ln w="9525">
              <a:solidFill>
                <a:srgbClr val="B025A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</p:spTree>
  </p:cSld>
  <p:clrMapOvr>
    <a:masterClrMapping/>
  </p:clrMapOvr>
  <p:transition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Footer Placeholder 1">
            <a:extLst>
              <a:ext uri="{FF2B5EF4-FFF2-40B4-BE49-F238E27FC236}">
                <a16:creationId xmlns:a16="http://schemas.microsoft.com/office/drawing/2014/main" id="{60F3A277-319D-4772-A255-13C5C4EB3B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92162" name="Slide Number Placeholder 2">
            <a:extLst>
              <a:ext uri="{FF2B5EF4-FFF2-40B4-BE49-F238E27FC236}">
                <a16:creationId xmlns:a16="http://schemas.microsoft.com/office/drawing/2014/main" id="{7548DFF8-CA8E-4DF0-B3B0-60BC0A2903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3BE38EF-106A-4B07-9DFD-688FF532704B}" type="slidenum">
              <a:rPr lang="en-US" altLang="it-IT"/>
              <a:pPr/>
              <a:t>40</a:t>
            </a:fld>
            <a:endParaRPr lang="en-US" altLang="it-IT"/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03CD9A9C-57C8-45B0-A163-758A84197B0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>
                <a:sym typeface="Symbol" panose="05050102010706020507" pitchFamily="18" charset="2"/>
              </a:rPr>
              <a:t>Summary</a:t>
            </a:r>
          </a:p>
        </p:txBody>
      </p:sp>
      <p:grpSp>
        <p:nvGrpSpPr>
          <p:cNvPr id="92164" name="Group 12">
            <a:extLst>
              <a:ext uri="{FF2B5EF4-FFF2-40B4-BE49-F238E27FC236}">
                <a16:creationId xmlns:a16="http://schemas.microsoft.com/office/drawing/2014/main" id="{C3B54847-672F-4514-8667-58AADB118998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1447800"/>
            <a:ext cx="6477000" cy="3810000"/>
            <a:chOff x="672" y="912"/>
            <a:chExt cx="4080" cy="2400"/>
          </a:xfrm>
        </p:grpSpPr>
        <p:sp>
          <p:nvSpPr>
            <p:cNvPr id="92165" name="Text Box 4">
              <a:extLst>
                <a:ext uri="{FF2B5EF4-FFF2-40B4-BE49-F238E27FC236}">
                  <a16:creationId xmlns:a16="http://schemas.microsoft.com/office/drawing/2014/main" id="{1D2E69B9-2685-47EC-8775-206F60EF09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960"/>
              <a:ext cx="1488" cy="21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i="1"/>
                <a:t>Advantages</a:t>
              </a:r>
              <a:endParaRPr lang="en-US" altLang="it-IT" sz="1600" i="1"/>
            </a:p>
            <a:p>
              <a:pPr>
                <a:spcBef>
                  <a:spcPct val="75000"/>
                </a:spcBef>
              </a:pPr>
              <a:r>
                <a:rPr lang="en-US" altLang="it-IT" sz="1600"/>
                <a:t>Fast</a:t>
              </a:r>
              <a:endParaRPr lang="en-US" altLang="it-IT" sz="1600" i="1"/>
            </a:p>
            <a:p>
              <a:pPr>
                <a:spcBef>
                  <a:spcPct val="30000"/>
                </a:spcBef>
              </a:pPr>
              <a:r>
                <a:rPr lang="en-US" altLang="it-IT" sz="1600"/>
                <a:t>Good locality</a:t>
              </a:r>
            </a:p>
            <a:p>
              <a:pPr>
                <a:spcBef>
                  <a:spcPct val="30000"/>
                </a:spcBef>
              </a:pPr>
              <a:r>
                <a:rPr lang="en-US" altLang="it-IT" sz="1600"/>
                <a:t>Simplicity</a:t>
              </a:r>
            </a:p>
            <a:p>
              <a:pPr>
                <a:spcBef>
                  <a:spcPct val="30000"/>
                </a:spcBef>
              </a:pPr>
              <a:r>
                <a:rPr lang="en-US" altLang="it-IT" sz="1600"/>
                <a:t>Good error detection</a:t>
              </a:r>
            </a:p>
            <a:p>
              <a:pPr>
                <a:spcBef>
                  <a:spcPct val="30000"/>
                </a:spcBef>
              </a:pPr>
              <a:endParaRPr lang="en-US" altLang="it-IT" sz="1600"/>
            </a:p>
            <a:p>
              <a:pPr>
                <a:spcBef>
                  <a:spcPct val="30000"/>
                </a:spcBef>
              </a:pPr>
              <a:r>
                <a:rPr lang="en-US" altLang="it-IT" sz="1600"/>
                <a:t>Fast </a:t>
              </a:r>
            </a:p>
            <a:p>
              <a:pPr>
                <a:spcBef>
                  <a:spcPct val="30000"/>
                </a:spcBef>
              </a:pPr>
              <a:r>
                <a:rPr lang="en-US" altLang="it-IT" sz="1600"/>
                <a:t>Deterministic langs.</a:t>
              </a:r>
            </a:p>
            <a:p>
              <a:pPr>
                <a:spcBef>
                  <a:spcPct val="30000"/>
                </a:spcBef>
              </a:pPr>
              <a:r>
                <a:rPr lang="en-US" altLang="it-IT" sz="1600"/>
                <a:t>Automatable</a:t>
              </a:r>
            </a:p>
            <a:p>
              <a:pPr>
                <a:spcBef>
                  <a:spcPct val="30000"/>
                </a:spcBef>
              </a:pPr>
              <a:r>
                <a:rPr lang="en-US" altLang="it-IT" sz="1600"/>
                <a:t>Left associativity</a:t>
              </a:r>
            </a:p>
          </p:txBody>
        </p:sp>
        <p:sp>
          <p:nvSpPr>
            <p:cNvPr id="92166" name="Text Box 5">
              <a:extLst>
                <a:ext uri="{FF2B5EF4-FFF2-40B4-BE49-F238E27FC236}">
                  <a16:creationId xmlns:a16="http://schemas.microsoft.com/office/drawing/2014/main" id="{116D5281-C280-497F-83F6-8D95427319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960"/>
              <a:ext cx="1488" cy="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i="1"/>
                <a:t>Disadvantages</a:t>
              </a:r>
              <a:endParaRPr lang="en-US" altLang="it-IT" sz="1600" i="1"/>
            </a:p>
            <a:p>
              <a:pPr>
                <a:spcBef>
                  <a:spcPct val="105000"/>
                </a:spcBef>
              </a:pPr>
              <a:r>
                <a:rPr lang="en-US" altLang="it-IT" sz="1600"/>
                <a:t>Hand-coded</a:t>
              </a:r>
            </a:p>
            <a:p>
              <a:pPr>
                <a:spcBef>
                  <a:spcPct val="30000"/>
                </a:spcBef>
              </a:pPr>
              <a:r>
                <a:rPr lang="en-US" altLang="it-IT" sz="1600"/>
                <a:t>High maintenance</a:t>
              </a:r>
            </a:p>
            <a:p>
              <a:pPr>
                <a:spcBef>
                  <a:spcPct val="30000"/>
                </a:spcBef>
              </a:pPr>
              <a:r>
                <a:rPr lang="en-US" altLang="it-IT" sz="1600"/>
                <a:t>Right associativity</a:t>
              </a:r>
            </a:p>
            <a:p>
              <a:endParaRPr lang="en-US" altLang="it-IT" sz="1600"/>
            </a:p>
            <a:p>
              <a:endParaRPr lang="en-US" altLang="it-IT" sz="1600"/>
            </a:p>
            <a:p>
              <a:endParaRPr lang="en-US" altLang="it-IT" sz="1600"/>
            </a:p>
            <a:p>
              <a:r>
                <a:rPr lang="en-US" altLang="it-IT" sz="1600"/>
                <a:t>Large working sets</a:t>
              </a:r>
            </a:p>
            <a:p>
              <a:pPr>
                <a:spcBef>
                  <a:spcPct val="30000"/>
                </a:spcBef>
              </a:pPr>
              <a:r>
                <a:rPr lang="en-US" altLang="it-IT" sz="1600"/>
                <a:t>Poor error messages</a:t>
              </a:r>
            </a:p>
            <a:p>
              <a:pPr>
                <a:spcBef>
                  <a:spcPct val="30000"/>
                </a:spcBef>
              </a:pPr>
              <a:r>
                <a:rPr lang="en-US" altLang="it-IT" sz="1600"/>
                <a:t>Large table sizes</a:t>
              </a:r>
            </a:p>
          </p:txBody>
        </p:sp>
        <p:sp>
          <p:nvSpPr>
            <p:cNvPr id="92167" name="Text Box 6">
              <a:extLst>
                <a:ext uri="{FF2B5EF4-FFF2-40B4-BE49-F238E27FC236}">
                  <a16:creationId xmlns:a16="http://schemas.microsoft.com/office/drawing/2014/main" id="{15E8AFEE-FA25-4C8F-81DF-BAB2D24098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1322"/>
              <a:ext cx="912" cy="6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35000"/>
                </a:spcBef>
              </a:pPr>
              <a:r>
                <a:rPr lang="en-US" altLang="it-IT" i="1"/>
                <a:t>Top-down</a:t>
              </a:r>
            </a:p>
            <a:p>
              <a:pPr algn="ctr">
                <a:spcBef>
                  <a:spcPct val="35000"/>
                </a:spcBef>
              </a:pPr>
              <a:r>
                <a:rPr lang="en-US" altLang="it-IT" i="1"/>
                <a:t>recursive</a:t>
              </a:r>
            </a:p>
            <a:p>
              <a:pPr algn="ctr">
                <a:spcBef>
                  <a:spcPct val="35000"/>
                </a:spcBef>
              </a:pPr>
              <a:r>
                <a:rPr lang="en-US" altLang="it-IT" i="1"/>
                <a:t>descent</a:t>
              </a:r>
            </a:p>
          </p:txBody>
        </p:sp>
        <p:sp>
          <p:nvSpPr>
            <p:cNvPr id="92168" name="Text Box 7">
              <a:extLst>
                <a:ext uri="{FF2B5EF4-FFF2-40B4-BE49-F238E27FC236}">
                  <a16:creationId xmlns:a16="http://schemas.microsoft.com/office/drawing/2014/main" id="{94D74156-14C6-4E50-B9A6-6B1536D480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688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i="1"/>
                <a:t>LR(1)</a:t>
              </a:r>
            </a:p>
          </p:txBody>
        </p:sp>
        <p:sp>
          <p:nvSpPr>
            <p:cNvPr id="92169" name="Line 8">
              <a:extLst>
                <a:ext uri="{FF2B5EF4-FFF2-40B4-BE49-F238E27FC236}">
                  <a16:creationId xmlns:a16="http://schemas.microsoft.com/office/drawing/2014/main" id="{BB72F35A-3C68-4260-8F03-59D47B6BF6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248"/>
              <a:ext cx="3984" cy="0"/>
            </a:xfrm>
            <a:prstGeom prst="line">
              <a:avLst/>
            </a:prstGeom>
            <a:noFill/>
            <a:ln w="38100">
              <a:solidFill>
                <a:srgbClr val="B025A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92170" name="Line 9">
              <a:extLst>
                <a:ext uri="{FF2B5EF4-FFF2-40B4-BE49-F238E27FC236}">
                  <a16:creationId xmlns:a16="http://schemas.microsoft.com/office/drawing/2014/main" id="{4AD962F9-682E-4F45-9342-3AFF56202C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208"/>
              <a:ext cx="3984" cy="0"/>
            </a:xfrm>
            <a:prstGeom prst="line">
              <a:avLst/>
            </a:prstGeom>
            <a:noFill/>
            <a:ln w="38100">
              <a:solidFill>
                <a:srgbClr val="B025A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92171" name="Line 10">
              <a:extLst>
                <a:ext uri="{FF2B5EF4-FFF2-40B4-BE49-F238E27FC236}">
                  <a16:creationId xmlns:a16="http://schemas.microsoft.com/office/drawing/2014/main" id="{499695D0-3BC0-424B-A3C4-273BD6385A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912"/>
              <a:ext cx="0" cy="2400"/>
            </a:xfrm>
            <a:prstGeom prst="line">
              <a:avLst/>
            </a:prstGeom>
            <a:noFill/>
            <a:ln w="38100">
              <a:solidFill>
                <a:srgbClr val="B025A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92172" name="Line 11">
              <a:extLst>
                <a:ext uri="{FF2B5EF4-FFF2-40B4-BE49-F238E27FC236}">
                  <a16:creationId xmlns:a16="http://schemas.microsoft.com/office/drawing/2014/main" id="{E6A235DE-6110-4DD7-917A-72386168A6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912"/>
              <a:ext cx="0" cy="2400"/>
            </a:xfrm>
            <a:prstGeom prst="line">
              <a:avLst/>
            </a:prstGeom>
            <a:noFill/>
            <a:ln w="38100">
              <a:solidFill>
                <a:srgbClr val="B025A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</p:spTree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Comic Sans MS"/>
        <a:ea typeface="ヒラギノ角ゴ Pro W3"/>
        <a:cs typeface="ヒラギノ角ゴ Pro W3"/>
      </a:majorFont>
      <a:minorFont>
        <a:latin typeface="Comic Sans MS"/>
        <a:ea typeface="ヒラギノ角ゴ Pro W3"/>
        <a:cs typeface="ヒラギノ角ゴ Pro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ヒラギノ角ゴ Pro W3" charset="-128"/>
            <a:cs typeface="ヒラギノ角ゴ Pro W3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ヒラギノ角ゴ Pro W3" charset="-128"/>
            <a:cs typeface="ヒラギノ角ゴ Pro W3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1202</TotalTime>
  <Words>3707</Words>
  <Application>Microsoft Office PowerPoint</Application>
  <PresentationFormat>Presentazione su schermo (4:3)</PresentationFormat>
  <Paragraphs>1358</Paragraphs>
  <Slides>41</Slides>
  <Notes>36</Notes>
  <HiddenSlides>1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41</vt:i4>
      </vt:variant>
    </vt:vector>
  </HeadingPairs>
  <TitlesOfParts>
    <vt:vector size="42" baseType="lpstr">
      <vt:lpstr>Blank Presentation</vt:lpstr>
      <vt:lpstr>LR(1) Parsers  Comp 412</vt:lpstr>
      <vt:lpstr>LR Parsers — A Roadmap</vt:lpstr>
      <vt:lpstr>Handles </vt:lpstr>
      <vt:lpstr>Handles </vt:lpstr>
      <vt:lpstr>Handles </vt:lpstr>
      <vt:lpstr>From Handles to Parsers</vt:lpstr>
      <vt:lpstr>Bottom-up Parser</vt:lpstr>
      <vt:lpstr>Actual LR(1) Skeleton Parser</vt:lpstr>
      <vt:lpstr>The Parentheses Language</vt:lpstr>
      <vt:lpstr>The Parentheses Language</vt:lpstr>
      <vt:lpstr>The Parentheses Language</vt:lpstr>
      <vt:lpstr>The Parentheses Language</vt:lpstr>
      <vt:lpstr>The Parentheses Language</vt:lpstr>
      <vt:lpstr>The Parentheses Language</vt:lpstr>
      <vt:lpstr>The Parentheses Language </vt:lpstr>
      <vt:lpstr>LR(1) Parsers</vt:lpstr>
      <vt:lpstr>LR(1) Parsers</vt:lpstr>
      <vt:lpstr>Building LR(1) Tables</vt:lpstr>
      <vt:lpstr>LR(k) Items</vt:lpstr>
      <vt:lpstr>LR(1) Items</vt:lpstr>
      <vt:lpstr>LR(1) Table Construction</vt:lpstr>
      <vt:lpstr>Computing Closures</vt:lpstr>
      <vt:lpstr>Example From SheepNoise</vt:lpstr>
      <vt:lpstr>Computing Gotos</vt:lpstr>
      <vt:lpstr>Example from SheepNoise</vt:lpstr>
      <vt:lpstr>Example from SheepNoise</vt:lpstr>
      <vt:lpstr>Building the Canonical Collection</vt:lpstr>
      <vt:lpstr>Example from SheepNoise</vt:lpstr>
      <vt:lpstr>Example from SheepNoise</vt:lpstr>
      <vt:lpstr>Filling in the ACTION and GOTO Tables</vt:lpstr>
      <vt:lpstr>Example from SheepNoise</vt:lpstr>
      <vt:lpstr>Example from SheepNoise</vt:lpstr>
      <vt:lpstr>Example from SheepNoise</vt:lpstr>
      <vt:lpstr>Example from SheepNoise</vt:lpstr>
      <vt:lpstr>Example from SheepNoise</vt:lpstr>
      <vt:lpstr>Example from SheepNoise</vt:lpstr>
      <vt:lpstr>ACTION &amp; GOTO Tables </vt:lpstr>
      <vt:lpstr>What can go wrong?</vt:lpstr>
      <vt:lpstr>Shrinking the Tables</vt:lpstr>
      <vt:lpstr>LR(k ) versus LL(k )</vt:lpstr>
      <vt:lpstr>Summary</vt:lpstr>
    </vt:vector>
  </TitlesOfParts>
  <Company>Rice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Keith Cooper</dc:creator>
  <cp:lastModifiedBy>Elsevier</cp:lastModifiedBy>
  <cp:revision>36</cp:revision>
  <cp:lastPrinted>2010-09-24T13:29:04Z</cp:lastPrinted>
  <dcterms:created xsi:type="dcterms:W3CDTF">2010-09-24T17:23:24Z</dcterms:created>
  <dcterms:modified xsi:type="dcterms:W3CDTF">2020-10-19T08:07:29Z</dcterms:modified>
</cp:coreProperties>
</file>