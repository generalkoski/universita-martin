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trictFirstAndLastChars="0" saveSubsetFonts="1" autoCompressPictures="0">
  <p:sldMasterIdLst>
    <p:sldMasterId id="2147483648" r:id="rId1"/>
  </p:sldMasterIdLst>
  <p:notesMasterIdLst>
    <p:notesMasterId r:id="rId22"/>
  </p:notesMasterIdLst>
  <p:handoutMasterIdLst>
    <p:handoutMasterId r:id="rId23"/>
  </p:handoutMasterIdLst>
  <p:sldIdLst>
    <p:sldId id="256" r:id="rId2"/>
    <p:sldId id="290" r:id="rId3"/>
    <p:sldId id="303" r:id="rId4"/>
    <p:sldId id="304" r:id="rId5"/>
    <p:sldId id="305" r:id="rId6"/>
    <p:sldId id="306" r:id="rId7"/>
    <p:sldId id="307" r:id="rId8"/>
    <p:sldId id="308" r:id="rId9"/>
    <p:sldId id="291" r:id="rId10"/>
    <p:sldId id="292" r:id="rId11"/>
    <p:sldId id="298" r:id="rId12"/>
    <p:sldId id="299" r:id="rId13"/>
    <p:sldId id="302" r:id="rId14"/>
    <p:sldId id="309" r:id="rId15"/>
    <p:sldId id="293" r:id="rId16"/>
    <p:sldId id="294" r:id="rId17"/>
    <p:sldId id="311" r:id="rId18"/>
    <p:sldId id="295" r:id="rId19"/>
    <p:sldId id="296" r:id="rId20"/>
    <p:sldId id="297" r:id="rId21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ヒラギノ角ゴ Pro W3"/>
        <a:cs typeface="ヒラギノ角ゴ Pro W3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ヒラギノ角ゴ Pro W3"/>
        <a:cs typeface="ヒラギノ角ゴ Pro W3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ヒラギノ角ゴ Pro W3"/>
        <a:cs typeface="ヒラギノ角ゴ Pro W3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ヒラギノ角ゴ Pro W3"/>
        <a:cs typeface="ヒラギノ角ゴ Pro W3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ヒラギノ角ゴ Pro W3"/>
        <a:cs typeface="ヒラギノ角ゴ Pro W3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ヒラギノ角ゴ Pro W3"/>
        <a:cs typeface="ヒラギノ角ゴ Pro W3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ヒラギノ角ゴ Pro W3"/>
        <a:cs typeface="ヒラギノ角ゴ Pro W3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ヒラギノ角ゴ Pro W3"/>
        <a:cs typeface="ヒラギノ角ゴ Pro W3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ヒラギノ角ゴ Pro W3"/>
        <a:cs typeface="ヒラギノ角ゴ Pro W3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hiddenSlides="1"/>
  <p:clrMru>
    <a:srgbClr val="E6E6E6"/>
    <a:srgbClr val="B025A6"/>
    <a:srgbClr val="FF0065"/>
    <a:srgbClr val="003C7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5872955-EAB4-8B39-33DF-1C4842612E64}" v="1" dt="2020-10-19T08:03:57.10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2" d="100"/>
          <a:sy n="102" d="100"/>
        </p:scale>
        <p:origin x="-150" y="-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nea ZAFFANELLA" userId="S::enea.zaffanella@unipr.it::e0834c8d-620f-46c1-8044-129dd5b73e66" providerId="AD" clId="Web-{B5872955-EAB4-8B39-33DF-1C4842612E64}"/>
    <pc:docChg chg="delSld">
      <pc:chgData name="Enea ZAFFANELLA" userId="S::enea.zaffanella@unipr.it::e0834c8d-620f-46c1-8044-129dd5b73e66" providerId="AD" clId="Web-{B5872955-EAB4-8B39-33DF-1C4842612E64}" dt="2020-10-19T08:03:57.105" v="0"/>
      <pc:docMkLst>
        <pc:docMk/>
      </pc:docMkLst>
      <pc:sldChg chg="del">
        <pc:chgData name="Enea ZAFFANELLA" userId="S::enea.zaffanella@unipr.it::e0834c8d-620f-46c1-8044-129dd5b73e66" providerId="AD" clId="Web-{B5872955-EAB4-8B39-33DF-1C4842612E64}" dt="2020-10-19T08:03:57.105" v="0"/>
        <pc:sldMkLst>
          <pc:docMk/>
          <pc:sldMk cId="0" sldId="300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DC125F5-4E8F-4E5A-846D-FE79EAFA795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0" hangingPunct="0">
              <a:defRPr sz="1200">
                <a:latin typeface="Comic Sans MS" charset="0"/>
                <a:ea typeface="ヒラギノ角ゴ Pro W3" charset="-128"/>
                <a:cs typeface="ヒラギノ角ゴ Pro W3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B5AACC-4F2C-41B7-BC80-8FA02C8EACA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0" hangingPunct="0">
              <a:defRPr sz="1200">
                <a:latin typeface="Comic Sans MS" charset="0"/>
                <a:ea typeface="ヒラギノ角ゴ Pro W3" charset="-128"/>
                <a:cs typeface="ヒラギノ角ゴ Pro W3" charset="-128"/>
              </a:defRPr>
            </a:lvl1pPr>
          </a:lstStyle>
          <a:p>
            <a:pPr>
              <a:defRPr/>
            </a:pPr>
            <a:fld id="{CD1A45B1-49D6-43C4-B053-3D87AAC14A7B}" type="datetime1">
              <a:rPr lang="en-US"/>
              <a:pPr>
                <a:defRPr/>
              </a:pPr>
              <a:t>10/19/2020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02E9AC-A7E1-448E-83BA-C808F661CDD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0" hangingPunct="0">
              <a:defRPr sz="1200">
                <a:latin typeface="Comic Sans MS" charset="0"/>
                <a:ea typeface="ヒラギノ角ゴ Pro W3" charset="-128"/>
                <a:cs typeface="ヒラギノ角ゴ Pro W3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AFAEF6-36B6-435C-ABFA-9A658ACE82A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fld id="{10A65B7E-0DAC-43BD-BA57-C2569815A4A5}" type="slidenum">
              <a:rPr lang="en-US" altLang="it-IT"/>
              <a:pPr/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AC81DD90-A765-42BE-ACA1-9836C6B1D90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Comic Sans MS" charset="0"/>
                <a:ea typeface="ヒラギノ角ゴ Pro W3" charset="-128"/>
                <a:cs typeface="ヒラギノ角ゴ Pro W3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17D8AC32-4088-4426-9121-37EA55738E44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Comic Sans MS" charset="0"/>
                <a:ea typeface="ヒラギノ角ゴ Pro W3" charset="-128"/>
                <a:cs typeface="ヒラギノ角ゴ Pro W3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16" name="Rectangle 4">
            <a:extLst>
              <a:ext uri="{FF2B5EF4-FFF2-40B4-BE49-F238E27FC236}">
                <a16:creationId xmlns:a16="http://schemas.microsoft.com/office/drawing/2014/main" id="{81745FED-F249-4C17-A72D-EB58EDF3F2A9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F87E59CE-5055-4A14-9462-69023252AAFD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ABA5D53A-F9F1-4E6C-9EAE-B1FBD8C6656F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Comic Sans MS" charset="0"/>
                <a:ea typeface="ヒラギノ角ゴ Pro W3" charset="-128"/>
                <a:cs typeface="ヒラギノ角ゴ Pro W3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981F72B4-7FDA-4F82-AB52-8F25C7870A6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fld id="{69426F61-6734-4E6F-BFCE-F2E76413DCE4}" type="slidenum">
              <a:rPr lang="en-US" altLang="it-IT"/>
              <a:pPr/>
              <a:t>‹N›</a:t>
            </a:fld>
            <a:endParaRPr lang="en-US" alt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ヒラギノ角ゴ Pro W3" charset="-128"/>
        <a:cs typeface="ヒラギノ角ゴ Pro W3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ヒラギノ角ゴ Pro W3" charset="-128"/>
        <a:cs typeface="ヒラギノ角ゴ Pro W3" charset="-128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ヒラギノ角ゴ Pro W3" charset="-128"/>
        <a:cs typeface="ヒラギノ角ゴ Pro W3" charset="-128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ヒラギノ角ゴ Pro W3" charset="-128"/>
        <a:cs typeface="ヒラギノ角ゴ Pro W3" charset="-128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ヒラギノ角ゴ Pro W3" charset="-128"/>
        <a:cs typeface="ヒラギノ角ゴ Pro W3" charset="-128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7">
            <a:extLst>
              <a:ext uri="{FF2B5EF4-FFF2-40B4-BE49-F238E27FC236}">
                <a16:creationId xmlns:a16="http://schemas.microsoft.com/office/drawing/2014/main" id="{E8C50595-2CF9-468E-AAF9-0EFF1CDE88B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57C9CBF1-8CC9-4BDE-8A4A-1F9D65B884CD}" type="slidenum">
              <a:rPr lang="en-US" altLang="it-IT"/>
              <a:pPr/>
              <a:t>0</a:t>
            </a:fld>
            <a:endParaRPr lang="en-US" altLang="it-IT"/>
          </a:p>
        </p:txBody>
      </p:sp>
      <p:sp>
        <p:nvSpPr>
          <p:cNvPr id="16386" name="Rectangle 2">
            <a:extLst>
              <a:ext uri="{FF2B5EF4-FFF2-40B4-BE49-F238E27FC236}">
                <a16:creationId xmlns:a16="http://schemas.microsoft.com/office/drawing/2014/main" id="{991220AA-4A25-4C81-8B2B-EE35F08A43B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19BFD7C8-2BEE-416D-B8EC-B0EC82C7987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7">
            <a:extLst>
              <a:ext uri="{FF2B5EF4-FFF2-40B4-BE49-F238E27FC236}">
                <a16:creationId xmlns:a16="http://schemas.microsoft.com/office/drawing/2014/main" id="{E9F7C591-505B-4226-BFD8-FA8D42A7EF2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E2CC2D53-2CBC-4A4B-AC82-029AF6FB6CCD}" type="slidenum">
              <a:rPr lang="en-US" altLang="it-IT"/>
              <a:pPr/>
              <a:t>1</a:t>
            </a:fld>
            <a:endParaRPr lang="en-US" altLang="it-IT"/>
          </a:p>
        </p:txBody>
      </p:sp>
      <p:sp>
        <p:nvSpPr>
          <p:cNvPr id="18434" name="Rectangle 2">
            <a:extLst>
              <a:ext uri="{FF2B5EF4-FFF2-40B4-BE49-F238E27FC236}">
                <a16:creationId xmlns:a16="http://schemas.microsoft.com/office/drawing/2014/main" id="{61ED2EEE-92AD-4766-8B8C-36556A111326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44FFE07D-13C6-4549-BFBC-ED85D34108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7">
            <a:extLst>
              <a:ext uri="{FF2B5EF4-FFF2-40B4-BE49-F238E27FC236}">
                <a16:creationId xmlns:a16="http://schemas.microsoft.com/office/drawing/2014/main" id="{983C9596-A68F-4014-B3A2-73186BDBBA5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A532B90C-5FFF-4BB4-932A-7E06B8FFE2ED}" type="slidenum">
              <a:rPr lang="en-US" altLang="it-IT"/>
              <a:pPr/>
              <a:t>6</a:t>
            </a:fld>
            <a:endParaRPr lang="en-US" altLang="it-IT"/>
          </a:p>
        </p:txBody>
      </p:sp>
      <p:sp>
        <p:nvSpPr>
          <p:cNvPr id="24578" name="Rectangle 2">
            <a:extLst>
              <a:ext uri="{FF2B5EF4-FFF2-40B4-BE49-F238E27FC236}">
                <a16:creationId xmlns:a16="http://schemas.microsoft.com/office/drawing/2014/main" id="{B5F13F49-DEB4-495E-9B53-322C9602E9CE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57AEDA46-FAF4-41CE-8272-D51258076DF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7">
            <a:extLst>
              <a:ext uri="{FF2B5EF4-FFF2-40B4-BE49-F238E27FC236}">
                <a16:creationId xmlns:a16="http://schemas.microsoft.com/office/drawing/2014/main" id="{FDB26B77-8F35-4F1B-831F-F4077C6A1BF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91818977-CF6D-40A6-8D26-758CCBC7A98C}" type="slidenum">
              <a:rPr lang="en-US" altLang="it-IT"/>
              <a:pPr/>
              <a:t>7</a:t>
            </a:fld>
            <a:endParaRPr lang="en-US" altLang="it-IT"/>
          </a:p>
        </p:txBody>
      </p:sp>
      <p:sp>
        <p:nvSpPr>
          <p:cNvPr id="26626" name="Rectangle 2">
            <a:extLst>
              <a:ext uri="{FF2B5EF4-FFF2-40B4-BE49-F238E27FC236}">
                <a16:creationId xmlns:a16="http://schemas.microsoft.com/office/drawing/2014/main" id="{5986D55C-48E5-4165-BA47-F96FBA2B970A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B4ED392C-C276-4EF1-AB67-57010E3F9AC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7">
            <a:extLst>
              <a:ext uri="{FF2B5EF4-FFF2-40B4-BE49-F238E27FC236}">
                <a16:creationId xmlns:a16="http://schemas.microsoft.com/office/drawing/2014/main" id="{F56347EC-0E0C-4567-8EAA-01042BE9D77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68F461EE-9EA8-4248-8C0D-86F8736A9B02}" type="slidenum">
              <a:rPr lang="en-US" altLang="it-IT"/>
              <a:pPr/>
              <a:t>8</a:t>
            </a:fld>
            <a:endParaRPr lang="en-US" altLang="it-IT"/>
          </a:p>
        </p:txBody>
      </p:sp>
      <p:sp>
        <p:nvSpPr>
          <p:cNvPr id="28674" name="Rectangle 2">
            <a:extLst>
              <a:ext uri="{FF2B5EF4-FFF2-40B4-BE49-F238E27FC236}">
                <a16:creationId xmlns:a16="http://schemas.microsoft.com/office/drawing/2014/main" id="{6371CA78-81DF-4C56-9FD4-F2F66D3F242C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A3DAC239-505E-4D26-8AEF-AB4FE2FEDDE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7">
            <a:extLst>
              <a:ext uri="{FF2B5EF4-FFF2-40B4-BE49-F238E27FC236}">
                <a16:creationId xmlns:a16="http://schemas.microsoft.com/office/drawing/2014/main" id="{BDC8ED20-953B-4847-BCC5-D10216BBB1E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7C86403B-437A-4B60-825B-1ECE667D1A2A}" type="slidenum">
              <a:rPr lang="en-US" altLang="it-IT"/>
              <a:pPr/>
              <a:t>9</a:t>
            </a:fld>
            <a:endParaRPr lang="en-US" altLang="it-IT"/>
          </a:p>
        </p:txBody>
      </p:sp>
      <p:sp>
        <p:nvSpPr>
          <p:cNvPr id="30722" name="Rectangle 2">
            <a:extLst>
              <a:ext uri="{FF2B5EF4-FFF2-40B4-BE49-F238E27FC236}">
                <a16:creationId xmlns:a16="http://schemas.microsoft.com/office/drawing/2014/main" id="{03C99204-8736-432A-A505-AE5AF8903360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A31E5BD8-7423-456F-8EB7-0DDA6E343F1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7">
            <a:extLst>
              <a:ext uri="{FF2B5EF4-FFF2-40B4-BE49-F238E27FC236}">
                <a16:creationId xmlns:a16="http://schemas.microsoft.com/office/drawing/2014/main" id="{3C58C979-DDB2-4551-8B62-F4AC8A59B86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97AAA8DE-CE50-45FB-AF5B-4820B999E54A}" type="slidenum">
              <a:rPr lang="en-US" altLang="it-IT"/>
              <a:pPr/>
              <a:t>13</a:t>
            </a:fld>
            <a:endParaRPr lang="en-US" altLang="it-IT"/>
          </a:p>
        </p:txBody>
      </p:sp>
      <p:sp>
        <p:nvSpPr>
          <p:cNvPr id="35842" name="Rectangle 2">
            <a:extLst>
              <a:ext uri="{FF2B5EF4-FFF2-40B4-BE49-F238E27FC236}">
                <a16:creationId xmlns:a16="http://schemas.microsoft.com/office/drawing/2014/main" id="{39188582-790C-4BA4-8855-D0A80B8D7FF7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4B41224A-B464-471A-BD36-B67FB49F86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7">
            <a:extLst>
              <a:ext uri="{FF2B5EF4-FFF2-40B4-BE49-F238E27FC236}">
                <a16:creationId xmlns:a16="http://schemas.microsoft.com/office/drawing/2014/main" id="{9BEA11D1-5399-4541-99CB-22C038FD21B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BCC09299-B152-44BC-A06B-911597F67032}" type="slidenum">
              <a:rPr lang="en-US" altLang="it-IT"/>
              <a:pPr/>
              <a:t>14</a:t>
            </a:fld>
            <a:endParaRPr lang="en-US" altLang="it-IT"/>
          </a:p>
        </p:txBody>
      </p:sp>
      <p:sp>
        <p:nvSpPr>
          <p:cNvPr id="37890" name="Rectangle 2">
            <a:extLst>
              <a:ext uri="{FF2B5EF4-FFF2-40B4-BE49-F238E27FC236}">
                <a16:creationId xmlns:a16="http://schemas.microsoft.com/office/drawing/2014/main" id="{777B30BC-FE2A-420A-BE7E-BBCAB74AFBED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6B80D095-702A-48AD-979F-2E936B9E72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7">
            <a:extLst>
              <a:ext uri="{FF2B5EF4-FFF2-40B4-BE49-F238E27FC236}">
                <a16:creationId xmlns:a16="http://schemas.microsoft.com/office/drawing/2014/main" id="{17DF2B3E-0550-4C5D-B3D7-DC14EBFE725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8CDDFD72-1694-4772-8201-BAB43CF97805}" type="slidenum">
              <a:rPr lang="en-US" altLang="it-IT"/>
              <a:pPr/>
              <a:t>15</a:t>
            </a:fld>
            <a:endParaRPr lang="en-US" altLang="it-IT"/>
          </a:p>
        </p:txBody>
      </p:sp>
      <p:sp>
        <p:nvSpPr>
          <p:cNvPr id="39938" name="Rectangle 2">
            <a:extLst>
              <a:ext uri="{FF2B5EF4-FFF2-40B4-BE49-F238E27FC236}">
                <a16:creationId xmlns:a16="http://schemas.microsoft.com/office/drawing/2014/main" id="{9FC0C789-3A93-43C3-B708-317E206E972A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3F39ECDB-BF02-4180-8CE1-5EF4A8F99D9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7">
            <a:extLst>
              <a:ext uri="{FF2B5EF4-FFF2-40B4-BE49-F238E27FC236}">
                <a16:creationId xmlns:a16="http://schemas.microsoft.com/office/drawing/2014/main" id="{2E159A07-CA03-4B17-A389-2F8B50D8A5C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6F0F15DD-BD3C-4666-B058-010A3D2A39EB}" type="slidenum">
              <a:rPr lang="en-US" altLang="it-IT"/>
              <a:pPr/>
              <a:t>16</a:t>
            </a:fld>
            <a:endParaRPr lang="en-US" altLang="it-IT"/>
          </a:p>
        </p:txBody>
      </p:sp>
      <p:sp>
        <p:nvSpPr>
          <p:cNvPr id="41986" name="Rectangle 2">
            <a:extLst>
              <a:ext uri="{FF2B5EF4-FFF2-40B4-BE49-F238E27FC236}">
                <a16:creationId xmlns:a16="http://schemas.microsoft.com/office/drawing/2014/main" id="{10D76C48-E7BD-4089-8761-CB6583116BAB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6F221552-E373-4E32-B91A-C1C8E148E6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7">
            <a:extLst>
              <a:ext uri="{FF2B5EF4-FFF2-40B4-BE49-F238E27FC236}">
                <a16:creationId xmlns:a16="http://schemas.microsoft.com/office/drawing/2014/main" id="{CC324D11-D7AD-4E53-9AA8-712BAB12075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A7373194-3DF9-4981-807A-8FAB61DA3FD2}" type="slidenum">
              <a:rPr lang="en-US" altLang="it-IT"/>
              <a:pPr/>
              <a:t>18</a:t>
            </a:fld>
            <a:endParaRPr lang="en-US" altLang="it-IT"/>
          </a:p>
        </p:txBody>
      </p:sp>
      <p:sp>
        <p:nvSpPr>
          <p:cNvPr id="45058" name="Rectangle 2">
            <a:extLst>
              <a:ext uri="{FF2B5EF4-FFF2-40B4-BE49-F238E27FC236}">
                <a16:creationId xmlns:a16="http://schemas.microsoft.com/office/drawing/2014/main" id="{9E646255-0680-4B29-A825-9CFC14C114BF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C0499270-A663-49D0-A24C-1BB653FD15A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7">
            <a:extLst>
              <a:ext uri="{FF2B5EF4-FFF2-40B4-BE49-F238E27FC236}">
                <a16:creationId xmlns:a16="http://schemas.microsoft.com/office/drawing/2014/main" id="{3D8E0ADC-5072-4807-A6B2-E0A75EA11B3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9889716C-225B-477C-850D-47DD619AFB93}" type="slidenum">
              <a:rPr lang="en-US" altLang="it-IT"/>
              <a:pPr/>
              <a:t>19</a:t>
            </a:fld>
            <a:endParaRPr lang="en-US" altLang="it-IT"/>
          </a:p>
        </p:txBody>
      </p:sp>
      <p:sp>
        <p:nvSpPr>
          <p:cNvPr id="47106" name="Rectangle 2">
            <a:extLst>
              <a:ext uri="{FF2B5EF4-FFF2-40B4-BE49-F238E27FC236}">
                <a16:creationId xmlns:a16="http://schemas.microsoft.com/office/drawing/2014/main" id="{3FE6D7BE-A060-457E-9F6A-F44C56574D71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id="{DA9CC2E7-5BA6-4241-ACCC-6C43639325B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7">
            <a:extLst>
              <a:ext uri="{FF2B5EF4-FFF2-40B4-BE49-F238E27FC236}">
                <a16:creationId xmlns:a16="http://schemas.microsoft.com/office/drawing/2014/main" id="{43CBA28D-BF90-4178-B0B6-7375B425377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8AB68965-CB40-4DBC-AEEB-4863F83228CF}" type="slidenum">
              <a:rPr lang="en-US" altLang="it-IT"/>
              <a:pPr/>
              <a:t>20</a:t>
            </a:fld>
            <a:endParaRPr lang="en-US" altLang="it-IT"/>
          </a:p>
        </p:txBody>
      </p:sp>
      <p:sp>
        <p:nvSpPr>
          <p:cNvPr id="49154" name="Rectangle 2">
            <a:extLst>
              <a:ext uri="{FF2B5EF4-FFF2-40B4-BE49-F238E27FC236}">
                <a16:creationId xmlns:a16="http://schemas.microsoft.com/office/drawing/2014/main" id="{BE3EE589-16C7-4B93-A96C-D1B366023067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9155" name="Rectangle 3">
            <a:extLst>
              <a:ext uri="{FF2B5EF4-FFF2-40B4-BE49-F238E27FC236}">
                <a16:creationId xmlns:a16="http://schemas.microsoft.com/office/drawing/2014/main" id="{7FC7FEB0-2DFE-41AD-9653-33308421F3B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7D35B16E-636D-42AE-BF9C-C52CAEE38BA9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 412, Fall 2010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B899AC67-F673-4300-A0E3-1B538F9C84CA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3ADAC6A-18CC-4EEB-8150-E54E463D3F09}" type="slidenum">
              <a:rPr lang="en-US" altLang="it-IT"/>
              <a:pPr/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29761868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74B2D7E9-1019-4107-A0A6-2F8E53A8F4F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 412, Fall 2010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007EFE08-785C-4E6B-A3E4-07E4577A56DF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4607496-FD4A-404C-8B0F-E849D246FBF7}" type="slidenum">
              <a:rPr lang="en-US" altLang="it-IT"/>
              <a:pPr/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14689268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592AF464-C3E5-4751-9524-45A365FE348B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 412, Fall 2010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EC368D5E-1498-46C9-9FBB-6CD3AD5B67F0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834A5C0-C79C-4729-B342-60FB658E0328}" type="slidenum">
              <a:rPr lang="en-US" altLang="it-IT"/>
              <a:pPr/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14459976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143000"/>
            <a:ext cx="38100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143000"/>
            <a:ext cx="38100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74F0BA7-E2F8-45B6-A35F-6BBBA6AA049B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 412, Fall 2010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19A9963-3820-42CF-830D-0CB29A878ECA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19E630D-41FE-4F81-9AAB-E420A4140333}" type="slidenum">
              <a:rPr lang="en-US" altLang="it-IT"/>
              <a:pPr/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199199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0D1DF73E-465D-40DD-BC6D-1F7981F42DC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 412, Fall 2010</a:t>
            </a:r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22F7EE0B-EBAF-48E2-9782-F1A2F6D7131D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EF267A5-1E5E-431C-899C-291C9CEF55EE}" type="slidenum">
              <a:rPr lang="en-US" altLang="it-IT"/>
              <a:pPr/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29882011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2E0EF170-44B3-4722-B6EE-A5D581C7679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 412, Fall 2010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3846F1AD-0BE8-47B1-8533-168B2F2E6A8C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2AF589-567E-43AF-96B5-6EDE0BC1ACD7}" type="slidenum">
              <a:rPr lang="en-US" altLang="it-IT"/>
              <a:pPr/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30774649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5EE1D075-54A6-44F9-AD93-FA677EB07857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 412, Fall 2010</a:t>
            </a: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1613693D-89E8-42D7-A80F-2FC968F490B1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CDA3091-3BBC-4091-8128-913AF7C05C02}" type="slidenum">
              <a:rPr lang="en-US" altLang="it-IT"/>
              <a:pPr/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15838657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48C35C8-228D-4B1F-AE3A-03C58D4AB7E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 412, Fall 2010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3D8986A-EF7A-4A4F-8E6D-4E06451CC87A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6C953C9-8667-4266-A76B-32A513FDC0F3}" type="slidenum">
              <a:rPr lang="en-US" altLang="it-IT"/>
              <a:pPr/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23137368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0E72273-6941-4686-8E2D-AD13F22275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 412, Fall 2010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6CD5D1D-D3F9-40B8-AD05-76D1374FB040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C6F6486-301D-4144-A141-80CFF1D61EED}" type="slidenum">
              <a:rPr lang="en-US" altLang="it-IT"/>
              <a:pPr/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5669265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019158C4-A723-4AAA-8302-A355A2FEB8F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 412, Fall 2010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8DE9F51F-2977-433A-8D35-260AD916B7BA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3F8383F-2F6B-4540-A84A-B446D52F0871}" type="slidenum">
              <a:rPr lang="en-US" altLang="it-IT"/>
              <a:pPr/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19149418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533400"/>
            <a:ext cx="1943100" cy="5562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533400"/>
            <a:ext cx="5676900" cy="55626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95D7D52C-F4BC-46F8-933F-9FB693ED9477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 412, Fall 2010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A616085C-1792-46BC-8E42-13537CE495D5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EC50A9E-0A04-46BC-8E39-1EA552CCFBAE}" type="slidenum">
              <a:rPr lang="en-US" altLang="it-IT"/>
              <a:pPr/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24922980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E45DD29A-7455-4C80-845F-323AF0F19F2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533400"/>
            <a:ext cx="7772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it-IT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AC1B2AE1-A800-48F2-88BC-E1E9FA634BF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143000"/>
            <a:ext cx="7772400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it-IT"/>
              <a:t>Click to edit Master text styles</a:t>
            </a:r>
          </a:p>
          <a:p>
            <a:pPr lvl="1"/>
            <a:r>
              <a:rPr lang="en-US" altLang="it-IT"/>
              <a:t>Second level</a:t>
            </a:r>
          </a:p>
          <a:p>
            <a:pPr lvl="2"/>
            <a:r>
              <a:rPr lang="en-US" altLang="it-IT"/>
              <a:t>Third level</a:t>
            </a:r>
          </a:p>
          <a:p>
            <a:pPr lvl="3"/>
            <a:r>
              <a:rPr lang="en-US" altLang="it-IT"/>
              <a:t>Fourth level</a:t>
            </a:r>
          </a:p>
          <a:p>
            <a:pPr lvl="4"/>
            <a:r>
              <a:rPr lang="en-US" altLang="it-IT"/>
              <a:t>Fifth level</a:t>
            </a:r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402D9FBC-C544-4687-8E87-CD829C11C5E1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858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 smtClean="0">
                <a:latin typeface="Comic Sans MS" charset="0"/>
                <a:ea typeface="ヒラギノ角ゴ Pro W3" charset="-128"/>
                <a:cs typeface="ヒラギノ角ゴ Pro W3" charset="-128"/>
              </a:defRPr>
            </a:lvl1pPr>
          </a:lstStyle>
          <a:p>
            <a:pPr>
              <a:defRPr/>
            </a:pPr>
            <a:r>
              <a:rPr lang="en-US"/>
              <a:t>Comp 412, Fall 2010</a:t>
            </a:r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84971296-388C-4547-A4B0-764B6D1AC8A7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fld id="{2CE01D05-FE0B-47BA-96EC-8FCAEEEF57EB}" type="slidenum">
              <a:rPr lang="en-US" altLang="it-IT"/>
              <a:pPr/>
              <a:t>‹N›</a:t>
            </a:fld>
            <a:endParaRPr lang="en-US" altLang="it-IT"/>
          </a:p>
        </p:txBody>
      </p:sp>
      <p:pic>
        <p:nvPicPr>
          <p:cNvPr id="2" name="Picture 7" descr="2007Shield">
            <a:extLst>
              <a:ext uri="{FF2B5EF4-FFF2-40B4-BE49-F238E27FC236}">
                <a16:creationId xmlns:a16="http://schemas.microsoft.com/office/drawing/2014/main" id="{EB6645A9-885A-476F-971B-061CF8F4EC0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3800" y="228600"/>
            <a:ext cx="958850" cy="1120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2" name="Line 8">
            <a:extLst>
              <a:ext uri="{FF2B5EF4-FFF2-40B4-BE49-F238E27FC236}">
                <a16:creationId xmlns:a16="http://schemas.microsoft.com/office/drawing/2014/main" id="{8A6D5037-FC12-4FFB-9DAB-CC648778AE7A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85800" y="1066800"/>
            <a:ext cx="6858000" cy="0"/>
          </a:xfrm>
          <a:prstGeom prst="line">
            <a:avLst/>
          </a:prstGeom>
          <a:noFill/>
          <a:ln w="57150">
            <a:solidFill>
              <a:srgbClr val="003C75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>
              <a:defRPr/>
            </a:pPr>
            <a:endParaRPr lang="en-US">
              <a:latin typeface="Comic Sans MS" charset="0"/>
              <a:ea typeface="ヒラギノ角ゴ Pro W3" charset="-128"/>
              <a:cs typeface="ヒラギノ角ゴ Pro W3" charset="-128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Comic Sans MS" charset="0"/>
          <a:ea typeface="ヒラギノ角ゴ Pro W3" charset="-128"/>
          <a:cs typeface="ヒラギノ角ゴ Pro W3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Comic Sans MS" charset="0"/>
          <a:ea typeface="ヒラギノ角ゴ Pro W3" charset="-128"/>
          <a:cs typeface="ヒラギノ角ゴ Pro W3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Comic Sans MS" charset="0"/>
          <a:ea typeface="ヒラギノ角ゴ Pro W3" charset="-128"/>
          <a:cs typeface="ヒラギノ角ゴ Pro W3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Comic Sans MS" charset="0"/>
          <a:ea typeface="ヒラギノ角ゴ Pro W3" charset="-128"/>
          <a:cs typeface="ヒラギノ角ゴ Pro W3" charset="-128"/>
        </a:defRPr>
      </a:lvl5pPr>
      <a:lvl6pPr marL="457200"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Comic Sans MS" charset="0"/>
          <a:ea typeface="ヒラギノ角ゴ Pro W3" charset="-128"/>
          <a:cs typeface="ヒラギノ角ゴ Pro W3" charset="-128"/>
        </a:defRPr>
      </a:lvl6pPr>
      <a:lvl7pPr marL="914400"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Comic Sans MS" charset="0"/>
          <a:ea typeface="ヒラギノ角ゴ Pro W3" charset="-128"/>
          <a:cs typeface="ヒラギノ角ゴ Pro W3" charset="-128"/>
        </a:defRPr>
      </a:lvl7pPr>
      <a:lvl8pPr marL="1371600"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Comic Sans MS" charset="0"/>
          <a:ea typeface="ヒラギノ角ゴ Pro W3" charset="-128"/>
          <a:cs typeface="ヒラギノ角ゴ Pro W3" charset="-128"/>
        </a:defRPr>
      </a:lvl8pPr>
      <a:lvl9pPr marL="1828800"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Comic Sans MS" charset="0"/>
          <a:ea typeface="ヒラギノ角ゴ Pro W3" charset="-128"/>
          <a:cs typeface="ヒラギノ角ゴ Pro W3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03C75"/>
        </a:buClr>
        <a:buSzPct val="120000"/>
        <a:buFont typeface="Times" panose="02020603050405020304" pitchFamily="18" charset="0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003C75"/>
        </a:buClr>
        <a:buChar char="—"/>
        <a:defRPr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003C75"/>
        </a:buClr>
        <a:buSzPct val="90000"/>
        <a:buFont typeface="Symbol" panose="05050102010706020507" pitchFamily="18" charset="2"/>
        <a:buChar char=""/>
        <a:defRPr sz="16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003C75"/>
        </a:buClr>
        <a:buChar char="–"/>
        <a:defRPr sz="16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003C75"/>
        </a:buClr>
        <a:buChar char="»"/>
        <a:defRPr sz="16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003C75"/>
        </a:buClr>
        <a:buChar char="»"/>
        <a:defRPr sz="16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003C75"/>
        </a:buClr>
        <a:buChar char="»"/>
        <a:defRPr sz="16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003C75"/>
        </a:buClr>
        <a:buChar char="»"/>
        <a:defRPr sz="16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003C75"/>
        </a:buClr>
        <a:buChar char="»"/>
        <a:defRPr sz="16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>
            <a:extLst>
              <a:ext uri="{FF2B5EF4-FFF2-40B4-BE49-F238E27FC236}">
                <a16:creationId xmlns:a16="http://schemas.microsoft.com/office/drawing/2014/main" id="{685D4467-7B55-4F9F-80FA-D8D2F4142DCE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1447800"/>
            <a:ext cx="7772400" cy="1752600"/>
          </a:xfrm>
        </p:spPr>
        <p:txBody>
          <a:bodyPr/>
          <a:lstStyle/>
          <a:p>
            <a:pPr algn="ctr" eaLnBrk="1" hangingPunct="1"/>
            <a:r>
              <a:rPr lang="en-US" altLang="it-IT" sz="3200" i="1"/>
              <a:t>Parsing Wrap Up </a:t>
            </a:r>
            <a:br>
              <a:rPr lang="en-US" altLang="it-IT" sz="3200" i="1"/>
            </a:br>
            <a:br>
              <a:rPr lang="en-US" altLang="it-IT" sz="3200" i="1"/>
            </a:br>
            <a:br>
              <a:rPr lang="en-US" altLang="it-IT" sz="3200" i="1"/>
            </a:br>
            <a:r>
              <a:rPr lang="en-US" altLang="it-IT" sz="3200" i="1"/>
              <a:t>Comp 412</a:t>
            </a:r>
          </a:p>
        </p:txBody>
      </p:sp>
      <p:sp>
        <p:nvSpPr>
          <p:cNvPr id="15362" name="Rectangle 3">
            <a:extLst>
              <a:ext uri="{FF2B5EF4-FFF2-40B4-BE49-F238E27FC236}">
                <a16:creationId xmlns:a16="http://schemas.microsoft.com/office/drawing/2014/main" id="{3AE2B9E7-9C5E-41CA-8919-8992A767C05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762000" y="4953000"/>
            <a:ext cx="7772400" cy="1295400"/>
          </a:xfrm>
          <a:ln w="12700">
            <a:solidFill>
              <a:srgbClr val="003C75"/>
            </a:solidFill>
            <a:miter lim="800000"/>
            <a:headEnd/>
            <a:tailEnd/>
          </a:ln>
        </p:spPr>
        <p:txBody>
          <a:bodyPr/>
          <a:lstStyle/>
          <a:p>
            <a:pPr algn="l" eaLnBrk="1" hangingPunct="1"/>
            <a:r>
              <a:rPr lang="en-US" altLang="it-IT" sz="1400">
                <a:solidFill>
                  <a:srgbClr val="003C75"/>
                </a:solidFill>
              </a:rPr>
              <a:t>Copyright 2010, Keith D. Cooper &amp; Linda Torczon, all rights reserved.</a:t>
            </a:r>
          </a:p>
          <a:p>
            <a:pPr algn="l" eaLnBrk="1" hangingPunct="1"/>
            <a:r>
              <a:rPr lang="en-US" altLang="it-IT" sz="1400">
                <a:solidFill>
                  <a:srgbClr val="003C75"/>
                </a:solidFill>
              </a:rPr>
              <a:t>Students enrolled in Comp 412 at Rice University have explicit permission to make copies of these materials for their personal use.  </a:t>
            </a:r>
          </a:p>
          <a:p>
            <a:pPr algn="l" eaLnBrk="1" hangingPunct="1"/>
            <a:r>
              <a:rPr lang="en-US" altLang="it-IT" sz="1400">
                <a:solidFill>
                  <a:srgbClr val="003C75"/>
                </a:solidFill>
              </a:rPr>
              <a:t>Faculty from other educational institutions may use these materials for nonprofit educational purposes, provided this copyright notice is preserved.</a:t>
            </a:r>
            <a:endParaRPr lang="en-US" altLang="it-IT">
              <a:solidFill>
                <a:srgbClr val="003C75"/>
              </a:solidFill>
            </a:endParaRPr>
          </a:p>
        </p:txBody>
      </p:sp>
      <p:pic>
        <p:nvPicPr>
          <p:cNvPr id="15363" name="Picture 4" descr="2007Logo">
            <a:extLst>
              <a:ext uri="{FF2B5EF4-FFF2-40B4-BE49-F238E27FC236}">
                <a16:creationId xmlns:a16="http://schemas.microsoft.com/office/drawing/2014/main" id="{B852FCC9-F0C3-4EDD-BCDD-736574E94B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304800"/>
            <a:ext cx="2330450" cy="949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4" name="Text Box 8">
            <a:extLst>
              <a:ext uri="{FF2B5EF4-FFF2-40B4-BE49-F238E27FC236}">
                <a16:creationId xmlns:a16="http://schemas.microsoft.com/office/drawing/2014/main" id="{C5B70C7D-214F-452B-9E47-A0378D3EBE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1200" y="381000"/>
            <a:ext cx="2667000" cy="841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 algn="r">
              <a:spcBef>
                <a:spcPct val="5000"/>
              </a:spcBef>
            </a:pPr>
            <a:r>
              <a:rPr lang="en-US" altLang="it-IT" sz="2400">
                <a:solidFill>
                  <a:srgbClr val="003C75"/>
                </a:solidFill>
                <a:latin typeface="Utopia Std"/>
              </a:rPr>
              <a:t>COMP 412</a:t>
            </a:r>
          </a:p>
          <a:p>
            <a:pPr algn="r">
              <a:spcBef>
                <a:spcPct val="5000"/>
              </a:spcBef>
            </a:pPr>
            <a:r>
              <a:rPr lang="en-US" altLang="it-IT" sz="2400">
                <a:solidFill>
                  <a:srgbClr val="003C75"/>
                </a:solidFill>
                <a:latin typeface="Utopia Std"/>
              </a:rPr>
              <a:t>FALL 2010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Footer Placeholder 1">
            <a:extLst>
              <a:ext uri="{FF2B5EF4-FFF2-40B4-BE49-F238E27FC236}">
                <a16:creationId xmlns:a16="http://schemas.microsoft.com/office/drawing/2014/main" id="{1E88F15C-AC1F-4B0E-BE68-59A8FFCA235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17410" name="Slide Number Placeholder 2">
            <a:extLst>
              <a:ext uri="{FF2B5EF4-FFF2-40B4-BE49-F238E27FC236}">
                <a16:creationId xmlns:a16="http://schemas.microsoft.com/office/drawing/2014/main" id="{EED127ED-889F-4A1A-9782-85D558F938C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5386048F-D529-435F-ADC6-F77FD920C2E8}" type="slidenum">
              <a:rPr lang="en-US" altLang="it-IT"/>
              <a:pPr/>
              <a:t>1</a:t>
            </a:fld>
            <a:endParaRPr lang="en-US" altLang="it-IT"/>
          </a:p>
        </p:txBody>
      </p:sp>
      <p:sp>
        <p:nvSpPr>
          <p:cNvPr id="17411" name="Rectangle 2">
            <a:extLst>
              <a:ext uri="{FF2B5EF4-FFF2-40B4-BE49-F238E27FC236}">
                <a16:creationId xmlns:a16="http://schemas.microsoft.com/office/drawing/2014/main" id="{FB0BA02F-9AD2-473A-B52D-561FC618356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>
              <a:spcBef>
                <a:spcPct val="300000"/>
              </a:spcBef>
            </a:pPr>
            <a:r>
              <a:rPr lang="en-US" altLang="it-IT"/>
              <a:t>LR(</a:t>
            </a:r>
            <a:r>
              <a:rPr lang="en-US" altLang="it-IT" i="1"/>
              <a:t>k</a:t>
            </a:r>
            <a:r>
              <a:rPr lang="en-US" altLang="it-IT" sz="900" i="1"/>
              <a:t> </a:t>
            </a:r>
            <a:r>
              <a:rPr lang="en-US" altLang="it-IT"/>
              <a:t>) versus LL(</a:t>
            </a:r>
            <a:r>
              <a:rPr lang="en-US" altLang="it-IT" i="1"/>
              <a:t>k</a:t>
            </a:r>
            <a:r>
              <a:rPr lang="en-US" altLang="it-IT" sz="900" i="1"/>
              <a:t> </a:t>
            </a:r>
            <a:r>
              <a:rPr lang="en-US" altLang="it-IT"/>
              <a:t>)</a:t>
            </a:r>
          </a:p>
        </p:txBody>
      </p:sp>
      <p:sp>
        <p:nvSpPr>
          <p:cNvPr id="17412" name="Rectangle 3">
            <a:extLst>
              <a:ext uri="{FF2B5EF4-FFF2-40B4-BE49-F238E27FC236}">
                <a16:creationId xmlns:a16="http://schemas.microsoft.com/office/drawing/2014/main" id="{F6B52466-4EE1-4B5A-A86E-62BA9A8FD574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spcBef>
                <a:spcPct val="30000"/>
              </a:spcBef>
              <a:buFont typeface="Times" panose="02020603050405020304" pitchFamily="18" charset="0"/>
              <a:buNone/>
            </a:pPr>
            <a:r>
              <a:rPr lang="en-US" altLang="it-IT"/>
              <a:t>Finding the next step in a derivation</a:t>
            </a:r>
            <a:endParaRPr lang="en-US" altLang="it-IT" sz="1800"/>
          </a:p>
          <a:p>
            <a:pPr eaLnBrk="1" hangingPunct="1">
              <a:spcBef>
                <a:spcPct val="50000"/>
              </a:spcBef>
              <a:buFont typeface="Times" panose="02020603050405020304" pitchFamily="18" charset="0"/>
              <a:buNone/>
            </a:pPr>
            <a:r>
              <a:rPr lang="en-US" altLang="it-IT" sz="1800"/>
              <a:t>LR(</a:t>
            </a:r>
            <a:r>
              <a:rPr lang="en-US" altLang="it-IT" sz="1800" i="1"/>
              <a:t>k</a:t>
            </a:r>
            <a:r>
              <a:rPr lang="en-US" altLang="it-IT" sz="1800"/>
              <a:t>) </a:t>
            </a:r>
            <a:r>
              <a:rPr lang="en-US" altLang="it-IT" sz="1800">
                <a:sym typeface="Symbol" panose="05050102010706020507" pitchFamily="18" charset="2"/>
              </a:rPr>
              <a:t> Each reduction in the parse is detectable with </a:t>
            </a:r>
          </a:p>
          <a:p>
            <a:pPr eaLnBrk="1" hangingPunct="1">
              <a:spcBef>
                <a:spcPct val="25000"/>
              </a:spcBef>
              <a:buSzPct val="90000"/>
              <a:buFont typeface="Symbol" panose="05050102010706020507" pitchFamily="18" charset="2"/>
              <a:buChar char=""/>
            </a:pPr>
            <a:r>
              <a:rPr lang="en-US" altLang="it-IT" sz="1800"/>
              <a:t>the complete left context,</a:t>
            </a:r>
          </a:p>
          <a:p>
            <a:pPr eaLnBrk="1" hangingPunct="1">
              <a:spcBef>
                <a:spcPct val="25000"/>
              </a:spcBef>
              <a:buSzPct val="90000"/>
              <a:buFont typeface="Symbol" panose="05050102010706020507" pitchFamily="18" charset="2"/>
              <a:buChar char=""/>
            </a:pPr>
            <a:r>
              <a:rPr lang="en-US" altLang="it-IT" sz="1800"/>
              <a:t>the reducible phrase, itself, and</a:t>
            </a:r>
          </a:p>
          <a:p>
            <a:pPr eaLnBrk="1" hangingPunct="1">
              <a:spcBef>
                <a:spcPct val="25000"/>
              </a:spcBef>
              <a:buSzPct val="90000"/>
              <a:buFont typeface="Symbol" panose="05050102010706020507" pitchFamily="18" charset="2"/>
              <a:buChar char=""/>
            </a:pPr>
            <a:r>
              <a:rPr lang="en-US" altLang="it-IT" sz="1800"/>
              <a:t>the </a:t>
            </a:r>
            <a:r>
              <a:rPr lang="en-US" altLang="it-IT" sz="1800" i="1"/>
              <a:t>k</a:t>
            </a:r>
            <a:r>
              <a:rPr lang="en-US" altLang="it-IT" sz="1800"/>
              <a:t> terminal symbols to its right</a:t>
            </a:r>
          </a:p>
          <a:p>
            <a:pPr eaLnBrk="1" hangingPunct="1">
              <a:spcBef>
                <a:spcPct val="75000"/>
              </a:spcBef>
              <a:buSzPct val="90000"/>
              <a:buFont typeface="Symbol" panose="05050102010706020507" pitchFamily="18" charset="2"/>
              <a:buNone/>
            </a:pPr>
            <a:r>
              <a:rPr lang="en-US" altLang="it-IT" sz="1800"/>
              <a:t>LL(</a:t>
            </a:r>
            <a:r>
              <a:rPr lang="en-US" altLang="it-IT" sz="1800" i="1"/>
              <a:t>k</a:t>
            </a:r>
            <a:r>
              <a:rPr lang="en-US" altLang="it-IT" sz="1800"/>
              <a:t>) </a:t>
            </a:r>
            <a:r>
              <a:rPr lang="en-US" altLang="it-IT" sz="1800">
                <a:sym typeface="Symbol" panose="05050102010706020507" pitchFamily="18" charset="2"/>
              </a:rPr>
              <a:t> Parser must select the expansion based on</a:t>
            </a:r>
          </a:p>
          <a:p>
            <a:pPr eaLnBrk="1" hangingPunct="1">
              <a:spcBef>
                <a:spcPct val="25000"/>
              </a:spcBef>
              <a:buSzPct val="90000"/>
              <a:buFont typeface="Symbol" panose="05050102010706020507" pitchFamily="18" charset="2"/>
              <a:buChar char=""/>
            </a:pPr>
            <a:r>
              <a:rPr lang="en-US" altLang="it-IT" sz="1800">
                <a:sym typeface="Symbol" panose="05050102010706020507" pitchFamily="18" charset="2"/>
              </a:rPr>
              <a:t>The complete left context</a:t>
            </a:r>
          </a:p>
          <a:p>
            <a:pPr eaLnBrk="1" hangingPunct="1">
              <a:spcBef>
                <a:spcPct val="25000"/>
              </a:spcBef>
              <a:buSzPct val="90000"/>
              <a:buFont typeface="Symbol" panose="05050102010706020507" pitchFamily="18" charset="2"/>
              <a:buChar char=""/>
            </a:pPr>
            <a:r>
              <a:rPr lang="en-US" altLang="it-IT" sz="1800">
                <a:sym typeface="Symbol" panose="05050102010706020507" pitchFamily="18" charset="2"/>
              </a:rPr>
              <a:t>The next </a:t>
            </a:r>
            <a:r>
              <a:rPr lang="en-US" altLang="it-IT" sz="1800" i="1">
                <a:sym typeface="Symbol" panose="05050102010706020507" pitchFamily="18" charset="2"/>
              </a:rPr>
              <a:t>k</a:t>
            </a:r>
            <a:r>
              <a:rPr lang="en-US" altLang="it-IT" sz="1800">
                <a:sym typeface="Symbol" panose="05050102010706020507" pitchFamily="18" charset="2"/>
              </a:rPr>
              <a:t> terminals</a:t>
            </a:r>
          </a:p>
          <a:p>
            <a:pPr eaLnBrk="1" hangingPunct="1">
              <a:spcBef>
                <a:spcPct val="50000"/>
              </a:spcBef>
              <a:buSzPct val="90000"/>
              <a:buFont typeface="Symbol" panose="05050102010706020507" pitchFamily="18" charset="2"/>
              <a:buNone/>
            </a:pPr>
            <a:r>
              <a:rPr lang="en-US" altLang="it-IT" sz="1800">
                <a:sym typeface="Symbol" panose="05050102010706020507" pitchFamily="18" charset="2"/>
              </a:rPr>
              <a:t>Thus, LR(</a:t>
            </a:r>
            <a:r>
              <a:rPr lang="en-US" altLang="it-IT" sz="1800" i="1">
                <a:sym typeface="Symbol" panose="05050102010706020507" pitchFamily="18" charset="2"/>
              </a:rPr>
              <a:t>k</a:t>
            </a:r>
            <a:r>
              <a:rPr lang="en-US" altLang="it-IT" sz="1800">
                <a:sym typeface="Symbol" panose="05050102010706020507" pitchFamily="18" charset="2"/>
              </a:rPr>
              <a:t>) examines more context</a:t>
            </a:r>
          </a:p>
          <a:p>
            <a:pPr eaLnBrk="1" hangingPunct="1">
              <a:spcBef>
                <a:spcPct val="50000"/>
              </a:spcBef>
              <a:buSzPct val="90000"/>
              <a:buFont typeface="Symbol" panose="05050102010706020507" pitchFamily="18" charset="2"/>
              <a:buNone/>
            </a:pPr>
            <a:endParaRPr lang="en-US" altLang="it-IT" sz="1800">
              <a:sym typeface="Symbol" panose="05050102010706020507" pitchFamily="18" charset="2"/>
            </a:endParaRPr>
          </a:p>
          <a:p>
            <a:pPr algn="ctr" eaLnBrk="1" hangingPunct="1">
              <a:spcBef>
                <a:spcPct val="50000"/>
              </a:spcBef>
              <a:buSzPct val="90000"/>
              <a:buFont typeface="Symbol" panose="05050102010706020507" pitchFamily="18" charset="2"/>
              <a:buNone/>
            </a:pPr>
            <a:r>
              <a:rPr lang="en-US" altLang="it-IT" sz="1800" i="1">
                <a:solidFill>
                  <a:srgbClr val="FF0065"/>
                </a:solidFill>
                <a:sym typeface="Symbol" panose="05050102010706020507" pitchFamily="18" charset="2"/>
              </a:rPr>
              <a:t>The question is, do languages fall in the gap between LR(k) and LL(k)?</a:t>
            </a:r>
          </a:p>
        </p:txBody>
      </p:sp>
      <p:grpSp>
        <p:nvGrpSpPr>
          <p:cNvPr id="17413" name="Group 10">
            <a:extLst>
              <a:ext uri="{FF2B5EF4-FFF2-40B4-BE49-F238E27FC236}">
                <a16:creationId xmlns:a16="http://schemas.microsoft.com/office/drawing/2014/main" id="{52E91F54-B656-48B8-80EB-14A1AA21439F}"/>
              </a:ext>
            </a:extLst>
          </p:cNvPr>
          <p:cNvGrpSpPr>
            <a:grpSpLocks/>
          </p:cNvGrpSpPr>
          <p:nvPr/>
        </p:nvGrpSpPr>
        <p:grpSpPr bwMode="auto">
          <a:xfrm>
            <a:off x="1295400" y="1752600"/>
            <a:ext cx="7239000" cy="1447800"/>
            <a:chOff x="816" y="1104"/>
            <a:chExt cx="4560" cy="912"/>
          </a:xfrm>
        </p:grpSpPr>
        <p:sp>
          <p:nvSpPr>
            <p:cNvPr id="17414" name="Text Box 6">
              <a:extLst>
                <a:ext uri="{FF2B5EF4-FFF2-40B4-BE49-F238E27FC236}">
                  <a16:creationId xmlns:a16="http://schemas.microsoft.com/office/drawing/2014/main" id="{B258280B-F112-4782-9FF3-B1F5D54387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32" y="1360"/>
              <a:ext cx="1344" cy="5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it-IT" sz="1600">
                  <a:solidFill>
                    <a:srgbClr val="B025A6"/>
                  </a:solidFill>
                </a:rPr>
                <a:t>generalizations of LR(1) and LL(1) to longer lookaheads</a:t>
              </a:r>
            </a:p>
          </p:txBody>
        </p:sp>
        <p:sp>
          <p:nvSpPr>
            <p:cNvPr id="17415" name="Line 7">
              <a:extLst>
                <a:ext uri="{FF2B5EF4-FFF2-40B4-BE49-F238E27FC236}">
                  <a16:creationId xmlns:a16="http://schemas.microsoft.com/office/drawing/2014/main" id="{514C7AA6-659B-4C22-804E-E8E0CC6377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2" y="1368"/>
              <a:ext cx="0" cy="576"/>
            </a:xfrm>
            <a:prstGeom prst="line">
              <a:avLst/>
            </a:prstGeom>
            <a:noFill/>
            <a:ln w="28575">
              <a:solidFill>
                <a:srgbClr val="B025A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17416" name="Freeform 8">
              <a:extLst>
                <a:ext uri="{FF2B5EF4-FFF2-40B4-BE49-F238E27FC236}">
                  <a16:creationId xmlns:a16="http://schemas.microsoft.com/office/drawing/2014/main" id="{25E2F72D-1B11-4963-BF02-94F72F921D0F}"/>
                </a:ext>
              </a:extLst>
            </p:cNvPr>
            <p:cNvSpPr>
              <a:spLocks/>
            </p:cNvSpPr>
            <p:nvPr/>
          </p:nvSpPr>
          <p:spPr bwMode="auto">
            <a:xfrm>
              <a:off x="816" y="1104"/>
              <a:ext cx="3216" cy="432"/>
            </a:xfrm>
            <a:custGeom>
              <a:avLst/>
              <a:gdLst>
                <a:gd name="T0" fmla="*/ 0 w 3216"/>
                <a:gd name="T1" fmla="*/ 0 h 432"/>
                <a:gd name="T2" fmla="*/ 240 w 3216"/>
                <a:gd name="T3" fmla="*/ 96 h 432"/>
                <a:gd name="T4" fmla="*/ 768 w 3216"/>
                <a:gd name="T5" fmla="*/ 96 h 432"/>
                <a:gd name="T6" fmla="*/ 1776 w 3216"/>
                <a:gd name="T7" fmla="*/ 144 h 432"/>
                <a:gd name="T8" fmla="*/ 3216 w 3216"/>
                <a:gd name="T9" fmla="*/ 432 h 4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16"/>
                <a:gd name="T16" fmla="*/ 0 h 432"/>
                <a:gd name="T17" fmla="*/ 3216 w 3216"/>
                <a:gd name="T18" fmla="*/ 432 h 43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16" h="432">
                  <a:moveTo>
                    <a:pt x="0" y="0"/>
                  </a:moveTo>
                  <a:cubicBezTo>
                    <a:pt x="56" y="40"/>
                    <a:pt x="112" y="80"/>
                    <a:pt x="240" y="96"/>
                  </a:cubicBezTo>
                  <a:cubicBezTo>
                    <a:pt x="368" y="112"/>
                    <a:pt x="512" y="88"/>
                    <a:pt x="768" y="96"/>
                  </a:cubicBezTo>
                  <a:cubicBezTo>
                    <a:pt x="1024" y="104"/>
                    <a:pt x="1368" y="88"/>
                    <a:pt x="1776" y="144"/>
                  </a:cubicBezTo>
                  <a:cubicBezTo>
                    <a:pt x="2184" y="200"/>
                    <a:pt x="2700" y="316"/>
                    <a:pt x="3216" y="432"/>
                  </a:cubicBezTo>
                </a:path>
              </a:pathLst>
            </a:custGeom>
            <a:noFill/>
            <a:ln w="9525">
              <a:solidFill>
                <a:srgbClr val="B025A6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17417" name="Freeform 9">
              <a:extLst>
                <a:ext uri="{FF2B5EF4-FFF2-40B4-BE49-F238E27FC236}">
                  <a16:creationId xmlns:a16="http://schemas.microsoft.com/office/drawing/2014/main" id="{A20189AE-8576-4868-B3D5-582E26247F2A}"/>
                </a:ext>
              </a:extLst>
            </p:cNvPr>
            <p:cNvSpPr>
              <a:spLocks/>
            </p:cNvSpPr>
            <p:nvPr/>
          </p:nvSpPr>
          <p:spPr bwMode="auto">
            <a:xfrm>
              <a:off x="816" y="1584"/>
              <a:ext cx="3216" cy="432"/>
            </a:xfrm>
            <a:custGeom>
              <a:avLst/>
              <a:gdLst>
                <a:gd name="T0" fmla="*/ 0 w 3216"/>
                <a:gd name="T1" fmla="*/ 432 h 432"/>
                <a:gd name="T2" fmla="*/ 240 w 3216"/>
                <a:gd name="T3" fmla="*/ 384 h 432"/>
                <a:gd name="T4" fmla="*/ 1200 w 3216"/>
                <a:gd name="T5" fmla="*/ 336 h 432"/>
                <a:gd name="T6" fmla="*/ 2400 w 3216"/>
                <a:gd name="T7" fmla="*/ 336 h 432"/>
                <a:gd name="T8" fmla="*/ 3216 w 3216"/>
                <a:gd name="T9" fmla="*/ 0 h 4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16"/>
                <a:gd name="T16" fmla="*/ 0 h 432"/>
                <a:gd name="T17" fmla="*/ 3216 w 3216"/>
                <a:gd name="T18" fmla="*/ 432 h 43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16" h="432">
                  <a:moveTo>
                    <a:pt x="0" y="432"/>
                  </a:moveTo>
                  <a:cubicBezTo>
                    <a:pt x="20" y="416"/>
                    <a:pt x="40" y="400"/>
                    <a:pt x="240" y="384"/>
                  </a:cubicBezTo>
                  <a:cubicBezTo>
                    <a:pt x="440" y="368"/>
                    <a:pt x="840" y="344"/>
                    <a:pt x="1200" y="336"/>
                  </a:cubicBezTo>
                  <a:cubicBezTo>
                    <a:pt x="1560" y="328"/>
                    <a:pt x="2064" y="392"/>
                    <a:pt x="2400" y="336"/>
                  </a:cubicBezTo>
                  <a:cubicBezTo>
                    <a:pt x="2736" y="280"/>
                    <a:pt x="2976" y="140"/>
                    <a:pt x="3216" y="0"/>
                  </a:cubicBezTo>
                </a:path>
              </a:pathLst>
            </a:custGeom>
            <a:noFill/>
            <a:ln w="9525">
              <a:solidFill>
                <a:srgbClr val="B025A6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</p:grpSp>
    </p:spTree>
  </p:cSld>
  <p:clrMapOvr>
    <a:masterClrMapping/>
  </p:clrMapOvr>
  <p:transition>
    <p:wipe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Footer Placeholder 1">
            <a:extLst>
              <a:ext uri="{FF2B5EF4-FFF2-40B4-BE49-F238E27FC236}">
                <a16:creationId xmlns:a16="http://schemas.microsoft.com/office/drawing/2014/main" id="{F7918E28-72E6-4384-BDEC-D7E5F26F91E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19458" name="Slide Number Placeholder 2">
            <a:extLst>
              <a:ext uri="{FF2B5EF4-FFF2-40B4-BE49-F238E27FC236}">
                <a16:creationId xmlns:a16="http://schemas.microsoft.com/office/drawing/2014/main" id="{8CC171C5-A152-4AD6-8441-A67BA2BA93A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036360B0-04F2-4A00-8DE1-F705F862338D}" type="slidenum">
              <a:rPr lang="en-US" altLang="it-IT"/>
              <a:pPr/>
              <a:t>2</a:t>
            </a:fld>
            <a:endParaRPr lang="en-US" altLang="it-IT"/>
          </a:p>
        </p:txBody>
      </p:sp>
      <p:sp>
        <p:nvSpPr>
          <p:cNvPr id="19459" name="Title 3">
            <a:extLst>
              <a:ext uri="{FF2B5EF4-FFF2-40B4-BE49-F238E27FC236}">
                <a16:creationId xmlns:a16="http://schemas.microsoft.com/office/drawing/2014/main" id="{96C9E7C0-4DB7-491F-9B59-B21B42DEE960}"/>
              </a:ext>
            </a:extLst>
          </p:cNvPr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LR(1) versus LL(1)</a:t>
            </a:r>
          </a:p>
        </p:txBody>
      </p:sp>
      <p:sp>
        <p:nvSpPr>
          <p:cNvPr id="19460" name="Text Placeholder 4">
            <a:extLst>
              <a:ext uri="{FF2B5EF4-FFF2-40B4-BE49-F238E27FC236}">
                <a16:creationId xmlns:a16="http://schemas.microsoft.com/office/drawing/2014/main" id="{086E912A-2F80-4C01-872D-46E5184CB23D}"/>
              </a:ext>
            </a:extLst>
          </p:cNvPr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buFont typeface="Times" panose="02020603050405020304" pitchFamily="18" charset="0"/>
              <a:buNone/>
            </a:pPr>
            <a:r>
              <a:rPr lang="en-US" altLang="it-IT"/>
              <a:t>The following LR(1) grammar has no LL(1) counterpart</a:t>
            </a:r>
          </a:p>
          <a:p>
            <a:pPr eaLnBrk="1" hangingPunct="1"/>
            <a:r>
              <a:rPr lang="en-US" altLang="it-IT"/>
              <a:t>The Canonical Collection has 18 sets of LR(1) Items</a:t>
            </a:r>
          </a:p>
          <a:p>
            <a:pPr lvl="1" eaLnBrk="1" hangingPunct="1"/>
            <a:r>
              <a:rPr lang="en-US" altLang="it-IT"/>
              <a:t>It is not a simple grammar</a:t>
            </a:r>
          </a:p>
          <a:p>
            <a:pPr lvl="1" eaLnBrk="1" hangingPunct="1"/>
            <a:r>
              <a:rPr lang="en-US" altLang="it-IT"/>
              <a:t>It is, however, LR(1)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8A0575E-5A46-4F60-9EFC-8B6F04E8A215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2936240"/>
          <a:ext cx="2286000" cy="258572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>
                    <a:srgbClr val="000000">
                      <a:alpha val="43000"/>
                    </a:srgbClr>
                  </a:outerShdw>
                </a:effectLst>
                <a:tableStyleId>{5C22544A-7EE6-4342-B048-85BDC9FD1C3A}</a:tableStyleId>
              </a:tblPr>
              <a:tblGrid>
                <a:gridCol w="3612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55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42240"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</a:rPr>
                        <a:t>Goal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→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0" i="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b="0" i="1" baseline="0" dirty="0">
                          <a:solidFill>
                            <a:schemeClr val="tx1"/>
                          </a:solidFill>
                        </a:rPr>
                        <a:t>S</a:t>
                      </a:r>
                      <a:endParaRPr lang="en-US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2240"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</a:rPr>
                        <a:t>S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→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i="1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|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i="1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→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( </a:t>
                      </a:r>
                      <a:r>
                        <a:rPr lang="en-US" b="0" i="1" dirty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 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|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u="none" dirty="0">
                          <a:solidFill>
                            <a:schemeClr val="tx1"/>
                          </a:solidFill>
                        </a:rPr>
                        <a:t>  </a:t>
                      </a:r>
                      <a:r>
                        <a:rPr lang="en-US" b="0" u="sng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→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( </a:t>
                      </a:r>
                      <a:r>
                        <a:rPr lang="en-US" b="0" i="1" dirty="0">
                          <a:solidFill>
                            <a:schemeClr val="tx1"/>
                          </a:solidFill>
                        </a:rPr>
                        <a:t>B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  &gt;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|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u="none" dirty="0">
                          <a:solidFill>
                            <a:schemeClr val="tx1"/>
                          </a:solidFill>
                        </a:rPr>
                        <a:t>  </a:t>
                      </a:r>
                      <a:r>
                        <a:rPr lang="en-US" b="0" u="sng" dirty="0" err="1">
                          <a:solidFill>
                            <a:schemeClr val="tx1"/>
                          </a:solidFill>
                        </a:rPr>
                        <a:t>b</a:t>
                      </a:r>
                      <a:endParaRPr lang="en-US" b="0" u="sn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E5AF2306-902C-4F0A-A405-A2A0005FACEE}"/>
              </a:ext>
            </a:extLst>
          </p:cNvPr>
          <p:cNvSpPr txBox="1">
            <a:spLocks/>
          </p:cNvSpPr>
          <p:nvPr/>
        </p:nvSpPr>
        <p:spPr bwMode="auto">
          <a:xfrm>
            <a:off x="3505200" y="2819400"/>
            <a:ext cx="4800600" cy="281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36538" indent="-227013">
              <a:spcBef>
                <a:spcPct val="20000"/>
              </a:spcBef>
              <a:buClr>
                <a:srgbClr val="003C75"/>
              </a:buClr>
              <a:buSzPct val="120000"/>
              <a:buFont typeface="Arial"/>
              <a:buChar char="•"/>
              <a:defRPr/>
            </a:pPr>
            <a:r>
              <a:rPr lang="en-US" kern="0" dirty="0">
                <a:latin typeface="+mn-lt"/>
                <a:ea typeface="+mn-ea"/>
                <a:cs typeface="+mn-cs"/>
              </a:rPr>
              <a:t>It requires an arbitrary </a:t>
            </a:r>
            <a:r>
              <a:rPr lang="en-US" kern="0" dirty="0" err="1">
                <a:latin typeface="+mn-lt"/>
                <a:ea typeface="+mn-ea"/>
                <a:cs typeface="+mn-cs"/>
              </a:rPr>
              <a:t>lookahead</a:t>
            </a:r>
            <a:r>
              <a:rPr lang="en-US" kern="0" dirty="0">
                <a:latin typeface="+mn-lt"/>
                <a:ea typeface="+mn-ea"/>
                <a:cs typeface="+mn-cs"/>
              </a:rPr>
              <a:t> to choose between </a:t>
            </a:r>
            <a:r>
              <a:rPr lang="en-US" i="1" kern="0" dirty="0">
                <a:latin typeface="+mn-lt"/>
                <a:ea typeface="+mn-ea"/>
                <a:cs typeface="+mn-cs"/>
              </a:rPr>
              <a:t>A </a:t>
            </a:r>
            <a:r>
              <a:rPr lang="en-US" kern="0" dirty="0">
                <a:latin typeface="+mn-lt"/>
                <a:ea typeface="+mn-ea"/>
                <a:cs typeface="+mn-cs"/>
              </a:rPr>
              <a:t>&amp; </a:t>
            </a:r>
            <a:r>
              <a:rPr lang="en-US" i="1" kern="0" dirty="0">
                <a:latin typeface="+mn-lt"/>
                <a:ea typeface="+mn-ea"/>
                <a:cs typeface="+mn-cs"/>
              </a:rPr>
              <a:t>B</a:t>
            </a:r>
            <a:endParaRPr lang="en-US" kern="0" dirty="0">
              <a:latin typeface="+mn-lt"/>
              <a:ea typeface="+mn-ea"/>
              <a:cs typeface="+mn-cs"/>
            </a:endParaRPr>
          </a:p>
          <a:p>
            <a:pPr marL="236538" indent="-227013">
              <a:spcBef>
                <a:spcPct val="20000"/>
              </a:spcBef>
              <a:buClr>
                <a:srgbClr val="003C75"/>
              </a:buClr>
              <a:buSzPct val="120000"/>
              <a:buFont typeface="Arial"/>
              <a:buChar char="•"/>
              <a:defRPr/>
            </a:pPr>
            <a:r>
              <a:rPr lang="en-US" kern="0" dirty="0">
                <a:latin typeface="+mn-lt"/>
                <a:ea typeface="+mn-ea"/>
                <a:cs typeface="+mn-cs"/>
              </a:rPr>
              <a:t>An LR(1) parser can carry the left context (the ‘</a:t>
            </a:r>
            <a:r>
              <a:rPr lang="en-US" u="sng" kern="0" dirty="0">
                <a:latin typeface="+mn-lt"/>
                <a:ea typeface="+mn-ea"/>
                <a:cs typeface="+mn-cs"/>
              </a:rPr>
              <a:t>(</a:t>
            </a:r>
            <a:r>
              <a:rPr lang="en-US" kern="0" dirty="0">
                <a:latin typeface="+mn-lt"/>
                <a:ea typeface="+mn-ea"/>
                <a:cs typeface="+mn-cs"/>
              </a:rPr>
              <a:t>‘ </a:t>
            </a:r>
            <a:r>
              <a:rPr lang="en-US" kern="0" dirty="0" err="1">
                <a:latin typeface="+mn-lt"/>
                <a:ea typeface="+mn-ea"/>
                <a:cs typeface="+mn-cs"/>
              </a:rPr>
              <a:t>s</a:t>
            </a:r>
            <a:r>
              <a:rPr lang="en-US" kern="0" dirty="0">
                <a:latin typeface="+mn-lt"/>
                <a:ea typeface="+mn-ea"/>
                <a:cs typeface="+mn-cs"/>
              </a:rPr>
              <a:t>) until it sees </a:t>
            </a:r>
            <a:r>
              <a:rPr lang="en-US" u="sng" kern="0" dirty="0">
                <a:latin typeface="+mn-lt"/>
                <a:ea typeface="+mn-ea"/>
                <a:cs typeface="+mn-cs"/>
              </a:rPr>
              <a:t>a</a:t>
            </a:r>
            <a:r>
              <a:rPr lang="en-US" kern="0" dirty="0">
                <a:latin typeface="+mn-lt"/>
                <a:ea typeface="+mn-ea"/>
                <a:cs typeface="+mn-cs"/>
              </a:rPr>
              <a:t> or </a:t>
            </a:r>
            <a:r>
              <a:rPr lang="en-US" u="sng" kern="0" dirty="0" err="1">
                <a:latin typeface="+mn-lt"/>
                <a:ea typeface="+mn-ea"/>
                <a:cs typeface="+mn-cs"/>
              </a:rPr>
              <a:t>b</a:t>
            </a:r>
            <a:r>
              <a:rPr lang="en-US" kern="0" dirty="0">
                <a:latin typeface="+mn-lt"/>
                <a:ea typeface="+mn-ea"/>
                <a:cs typeface="+mn-cs"/>
              </a:rPr>
              <a:t> </a:t>
            </a:r>
          </a:p>
          <a:p>
            <a:pPr marL="236538" indent="-227013">
              <a:spcBef>
                <a:spcPct val="20000"/>
              </a:spcBef>
              <a:buClr>
                <a:srgbClr val="003C75"/>
              </a:buClr>
              <a:buSzPct val="120000"/>
              <a:buFont typeface="Arial"/>
              <a:buChar char="•"/>
              <a:defRPr/>
            </a:pPr>
            <a:r>
              <a:rPr lang="en-US" kern="0" dirty="0">
                <a:latin typeface="+mn-lt"/>
                <a:ea typeface="+mn-ea"/>
                <a:cs typeface="+mn-cs"/>
              </a:rPr>
              <a:t>The table construction will handle it</a:t>
            </a:r>
          </a:p>
          <a:p>
            <a:pPr marL="236538" indent="-227013">
              <a:spcBef>
                <a:spcPct val="20000"/>
              </a:spcBef>
              <a:buClr>
                <a:srgbClr val="003C75"/>
              </a:buClr>
              <a:buSzPct val="120000"/>
              <a:buFont typeface="Arial"/>
              <a:buChar char="•"/>
              <a:defRPr/>
            </a:pPr>
            <a:r>
              <a:rPr lang="en-US" kern="0" dirty="0">
                <a:latin typeface="+mn-lt"/>
                <a:ea typeface="+mn-ea"/>
                <a:cs typeface="+mn-cs"/>
              </a:rPr>
              <a:t>In contrast, an LL(1) parser cannot decide whether to expand </a:t>
            </a:r>
            <a:r>
              <a:rPr lang="en-US" i="1" kern="0" dirty="0">
                <a:latin typeface="+mn-lt"/>
                <a:ea typeface="+mn-ea"/>
                <a:cs typeface="+mn-cs"/>
              </a:rPr>
              <a:t>Goal</a:t>
            </a:r>
            <a:r>
              <a:rPr lang="en-US" kern="0" dirty="0">
                <a:latin typeface="+mn-lt"/>
                <a:ea typeface="+mn-ea"/>
                <a:cs typeface="+mn-cs"/>
              </a:rPr>
              <a:t> by </a:t>
            </a:r>
            <a:r>
              <a:rPr lang="en-US" i="1" kern="0" dirty="0">
                <a:latin typeface="+mn-lt"/>
                <a:ea typeface="+mn-ea"/>
                <a:cs typeface="+mn-cs"/>
              </a:rPr>
              <a:t>A</a:t>
            </a:r>
            <a:r>
              <a:rPr lang="en-US" kern="0" dirty="0">
                <a:latin typeface="+mn-lt"/>
                <a:ea typeface="+mn-ea"/>
                <a:cs typeface="+mn-cs"/>
              </a:rPr>
              <a:t> or </a:t>
            </a:r>
            <a:r>
              <a:rPr lang="en-US" i="1" kern="0" dirty="0">
                <a:latin typeface="+mn-lt"/>
                <a:ea typeface="+mn-ea"/>
                <a:cs typeface="+mn-cs"/>
              </a:rPr>
              <a:t>B</a:t>
            </a:r>
            <a:endParaRPr lang="en-US" kern="0" dirty="0">
              <a:latin typeface="+mn-lt"/>
              <a:ea typeface="+mn-ea"/>
              <a:cs typeface="+mn-cs"/>
            </a:endParaRPr>
          </a:p>
          <a:p>
            <a:pPr marL="514350" lvl="1" indent="-280988">
              <a:spcBef>
                <a:spcPct val="20000"/>
              </a:spcBef>
              <a:buClr>
                <a:srgbClr val="003C75"/>
              </a:buClr>
              <a:buSzPct val="95000"/>
              <a:buFont typeface="Lucida Grande"/>
              <a:buChar char="→"/>
              <a:defRPr/>
            </a:pPr>
            <a:r>
              <a:rPr lang="en-US" sz="1600" i="1" kern="0" dirty="0">
                <a:latin typeface="+mn-lt"/>
                <a:ea typeface="+mn-ea"/>
                <a:cs typeface="+mn-cs"/>
              </a:rPr>
              <a:t>No amount of massaging the grammar will resolve this problem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4C5701D-6800-4761-BB18-B4AED18E9328}"/>
              </a:ext>
            </a:extLst>
          </p:cNvPr>
          <p:cNvSpPr txBox="1"/>
          <p:nvPr/>
        </p:nvSpPr>
        <p:spPr>
          <a:xfrm>
            <a:off x="762000" y="6172200"/>
            <a:ext cx="6172200" cy="461963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>
            <a:spAutoFit/>
          </a:bodyPr>
          <a:lstStyle/>
          <a:p>
            <a:pPr algn="ctr" eaLnBrk="0" hangingPunct="0">
              <a:defRPr/>
            </a:pPr>
            <a:r>
              <a:rPr lang="en-US" sz="120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More precisely, the language described by this LR(1) grammar cannot be described with an LL(1) grammar.  In fact, the language has no LL(</a:t>
            </a:r>
            <a:r>
              <a:rPr lang="en-US" sz="1200" i="1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k</a:t>
            </a:r>
            <a:r>
              <a:rPr lang="en-US" sz="120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) grammar, for finite </a:t>
            </a:r>
            <a:r>
              <a:rPr lang="en-US" sz="1200" i="1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k.</a:t>
            </a:r>
            <a:endParaRPr lang="en-US" sz="1200">
              <a:solidFill>
                <a:srgbClr val="003C75"/>
              </a:solidFill>
              <a:latin typeface="Comic Sans MS" charset="0"/>
              <a:ea typeface="ヒラギノ角ゴ Pro W3" charset="-128"/>
              <a:cs typeface="ヒラギノ角ゴ Pro W3" charset="-128"/>
            </a:endParaRPr>
          </a:p>
        </p:txBody>
      </p:sp>
      <p:sp>
        <p:nvSpPr>
          <p:cNvPr id="19464" name="TextBox 9">
            <a:extLst>
              <a:ext uri="{FF2B5EF4-FFF2-40B4-BE49-F238E27FC236}">
                <a16:creationId xmlns:a16="http://schemas.microsoft.com/office/drawing/2014/main" id="{75C0B4E1-0C43-4ED5-BC96-11A2745322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152400"/>
            <a:ext cx="4267200" cy="369888"/>
          </a:xfrm>
          <a:prstGeom prst="rect">
            <a:avLst/>
          </a:prstGeom>
          <a:solidFill>
            <a:srgbClr val="D9D9D9"/>
          </a:solidFill>
          <a:ln w="19050">
            <a:solidFill>
              <a:srgbClr val="7F7F7F"/>
            </a:solidFill>
            <a:round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 i="1">
                <a:solidFill>
                  <a:srgbClr val="003C75"/>
                </a:solidFill>
              </a:rPr>
              <a:t>Example due to Bill Waite, UC Boulder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Footer Placeholder 1">
            <a:extLst>
              <a:ext uri="{FF2B5EF4-FFF2-40B4-BE49-F238E27FC236}">
                <a16:creationId xmlns:a16="http://schemas.microsoft.com/office/drawing/2014/main" id="{4842085D-6B7F-4436-97B7-94AA8BE57BE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20482" name="Slide Number Placeholder 2">
            <a:extLst>
              <a:ext uri="{FF2B5EF4-FFF2-40B4-BE49-F238E27FC236}">
                <a16:creationId xmlns:a16="http://schemas.microsoft.com/office/drawing/2014/main" id="{6BD5C0B7-4005-4343-9016-1CC7C58AEC5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2F3E5881-D063-4C60-A271-41D1FECDC9B9}" type="slidenum">
              <a:rPr lang="en-US" altLang="it-IT"/>
              <a:pPr/>
              <a:t>3</a:t>
            </a:fld>
            <a:endParaRPr lang="en-US" altLang="it-IT"/>
          </a:p>
        </p:txBody>
      </p:sp>
      <p:sp>
        <p:nvSpPr>
          <p:cNvPr id="20483" name="Title 3">
            <a:extLst>
              <a:ext uri="{FF2B5EF4-FFF2-40B4-BE49-F238E27FC236}">
                <a16:creationId xmlns:a16="http://schemas.microsoft.com/office/drawing/2014/main" id="{80C6C9C5-DE1F-4D6A-9A74-03FCF44859D7}"/>
              </a:ext>
            </a:extLst>
          </p:cNvPr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Building LR(1) Tables for Waite’s Language</a:t>
            </a:r>
          </a:p>
        </p:txBody>
      </p:sp>
      <p:sp>
        <p:nvSpPr>
          <p:cNvPr id="20484" name="Text Placeholder 4">
            <a:extLst>
              <a:ext uri="{FF2B5EF4-FFF2-40B4-BE49-F238E27FC236}">
                <a16:creationId xmlns:a16="http://schemas.microsoft.com/office/drawing/2014/main" id="{DEB6DEA0-1AFC-4291-A8E3-11E65E769772}"/>
              </a:ext>
            </a:extLst>
          </p:cNvPr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buFont typeface="Times" panose="02020603050405020304" pitchFamily="18" charset="0"/>
              <a:buNone/>
            </a:pPr>
            <a:r>
              <a:rPr lang="en-US" altLang="it-IT"/>
              <a:t>The Canonical Collection of Sets of LR(1) Items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90AD1BF-01AD-44FE-AE05-2452F0C17291}"/>
              </a:ext>
            </a:extLst>
          </p:cNvPr>
          <p:cNvGraphicFramePr>
            <a:graphicFrameLocks noGrp="1"/>
          </p:cNvGraphicFramePr>
          <p:nvPr/>
        </p:nvGraphicFramePr>
        <p:xfrm>
          <a:off x="6934201" y="3962400"/>
          <a:ext cx="1904999" cy="218953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>
                    <a:srgbClr val="000000">
                      <a:alpha val="43000"/>
                    </a:srgbClr>
                  </a:outerShdw>
                </a:effectLst>
                <a:tableStyleId>{5C22544A-7EE6-4342-B048-85BDC9FD1C3A}</a:tableStyleId>
              </a:tblPr>
              <a:tblGrid>
                <a:gridCol w="2822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60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96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71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8184"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i="1" dirty="0">
                          <a:solidFill>
                            <a:srgbClr val="000000"/>
                          </a:solidFill>
                        </a:rPr>
                        <a:t>Goal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→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i="1" dirty="0">
                          <a:solidFill>
                            <a:srgbClr val="000000"/>
                          </a:solidFill>
                        </a:rPr>
                        <a:t>S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123"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1" dirty="0">
                          <a:solidFill>
                            <a:schemeClr val="tx1"/>
                          </a:solidFill>
                        </a:rPr>
                        <a:t>S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→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i="1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4123"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|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i="1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4123"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1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→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( </a:t>
                      </a:r>
                      <a:r>
                        <a:rPr lang="en-US" sz="1400" b="0" i="1" u="sng" dirty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sz="1400" b="0" u="sng" dirty="0">
                          <a:solidFill>
                            <a:schemeClr val="tx1"/>
                          </a:solidFill>
                        </a:rPr>
                        <a:t> 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4123"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|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u="none" dirty="0">
                          <a:solidFill>
                            <a:schemeClr val="tx1"/>
                          </a:solidFill>
                        </a:rPr>
                        <a:t>  </a:t>
                      </a:r>
                      <a:r>
                        <a:rPr lang="en-US" sz="1400" b="0" u="sng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4123"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1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→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u="sng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400" b="0" i="1" dirty="0">
                          <a:solidFill>
                            <a:schemeClr val="tx1"/>
                          </a:solidFill>
                        </a:rPr>
                        <a:t>B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400" b="0" u="sng" dirty="0">
                          <a:solidFill>
                            <a:schemeClr val="tx1"/>
                          </a:solidFill>
                        </a:rPr>
                        <a:t>&gt;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4123"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|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u="none" dirty="0">
                          <a:solidFill>
                            <a:schemeClr val="tx1"/>
                          </a:solidFill>
                        </a:rPr>
                        <a:t>  </a:t>
                      </a:r>
                      <a:r>
                        <a:rPr lang="en-US" sz="1400" b="0" u="sng" dirty="0" err="1">
                          <a:solidFill>
                            <a:schemeClr val="tx1"/>
                          </a:solidFill>
                        </a:rPr>
                        <a:t>b</a:t>
                      </a:r>
                      <a:endParaRPr lang="en-US" sz="1400" b="0" u="sn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4909519-2BEA-479A-9114-8EDA5844BA28}"/>
              </a:ext>
            </a:extLst>
          </p:cNvPr>
          <p:cNvGraphicFramePr>
            <a:graphicFrameLocks noGrp="1"/>
          </p:cNvGraphicFramePr>
          <p:nvPr/>
        </p:nvGraphicFramePr>
        <p:xfrm>
          <a:off x="990600" y="1752600"/>
          <a:ext cx="6781800" cy="3758565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384678854"/>
                    </a:ext>
                  </a:extLst>
                </a:gridCol>
                <a:gridCol w="6172200">
                  <a:extLst>
                    <a:ext uri="{9D8B030D-6E8A-4147-A177-3AD203B41FA5}">
                      <a16:colId xmlns:a16="http://schemas.microsoft.com/office/drawing/2014/main" val="1048191229"/>
                    </a:ext>
                  </a:extLst>
                </a:gridCol>
              </a:tblGrid>
              <a:tr h="3714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003C75"/>
                        </a:buClr>
                        <a:buSzPct val="120000"/>
                        <a:buFont typeface="Times" panose="02020603050405020304" pitchFamily="18" charset="0"/>
                        <a:buChar char="•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003C75"/>
                        </a:buClr>
                        <a:buChar char="—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003C75"/>
                        </a:buClr>
                        <a:buSzPct val="90000"/>
                        <a:buFont typeface="Symbol" panose="05050102010706020507" pitchFamily="18" charset="2"/>
                        <a:buChar char=""/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003C75"/>
                        </a:buClr>
                        <a:buChar char="–"/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rgbClr val="003C75"/>
                        </a:buClr>
                        <a:buChar char="»"/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Char char="»"/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Char char="»"/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Char char="»"/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Char char="»"/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it-IT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rPr>
                        <a:t>cc</a:t>
                      </a:r>
                      <a:r>
                        <a:rPr kumimoji="0" lang="en-US" altLang="it-IT" sz="16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rPr>
                        <a:t>0</a:t>
                      </a:r>
                      <a:endParaRPr kumimoji="0" lang="en-US" altLang="it-IT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Clr>
                          <a:srgbClr val="003C75"/>
                        </a:buClr>
                        <a:buSzPct val="120000"/>
                        <a:buFont typeface="Times" panose="02020603050405020304" pitchFamily="18" charset="0"/>
                        <a:buChar char="•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rgbClr val="003C75"/>
                        </a:buClr>
                        <a:buChar char="—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Clr>
                          <a:srgbClr val="003C75"/>
                        </a:buClr>
                        <a:buSzPct val="90000"/>
                        <a:buFont typeface="Symbol" panose="05050102010706020507" pitchFamily="18" charset="2"/>
                        <a:buChar char=""/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Clr>
                          <a:srgbClr val="003C75"/>
                        </a:buClr>
                        <a:buChar char="–"/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Clr>
                          <a:srgbClr val="003C75"/>
                        </a:buClr>
                        <a:buChar char="»"/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Char char="»"/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Char char="»"/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Char char="»"/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Char char="»"/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it-IT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rPr>
                        <a:t>[</a:t>
                      </a:r>
                      <a:r>
                        <a:rPr kumimoji="0" lang="en-US" altLang="it-IT" sz="1600" b="0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rPr>
                        <a:t>Goal</a:t>
                      </a:r>
                      <a:r>
                        <a:rPr kumimoji="0" lang="en-US" altLang="it-IT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rPr>
                        <a:t>→</a:t>
                      </a:r>
                      <a:r>
                        <a:rPr kumimoji="0" lang="en-US" altLang="it-IT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Wingdings" panose="05000000000000000000" pitchFamily="2" charset="2"/>
                          <a:ea typeface="ヒラギノ角ゴ Pro W3"/>
                          <a:cs typeface="ヒラギノ角ゴ Pro W3"/>
                        </a:rPr>
                        <a:t></a:t>
                      </a:r>
                      <a:r>
                        <a:rPr kumimoji="0" lang="en-US" altLang="it-IT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rPr>
                        <a:t>S, </a:t>
                      </a:r>
                      <a:r>
                        <a:rPr kumimoji="0" lang="en-US" altLang="it-IT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rPr>
                        <a:t>EOF</a:t>
                      </a:r>
                      <a:r>
                        <a:rPr kumimoji="0" lang="en-US" altLang="it-IT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rPr>
                        <a:t>], </a:t>
                      </a:r>
                      <a:r>
                        <a:rPr kumimoji="0" lang="en-US" altLang="it-IT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rPr>
                        <a:t>[</a:t>
                      </a:r>
                      <a:r>
                        <a:rPr kumimoji="0" lang="en-US" altLang="it-IT" sz="1600" b="0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rPr>
                        <a:t>S</a:t>
                      </a:r>
                      <a:r>
                        <a:rPr kumimoji="0" lang="en-US" altLang="it-IT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rPr>
                        <a:t>→</a:t>
                      </a:r>
                      <a:r>
                        <a:rPr kumimoji="0" lang="en-US" altLang="it-IT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Wingdings" panose="05000000000000000000" pitchFamily="2" charset="2"/>
                          <a:ea typeface="ヒラギノ角ゴ Pro W3"/>
                          <a:cs typeface="ヒラギノ角ゴ Pro W3"/>
                        </a:rPr>
                        <a:t></a:t>
                      </a:r>
                      <a:r>
                        <a:rPr kumimoji="0" lang="en-US" altLang="it-IT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rPr>
                        <a:t>A, </a:t>
                      </a:r>
                      <a:r>
                        <a:rPr kumimoji="0" lang="en-US" altLang="it-IT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rPr>
                        <a:t>EOF],</a:t>
                      </a:r>
                      <a:r>
                        <a:rPr kumimoji="0" lang="en-US" altLang="it-IT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rPr>
                        <a:t> </a:t>
                      </a:r>
                      <a:r>
                        <a:rPr kumimoji="0" lang="en-US" altLang="it-IT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rPr>
                        <a:t>[</a:t>
                      </a:r>
                      <a:r>
                        <a:rPr kumimoji="0" lang="en-US" altLang="it-IT" sz="1600" b="0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rPr>
                        <a:t>S</a:t>
                      </a:r>
                      <a:r>
                        <a:rPr kumimoji="0" lang="en-US" altLang="it-IT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rPr>
                        <a:t>→</a:t>
                      </a:r>
                      <a:r>
                        <a:rPr kumimoji="0" lang="en-US" altLang="it-IT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Wingdings" panose="05000000000000000000" pitchFamily="2" charset="2"/>
                          <a:ea typeface="ヒラギノ角ゴ Pro W3"/>
                          <a:cs typeface="ヒラギノ角ゴ Pro W3"/>
                        </a:rPr>
                        <a:t></a:t>
                      </a:r>
                      <a:r>
                        <a:rPr kumimoji="0" lang="en-US" altLang="it-IT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rPr>
                        <a:t>B, </a:t>
                      </a:r>
                      <a:r>
                        <a:rPr kumimoji="0" lang="en-US" altLang="it-IT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rPr>
                        <a:t>EOF]</a:t>
                      </a:r>
                      <a:r>
                        <a:rPr kumimoji="0" lang="en-US" altLang="it-IT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rPr>
                        <a:t> [</a:t>
                      </a:r>
                      <a:r>
                        <a:rPr kumimoji="0" lang="en-US" altLang="it-IT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rPr>
                        <a:t>A</a:t>
                      </a:r>
                      <a:r>
                        <a:rPr kumimoji="0" lang="en-US" altLang="it-IT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rPr>
                        <a:t>→</a:t>
                      </a:r>
                      <a:r>
                        <a:rPr kumimoji="0" lang="en-US" altLang="it-IT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Wingdings" panose="05000000000000000000" pitchFamily="2" charset="2"/>
                          <a:ea typeface="ヒラギノ角ゴ Pro W3"/>
                          <a:cs typeface="ヒラギノ角ゴ Pro W3"/>
                        </a:rPr>
                        <a:t></a:t>
                      </a:r>
                      <a:r>
                        <a:rPr kumimoji="0" lang="en-US" altLang="it-IT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rPr>
                        <a:t>(</a:t>
                      </a:r>
                      <a:r>
                        <a:rPr kumimoji="0" lang="en-US" altLang="it-IT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rPr>
                        <a:t> </a:t>
                      </a:r>
                      <a:r>
                        <a:rPr kumimoji="0" lang="en-US" altLang="it-IT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rPr>
                        <a:t>A</a:t>
                      </a:r>
                      <a:r>
                        <a:rPr kumimoji="0" lang="en-US" altLang="it-IT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rPr>
                        <a:t> </a:t>
                      </a:r>
                      <a:r>
                        <a:rPr kumimoji="0" lang="en-US" altLang="it-IT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rPr>
                        <a:t>)</a:t>
                      </a:r>
                      <a:r>
                        <a:rPr kumimoji="0" lang="en-US" altLang="it-IT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rPr>
                        <a:t>, </a:t>
                      </a:r>
                      <a:r>
                        <a:rPr kumimoji="0" lang="en-US" altLang="it-IT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rPr>
                        <a:t>EOF</a:t>
                      </a:r>
                      <a:r>
                        <a:rPr kumimoji="0" lang="en-US" altLang="it-IT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rPr>
                        <a:t>], [</a:t>
                      </a:r>
                      <a:r>
                        <a:rPr kumimoji="0" lang="en-US" altLang="it-IT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rPr>
                        <a:t>A</a:t>
                      </a:r>
                      <a:r>
                        <a:rPr kumimoji="0" lang="en-US" altLang="it-IT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rPr>
                        <a:t>→</a:t>
                      </a:r>
                      <a:r>
                        <a:rPr kumimoji="0" lang="en-US" altLang="it-IT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Wingdings" panose="05000000000000000000" pitchFamily="2" charset="2"/>
                          <a:ea typeface="ヒラギノ角ゴ Pro W3"/>
                          <a:cs typeface="ヒラギノ角ゴ Pro W3"/>
                        </a:rPr>
                        <a:t></a:t>
                      </a:r>
                      <a:r>
                        <a:rPr kumimoji="0" lang="en-US" altLang="it-IT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rPr>
                        <a:t>a</a:t>
                      </a:r>
                      <a:r>
                        <a:rPr kumimoji="0" lang="en-US" altLang="it-IT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rPr>
                        <a:t>, </a:t>
                      </a:r>
                      <a:r>
                        <a:rPr kumimoji="0" lang="en-US" altLang="it-IT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rPr>
                        <a:t>EOF</a:t>
                      </a:r>
                      <a:r>
                        <a:rPr kumimoji="0" lang="en-US" altLang="it-IT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rPr>
                        <a:t>], [</a:t>
                      </a:r>
                      <a:r>
                        <a:rPr kumimoji="0" lang="en-US" altLang="it-IT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rPr>
                        <a:t>B</a:t>
                      </a:r>
                      <a:r>
                        <a:rPr kumimoji="0" lang="en-US" altLang="it-IT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rPr>
                        <a:t>→</a:t>
                      </a:r>
                      <a:r>
                        <a:rPr kumimoji="0" lang="en-US" altLang="it-IT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Wingdings" panose="05000000000000000000" pitchFamily="2" charset="2"/>
                          <a:ea typeface="ヒラギノ角ゴ Pro W3"/>
                          <a:cs typeface="ヒラギノ角ゴ Pro W3"/>
                        </a:rPr>
                        <a:t></a:t>
                      </a:r>
                      <a:r>
                        <a:rPr kumimoji="0" lang="en-US" altLang="it-IT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rPr>
                        <a:t>(</a:t>
                      </a:r>
                      <a:r>
                        <a:rPr kumimoji="0" lang="en-US" altLang="it-IT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rPr>
                        <a:t> </a:t>
                      </a:r>
                      <a:r>
                        <a:rPr kumimoji="0" lang="en-US" altLang="it-IT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rPr>
                        <a:t>B</a:t>
                      </a:r>
                      <a:r>
                        <a:rPr kumimoji="0" lang="en-US" altLang="it-IT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rPr>
                        <a:t> </a:t>
                      </a:r>
                      <a:r>
                        <a:rPr kumimoji="0" lang="en-US" altLang="it-IT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rPr>
                        <a:t>&gt;</a:t>
                      </a:r>
                      <a:r>
                        <a:rPr kumimoji="0" lang="en-US" altLang="it-IT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rPr>
                        <a:t>, </a:t>
                      </a:r>
                      <a:r>
                        <a:rPr kumimoji="0" lang="en-US" altLang="it-IT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rPr>
                        <a:t>EOF</a:t>
                      </a:r>
                      <a:r>
                        <a:rPr kumimoji="0" lang="en-US" altLang="it-IT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rPr>
                        <a:t>], [</a:t>
                      </a:r>
                      <a:r>
                        <a:rPr kumimoji="0" lang="en-US" altLang="it-IT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rPr>
                        <a:t>B</a:t>
                      </a:r>
                      <a:r>
                        <a:rPr kumimoji="0" lang="en-US" altLang="it-IT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rPr>
                        <a:t>→</a:t>
                      </a:r>
                      <a:r>
                        <a:rPr kumimoji="0" lang="en-US" altLang="it-IT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Wingdings" panose="05000000000000000000" pitchFamily="2" charset="2"/>
                          <a:ea typeface="ヒラギノ角ゴ Pro W3"/>
                          <a:cs typeface="ヒラギノ角ゴ Pro W3"/>
                        </a:rPr>
                        <a:t></a:t>
                      </a:r>
                      <a:r>
                        <a:rPr kumimoji="0" lang="en-US" altLang="it-IT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rPr>
                        <a:t>b</a:t>
                      </a:r>
                      <a:r>
                        <a:rPr kumimoji="0" lang="en-US" altLang="it-IT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rPr>
                        <a:t>, </a:t>
                      </a:r>
                      <a:r>
                        <a:rPr kumimoji="0" lang="en-US" altLang="it-IT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rPr>
                        <a:t>EOF</a:t>
                      </a:r>
                      <a:r>
                        <a:rPr kumimoji="0" lang="en-US" altLang="it-IT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rPr>
                        <a:t>],</a:t>
                      </a:r>
                      <a:endParaRPr kumimoji="0" lang="en-US" altLang="it-IT" sz="16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8822695"/>
                  </a:ext>
                </a:extLst>
              </a:tr>
              <a:tr h="3714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003C75"/>
                        </a:buClr>
                        <a:buSzPct val="120000"/>
                        <a:buFont typeface="Times" panose="02020603050405020304" pitchFamily="18" charset="0"/>
                        <a:buChar char="•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003C75"/>
                        </a:buClr>
                        <a:buChar char="—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003C75"/>
                        </a:buClr>
                        <a:buSzPct val="90000"/>
                        <a:buFont typeface="Symbol" panose="05050102010706020507" pitchFamily="18" charset="2"/>
                        <a:buChar char=""/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003C75"/>
                        </a:buClr>
                        <a:buChar char="–"/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rgbClr val="003C75"/>
                        </a:buClr>
                        <a:buChar char="»"/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Char char="»"/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Char char="»"/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Char char="»"/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Char char="»"/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it-IT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rPr>
                        <a:t>cc</a:t>
                      </a:r>
                      <a:r>
                        <a:rPr kumimoji="0" lang="en-US" altLang="it-IT" sz="16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rPr>
                        <a:t>1</a:t>
                      </a:r>
                      <a:endParaRPr kumimoji="0" lang="en-US" altLang="it-IT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Clr>
                          <a:srgbClr val="003C75"/>
                        </a:buClr>
                        <a:buSzPct val="120000"/>
                        <a:buFont typeface="Times" panose="02020603050405020304" pitchFamily="18" charset="0"/>
                        <a:buChar char="•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rgbClr val="003C75"/>
                        </a:buClr>
                        <a:buChar char="—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Clr>
                          <a:srgbClr val="003C75"/>
                        </a:buClr>
                        <a:buSzPct val="90000"/>
                        <a:buFont typeface="Symbol" panose="05050102010706020507" pitchFamily="18" charset="2"/>
                        <a:buChar char=""/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Clr>
                          <a:srgbClr val="003C75"/>
                        </a:buClr>
                        <a:buChar char="–"/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Clr>
                          <a:srgbClr val="003C75"/>
                        </a:buClr>
                        <a:buChar char="»"/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Char char="»"/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Char char="»"/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Char char="»"/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Char char="»"/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it-IT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rPr>
                        <a:t>[</a:t>
                      </a:r>
                      <a:r>
                        <a:rPr kumimoji="0" lang="en-US" altLang="it-IT" sz="1600" b="0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rPr>
                        <a:t>Goal</a:t>
                      </a:r>
                      <a:r>
                        <a:rPr kumimoji="0" lang="en-US" altLang="it-IT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rPr>
                        <a:t>→</a:t>
                      </a:r>
                      <a:r>
                        <a:rPr kumimoji="0" lang="en-US" altLang="it-IT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rPr>
                        <a:t>S </a:t>
                      </a:r>
                      <a:r>
                        <a:rPr kumimoji="0" lang="en-US" altLang="it-IT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Wingdings" panose="05000000000000000000" pitchFamily="2" charset="2"/>
                          <a:ea typeface="ヒラギノ角ゴ Pro W3"/>
                          <a:cs typeface="ヒラギノ角ゴ Pro W3"/>
                        </a:rPr>
                        <a:t></a:t>
                      </a:r>
                      <a:r>
                        <a:rPr kumimoji="0" lang="en-US" altLang="it-IT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rPr>
                        <a:t>, </a:t>
                      </a:r>
                      <a:r>
                        <a:rPr kumimoji="0" lang="en-US" altLang="it-IT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rPr>
                        <a:t>EOF</a:t>
                      </a:r>
                      <a:r>
                        <a:rPr kumimoji="0" lang="en-US" altLang="it-IT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rPr>
                        <a:t>]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7587818"/>
                  </a:ext>
                </a:extLst>
              </a:tr>
              <a:tr h="3714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003C75"/>
                        </a:buClr>
                        <a:buSzPct val="120000"/>
                        <a:buFont typeface="Times" panose="02020603050405020304" pitchFamily="18" charset="0"/>
                        <a:buChar char="•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003C75"/>
                        </a:buClr>
                        <a:buChar char="—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003C75"/>
                        </a:buClr>
                        <a:buSzPct val="90000"/>
                        <a:buFont typeface="Symbol" panose="05050102010706020507" pitchFamily="18" charset="2"/>
                        <a:buChar char=""/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003C75"/>
                        </a:buClr>
                        <a:buChar char="–"/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rgbClr val="003C75"/>
                        </a:buClr>
                        <a:buChar char="»"/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Char char="»"/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Char char="»"/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Char char="»"/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Char char="»"/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it-IT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rPr>
                        <a:t>cc</a:t>
                      </a:r>
                      <a:r>
                        <a:rPr kumimoji="0" lang="en-US" altLang="it-IT" sz="16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rPr>
                        <a:t>2</a:t>
                      </a:r>
                      <a:endParaRPr kumimoji="0" lang="en-US" altLang="it-IT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Clr>
                          <a:srgbClr val="003C75"/>
                        </a:buClr>
                        <a:buSzPct val="120000"/>
                        <a:buFont typeface="Times" panose="02020603050405020304" pitchFamily="18" charset="0"/>
                        <a:buChar char="•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rgbClr val="003C75"/>
                        </a:buClr>
                        <a:buChar char="—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Clr>
                          <a:srgbClr val="003C75"/>
                        </a:buClr>
                        <a:buSzPct val="90000"/>
                        <a:buFont typeface="Symbol" panose="05050102010706020507" pitchFamily="18" charset="2"/>
                        <a:buChar char=""/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Clr>
                          <a:srgbClr val="003C75"/>
                        </a:buClr>
                        <a:buChar char="–"/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Clr>
                          <a:srgbClr val="003C75"/>
                        </a:buClr>
                        <a:buChar char="»"/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Char char="»"/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Char char="»"/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Char char="»"/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Char char="»"/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it-IT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rPr>
                        <a:t>[</a:t>
                      </a:r>
                      <a:r>
                        <a:rPr kumimoji="0" lang="en-US" altLang="it-IT" sz="1600" b="0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rPr>
                        <a:t>S</a:t>
                      </a:r>
                      <a:r>
                        <a:rPr kumimoji="0" lang="en-US" altLang="it-IT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rPr>
                        <a:t>→</a:t>
                      </a:r>
                      <a:r>
                        <a:rPr kumimoji="0" lang="en-US" altLang="it-IT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rPr>
                        <a:t>A</a:t>
                      </a:r>
                      <a:r>
                        <a:rPr kumimoji="0" lang="en-US" altLang="it-IT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Wingdings" panose="05000000000000000000" pitchFamily="2" charset="2"/>
                          <a:ea typeface="ヒラギノ角ゴ Pro W3"/>
                          <a:cs typeface="ヒラギノ角ゴ Pro W3"/>
                        </a:rPr>
                        <a:t></a:t>
                      </a:r>
                      <a:r>
                        <a:rPr kumimoji="0" lang="en-US" altLang="it-IT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rPr>
                        <a:t>,</a:t>
                      </a:r>
                      <a:r>
                        <a:rPr kumimoji="0" lang="en-US" altLang="it-IT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rPr>
                        <a:t>EOF]</a:t>
                      </a:r>
                      <a:endParaRPr kumimoji="0" lang="en-US" altLang="it-IT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408179"/>
                  </a:ext>
                </a:extLst>
              </a:tr>
              <a:tr h="3714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003C75"/>
                        </a:buClr>
                        <a:buSzPct val="120000"/>
                        <a:buFont typeface="Times" panose="02020603050405020304" pitchFamily="18" charset="0"/>
                        <a:buChar char="•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003C75"/>
                        </a:buClr>
                        <a:buChar char="—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003C75"/>
                        </a:buClr>
                        <a:buSzPct val="90000"/>
                        <a:buFont typeface="Symbol" panose="05050102010706020507" pitchFamily="18" charset="2"/>
                        <a:buChar char=""/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003C75"/>
                        </a:buClr>
                        <a:buChar char="–"/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rgbClr val="003C75"/>
                        </a:buClr>
                        <a:buChar char="»"/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Char char="»"/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Char char="»"/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Char char="»"/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Char char="»"/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it-IT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rPr>
                        <a:t>cc</a:t>
                      </a:r>
                      <a:r>
                        <a:rPr kumimoji="0" lang="en-US" altLang="it-IT" sz="16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rPr>
                        <a:t>3</a:t>
                      </a:r>
                      <a:endParaRPr kumimoji="0" lang="en-US" altLang="it-IT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Clr>
                          <a:srgbClr val="003C75"/>
                        </a:buClr>
                        <a:buSzPct val="120000"/>
                        <a:buFont typeface="Times" panose="02020603050405020304" pitchFamily="18" charset="0"/>
                        <a:buChar char="•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rgbClr val="003C75"/>
                        </a:buClr>
                        <a:buChar char="—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Clr>
                          <a:srgbClr val="003C75"/>
                        </a:buClr>
                        <a:buSzPct val="90000"/>
                        <a:buFont typeface="Symbol" panose="05050102010706020507" pitchFamily="18" charset="2"/>
                        <a:buChar char=""/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Clr>
                          <a:srgbClr val="003C75"/>
                        </a:buClr>
                        <a:buChar char="–"/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Clr>
                          <a:srgbClr val="003C75"/>
                        </a:buClr>
                        <a:buChar char="»"/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Char char="»"/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Char char="»"/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Char char="»"/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Char char="»"/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it-IT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rPr>
                        <a:t>[</a:t>
                      </a:r>
                      <a:r>
                        <a:rPr kumimoji="0" lang="en-US" altLang="it-IT" sz="1600" b="0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rPr>
                        <a:t>S</a:t>
                      </a:r>
                      <a:r>
                        <a:rPr kumimoji="0" lang="en-US" altLang="it-IT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rPr>
                        <a:t>→</a:t>
                      </a:r>
                      <a:r>
                        <a:rPr kumimoji="0" lang="en-US" altLang="it-IT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rPr>
                        <a:t>B</a:t>
                      </a:r>
                      <a:r>
                        <a:rPr kumimoji="0" lang="en-US" altLang="it-IT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Wingdings" panose="05000000000000000000" pitchFamily="2" charset="2"/>
                          <a:ea typeface="ヒラギノ角ゴ Pro W3"/>
                          <a:cs typeface="ヒラギノ角ゴ Pro W3"/>
                        </a:rPr>
                        <a:t></a:t>
                      </a:r>
                      <a:r>
                        <a:rPr kumimoji="0" lang="en-US" altLang="it-IT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rPr>
                        <a:t>,</a:t>
                      </a:r>
                      <a:r>
                        <a:rPr kumimoji="0" lang="en-US" altLang="it-IT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rPr>
                        <a:t>EOF]</a:t>
                      </a:r>
                      <a:endParaRPr kumimoji="0" lang="en-US" altLang="it-IT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9124597"/>
                  </a:ext>
                </a:extLst>
              </a:tr>
              <a:tr h="3714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003C75"/>
                        </a:buClr>
                        <a:buSzPct val="120000"/>
                        <a:buFont typeface="Times" panose="02020603050405020304" pitchFamily="18" charset="0"/>
                        <a:buChar char="•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003C75"/>
                        </a:buClr>
                        <a:buChar char="—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003C75"/>
                        </a:buClr>
                        <a:buSzPct val="90000"/>
                        <a:buFont typeface="Symbol" panose="05050102010706020507" pitchFamily="18" charset="2"/>
                        <a:buChar char=""/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003C75"/>
                        </a:buClr>
                        <a:buChar char="–"/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rgbClr val="003C75"/>
                        </a:buClr>
                        <a:buChar char="»"/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Char char="»"/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Char char="»"/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Char char="»"/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Char char="»"/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it-IT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rPr>
                        <a:t>cc</a:t>
                      </a:r>
                      <a:r>
                        <a:rPr kumimoji="0" lang="en-US" altLang="it-IT" sz="16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rPr>
                        <a:t>4</a:t>
                      </a:r>
                      <a:endParaRPr kumimoji="0" lang="en-US" altLang="it-IT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003C75"/>
                        </a:buClr>
                        <a:buSzPct val="120000"/>
                        <a:buFont typeface="Times" panose="02020603050405020304" pitchFamily="18" charset="0"/>
                        <a:buChar char="•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003C75"/>
                        </a:buClr>
                        <a:buChar char="—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003C75"/>
                        </a:buClr>
                        <a:buSzPct val="90000"/>
                        <a:buFont typeface="Symbol" panose="05050102010706020507" pitchFamily="18" charset="2"/>
                        <a:buChar char=""/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003C75"/>
                        </a:buClr>
                        <a:buChar char="–"/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rgbClr val="003C75"/>
                        </a:buClr>
                        <a:buChar char="»"/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Char char="»"/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Char char="»"/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Char char="»"/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Char char="»"/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it-IT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rPr>
                        <a:t>[</a:t>
                      </a:r>
                      <a:r>
                        <a:rPr kumimoji="0" lang="en-US" altLang="it-IT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rPr>
                        <a:t>A</a:t>
                      </a:r>
                      <a:r>
                        <a:rPr kumimoji="0" lang="en-US" altLang="it-IT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rPr>
                        <a:t>→</a:t>
                      </a:r>
                      <a:r>
                        <a:rPr kumimoji="0" lang="en-US" altLang="it-IT" sz="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Wingdings" panose="05000000000000000000" pitchFamily="2" charset="2"/>
                          <a:ea typeface="ヒラギノ角ゴ Pro W3"/>
                          <a:cs typeface="ヒラギノ角ゴ Pro W3"/>
                        </a:rPr>
                        <a:t> </a:t>
                      </a:r>
                      <a:r>
                        <a:rPr kumimoji="0" lang="en-US" altLang="it-IT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rPr>
                        <a:t>(</a:t>
                      </a:r>
                      <a:r>
                        <a:rPr kumimoji="0" lang="en-US" altLang="it-IT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Wingdings" panose="05000000000000000000" pitchFamily="2" charset="2"/>
                          <a:ea typeface="ヒラギノ角ゴ Pro W3"/>
                          <a:cs typeface="ヒラギノ角ゴ Pro W3"/>
                        </a:rPr>
                        <a:t></a:t>
                      </a:r>
                      <a:r>
                        <a:rPr kumimoji="0" lang="en-US" altLang="it-IT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rPr>
                        <a:t> </a:t>
                      </a:r>
                      <a:r>
                        <a:rPr kumimoji="0" lang="en-US" altLang="it-IT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rPr>
                        <a:t>A</a:t>
                      </a:r>
                      <a:r>
                        <a:rPr kumimoji="0" lang="en-US" altLang="it-IT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rPr>
                        <a:t> </a:t>
                      </a:r>
                      <a:r>
                        <a:rPr kumimoji="0" lang="en-US" altLang="it-IT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rPr>
                        <a:t>)</a:t>
                      </a:r>
                      <a:r>
                        <a:rPr kumimoji="0" lang="en-US" altLang="it-IT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rPr>
                        <a:t>, </a:t>
                      </a:r>
                      <a:r>
                        <a:rPr kumimoji="0" lang="en-US" altLang="it-IT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rPr>
                        <a:t>)</a:t>
                      </a:r>
                      <a:r>
                        <a:rPr kumimoji="0" lang="en-US" altLang="it-IT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rPr>
                        <a:t>], [</a:t>
                      </a:r>
                      <a:r>
                        <a:rPr kumimoji="0" lang="en-US" altLang="it-IT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rPr>
                        <a:t>A</a:t>
                      </a:r>
                      <a:r>
                        <a:rPr kumimoji="0" lang="en-US" altLang="it-IT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rPr>
                        <a:t>→ </a:t>
                      </a:r>
                      <a:r>
                        <a:rPr kumimoji="0" lang="en-US" altLang="it-IT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rPr>
                        <a:t>(</a:t>
                      </a:r>
                      <a:r>
                        <a:rPr kumimoji="0" lang="en-US" altLang="it-IT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Wingdings" panose="05000000000000000000" pitchFamily="2" charset="2"/>
                          <a:ea typeface="ヒラギノ角ゴ Pro W3"/>
                          <a:cs typeface="ヒラギノ角ゴ Pro W3"/>
                        </a:rPr>
                        <a:t></a:t>
                      </a:r>
                      <a:r>
                        <a:rPr kumimoji="0" lang="en-US" altLang="it-IT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rPr>
                        <a:t>A</a:t>
                      </a:r>
                      <a:r>
                        <a:rPr kumimoji="0" lang="en-US" altLang="it-IT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rPr>
                        <a:t> </a:t>
                      </a:r>
                      <a:r>
                        <a:rPr kumimoji="0" lang="en-US" altLang="it-IT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rPr>
                        <a:t>)</a:t>
                      </a:r>
                      <a:r>
                        <a:rPr kumimoji="0" lang="en-US" altLang="it-IT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rPr>
                        <a:t>, </a:t>
                      </a:r>
                      <a:r>
                        <a:rPr kumimoji="0" lang="en-US" altLang="it-IT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rPr>
                        <a:t>EOF</a:t>
                      </a:r>
                      <a:r>
                        <a:rPr kumimoji="0" lang="en-US" altLang="it-IT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rPr>
                        <a:t>], [</a:t>
                      </a:r>
                      <a:r>
                        <a:rPr kumimoji="0" lang="en-US" altLang="it-IT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rPr>
                        <a:t>A</a:t>
                      </a:r>
                      <a:r>
                        <a:rPr kumimoji="0" lang="en-US" altLang="it-IT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rPr>
                        <a:t>→</a:t>
                      </a:r>
                      <a:r>
                        <a:rPr kumimoji="0" lang="en-US" altLang="it-IT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Wingdings" panose="05000000000000000000" pitchFamily="2" charset="2"/>
                          <a:ea typeface="ヒラギノ角ゴ Pro W3"/>
                          <a:cs typeface="ヒラギノ角ゴ Pro W3"/>
                        </a:rPr>
                        <a:t></a:t>
                      </a:r>
                      <a:r>
                        <a:rPr kumimoji="0" lang="en-US" altLang="it-IT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rPr>
                        <a:t>a</a:t>
                      </a:r>
                      <a:r>
                        <a:rPr kumimoji="0" lang="en-US" altLang="it-IT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rPr>
                        <a:t>, </a:t>
                      </a:r>
                      <a:r>
                        <a:rPr kumimoji="0" lang="en-US" altLang="it-IT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rPr>
                        <a:t>)</a:t>
                      </a:r>
                      <a:r>
                        <a:rPr kumimoji="0" lang="en-US" altLang="it-IT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rPr>
                        <a:t>], [</a:t>
                      </a:r>
                      <a:r>
                        <a:rPr kumimoji="0" lang="en-US" altLang="it-IT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rPr>
                        <a:t>B</a:t>
                      </a:r>
                      <a:r>
                        <a:rPr kumimoji="0" lang="en-US" altLang="it-IT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rPr>
                        <a:t>→</a:t>
                      </a:r>
                      <a:r>
                        <a:rPr kumimoji="0" lang="en-US" altLang="it-IT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Wingdings" panose="05000000000000000000" pitchFamily="2" charset="2"/>
                          <a:ea typeface="ヒラギノ角ゴ Pro W3"/>
                          <a:cs typeface="ヒラギノ角ゴ Pro W3"/>
                        </a:rPr>
                        <a:t></a:t>
                      </a:r>
                      <a:r>
                        <a:rPr kumimoji="0" lang="en-US" altLang="it-IT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rPr>
                        <a:t> </a:t>
                      </a:r>
                      <a:r>
                        <a:rPr kumimoji="0" lang="en-US" altLang="it-IT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rPr>
                        <a:t>(</a:t>
                      </a:r>
                      <a:r>
                        <a:rPr kumimoji="0" lang="en-US" altLang="it-IT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rPr>
                        <a:t>B</a:t>
                      </a:r>
                      <a:r>
                        <a:rPr kumimoji="0" lang="en-US" altLang="it-IT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rPr>
                        <a:t> </a:t>
                      </a:r>
                      <a:r>
                        <a:rPr kumimoji="0" lang="en-US" altLang="it-IT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rPr>
                        <a:t>&gt;</a:t>
                      </a:r>
                      <a:r>
                        <a:rPr kumimoji="0" lang="en-US" altLang="it-IT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rPr>
                        <a:t>, </a:t>
                      </a:r>
                      <a:r>
                        <a:rPr kumimoji="0" lang="en-US" altLang="it-IT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rPr>
                        <a:t>&gt;</a:t>
                      </a:r>
                      <a:r>
                        <a:rPr kumimoji="0" lang="en-US" altLang="it-IT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rPr>
                        <a:t>],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it-IT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rPr>
                        <a:t>[</a:t>
                      </a:r>
                      <a:r>
                        <a:rPr kumimoji="0" lang="en-US" altLang="it-IT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rPr>
                        <a:t>B</a:t>
                      </a:r>
                      <a:r>
                        <a:rPr kumimoji="0" lang="en-US" altLang="it-IT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rPr>
                        <a:t>→ </a:t>
                      </a:r>
                      <a:r>
                        <a:rPr kumimoji="0" lang="en-US" altLang="it-IT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rPr>
                        <a:t>(</a:t>
                      </a:r>
                      <a:r>
                        <a:rPr kumimoji="0" lang="en-US" altLang="it-IT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Wingdings" panose="05000000000000000000" pitchFamily="2" charset="2"/>
                          <a:ea typeface="ヒラギノ角ゴ Pro W3"/>
                          <a:cs typeface="ヒラギノ角ゴ Pro W3"/>
                        </a:rPr>
                        <a:t></a:t>
                      </a:r>
                      <a:r>
                        <a:rPr kumimoji="0" lang="en-US" altLang="it-IT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rPr>
                        <a:t> </a:t>
                      </a:r>
                      <a:r>
                        <a:rPr kumimoji="0" lang="en-US" altLang="it-IT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rPr>
                        <a:t>B</a:t>
                      </a:r>
                      <a:r>
                        <a:rPr kumimoji="0" lang="en-US" altLang="it-IT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rPr>
                        <a:t> </a:t>
                      </a:r>
                      <a:r>
                        <a:rPr kumimoji="0" lang="en-US" altLang="it-IT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rPr>
                        <a:t>&gt;</a:t>
                      </a:r>
                      <a:r>
                        <a:rPr kumimoji="0" lang="en-US" altLang="it-IT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rPr>
                        <a:t>, </a:t>
                      </a:r>
                      <a:r>
                        <a:rPr kumimoji="0" lang="en-US" altLang="it-IT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rPr>
                        <a:t>EOF</a:t>
                      </a:r>
                      <a:r>
                        <a:rPr kumimoji="0" lang="en-US" altLang="it-IT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rPr>
                        <a:t>], [</a:t>
                      </a:r>
                      <a:r>
                        <a:rPr kumimoji="0" lang="en-US" altLang="it-IT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rPr>
                        <a:t>B</a:t>
                      </a:r>
                      <a:r>
                        <a:rPr kumimoji="0" lang="en-US" altLang="it-IT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rPr>
                        <a:t>→</a:t>
                      </a:r>
                      <a:r>
                        <a:rPr kumimoji="0" lang="en-US" altLang="it-IT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Wingdings" panose="05000000000000000000" pitchFamily="2" charset="2"/>
                          <a:ea typeface="ヒラギノ角ゴ Pro W3"/>
                          <a:cs typeface="ヒラギノ角ゴ Pro W3"/>
                        </a:rPr>
                        <a:t></a:t>
                      </a:r>
                      <a:r>
                        <a:rPr kumimoji="0" lang="en-US" altLang="it-IT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rPr>
                        <a:t>b</a:t>
                      </a:r>
                      <a:r>
                        <a:rPr kumimoji="0" lang="en-US" altLang="it-IT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rPr>
                        <a:t>, </a:t>
                      </a:r>
                      <a:r>
                        <a:rPr kumimoji="0" lang="en-US" altLang="it-IT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rPr>
                        <a:t>&gt;</a:t>
                      </a:r>
                      <a:r>
                        <a:rPr kumimoji="0" lang="en-US" altLang="it-IT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rPr>
                        <a:t>]</a:t>
                      </a:r>
                      <a:endParaRPr kumimoji="0" lang="en-US" altLang="it-IT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4123107"/>
                  </a:ext>
                </a:extLst>
              </a:tr>
              <a:tr h="3714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003C75"/>
                        </a:buClr>
                        <a:buSzPct val="120000"/>
                        <a:buFont typeface="Times" panose="02020603050405020304" pitchFamily="18" charset="0"/>
                        <a:buChar char="•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003C75"/>
                        </a:buClr>
                        <a:buChar char="—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003C75"/>
                        </a:buClr>
                        <a:buSzPct val="90000"/>
                        <a:buFont typeface="Symbol" panose="05050102010706020507" pitchFamily="18" charset="2"/>
                        <a:buChar char=""/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003C75"/>
                        </a:buClr>
                        <a:buChar char="–"/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rgbClr val="003C75"/>
                        </a:buClr>
                        <a:buChar char="»"/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Char char="»"/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Char char="»"/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Char char="»"/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Char char="»"/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it-IT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rPr>
                        <a:t>cc</a:t>
                      </a:r>
                      <a:r>
                        <a:rPr kumimoji="0" lang="en-US" altLang="it-IT" sz="16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rPr>
                        <a:t>5</a:t>
                      </a:r>
                      <a:endParaRPr kumimoji="0" lang="en-US" altLang="it-IT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003C75"/>
                        </a:buClr>
                        <a:buSzPct val="120000"/>
                        <a:buFont typeface="Times" panose="02020603050405020304" pitchFamily="18" charset="0"/>
                        <a:buChar char="•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003C75"/>
                        </a:buClr>
                        <a:buChar char="—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003C75"/>
                        </a:buClr>
                        <a:buSzPct val="90000"/>
                        <a:buFont typeface="Symbol" panose="05050102010706020507" pitchFamily="18" charset="2"/>
                        <a:buChar char=""/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003C75"/>
                        </a:buClr>
                        <a:buChar char="–"/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rgbClr val="003C75"/>
                        </a:buClr>
                        <a:buChar char="»"/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Char char="»"/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Char char="»"/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Char char="»"/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Char char="»"/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it-IT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rPr>
                        <a:t>[</a:t>
                      </a:r>
                      <a:r>
                        <a:rPr kumimoji="0" lang="en-US" altLang="it-IT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rPr>
                        <a:t>A</a:t>
                      </a:r>
                      <a:r>
                        <a:rPr kumimoji="0" lang="en-US" altLang="it-IT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rPr>
                        <a:t>→</a:t>
                      </a:r>
                      <a:r>
                        <a:rPr kumimoji="0" lang="en-US" altLang="it-IT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rPr>
                        <a:t>a</a:t>
                      </a:r>
                      <a:r>
                        <a:rPr kumimoji="0" lang="en-US" altLang="it-IT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Wingdings" panose="05000000000000000000" pitchFamily="2" charset="2"/>
                          <a:ea typeface="ヒラギノ角ゴ Pro W3"/>
                          <a:cs typeface="ヒラギノ角ゴ Pro W3"/>
                        </a:rPr>
                        <a:t></a:t>
                      </a:r>
                      <a:r>
                        <a:rPr kumimoji="0" lang="en-US" altLang="it-IT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rPr>
                        <a:t>, </a:t>
                      </a:r>
                      <a:r>
                        <a:rPr kumimoji="0" lang="en-US" altLang="it-IT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rPr>
                        <a:t>EOF</a:t>
                      </a:r>
                      <a:r>
                        <a:rPr kumimoji="0" lang="en-US" altLang="it-IT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rPr>
                        <a:t>]</a:t>
                      </a:r>
                      <a:endParaRPr kumimoji="0" lang="en-US" altLang="it-IT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9286947"/>
                  </a:ext>
                </a:extLst>
              </a:tr>
              <a:tr h="3714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003C75"/>
                        </a:buClr>
                        <a:buSzPct val="120000"/>
                        <a:buFont typeface="Times" panose="02020603050405020304" pitchFamily="18" charset="0"/>
                        <a:buChar char="•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003C75"/>
                        </a:buClr>
                        <a:buChar char="—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003C75"/>
                        </a:buClr>
                        <a:buSzPct val="90000"/>
                        <a:buFont typeface="Symbol" panose="05050102010706020507" pitchFamily="18" charset="2"/>
                        <a:buChar char=""/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003C75"/>
                        </a:buClr>
                        <a:buChar char="–"/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rgbClr val="003C75"/>
                        </a:buClr>
                        <a:buChar char="»"/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Char char="»"/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Char char="»"/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Char char="»"/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Char char="»"/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it-IT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rPr>
                        <a:t>cc</a:t>
                      </a:r>
                      <a:r>
                        <a:rPr kumimoji="0" lang="en-US" altLang="it-IT" sz="16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rPr>
                        <a:t>6</a:t>
                      </a:r>
                      <a:endParaRPr kumimoji="0" lang="en-US" altLang="it-IT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003C75"/>
                        </a:buClr>
                        <a:buSzPct val="120000"/>
                        <a:buFont typeface="Times" panose="02020603050405020304" pitchFamily="18" charset="0"/>
                        <a:buChar char="•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003C75"/>
                        </a:buClr>
                        <a:buChar char="—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003C75"/>
                        </a:buClr>
                        <a:buSzPct val="90000"/>
                        <a:buFont typeface="Symbol" panose="05050102010706020507" pitchFamily="18" charset="2"/>
                        <a:buChar char=""/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003C75"/>
                        </a:buClr>
                        <a:buChar char="–"/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rgbClr val="003C75"/>
                        </a:buClr>
                        <a:buChar char="»"/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Char char="»"/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Char char="»"/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Char char="»"/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Char char="»"/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it-IT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rPr>
                        <a:t>[</a:t>
                      </a:r>
                      <a:r>
                        <a:rPr kumimoji="0" lang="en-US" altLang="it-IT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rPr>
                        <a:t>B</a:t>
                      </a:r>
                      <a:r>
                        <a:rPr kumimoji="0" lang="en-US" altLang="it-IT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rPr>
                        <a:t>→</a:t>
                      </a:r>
                      <a:r>
                        <a:rPr kumimoji="0" lang="en-US" altLang="it-IT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rPr>
                        <a:t>b</a:t>
                      </a:r>
                      <a:r>
                        <a:rPr kumimoji="0" lang="en-US" altLang="it-IT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Wingdings" panose="05000000000000000000" pitchFamily="2" charset="2"/>
                          <a:ea typeface="ヒラギノ角ゴ Pro W3"/>
                          <a:cs typeface="ヒラギノ角ゴ Pro W3"/>
                        </a:rPr>
                        <a:t></a:t>
                      </a:r>
                      <a:r>
                        <a:rPr kumimoji="0" lang="en-US" altLang="it-IT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rPr>
                        <a:t>, </a:t>
                      </a:r>
                      <a:r>
                        <a:rPr kumimoji="0" lang="en-US" altLang="it-IT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rPr>
                        <a:t>EOF</a:t>
                      </a:r>
                      <a:r>
                        <a:rPr kumimoji="0" lang="en-US" altLang="it-IT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rPr>
                        <a:t>]</a:t>
                      </a:r>
                      <a:endParaRPr kumimoji="0" lang="en-US" altLang="it-IT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9597105"/>
                  </a:ext>
                </a:extLst>
              </a:tr>
              <a:tr h="3714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003C75"/>
                        </a:buClr>
                        <a:buSzPct val="120000"/>
                        <a:buFont typeface="Times" panose="02020603050405020304" pitchFamily="18" charset="0"/>
                        <a:buChar char="•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003C75"/>
                        </a:buClr>
                        <a:buChar char="—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003C75"/>
                        </a:buClr>
                        <a:buSzPct val="90000"/>
                        <a:buFont typeface="Symbol" panose="05050102010706020507" pitchFamily="18" charset="2"/>
                        <a:buChar char=""/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003C75"/>
                        </a:buClr>
                        <a:buChar char="–"/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rgbClr val="003C75"/>
                        </a:buClr>
                        <a:buChar char="»"/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Char char="»"/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Char char="»"/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Char char="»"/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Char char="»"/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it-IT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rPr>
                        <a:t>cc</a:t>
                      </a:r>
                      <a:r>
                        <a:rPr kumimoji="0" lang="en-US" altLang="it-IT" sz="16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rPr>
                        <a:t>7</a:t>
                      </a:r>
                      <a:endParaRPr kumimoji="0" lang="en-US" altLang="it-IT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003C75"/>
                        </a:buClr>
                        <a:buSzPct val="120000"/>
                        <a:buFont typeface="Times" panose="02020603050405020304" pitchFamily="18" charset="0"/>
                        <a:buChar char="•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003C75"/>
                        </a:buClr>
                        <a:buChar char="—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003C75"/>
                        </a:buClr>
                        <a:buSzPct val="90000"/>
                        <a:buFont typeface="Symbol" panose="05050102010706020507" pitchFamily="18" charset="2"/>
                        <a:buChar char=""/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003C75"/>
                        </a:buClr>
                        <a:buChar char="–"/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rgbClr val="003C75"/>
                        </a:buClr>
                        <a:buChar char="»"/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Char char="»"/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Char char="»"/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Char char="»"/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Char char="»"/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it-IT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rPr>
                        <a:t>[</a:t>
                      </a:r>
                      <a:r>
                        <a:rPr kumimoji="0" lang="en-US" altLang="it-IT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rPr>
                        <a:t>A</a:t>
                      </a:r>
                      <a:r>
                        <a:rPr kumimoji="0" lang="en-US" altLang="it-IT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rPr>
                        <a:t>→ </a:t>
                      </a:r>
                      <a:r>
                        <a:rPr kumimoji="0" lang="en-US" altLang="it-IT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rPr>
                        <a:t>(</a:t>
                      </a:r>
                      <a:r>
                        <a:rPr kumimoji="0" lang="en-US" altLang="it-IT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rPr>
                        <a:t> </a:t>
                      </a:r>
                      <a:r>
                        <a:rPr kumimoji="0" lang="en-US" altLang="it-IT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rPr>
                        <a:t>A </a:t>
                      </a:r>
                      <a:r>
                        <a:rPr kumimoji="0" lang="en-US" altLang="it-IT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Wingdings" panose="05000000000000000000" pitchFamily="2" charset="2"/>
                          <a:ea typeface="ヒラギノ角ゴ Pro W3"/>
                          <a:cs typeface="ヒラギノ角ゴ Pro W3"/>
                        </a:rPr>
                        <a:t></a:t>
                      </a:r>
                      <a:r>
                        <a:rPr kumimoji="0" lang="en-US" altLang="it-IT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rPr>
                        <a:t> </a:t>
                      </a:r>
                      <a:r>
                        <a:rPr kumimoji="0" lang="en-US" altLang="it-IT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rPr>
                        <a:t>)</a:t>
                      </a:r>
                      <a:r>
                        <a:rPr kumimoji="0" lang="en-US" altLang="it-IT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rPr>
                        <a:t>, </a:t>
                      </a:r>
                      <a:r>
                        <a:rPr kumimoji="0" lang="en-US" altLang="it-IT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rPr>
                        <a:t>EOF</a:t>
                      </a:r>
                      <a:r>
                        <a:rPr kumimoji="0" lang="en-US" altLang="it-IT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rPr>
                        <a:t>]</a:t>
                      </a:r>
                      <a:endParaRPr kumimoji="0" lang="en-US" altLang="it-IT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1665220"/>
                  </a:ext>
                </a:extLst>
              </a:tr>
              <a:tr h="3714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003C75"/>
                        </a:buClr>
                        <a:buSzPct val="120000"/>
                        <a:buFont typeface="Times" panose="02020603050405020304" pitchFamily="18" charset="0"/>
                        <a:buChar char="•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003C75"/>
                        </a:buClr>
                        <a:buChar char="—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003C75"/>
                        </a:buClr>
                        <a:buSzPct val="90000"/>
                        <a:buFont typeface="Symbol" panose="05050102010706020507" pitchFamily="18" charset="2"/>
                        <a:buChar char=""/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003C75"/>
                        </a:buClr>
                        <a:buChar char="–"/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rgbClr val="003C75"/>
                        </a:buClr>
                        <a:buChar char="»"/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Char char="»"/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Char char="»"/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Char char="»"/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Char char="»"/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it-IT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rPr>
                        <a:t>cc</a:t>
                      </a:r>
                      <a:r>
                        <a:rPr kumimoji="0" lang="en-US" altLang="it-IT" sz="16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rPr>
                        <a:t>8</a:t>
                      </a:r>
                      <a:endParaRPr kumimoji="0" lang="en-US" altLang="it-IT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003C75"/>
                        </a:buClr>
                        <a:buSzPct val="120000"/>
                        <a:buFont typeface="Times" panose="02020603050405020304" pitchFamily="18" charset="0"/>
                        <a:buChar char="•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003C75"/>
                        </a:buClr>
                        <a:buChar char="—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003C75"/>
                        </a:buClr>
                        <a:buSzPct val="90000"/>
                        <a:buFont typeface="Symbol" panose="05050102010706020507" pitchFamily="18" charset="2"/>
                        <a:buChar char=""/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003C75"/>
                        </a:buClr>
                        <a:buChar char="–"/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rgbClr val="003C75"/>
                        </a:buClr>
                        <a:buChar char="»"/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Char char="»"/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Char char="»"/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Char char="»"/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Char char="»"/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it-IT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rPr>
                        <a:t>[</a:t>
                      </a:r>
                      <a:r>
                        <a:rPr kumimoji="0" lang="en-US" altLang="it-IT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rPr>
                        <a:t>B</a:t>
                      </a:r>
                      <a:r>
                        <a:rPr kumimoji="0" lang="en-US" altLang="it-IT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rPr>
                        <a:t>→ </a:t>
                      </a:r>
                      <a:r>
                        <a:rPr kumimoji="0" lang="en-US" altLang="it-IT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rPr>
                        <a:t>(</a:t>
                      </a:r>
                      <a:r>
                        <a:rPr kumimoji="0" lang="en-US" altLang="it-IT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rPr>
                        <a:t> </a:t>
                      </a:r>
                      <a:r>
                        <a:rPr kumimoji="0" lang="en-US" altLang="it-IT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rPr>
                        <a:t>B </a:t>
                      </a:r>
                      <a:r>
                        <a:rPr kumimoji="0" lang="en-US" altLang="it-IT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Wingdings" panose="05000000000000000000" pitchFamily="2" charset="2"/>
                          <a:ea typeface="ヒラギノ角ゴ Pro W3"/>
                          <a:cs typeface="ヒラギノ角ゴ Pro W3"/>
                        </a:rPr>
                        <a:t></a:t>
                      </a:r>
                      <a:r>
                        <a:rPr kumimoji="0" lang="en-US" altLang="it-IT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rPr>
                        <a:t> </a:t>
                      </a:r>
                      <a:r>
                        <a:rPr kumimoji="0" lang="en-US" altLang="it-IT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rPr>
                        <a:t>&gt;</a:t>
                      </a:r>
                      <a:r>
                        <a:rPr kumimoji="0" lang="en-US" altLang="it-IT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rPr>
                        <a:t>, </a:t>
                      </a:r>
                      <a:r>
                        <a:rPr kumimoji="0" lang="en-US" altLang="it-IT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rPr>
                        <a:t>EOF</a:t>
                      </a:r>
                      <a:r>
                        <a:rPr kumimoji="0" lang="en-US" altLang="it-IT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ヒラギノ角ゴ Pro W3"/>
                          <a:cs typeface="ヒラギノ角ゴ Pro W3"/>
                        </a:rPr>
                        <a:t>]</a:t>
                      </a:r>
                      <a:endParaRPr kumimoji="0" lang="en-US" altLang="it-IT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8246056"/>
                  </a:ext>
                </a:extLst>
              </a:tr>
            </a:tbl>
          </a:graphicData>
        </a:graphic>
      </p:graphicFrame>
      <p:grpSp>
        <p:nvGrpSpPr>
          <p:cNvPr id="20505" name="Group 12">
            <a:extLst>
              <a:ext uri="{FF2B5EF4-FFF2-40B4-BE49-F238E27FC236}">
                <a16:creationId xmlns:a16="http://schemas.microsoft.com/office/drawing/2014/main" id="{397E0608-E968-4FB0-B5C5-10DB87507574}"/>
              </a:ext>
            </a:extLst>
          </p:cNvPr>
          <p:cNvGrpSpPr>
            <a:grpSpLocks/>
          </p:cNvGrpSpPr>
          <p:nvPr/>
        </p:nvGrpSpPr>
        <p:grpSpPr bwMode="auto">
          <a:xfrm>
            <a:off x="6864350" y="2743200"/>
            <a:ext cx="1822450" cy="720725"/>
            <a:chOff x="6864938" y="2743200"/>
            <a:chExt cx="1821862" cy="720212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12E5078-13E5-48FC-9910-4368BA146343}"/>
                </a:ext>
              </a:extLst>
            </p:cNvPr>
            <p:cNvSpPr txBox="1"/>
            <p:nvPr/>
          </p:nvSpPr>
          <p:spPr bwMode="auto">
            <a:xfrm>
              <a:off x="7391818" y="2743200"/>
              <a:ext cx="1294982" cy="26175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 cap="flat" cmpd="sng" algn="ctr">
              <a:solidFill>
                <a:schemeClr val="bg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algn="ctr" eaLnBrk="0" hangingPunct="0">
                <a:defRPr/>
              </a:pPr>
              <a:r>
                <a:rPr lang="en-US" sz="1050" dirty="0">
                  <a:solidFill>
                    <a:srgbClr val="000090"/>
                  </a:solidFill>
                  <a:latin typeface="Comic Sans MS" charset="0"/>
                  <a:ea typeface="ヒラギノ角ゴ Pro W3" charset="-128"/>
                  <a:cs typeface="ヒラギノ角ゴ Pro W3" charset="-128"/>
                </a:rPr>
                <a:t>cc</a:t>
              </a:r>
              <a:r>
                <a:rPr lang="en-US" sz="1050" baseline="-25000" dirty="0">
                  <a:solidFill>
                    <a:srgbClr val="000090"/>
                  </a:solidFill>
                  <a:latin typeface="Comic Sans MS" charset="0"/>
                  <a:ea typeface="ヒラギノ角ゴ Pro W3" charset="-128"/>
                  <a:cs typeface="ヒラギノ角ゴ Pro W3" charset="-128"/>
                </a:rPr>
                <a:t>4</a:t>
              </a:r>
              <a:r>
                <a:rPr lang="en-US" sz="1050" dirty="0">
                  <a:solidFill>
                    <a:srgbClr val="000090"/>
                  </a:solidFill>
                  <a:latin typeface="Comic Sans MS" charset="0"/>
                  <a:ea typeface="ヒラギノ角ゴ Pro W3" charset="-128"/>
                  <a:cs typeface="ヒラギノ角ゴ Pro W3" charset="-128"/>
                </a:rPr>
                <a:t> is goto(cc</a:t>
              </a:r>
              <a:r>
                <a:rPr lang="en-US" sz="1050" baseline="-25000" dirty="0">
                  <a:solidFill>
                    <a:srgbClr val="000090"/>
                  </a:solidFill>
                  <a:latin typeface="Comic Sans MS" charset="0"/>
                  <a:ea typeface="ヒラギノ角ゴ Pro W3" charset="-128"/>
                  <a:cs typeface="ヒラギノ角ゴ Pro W3" charset="-128"/>
                </a:rPr>
                <a:t>0</a:t>
              </a:r>
              <a:r>
                <a:rPr lang="en-US" sz="1050" dirty="0">
                  <a:solidFill>
                    <a:srgbClr val="000090"/>
                  </a:solidFill>
                  <a:latin typeface="Comic Sans MS" charset="0"/>
                  <a:ea typeface="ヒラギノ角ゴ Pro W3" charset="-128"/>
                  <a:cs typeface="ヒラギノ角ゴ Pro W3" charset="-128"/>
                </a:rPr>
                <a:t>, </a:t>
              </a:r>
              <a:r>
                <a:rPr lang="en-US" sz="1050" u="sng" dirty="0">
                  <a:solidFill>
                    <a:srgbClr val="000090"/>
                  </a:solidFill>
                  <a:latin typeface="Comic Sans MS" charset="0"/>
                  <a:ea typeface="ヒラギノ角ゴ Pro W3" charset="-128"/>
                  <a:cs typeface="ヒラギノ角ゴ Pro W3" charset="-128"/>
                </a:rPr>
                <a:t>(</a:t>
              </a:r>
              <a:r>
                <a:rPr lang="en-US" sz="1050" dirty="0">
                  <a:solidFill>
                    <a:srgbClr val="000090"/>
                  </a:solidFill>
                  <a:latin typeface="Comic Sans MS" charset="0"/>
                  <a:ea typeface="ヒラギノ角ゴ Pro W3" charset="-128"/>
                  <a:cs typeface="ヒラギノ角ゴ Pro W3" charset="-128"/>
                </a:rPr>
                <a:t> )</a:t>
              </a:r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D88A1EB2-A8CD-4482-94D1-7D4778BCDDD6}"/>
                </a:ext>
              </a:extLst>
            </p:cNvPr>
            <p:cNvSpPr/>
            <p:nvPr/>
          </p:nvSpPr>
          <p:spPr bwMode="auto">
            <a:xfrm>
              <a:off x="6864938" y="2859006"/>
              <a:ext cx="533228" cy="604406"/>
            </a:xfrm>
            <a:custGeom>
              <a:avLst/>
              <a:gdLst>
                <a:gd name="connsiteX0" fmla="*/ 532854 w 532854"/>
                <a:gd name="connsiteY0" fmla="*/ 0 h 603877"/>
                <a:gd name="connsiteX1" fmla="*/ 186499 w 532854"/>
                <a:gd name="connsiteY1" fmla="*/ 275297 h 603877"/>
                <a:gd name="connsiteX2" fmla="*/ 408522 w 532854"/>
                <a:gd name="connsiteY2" fmla="*/ 293058 h 603877"/>
                <a:gd name="connsiteX3" fmla="*/ 0 w 532854"/>
                <a:gd name="connsiteY3" fmla="*/ 603877 h 6038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2854" h="603877">
                  <a:moveTo>
                    <a:pt x="532854" y="0"/>
                  </a:moveTo>
                  <a:cubicBezTo>
                    <a:pt x="370037" y="113227"/>
                    <a:pt x="207221" y="226454"/>
                    <a:pt x="186499" y="275297"/>
                  </a:cubicBezTo>
                  <a:cubicBezTo>
                    <a:pt x="165777" y="324140"/>
                    <a:pt x="439605" y="238295"/>
                    <a:pt x="408522" y="293058"/>
                  </a:cubicBezTo>
                  <a:cubicBezTo>
                    <a:pt x="377439" y="347821"/>
                    <a:pt x="68087" y="553554"/>
                    <a:pt x="0" y="603877"/>
                  </a:cubicBezTo>
                </a:path>
              </a:pathLst>
            </a:custGeom>
            <a:noFill/>
            <a:ln w="19050" cap="flat" cmpd="sng" algn="ctr">
              <a:solidFill>
                <a:schemeClr val="bg1">
                  <a:lumMod val="50000"/>
                </a:schemeClr>
              </a:solidFill>
              <a:prstDash val="solid"/>
              <a:round/>
              <a:headEnd type="none" w="med" len="med"/>
              <a:tailEnd type="stealth" w="lg" len="lg"/>
            </a:ln>
            <a:effectLst/>
          </p:spPr>
          <p:txBody>
            <a:bodyPr/>
            <a:lstStyle/>
            <a:p>
              <a:pPr eaLnBrk="0" hangingPunct="0">
                <a:defRPr/>
              </a:pPr>
              <a:endParaRPr lang="en-US">
                <a:latin typeface="Comic Sans MS" charset="0"/>
                <a:ea typeface="ヒラギノ角ゴ Pro W3" charset="-128"/>
                <a:cs typeface="ヒラギノ角ゴ Pro W3" charset="-128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Footer Placeholder 1">
            <a:extLst>
              <a:ext uri="{FF2B5EF4-FFF2-40B4-BE49-F238E27FC236}">
                <a16:creationId xmlns:a16="http://schemas.microsoft.com/office/drawing/2014/main" id="{96D7561E-91FB-4DBF-AA0C-3C9C8691B1A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21506" name="Slide Number Placeholder 2">
            <a:extLst>
              <a:ext uri="{FF2B5EF4-FFF2-40B4-BE49-F238E27FC236}">
                <a16:creationId xmlns:a16="http://schemas.microsoft.com/office/drawing/2014/main" id="{267188FC-EB85-436A-8CB6-6E765AFB83B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E75D9A1C-FF97-4FAE-AA0D-34C327EFACC5}" type="slidenum">
              <a:rPr lang="en-US" altLang="it-IT"/>
              <a:pPr/>
              <a:t>4</a:t>
            </a:fld>
            <a:endParaRPr lang="en-US" altLang="it-IT"/>
          </a:p>
        </p:txBody>
      </p:sp>
      <p:sp>
        <p:nvSpPr>
          <p:cNvPr id="21507" name="Title 3">
            <a:extLst>
              <a:ext uri="{FF2B5EF4-FFF2-40B4-BE49-F238E27FC236}">
                <a16:creationId xmlns:a16="http://schemas.microsoft.com/office/drawing/2014/main" id="{236ED543-8ABF-4562-A940-F4099016F283}"/>
              </a:ext>
            </a:extLst>
          </p:cNvPr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Building LR(1) Tables for Waite’s Language</a:t>
            </a:r>
          </a:p>
        </p:txBody>
      </p:sp>
      <p:sp>
        <p:nvSpPr>
          <p:cNvPr id="21508" name="Text Placeholder 4">
            <a:extLst>
              <a:ext uri="{FF2B5EF4-FFF2-40B4-BE49-F238E27FC236}">
                <a16:creationId xmlns:a16="http://schemas.microsoft.com/office/drawing/2014/main" id="{C3474E69-FBF7-4746-91D9-0880F22F034C}"/>
              </a:ext>
            </a:extLst>
          </p:cNvPr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buFont typeface="Times" panose="02020603050405020304" pitchFamily="18" charset="0"/>
              <a:buNone/>
            </a:pPr>
            <a:r>
              <a:rPr lang="en-US" altLang="it-IT"/>
              <a:t>And, the rest of it …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098298E-CD42-42E4-933E-3FCCCD8539D6}"/>
              </a:ext>
            </a:extLst>
          </p:cNvPr>
          <p:cNvGraphicFramePr>
            <a:graphicFrameLocks noGrp="1"/>
          </p:cNvGraphicFramePr>
          <p:nvPr/>
        </p:nvGraphicFramePr>
        <p:xfrm>
          <a:off x="6934200" y="3962400"/>
          <a:ext cx="1904999" cy="218953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>
                    <a:srgbClr val="000000">
                      <a:alpha val="43000"/>
                    </a:srgbClr>
                  </a:outerShdw>
                </a:effectLst>
                <a:tableStyleId>{5C22544A-7EE6-4342-B048-85BDC9FD1C3A}</a:tableStyleId>
              </a:tblPr>
              <a:tblGrid>
                <a:gridCol w="2822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60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96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71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8184"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i="1" dirty="0">
                          <a:solidFill>
                            <a:srgbClr val="000000"/>
                          </a:solidFill>
                        </a:rPr>
                        <a:t>Goal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→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i="1" dirty="0">
                          <a:solidFill>
                            <a:srgbClr val="000000"/>
                          </a:solidFill>
                        </a:rPr>
                        <a:t>S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123"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1" dirty="0">
                          <a:solidFill>
                            <a:schemeClr val="tx1"/>
                          </a:solidFill>
                        </a:rPr>
                        <a:t>S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→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i="1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4123"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|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i="1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4123"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1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→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( </a:t>
                      </a:r>
                      <a:r>
                        <a:rPr lang="en-US" sz="1400" b="0" i="1" u="sng" dirty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sz="1400" b="0" u="sng" dirty="0">
                          <a:solidFill>
                            <a:schemeClr val="tx1"/>
                          </a:solidFill>
                        </a:rPr>
                        <a:t> 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4123"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|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u="none" dirty="0">
                          <a:solidFill>
                            <a:schemeClr val="tx1"/>
                          </a:solidFill>
                        </a:rPr>
                        <a:t>  </a:t>
                      </a:r>
                      <a:r>
                        <a:rPr lang="en-US" sz="1400" b="0" u="sng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4123"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1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→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u="sng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400" b="0" i="1" dirty="0">
                          <a:solidFill>
                            <a:schemeClr val="tx1"/>
                          </a:solidFill>
                        </a:rPr>
                        <a:t>B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400" b="0" u="sng" dirty="0">
                          <a:solidFill>
                            <a:schemeClr val="tx1"/>
                          </a:solidFill>
                        </a:rPr>
                        <a:t>&gt;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4123"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|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u="none" dirty="0">
                          <a:solidFill>
                            <a:schemeClr val="tx1"/>
                          </a:solidFill>
                        </a:rPr>
                        <a:t>  </a:t>
                      </a:r>
                      <a:r>
                        <a:rPr lang="en-US" sz="1400" b="0" u="sng" dirty="0" err="1">
                          <a:solidFill>
                            <a:schemeClr val="tx1"/>
                          </a:solidFill>
                        </a:rPr>
                        <a:t>b</a:t>
                      </a:r>
                      <a:endParaRPr lang="en-US" sz="1400" b="0" u="sn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5074895-1B14-47DC-8CD9-3C720BE21E0C}"/>
              </a:ext>
            </a:extLst>
          </p:cNvPr>
          <p:cNvGraphicFramePr>
            <a:graphicFrameLocks noGrp="1"/>
          </p:cNvGraphicFramePr>
          <p:nvPr/>
        </p:nvGraphicFramePr>
        <p:xfrm>
          <a:off x="990600" y="1727200"/>
          <a:ext cx="7543800" cy="360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34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000000"/>
                          </a:solidFill>
                        </a:rPr>
                        <a:t>cc</a:t>
                      </a:r>
                      <a:r>
                        <a:rPr lang="en-US" sz="1600" b="0" baseline="-25000" dirty="0">
                          <a:solidFill>
                            <a:srgbClr val="000000"/>
                          </a:solidFill>
                        </a:rPr>
                        <a:t>9</a:t>
                      </a:r>
                      <a:endParaRPr lang="en-US" sz="1600" b="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u="none" dirty="0">
                          <a:solidFill>
                            <a:schemeClr val="tx1"/>
                          </a:solidFill>
                        </a:rPr>
                        <a:t>[</a:t>
                      </a:r>
                      <a:r>
                        <a:rPr lang="en-US" sz="1800" b="0" i="1" u="none" dirty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→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800" b="0" i="0" u="sng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en-US" sz="1800" b="0" i="0" u="none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chemeClr val="tx1"/>
                          </a:solidFill>
                          <a:latin typeface="Wingdings"/>
                          <a:ea typeface="Wingdings"/>
                          <a:cs typeface="Wingdings"/>
                        </a:rPr>
                        <a:t></a:t>
                      </a:r>
                      <a:r>
                        <a:rPr lang="en-US" sz="1800" b="0" i="0" u="none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800" b="0" i="1" u="none" baseline="0" dirty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sz="1800" b="0" i="0" u="none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800" b="0" i="0" u="sng" baseline="0" dirty="0">
                          <a:solidFill>
                            <a:schemeClr val="tx1"/>
                          </a:solidFill>
                        </a:rPr>
                        <a:t>)</a:t>
                      </a:r>
                      <a:r>
                        <a:rPr lang="en-US" sz="1800" b="0" i="0" u="none" baseline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en-US" sz="1800" b="0" i="0" u="sng" baseline="0" dirty="0">
                          <a:solidFill>
                            <a:schemeClr val="tx1"/>
                          </a:solidFill>
                        </a:rPr>
                        <a:t>)</a:t>
                      </a:r>
                      <a:r>
                        <a:rPr lang="en-US" sz="1800" b="0" i="0" u="none" baseline="0" dirty="0">
                          <a:solidFill>
                            <a:schemeClr val="tx1"/>
                          </a:solidFill>
                        </a:rPr>
                        <a:t>], </a:t>
                      </a:r>
                      <a:r>
                        <a:rPr lang="en-US" sz="1800" b="0" u="none" dirty="0">
                          <a:solidFill>
                            <a:schemeClr val="tx1"/>
                          </a:solidFill>
                        </a:rPr>
                        <a:t>[</a:t>
                      </a:r>
                      <a:r>
                        <a:rPr lang="en-US" sz="1800" b="0" i="1" u="none" dirty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→</a:t>
                      </a:r>
                      <a:r>
                        <a:rPr lang="en-US" sz="1800" b="0" baseline="0" dirty="0">
                          <a:solidFill>
                            <a:schemeClr val="tx1"/>
                          </a:solidFill>
                          <a:latin typeface="+mn-lt"/>
                          <a:ea typeface="Wingdings"/>
                          <a:cs typeface="Wingdings"/>
                        </a:rPr>
                        <a:t> </a:t>
                      </a:r>
                      <a:r>
                        <a:rPr lang="en-US" sz="1800" b="0" i="0" u="sng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Wingdings"/>
                          <a:ea typeface="Wingdings"/>
                          <a:cs typeface="Wingdings"/>
                        </a:rPr>
                        <a:t></a:t>
                      </a:r>
                      <a:r>
                        <a:rPr lang="en-US" sz="1800" b="0" i="1" u="none" baseline="0" dirty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sz="1800" b="0" i="0" u="none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800" b="0" i="0" u="sng" baseline="0" dirty="0">
                          <a:solidFill>
                            <a:schemeClr val="tx1"/>
                          </a:solidFill>
                        </a:rPr>
                        <a:t>)</a:t>
                      </a:r>
                      <a:r>
                        <a:rPr lang="en-US" sz="1800" b="0" i="0" u="none" baseline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en-US" sz="1800" b="0" i="0" u="sng" baseline="0" dirty="0">
                          <a:solidFill>
                            <a:schemeClr val="tx1"/>
                          </a:solidFill>
                        </a:rPr>
                        <a:t>)</a:t>
                      </a:r>
                      <a:r>
                        <a:rPr lang="en-US" sz="1800" b="0" i="0" u="none" baseline="0" dirty="0">
                          <a:solidFill>
                            <a:schemeClr val="tx1"/>
                          </a:solidFill>
                        </a:rPr>
                        <a:t>], </a:t>
                      </a:r>
                      <a:r>
                        <a:rPr lang="en-US" sz="1800" b="0" u="none" dirty="0">
                          <a:solidFill>
                            <a:schemeClr val="tx1"/>
                          </a:solidFill>
                        </a:rPr>
                        <a:t>[</a:t>
                      </a:r>
                      <a:r>
                        <a:rPr lang="en-US" sz="1800" b="0" i="1" u="none" dirty="0" err="1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sz="1800" b="0" dirty="0" err="1">
                          <a:solidFill>
                            <a:schemeClr val="tx1"/>
                          </a:solidFill>
                        </a:rPr>
                        <a:t>→</a:t>
                      </a:r>
                      <a:r>
                        <a:rPr lang="en-US" sz="1800" b="0" dirty="0" err="1">
                          <a:solidFill>
                            <a:schemeClr val="tx1"/>
                          </a:solidFill>
                          <a:latin typeface="Wingdings"/>
                          <a:ea typeface="Wingdings"/>
                          <a:cs typeface="Wingdings"/>
                        </a:rPr>
                        <a:t></a:t>
                      </a:r>
                      <a:r>
                        <a:rPr lang="en-US" sz="1800" b="0" i="0" u="sng" baseline="0" dirty="0" err="1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sz="1800" b="0" i="0" u="none" baseline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en-US" sz="1800" b="0" i="0" u="sng" baseline="0" dirty="0">
                          <a:solidFill>
                            <a:schemeClr val="tx1"/>
                          </a:solidFill>
                        </a:rPr>
                        <a:t>)</a:t>
                      </a:r>
                      <a:r>
                        <a:rPr lang="en-US" sz="1800" b="0" i="0" u="none" baseline="0" dirty="0">
                          <a:solidFill>
                            <a:schemeClr val="tx1"/>
                          </a:solidFill>
                        </a:rPr>
                        <a:t>],</a:t>
                      </a:r>
                      <a:r>
                        <a:rPr lang="en-US" sz="1800" b="0" u="none" dirty="0">
                          <a:solidFill>
                            <a:schemeClr val="tx1"/>
                          </a:solidFill>
                        </a:rPr>
                        <a:t> [</a:t>
                      </a:r>
                      <a:r>
                        <a:rPr lang="en-US" sz="1800" b="0" i="1" u="none" dirty="0">
                          <a:solidFill>
                            <a:schemeClr val="tx1"/>
                          </a:solidFill>
                        </a:rPr>
                        <a:t>B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→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Wingdings"/>
                          <a:ea typeface="Wingdings"/>
                          <a:cs typeface="Wingdings"/>
                        </a:rPr>
                        <a:t>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+mn-lt"/>
                          <a:ea typeface="Wingdings"/>
                          <a:cs typeface="Wingdings"/>
                        </a:rPr>
                        <a:t> </a:t>
                      </a:r>
                      <a:r>
                        <a:rPr lang="en-US" sz="1800" b="0" i="0" u="sng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en-US" sz="1800" b="0" i="1" u="none" baseline="0" dirty="0">
                          <a:solidFill>
                            <a:schemeClr val="tx1"/>
                          </a:solidFill>
                        </a:rPr>
                        <a:t>B</a:t>
                      </a:r>
                      <a:r>
                        <a:rPr lang="en-US" sz="1800" b="0" i="0" u="none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800" b="0" i="0" u="sng" baseline="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en-US" sz="1800" b="0" i="0" u="none" baseline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en-US" sz="1800" b="0" i="0" u="sng" baseline="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en-US" sz="1800" b="0" i="0" u="none" baseline="0" dirty="0">
                          <a:solidFill>
                            <a:schemeClr val="tx1"/>
                          </a:solidFill>
                        </a:rPr>
                        <a:t>], </a:t>
                      </a:r>
                    </a:p>
                    <a:p>
                      <a:r>
                        <a:rPr lang="en-US" sz="1800" b="0" u="none" dirty="0">
                          <a:solidFill>
                            <a:schemeClr val="tx1"/>
                          </a:solidFill>
                        </a:rPr>
                        <a:t>[</a:t>
                      </a:r>
                      <a:r>
                        <a:rPr lang="en-US" sz="1800" b="0" i="1" u="none" dirty="0">
                          <a:solidFill>
                            <a:schemeClr val="tx1"/>
                          </a:solidFill>
                        </a:rPr>
                        <a:t>B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→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+mn-lt"/>
                          <a:ea typeface="Wingdings"/>
                          <a:cs typeface="Wingdings"/>
                        </a:rPr>
                        <a:t> </a:t>
                      </a:r>
                      <a:r>
                        <a:rPr lang="en-US" sz="1800" b="0" i="0" u="sng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en-US" sz="1800" b="0" i="0" u="none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chemeClr val="tx1"/>
                          </a:solidFill>
                          <a:latin typeface="Wingdings"/>
                          <a:ea typeface="Wingdings"/>
                          <a:cs typeface="Wingdings"/>
                        </a:rPr>
                        <a:t>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+mn-lt"/>
                          <a:ea typeface="Wingdings"/>
                          <a:cs typeface="Wingdings"/>
                        </a:rPr>
                        <a:t> </a:t>
                      </a:r>
                      <a:r>
                        <a:rPr lang="en-US" sz="1800" b="0" i="1" u="none" baseline="0" dirty="0">
                          <a:solidFill>
                            <a:schemeClr val="tx1"/>
                          </a:solidFill>
                        </a:rPr>
                        <a:t>B</a:t>
                      </a:r>
                      <a:r>
                        <a:rPr lang="en-US" sz="1800" b="0" i="0" u="none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800" b="0" i="0" u="sng" baseline="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en-US" sz="1800" b="0" i="0" u="none" baseline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en-US" sz="1800" b="0" i="0" u="sng" baseline="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en-US" sz="1800" b="0" i="0" u="none" baseline="0" dirty="0">
                          <a:solidFill>
                            <a:schemeClr val="tx1"/>
                          </a:solidFill>
                        </a:rPr>
                        <a:t>], </a:t>
                      </a:r>
                      <a:r>
                        <a:rPr lang="en-US" sz="1800" b="0" u="none" dirty="0">
                          <a:solidFill>
                            <a:schemeClr val="tx1"/>
                          </a:solidFill>
                        </a:rPr>
                        <a:t>[</a:t>
                      </a:r>
                      <a:r>
                        <a:rPr lang="en-US" sz="1800" b="0" i="1" u="none" dirty="0" err="1">
                          <a:solidFill>
                            <a:schemeClr val="tx1"/>
                          </a:solidFill>
                        </a:rPr>
                        <a:t>B</a:t>
                      </a:r>
                      <a:r>
                        <a:rPr lang="en-US" sz="1800" b="0" dirty="0" err="1">
                          <a:solidFill>
                            <a:schemeClr val="tx1"/>
                          </a:solidFill>
                        </a:rPr>
                        <a:t>→</a:t>
                      </a:r>
                      <a:r>
                        <a:rPr lang="en-US" sz="1800" b="0" dirty="0" err="1">
                          <a:solidFill>
                            <a:schemeClr val="tx1"/>
                          </a:solidFill>
                          <a:latin typeface="Wingdings"/>
                          <a:ea typeface="Wingdings"/>
                          <a:cs typeface="Wingdings"/>
                        </a:rPr>
                        <a:t></a:t>
                      </a:r>
                      <a:r>
                        <a:rPr lang="en-US" sz="1800" b="0" i="0" u="sng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r>
                        <a:rPr lang="en-US" sz="1800" b="0" i="0" u="none" baseline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en-US" sz="1800" b="0" i="0" u="sng" baseline="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en-US" sz="1800" b="0" i="0" u="none" baseline="0" dirty="0">
                          <a:solidFill>
                            <a:schemeClr val="tx1"/>
                          </a:solidFill>
                        </a:rPr>
                        <a:t>]</a:t>
                      </a:r>
                      <a:endParaRPr lang="en-US" sz="1800" b="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000000"/>
                          </a:solidFill>
                        </a:rPr>
                        <a:t>cc</a:t>
                      </a:r>
                      <a:r>
                        <a:rPr lang="en-US" sz="1600" b="0" baseline="-25000" dirty="0">
                          <a:solidFill>
                            <a:srgbClr val="000000"/>
                          </a:solidFill>
                        </a:rPr>
                        <a:t>10</a:t>
                      </a:r>
                      <a:endParaRPr lang="en-US" sz="1600" b="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u="none" dirty="0">
                          <a:solidFill>
                            <a:schemeClr val="tx1"/>
                          </a:solidFill>
                        </a:rPr>
                        <a:t>[</a:t>
                      </a:r>
                      <a:r>
                        <a:rPr lang="en-US" sz="1800" b="0" i="1" u="none" dirty="0" err="1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sz="1800" b="0" dirty="0" err="1">
                          <a:solidFill>
                            <a:schemeClr val="tx1"/>
                          </a:solidFill>
                        </a:rPr>
                        <a:t>→</a:t>
                      </a:r>
                      <a:r>
                        <a:rPr lang="en-US" sz="1800" b="0" i="0" u="sng" baseline="0" dirty="0" err="1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sz="1800" b="0" dirty="0" err="1">
                          <a:solidFill>
                            <a:schemeClr val="tx1"/>
                          </a:solidFill>
                          <a:latin typeface="Wingdings"/>
                          <a:ea typeface="Wingdings"/>
                          <a:cs typeface="Wingdings"/>
                        </a:rPr>
                        <a:t></a:t>
                      </a:r>
                      <a:r>
                        <a:rPr lang="en-US" sz="1800" b="0" i="0" u="none" baseline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en-US" sz="1800" b="0" i="0" u="sng" baseline="0" dirty="0">
                          <a:solidFill>
                            <a:schemeClr val="tx1"/>
                          </a:solidFill>
                        </a:rPr>
                        <a:t>)</a:t>
                      </a:r>
                      <a:r>
                        <a:rPr lang="en-US" sz="1800" b="0" i="0" u="none" baseline="0" dirty="0">
                          <a:solidFill>
                            <a:schemeClr val="tx1"/>
                          </a:solidFill>
                        </a:rPr>
                        <a:t>]</a:t>
                      </a:r>
                      <a:endParaRPr lang="en-US" b="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000000"/>
                          </a:solidFill>
                        </a:rPr>
                        <a:t>cc</a:t>
                      </a:r>
                      <a:r>
                        <a:rPr lang="en-US" sz="1600" b="0" baseline="-25000" dirty="0">
                          <a:solidFill>
                            <a:srgbClr val="000000"/>
                          </a:solidFill>
                        </a:rPr>
                        <a:t>11</a:t>
                      </a:r>
                      <a:endParaRPr lang="en-US" sz="1600" b="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u="none" dirty="0">
                          <a:solidFill>
                            <a:schemeClr val="tx1"/>
                          </a:solidFill>
                        </a:rPr>
                        <a:t>[</a:t>
                      </a:r>
                      <a:r>
                        <a:rPr lang="en-US" sz="1800" b="0" i="1" u="none" dirty="0" err="1">
                          <a:solidFill>
                            <a:schemeClr val="tx1"/>
                          </a:solidFill>
                        </a:rPr>
                        <a:t>B</a:t>
                      </a:r>
                      <a:r>
                        <a:rPr lang="en-US" sz="1800" b="0" dirty="0" err="1">
                          <a:solidFill>
                            <a:schemeClr val="tx1"/>
                          </a:solidFill>
                        </a:rPr>
                        <a:t>→</a:t>
                      </a:r>
                      <a:r>
                        <a:rPr lang="en-US" sz="1800" b="0" i="0" u="sng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r>
                        <a:rPr lang="en-US" sz="1800" b="0" dirty="0" err="1">
                          <a:solidFill>
                            <a:schemeClr val="tx1"/>
                          </a:solidFill>
                          <a:latin typeface="Wingdings"/>
                          <a:ea typeface="Wingdings"/>
                          <a:cs typeface="Wingdings"/>
                        </a:rPr>
                        <a:t></a:t>
                      </a:r>
                      <a:r>
                        <a:rPr lang="en-US" sz="1800" b="0" i="0" u="none" baseline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en-US" sz="1800" b="0" i="0" u="sng" baseline="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en-US" sz="1800" b="0" i="0" u="none" baseline="0" dirty="0">
                          <a:solidFill>
                            <a:schemeClr val="tx1"/>
                          </a:solidFill>
                        </a:rPr>
                        <a:t>]</a:t>
                      </a:r>
                      <a:endParaRPr lang="en-US" b="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000000"/>
                          </a:solidFill>
                        </a:rPr>
                        <a:t>cc</a:t>
                      </a:r>
                      <a:r>
                        <a:rPr lang="en-US" sz="1600" b="0" baseline="-25000" dirty="0">
                          <a:solidFill>
                            <a:srgbClr val="000000"/>
                          </a:solidFill>
                        </a:rPr>
                        <a:t>12</a:t>
                      </a:r>
                      <a:endParaRPr lang="en-US" sz="1600" b="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u="none" dirty="0">
                          <a:solidFill>
                            <a:schemeClr val="tx1"/>
                          </a:solidFill>
                        </a:rPr>
                        <a:t>[</a:t>
                      </a:r>
                      <a:r>
                        <a:rPr lang="en-US" sz="1800" b="0" i="1" u="none" dirty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→</a:t>
                      </a:r>
                      <a:r>
                        <a:rPr lang="en-US" sz="1800" b="0" i="0" u="sng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en-US" sz="1800" b="0" i="0" u="none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800" b="0" i="1" u="none" baseline="0" dirty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sz="1800" b="0" i="0" u="none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800" b="0" i="0" u="sng" baseline="0" dirty="0">
                          <a:solidFill>
                            <a:schemeClr val="tx1"/>
                          </a:solidFill>
                        </a:rPr>
                        <a:t>)</a:t>
                      </a:r>
                      <a:r>
                        <a:rPr lang="en-US" sz="1800" b="0" dirty="0" err="1">
                          <a:solidFill>
                            <a:schemeClr val="tx1"/>
                          </a:solidFill>
                          <a:latin typeface="Wingdings"/>
                          <a:ea typeface="Wingdings"/>
                          <a:cs typeface="Wingdings"/>
                        </a:rPr>
                        <a:t></a:t>
                      </a:r>
                      <a:r>
                        <a:rPr lang="en-US" sz="1800" b="0" i="0" u="none" baseline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en-US" sz="1800" b="0" i="0" u="sng" baseline="0" dirty="0">
                          <a:solidFill>
                            <a:schemeClr val="tx1"/>
                          </a:solidFill>
                        </a:rPr>
                        <a:t>EOF</a:t>
                      </a:r>
                      <a:r>
                        <a:rPr lang="en-US" sz="1800" b="0" i="0" u="none" baseline="0" dirty="0">
                          <a:solidFill>
                            <a:schemeClr val="tx1"/>
                          </a:solidFill>
                        </a:rPr>
                        <a:t>]</a:t>
                      </a:r>
                      <a:endParaRPr lang="en-US" b="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000000"/>
                          </a:solidFill>
                        </a:rPr>
                        <a:t>cc</a:t>
                      </a:r>
                      <a:r>
                        <a:rPr lang="en-US" sz="1600" b="0" baseline="-25000" dirty="0">
                          <a:solidFill>
                            <a:srgbClr val="000000"/>
                          </a:solidFill>
                        </a:rPr>
                        <a:t>13</a:t>
                      </a:r>
                      <a:endParaRPr lang="en-US" sz="1600" b="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u="none" dirty="0">
                          <a:solidFill>
                            <a:schemeClr val="tx1"/>
                          </a:solidFill>
                        </a:rPr>
                        <a:t>[</a:t>
                      </a:r>
                      <a:r>
                        <a:rPr lang="en-US" sz="1800" b="0" i="1" u="none" dirty="0">
                          <a:solidFill>
                            <a:schemeClr val="tx1"/>
                          </a:solidFill>
                        </a:rPr>
                        <a:t>B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→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+mn-lt"/>
                          <a:ea typeface="Wingdings"/>
                          <a:cs typeface="Wingdings"/>
                        </a:rPr>
                        <a:t> </a:t>
                      </a:r>
                      <a:r>
                        <a:rPr lang="en-US" sz="1800" b="0" i="0" u="sng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en-US" sz="1800" b="0" i="0" u="none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800" b="0" i="1" u="none" baseline="0" dirty="0">
                          <a:solidFill>
                            <a:schemeClr val="tx1"/>
                          </a:solidFill>
                        </a:rPr>
                        <a:t>B</a:t>
                      </a:r>
                      <a:r>
                        <a:rPr lang="en-US" sz="1800" b="0" i="0" u="none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800" b="0" i="0" u="sng" baseline="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en-US" sz="1800" b="0" dirty="0" err="1">
                          <a:solidFill>
                            <a:schemeClr val="tx1"/>
                          </a:solidFill>
                          <a:latin typeface="Wingdings"/>
                          <a:ea typeface="Wingdings"/>
                          <a:cs typeface="Wingdings"/>
                        </a:rPr>
                        <a:t></a:t>
                      </a:r>
                      <a:r>
                        <a:rPr lang="en-US" sz="1800" b="0" i="0" u="none" baseline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en-US" sz="1800" b="0" i="0" u="sng" baseline="0" dirty="0">
                          <a:solidFill>
                            <a:schemeClr val="tx1"/>
                          </a:solidFill>
                        </a:rPr>
                        <a:t>EOF</a:t>
                      </a:r>
                      <a:r>
                        <a:rPr lang="en-US" sz="1800" b="0" i="0" u="none" baseline="0" dirty="0">
                          <a:solidFill>
                            <a:schemeClr val="tx1"/>
                          </a:solidFill>
                        </a:rPr>
                        <a:t>]</a:t>
                      </a:r>
                      <a:endParaRPr lang="en-US" b="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000000"/>
                          </a:solidFill>
                        </a:rPr>
                        <a:t>cc</a:t>
                      </a:r>
                      <a:r>
                        <a:rPr lang="en-US" sz="1600" b="0" baseline="-25000" dirty="0">
                          <a:solidFill>
                            <a:srgbClr val="000000"/>
                          </a:solidFill>
                        </a:rPr>
                        <a:t>14</a:t>
                      </a:r>
                      <a:endParaRPr lang="en-US" sz="1600" b="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u="none" dirty="0">
                          <a:solidFill>
                            <a:schemeClr val="tx1"/>
                          </a:solidFill>
                        </a:rPr>
                        <a:t>[</a:t>
                      </a:r>
                      <a:r>
                        <a:rPr lang="en-US" sz="1800" b="0" i="1" u="none" dirty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→</a:t>
                      </a:r>
                      <a:r>
                        <a:rPr lang="en-US" sz="1800" b="0" baseline="0" dirty="0">
                          <a:solidFill>
                            <a:schemeClr val="tx1"/>
                          </a:solidFill>
                          <a:latin typeface="+mn-lt"/>
                          <a:ea typeface="Wingdings"/>
                          <a:cs typeface="Wingdings"/>
                        </a:rPr>
                        <a:t> </a:t>
                      </a:r>
                      <a:r>
                        <a:rPr lang="en-US" sz="1800" b="0" i="0" u="sng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en-US" sz="1800" b="0" i="1" u="none" baseline="0" dirty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sz="1800" b="0" i="0" u="none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chemeClr val="tx1"/>
                          </a:solidFill>
                          <a:latin typeface="Wingdings"/>
                          <a:ea typeface="Wingdings"/>
                          <a:cs typeface="Wingdings"/>
                        </a:rPr>
                        <a:t></a:t>
                      </a:r>
                      <a:r>
                        <a:rPr lang="en-US" sz="1800" b="0" i="0" u="sng" baseline="0" dirty="0">
                          <a:solidFill>
                            <a:schemeClr val="tx1"/>
                          </a:solidFill>
                        </a:rPr>
                        <a:t>)</a:t>
                      </a:r>
                      <a:r>
                        <a:rPr lang="en-US" sz="1800" b="0" i="0" u="none" baseline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en-US" sz="1800" b="0" i="0" u="sng" baseline="0" dirty="0">
                          <a:solidFill>
                            <a:schemeClr val="tx1"/>
                          </a:solidFill>
                        </a:rPr>
                        <a:t>)</a:t>
                      </a:r>
                      <a:r>
                        <a:rPr lang="en-US" sz="1800" b="0" i="0" u="none" baseline="0" dirty="0">
                          <a:solidFill>
                            <a:schemeClr val="tx1"/>
                          </a:solidFill>
                        </a:rPr>
                        <a:t>]</a:t>
                      </a:r>
                      <a:endParaRPr lang="en-US" b="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000000"/>
                          </a:solidFill>
                        </a:rPr>
                        <a:t>cc</a:t>
                      </a:r>
                      <a:r>
                        <a:rPr lang="en-US" sz="1600" b="0" baseline="-25000" dirty="0">
                          <a:solidFill>
                            <a:srgbClr val="000000"/>
                          </a:solidFill>
                        </a:rPr>
                        <a:t>15</a:t>
                      </a:r>
                      <a:endParaRPr lang="en-US" sz="1600" b="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u="none" dirty="0">
                          <a:solidFill>
                            <a:schemeClr val="tx1"/>
                          </a:solidFill>
                        </a:rPr>
                        <a:t>[</a:t>
                      </a:r>
                      <a:r>
                        <a:rPr lang="en-US" sz="1800" b="0" i="1" u="none" dirty="0">
                          <a:solidFill>
                            <a:schemeClr val="tx1"/>
                          </a:solidFill>
                        </a:rPr>
                        <a:t>B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→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+mn-lt"/>
                          <a:ea typeface="Wingdings"/>
                          <a:cs typeface="Wingdings"/>
                        </a:rPr>
                        <a:t> </a:t>
                      </a:r>
                      <a:r>
                        <a:rPr lang="en-US" sz="1800" b="0" i="0" u="sng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en-US" sz="1800" b="0" i="1" u="none" baseline="0" dirty="0">
                          <a:solidFill>
                            <a:schemeClr val="tx1"/>
                          </a:solidFill>
                        </a:rPr>
                        <a:t>B</a:t>
                      </a:r>
                      <a:r>
                        <a:rPr lang="en-US" sz="1800" b="0" i="0" u="none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chemeClr val="tx1"/>
                          </a:solidFill>
                          <a:latin typeface="Wingdings"/>
                          <a:ea typeface="Wingdings"/>
                          <a:cs typeface="Wingdings"/>
                        </a:rPr>
                        <a:t>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+mn-lt"/>
                          <a:ea typeface="Wingdings"/>
                          <a:cs typeface="Wingdings"/>
                        </a:rPr>
                        <a:t> </a:t>
                      </a:r>
                      <a:r>
                        <a:rPr lang="en-US" sz="1800" b="0" i="0" u="sng" baseline="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en-US" sz="1800" b="0" i="0" u="none" baseline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en-US" sz="1800" b="0" i="0" u="sng" baseline="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en-US" sz="1800" b="0" i="0" u="none" baseline="0" dirty="0">
                          <a:solidFill>
                            <a:schemeClr val="tx1"/>
                          </a:solidFill>
                        </a:rPr>
                        <a:t>]</a:t>
                      </a:r>
                      <a:endParaRPr lang="en-US" b="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000000"/>
                          </a:solidFill>
                        </a:rPr>
                        <a:t>cc</a:t>
                      </a:r>
                      <a:r>
                        <a:rPr lang="en-US" sz="1600" b="0" baseline="-25000" dirty="0">
                          <a:solidFill>
                            <a:srgbClr val="000000"/>
                          </a:solidFill>
                        </a:rPr>
                        <a:t>16</a:t>
                      </a:r>
                      <a:endParaRPr lang="en-US" sz="1600" b="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u="none" dirty="0">
                          <a:solidFill>
                            <a:schemeClr val="tx1"/>
                          </a:solidFill>
                        </a:rPr>
                        <a:t>[</a:t>
                      </a:r>
                      <a:r>
                        <a:rPr lang="en-US" sz="1800" b="0" i="1" u="none" dirty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→</a:t>
                      </a:r>
                      <a:r>
                        <a:rPr lang="en-US" sz="1800" b="0" baseline="0" dirty="0">
                          <a:solidFill>
                            <a:schemeClr val="tx1"/>
                          </a:solidFill>
                          <a:latin typeface="+mn-lt"/>
                          <a:ea typeface="Wingdings"/>
                          <a:cs typeface="Wingdings"/>
                        </a:rPr>
                        <a:t> </a:t>
                      </a:r>
                      <a:r>
                        <a:rPr lang="en-US" sz="1800" b="0" i="0" u="sng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en-US" sz="1800" b="0" i="1" u="none" baseline="0" dirty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sz="1800" b="0" i="0" u="none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800" b="0" i="0" u="sng" baseline="0" dirty="0">
                          <a:solidFill>
                            <a:schemeClr val="tx1"/>
                          </a:solidFill>
                        </a:rPr>
                        <a:t>)</a:t>
                      </a:r>
                      <a:r>
                        <a:rPr lang="en-US" sz="1800" b="0" dirty="0" err="1">
                          <a:solidFill>
                            <a:schemeClr val="tx1"/>
                          </a:solidFill>
                          <a:latin typeface="Wingdings"/>
                          <a:ea typeface="Wingdings"/>
                          <a:cs typeface="Wingdings"/>
                        </a:rPr>
                        <a:t></a:t>
                      </a:r>
                      <a:r>
                        <a:rPr lang="en-US" sz="1800" b="0" i="0" u="none" baseline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en-US" sz="1800" b="0" i="0" u="sng" baseline="0" dirty="0">
                          <a:solidFill>
                            <a:schemeClr val="tx1"/>
                          </a:solidFill>
                        </a:rPr>
                        <a:t>)</a:t>
                      </a:r>
                      <a:r>
                        <a:rPr lang="en-US" sz="1800" b="0" i="0" u="none" baseline="0" dirty="0">
                          <a:solidFill>
                            <a:schemeClr val="tx1"/>
                          </a:solidFill>
                        </a:rPr>
                        <a:t>]</a:t>
                      </a:r>
                      <a:endParaRPr lang="en-US" b="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000000"/>
                          </a:solidFill>
                        </a:rPr>
                        <a:t>cc</a:t>
                      </a:r>
                      <a:r>
                        <a:rPr lang="en-US" sz="1600" b="0" baseline="-25000" dirty="0">
                          <a:solidFill>
                            <a:srgbClr val="000000"/>
                          </a:solidFill>
                        </a:rPr>
                        <a:t>17</a:t>
                      </a:r>
                      <a:endParaRPr lang="en-US" sz="1600" b="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u="none" dirty="0">
                          <a:solidFill>
                            <a:schemeClr val="tx1"/>
                          </a:solidFill>
                        </a:rPr>
                        <a:t>[</a:t>
                      </a:r>
                      <a:r>
                        <a:rPr lang="en-US" sz="1800" b="0" i="1" u="none" dirty="0">
                          <a:solidFill>
                            <a:schemeClr val="tx1"/>
                          </a:solidFill>
                        </a:rPr>
                        <a:t>B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→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+mn-lt"/>
                          <a:ea typeface="Wingdings"/>
                          <a:cs typeface="Wingdings"/>
                        </a:rPr>
                        <a:t> </a:t>
                      </a:r>
                      <a:r>
                        <a:rPr lang="en-US" sz="1800" b="0" i="0" u="sng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en-US" sz="1800" b="0" i="1" u="none" baseline="0" dirty="0">
                          <a:solidFill>
                            <a:schemeClr val="tx1"/>
                          </a:solidFill>
                        </a:rPr>
                        <a:t>B</a:t>
                      </a:r>
                      <a:r>
                        <a:rPr lang="en-US" sz="1800" b="0" i="0" u="none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800" b="0" i="0" u="sng" baseline="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en-US" sz="1800" b="0" dirty="0" err="1">
                          <a:solidFill>
                            <a:schemeClr val="tx1"/>
                          </a:solidFill>
                          <a:latin typeface="Wingdings"/>
                          <a:ea typeface="Wingdings"/>
                          <a:cs typeface="Wingdings"/>
                        </a:rPr>
                        <a:t></a:t>
                      </a:r>
                      <a:r>
                        <a:rPr lang="en-US" sz="1800" b="0" i="0" u="none" baseline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en-US" sz="1800" b="0" i="0" u="sng" baseline="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en-US" sz="1800" b="0" i="0" u="none" baseline="0" dirty="0">
                          <a:solidFill>
                            <a:schemeClr val="tx1"/>
                          </a:solidFill>
                        </a:rPr>
                        <a:t>]</a:t>
                      </a:r>
                      <a:endParaRPr lang="en-US" b="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Footer Placeholder 1">
            <a:extLst>
              <a:ext uri="{FF2B5EF4-FFF2-40B4-BE49-F238E27FC236}">
                <a16:creationId xmlns:a16="http://schemas.microsoft.com/office/drawing/2014/main" id="{6F3457AC-801F-4F0C-B484-80585538986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22530" name="Slide Number Placeholder 2">
            <a:extLst>
              <a:ext uri="{FF2B5EF4-FFF2-40B4-BE49-F238E27FC236}">
                <a16:creationId xmlns:a16="http://schemas.microsoft.com/office/drawing/2014/main" id="{D13C9328-0EE1-46EA-A6E2-42B24EAA23A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574855C7-1490-4B8B-AA7E-3CCDF2A03677}" type="slidenum">
              <a:rPr lang="en-US" altLang="it-IT"/>
              <a:pPr/>
              <a:t>5</a:t>
            </a:fld>
            <a:endParaRPr lang="en-US" altLang="it-IT"/>
          </a:p>
        </p:txBody>
      </p:sp>
      <p:sp>
        <p:nvSpPr>
          <p:cNvPr id="22531" name="Title 3">
            <a:extLst>
              <a:ext uri="{FF2B5EF4-FFF2-40B4-BE49-F238E27FC236}">
                <a16:creationId xmlns:a16="http://schemas.microsoft.com/office/drawing/2014/main" id="{D2A27C05-9CAF-4052-A8EB-2D7AA733F851}"/>
              </a:ext>
            </a:extLst>
          </p:cNvPr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Building LR(1) Tables for Waite’s Language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26CCBDE4-3A06-4F68-A47B-A21C73D3C128}"/>
              </a:ext>
            </a:extLst>
          </p:cNvPr>
          <p:cNvGraphicFramePr>
            <a:graphicFrameLocks noGrp="1"/>
          </p:cNvGraphicFramePr>
          <p:nvPr/>
        </p:nvGraphicFramePr>
        <p:xfrm>
          <a:off x="6934200" y="3965729"/>
          <a:ext cx="1904999" cy="218953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>
                    <a:srgbClr val="000000">
                      <a:alpha val="43000"/>
                    </a:srgbClr>
                  </a:outerShdw>
                </a:effectLst>
                <a:tableStyleId>{5C22544A-7EE6-4342-B048-85BDC9FD1C3A}</a:tableStyleId>
              </a:tblPr>
              <a:tblGrid>
                <a:gridCol w="2822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60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96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71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8184"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i="1" dirty="0">
                          <a:solidFill>
                            <a:srgbClr val="000000"/>
                          </a:solidFill>
                        </a:rPr>
                        <a:t>Goal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→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i="1" dirty="0">
                          <a:solidFill>
                            <a:srgbClr val="000000"/>
                          </a:solidFill>
                        </a:rPr>
                        <a:t>S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123"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1" dirty="0">
                          <a:solidFill>
                            <a:schemeClr val="tx1"/>
                          </a:solidFill>
                        </a:rPr>
                        <a:t>S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→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i="1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4123"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|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i="1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4123"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1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→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( </a:t>
                      </a:r>
                      <a:r>
                        <a:rPr lang="en-US" sz="1400" b="0" i="1" u="sng" dirty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sz="1400" b="0" u="sng" dirty="0">
                          <a:solidFill>
                            <a:schemeClr val="tx1"/>
                          </a:solidFill>
                        </a:rPr>
                        <a:t> 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4123"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|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u="none" dirty="0">
                          <a:solidFill>
                            <a:schemeClr val="tx1"/>
                          </a:solidFill>
                        </a:rPr>
                        <a:t>  </a:t>
                      </a:r>
                      <a:r>
                        <a:rPr lang="en-US" sz="1400" b="0" u="sng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4123"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1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→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u="sng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400" b="0" i="1" dirty="0">
                          <a:solidFill>
                            <a:schemeClr val="tx1"/>
                          </a:solidFill>
                        </a:rPr>
                        <a:t>B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400" b="0" u="sng" dirty="0">
                          <a:solidFill>
                            <a:schemeClr val="tx1"/>
                          </a:solidFill>
                        </a:rPr>
                        <a:t>&gt;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4123"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|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u="none" dirty="0">
                          <a:solidFill>
                            <a:schemeClr val="tx1"/>
                          </a:solidFill>
                        </a:rPr>
                        <a:t>  </a:t>
                      </a:r>
                      <a:r>
                        <a:rPr lang="en-US" sz="1400" b="0" u="sng" dirty="0" err="1">
                          <a:solidFill>
                            <a:schemeClr val="tx1"/>
                          </a:solidFill>
                        </a:rPr>
                        <a:t>b</a:t>
                      </a:r>
                      <a:endParaRPr lang="en-US" sz="1400" b="0" u="sn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B34F4499-D1D5-4E9E-BA1D-E9380BF1F793}"/>
              </a:ext>
            </a:extLst>
          </p:cNvPr>
          <p:cNvGraphicFramePr>
            <a:graphicFrameLocks noGrp="1"/>
          </p:cNvGraphicFramePr>
          <p:nvPr/>
        </p:nvGraphicFramePr>
        <p:xfrm>
          <a:off x="685800" y="1143000"/>
          <a:ext cx="6096000" cy="5460999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>
                    <a:srgbClr val="000000">
                      <a:alpha val="43000"/>
                    </a:srgbClr>
                  </a:outerShdw>
                </a:effectLst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59401">
                <a:tc>
                  <a:txBody>
                    <a:bodyPr/>
                    <a:lstStyle/>
                    <a:p>
                      <a:pPr algn="ctr"/>
                      <a:endParaRPr lang="en-US" sz="1100" b="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rgbClr val="000000"/>
                          </a:solidFill>
                        </a:rPr>
                        <a:t>EOF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u="sng" dirty="0">
                          <a:solidFill>
                            <a:srgbClr val="000000"/>
                          </a:solidFill>
                        </a:rPr>
                        <a:t>(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u="sng" dirty="0">
                          <a:solidFill>
                            <a:srgbClr val="000000"/>
                          </a:solidFill>
                        </a:rPr>
                        <a:t>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u="sng" dirty="0">
                          <a:solidFill>
                            <a:srgbClr val="000000"/>
                          </a:solidFill>
                        </a:rPr>
                        <a:t>a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u="sng" dirty="0">
                          <a:solidFill>
                            <a:srgbClr val="000000"/>
                          </a:solidFill>
                        </a:rPr>
                        <a:t>&gt;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u="sng" dirty="0" err="1">
                          <a:solidFill>
                            <a:srgbClr val="000000"/>
                          </a:solidFill>
                        </a:rPr>
                        <a:t>b</a:t>
                      </a:r>
                      <a:endParaRPr lang="en-US" sz="1100" b="0" u="sng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285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i="1" dirty="0">
                          <a:solidFill>
                            <a:srgbClr val="000000"/>
                          </a:solidFill>
                        </a:rPr>
                        <a:t>S</a:t>
                      </a:r>
                    </a:p>
                  </a:txBody>
                  <a:tcPr>
                    <a:lnL w="285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i="1" dirty="0">
                          <a:solidFill>
                            <a:srgbClr val="000000"/>
                          </a:solidFill>
                        </a:rPr>
                        <a:t>A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i="1" dirty="0">
                          <a:solidFill>
                            <a:srgbClr val="000000"/>
                          </a:solidFill>
                        </a:rPr>
                        <a:t>B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4893"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dirty="0">
                          <a:solidFill>
                            <a:srgbClr val="000000"/>
                          </a:solidFill>
                        </a:rPr>
                        <a:t>s</a:t>
                      </a:r>
                      <a:r>
                        <a:rPr lang="en-US" sz="1100" b="0" baseline="-250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1100" b="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b="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 err="1">
                          <a:solidFill>
                            <a:srgbClr val="000000"/>
                          </a:solidFill>
                        </a:rPr>
                        <a:t>s</a:t>
                      </a:r>
                      <a:r>
                        <a:rPr lang="en-US" sz="1100" b="0" dirty="0">
                          <a:solidFill>
                            <a:srgbClr val="000000"/>
                          </a:solidFill>
                        </a:rPr>
                        <a:t> 4</a:t>
                      </a:r>
                    </a:p>
                  </a:txBody>
                  <a:tcPr>
                    <a:lnL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b="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 err="1">
                          <a:solidFill>
                            <a:srgbClr val="000000"/>
                          </a:solidFill>
                        </a:rPr>
                        <a:t>s</a:t>
                      </a:r>
                      <a:r>
                        <a:rPr lang="en-US" sz="1100" b="0" dirty="0">
                          <a:solidFill>
                            <a:srgbClr val="000000"/>
                          </a:solidFill>
                        </a:rPr>
                        <a:t> 5</a:t>
                      </a:r>
                    </a:p>
                  </a:txBody>
                  <a:tcPr>
                    <a:lnL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b="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 err="1">
                          <a:solidFill>
                            <a:srgbClr val="000000"/>
                          </a:solidFill>
                        </a:rPr>
                        <a:t>s</a:t>
                      </a:r>
                      <a:r>
                        <a:rPr lang="en-US" sz="1100" b="0" dirty="0">
                          <a:solidFill>
                            <a:srgbClr val="000000"/>
                          </a:solidFill>
                        </a:rPr>
                        <a:t> 6</a:t>
                      </a:r>
                    </a:p>
                  </a:txBody>
                  <a:tcPr>
                    <a:lnL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lnL w="285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4893"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dirty="0">
                          <a:solidFill>
                            <a:srgbClr val="000000"/>
                          </a:solidFill>
                        </a:rPr>
                        <a:t>s</a:t>
                      </a:r>
                      <a:r>
                        <a:rPr lang="en-US" sz="1100" b="0" baseline="-250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100" b="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dirty="0">
                          <a:solidFill>
                            <a:srgbClr val="000000"/>
                          </a:solidFill>
                        </a:rPr>
                        <a:t>acc</a:t>
                      </a:r>
                    </a:p>
                  </a:txBody>
                  <a:tcPr>
                    <a:lnL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b="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b="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b="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b="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b="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b="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b="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b="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4893"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dirty="0">
                          <a:solidFill>
                            <a:srgbClr val="000000"/>
                          </a:solidFill>
                        </a:rPr>
                        <a:t>s</a:t>
                      </a:r>
                      <a:r>
                        <a:rPr lang="en-US" sz="1100" b="0" baseline="-250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100" b="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 err="1">
                          <a:solidFill>
                            <a:srgbClr val="000000"/>
                          </a:solidFill>
                        </a:rPr>
                        <a:t>r</a:t>
                      </a:r>
                      <a:r>
                        <a:rPr lang="en-US" sz="1100" b="0" dirty="0">
                          <a:solidFill>
                            <a:srgbClr val="000000"/>
                          </a:solidFill>
                        </a:rPr>
                        <a:t> 2</a:t>
                      </a:r>
                    </a:p>
                  </a:txBody>
                  <a:tcPr>
                    <a:lnL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b="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b="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b="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b="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b="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b="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b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b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4893"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dirty="0">
                          <a:solidFill>
                            <a:srgbClr val="000000"/>
                          </a:solidFill>
                        </a:rPr>
                        <a:t>s</a:t>
                      </a:r>
                      <a:r>
                        <a:rPr lang="en-US" sz="1100" b="0" baseline="-250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100" b="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 err="1">
                          <a:solidFill>
                            <a:srgbClr val="000000"/>
                          </a:solidFill>
                        </a:rPr>
                        <a:t>r</a:t>
                      </a:r>
                      <a:r>
                        <a:rPr lang="en-US" sz="1100" b="0" dirty="0">
                          <a:solidFill>
                            <a:srgbClr val="000000"/>
                          </a:solidFill>
                        </a:rPr>
                        <a:t> 3</a:t>
                      </a:r>
                    </a:p>
                  </a:txBody>
                  <a:tcPr>
                    <a:lnL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b="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b="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b="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b="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b="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b="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b="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b="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4893"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dirty="0">
                          <a:solidFill>
                            <a:srgbClr val="000000"/>
                          </a:solidFill>
                        </a:rPr>
                        <a:t>s</a:t>
                      </a:r>
                      <a:r>
                        <a:rPr lang="en-US" sz="1100" b="0" baseline="-2500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1100" b="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b="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 err="1">
                          <a:solidFill>
                            <a:srgbClr val="000000"/>
                          </a:solidFill>
                        </a:rPr>
                        <a:t>s</a:t>
                      </a:r>
                      <a:r>
                        <a:rPr lang="en-US" sz="1100" b="0" dirty="0">
                          <a:solidFill>
                            <a:srgbClr val="000000"/>
                          </a:solidFill>
                        </a:rPr>
                        <a:t> 9</a:t>
                      </a:r>
                    </a:p>
                  </a:txBody>
                  <a:tcPr>
                    <a:lnL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b="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 err="1">
                          <a:solidFill>
                            <a:srgbClr val="000000"/>
                          </a:solidFill>
                        </a:rPr>
                        <a:t>s</a:t>
                      </a:r>
                      <a:r>
                        <a:rPr lang="en-US" sz="1100" b="0" dirty="0">
                          <a:solidFill>
                            <a:srgbClr val="000000"/>
                          </a:solidFill>
                        </a:rPr>
                        <a:t> 10</a:t>
                      </a:r>
                    </a:p>
                  </a:txBody>
                  <a:tcPr>
                    <a:lnL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b="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 err="1">
                          <a:solidFill>
                            <a:srgbClr val="000000"/>
                          </a:solidFill>
                        </a:rPr>
                        <a:t>s</a:t>
                      </a:r>
                      <a:r>
                        <a:rPr lang="en-US" sz="1100" b="0" dirty="0">
                          <a:solidFill>
                            <a:srgbClr val="000000"/>
                          </a:solidFill>
                        </a:rPr>
                        <a:t> 11</a:t>
                      </a:r>
                    </a:p>
                  </a:txBody>
                  <a:tcPr>
                    <a:lnL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b="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rgbClr val="000000"/>
                          </a:solidFill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rgbClr val="000000"/>
                          </a:solidFill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4893"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dirty="0">
                          <a:solidFill>
                            <a:srgbClr val="000000"/>
                          </a:solidFill>
                        </a:rPr>
                        <a:t>s</a:t>
                      </a:r>
                      <a:r>
                        <a:rPr lang="en-US" sz="1100" b="0" baseline="-2500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100" b="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 err="1">
                          <a:solidFill>
                            <a:srgbClr val="000000"/>
                          </a:solidFill>
                        </a:rPr>
                        <a:t>r</a:t>
                      </a:r>
                      <a:r>
                        <a:rPr lang="en-US" sz="1100" b="0" dirty="0">
                          <a:solidFill>
                            <a:srgbClr val="000000"/>
                          </a:solidFill>
                        </a:rPr>
                        <a:t> 5</a:t>
                      </a:r>
                    </a:p>
                  </a:txBody>
                  <a:tcPr>
                    <a:lnL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b="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b="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b="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b="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b="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b="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b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b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9401"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dirty="0">
                          <a:solidFill>
                            <a:srgbClr val="000000"/>
                          </a:solidFill>
                        </a:rPr>
                        <a:t>s</a:t>
                      </a:r>
                      <a:r>
                        <a:rPr lang="en-US" sz="1100" b="0" baseline="-25000" dirty="0">
                          <a:solidFill>
                            <a:srgbClr val="000000"/>
                          </a:solidFill>
                        </a:rPr>
                        <a:t>6</a:t>
                      </a:r>
                      <a:endParaRPr lang="en-US" sz="1100" b="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 err="1">
                          <a:solidFill>
                            <a:srgbClr val="000000"/>
                          </a:solidFill>
                        </a:rPr>
                        <a:t>r</a:t>
                      </a:r>
                      <a:r>
                        <a:rPr lang="en-US" sz="1100" b="0" dirty="0">
                          <a:solidFill>
                            <a:srgbClr val="000000"/>
                          </a:solidFill>
                        </a:rPr>
                        <a:t> 7</a:t>
                      </a:r>
                    </a:p>
                  </a:txBody>
                  <a:tcPr>
                    <a:lnL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b="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b="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b="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b="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b="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b="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b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b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4893"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dirty="0">
                          <a:solidFill>
                            <a:srgbClr val="000000"/>
                          </a:solidFill>
                        </a:rPr>
                        <a:t>s</a:t>
                      </a:r>
                      <a:r>
                        <a:rPr lang="en-US" sz="1100" b="0" baseline="-25000" dirty="0">
                          <a:solidFill>
                            <a:srgbClr val="000000"/>
                          </a:solidFill>
                        </a:rPr>
                        <a:t>7</a:t>
                      </a:r>
                      <a:endParaRPr lang="en-US" sz="1100" b="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b="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b="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 err="1">
                          <a:solidFill>
                            <a:srgbClr val="000000"/>
                          </a:solidFill>
                        </a:rPr>
                        <a:t>s</a:t>
                      </a:r>
                      <a:r>
                        <a:rPr lang="en-US" sz="1100" b="0" dirty="0">
                          <a:solidFill>
                            <a:srgbClr val="000000"/>
                          </a:solidFill>
                        </a:rPr>
                        <a:t> 12</a:t>
                      </a:r>
                    </a:p>
                  </a:txBody>
                  <a:tcPr>
                    <a:lnL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b="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b="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b="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b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b="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b="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4893"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dirty="0">
                          <a:solidFill>
                            <a:srgbClr val="000000"/>
                          </a:solidFill>
                        </a:rPr>
                        <a:t>s</a:t>
                      </a:r>
                      <a:r>
                        <a:rPr lang="en-US" sz="1100" b="0" baseline="-25000" dirty="0">
                          <a:solidFill>
                            <a:srgbClr val="000000"/>
                          </a:solidFill>
                        </a:rPr>
                        <a:t>8</a:t>
                      </a:r>
                      <a:endParaRPr lang="en-US" sz="1100" b="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b="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b="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b="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b="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 err="1">
                          <a:solidFill>
                            <a:srgbClr val="000000"/>
                          </a:solidFill>
                        </a:rPr>
                        <a:t>s</a:t>
                      </a:r>
                      <a:r>
                        <a:rPr lang="en-US" sz="1100" b="0" dirty="0">
                          <a:solidFill>
                            <a:srgbClr val="000000"/>
                          </a:solidFill>
                        </a:rPr>
                        <a:t> 13</a:t>
                      </a:r>
                    </a:p>
                  </a:txBody>
                  <a:tcPr>
                    <a:lnL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b="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b="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b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b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4893"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dirty="0">
                          <a:solidFill>
                            <a:srgbClr val="000000"/>
                          </a:solidFill>
                        </a:rPr>
                        <a:t>s</a:t>
                      </a:r>
                      <a:r>
                        <a:rPr lang="en-US" sz="1100" b="0" baseline="-25000" dirty="0">
                          <a:solidFill>
                            <a:srgbClr val="000000"/>
                          </a:solidFill>
                        </a:rPr>
                        <a:t>9</a:t>
                      </a:r>
                      <a:endParaRPr lang="en-US" sz="1100" b="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b="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b="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b="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 err="1">
                          <a:solidFill>
                            <a:srgbClr val="000000"/>
                          </a:solidFill>
                        </a:rPr>
                        <a:t>s</a:t>
                      </a:r>
                      <a:r>
                        <a:rPr lang="en-US" sz="1100" b="0" dirty="0">
                          <a:solidFill>
                            <a:srgbClr val="000000"/>
                          </a:solidFill>
                        </a:rPr>
                        <a:t> 10</a:t>
                      </a:r>
                    </a:p>
                  </a:txBody>
                  <a:tcPr>
                    <a:lnL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b="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 err="1">
                          <a:solidFill>
                            <a:srgbClr val="000000"/>
                          </a:solidFill>
                        </a:rPr>
                        <a:t>s</a:t>
                      </a:r>
                      <a:r>
                        <a:rPr lang="en-US" sz="1100" b="0" dirty="0">
                          <a:solidFill>
                            <a:srgbClr val="000000"/>
                          </a:solidFill>
                        </a:rPr>
                        <a:t> 11</a:t>
                      </a:r>
                    </a:p>
                  </a:txBody>
                  <a:tcPr>
                    <a:lnL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b="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rgbClr val="000000"/>
                          </a:solidFill>
                        </a:rPr>
                        <a:t>14</a:t>
                      </a:r>
                    </a:p>
                  </a:txBody>
                  <a:tcPr>
                    <a:lnL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rgbClr val="000000"/>
                          </a:solidFill>
                        </a:rPr>
                        <a:t>15</a:t>
                      </a:r>
                    </a:p>
                  </a:txBody>
                  <a:tcPr>
                    <a:lnL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9401"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dirty="0">
                          <a:solidFill>
                            <a:srgbClr val="000000"/>
                          </a:solidFill>
                        </a:rPr>
                        <a:t>s</a:t>
                      </a:r>
                      <a:r>
                        <a:rPr lang="en-US" sz="1100" b="0" baseline="-25000" dirty="0">
                          <a:solidFill>
                            <a:srgbClr val="000000"/>
                          </a:solidFill>
                        </a:rPr>
                        <a:t>10</a:t>
                      </a:r>
                      <a:endParaRPr lang="en-US" sz="1100" b="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b="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b="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 err="1">
                          <a:solidFill>
                            <a:srgbClr val="000000"/>
                          </a:solidFill>
                        </a:rPr>
                        <a:t>r</a:t>
                      </a:r>
                      <a:r>
                        <a:rPr lang="en-US" sz="1100" b="0" dirty="0">
                          <a:solidFill>
                            <a:srgbClr val="000000"/>
                          </a:solidFill>
                        </a:rPr>
                        <a:t> 5</a:t>
                      </a:r>
                    </a:p>
                  </a:txBody>
                  <a:tcPr>
                    <a:lnL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b="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b="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b="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b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b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b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4893"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dirty="0">
                          <a:solidFill>
                            <a:srgbClr val="000000"/>
                          </a:solidFill>
                        </a:rPr>
                        <a:t>s</a:t>
                      </a:r>
                      <a:r>
                        <a:rPr lang="en-US" sz="1100" b="0" baseline="-25000" dirty="0">
                          <a:solidFill>
                            <a:srgbClr val="000000"/>
                          </a:solidFill>
                        </a:rPr>
                        <a:t>11</a:t>
                      </a:r>
                      <a:endParaRPr lang="en-US" sz="1100" b="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b="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b="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b="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b="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 err="1">
                          <a:solidFill>
                            <a:srgbClr val="000000"/>
                          </a:solidFill>
                        </a:rPr>
                        <a:t>r</a:t>
                      </a:r>
                      <a:r>
                        <a:rPr lang="en-US" sz="1100" b="0" dirty="0">
                          <a:solidFill>
                            <a:srgbClr val="000000"/>
                          </a:solidFill>
                        </a:rPr>
                        <a:t> 7</a:t>
                      </a:r>
                    </a:p>
                  </a:txBody>
                  <a:tcPr>
                    <a:lnL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b="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b="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b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b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4893"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dirty="0">
                          <a:solidFill>
                            <a:srgbClr val="000000"/>
                          </a:solidFill>
                        </a:rPr>
                        <a:t>s</a:t>
                      </a:r>
                      <a:r>
                        <a:rPr lang="en-US" sz="1100" b="0" baseline="-25000" dirty="0">
                          <a:solidFill>
                            <a:srgbClr val="000000"/>
                          </a:solidFill>
                        </a:rPr>
                        <a:t>12</a:t>
                      </a:r>
                      <a:endParaRPr lang="en-US" sz="1100" b="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 err="1">
                          <a:solidFill>
                            <a:srgbClr val="000000"/>
                          </a:solidFill>
                        </a:rPr>
                        <a:t>r</a:t>
                      </a:r>
                      <a:r>
                        <a:rPr lang="en-US" sz="1100" b="0" dirty="0">
                          <a:solidFill>
                            <a:srgbClr val="000000"/>
                          </a:solidFill>
                        </a:rPr>
                        <a:t> 4</a:t>
                      </a:r>
                    </a:p>
                  </a:txBody>
                  <a:tcPr>
                    <a:lnL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b="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b="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b="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b="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b="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b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b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b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94893"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dirty="0">
                          <a:solidFill>
                            <a:srgbClr val="000000"/>
                          </a:solidFill>
                        </a:rPr>
                        <a:t>s</a:t>
                      </a:r>
                      <a:r>
                        <a:rPr lang="en-US" sz="1100" b="0" baseline="-25000" dirty="0">
                          <a:solidFill>
                            <a:srgbClr val="000000"/>
                          </a:solidFill>
                        </a:rPr>
                        <a:t>13</a:t>
                      </a:r>
                      <a:endParaRPr lang="en-US" sz="1100" b="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 err="1">
                          <a:solidFill>
                            <a:srgbClr val="000000"/>
                          </a:solidFill>
                        </a:rPr>
                        <a:t>r</a:t>
                      </a:r>
                      <a:r>
                        <a:rPr lang="en-US" sz="1100" b="0" dirty="0">
                          <a:solidFill>
                            <a:srgbClr val="000000"/>
                          </a:solidFill>
                        </a:rPr>
                        <a:t> 6</a:t>
                      </a:r>
                    </a:p>
                  </a:txBody>
                  <a:tcPr>
                    <a:lnL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b="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b="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b="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b="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b="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b="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b="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b="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94893"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dirty="0">
                          <a:solidFill>
                            <a:srgbClr val="000000"/>
                          </a:solidFill>
                        </a:rPr>
                        <a:t>s</a:t>
                      </a:r>
                      <a:r>
                        <a:rPr lang="en-US" sz="1100" b="0" baseline="-25000" dirty="0">
                          <a:solidFill>
                            <a:srgbClr val="000000"/>
                          </a:solidFill>
                        </a:rPr>
                        <a:t>14</a:t>
                      </a:r>
                      <a:endParaRPr lang="en-US" sz="1100" b="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b="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b="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 err="1">
                          <a:solidFill>
                            <a:srgbClr val="000000"/>
                          </a:solidFill>
                        </a:rPr>
                        <a:t>s</a:t>
                      </a:r>
                      <a:r>
                        <a:rPr lang="en-US" sz="1100" b="0" baseline="0" dirty="0">
                          <a:solidFill>
                            <a:srgbClr val="000000"/>
                          </a:solidFill>
                        </a:rPr>
                        <a:t> 16</a:t>
                      </a:r>
                      <a:endParaRPr lang="en-US" sz="1100" b="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b="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b="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b="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b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b="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b="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94893"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dirty="0">
                          <a:solidFill>
                            <a:srgbClr val="000000"/>
                          </a:solidFill>
                        </a:rPr>
                        <a:t>s</a:t>
                      </a:r>
                      <a:r>
                        <a:rPr lang="en-US" sz="1100" b="0" baseline="-25000" dirty="0">
                          <a:solidFill>
                            <a:srgbClr val="000000"/>
                          </a:solidFill>
                        </a:rPr>
                        <a:t>15</a:t>
                      </a:r>
                      <a:endParaRPr lang="en-US" sz="1100" b="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b="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b="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b="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b="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 err="1">
                          <a:solidFill>
                            <a:srgbClr val="000000"/>
                          </a:solidFill>
                        </a:rPr>
                        <a:t>s</a:t>
                      </a:r>
                      <a:r>
                        <a:rPr lang="en-US" sz="1100" b="0" dirty="0">
                          <a:solidFill>
                            <a:srgbClr val="000000"/>
                          </a:solidFill>
                        </a:rPr>
                        <a:t> 17</a:t>
                      </a:r>
                    </a:p>
                  </a:txBody>
                  <a:tcPr>
                    <a:lnL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b="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b="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b="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b="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94893"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dirty="0">
                          <a:solidFill>
                            <a:srgbClr val="000000"/>
                          </a:solidFill>
                        </a:rPr>
                        <a:t>s</a:t>
                      </a:r>
                      <a:r>
                        <a:rPr lang="en-US" sz="1100" b="0" baseline="-25000" dirty="0">
                          <a:solidFill>
                            <a:srgbClr val="000000"/>
                          </a:solidFill>
                        </a:rPr>
                        <a:t>16</a:t>
                      </a:r>
                      <a:endParaRPr lang="en-US" sz="1100" b="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b="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b="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 err="1">
                          <a:solidFill>
                            <a:srgbClr val="000000"/>
                          </a:solidFill>
                        </a:rPr>
                        <a:t>r</a:t>
                      </a:r>
                      <a:r>
                        <a:rPr lang="en-US" sz="1100" b="0" dirty="0">
                          <a:solidFill>
                            <a:srgbClr val="000000"/>
                          </a:solidFill>
                        </a:rPr>
                        <a:t> 4</a:t>
                      </a:r>
                    </a:p>
                  </a:txBody>
                  <a:tcPr>
                    <a:lnL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b="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b="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b="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b="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b="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b="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59401"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dirty="0">
                          <a:solidFill>
                            <a:srgbClr val="000000"/>
                          </a:solidFill>
                        </a:rPr>
                        <a:t>s</a:t>
                      </a:r>
                      <a:r>
                        <a:rPr lang="en-US" sz="1100" b="0" baseline="-25000" dirty="0">
                          <a:solidFill>
                            <a:srgbClr val="000000"/>
                          </a:solidFill>
                        </a:rPr>
                        <a:t>17</a:t>
                      </a:r>
                      <a:endParaRPr lang="en-US" sz="1100" b="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b="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b="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b="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b="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 err="1">
                          <a:solidFill>
                            <a:srgbClr val="000000"/>
                          </a:solidFill>
                        </a:rPr>
                        <a:t>r</a:t>
                      </a:r>
                      <a:r>
                        <a:rPr lang="en-US" sz="1100" b="0" dirty="0">
                          <a:solidFill>
                            <a:srgbClr val="000000"/>
                          </a:solidFill>
                        </a:rPr>
                        <a:t> 6</a:t>
                      </a:r>
                    </a:p>
                  </a:txBody>
                  <a:tcPr>
                    <a:lnL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b="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b="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b="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b="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85C55558-B61E-445F-9AA9-DCA101CAD0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34200" y="1295400"/>
            <a:ext cx="1981200" cy="2416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19063" indent="-119063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>
              <a:buSzPct val="120000"/>
              <a:buFont typeface="Arial" panose="020B0604020202020204" pitchFamily="34" charset="0"/>
              <a:buChar char="•"/>
            </a:pPr>
            <a:r>
              <a:rPr lang="en-US" altLang="it-IT" sz="1400">
                <a:solidFill>
                  <a:srgbClr val="003C75"/>
                </a:solidFill>
              </a:rPr>
              <a:t>Notice how sparse the table is.</a:t>
            </a:r>
          </a:p>
          <a:p>
            <a:pPr>
              <a:spcBef>
                <a:spcPts val="300"/>
              </a:spcBef>
              <a:buSzPct val="120000"/>
            </a:pPr>
            <a:r>
              <a:rPr lang="en-US" altLang="it-IT" sz="1400">
                <a:solidFill>
                  <a:srgbClr val="003C75"/>
                </a:solidFill>
              </a:rPr>
              <a:t>  - Goto has 7 of 54</a:t>
            </a:r>
          </a:p>
          <a:p>
            <a:pPr>
              <a:spcBef>
                <a:spcPts val="300"/>
              </a:spcBef>
              <a:buSzPct val="120000"/>
            </a:pPr>
            <a:r>
              <a:rPr lang="en-US" altLang="it-IT" sz="1400">
                <a:solidFill>
                  <a:srgbClr val="003C75"/>
                </a:solidFill>
              </a:rPr>
              <a:t>  - Action has 23 of  </a:t>
            </a:r>
          </a:p>
          <a:p>
            <a:pPr>
              <a:buSzPct val="120000"/>
            </a:pPr>
            <a:r>
              <a:rPr lang="en-US" altLang="it-IT" sz="1400">
                <a:solidFill>
                  <a:srgbClr val="003C75"/>
                </a:solidFill>
              </a:rPr>
              <a:t>    108 </a:t>
            </a:r>
          </a:p>
          <a:p>
            <a:pPr>
              <a:spcBef>
                <a:spcPts val="1200"/>
              </a:spcBef>
              <a:buSzPct val="120000"/>
              <a:buFont typeface="Arial" panose="020B0604020202020204" pitchFamily="34" charset="0"/>
              <a:buChar char="•"/>
            </a:pPr>
            <a:r>
              <a:rPr lang="en-US" altLang="it-IT" sz="1400">
                <a:solidFill>
                  <a:srgbClr val="003C75"/>
                </a:solidFill>
              </a:rPr>
              <a:t>Notice rows &amp; columns that might be combined.</a:t>
            </a:r>
          </a:p>
          <a:p>
            <a:pPr>
              <a:spcBef>
                <a:spcPts val="1200"/>
              </a:spcBef>
              <a:buSzPct val="120000"/>
              <a:buFont typeface="Arial" panose="020B0604020202020204" pitchFamily="34" charset="0"/>
              <a:buChar char="•"/>
            </a:pPr>
            <a:r>
              <a:rPr lang="en-US" altLang="it-IT" sz="1400">
                <a:solidFill>
                  <a:srgbClr val="003C75"/>
                </a:solidFill>
              </a:rPr>
              <a:t> Notice |CC| &gt; |P|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Footer Placeholder 1">
            <a:extLst>
              <a:ext uri="{FF2B5EF4-FFF2-40B4-BE49-F238E27FC236}">
                <a16:creationId xmlns:a16="http://schemas.microsoft.com/office/drawing/2014/main" id="{45FC83B6-25E4-4A04-A846-556EE16E9F9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23554" name="Slide Number Placeholder 2">
            <a:extLst>
              <a:ext uri="{FF2B5EF4-FFF2-40B4-BE49-F238E27FC236}">
                <a16:creationId xmlns:a16="http://schemas.microsoft.com/office/drawing/2014/main" id="{4310B7C2-A414-4CE3-B92A-F11184EEC59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C9A4F1BF-6938-49DB-962D-A369329C1924}" type="slidenum">
              <a:rPr lang="en-US" altLang="it-IT"/>
              <a:pPr/>
              <a:t>6</a:t>
            </a:fld>
            <a:endParaRPr lang="en-US" altLang="it-IT"/>
          </a:p>
        </p:txBody>
      </p:sp>
      <p:sp>
        <p:nvSpPr>
          <p:cNvPr id="23555" name="Rectangle 2">
            <a:extLst>
              <a:ext uri="{FF2B5EF4-FFF2-40B4-BE49-F238E27FC236}">
                <a16:creationId xmlns:a16="http://schemas.microsoft.com/office/drawing/2014/main" id="{82ABE20D-FF66-4E21-A3CF-E864D5860AA5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>
              <a:spcBef>
                <a:spcPct val="300000"/>
              </a:spcBef>
            </a:pPr>
            <a:r>
              <a:rPr lang="en-US" altLang="it-IT"/>
              <a:t>LR(</a:t>
            </a:r>
            <a:r>
              <a:rPr lang="en-US" altLang="it-IT" i="1"/>
              <a:t>k</a:t>
            </a:r>
            <a:r>
              <a:rPr lang="en-US" altLang="it-IT" sz="900" i="1"/>
              <a:t> </a:t>
            </a:r>
            <a:r>
              <a:rPr lang="en-US" altLang="it-IT"/>
              <a:t>) versus LL(</a:t>
            </a:r>
            <a:r>
              <a:rPr lang="en-US" altLang="it-IT" i="1"/>
              <a:t>k</a:t>
            </a:r>
            <a:r>
              <a:rPr lang="en-US" altLang="it-IT" sz="900" i="1"/>
              <a:t> </a:t>
            </a:r>
            <a:r>
              <a:rPr lang="en-US" altLang="it-IT"/>
              <a:t>)</a:t>
            </a:r>
          </a:p>
        </p:txBody>
      </p:sp>
      <p:sp>
        <p:nvSpPr>
          <p:cNvPr id="23556" name="Rectangle 3">
            <a:extLst>
              <a:ext uri="{FF2B5EF4-FFF2-40B4-BE49-F238E27FC236}">
                <a16:creationId xmlns:a16="http://schemas.microsoft.com/office/drawing/2014/main" id="{0D06FD30-93E3-4CDA-963C-86FDAC0B1654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spcBef>
                <a:spcPct val="30000"/>
              </a:spcBef>
              <a:buFont typeface="Times" panose="02020603050405020304" pitchFamily="18" charset="0"/>
              <a:buNone/>
            </a:pPr>
            <a:r>
              <a:rPr lang="en-US" altLang="it-IT"/>
              <a:t>Other Non-LL Grammars </a:t>
            </a:r>
            <a:endParaRPr lang="en-US" altLang="it-IT" sz="1800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F29C5DBA-1D44-41F4-8796-E7CC95DA4355}"/>
              </a:ext>
            </a:extLst>
          </p:cNvPr>
          <p:cNvGraphicFramePr>
            <a:graphicFrameLocks noGrp="1"/>
          </p:cNvGraphicFramePr>
          <p:nvPr/>
        </p:nvGraphicFramePr>
        <p:xfrm>
          <a:off x="1143000" y="1752600"/>
          <a:ext cx="2438400" cy="228600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>
                    <a:srgbClr val="000000">
                      <a:alpha val="43000"/>
                    </a:srgbClr>
                  </a:outerShdw>
                </a:effectLst>
                <a:tableStyleId>{5C22544A-7EE6-4342-B048-85BDC9FD1C3A}</a:tableStyleId>
              </a:tblPr>
              <a:tblGrid>
                <a:gridCol w="3568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8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63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084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→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i="1" dirty="0">
                          <a:solidFill>
                            <a:schemeClr val="tx1"/>
                          </a:solidFill>
                        </a:rPr>
                        <a:t>R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|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u="sng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en-US" b="0" u="none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b="0" i="1" dirty="0">
                          <a:solidFill>
                            <a:schemeClr val="tx1"/>
                          </a:solidFill>
                        </a:rPr>
                        <a:t>B </a:t>
                      </a:r>
                      <a:r>
                        <a:rPr lang="en-US" b="0" u="sng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</a:rPr>
                        <a:t>R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→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i="1" dirty="0">
                          <a:solidFill>
                            <a:schemeClr val="tx1"/>
                          </a:solidFill>
                        </a:rPr>
                        <a:t>E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 = </a:t>
                      </a:r>
                      <a:r>
                        <a:rPr lang="en-US" b="0" i="1" dirty="0">
                          <a:solidFill>
                            <a:schemeClr val="tx1"/>
                          </a:solidFill>
                        </a:rPr>
                        <a:t>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</a:rPr>
                        <a:t>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→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u="sng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|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u="sng" dirty="0" err="1">
                          <a:solidFill>
                            <a:schemeClr val="tx1"/>
                          </a:solidFill>
                        </a:rPr>
                        <a:t>b</a:t>
                      </a:r>
                      <a:endParaRPr lang="en-US" b="0" u="sng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|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u="sng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en-US" b="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b="0" i="1" baseline="0" dirty="0">
                          <a:solidFill>
                            <a:schemeClr val="tx1"/>
                          </a:solidFill>
                        </a:rPr>
                        <a:t>E</a:t>
                      </a:r>
                      <a:r>
                        <a:rPr lang="en-US" b="0" baseline="0" dirty="0">
                          <a:solidFill>
                            <a:schemeClr val="tx1"/>
                          </a:solidFill>
                        </a:rPr>
                        <a:t> +</a:t>
                      </a:r>
                      <a:r>
                        <a:rPr lang="en-US" b="0" i="1" baseline="0" dirty="0">
                          <a:solidFill>
                            <a:schemeClr val="tx1"/>
                          </a:solidFill>
                        </a:rPr>
                        <a:t> E </a:t>
                      </a:r>
                      <a:r>
                        <a:rPr lang="en-US" b="0" u="sng" baseline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en-US" b="0" u="sng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088E0413-5F44-4C90-BC54-69D81380FDD1}"/>
              </a:ext>
            </a:extLst>
          </p:cNvPr>
          <p:cNvSpPr txBox="1"/>
          <p:nvPr/>
        </p:nvSpPr>
        <p:spPr>
          <a:xfrm>
            <a:off x="838200" y="4419600"/>
            <a:ext cx="3048000" cy="646113"/>
          </a:xfrm>
          <a:prstGeom prst="rect">
            <a:avLst/>
          </a:prstGeom>
          <a:solidFill>
            <a:srgbClr val="D9D9D9"/>
          </a:solidFill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>
              <a:srgbClr val="000000">
                <a:alpha val="43000"/>
              </a:srgbClr>
            </a:outerShdw>
          </a:effectLst>
        </p:spPr>
        <p:txBody>
          <a:bodyPr>
            <a:spAutoFit/>
          </a:bodyPr>
          <a:lstStyle/>
          <a:p>
            <a:pPr eaLnBrk="0" hangingPunct="0">
              <a:defRPr/>
            </a:pPr>
            <a:r>
              <a:rPr lang="en-US" sz="1200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Example from D.E Knuth, “Top-Down Syntactic Analysis,” </a:t>
            </a:r>
            <a:r>
              <a:rPr lang="en-US" sz="1200" i="1" dirty="0" err="1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Acta</a:t>
            </a:r>
            <a:r>
              <a:rPr lang="en-US" sz="1200" i="1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 </a:t>
            </a:r>
            <a:r>
              <a:rPr lang="en-US" sz="1200" i="1" dirty="0" err="1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Informatica</a:t>
            </a:r>
            <a:r>
              <a:rPr lang="en-US" sz="1200" i="1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, 1:2 (1971), pages 79-110</a:t>
            </a:r>
            <a:endParaRPr lang="en-US" sz="1200" dirty="0">
              <a:solidFill>
                <a:srgbClr val="003C75"/>
              </a:solidFill>
              <a:latin typeface="Comic Sans MS" charset="0"/>
              <a:ea typeface="ヒラギノ角ゴ Pro W3" charset="-128"/>
              <a:cs typeface="ヒラギノ角ゴ Pro W3" charset="-128"/>
            </a:endParaRP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09296165-1AED-42F0-B732-839D1412B012}"/>
              </a:ext>
            </a:extLst>
          </p:cNvPr>
          <p:cNvGraphicFramePr>
            <a:graphicFrameLocks noGrp="1"/>
          </p:cNvGraphicFramePr>
          <p:nvPr/>
        </p:nvGraphicFramePr>
        <p:xfrm>
          <a:off x="5334000" y="1752600"/>
          <a:ext cx="2438400" cy="228600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>
                    <a:srgbClr val="000000">
                      <a:alpha val="43000"/>
                    </a:srgbClr>
                  </a:outerShdw>
                </a:effectLst>
                <a:tableStyleId>{5C22544A-7EE6-4342-B048-85BDC9FD1C3A}</a:tableStyleId>
              </a:tblPr>
              <a:tblGrid>
                <a:gridCol w="3568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8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63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084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</a:rPr>
                        <a:t>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→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u="sng" dirty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b="0" u="none" dirty="0">
                          <a:solidFill>
                            <a:schemeClr val="tx1"/>
                          </a:solidFill>
                        </a:rPr>
                        <a:t>  </a:t>
                      </a:r>
                      <a:r>
                        <a:rPr lang="en-US" b="0" i="1" u="none" dirty="0">
                          <a:solidFill>
                            <a:schemeClr val="tx1"/>
                          </a:solidFill>
                        </a:rPr>
                        <a:t>A </a:t>
                      </a:r>
                      <a:r>
                        <a:rPr lang="en-US" b="0" u="none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b="0" u="sng" dirty="0" err="1">
                          <a:solidFill>
                            <a:schemeClr val="tx1"/>
                          </a:solidFill>
                        </a:rPr>
                        <a:t>b</a:t>
                      </a:r>
                      <a:r>
                        <a:rPr lang="en-US" b="0" u="none" dirty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en-US" b="0" u="sng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|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u="none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b="0" u="sng" dirty="0" err="1">
                          <a:solidFill>
                            <a:schemeClr val="tx1"/>
                          </a:solidFill>
                        </a:rPr>
                        <a:t>c</a:t>
                      </a:r>
                      <a:endParaRPr lang="en-US" b="0" u="sng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→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u="sng" dirty="0" err="1">
                          <a:solidFill>
                            <a:schemeClr val="tx1"/>
                          </a:solidFill>
                        </a:rPr>
                        <a:t>b</a:t>
                      </a:r>
                      <a:r>
                        <a:rPr lang="en-US" b="0" u="none" dirty="0">
                          <a:solidFill>
                            <a:schemeClr val="tx1"/>
                          </a:solidFill>
                        </a:rPr>
                        <a:t>  </a:t>
                      </a:r>
                      <a:r>
                        <a:rPr lang="en-US" b="0" i="1" u="none" dirty="0">
                          <a:solidFill>
                            <a:schemeClr val="tx1"/>
                          </a:solidFill>
                        </a:rPr>
                        <a:t>S</a:t>
                      </a:r>
                      <a:endParaRPr lang="en-US" b="0" i="1" u="sng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|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i="1" dirty="0">
                          <a:solidFill>
                            <a:schemeClr val="tx1"/>
                          </a:solidFill>
                        </a:rPr>
                        <a:t>B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  </a:t>
                      </a:r>
                      <a:r>
                        <a:rPr lang="en-US" b="0" u="sng" dirty="0" err="1">
                          <a:solidFill>
                            <a:schemeClr val="tx1"/>
                          </a:solidFill>
                        </a:rPr>
                        <a:t>b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|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u="sng" dirty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b="0" u="none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b="0" i="1" u="none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|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u="sng" dirty="0" err="1">
                          <a:solidFill>
                            <a:schemeClr val="tx1"/>
                          </a:solidFill>
                        </a:rPr>
                        <a:t>c</a:t>
                      </a:r>
                      <a:endParaRPr lang="en-US" b="0" u="sng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ED98F438-6814-4110-BB0A-A48E3FE8CC5E}"/>
              </a:ext>
            </a:extLst>
          </p:cNvPr>
          <p:cNvSpPr txBox="1"/>
          <p:nvPr/>
        </p:nvSpPr>
        <p:spPr>
          <a:xfrm>
            <a:off x="5029200" y="4419600"/>
            <a:ext cx="3048000" cy="646113"/>
          </a:xfrm>
          <a:prstGeom prst="rect">
            <a:avLst/>
          </a:prstGeom>
          <a:solidFill>
            <a:srgbClr val="D9D9D9"/>
          </a:solidFill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>
              <a:srgbClr val="000000">
                <a:alpha val="43000"/>
              </a:srgbClr>
            </a:outerShdw>
          </a:effectLst>
        </p:spPr>
        <p:txBody>
          <a:bodyPr>
            <a:spAutoFit/>
          </a:bodyPr>
          <a:lstStyle/>
          <a:p>
            <a:pPr eaLnBrk="0" hangingPunct="0">
              <a:defRPr/>
            </a:pPr>
            <a:r>
              <a:rPr lang="en-US" sz="1200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Example from Lewis, </a:t>
            </a:r>
            <a:r>
              <a:rPr lang="en-US" sz="1200" dirty="0" err="1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Rosenkrantz</a:t>
            </a:r>
            <a:r>
              <a:rPr lang="en-US" sz="1200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, &amp; Stearns book, “Compiler Design Theory,” (1976), Figure 13.1</a:t>
            </a:r>
          </a:p>
        </p:txBody>
      </p:sp>
      <p:sp>
        <p:nvSpPr>
          <p:cNvPr id="23610" name="TextBox 14">
            <a:extLst>
              <a:ext uri="{FF2B5EF4-FFF2-40B4-BE49-F238E27FC236}">
                <a16:creationId xmlns:a16="http://schemas.microsoft.com/office/drawing/2014/main" id="{25FF46EA-AE94-4C50-9897-819541D546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5757863"/>
            <a:ext cx="2286000" cy="261937"/>
          </a:xfrm>
          <a:prstGeom prst="rect">
            <a:avLst/>
          </a:prstGeom>
          <a:solidFill>
            <a:srgbClr val="D9D9D9"/>
          </a:solidFill>
          <a:ln w="9525">
            <a:solidFill>
              <a:srgbClr val="7F7F7F"/>
            </a:solidFill>
            <a:miter lim="800000"/>
            <a:headEnd/>
            <a:tailEnd/>
          </a:ln>
          <a:effectLst>
            <a:outerShdw blurRad="50800" dist="38100" dir="2700000">
              <a:srgbClr val="000000">
                <a:alpha val="43000"/>
              </a:srgbClr>
            </a:outerShdw>
          </a:effectLst>
        </p:spPr>
        <p:txBody>
          <a:bodyPr>
            <a:spAutoFit/>
          </a:bodyPr>
          <a:lstStyle/>
          <a:p>
            <a:pPr eaLnBrk="0" hangingPunct="0">
              <a:defRPr/>
            </a:pPr>
            <a:r>
              <a:rPr lang="en-US" sz="110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This grammar is actually LR(0)</a:t>
            </a:r>
          </a:p>
        </p:txBody>
      </p:sp>
    </p:spTree>
  </p:cSld>
  <p:clrMapOvr>
    <a:masterClrMapping/>
  </p:clrMapOvr>
  <p:transition>
    <p:wipe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Footer Placeholder 1">
            <a:extLst>
              <a:ext uri="{FF2B5EF4-FFF2-40B4-BE49-F238E27FC236}">
                <a16:creationId xmlns:a16="http://schemas.microsoft.com/office/drawing/2014/main" id="{29D8A8A5-45B3-49F5-A493-7A79C1249DE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25602" name="Slide Number Placeholder 2">
            <a:extLst>
              <a:ext uri="{FF2B5EF4-FFF2-40B4-BE49-F238E27FC236}">
                <a16:creationId xmlns:a16="http://schemas.microsoft.com/office/drawing/2014/main" id="{A537F78B-D37D-4F5B-987B-67F789E28CC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4C780E46-6B5A-48D0-A6DB-CB8955113326}" type="slidenum">
              <a:rPr lang="en-US" altLang="it-IT"/>
              <a:pPr/>
              <a:t>7</a:t>
            </a:fld>
            <a:endParaRPr lang="en-US" altLang="it-IT"/>
          </a:p>
        </p:txBody>
      </p:sp>
      <p:sp>
        <p:nvSpPr>
          <p:cNvPr id="25603" name="Rectangle 2">
            <a:extLst>
              <a:ext uri="{FF2B5EF4-FFF2-40B4-BE49-F238E27FC236}">
                <a16:creationId xmlns:a16="http://schemas.microsoft.com/office/drawing/2014/main" id="{9EF5B473-D0CB-400C-8491-528F938A8A1D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>
              <a:spcBef>
                <a:spcPct val="300000"/>
              </a:spcBef>
            </a:pPr>
            <a:r>
              <a:rPr lang="en-US" altLang="it-IT"/>
              <a:t>LR(</a:t>
            </a:r>
            <a:r>
              <a:rPr lang="en-US" altLang="it-IT" i="1"/>
              <a:t>k</a:t>
            </a:r>
            <a:r>
              <a:rPr lang="en-US" altLang="it-IT" sz="900" i="1"/>
              <a:t> </a:t>
            </a:r>
            <a:r>
              <a:rPr lang="en-US" altLang="it-IT"/>
              <a:t>) versus LL(</a:t>
            </a:r>
            <a:r>
              <a:rPr lang="en-US" altLang="it-IT" i="1"/>
              <a:t>k</a:t>
            </a:r>
            <a:r>
              <a:rPr lang="en-US" altLang="it-IT" sz="900" i="1"/>
              <a:t> </a:t>
            </a:r>
            <a:r>
              <a:rPr lang="en-US" altLang="it-IT"/>
              <a:t>)</a:t>
            </a:r>
          </a:p>
        </p:txBody>
      </p:sp>
      <p:sp>
        <p:nvSpPr>
          <p:cNvPr id="25604" name="Rectangle 3">
            <a:extLst>
              <a:ext uri="{FF2B5EF4-FFF2-40B4-BE49-F238E27FC236}">
                <a16:creationId xmlns:a16="http://schemas.microsoft.com/office/drawing/2014/main" id="{B43B1D09-0696-4E0F-BDFE-F8305743BC0B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spcBef>
                <a:spcPct val="30000"/>
              </a:spcBef>
              <a:buFont typeface="Times" panose="02020603050405020304" pitchFamily="18" charset="0"/>
              <a:buNone/>
            </a:pPr>
            <a:r>
              <a:rPr lang="en-US" altLang="it-IT"/>
              <a:t>Finding the next step in a derivation</a:t>
            </a:r>
            <a:endParaRPr lang="en-US" altLang="it-IT" sz="1800"/>
          </a:p>
          <a:p>
            <a:pPr eaLnBrk="1" hangingPunct="1">
              <a:spcBef>
                <a:spcPct val="50000"/>
              </a:spcBef>
              <a:buFont typeface="Times" panose="02020603050405020304" pitchFamily="18" charset="0"/>
              <a:buNone/>
            </a:pPr>
            <a:r>
              <a:rPr lang="en-US" altLang="it-IT" sz="1800"/>
              <a:t>LR(</a:t>
            </a:r>
            <a:r>
              <a:rPr lang="en-US" altLang="it-IT" sz="1800" i="1"/>
              <a:t>k</a:t>
            </a:r>
            <a:r>
              <a:rPr lang="en-US" altLang="it-IT" sz="1800"/>
              <a:t>) </a:t>
            </a:r>
            <a:r>
              <a:rPr lang="en-US" altLang="it-IT" sz="1800">
                <a:sym typeface="Symbol" panose="05050102010706020507" pitchFamily="18" charset="2"/>
              </a:rPr>
              <a:t> Each reduction in the parse is detectable with </a:t>
            </a:r>
          </a:p>
          <a:p>
            <a:pPr eaLnBrk="1" hangingPunct="1">
              <a:spcBef>
                <a:spcPct val="25000"/>
              </a:spcBef>
              <a:buSzPct val="90000"/>
              <a:buFont typeface="Symbol" panose="05050102010706020507" pitchFamily="18" charset="2"/>
              <a:buChar char=""/>
            </a:pPr>
            <a:r>
              <a:rPr lang="en-US" altLang="it-IT" sz="1800"/>
              <a:t>the complete left context,</a:t>
            </a:r>
          </a:p>
          <a:p>
            <a:pPr eaLnBrk="1" hangingPunct="1">
              <a:spcBef>
                <a:spcPct val="25000"/>
              </a:spcBef>
              <a:buSzPct val="90000"/>
              <a:buFont typeface="Symbol" panose="05050102010706020507" pitchFamily="18" charset="2"/>
              <a:buChar char=""/>
            </a:pPr>
            <a:r>
              <a:rPr lang="en-US" altLang="it-IT" sz="1800"/>
              <a:t>the reducible phrase, itself, and</a:t>
            </a:r>
          </a:p>
          <a:p>
            <a:pPr eaLnBrk="1" hangingPunct="1">
              <a:spcBef>
                <a:spcPct val="25000"/>
              </a:spcBef>
              <a:buSzPct val="90000"/>
              <a:buFont typeface="Symbol" panose="05050102010706020507" pitchFamily="18" charset="2"/>
              <a:buChar char=""/>
            </a:pPr>
            <a:r>
              <a:rPr lang="en-US" altLang="it-IT" sz="1800"/>
              <a:t>the </a:t>
            </a:r>
            <a:r>
              <a:rPr lang="en-US" altLang="it-IT" sz="1800" i="1"/>
              <a:t>k</a:t>
            </a:r>
            <a:r>
              <a:rPr lang="en-US" altLang="it-IT" sz="1800"/>
              <a:t> terminal symbols to its right</a:t>
            </a:r>
          </a:p>
          <a:p>
            <a:pPr eaLnBrk="1" hangingPunct="1">
              <a:spcBef>
                <a:spcPct val="75000"/>
              </a:spcBef>
              <a:buSzPct val="90000"/>
              <a:buFont typeface="Symbol" panose="05050102010706020507" pitchFamily="18" charset="2"/>
              <a:buNone/>
            </a:pPr>
            <a:r>
              <a:rPr lang="en-US" altLang="it-IT" sz="1800"/>
              <a:t>LL(</a:t>
            </a:r>
            <a:r>
              <a:rPr lang="en-US" altLang="it-IT" sz="1800" i="1"/>
              <a:t>k</a:t>
            </a:r>
            <a:r>
              <a:rPr lang="en-US" altLang="it-IT" sz="1800"/>
              <a:t>) </a:t>
            </a:r>
            <a:r>
              <a:rPr lang="en-US" altLang="it-IT" sz="1800">
                <a:sym typeface="Symbol" panose="05050102010706020507" pitchFamily="18" charset="2"/>
              </a:rPr>
              <a:t> Parser must select the expansion based on</a:t>
            </a:r>
          </a:p>
          <a:p>
            <a:pPr eaLnBrk="1" hangingPunct="1">
              <a:spcBef>
                <a:spcPct val="25000"/>
              </a:spcBef>
              <a:buSzPct val="90000"/>
              <a:buFont typeface="Symbol" panose="05050102010706020507" pitchFamily="18" charset="2"/>
              <a:buChar char=""/>
            </a:pPr>
            <a:r>
              <a:rPr lang="en-US" altLang="it-IT" sz="1800">
                <a:sym typeface="Symbol" panose="05050102010706020507" pitchFamily="18" charset="2"/>
              </a:rPr>
              <a:t>The complete left context</a:t>
            </a:r>
          </a:p>
          <a:p>
            <a:pPr eaLnBrk="1" hangingPunct="1">
              <a:spcBef>
                <a:spcPct val="25000"/>
              </a:spcBef>
              <a:buSzPct val="90000"/>
              <a:buFont typeface="Symbol" panose="05050102010706020507" pitchFamily="18" charset="2"/>
              <a:buChar char=""/>
            </a:pPr>
            <a:r>
              <a:rPr lang="en-US" altLang="it-IT" sz="1800">
                <a:sym typeface="Symbol" panose="05050102010706020507" pitchFamily="18" charset="2"/>
              </a:rPr>
              <a:t>The next </a:t>
            </a:r>
            <a:r>
              <a:rPr lang="en-US" altLang="it-IT" sz="1800" i="1">
                <a:sym typeface="Symbol" panose="05050102010706020507" pitchFamily="18" charset="2"/>
              </a:rPr>
              <a:t>k</a:t>
            </a:r>
            <a:r>
              <a:rPr lang="en-US" altLang="it-IT" sz="1800">
                <a:sym typeface="Symbol" panose="05050102010706020507" pitchFamily="18" charset="2"/>
              </a:rPr>
              <a:t> terminals</a:t>
            </a:r>
          </a:p>
          <a:p>
            <a:pPr eaLnBrk="1" hangingPunct="1">
              <a:spcBef>
                <a:spcPct val="50000"/>
              </a:spcBef>
              <a:buSzPct val="90000"/>
              <a:buFont typeface="Symbol" panose="05050102010706020507" pitchFamily="18" charset="2"/>
              <a:buNone/>
            </a:pPr>
            <a:r>
              <a:rPr lang="en-US" altLang="it-IT" sz="1800">
                <a:sym typeface="Symbol" panose="05050102010706020507" pitchFamily="18" charset="2"/>
              </a:rPr>
              <a:t>Thus, LR(</a:t>
            </a:r>
            <a:r>
              <a:rPr lang="en-US" altLang="it-IT" sz="1800" i="1">
                <a:sym typeface="Symbol" panose="05050102010706020507" pitchFamily="18" charset="2"/>
              </a:rPr>
              <a:t>k</a:t>
            </a:r>
            <a:r>
              <a:rPr lang="en-US" altLang="it-IT" sz="1800">
                <a:sym typeface="Symbol" panose="05050102010706020507" pitchFamily="18" charset="2"/>
              </a:rPr>
              <a:t>) examines more context </a:t>
            </a:r>
          </a:p>
          <a:p>
            <a:pPr eaLnBrk="1" hangingPunct="1">
              <a:spcBef>
                <a:spcPct val="75000"/>
              </a:spcBef>
              <a:buSzPct val="90000"/>
              <a:buFont typeface="Symbol" panose="05050102010706020507" pitchFamily="18" charset="2"/>
              <a:buNone/>
            </a:pPr>
            <a:r>
              <a:rPr lang="en-US" altLang="it-IT" sz="1800">
                <a:solidFill>
                  <a:srgbClr val="003C75"/>
                </a:solidFill>
                <a:sym typeface="Symbol" panose="05050102010706020507" pitchFamily="18" charset="2"/>
              </a:rPr>
              <a:t>“</a:t>
            </a:r>
            <a:r>
              <a:rPr lang="en-US" altLang="it-IT" sz="1800" i="1">
                <a:solidFill>
                  <a:srgbClr val="003C75"/>
                </a:solidFill>
                <a:sym typeface="Symbol" panose="05050102010706020507" pitchFamily="18" charset="2"/>
              </a:rPr>
              <a:t>… in practice, programming languages do not actually seem to fall in the gap between LL(1) languages and deterministic languages”   </a:t>
            </a:r>
            <a:r>
              <a:rPr lang="en-US" altLang="it-IT" sz="1600" i="1">
                <a:solidFill>
                  <a:srgbClr val="003C75"/>
                </a:solidFill>
                <a:sym typeface="Symbol" panose="05050102010706020507" pitchFamily="18" charset="2"/>
              </a:rPr>
              <a:t>    J.J. Horning, “LR Grammars and Analysers”, in Compiler Construction, An Advanced Course, Springer-Verlag, 1976</a:t>
            </a:r>
            <a:r>
              <a:rPr lang="en-US" altLang="it-IT" sz="1800" i="1">
                <a:solidFill>
                  <a:srgbClr val="003C75"/>
                </a:solidFill>
                <a:sym typeface="Symbol" panose="05050102010706020507" pitchFamily="18" charset="2"/>
              </a:rPr>
              <a:t> </a:t>
            </a:r>
            <a:endParaRPr lang="en-US" altLang="it-IT" sz="1800">
              <a:solidFill>
                <a:srgbClr val="003C75"/>
              </a:solidFill>
              <a:sym typeface="Symbol" panose="05050102010706020507" pitchFamily="18" charset="2"/>
            </a:endParaRPr>
          </a:p>
        </p:txBody>
      </p:sp>
      <p:grpSp>
        <p:nvGrpSpPr>
          <p:cNvPr id="25605" name="Group 10">
            <a:extLst>
              <a:ext uri="{FF2B5EF4-FFF2-40B4-BE49-F238E27FC236}">
                <a16:creationId xmlns:a16="http://schemas.microsoft.com/office/drawing/2014/main" id="{9DEFFF6B-C73D-4704-81CE-F28A71FD2F6A}"/>
              </a:ext>
            </a:extLst>
          </p:cNvPr>
          <p:cNvGrpSpPr>
            <a:grpSpLocks/>
          </p:cNvGrpSpPr>
          <p:nvPr/>
        </p:nvGrpSpPr>
        <p:grpSpPr bwMode="auto">
          <a:xfrm>
            <a:off x="1295400" y="1752600"/>
            <a:ext cx="7239000" cy="1447800"/>
            <a:chOff x="816" y="1104"/>
            <a:chExt cx="4560" cy="912"/>
          </a:xfrm>
        </p:grpSpPr>
        <p:sp>
          <p:nvSpPr>
            <p:cNvPr id="25606" name="Text Box 6">
              <a:extLst>
                <a:ext uri="{FF2B5EF4-FFF2-40B4-BE49-F238E27FC236}">
                  <a16:creationId xmlns:a16="http://schemas.microsoft.com/office/drawing/2014/main" id="{E1CFC911-30C4-4CBD-8633-6F3674FD60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32" y="1360"/>
              <a:ext cx="1344" cy="5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it-IT" sz="1600">
                  <a:solidFill>
                    <a:srgbClr val="B025A6"/>
                  </a:solidFill>
                </a:rPr>
                <a:t>generalizations of LR(1) and LL(1) to longer lookaheads</a:t>
              </a:r>
            </a:p>
          </p:txBody>
        </p:sp>
        <p:sp>
          <p:nvSpPr>
            <p:cNvPr id="25607" name="Line 7">
              <a:extLst>
                <a:ext uri="{FF2B5EF4-FFF2-40B4-BE49-F238E27FC236}">
                  <a16:creationId xmlns:a16="http://schemas.microsoft.com/office/drawing/2014/main" id="{C201002D-E2C9-42E0-A5FC-EB47D9AECD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2" y="1368"/>
              <a:ext cx="0" cy="576"/>
            </a:xfrm>
            <a:prstGeom prst="line">
              <a:avLst/>
            </a:prstGeom>
            <a:noFill/>
            <a:ln w="28575">
              <a:solidFill>
                <a:srgbClr val="B025A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25608" name="Freeform 8">
              <a:extLst>
                <a:ext uri="{FF2B5EF4-FFF2-40B4-BE49-F238E27FC236}">
                  <a16:creationId xmlns:a16="http://schemas.microsoft.com/office/drawing/2014/main" id="{26C222EF-2D27-4A69-A8EB-F8B149377790}"/>
                </a:ext>
              </a:extLst>
            </p:cNvPr>
            <p:cNvSpPr>
              <a:spLocks/>
            </p:cNvSpPr>
            <p:nvPr/>
          </p:nvSpPr>
          <p:spPr bwMode="auto">
            <a:xfrm>
              <a:off x="816" y="1104"/>
              <a:ext cx="3216" cy="432"/>
            </a:xfrm>
            <a:custGeom>
              <a:avLst/>
              <a:gdLst>
                <a:gd name="T0" fmla="*/ 0 w 3216"/>
                <a:gd name="T1" fmla="*/ 0 h 432"/>
                <a:gd name="T2" fmla="*/ 240 w 3216"/>
                <a:gd name="T3" fmla="*/ 96 h 432"/>
                <a:gd name="T4" fmla="*/ 768 w 3216"/>
                <a:gd name="T5" fmla="*/ 96 h 432"/>
                <a:gd name="T6" fmla="*/ 1776 w 3216"/>
                <a:gd name="T7" fmla="*/ 144 h 432"/>
                <a:gd name="T8" fmla="*/ 3216 w 3216"/>
                <a:gd name="T9" fmla="*/ 432 h 4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16"/>
                <a:gd name="T16" fmla="*/ 0 h 432"/>
                <a:gd name="T17" fmla="*/ 3216 w 3216"/>
                <a:gd name="T18" fmla="*/ 432 h 43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16" h="432">
                  <a:moveTo>
                    <a:pt x="0" y="0"/>
                  </a:moveTo>
                  <a:cubicBezTo>
                    <a:pt x="56" y="40"/>
                    <a:pt x="112" y="80"/>
                    <a:pt x="240" y="96"/>
                  </a:cubicBezTo>
                  <a:cubicBezTo>
                    <a:pt x="368" y="112"/>
                    <a:pt x="512" y="88"/>
                    <a:pt x="768" y="96"/>
                  </a:cubicBezTo>
                  <a:cubicBezTo>
                    <a:pt x="1024" y="104"/>
                    <a:pt x="1368" y="88"/>
                    <a:pt x="1776" y="144"/>
                  </a:cubicBezTo>
                  <a:cubicBezTo>
                    <a:pt x="2184" y="200"/>
                    <a:pt x="2700" y="316"/>
                    <a:pt x="3216" y="432"/>
                  </a:cubicBezTo>
                </a:path>
              </a:pathLst>
            </a:custGeom>
            <a:noFill/>
            <a:ln w="9525">
              <a:solidFill>
                <a:srgbClr val="B025A6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25609" name="Freeform 9">
              <a:extLst>
                <a:ext uri="{FF2B5EF4-FFF2-40B4-BE49-F238E27FC236}">
                  <a16:creationId xmlns:a16="http://schemas.microsoft.com/office/drawing/2014/main" id="{F8170017-E55B-4CF1-BD9F-E56D2788E3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16" y="1584"/>
              <a:ext cx="3216" cy="432"/>
            </a:xfrm>
            <a:custGeom>
              <a:avLst/>
              <a:gdLst>
                <a:gd name="T0" fmla="*/ 0 w 3216"/>
                <a:gd name="T1" fmla="*/ 432 h 432"/>
                <a:gd name="T2" fmla="*/ 240 w 3216"/>
                <a:gd name="T3" fmla="*/ 384 h 432"/>
                <a:gd name="T4" fmla="*/ 1200 w 3216"/>
                <a:gd name="T5" fmla="*/ 336 h 432"/>
                <a:gd name="T6" fmla="*/ 2400 w 3216"/>
                <a:gd name="T7" fmla="*/ 336 h 432"/>
                <a:gd name="T8" fmla="*/ 3216 w 3216"/>
                <a:gd name="T9" fmla="*/ 0 h 4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16"/>
                <a:gd name="T16" fmla="*/ 0 h 432"/>
                <a:gd name="T17" fmla="*/ 3216 w 3216"/>
                <a:gd name="T18" fmla="*/ 432 h 43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16" h="432">
                  <a:moveTo>
                    <a:pt x="0" y="432"/>
                  </a:moveTo>
                  <a:cubicBezTo>
                    <a:pt x="20" y="416"/>
                    <a:pt x="40" y="400"/>
                    <a:pt x="240" y="384"/>
                  </a:cubicBezTo>
                  <a:cubicBezTo>
                    <a:pt x="440" y="368"/>
                    <a:pt x="840" y="344"/>
                    <a:pt x="1200" y="336"/>
                  </a:cubicBezTo>
                  <a:cubicBezTo>
                    <a:pt x="1560" y="328"/>
                    <a:pt x="2064" y="392"/>
                    <a:pt x="2400" y="336"/>
                  </a:cubicBezTo>
                  <a:cubicBezTo>
                    <a:pt x="2736" y="280"/>
                    <a:pt x="2976" y="140"/>
                    <a:pt x="3216" y="0"/>
                  </a:cubicBezTo>
                </a:path>
              </a:pathLst>
            </a:custGeom>
            <a:noFill/>
            <a:ln w="9525">
              <a:solidFill>
                <a:srgbClr val="B025A6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</p:grpSp>
    </p:spTree>
  </p:cSld>
  <p:clrMapOvr>
    <a:masterClrMapping/>
  </p:clrMapOvr>
  <p:transition>
    <p:wipe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Footer Placeholder 1">
            <a:extLst>
              <a:ext uri="{FF2B5EF4-FFF2-40B4-BE49-F238E27FC236}">
                <a16:creationId xmlns:a16="http://schemas.microsoft.com/office/drawing/2014/main" id="{DFDE02C3-0485-43DD-BDD0-1C49AB2C04E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27650" name="Slide Number Placeholder 2">
            <a:extLst>
              <a:ext uri="{FF2B5EF4-FFF2-40B4-BE49-F238E27FC236}">
                <a16:creationId xmlns:a16="http://schemas.microsoft.com/office/drawing/2014/main" id="{1A58C1DC-E7CF-4AD9-A94B-500D99B4C64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F5E1E9FC-9170-4043-BC81-A758B8BB0150}" type="slidenum">
              <a:rPr lang="en-US" altLang="it-IT"/>
              <a:pPr/>
              <a:t>8</a:t>
            </a:fld>
            <a:endParaRPr lang="en-US" altLang="it-IT"/>
          </a:p>
        </p:txBody>
      </p:sp>
      <p:sp>
        <p:nvSpPr>
          <p:cNvPr id="27651" name="Rectangle 2">
            <a:extLst>
              <a:ext uri="{FF2B5EF4-FFF2-40B4-BE49-F238E27FC236}">
                <a16:creationId xmlns:a16="http://schemas.microsoft.com/office/drawing/2014/main" id="{41E31D6B-CAA2-460D-BE3F-66D2737EE354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>
              <a:spcBef>
                <a:spcPct val="100000"/>
              </a:spcBef>
              <a:buFont typeface="Symbol" panose="05050102010706020507" pitchFamily="18" charset="2"/>
              <a:buNone/>
            </a:pPr>
            <a:r>
              <a:rPr lang="en-US" altLang="it-IT">
                <a:sym typeface="Symbol" panose="05050102010706020507" pitchFamily="18" charset="2"/>
              </a:rPr>
              <a:t>Left Recursion versus Right Recursion</a:t>
            </a:r>
            <a:endParaRPr lang="en-US" altLang="it-IT" sz="2000">
              <a:sym typeface="Symbol" panose="05050102010706020507" pitchFamily="18" charset="2"/>
            </a:endParaRPr>
          </a:p>
        </p:txBody>
      </p:sp>
      <p:sp>
        <p:nvSpPr>
          <p:cNvPr id="27652" name="Rectangle 3">
            <a:extLst>
              <a:ext uri="{FF2B5EF4-FFF2-40B4-BE49-F238E27FC236}">
                <a16:creationId xmlns:a16="http://schemas.microsoft.com/office/drawing/2014/main" id="{058FAE4E-7042-4743-81CF-557C44448A49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r>
              <a:rPr lang="en-US" altLang="it-IT">
                <a:sym typeface="Symbol" panose="05050102010706020507" pitchFamily="18" charset="2"/>
              </a:rPr>
              <a:t>Right recursion</a:t>
            </a:r>
          </a:p>
          <a:p>
            <a:pPr lvl="1" eaLnBrk="1" hangingPunct="1">
              <a:buSzPct val="120000"/>
              <a:buFont typeface="Times" panose="02020603050405020304" pitchFamily="18" charset="0"/>
              <a:buChar char="–"/>
            </a:pPr>
            <a:r>
              <a:rPr lang="en-US" altLang="it-IT">
                <a:sym typeface="Symbol" panose="05050102010706020507" pitchFamily="18" charset="2"/>
              </a:rPr>
              <a:t>Required for termination in top-down parsers</a:t>
            </a:r>
          </a:p>
          <a:p>
            <a:pPr lvl="1" eaLnBrk="1" hangingPunct="1">
              <a:buSzPct val="120000"/>
              <a:buFont typeface="Times" panose="02020603050405020304" pitchFamily="18" charset="0"/>
              <a:buChar char="–"/>
            </a:pPr>
            <a:r>
              <a:rPr lang="en-US" altLang="it-IT">
                <a:sym typeface="Symbol" panose="05050102010706020507" pitchFamily="18" charset="2"/>
              </a:rPr>
              <a:t>Uses (on average) more stack space</a:t>
            </a:r>
          </a:p>
          <a:p>
            <a:pPr lvl="1" eaLnBrk="1" hangingPunct="1">
              <a:buSzPct val="120000"/>
              <a:buFont typeface="Times" panose="02020603050405020304" pitchFamily="18" charset="0"/>
              <a:buChar char="–"/>
            </a:pPr>
            <a:r>
              <a:rPr lang="en-US" altLang="it-IT">
                <a:sym typeface="Symbol" panose="05050102010706020507" pitchFamily="18" charset="2"/>
              </a:rPr>
              <a:t>Naïve right recursion produces right-associativity</a:t>
            </a:r>
            <a:endParaRPr lang="en-US" altLang="it-IT" sz="2000">
              <a:sym typeface="Symbol" panose="05050102010706020507" pitchFamily="18" charset="2"/>
            </a:endParaRPr>
          </a:p>
          <a:p>
            <a:pPr eaLnBrk="1" hangingPunct="1">
              <a:spcBef>
                <a:spcPts val="4200"/>
              </a:spcBef>
            </a:pPr>
            <a:r>
              <a:rPr lang="en-US" altLang="it-IT">
                <a:sym typeface="Symbol" panose="05050102010706020507" pitchFamily="18" charset="2"/>
              </a:rPr>
              <a:t>Left recursion</a:t>
            </a:r>
          </a:p>
          <a:p>
            <a:pPr lvl="1" eaLnBrk="1" hangingPunct="1">
              <a:buSzPct val="120000"/>
              <a:buFont typeface="Times" panose="02020603050405020304" pitchFamily="18" charset="0"/>
              <a:buChar char="–"/>
            </a:pPr>
            <a:r>
              <a:rPr lang="en-US" altLang="it-IT" sz="2000">
                <a:sym typeface="Symbol" panose="05050102010706020507" pitchFamily="18" charset="2"/>
              </a:rPr>
              <a:t>Works fine in bottom-up parsers</a:t>
            </a:r>
          </a:p>
          <a:p>
            <a:pPr lvl="1" eaLnBrk="1" hangingPunct="1">
              <a:buSzPct val="120000"/>
              <a:buFont typeface="Times" panose="02020603050405020304" pitchFamily="18" charset="0"/>
              <a:buChar char="–"/>
            </a:pPr>
            <a:r>
              <a:rPr lang="en-US" altLang="it-IT" sz="2000">
                <a:sym typeface="Symbol" panose="05050102010706020507" pitchFamily="18" charset="2"/>
              </a:rPr>
              <a:t>Limits required stack space</a:t>
            </a:r>
          </a:p>
          <a:p>
            <a:pPr lvl="1" eaLnBrk="1" hangingPunct="1">
              <a:buSzPct val="120000"/>
              <a:buFont typeface="Times" panose="02020603050405020304" pitchFamily="18" charset="0"/>
              <a:buChar char="–"/>
            </a:pPr>
            <a:r>
              <a:rPr lang="en-US" altLang="it-IT" sz="2000">
                <a:sym typeface="Symbol" panose="05050102010706020507" pitchFamily="18" charset="2"/>
              </a:rPr>
              <a:t>Naïve left recursion produces left-associativity</a:t>
            </a:r>
          </a:p>
          <a:p>
            <a:pPr eaLnBrk="1" hangingPunct="1">
              <a:spcBef>
                <a:spcPts val="3600"/>
              </a:spcBef>
            </a:pPr>
            <a:r>
              <a:rPr lang="en-US" altLang="it-IT">
                <a:sym typeface="Symbol" panose="05050102010706020507" pitchFamily="18" charset="2"/>
              </a:rPr>
              <a:t>Rule of thumb</a:t>
            </a:r>
          </a:p>
          <a:p>
            <a:pPr lvl="1" eaLnBrk="1" hangingPunct="1">
              <a:buSzPct val="120000"/>
              <a:buFont typeface="Times" panose="02020603050405020304" pitchFamily="18" charset="0"/>
              <a:buChar char="–"/>
            </a:pPr>
            <a:r>
              <a:rPr lang="en-US" altLang="it-IT" sz="2000">
                <a:sym typeface="Symbol" panose="05050102010706020507" pitchFamily="18" charset="2"/>
              </a:rPr>
              <a:t>Left recursion for bottom-up parsers</a:t>
            </a:r>
          </a:p>
          <a:p>
            <a:pPr lvl="1" eaLnBrk="1" hangingPunct="1">
              <a:buSzPct val="120000"/>
              <a:buFont typeface="Times" panose="02020603050405020304" pitchFamily="18" charset="0"/>
              <a:buChar char="–"/>
            </a:pPr>
            <a:r>
              <a:rPr lang="en-US" altLang="it-IT" sz="2000">
                <a:sym typeface="Symbol" panose="05050102010706020507" pitchFamily="18" charset="2"/>
              </a:rPr>
              <a:t>Right recursion for top-down parsers</a:t>
            </a:r>
          </a:p>
        </p:txBody>
      </p:sp>
      <p:grpSp>
        <p:nvGrpSpPr>
          <p:cNvPr id="27653" name="Group 4">
            <a:extLst>
              <a:ext uri="{FF2B5EF4-FFF2-40B4-BE49-F238E27FC236}">
                <a16:creationId xmlns:a16="http://schemas.microsoft.com/office/drawing/2014/main" id="{5FAE7C00-84A7-499F-8DD2-42546A090E7C}"/>
              </a:ext>
            </a:extLst>
          </p:cNvPr>
          <p:cNvGrpSpPr>
            <a:grpSpLocks/>
          </p:cNvGrpSpPr>
          <p:nvPr/>
        </p:nvGrpSpPr>
        <p:grpSpPr bwMode="auto">
          <a:xfrm>
            <a:off x="6781800" y="1117600"/>
            <a:ext cx="2286000" cy="1701800"/>
            <a:chOff x="3506" y="864"/>
            <a:chExt cx="1440" cy="1072"/>
          </a:xfrm>
        </p:grpSpPr>
        <p:grpSp>
          <p:nvGrpSpPr>
            <p:cNvPr id="27671" name="Group 5">
              <a:extLst>
                <a:ext uri="{FF2B5EF4-FFF2-40B4-BE49-F238E27FC236}">
                  <a16:creationId xmlns:a16="http://schemas.microsoft.com/office/drawing/2014/main" id="{878D060F-63BC-40E8-9D3F-397FCB01054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31" y="864"/>
              <a:ext cx="1189" cy="884"/>
              <a:chOff x="3682" y="853"/>
              <a:chExt cx="1189" cy="884"/>
            </a:xfrm>
          </p:grpSpPr>
          <p:grpSp>
            <p:nvGrpSpPr>
              <p:cNvPr id="27673" name="Group 6">
                <a:extLst>
                  <a:ext uri="{FF2B5EF4-FFF2-40B4-BE49-F238E27FC236}">
                    <a16:creationId xmlns:a16="http://schemas.microsoft.com/office/drawing/2014/main" id="{FC4C1BD0-033E-49C5-B86F-2CECE471E3E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815" y="853"/>
                <a:ext cx="925" cy="741"/>
                <a:chOff x="3815" y="853"/>
                <a:chExt cx="925" cy="741"/>
              </a:xfrm>
            </p:grpSpPr>
            <p:sp>
              <p:nvSpPr>
                <p:cNvPr id="27678" name="Text Box 7">
                  <a:extLst>
                    <a:ext uri="{FF2B5EF4-FFF2-40B4-BE49-F238E27FC236}">
                      <a16:creationId xmlns:a16="http://schemas.microsoft.com/office/drawing/2014/main" id="{819867B9-4912-405B-8F6C-517F66AB3AE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830" y="853"/>
                  <a:ext cx="181" cy="21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r>
                    <a:rPr lang="en-US" altLang="it-IT" sz="1600">
                      <a:latin typeface="Arial Rounded MT Bold" panose="020F0704030504030204" pitchFamily="34" charset="0"/>
                    </a:rPr>
                    <a:t>*</a:t>
                  </a:r>
                </a:p>
              </p:txBody>
            </p:sp>
            <p:sp>
              <p:nvSpPr>
                <p:cNvPr id="27679" name="Text Box 8">
                  <a:extLst>
                    <a:ext uri="{FF2B5EF4-FFF2-40B4-BE49-F238E27FC236}">
                      <a16:creationId xmlns:a16="http://schemas.microsoft.com/office/drawing/2014/main" id="{8C73C767-9CE7-4174-A4BB-056AE3757F4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107" y="1019"/>
                  <a:ext cx="181" cy="21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r>
                    <a:rPr lang="en-US" altLang="it-IT" sz="1600">
                      <a:latin typeface="Arial Rounded MT Bold" panose="020F0704030504030204" pitchFamily="34" charset="0"/>
                    </a:rPr>
                    <a:t>*</a:t>
                  </a:r>
                </a:p>
              </p:txBody>
            </p:sp>
            <p:sp>
              <p:nvSpPr>
                <p:cNvPr id="27680" name="Text Box 9">
                  <a:extLst>
                    <a:ext uri="{FF2B5EF4-FFF2-40B4-BE49-F238E27FC236}">
                      <a16:creationId xmlns:a16="http://schemas.microsoft.com/office/drawing/2014/main" id="{1FE112DD-FC73-4D8D-BD51-4CAE1BF9666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402" y="1200"/>
                  <a:ext cx="181" cy="21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r>
                    <a:rPr lang="en-US" altLang="it-IT" sz="1600">
                      <a:latin typeface="Arial Rounded MT Bold" panose="020F0704030504030204" pitchFamily="34" charset="0"/>
                    </a:rPr>
                    <a:t>*</a:t>
                  </a:r>
                </a:p>
              </p:txBody>
            </p:sp>
            <p:sp>
              <p:nvSpPr>
                <p:cNvPr id="27681" name="Line 10">
                  <a:extLst>
                    <a:ext uri="{FF2B5EF4-FFF2-40B4-BE49-F238E27FC236}">
                      <a16:creationId xmlns:a16="http://schemas.microsoft.com/office/drawing/2014/main" id="{CEC4E96E-0ACB-45B8-9653-823C7683FD5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967" y="963"/>
                  <a:ext cx="196" cy="11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it-IT"/>
                </a:p>
              </p:txBody>
            </p:sp>
            <p:sp>
              <p:nvSpPr>
                <p:cNvPr id="27682" name="Line 11">
                  <a:extLst>
                    <a:ext uri="{FF2B5EF4-FFF2-40B4-BE49-F238E27FC236}">
                      <a16:creationId xmlns:a16="http://schemas.microsoft.com/office/drawing/2014/main" id="{5C72DC58-EFD0-46FD-8A60-BA4BF19649A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237" y="1135"/>
                  <a:ext cx="204" cy="1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it-IT"/>
                </a:p>
              </p:txBody>
            </p:sp>
            <p:sp>
              <p:nvSpPr>
                <p:cNvPr id="27683" name="Line 12">
                  <a:extLst>
                    <a:ext uri="{FF2B5EF4-FFF2-40B4-BE49-F238E27FC236}">
                      <a16:creationId xmlns:a16="http://schemas.microsoft.com/office/drawing/2014/main" id="{98450723-DB2A-4C67-BBE4-F8945BC93D7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536" y="1311"/>
                  <a:ext cx="204" cy="1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it-IT"/>
                </a:p>
              </p:txBody>
            </p:sp>
            <p:sp>
              <p:nvSpPr>
                <p:cNvPr id="27684" name="Line 13">
                  <a:extLst>
                    <a:ext uri="{FF2B5EF4-FFF2-40B4-BE49-F238E27FC236}">
                      <a16:creationId xmlns:a16="http://schemas.microsoft.com/office/drawing/2014/main" id="{8606EDF3-54ED-4E1A-BE04-32D8A57A6E4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815" y="960"/>
                  <a:ext cx="73" cy="25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it-IT"/>
                </a:p>
              </p:txBody>
            </p:sp>
            <p:sp>
              <p:nvSpPr>
                <p:cNvPr id="27685" name="Line 14">
                  <a:extLst>
                    <a:ext uri="{FF2B5EF4-FFF2-40B4-BE49-F238E27FC236}">
                      <a16:creationId xmlns:a16="http://schemas.microsoft.com/office/drawing/2014/main" id="{0319C396-4E9D-45AB-9484-812BD3C71CD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080" y="1152"/>
                  <a:ext cx="73" cy="25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it-IT"/>
                </a:p>
              </p:txBody>
            </p:sp>
            <p:sp>
              <p:nvSpPr>
                <p:cNvPr id="27686" name="Line 15">
                  <a:extLst>
                    <a:ext uri="{FF2B5EF4-FFF2-40B4-BE49-F238E27FC236}">
                      <a16:creationId xmlns:a16="http://schemas.microsoft.com/office/drawing/2014/main" id="{F23A18F8-E539-4D00-AD59-64DED700305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368" y="1344"/>
                  <a:ext cx="73" cy="25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it-IT"/>
                </a:p>
              </p:txBody>
            </p:sp>
          </p:grpSp>
          <p:sp>
            <p:nvSpPr>
              <p:cNvPr id="27674" name="Text Box 16">
                <a:extLst>
                  <a:ext uri="{FF2B5EF4-FFF2-40B4-BE49-F238E27FC236}">
                    <a16:creationId xmlns:a16="http://schemas.microsoft.com/office/drawing/2014/main" id="{9A3ABCE7-453C-4EA1-B226-F77DA5614D9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82" y="1159"/>
                <a:ext cx="240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US" altLang="it-IT" sz="1600">
                    <a:latin typeface="Arial Rounded MT Bold" panose="020F0704030504030204" pitchFamily="34" charset="0"/>
                  </a:rPr>
                  <a:t>w</a:t>
                </a:r>
              </a:p>
            </p:txBody>
          </p:sp>
          <p:sp>
            <p:nvSpPr>
              <p:cNvPr id="27675" name="Text Box 17">
                <a:extLst>
                  <a:ext uri="{FF2B5EF4-FFF2-40B4-BE49-F238E27FC236}">
                    <a16:creationId xmlns:a16="http://schemas.microsoft.com/office/drawing/2014/main" id="{FB32C6B6-0FED-4BC0-95C0-4AFFBDE5511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53" y="1342"/>
                <a:ext cx="240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US" altLang="it-IT" sz="1600">
                    <a:latin typeface="Arial Rounded MT Bold" panose="020F0704030504030204" pitchFamily="34" charset="0"/>
                  </a:rPr>
                  <a:t>x</a:t>
                </a:r>
              </a:p>
            </p:txBody>
          </p:sp>
          <p:sp>
            <p:nvSpPr>
              <p:cNvPr id="27676" name="Text Box 18">
                <a:extLst>
                  <a:ext uri="{FF2B5EF4-FFF2-40B4-BE49-F238E27FC236}">
                    <a16:creationId xmlns:a16="http://schemas.microsoft.com/office/drawing/2014/main" id="{452AA753-4209-43F7-B182-E43F21D3DEE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40" y="1525"/>
                <a:ext cx="240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US" altLang="it-IT" sz="1600">
                    <a:latin typeface="Arial Rounded MT Bold" panose="020F0704030504030204" pitchFamily="34" charset="0"/>
                  </a:rPr>
                  <a:t>y</a:t>
                </a:r>
              </a:p>
            </p:txBody>
          </p:sp>
          <p:sp>
            <p:nvSpPr>
              <p:cNvPr id="27677" name="Text Box 19">
                <a:extLst>
                  <a:ext uri="{FF2B5EF4-FFF2-40B4-BE49-F238E27FC236}">
                    <a16:creationId xmlns:a16="http://schemas.microsoft.com/office/drawing/2014/main" id="{0709F669-9D9D-4E77-BFAF-FBF900A3287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31" y="1397"/>
                <a:ext cx="240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US" altLang="it-IT" sz="1600">
                    <a:latin typeface="Arial Rounded MT Bold" panose="020F0704030504030204" pitchFamily="34" charset="0"/>
                  </a:rPr>
                  <a:t>z</a:t>
                </a:r>
              </a:p>
            </p:txBody>
          </p:sp>
        </p:grpSp>
        <p:sp>
          <p:nvSpPr>
            <p:cNvPr id="27672" name="Rectangle 20">
              <a:extLst>
                <a:ext uri="{FF2B5EF4-FFF2-40B4-BE49-F238E27FC236}">
                  <a16:creationId xmlns:a16="http://schemas.microsoft.com/office/drawing/2014/main" id="{0F5038B1-3809-4D4A-B799-84CEAF402C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06" y="1696"/>
              <a:ext cx="144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600">
                  <a:latin typeface="Arial Rounded MT Bold" panose="020F0704030504030204" pitchFamily="34" charset="0"/>
                </a:rPr>
                <a:t>w * ( x * ( y * z ) )</a:t>
              </a:r>
            </a:p>
          </p:txBody>
        </p:sp>
      </p:grpSp>
      <p:grpSp>
        <p:nvGrpSpPr>
          <p:cNvPr id="27654" name="Group 21">
            <a:extLst>
              <a:ext uri="{FF2B5EF4-FFF2-40B4-BE49-F238E27FC236}">
                <a16:creationId xmlns:a16="http://schemas.microsoft.com/office/drawing/2014/main" id="{94316B21-AF75-4DC7-BA6C-F331741B0714}"/>
              </a:ext>
            </a:extLst>
          </p:cNvPr>
          <p:cNvGrpSpPr>
            <a:grpSpLocks/>
          </p:cNvGrpSpPr>
          <p:nvPr/>
        </p:nvGrpSpPr>
        <p:grpSpPr bwMode="auto">
          <a:xfrm>
            <a:off x="6781800" y="2933700"/>
            <a:ext cx="2286000" cy="1790700"/>
            <a:chOff x="3884" y="2016"/>
            <a:chExt cx="1440" cy="1128"/>
          </a:xfrm>
        </p:grpSpPr>
        <p:grpSp>
          <p:nvGrpSpPr>
            <p:cNvPr id="27655" name="Group 22">
              <a:extLst>
                <a:ext uri="{FF2B5EF4-FFF2-40B4-BE49-F238E27FC236}">
                  <a16:creationId xmlns:a16="http://schemas.microsoft.com/office/drawing/2014/main" id="{523F4A63-CAD8-4204-9B0C-02CAEA7375F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14" y="2016"/>
              <a:ext cx="1180" cy="884"/>
              <a:chOff x="3840" y="1920"/>
              <a:chExt cx="1180" cy="884"/>
            </a:xfrm>
          </p:grpSpPr>
          <p:grpSp>
            <p:nvGrpSpPr>
              <p:cNvPr id="27657" name="Group 23">
                <a:extLst>
                  <a:ext uri="{FF2B5EF4-FFF2-40B4-BE49-F238E27FC236}">
                    <a16:creationId xmlns:a16="http://schemas.microsoft.com/office/drawing/2014/main" id="{4DE21211-1B01-405D-8F15-CF2DB6EC9C7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H="1">
                <a:off x="3936" y="1920"/>
                <a:ext cx="925" cy="741"/>
                <a:chOff x="3815" y="853"/>
                <a:chExt cx="925" cy="741"/>
              </a:xfrm>
            </p:grpSpPr>
            <p:sp>
              <p:nvSpPr>
                <p:cNvPr id="27662" name="Text Box 24">
                  <a:extLst>
                    <a:ext uri="{FF2B5EF4-FFF2-40B4-BE49-F238E27FC236}">
                      <a16:creationId xmlns:a16="http://schemas.microsoft.com/office/drawing/2014/main" id="{C66DAD06-1A70-46D0-BB67-CAD40FB0078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821" y="853"/>
                  <a:ext cx="181" cy="21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r>
                    <a:rPr lang="en-US" altLang="it-IT" sz="1600">
                      <a:latin typeface="Arial Rounded MT Bold" panose="020F0704030504030204" pitchFamily="34" charset="0"/>
                    </a:rPr>
                    <a:t>*</a:t>
                  </a:r>
                </a:p>
              </p:txBody>
            </p:sp>
            <p:sp>
              <p:nvSpPr>
                <p:cNvPr id="27663" name="Text Box 25">
                  <a:extLst>
                    <a:ext uri="{FF2B5EF4-FFF2-40B4-BE49-F238E27FC236}">
                      <a16:creationId xmlns:a16="http://schemas.microsoft.com/office/drawing/2014/main" id="{3ECD8DE6-69A3-455A-8488-3075005FE1F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098" y="1019"/>
                  <a:ext cx="181" cy="21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r>
                    <a:rPr lang="en-US" altLang="it-IT" sz="1600">
                      <a:latin typeface="Arial Rounded MT Bold" panose="020F0704030504030204" pitchFamily="34" charset="0"/>
                    </a:rPr>
                    <a:t>*</a:t>
                  </a:r>
                </a:p>
              </p:txBody>
            </p:sp>
            <p:sp>
              <p:nvSpPr>
                <p:cNvPr id="27664" name="Text Box 26">
                  <a:extLst>
                    <a:ext uri="{FF2B5EF4-FFF2-40B4-BE49-F238E27FC236}">
                      <a16:creationId xmlns:a16="http://schemas.microsoft.com/office/drawing/2014/main" id="{67C7CE48-6843-4B1F-AD1C-CF39035FB4D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393" y="1200"/>
                  <a:ext cx="181" cy="21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r>
                    <a:rPr lang="en-US" altLang="it-IT" sz="1600">
                      <a:latin typeface="Arial Rounded MT Bold" panose="020F0704030504030204" pitchFamily="34" charset="0"/>
                    </a:rPr>
                    <a:t>*</a:t>
                  </a:r>
                </a:p>
              </p:txBody>
            </p:sp>
            <p:sp>
              <p:nvSpPr>
                <p:cNvPr id="27665" name="Line 27">
                  <a:extLst>
                    <a:ext uri="{FF2B5EF4-FFF2-40B4-BE49-F238E27FC236}">
                      <a16:creationId xmlns:a16="http://schemas.microsoft.com/office/drawing/2014/main" id="{47E689CA-C39D-4796-A391-E6160E3B0C6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967" y="963"/>
                  <a:ext cx="196" cy="11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it-IT"/>
                </a:p>
              </p:txBody>
            </p:sp>
            <p:sp>
              <p:nvSpPr>
                <p:cNvPr id="27666" name="Line 28">
                  <a:extLst>
                    <a:ext uri="{FF2B5EF4-FFF2-40B4-BE49-F238E27FC236}">
                      <a16:creationId xmlns:a16="http://schemas.microsoft.com/office/drawing/2014/main" id="{94A6095B-E143-495D-BAD9-15C195D2479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237" y="1135"/>
                  <a:ext cx="204" cy="1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it-IT"/>
                </a:p>
              </p:txBody>
            </p:sp>
            <p:sp>
              <p:nvSpPr>
                <p:cNvPr id="27667" name="Line 29">
                  <a:extLst>
                    <a:ext uri="{FF2B5EF4-FFF2-40B4-BE49-F238E27FC236}">
                      <a16:creationId xmlns:a16="http://schemas.microsoft.com/office/drawing/2014/main" id="{2444287B-C775-446C-848F-D473F87E2AD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536" y="1311"/>
                  <a:ext cx="204" cy="1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it-IT"/>
                </a:p>
              </p:txBody>
            </p:sp>
            <p:sp>
              <p:nvSpPr>
                <p:cNvPr id="27668" name="Line 30">
                  <a:extLst>
                    <a:ext uri="{FF2B5EF4-FFF2-40B4-BE49-F238E27FC236}">
                      <a16:creationId xmlns:a16="http://schemas.microsoft.com/office/drawing/2014/main" id="{55E0BD2B-81F0-4D7B-B1F9-071EA88C954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815" y="960"/>
                  <a:ext cx="73" cy="25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it-IT"/>
                </a:p>
              </p:txBody>
            </p:sp>
            <p:sp>
              <p:nvSpPr>
                <p:cNvPr id="27669" name="Line 31">
                  <a:extLst>
                    <a:ext uri="{FF2B5EF4-FFF2-40B4-BE49-F238E27FC236}">
                      <a16:creationId xmlns:a16="http://schemas.microsoft.com/office/drawing/2014/main" id="{400E69BF-1AA3-4177-AE44-6BB4EFD0495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080" y="1152"/>
                  <a:ext cx="73" cy="25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it-IT"/>
                </a:p>
              </p:txBody>
            </p:sp>
            <p:sp>
              <p:nvSpPr>
                <p:cNvPr id="27670" name="Line 32">
                  <a:extLst>
                    <a:ext uri="{FF2B5EF4-FFF2-40B4-BE49-F238E27FC236}">
                      <a16:creationId xmlns:a16="http://schemas.microsoft.com/office/drawing/2014/main" id="{C78DE2D0-DCE2-4400-B19A-7E99AE47D9D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368" y="1344"/>
                  <a:ext cx="73" cy="25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it-IT"/>
                </a:p>
              </p:txBody>
            </p:sp>
          </p:grpSp>
          <p:sp>
            <p:nvSpPr>
              <p:cNvPr id="27658" name="Text Box 33">
                <a:extLst>
                  <a:ext uri="{FF2B5EF4-FFF2-40B4-BE49-F238E27FC236}">
                    <a16:creationId xmlns:a16="http://schemas.microsoft.com/office/drawing/2014/main" id="{17D68F59-9C7F-4523-9CF1-EB66D69A08D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780" y="2222"/>
                <a:ext cx="240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US" altLang="it-IT" sz="1600">
                    <a:latin typeface="Arial Rounded MT Bold" panose="020F0704030504030204" pitchFamily="34" charset="0"/>
                  </a:rPr>
                  <a:t>z</a:t>
                </a:r>
              </a:p>
            </p:txBody>
          </p:sp>
          <p:sp>
            <p:nvSpPr>
              <p:cNvPr id="27659" name="Text Box 34">
                <a:extLst>
                  <a:ext uri="{FF2B5EF4-FFF2-40B4-BE49-F238E27FC236}">
                    <a16:creationId xmlns:a16="http://schemas.microsoft.com/office/drawing/2014/main" id="{663D0A82-2B9B-4F74-8578-52D6BB1B4B1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40" y="2496"/>
                <a:ext cx="240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US" altLang="it-IT" sz="1600">
                    <a:latin typeface="Arial Rounded MT Bold" panose="020F0704030504030204" pitchFamily="34" charset="0"/>
                  </a:rPr>
                  <a:t>w</a:t>
                </a:r>
              </a:p>
            </p:txBody>
          </p:sp>
          <p:sp>
            <p:nvSpPr>
              <p:cNvPr id="27660" name="Text Box 35">
                <a:extLst>
                  <a:ext uri="{FF2B5EF4-FFF2-40B4-BE49-F238E27FC236}">
                    <a16:creationId xmlns:a16="http://schemas.microsoft.com/office/drawing/2014/main" id="{2943783F-7158-4BD2-92B3-2115F34FAA9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88" y="2592"/>
                <a:ext cx="240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US" altLang="it-IT" sz="1600">
                    <a:latin typeface="Arial Rounded MT Bold" panose="020F0704030504030204" pitchFamily="34" charset="0"/>
                  </a:rPr>
                  <a:t>x</a:t>
                </a:r>
              </a:p>
            </p:txBody>
          </p:sp>
          <p:sp>
            <p:nvSpPr>
              <p:cNvPr id="27661" name="Text Box 36">
                <a:extLst>
                  <a:ext uri="{FF2B5EF4-FFF2-40B4-BE49-F238E27FC236}">
                    <a16:creationId xmlns:a16="http://schemas.microsoft.com/office/drawing/2014/main" id="{0516C3E9-C764-4EBE-AEEB-C0F4CCF8A96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23" y="2400"/>
                <a:ext cx="240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US" altLang="it-IT" sz="1600">
                    <a:latin typeface="Arial Rounded MT Bold" panose="020F0704030504030204" pitchFamily="34" charset="0"/>
                  </a:rPr>
                  <a:t>y</a:t>
                </a:r>
              </a:p>
            </p:txBody>
          </p:sp>
        </p:grpSp>
        <p:sp>
          <p:nvSpPr>
            <p:cNvPr id="27656" name="Rectangle 37">
              <a:extLst>
                <a:ext uri="{FF2B5EF4-FFF2-40B4-BE49-F238E27FC236}">
                  <a16:creationId xmlns:a16="http://schemas.microsoft.com/office/drawing/2014/main" id="{CA871E18-F130-4DA3-BACD-80BE935CB7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4" y="2904"/>
              <a:ext cx="144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600">
                  <a:latin typeface="Arial Rounded MT Bold" panose="020F0704030504030204" pitchFamily="34" charset="0"/>
                </a:rPr>
                <a:t>( (w * x ) *  y ) * z</a:t>
              </a:r>
            </a:p>
          </p:txBody>
        </p:sp>
      </p:grpSp>
    </p:spTree>
  </p:cSld>
  <p:clrMapOvr>
    <a:masterClrMapping/>
  </p:clrMapOvr>
  <p:transition>
    <p:wipe dir="r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Footer Placeholder 1">
            <a:extLst>
              <a:ext uri="{FF2B5EF4-FFF2-40B4-BE49-F238E27FC236}">
                <a16:creationId xmlns:a16="http://schemas.microsoft.com/office/drawing/2014/main" id="{1B9459D6-9B48-461D-96FB-B28DD417036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29698" name="Slide Number Placeholder 2">
            <a:extLst>
              <a:ext uri="{FF2B5EF4-FFF2-40B4-BE49-F238E27FC236}">
                <a16:creationId xmlns:a16="http://schemas.microsoft.com/office/drawing/2014/main" id="{D6F56EF8-2009-40D9-A1D2-E80CF9B248F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72909829-5BE3-4B5A-B21D-17188876D78D}" type="slidenum">
              <a:rPr lang="en-US" altLang="it-IT"/>
              <a:pPr/>
              <a:t>9</a:t>
            </a:fld>
            <a:endParaRPr lang="en-US" altLang="it-IT"/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A2B283EE-D0B3-4C97-83D7-607BFF3E1E2D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>
              <a:spcBef>
                <a:spcPct val="30000"/>
              </a:spcBef>
            </a:pPr>
            <a:r>
              <a:rPr lang="en-US" altLang="it-IT">
                <a:sym typeface="Symbol" panose="05050102010706020507" pitchFamily="18" charset="2"/>
              </a:rPr>
              <a:t>Associativity</a:t>
            </a:r>
            <a:endParaRPr lang="en-US" altLang="it-IT" sz="2000">
              <a:sym typeface="Symbol" panose="05050102010706020507" pitchFamily="18" charset="2"/>
            </a:endParaRPr>
          </a:p>
        </p:txBody>
      </p:sp>
      <p:sp>
        <p:nvSpPr>
          <p:cNvPr id="29700" name="Rectangle 3">
            <a:extLst>
              <a:ext uri="{FF2B5EF4-FFF2-40B4-BE49-F238E27FC236}">
                <a16:creationId xmlns:a16="http://schemas.microsoft.com/office/drawing/2014/main" id="{0BAE0110-C57B-4C13-94EF-033B7BF5D6CC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buFont typeface="Times" panose="02020603050405020304" pitchFamily="18" charset="0"/>
              <a:buNone/>
            </a:pPr>
            <a:r>
              <a:rPr lang="en-US" altLang="it-IT">
                <a:solidFill>
                  <a:srgbClr val="003C75"/>
                </a:solidFill>
                <a:sym typeface="Symbol" panose="05050102010706020507" pitchFamily="18" charset="2"/>
              </a:rPr>
              <a:t>What difference does it make?</a:t>
            </a:r>
          </a:p>
          <a:p>
            <a:pPr eaLnBrk="1" hangingPunct="1"/>
            <a:r>
              <a:rPr lang="en-US" altLang="it-IT">
                <a:sym typeface="Symbol" panose="05050102010706020507" pitchFamily="18" charset="2"/>
              </a:rPr>
              <a:t>Can change answers in floating-point arithmetic</a:t>
            </a:r>
          </a:p>
          <a:p>
            <a:pPr eaLnBrk="1" hangingPunct="1"/>
            <a:r>
              <a:rPr lang="en-US" altLang="it-IT">
                <a:sym typeface="Symbol" panose="05050102010706020507" pitchFamily="18" charset="2"/>
              </a:rPr>
              <a:t>Can change opportunities for optimization</a:t>
            </a:r>
          </a:p>
          <a:p>
            <a:pPr eaLnBrk="1" hangingPunct="1"/>
            <a:r>
              <a:rPr lang="en-US" altLang="it-IT">
                <a:sym typeface="Symbol" panose="05050102010706020507" pitchFamily="18" charset="2"/>
              </a:rPr>
              <a:t>Consider x+y+z</a:t>
            </a:r>
          </a:p>
          <a:p>
            <a:pPr lvl="1" eaLnBrk="1" hangingPunct="1">
              <a:spcBef>
                <a:spcPct val="700000"/>
              </a:spcBef>
              <a:buFontTx/>
              <a:buNone/>
            </a:pPr>
            <a:r>
              <a:rPr lang="en-US" altLang="it-IT">
                <a:sym typeface="Symbol" panose="05050102010706020507" pitchFamily="18" charset="2"/>
              </a:rPr>
              <a:t>What if y+z occurs elsewhere? Or x+y? or x+z?</a:t>
            </a:r>
          </a:p>
          <a:p>
            <a:pPr eaLnBrk="1" hangingPunct="1">
              <a:spcBef>
                <a:spcPct val="70000"/>
              </a:spcBef>
              <a:buFont typeface="Times" panose="02020603050405020304" pitchFamily="18" charset="0"/>
              <a:buNone/>
            </a:pPr>
            <a:r>
              <a:rPr lang="en-US" altLang="it-IT">
                <a:solidFill>
                  <a:srgbClr val="003C75"/>
                </a:solidFill>
                <a:sym typeface="Symbol" panose="05050102010706020507" pitchFamily="18" charset="2"/>
              </a:rPr>
              <a:t>The compiler may want to change the “shape” of expressions</a:t>
            </a:r>
          </a:p>
          <a:p>
            <a:pPr eaLnBrk="1" hangingPunct="1"/>
            <a:r>
              <a:rPr lang="en-US" altLang="it-IT">
                <a:sym typeface="Symbol" panose="05050102010706020507" pitchFamily="18" charset="2"/>
              </a:rPr>
              <a:t>What if x = 2 &amp; z = 17 ?  Neither left nor right exposes 19.</a:t>
            </a:r>
          </a:p>
          <a:p>
            <a:pPr eaLnBrk="1" hangingPunct="1"/>
            <a:r>
              <a:rPr lang="en-US" altLang="it-IT">
                <a:sym typeface="Symbol" panose="05050102010706020507" pitchFamily="18" charset="2"/>
              </a:rPr>
              <a:t>Best shape is function of surrounding context </a:t>
            </a:r>
          </a:p>
        </p:txBody>
      </p:sp>
      <p:grpSp>
        <p:nvGrpSpPr>
          <p:cNvPr id="29701" name="Group 4">
            <a:extLst>
              <a:ext uri="{FF2B5EF4-FFF2-40B4-BE49-F238E27FC236}">
                <a16:creationId xmlns:a16="http://schemas.microsoft.com/office/drawing/2014/main" id="{58A161A5-4DCC-4992-AF24-721D8E946FED}"/>
              </a:ext>
            </a:extLst>
          </p:cNvPr>
          <p:cNvGrpSpPr>
            <a:grpSpLocks/>
          </p:cNvGrpSpPr>
          <p:nvPr/>
        </p:nvGrpSpPr>
        <p:grpSpPr bwMode="auto">
          <a:xfrm>
            <a:off x="1219200" y="2466975"/>
            <a:ext cx="6477000" cy="1800225"/>
            <a:chOff x="768" y="1506"/>
            <a:chExt cx="4080" cy="1134"/>
          </a:xfrm>
        </p:grpSpPr>
        <p:grpSp>
          <p:nvGrpSpPr>
            <p:cNvPr id="29702" name="Group 5">
              <a:extLst>
                <a:ext uri="{FF2B5EF4-FFF2-40B4-BE49-F238E27FC236}">
                  <a16:creationId xmlns:a16="http://schemas.microsoft.com/office/drawing/2014/main" id="{E350C411-BBF2-481B-B40B-6AB9F959380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68" y="1676"/>
              <a:ext cx="768" cy="964"/>
              <a:chOff x="768" y="1676"/>
              <a:chExt cx="768" cy="964"/>
            </a:xfrm>
          </p:grpSpPr>
          <p:sp>
            <p:nvSpPr>
              <p:cNvPr id="29726" name="Text Box 6">
                <a:extLst>
                  <a:ext uri="{FF2B5EF4-FFF2-40B4-BE49-F238E27FC236}">
                    <a16:creationId xmlns:a16="http://schemas.microsoft.com/office/drawing/2014/main" id="{49678815-B3DB-4C01-9E90-7AF4322CB93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47" y="1676"/>
                <a:ext cx="240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US" altLang="it-IT" sz="1600">
                    <a:latin typeface="Arial Rounded MT Bold" panose="020F0704030504030204" pitchFamily="34" charset="0"/>
                  </a:rPr>
                  <a:t>+</a:t>
                </a:r>
              </a:p>
            </p:txBody>
          </p:sp>
          <p:sp>
            <p:nvSpPr>
              <p:cNvPr id="29727" name="Line 7">
                <a:extLst>
                  <a:ext uri="{FF2B5EF4-FFF2-40B4-BE49-F238E27FC236}">
                    <a16:creationId xmlns:a16="http://schemas.microsoft.com/office/drawing/2014/main" id="{73B12C66-DCC9-4C87-AA6E-78A51412417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07" y="1852"/>
                <a:ext cx="144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it-IT"/>
              </a:p>
            </p:txBody>
          </p:sp>
          <p:sp>
            <p:nvSpPr>
              <p:cNvPr id="29728" name="Text Box 8">
                <a:extLst>
                  <a:ext uri="{FF2B5EF4-FFF2-40B4-BE49-F238E27FC236}">
                    <a16:creationId xmlns:a16="http://schemas.microsoft.com/office/drawing/2014/main" id="{6F9A8B44-4E62-49AC-92CE-F528A1ED838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14" y="1955"/>
                <a:ext cx="240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US" altLang="it-IT" sz="1600">
                    <a:latin typeface="Arial Rounded MT Bold" panose="020F0704030504030204" pitchFamily="34" charset="0"/>
                  </a:rPr>
                  <a:t>x</a:t>
                </a:r>
              </a:p>
            </p:txBody>
          </p:sp>
          <p:sp>
            <p:nvSpPr>
              <p:cNvPr id="29729" name="Text Box 9">
                <a:extLst>
                  <a:ext uri="{FF2B5EF4-FFF2-40B4-BE49-F238E27FC236}">
                    <a16:creationId xmlns:a16="http://schemas.microsoft.com/office/drawing/2014/main" id="{1029E88F-C707-44AF-AE5D-4B9EBC0A9CF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54" y="1955"/>
                <a:ext cx="240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US" altLang="it-IT" sz="1600">
                    <a:latin typeface="Arial Rounded MT Bold" panose="020F0704030504030204" pitchFamily="34" charset="0"/>
                  </a:rPr>
                  <a:t>y</a:t>
                </a:r>
              </a:p>
            </p:txBody>
          </p:sp>
          <p:sp>
            <p:nvSpPr>
              <p:cNvPr id="29730" name="Text Box 10">
                <a:extLst>
                  <a:ext uri="{FF2B5EF4-FFF2-40B4-BE49-F238E27FC236}">
                    <a16:creationId xmlns:a16="http://schemas.microsoft.com/office/drawing/2014/main" id="{F94A191D-B962-48EB-8F4A-1845E9A0F02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49" y="1955"/>
                <a:ext cx="240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US" altLang="it-IT" sz="1600">
                    <a:latin typeface="Arial Rounded MT Bold" panose="020F0704030504030204" pitchFamily="34" charset="0"/>
                  </a:rPr>
                  <a:t>z</a:t>
                </a:r>
              </a:p>
            </p:txBody>
          </p:sp>
          <p:sp>
            <p:nvSpPr>
              <p:cNvPr id="29731" name="Line 11">
                <a:extLst>
                  <a:ext uri="{FF2B5EF4-FFF2-40B4-BE49-F238E27FC236}">
                    <a16:creationId xmlns:a16="http://schemas.microsoft.com/office/drawing/2014/main" id="{769D1707-B31B-4E3F-BDD5-B36EEEC2398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992" y="1854"/>
                <a:ext cx="144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it-IT"/>
              </a:p>
            </p:txBody>
          </p:sp>
          <p:sp>
            <p:nvSpPr>
              <p:cNvPr id="29732" name="Line 12">
                <a:extLst>
                  <a:ext uri="{FF2B5EF4-FFF2-40B4-BE49-F238E27FC236}">
                    <a16:creationId xmlns:a16="http://schemas.microsoft.com/office/drawing/2014/main" id="{922E6C88-E564-4C09-B90E-EC7733B95B1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72" y="1846"/>
                <a:ext cx="1" cy="1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it-IT"/>
              </a:p>
            </p:txBody>
          </p:sp>
          <p:sp>
            <p:nvSpPr>
              <p:cNvPr id="29733" name="Text Box 13">
                <a:extLst>
                  <a:ext uri="{FF2B5EF4-FFF2-40B4-BE49-F238E27FC236}">
                    <a16:creationId xmlns:a16="http://schemas.microsoft.com/office/drawing/2014/main" id="{52122D3E-DC8B-4A0F-8BD4-3D357E862EE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68" y="2274"/>
                <a:ext cx="768" cy="3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US" altLang="it-IT" sz="1600" i="1"/>
                  <a:t>Ideal operator</a:t>
                </a:r>
              </a:p>
            </p:txBody>
          </p:sp>
        </p:grpSp>
        <p:grpSp>
          <p:nvGrpSpPr>
            <p:cNvPr id="29703" name="Group 14">
              <a:extLst>
                <a:ext uri="{FF2B5EF4-FFF2-40B4-BE49-F238E27FC236}">
                  <a16:creationId xmlns:a16="http://schemas.microsoft.com/office/drawing/2014/main" id="{17B14CC3-4527-4EB4-8ED7-58696B23CD1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18" y="1506"/>
              <a:ext cx="930" cy="1134"/>
              <a:chOff x="2238" y="1506"/>
              <a:chExt cx="930" cy="1134"/>
            </a:xfrm>
          </p:grpSpPr>
          <p:sp>
            <p:nvSpPr>
              <p:cNvPr id="29716" name="Text Box 15">
                <a:extLst>
                  <a:ext uri="{FF2B5EF4-FFF2-40B4-BE49-F238E27FC236}">
                    <a16:creationId xmlns:a16="http://schemas.microsoft.com/office/drawing/2014/main" id="{6238F6C4-998B-4EDA-B4E1-BB60DD9CE73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87" y="1506"/>
                <a:ext cx="240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US" altLang="it-IT" sz="1600">
                    <a:latin typeface="Arial Rounded MT Bold" panose="020F0704030504030204" pitchFamily="34" charset="0"/>
                  </a:rPr>
                  <a:t>+</a:t>
                </a:r>
              </a:p>
            </p:txBody>
          </p:sp>
          <p:sp>
            <p:nvSpPr>
              <p:cNvPr id="29717" name="Text Box 16">
                <a:extLst>
                  <a:ext uri="{FF2B5EF4-FFF2-40B4-BE49-F238E27FC236}">
                    <a16:creationId xmlns:a16="http://schemas.microsoft.com/office/drawing/2014/main" id="{533EEE91-9D6C-4284-A69C-DBD4DD13B34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96" y="1711"/>
                <a:ext cx="240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US" altLang="it-IT" sz="1600">
                    <a:latin typeface="Arial Rounded MT Bold" panose="020F0704030504030204" pitchFamily="34" charset="0"/>
                  </a:rPr>
                  <a:t>+</a:t>
                </a:r>
              </a:p>
            </p:txBody>
          </p:sp>
          <p:sp>
            <p:nvSpPr>
              <p:cNvPr id="29718" name="Line 17">
                <a:extLst>
                  <a:ext uri="{FF2B5EF4-FFF2-40B4-BE49-F238E27FC236}">
                    <a16:creationId xmlns:a16="http://schemas.microsoft.com/office/drawing/2014/main" id="{9A9022E4-D43B-4496-BAAE-D009C277DC5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31" y="1650"/>
                <a:ext cx="144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it-IT"/>
              </a:p>
            </p:txBody>
          </p:sp>
          <p:sp>
            <p:nvSpPr>
              <p:cNvPr id="29719" name="Line 18">
                <a:extLst>
                  <a:ext uri="{FF2B5EF4-FFF2-40B4-BE49-F238E27FC236}">
                    <a16:creationId xmlns:a16="http://schemas.microsoft.com/office/drawing/2014/main" id="{2991708C-7A81-452F-8492-5B7E39EBAB7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54" y="1866"/>
                <a:ext cx="144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it-IT"/>
              </a:p>
            </p:txBody>
          </p:sp>
          <p:sp>
            <p:nvSpPr>
              <p:cNvPr id="29720" name="Line 19">
                <a:extLst>
                  <a:ext uri="{FF2B5EF4-FFF2-40B4-BE49-F238E27FC236}">
                    <a16:creationId xmlns:a16="http://schemas.microsoft.com/office/drawing/2014/main" id="{8709CD74-D813-4A98-ACAE-E02707BBE30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639" y="1858"/>
                <a:ext cx="144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it-IT"/>
              </a:p>
            </p:txBody>
          </p:sp>
          <p:sp>
            <p:nvSpPr>
              <p:cNvPr id="29721" name="Text Box 20">
                <a:extLst>
                  <a:ext uri="{FF2B5EF4-FFF2-40B4-BE49-F238E27FC236}">
                    <a16:creationId xmlns:a16="http://schemas.microsoft.com/office/drawing/2014/main" id="{9E4D6B39-4AC5-45D9-85A1-BAE33CFBC27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38" y="1730"/>
                <a:ext cx="240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US" altLang="it-IT" sz="1600">
                    <a:latin typeface="Arial Rounded MT Bold" panose="020F0704030504030204" pitchFamily="34" charset="0"/>
                  </a:rPr>
                  <a:t>x</a:t>
                </a:r>
              </a:p>
            </p:txBody>
          </p:sp>
          <p:sp>
            <p:nvSpPr>
              <p:cNvPr id="29722" name="Text Box 21">
                <a:extLst>
                  <a:ext uri="{FF2B5EF4-FFF2-40B4-BE49-F238E27FC236}">
                    <a16:creationId xmlns:a16="http://schemas.microsoft.com/office/drawing/2014/main" id="{997EDDA2-CB2A-449F-97C4-3B04BDE2FE6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87" y="1938"/>
                <a:ext cx="240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US" altLang="it-IT" sz="1600">
                    <a:latin typeface="Arial Rounded MT Bold" panose="020F0704030504030204" pitchFamily="34" charset="0"/>
                  </a:rPr>
                  <a:t>y</a:t>
                </a:r>
              </a:p>
            </p:txBody>
          </p:sp>
          <p:sp>
            <p:nvSpPr>
              <p:cNvPr id="29723" name="Text Box 22">
                <a:extLst>
                  <a:ext uri="{FF2B5EF4-FFF2-40B4-BE49-F238E27FC236}">
                    <a16:creationId xmlns:a16="http://schemas.microsoft.com/office/drawing/2014/main" id="{6995A342-8BF7-4B39-AAFA-F3784EFAC1C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26" y="1955"/>
                <a:ext cx="240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US" altLang="it-IT" sz="1600">
                    <a:latin typeface="Arial Rounded MT Bold" panose="020F0704030504030204" pitchFamily="34" charset="0"/>
                  </a:rPr>
                  <a:t>z</a:t>
                </a:r>
              </a:p>
            </p:txBody>
          </p:sp>
          <p:sp>
            <p:nvSpPr>
              <p:cNvPr id="29724" name="Line 23">
                <a:extLst>
                  <a:ext uri="{FF2B5EF4-FFF2-40B4-BE49-F238E27FC236}">
                    <a16:creationId xmlns:a16="http://schemas.microsoft.com/office/drawing/2014/main" id="{4C9F65F6-0C52-4978-8EB5-B449B4C05B1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416" y="1652"/>
                <a:ext cx="144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it-IT"/>
              </a:p>
            </p:txBody>
          </p:sp>
          <p:sp>
            <p:nvSpPr>
              <p:cNvPr id="29725" name="Text Box 24">
                <a:extLst>
                  <a:ext uri="{FF2B5EF4-FFF2-40B4-BE49-F238E27FC236}">
                    <a16:creationId xmlns:a16="http://schemas.microsoft.com/office/drawing/2014/main" id="{C121592F-BF26-47B4-A9F1-426C8410180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04" y="2274"/>
                <a:ext cx="864" cy="3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US" altLang="it-IT" sz="1600" i="1"/>
                  <a:t>Right association</a:t>
                </a:r>
                <a:endParaRPr lang="en-US" altLang="it-IT" sz="1600" i="1">
                  <a:latin typeface="Arial Rounded MT Bold" panose="020F0704030504030204" pitchFamily="34" charset="0"/>
                </a:endParaRPr>
              </a:p>
            </p:txBody>
          </p:sp>
        </p:grpSp>
        <p:grpSp>
          <p:nvGrpSpPr>
            <p:cNvPr id="29704" name="Group 25">
              <a:extLst>
                <a:ext uri="{FF2B5EF4-FFF2-40B4-BE49-F238E27FC236}">
                  <a16:creationId xmlns:a16="http://schemas.microsoft.com/office/drawing/2014/main" id="{8BF8C38B-A626-4CB4-8A1B-DEAC3B991FF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00" y="1521"/>
              <a:ext cx="904" cy="1119"/>
              <a:chOff x="3916" y="1521"/>
              <a:chExt cx="904" cy="1119"/>
            </a:xfrm>
          </p:grpSpPr>
          <p:sp>
            <p:nvSpPr>
              <p:cNvPr id="29705" name="Text Box 26">
                <a:extLst>
                  <a:ext uri="{FF2B5EF4-FFF2-40B4-BE49-F238E27FC236}">
                    <a16:creationId xmlns:a16="http://schemas.microsoft.com/office/drawing/2014/main" id="{89E3FA4C-8495-461F-905D-AE95717CFAB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16" y="1955"/>
                <a:ext cx="240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US" altLang="it-IT" sz="1600">
                    <a:latin typeface="Arial Rounded MT Bold" panose="020F0704030504030204" pitchFamily="34" charset="0"/>
                  </a:rPr>
                  <a:t>x</a:t>
                </a:r>
              </a:p>
            </p:txBody>
          </p:sp>
          <p:sp>
            <p:nvSpPr>
              <p:cNvPr id="29706" name="Text Box 27">
                <a:extLst>
                  <a:ext uri="{FF2B5EF4-FFF2-40B4-BE49-F238E27FC236}">
                    <a16:creationId xmlns:a16="http://schemas.microsoft.com/office/drawing/2014/main" id="{507D84AE-93D1-4791-8236-8519D9BBD07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36" y="1955"/>
                <a:ext cx="240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US" altLang="it-IT" sz="1600">
                    <a:latin typeface="Arial Rounded MT Bold" panose="020F0704030504030204" pitchFamily="34" charset="0"/>
                  </a:rPr>
                  <a:t>y</a:t>
                </a:r>
              </a:p>
            </p:txBody>
          </p:sp>
          <p:sp>
            <p:nvSpPr>
              <p:cNvPr id="29707" name="Text Box 28">
                <a:extLst>
                  <a:ext uri="{FF2B5EF4-FFF2-40B4-BE49-F238E27FC236}">
                    <a16:creationId xmlns:a16="http://schemas.microsoft.com/office/drawing/2014/main" id="{4523F8CC-3741-4154-8946-BFF5E013C5F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80" y="1751"/>
                <a:ext cx="240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US" altLang="it-IT" sz="1600">
                    <a:latin typeface="Arial Rounded MT Bold" panose="020F0704030504030204" pitchFamily="34" charset="0"/>
                  </a:rPr>
                  <a:t>z</a:t>
                </a:r>
              </a:p>
            </p:txBody>
          </p:sp>
          <p:grpSp>
            <p:nvGrpSpPr>
              <p:cNvPr id="29708" name="Group 29">
                <a:extLst>
                  <a:ext uri="{FF2B5EF4-FFF2-40B4-BE49-F238E27FC236}">
                    <a16:creationId xmlns:a16="http://schemas.microsoft.com/office/drawing/2014/main" id="{3B472E6E-F100-4DC7-808A-812B76396B5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H="1">
                <a:off x="4066" y="1521"/>
                <a:ext cx="582" cy="504"/>
                <a:chOff x="3154" y="2160"/>
                <a:chExt cx="582" cy="504"/>
              </a:xfrm>
            </p:grpSpPr>
            <p:sp>
              <p:nvSpPr>
                <p:cNvPr id="29710" name="Text Box 30">
                  <a:extLst>
                    <a:ext uri="{FF2B5EF4-FFF2-40B4-BE49-F238E27FC236}">
                      <a16:creationId xmlns:a16="http://schemas.microsoft.com/office/drawing/2014/main" id="{425C7857-087C-4EFF-B67F-F688C2E73AC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225" y="2160"/>
                  <a:ext cx="240" cy="2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pPr algn="ctr">
                    <a:spcBef>
                      <a:spcPct val="50000"/>
                    </a:spcBef>
                  </a:pPr>
                  <a:r>
                    <a:rPr lang="en-US" altLang="it-IT" sz="1600">
                      <a:latin typeface="Arial Rounded MT Bold" panose="020F0704030504030204" pitchFamily="34" charset="0"/>
                    </a:rPr>
                    <a:t>+</a:t>
                  </a:r>
                </a:p>
              </p:txBody>
            </p:sp>
            <p:sp>
              <p:nvSpPr>
                <p:cNvPr id="29711" name="Text Box 31">
                  <a:extLst>
                    <a:ext uri="{FF2B5EF4-FFF2-40B4-BE49-F238E27FC236}">
                      <a16:creationId xmlns:a16="http://schemas.microsoft.com/office/drawing/2014/main" id="{064A5376-F6B5-403B-B571-D58FAAEE060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434" y="2365"/>
                  <a:ext cx="240" cy="2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pPr algn="ctr">
                    <a:spcBef>
                      <a:spcPct val="50000"/>
                    </a:spcBef>
                  </a:pPr>
                  <a:r>
                    <a:rPr lang="en-US" altLang="it-IT" sz="1600">
                      <a:latin typeface="Arial Rounded MT Bold" panose="020F0704030504030204" pitchFamily="34" charset="0"/>
                    </a:rPr>
                    <a:t>+</a:t>
                  </a:r>
                </a:p>
              </p:txBody>
            </p:sp>
            <p:sp>
              <p:nvSpPr>
                <p:cNvPr id="29712" name="Line 32">
                  <a:extLst>
                    <a:ext uri="{FF2B5EF4-FFF2-40B4-BE49-F238E27FC236}">
                      <a16:creationId xmlns:a16="http://schemas.microsoft.com/office/drawing/2014/main" id="{E490A11B-6517-4913-92BF-3A92346F35D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69" y="2304"/>
                  <a:ext cx="144" cy="14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it-IT"/>
                </a:p>
              </p:txBody>
            </p:sp>
            <p:sp>
              <p:nvSpPr>
                <p:cNvPr id="29713" name="Line 33">
                  <a:extLst>
                    <a:ext uri="{FF2B5EF4-FFF2-40B4-BE49-F238E27FC236}">
                      <a16:creationId xmlns:a16="http://schemas.microsoft.com/office/drawing/2014/main" id="{6EB4AAAD-7E70-4CDA-8DBB-34CFC570FF7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592" y="2520"/>
                  <a:ext cx="144" cy="14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it-IT"/>
                </a:p>
              </p:txBody>
            </p:sp>
            <p:sp>
              <p:nvSpPr>
                <p:cNvPr id="29714" name="Line 34">
                  <a:extLst>
                    <a:ext uri="{FF2B5EF4-FFF2-40B4-BE49-F238E27FC236}">
                      <a16:creationId xmlns:a16="http://schemas.microsoft.com/office/drawing/2014/main" id="{C2F4FACB-470C-4674-8FB6-5E907F1ABEE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377" y="2512"/>
                  <a:ext cx="144" cy="14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it-IT"/>
                </a:p>
              </p:txBody>
            </p:sp>
            <p:sp>
              <p:nvSpPr>
                <p:cNvPr id="29715" name="Line 35">
                  <a:extLst>
                    <a:ext uri="{FF2B5EF4-FFF2-40B4-BE49-F238E27FC236}">
                      <a16:creationId xmlns:a16="http://schemas.microsoft.com/office/drawing/2014/main" id="{6758F813-A6D6-47B8-B496-8AABAD9B1CE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154" y="2306"/>
                  <a:ext cx="144" cy="14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it-IT"/>
                </a:p>
              </p:txBody>
            </p:sp>
          </p:grpSp>
          <p:sp>
            <p:nvSpPr>
              <p:cNvPr id="29709" name="Text Box 36">
                <a:extLst>
                  <a:ext uri="{FF2B5EF4-FFF2-40B4-BE49-F238E27FC236}">
                    <a16:creationId xmlns:a16="http://schemas.microsoft.com/office/drawing/2014/main" id="{D463BB47-D447-4C1D-B11F-B1E046CF7AE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36" y="2274"/>
                <a:ext cx="864" cy="3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US" altLang="it-IT" sz="1600" i="1"/>
                  <a:t>Left association</a:t>
                </a:r>
              </a:p>
            </p:txBody>
          </p:sp>
        </p:grpSp>
      </p:grpSp>
    </p:spTree>
  </p:cSld>
  <p:clrMapOvr>
    <a:masterClrMapping/>
  </p:clrMapOvr>
  <p:transition>
    <p:wipe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Footer Placeholder 1">
            <a:extLst>
              <a:ext uri="{FF2B5EF4-FFF2-40B4-BE49-F238E27FC236}">
                <a16:creationId xmlns:a16="http://schemas.microsoft.com/office/drawing/2014/main" id="{5BAB27EE-F23B-4352-B8B2-C1BCA9E437A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31746" name="Slide Number Placeholder 2">
            <a:extLst>
              <a:ext uri="{FF2B5EF4-FFF2-40B4-BE49-F238E27FC236}">
                <a16:creationId xmlns:a16="http://schemas.microsoft.com/office/drawing/2014/main" id="{9BC9A2DC-21D5-4EFA-B902-045BB35F2C0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78A5EC86-A3BE-4B6E-B31A-36E4E74D5672}" type="slidenum">
              <a:rPr lang="en-US" altLang="it-IT"/>
              <a:pPr/>
              <a:t>10</a:t>
            </a:fld>
            <a:endParaRPr lang="en-US" altLang="it-IT"/>
          </a:p>
        </p:txBody>
      </p:sp>
      <p:sp>
        <p:nvSpPr>
          <p:cNvPr id="31747" name="Rectangle 2">
            <a:extLst>
              <a:ext uri="{FF2B5EF4-FFF2-40B4-BE49-F238E27FC236}">
                <a16:creationId xmlns:a16="http://schemas.microsoft.com/office/drawing/2014/main" id="{D9164EF8-4C73-4225-8EEC-D1B657C7AC08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it-IT">
                <a:sym typeface="Symbol" panose="05050102010706020507" pitchFamily="18" charset="2"/>
              </a:rPr>
              <a:t>Error Detection and Recovery</a:t>
            </a:r>
          </a:p>
        </p:txBody>
      </p:sp>
      <p:sp>
        <p:nvSpPr>
          <p:cNvPr id="31748" name="Rectangle 3">
            <a:extLst>
              <a:ext uri="{FF2B5EF4-FFF2-40B4-BE49-F238E27FC236}">
                <a16:creationId xmlns:a16="http://schemas.microsoft.com/office/drawing/2014/main" id="{A4D44C5F-9B3D-44DC-A053-D07EF6236D6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buFont typeface="Times" panose="02020603050405020304" pitchFamily="18" charset="0"/>
              <a:buNone/>
            </a:pPr>
            <a:r>
              <a:rPr lang="en-US" altLang="it-IT">
                <a:solidFill>
                  <a:srgbClr val="003C75"/>
                </a:solidFill>
                <a:sym typeface="Symbol" panose="05050102010706020507" pitchFamily="18" charset="2"/>
              </a:rPr>
              <a:t>Error Detection</a:t>
            </a:r>
            <a:endParaRPr lang="en-US" altLang="it-IT">
              <a:sym typeface="Symbol" panose="05050102010706020507" pitchFamily="18" charset="2"/>
            </a:endParaRPr>
          </a:p>
          <a:p>
            <a:pPr eaLnBrk="1" hangingPunct="1"/>
            <a:r>
              <a:rPr lang="en-US" altLang="it-IT">
                <a:sym typeface="Symbol" panose="05050102010706020507" pitchFamily="18" charset="2"/>
              </a:rPr>
              <a:t>Recursive descent</a:t>
            </a:r>
          </a:p>
          <a:p>
            <a:pPr lvl="1" eaLnBrk="1" hangingPunct="1"/>
            <a:r>
              <a:rPr lang="en-US" altLang="it-IT">
                <a:sym typeface="Symbol" panose="05050102010706020507" pitchFamily="18" charset="2"/>
              </a:rPr>
              <a:t>Parser takes the last else clause in a routine</a:t>
            </a:r>
          </a:p>
          <a:p>
            <a:pPr lvl="1" eaLnBrk="1" hangingPunct="1"/>
            <a:r>
              <a:rPr lang="en-US" altLang="it-IT">
                <a:sym typeface="Symbol" panose="05050102010706020507" pitchFamily="18" charset="2"/>
              </a:rPr>
              <a:t>Compiler writer can code almost any arbitrary action</a:t>
            </a:r>
          </a:p>
          <a:p>
            <a:pPr eaLnBrk="1" hangingPunct="1"/>
            <a:r>
              <a:rPr lang="en-US" altLang="it-IT">
                <a:sym typeface="Symbol" panose="05050102010706020507" pitchFamily="18" charset="2"/>
              </a:rPr>
              <a:t>Table-driven LL(1)</a:t>
            </a:r>
          </a:p>
          <a:p>
            <a:pPr lvl="1" eaLnBrk="1" hangingPunct="1"/>
            <a:r>
              <a:rPr lang="en-US" altLang="it-IT">
                <a:sym typeface="Symbol" panose="05050102010706020507" pitchFamily="18" charset="2"/>
              </a:rPr>
              <a:t>In state </a:t>
            </a:r>
            <a:r>
              <a:rPr lang="en-US" altLang="it-IT" i="1">
                <a:sym typeface="Symbol" panose="05050102010706020507" pitchFamily="18" charset="2"/>
              </a:rPr>
              <a:t>s</a:t>
            </a:r>
            <a:r>
              <a:rPr lang="en-US" altLang="it-IT" baseline="-25000">
                <a:sym typeface="Symbol" panose="05050102010706020507" pitchFamily="18" charset="2"/>
              </a:rPr>
              <a:t>i</a:t>
            </a:r>
            <a:r>
              <a:rPr lang="en-US" altLang="it-IT">
                <a:sym typeface="Symbol" panose="05050102010706020507" pitchFamily="18" charset="2"/>
              </a:rPr>
              <a:t> facing word </a:t>
            </a:r>
            <a:r>
              <a:rPr lang="en-US" altLang="it-IT" i="1">
                <a:sym typeface="Symbol" panose="05050102010706020507" pitchFamily="18" charset="2"/>
              </a:rPr>
              <a:t>x</a:t>
            </a:r>
            <a:r>
              <a:rPr lang="en-US" altLang="it-IT">
                <a:sym typeface="Symbol" panose="05050102010706020507" pitchFamily="18" charset="2"/>
              </a:rPr>
              <a:t>, entry is an error</a:t>
            </a:r>
          </a:p>
          <a:p>
            <a:pPr lvl="1" eaLnBrk="1" hangingPunct="1"/>
            <a:r>
              <a:rPr lang="en-US" altLang="it-IT">
                <a:sym typeface="Symbol" panose="05050102010706020507" pitchFamily="18" charset="2"/>
              </a:rPr>
              <a:t>Report the error, valid entries in row for </a:t>
            </a:r>
            <a:r>
              <a:rPr lang="en-US" altLang="it-IT" i="1">
                <a:sym typeface="Symbol" panose="05050102010706020507" pitchFamily="18" charset="2"/>
              </a:rPr>
              <a:t>s</a:t>
            </a:r>
            <a:r>
              <a:rPr lang="en-US" altLang="it-IT" baseline="-25000">
                <a:sym typeface="Symbol" panose="05050102010706020507" pitchFamily="18" charset="2"/>
              </a:rPr>
              <a:t>i</a:t>
            </a:r>
            <a:r>
              <a:rPr lang="en-US" altLang="it-IT">
                <a:sym typeface="Symbol" panose="05050102010706020507" pitchFamily="18" charset="2"/>
              </a:rPr>
              <a:t> encode possibilities </a:t>
            </a:r>
          </a:p>
          <a:p>
            <a:pPr eaLnBrk="1" hangingPunct="1"/>
            <a:r>
              <a:rPr lang="en-US" altLang="it-IT">
                <a:sym typeface="Symbol" panose="05050102010706020507" pitchFamily="18" charset="2"/>
              </a:rPr>
              <a:t>Table-driven LR(1)</a:t>
            </a:r>
          </a:p>
          <a:p>
            <a:pPr lvl="1" eaLnBrk="1" hangingPunct="1"/>
            <a:r>
              <a:rPr lang="en-US" altLang="it-IT">
                <a:sym typeface="Symbol" panose="05050102010706020507" pitchFamily="18" charset="2"/>
              </a:rPr>
              <a:t>In state </a:t>
            </a:r>
            <a:r>
              <a:rPr lang="en-US" altLang="it-IT" i="1">
                <a:sym typeface="Symbol" panose="05050102010706020507" pitchFamily="18" charset="2"/>
              </a:rPr>
              <a:t>s</a:t>
            </a:r>
            <a:r>
              <a:rPr lang="en-US" altLang="it-IT" baseline="-25000">
                <a:sym typeface="Symbol" panose="05050102010706020507" pitchFamily="18" charset="2"/>
              </a:rPr>
              <a:t>i</a:t>
            </a:r>
            <a:r>
              <a:rPr lang="en-US" altLang="it-IT">
                <a:sym typeface="Symbol" panose="05050102010706020507" pitchFamily="18" charset="2"/>
              </a:rPr>
              <a:t> facing word </a:t>
            </a:r>
            <a:r>
              <a:rPr lang="en-US" altLang="it-IT" i="1">
                <a:sym typeface="Symbol" panose="05050102010706020507" pitchFamily="18" charset="2"/>
              </a:rPr>
              <a:t>x</a:t>
            </a:r>
            <a:r>
              <a:rPr lang="en-US" altLang="it-IT">
                <a:sym typeface="Symbol" panose="05050102010706020507" pitchFamily="18" charset="2"/>
              </a:rPr>
              <a:t>, entry is an error</a:t>
            </a:r>
          </a:p>
          <a:p>
            <a:pPr lvl="1" eaLnBrk="1" hangingPunct="1"/>
            <a:r>
              <a:rPr lang="en-US" altLang="it-IT">
                <a:sym typeface="Symbol" panose="05050102010706020507" pitchFamily="18" charset="2"/>
              </a:rPr>
              <a:t>Report the error, shift states in row encode possibilities</a:t>
            </a:r>
          </a:p>
          <a:p>
            <a:pPr lvl="1" eaLnBrk="1" hangingPunct="1"/>
            <a:r>
              <a:rPr lang="en-US" altLang="it-IT">
                <a:sym typeface="Symbol" panose="05050102010706020507" pitchFamily="18" charset="2"/>
              </a:rPr>
              <a:t>Can precompute better messages from LR(1) items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Footer Placeholder 1">
            <a:extLst>
              <a:ext uri="{FF2B5EF4-FFF2-40B4-BE49-F238E27FC236}">
                <a16:creationId xmlns:a16="http://schemas.microsoft.com/office/drawing/2014/main" id="{C00C1BE9-7106-42ED-BFDF-00F4E538A38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32770" name="Slide Number Placeholder 2">
            <a:extLst>
              <a:ext uri="{FF2B5EF4-FFF2-40B4-BE49-F238E27FC236}">
                <a16:creationId xmlns:a16="http://schemas.microsoft.com/office/drawing/2014/main" id="{206BFE6F-1EB3-4C07-A89D-215634585D5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0359A71E-C359-4F92-9C0A-1FB416A60A4A}" type="slidenum">
              <a:rPr lang="en-US" altLang="it-IT"/>
              <a:pPr/>
              <a:t>11</a:t>
            </a:fld>
            <a:endParaRPr lang="en-US" altLang="it-IT"/>
          </a:p>
        </p:txBody>
      </p:sp>
      <p:sp>
        <p:nvSpPr>
          <p:cNvPr id="32771" name="Rectangle 2">
            <a:extLst>
              <a:ext uri="{FF2B5EF4-FFF2-40B4-BE49-F238E27FC236}">
                <a16:creationId xmlns:a16="http://schemas.microsoft.com/office/drawing/2014/main" id="{2F5291EC-8701-46AB-9535-1E807B63DE61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it-IT">
                <a:sym typeface="Symbol" panose="05050102010706020507" pitchFamily="18" charset="2"/>
              </a:rPr>
              <a:t>Error Detection and Recovery</a:t>
            </a:r>
          </a:p>
        </p:txBody>
      </p:sp>
      <p:sp>
        <p:nvSpPr>
          <p:cNvPr id="32772" name="Rectangle 3">
            <a:extLst>
              <a:ext uri="{FF2B5EF4-FFF2-40B4-BE49-F238E27FC236}">
                <a16:creationId xmlns:a16="http://schemas.microsoft.com/office/drawing/2014/main" id="{F105D945-D7CE-41B1-85B8-EC046423E27A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buFont typeface="Times" panose="02020603050405020304" pitchFamily="18" charset="0"/>
              <a:buNone/>
            </a:pPr>
            <a:r>
              <a:rPr lang="en-US" altLang="it-IT">
                <a:solidFill>
                  <a:srgbClr val="003C75"/>
                </a:solidFill>
                <a:sym typeface="Symbol" panose="05050102010706020507" pitchFamily="18" charset="2"/>
              </a:rPr>
              <a:t>Error Recovery</a:t>
            </a:r>
            <a:endParaRPr lang="en-US" altLang="it-IT">
              <a:sym typeface="Symbol" panose="05050102010706020507" pitchFamily="18" charset="2"/>
            </a:endParaRPr>
          </a:p>
          <a:p>
            <a:pPr eaLnBrk="1" hangingPunct="1"/>
            <a:r>
              <a:rPr lang="en-US" altLang="it-IT">
                <a:sym typeface="Symbol" panose="05050102010706020507" pitchFamily="18" charset="2"/>
              </a:rPr>
              <a:t>Table-driven LL(1)</a:t>
            </a:r>
          </a:p>
          <a:p>
            <a:pPr lvl="1" eaLnBrk="1" hangingPunct="1"/>
            <a:r>
              <a:rPr lang="en-US" altLang="it-IT">
                <a:sym typeface="Symbol" panose="05050102010706020507" pitchFamily="18" charset="2"/>
              </a:rPr>
              <a:t>Treat as missing token, e.g. ‘</a:t>
            </a:r>
            <a:r>
              <a:rPr lang="en-US" altLang="it-IT" u="sng">
                <a:sym typeface="Symbol" panose="05050102010706020507" pitchFamily="18" charset="2"/>
              </a:rPr>
              <a:t>)‘</a:t>
            </a:r>
            <a:r>
              <a:rPr lang="en-US" altLang="it-IT">
                <a:sym typeface="Symbol" panose="05050102010706020507" pitchFamily="18" charset="2"/>
              </a:rPr>
              <a:t>,  expand by desired symbol</a:t>
            </a:r>
          </a:p>
          <a:p>
            <a:pPr lvl="1" eaLnBrk="1" hangingPunct="1"/>
            <a:r>
              <a:rPr lang="en-US" altLang="it-IT">
                <a:sym typeface="Symbol" panose="05050102010706020507" pitchFamily="18" charset="2"/>
              </a:rPr>
              <a:t>Treat as extra token, e.g., ‘x</a:t>
            </a:r>
            <a:r>
              <a:rPr lang="en-US" altLang="it-IT" sz="1000">
                <a:sym typeface="Symbol" panose="05050102010706020507" pitchFamily="18" charset="2"/>
              </a:rPr>
              <a:t> </a:t>
            </a:r>
            <a:r>
              <a:rPr lang="en-US" altLang="it-IT">
                <a:sym typeface="Symbol" panose="05050102010706020507" pitchFamily="18" charset="2"/>
              </a:rPr>
              <a:t>-</a:t>
            </a:r>
            <a:r>
              <a:rPr lang="en-US" altLang="it-IT" sz="1000">
                <a:sym typeface="Symbol" panose="05050102010706020507" pitchFamily="18" charset="2"/>
              </a:rPr>
              <a:t> </a:t>
            </a:r>
            <a:r>
              <a:rPr lang="en-US" altLang="it-IT">
                <a:sym typeface="Symbol" panose="05050102010706020507" pitchFamily="18" charset="2"/>
              </a:rPr>
              <a:t>+</a:t>
            </a:r>
            <a:r>
              <a:rPr lang="en-US" altLang="it-IT" sz="1000">
                <a:sym typeface="Symbol" panose="05050102010706020507" pitchFamily="18" charset="2"/>
              </a:rPr>
              <a:t> </a:t>
            </a:r>
            <a:r>
              <a:rPr lang="en-US" altLang="it-IT">
                <a:sym typeface="Symbol" panose="05050102010706020507" pitchFamily="18" charset="2"/>
              </a:rPr>
              <a:t>y’,  pop stack and move ahead</a:t>
            </a:r>
          </a:p>
          <a:p>
            <a:pPr eaLnBrk="1" hangingPunct="1"/>
            <a:r>
              <a:rPr lang="en-US" altLang="it-IT">
                <a:sym typeface="Symbol" panose="05050102010706020507" pitchFamily="18" charset="2"/>
              </a:rPr>
              <a:t>Table-driven LR(1)</a:t>
            </a:r>
          </a:p>
          <a:p>
            <a:pPr lvl="1" eaLnBrk="1" hangingPunct="1"/>
            <a:r>
              <a:rPr lang="en-US" altLang="it-IT">
                <a:sym typeface="Symbol" panose="05050102010706020507" pitchFamily="18" charset="2"/>
              </a:rPr>
              <a:t>Treat as missing token, e.g. ‘</a:t>
            </a:r>
            <a:r>
              <a:rPr lang="en-US" altLang="it-IT" u="sng">
                <a:sym typeface="Symbol" panose="05050102010706020507" pitchFamily="18" charset="2"/>
              </a:rPr>
              <a:t>)</a:t>
            </a:r>
            <a:r>
              <a:rPr lang="en-US" altLang="it-IT">
                <a:sym typeface="Symbol" panose="05050102010706020507" pitchFamily="18" charset="2"/>
              </a:rPr>
              <a:t>’,  shift the token </a:t>
            </a:r>
          </a:p>
          <a:p>
            <a:pPr lvl="1" eaLnBrk="1" hangingPunct="1"/>
            <a:r>
              <a:rPr lang="en-US" altLang="it-IT">
                <a:sym typeface="Symbol" panose="05050102010706020507" pitchFamily="18" charset="2"/>
              </a:rPr>
              <a:t>Treat as extra token, e.g., ‘x</a:t>
            </a:r>
            <a:r>
              <a:rPr lang="en-US" altLang="it-IT" sz="1000">
                <a:sym typeface="Symbol" panose="05050102010706020507" pitchFamily="18" charset="2"/>
              </a:rPr>
              <a:t> </a:t>
            </a:r>
            <a:r>
              <a:rPr lang="en-US" altLang="it-IT">
                <a:sym typeface="Symbol" panose="05050102010706020507" pitchFamily="18" charset="2"/>
              </a:rPr>
              <a:t>-</a:t>
            </a:r>
            <a:r>
              <a:rPr lang="en-US" altLang="it-IT" sz="1000">
                <a:sym typeface="Symbol" panose="05050102010706020507" pitchFamily="18" charset="2"/>
              </a:rPr>
              <a:t> </a:t>
            </a:r>
            <a:r>
              <a:rPr lang="en-US" altLang="it-IT">
                <a:sym typeface="Symbol" panose="05050102010706020507" pitchFamily="18" charset="2"/>
              </a:rPr>
              <a:t>+</a:t>
            </a:r>
            <a:r>
              <a:rPr lang="en-US" altLang="it-IT" sz="1000">
                <a:sym typeface="Symbol" panose="05050102010706020507" pitchFamily="18" charset="2"/>
              </a:rPr>
              <a:t> </a:t>
            </a:r>
            <a:r>
              <a:rPr lang="en-US" altLang="it-IT">
                <a:sym typeface="Symbol" panose="05050102010706020507" pitchFamily="18" charset="2"/>
              </a:rPr>
              <a:t>y’,  don’t shift the token</a:t>
            </a:r>
          </a:p>
        </p:txBody>
      </p:sp>
      <p:sp>
        <p:nvSpPr>
          <p:cNvPr id="114692" name="Text Box 4">
            <a:extLst>
              <a:ext uri="{FF2B5EF4-FFF2-40B4-BE49-F238E27FC236}">
                <a16:creationId xmlns:a16="http://schemas.microsoft.com/office/drawing/2014/main" id="{CCC8AD84-FDB2-4051-84E1-43ABC60963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4400" y="5449888"/>
            <a:ext cx="3657600" cy="64611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 dirty="0">
                <a:solidFill>
                  <a:srgbClr val="B025A6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Can pre-compute sets of states with appropriate entries…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Footer Placeholder 1">
            <a:extLst>
              <a:ext uri="{FF2B5EF4-FFF2-40B4-BE49-F238E27FC236}">
                <a16:creationId xmlns:a16="http://schemas.microsoft.com/office/drawing/2014/main" id="{61580423-B205-441F-8481-C56DAD34035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33794" name="Slide Number Placeholder 2">
            <a:extLst>
              <a:ext uri="{FF2B5EF4-FFF2-40B4-BE49-F238E27FC236}">
                <a16:creationId xmlns:a16="http://schemas.microsoft.com/office/drawing/2014/main" id="{11DE2652-5109-4372-B5A6-D8D5A5AF013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1FAA97EB-8B0F-4913-A5D5-CB9BA3F384A9}" type="slidenum">
              <a:rPr lang="en-US" altLang="it-IT"/>
              <a:pPr/>
              <a:t>12</a:t>
            </a:fld>
            <a:endParaRPr lang="en-US" altLang="it-IT"/>
          </a:p>
        </p:txBody>
      </p:sp>
      <p:sp>
        <p:nvSpPr>
          <p:cNvPr id="33795" name="Rectangle 2">
            <a:extLst>
              <a:ext uri="{FF2B5EF4-FFF2-40B4-BE49-F238E27FC236}">
                <a16:creationId xmlns:a16="http://schemas.microsoft.com/office/drawing/2014/main" id="{512148D0-5C44-4FAD-9084-E789AF50B6E5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buFont typeface="Times" panose="02020603050405020304" pitchFamily="18" charset="0"/>
              <a:buNone/>
            </a:pPr>
            <a:r>
              <a:rPr lang="en-US" altLang="it-IT">
                <a:solidFill>
                  <a:srgbClr val="003C75"/>
                </a:solidFill>
                <a:sym typeface="Symbol" panose="05050102010706020507" pitchFamily="18" charset="2"/>
              </a:rPr>
              <a:t>One common strategy is “hard token” recovery</a:t>
            </a:r>
          </a:p>
          <a:p>
            <a:pPr eaLnBrk="1" hangingPunct="1">
              <a:spcBef>
                <a:spcPct val="50000"/>
              </a:spcBef>
              <a:buFont typeface="Times" panose="02020603050405020304" pitchFamily="18" charset="0"/>
              <a:buNone/>
            </a:pPr>
            <a:r>
              <a:rPr lang="en-US" altLang="it-IT">
                <a:sym typeface="Symbol" panose="05050102010706020507" pitchFamily="18" charset="2"/>
              </a:rPr>
              <a:t>Skip ahead in input until we find some “hard” token, e.g. ‘;’ </a:t>
            </a:r>
          </a:p>
          <a:p>
            <a:pPr lvl="1" eaLnBrk="1" hangingPunct="1"/>
            <a:r>
              <a:rPr lang="en-US" altLang="it-IT">
                <a:sym typeface="Symbol" panose="05050102010706020507" pitchFamily="18" charset="2"/>
              </a:rPr>
              <a:t>‘;’ separates statements, makes a logical break in the parse</a:t>
            </a:r>
          </a:p>
          <a:p>
            <a:pPr lvl="1" eaLnBrk="1" hangingPunct="1"/>
            <a:r>
              <a:rPr lang="en-US" altLang="it-IT">
                <a:sym typeface="Symbol" panose="05050102010706020507" pitchFamily="18" charset="2"/>
              </a:rPr>
              <a:t>Resynchronize state, stack, and input to point after hard token</a:t>
            </a:r>
          </a:p>
          <a:p>
            <a:pPr lvl="2" eaLnBrk="1" hangingPunct="1"/>
            <a:r>
              <a:rPr lang="en-US" altLang="it-IT">
                <a:solidFill>
                  <a:srgbClr val="B025A6"/>
                </a:solidFill>
                <a:sym typeface="Symbol" panose="05050102010706020507" pitchFamily="18" charset="2"/>
              </a:rPr>
              <a:t>LL(1): pop stack until we find a row with entry for ‘;’</a:t>
            </a:r>
          </a:p>
          <a:p>
            <a:pPr lvl="2" eaLnBrk="1" hangingPunct="1"/>
            <a:r>
              <a:rPr lang="en-US" altLang="it-IT">
                <a:solidFill>
                  <a:srgbClr val="B025A6"/>
                </a:solidFill>
                <a:sym typeface="Symbol" panose="05050102010706020507" pitchFamily="18" charset="2"/>
              </a:rPr>
              <a:t>LR(1): pop stack until we find a state with a reduction on ‘;’</a:t>
            </a:r>
          </a:p>
          <a:p>
            <a:pPr lvl="1" eaLnBrk="1" hangingPunct="1"/>
            <a:r>
              <a:rPr lang="en-US" altLang="it-IT">
                <a:sym typeface="Symbol" panose="05050102010706020507" pitchFamily="18" charset="2"/>
              </a:rPr>
              <a:t>Does not correct the input, rather it allows parse to proceed</a:t>
            </a:r>
          </a:p>
          <a:p>
            <a:pPr eaLnBrk="1" hangingPunct="1"/>
            <a:endParaRPr lang="en-US" altLang="it-IT">
              <a:solidFill>
                <a:srgbClr val="B025A6"/>
              </a:solidFill>
              <a:sym typeface="Symbol" panose="05050102010706020507" pitchFamily="18" charset="2"/>
            </a:endParaRPr>
          </a:p>
        </p:txBody>
      </p:sp>
      <p:sp>
        <p:nvSpPr>
          <p:cNvPr id="33796" name="Rectangle 3">
            <a:extLst>
              <a:ext uri="{FF2B5EF4-FFF2-40B4-BE49-F238E27FC236}">
                <a16:creationId xmlns:a16="http://schemas.microsoft.com/office/drawing/2014/main" id="{9E21DAA5-437B-4BB2-B371-0F4C188DFA47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it-IT">
                <a:sym typeface="Symbol" panose="05050102010706020507" pitchFamily="18" charset="2"/>
              </a:rPr>
              <a:t>Error Detection and Recovery</a:t>
            </a:r>
          </a:p>
        </p:txBody>
      </p:sp>
      <p:sp>
        <p:nvSpPr>
          <p:cNvPr id="33798" name="Text Box 4">
            <a:extLst>
              <a:ext uri="{FF2B5EF4-FFF2-40B4-BE49-F238E27FC236}">
                <a16:creationId xmlns:a16="http://schemas.microsoft.com/office/drawing/2014/main" id="{BD8800E6-A7EB-4F52-92BC-284EFA5515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3900488"/>
            <a:ext cx="3429000" cy="1897062"/>
          </a:xfrm>
          <a:prstGeom prst="rect">
            <a:avLst/>
          </a:prstGeom>
          <a:solidFill>
            <a:schemeClr val="bg1"/>
          </a:solidFill>
          <a:ln w="19050">
            <a:solidFill>
              <a:srgbClr val="7F7F7F"/>
            </a:solidFill>
            <a:miter lim="800000"/>
            <a:headEnd/>
            <a:tailEnd/>
          </a:ln>
          <a:effectLst>
            <a:outerShdw blurRad="50800" dist="38100" dir="2700000">
              <a:srgbClr val="000000">
                <a:alpha val="43000"/>
              </a:srgbClr>
            </a:outerShdw>
          </a:effectLst>
        </p:spPr>
        <p:txBody>
          <a:bodyPr>
            <a:spAutoFit/>
          </a:bodyPr>
          <a:lstStyle/>
          <a:p>
            <a:pPr eaLnBrk="0" hangingPunct="0">
              <a:spcBef>
                <a:spcPct val="20000"/>
              </a:spcBef>
              <a:defRPr/>
            </a:pPr>
            <a:r>
              <a:rPr lang="en-US" sz="1600">
                <a:solidFill>
                  <a:srgbClr val="B025A6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NT </a:t>
            </a:r>
            <a:r>
              <a:rPr lang="en-US" sz="1600">
                <a:solidFill>
                  <a:srgbClr val="B025A6"/>
                </a:solidFill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 pop()</a:t>
            </a:r>
          </a:p>
          <a:p>
            <a:pPr eaLnBrk="0" hangingPunct="0">
              <a:spcBef>
                <a:spcPct val="20000"/>
              </a:spcBef>
              <a:defRPr/>
            </a:pPr>
            <a:r>
              <a:rPr lang="en-US" sz="1600">
                <a:solidFill>
                  <a:srgbClr val="B025A6"/>
                </a:solidFill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repeat until Table[NT,’;’]  error </a:t>
            </a:r>
          </a:p>
          <a:p>
            <a:pPr eaLnBrk="0" hangingPunct="0">
              <a:spcBef>
                <a:spcPct val="20000"/>
              </a:spcBef>
              <a:defRPr/>
            </a:pPr>
            <a:r>
              <a:rPr lang="en-US" sz="1600">
                <a:solidFill>
                  <a:srgbClr val="B025A6"/>
                </a:solidFill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     NT  pop()</a:t>
            </a:r>
          </a:p>
          <a:p>
            <a:pPr eaLnBrk="0" hangingPunct="0">
              <a:spcBef>
                <a:spcPct val="50000"/>
              </a:spcBef>
              <a:defRPr/>
            </a:pPr>
            <a:r>
              <a:rPr lang="en-US" sz="1600">
                <a:solidFill>
                  <a:srgbClr val="B025A6"/>
                </a:solidFill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token  NextToken()</a:t>
            </a:r>
          </a:p>
          <a:p>
            <a:pPr eaLnBrk="0" hangingPunct="0">
              <a:spcBef>
                <a:spcPct val="20000"/>
              </a:spcBef>
              <a:defRPr/>
            </a:pPr>
            <a:r>
              <a:rPr lang="en-US" sz="1600">
                <a:solidFill>
                  <a:srgbClr val="B025A6"/>
                </a:solidFill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 repeat until token = ‘;’</a:t>
            </a:r>
          </a:p>
          <a:p>
            <a:pPr eaLnBrk="0" hangingPunct="0">
              <a:spcBef>
                <a:spcPct val="20000"/>
              </a:spcBef>
              <a:defRPr/>
            </a:pPr>
            <a:r>
              <a:rPr lang="en-US" sz="1600">
                <a:solidFill>
                  <a:srgbClr val="B025A6"/>
                </a:solidFill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     token  NextToken()</a:t>
            </a:r>
          </a:p>
        </p:txBody>
      </p:sp>
      <p:sp>
        <p:nvSpPr>
          <p:cNvPr id="2" name="Text Box 5">
            <a:extLst>
              <a:ext uri="{FF2B5EF4-FFF2-40B4-BE49-F238E27FC236}">
                <a16:creationId xmlns:a16="http://schemas.microsoft.com/office/drawing/2014/main" id="{D5C7745F-D91A-4085-8DC2-02AB9B49D1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5957888"/>
            <a:ext cx="3733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it-IT" i="1">
                <a:solidFill>
                  <a:srgbClr val="003C75"/>
                </a:solidFill>
              </a:rPr>
              <a:t>Resynchronizing an LL(1) parser</a:t>
            </a:r>
          </a:p>
        </p:txBody>
      </p:sp>
      <p:sp>
        <p:nvSpPr>
          <p:cNvPr id="33800" name="Text Box 6">
            <a:extLst>
              <a:ext uri="{FF2B5EF4-FFF2-40B4-BE49-F238E27FC236}">
                <a16:creationId xmlns:a16="http://schemas.microsoft.com/office/drawing/2014/main" id="{6E4D4A44-A36C-43F5-8527-DB159C2662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6800" y="3900488"/>
            <a:ext cx="3429000" cy="1897062"/>
          </a:xfrm>
          <a:prstGeom prst="rect">
            <a:avLst/>
          </a:prstGeom>
          <a:solidFill>
            <a:schemeClr val="bg1"/>
          </a:solidFill>
          <a:ln w="19050">
            <a:solidFill>
              <a:srgbClr val="7F7F7F"/>
            </a:solidFill>
            <a:miter lim="800000"/>
            <a:headEnd/>
            <a:tailEnd/>
          </a:ln>
          <a:effectLst>
            <a:outerShdw blurRad="50800" dist="38100" dir="2700000">
              <a:srgbClr val="000000">
                <a:alpha val="43000"/>
              </a:srgbClr>
            </a:outerShdw>
          </a:effectLst>
        </p:spPr>
        <p:txBody>
          <a:bodyPr>
            <a:spAutoFit/>
          </a:bodyPr>
          <a:lstStyle/>
          <a:p>
            <a:pPr eaLnBrk="0" hangingPunct="0">
              <a:spcBef>
                <a:spcPct val="20000"/>
              </a:spcBef>
              <a:defRPr/>
            </a:pPr>
            <a:r>
              <a:rPr lang="en-US" sz="1600">
                <a:solidFill>
                  <a:srgbClr val="B025A6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repeat until token = ‘;’</a:t>
            </a:r>
          </a:p>
          <a:p>
            <a:pPr eaLnBrk="0" hangingPunct="0">
              <a:spcBef>
                <a:spcPct val="20000"/>
              </a:spcBef>
              <a:defRPr/>
            </a:pPr>
            <a:r>
              <a:rPr lang="en-US" sz="1600">
                <a:solidFill>
                  <a:srgbClr val="B025A6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    shift token</a:t>
            </a:r>
          </a:p>
          <a:p>
            <a:pPr eaLnBrk="0" hangingPunct="0">
              <a:spcBef>
                <a:spcPct val="20000"/>
              </a:spcBef>
              <a:defRPr/>
            </a:pPr>
            <a:r>
              <a:rPr lang="en-US" sz="1600">
                <a:solidFill>
                  <a:srgbClr val="B025A6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    shift </a:t>
            </a:r>
            <a:r>
              <a:rPr lang="en-US" sz="1600" i="1">
                <a:solidFill>
                  <a:srgbClr val="B025A6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s</a:t>
            </a:r>
            <a:r>
              <a:rPr lang="en-US" sz="1600" baseline="-25000">
                <a:solidFill>
                  <a:srgbClr val="B025A6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e</a:t>
            </a:r>
            <a:endParaRPr lang="en-US" sz="1600">
              <a:solidFill>
                <a:srgbClr val="B025A6"/>
              </a:solidFill>
              <a:latin typeface="Comic Sans MS" charset="0"/>
              <a:ea typeface="ヒラギノ角ゴ Pro W3" charset="-128"/>
              <a:cs typeface="ヒラギノ角ゴ Pro W3" charset="-128"/>
            </a:endParaRPr>
          </a:p>
          <a:p>
            <a:pPr eaLnBrk="0" hangingPunct="0">
              <a:spcBef>
                <a:spcPct val="20000"/>
              </a:spcBef>
              <a:defRPr/>
            </a:pPr>
            <a:r>
              <a:rPr lang="en-US" sz="1600">
                <a:solidFill>
                  <a:srgbClr val="B025A6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    token </a:t>
            </a:r>
            <a:r>
              <a:rPr lang="en-US" sz="1600">
                <a:solidFill>
                  <a:srgbClr val="B025A6"/>
                </a:solidFill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</a:t>
            </a:r>
            <a:r>
              <a:rPr lang="en-US" sz="1600">
                <a:solidFill>
                  <a:srgbClr val="B025A6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 NextToken()</a:t>
            </a:r>
          </a:p>
          <a:p>
            <a:pPr eaLnBrk="0" hangingPunct="0">
              <a:spcBef>
                <a:spcPct val="50000"/>
              </a:spcBef>
              <a:defRPr/>
            </a:pPr>
            <a:r>
              <a:rPr lang="en-US" sz="1600">
                <a:solidFill>
                  <a:srgbClr val="B025A6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reduce by error production</a:t>
            </a:r>
          </a:p>
          <a:p>
            <a:pPr eaLnBrk="0" hangingPunct="0">
              <a:spcBef>
                <a:spcPct val="20000"/>
              </a:spcBef>
              <a:defRPr/>
            </a:pPr>
            <a:r>
              <a:rPr lang="en-US" sz="1600">
                <a:solidFill>
                  <a:srgbClr val="B025A6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    // pops all that state off stack</a:t>
            </a:r>
          </a:p>
        </p:txBody>
      </p:sp>
      <p:sp>
        <p:nvSpPr>
          <p:cNvPr id="3" name="Text Box 7">
            <a:extLst>
              <a:ext uri="{FF2B5EF4-FFF2-40B4-BE49-F238E27FC236}">
                <a16:creationId xmlns:a16="http://schemas.microsoft.com/office/drawing/2014/main" id="{9DA803C0-26CF-459D-9D5D-33788FE4B5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4400" y="5957888"/>
            <a:ext cx="3733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it-IT" i="1">
                <a:solidFill>
                  <a:srgbClr val="003C75"/>
                </a:solidFill>
              </a:rPr>
              <a:t>Resynchronizing an LR(1) parser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Footer Placeholder 1">
            <a:extLst>
              <a:ext uri="{FF2B5EF4-FFF2-40B4-BE49-F238E27FC236}">
                <a16:creationId xmlns:a16="http://schemas.microsoft.com/office/drawing/2014/main" id="{78E87DCA-FAFE-4605-A596-84E819B318B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34818" name="Slide Number Placeholder 2">
            <a:extLst>
              <a:ext uri="{FF2B5EF4-FFF2-40B4-BE49-F238E27FC236}">
                <a16:creationId xmlns:a16="http://schemas.microsoft.com/office/drawing/2014/main" id="{9D0C8A56-58D5-4CAB-86F6-6555D7CBEE8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6C3BC760-1F49-4B28-9A2A-6A951D599F4F}" type="slidenum">
              <a:rPr lang="en-US" altLang="it-IT"/>
              <a:pPr/>
              <a:t>13</a:t>
            </a:fld>
            <a:endParaRPr lang="en-US" altLang="it-IT"/>
          </a:p>
        </p:txBody>
      </p:sp>
      <p:sp>
        <p:nvSpPr>
          <p:cNvPr id="80900" name="Rectangle 2">
            <a:extLst>
              <a:ext uri="{FF2B5EF4-FFF2-40B4-BE49-F238E27FC236}">
                <a16:creationId xmlns:a16="http://schemas.microsoft.com/office/drawing/2014/main" id="{7648945D-B4CD-4949-AB7C-6DEEBE0BECC9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>
              <a:spcBef>
                <a:spcPct val="100000"/>
              </a:spcBef>
              <a:defRPr/>
            </a:pPr>
            <a:r>
              <a:rPr lang="en-US" dirty="0"/>
              <a:t>Shrinking the </a:t>
            </a:r>
            <a:r>
              <a:rPr lang="en-US" cap="small" dirty="0"/>
              <a:t>Action </a:t>
            </a:r>
            <a:r>
              <a:rPr lang="en-US" dirty="0"/>
              <a:t>and</a:t>
            </a:r>
            <a:r>
              <a:rPr lang="en-US" cap="small" dirty="0"/>
              <a:t> </a:t>
            </a:r>
            <a:r>
              <a:rPr lang="en-US" cap="small" dirty="0" err="1"/>
              <a:t>Goto</a:t>
            </a:r>
            <a:r>
              <a:rPr lang="en-US" cap="small" dirty="0"/>
              <a:t> </a:t>
            </a:r>
            <a:r>
              <a:rPr lang="en-US" dirty="0"/>
              <a:t>Tables</a:t>
            </a:r>
          </a:p>
        </p:txBody>
      </p:sp>
      <p:sp>
        <p:nvSpPr>
          <p:cNvPr id="80901" name="Rectangle 3">
            <a:extLst>
              <a:ext uri="{FF2B5EF4-FFF2-40B4-BE49-F238E27FC236}">
                <a16:creationId xmlns:a16="http://schemas.microsoft.com/office/drawing/2014/main" id="{5FDDC765-270E-4479-AB6E-5B809E0537DB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spcBef>
                <a:spcPts val="600"/>
              </a:spcBef>
              <a:buFont typeface="Times" charset="0"/>
              <a:buNone/>
              <a:defRPr/>
            </a:pPr>
            <a:r>
              <a:rPr lang="en-US" dirty="0"/>
              <a:t>Three options:</a:t>
            </a:r>
          </a:p>
          <a:p>
            <a:pPr eaLnBrk="1" hangingPunct="1">
              <a:spcBef>
                <a:spcPts val="600"/>
              </a:spcBef>
              <a:buFont typeface="Times" charset="0"/>
              <a:buChar char="•"/>
              <a:defRPr/>
            </a:pPr>
            <a:r>
              <a:rPr lang="en-US" dirty="0"/>
              <a:t>Combine terminals such as </a:t>
            </a:r>
            <a:r>
              <a:rPr lang="en-US" u="sng" dirty="0"/>
              <a:t>number</a:t>
            </a:r>
            <a:r>
              <a:rPr lang="en-US" dirty="0"/>
              <a:t> &amp; </a:t>
            </a:r>
            <a:r>
              <a:rPr lang="en-US" u="sng" dirty="0"/>
              <a:t>identifier</a:t>
            </a:r>
            <a:r>
              <a:rPr lang="en-US" dirty="0"/>
              <a:t>, </a:t>
            </a:r>
            <a:r>
              <a:rPr lang="en-US" u="sng" dirty="0"/>
              <a:t>+</a:t>
            </a:r>
            <a:r>
              <a:rPr lang="en-US" dirty="0"/>
              <a:t> &amp; </a:t>
            </a:r>
            <a:r>
              <a:rPr lang="en-US" u="sng" dirty="0"/>
              <a:t>-</a:t>
            </a:r>
            <a:r>
              <a:rPr lang="en-US" dirty="0"/>
              <a:t>, </a:t>
            </a:r>
            <a:r>
              <a:rPr lang="en-US" u="sng" dirty="0"/>
              <a:t>*</a:t>
            </a:r>
            <a:r>
              <a:rPr lang="en-US" dirty="0"/>
              <a:t> &amp; </a:t>
            </a:r>
            <a:r>
              <a:rPr lang="en-US" u="sng" dirty="0"/>
              <a:t>/</a:t>
            </a:r>
            <a:endParaRPr lang="en-US" dirty="0"/>
          </a:p>
          <a:p>
            <a:pPr lvl="1" eaLnBrk="1" hangingPunct="1">
              <a:spcBef>
                <a:spcPts val="600"/>
              </a:spcBef>
              <a:defRPr/>
            </a:pPr>
            <a:r>
              <a:rPr lang="en-US" dirty="0"/>
              <a:t>Directly removes a column, may remove a row</a:t>
            </a:r>
          </a:p>
          <a:p>
            <a:pPr lvl="1" eaLnBrk="1" hangingPunct="1">
              <a:spcBef>
                <a:spcPts val="600"/>
              </a:spcBef>
              <a:defRPr/>
            </a:pPr>
            <a:r>
              <a:rPr lang="en-US" dirty="0"/>
              <a:t>For expression grammar, 198 (vs. 384) table entries  </a:t>
            </a:r>
          </a:p>
          <a:p>
            <a:pPr eaLnBrk="1" hangingPunct="1">
              <a:spcBef>
                <a:spcPts val="1800"/>
              </a:spcBef>
              <a:buFont typeface="Times" charset="0"/>
              <a:buChar char="•"/>
              <a:defRPr/>
            </a:pPr>
            <a:r>
              <a:rPr lang="en-US" dirty="0"/>
              <a:t>Combine rows or columns</a:t>
            </a:r>
          </a:p>
          <a:p>
            <a:pPr lvl="1" eaLnBrk="1" hangingPunct="1">
              <a:spcBef>
                <a:spcPts val="600"/>
              </a:spcBef>
              <a:defRPr/>
            </a:pPr>
            <a:r>
              <a:rPr lang="en-US" dirty="0"/>
              <a:t>Implement identical rows once &amp; remap states</a:t>
            </a:r>
          </a:p>
          <a:p>
            <a:pPr lvl="1" eaLnBrk="1" hangingPunct="1">
              <a:spcBef>
                <a:spcPts val="600"/>
              </a:spcBef>
              <a:defRPr/>
            </a:pPr>
            <a:r>
              <a:rPr lang="en-US" dirty="0"/>
              <a:t>Requires extra indirection on each lookup</a:t>
            </a:r>
          </a:p>
          <a:p>
            <a:pPr lvl="1" eaLnBrk="1" hangingPunct="1">
              <a:spcBef>
                <a:spcPts val="600"/>
              </a:spcBef>
              <a:defRPr/>
            </a:pPr>
            <a:r>
              <a:rPr lang="en-US" dirty="0"/>
              <a:t>Use separate mapping for A</a:t>
            </a:r>
            <a:r>
              <a:rPr lang="en-US" sz="1600" dirty="0"/>
              <a:t>CTION</a:t>
            </a:r>
            <a:r>
              <a:rPr lang="en-US" dirty="0"/>
              <a:t> &amp; for G</a:t>
            </a:r>
            <a:r>
              <a:rPr lang="en-US" sz="1600" dirty="0"/>
              <a:t>OTO</a:t>
            </a:r>
            <a:endParaRPr lang="en-US" i="1" dirty="0"/>
          </a:p>
          <a:p>
            <a:pPr eaLnBrk="1" hangingPunct="1">
              <a:spcBef>
                <a:spcPts val="1800"/>
              </a:spcBef>
              <a:buFont typeface="Times" charset="0"/>
              <a:buChar char="•"/>
              <a:defRPr/>
            </a:pPr>
            <a:r>
              <a:rPr lang="en-US" dirty="0"/>
              <a:t>Use another construction algorithm</a:t>
            </a:r>
          </a:p>
          <a:p>
            <a:pPr lvl="1" eaLnBrk="1" hangingPunct="1">
              <a:spcBef>
                <a:spcPts val="600"/>
              </a:spcBef>
              <a:defRPr/>
            </a:pPr>
            <a:r>
              <a:rPr lang="en-US" dirty="0"/>
              <a:t>Both L</a:t>
            </a:r>
            <a:r>
              <a:rPr lang="en-US" sz="1600" dirty="0"/>
              <a:t>ALR(1)</a:t>
            </a:r>
            <a:r>
              <a:rPr lang="en-US" dirty="0"/>
              <a:t> and S</a:t>
            </a:r>
            <a:r>
              <a:rPr lang="en-US" sz="1600" dirty="0"/>
              <a:t>LR(1)</a:t>
            </a:r>
            <a:r>
              <a:rPr lang="en-US" dirty="0"/>
              <a:t> produce smaller tables</a:t>
            </a:r>
          </a:p>
          <a:p>
            <a:pPr lvl="2" eaLnBrk="1" hangingPunct="1">
              <a:spcBef>
                <a:spcPts val="600"/>
              </a:spcBef>
              <a:buFont typeface="Symbol" charset="2"/>
              <a:buChar char=""/>
              <a:defRPr/>
            </a:pPr>
            <a:r>
              <a:rPr lang="en-US" dirty="0"/>
              <a:t>LALR(1) represents each state with its “core” items</a:t>
            </a:r>
          </a:p>
          <a:p>
            <a:pPr lvl="2" eaLnBrk="1" hangingPunct="1">
              <a:spcBef>
                <a:spcPts val="600"/>
              </a:spcBef>
              <a:buFont typeface="Symbol" charset="2"/>
              <a:buChar char=""/>
              <a:defRPr/>
            </a:pPr>
            <a:r>
              <a:rPr lang="en-US" dirty="0"/>
              <a:t>SLR(1) uses LR(0) items and the F</a:t>
            </a:r>
            <a:r>
              <a:rPr lang="en-US" cap="small" dirty="0"/>
              <a:t>ollow</a:t>
            </a:r>
            <a:r>
              <a:rPr lang="en-US" dirty="0"/>
              <a:t> set </a:t>
            </a:r>
          </a:p>
          <a:p>
            <a:pPr lvl="1" eaLnBrk="1" hangingPunct="1">
              <a:spcBef>
                <a:spcPts val="600"/>
              </a:spcBef>
              <a:defRPr/>
            </a:pPr>
            <a:r>
              <a:rPr lang="en-US" dirty="0"/>
              <a:t>Implementations are readily available</a:t>
            </a:r>
          </a:p>
        </p:txBody>
      </p:sp>
      <p:grpSp>
        <p:nvGrpSpPr>
          <p:cNvPr id="2" name="Group 16">
            <a:extLst>
              <a:ext uri="{FF2B5EF4-FFF2-40B4-BE49-F238E27FC236}">
                <a16:creationId xmlns:a16="http://schemas.microsoft.com/office/drawing/2014/main" id="{E21C241A-D75C-481E-A158-1D5971C69565}"/>
              </a:ext>
            </a:extLst>
          </p:cNvPr>
          <p:cNvGrpSpPr>
            <a:grpSpLocks/>
          </p:cNvGrpSpPr>
          <p:nvPr/>
        </p:nvGrpSpPr>
        <p:grpSpPr bwMode="auto">
          <a:xfrm>
            <a:off x="2895600" y="2582863"/>
            <a:ext cx="6019800" cy="846137"/>
            <a:chOff x="1824" y="1584"/>
            <a:chExt cx="3792" cy="533"/>
          </a:xfrm>
        </p:grpSpPr>
        <p:sp>
          <p:nvSpPr>
            <p:cNvPr id="34829" name="Text Box 5">
              <a:extLst>
                <a:ext uri="{FF2B5EF4-FFF2-40B4-BE49-F238E27FC236}">
                  <a16:creationId xmlns:a16="http://schemas.microsoft.com/office/drawing/2014/main" id="{E9724A83-6C6E-49C8-B5DE-4B277CA190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72" y="1680"/>
              <a:ext cx="1344" cy="3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>
                <a:lnSpc>
                  <a:spcPct val="95000"/>
                </a:lnSpc>
                <a:spcBef>
                  <a:spcPct val="50000"/>
                </a:spcBef>
              </a:pPr>
              <a:r>
                <a:rPr lang="en-US" altLang="it-IT" sz="1200">
                  <a:solidFill>
                    <a:srgbClr val="003C75"/>
                  </a:solidFill>
                </a:rPr>
                <a:t>left-recursive expression grammar with precedence, see §3.7.2 in EAC</a:t>
              </a:r>
            </a:p>
          </p:txBody>
        </p:sp>
        <p:sp>
          <p:nvSpPr>
            <p:cNvPr id="34830" name="Line 6">
              <a:extLst>
                <a:ext uri="{FF2B5EF4-FFF2-40B4-BE49-F238E27FC236}">
                  <a16:creationId xmlns:a16="http://schemas.microsoft.com/office/drawing/2014/main" id="{0C52BDD0-2B05-4E95-B380-57852B4135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72" y="1685"/>
              <a:ext cx="0" cy="432"/>
            </a:xfrm>
            <a:prstGeom prst="line">
              <a:avLst/>
            </a:prstGeom>
            <a:noFill/>
            <a:ln w="19050">
              <a:solidFill>
                <a:srgbClr val="003C7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34831" name="Freeform 7">
              <a:extLst>
                <a:ext uri="{FF2B5EF4-FFF2-40B4-BE49-F238E27FC236}">
                  <a16:creationId xmlns:a16="http://schemas.microsoft.com/office/drawing/2014/main" id="{F604F84D-C38D-41A0-AD1D-4782A6E71A34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4" y="1584"/>
              <a:ext cx="2448" cy="240"/>
            </a:xfrm>
            <a:custGeom>
              <a:avLst/>
              <a:gdLst>
                <a:gd name="T0" fmla="*/ 0 w 2448"/>
                <a:gd name="T1" fmla="*/ 0 h 240"/>
                <a:gd name="T2" fmla="*/ 288 w 2448"/>
                <a:gd name="T3" fmla="*/ 96 h 240"/>
                <a:gd name="T4" fmla="*/ 1392 w 2448"/>
                <a:gd name="T5" fmla="*/ 96 h 240"/>
                <a:gd name="T6" fmla="*/ 2016 w 2448"/>
                <a:gd name="T7" fmla="*/ 192 h 240"/>
                <a:gd name="T8" fmla="*/ 2448 w 2448"/>
                <a:gd name="T9" fmla="*/ 240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448"/>
                <a:gd name="T16" fmla="*/ 0 h 240"/>
                <a:gd name="T17" fmla="*/ 2448 w 2448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448" h="240">
                  <a:moveTo>
                    <a:pt x="0" y="0"/>
                  </a:moveTo>
                  <a:cubicBezTo>
                    <a:pt x="28" y="40"/>
                    <a:pt x="56" y="80"/>
                    <a:pt x="288" y="96"/>
                  </a:cubicBezTo>
                  <a:cubicBezTo>
                    <a:pt x="520" y="112"/>
                    <a:pt x="1104" y="80"/>
                    <a:pt x="1392" y="96"/>
                  </a:cubicBezTo>
                  <a:cubicBezTo>
                    <a:pt x="1680" y="112"/>
                    <a:pt x="1840" y="168"/>
                    <a:pt x="2016" y="192"/>
                  </a:cubicBezTo>
                  <a:cubicBezTo>
                    <a:pt x="2192" y="216"/>
                    <a:pt x="2320" y="228"/>
                    <a:pt x="2448" y="240"/>
                  </a:cubicBezTo>
                </a:path>
              </a:pathLst>
            </a:custGeom>
            <a:noFill/>
            <a:ln w="9525">
              <a:solidFill>
                <a:srgbClr val="003C75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>
                <a:solidFill>
                  <a:srgbClr val="003C75"/>
                </a:solidFill>
              </a:endParaRPr>
            </a:p>
          </p:txBody>
        </p:sp>
      </p:grpSp>
      <p:grpSp>
        <p:nvGrpSpPr>
          <p:cNvPr id="3" name="Group 17">
            <a:extLst>
              <a:ext uri="{FF2B5EF4-FFF2-40B4-BE49-F238E27FC236}">
                <a16:creationId xmlns:a16="http://schemas.microsoft.com/office/drawing/2014/main" id="{27D7EDB2-84F2-41D4-8EE6-9FB9512B4E2C}"/>
              </a:ext>
            </a:extLst>
          </p:cNvPr>
          <p:cNvGrpSpPr>
            <a:grpSpLocks/>
          </p:cNvGrpSpPr>
          <p:nvPr/>
        </p:nvGrpSpPr>
        <p:grpSpPr bwMode="auto">
          <a:xfrm>
            <a:off x="5943600" y="3632200"/>
            <a:ext cx="2362200" cy="533400"/>
            <a:chOff x="3744" y="2208"/>
            <a:chExt cx="1488" cy="336"/>
          </a:xfrm>
        </p:grpSpPr>
        <p:sp>
          <p:nvSpPr>
            <p:cNvPr id="34826" name="Text Box 9">
              <a:extLst>
                <a:ext uri="{FF2B5EF4-FFF2-40B4-BE49-F238E27FC236}">
                  <a16:creationId xmlns:a16="http://schemas.microsoft.com/office/drawing/2014/main" id="{0215A68F-D2DF-4BB1-8962-174B2946E4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72" y="2212"/>
              <a:ext cx="96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it-IT" sz="1200">
                  <a:solidFill>
                    <a:srgbClr val="003C75"/>
                  </a:solidFill>
                </a:rPr>
                <a:t>classic space-time tradeoff</a:t>
              </a:r>
            </a:p>
          </p:txBody>
        </p:sp>
        <p:sp>
          <p:nvSpPr>
            <p:cNvPr id="34827" name="Line 10">
              <a:extLst>
                <a:ext uri="{FF2B5EF4-FFF2-40B4-BE49-F238E27FC236}">
                  <a16:creationId xmlns:a16="http://schemas.microsoft.com/office/drawing/2014/main" id="{2B16681F-64F6-4A90-9019-BAA37B2625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72" y="2208"/>
              <a:ext cx="0" cy="336"/>
            </a:xfrm>
            <a:prstGeom prst="line">
              <a:avLst/>
            </a:prstGeom>
            <a:noFill/>
            <a:ln w="19050">
              <a:solidFill>
                <a:srgbClr val="003C7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34828" name="Freeform 11">
              <a:extLst>
                <a:ext uri="{FF2B5EF4-FFF2-40B4-BE49-F238E27FC236}">
                  <a16:creationId xmlns:a16="http://schemas.microsoft.com/office/drawing/2014/main" id="{7117815C-8A1F-490C-AD27-3FB984E722B0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4" y="2248"/>
              <a:ext cx="528" cy="56"/>
            </a:xfrm>
            <a:custGeom>
              <a:avLst/>
              <a:gdLst>
                <a:gd name="T0" fmla="*/ 0 w 528"/>
                <a:gd name="T1" fmla="*/ 8 h 56"/>
                <a:gd name="T2" fmla="*/ 288 w 528"/>
                <a:gd name="T3" fmla="*/ 8 h 56"/>
                <a:gd name="T4" fmla="*/ 528 w 528"/>
                <a:gd name="T5" fmla="*/ 56 h 56"/>
                <a:gd name="T6" fmla="*/ 0 60000 65536"/>
                <a:gd name="T7" fmla="*/ 0 60000 65536"/>
                <a:gd name="T8" fmla="*/ 0 60000 65536"/>
                <a:gd name="T9" fmla="*/ 0 w 528"/>
                <a:gd name="T10" fmla="*/ 0 h 56"/>
                <a:gd name="T11" fmla="*/ 528 w 528"/>
                <a:gd name="T12" fmla="*/ 56 h 5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28" h="56">
                  <a:moveTo>
                    <a:pt x="0" y="8"/>
                  </a:moveTo>
                  <a:cubicBezTo>
                    <a:pt x="100" y="4"/>
                    <a:pt x="200" y="0"/>
                    <a:pt x="288" y="8"/>
                  </a:cubicBezTo>
                  <a:cubicBezTo>
                    <a:pt x="376" y="16"/>
                    <a:pt x="452" y="36"/>
                    <a:pt x="528" y="56"/>
                  </a:cubicBezTo>
                </a:path>
              </a:pathLst>
            </a:custGeom>
            <a:noFill/>
            <a:ln w="9525">
              <a:solidFill>
                <a:srgbClr val="003C75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>
                <a:solidFill>
                  <a:srgbClr val="003C75"/>
                </a:solidFill>
              </a:endParaRPr>
            </a:p>
          </p:txBody>
        </p:sp>
      </p:grpSp>
      <p:grpSp>
        <p:nvGrpSpPr>
          <p:cNvPr id="34823" name="Group 22">
            <a:extLst>
              <a:ext uri="{FF2B5EF4-FFF2-40B4-BE49-F238E27FC236}">
                <a16:creationId xmlns:a16="http://schemas.microsoft.com/office/drawing/2014/main" id="{F73504ED-95B3-48BF-B3B9-6724A3BFD405}"/>
              </a:ext>
            </a:extLst>
          </p:cNvPr>
          <p:cNvGrpSpPr>
            <a:grpSpLocks/>
          </p:cNvGrpSpPr>
          <p:nvPr/>
        </p:nvGrpSpPr>
        <p:grpSpPr bwMode="auto">
          <a:xfrm>
            <a:off x="6858000" y="5105400"/>
            <a:ext cx="1676400" cy="685800"/>
            <a:chOff x="6858000" y="5105400"/>
            <a:chExt cx="1676400" cy="685800"/>
          </a:xfrm>
        </p:grpSpPr>
        <p:sp>
          <p:nvSpPr>
            <p:cNvPr id="34824" name="TextBox 17">
              <a:extLst>
                <a:ext uri="{FF2B5EF4-FFF2-40B4-BE49-F238E27FC236}">
                  <a16:creationId xmlns:a16="http://schemas.microsoft.com/office/drawing/2014/main" id="{0FB7228D-B710-48FB-832A-7A675980F1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86600" y="5217468"/>
              <a:ext cx="14478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r>
                <a:rPr lang="en-US" altLang="it-IT" sz="1200">
                  <a:solidFill>
                    <a:srgbClr val="003C75"/>
                  </a:solidFill>
                </a:rPr>
                <a:t>Fewer grammars, </a:t>
              </a:r>
            </a:p>
            <a:p>
              <a:r>
                <a:rPr lang="en-US" altLang="it-IT" sz="1200">
                  <a:solidFill>
                    <a:srgbClr val="003C75"/>
                  </a:solidFill>
                </a:rPr>
                <a:t>same languages</a:t>
              </a:r>
            </a:p>
          </p:txBody>
        </p:sp>
        <p:sp>
          <p:nvSpPr>
            <p:cNvPr id="34825" name="Right Brace 21">
              <a:extLst>
                <a:ext uri="{FF2B5EF4-FFF2-40B4-BE49-F238E27FC236}">
                  <a16:creationId xmlns:a16="http://schemas.microsoft.com/office/drawing/2014/main" id="{4AABAE20-E9AE-427F-A856-AB50AC4257AE}"/>
                </a:ext>
              </a:extLst>
            </p:cNvPr>
            <p:cNvSpPr>
              <a:spLocks/>
            </p:cNvSpPr>
            <p:nvPr/>
          </p:nvSpPr>
          <p:spPr bwMode="auto">
            <a:xfrm>
              <a:off x="6858000" y="5105400"/>
              <a:ext cx="152400" cy="685800"/>
            </a:xfrm>
            <a:prstGeom prst="rightBrace">
              <a:avLst>
                <a:gd name="adj1" fmla="val 8333"/>
                <a:gd name="adj2" fmla="val 50000"/>
              </a:avLst>
            </a:prstGeom>
            <a:noFill/>
            <a:ln w="19050" algn="ctr">
              <a:solidFill>
                <a:srgbClr val="003C7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</p:grp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Footer Placeholder 1">
            <a:extLst>
              <a:ext uri="{FF2B5EF4-FFF2-40B4-BE49-F238E27FC236}">
                <a16:creationId xmlns:a16="http://schemas.microsoft.com/office/drawing/2014/main" id="{ACEBCB87-5118-46F7-BE2D-A8A5B7A55F4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36866" name="Slide Number Placeholder 2">
            <a:extLst>
              <a:ext uri="{FF2B5EF4-FFF2-40B4-BE49-F238E27FC236}">
                <a16:creationId xmlns:a16="http://schemas.microsoft.com/office/drawing/2014/main" id="{EC6FFD16-E23A-4E05-B80D-BEB5B0CC9A6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D91F86A2-9B70-4DCE-8BC1-E6E86DB8E287}" type="slidenum">
              <a:rPr lang="en-US" altLang="it-IT"/>
              <a:pPr/>
              <a:t>14</a:t>
            </a:fld>
            <a:endParaRPr lang="en-US" altLang="it-IT"/>
          </a:p>
        </p:txBody>
      </p:sp>
      <p:sp>
        <p:nvSpPr>
          <p:cNvPr id="36867" name="Rectangle 2">
            <a:extLst>
              <a:ext uri="{FF2B5EF4-FFF2-40B4-BE49-F238E27FC236}">
                <a16:creationId xmlns:a16="http://schemas.microsoft.com/office/drawing/2014/main" id="{37D0BDD4-21FF-470C-8B2C-B66E5A8128C8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>
              <a:spcBef>
                <a:spcPct val="100000"/>
              </a:spcBef>
              <a:buFont typeface="Symbol" panose="05050102010706020507" pitchFamily="18" charset="2"/>
              <a:buNone/>
            </a:pPr>
            <a:r>
              <a:rPr lang="en-US" altLang="it-IT">
                <a:sym typeface="Symbol" panose="05050102010706020507" pitchFamily="18" charset="2"/>
              </a:rPr>
              <a:t>Hierarchy of Context-Free Languages</a:t>
            </a:r>
            <a:endParaRPr lang="en-US" altLang="it-IT" sz="2000">
              <a:sym typeface="Symbol" panose="05050102010706020507" pitchFamily="18" charset="2"/>
            </a:endParaRPr>
          </a:p>
        </p:txBody>
      </p:sp>
      <p:grpSp>
        <p:nvGrpSpPr>
          <p:cNvPr id="36868" name="Group 3">
            <a:extLst>
              <a:ext uri="{FF2B5EF4-FFF2-40B4-BE49-F238E27FC236}">
                <a16:creationId xmlns:a16="http://schemas.microsoft.com/office/drawing/2014/main" id="{4399117D-5A92-4872-B1CC-0C77528B5325}"/>
              </a:ext>
            </a:extLst>
          </p:cNvPr>
          <p:cNvGrpSpPr>
            <a:grpSpLocks/>
          </p:cNvGrpSpPr>
          <p:nvPr/>
        </p:nvGrpSpPr>
        <p:grpSpPr bwMode="auto">
          <a:xfrm>
            <a:off x="762000" y="1447800"/>
            <a:ext cx="4838700" cy="3825875"/>
            <a:chOff x="768" y="912"/>
            <a:chExt cx="3048" cy="2410"/>
          </a:xfrm>
        </p:grpSpPr>
        <p:grpSp>
          <p:nvGrpSpPr>
            <p:cNvPr id="36871" name="Group 4">
              <a:extLst>
                <a:ext uri="{FF2B5EF4-FFF2-40B4-BE49-F238E27FC236}">
                  <a16:creationId xmlns:a16="http://schemas.microsoft.com/office/drawing/2014/main" id="{0CCE0A8B-4FCF-47A0-A85B-A00C7DF3700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68" y="912"/>
              <a:ext cx="3048" cy="2410"/>
              <a:chOff x="768" y="912"/>
              <a:chExt cx="3048" cy="2410"/>
            </a:xfrm>
          </p:grpSpPr>
          <p:sp>
            <p:nvSpPr>
              <p:cNvPr id="34827" name="Text Box 5">
                <a:extLst>
                  <a:ext uri="{FF2B5EF4-FFF2-40B4-BE49-F238E27FC236}">
                    <a16:creationId xmlns:a16="http://schemas.microsoft.com/office/drawing/2014/main" id="{2697D646-7263-44F9-B2AC-C197796168B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40" y="912"/>
                <a:ext cx="1872" cy="21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 eaLnBrk="0" hangingPunct="0">
                  <a:spcBef>
                    <a:spcPct val="50000"/>
                  </a:spcBef>
                  <a:defRPr/>
                </a:pPr>
                <a:r>
                  <a:rPr lang="en-US" sz="1600" dirty="0">
                    <a:latin typeface="+mn-lt"/>
                    <a:ea typeface="ヒラギノ角ゴ Pro W3" charset="-128"/>
                    <a:cs typeface="ヒラギノ角ゴ Pro W3" charset="-128"/>
                  </a:rPr>
                  <a:t>Context-free languages</a:t>
                </a:r>
              </a:p>
            </p:txBody>
          </p:sp>
          <p:sp>
            <p:nvSpPr>
              <p:cNvPr id="34828" name="Text Box 6">
                <a:extLst>
                  <a:ext uri="{FF2B5EF4-FFF2-40B4-BE49-F238E27FC236}">
                    <a16:creationId xmlns:a16="http://schemas.microsoft.com/office/drawing/2014/main" id="{6C4345A8-3CF0-4EA0-A8ED-58AA4626D26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24" y="1516"/>
                <a:ext cx="2304" cy="21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 eaLnBrk="0" hangingPunct="0">
                  <a:spcBef>
                    <a:spcPct val="50000"/>
                  </a:spcBef>
                  <a:defRPr/>
                </a:pPr>
                <a:r>
                  <a:rPr lang="en-US" sz="1600">
                    <a:latin typeface="+mn-lt"/>
                    <a:ea typeface="ヒラギノ角ゴ Pro W3" charset="-128"/>
                    <a:cs typeface="ヒラギノ角ゴ Pro W3" charset="-128"/>
                  </a:rPr>
                  <a:t>Deterministic languages  (LR(</a:t>
                </a:r>
                <a:r>
                  <a:rPr lang="en-US" sz="1600" i="1">
                    <a:latin typeface="+mn-lt"/>
                    <a:ea typeface="ヒラギノ角ゴ Pro W3" charset="-128"/>
                    <a:cs typeface="ヒラギノ角ゴ Pro W3" charset="-128"/>
                  </a:rPr>
                  <a:t>k</a:t>
                </a:r>
                <a:r>
                  <a:rPr lang="en-US" sz="1600">
                    <a:latin typeface="+mn-lt"/>
                    <a:ea typeface="ヒラギノ角ゴ Pro W3" charset="-128"/>
                    <a:cs typeface="ヒラギノ角ゴ Pro W3" charset="-128"/>
                  </a:rPr>
                  <a:t>))</a:t>
                </a:r>
              </a:p>
            </p:txBody>
          </p:sp>
          <p:grpSp>
            <p:nvGrpSpPr>
              <p:cNvPr id="36876" name="Group 7">
                <a:extLst>
                  <a:ext uri="{FF2B5EF4-FFF2-40B4-BE49-F238E27FC236}">
                    <a16:creationId xmlns:a16="http://schemas.microsoft.com/office/drawing/2014/main" id="{E09F9E97-EA02-4CE9-AFEB-334F31D2C66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68" y="2304"/>
                <a:ext cx="3048" cy="1018"/>
                <a:chOff x="768" y="2304"/>
                <a:chExt cx="3048" cy="1018"/>
              </a:xfrm>
            </p:grpSpPr>
            <p:sp>
              <p:nvSpPr>
                <p:cNvPr id="34833" name="Text Box 8">
                  <a:extLst>
                    <a:ext uri="{FF2B5EF4-FFF2-40B4-BE49-F238E27FC236}">
                      <a16:creationId xmlns:a16="http://schemas.microsoft.com/office/drawing/2014/main" id="{D10B2037-7B12-4688-82BD-D450EA79BF6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768" y="2304"/>
                  <a:ext cx="1392" cy="21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algn="ctr" eaLnBrk="0" hangingPunct="0">
                    <a:spcBef>
                      <a:spcPct val="50000"/>
                    </a:spcBef>
                    <a:defRPr/>
                  </a:pPr>
                  <a:r>
                    <a:rPr lang="en-US" sz="1600">
                      <a:latin typeface="+mn-lt"/>
                      <a:ea typeface="ヒラギノ角ゴ Pro W3" charset="-128"/>
                      <a:cs typeface="ヒラギノ角ゴ Pro W3" charset="-128"/>
                    </a:rPr>
                    <a:t>LL(</a:t>
                  </a:r>
                  <a:r>
                    <a:rPr lang="en-US" sz="1600" i="1">
                      <a:latin typeface="+mn-lt"/>
                      <a:ea typeface="ヒラギノ角ゴ Pro W3" charset="-128"/>
                      <a:cs typeface="ヒラギノ角ゴ Pro W3" charset="-128"/>
                    </a:rPr>
                    <a:t>k</a:t>
                  </a:r>
                  <a:r>
                    <a:rPr lang="en-US" sz="1600">
                      <a:latin typeface="+mn-lt"/>
                      <a:ea typeface="ヒラギノ角ゴ Pro W3" charset="-128"/>
                      <a:cs typeface="ヒラギノ角ゴ Pro W3" charset="-128"/>
                    </a:rPr>
                    <a:t>) languages</a:t>
                  </a:r>
                </a:p>
              </p:txBody>
            </p:sp>
            <p:sp>
              <p:nvSpPr>
                <p:cNvPr id="34834" name="Text Box 9">
                  <a:extLst>
                    <a:ext uri="{FF2B5EF4-FFF2-40B4-BE49-F238E27FC236}">
                      <a16:creationId xmlns:a16="http://schemas.microsoft.com/office/drawing/2014/main" id="{7B6BD373-6DC0-4FBC-9487-5E741EAAE7E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280" y="2304"/>
                  <a:ext cx="1536" cy="36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algn="ctr" eaLnBrk="0" hangingPunct="0">
                    <a:spcBef>
                      <a:spcPct val="50000"/>
                    </a:spcBef>
                    <a:defRPr/>
                  </a:pPr>
                  <a:r>
                    <a:rPr lang="en-US" sz="1600">
                      <a:latin typeface="+mn-lt"/>
                      <a:ea typeface="ヒラギノ角ゴ Pro W3" charset="-128"/>
                      <a:cs typeface="ヒラギノ角ゴ Pro W3" charset="-128"/>
                    </a:rPr>
                    <a:t>Simple precedence</a:t>
                  </a:r>
                </a:p>
                <a:p>
                  <a:pPr algn="ctr" eaLnBrk="0" hangingPunct="0">
                    <a:defRPr/>
                  </a:pPr>
                  <a:r>
                    <a:rPr lang="en-US" sz="1600">
                      <a:latin typeface="+mn-lt"/>
                      <a:ea typeface="ヒラギノ角ゴ Pro W3" charset="-128"/>
                      <a:cs typeface="ヒラギノ角ゴ Pro W3" charset="-128"/>
                    </a:rPr>
                    <a:t>languages</a:t>
                  </a:r>
                </a:p>
              </p:txBody>
            </p:sp>
            <p:sp>
              <p:nvSpPr>
                <p:cNvPr id="34835" name="Text Box 10">
                  <a:extLst>
                    <a:ext uri="{FF2B5EF4-FFF2-40B4-BE49-F238E27FC236}">
                      <a16:creationId xmlns:a16="http://schemas.microsoft.com/office/drawing/2014/main" id="{46931DF5-AD55-487F-A161-DBA0067D394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768" y="2956"/>
                  <a:ext cx="1392" cy="21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algn="ctr" eaLnBrk="0" hangingPunct="0">
                    <a:spcBef>
                      <a:spcPct val="50000"/>
                    </a:spcBef>
                    <a:defRPr/>
                  </a:pPr>
                  <a:r>
                    <a:rPr lang="en-US" sz="1600">
                      <a:latin typeface="+mn-lt"/>
                      <a:ea typeface="ヒラギノ角ゴ Pro W3" charset="-128"/>
                      <a:cs typeface="ヒラギノ角ゴ Pro W3" charset="-128"/>
                    </a:rPr>
                    <a:t>LL(1) languages</a:t>
                  </a:r>
                </a:p>
              </p:txBody>
            </p:sp>
            <p:sp>
              <p:nvSpPr>
                <p:cNvPr id="34836" name="Text Box 11">
                  <a:extLst>
                    <a:ext uri="{FF2B5EF4-FFF2-40B4-BE49-F238E27FC236}">
                      <a16:creationId xmlns:a16="http://schemas.microsoft.com/office/drawing/2014/main" id="{2DD72716-94A5-4FD5-AE0B-C9A9974F2D5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280" y="2956"/>
                  <a:ext cx="1536" cy="36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algn="ctr" eaLnBrk="0" hangingPunct="0">
                    <a:spcBef>
                      <a:spcPct val="50000"/>
                    </a:spcBef>
                    <a:defRPr/>
                  </a:pPr>
                  <a:r>
                    <a:rPr lang="en-US" sz="1600">
                      <a:latin typeface="+mn-lt"/>
                      <a:ea typeface="ヒラギノ角ゴ Pro W3" charset="-128"/>
                      <a:cs typeface="ヒラギノ角ゴ Pro W3" charset="-128"/>
                    </a:rPr>
                    <a:t>Operator precedence</a:t>
                  </a:r>
                </a:p>
                <a:p>
                  <a:pPr algn="ctr" eaLnBrk="0" hangingPunct="0">
                    <a:defRPr/>
                  </a:pPr>
                  <a:r>
                    <a:rPr lang="en-US" sz="1600">
                      <a:latin typeface="+mn-lt"/>
                      <a:ea typeface="ヒラギノ角ゴ Pro W3" charset="-128"/>
                      <a:cs typeface="ヒラギノ角ゴ Pro W3" charset="-128"/>
                    </a:rPr>
                    <a:t>languages</a:t>
                  </a:r>
                </a:p>
              </p:txBody>
            </p:sp>
          </p:grpSp>
          <p:sp>
            <p:nvSpPr>
              <p:cNvPr id="34830" name="Line 12">
                <a:extLst>
                  <a:ext uri="{FF2B5EF4-FFF2-40B4-BE49-F238E27FC236}">
                    <a16:creationId xmlns:a16="http://schemas.microsoft.com/office/drawing/2014/main" id="{2D82A871-C246-4D9A-B4D6-358A00AB613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56" y="1152"/>
                <a:ext cx="0" cy="3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pPr eaLnBrk="0" hangingPunct="0">
                  <a:defRPr/>
                </a:pPr>
                <a:endParaRPr lang="en-US">
                  <a:latin typeface="+mn-lt"/>
                  <a:ea typeface="ヒラギノ角ゴ Pro W3" charset="-128"/>
                  <a:cs typeface="ヒラギノ角ゴ Pro W3" charset="-128"/>
                </a:endParaRPr>
              </a:p>
            </p:txBody>
          </p:sp>
          <p:sp>
            <p:nvSpPr>
              <p:cNvPr id="34831" name="Line 13">
                <a:extLst>
                  <a:ext uri="{FF2B5EF4-FFF2-40B4-BE49-F238E27FC236}">
                    <a16:creationId xmlns:a16="http://schemas.microsoft.com/office/drawing/2014/main" id="{7B4FEBE1-A73B-4254-8EB8-E7526872860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536" y="1728"/>
                <a:ext cx="672" cy="48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pPr eaLnBrk="0" hangingPunct="0">
                  <a:defRPr/>
                </a:pPr>
                <a:endParaRPr lang="en-US">
                  <a:latin typeface="+mn-lt"/>
                  <a:ea typeface="ヒラギノ角ゴ Pro W3" charset="-128"/>
                  <a:cs typeface="ヒラギノ角ゴ Pro W3" charset="-128"/>
                </a:endParaRPr>
              </a:p>
            </p:txBody>
          </p:sp>
          <p:sp>
            <p:nvSpPr>
              <p:cNvPr id="34832" name="Line 14">
                <a:extLst>
                  <a:ext uri="{FF2B5EF4-FFF2-40B4-BE49-F238E27FC236}">
                    <a16:creationId xmlns:a16="http://schemas.microsoft.com/office/drawing/2014/main" id="{19A16074-F623-4707-AA5B-BCBAD447602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04" y="1728"/>
                <a:ext cx="672" cy="48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pPr eaLnBrk="0" hangingPunct="0">
                  <a:defRPr/>
                </a:pPr>
                <a:endParaRPr lang="en-US">
                  <a:latin typeface="+mn-lt"/>
                  <a:ea typeface="ヒラギノ角ゴ Pro W3" charset="-128"/>
                  <a:cs typeface="ヒラギノ角ゴ Pro W3" charset="-128"/>
                </a:endParaRPr>
              </a:p>
            </p:txBody>
          </p:sp>
        </p:grpSp>
        <p:sp>
          <p:nvSpPr>
            <p:cNvPr id="34825" name="Line 15">
              <a:extLst>
                <a:ext uri="{FF2B5EF4-FFF2-40B4-BE49-F238E27FC236}">
                  <a16:creationId xmlns:a16="http://schemas.microsoft.com/office/drawing/2014/main" id="{308AE6CA-EDFB-4565-A5EA-98F97A786E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0" y="2544"/>
              <a:ext cx="0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pPr eaLnBrk="0" hangingPunct="0">
                <a:defRPr/>
              </a:pPr>
              <a:endParaRPr lang="en-US">
                <a:latin typeface="+mn-lt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34826" name="Line 16">
              <a:extLst>
                <a:ext uri="{FF2B5EF4-FFF2-40B4-BE49-F238E27FC236}">
                  <a16:creationId xmlns:a16="http://schemas.microsoft.com/office/drawing/2014/main" id="{59706789-E8A8-4F99-BF2E-AE2C550E3F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24" y="2653"/>
              <a:ext cx="0" cy="32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pPr eaLnBrk="0" hangingPunct="0">
                <a:defRPr/>
              </a:pPr>
              <a:endParaRPr lang="en-US">
                <a:latin typeface="+mn-lt"/>
                <a:ea typeface="ヒラギノ角ゴ Pro W3" charset="-128"/>
                <a:cs typeface="ヒラギノ角ゴ Pro W3" charset="-128"/>
              </a:endParaRPr>
            </a:p>
          </p:txBody>
        </p:sp>
      </p:grpSp>
      <p:sp>
        <p:nvSpPr>
          <p:cNvPr id="34822" name="AutoShape 17">
            <a:extLst>
              <a:ext uri="{FF2B5EF4-FFF2-40B4-BE49-F238E27FC236}">
                <a16:creationId xmlns:a16="http://schemas.microsoft.com/office/drawing/2014/main" id="{CF88F1C0-CAB3-4A3A-871F-FD3A71277681}"/>
              </a:ext>
            </a:extLst>
          </p:cNvPr>
          <p:cNvSpPr>
            <a:spLocks/>
          </p:cNvSpPr>
          <p:nvPr/>
        </p:nvSpPr>
        <p:spPr bwMode="auto">
          <a:xfrm>
            <a:off x="6705600" y="1981200"/>
            <a:ext cx="1524000" cy="346075"/>
          </a:xfrm>
          <a:prstGeom prst="accentBorderCallout1">
            <a:avLst>
              <a:gd name="adj1" fmla="val 33028"/>
              <a:gd name="adj2" fmla="val -5000"/>
              <a:gd name="adj3" fmla="val 152292"/>
              <a:gd name="adj4" fmla="val -119273"/>
            </a:avLst>
          </a:prstGeom>
          <a:solidFill>
            <a:srgbClr val="BFBFBF"/>
          </a:solidFill>
          <a:ln w="19050" cap="flat" cmpd="sng" algn="ctr">
            <a:solidFill>
              <a:srgbClr val="003C75"/>
            </a:solidFill>
            <a:prstDash val="solid"/>
            <a:miter lim="800000"/>
            <a:headEnd type="none" w="med" len="med"/>
            <a:tailEnd type="triangle" w="med" len="med"/>
          </a:ln>
        </p:spPr>
        <p:txBody>
          <a:bodyPr>
            <a:spAutoFit/>
          </a:bodyPr>
          <a:lstStyle/>
          <a:p>
            <a:pPr algn="ctr" eaLnBrk="0" hangingPunct="0">
              <a:defRPr/>
            </a:pPr>
            <a:r>
              <a:rPr lang="en-US" sz="1600">
                <a:solidFill>
                  <a:srgbClr val="003C75"/>
                </a:solidFill>
                <a:latin typeface="+mn-lt"/>
                <a:ea typeface="ヒラギノ角ゴ Pro W3" charset="-128"/>
                <a:cs typeface="ヒラギノ角ゴ Pro W3" charset="-128"/>
              </a:rPr>
              <a:t>LR(</a:t>
            </a:r>
            <a:r>
              <a:rPr lang="en-US" sz="1600" i="1">
                <a:solidFill>
                  <a:srgbClr val="003C75"/>
                </a:solidFill>
                <a:latin typeface="+mn-lt"/>
                <a:ea typeface="ヒラギノ角ゴ Pro W3" charset="-128"/>
                <a:cs typeface="ヒラギノ角ゴ Pro W3" charset="-128"/>
              </a:rPr>
              <a:t>k</a:t>
            </a:r>
            <a:r>
              <a:rPr lang="en-US" sz="1600">
                <a:solidFill>
                  <a:srgbClr val="003C75"/>
                </a:solidFill>
                <a:latin typeface="+mn-lt"/>
                <a:ea typeface="ヒラギノ角ゴ Pro W3" charset="-128"/>
                <a:cs typeface="ヒラギノ角ゴ Pro W3" charset="-128"/>
              </a:rPr>
              <a:t>) </a:t>
            </a:r>
            <a:r>
              <a:rPr lang="en-US" sz="1600">
                <a:solidFill>
                  <a:srgbClr val="003C75"/>
                </a:solidFill>
                <a:latin typeface="+mn-lt"/>
                <a:ea typeface="ヒラギノ角ゴ Pro W3" charset="-128"/>
                <a:cs typeface="ヒラギノ角ゴ Pro W3" charset="-128"/>
                <a:sym typeface="Symbol" charset="2"/>
              </a:rPr>
              <a:t> LR(1)</a:t>
            </a:r>
          </a:p>
        </p:txBody>
      </p:sp>
      <p:sp>
        <p:nvSpPr>
          <p:cNvPr id="36870" name="Text Box 18">
            <a:extLst>
              <a:ext uri="{FF2B5EF4-FFF2-40B4-BE49-F238E27FC236}">
                <a16:creationId xmlns:a16="http://schemas.microsoft.com/office/drawing/2014/main" id="{3D76E8CF-79F4-468D-9DD0-3A0847E0DF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5400" y="5746750"/>
            <a:ext cx="32004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 algn="ctr">
              <a:spcBef>
                <a:spcPct val="10000"/>
              </a:spcBef>
            </a:pPr>
            <a:r>
              <a:rPr lang="en-US" altLang="it-IT" i="1">
                <a:solidFill>
                  <a:srgbClr val="003C75"/>
                </a:solidFill>
              </a:rPr>
              <a:t>The inclusion hierarchy for context-free </a:t>
            </a:r>
            <a:r>
              <a:rPr lang="en-US" altLang="it-IT" i="1" u="sng">
                <a:solidFill>
                  <a:srgbClr val="003C75"/>
                </a:solidFill>
              </a:rPr>
              <a:t>languages</a:t>
            </a:r>
            <a:endParaRPr lang="en-US" altLang="it-IT" i="1">
              <a:solidFill>
                <a:srgbClr val="003C75"/>
              </a:solidFill>
            </a:endParaRPr>
          </a:p>
        </p:txBody>
      </p:sp>
    </p:spTree>
  </p:cSld>
  <p:clrMapOvr>
    <a:masterClrMapping/>
  </p:clrMapOvr>
  <p:transition>
    <p:wipe dir="r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Footer Placeholder 1">
            <a:extLst>
              <a:ext uri="{FF2B5EF4-FFF2-40B4-BE49-F238E27FC236}">
                <a16:creationId xmlns:a16="http://schemas.microsoft.com/office/drawing/2014/main" id="{49D2634D-7B6C-4E1A-8012-3392973DAD5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38914" name="Slide Number Placeholder 2">
            <a:extLst>
              <a:ext uri="{FF2B5EF4-FFF2-40B4-BE49-F238E27FC236}">
                <a16:creationId xmlns:a16="http://schemas.microsoft.com/office/drawing/2014/main" id="{23CD349D-18FA-4ADB-A6AC-7E108E5AC0D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99CDF469-8635-497E-B830-B6760D763E98}" type="slidenum">
              <a:rPr lang="en-US" altLang="it-IT"/>
              <a:pPr/>
              <a:t>15</a:t>
            </a:fld>
            <a:endParaRPr lang="en-US" altLang="it-IT"/>
          </a:p>
        </p:txBody>
      </p:sp>
      <p:sp>
        <p:nvSpPr>
          <p:cNvPr id="38915" name="Rectangle 2">
            <a:extLst>
              <a:ext uri="{FF2B5EF4-FFF2-40B4-BE49-F238E27FC236}">
                <a16:creationId xmlns:a16="http://schemas.microsoft.com/office/drawing/2014/main" id="{ED868196-B491-41D2-B367-F2E5D52ACD0C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>
              <a:spcBef>
                <a:spcPct val="100000"/>
              </a:spcBef>
              <a:buFont typeface="Symbol" panose="05050102010706020507" pitchFamily="18" charset="2"/>
              <a:buNone/>
            </a:pPr>
            <a:r>
              <a:rPr lang="en-US" altLang="it-IT">
                <a:sym typeface="Symbol" panose="05050102010706020507" pitchFamily="18" charset="2"/>
              </a:rPr>
              <a:t>Hierarchy of Context-Free Grammars</a:t>
            </a:r>
            <a:endParaRPr lang="en-US" altLang="it-IT" sz="2000">
              <a:sym typeface="Symbol" panose="05050102010706020507" pitchFamily="18" charset="2"/>
            </a:endParaRPr>
          </a:p>
        </p:txBody>
      </p:sp>
      <p:sp>
        <p:nvSpPr>
          <p:cNvPr id="38916" name="Text Box 3">
            <a:extLst>
              <a:ext uri="{FF2B5EF4-FFF2-40B4-BE49-F238E27FC236}">
                <a16:creationId xmlns:a16="http://schemas.microsoft.com/office/drawing/2014/main" id="{5BF279CF-8A2F-424C-A5C8-405C799510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1600" y="5791200"/>
            <a:ext cx="32004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 algn="ctr"/>
            <a:r>
              <a:rPr lang="en-US" altLang="it-IT" i="1">
                <a:solidFill>
                  <a:srgbClr val="003C75"/>
                </a:solidFill>
              </a:rPr>
              <a:t>The inclusion hierarchy for</a:t>
            </a:r>
          </a:p>
          <a:p>
            <a:pPr algn="ctr"/>
            <a:r>
              <a:rPr lang="en-US" altLang="it-IT" i="1">
                <a:solidFill>
                  <a:srgbClr val="003C75"/>
                </a:solidFill>
              </a:rPr>
              <a:t>context-free </a:t>
            </a:r>
            <a:r>
              <a:rPr lang="en-US" altLang="it-IT" i="1" u="sng">
                <a:solidFill>
                  <a:srgbClr val="003C75"/>
                </a:solidFill>
              </a:rPr>
              <a:t>grammars</a:t>
            </a:r>
            <a:endParaRPr lang="en-US" altLang="it-IT">
              <a:solidFill>
                <a:srgbClr val="003C75"/>
              </a:solidFill>
            </a:endParaRPr>
          </a:p>
        </p:txBody>
      </p:sp>
      <p:sp>
        <p:nvSpPr>
          <p:cNvPr id="36870" name="Text Box 4">
            <a:extLst>
              <a:ext uri="{FF2B5EF4-FFF2-40B4-BE49-F238E27FC236}">
                <a16:creationId xmlns:a16="http://schemas.microsoft.com/office/drawing/2014/main" id="{8334E769-C596-4DA1-8323-61571494F4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0200" y="3781425"/>
            <a:ext cx="3276600" cy="1323975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marL="168275" indent="-168275" eaLnBrk="0" hangingPunct="0">
              <a:spcBef>
                <a:spcPct val="50000"/>
              </a:spcBef>
              <a:buClr>
                <a:srgbClr val="003C75"/>
              </a:buClr>
              <a:buSzPct val="120000"/>
              <a:buFontTx/>
              <a:buChar char="•"/>
              <a:defRPr/>
            </a:pPr>
            <a:r>
              <a:rPr lang="en-US" sz="1600" dirty="0">
                <a:solidFill>
                  <a:srgbClr val="003C75"/>
                </a:solidFill>
                <a:latin typeface="+mn-lt"/>
                <a:ea typeface="ヒラギノ角ゴ Pro W3" charset="-128"/>
                <a:cs typeface="ヒラギノ角ゴ Pro W3" charset="-128"/>
              </a:rPr>
              <a:t>Operator precedence includes some ambiguous grammars</a:t>
            </a:r>
          </a:p>
          <a:p>
            <a:pPr marL="168275" indent="-168275" eaLnBrk="0" hangingPunct="0">
              <a:spcBef>
                <a:spcPct val="50000"/>
              </a:spcBef>
              <a:buClr>
                <a:srgbClr val="003C75"/>
              </a:buClr>
              <a:buSzPct val="120000"/>
              <a:buFontTx/>
              <a:buChar char="•"/>
              <a:defRPr/>
            </a:pPr>
            <a:r>
              <a:rPr lang="en-US" sz="1600" dirty="0">
                <a:solidFill>
                  <a:srgbClr val="003C75"/>
                </a:solidFill>
                <a:latin typeface="+mn-lt"/>
                <a:ea typeface="ヒラギノ角ゴ Pro W3" charset="-128"/>
                <a:cs typeface="ヒラギノ角ゴ Pro W3" charset="-128"/>
              </a:rPr>
              <a:t>Note sub-categories of LR(1)</a:t>
            </a:r>
          </a:p>
          <a:p>
            <a:pPr marL="168275" indent="-168275" eaLnBrk="0" hangingPunct="0">
              <a:spcBef>
                <a:spcPct val="50000"/>
              </a:spcBef>
              <a:buClr>
                <a:srgbClr val="003C75"/>
              </a:buClr>
              <a:buSzPct val="120000"/>
              <a:buFontTx/>
              <a:buChar char="•"/>
              <a:defRPr/>
            </a:pPr>
            <a:r>
              <a:rPr lang="en-US" sz="1600" dirty="0">
                <a:solidFill>
                  <a:srgbClr val="003C75"/>
                </a:solidFill>
                <a:latin typeface="+mn-lt"/>
                <a:ea typeface="ヒラギノ角ゴ Pro W3" charset="-128"/>
                <a:cs typeface="ヒラギノ角ゴ Pro W3" charset="-128"/>
              </a:rPr>
              <a:t>LL(1) is a subset of SLR</a:t>
            </a:r>
            <a:r>
              <a:rPr lang="en-US" sz="1400" dirty="0">
                <a:solidFill>
                  <a:srgbClr val="003C75"/>
                </a:solidFill>
                <a:latin typeface="Arial Rounded MT Bold" charset="0"/>
                <a:ea typeface="ヒラギノ角ゴ Pro W3" charset="-128"/>
                <a:cs typeface="ヒラギノ角ゴ Pro W3" charset="-128"/>
              </a:rPr>
              <a:t>(1)</a:t>
            </a:r>
            <a:endParaRPr lang="en-US" sz="1600" dirty="0">
              <a:solidFill>
                <a:srgbClr val="003C75"/>
              </a:solidFill>
              <a:latin typeface="Arial Rounded MT Bold" charset="0"/>
              <a:ea typeface="ヒラギノ角ゴ Pro W3" charset="-128"/>
              <a:cs typeface="ヒラギノ角ゴ Pro W3" charset="-128"/>
            </a:endParaRPr>
          </a:p>
        </p:txBody>
      </p:sp>
      <p:grpSp>
        <p:nvGrpSpPr>
          <p:cNvPr id="38918" name="Group 5">
            <a:extLst>
              <a:ext uri="{FF2B5EF4-FFF2-40B4-BE49-F238E27FC236}">
                <a16:creationId xmlns:a16="http://schemas.microsoft.com/office/drawing/2014/main" id="{3F25753C-8378-401E-9E76-E1F9E4B23517}"/>
              </a:ext>
            </a:extLst>
          </p:cNvPr>
          <p:cNvGrpSpPr>
            <a:grpSpLocks/>
          </p:cNvGrpSpPr>
          <p:nvPr/>
        </p:nvGrpSpPr>
        <p:grpSpPr bwMode="auto">
          <a:xfrm>
            <a:off x="685800" y="1524000"/>
            <a:ext cx="5638800" cy="4298950"/>
            <a:chOff x="432" y="960"/>
            <a:chExt cx="3552" cy="2708"/>
          </a:xfrm>
        </p:grpSpPr>
        <p:sp>
          <p:nvSpPr>
            <p:cNvPr id="36872" name="Text Box 6">
              <a:extLst>
                <a:ext uri="{FF2B5EF4-FFF2-40B4-BE49-F238E27FC236}">
                  <a16:creationId xmlns:a16="http://schemas.microsoft.com/office/drawing/2014/main" id="{267362E1-A9AC-4DAF-91CC-3E79A894C8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96" y="960"/>
              <a:ext cx="1824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  <a:defRPr/>
              </a:pPr>
              <a:r>
                <a:rPr lang="en-US" sz="1600" dirty="0">
                  <a:latin typeface="+mn-lt"/>
                  <a:ea typeface="ヒラギノ角ゴ Pro W3" charset="-128"/>
                  <a:cs typeface="ヒラギノ角ゴ Pro W3" charset="-128"/>
                </a:rPr>
                <a:t>Context-free grammars</a:t>
              </a:r>
            </a:p>
          </p:txBody>
        </p:sp>
        <p:sp>
          <p:nvSpPr>
            <p:cNvPr id="36873" name="Text Box 7">
              <a:extLst>
                <a:ext uri="{FF2B5EF4-FFF2-40B4-BE49-F238E27FC236}">
                  <a16:creationId xmlns:a16="http://schemas.microsoft.com/office/drawing/2014/main" id="{EC31BF4E-09CC-466A-AB6A-399A089A43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80" y="1440"/>
              <a:ext cx="1056" cy="3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  <a:defRPr/>
              </a:pPr>
              <a:r>
                <a:rPr lang="en-US" sz="1600">
                  <a:latin typeface="+mn-lt"/>
                  <a:ea typeface="ヒラギノ角ゴ Pro W3" charset="-128"/>
                  <a:cs typeface="ヒラギノ角ゴ Pro W3" charset="-128"/>
                </a:rPr>
                <a:t>Unambiguous</a:t>
              </a:r>
            </a:p>
            <a:p>
              <a:pPr algn="ctr" eaLnBrk="0" hangingPunct="0">
                <a:defRPr/>
              </a:pPr>
              <a:r>
                <a:rPr lang="en-US" sz="1600">
                  <a:latin typeface="+mn-lt"/>
                  <a:ea typeface="ヒラギノ角ゴ Pro W3" charset="-128"/>
                  <a:cs typeface="ヒラギノ角ゴ Pro W3" charset="-128"/>
                </a:rPr>
                <a:t>CFGs</a:t>
              </a:r>
            </a:p>
          </p:txBody>
        </p:sp>
        <p:sp>
          <p:nvSpPr>
            <p:cNvPr id="36874" name="Text Box 8">
              <a:extLst>
                <a:ext uri="{FF2B5EF4-FFF2-40B4-BE49-F238E27FC236}">
                  <a16:creationId xmlns:a16="http://schemas.microsoft.com/office/drawing/2014/main" id="{2212146A-E386-41A3-A889-09EDAF53D0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28" y="1440"/>
              <a:ext cx="1056" cy="3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  <a:defRPr/>
              </a:pPr>
              <a:r>
                <a:rPr lang="en-US" sz="1600">
                  <a:latin typeface="+mn-lt"/>
                  <a:ea typeface="ヒラギノ角ゴ Pro W3" charset="-128"/>
                  <a:cs typeface="ヒラギノ角ゴ Pro W3" charset="-128"/>
                </a:rPr>
                <a:t>Operator</a:t>
              </a:r>
            </a:p>
            <a:p>
              <a:pPr algn="ctr" eaLnBrk="0" hangingPunct="0">
                <a:defRPr/>
              </a:pPr>
              <a:r>
                <a:rPr lang="en-US" sz="1600">
                  <a:latin typeface="+mn-lt"/>
                  <a:ea typeface="ヒラギノ角ゴ Pro W3" charset="-128"/>
                  <a:cs typeface="ヒラギノ角ゴ Pro W3" charset="-128"/>
                </a:rPr>
                <a:t>Precedence </a:t>
              </a:r>
            </a:p>
          </p:txBody>
        </p:sp>
        <p:sp>
          <p:nvSpPr>
            <p:cNvPr id="36875" name="Text Box 9">
              <a:extLst>
                <a:ext uri="{FF2B5EF4-FFF2-40B4-BE49-F238E27FC236}">
                  <a16:creationId xmlns:a16="http://schemas.microsoft.com/office/drawing/2014/main" id="{AD64D073-0FC0-443E-9ADC-1AE7B5BCCE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" y="1440"/>
              <a:ext cx="1056" cy="3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  <a:defRPr/>
              </a:pPr>
              <a:r>
                <a:rPr lang="en-US" sz="1600">
                  <a:latin typeface="+mn-lt"/>
                  <a:ea typeface="ヒラギノ角ゴ Pro W3" charset="-128"/>
                  <a:cs typeface="ヒラギノ角ゴ Pro W3" charset="-128"/>
                </a:rPr>
                <a:t>Floyd-Evans</a:t>
              </a:r>
            </a:p>
            <a:p>
              <a:pPr algn="ctr" eaLnBrk="0" hangingPunct="0">
                <a:defRPr/>
              </a:pPr>
              <a:r>
                <a:rPr lang="en-US" sz="1600">
                  <a:latin typeface="+mn-lt"/>
                  <a:ea typeface="ヒラギノ角ゴ Pro W3" charset="-128"/>
                  <a:cs typeface="ヒラギノ角ゴ Pro W3" charset="-128"/>
                </a:rPr>
                <a:t>Parsable </a:t>
              </a:r>
            </a:p>
          </p:txBody>
        </p:sp>
        <p:sp>
          <p:nvSpPr>
            <p:cNvPr id="36876" name="Text Box 10">
              <a:extLst>
                <a:ext uri="{FF2B5EF4-FFF2-40B4-BE49-F238E27FC236}">
                  <a16:creationId xmlns:a16="http://schemas.microsoft.com/office/drawing/2014/main" id="{44AF9C82-3E74-4D00-A1A0-B2F8A3D1EB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68" y="1920"/>
              <a:ext cx="480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  <a:defRPr/>
              </a:pPr>
              <a:r>
                <a:rPr lang="en-US" sz="1600">
                  <a:latin typeface="+mn-lt"/>
                  <a:ea typeface="ヒラギノ角ゴ Pro W3" charset="-128"/>
                  <a:cs typeface="ヒラギノ角ゴ Pro W3" charset="-128"/>
                </a:rPr>
                <a:t>LR(</a:t>
              </a:r>
              <a:r>
                <a:rPr lang="en-US" sz="1600" i="1">
                  <a:latin typeface="+mn-lt"/>
                  <a:ea typeface="ヒラギノ角ゴ Pro W3" charset="-128"/>
                  <a:cs typeface="ヒラギノ角ゴ Pro W3" charset="-128"/>
                </a:rPr>
                <a:t>k</a:t>
              </a:r>
              <a:r>
                <a:rPr lang="en-US" sz="1600">
                  <a:latin typeface="+mn-lt"/>
                  <a:ea typeface="ヒラギノ角ゴ Pro W3" charset="-128"/>
                  <a:cs typeface="ヒラギノ角ゴ Pro W3" charset="-128"/>
                </a:rPr>
                <a:t>)</a:t>
              </a:r>
            </a:p>
          </p:txBody>
        </p:sp>
        <p:sp>
          <p:nvSpPr>
            <p:cNvPr id="36877" name="Text Box 11">
              <a:extLst>
                <a:ext uri="{FF2B5EF4-FFF2-40B4-BE49-F238E27FC236}">
                  <a16:creationId xmlns:a16="http://schemas.microsoft.com/office/drawing/2014/main" id="{59E9C3B5-6F36-46DB-A307-EB7424C211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68" y="2304"/>
              <a:ext cx="480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  <a:defRPr/>
              </a:pPr>
              <a:r>
                <a:rPr lang="en-US" sz="1600">
                  <a:latin typeface="+mn-lt"/>
                  <a:ea typeface="ヒラギノ角ゴ Pro W3" charset="-128"/>
                  <a:cs typeface="ヒラギノ角ゴ Pro W3" charset="-128"/>
                </a:rPr>
                <a:t>LR(1)</a:t>
              </a:r>
            </a:p>
          </p:txBody>
        </p:sp>
        <p:sp>
          <p:nvSpPr>
            <p:cNvPr id="36878" name="Text Box 12">
              <a:extLst>
                <a:ext uri="{FF2B5EF4-FFF2-40B4-BE49-F238E27FC236}">
                  <a16:creationId xmlns:a16="http://schemas.microsoft.com/office/drawing/2014/main" id="{F7D8A7D9-6FD8-4383-985C-DCF701B091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2" y="2688"/>
              <a:ext cx="672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  <a:defRPr/>
              </a:pPr>
              <a:r>
                <a:rPr lang="en-US" sz="1600">
                  <a:latin typeface="+mn-lt"/>
                  <a:ea typeface="ヒラギノ角ゴ Pro W3" charset="-128"/>
                  <a:cs typeface="ヒラギノ角ゴ Pro W3" charset="-128"/>
                </a:rPr>
                <a:t>LALR(1)</a:t>
              </a:r>
            </a:p>
          </p:txBody>
        </p:sp>
        <p:sp>
          <p:nvSpPr>
            <p:cNvPr id="36879" name="Text Box 13">
              <a:extLst>
                <a:ext uri="{FF2B5EF4-FFF2-40B4-BE49-F238E27FC236}">
                  <a16:creationId xmlns:a16="http://schemas.microsoft.com/office/drawing/2014/main" id="{D1A852E7-9222-43C0-8B80-B4801D6604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2" y="3072"/>
              <a:ext cx="672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  <a:defRPr/>
              </a:pPr>
              <a:r>
                <a:rPr lang="en-US" sz="1600">
                  <a:latin typeface="+mn-lt"/>
                  <a:ea typeface="ヒラギノ角ゴ Pro W3" charset="-128"/>
                  <a:cs typeface="ヒラギノ角ゴ Pro W3" charset="-128"/>
                </a:rPr>
                <a:t>SLR(1)</a:t>
              </a:r>
            </a:p>
          </p:txBody>
        </p:sp>
        <p:sp>
          <p:nvSpPr>
            <p:cNvPr id="36880" name="Text Box 14">
              <a:extLst>
                <a:ext uri="{FF2B5EF4-FFF2-40B4-BE49-F238E27FC236}">
                  <a16:creationId xmlns:a16="http://schemas.microsoft.com/office/drawing/2014/main" id="{AA0A5029-7AFB-4259-BAAA-43A408515A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2" y="3456"/>
              <a:ext cx="672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  <a:defRPr/>
              </a:pPr>
              <a:r>
                <a:rPr lang="en-US" sz="1600">
                  <a:latin typeface="+mn-lt"/>
                  <a:ea typeface="ヒラギノ角ゴ Pro W3" charset="-128"/>
                  <a:cs typeface="ヒラギノ角ゴ Pro W3" charset="-128"/>
                </a:rPr>
                <a:t>LR(0)</a:t>
              </a:r>
            </a:p>
          </p:txBody>
        </p:sp>
        <p:sp>
          <p:nvSpPr>
            <p:cNvPr id="36881" name="Line 15">
              <a:extLst>
                <a:ext uri="{FF2B5EF4-FFF2-40B4-BE49-F238E27FC236}">
                  <a16:creationId xmlns:a16="http://schemas.microsoft.com/office/drawing/2014/main" id="{CEB29A76-BCCA-48DF-AAD4-4433B4032C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8" y="1152"/>
              <a:ext cx="0" cy="3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pPr eaLnBrk="0" hangingPunct="0">
                <a:defRPr/>
              </a:pPr>
              <a:endParaRPr lang="en-US">
                <a:latin typeface="+mn-lt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36882" name="Line 16">
              <a:extLst>
                <a:ext uri="{FF2B5EF4-FFF2-40B4-BE49-F238E27FC236}">
                  <a16:creationId xmlns:a16="http://schemas.microsoft.com/office/drawing/2014/main" id="{4EFD8A03-A147-47B8-AEDB-CA6AB68AB3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8" y="1776"/>
              <a:ext cx="0" cy="17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pPr eaLnBrk="0" hangingPunct="0">
                <a:defRPr/>
              </a:pPr>
              <a:endParaRPr lang="en-US">
                <a:latin typeface="+mn-lt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36883" name="Line 17">
              <a:extLst>
                <a:ext uri="{FF2B5EF4-FFF2-40B4-BE49-F238E27FC236}">
                  <a16:creationId xmlns:a16="http://schemas.microsoft.com/office/drawing/2014/main" id="{E441ACF7-791B-4475-BE14-F3110B6815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8" y="2160"/>
              <a:ext cx="0" cy="17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pPr eaLnBrk="0" hangingPunct="0">
                <a:defRPr/>
              </a:pPr>
              <a:endParaRPr lang="en-US">
                <a:latin typeface="+mn-lt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36884" name="Line 18">
              <a:extLst>
                <a:ext uri="{FF2B5EF4-FFF2-40B4-BE49-F238E27FC236}">
                  <a16:creationId xmlns:a16="http://schemas.microsoft.com/office/drawing/2014/main" id="{C2721B30-3AD2-418F-80F4-37DAA0A2D5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8" y="2544"/>
              <a:ext cx="0" cy="17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pPr eaLnBrk="0" hangingPunct="0">
                <a:defRPr/>
              </a:pPr>
              <a:endParaRPr lang="en-US">
                <a:latin typeface="+mn-lt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36885" name="Line 19">
              <a:extLst>
                <a:ext uri="{FF2B5EF4-FFF2-40B4-BE49-F238E27FC236}">
                  <a16:creationId xmlns:a16="http://schemas.microsoft.com/office/drawing/2014/main" id="{6F94C592-DBBC-4507-B1CE-BDDC132266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8" y="2928"/>
              <a:ext cx="0" cy="17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pPr eaLnBrk="0" hangingPunct="0">
                <a:defRPr/>
              </a:pPr>
              <a:endParaRPr lang="en-US">
                <a:latin typeface="+mn-lt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36886" name="Line 20">
              <a:extLst>
                <a:ext uri="{FF2B5EF4-FFF2-40B4-BE49-F238E27FC236}">
                  <a16:creationId xmlns:a16="http://schemas.microsoft.com/office/drawing/2014/main" id="{8AC7E411-6AA8-4AB2-A918-E3ADB6B7A2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8" y="3264"/>
              <a:ext cx="0" cy="17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pPr eaLnBrk="0" hangingPunct="0">
                <a:defRPr/>
              </a:pPr>
              <a:endParaRPr lang="en-US">
                <a:latin typeface="+mn-lt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36887" name="Line 21">
              <a:extLst>
                <a:ext uri="{FF2B5EF4-FFF2-40B4-BE49-F238E27FC236}">
                  <a16:creationId xmlns:a16="http://schemas.microsoft.com/office/drawing/2014/main" id="{40E18345-31E2-4321-8FC7-39EF7CE56E6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08" y="1152"/>
              <a:ext cx="1152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pPr eaLnBrk="0" hangingPunct="0">
                <a:defRPr/>
              </a:pPr>
              <a:endParaRPr lang="en-US">
                <a:latin typeface="+mn-lt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36888" name="Line 22">
              <a:extLst>
                <a:ext uri="{FF2B5EF4-FFF2-40B4-BE49-F238E27FC236}">
                  <a16:creationId xmlns:a16="http://schemas.microsoft.com/office/drawing/2014/main" id="{8E0B8F35-AFFD-45C9-B0F5-F1D667077C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56" y="1152"/>
              <a:ext cx="1152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pPr eaLnBrk="0" hangingPunct="0">
                <a:defRPr/>
              </a:pPr>
              <a:endParaRPr lang="en-US">
                <a:latin typeface="+mn-lt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36889" name="Text Box 23">
              <a:extLst>
                <a:ext uri="{FF2B5EF4-FFF2-40B4-BE49-F238E27FC236}">
                  <a16:creationId xmlns:a16="http://schemas.microsoft.com/office/drawing/2014/main" id="{AAAF578C-8C50-4340-A299-2477F9AD16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88" y="2319"/>
              <a:ext cx="480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  <a:defRPr/>
              </a:pPr>
              <a:r>
                <a:rPr lang="en-US" sz="1600">
                  <a:latin typeface="+mn-lt"/>
                  <a:ea typeface="ヒラギノ角ゴ Pro W3" charset="-128"/>
                  <a:cs typeface="ヒラギノ角ゴ Pro W3" charset="-128"/>
                </a:rPr>
                <a:t>LL(</a:t>
              </a:r>
              <a:r>
                <a:rPr lang="en-US" sz="1600" i="1">
                  <a:latin typeface="+mn-lt"/>
                  <a:ea typeface="ヒラギノ角ゴ Pro W3" charset="-128"/>
                  <a:cs typeface="ヒラギノ角ゴ Pro W3" charset="-128"/>
                </a:rPr>
                <a:t>k</a:t>
              </a:r>
              <a:r>
                <a:rPr lang="en-US" sz="1600">
                  <a:latin typeface="+mn-lt"/>
                  <a:ea typeface="ヒラギノ角ゴ Pro W3" charset="-128"/>
                  <a:cs typeface="ヒラギノ角ゴ Pro W3" charset="-128"/>
                </a:rPr>
                <a:t>)</a:t>
              </a:r>
            </a:p>
          </p:txBody>
        </p:sp>
        <p:sp>
          <p:nvSpPr>
            <p:cNvPr id="36890" name="Text Box 24">
              <a:extLst>
                <a:ext uri="{FF2B5EF4-FFF2-40B4-BE49-F238E27FC236}">
                  <a16:creationId xmlns:a16="http://schemas.microsoft.com/office/drawing/2014/main" id="{8823BFD4-899D-4116-89C4-7A79958AF9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88" y="3340"/>
              <a:ext cx="480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  <a:defRPr/>
              </a:pPr>
              <a:r>
                <a:rPr lang="en-US" sz="1600">
                  <a:latin typeface="+mn-lt"/>
                  <a:ea typeface="ヒラギノ角ゴ Pro W3" charset="-128"/>
                  <a:cs typeface="ヒラギノ角ゴ Pro W3" charset="-128"/>
                </a:rPr>
                <a:t>LL(1)</a:t>
              </a:r>
            </a:p>
          </p:txBody>
        </p:sp>
        <p:sp>
          <p:nvSpPr>
            <p:cNvPr id="36891" name="Line 25">
              <a:extLst>
                <a:ext uri="{FF2B5EF4-FFF2-40B4-BE49-F238E27FC236}">
                  <a16:creationId xmlns:a16="http://schemas.microsoft.com/office/drawing/2014/main" id="{14158021-837C-4CAB-A9CB-EEA02590EA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56" y="2160"/>
              <a:ext cx="672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pPr eaLnBrk="0" hangingPunct="0">
                <a:defRPr/>
              </a:pPr>
              <a:endParaRPr lang="en-US">
                <a:latin typeface="+mn-lt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36892" name="Line 26">
              <a:extLst>
                <a:ext uri="{FF2B5EF4-FFF2-40B4-BE49-F238E27FC236}">
                  <a16:creationId xmlns:a16="http://schemas.microsoft.com/office/drawing/2014/main" id="{E82E9585-BD30-4EE9-BB0C-217083B5E5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24" y="2544"/>
              <a:ext cx="0" cy="8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pPr eaLnBrk="0" hangingPunct="0">
                <a:defRPr/>
              </a:pPr>
              <a:endParaRPr lang="en-US">
                <a:latin typeface="+mn-lt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36893" name="Line 27">
              <a:extLst>
                <a:ext uri="{FF2B5EF4-FFF2-40B4-BE49-F238E27FC236}">
                  <a16:creationId xmlns:a16="http://schemas.microsoft.com/office/drawing/2014/main" id="{A9E47DB1-B19B-4A72-837A-3EE9DF0A3B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56" y="3264"/>
              <a:ext cx="576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pPr eaLnBrk="0" hangingPunct="0">
                <a:defRPr/>
              </a:pPr>
              <a:endParaRPr lang="en-US">
                <a:latin typeface="+mn-lt"/>
                <a:ea typeface="ヒラギノ角ゴ Pro W3" charset="-128"/>
                <a:cs typeface="ヒラギノ角ゴ Pro W3" charset="-128"/>
              </a:endParaRPr>
            </a:p>
          </p:txBody>
        </p:sp>
      </p:grpSp>
    </p:spTree>
  </p:cSld>
  <p:clrMapOvr>
    <a:masterClrMapping/>
  </p:clrMapOvr>
  <p:transition>
    <p:wipe dir="r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Footer Placeholder 1">
            <a:extLst>
              <a:ext uri="{FF2B5EF4-FFF2-40B4-BE49-F238E27FC236}">
                <a16:creationId xmlns:a16="http://schemas.microsoft.com/office/drawing/2014/main" id="{AB1AD9FE-599B-414C-B9EB-BAEE5655F1E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40962" name="Slide Number Placeholder 2">
            <a:extLst>
              <a:ext uri="{FF2B5EF4-FFF2-40B4-BE49-F238E27FC236}">
                <a16:creationId xmlns:a16="http://schemas.microsoft.com/office/drawing/2014/main" id="{CF575072-705D-4D47-974C-C291BBC46D5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BB08BA3C-A3A0-4DA0-AE5B-4258F4C59B72}" type="slidenum">
              <a:rPr lang="en-US" altLang="it-IT"/>
              <a:pPr/>
              <a:t>16</a:t>
            </a:fld>
            <a:endParaRPr lang="en-US" altLang="it-IT"/>
          </a:p>
        </p:txBody>
      </p:sp>
      <p:sp>
        <p:nvSpPr>
          <p:cNvPr id="40963" name="Rectangle 2">
            <a:extLst>
              <a:ext uri="{FF2B5EF4-FFF2-40B4-BE49-F238E27FC236}">
                <a16:creationId xmlns:a16="http://schemas.microsoft.com/office/drawing/2014/main" id="{DDCCAC2C-C948-4721-8518-DF318FA12884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>
              <a:spcBef>
                <a:spcPct val="30000"/>
              </a:spcBef>
            </a:pPr>
            <a:r>
              <a:rPr lang="en-US" altLang="it-IT">
                <a:sym typeface="Symbol" panose="05050102010706020507" pitchFamily="18" charset="2"/>
              </a:rPr>
              <a:t>Summary</a:t>
            </a:r>
          </a:p>
        </p:txBody>
      </p:sp>
      <p:grpSp>
        <p:nvGrpSpPr>
          <p:cNvPr id="40964" name="Group 12">
            <a:extLst>
              <a:ext uri="{FF2B5EF4-FFF2-40B4-BE49-F238E27FC236}">
                <a16:creationId xmlns:a16="http://schemas.microsoft.com/office/drawing/2014/main" id="{11DD4FAB-6174-4BBD-8A4A-1DE12AC036DD}"/>
              </a:ext>
            </a:extLst>
          </p:cNvPr>
          <p:cNvGrpSpPr>
            <a:grpSpLocks/>
          </p:cNvGrpSpPr>
          <p:nvPr/>
        </p:nvGrpSpPr>
        <p:grpSpPr bwMode="auto">
          <a:xfrm>
            <a:off x="1066800" y="1447800"/>
            <a:ext cx="6477000" cy="3810000"/>
            <a:chOff x="672" y="912"/>
            <a:chExt cx="4080" cy="2400"/>
          </a:xfrm>
        </p:grpSpPr>
        <p:sp>
          <p:nvSpPr>
            <p:cNvPr id="40965" name="Text Box 4">
              <a:extLst>
                <a:ext uri="{FF2B5EF4-FFF2-40B4-BE49-F238E27FC236}">
                  <a16:creationId xmlns:a16="http://schemas.microsoft.com/office/drawing/2014/main" id="{FBE8991D-4A60-4164-BAE9-8E35B6B1C1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960"/>
              <a:ext cx="1488" cy="21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it-IT" i="1"/>
                <a:t>Advantages</a:t>
              </a:r>
              <a:endParaRPr lang="en-US" altLang="it-IT" sz="1600" i="1"/>
            </a:p>
            <a:p>
              <a:pPr>
                <a:spcBef>
                  <a:spcPct val="75000"/>
                </a:spcBef>
              </a:pPr>
              <a:r>
                <a:rPr lang="en-US" altLang="it-IT" sz="1600"/>
                <a:t>Fast</a:t>
              </a:r>
              <a:endParaRPr lang="en-US" altLang="it-IT" sz="1600" i="1"/>
            </a:p>
            <a:p>
              <a:pPr>
                <a:spcBef>
                  <a:spcPct val="30000"/>
                </a:spcBef>
              </a:pPr>
              <a:r>
                <a:rPr lang="en-US" altLang="it-IT" sz="1600"/>
                <a:t>Good locality</a:t>
              </a:r>
            </a:p>
            <a:p>
              <a:pPr>
                <a:spcBef>
                  <a:spcPct val="30000"/>
                </a:spcBef>
              </a:pPr>
              <a:r>
                <a:rPr lang="en-US" altLang="it-IT" sz="1600"/>
                <a:t>Simplicity</a:t>
              </a:r>
            </a:p>
            <a:p>
              <a:pPr>
                <a:spcBef>
                  <a:spcPct val="30000"/>
                </a:spcBef>
              </a:pPr>
              <a:r>
                <a:rPr lang="en-US" altLang="it-IT" sz="1600"/>
                <a:t>Good error detection</a:t>
              </a:r>
            </a:p>
            <a:p>
              <a:pPr>
                <a:spcBef>
                  <a:spcPct val="30000"/>
                </a:spcBef>
              </a:pPr>
              <a:endParaRPr lang="en-US" altLang="it-IT" sz="1600"/>
            </a:p>
            <a:p>
              <a:pPr>
                <a:spcBef>
                  <a:spcPct val="30000"/>
                </a:spcBef>
              </a:pPr>
              <a:r>
                <a:rPr lang="en-US" altLang="it-IT" sz="1600"/>
                <a:t>Fast </a:t>
              </a:r>
            </a:p>
            <a:p>
              <a:pPr>
                <a:spcBef>
                  <a:spcPct val="30000"/>
                </a:spcBef>
              </a:pPr>
              <a:r>
                <a:rPr lang="en-US" altLang="it-IT" sz="1600"/>
                <a:t>Deterministic langs.</a:t>
              </a:r>
            </a:p>
            <a:p>
              <a:pPr>
                <a:spcBef>
                  <a:spcPct val="30000"/>
                </a:spcBef>
              </a:pPr>
              <a:r>
                <a:rPr lang="en-US" altLang="it-IT" sz="1600"/>
                <a:t>Automatable</a:t>
              </a:r>
            </a:p>
            <a:p>
              <a:pPr>
                <a:spcBef>
                  <a:spcPct val="30000"/>
                </a:spcBef>
              </a:pPr>
              <a:r>
                <a:rPr lang="en-US" altLang="it-IT" sz="1600"/>
                <a:t>Left associativity</a:t>
              </a:r>
            </a:p>
          </p:txBody>
        </p:sp>
        <p:sp>
          <p:nvSpPr>
            <p:cNvPr id="40966" name="Text Box 5">
              <a:extLst>
                <a:ext uri="{FF2B5EF4-FFF2-40B4-BE49-F238E27FC236}">
                  <a16:creationId xmlns:a16="http://schemas.microsoft.com/office/drawing/2014/main" id="{D59F6750-9DF9-46E0-B44B-9796CC3F66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64" y="960"/>
              <a:ext cx="1488" cy="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it-IT" i="1"/>
                <a:t>Disadvantages</a:t>
              </a:r>
              <a:endParaRPr lang="en-US" altLang="it-IT" sz="1600" i="1"/>
            </a:p>
            <a:p>
              <a:pPr>
                <a:spcBef>
                  <a:spcPct val="105000"/>
                </a:spcBef>
              </a:pPr>
              <a:r>
                <a:rPr lang="en-US" altLang="it-IT" sz="1600"/>
                <a:t>Hand-coded</a:t>
              </a:r>
            </a:p>
            <a:p>
              <a:pPr>
                <a:spcBef>
                  <a:spcPct val="30000"/>
                </a:spcBef>
              </a:pPr>
              <a:r>
                <a:rPr lang="en-US" altLang="it-IT" sz="1600"/>
                <a:t>High maintenance</a:t>
              </a:r>
            </a:p>
            <a:p>
              <a:pPr>
                <a:spcBef>
                  <a:spcPct val="30000"/>
                </a:spcBef>
              </a:pPr>
              <a:r>
                <a:rPr lang="en-US" altLang="it-IT" sz="1600"/>
                <a:t>Right associativity</a:t>
              </a:r>
            </a:p>
            <a:p>
              <a:endParaRPr lang="en-US" altLang="it-IT" sz="1600"/>
            </a:p>
            <a:p>
              <a:endParaRPr lang="en-US" altLang="it-IT" sz="1600"/>
            </a:p>
            <a:p>
              <a:endParaRPr lang="en-US" altLang="it-IT" sz="1600"/>
            </a:p>
            <a:p>
              <a:r>
                <a:rPr lang="en-US" altLang="it-IT" sz="1600"/>
                <a:t>Large working sets</a:t>
              </a:r>
            </a:p>
            <a:p>
              <a:pPr>
                <a:spcBef>
                  <a:spcPct val="30000"/>
                </a:spcBef>
              </a:pPr>
              <a:r>
                <a:rPr lang="en-US" altLang="it-IT" sz="1600"/>
                <a:t>Poor error messages</a:t>
              </a:r>
            </a:p>
            <a:p>
              <a:pPr>
                <a:spcBef>
                  <a:spcPct val="30000"/>
                </a:spcBef>
              </a:pPr>
              <a:r>
                <a:rPr lang="en-US" altLang="it-IT" sz="1600"/>
                <a:t>Large table sizes</a:t>
              </a:r>
            </a:p>
          </p:txBody>
        </p:sp>
        <p:sp>
          <p:nvSpPr>
            <p:cNvPr id="40967" name="Text Box 6">
              <a:extLst>
                <a:ext uri="{FF2B5EF4-FFF2-40B4-BE49-F238E27FC236}">
                  <a16:creationId xmlns:a16="http://schemas.microsoft.com/office/drawing/2014/main" id="{D64381FD-980E-4AEB-AD9C-4828CC408B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" y="1322"/>
              <a:ext cx="912" cy="8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>
                <a:spcBef>
                  <a:spcPts val="300"/>
                </a:spcBef>
              </a:pPr>
              <a:r>
                <a:rPr lang="en-US" altLang="it-IT" i="1"/>
                <a:t>Top-down</a:t>
              </a:r>
            </a:p>
            <a:p>
              <a:pPr algn="ctr">
                <a:spcBef>
                  <a:spcPts val="300"/>
                </a:spcBef>
              </a:pPr>
              <a:r>
                <a:rPr lang="en-US" altLang="it-IT" i="1"/>
                <a:t>Recursive</a:t>
              </a:r>
            </a:p>
            <a:p>
              <a:pPr algn="ctr">
                <a:spcBef>
                  <a:spcPts val="300"/>
                </a:spcBef>
              </a:pPr>
              <a:r>
                <a:rPr lang="en-US" altLang="it-IT" i="1"/>
                <a:t>descent,</a:t>
              </a:r>
            </a:p>
            <a:p>
              <a:pPr algn="ctr">
                <a:spcBef>
                  <a:spcPts val="300"/>
                </a:spcBef>
              </a:pPr>
              <a:r>
                <a:rPr lang="en-US" altLang="it-IT" i="1"/>
                <a:t>LL(1)</a:t>
              </a:r>
            </a:p>
          </p:txBody>
        </p:sp>
        <p:sp>
          <p:nvSpPr>
            <p:cNvPr id="40968" name="Text Box 7">
              <a:extLst>
                <a:ext uri="{FF2B5EF4-FFF2-40B4-BE49-F238E27FC236}">
                  <a16:creationId xmlns:a16="http://schemas.microsoft.com/office/drawing/2014/main" id="{8156E856-E74D-4C56-A01C-1D51EF9C90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" y="2688"/>
              <a:ext cx="91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it-IT" i="1"/>
                <a:t>LR(1)</a:t>
              </a:r>
            </a:p>
          </p:txBody>
        </p:sp>
        <p:sp>
          <p:nvSpPr>
            <p:cNvPr id="40969" name="Line 8">
              <a:extLst>
                <a:ext uri="{FF2B5EF4-FFF2-40B4-BE49-F238E27FC236}">
                  <a16:creationId xmlns:a16="http://schemas.microsoft.com/office/drawing/2014/main" id="{CB533D4A-9633-4ADE-BA00-1051490357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0" y="1248"/>
              <a:ext cx="3984" cy="0"/>
            </a:xfrm>
            <a:prstGeom prst="line">
              <a:avLst/>
            </a:prstGeom>
            <a:noFill/>
            <a:ln w="38100">
              <a:solidFill>
                <a:srgbClr val="003C7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40970" name="Line 9">
              <a:extLst>
                <a:ext uri="{FF2B5EF4-FFF2-40B4-BE49-F238E27FC236}">
                  <a16:creationId xmlns:a16="http://schemas.microsoft.com/office/drawing/2014/main" id="{6D80679C-124B-495D-BFBA-AAD42FE275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0" y="2208"/>
              <a:ext cx="3984" cy="0"/>
            </a:xfrm>
            <a:prstGeom prst="line">
              <a:avLst/>
            </a:prstGeom>
            <a:noFill/>
            <a:ln w="38100">
              <a:solidFill>
                <a:srgbClr val="003C7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40971" name="Line 10">
              <a:extLst>
                <a:ext uri="{FF2B5EF4-FFF2-40B4-BE49-F238E27FC236}">
                  <a16:creationId xmlns:a16="http://schemas.microsoft.com/office/drawing/2014/main" id="{67750EA9-5D61-4E22-B4C9-3CF0B796B1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912"/>
              <a:ext cx="0" cy="2400"/>
            </a:xfrm>
            <a:prstGeom prst="line">
              <a:avLst/>
            </a:prstGeom>
            <a:noFill/>
            <a:ln w="38100">
              <a:solidFill>
                <a:srgbClr val="003C7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40972" name="Line 11">
              <a:extLst>
                <a:ext uri="{FF2B5EF4-FFF2-40B4-BE49-F238E27FC236}">
                  <a16:creationId xmlns:a16="http://schemas.microsoft.com/office/drawing/2014/main" id="{767607BE-69A4-434A-881A-1FB2210083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68" y="912"/>
              <a:ext cx="0" cy="2400"/>
            </a:xfrm>
            <a:prstGeom prst="line">
              <a:avLst/>
            </a:prstGeom>
            <a:noFill/>
            <a:ln w="38100">
              <a:solidFill>
                <a:srgbClr val="003C7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</p:grpSp>
    </p:spTree>
  </p:cSld>
  <p:clrMapOvr>
    <a:masterClrMapping/>
  </p:clrMapOvr>
  <p:transition>
    <p:wipe dir="r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Footer Placeholder 3">
            <a:extLst>
              <a:ext uri="{FF2B5EF4-FFF2-40B4-BE49-F238E27FC236}">
                <a16:creationId xmlns:a16="http://schemas.microsoft.com/office/drawing/2014/main" id="{64C07D21-A5C2-4696-924A-08080FE7251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44034" name="Slide Number Placeholder 4">
            <a:extLst>
              <a:ext uri="{FF2B5EF4-FFF2-40B4-BE49-F238E27FC236}">
                <a16:creationId xmlns:a16="http://schemas.microsoft.com/office/drawing/2014/main" id="{C8341272-9259-4719-82B7-67D04B50F29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AB08EEC6-F4FA-40FB-B739-D03080A643A9}" type="slidenum">
              <a:rPr lang="en-US" altLang="it-IT"/>
              <a:pPr/>
              <a:t>17</a:t>
            </a:fld>
            <a:endParaRPr lang="en-US" altLang="it-IT"/>
          </a:p>
        </p:txBody>
      </p:sp>
      <p:sp>
        <p:nvSpPr>
          <p:cNvPr id="44035" name="Rectangle 2">
            <a:extLst>
              <a:ext uri="{FF2B5EF4-FFF2-40B4-BE49-F238E27FC236}">
                <a16:creationId xmlns:a16="http://schemas.microsoft.com/office/drawing/2014/main" id="{C0AD8962-6ED8-4A7C-9AEC-3EFC5C1C39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Beyond Syntax</a:t>
            </a:r>
          </a:p>
        </p:txBody>
      </p:sp>
      <p:sp>
        <p:nvSpPr>
          <p:cNvPr id="44036" name="Rectangle 3">
            <a:extLst>
              <a:ext uri="{FF2B5EF4-FFF2-40B4-BE49-F238E27FC236}">
                <a16:creationId xmlns:a16="http://schemas.microsoft.com/office/drawing/2014/main" id="{454C2EE1-15B4-4D91-88C7-16DAF574C56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Times" panose="02020603050405020304" pitchFamily="18" charset="0"/>
              <a:buNone/>
            </a:pPr>
            <a:r>
              <a:rPr lang="en-US" altLang="it-IT"/>
              <a:t>There is a level of correctness that is deeper than grammar</a:t>
            </a:r>
          </a:p>
        </p:txBody>
      </p:sp>
      <p:sp>
        <p:nvSpPr>
          <p:cNvPr id="44037" name="Text Box 4">
            <a:extLst>
              <a:ext uri="{FF2B5EF4-FFF2-40B4-BE49-F238E27FC236}">
                <a16:creationId xmlns:a16="http://schemas.microsoft.com/office/drawing/2014/main" id="{D64B2645-EDCA-4AE3-B64D-CF71A66DD7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1685925"/>
            <a:ext cx="3200400" cy="4029075"/>
          </a:xfrm>
          <a:prstGeom prst="rect">
            <a:avLst/>
          </a:prstGeom>
          <a:solidFill>
            <a:srgbClr val="D9D9D9"/>
          </a:solidFill>
          <a:ln w="19050">
            <a:solidFill>
              <a:srgbClr val="003C75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defTabSz="233363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defTabSz="233363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defTabSz="233363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defTabSz="233363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defTabSz="233363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defTabSz="2333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defTabSz="2333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defTabSz="2333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defTabSz="2333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fie(a,b,c,d)</a:t>
            </a:r>
          </a:p>
          <a:p>
            <a:r>
              <a:rPr lang="en-US" altLang="it-IT"/>
              <a:t>	int a, b, c, d;</a:t>
            </a:r>
          </a:p>
          <a:p>
            <a:r>
              <a:rPr lang="en-US" altLang="it-IT"/>
              <a:t>{ … }</a:t>
            </a:r>
            <a:endParaRPr lang="en-US" altLang="it-IT" b="1" i="1"/>
          </a:p>
          <a:p>
            <a:pPr>
              <a:spcBef>
                <a:spcPct val="30000"/>
              </a:spcBef>
            </a:pPr>
            <a:r>
              <a:rPr lang="en-US" altLang="it-IT"/>
              <a:t>fee() {</a:t>
            </a:r>
          </a:p>
          <a:p>
            <a:r>
              <a:rPr lang="en-US" altLang="it-IT"/>
              <a:t>	int f[3],g[0],</a:t>
            </a:r>
          </a:p>
          <a:p>
            <a:r>
              <a:rPr lang="en-US" altLang="it-IT"/>
              <a:t>		h, i, j, k;</a:t>
            </a:r>
          </a:p>
          <a:p>
            <a:r>
              <a:rPr lang="en-US" altLang="it-IT"/>
              <a:t>  char *p;</a:t>
            </a:r>
          </a:p>
          <a:p>
            <a:r>
              <a:rPr lang="en-US" altLang="it-IT"/>
              <a:t>	fie(h,i,“ab”,j, k); </a:t>
            </a:r>
          </a:p>
          <a:p>
            <a:r>
              <a:rPr lang="en-US" altLang="it-IT"/>
              <a:t>	k = f * i + j;</a:t>
            </a:r>
          </a:p>
          <a:p>
            <a:r>
              <a:rPr lang="en-US" altLang="it-IT"/>
              <a:t>	h = g[17];</a:t>
            </a:r>
          </a:p>
          <a:p>
            <a:r>
              <a:rPr lang="en-US" altLang="it-IT"/>
              <a:t>	printf(“&lt;%s,%s&gt;.\n”,</a:t>
            </a:r>
          </a:p>
          <a:p>
            <a:r>
              <a:rPr lang="en-US" altLang="it-IT"/>
              <a:t>		p,q);</a:t>
            </a:r>
          </a:p>
          <a:p>
            <a:r>
              <a:rPr lang="en-US" altLang="it-IT"/>
              <a:t>	p = 10;</a:t>
            </a:r>
          </a:p>
          <a:p>
            <a:r>
              <a:rPr lang="en-US" altLang="it-IT"/>
              <a:t>}</a:t>
            </a:r>
          </a:p>
        </p:txBody>
      </p:sp>
      <p:sp>
        <p:nvSpPr>
          <p:cNvPr id="44038" name="Text Box 5">
            <a:extLst>
              <a:ext uri="{FF2B5EF4-FFF2-40B4-BE49-F238E27FC236}">
                <a16:creationId xmlns:a16="http://schemas.microsoft.com/office/drawing/2014/main" id="{E311DCB3-D026-48A1-AB56-855237B96A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1000" y="1685925"/>
            <a:ext cx="4038600" cy="644525"/>
          </a:xfrm>
          <a:prstGeom prst="rect">
            <a:avLst/>
          </a:prstGeom>
          <a:noFill/>
          <a:ln w="19050">
            <a:solidFill>
              <a:srgbClr val="003C75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it-IT"/>
              <a:t>What is wrong with this C program?</a:t>
            </a:r>
          </a:p>
          <a:p>
            <a:pPr algn="ctr">
              <a:spcBef>
                <a:spcPct val="10000"/>
              </a:spcBef>
            </a:pPr>
            <a:r>
              <a:rPr lang="en-US" altLang="it-IT" sz="1600" i="1">
                <a:solidFill>
                  <a:srgbClr val="FF0065"/>
                </a:solidFill>
              </a:rPr>
              <a:t>(let me count the ways …)</a:t>
            </a:r>
            <a:endParaRPr lang="en-US" altLang="it-IT"/>
          </a:p>
        </p:txBody>
      </p:sp>
    </p:spTree>
  </p:cSld>
  <p:clrMapOvr>
    <a:masterClrMapping/>
  </p:clrMapOvr>
  <p:transition>
    <p:wipe dir="r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Footer Placeholder 3">
            <a:extLst>
              <a:ext uri="{FF2B5EF4-FFF2-40B4-BE49-F238E27FC236}">
                <a16:creationId xmlns:a16="http://schemas.microsoft.com/office/drawing/2014/main" id="{33CDA4D6-610C-4168-9390-034D02AE02F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46082" name="Slide Number Placeholder 4">
            <a:extLst>
              <a:ext uri="{FF2B5EF4-FFF2-40B4-BE49-F238E27FC236}">
                <a16:creationId xmlns:a16="http://schemas.microsoft.com/office/drawing/2014/main" id="{7E351B32-67BF-4BE4-BC60-466F1434394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D30D818E-2B97-4542-8E84-3EFA819C1388}" type="slidenum">
              <a:rPr lang="en-US" altLang="it-IT"/>
              <a:pPr/>
              <a:t>18</a:t>
            </a:fld>
            <a:endParaRPr lang="en-US" altLang="it-IT"/>
          </a:p>
        </p:txBody>
      </p:sp>
      <p:sp>
        <p:nvSpPr>
          <p:cNvPr id="46083" name="Rectangle 2">
            <a:extLst>
              <a:ext uri="{FF2B5EF4-FFF2-40B4-BE49-F238E27FC236}">
                <a16:creationId xmlns:a16="http://schemas.microsoft.com/office/drawing/2014/main" id="{ED4A2605-B31A-439C-977D-F8B6C00E1D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Beyond Syntax</a:t>
            </a:r>
          </a:p>
        </p:txBody>
      </p:sp>
      <p:sp>
        <p:nvSpPr>
          <p:cNvPr id="46084" name="Rectangle 3">
            <a:extLst>
              <a:ext uri="{FF2B5EF4-FFF2-40B4-BE49-F238E27FC236}">
                <a16:creationId xmlns:a16="http://schemas.microsoft.com/office/drawing/2014/main" id="{EC7C6DB0-90B4-4559-A287-1E7190DE8A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Times" panose="02020603050405020304" pitchFamily="18" charset="0"/>
              <a:buNone/>
            </a:pPr>
            <a:r>
              <a:rPr lang="en-US" altLang="it-IT"/>
              <a:t>There is a level of correctness that is deeper than grammar</a:t>
            </a:r>
          </a:p>
          <a:p>
            <a:pPr eaLnBrk="1" hangingPunct="1">
              <a:spcBef>
                <a:spcPct val="900000"/>
              </a:spcBef>
              <a:buFont typeface="Times" panose="02020603050405020304" pitchFamily="18" charset="0"/>
              <a:buNone/>
            </a:pPr>
            <a:endParaRPr lang="en-US" altLang="it-IT"/>
          </a:p>
        </p:txBody>
      </p:sp>
      <p:sp>
        <p:nvSpPr>
          <p:cNvPr id="46085" name="Text Box 4">
            <a:extLst>
              <a:ext uri="{FF2B5EF4-FFF2-40B4-BE49-F238E27FC236}">
                <a16:creationId xmlns:a16="http://schemas.microsoft.com/office/drawing/2014/main" id="{4B942EB5-4AF2-4DBF-B9FE-D3F1EBC552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1685925"/>
            <a:ext cx="3200400" cy="4029075"/>
          </a:xfrm>
          <a:prstGeom prst="rect">
            <a:avLst/>
          </a:prstGeom>
          <a:solidFill>
            <a:srgbClr val="D9D9D9"/>
          </a:solidFill>
          <a:ln w="19050">
            <a:solidFill>
              <a:srgbClr val="003C75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defTabSz="233363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defTabSz="233363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defTabSz="233363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defTabSz="233363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defTabSz="233363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defTabSz="2333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defTabSz="2333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defTabSz="2333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defTabSz="2333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fie(a,b,c,d)</a:t>
            </a:r>
          </a:p>
          <a:p>
            <a:r>
              <a:rPr lang="en-US" altLang="it-IT"/>
              <a:t>	int a, b, c, d;</a:t>
            </a:r>
          </a:p>
          <a:p>
            <a:r>
              <a:rPr lang="en-US" altLang="it-IT"/>
              <a:t>{ … }</a:t>
            </a:r>
            <a:endParaRPr lang="en-US" altLang="it-IT" b="1" i="1"/>
          </a:p>
          <a:p>
            <a:pPr>
              <a:spcBef>
                <a:spcPct val="30000"/>
              </a:spcBef>
            </a:pPr>
            <a:r>
              <a:rPr lang="en-US" altLang="it-IT"/>
              <a:t>fee() {</a:t>
            </a:r>
          </a:p>
          <a:p>
            <a:r>
              <a:rPr lang="en-US" altLang="it-IT"/>
              <a:t>	int f[3],g[0],</a:t>
            </a:r>
          </a:p>
          <a:p>
            <a:r>
              <a:rPr lang="en-US" altLang="it-IT"/>
              <a:t>		h, i, j, k;</a:t>
            </a:r>
          </a:p>
          <a:p>
            <a:r>
              <a:rPr lang="en-US" altLang="it-IT"/>
              <a:t>  char *p;</a:t>
            </a:r>
          </a:p>
          <a:p>
            <a:r>
              <a:rPr lang="en-US" altLang="it-IT"/>
              <a:t>	fie(h,i,“ab”,j, k); </a:t>
            </a:r>
          </a:p>
          <a:p>
            <a:r>
              <a:rPr lang="en-US" altLang="it-IT"/>
              <a:t>	k = f * i + j;</a:t>
            </a:r>
          </a:p>
          <a:p>
            <a:r>
              <a:rPr lang="en-US" altLang="it-IT"/>
              <a:t>	h = g[17];</a:t>
            </a:r>
          </a:p>
          <a:p>
            <a:r>
              <a:rPr lang="en-US" altLang="it-IT"/>
              <a:t>	printf(“&lt;%s,%s&gt;.\n”,</a:t>
            </a:r>
          </a:p>
          <a:p>
            <a:r>
              <a:rPr lang="en-US" altLang="it-IT"/>
              <a:t>		p,q);</a:t>
            </a:r>
          </a:p>
          <a:p>
            <a:r>
              <a:rPr lang="en-US" altLang="it-IT"/>
              <a:t>	p = 10;</a:t>
            </a:r>
          </a:p>
          <a:p>
            <a:r>
              <a:rPr lang="en-US" altLang="it-IT"/>
              <a:t>}</a:t>
            </a:r>
          </a:p>
        </p:txBody>
      </p:sp>
      <p:sp>
        <p:nvSpPr>
          <p:cNvPr id="46086" name="Text Box 5">
            <a:extLst>
              <a:ext uri="{FF2B5EF4-FFF2-40B4-BE49-F238E27FC236}">
                <a16:creationId xmlns:a16="http://schemas.microsoft.com/office/drawing/2014/main" id="{504D69B6-C19D-4F86-846D-8134C48E34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1000" y="1685925"/>
            <a:ext cx="4191000" cy="3852863"/>
          </a:xfrm>
          <a:prstGeom prst="rect">
            <a:avLst/>
          </a:prstGeom>
          <a:noFill/>
          <a:ln w="19050">
            <a:solidFill>
              <a:srgbClr val="003C75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it-IT"/>
              <a:t>What is wrong with this C program?</a:t>
            </a:r>
          </a:p>
          <a:p>
            <a:pPr algn="ctr">
              <a:spcBef>
                <a:spcPct val="10000"/>
              </a:spcBef>
            </a:pPr>
            <a:r>
              <a:rPr lang="en-US" altLang="it-IT" sz="1600" i="1">
                <a:solidFill>
                  <a:srgbClr val="FF0000"/>
                </a:solidFill>
              </a:rPr>
              <a:t>(let me count the ways …)</a:t>
            </a:r>
            <a:endParaRPr lang="en-US" altLang="it-IT"/>
          </a:p>
          <a:p>
            <a:pPr>
              <a:spcBef>
                <a:spcPct val="60000"/>
              </a:spcBef>
              <a:buClr>
                <a:srgbClr val="003C75"/>
              </a:buClr>
              <a:buSzPct val="120000"/>
              <a:buFont typeface="Times" panose="02020603050405020304" pitchFamily="18" charset="0"/>
              <a:buChar char="•"/>
            </a:pPr>
            <a:r>
              <a:rPr lang="en-US" altLang="it-IT"/>
              <a:t> declared g[0], used g[17]</a:t>
            </a:r>
          </a:p>
          <a:p>
            <a:pPr>
              <a:spcBef>
                <a:spcPct val="40000"/>
              </a:spcBef>
              <a:buClr>
                <a:srgbClr val="003C75"/>
              </a:buClr>
              <a:buSzPct val="120000"/>
              <a:buFont typeface="Times" panose="02020603050405020304" pitchFamily="18" charset="0"/>
              <a:buChar char="•"/>
            </a:pPr>
            <a:r>
              <a:rPr lang="en-US" altLang="it-IT"/>
              <a:t> wrong number of args to fie()</a:t>
            </a:r>
          </a:p>
          <a:p>
            <a:pPr>
              <a:spcBef>
                <a:spcPct val="40000"/>
              </a:spcBef>
              <a:buClr>
                <a:srgbClr val="003C75"/>
              </a:buClr>
              <a:buSzPct val="120000"/>
              <a:buFont typeface="Times" panose="02020603050405020304" pitchFamily="18" charset="0"/>
              <a:buChar char="•"/>
            </a:pPr>
            <a:r>
              <a:rPr lang="en-US" altLang="it-IT"/>
              <a:t> “ab” is not an </a:t>
            </a:r>
            <a:r>
              <a:rPr lang="en-US" altLang="it-IT" u="sng"/>
              <a:t>int</a:t>
            </a:r>
            <a:endParaRPr lang="en-US" altLang="it-IT"/>
          </a:p>
          <a:p>
            <a:pPr>
              <a:spcBef>
                <a:spcPct val="40000"/>
              </a:spcBef>
              <a:buClr>
                <a:srgbClr val="003C75"/>
              </a:buClr>
              <a:buSzPct val="120000"/>
              <a:buFont typeface="Times" panose="02020603050405020304" pitchFamily="18" charset="0"/>
              <a:buChar char="•"/>
            </a:pPr>
            <a:r>
              <a:rPr lang="en-US" altLang="it-IT"/>
              <a:t> wrong dimension on use of f</a:t>
            </a:r>
          </a:p>
          <a:p>
            <a:pPr>
              <a:spcBef>
                <a:spcPct val="40000"/>
              </a:spcBef>
              <a:buClr>
                <a:srgbClr val="003C75"/>
              </a:buClr>
              <a:buSzPct val="120000"/>
              <a:buFont typeface="Times" panose="02020603050405020304" pitchFamily="18" charset="0"/>
              <a:buChar char="•"/>
            </a:pPr>
            <a:r>
              <a:rPr lang="en-US" altLang="it-IT"/>
              <a:t> undeclared variable q</a:t>
            </a:r>
          </a:p>
          <a:p>
            <a:pPr>
              <a:spcBef>
                <a:spcPct val="40000"/>
              </a:spcBef>
              <a:buClr>
                <a:srgbClr val="003C75"/>
              </a:buClr>
              <a:buSzPct val="120000"/>
              <a:buFont typeface="Times" panose="02020603050405020304" pitchFamily="18" charset="0"/>
              <a:buChar char="•"/>
            </a:pPr>
            <a:r>
              <a:rPr lang="en-US" altLang="it-IT"/>
              <a:t> 10 is not a character string</a:t>
            </a:r>
          </a:p>
          <a:p>
            <a:pPr>
              <a:spcBef>
                <a:spcPct val="100000"/>
              </a:spcBef>
              <a:buClr>
                <a:srgbClr val="0000CC"/>
              </a:buClr>
              <a:buSzPct val="120000"/>
            </a:pPr>
            <a:r>
              <a:rPr lang="en-US" altLang="it-IT"/>
              <a:t>All of these are  “deeper than syntax”</a:t>
            </a:r>
          </a:p>
        </p:txBody>
      </p:sp>
      <p:sp>
        <p:nvSpPr>
          <p:cNvPr id="108550" name="Text Box 6">
            <a:extLst>
              <a:ext uri="{FF2B5EF4-FFF2-40B4-BE49-F238E27FC236}">
                <a16:creationId xmlns:a16="http://schemas.microsoft.com/office/drawing/2014/main" id="{54412F00-55EC-4591-8B27-009EAC460F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458788"/>
            <a:ext cx="6934200" cy="406400"/>
          </a:xfrm>
          <a:prstGeom prst="rect">
            <a:avLst/>
          </a:prstGeom>
          <a:solidFill>
            <a:srgbClr val="EEEEEE"/>
          </a:solidFill>
          <a:ln w="9525">
            <a:solidFill>
              <a:srgbClr val="EEEEEE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it-IT" sz="2000">
                <a:solidFill>
                  <a:srgbClr val="1822CD"/>
                </a:solidFill>
              </a:rPr>
              <a:t>To generate code, we need to understand its meaning !</a:t>
            </a: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8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550" grpId="0" animBg="1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Footer Placeholder 3">
            <a:extLst>
              <a:ext uri="{FF2B5EF4-FFF2-40B4-BE49-F238E27FC236}">
                <a16:creationId xmlns:a16="http://schemas.microsoft.com/office/drawing/2014/main" id="{09D1E819-42DD-47C7-82D8-D647474B655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48130" name="Slide Number Placeholder 4">
            <a:extLst>
              <a:ext uri="{FF2B5EF4-FFF2-40B4-BE49-F238E27FC236}">
                <a16:creationId xmlns:a16="http://schemas.microsoft.com/office/drawing/2014/main" id="{E4C0CBDF-9601-4DEC-BE90-19128072E4E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026CF9C1-0E7D-40EF-AE81-AE72FE83BE32}" type="slidenum">
              <a:rPr lang="en-US" altLang="it-IT"/>
              <a:pPr/>
              <a:t>19</a:t>
            </a:fld>
            <a:endParaRPr lang="en-US" altLang="it-IT"/>
          </a:p>
        </p:txBody>
      </p:sp>
      <p:sp>
        <p:nvSpPr>
          <p:cNvPr id="48131" name="Rectangle 2">
            <a:extLst>
              <a:ext uri="{FF2B5EF4-FFF2-40B4-BE49-F238E27FC236}">
                <a16:creationId xmlns:a16="http://schemas.microsoft.com/office/drawing/2014/main" id="{33E2116E-BDBD-45C4-9A2D-69BA5D121A0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Beyond Syntax</a:t>
            </a:r>
          </a:p>
        </p:txBody>
      </p:sp>
      <p:sp>
        <p:nvSpPr>
          <p:cNvPr id="48132" name="Rectangle 3">
            <a:extLst>
              <a:ext uri="{FF2B5EF4-FFF2-40B4-BE49-F238E27FC236}">
                <a16:creationId xmlns:a16="http://schemas.microsoft.com/office/drawing/2014/main" id="{918DDCBE-9B7A-439D-9204-7EE05EEE436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Times" panose="02020603050405020304" pitchFamily="18" charset="0"/>
              <a:buNone/>
            </a:pPr>
            <a:r>
              <a:rPr lang="en-US" altLang="it-IT" sz="1800"/>
              <a:t>To generate code, the compiler needs to answer many questions </a:t>
            </a:r>
          </a:p>
          <a:p>
            <a:pPr eaLnBrk="1" hangingPunct="1"/>
            <a:r>
              <a:rPr lang="en-US" altLang="it-IT" sz="1800"/>
              <a:t>Is “x” a scalar, an array, or a function?  Is “x” declared?</a:t>
            </a:r>
          </a:p>
          <a:p>
            <a:pPr eaLnBrk="1" hangingPunct="1"/>
            <a:r>
              <a:rPr lang="en-US" altLang="it-IT" sz="1800"/>
              <a:t>Are there names that are not declared?  Declared but not used?</a:t>
            </a:r>
          </a:p>
          <a:p>
            <a:pPr eaLnBrk="1" hangingPunct="1"/>
            <a:r>
              <a:rPr lang="en-US" altLang="it-IT" sz="1800"/>
              <a:t>Which declaration of “x” does each use reference?</a:t>
            </a:r>
          </a:p>
          <a:p>
            <a:pPr eaLnBrk="1" hangingPunct="1"/>
            <a:r>
              <a:rPr lang="en-US" altLang="it-IT" sz="1800"/>
              <a:t>Is the expression “x * y + z” type-consistent?</a:t>
            </a:r>
          </a:p>
          <a:p>
            <a:pPr eaLnBrk="1" hangingPunct="1"/>
            <a:r>
              <a:rPr lang="en-US" altLang="it-IT" sz="1800"/>
              <a:t>In “</a:t>
            </a:r>
            <a:r>
              <a:rPr lang="en-US" altLang="it-IT" sz="1800" i="1"/>
              <a:t>a</a:t>
            </a:r>
            <a:r>
              <a:rPr lang="en-US" altLang="it-IT" sz="1800"/>
              <a:t>[i,j,k]”, does </a:t>
            </a:r>
            <a:r>
              <a:rPr lang="en-US" altLang="it-IT" sz="1800" i="1"/>
              <a:t>a</a:t>
            </a:r>
            <a:r>
              <a:rPr lang="en-US" altLang="it-IT" sz="1800"/>
              <a:t> have three dimensions?</a:t>
            </a:r>
          </a:p>
          <a:p>
            <a:pPr eaLnBrk="1" hangingPunct="1"/>
            <a:r>
              <a:rPr lang="en-US" altLang="it-IT" sz="1800"/>
              <a:t>Where can “z” be stored?         </a:t>
            </a:r>
            <a:r>
              <a:rPr lang="en-US" altLang="it-IT" sz="1800" i="1">
                <a:solidFill>
                  <a:srgbClr val="FF0065"/>
                </a:solidFill>
              </a:rPr>
              <a:t>(register, local, global, heap, static)</a:t>
            </a:r>
            <a:endParaRPr lang="en-US" altLang="it-IT" sz="1800">
              <a:solidFill>
                <a:srgbClr val="FF0065"/>
              </a:solidFill>
            </a:endParaRPr>
          </a:p>
          <a:p>
            <a:pPr eaLnBrk="1" hangingPunct="1"/>
            <a:r>
              <a:rPr lang="en-US" altLang="it-IT" sz="1800"/>
              <a:t>In “f </a:t>
            </a:r>
            <a:r>
              <a:rPr lang="en-US" altLang="it-IT" sz="1800">
                <a:sym typeface="Symbol" panose="05050102010706020507" pitchFamily="18" charset="2"/>
              </a:rPr>
              <a:t> 15”, how should 15 be represented?</a:t>
            </a:r>
          </a:p>
          <a:p>
            <a:pPr eaLnBrk="1" hangingPunct="1"/>
            <a:r>
              <a:rPr lang="en-US" altLang="it-IT" sz="1800">
                <a:sym typeface="Symbol" panose="05050102010706020507" pitchFamily="18" charset="2"/>
              </a:rPr>
              <a:t>How many arguments does “fie()” take?  What about “printf ()” ?</a:t>
            </a:r>
          </a:p>
          <a:p>
            <a:pPr eaLnBrk="1" hangingPunct="1"/>
            <a:r>
              <a:rPr lang="en-US" altLang="it-IT" sz="1800">
                <a:sym typeface="Symbol" panose="05050102010706020507" pitchFamily="18" charset="2"/>
              </a:rPr>
              <a:t>Does “*p” reference the result of a “malloc()” ?  </a:t>
            </a:r>
          </a:p>
          <a:p>
            <a:pPr eaLnBrk="1" hangingPunct="1"/>
            <a:r>
              <a:rPr lang="en-US" altLang="it-IT" sz="1800">
                <a:sym typeface="Symbol" panose="05050102010706020507" pitchFamily="18" charset="2"/>
              </a:rPr>
              <a:t>Do “p” &amp; “q” refer to the same memory location?</a:t>
            </a:r>
          </a:p>
          <a:p>
            <a:pPr eaLnBrk="1" hangingPunct="1"/>
            <a:r>
              <a:rPr lang="en-US" altLang="it-IT" sz="1800">
                <a:sym typeface="Symbol" panose="05050102010706020507" pitchFamily="18" charset="2"/>
              </a:rPr>
              <a:t>Is “x” defined before it is used?</a:t>
            </a:r>
          </a:p>
        </p:txBody>
      </p:sp>
      <p:sp>
        <p:nvSpPr>
          <p:cNvPr id="48133" name="Text Box 4">
            <a:extLst>
              <a:ext uri="{FF2B5EF4-FFF2-40B4-BE49-F238E27FC236}">
                <a16:creationId xmlns:a16="http://schemas.microsoft.com/office/drawing/2014/main" id="{780DD4FB-AEC3-4AF5-8116-13D8A5279A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7600" y="6096000"/>
            <a:ext cx="4267200" cy="376238"/>
          </a:xfrm>
          <a:prstGeom prst="rect">
            <a:avLst/>
          </a:prstGeom>
          <a:solidFill>
            <a:srgbClr val="E6E6E6"/>
          </a:solidFill>
          <a:ln w="19050">
            <a:solidFill>
              <a:srgbClr val="003C75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it-IT">
                <a:solidFill>
                  <a:srgbClr val="003C75"/>
                </a:solidFill>
              </a:rPr>
              <a:t>These cannot be expressed in a CFG</a:t>
            </a:r>
          </a:p>
        </p:txBody>
      </p:sp>
    </p:spTree>
  </p:cSld>
  <p:clrMapOvr>
    <a:masterClrMapping/>
  </p:clrMapOvr>
  <p:transition>
    <p:wipe dir="r"/>
  </p:transition>
</p:sld>
</file>

<file path=ppt/theme/theme1.xml><?xml version="1.0" encoding="utf-8"?>
<a:theme xmlns:a="http://schemas.openxmlformats.org/drawingml/2006/main" name="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 Presentation">
      <a:majorFont>
        <a:latin typeface="Comic Sans MS"/>
        <a:ea typeface="ヒラギノ角ゴ Pro W3"/>
        <a:cs typeface="ヒラギノ角ゴ Pro W3"/>
      </a:majorFont>
      <a:minorFont>
        <a:latin typeface="Comic Sans MS"/>
        <a:ea typeface="ヒラギノ角ゴ Pro W3"/>
        <a:cs typeface="ヒラギノ角ゴ Pro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Comic Sans MS" charset="0"/>
            <a:ea typeface="ヒラギノ角ゴ Pro W3" charset="-128"/>
            <a:cs typeface="ヒラギノ角ゴ Pro W3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Comic Sans MS" charset="0"/>
            <a:ea typeface="ヒラギノ角ゴ Pro W3" charset="-128"/>
            <a:cs typeface="ヒラギノ角ゴ Pro W3" charset="-128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1753</TotalTime>
  <Words>1642</Words>
  <Application>Microsoft Office PowerPoint</Application>
  <PresentationFormat>Presentazione su schermo (4:3)</PresentationFormat>
  <Paragraphs>394</Paragraphs>
  <Slides>20</Slides>
  <Notes>13</Notes>
  <HiddenSlides>3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20</vt:i4>
      </vt:variant>
    </vt:vector>
  </HeadingPairs>
  <TitlesOfParts>
    <vt:vector size="21" baseType="lpstr">
      <vt:lpstr>Blank Presentation</vt:lpstr>
      <vt:lpstr>Parsing Wrap Up    Comp 412</vt:lpstr>
      <vt:lpstr>LR(k ) versus LL(k )</vt:lpstr>
      <vt:lpstr>LR(1) versus LL(1)</vt:lpstr>
      <vt:lpstr>Building LR(1) Tables for Waite’s Language</vt:lpstr>
      <vt:lpstr>Building LR(1) Tables for Waite’s Language</vt:lpstr>
      <vt:lpstr>Building LR(1) Tables for Waite’s Language</vt:lpstr>
      <vt:lpstr>LR(k ) versus LL(k )</vt:lpstr>
      <vt:lpstr>LR(k ) versus LL(k )</vt:lpstr>
      <vt:lpstr>Left Recursion versus Right Recursion</vt:lpstr>
      <vt:lpstr>Associativity</vt:lpstr>
      <vt:lpstr>Error Detection and Recovery</vt:lpstr>
      <vt:lpstr>Error Detection and Recovery</vt:lpstr>
      <vt:lpstr>Error Detection and Recovery</vt:lpstr>
      <vt:lpstr>Shrinking the Action and Goto Tables</vt:lpstr>
      <vt:lpstr>Hierarchy of Context-Free Languages</vt:lpstr>
      <vt:lpstr>Hierarchy of Context-Free Grammars</vt:lpstr>
      <vt:lpstr>Summary</vt:lpstr>
      <vt:lpstr>Beyond Syntax</vt:lpstr>
      <vt:lpstr>Beyond Syntax</vt:lpstr>
      <vt:lpstr>Beyond Syntax</vt:lpstr>
    </vt:vector>
  </TitlesOfParts>
  <Company>Rice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Keith Cooper</dc:creator>
  <cp:lastModifiedBy>Elsevier</cp:lastModifiedBy>
  <cp:revision>51</cp:revision>
  <cp:lastPrinted>2010-09-29T12:27:38Z</cp:lastPrinted>
  <dcterms:created xsi:type="dcterms:W3CDTF">2010-09-29T16:01:58Z</dcterms:created>
  <dcterms:modified xsi:type="dcterms:W3CDTF">2020-10-19T08:03:57Z</dcterms:modified>
</cp:coreProperties>
</file>