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9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93" r:id="rId13"/>
    <p:sldId id="282" r:id="rId14"/>
    <p:sldId id="283" r:id="rId15"/>
    <p:sldId id="284" r:id="rId16"/>
    <p:sldId id="294" r:id="rId17"/>
    <p:sldId id="285" r:id="rId18"/>
    <p:sldId id="286" r:id="rId19"/>
    <p:sldId id="287" r:id="rId20"/>
    <p:sldId id="288" r:id="rId21"/>
    <p:sldId id="289" r:id="rId22"/>
    <p:sldId id="290" r:id="rId23"/>
    <p:sldId id="291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E6E6E6"/>
    <a:srgbClr val="B025A6"/>
    <a:srgbClr val="FF0065"/>
    <a:srgbClr val="003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15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E057446-8FDD-489C-84FC-971B574B00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E05191-FFEC-47ED-991B-C1CE64BA43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fld id="{82EAC577-2D26-4E3C-AF27-3485773B14AE}" type="datetime1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3AC25-91DB-48AC-ABD8-E997B9CA5F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8AE8E-0534-44A4-937E-8714571603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E324B7CD-AB9F-4F7D-8017-FD90ED45109B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EFCEB0C-3665-4718-8B5D-8E15FE4B76F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D5084BB-952A-4931-9916-C7348EBEA0B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7D0E9A84-C323-42C1-B5BD-4D4D2C24B79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EDE050F8-929B-45BB-8251-58FE2D35B69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4179D713-8686-412F-A478-9E41164CBAC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6EB71CA-C67F-4DF1-A00B-B60D1E944F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DD21905F-35B8-4D0E-B949-FA938BF0573E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69AF9E3E-A606-4C54-845A-E974AD2818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FCC0CAA-1D1B-479D-903B-C37C4BD89B1F}" type="slidenum">
              <a:rPr lang="en-US" altLang="it-IT"/>
              <a:pPr/>
              <a:t>0</a:t>
            </a:fld>
            <a:endParaRPr lang="en-US" altLang="it-IT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F2E121B4-C751-487C-AD80-47DF6D2456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2F86444-5054-4B52-9841-766D48FE6A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96AA5DCA-B2F3-4E92-9D10-7D3168BBC3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98A97CC-A696-497D-90B2-6812872D8185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475F4A08-1231-4B05-993E-232A69DBFCC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13C3B45-92ED-44C4-971E-11EA4776AB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6E14ADC5-E319-428E-A681-B52BD88DEC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1D9D405-AF5F-4D6F-A7D4-9A6223F98B99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B922ED61-EA97-48CE-9128-5125CA1424F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6250672-1F64-4288-92C8-72755B0971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Discuss space requirements, cost of access (arithmetic versus indirection), locality, and setup cost.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Argument for indirection vectors include ease of implementing ragged arrays, expense of row-swap operations,</a:t>
            </a: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Decreased size of contiguous memory blocks.</a:t>
            </a:r>
          </a:p>
          <a:p>
            <a:pPr eaLnBrk="1" hangingPunct="1"/>
            <a:endParaRPr lang="en-US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Contiguous arrays have better (or, perhaps, better understood) optimization for access code; it is hard to envision a optimizing a five dimensional access that varies in the first dimension for an indirection-vector implementation.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625DFD92-B376-4674-903F-4D2BE1709C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45C6B0B-352C-4443-B2B8-4F2D3BBA8C0A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319398BB-D68D-400B-A13D-7B98EA87A27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BAE3CDFD-DCA2-47B0-8860-7B50E58E1B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92E1AD74-0F99-4F37-B27B-4B29C5EFC0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C128F6C-9326-488D-8543-84ECC64500F2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46021828-5A44-4E1C-8718-7E1BACF5A31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55A77639-5FE4-4339-A04A-42347844D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7D100665-C9DB-4CAD-8D16-F6FC2E19A4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C51E9E0-31C0-4679-BF29-09711DCBFB36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54CB8537-8F0F-4739-B692-C8B2B76CCBA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D321D93-23EA-4266-BABD-19D0C88377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961B369A-A347-43D1-9C38-FA5F0D76FB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273EB30-3EAF-4866-96E9-FFA97B4A6E88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1607EBFF-C68A-4050-838F-FD7A8274381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9587F2B-B883-458B-83D5-B2DCA99A0D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2CC61C3F-5E0D-4120-89F8-FF30212585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C33A04D-FBF7-4D3D-AFB8-2DFB53FA307C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A3627B2C-4C86-4EC4-B05D-BE66AAAAE1E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B4CE80C-EC3D-49F8-B08A-8D107E9ED5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2B1D895E-CEFD-406F-A6E4-3D238143A7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A1D0BD7-562D-434B-B39A-C1B21CCD3D21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B7235923-8557-4F36-8F82-3A5DF6F75AB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C1C7FD5-E8E4-428B-9112-821B5D26E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BC552564-F456-47FA-BD40-825A463D2E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E668FCF-B9D8-4EC7-AACD-B1B2319F7E7A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F449B0C1-AB03-4C84-A27C-F228E1B8A35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2FB7E51D-509D-49D1-B9E7-1A1AA9C3E3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C3483F69-5FEB-40AF-A49C-0CE83082BC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A32DD05-C51A-49A4-ADFE-3D4C79F8BCE9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3E9D2279-971F-46B8-AE10-146A2E1C018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4422968-861D-488F-8C48-3428C179F7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CFE8FC6D-FBAC-4F70-8346-1A188C480E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5F2B6DD-2337-4442-9F72-F7FA1FAEA941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058378BF-B7E4-4414-B36D-477231ACC9C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0A450A9-EF2D-4B57-84A8-EAC8AFCA3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ED6CE151-D448-4805-ADD1-F39960B3D4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E18F94D-D6BE-42B4-A31C-5CA0ACBC035C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03521D15-5491-4F2E-BE01-6EBEC260C7F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F4F4740-4E33-4FAF-B20C-5E66E531E8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3677C980-5D53-454F-95EF-56CE011B0D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1DDBC80-EC89-41F8-AA89-FABEE484FF48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770BD02E-1DED-4744-A6A2-D1D5FF6530D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B261D968-FF63-4218-9633-56AD6586BC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7114F0B2-15F2-4879-8289-9F60C650BA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C863485-66D0-406C-A0BB-54A4214206B5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20F7B276-61D1-4661-ACE1-6A04CB8AE3D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7C05DE86-67AB-47CD-91FE-5C105A0A4A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92FE27B4-CFB6-4D57-9EB9-40B973B7EE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A37AC7B-8641-44D8-9137-F8D773BE3B90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50B61C9E-4C58-49CC-9E94-E4DDDC8F309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204826BE-8EA2-438E-8387-68A572EB87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46FD4FC1-715B-44FF-8596-5111FFBAE8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5E06275-FF42-4544-91E6-1ECFAF33C12A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C2712FF5-9460-494D-BF50-935876C8273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646E684D-81E1-4299-BE2A-DA8847DE6B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B8B413F1-BF72-4973-977E-00D4276024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305B0B6-CC6D-43A4-A9F3-E2CFA683C56A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67927071-8131-4E2D-A0DF-E2781A02B49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690B5C1-3A37-47F3-929E-192B774E84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69F8C05B-0804-4CCD-B12B-A4F7EED44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EB54CEC-1753-49E0-A5D8-114EFBCAFE69}" type="slidenum">
              <a:rPr lang="en-US" altLang="it-IT"/>
              <a:pPr/>
              <a:t>21</a:t>
            </a:fld>
            <a:endParaRPr lang="en-US" altLang="it-IT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C33681DC-C4CC-4DC5-BB07-70443CFA482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9377BA2F-EA8D-429B-8EE1-C5DCDDC791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D7F5740A-5BCF-48B7-96FB-F856EE1C59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263F436-DA34-4200-9F03-CB37B7CAF6CA}" type="slidenum">
              <a:rPr lang="en-US" altLang="it-IT"/>
              <a:pPr/>
              <a:t>22</a:t>
            </a:fld>
            <a:endParaRPr lang="en-US" altLang="it-IT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4785A673-0709-4C99-8F8C-71A57728DD0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8D05D46C-27EF-4044-95CE-B90DDF47A3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C611550-D0F2-48E8-8F21-61A9EC20821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DC8DE6E-2F52-4A31-9637-55E490DB94A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95395E-E67C-43B0-BF60-7ACD07042B61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619301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4B8EC39-7947-4C2A-9DC6-31E7A4176E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01A9803-6F3A-4B39-94BE-1E6D590B521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FCD2ED-B8E2-4CC3-92E7-E3A2FF311950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776117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263121E-8729-43BC-85BC-5C0AC449BEA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8C458DD-A797-4D9C-96EC-A491E654006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FB3D86-D624-454C-8156-4635C9D5665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682058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8F4945-D120-41BF-85AF-F1FAB0B5DF1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619457-5E6C-41CD-B598-E024D327EFB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63BF43-20AA-4B5D-847B-9C561EC69E7D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983000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ED984A4-CF25-4A80-AB2D-342905AD8E5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27D48AA-4394-42DD-B98B-6195EA21DF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7832E3-4F46-4084-8634-9CB124D612C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4823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8B9BCD6-2E72-437C-9027-D12BE16799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2F0ACDA-F2F6-4BF8-ACC0-007C36D6ABC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8E633B-8E37-4CAB-9E8A-B22D5E4F883D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114808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40EC841-C64D-41D4-8B8B-71564D4E71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3D40E5D-A2F8-4895-B50E-8326F210EF2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088B79-C3BC-4037-91D7-DB16FDF9E920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314378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ABADCA-E559-44C5-B5DA-E923643DE79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745A98-471F-4466-BF23-9A86A0A3BE8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7ECF69-2278-49CF-A649-06BDDA238CA4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320059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8F7687-E82A-4B85-B65D-8A85A13739D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C60E42-895A-43E7-A2A8-94B7151590E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7DDCA2-2A93-49FD-8205-6F8376B66A3A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295304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F7212AC-651C-4105-865B-A95608EC0E5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8188626-0C4F-459B-9008-F63B99BAD65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5D1B6F-12AF-464B-96A9-54398B72B89D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61049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9E760DC-CD88-4C89-8321-D973047B693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6BD08EF-CBBD-4149-891A-4B4A26602ED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F30F8B-321A-458B-857C-7A748556B4B1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758221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42E8-781B-4B16-825C-29FF998BBC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D01FA9-7A57-40C5-811C-F05644E2A6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11FDA35-67BA-4079-97ED-0197AF82CC1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ED03294-CE6D-4D9E-9497-7CF98131FCF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8EE92784-FB62-4FCC-B653-4695B95247BD}" type="slidenum">
              <a:rPr lang="en-US" altLang="it-IT"/>
              <a:pPr/>
              <a:t>‹N›</a:t>
            </a:fld>
            <a:endParaRPr lang="en-US" altLang="it-IT"/>
          </a:p>
        </p:txBody>
      </p:sp>
      <p:pic>
        <p:nvPicPr>
          <p:cNvPr id="2" name="Picture 7" descr="2007Shield">
            <a:extLst>
              <a:ext uri="{FF2B5EF4-FFF2-40B4-BE49-F238E27FC236}">
                <a16:creationId xmlns:a16="http://schemas.microsoft.com/office/drawing/2014/main" id="{03E34E1D-00F2-42F6-AEBA-E7311B122D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28600"/>
            <a:ext cx="9588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FBA2C74B-E161-4E66-B1AC-AF5BAB33770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1066800"/>
            <a:ext cx="6858000" cy="0"/>
          </a:xfrm>
          <a:prstGeom prst="line">
            <a:avLst/>
          </a:prstGeom>
          <a:noFill/>
          <a:ln w="57150">
            <a:solidFill>
              <a:srgbClr val="003C75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12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—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90000"/>
        <a:buFont typeface="Symbol" panose="05050102010706020507" pitchFamily="18" charset="2"/>
        <a:buChar char="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1D9B8772-4984-4D0D-BA6A-B5D44B5C5EC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752600"/>
          </a:xfrm>
        </p:spPr>
        <p:txBody>
          <a:bodyPr/>
          <a:lstStyle/>
          <a:p>
            <a:pPr algn="ctr" eaLnBrk="1" hangingPunct="1"/>
            <a:r>
              <a:rPr lang="en-US" altLang="it-IT" sz="3200" i="1"/>
              <a:t>Code Shape, Part II</a:t>
            </a:r>
            <a:br>
              <a:rPr lang="en-US" altLang="it-IT" sz="3200" i="1"/>
            </a:br>
            <a:r>
              <a:rPr lang="en-US" altLang="it-IT" sz="2800" i="1"/>
              <a:t>Addressing Arrays, Aggregates, &amp; Strings</a:t>
            </a:r>
            <a:br>
              <a:rPr lang="en-US" altLang="it-IT" sz="3200" i="1"/>
            </a:br>
            <a:br>
              <a:rPr lang="en-US" altLang="it-IT" sz="1200" i="1"/>
            </a:br>
            <a:r>
              <a:rPr lang="en-US" altLang="it-IT" sz="3200" i="1"/>
              <a:t>Comp 412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F0E3F1BC-9A9B-427A-9A69-85D52C9200A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15363" name="Picture 4" descr="2007Logo">
            <a:extLst>
              <a:ext uri="{FF2B5EF4-FFF2-40B4-BE49-F238E27FC236}">
                <a16:creationId xmlns:a16="http://schemas.microsoft.com/office/drawing/2014/main" id="{43D01F4C-C02F-483D-BBD5-D9F019FB8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8">
            <a:extLst>
              <a:ext uri="{FF2B5EF4-FFF2-40B4-BE49-F238E27FC236}">
                <a16:creationId xmlns:a16="http://schemas.microsoft.com/office/drawing/2014/main" id="{EC20155A-DF35-4E36-8B62-20A387B75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</a:rPr>
              <a:t>COMP 412</a:t>
            </a:r>
          </a:p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</a:rPr>
              <a:t>FALL 2010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F038A985-5A7A-4E72-948F-0340F30CD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Last Lecture</a:t>
            </a:r>
          </a:p>
        </p:txBody>
      </p:sp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BB599935-329E-4BE0-A695-D7C1BB44B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Code Generation for Expressions</a:t>
            </a:r>
          </a:p>
          <a:p>
            <a:pPr>
              <a:spcBef>
                <a:spcPts val="600"/>
              </a:spcBef>
            </a:pPr>
            <a:r>
              <a:rPr lang="en-US" altLang="it-IT"/>
              <a:t>Simple treewalk produces reasonable code</a:t>
            </a:r>
          </a:p>
          <a:p>
            <a:pPr lvl="1">
              <a:spcBef>
                <a:spcPts val="600"/>
              </a:spcBef>
            </a:pPr>
            <a:r>
              <a:rPr lang="en-US" altLang="it-IT"/>
              <a:t>Execute most demanding subtree first</a:t>
            </a:r>
          </a:p>
          <a:p>
            <a:pPr lvl="1">
              <a:spcBef>
                <a:spcPts val="600"/>
              </a:spcBef>
            </a:pPr>
            <a:r>
              <a:rPr lang="en-US" altLang="it-IT"/>
              <a:t>Generate function calls inline</a:t>
            </a:r>
          </a:p>
          <a:p>
            <a:pPr lvl="1">
              <a:spcBef>
                <a:spcPts val="600"/>
              </a:spcBef>
            </a:pPr>
            <a:r>
              <a:rPr lang="en-US" altLang="it-IT"/>
              <a:t>Can implement treewalk explicitly, with an AG or ad hoc SDT …</a:t>
            </a:r>
          </a:p>
          <a:p>
            <a:pPr>
              <a:spcBef>
                <a:spcPts val="600"/>
              </a:spcBef>
            </a:pPr>
            <a:r>
              <a:rPr lang="en-US" altLang="it-IT"/>
              <a:t>Handle assignment as an operator</a:t>
            </a:r>
          </a:p>
          <a:p>
            <a:pPr lvl="1">
              <a:spcBef>
                <a:spcPts val="600"/>
              </a:spcBef>
            </a:pPr>
            <a:r>
              <a:rPr lang="en-US" altLang="it-IT"/>
              <a:t>Insert conversions according to language-specific rules</a:t>
            </a:r>
          </a:p>
          <a:p>
            <a:pPr lvl="1">
              <a:spcBef>
                <a:spcPts val="600"/>
              </a:spcBef>
            </a:pPr>
            <a:r>
              <a:rPr lang="en-US" altLang="it-IT"/>
              <a:t>If compile-time checking is impossible, check tags at runtime</a:t>
            </a:r>
          </a:p>
          <a:p>
            <a:pPr lvl="1">
              <a:spcBef>
                <a:spcPts val="600"/>
              </a:spcBef>
            </a:pPr>
            <a:r>
              <a:rPr lang="en-US" altLang="it-IT"/>
              <a:t>Talked about reference counting as alternative to GC</a:t>
            </a:r>
          </a:p>
          <a:p>
            <a:pPr>
              <a:spcBef>
                <a:spcPts val="3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Today</a:t>
            </a:r>
            <a:r>
              <a:rPr lang="en-US" altLang="it-IT"/>
              <a:t> </a:t>
            </a:r>
          </a:p>
          <a:p>
            <a:pPr>
              <a:spcBef>
                <a:spcPts val="600"/>
              </a:spcBef>
            </a:pPr>
            <a:r>
              <a:rPr lang="en-US" altLang="it-IT"/>
              <a:t>Addressing arrays and aggregates</a:t>
            </a:r>
          </a:p>
          <a:p>
            <a:pPr>
              <a:spcBef>
                <a:spcPts val="600"/>
              </a:spcBef>
            </a:pPr>
            <a:r>
              <a:rPr lang="en-US" altLang="it-IT"/>
              <a:t>Next Time: Booleans &amp; Relationals</a:t>
            </a:r>
          </a:p>
          <a:p>
            <a:pPr lvl="1"/>
            <a:endParaRPr lang="en-US" altLang="it-IT"/>
          </a:p>
          <a:p>
            <a:pPr>
              <a:buFont typeface="Times" panose="02020603050405020304" pitchFamily="18" charset="0"/>
              <a:buNone/>
            </a:pPr>
            <a:endParaRPr lang="en-US" altLang="it-IT"/>
          </a:p>
        </p:txBody>
      </p:sp>
      <p:sp>
        <p:nvSpPr>
          <p:cNvPr id="17411" name="Footer Placeholder 3">
            <a:extLst>
              <a:ext uri="{FF2B5EF4-FFF2-40B4-BE49-F238E27FC236}">
                <a16:creationId xmlns:a16="http://schemas.microsoft.com/office/drawing/2014/main" id="{53721833-1AC9-4602-8F0B-F8E3F6FC83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7412" name="Slide Number Placeholder 4">
            <a:extLst>
              <a:ext uri="{FF2B5EF4-FFF2-40B4-BE49-F238E27FC236}">
                <a16:creationId xmlns:a16="http://schemas.microsoft.com/office/drawing/2014/main" id="{8821F4A8-E41D-489A-A3BF-91DD8868FB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13CCAA3-232A-43BE-91C8-B3F51EEF7049}" type="slidenum">
              <a:rPr lang="en-US" altLang="it-IT"/>
              <a:pPr/>
              <a:t>1</a:t>
            </a:fld>
            <a:endParaRPr lang="en-US" alt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Footer Placeholder 3">
            <a:extLst>
              <a:ext uri="{FF2B5EF4-FFF2-40B4-BE49-F238E27FC236}">
                <a16:creationId xmlns:a16="http://schemas.microsoft.com/office/drawing/2014/main" id="{5510D330-DE6E-4D55-B59B-4D6C07A729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8434" name="Slide Number Placeholder 4">
            <a:extLst>
              <a:ext uri="{FF2B5EF4-FFF2-40B4-BE49-F238E27FC236}">
                <a16:creationId xmlns:a16="http://schemas.microsoft.com/office/drawing/2014/main" id="{9DC9BEDF-C945-4E55-963C-808718A386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9605C8D-D05A-466B-BD5C-4D53A44ABD4C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71DAA192-5749-4194-94C0-2C96FF22E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How does the compiler handle A</a:t>
            </a:r>
            <a:r>
              <a:rPr lang="en-US" altLang="it-IT" sz="2000" b="1">
                <a:sym typeface="Symbol" panose="05050102010706020507" pitchFamily="18" charset="2"/>
              </a:rPr>
              <a:t>[i,j] </a:t>
            </a:r>
            <a:r>
              <a:rPr lang="en-US" altLang="it-IT">
                <a:sym typeface="Symbol" panose="05050102010706020507" pitchFamily="18" charset="2"/>
              </a:rPr>
              <a:t>?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B50B93F-EC2A-49C4-A41C-82DF5817F9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3340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First, must agree on a storage scheme</a:t>
            </a:r>
          </a:p>
          <a:p>
            <a:pPr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 sz="1800" i="1">
                <a:sym typeface="Symbol" panose="05050102010706020507" pitchFamily="18" charset="2"/>
              </a:rPr>
              <a:t>Row-major order                                                  </a:t>
            </a:r>
            <a:r>
              <a:rPr lang="en-US" altLang="it-IT" sz="1600">
                <a:solidFill>
                  <a:srgbClr val="FF0065"/>
                </a:solidFill>
                <a:sym typeface="Symbol" panose="05050102010706020507" pitchFamily="18" charset="2"/>
              </a:rPr>
              <a:t>(most languages</a:t>
            </a:r>
            <a:r>
              <a:rPr lang="en-US" altLang="it-IT" sz="160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endParaRPr lang="en-US" altLang="it-IT" sz="1800">
              <a:sym typeface="Symbol" panose="05050102010706020507" pitchFamily="18" charset="2"/>
            </a:endParaRPr>
          </a:p>
          <a:p>
            <a:pPr lvl="1" eaLnBrk="1" hangingPunct="1">
              <a:spcBef>
                <a:spcPts val="600"/>
              </a:spcBef>
              <a:buFontTx/>
              <a:buNone/>
            </a:pPr>
            <a:r>
              <a:rPr lang="en-US" altLang="it-IT" sz="1600">
                <a:sym typeface="Symbol" panose="05050102010706020507" pitchFamily="18" charset="2"/>
              </a:rPr>
              <a:t>Lay out as a sequence of consecutive rows</a:t>
            </a:r>
          </a:p>
          <a:p>
            <a:pPr lvl="1" eaLnBrk="1" hangingPunct="1">
              <a:spcBef>
                <a:spcPts val="600"/>
              </a:spcBef>
              <a:buFontTx/>
              <a:buNone/>
            </a:pPr>
            <a:r>
              <a:rPr lang="en-US" altLang="it-IT" sz="1600">
                <a:sym typeface="Symbol" panose="05050102010706020507" pitchFamily="18" charset="2"/>
              </a:rPr>
              <a:t>Rightmost subscript varies fastest</a:t>
            </a:r>
          </a:p>
          <a:p>
            <a:pPr lvl="1" eaLnBrk="1" hangingPunct="1">
              <a:spcBef>
                <a:spcPts val="600"/>
              </a:spcBef>
              <a:buFontTx/>
              <a:buNone/>
            </a:pPr>
            <a:r>
              <a:rPr lang="en-US" altLang="it-IT" sz="1600">
                <a:sym typeface="Symbol" panose="05050102010706020507" pitchFamily="18" charset="2"/>
              </a:rPr>
              <a:t>A[1,1], A[1,2], A[1,3], A[2,1], A[2,2], A[2,3]</a:t>
            </a:r>
            <a:endParaRPr lang="en-US" altLang="it-IT" sz="1600" i="1">
              <a:sym typeface="Symbol" panose="05050102010706020507" pitchFamily="18" charset="2"/>
            </a:endParaRP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 sz="1800" i="1">
                <a:sym typeface="Symbol" panose="05050102010706020507" pitchFamily="18" charset="2"/>
              </a:rPr>
              <a:t>Column-major order                                                       </a:t>
            </a:r>
            <a:r>
              <a:rPr lang="en-US" altLang="it-IT" sz="1600">
                <a:solidFill>
                  <a:srgbClr val="FF0065"/>
                </a:solidFill>
                <a:sym typeface="Symbol" panose="05050102010706020507" pitchFamily="18" charset="2"/>
              </a:rPr>
              <a:t>(Fortran)</a:t>
            </a:r>
            <a:r>
              <a:rPr lang="en-US" altLang="it-IT" sz="1800">
                <a:solidFill>
                  <a:srgbClr val="FF0065"/>
                </a:solidFill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spcBef>
                <a:spcPts val="600"/>
              </a:spcBef>
              <a:buFontTx/>
              <a:buNone/>
            </a:pPr>
            <a:r>
              <a:rPr lang="en-US" altLang="it-IT" sz="1600">
                <a:sym typeface="Symbol" panose="05050102010706020507" pitchFamily="18" charset="2"/>
              </a:rPr>
              <a:t>Lay out as a sequence of columns</a:t>
            </a:r>
          </a:p>
          <a:p>
            <a:pPr lvl="1" eaLnBrk="1" hangingPunct="1">
              <a:spcBef>
                <a:spcPts val="600"/>
              </a:spcBef>
              <a:buFontTx/>
              <a:buNone/>
            </a:pPr>
            <a:r>
              <a:rPr lang="en-US" altLang="it-IT" sz="1600">
                <a:sym typeface="Symbol" panose="05050102010706020507" pitchFamily="18" charset="2"/>
              </a:rPr>
              <a:t>Leftmost subscript varies fastest</a:t>
            </a:r>
          </a:p>
          <a:p>
            <a:pPr lvl="1" eaLnBrk="1" hangingPunct="1">
              <a:spcBef>
                <a:spcPts val="600"/>
              </a:spcBef>
              <a:buFontTx/>
              <a:buNone/>
            </a:pPr>
            <a:r>
              <a:rPr lang="en-US" altLang="it-IT" sz="1600">
                <a:sym typeface="Symbol" panose="05050102010706020507" pitchFamily="18" charset="2"/>
              </a:rPr>
              <a:t>A[1,1], A[2,1], A[1,2], A[2,2], A[1,3], A[2,3]</a:t>
            </a:r>
            <a:endParaRPr lang="en-US" altLang="it-IT" sz="1600" i="1">
              <a:sym typeface="Symbol" panose="05050102010706020507" pitchFamily="18" charset="2"/>
            </a:endParaRP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 sz="1800" i="1">
                <a:sym typeface="Symbol" panose="05050102010706020507" pitchFamily="18" charset="2"/>
              </a:rPr>
              <a:t>Indirection vectors                                                            </a:t>
            </a:r>
            <a:r>
              <a:rPr lang="en-US" altLang="it-IT" sz="1600">
                <a:solidFill>
                  <a:srgbClr val="FF0065"/>
                </a:solidFill>
                <a:sym typeface="Symbol" panose="05050102010706020507" pitchFamily="18" charset="2"/>
              </a:rPr>
              <a:t>(Java)</a:t>
            </a:r>
            <a:r>
              <a:rPr lang="en-US" altLang="it-IT" sz="1800"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spcBef>
                <a:spcPts val="600"/>
              </a:spcBef>
              <a:buFontTx/>
              <a:buNone/>
            </a:pPr>
            <a:r>
              <a:rPr lang="en-US" altLang="it-IT" sz="1600">
                <a:sym typeface="Symbol" panose="05050102010706020507" pitchFamily="18" charset="2"/>
              </a:rPr>
              <a:t>Vector of pointers to pointers to … to values</a:t>
            </a:r>
          </a:p>
          <a:p>
            <a:pPr lvl="1" eaLnBrk="1" hangingPunct="1">
              <a:spcBef>
                <a:spcPts val="600"/>
              </a:spcBef>
              <a:buFontTx/>
              <a:buNone/>
            </a:pPr>
            <a:r>
              <a:rPr lang="en-US" altLang="it-IT" sz="1600">
                <a:sym typeface="Symbol" panose="05050102010706020507" pitchFamily="18" charset="2"/>
              </a:rPr>
              <a:t>Takes much more space, trades indirection for arithmetic</a:t>
            </a:r>
          </a:p>
          <a:p>
            <a:pPr lvl="1" eaLnBrk="1" hangingPunct="1">
              <a:spcBef>
                <a:spcPts val="600"/>
              </a:spcBef>
              <a:buFontTx/>
              <a:buNone/>
            </a:pPr>
            <a:r>
              <a:rPr lang="en-US" altLang="it-IT" sz="1600">
                <a:sym typeface="Symbol" panose="05050102010706020507" pitchFamily="18" charset="2"/>
              </a:rPr>
              <a:t>Not amenable to analysis</a:t>
            </a: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Footer Placeholder 3">
            <a:extLst>
              <a:ext uri="{FF2B5EF4-FFF2-40B4-BE49-F238E27FC236}">
                <a16:creationId xmlns:a16="http://schemas.microsoft.com/office/drawing/2014/main" id="{3C429970-D301-4B2E-86CA-80057F9A82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0482" name="Slide Number Placeholder 4">
            <a:extLst>
              <a:ext uri="{FF2B5EF4-FFF2-40B4-BE49-F238E27FC236}">
                <a16:creationId xmlns:a16="http://schemas.microsoft.com/office/drawing/2014/main" id="{214B2479-61FA-4340-A6C2-25F5D12884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C690A4E-5890-45B3-B07D-FF86F1AE704A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8B9C879-A950-4A62-B5C1-FB00F9E483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Laying Out Arrays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9DABD4CC-C88F-41BB-A1D0-50D98E604A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The Concept</a:t>
            </a:r>
          </a:p>
          <a:p>
            <a:pPr eaLnBrk="1" hangingPunct="1">
              <a:spcBef>
                <a:spcPts val="9600"/>
              </a:spcBef>
              <a:buFont typeface="Times" panose="02020603050405020304" pitchFamily="18" charset="0"/>
              <a:buNone/>
            </a:pPr>
            <a:r>
              <a:rPr lang="en-US" altLang="it-IT" i="1"/>
              <a:t>Row-major order</a:t>
            </a:r>
          </a:p>
          <a:p>
            <a:pPr eaLnBrk="1" hangingPunct="1">
              <a:spcBef>
                <a:spcPts val="4800"/>
              </a:spcBef>
              <a:buFont typeface="Times" panose="02020603050405020304" pitchFamily="18" charset="0"/>
              <a:buNone/>
            </a:pPr>
            <a:r>
              <a:rPr lang="en-US" altLang="it-IT" i="1"/>
              <a:t>Column-major order</a:t>
            </a:r>
          </a:p>
          <a:p>
            <a:pPr eaLnBrk="1" hangingPunct="1">
              <a:spcBef>
                <a:spcPts val="6000"/>
              </a:spcBef>
              <a:buFont typeface="Times" panose="02020603050405020304" pitchFamily="18" charset="0"/>
              <a:buNone/>
            </a:pPr>
            <a:r>
              <a:rPr lang="en-US" altLang="it-IT" i="1"/>
              <a:t>Indirection vectors</a:t>
            </a:r>
            <a:endParaRPr lang="en-US" altLang="it-IT"/>
          </a:p>
        </p:txBody>
      </p:sp>
      <p:grpSp>
        <p:nvGrpSpPr>
          <p:cNvPr id="20485" name="Group 4">
            <a:extLst>
              <a:ext uri="{FF2B5EF4-FFF2-40B4-BE49-F238E27FC236}">
                <a16:creationId xmlns:a16="http://schemas.microsoft.com/office/drawing/2014/main" id="{CB4CE0D4-6E94-4A72-A0AF-AD2E790318BD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3124200"/>
            <a:ext cx="4800600" cy="381000"/>
            <a:chOff x="1008" y="1056"/>
            <a:chExt cx="3024" cy="240"/>
          </a:xfrm>
        </p:grpSpPr>
        <p:sp>
          <p:nvSpPr>
            <p:cNvPr id="50221" name="Rectangle 5">
              <a:extLst>
                <a:ext uri="{FF2B5EF4-FFF2-40B4-BE49-F238E27FC236}">
                  <a16:creationId xmlns:a16="http://schemas.microsoft.com/office/drawing/2014/main" id="{5904CED0-B009-41D0-B3C2-39A980C27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056"/>
              <a:ext cx="336" cy="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 dirty="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1,1</a:t>
              </a:r>
            </a:p>
          </p:txBody>
        </p:sp>
        <p:sp>
          <p:nvSpPr>
            <p:cNvPr id="50222" name="Rectangle 6">
              <a:extLst>
                <a:ext uri="{FF2B5EF4-FFF2-40B4-BE49-F238E27FC236}">
                  <a16:creationId xmlns:a16="http://schemas.microsoft.com/office/drawing/2014/main" id="{74535C54-6588-40FF-8106-DBF9EF4C0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056"/>
              <a:ext cx="336" cy="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1,2</a:t>
              </a:r>
            </a:p>
          </p:txBody>
        </p:sp>
        <p:sp>
          <p:nvSpPr>
            <p:cNvPr id="50223" name="Rectangle 7">
              <a:extLst>
                <a:ext uri="{FF2B5EF4-FFF2-40B4-BE49-F238E27FC236}">
                  <a16:creationId xmlns:a16="http://schemas.microsoft.com/office/drawing/2014/main" id="{E08649C9-F848-45D9-8A7A-2395F0185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056"/>
              <a:ext cx="336" cy="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1,3</a:t>
              </a:r>
            </a:p>
          </p:txBody>
        </p:sp>
        <p:sp>
          <p:nvSpPr>
            <p:cNvPr id="50224" name="Rectangle 8">
              <a:extLst>
                <a:ext uri="{FF2B5EF4-FFF2-40B4-BE49-F238E27FC236}">
                  <a16:creationId xmlns:a16="http://schemas.microsoft.com/office/drawing/2014/main" id="{FD1394CC-0A2D-4F8E-9F56-06F6AE5CD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056"/>
              <a:ext cx="336" cy="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1,4</a:t>
              </a:r>
            </a:p>
          </p:txBody>
        </p:sp>
        <p:sp>
          <p:nvSpPr>
            <p:cNvPr id="50225" name="Rectangle 9">
              <a:extLst>
                <a:ext uri="{FF2B5EF4-FFF2-40B4-BE49-F238E27FC236}">
                  <a16:creationId xmlns:a16="http://schemas.microsoft.com/office/drawing/2014/main" id="{8BECEC8A-7160-4BC4-A9BD-B3AE9904E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056"/>
              <a:ext cx="336" cy="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2,1</a:t>
              </a:r>
            </a:p>
          </p:txBody>
        </p:sp>
        <p:sp>
          <p:nvSpPr>
            <p:cNvPr id="50226" name="Rectangle 10">
              <a:extLst>
                <a:ext uri="{FF2B5EF4-FFF2-40B4-BE49-F238E27FC236}">
                  <a16:creationId xmlns:a16="http://schemas.microsoft.com/office/drawing/2014/main" id="{242F92D2-C534-45C8-A467-23DD633C9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336" cy="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2,2</a:t>
              </a:r>
            </a:p>
          </p:txBody>
        </p:sp>
        <p:sp>
          <p:nvSpPr>
            <p:cNvPr id="50227" name="Rectangle 11">
              <a:extLst>
                <a:ext uri="{FF2B5EF4-FFF2-40B4-BE49-F238E27FC236}">
                  <a16:creationId xmlns:a16="http://schemas.microsoft.com/office/drawing/2014/main" id="{2D4545CB-20D5-47D4-8745-BA34601F0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056"/>
              <a:ext cx="336" cy="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2,3</a:t>
              </a:r>
            </a:p>
          </p:txBody>
        </p:sp>
        <p:sp>
          <p:nvSpPr>
            <p:cNvPr id="50228" name="Rectangle 12">
              <a:extLst>
                <a:ext uri="{FF2B5EF4-FFF2-40B4-BE49-F238E27FC236}">
                  <a16:creationId xmlns:a16="http://schemas.microsoft.com/office/drawing/2014/main" id="{4DA9790B-825C-48E9-9A29-C65AAC5E7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056"/>
              <a:ext cx="336" cy="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2,4</a:t>
              </a:r>
            </a:p>
          </p:txBody>
        </p:sp>
        <p:sp>
          <p:nvSpPr>
            <p:cNvPr id="20532" name="Rectangle 13">
              <a:extLst>
                <a:ext uri="{FF2B5EF4-FFF2-40B4-BE49-F238E27FC236}">
                  <a16:creationId xmlns:a16="http://schemas.microsoft.com/office/drawing/2014/main" id="{C2D9B00D-DFA4-4A37-8BB4-ACFB17CDB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056"/>
              <a:ext cx="3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A</a:t>
              </a:r>
            </a:p>
          </p:txBody>
        </p:sp>
      </p:grpSp>
      <p:grpSp>
        <p:nvGrpSpPr>
          <p:cNvPr id="20486" name="Group 14">
            <a:extLst>
              <a:ext uri="{FF2B5EF4-FFF2-40B4-BE49-F238E27FC236}">
                <a16:creationId xmlns:a16="http://schemas.microsoft.com/office/drawing/2014/main" id="{3804859D-42EB-4A56-9D97-F6118E879FB7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114800"/>
            <a:ext cx="4800600" cy="381000"/>
            <a:chOff x="1008" y="1056"/>
            <a:chExt cx="3024" cy="240"/>
          </a:xfrm>
        </p:grpSpPr>
        <p:sp>
          <p:nvSpPr>
            <p:cNvPr id="50212" name="Rectangle 15">
              <a:extLst>
                <a:ext uri="{FF2B5EF4-FFF2-40B4-BE49-F238E27FC236}">
                  <a16:creationId xmlns:a16="http://schemas.microsoft.com/office/drawing/2014/main" id="{B7064C04-5827-4E74-9E9A-E17CB3039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056"/>
              <a:ext cx="336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 dirty="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1,1</a:t>
              </a:r>
            </a:p>
          </p:txBody>
        </p:sp>
        <p:sp>
          <p:nvSpPr>
            <p:cNvPr id="50213" name="Rectangle 16">
              <a:extLst>
                <a:ext uri="{FF2B5EF4-FFF2-40B4-BE49-F238E27FC236}">
                  <a16:creationId xmlns:a16="http://schemas.microsoft.com/office/drawing/2014/main" id="{2108B9DF-6347-4A56-8695-F4E8A404B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056"/>
              <a:ext cx="336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2,1</a:t>
              </a:r>
            </a:p>
          </p:txBody>
        </p:sp>
        <p:sp>
          <p:nvSpPr>
            <p:cNvPr id="50214" name="Rectangle 17">
              <a:extLst>
                <a:ext uri="{FF2B5EF4-FFF2-40B4-BE49-F238E27FC236}">
                  <a16:creationId xmlns:a16="http://schemas.microsoft.com/office/drawing/2014/main" id="{10497194-56EF-4168-AD8B-91FB23939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056"/>
              <a:ext cx="336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1,2</a:t>
              </a:r>
            </a:p>
          </p:txBody>
        </p:sp>
        <p:sp>
          <p:nvSpPr>
            <p:cNvPr id="50215" name="Rectangle 18">
              <a:extLst>
                <a:ext uri="{FF2B5EF4-FFF2-40B4-BE49-F238E27FC236}">
                  <a16:creationId xmlns:a16="http://schemas.microsoft.com/office/drawing/2014/main" id="{D7EE2E9A-030E-4E3E-8BD7-11A414B11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056"/>
              <a:ext cx="336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2,2</a:t>
              </a:r>
            </a:p>
          </p:txBody>
        </p:sp>
        <p:sp>
          <p:nvSpPr>
            <p:cNvPr id="50216" name="Rectangle 19">
              <a:extLst>
                <a:ext uri="{FF2B5EF4-FFF2-40B4-BE49-F238E27FC236}">
                  <a16:creationId xmlns:a16="http://schemas.microsoft.com/office/drawing/2014/main" id="{E0981841-7412-49E4-8813-C357A987D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056"/>
              <a:ext cx="336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1,3</a:t>
              </a:r>
            </a:p>
          </p:txBody>
        </p:sp>
        <p:sp>
          <p:nvSpPr>
            <p:cNvPr id="50217" name="Rectangle 20">
              <a:extLst>
                <a:ext uri="{FF2B5EF4-FFF2-40B4-BE49-F238E27FC236}">
                  <a16:creationId xmlns:a16="http://schemas.microsoft.com/office/drawing/2014/main" id="{7C300F3D-7469-4017-A4B9-D01CC7E2F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56"/>
              <a:ext cx="336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2,3</a:t>
              </a:r>
            </a:p>
          </p:txBody>
        </p:sp>
        <p:sp>
          <p:nvSpPr>
            <p:cNvPr id="50218" name="Rectangle 21">
              <a:extLst>
                <a:ext uri="{FF2B5EF4-FFF2-40B4-BE49-F238E27FC236}">
                  <a16:creationId xmlns:a16="http://schemas.microsoft.com/office/drawing/2014/main" id="{86F9C4B8-3C9D-4CA7-8FCB-9090A2DE7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056"/>
              <a:ext cx="336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1,4</a:t>
              </a:r>
            </a:p>
          </p:txBody>
        </p:sp>
        <p:sp>
          <p:nvSpPr>
            <p:cNvPr id="50219" name="Rectangle 22">
              <a:extLst>
                <a:ext uri="{FF2B5EF4-FFF2-40B4-BE49-F238E27FC236}">
                  <a16:creationId xmlns:a16="http://schemas.microsoft.com/office/drawing/2014/main" id="{8D818511-7D74-46F9-9716-916DF9567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056"/>
              <a:ext cx="336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2,4</a:t>
              </a:r>
            </a:p>
          </p:txBody>
        </p:sp>
        <p:sp>
          <p:nvSpPr>
            <p:cNvPr id="20523" name="Rectangle 23">
              <a:extLst>
                <a:ext uri="{FF2B5EF4-FFF2-40B4-BE49-F238E27FC236}">
                  <a16:creationId xmlns:a16="http://schemas.microsoft.com/office/drawing/2014/main" id="{A960A6D5-FA38-4859-90E6-BC3E9BF11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056"/>
              <a:ext cx="3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A</a:t>
              </a:r>
            </a:p>
          </p:txBody>
        </p:sp>
      </p:grpSp>
      <p:grpSp>
        <p:nvGrpSpPr>
          <p:cNvPr id="20487" name="Group 24">
            <a:extLst>
              <a:ext uri="{FF2B5EF4-FFF2-40B4-BE49-F238E27FC236}">
                <a16:creationId xmlns:a16="http://schemas.microsoft.com/office/drawing/2014/main" id="{E22D02B0-1007-49B0-8DF8-AD5D01926DF3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600200"/>
            <a:ext cx="2667000" cy="762000"/>
            <a:chOff x="960" y="1056"/>
            <a:chExt cx="1680" cy="480"/>
          </a:xfrm>
        </p:grpSpPr>
        <p:grpSp>
          <p:nvGrpSpPr>
            <p:cNvPr id="20504" name="Group 25">
              <a:extLst>
                <a:ext uri="{FF2B5EF4-FFF2-40B4-BE49-F238E27FC236}">
                  <a16:creationId xmlns:a16="http://schemas.microsoft.com/office/drawing/2014/main" id="{0C7433A5-3391-4DB8-9AE4-87928859A1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1056"/>
              <a:ext cx="1344" cy="480"/>
              <a:chOff x="1296" y="1056"/>
              <a:chExt cx="1344" cy="480"/>
            </a:xfrm>
          </p:grpSpPr>
          <p:sp>
            <p:nvSpPr>
              <p:cNvPr id="50203" name="Rectangle 26">
                <a:extLst>
                  <a:ext uri="{FF2B5EF4-FFF2-40B4-BE49-F238E27FC236}">
                    <a16:creationId xmlns:a16="http://schemas.microsoft.com/office/drawing/2014/main" id="{E48FAAD0-5AD1-4FA7-A560-7AB683DF0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1056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Arial Rounded MT Bold" charset="0"/>
                    <a:ea typeface="ヒラギノ角ゴ Pro W3" charset="-128"/>
                    <a:cs typeface="ヒラギノ角ゴ Pro W3" charset="-128"/>
                  </a:rPr>
                  <a:t>1,1</a:t>
                </a:r>
              </a:p>
            </p:txBody>
          </p:sp>
          <p:sp>
            <p:nvSpPr>
              <p:cNvPr id="50204" name="Rectangle 27">
                <a:extLst>
                  <a:ext uri="{FF2B5EF4-FFF2-40B4-BE49-F238E27FC236}">
                    <a16:creationId xmlns:a16="http://schemas.microsoft.com/office/drawing/2014/main" id="{B4C94C36-1A0B-4334-8E98-023B4E0926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056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>
                    <a:latin typeface="Arial Rounded MT Bold" charset="0"/>
                    <a:ea typeface="ヒラギノ角ゴ Pro W3" charset="-128"/>
                    <a:cs typeface="ヒラギノ角ゴ Pro W3" charset="-128"/>
                  </a:rPr>
                  <a:t>1,2</a:t>
                </a:r>
              </a:p>
            </p:txBody>
          </p:sp>
          <p:sp>
            <p:nvSpPr>
              <p:cNvPr id="50205" name="Rectangle 28">
                <a:extLst>
                  <a:ext uri="{FF2B5EF4-FFF2-40B4-BE49-F238E27FC236}">
                    <a16:creationId xmlns:a16="http://schemas.microsoft.com/office/drawing/2014/main" id="{540A32C4-4684-4F8C-A212-87EBFB7153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056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>
                    <a:latin typeface="Arial Rounded MT Bold" charset="0"/>
                    <a:ea typeface="ヒラギノ角ゴ Pro W3" charset="-128"/>
                    <a:cs typeface="ヒラギノ角ゴ Pro W3" charset="-128"/>
                  </a:rPr>
                  <a:t>1,3</a:t>
                </a:r>
              </a:p>
            </p:txBody>
          </p:sp>
          <p:sp>
            <p:nvSpPr>
              <p:cNvPr id="50206" name="Rectangle 29">
                <a:extLst>
                  <a:ext uri="{FF2B5EF4-FFF2-40B4-BE49-F238E27FC236}">
                    <a16:creationId xmlns:a16="http://schemas.microsoft.com/office/drawing/2014/main" id="{AB5FC072-D991-4F5C-917B-874E4BD3FA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1056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>
                    <a:latin typeface="Arial Rounded MT Bold" charset="0"/>
                    <a:ea typeface="ヒラギノ角ゴ Pro W3" charset="-128"/>
                    <a:cs typeface="ヒラギノ角ゴ Pro W3" charset="-128"/>
                  </a:rPr>
                  <a:t>1,4</a:t>
                </a:r>
              </a:p>
            </p:txBody>
          </p:sp>
          <p:grpSp>
            <p:nvGrpSpPr>
              <p:cNvPr id="20510" name="Group 30">
                <a:extLst>
                  <a:ext uri="{FF2B5EF4-FFF2-40B4-BE49-F238E27FC236}">
                    <a16:creationId xmlns:a16="http://schemas.microsoft.com/office/drawing/2014/main" id="{5B0B9402-BC79-4846-A46C-238C4AEE6F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6" y="1296"/>
                <a:ext cx="1344" cy="240"/>
                <a:chOff x="2640" y="1056"/>
                <a:chExt cx="1344" cy="240"/>
              </a:xfrm>
            </p:grpSpPr>
            <p:sp>
              <p:nvSpPr>
                <p:cNvPr id="50208" name="Rectangle 31">
                  <a:extLst>
                    <a:ext uri="{FF2B5EF4-FFF2-40B4-BE49-F238E27FC236}">
                      <a16:creationId xmlns:a16="http://schemas.microsoft.com/office/drawing/2014/main" id="{63574F9B-9F92-4559-A66F-F524EE421D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40" y="1056"/>
                  <a:ext cx="336" cy="24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600">
                      <a:latin typeface="Arial Rounded MT Bold" charset="0"/>
                      <a:ea typeface="ヒラギノ角ゴ Pro W3" charset="-128"/>
                      <a:cs typeface="ヒラギノ角ゴ Pro W3" charset="-128"/>
                    </a:rPr>
                    <a:t>2,1</a:t>
                  </a:r>
                </a:p>
              </p:txBody>
            </p:sp>
            <p:sp>
              <p:nvSpPr>
                <p:cNvPr id="50209" name="Rectangle 32">
                  <a:extLst>
                    <a:ext uri="{FF2B5EF4-FFF2-40B4-BE49-F238E27FC236}">
                      <a16:creationId xmlns:a16="http://schemas.microsoft.com/office/drawing/2014/main" id="{B39298B4-0624-40EB-BD28-7F3DCAA2D7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6" y="1056"/>
                  <a:ext cx="336" cy="24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600">
                      <a:latin typeface="Arial Rounded MT Bold" charset="0"/>
                      <a:ea typeface="ヒラギノ角ゴ Pro W3" charset="-128"/>
                      <a:cs typeface="ヒラギノ角ゴ Pro W3" charset="-128"/>
                    </a:rPr>
                    <a:t>2,2</a:t>
                  </a:r>
                </a:p>
              </p:txBody>
            </p:sp>
            <p:sp>
              <p:nvSpPr>
                <p:cNvPr id="50210" name="Rectangle 33">
                  <a:extLst>
                    <a:ext uri="{FF2B5EF4-FFF2-40B4-BE49-F238E27FC236}">
                      <a16:creationId xmlns:a16="http://schemas.microsoft.com/office/drawing/2014/main" id="{1C7837F1-C4B8-4DB8-B52C-4D6A25EE1C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2" y="1056"/>
                  <a:ext cx="336" cy="24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600">
                      <a:latin typeface="Arial Rounded MT Bold" charset="0"/>
                      <a:ea typeface="ヒラギノ角ゴ Pro W3" charset="-128"/>
                      <a:cs typeface="ヒラギノ角ゴ Pro W3" charset="-128"/>
                    </a:rPr>
                    <a:t>2,3</a:t>
                  </a:r>
                </a:p>
              </p:txBody>
            </p:sp>
            <p:sp>
              <p:nvSpPr>
                <p:cNvPr id="50211" name="Rectangle 34">
                  <a:extLst>
                    <a:ext uri="{FF2B5EF4-FFF2-40B4-BE49-F238E27FC236}">
                      <a16:creationId xmlns:a16="http://schemas.microsoft.com/office/drawing/2014/main" id="{9E8C0932-62BE-4043-838C-77028C7111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8" y="1056"/>
                  <a:ext cx="336" cy="24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600">
                      <a:latin typeface="Arial Rounded MT Bold" charset="0"/>
                      <a:ea typeface="ヒラギノ角ゴ Pro W3" charset="-128"/>
                      <a:cs typeface="ヒラギノ角ゴ Pro W3" charset="-128"/>
                    </a:rPr>
                    <a:t>2,4</a:t>
                  </a:r>
                </a:p>
              </p:txBody>
            </p:sp>
          </p:grpSp>
        </p:grpSp>
        <p:sp>
          <p:nvSpPr>
            <p:cNvPr id="20505" name="Rectangle 35">
              <a:extLst>
                <a:ext uri="{FF2B5EF4-FFF2-40B4-BE49-F238E27FC236}">
                  <a16:creationId xmlns:a16="http://schemas.microsoft.com/office/drawing/2014/main" id="{C3D2A0FB-6527-42A4-B751-FF0C354B2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152"/>
              <a:ext cx="3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A</a:t>
              </a:r>
            </a:p>
          </p:txBody>
        </p:sp>
      </p:grpSp>
      <p:grpSp>
        <p:nvGrpSpPr>
          <p:cNvPr id="20488" name="Group 36">
            <a:extLst>
              <a:ext uri="{FF2B5EF4-FFF2-40B4-BE49-F238E27FC236}">
                <a16:creationId xmlns:a16="http://schemas.microsoft.com/office/drawing/2014/main" id="{E69CFC3C-C8E4-4F9A-80DB-04F9859AA88B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105400"/>
            <a:ext cx="3505200" cy="914400"/>
            <a:chOff x="960" y="2880"/>
            <a:chExt cx="2208" cy="576"/>
          </a:xfrm>
        </p:grpSpPr>
        <p:grpSp>
          <p:nvGrpSpPr>
            <p:cNvPr id="20490" name="Group 37">
              <a:extLst>
                <a:ext uri="{FF2B5EF4-FFF2-40B4-BE49-F238E27FC236}">
                  <a16:creationId xmlns:a16="http://schemas.microsoft.com/office/drawing/2014/main" id="{C6CFC694-BB84-4346-89CE-2320CFA208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2880"/>
              <a:ext cx="1344" cy="576"/>
              <a:chOff x="1824" y="2880"/>
              <a:chExt cx="1344" cy="576"/>
            </a:xfrm>
          </p:grpSpPr>
          <p:sp>
            <p:nvSpPr>
              <p:cNvPr id="50193" name="Rectangle 38">
                <a:extLst>
                  <a:ext uri="{FF2B5EF4-FFF2-40B4-BE49-F238E27FC236}">
                    <a16:creationId xmlns:a16="http://schemas.microsoft.com/office/drawing/2014/main" id="{73017B4C-3435-4920-ABD2-7B893B9F0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2880"/>
                <a:ext cx="336" cy="2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Arial Rounded MT Bold" charset="0"/>
                    <a:ea typeface="ヒラギノ角ゴ Pro W3" charset="-128"/>
                    <a:cs typeface="ヒラギノ角ゴ Pro W3" charset="-128"/>
                  </a:rPr>
                  <a:t>1,1</a:t>
                </a:r>
              </a:p>
            </p:txBody>
          </p:sp>
          <p:sp>
            <p:nvSpPr>
              <p:cNvPr id="50194" name="Rectangle 39">
                <a:extLst>
                  <a:ext uri="{FF2B5EF4-FFF2-40B4-BE49-F238E27FC236}">
                    <a16:creationId xmlns:a16="http://schemas.microsoft.com/office/drawing/2014/main" id="{88546193-D887-4826-A7F1-A37E8032B7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880"/>
                <a:ext cx="336" cy="2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>
                    <a:latin typeface="Arial Rounded MT Bold" charset="0"/>
                    <a:ea typeface="ヒラギノ角ゴ Pro W3" charset="-128"/>
                    <a:cs typeface="ヒラギノ角ゴ Pro W3" charset="-128"/>
                  </a:rPr>
                  <a:t>1,2</a:t>
                </a:r>
              </a:p>
            </p:txBody>
          </p:sp>
          <p:sp>
            <p:nvSpPr>
              <p:cNvPr id="50195" name="Rectangle 40">
                <a:extLst>
                  <a:ext uri="{FF2B5EF4-FFF2-40B4-BE49-F238E27FC236}">
                    <a16:creationId xmlns:a16="http://schemas.microsoft.com/office/drawing/2014/main" id="{47423BC9-046B-4F17-9032-5F6C0C8C78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2880"/>
                <a:ext cx="336" cy="2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>
                    <a:latin typeface="Arial Rounded MT Bold" charset="0"/>
                    <a:ea typeface="ヒラギノ角ゴ Pro W3" charset="-128"/>
                    <a:cs typeface="ヒラギノ角ゴ Pro W3" charset="-128"/>
                  </a:rPr>
                  <a:t>1,3</a:t>
                </a:r>
              </a:p>
            </p:txBody>
          </p:sp>
          <p:sp>
            <p:nvSpPr>
              <p:cNvPr id="50196" name="Rectangle 41">
                <a:extLst>
                  <a:ext uri="{FF2B5EF4-FFF2-40B4-BE49-F238E27FC236}">
                    <a16:creationId xmlns:a16="http://schemas.microsoft.com/office/drawing/2014/main" id="{0AD6061B-DE0F-45EA-AE4F-649E7D163D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880"/>
                <a:ext cx="336" cy="2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>
                    <a:latin typeface="Arial Rounded MT Bold" charset="0"/>
                    <a:ea typeface="ヒラギノ角ゴ Pro W3" charset="-128"/>
                    <a:cs typeface="ヒラギノ角ゴ Pro W3" charset="-128"/>
                  </a:rPr>
                  <a:t>1,4</a:t>
                </a:r>
              </a:p>
            </p:txBody>
          </p:sp>
          <p:sp>
            <p:nvSpPr>
              <p:cNvPr id="50197" name="Rectangle 42">
                <a:extLst>
                  <a:ext uri="{FF2B5EF4-FFF2-40B4-BE49-F238E27FC236}">
                    <a16:creationId xmlns:a16="http://schemas.microsoft.com/office/drawing/2014/main" id="{7FF7535C-F9C7-44BF-9179-D03162B87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3216"/>
                <a:ext cx="336" cy="2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>
                    <a:latin typeface="Arial Rounded MT Bold" charset="0"/>
                    <a:ea typeface="ヒラギノ角ゴ Pro W3" charset="-128"/>
                    <a:cs typeface="ヒラギノ角ゴ Pro W3" charset="-128"/>
                  </a:rPr>
                  <a:t>2,1</a:t>
                </a:r>
              </a:p>
            </p:txBody>
          </p:sp>
          <p:sp>
            <p:nvSpPr>
              <p:cNvPr id="50198" name="Rectangle 43">
                <a:extLst>
                  <a:ext uri="{FF2B5EF4-FFF2-40B4-BE49-F238E27FC236}">
                    <a16:creationId xmlns:a16="http://schemas.microsoft.com/office/drawing/2014/main" id="{2518CCBC-FB25-4220-A28E-F7C23F2D9C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216"/>
                <a:ext cx="336" cy="2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>
                    <a:latin typeface="Arial Rounded MT Bold" charset="0"/>
                    <a:ea typeface="ヒラギノ角ゴ Pro W3" charset="-128"/>
                    <a:cs typeface="ヒラギノ角ゴ Pro W3" charset="-128"/>
                  </a:rPr>
                  <a:t>2,2</a:t>
                </a:r>
              </a:p>
            </p:txBody>
          </p:sp>
          <p:sp>
            <p:nvSpPr>
              <p:cNvPr id="50199" name="Rectangle 44">
                <a:extLst>
                  <a:ext uri="{FF2B5EF4-FFF2-40B4-BE49-F238E27FC236}">
                    <a16:creationId xmlns:a16="http://schemas.microsoft.com/office/drawing/2014/main" id="{1AB52785-5241-4BA2-AB3B-ACFBAE85ED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3216"/>
                <a:ext cx="336" cy="2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>
                    <a:latin typeface="Arial Rounded MT Bold" charset="0"/>
                    <a:ea typeface="ヒラギノ角ゴ Pro W3" charset="-128"/>
                    <a:cs typeface="ヒラギノ角ゴ Pro W3" charset="-128"/>
                  </a:rPr>
                  <a:t>2,3</a:t>
                </a:r>
              </a:p>
            </p:txBody>
          </p:sp>
          <p:sp>
            <p:nvSpPr>
              <p:cNvPr id="50200" name="Rectangle 45">
                <a:extLst>
                  <a:ext uri="{FF2B5EF4-FFF2-40B4-BE49-F238E27FC236}">
                    <a16:creationId xmlns:a16="http://schemas.microsoft.com/office/drawing/2014/main" id="{CE4DEC72-96B9-42F7-A84D-662188E7F6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3216"/>
                <a:ext cx="336" cy="24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>
                    <a:latin typeface="Arial Rounded MT Bold" charset="0"/>
                    <a:ea typeface="ヒラギノ角ゴ Pro W3" charset="-128"/>
                    <a:cs typeface="ヒラギノ角ゴ Pro W3" charset="-128"/>
                  </a:rPr>
                  <a:t>2,4</a:t>
                </a:r>
              </a:p>
            </p:txBody>
          </p:sp>
        </p:grpSp>
        <p:sp>
          <p:nvSpPr>
            <p:cNvPr id="20491" name="Rectangle 46">
              <a:extLst>
                <a:ext uri="{FF2B5EF4-FFF2-40B4-BE49-F238E27FC236}">
                  <a16:creationId xmlns:a16="http://schemas.microsoft.com/office/drawing/2014/main" id="{3289ADF3-45AE-439E-8AF2-7260F8F39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072"/>
              <a:ext cx="3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latin typeface="Arial Rounded MT Bold" panose="020F0704030504030204" pitchFamily="34" charset="0"/>
                </a:rPr>
                <a:t>A</a:t>
              </a:r>
            </a:p>
          </p:txBody>
        </p:sp>
        <p:sp>
          <p:nvSpPr>
            <p:cNvPr id="50189" name="Rectangle 47">
              <a:extLst>
                <a:ext uri="{FF2B5EF4-FFF2-40B4-BE49-F238E27FC236}">
                  <a16:creationId xmlns:a16="http://schemas.microsoft.com/office/drawing/2014/main" id="{E37235AF-94AA-436D-B717-2B7070B06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928"/>
              <a:ext cx="336" cy="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50190" name="Rectangle 48">
              <a:extLst>
                <a:ext uri="{FF2B5EF4-FFF2-40B4-BE49-F238E27FC236}">
                  <a16:creationId xmlns:a16="http://schemas.microsoft.com/office/drawing/2014/main" id="{FF229D3D-E334-4E30-A2A2-1D279D50B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168"/>
              <a:ext cx="336" cy="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20494" name="Line 49">
              <a:extLst>
                <a:ext uri="{FF2B5EF4-FFF2-40B4-BE49-F238E27FC236}">
                  <a16:creationId xmlns:a16="http://schemas.microsoft.com/office/drawing/2014/main" id="{D7D63FC3-1908-4F7F-B120-EAA5123B8D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64" y="2984"/>
              <a:ext cx="352" cy="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0495" name="Line 50">
              <a:extLst>
                <a:ext uri="{FF2B5EF4-FFF2-40B4-BE49-F238E27FC236}">
                  <a16:creationId xmlns:a16="http://schemas.microsoft.com/office/drawing/2014/main" id="{3F4C0CAC-1FD8-4BB9-8704-31F1BA0D66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264"/>
              <a:ext cx="384" cy="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50186" name="Text Box 51">
            <a:extLst>
              <a:ext uri="{FF2B5EF4-FFF2-40B4-BE49-F238E27FC236}">
                <a16:creationId xmlns:a16="http://schemas.microsoft.com/office/drawing/2014/main" id="{72842163-B6CD-43B3-A7F0-BC50FAF0B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1541463"/>
            <a:ext cx="2362200" cy="84455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These can have distinct &amp; different cache behavior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3">
            <a:extLst>
              <a:ext uri="{FF2B5EF4-FFF2-40B4-BE49-F238E27FC236}">
                <a16:creationId xmlns:a16="http://schemas.microsoft.com/office/drawing/2014/main" id="{0C887441-2021-45A5-8673-03D5A9C778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2530" name="Slide Number Placeholder 4">
            <a:extLst>
              <a:ext uri="{FF2B5EF4-FFF2-40B4-BE49-F238E27FC236}">
                <a16:creationId xmlns:a16="http://schemas.microsoft.com/office/drawing/2014/main" id="{587FFB37-687E-415B-9A57-4FFF0F19C4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B05700E-432E-4628-94AA-6906F5C44839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8450D2E2-DF2E-4ECA-B7C0-0D025C588B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/>
              <a:t>Computing an Array Address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4A219B76-25BB-4479-9A8B-68D2FBB03F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/>
              <a:t>A[ i ]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olidFill>
                  <a:srgbClr val="FF0065"/>
                </a:solidFill>
              </a:rPr>
              <a:t>@A</a:t>
            </a:r>
            <a:r>
              <a:rPr lang="en-US" altLang="it-IT">
                <a:solidFill>
                  <a:srgbClr val="0000CC"/>
                </a:solidFill>
              </a:rPr>
              <a:t> </a:t>
            </a:r>
            <a:r>
              <a:rPr lang="en-US" altLang="it-IT">
                <a:solidFill>
                  <a:srgbClr val="003C75"/>
                </a:solidFill>
              </a:rPr>
              <a:t>+ (</a:t>
            </a:r>
            <a:r>
              <a:rPr lang="en-US" altLang="it-IT">
                <a:solidFill>
                  <a:srgbClr val="B025A6"/>
                </a:solidFill>
              </a:rPr>
              <a:t> i –</a:t>
            </a:r>
            <a:r>
              <a:rPr lang="en-US" altLang="it-IT">
                <a:solidFill>
                  <a:srgbClr val="0000CC"/>
                </a:solidFill>
              </a:rPr>
              <a:t> </a:t>
            </a:r>
            <a:r>
              <a:rPr lang="en-US" altLang="it-IT">
                <a:solidFill>
                  <a:srgbClr val="FF0065"/>
                </a:solidFill>
              </a:rPr>
              <a:t>low</a:t>
            </a:r>
            <a:r>
              <a:rPr lang="en-US" altLang="it-IT">
                <a:solidFill>
                  <a:srgbClr val="996600"/>
                </a:solidFill>
              </a:rPr>
              <a:t> </a:t>
            </a:r>
            <a:r>
              <a:rPr lang="en-US" altLang="it-IT">
                <a:solidFill>
                  <a:srgbClr val="003C75"/>
                </a:solidFill>
              </a:rPr>
              <a:t>) x </a:t>
            </a:r>
            <a:r>
              <a:rPr lang="en-US" altLang="it-IT">
                <a:solidFill>
                  <a:srgbClr val="FF0065"/>
                </a:solidFill>
              </a:rPr>
              <a:t>sizeof(A[1])</a:t>
            </a:r>
            <a:r>
              <a:rPr lang="en-US" altLang="it-IT"/>
              <a:t> 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In general: base(A) + ( i – low ) x sizeof(A[1])</a:t>
            </a:r>
          </a:p>
        </p:txBody>
      </p:sp>
      <p:sp>
        <p:nvSpPr>
          <p:cNvPr id="22533" name="AutoShape 4">
            <a:extLst>
              <a:ext uri="{FF2B5EF4-FFF2-40B4-BE49-F238E27FC236}">
                <a16:creationId xmlns:a16="http://schemas.microsoft.com/office/drawing/2014/main" id="{4B50529F-47D1-47CB-9C6A-3AA027D6AC8C}"/>
              </a:ext>
            </a:extLst>
          </p:cNvPr>
          <p:cNvSpPr>
            <a:spLocks/>
          </p:cNvSpPr>
          <p:nvPr/>
        </p:nvSpPr>
        <p:spPr bwMode="auto">
          <a:xfrm>
            <a:off x="4495800" y="228600"/>
            <a:ext cx="2933700" cy="825500"/>
          </a:xfrm>
          <a:prstGeom prst="accentBorderCallout1">
            <a:avLst>
              <a:gd name="adj1" fmla="val 13634"/>
              <a:gd name="adj2" fmla="val -2597"/>
              <a:gd name="adj3" fmla="val 174810"/>
              <a:gd name="adj4" fmla="val -25106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triangle" w="med" len="med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600">
                <a:solidFill>
                  <a:schemeClr val="bg1"/>
                </a:solidFill>
                <a:latin typeface="Arial Rounded MT Bold" panose="020F0704030504030204" pitchFamily="34" charset="0"/>
              </a:rPr>
              <a:t>Almost always a power </a:t>
            </a:r>
          </a:p>
          <a:p>
            <a:r>
              <a:rPr lang="en-US" altLang="it-IT" sz="1600">
                <a:solidFill>
                  <a:schemeClr val="bg1"/>
                </a:solidFill>
                <a:latin typeface="Arial Rounded MT Bold" panose="020F0704030504030204" pitchFamily="34" charset="0"/>
              </a:rPr>
              <a:t>of 2, known at compile-time </a:t>
            </a:r>
            <a:r>
              <a:rPr lang="en-US" altLang="it-IT" sz="1600">
                <a:solidFill>
                  <a:schemeClr val="bg1"/>
                </a:solidFill>
                <a:latin typeface="Arial Rounded MT Bold" panose="020F0704030504030204" pitchFamily="34" charset="0"/>
                <a:sym typeface="Symbol" panose="05050102010706020507" pitchFamily="18" charset="2"/>
              </a:rPr>
              <a:t> use a shift for speed</a:t>
            </a:r>
            <a:endParaRPr lang="en-US" altLang="it-IT" sz="160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80C306-8AA8-4E2E-99CF-EBE99F91FCE6}"/>
              </a:ext>
            </a:extLst>
          </p:cNvPr>
          <p:cNvSpPr txBox="1"/>
          <p:nvPr/>
        </p:nvSpPr>
        <p:spPr>
          <a:xfrm>
            <a:off x="7162800" y="1524000"/>
            <a:ext cx="1219200" cy="73818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Color Code:</a:t>
            </a:r>
          </a:p>
          <a:p>
            <a:pPr eaLnBrk="0" hangingPunct="0">
              <a:tabLst>
                <a:tab pos="169863" algn="l"/>
              </a:tabLst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	</a:t>
            </a:r>
            <a:r>
              <a:rPr lang="en-US" sz="14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Invariant</a:t>
            </a:r>
          </a:p>
          <a:p>
            <a:pPr eaLnBrk="0" hangingPunct="0">
              <a:tabLst>
                <a:tab pos="169863" algn="l"/>
              </a:tabLst>
              <a:defRPr/>
            </a:pPr>
            <a:r>
              <a:rPr lang="en-US" sz="1400" dirty="0">
                <a:latin typeface="Comic Sans MS" charset="0"/>
                <a:ea typeface="ヒラギノ角ゴ Pro W3" charset="-128"/>
                <a:cs typeface="ヒラギノ角ゴ Pro W3" charset="-128"/>
              </a:rPr>
              <a:t>	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Varying</a:t>
            </a:r>
          </a:p>
        </p:txBody>
      </p:sp>
      <p:grpSp>
        <p:nvGrpSpPr>
          <p:cNvPr id="22535" name="Group 12">
            <a:extLst>
              <a:ext uri="{FF2B5EF4-FFF2-40B4-BE49-F238E27FC236}">
                <a16:creationId xmlns:a16="http://schemas.microsoft.com/office/drawing/2014/main" id="{5BFFE44D-181B-410F-96D7-2B8477015FC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549400"/>
            <a:ext cx="4724400" cy="2700338"/>
            <a:chOff x="457200" y="1519767"/>
            <a:chExt cx="4724400" cy="270076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600CF0-7838-4D43-A491-57CA8F0E7C59}"/>
                </a:ext>
              </a:extLst>
            </p:cNvPr>
            <p:cNvSpPr txBox="1"/>
            <p:nvPr/>
          </p:nvSpPr>
          <p:spPr>
            <a:xfrm>
              <a:off x="685800" y="2743922"/>
              <a:ext cx="4495800" cy="1476606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ts val="300"/>
                </a:spcBef>
                <a:defRPr/>
              </a:pP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Depending on how A is declared, @A may be </a:t>
              </a:r>
            </a:p>
            <a:p>
              <a:pPr marL="169863" indent="-169863" eaLnBrk="0" hangingPunct="0">
                <a:spcBef>
                  <a:spcPts val="300"/>
                </a:spcBef>
                <a:buFont typeface="Arial"/>
                <a:buChar char="•"/>
                <a:defRPr/>
              </a:pP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an offset from the ARP, </a:t>
              </a:r>
            </a:p>
            <a:p>
              <a:pPr marL="169863" indent="-169863" eaLnBrk="0" hangingPunct="0">
                <a:spcBef>
                  <a:spcPts val="300"/>
                </a:spcBef>
                <a:buFont typeface="Arial"/>
                <a:buChar char="•"/>
                <a:defRPr/>
              </a:pP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an offset from some global label, or </a:t>
              </a:r>
            </a:p>
            <a:p>
              <a:pPr marL="169863" indent="-169863" eaLnBrk="0" hangingPunct="0">
                <a:spcBef>
                  <a:spcPts val="300"/>
                </a:spcBef>
                <a:buFont typeface="Arial"/>
                <a:buChar char="•"/>
                <a:defRPr/>
              </a:pP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an arbitrary address.</a:t>
              </a:r>
            </a:p>
            <a:p>
              <a:pPr marL="169863" indent="-169863" eaLnBrk="0" hangingPunct="0">
                <a:spcBef>
                  <a:spcPts val="300"/>
                </a:spcBef>
                <a:defRPr/>
              </a:pP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The first two are compile time constants.</a:t>
              </a:r>
            </a:p>
          </p:txBody>
        </p:sp>
        <p:sp>
          <p:nvSpPr>
            <p:cNvPr id="22537" name="Freeform 10">
              <a:extLst>
                <a:ext uri="{FF2B5EF4-FFF2-40B4-BE49-F238E27FC236}">
                  <a16:creationId xmlns:a16="http://schemas.microsoft.com/office/drawing/2014/main" id="{C5AAE22D-D51F-4E01-872C-39ABDA55B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223" y="1519767"/>
              <a:ext cx="558799" cy="407811"/>
            </a:xfrm>
            <a:custGeom>
              <a:avLst/>
              <a:gdLst>
                <a:gd name="T0" fmla="*/ 5644 w 558799"/>
                <a:gd name="T1" fmla="*/ 198966 h 407811"/>
                <a:gd name="T2" fmla="*/ 39510 w 558799"/>
                <a:gd name="T3" fmla="*/ 309033 h 407811"/>
                <a:gd name="T4" fmla="*/ 183444 w 558799"/>
                <a:gd name="T5" fmla="*/ 393700 h 407811"/>
                <a:gd name="T6" fmla="*/ 361244 w 558799"/>
                <a:gd name="T7" fmla="*/ 393700 h 407811"/>
                <a:gd name="T8" fmla="*/ 496710 w 558799"/>
                <a:gd name="T9" fmla="*/ 342900 h 407811"/>
                <a:gd name="T10" fmla="*/ 555977 w 558799"/>
                <a:gd name="T11" fmla="*/ 215900 h 407811"/>
                <a:gd name="T12" fmla="*/ 513644 w 558799"/>
                <a:gd name="T13" fmla="*/ 46566 h 407811"/>
                <a:gd name="T14" fmla="*/ 301977 w 558799"/>
                <a:gd name="T15" fmla="*/ 4233 h 407811"/>
                <a:gd name="T16" fmla="*/ 73377 w 558799"/>
                <a:gd name="T17" fmla="*/ 71966 h 407811"/>
                <a:gd name="T18" fmla="*/ 5644 w 558799"/>
                <a:gd name="T19" fmla="*/ 198966 h 4078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58799"/>
                <a:gd name="T31" fmla="*/ 0 h 407811"/>
                <a:gd name="T32" fmla="*/ 558799 w 558799"/>
                <a:gd name="T33" fmla="*/ 407811 h 4078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58799" h="407811">
                  <a:moveTo>
                    <a:pt x="5644" y="198966"/>
                  </a:moveTo>
                  <a:cubicBezTo>
                    <a:pt x="0" y="238477"/>
                    <a:pt x="9877" y="276577"/>
                    <a:pt x="39510" y="309033"/>
                  </a:cubicBezTo>
                  <a:cubicBezTo>
                    <a:pt x="69143" y="341489"/>
                    <a:pt x="129822" y="379589"/>
                    <a:pt x="183444" y="393700"/>
                  </a:cubicBezTo>
                  <a:cubicBezTo>
                    <a:pt x="237066" y="407811"/>
                    <a:pt x="309033" y="402167"/>
                    <a:pt x="361244" y="393700"/>
                  </a:cubicBezTo>
                  <a:cubicBezTo>
                    <a:pt x="413455" y="385233"/>
                    <a:pt x="464255" y="372533"/>
                    <a:pt x="496710" y="342900"/>
                  </a:cubicBezTo>
                  <a:cubicBezTo>
                    <a:pt x="529165" y="313267"/>
                    <a:pt x="553155" y="265289"/>
                    <a:pt x="555977" y="215900"/>
                  </a:cubicBezTo>
                  <a:cubicBezTo>
                    <a:pt x="558799" y="166511"/>
                    <a:pt x="555977" y="81844"/>
                    <a:pt x="513644" y="46566"/>
                  </a:cubicBezTo>
                  <a:cubicBezTo>
                    <a:pt x="471311" y="11288"/>
                    <a:pt x="375355" y="0"/>
                    <a:pt x="301977" y="4233"/>
                  </a:cubicBezTo>
                  <a:cubicBezTo>
                    <a:pt x="228599" y="8466"/>
                    <a:pt x="122766" y="32455"/>
                    <a:pt x="73377" y="71966"/>
                  </a:cubicBezTo>
                  <a:cubicBezTo>
                    <a:pt x="23988" y="111477"/>
                    <a:pt x="11288" y="159455"/>
                    <a:pt x="5644" y="198966"/>
                  </a:cubicBezTo>
                  <a:close/>
                </a:path>
              </a:pathLst>
            </a:custGeom>
            <a:noFill/>
            <a:ln w="19050" algn="ctr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2538" name="Freeform 11">
              <a:extLst>
                <a:ext uri="{FF2B5EF4-FFF2-40B4-BE49-F238E27FC236}">
                  <a16:creationId xmlns:a16="http://schemas.microsoft.com/office/drawing/2014/main" id="{6471039F-2914-4BAB-82AC-1236C3ED5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1727200"/>
              <a:ext cx="584200" cy="1202267"/>
            </a:xfrm>
            <a:custGeom>
              <a:avLst/>
              <a:gdLst>
                <a:gd name="T0" fmla="*/ 584200 w 584200"/>
                <a:gd name="T1" fmla="*/ 0 h 1202267"/>
                <a:gd name="T2" fmla="*/ 372533 w 584200"/>
                <a:gd name="T3" fmla="*/ 160867 h 1202267"/>
                <a:gd name="T4" fmla="*/ 110067 w 584200"/>
                <a:gd name="T5" fmla="*/ 389467 h 1202267"/>
                <a:gd name="T6" fmla="*/ 25400 w 584200"/>
                <a:gd name="T7" fmla="*/ 626533 h 1202267"/>
                <a:gd name="T8" fmla="*/ 33867 w 584200"/>
                <a:gd name="T9" fmla="*/ 1007533 h 1202267"/>
                <a:gd name="T10" fmla="*/ 228600 w 584200"/>
                <a:gd name="T11" fmla="*/ 1202267 h 1202267"/>
                <a:gd name="T12" fmla="*/ 228600 w 584200"/>
                <a:gd name="T13" fmla="*/ 1202267 h 12022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84200"/>
                <a:gd name="T22" fmla="*/ 0 h 1202267"/>
                <a:gd name="T23" fmla="*/ 584200 w 584200"/>
                <a:gd name="T24" fmla="*/ 1202267 h 12022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84200" h="1202267">
                  <a:moveTo>
                    <a:pt x="584200" y="0"/>
                  </a:moveTo>
                  <a:cubicBezTo>
                    <a:pt x="517877" y="47978"/>
                    <a:pt x="451555" y="95956"/>
                    <a:pt x="372533" y="160867"/>
                  </a:cubicBezTo>
                  <a:cubicBezTo>
                    <a:pt x="293511" y="225778"/>
                    <a:pt x="167923" y="311856"/>
                    <a:pt x="110067" y="389467"/>
                  </a:cubicBezTo>
                  <a:cubicBezTo>
                    <a:pt x="52212" y="467078"/>
                    <a:pt x="38100" y="523522"/>
                    <a:pt x="25400" y="626533"/>
                  </a:cubicBezTo>
                  <a:cubicBezTo>
                    <a:pt x="12700" y="729544"/>
                    <a:pt x="0" y="911577"/>
                    <a:pt x="33867" y="1007533"/>
                  </a:cubicBezTo>
                  <a:cubicBezTo>
                    <a:pt x="67734" y="1103489"/>
                    <a:pt x="228600" y="1202267"/>
                    <a:pt x="228600" y="1202267"/>
                  </a:cubicBezTo>
                </a:path>
              </a:pathLst>
            </a:custGeom>
            <a:noFill/>
            <a:ln w="19050" algn="ctr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ooter Placeholder 3">
            <a:extLst>
              <a:ext uri="{FF2B5EF4-FFF2-40B4-BE49-F238E27FC236}">
                <a16:creationId xmlns:a16="http://schemas.microsoft.com/office/drawing/2014/main" id="{5BF54482-6137-42CA-B9F4-13E44D1A58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4578" name="Slide Number Placeholder 4">
            <a:extLst>
              <a:ext uri="{FF2B5EF4-FFF2-40B4-BE49-F238E27FC236}">
                <a16:creationId xmlns:a16="http://schemas.microsoft.com/office/drawing/2014/main" id="{31990D52-0746-4572-B017-4CA67C38BA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274D678-D269-407C-8787-A26F7BBA8559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22DE96D-420A-4492-8CA1-D502F23E49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/>
              <a:t>Computing an Array Address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65DBFA54-6DAA-47C0-9F48-D69B07E912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/>
              <a:t>A[ i ]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olidFill>
                  <a:srgbClr val="FF0065"/>
                </a:solidFill>
              </a:rPr>
              <a:t>@A</a:t>
            </a:r>
            <a:r>
              <a:rPr lang="en-US" altLang="it-IT">
                <a:solidFill>
                  <a:srgbClr val="FF0000"/>
                </a:solidFill>
              </a:rPr>
              <a:t> </a:t>
            </a:r>
            <a:r>
              <a:rPr lang="en-US" altLang="it-IT">
                <a:solidFill>
                  <a:srgbClr val="B025A6"/>
                </a:solidFill>
              </a:rPr>
              <a:t>+ ( i –</a:t>
            </a:r>
            <a:r>
              <a:rPr lang="en-US" altLang="it-IT">
                <a:solidFill>
                  <a:srgbClr val="0000CC"/>
                </a:solidFill>
              </a:rPr>
              <a:t> </a:t>
            </a:r>
            <a:r>
              <a:rPr lang="en-US" altLang="it-IT">
                <a:solidFill>
                  <a:srgbClr val="FF0065"/>
                </a:solidFill>
              </a:rPr>
              <a:t>low</a:t>
            </a:r>
            <a:r>
              <a:rPr lang="en-US" altLang="it-IT">
                <a:solidFill>
                  <a:srgbClr val="996600"/>
                </a:solidFill>
              </a:rPr>
              <a:t> </a:t>
            </a:r>
            <a:r>
              <a:rPr lang="en-US" altLang="it-IT">
                <a:solidFill>
                  <a:srgbClr val="B025A6"/>
                </a:solidFill>
              </a:rPr>
              <a:t>) x</a:t>
            </a:r>
            <a:r>
              <a:rPr lang="en-US" altLang="it-IT">
                <a:solidFill>
                  <a:srgbClr val="0000CC"/>
                </a:solidFill>
              </a:rPr>
              <a:t> </a:t>
            </a:r>
            <a:r>
              <a:rPr lang="en-US" altLang="it-IT">
                <a:solidFill>
                  <a:srgbClr val="FF0065"/>
                </a:solidFill>
              </a:rPr>
              <a:t>sizeof(A[1])</a:t>
            </a:r>
            <a:r>
              <a:rPr lang="en-US" altLang="it-IT">
                <a:solidFill>
                  <a:srgbClr val="FF0000"/>
                </a:solidFill>
              </a:rPr>
              <a:t> 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In general: base(A) + ( i – low ) x sizeof(A[1])</a:t>
            </a:r>
          </a:p>
        </p:txBody>
      </p:sp>
      <p:sp>
        <p:nvSpPr>
          <p:cNvPr id="54278" name="AutoShape 4">
            <a:extLst>
              <a:ext uri="{FF2B5EF4-FFF2-40B4-BE49-F238E27FC236}">
                <a16:creationId xmlns:a16="http://schemas.microsoft.com/office/drawing/2014/main" id="{01A38DA8-DD80-4404-9CC4-D83D656CC2E3}"/>
              </a:ext>
            </a:extLst>
          </p:cNvPr>
          <p:cNvSpPr>
            <a:spLocks/>
          </p:cNvSpPr>
          <p:nvPr/>
        </p:nvSpPr>
        <p:spPr bwMode="auto">
          <a:xfrm>
            <a:off x="5791200" y="2433638"/>
            <a:ext cx="2743200" cy="773112"/>
          </a:xfrm>
          <a:prstGeom prst="accentBorderCallout1">
            <a:avLst>
              <a:gd name="adj1" fmla="val 13185"/>
              <a:gd name="adj2" fmla="val -2778"/>
              <a:gd name="adj3" fmla="val -31870"/>
              <a:gd name="adj4" fmla="val -17190"/>
            </a:avLst>
          </a:prstGeom>
          <a:solidFill>
            <a:srgbClr val="BFBFBF"/>
          </a:solidFill>
          <a:ln w="1270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triangl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Almost always a power of 2, known at compile-time 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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use a shift for speed</a:t>
            </a:r>
            <a:endParaRPr lang="en-US" sz="1600" dirty="0">
              <a:solidFill>
                <a:srgbClr val="003C75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54279" name="AutoShape 5">
            <a:extLst>
              <a:ext uri="{FF2B5EF4-FFF2-40B4-BE49-F238E27FC236}">
                <a16:creationId xmlns:a16="http://schemas.microsoft.com/office/drawing/2014/main" id="{F9FCADBA-B123-4E4F-B3A1-5239E6093573}"/>
              </a:ext>
            </a:extLst>
          </p:cNvPr>
          <p:cNvSpPr>
            <a:spLocks/>
          </p:cNvSpPr>
          <p:nvPr/>
        </p:nvSpPr>
        <p:spPr bwMode="auto">
          <a:xfrm>
            <a:off x="1284288" y="2667000"/>
            <a:ext cx="2297112" cy="773113"/>
          </a:xfrm>
          <a:prstGeom prst="accentBorderCallout1">
            <a:avLst>
              <a:gd name="adj1" fmla="val 10199"/>
              <a:gd name="adj2" fmla="val 103319"/>
              <a:gd name="adj3" fmla="val -61046"/>
              <a:gd name="adj4" fmla="val 126056"/>
            </a:avLst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triangl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16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A[1:10] </a:t>
            </a:r>
            <a:r>
              <a:rPr lang="en-US" sz="14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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low is 1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Make low 0 for faster access      (saves a – )</a:t>
            </a:r>
            <a:endParaRPr lang="en-US" dirty="0">
              <a:solidFill>
                <a:srgbClr val="003C75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Footer Placeholder 3">
            <a:extLst>
              <a:ext uri="{FF2B5EF4-FFF2-40B4-BE49-F238E27FC236}">
                <a16:creationId xmlns:a16="http://schemas.microsoft.com/office/drawing/2014/main" id="{BB23C9E3-90C0-4BC7-A045-D42157FB9C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6626" name="Slide Number Placeholder 4">
            <a:extLst>
              <a:ext uri="{FF2B5EF4-FFF2-40B4-BE49-F238E27FC236}">
                <a16:creationId xmlns:a16="http://schemas.microsoft.com/office/drawing/2014/main" id="{DFB0D017-98CD-42DA-81FA-1966B50F86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1020539-156D-4735-8B8C-D96E63CC0CB6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3C1747F6-C2AF-4C28-9A63-56486623C4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/>
              <a:t>Computing an Array Address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EE157161-B1EA-4986-9A43-D805433808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 sz="1800"/>
              <a:t>A[ i ]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 sz="1800">
                <a:solidFill>
                  <a:srgbClr val="FF0065"/>
                </a:solidFill>
              </a:rPr>
              <a:t>@A</a:t>
            </a:r>
            <a:r>
              <a:rPr lang="en-US" altLang="it-IT" sz="1800">
                <a:solidFill>
                  <a:srgbClr val="0000CC"/>
                </a:solidFill>
              </a:rPr>
              <a:t> </a:t>
            </a:r>
            <a:r>
              <a:rPr lang="en-US" altLang="it-IT" sz="1800">
                <a:solidFill>
                  <a:srgbClr val="003C75"/>
                </a:solidFill>
              </a:rPr>
              <a:t>+ ( i </a:t>
            </a:r>
            <a:r>
              <a:rPr lang="en-US" altLang="it-IT" sz="1800">
                <a:solidFill>
                  <a:srgbClr val="B025A6"/>
                </a:solidFill>
              </a:rPr>
              <a:t>–</a:t>
            </a:r>
            <a:r>
              <a:rPr lang="en-US" altLang="it-IT" sz="1800">
                <a:solidFill>
                  <a:srgbClr val="0000CC"/>
                </a:solidFill>
              </a:rPr>
              <a:t> </a:t>
            </a:r>
            <a:r>
              <a:rPr lang="en-US" altLang="it-IT" sz="1800">
                <a:solidFill>
                  <a:srgbClr val="FF0065"/>
                </a:solidFill>
              </a:rPr>
              <a:t>low</a:t>
            </a:r>
            <a:r>
              <a:rPr lang="en-US" altLang="it-IT" sz="1800">
                <a:solidFill>
                  <a:srgbClr val="996600"/>
                </a:solidFill>
              </a:rPr>
              <a:t> </a:t>
            </a:r>
            <a:r>
              <a:rPr lang="en-US" altLang="it-IT" sz="1800">
                <a:solidFill>
                  <a:srgbClr val="003C75"/>
                </a:solidFill>
              </a:rPr>
              <a:t>) x</a:t>
            </a:r>
            <a:r>
              <a:rPr lang="en-US" altLang="it-IT" sz="1800">
                <a:solidFill>
                  <a:srgbClr val="0000CC"/>
                </a:solidFill>
              </a:rPr>
              <a:t> </a:t>
            </a:r>
            <a:r>
              <a:rPr lang="en-US" altLang="it-IT" sz="1800">
                <a:solidFill>
                  <a:srgbClr val="FF0065"/>
                </a:solidFill>
              </a:rPr>
              <a:t>sizeof(A[1]) 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 sz="1800"/>
              <a:t>In general: base(A) + ( i – low ) x sizeof(A[1])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 sz="1800"/>
              <a:t>What about A[i</a:t>
            </a:r>
            <a:r>
              <a:rPr lang="en-US" altLang="it-IT" sz="1800" baseline="-25000"/>
              <a:t>1</a:t>
            </a:r>
            <a:r>
              <a:rPr lang="en-US" altLang="it-IT" sz="1800"/>
              <a:t>,i</a:t>
            </a:r>
            <a:r>
              <a:rPr lang="en-US" altLang="it-IT" sz="1800" baseline="-25000"/>
              <a:t>2</a:t>
            </a:r>
            <a:r>
              <a:rPr lang="en-US" altLang="it-IT" sz="1800"/>
              <a:t>] ?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 sz="1800" i="1"/>
              <a:t>Row-major order, two dimensions</a:t>
            </a:r>
            <a:endParaRPr lang="en-US" altLang="it-IT" sz="1800"/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 sz="1800"/>
              <a:t>	</a:t>
            </a:r>
            <a:r>
              <a:rPr lang="en-US" altLang="it-IT" sz="1800">
                <a:solidFill>
                  <a:srgbClr val="FF0065"/>
                </a:solidFill>
              </a:rPr>
              <a:t>@A </a:t>
            </a:r>
            <a:r>
              <a:rPr lang="en-US" altLang="it-IT" sz="1800">
                <a:solidFill>
                  <a:srgbClr val="003C75"/>
                </a:solidFill>
              </a:rPr>
              <a:t>+ ((</a:t>
            </a:r>
            <a:r>
              <a:rPr lang="en-US" altLang="it-IT" sz="1800">
                <a:solidFill>
                  <a:srgbClr val="B025A6"/>
                </a:solidFill>
              </a:rPr>
              <a:t> </a:t>
            </a:r>
            <a:r>
              <a:rPr lang="en-US" altLang="it-IT" sz="1800">
                <a:solidFill>
                  <a:srgbClr val="003C75"/>
                </a:solidFill>
              </a:rPr>
              <a:t>i</a:t>
            </a:r>
            <a:r>
              <a:rPr lang="en-US" altLang="it-IT" sz="1800" baseline="-25000">
                <a:solidFill>
                  <a:srgbClr val="003C75"/>
                </a:solidFill>
              </a:rPr>
              <a:t>1</a:t>
            </a:r>
            <a:r>
              <a:rPr lang="en-US" altLang="it-IT" sz="1800">
                <a:solidFill>
                  <a:srgbClr val="B025A6"/>
                </a:solidFill>
              </a:rPr>
              <a:t> –</a:t>
            </a:r>
            <a:r>
              <a:rPr lang="en-US" altLang="it-IT" sz="1800">
                <a:solidFill>
                  <a:srgbClr val="FF0065"/>
                </a:solidFill>
              </a:rPr>
              <a:t> low</a:t>
            </a:r>
            <a:r>
              <a:rPr lang="en-US" altLang="it-IT" sz="1800" baseline="-25000">
                <a:solidFill>
                  <a:srgbClr val="FF0065"/>
                </a:solidFill>
              </a:rPr>
              <a:t>1</a:t>
            </a:r>
            <a:r>
              <a:rPr lang="en-US" altLang="it-IT" sz="1800">
                <a:solidFill>
                  <a:srgbClr val="FF0065"/>
                </a:solidFill>
              </a:rPr>
              <a:t> </a:t>
            </a:r>
            <a:r>
              <a:rPr lang="en-US" altLang="it-IT" sz="1800">
                <a:solidFill>
                  <a:srgbClr val="003C75"/>
                </a:solidFill>
              </a:rPr>
              <a:t>) x (</a:t>
            </a:r>
            <a:r>
              <a:rPr lang="en-US" altLang="it-IT" sz="1800">
                <a:solidFill>
                  <a:srgbClr val="FF0065"/>
                </a:solidFill>
              </a:rPr>
              <a:t>high</a:t>
            </a:r>
            <a:r>
              <a:rPr lang="en-US" altLang="it-IT" sz="1800" baseline="-25000">
                <a:solidFill>
                  <a:srgbClr val="FF0065"/>
                </a:solidFill>
              </a:rPr>
              <a:t>2</a:t>
            </a:r>
            <a:r>
              <a:rPr lang="en-US" altLang="it-IT" sz="1800">
                <a:solidFill>
                  <a:srgbClr val="FF0065"/>
                </a:solidFill>
              </a:rPr>
              <a:t> </a:t>
            </a:r>
            <a:r>
              <a:rPr lang="en-US" altLang="it-IT" sz="1800">
                <a:solidFill>
                  <a:srgbClr val="B025A6"/>
                </a:solidFill>
              </a:rPr>
              <a:t>–</a:t>
            </a:r>
            <a:r>
              <a:rPr lang="en-US" altLang="it-IT" sz="1800">
                <a:solidFill>
                  <a:srgbClr val="FF0065"/>
                </a:solidFill>
              </a:rPr>
              <a:t> low</a:t>
            </a:r>
            <a:r>
              <a:rPr lang="en-US" altLang="it-IT" sz="1800" baseline="-25000">
                <a:solidFill>
                  <a:srgbClr val="FF0065"/>
                </a:solidFill>
              </a:rPr>
              <a:t>2</a:t>
            </a:r>
            <a:r>
              <a:rPr lang="en-US" altLang="it-IT" sz="1800">
                <a:solidFill>
                  <a:srgbClr val="FF0065"/>
                </a:solidFill>
              </a:rPr>
              <a:t> </a:t>
            </a:r>
            <a:r>
              <a:rPr lang="en-US" altLang="it-IT" sz="1800">
                <a:solidFill>
                  <a:srgbClr val="B025A6"/>
                </a:solidFill>
              </a:rPr>
              <a:t>+</a:t>
            </a:r>
            <a:r>
              <a:rPr lang="en-US" altLang="it-IT" sz="1800">
                <a:solidFill>
                  <a:srgbClr val="FF0065"/>
                </a:solidFill>
              </a:rPr>
              <a:t> 1</a:t>
            </a:r>
            <a:r>
              <a:rPr lang="en-US" altLang="it-IT" sz="1800">
                <a:solidFill>
                  <a:srgbClr val="003C75"/>
                </a:solidFill>
              </a:rPr>
              <a:t>) +</a:t>
            </a:r>
            <a:r>
              <a:rPr lang="en-US" altLang="it-IT" sz="1800">
                <a:solidFill>
                  <a:srgbClr val="FF0065"/>
                </a:solidFill>
              </a:rPr>
              <a:t> </a:t>
            </a:r>
            <a:r>
              <a:rPr lang="en-US" altLang="it-IT" sz="1800">
                <a:solidFill>
                  <a:srgbClr val="003C75"/>
                </a:solidFill>
              </a:rPr>
              <a:t>i</a:t>
            </a:r>
            <a:r>
              <a:rPr lang="en-US" altLang="it-IT" sz="1800" baseline="-25000">
                <a:solidFill>
                  <a:srgbClr val="003C75"/>
                </a:solidFill>
              </a:rPr>
              <a:t>2</a:t>
            </a:r>
            <a:r>
              <a:rPr lang="en-US" altLang="it-IT" sz="1800">
                <a:solidFill>
                  <a:srgbClr val="FF0065"/>
                </a:solidFill>
              </a:rPr>
              <a:t> </a:t>
            </a:r>
            <a:r>
              <a:rPr lang="en-US" altLang="it-IT" sz="1800">
                <a:solidFill>
                  <a:srgbClr val="B025A6"/>
                </a:solidFill>
              </a:rPr>
              <a:t>–</a:t>
            </a:r>
            <a:r>
              <a:rPr lang="en-US" altLang="it-IT" sz="1800">
                <a:solidFill>
                  <a:srgbClr val="FF0065"/>
                </a:solidFill>
              </a:rPr>
              <a:t> low</a:t>
            </a:r>
            <a:r>
              <a:rPr lang="en-US" altLang="it-IT" sz="1800" baseline="-25000">
                <a:solidFill>
                  <a:srgbClr val="FF0065"/>
                </a:solidFill>
              </a:rPr>
              <a:t>2</a:t>
            </a:r>
            <a:r>
              <a:rPr lang="en-US" altLang="it-IT" sz="1800">
                <a:solidFill>
                  <a:srgbClr val="003C75"/>
                </a:solidFill>
              </a:rPr>
              <a:t>) x</a:t>
            </a:r>
            <a:r>
              <a:rPr lang="en-US" altLang="it-IT" sz="1800">
                <a:solidFill>
                  <a:srgbClr val="FF0065"/>
                </a:solidFill>
              </a:rPr>
              <a:t> sizeof(A[1])</a:t>
            </a:r>
            <a:endParaRPr lang="en-US" altLang="it-IT" sz="1800" i="1"/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 sz="1800" i="1"/>
              <a:t>Column-major order, two dimensions</a:t>
            </a:r>
            <a:endParaRPr lang="en-US" altLang="it-IT" sz="1800"/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 sz="1800"/>
              <a:t>	</a:t>
            </a:r>
            <a:r>
              <a:rPr lang="en-US" altLang="it-IT" sz="1800">
                <a:solidFill>
                  <a:srgbClr val="FF0065"/>
                </a:solidFill>
              </a:rPr>
              <a:t>@A </a:t>
            </a:r>
            <a:r>
              <a:rPr lang="en-US" altLang="it-IT" sz="1800">
                <a:solidFill>
                  <a:srgbClr val="003C75"/>
                </a:solidFill>
              </a:rPr>
              <a:t>+ ((</a:t>
            </a:r>
            <a:r>
              <a:rPr lang="en-US" altLang="it-IT" sz="1800">
                <a:solidFill>
                  <a:srgbClr val="FF0065"/>
                </a:solidFill>
              </a:rPr>
              <a:t> </a:t>
            </a:r>
            <a:r>
              <a:rPr lang="en-US" altLang="it-IT" sz="1800">
                <a:solidFill>
                  <a:srgbClr val="003C75"/>
                </a:solidFill>
              </a:rPr>
              <a:t>i</a:t>
            </a:r>
            <a:r>
              <a:rPr lang="en-US" altLang="it-IT" sz="1800" baseline="-25000">
                <a:solidFill>
                  <a:srgbClr val="003C75"/>
                </a:solidFill>
              </a:rPr>
              <a:t>2</a:t>
            </a:r>
            <a:r>
              <a:rPr lang="en-US" altLang="it-IT" sz="1800">
                <a:solidFill>
                  <a:srgbClr val="FF0065"/>
                </a:solidFill>
              </a:rPr>
              <a:t> </a:t>
            </a:r>
            <a:r>
              <a:rPr lang="en-US" altLang="it-IT" sz="1800">
                <a:solidFill>
                  <a:srgbClr val="B025A6"/>
                </a:solidFill>
              </a:rPr>
              <a:t>–</a:t>
            </a:r>
            <a:r>
              <a:rPr lang="en-US" altLang="it-IT" sz="1800">
                <a:solidFill>
                  <a:srgbClr val="FF0065"/>
                </a:solidFill>
              </a:rPr>
              <a:t> </a:t>
            </a:r>
            <a:r>
              <a:rPr lang="en-US" altLang="it-IT" sz="1800">
                <a:solidFill>
                  <a:srgbClr val="003C75"/>
                </a:solidFill>
              </a:rPr>
              <a:t>low</a:t>
            </a:r>
            <a:r>
              <a:rPr lang="en-US" altLang="it-IT" sz="1800" baseline="-25000">
                <a:solidFill>
                  <a:srgbClr val="003C75"/>
                </a:solidFill>
              </a:rPr>
              <a:t>2</a:t>
            </a:r>
            <a:r>
              <a:rPr lang="en-US" altLang="it-IT" sz="1800">
                <a:solidFill>
                  <a:srgbClr val="003C75"/>
                </a:solidFill>
              </a:rPr>
              <a:t> ) x (</a:t>
            </a:r>
            <a:r>
              <a:rPr lang="en-US" altLang="it-IT" sz="1800">
                <a:solidFill>
                  <a:srgbClr val="FF0065"/>
                </a:solidFill>
              </a:rPr>
              <a:t>high</a:t>
            </a:r>
            <a:r>
              <a:rPr lang="en-US" altLang="it-IT" sz="1800" baseline="-25000">
                <a:solidFill>
                  <a:srgbClr val="FF0065"/>
                </a:solidFill>
              </a:rPr>
              <a:t>1</a:t>
            </a:r>
            <a:r>
              <a:rPr lang="en-US" altLang="it-IT" sz="1800">
                <a:solidFill>
                  <a:srgbClr val="FF0065"/>
                </a:solidFill>
              </a:rPr>
              <a:t> </a:t>
            </a:r>
            <a:r>
              <a:rPr lang="en-US" altLang="it-IT" sz="1800">
                <a:solidFill>
                  <a:srgbClr val="B025A6"/>
                </a:solidFill>
              </a:rPr>
              <a:t>–</a:t>
            </a:r>
            <a:r>
              <a:rPr lang="en-US" altLang="it-IT" sz="1800">
                <a:solidFill>
                  <a:srgbClr val="FF0065"/>
                </a:solidFill>
              </a:rPr>
              <a:t> low</a:t>
            </a:r>
            <a:r>
              <a:rPr lang="en-US" altLang="it-IT" sz="1800" baseline="-25000">
                <a:solidFill>
                  <a:srgbClr val="FF0065"/>
                </a:solidFill>
              </a:rPr>
              <a:t>1</a:t>
            </a:r>
            <a:r>
              <a:rPr lang="en-US" altLang="it-IT" sz="1800">
                <a:solidFill>
                  <a:srgbClr val="FF0065"/>
                </a:solidFill>
              </a:rPr>
              <a:t> </a:t>
            </a:r>
            <a:r>
              <a:rPr lang="en-US" altLang="it-IT" sz="1800">
                <a:solidFill>
                  <a:srgbClr val="B025A6"/>
                </a:solidFill>
              </a:rPr>
              <a:t>+</a:t>
            </a:r>
            <a:r>
              <a:rPr lang="en-US" altLang="it-IT" sz="1800">
                <a:solidFill>
                  <a:srgbClr val="FF0065"/>
                </a:solidFill>
              </a:rPr>
              <a:t> </a:t>
            </a:r>
            <a:r>
              <a:rPr lang="en-US" altLang="it-IT" sz="1800">
                <a:solidFill>
                  <a:srgbClr val="003C75"/>
                </a:solidFill>
              </a:rPr>
              <a:t>1) + i</a:t>
            </a:r>
            <a:r>
              <a:rPr lang="en-US" altLang="it-IT" sz="1800" baseline="-25000">
                <a:solidFill>
                  <a:srgbClr val="003C75"/>
                </a:solidFill>
              </a:rPr>
              <a:t>1</a:t>
            </a:r>
            <a:r>
              <a:rPr lang="en-US" altLang="it-IT" sz="1800">
                <a:solidFill>
                  <a:srgbClr val="FF0065"/>
                </a:solidFill>
              </a:rPr>
              <a:t> </a:t>
            </a:r>
            <a:r>
              <a:rPr lang="en-US" altLang="it-IT" sz="1800">
                <a:solidFill>
                  <a:srgbClr val="B025A6"/>
                </a:solidFill>
              </a:rPr>
              <a:t>– </a:t>
            </a:r>
            <a:r>
              <a:rPr lang="en-US" altLang="it-IT" sz="1800">
                <a:solidFill>
                  <a:srgbClr val="FF0065"/>
                </a:solidFill>
              </a:rPr>
              <a:t>low</a:t>
            </a:r>
            <a:r>
              <a:rPr lang="en-US" altLang="it-IT" sz="1800" baseline="-25000">
                <a:solidFill>
                  <a:srgbClr val="FF0065"/>
                </a:solidFill>
              </a:rPr>
              <a:t>1</a:t>
            </a:r>
            <a:r>
              <a:rPr lang="en-US" altLang="it-IT" sz="1800">
                <a:solidFill>
                  <a:srgbClr val="003C75"/>
                </a:solidFill>
              </a:rPr>
              <a:t>) x </a:t>
            </a:r>
            <a:r>
              <a:rPr lang="en-US" altLang="it-IT" sz="1800">
                <a:solidFill>
                  <a:srgbClr val="FF0065"/>
                </a:solidFill>
              </a:rPr>
              <a:t>sizeof(A[1])</a:t>
            </a:r>
            <a:endParaRPr lang="en-US" altLang="it-IT" sz="1800" i="1"/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 sz="1800" i="1"/>
              <a:t>Indirection vectors, two dimensions</a:t>
            </a:r>
            <a:endParaRPr lang="en-US" altLang="it-IT" sz="1800"/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 sz="1800"/>
              <a:t>	</a:t>
            </a:r>
            <a:r>
              <a:rPr lang="en-US" altLang="it-IT" sz="1800">
                <a:solidFill>
                  <a:srgbClr val="003C75"/>
                </a:solidFill>
              </a:rPr>
              <a:t>*(A[i</a:t>
            </a:r>
            <a:r>
              <a:rPr lang="en-US" altLang="it-IT" sz="1800" baseline="-25000">
                <a:solidFill>
                  <a:srgbClr val="003C75"/>
                </a:solidFill>
              </a:rPr>
              <a:t>1 </a:t>
            </a:r>
            <a:r>
              <a:rPr lang="en-US" altLang="it-IT" sz="1800">
                <a:solidFill>
                  <a:srgbClr val="003C75"/>
                </a:solidFill>
              </a:rPr>
              <a:t>])[i</a:t>
            </a:r>
            <a:r>
              <a:rPr lang="en-US" altLang="it-IT" sz="1800" baseline="-25000">
                <a:solidFill>
                  <a:srgbClr val="003C75"/>
                </a:solidFill>
              </a:rPr>
              <a:t>2</a:t>
            </a:r>
            <a:r>
              <a:rPr lang="en-US" altLang="it-IT" sz="1800">
                <a:solidFill>
                  <a:srgbClr val="003C75"/>
                </a:solidFill>
              </a:rPr>
              <a:t>]</a:t>
            </a:r>
            <a:r>
              <a:rPr lang="en-US" altLang="it-IT" sz="1800">
                <a:solidFill>
                  <a:srgbClr val="0000FF"/>
                </a:solidFill>
              </a:rPr>
              <a:t> </a:t>
            </a:r>
            <a:r>
              <a:rPr lang="en-US" altLang="it-IT" sz="1800"/>
              <a:t>— where  </a:t>
            </a:r>
            <a:r>
              <a:rPr lang="en-US" altLang="it-IT" sz="1800">
                <a:solidFill>
                  <a:srgbClr val="003C75"/>
                </a:solidFill>
              </a:rPr>
              <a:t>A[i</a:t>
            </a:r>
            <a:r>
              <a:rPr lang="en-US" altLang="it-IT" sz="1800" baseline="-25000">
                <a:solidFill>
                  <a:srgbClr val="003C75"/>
                </a:solidFill>
              </a:rPr>
              <a:t>1</a:t>
            </a:r>
            <a:r>
              <a:rPr lang="en-US" altLang="it-IT" sz="1800">
                <a:solidFill>
                  <a:srgbClr val="003C75"/>
                </a:solidFill>
              </a:rPr>
              <a:t>] </a:t>
            </a:r>
            <a:r>
              <a:rPr lang="en-US" altLang="it-IT" sz="1800"/>
              <a:t>is, itself, a 1-d array reference</a:t>
            </a:r>
          </a:p>
          <a:p>
            <a:pPr eaLnBrk="1" hangingPunct="1">
              <a:spcBef>
                <a:spcPct val="25000"/>
              </a:spcBef>
            </a:pPr>
            <a:endParaRPr lang="en-US" altLang="it-IT" sz="1800"/>
          </a:p>
        </p:txBody>
      </p:sp>
      <p:sp>
        <p:nvSpPr>
          <p:cNvPr id="56326" name="Text Box 4">
            <a:extLst>
              <a:ext uri="{FF2B5EF4-FFF2-40B4-BE49-F238E27FC236}">
                <a16:creationId xmlns:a16="http://schemas.microsoft.com/office/drawing/2014/main" id="{9163F36B-75E7-48E5-A676-7E55EB768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362200"/>
            <a:ext cx="2819400" cy="55245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defRPr/>
            </a:pPr>
            <a:r>
              <a:rPr lang="en-US" sz="16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This stuff  looks expensive!</a:t>
            </a:r>
          </a:p>
          <a:p>
            <a:pPr eaLnBrk="0" hangingPunct="0">
              <a:lnSpc>
                <a:spcPct val="90000"/>
              </a:lnSpc>
              <a:defRPr/>
            </a:pPr>
            <a:r>
              <a:rPr lang="en-US" sz="16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Lots of implicit +, -, x ops</a:t>
            </a:r>
            <a:endParaRPr lang="en-US" sz="1400">
              <a:solidFill>
                <a:srgbClr val="003C75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grpSp>
        <p:nvGrpSpPr>
          <p:cNvPr id="26630" name="Group 5">
            <a:extLst>
              <a:ext uri="{FF2B5EF4-FFF2-40B4-BE49-F238E27FC236}">
                <a16:creationId xmlns:a16="http://schemas.microsoft.com/office/drawing/2014/main" id="{8A39F6C8-A45D-4770-9E6B-97ADB1BF40BA}"/>
              </a:ext>
            </a:extLst>
          </p:cNvPr>
          <p:cNvGrpSpPr>
            <a:grpSpLocks/>
          </p:cNvGrpSpPr>
          <p:nvPr/>
        </p:nvGrpSpPr>
        <p:grpSpPr bwMode="auto">
          <a:xfrm>
            <a:off x="3263900" y="5186363"/>
            <a:ext cx="4508500" cy="757237"/>
            <a:chOff x="2056" y="3456"/>
            <a:chExt cx="2840" cy="477"/>
          </a:xfrm>
        </p:grpSpPr>
        <p:sp>
          <p:nvSpPr>
            <p:cNvPr id="56328" name="Text Box 6">
              <a:extLst>
                <a:ext uri="{FF2B5EF4-FFF2-40B4-BE49-F238E27FC236}">
                  <a16:creationId xmlns:a16="http://schemas.microsoft.com/office/drawing/2014/main" id="{7FB77A0B-AA93-4F2D-9B3E-449D030B08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696"/>
              <a:ext cx="2592" cy="2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>
                  <a:latin typeface="Comic Sans MS" charset="0"/>
                  <a:ea typeface="ヒラギノ角ゴ Pro W3" charset="-128"/>
                  <a:cs typeface="ヒラギノ角ゴ Pro W3" charset="-128"/>
                </a:rPr>
                <a:t>e.g.,</a:t>
              </a:r>
              <a:r>
                <a:rPr lang="en-US">
                  <a:solidFill>
                    <a:srgbClr val="FF0000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</a:t>
              </a:r>
              <a:r>
                <a:rPr lang="en-US">
                  <a:solidFill>
                    <a:srgbClr val="FF006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@A </a:t>
              </a:r>
              <a:r>
                <a:rPr lang="en-US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+ ( i</a:t>
              </a:r>
              <a:r>
                <a:rPr lang="en-US" baseline="-2500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1</a:t>
              </a:r>
              <a:r>
                <a:rPr lang="en-US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</a:t>
              </a:r>
              <a:r>
                <a:rPr lang="en-US">
                  <a:solidFill>
                    <a:srgbClr val="B025A6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–</a:t>
              </a:r>
              <a:r>
                <a:rPr lang="en-US">
                  <a:solidFill>
                    <a:srgbClr val="FF006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low </a:t>
              </a:r>
              <a:r>
                <a:rPr lang="en-US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) x </a:t>
              </a:r>
              <a:r>
                <a:rPr lang="en-US">
                  <a:solidFill>
                    <a:srgbClr val="FF006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sizeof(A[1])</a:t>
              </a:r>
              <a:endParaRPr lang="en-US">
                <a:solidFill>
                  <a:srgbClr val="FF0000"/>
                </a:solidFill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26632" name="Freeform 7">
              <a:extLst>
                <a:ext uri="{FF2B5EF4-FFF2-40B4-BE49-F238E27FC236}">
                  <a16:creationId xmlns:a16="http://schemas.microsoft.com/office/drawing/2014/main" id="{37550FCB-BCCD-4D34-9418-319177879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3456"/>
              <a:ext cx="248" cy="400"/>
            </a:xfrm>
            <a:custGeom>
              <a:avLst/>
              <a:gdLst>
                <a:gd name="T0" fmla="*/ 248 w 248"/>
                <a:gd name="T1" fmla="*/ 384 h 400"/>
                <a:gd name="T2" fmla="*/ 8 w 248"/>
                <a:gd name="T3" fmla="*/ 336 h 400"/>
                <a:gd name="T4" fmla="*/ 200 w 248"/>
                <a:gd name="T5" fmla="*/ 0 h 400"/>
                <a:gd name="T6" fmla="*/ 0 60000 65536"/>
                <a:gd name="T7" fmla="*/ 0 60000 65536"/>
                <a:gd name="T8" fmla="*/ 0 60000 65536"/>
                <a:gd name="T9" fmla="*/ 0 w 248"/>
                <a:gd name="T10" fmla="*/ 0 h 400"/>
                <a:gd name="T11" fmla="*/ 248 w 248"/>
                <a:gd name="T12" fmla="*/ 400 h 4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8" h="400">
                  <a:moveTo>
                    <a:pt x="248" y="384"/>
                  </a:moveTo>
                  <a:cubicBezTo>
                    <a:pt x="132" y="392"/>
                    <a:pt x="16" y="400"/>
                    <a:pt x="8" y="336"/>
                  </a:cubicBezTo>
                  <a:cubicBezTo>
                    <a:pt x="0" y="272"/>
                    <a:pt x="100" y="136"/>
                    <a:pt x="200" y="0"/>
                  </a:cubicBezTo>
                </a:path>
              </a:pathLst>
            </a:custGeom>
            <a:noFill/>
            <a:ln w="19050" algn="ctr">
              <a:solidFill>
                <a:srgbClr val="7F7F7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ooter Placeholder 3">
            <a:extLst>
              <a:ext uri="{FF2B5EF4-FFF2-40B4-BE49-F238E27FC236}">
                <a16:creationId xmlns:a16="http://schemas.microsoft.com/office/drawing/2014/main" id="{A9898B43-3E27-414A-86EE-D4326B9E68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8674" name="Slide Number Placeholder 4">
            <a:extLst>
              <a:ext uri="{FF2B5EF4-FFF2-40B4-BE49-F238E27FC236}">
                <a16:creationId xmlns:a16="http://schemas.microsoft.com/office/drawing/2014/main" id="{3ADE2438-7723-4C64-A995-FFC274191B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2744093-F3F9-41F4-833E-127573EBB30F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AC62AE1C-5C44-4B26-A9D0-5E8D413726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/>
              <a:t>Optimizing Address Calculation for A</a:t>
            </a:r>
            <a:r>
              <a:rPr lang="en-US" altLang="it-IT" sz="2000" b="1"/>
              <a:t>[i,j]</a:t>
            </a:r>
            <a:endParaRPr lang="en-US" altLang="it-IT" i="1"/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3E5E4B76-5424-4F88-B935-2429C872EE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7924800" cy="5029200"/>
          </a:xfrm>
        </p:spPr>
        <p:txBody>
          <a:bodyPr/>
          <a:lstStyle/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In row-major order</a:t>
            </a: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>
                <a:solidFill>
                  <a:srgbClr val="FF0065"/>
                </a:solidFill>
              </a:rPr>
              <a:t>@A</a:t>
            </a:r>
            <a:r>
              <a:rPr lang="en-US" altLang="it-IT">
                <a:solidFill>
                  <a:srgbClr val="003C75"/>
                </a:solidFill>
              </a:rPr>
              <a:t> + (i</a:t>
            </a:r>
            <a:r>
              <a:rPr lang="en-US" altLang="it-IT">
                <a:solidFill>
                  <a:srgbClr val="B025A6"/>
                </a:solidFill>
              </a:rPr>
              <a:t>–</a:t>
            </a:r>
            <a:r>
              <a:rPr lang="en-US" altLang="it-IT">
                <a:solidFill>
                  <a:srgbClr val="FF0065"/>
                </a:solidFill>
              </a:rPr>
              <a:t>low</a:t>
            </a:r>
            <a:r>
              <a:rPr lang="en-US" altLang="it-IT" baseline="-25000">
                <a:solidFill>
                  <a:srgbClr val="FF0065"/>
                </a:solidFill>
              </a:rPr>
              <a:t>1</a:t>
            </a:r>
            <a:r>
              <a:rPr lang="en-US" altLang="it-IT">
                <a:solidFill>
                  <a:srgbClr val="003C75"/>
                </a:solidFill>
              </a:rPr>
              <a:t>) x (</a:t>
            </a:r>
            <a:r>
              <a:rPr lang="en-US" altLang="it-IT">
                <a:solidFill>
                  <a:srgbClr val="FF0065"/>
                </a:solidFill>
              </a:rPr>
              <a:t>high</a:t>
            </a:r>
            <a:r>
              <a:rPr lang="en-US" altLang="it-IT" baseline="-25000">
                <a:solidFill>
                  <a:srgbClr val="FF0065"/>
                </a:solidFill>
              </a:rPr>
              <a:t>2</a:t>
            </a:r>
            <a:r>
              <a:rPr lang="en-US" altLang="it-IT">
                <a:solidFill>
                  <a:srgbClr val="FF0065"/>
                </a:solidFill>
              </a:rPr>
              <a:t>–low</a:t>
            </a:r>
            <a:r>
              <a:rPr lang="en-US" altLang="it-IT" baseline="-25000">
                <a:solidFill>
                  <a:srgbClr val="FF0065"/>
                </a:solidFill>
              </a:rPr>
              <a:t>2</a:t>
            </a:r>
            <a:r>
              <a:rPr lang="en-US" altLang="it-IT">
                <a:solidFill>
                  <a:srgbClr val="FF0065"/>
                </a:solidFill>
              </a:rPr>
              <a:t>+1</a:t>
            </a:r>
            <a:r>
              <a:rPr lang="en-US" altLang="it-IT">
                <a:solidFill>
                  <a:srgbClr val="003C75"/>
                </a:solidFill>
              </a:rPr>
              <a:t>) x</a:t>
            </a:r>
            <a:r>
              <a:rPr lang="en-US" altLang="it-IT">
                <a:solidFill>
                  <a:srgbClr val="B025A6"/>
                </a:solidFill>
              </a:rPr>
              <a:t> </a:t>
            </a:r>
            <a:r>
              <a:rPr lang="en-US" altLang="it-IT">
                <a:solidFill>
                  <a:srgbClr val="FF0065"/>
                </a:solidFill>
              </a:rPr>
              <a:t>w</a:t>
            </a:r>
            <a:r>
              <a:rPr lang="en-US" altLang="it-IT">
                <a:solidFill>
                  <a:srgbClr val="B025A6"/>
                </a:solidFill>
              </a:rPr>
              <a:t> </a:t>
            </a:r>
            <a:r>
              <a:rPr lang="en-US" altLang="it-IT">
                <a:solidFill>
                  <a:srgbClr val="003C75"/>
                </a:solidFill>
              </a:rPr>
              <a:t>+ (j</a:t>
            </a:r>
            <a:r>
              <a:rPr lang="en-US" altLang="it-IT">
                <a:solidFill>
                  <a:srgbClr val="B025A6"/>
                </a:solidFill>
              </a:rPr>
              <a:t> –</a:t>
            </a:r>
            <a:r>
              <a:rPr lang="en-US" altLang="it-IT">
                <a:solidFill>
                  <a:srgbClr val="0000CC"/>
                </a:solidFill>
              </a:rPr>
              <a:t> </a:t>
            </a:r>
            <a:r>
              <a:rPr lang="en-US" altLang="it-IT">
                <a:solidFill>
                  <a:srgbClr val="FF0065"/>
                </a:solidFill>
              </a:rPr>
              <a:t>low</a:t>
            </a:r>
            <a:r>
              <a:rPr lang="en-US" altLang="it-IT" baseline="-25000">
                <a:solidFill>
                  <a:srgbClr val="FF0065"/>
                </a:solidFill>
              </a:rPr>
              <a:t>2</a:t>
            </a:r>
            <a:r>
              <a:rPr lang="en-US" altLang="it-IT">
                <a:solidFill>
                  <a:srgbClr val="003C75"/>
                </a:solidFill>
              </a:rPr>
              <a:t>) x</a:t>
            </a:r>
            <a:r>
              <a:rPr lang="en-US" altLang="it-IT">
                <a:solidFill>
                  <a:srgbClr val="0000CC"/>
                </a:solidFill>
              </a:rPr>
              <a:t> </a:t>
            </a:r>
            <a:r>
              <a:rPr lang="en-US" altLang="it-IT">
                <a:solidFill>
                  <a:srgbClr val="FF0065"/>
                </a:solidFill>
              </a:rPr>
              <a:t>w</a:t>
            </a:r>
            <a:endParaRPr lang="en-US" altLang="it-IT">
              <a:solidFill>
                <a:srgbClr val="996600"/>
              </a:solidFill>
            </a:endParaRP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/>
              <a:t>Which can be factored into</a:t>
            </a: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>
                <a:solidFill>
                  <a:srgbClr val="FF0065"/>
                </a:solidFill>
              </a:rPr>
              <a:t>@A + </a:t>
            </a:r>
            <a:r>
              <a:rPr lang="en-US" altLang="it-IT">
                <a:solidFill>
                  <a:srgbClr val="003C75"/>
                </a:solidFill>
              </a:rPr>
              <a:t>i</a:t>
            </a:r>
            <a:r>
              <a:rPr lang="en-US" altLang="it-IT">
                <a:solidFill>
                  <a:srgbClr val="B025A6"/>
                </a:solidFill>
              </a:rPr>
              <a:t> </a:t>
            </a:r>
            <a:r>
              <a:rPr lang="en-US" altLang="it-IT">
                <a:solidFill>
                  <a:srgbClr val="003C75"/>
                </a:solidFill>
              </a:rPr>
              <a:t>x</a:t>
            </a:r>
            <a:r>
              <a:rPr lang="en-US" altLang="it-IT">
                <a:solidFill>
                  <a:srgbClr val="B025A6"/>
                </a:solidFill>
              </a:rPr>
              <a:t> (</a:t>
            </a:r>
            <a:r>
              <a:rPr lang="en-US" altLang="it-IT">
                <a:solidFill>
                  <a:srgbClr val="FF0065"/>
                </a:solidFill>
              </a:rPr>
              <a:t>high</a:t>
            </a:r>
            <a:r>
              <a:rPr lang="en-US" altLang="it-IT" baseline="-25000">
                <a:solidFill>
                  <a:srgbClr val="FF0065"/>
                </a:solidFill>
              </a:rPr>
              <a:t>2</a:t>
            </a:r>
            <a:r>
              <a:rPr lang="en-US" altLang="it-IT">
                <a:solidFill>
                  <a:srgbClr val="FF0065"/>
                </a:solidFill>
              </a:rPr>
              <a:t>–low</a:t>
            </a:r>
            <a:r>
              <a:rPr lang="en-US" altLang="it-IT" baseline="-25000">
                <a:solidFill>
                  <a:srgbClr val="FF0065"/>
                </a:solidFill>
              </a:rPr>
              <a:t>2</a:t>
            </a:r>
            <a:r>
              <a:rPr lang="en-US" altLang="it-IT">
                <a:solidFill>
                  <a:srgbClr val="FF0065"/>
                </a:solidFill>
              </a:rPr>
              <a:t>+1</a:t>
            </a:r>
            <a:r>
              <a:rPr lang="en-US" altLang="it-IT">
                <a:solidFill>
                  <a:srgbClr val="003C75"/>
                </a:solidFill>
              </a:rPr>
              <a:t>) x</a:t>
            </a:r>
            <a:r>
              <a:rPr lang="en-US" altLang="it-IT">
                <a:solidFill>
                  <a:srgbClr val="0000CC"/>
                </a:solidFill>
              </a:rPr>
              <a:t> </a:t>
            </a:r>
            <a:r>
              <a:rPr lang="en-US" altLang="it-IT">
                <a:solidFill>
                  <a:srgbClr val="FF0065"/>
                </a:solidFill>
              </a:rPr>
              <a:t>w</a:t>
            </a:r>
            <a:r>
              <a:rPr lang="en-US" altLang="it-IT">
                <a:solidFill>
                  <a:srgbClr val="ED181E"/>
                </a:solidFill>
              </a:rPr>
              <a:t> </a:t>
            </a:r>
            <a:r>
              <a:rPr lang="en-US" altLang="it-IT">
                <a:solidFill>
                  <a:srgbClr val="003C75"/>
                </a:solidFill>
              </a:rPr>
              <a:t>+</a:t>
            </a:r>
            <a:r>
              <a:rPr lang="en-US" altLang="it-IT">
                <a:solidFill>
                  <a:srgbClr val="B025A6"/>
                </a:solidFill>
              </a:rPr>
              <a:t> </a:t>
            </a:r>
            <a:r>
              <a:rPr lang="en-US" altLang="it-IT">
                <a:solidFill>
                  <a:srgbClr val="003C75"/>
                </a:solidFill>
              </a:rPr>
              <a:t>j</a:t>
            </a:r>
            <a:r>
              <a:rPr lang="en-US" altLang="it-IT">
                <a:solidFill>
                  <a:srgbClr val="B025A6"/>
                </a:solidFill>
              </a:rPr>
              <a:t> </a:t>
            </a:r>
            <a:r>
              <a:rPr lang="en-US" altLang="it-IT">
                <a:solidFill>
                  <a:srgbClr val="003C75"/>
                </a:solidFill>
              </a:rPr>
              <a:t>x</a:t>
            </a:r>
            <a:r>
              <a:rPr lang="en-US" altLang="it-IT">
                <a:solidFill>
                  <a:srgbClr val="0000CC"/>
                </a:solidFill>
              </a:rPr>
              <a:t> </a:t>
            </a:r>
            <a:r>
              <a:rPr lang="en-US" altLang="it-IT">
                <a:solidFill>
                  <a:srgbClr val="FF0065"/>
                </a:solidFill>
              </a:rPr>
              <a:t>w</a:t>
            </a:r>
            <a:endParaRPr lang="en-US" altLang="it-IT">
              <a:solidFill>
                <a:srgbClr val="0000CC"/>
              </a:solidFill>
            </a:endParaRP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>
                <a:solidFill>
                  <a:srgbClr val="0000CC"/>
                </a:solidFill>
              </a:rPr>
              <a:t>    </a:t>
            </a:r>
            <a:r>
              <a:rPr lang="en-US" altLang="it-IT">
                <a:solidFill>
                  <a:srgbClr val="003C75"/>
                </a:solidFill>
              </a:rPr>
              <a:t>–</a:t>
            </a:r>
            <a:r>
              <a:rPr lang="en-US" altLang="it-IT">
                <a:solidFill>
                  <a:srgbClr val="0000CC"/>
                </a:solidFill>
              </a:rPr>
              <a:t> </a:t>
            </a:r>
            <a:r>
              <a:rPr lang="en-US" altLang="it-IT">
                <a:solidFill>
                  <a:srgbClr val="FF0065"/>
                </a:solidFill>
              </a:rPr>
              <a:t>(low</a:t>
            </a:r>
            <a:r>
              <a:rPr lang="en-US" altLang="it-IT" baseline="-25000">
                <a:solidFill>
                  <a:srgbClr val="FF0065"/>
                </a:solidFill>
              </a:rPr>
              <a:t>1</a:t>
            </a:r>
            <a:r>
              <a:rPr lang="en-US" altLang="it-IT">
                <a:solidFill>
                  <a:srgbClr val="FF0065"/>
                </a:solidFill>
              </a:rPr>
              <a:t> x (high</a:t>
            </a:r>
            <a:r>
              <a:rPr lang="en-US" altLang="it-IT" baseline="-25000">
                <a:solidFill>
                  <a:srgbClr val="FF0065"/>
                </a:solidFill>
              </a:rPr>
              <a:t>2</a:t>
            </a:r>
            <a:r>
              <a:rPr lang="en-US" altLang="it-IT">
                <a:solidFill>
                  <a:srgbClr val="FF0065"/>
                </a:solidFill>
              </a:rPr>
              <a:t>–low</a:t>
            </a:r>
            <a:r>
              <a:rPr lang="en-US" altLang="it-IT" baseline="-25000">
                <a:solidFill>
                  <a:srgbClr val="FF0065"/>
                </a:solidFill>
              </a:rPr>
              <a:t>2</a:t>
            </a:r>
            <a:r>
              <a:rPr lang="en-US" altLang="it-IT">
                <a:solidFill>
                  <a:srgbClr val="FF0065"/>
                </a:solidFill>
              </a:rPr>
              <a:t>+1) x w) </a:t>
            </a:r>
            <a:r>
              <a:rPr lang="en-US" altLang="it-IT">
                <a:solidFill>
                  <a:srgbClr val="003C75"/>
                </a:solidFill>
              </a:rPr>
              <a:t>-</a:t>
            </a:r>
            <a:r>
              <a:rPr lang="en-US" altLang="it-IT">
                <a:solidFill>
                  <a:srgbClr val="FF0065"/>
                </a:solidFill>
              </a:rPr>
              <a:t> (low</a:t>
            </a:r>
            <a:r>
              <a:rPr lang="en-US" altLang="it-IT" baseline="-25000">
                <a:solidFill>
                  <a:srgbClr val="FF0065"/>
                </a:solidFill>
              </a:rPr>
              <a:t>2</a:t>
            </a:r>
            <a:r>
              <a:rPr lang="en-US" altLang="it-IT">
                <a:solidFill>
                  <a:srgbClr val="FF0065"/>
                </a:solidFill>
              </a:rPr>
              <a:t> x w)</a:t>
            </a:r>
            <a:endParaRPr lang="en-US" altLang="it-IT"/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/>
              <a:t>If  </a:t>
            </a:r>
            <a:r>
              <a:rPr lang="en-US" altLang="it-IT">
                <a:solidFill>
                  <a:srgbClr val="FF0065"/>
                </a:solidFill>
              </a:rPr>
              <a:t>low</a:t>
            </a:r>
            <a:r>
              <a:rPr lang="en-US" altLang="it-IT" baseline="-25000">
                <a:solidFill>
                  <a:srgbClr val="FF0065"/>
                </a:solidFill>
              </a:rPr>
              <a:t>i</a:t>
            </a:r>
            <a:r>
              <a:rPr lang="en-US" altLang="it-IT"/>
              <a:t>, </a:t>
            </a:r>
            <a:r>
              <a:rPr lang="en-US" altLang="it-IT">
                <a:solidFill>
                  <a:srgbClr val="FF0065"/>
                </a:solidFill>
              </a:rPr>
              <a:t>high</a:t>
            </a:r>
            <a:r>
              <a:rPr lang="en-US" altLang="it-IT" baseline="-25000">
                <a:solidFill>
                  <a:srgbClr val="FF0065"/>
                </a:solidFill>
              </a:rPr>
              <a:t>i</a:t>
            </a:r>
            <a:r>
              <a:rPr lang="en-US" altLang="it-IT"/>
              <a:t>, and </a:t>
            </a:r>
            <a:r>
              <a:rPr lang="en-US" altLang="it-IT">
                <a:solidFill>
                  <a:srgbClr val="FF0065"/>
                </a:solidFill>
              </a:rPr>
              <a:t>w</a:t>
            </a:r>
            <a:r>
              <a:rPr lang="en-US" altLang="it-IT">
                <a:solidFill>
                  <a:srgbClr val="0000CC"/>
                </a:solidFill>
              </a:rPr>
              <a:t> </a:t>
            </a:r>
            <a:r>
              <a:rPr lang="en-US" altLang="it-IT"/>
              <a:t>are known, the last term is a constant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Define </a:t>
            </a:r>
            <a:r>
              <a:rPr lang="en-US" altLang="it-IT">
                <a:solidFill>
                  <a:srgbClr val="FF0065"/>
                </a:solidFill>
              </a:rPr>
              <a:t>@A</a:t>
            </a:r>
            <a:r>
              <a:rPr lang="en-US" altLang="it-IT" baseline="-25000">
                <a:solidFill>
                  <a:srgbClr val="FF0065"/>
                </a:solidFill>
              </a:rPr>
              <a:t>0</a:t>
            </a:r>
            <a:r>
              <a:rPr lang="en-US" altLang="it-IT"/>
              <a:t> as </a:t>
            </a:r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/>
              <a:t>     </a:t>
            </a:r>
            <a:r>
              <a:rPr lang="en-US" altLang="it-IT" sz="1800">
                <a:solidFill>
                  <a:srgbClr val="FF0065"/>
                </a:solidFill>
              </a:rPr>
              <a:t>@A – (low</a:t>
            </a:r>
            <a:r>
              <a:rPr lang="en-US" altLang="it-IT" sz="1800" baseline="-25000">
                <a:solidFill>
                  <a:srgbClr val="FF0065"/>
                </a:solidFill>
              </a:rPr>
              <a:t>1</a:t>
            </a:r>
            <a:r>
              <a:rPr lang="en-US" altLang="it-IT" sz="1800">
                <a:solidFill>
                  <a:srgbClr val="FF0065"/>
                </a:solidFill>
              </a:rPr>
              <a:t> x (high</a:t>
            </a:r>
            <a:r>
              <a:rPr lang="en-US" altLang="it-IT" sz="1800" baseline="-25000">
                <a:solidFill>
                  <a:srgbClr val="FF0065"/>
                </a:solidFill>
              </a:rPr>
              <a:t>2</a:t>
            </a:r>
            <a:r>
              <a:rPr lang="en-US" altLang="it-IT" sz="1800">
                <a:solidFill>
                  <a:srgbClr val="FF0065"/>
                </a:solidFill>
              </a:rPr>
              <a:t>–low</a:t>
            </a:r>
            <a:r>
              <a:rPr lang="en-US" altLang="it-IT" sz="1800" baseline="-25000">
                <a:solidFill>
                  <a:srgbClr val="FF0065"/>
                </a:solidFill>
              </a:rPr>
              <a:t>2</a:t>
            </a:r>
            <a:r>
              <a:rPr lang="en-US" altLang="it-IT" sz="1800">
                <a:solidFill>
                  <a:srgbClr val="FF0065"/>
                </a:solidFill>
              </a:rPr>
              <a:t>+1) x w - low</a:t>
            </a:r>
            <a:r>
              <a:rPr lang="en-US" altLang="it-IT" sz="1800" baseline="-25000">
                <a:solidFill>
                  <a:srgbClr val="FF0065"/>
                </a:solidFill>
              </a:rPr>
              <a:t>2</a:t>
            </a:r>
            <a:r>
              <a:rPr lang="en-US" altLang="it-IT" sz="1800">
                <a:solidFill>
                  <a:srgbClr val="FF0065"/>
                </a:solidFill>
              </a:rPr>
              <a:t> x w</a:t>
            </a:r>
            <a:endParaRPr lang="en-US" altLang="it-IT">
              <a:solidFill>
                <a:srgbClr val="FF0000"/>
              </a:solidFill>
            </a:endParaRPr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/>
              <a:t>And </a:t>
            </a:r>
            <a:r>
              <a:rPr lang="en-US" altLang="it-IT">
                <a:solidFill>
                  <a:srgbClr val="FF0065"/>
                </a:solidFill>
              </a:rPr>
              <a:t>len</a:t>
            </a:r>
            <a:r>
              <a:rPr lang="en-US" altLang="it-IT" baseline="-25000">
                <a:solidFill>
                  <a:srgbClr val="FF0065"/>
                </a:solidFill>
              </a:rPr>
              <a:t>2</a:t>
            </a:r>
            <a:r>
              <a:rPr lang="en-US" altLang="it-IT"/>
              <a:t> as </a:t>
            </a:r>
            <a:r>
              <a:rPr lang="en-US" altLang="it-IT">
                <a:solidFill>
                  <a:srgbClr val="FF0065"/>
                </a:solidFill>
              </a:rPr>
              <a:t>(high</a:t>
            </a:r>
            <a:r>
              <a:rPr lang="en-US" altLang="it-IT" baseline="-25000">
                <a:solidFill>
                  <a:srgbClr val="FF0065"/>
                </a:solidFill>
              </a:rPr>
              <a:t>2</a:t>
            </a:r>
            <a:r>
              <a:rPr lang="en-US" altLang="it-IT">
                <a:solidFill>
                  <a:srgbClr val="FF0065"/>
                </a:solidFill>
              </a:rPr>
              <a:t>-low</a:t>
            </a:r>
            <a:r>
              <a:rPr lang="en-US" altLang="it-IT" baseline="-25000">
                <a:solidFill>
                  <a:srgbClr val="FF0065"/>
                </a:solidFill>
              </a:rPr>
              <a:t>2</a:t>
            </a:r>
            <a:r>
              <a:rPr lang="en-US" altLang="it-IT">
                <a:solidFill>
                  <a:srgbClr val="FF0065"/>
                </a:solidFill>
              </a:rPr>
              <a:t>+1)</a:t>
            </a:r>
            <a:r>
              <a:rPr lang="en-US" altLang="it-IT">
                <a:solidFill>
                  <a:srgbClr val="ED181E"/>
                </a:solidFill>
              </a:rPr>
              <a:t> </a:t>
            </a:r>
            <a:endParaRPr lang="en-US" altLang="it-IT"/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Then, the address expression becomes </a:t>
            </a:r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00CC"/>
                </a:solidFill>
              </a:rPr>
              <a:t>     </a:t>
            </a:r>
            <a:r>
              <a:rPr lang="en-US" altLang="it-IT">
                <a:solidFill>
                  <a:srgbClr val="FF0065"/>
                </a:solidFill>
              </a:rPr>
              <a:t>@A</a:t>
            </a:r>
            <a:r>
              <a:rPr lang="en-US" altLang="it-IT" baseline="-25000">
                <a:solidFill>
                  <a:srgbClr val="FF0065"/>
                </a:solidFill>
              </a:rPr>
              <a:t>0</a:t>
            </a:r>
            <a:r>
              <a:rPr lang="en-US" altLang="it-IT">
                <a:solidFill>
                  <a:srgbClr val="0000CC"/>
                </a:solidFill>
              </a:rPr>
              <a:t> </a:t>
            </a:r>
            <a:r>
              <a:rPr lang="en-US" altLang="it-IT">
                <a:solidFill>
                  <a:srgbClr val="003C75"/>
                </a:solidFill>
              </a:rPr>
              <a:t>+ (i x </a:t>
            </a:r>
            <a:r>
              <a:rPr lang="en-US" altLang="it-IT">
                <a:solidFill>
                  <a:srgbClr val="FF0065"/>
                </a:solidFill>
              </a:rPr>
              <a:t>len</a:t>
            </a:r>
            <a:r>
              <a:rPr lang="en-US" altLang="it-IT" baseline="-25000">
                <a:solidFill>
                  <a:srgbClr val="FF0065"/>
                </a:solidFill>
              </a:rPr>
              <a:t>2</a:t>
            </a:r>
            <a:r>
              <a:rPr lang="en-US" altLang="it-IT">
                <a:solidFill>
                  <a:srgbClr val="0000CC"/>
                </a:solidFill>
              </a:rPr>
              <a:t> </a:t>
            </a:r>
            <a:r>
              <a:rPr lang="en-US" altLang="it-IT">
                <a:solidFill>
                  <a:srgbClr val="003C75"/>
                </a:solidFill>
              </a:rPr>
              <a:t>+ j ) x </a:t>
            </a:r>
            <a:r>
              <a:rPr lang="en-US" altLang="it-IT">
                <a:solidFill>
                  <a:srgbClr val="FF0065"/>
                </a:solidFill>
              </a:rPr>
              <a:t>w</a:t>
            </a:r>
            <a:endParaRPr lang="en-US" altLang="it-IT">
              <a:solidFill>
                <a:srgbClr val="0000CC"/>
              </a:solidFill>
            </a:endParaRPr>
          </a:p>
        </p:txBody>
      </p:sp>
      <p:grpSp>
        <p:nvGrpSpPr>
          <p:cNvPr id="28677" name="Group 12">
            <a:extLst>
              <a:ext uri="{FF2B5EF4-FFF2-40B4-BE49-F238E27FC236}">
                <a16:creationId xmlns:a16="http://schemas.microsoft.com/office/drawing/2014/main" id="{B45B6269-6402-44C2-B0E2-659B8AC583A9}"/>
              </a:ext>
            </a:extLst>
          </p:cNvPr>
          <p:cNvGrpSpPr>
            <a:grpSpLocks/>
          </p:cNvGrpSpPr>
          <p:nvPr/>
        </p:nvGrpSpPr>
        <p:grpSpPr bwMode="auto">
          <a:xfrm>
            <a:off x="2582863" y="5689600"/>
            <a:ext cx="5265737" cy="485775"/>
            <a:chOff x="2582333" y="5689600"/>
            <a:chExt cx="5266267" cy="4855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1A22272-37AA-42AB-90D0-A7FFED73D248}"/>
                </a:ext>
              </a:extLst>
            </p:cNvPr>
            <p:cNvSpPr txBox="1"/>
            <p:nvPr/>
          </p:nvSpPr>
          <p:spPr>
            <a:xfrm>
              <a:off x="5638578" y="5867328"/>
              <a:ext cx="2210022" cy="307849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0" hangingPunct="0">
                <a:defRPr/>
              </a:pPr>
              <a:r>
                <a:rPr lang="en-US" sz="14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Compile-time constants</a:t>
              </a: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58D3DB3-221F-4396-AA4F-AE14EE068EB4}"/>
                </a:ext>
              </a:extLst>
            </p:cNvPr>
            <p:cNvSpPr/>
            <p:nvPr/>
          </p:nvSpPr>
          <p:spPr bwMode="auto">
            <a:xfrm>
              <a:off x="3809594" y="5689600"/>
              <a:ext cx="1828984" cy="331653"/>
            </a:xfrm>
            <a:custGeom>
              <a:avLst/>
              <a:gdLst>
                <a:gd name="connsiteX0" fmla="*/ 1828800 w 1828800"/>
                <a:gd name="connsiteY0" fmla="*/ 262467 h 331612"/>
                <a:gd name="connsiteX1" fmla="*/ 939800 w 1828800"/>
                <a:gd name="connsiteY1" fmla="*/ 287867 h 331612"/>
                <a:gd name="connsiteX2" fmla="*/ 0 w 1828800"/>
                <a:gd name="connsiteY2" fmla="*/ 0 h 331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8800" h="331612">
                  <a:moveTo>
                    <a:pt x="1828800" y="262467"/>
                  </a:moveTo>
                  <a:cubicBezTo>
                    <a:pt x="1536700" y="297039"/>
                    <a:pt x="1244600" y="331612"/>
                    <a:pt x="939800" y="287867"/>
                  </a:cubicBezTo>
                  <a:cubicBezTo>
                    <a:pt x="635000" y="244123"/>
                    <a:pt x="0" y="0"/>
                    <a:pt x="0" y="0"/>
                  </a:cubicBezTo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4D6D8CF-1E34-482B-A633-0328DFCD78F3}"/>
                </a:ext>
              </a:extLst>
            </p:cNvPr>
            <p:cNvSpPr/>
            <p:nvPr/>
          </p:nvSpPr>
          <p:spPr bwMode="auto">
            <a:xfrm>
              <a:off x="2582333" y="5748314"/>
              <a:ext cx="3048307" cy="418929"/>
            </a:xfrm>
            <a:custGeom>
              <a:avLst/>
              <a:gdLst>
                <a:gd name="connsiteX0" fmla="*/ 3048000 w 3048000"/>
                <a:gd name="connsiteY0" fmla="*/ 245533 h 417688"/>
                <a:gd name="connsiteX1" fmla="*/ 1803400 w 3048000"/>
                <a:gd name="connsiteY1" fmla="*/ 414866 h 417688"/>
                <a:gd name="connsiteX2" fmla="*/ 795867 w 3048000"/>
                <a:gd name="connsiteY2" fmla="*/ 262466 h 417688"/>
                <a:gd name="connsiteX3" fmla="*/ 279400 w 3048000"/>
                <a:gd name="connsiteY3" fmla="*/ 330200 h 417688"/>
                <a:gd name="connsiteX4" fmla="*/ 0 w 3048000"/>
                <a:gd name="connsiteY4" fmla="*/ 0 h 417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0" h="417688">
                  <a:moveTo>
                    <a:pt x="3048000" y="245533"/>
                  </a:moveTo>
                  <a:cubicBezTo>
                    <a:pt x="2613377" y="328788"/>
                    <a:pt x="2178755" y="412044"/>
                    <a:pt x="1803400" y="414866"/>
                  </a:cubicBezTo>
                  <a:cubicBezTo>
                    <a:pt x="1428045" y="417688"/>
                    <a:pt x="1049867" y="276577"/>
                    <a:pt x="795867" y="262466"/>
                  </a:cubicBezTo>
                  <a:cubicBezTo>
                    <a:pt x="541867" y="248355"/>
                    <a:pt x="412045" y="373944"/>
                    <a:pt x="279400" y="330200"/>
                  </a:cubicBezTo>
                  <a:cubicBezTo>
                    <a:pt x="146756" y="286456"/>
                    <a:pt x="0" y="0"/>
                    <a:pt x="0" y="0"/>
                  </a:cubicBezTo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</p:grpSp>
      <p:grpSp>
        <p:nvGrpSpPr>
          <p:cNvPr id="28678" name="Group 14">
            <a:extLst>
              <a:ext uri="{FF2B5EF4-FFF2-40B4-BE49-F238E27FC236}">
                <a16:creationId xmlns:a16="http://schemas.microsoft.com/office/drawing/2014/main" id="{D1AEA65E-9E6D-4D11-BDCE-2F5A178A5FF7}"/>
              </a:ext>
            </a:extLst>
          </p:cNvPr>
          <p:cNvGrpSpPr>
            <a:grpSpLocks/>
          </p:cNvGrpSpPr>
          <p:nvPr/>
        </p:nvGrpSpPr>
        <p:grpSpPr bwMode="auto">
          <a:xfrm>
            <a:off x="5989638" y="1770063"/>
            <a:ext cx="2722562" cy="817562"/>
            <a:chOff x="5964767" y="1786467"/>
            <a:chExt cx="2722033" cy="817569"/>
          </a:xfrm>
        </p:grpSpPr>
        <p:sp>
          <p:nvSpPr>
            <p:cNvPr id="58375" name="Text Box 7">
              <a:extLst>
                <a:ext uri="{FF2B5EF4-FFF2-40B4-BE49-F238E27FC236}">
                  <a16:creationId xmlns:a16="http://schemas.microsoft.com/office/drawing/2014/main" id="{11EEE8E6-35EF-48FB-9578-1D6F7800B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689" y="2286533"/>
              <a:ext cx="2514111" cy="317503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90000"/>
                </a:lnSpc>
                <a:defRPr/>
              </a:pPr>
              <a:r>
                <a:rPr lang="en-US" sz="1600" dirty="0">
                  <a:solidFill>
                    <a:srgbClr val="000000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where </a:t>
              </a:r>
              <a:r>
                <a:rPr lang="en-US" sz="1600" dirty="0" err="1">
                  <a:solidFill>
                    <a:srgbClr val="FF006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w</a:t>
              </a:r>
              <a:r>
                <a:rPr lang="en-US" sz="1600" dirty="0">
                  <a:solidFill>
                    <a:srgbClr val="000000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= </a:t>
              </a:r>
              <a:r>
                <a:rPr lang="en-US" sz="1600" dirty="0">
                  <a:solidFill>
                    <a:srgbClr val="FF006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sizeof(A[1,1])</a:t>
              </a: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E69B948-12DE-4173-A952-2EE4FAA3B0B8}"/>
                </a:ext>
              </a:extLst>
            </p:cNvPr>
            <p:cNvSpPr/>
            <p:nvPr/>
          </p:nvSpPr>
          <p:spPr bwMode="auto">
            <a:xfrm>
              <a:off x="5964767" y="1786467"/>
              <a:ext cx="207922" cy="627067"/>
            </a:xfrm>
            <a:custGeom>
              <a:avLst/>
              <a:gdLst>
                <a:gd name="connsiteX0" fmla="*/ 207433 w 207433"/>
                <a:gd name="connsiteY0" fmla="*/ 626533 h 626533"/>
                <a:gd name="connsiteX1" fmla="*/ 4233 w 207433"/>
                <a:gd name="connsiteY1" fmla="*/ 397933 h 626533"/>
                <a:gd name="connsiteX2" fmla="*/ 182033 w 207433"/>
                <a:gd name="connsiteY2" fmla="*/ 0 h 62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7433" h="626533">
                  <a:moveTo>
                    <a:pt x="207433" y="626533"/>
                  </a:moveTo>
                  <a:cubicBezTo>
                    <a:pt x="107949" y="564444"/>
                    <a:pt x="8466" y="502355"/>
                    <a:pt x="4233" y="397933"/>
                  </a:cubicBezTo>
                  <a:cubicBezTo>
                    <a:pt x="0" y="293511"/>
                    <a:pt x="182033" y="0"/>
                    <a:pt x="182033" y="0"/>
                  </a:cubicBezTo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030255E-79F8-45A9-B9F4-B396573B7683}"/>
              </a:ext>
            </a:extLst>
          </p:cNvPr>
          <p:cNvSpPr txBox="1"/>
          <p:nvPr/>
        </p:nvSpPr>
        <p:spPr>
          <a:xfrm>
            <a:off x="6781800" y="3962400"/>
            <a:ext cx="1981200" cy="52387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If </a:t>
            </a:r>
            <a:r>
              <a:rPr lang="en-US" sz="14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@A 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is known, </a:t>
            </a:r>
            <a:r>
              <a:rPr lang="en-US" sz="14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@A</a:t>
            </a:r>
            <a:r>
              <a:rPr lang="en-US" sz="1400" baseline="-250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0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is a known constant.</a:t>
            </a: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3">
            <a:extLst>
              <a:ext uri="{FF2B5EF4-FFF2-40B4-BE49-F238E27FC236}">
                <a16:creationId xmlns:a16="http://schemas.microsoft.com/office/drawing/2014/main" id="{EF2A7D91-1A5A-4B59-A60D-3AF09C9843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0722" name="Slide Number Placeholder 4">
            <a:extLst>
              <a:ext uri="{FF2B5EF4-FFF2-40B4-BE49-F238E27FC236}">
                <a16:creationId xmlns:a16="http://schemas.microsoft.com/office/drawing/2014/main" id="{5F29BC8F-D6C2-4540-A248-92921E3D12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FF2C557-6310-417E-971D-4FADCA472174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535D691B-1C99-4C59-BB33-0D69C5BB2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>
                <a:solidFill>
                  <a:schemeClr val="tx1"/>
                </a:solidFill>
              </a:rPr>
              <a:t>Array References</a:t>
            </a:r>
            <a:endParaRPr lang="en-US" altLang="it-IT">
              <a:solidFill>
                <a:srgbClr val="0000CC"/>
              </a:solidFill>
            </a:endParaRP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333A4ECA-9AA1-4251-81B0-181458FFB2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257800"/>
          </a:xfrm>
        </p:spPr>
        <p:txBody>
          <a:bodyPr/>
          <a:lstStyle/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What about arrays as actual parameters?</a:t>
            </a: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/>
              <a:t>Whole arrays, as call-by-reference parameters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Need dimension information </a:t>
            </a:r>
            <a:r>
              <a:rPr lang="en-US" altLang="it-IT">
                <a:sym typeface="Symbol" panose="05050102010706020507" pitchFamily="18" charset="2"/>
              </a:rPr>
              <a:t> build a </a:t>
            </a:r>
            <a:r>
              <a:rPr lang="en-US" altLang="it-IT" i="1">
                <a:solidFill>
                  <a:srgbClr val="FF0065"/>
                </a:solidFill>
                <a:sym typeface="Symbol" panose="05050102010706020507" pitchFamily="18" charset="2"/>
              </a:rPr>
              <a:t>dope vector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Store the values in the calling sequence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Pass the address of the dope vector in the parameter slot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>
                <a:sym typeface="Symbol" panose="05050102010706020507" pitchFamily="18" charset="2"/>
              </a:rPr>
              <a:t>Generate complete address polynomial at each reference</a:t>
            </a:r>
          </a:p>
          <a:p>
            <a:pPr eaLnBrk="1" hangingPunct="1"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Some improvement is possible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Save </a:t>
            </a:r>
            <a:r>
              <a:rPr lang="en-US" altLang="it-IT">
                <a:solidFill>
                  <a:srgbClr val="003C75"/>
                </a:solidFill>
              </a:rPr>
              <a:t>len</a:t>
            </a:r>
            <a:r>
              <a:rPr lang="en-US" altLang="it-IT" baseline="-25000">
                <a:solidFill>
                  <a:srgbClr val="003C75"/>
                </a:solidFill>
              </a:rPr>
              <a:t>i</a:t>
            </a:r>
            <a:r>
              <a:rPr lang="en-US" altLang="it-IT">
                <a:solidFill>
                  <a:srgbClr val="003C75"/>
                </a:solidFill>
              </a:rPr>
              <a:t> </a:t>
            </a:r>
            <a:r>
              <a:rPr lang="en-US" altLang="it-IT"/>
              <a:t>and </a:t>
            </a:r>
            <a:r>
              <a:rPr lang="en-US" altLang="it-IT">
                <a:solidFill>
                  <a:srgbClr val="003C75"/>
                </a:solidFill>
              </a:rPr>
              <a:t>low</a:t>
            </a:r>
            <a:r>
              <a:rPr lang="en-US" altLang="it-IT" baseline="-25000">
                <a:solidFill>
                  <a:srgbClr val="003C75"/>
                </a:solidFill>
              </a:rPr>
              <a:t>i</a:t>
            </a:r>
            <a:r>
              <a:rPr lang="en-US" altLang="it-IT">
                <a:solidFill>
                  <a:srgbClr val="003C75"/>
                </a:solidFill>
              </a:rPr>
              <a:t> </a:t>
            </a:r>
            <a:r>
              <a:rPr lang="en-US" altLang="it-IT"/>
              <a:t>rather than </a:t>
            </a:r>
            <a:r>
              <a:rPr lang="en-US" altLang="it-IT">
                <a:solidFill>
                  <a:srgbClr val="003C75"/>
                </a:solidFill>
              </a:rPr>
              <a:t>low</a:t>
            </a:r>
            <a:r>
              <a:rPr lang="en-US" altLang="it-IT" baseline="-25000">
                <a:solidFill>
                  <a:srgbClr val="003C75"/>
                </a:solidFill>
              </a:rPr>
              <a:t>i</a:t>
            </a:r>
            <a:r>
              <a:rPr lang="en-US" altLang="it-IT">
                <a:solidFill>
                  <a:srgbClr val="003C75"/>
                </a:solidFill>
              </a:rPr>
              <a:t> </a:t>
            </a:r>
            <a:r>
              <a:rPr lang="en-US" altLang="it-IT"/>
              <a:t>and </a:t>
            </a:r>
            <a:r>
              <a:rPr lang="en-US" altLang="it-IT">
                <a:solidFill>
                  <a:srgbClr val="003C75"/>
                </a:solidFill>
              </a:rPr>
              <a:t>high</a:t>
            </a:r>
            <a:r>
              <a:rPr lang="en-US" altLang="it-IT" baseline="-25000">
                <a:solidFill>
                  <a:srgbClr val="003C75"/>
                </a:solidFill>
              </a:rPr>
              <a:t>i</a:t>
            </a:r>
            <a:endParaRPr lang="en-US" altLang="it-IT">
              <a:solidFill>
                <a:srgbClr val="003C75"/>
              </a:solidFill>
            </a:endParaRP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Pre-compute the fixed terms in prologue sequence </a:t>
            </a:r>
          </a:p>
          <a:p>
            <a:pPr eaLnBrk="1" hangingPunct="1"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/>
              <a:t>What about call-by-value?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Most c-b-v languages pass arrays by reference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This is a language design issue</a:t>
            </a:r>
          </a:p>
        </p:txBody>
      </p:sp>
      <p:grpSp>
        <p:nvGrpSpPr>
          <p:cNvPr id="30725" name="Group 4">
            <a:extLst>
              <a:ext uri="{FF2B5EF4-FFF2-40B4-BE49-F238E27FC236}">
                <a16:creationId xmlns:a16="http://schemas.microsoft.com/office/drawing/2014/main" id="{251AD7C3-5CF2-4D98-BCB7-08C572C34E8C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447800"/>
            <a:ext cx="1981200" cy="1524000"/>
            <a:chOff x="4032" y="1008"/>
            <a:chExt cx="1248" cy="960"/>
          </a:xfrm>
        </p:grpSpPr>
        <p:sp>
          <p:nvSpPr>
            <p:cNvPr id="30726" name="Rectangle 5">
              <a:extLst>
                <a:ext uri="{FF2B5EF4-FFF2-40B4-BE49-F238E27FC236}">
                  <a16:creationId xmlns:a16="http://schemas.microsoft.com/office/drawing/2014/main" id="{B0561396-C8D3-4282-9772-07CB00F0A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008"/>
              <a:ext cx="480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solidFill>
                    <a:srgbClr val="FF0065"/>
                  </a:solidFill>
                  <a:latin typeface="Arial Rounded MT Bold" panose="020F0704030504030204" pitchFamily="34" charset="0"/>
                </a:rPr>
                <a:t>@A</a:t>
              </a:r>
              <a:endParaRPr lang="en-US" altLang="it-IT" sz="1600">
                <a:solidFill>
                  <a:srgbClr val="0000FF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0727" name="Rectangle 6">
              <a:extLst>
                <a:ext uri="{FF2B5EF4-FFF2-40B4-BE49-F238E27FC236}">
                  <a16:creationId xmlns:a16="http://schemas.microsoft.com/office/drawing/2014/main" id="{FAD78113-1B13-46F3-8386-CF1AFBDC2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200"/>
              <a:ext cx="480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low</a:t>
              </a:r>
              <a:r>
                <a:rPr lang="en-US" altLang="it-IT" sz="1600" baseline="-250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solidFill>
                  <a:srgbClr val="003C75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0728" name="Rectangle 7">
              <a:extLst>
                <a:ext uri="{FF2B5EF4-FFF2-40B4-BE49-F238E27FC236}">
                  <a16:creationId xmlns:a16="http://schemas.microsoft.com/office/drawing/2014/main" id="{3C015578-10C7-4544-90C0-FCE1067B4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392"/>
              <a:ext cx="480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high</a:t>
              </a:r>
              <a:r>
                <a:rPr lang="en-US" altLang="it-IT" sz="1600" baseline="-250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solidFill>
                  <a:srgbClr val="003C75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0729" name="Rectangle 8">
              <a:extLst>
                <a:ext uri="{FF2B5EF4-FFF2-40B4-BE49-F238E27FC236}">
                  <a16:creationId xmlns:a16="http://schemas.microsoft.com/office/drawing/2014/main" id="{94E125C9-B2BE-4765-9AB0-028171DBF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584"/>
              <a:ext cx="480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low</a:t>
              </a:r>
              <a:r>
                <a:rPr lang="en-US" altLang="it-IT" sz="1600" baseline="-250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2</a:t>
              </a:r>
              <a:endParaRPr lang="en-US" altLang="it-IT" sz="1600">
                <a:solidFill>
                  <a:srgbClr val="003C75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0730" name="Rectangle 9">
              <a:extLst>
                <a:ext uri="{FF2B5EF4-FFF2-40B4-BE49-F238E27FC236}">
                  <a16:creationId xmlns:a16="http://schemas.microsoft.com/office/drawing/2014/main" id="{075B60E5-3E77-4E98-B242-DCE51BB93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776"/>
              <a:ext cx="480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6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high</a:t>
              </a:r>
              <a:r>
                <a:rPr lang="en-US" altLang="it-IT" sz="1600" baseline="-25000">
                  <a:solidFill>
                    <a:srgbClr val="003C75"/>
                  </a:solidFill>
                  <a:latin typeface="Arial Rounded MT Bold" panose="020F0704030504030204" pitchFamily="34" charset="0"/>
                </a:rPr>
                <a:t>2</a:t>
              </a:r>
              <a:endParaRPr lang="en-US" altLang="it-IT" sz="1600">
                <a:solidFill>
                  <a:srgbClr val="003C75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30731" name="Rectangle 10">
              <a:extLst>
                <a:ext uri="{FF2B5EF4-FFF2-40B4-BE49-F238E27FC236}">
                  <a16:creationId xmlns:a16="http://schemas.microsoft.com/office/drawing/2014/main" id="{501B72A8-378C-4533-B60D-853E53239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1008"/>
              <a:ext cx="192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endParaRPr lang="en-GB" altLang="it-IT" sz="1600">
                <a:solidFill>
                  <a:srgbClr val="0000FF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30732" name="AutoShape 11">
              <a:extLst>
                <a:ext uri="{FF2B5EF4-FFF2-40B4-BE49-F238E27FC236}">
                  <a16:creationId xmlns:a16="http://schemas.microsoft.com/office/drawing/2014/main" id="{9C87E010-1071-4DA5-83D5-88B46A221961}"/>
                </a:ext>
              </a:extLst>
            </p:cNvPr>
            <p:cNvCxnSpPr>
              <a:cxnSpLocks noChangeShapeType="1"/>
              <a:stCxn id="30731" idx="3"/>
              <a:endCxn id="30726" idx="1"/>
            </p:cNvCxnSpPr>
            <p:nvPr/>
          </p:nvCxnSpPr>
          <p:spPr bwMode="auto">
            <a:xfrm>
              <a:off x="4224" y="1104"/>
              <a:ext cx="5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33" name="Line 12">
              <a:extLst>
                <a:ext uri="{FF2B5EF4-FFF2-40B4-BE49-F238E27FC236}">
                  <a16:creationId xmlns:a16="http://schemas.microsoft.com/office/drawing/2014/main" id="{21299740-2D79-4DC2-9E27-0FD7B8A623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12" y="1104"/>
              <a:ext cx="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3">
            <a:extLst>
              <a:ext uri="{FF2B5EF4-FFF2-40B4-BE49-F238E27FC236}">
                <a16:creationId xmlns:a16="http://schemas.microsoft.com/office/drawing/2014/main" id="{5425FAAD-D082-4391-A631-8E3926C281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2770" name="Slide Number Placeholder 4">
            <a:extLst>
              <a:ext uri="{FF2B5EF4-FFF2-40B4-BE49-F238E27FC236}">
                <a16:creationId xmlns:a16="http://schemas.microsoft.com/office/drawing/2014/main" id="{568D4286-738B-40FF-8DFE-C15B80F2F7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3FB6FDF-C3FF-43A4-A4D6-DB60EB0AD798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07194154-2601-44E7-B524-83315E4B3B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>
                <a:solidFill>
                  <a:schemeClr val="tx1"/>
                </a:solidFill>
              </a:rPr>
              <a:t>Array References</a:t>
            </a:r>
            <a:endParaRPr lang="en-US" altLang="it-IT">
              <a:solidFill>
                <a:srgbClr val="0000CC"/>
              </a:solidFill>
            </a:endParaRP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510CFF7E-F283-4B49-BFFF-E69DFD4528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What about A[12] as an actual parameter?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/>
              <a:t>If corresponding parameter is a scalar, it’s easy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Pass the address or value, as needed 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Must know about both formal &amp; actual parameter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Language definition must force this interpretation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/>
              <a:t>What is corresponding parameter is an array?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Must know about both formal &amp; actual parameter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Meaning must be well-defined and understood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Cross-procedural checking of conformability 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</a:t>
            </a:r>
            <a:r>
              <a:rPr lang="en-US" altLang="it-IT">
                <a:solidFill>
                  <a:srgbClr val="0000CC"/>
                </a:solidFill>
                <a:sym typeface="Symbol" panose="05050102010706020507" pitchFamily="18" charset="2"/>
              </a:rPr>
              <a:t> </a:t>
            </a:r>
            <a:r>
              <a:rPr lang="en-US" altLang="it-IT"/>
              <a:t>Again, we’re treading on language design issues</a:t>
            </a: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Footer Placeholder 3">
            <a:extLst>
              <a:ext uri="{FF2B5EF4-FFF2-40B4-BE49-F238E27FC236}">
                <a16:creationId xmlns:a16="http://schemas.microsoft.com/office/drawing/2014/main" id="{9164A9CB-2BBA-4A1B-969E-FBAF0543C4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4818" name="Slide Number Placeholder 4">
            <a:extLst>
              <a:ext uri="{FF2B5EF4-FFF2-40B4-BE49-F238E27FC236}">
                <a16:creationId xmlns:a16="http://schemas.microsoft.com/office/drawing/2014/main" id="{6E7CE268-7A85-4953-A529-6902A2AAF3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772EF82-D26C-45BA-A4D0-4568A539296D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3653AC05-44B2-4049-A6AE-2C861822E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>
                <a:solidFill>
                  <a:schemeClr val="tx1"/>
                </a:solidFill>
              </a:rPr>
              <a:t>Array References</a:t>
            </a:r>
            <a:endParaRPr lang="en-US" altLang="it-IT">
              <a:solidFill>
                <a:srgbClr val="0000CC"/>
              </a:solidFill>
            </a:endParaRP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D805A2D1-AE4F-4A0D-8811-AF36266A10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What about variable-sized arrays?</a:t>
            </a: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/>
              <a:t>Local arrays dimensioned by actual parameters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Same set of problems as parameter arrays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Requires dope vectors (or equivalent)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it-IT"/>
              <a:t>dope vector at fixed offset in activation record </a:t>
            </a:r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</a:t>
            </a:r>
            <a:r>
              <a:rPr lang="en-US" altLang="it-IT">
                <a:solidFill>
                  <a:srgbClr val="0000CC"/>
                </a:solidFill>
                <a:sym typeface="Symbol" panose="05050102010706020507" pitchFamily="18" charset="2"/>
              </a:rPr>
              <a:t> </a:t>
            </a:r>
            <a:r>
              <a:rPr lang="en-US" altLang="it-IT"/>
              <a:t>Different access costs for textually similar references</a:t>
            </a:r>
          </a:p>
          <a:p>
            <a:pPr eaLnBrk="1" hangingPunct="1"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This presents a lot of opportunity for a good optimizer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Common subexpressions in the address polynomial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Contents of dope vector are fixed during each activation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it-IT"/>
              <a:t>Should be able to recover much of the lost ground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</a:t>
            </a:r>
            <a:r>
              <a:rPr lang="en-US" altLang="it-IT">
                <a:solidFill>
                  <a:srgbClr val="0000CC"/>
                </a:solidFill>
                <a:sym typeface="Symbol" panose="05050102010706020507" pitchFamily="18" charset="2"/>
              </a:rPr>
              <a:t> </a:t>
            </a:r>
            <a:r>
              <a:rPr lang="en-US" altLang="it-IT"/>
              <a:t>Handle them like parameter arrays</a:t>
            </a:r>
            <a:endParaRPr lang="en-US" altLang="it-IT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A4D72E5B-8FC4-44EC-BBB3-89F8E5743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Array Address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7781F-CDC2-499A-AC6D-21601240B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Array address calculations are a major source of overhead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Scientific applications make extensive use of arrays and array-like structures</a:t>
            </a:r>
          </a:p>
          <a:p>
            <a:pPr lvl="1">
              <a:spcBef>
                <a:spcPts val="300"/>
              </a:spcBef>
              <a:defRPr/>
            </a:pPr>
            <a:r>
              <a:rPr lang="en-US" dirty="0"/>
              <a:t>Computational linear algebra, both dense &amp; sparse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Non-scientific applications use arrays, too</a:t>
            </a:r>
          </a:p>
          <a:p>
            <a:pPr lvl="1">
              <a:spcBef>
                <a:spcPts val="300"/>
              </a:spcBef>
              <a:defRPr/>
            </a:pPr>
            <a:r>
              <a:rPr lang="en-US" dirty="0"/>
              <a:t>Representations of other data structures</a:t>
            </a:r>
          </a:p>
          <a:p>
            <a:pPr lvl="2">
              <a:spcBef>
                <a:spcPts val="300"/>
              </a:spcBef>
              <a:buFont typeface="Symbol" charset="2"/>
              <a:buChar char=""/>
              <a:defRPr/>
            </a:pPr>
            <a:r>
              <a:rPr lang="en-US" i="1" dirty="0">
                <a:solidFill>
                  <a:srgbClr val="FF0065"/>
                </a:solidFill>
              </a:rPr>
              <a:t>Hash tables, adjacency matrices, tables, structures, …</a:t>
            </a:r>
            <a:endParaRPr lang="en-US" dirty="0"/>
          </a:p>
          <a:p>
            <a:pPr marL="3175" indent="4763">
              <a:spcBef>
                <a:spcPts val="24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Array calculations tend iterate over arrays</a:t>
            </a:r>
            <a:r>
              <a:rPr lang="en-US" dirty="0"/>
              <a:t> 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Loops execute more often than code outside loops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Array address calculations inside loops make a huge difference in efficiency of many compiled applications</a:t>
            </a:r>
          </a:p>
          <a:p>
            <a:pPr marL="3175" indent="4763">
              <a:spcBef>
                <a:spcPts val="600"/>
              </a:spcBef>
              <a:buFont typeface="Times" charset="0"/>
              <a:buNone/>
              <a:defRPr/>
            </a:pPr>
            <a:r>
              <a:rPr lang="en-US" dirty="0"/>
              <a:t>Reducing array address overhead has been a major focus of optimization since the 1950s.</a:t>
            </a:r>
          </a:p>
        </p:txBody>
      </p:sp>
      <p:sp>
        <p:nvSpPr>
          <p:cNvPr id="36867" name="Footer Placeholder 3">
            <a:extLst>
              <a:ext uri="{FF2B5EF4-FFF2-40B4-BE49-F238E27FC236}">
                <a16:creationId xmlns:a16="http://schemas.microsoft.com/office/drawing/2014/main" id="{22CADBE2-0383-4D45-B18F-F1F323EB0D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6868" name="Slide Number Placeholder 4">
            <a:extLst>
              <a:ext uri="{FF2B5EF4-FFF2-40B4-BE49-F238E27FC236}">
                <a16:creationId xmlns:a16="http://schemas.microsoft.com/office/drawing/2014/main" id="{C08A138B-F3D1-4FDB-BCCA-52AC592679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6E9DCDB-F1DC-4B78-8D34-579984BF7BD3}" type="slidenum">
              <a:rPr lang="en-US" altLang="it-IT"/>
              <a:pPr/>
              <a:t>11</a:t>
            </a:fld>
            <a:endParaRPr lang="en-US" altLang="it-IT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Footer Placeholder 3">
            <a:extLst>
              <a:ext uri="{FF2B5EF4-FFF2-40B4-BE49-F238E27FC236}">
                <a16:creationId xmlns:a16="http://schemas.microsoft.com/office/drawing/2014/main" id="{3E68E914-763E-4F85-8746-EDDD1A829A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7890" name="Slide Number Placeholder 4">
            <a:extLst>
              <a:ext uri="{FF2B5EF4-FFF2-40B4-BE49-F238E27FC236}">
                <a16:creationId xmlns:a16="http://schemas.microsoft.com/office/drawing/2014/main" id="{AABDFD55-6AA5-480D-ACC9-DEC7EF9B2E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1633364-4E37-4BB4-B20F-77250F993074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347726E7-39C3-4563-9A1C-CE25DB225A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/>
              <a:t>Example: Array Address Calculations in a Loop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1BC7C916-F255-466C-AA0B-22E737470A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spcBef>
                <a:spcPct val="25000"/>
              </a:spcBef>
              <a:buFontTx/>
              <a:buNone/>
            </a:pPr>
            <a:endParaRPr lang="en-US" altLang="it-IT"/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/>
              <a:t>DO J = 1, N</a:t>
            </a: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/>
              <a:t>	A[I,J] = A[I,J] + B[I,J]</a:t>
            </a: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/>
              <a:t>END DO</a:t>
            </a:r>
          </a:p>
          <a:p>
            <a:pPr eaLnBrk="1" hangingPunct="1">
              <a:spcBef>
                <a:spcPts val="3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Naïve:</a:t>
            </a:r>
            <a:r>
              <a:rPr lang="en-US" altLang="it-IT"/>
              <a:t> Perform the address calculation twice</a:t>
            </a:r>
          </a:p>
          <a:p>
            <a:pPr eaLnBrk="1" hangingPunct="1">
              <a:spcBef>
                <a:spcPct val="25000"/>
              </a:spcBef>
            </a:pPr>
            <a:endParaRPr lang="en-US" altLang="it-IT"/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/>
              <a:t>DO J = 1, N</a:t>
            </a: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/>
              <a:t>	R1 = </a:t>
            </a:r>
            <a:r>
              <a:rPr lang="en-US" altLang="it-IT">
                <a:solidFill>
                  <a:srgbClr val="FF0065"/>
                </a:solidFill>
              </a:rPr>
              <a:t>@A</a:t>
            </a:r>
            <a:r>
              <a:rPr lang="en-US" altLang="it-IT" baseline="-25000">
                <a:solidFill>
                  <a:srgbClr val="FF0065"/>
                </a:solidFill>
              </a:rPr>
              <a:t>0</a:t>
            </a:r>
            <a:r>
              <a:rPr lang="en-US" altLang="it-IT">
                <a:solidFill>
                  <a:srgbClr val="0000CC"/>
                </a:solidFill>
              </a:rPr>
              <a:t> </a:t>
            </a:r>
            <a:r>
              <a:rPr lang="en-US" altLang="it-IT">
                <a:solidFill>
                  <a:srgbClr val="B025A6"/>
                </a:solidFill>
              </a:rPr>
              <a:t>+ </a:t>
            </a:r>
            <a:r>
              <a:rPr lang="en-US" altLang="it-IT">
                <a:solidFill>
                  <a:srgbClr val="003C75"/>
                </a:solidFill>
              </a:rPr>
              <a:t>(J x </a:t>
            </a:r>
            <a:r>
              <a:rPr lang="en-US" altLang="it-IT">
                <a:solidFill>
                  <a:srgbClr val="FF0065"/>
                </a:solidFill>
              </a:rPr>
              <a:t>len</a:t>
            </a:r>
            <a:r>
              <a:rPr lang="en-US" altLang="it-IT" baseline="-25000">
                <a:solidFill>
                  <a:srgbClr val="FF0065"/>
                </a:solidFill>
              </a:rPr>
              <a:t>1</a:t>
            </a:r>
            <a:r>
              <a:rPr lang="en-US" altLang="it-IT">
                <a:solidFill>
                  <a:srgbClr val="0000CC"/>
                </a:solidFill>
              </a:rPr>
              <a:t> </a:t>
            </a:r>
            <a:r>
              <a:rPr lang="en-US" altLang="it-IT">
                <a:solidFill>
                  <a:srgbClr val="003C75"/>
                </a:solidFill>
              </a:rPr>
              <a:t>+ I ) x </a:t>
            </a:r>
            <a:r>
              <a:rPr lang="en-US" altLang="it-IT">
                <a:solidFill>
                  <a:srgbClr val="FF0065"/>
                </a:solidFill>
              </a:rPr>
              <a:t>sizeof(A[1,1])</a:t>
            </a:r>
            <a:endParaRPr lang="en-US" altLang="it-IT">
              <a:solidFill>
                <a:srgbClr val="996600"/>
              </a:solidFill>
            </a:endParaRP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>
                <a:solidFill>
                  <a:srgbClr val="996600"/>
                </a:solidFill>
              </a:rPr>
              <a:t>	</a:t>
            </a:r>
            <a:r>
              <a:rPr lang="en-US" altLang="it-IT"/>
              <a:t>R2</a:t>
            </a:r>
            <a:r>
              <a:rPr lang="en-US" altLang="it-IT">
                <a:solidFill>
                  <a:srgbClr val="996600"/>
                </a:solidFill>
              </a:rPr>
              <a:t> </a:t>
            </a:r>
            <a:r>
              <a:rPr lang="en-US" altLang="it-IT"/>
              <a:t>=</a:t>
            </a:r>
            <a:r>
              <a:rPr lang="en-US" altLang="it-IT">
                <a:solidFill>
                  <a:srgbClr val="996600"/>
                </a:solidFill>
              </a:rPr>
              <a:t> </a:t>
            </a:r>
            <a:r>
              <a:rPr lang="en-US" altLang="it-IT">
                <a:solidFill>
                  <a:srgbClr val="FF0065"/>
                </a:solidFill>
              </a:rPr>
              <a:t>@B</a:t>
            </a:r>
            <a:r>
              <a:rPr lang="en-US" altLang="it-IT" baseline="-25000">
                <a:solidFill>
                  <a:srgbClr val="FF0065"/>
                </a:solidFill>
              </a:rPr>
              <a:t>0</a:t>
            </a:r>
            <a:r>
              <a:rPr lang="en-US" altLang="it-IT">
                <a:solidFill>
                  <a:srgbClr val="0000CC"/>
                </a:solidFill>
              </a:rPr>
              <a:t> </a:t>
            </a:r>
            <a:r>
              <a:rPr lang="en-US" altLang="it-IT">
                <a:solidFill>
                  <a:srgbClr val="B025A6"/>
                </a:solidFill>
              </a:rPr>
              <a:t>+ </a:t>
            </a:r>
            <a:r>
              <a:rPr lang="en-US" altLang="it-IT">
                <a:solidFill>
                  <a:srgbClr val="003C75"/>
                </a:solidFill>
              </a:rPr>
              <a:t>(J x </a:t>
            </a:r>
            <a:r>
              <a:rPr lang="en-US" altLang="it-IT">
                <a:solidFill>
                  <a:srgbClr val="FF0065"/>
                </a:solidFill>
              </a:rPr>
              <a:t>len</a:t>
            </a:r>
            <a:r>
              <a:rPr lang="en-US" altLang="it-IT" baseline="-25000">
                <a:solidFill>
                  <a:srgbClr val="FF0065"/>
                </a:solidFill>
              </a:rPr>
              <a:t>1</a:t>
            </a:r>
            <a:r>
              <a:rPr lang="en-US" altLang="it-IT">
                <a:solidFill>
                  <a:srgbClr val="0000CC"/>
                </a:solidFill>
              </a:rPr>
              <a:t> </a:t>
            </a:r>
            <a:r>
              <a:rPr lang="en-US" altLang="it-IT">
                <a:solidFill>
                  <a:srgbClr val="003C75"/>
                </a:solidFill>
              </a:rPr>
              <a:t>+ I ) x </a:t>
            </a:r>
            <a:r>
              <a:rPr lang="en-US" altLang="it-IT">
                <a:solidFill>
                  <a:srgbClr val="FF0065"/>
                </a:solidFill>
              </a:rPr>
              <a:t>sizeof(A[1,1])</a:t>
            </a:r>
            <a:endParaRPr lang="en-US" altLang="it-IT">
              <a:solidFill>
                <a:srgbClr val="996600"/>
              </a:solidFill>
            </a:endParaRP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>
                <a:solidFill>
                  <a:srgbClr val="996600"/>
                </a:solidFill>
              </a:rPr>
              <a:t>	</a:t>
            </a:r>
            <a:r>
              <a:rPr lang="en-US" altLang="it-IT"/>
              <a:t>MEM(R1) = MEM(R1) + MEM(R2)</a:t>
            </a: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/>
              <a:t>END DO</a:t>
            </a:r>
          </a:p>
          <a:p>
            <a:pPr eaLnBrk="1" hangingPunct="1">
              <a:spcBef>
                <a:spcPct val="25000"/>
              </a:spcBef>
              <a:buFont typeface="Times" panose="02020603050405020304" pitchFamily="18" charset="0"/>
              <a:buNone/>
            </a:pPr>
            <a:endParaRPr lang="en-US" altLang="it-IT"/>
          </a:p>
        </p:txBody>
      </p:sp>
      <p:sp>
        <p:nvSpPr>
          <p:cNvPr id="37893" name="Text Box 4">
            <a:extLst>
              <a:ext uri="{FF2B5EF4-FFF2-40B4-BE49-F238E27FC236}">
                <a16:creationId xmlns:a16="http://schemas.microsoft.com/office/drawing/2014/main" id="{DF0B071A-A2B5-4E4B-BCF2-106C4EC1B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143000"/>
            <a:ext cx="3048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>
                <a:solidFill>
                  <a:srgbClr val="003C75"/>
                </a:solidFill>
              </a:rPr>
              <a:t>A, B are declared as conformable floating-point arrays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56C371EF-DC3D-4621-A86D-740BD6B83B1E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3733800"/>
            <a:ext cx="4724400" cy="2181225"/>
            <a:chOff x="2592" y="2352"/>
            <a:chExt cx="2976" cy="1374"/>
          </a:xfrm>
        </p:grpSpPr>
        <p:sp>
          <p:nvSpPr>
            <p:cNvPr id="66569" name="Text Box 6">
              <a:extLst>
                <a:ext uri="{FF2B5EF4-FFF2-40B4-BE49-F238E27FC236}">
                  <a16:creationId xmlns:a16="http://schemas.microsoft.com/office/drawing/2014/main" id="{EA83EDD6-D079-454F-BD4F-9BAE6AB1C3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352"/>
              <a:ext cx="1728" cy="874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Code generated by a translator will almost certainly work this way.  </a:t>
              </a:r>
            </a:p>
            <a:p>
              <a:pPr eaLnBrk="0" hangingPunct="0">
                <a:defRPr/>
              </a:pP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(treewalk code generator) </a:t>
              </a:r>
            </a:p>
            <a:p>
              <a:pPr eaLnBrk="0" hangingPunct="0">
                <a:spcBef>
                  <a:spcPct val="30000"/>
                </a:spcBef>
                <a:defRPr/>
              </a:pP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Imagine a 5 point stencil:</a:t>
              </a:r>
            </a:p>
          </p:txBody>
        </p:sp>
        <p:sp>
          <p:nvSpPr>
            <p:cNvPr id="37897" name="Text Box 7">
              <a:extLst>
                <a:ext uri="{FF2B5EF4-FFF2-40B4-BE49-F238E27FC236}">
                  <a16:creationId xmlns:a16="http://schemas.microsoft.com/office/drawing/2014/main" id="{F9E09D27-7A73-45D1-A571-4DA0B6C261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360"/>
              <a:ext cx="292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003C75"/>
                  </a:solidFill>
                </a:rPr>
                <a:t>A[I,J] =  0.2 * (A[I-1,J] + A[I,J] + A[I+1,J]</a:t>
              </a:r>
            </a:p>
            <a:p>
              <a:r>
                <a:rPr lang="en-US" altLang="it-IT" sz="1600">
                  <a:solidFill>
                    <a:srgbClr val="003C75"/>
                  </a:solidFill>
                </a:rPr>
                <a:t>                         + A[I,J-1] + A[I,J+1]</a:t>
              </a:r>
              <a:r>
                <a:rPr lang="en-US" altLang="it-IT" sz="900">
                  <a:solidFill>
                    <a:srgbClr val="003C75"/>
                  </a:solidFill>
                </a:rPr>
                <a:t> </a:t>
              </a:r>
              <a:r>
                <a:rPr lang="en-US" altLang="it-IT" sz="1600">
                  <a:solidFill>
                    <a:srgbClr val="003C75"/>
                  </a:solidFill>
                </a:rPr>
                <a:t>)</a:t>
              </a:r>
            </a:p>
          </p:txBody>
        </p:sp>
      </p:grpSp>
      <p:sp>
        <p:nvSpPr>
          <p:cNvPr id="66568" name="Text Box 8">
            <a:extLst>
              <a:ext uri="{FF2B5EF4-FFF2-40B4-BE49-F238E27FC236}">
                <a16:creationId xmlns:a16="http://schemas.microsoft.com/office/drawing/2014/main" id="{5A98FF8F-85EC-400D-9B59-CE651DFC8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6140450"/>
            <a:ext cx="2438400" cy="522288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Inefficiency is an artifact of local translation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Footer Placeholder 3">
            <a:extLst>
              <a:ext uri="{FF2B5EF4-FFF2-40B4-BE49-F238E27FC236}">
                <a16:creationId xmlns:a16="http://schemas.microsoft.com/office/drawing/2014/main" id="{835C3FBF-DDF5-4B6F-A964-1F515B1A22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9938" name="Slide Number Placeholder 4">
            <a:extLst>
              <a:ext uri="{FF2B5EF4-FFF2-40B4-BE49-F238E27FC236}">
                <a16:creationId xmlns:a16="http://schemas.microsoft.com/office/drawing/2014/main" id="{FB47EF3D-CF7D-4C4A-89A8-A08978D011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1C1D314-66A7-4C19-ABD1-3BFDC45C5465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025F9078-E93D-40B5-B39E-88850348F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/>
              <a:t>Example: Array Address Calculations in a Loop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20C51B17-CE8F-4609-AD8A-53990E433B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562600"/>
          </a:xfrm>
        </p:spPr>
        <p:txBody>
          <a:bodyPr/>
          <a:lstStyle/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/>
              <a:t>DO J = 1, N</a:t>
            </a: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/>
              <a:t>	A[I,J] = A[I,J] + B[I,J]</a:t>
            </a: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/>
              <a:t>END DO</a:t>
            </a:r>
          </a:p>
          <a:p>
            <a:pPr eaLnBrk="1" hangingPunct="1">
              <a:spcBef>
                <a:spcPts val="2400"/>
              </a:spcBef>
              <a:spcAft>
                <a:spcPct val="50000"/>
              </a:spcAft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More sophisticated: </a:t>
            </a:r>
            <a:r>
              <a:rPr lang="en-US" altLang="it-IT"/>
              <a:t>Move common calculations out of loop</a:t>
            </a:r>
          </a:p>
          <a:p>
            <a:pPr lvl="1" eaLnBrk="1" hangingPunct="1">
              <a:buFontTx/>
              <a:buNone/>
            </a:pPr>
            <a:r>
              <a:rPr lang="en-US" altLang="it-IT"/>
              <a:t>R1 </a:t>
            </a:r>
            <a:r>
              <a:rPr lang="en-US" altLang="it-IT">
                <a:solidFill>
                  <a:srgbClr val="003C75"/>
                </a:solidFill>
              </a:rPr>
              <a:t>= I x </a:t>
            </a:r>
            <a:r>
              <a:rPr lang="en-US" altLang="it-IT">
                <a:solidFill>
                  <a:srgbClr val="FF0065"/>
                </a:solidFill>
              </a:rPr>
              <a:t>sizeof(A[1,1])</a:t>
            </a:r>
            <a:endParaRPr lang="en-US" altLang="it-IT">
              <a:solidFill>
                <a:srgbClr val="996600"/>
              </a:solidFill>
            </a:endParaRPr>
          </a:p>
          <a:p>
            <a:pPr lvl="1" eaLnBrk="1" hangingPunct="1">
              <a:buFontTx/>
              <a:buNone/>
            </a:pPr>
            <a:r>
              <a:rPr lang="en-US" altLang="it-IT">
                <a:solidFill>
                  <a:srgbClr val="FF0065"/>
                </a:solidFill>
              </a:rPr>
              <a:t>c = len</a:t>
            </a:r>
            <a:r>
              <a:rPr lang="en-US" altLang="it-IT" baseline="-25000">
                <a:solidFill>
                  <a:srgbClr val="FF0065"/>
                </a:solidFill>
              </a:rPr>
              <a:t>1 </a:t>
            </a:r>
            <a:r>
              <a:rPr lang="en-US" altLang="it-IT">
                <a:solidFill>
                  <a:srgbClr val="FF0065"/>
                </a:solidFill>
              </a:rPr>
              <a:t>x sizeof(A[1,1])     ! Compile-time constant</a:t>
            </a:r>
            <a:endParaRPr lang="en-US" altLang="it-IT">
              <a:solidFill>
                <a:srgbClr val="FF0000"/>
              </a:solidFill>
            </a:endParaRPr>
          </a:p>
          <a:p>
            <a:pPr lvl="1" eaLnBrk="1" hangingPunct="1">
              <a:buFontTx/>
              <a:buNone/>
            </a:pPr>
            <a:r>
              <a:rPr lang="en-US" altLang="it-IT"/>
              <a:t>R2 =</a:t>
            </a:r>
            <a:r>
              <a:rPr lang="en-US" altLang="it-IT">
                <a:solidFill>
                  <a:srgbClr val="ED181E"/>
                </a:solidFill>
              </a:rPr>
              <a:t> </a:t>
            </a:r>
            <a:r>
              <a:rPr lang="en-US" altLang="it-IT">
                <a:solidFill>
                  <a:srgbClr val="FF0065"/>
                </a:solidFill>
              </a:rPr>
              <a:t>@A</a:t>
            </a:r>
            <a:r>
              <a:rPr lang="en-US" altLang="it-IT" baseline="-25000">
                <a:solidFill>
                  <a:srgbClr val="FF0065"/>
                </a:solidFill>
              </a:rPr>
              <a:t>0</a:t>
            </a:r>
            <a:r>
              <a:rPr lang="en-US" altLang="it-IT">
                <a:solidFill>
                  <a:srgbClr val="ED181E"/>
                </a:solidFill>
              </a:rPr>
              <a:t> </a:t>
            </a:r>
            <a:r>
              <a:rPr lang="en-US" altLang="it-IT"/>
              <a:t>+ R1</a:t>
            </a:r>
          </a:p>
          <a:p>
            <a:pPr lvl="1" eaLnBrk="1" hangingPunct="1">
              <a:buFontTx/>
              <a:buNone/>
            </a:pPr>
            <a:r>
              <a:rPr lang="en-US" altLang="it-IT"/>
              <a:t>R3 = </a:t>
            </a:r>
            <a:r>
              <a:rPr lang="en-US" altLang="it-IT">
                <a:solidFill>
                  <a:srgbClr val="FF0065"/>
                </a:solidFill>
              </a:rPr>
              <a:t>@B</a:t>
            </a:r>
            <a:r>
              <a:rPr lang="en-US" altLang="it-IT" baseline="-25000">
                <a:solidFill>
                  <a:srgbClr val="FF0065"/>
                </a:solidFill>
              </a:rPr>
              <a:t>0</a:t>
            </a:r>
            <a:r>
              <a:rPr lang="en-US" altLang="it-IT">
                <a:solidFill>
                  <a:srgbClr val="ED181E"/>
                </a:solidFill>
              </a:rPr>
              <a:t> </a:t>
            </a:r>
            <a:r>
              <a:rPr lang="en-US" altLang="it-IT"/>
              <a:t>+ R1</a:t>
            </a:r>
          </a:p>
          <a:p>
            <a:pPr lvl="1" eaLnBrk="1" hangingPunct="1">
              <a:buFontTx/>
              <a:buNone/>
            </a:pPr>
            <a:r>
              <a:rPr lang="en-US" altLang="it-IT"/>
              <a:t>DO J = 1, N</a:t>
            </a:r>
          </a:p>
          <a:p>
            <a:pPr lvl="1" eaLnBrk="1" hangingPunct="1">
              <a:buFontTx/>
              <a:buNone/>
            </a:pPr>
            <a:r>
              <a:rPr lang="en-US" altLang="it-IT"/>
              <a:t>	a = </a:t>
            </a:r>
            <a:r>
              <a:rPr lang="en-US" altLang="it-IT">
                <a:solidFill>
                  <a:srgbClr val="003C75"/>
                </a:solidFill>
              </a:rPr>
              <a:t>J x </a:t>
            </a:r>
            <a:r>
              <a:rPr lang="en-US" altLang="it-IT">
                <a:solidFill>
                  <a:srgbClr val="FF0065"/>
                </a:solidFill>
              </a:rPr>
              <a:t>c</a:t>
            </a:r>
            <a:r>
              <a:rPr lang="en-US" altLang="it-IT">
                <a:solidFill>
                  <a:srgbClr val="FF0000"/>
                </a:solidFill>
              </a:rPr>
              <a:t> </a:t>
            </a:r>
            <a:endParaRPr lang="en-US" altLang="it-IT"/>
          </a:p>
          <a:p>
            <a:pPr lvl="1" eaLnBrk="1" hangingPunct="1">
              <a:buFontTx/>
              <a:buNone/>
            </a:pPr>
            <a:r>
              <a:rPr lang="en-US" altLang="it-IT"/>
              <a:t>	R4 = R2 + a</a:t>
            </a:r>
            <a:endParaRPr lang="en-US" altLang="it-IT">
              <a:solidFill>
                <a:srgbClr val="0000CC"/>
              </a:solidFill>
            </a:endParaRPr>
          </a:p>
          <a:p>
            <a:pPr lvl="1" eaLnBrk="1" hangingPunct="1">
              <a:buFontTx/>
              <a:buNone/>
            </a:pPr>
            <a:r>
              <a:rPr lang="en-US" altLang="it-IT">
                <a:solidFill>
                  <a:srgbClr val="996600"/>
                </a:solidFill>
              </a:rPr>
              <a:t>	</a:t>
            </a:r>
            <a:r>
              <a:rPr lang="en-US" altLang="it-IT"/>
              <a:t>R5</a:t>
            </a:r>
            <a:r>
              <a:rPr lang="en-US" altLang="it-IT">
                <a:solidFill>
                  <a:srgbClr val="996600"/>
                </a:solidFill>
              </a:rPr>
              <a:t> </a:t>
            </a:r>
            <a:r>
              <a:rPr lang="en-US" altLang="it-IT"/>
              <a:t>=</a:t>
            </a:r>
            <a:r>
              <a:rPr lang="en-US" altLang="it-IT">
                <a:solidFill>
                  <a:srgbClr val="996600"/>
                </a:solidFill>
              </a:rPr>
              <a:t> </a:t>
            </a:r>
            <a:r>
              <a:rPr lang="en-US" altLang="it-IT"/>
              <a:t>R3 + a</a:t>
            </a:r>
            <a:endParaRPr lang="en-US" altLang="it-IT">
              <a:solidFill>
                <a:srgbClr val="996600"/>
              </a:solidFill>
            </a:endParaRPr>
          </a:p>
          <a:p>
            <a:pPr lvl="1" eaLnBrk="1" hangingPunct="1">
              <a:buFontTx/>
              <a:buNone/>
            </a:pPr>
            <a:r>
              <a:rPr lang="en-US" altLang="it-IT">
                <a:solidFill>
                  <a:srgbClr val="996600"/>
                </a:solidFill>
              </a:rPr>
              <a:t>	</a:t>
            </a:r>
            <a:r>
              <a:rPr lang="en-US" altLang="it-IT"/>
              <a:t>MEM(R4) = MEM(R4) + MEM(R5)</a:t>
            </a:r>
          </a:p>
          <a:p>
            <a:pPr lvl="1" eaLnBrk="1" hangingPunct="1">
              <a:buFontTx/>
              <a:buNone/>
            </a:pPr>
            <a:r>
              <a:rPr lang="en-US" altLang="it-IT"/>
              <a:t>END DO</a:t>
            </a:r>
            <a:endParaRPr lang="en-US" altLang="it-IT" sz="1400"/>
          </a:p>
        </p:txBody>
      </p:sp>
      <p:sp>
        <p:nvSpPr>
          <p:cNvPr id="68614" name="Text Box 4">
            <a:extLst>
              <a:ext uri="{FF2B5EF4-FFF2-40B4-BE49-F238E27FC236}">
                <a16:creationId xmlns:a16="http://schemas.microsoft.com/office/drawing/2014/main" id="{5DD6FAE7-FCA0-4791-8CF8-98E37BBC1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6248400"/>
            <a:ext cx="24384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Loop-invariant code motion</a:t>
            </a: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Footer Placeholder 3">
            <a:extLst>
              <a:ext uri="{FF2B5EF4-FFF2-40B4-BE49-F238E27FC236}">
                <a16:creationId xmlns:a16="http://schemas.microsoft.com/office/drawing/2014/main" id="{7834163D-BFC4-46E6-83EF-94B2DB4018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1986" name="Slide Number Placeholder 4">
            <a:extLst>
              <a:ext uri="{FF2B5EF4-FFF2-40B4-BE49-F238E27FC236}">
                <a16:creationId xmlns:a16="http://schemas.microsoft.com/office/drawing/2014/main" id="{6BB6F3B5-0C5C-4AC7-92F5-64A0D081F5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665D0D0-5BC2-43FA-B91E-18B20D28CC93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0E091E1E-02C0-47CE-BAFC-9C778C6082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it-IT"/>
              <a:t>Example: Array Address Calculations in a Loop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7129DB2A-B589-4205-8A86-A5606E8247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799013"/>
          </a:xfrm>
        </p:spPr>
        <p:txBody>
          <a:bodyPr/>
          <a:lstStyle/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/>
              <a:t>DO J = 1, N</a:t>
            </a: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/>
              <a:t>	A[I,J] = A[I,J] + B[I,J]</a:t>
            </a: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/>
              <a:t>END DO</a:t>
            </a:r>
          </a:p>
          <a:p>
            <a:pPr eaLnBrk="1" hangingPunct="1">
              <a:spcBef>
                <a:spcPts val="2400"/>
              </a:spcBef>
              <a:spcAft>
                <a:spcPct val="50000"/>
              </a:spcAft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Very sophisticated: </a:t>
            </a:r>
            <a:r>
              <a:rPr lang="en-US" altLang="it-IT"/>
              <a:t>Convert multiply to add </a:t>
            </a: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/>
              <a:t>R1 = </a:t>
            </a:r>
            <a:r>
              <a:rPr lang="en-US" altLang="it-IT">
                <a:solidFill>
                  <a:srgbClr val="003C75"/>
                </a:solidFill>
              </a:rPr>
              <a:t>I x </a:t>
            </a:r>
            <a:r>
              <a:rPr lang="en-US" altLang="it-IT">
                <a:solidFill>
                  <a:srgbClr val="FF0065"/>
                </a:solidFill>
              </a:rPr>
              <a:t>sizeof(A[1,1])</a:t>
            </a:r>
            <a:endParaRPr lang="en-US" altLang="it-IT">
              <a:solidFill>
                <a:srgbClr val="996600"/>
              </a:solidFill>
            </a:endParaRP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>
                <a:solidFill>
                  <a:srgbClr val="FF0065"/>
                </a:solidFill>
              </a:rPr>
              <a:t>c = len</a:t>
            </a:r>
            <a:r>
              <a:rPr lang="en-US" altLang="it-IT" baseline="-25000">
                <a:solidFill>
                  <a:srgbClr val="FF0065"/>
                </a:solidFill>
              </a:rPr>
              <a:t>1 </a:t>
            </a:r>
            <a:r>
              <a:rPr lang="en-US" altLang="it-IT">
                <a:solidFill>
                  <a:srgbClr val="FF0065"/>
                </a:solidFill>
              </a:rPr>
              <a:t>x sizeof(A[1,1])     ! Compile-time constant</a:t>
            </a:r>
            <a:endParaRPr lang="en-US" altLang="it-IT">
              <a:solidFill>
                <a:srgbClr val="FF0000"/>
              </a:solidFill>
            </a:endParaRP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/>
              <a:t>R2 =</a:t>
            </a:r>
            <a:r>
              <a:rPr lang="en-US" altLang="it-IT">
                <a:solidFill>
                  <a:srgbClr val="996600"/>
                </a:solidFill>
              </a:rPr>
              <a:t> </a:t>
            </a:r>
            <a:r>
              <a:rPr lang="en-US" altLang="it-IT">
                <a:solidFill>
                  <a:srgbClr val="FF0065"/>
                </a:solidFill>
              </a:rPr>
              <a:t>@A</a:t>
            </a:r>
            <a:r>
              <a:rPr lang="en-US" altLang="it-IT" baseline="-25000">
                <a:solidFill>
                  <a:srgbClr val="FF0065"/>
                </a:solidFill>
              </a:rPr>
              <a:t>0</a:t>
            </a:r>
            <a:r>
              <a:rPr lang="en-US" altLang="it-IT">
                <a:solidFill>
                  <a:srgbClr val="0000CC"/>
                </a:solidFill>
              </a:rPr>
              <a:t> </a:t>
            </a:r>
            <a:r>
              <a:rPr lang="en-US" altLang="it-IT"/>
              <a:t>+ R1 ;  R3 = </a:t>
            </a:r>
            <a:r>
              <a:rPr lang="en-US" altLang="it-IT">
                <a:solidFill>
                  <a:srgbClr val="FF0065"/>
                </a:solidFill>
              </a:rPr>
              <a:t>@B</a:t>
            </a:r>
            <a:r>
              <a:rPr lang="en-US" altLang="it-IT" baseline="-25000">
                <a:solidFill>
                  <a:srgbClr val="FF0065"/>
                </a:solidFill>
              </a:rPr>
              <a:t>0</a:t>
            </a:r>
            <a:r>
              <a:rPr lang="en-US" altLang="it-IT">
                <a:solidFill>
                  <a:srgbClr val="0000CC"/>
                </a:solidFill>
              </a:rPr>
              <a:t> </a:t>
            </a:r>
            <a:r>
              <a:rPr lang="en-US" altLang="it-IT"/>
              <a:t>+ R1</a:t>
            </a: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/>
              <a:t>DO J = 1, N</a:t>
            </a: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/>
              <a:t>	R2 = R2 + c</a:t>
            </a:r>
            <a:endParaRPr lang="en-US" altLang="it-IT">
              <a:solidFill>
                <a:srgbClr val="0000CC"/>
              </a:solidFill>
            </a:endParaRP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>
                <a:solidFill>
                  <a:srgbClr val="996600"/>
                </a:solidFill>
              </a:rPr>
              <a:t>	</a:t>
            </a:r>
            <a:r>
              <a:rPr lang="en-US" altLang="it-IT"/>
              <a:t>R3</a:t>
            </a:r>
            <a:r>
              <a:rPr lang="en-US" altLang="it-IT">
                <a:solidFill>
                  <a:srgbClr val="996600"/>
                </a:solidFill>
              </a:rPr>
              <a:t> </a:t>
            </a:r>
            <a:r>
              <a:rPr lang="en-US" altLang="it-IT"/>
              <a:t>=</a:t>
            </a:r>
            <a:r>
              <a:rPr lang="en-US" altLang="it-IT">
                <a:solidFill>
                  <a:srgbClr val="996600"/>
                </a:solidFill>
              </a:rPr>
              <a:t> </a:t>
            </a:r>
            <a:r>
              <a:rPr lang="en-US" altLang="it-IT"/>
              <a:t>R3 + c</a:t>
            </a:r>
            <a:endParaRPr lang="en-US" altLang="it-IT">
              <a:solidFill>
                <a:srgbClr val="996600"/>
              </a:solidFill>
            </a:endParaRP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>
                <a:solidFill>
                  <a:srgbClr val="996600"/>
                </a:solidFill>
              </a:rPr>
              <a:t>	</a:t>
            </a:r>
            <a:r>
              <a:rPr lang="en-US" altLang="it-IT"/>
              <a:t>MEM(R2) = MEM(R2) + MEM(R3)</a:t>
            </a:r>
          </a:p>
          <a:p>
            <a:pPr lvl="1" eaLnBrk="1" hangingPunct="1">
              <a:spcBef>
                <a:spcPct val="25000"/>
              </a:spcBef>
              <a:buFontTx/>
              <a:buNone/>
            </a:pPr>
            <a:r>
              <a:rPr lang="en-US" altLang="it-IT"/>
              <a:t>END DO</a:t>
            </a:r>
            <a:endParaRPr lang="en-US" altLang="it-IT" sz="1600"/>
          </a:p>
        </p:txBody>
      </p:sp>
      <p:sp>
        <p:nvSpPr>
          <p:cNvPr id="70662" name="Text Box 4">
            <a:extLst>
              <a:ext uri="{FF2B5EF4-FFF2-40B4-BE49-F238E27FC236}">
                <a16:creationId xmlns:a16="http://schemas.microsoft.com/office/drawing/2014/main" id="{717918C3-AD52-45E3-A965-29927AC8F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259513"/>
            <a:ext cx="4038600" cy="298450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lnSpc>
                <a:spcPct val="95000"/>
              </a:lnSpc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Operator Strength Reduction (§</a:t>
            </a:r>
            <a:r>
              <a:rPr lang="en-US" sz="10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10.4.2 in EaC)</a:t>
            </a:r>
          </a:p>
        </p:txBody>
      </p:sp>
      <p:sp>
        <p:nvSpPr>
          <p:cNvPr id="70663" name="Text Box 5">
            <a:extLst>
              <a:ext uri="{FF2B5EF4-FFF2-40B4-BE49-F238E27FC236}">
                <a16:creationId xmlns:a16="http://schemas.microsoft.com/office/drawing/2014/main" id="{57EC07A9-AA0A-4F1A-AE34-2FA35C911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352800"/>
            <a:ext cx="1981200" cy="1816100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J is now bookkeeping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 good compiler would rewrite the end-of-loop test to operate on R2 or R3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(Linear function test replacement)</a:t>
            </a: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29B245D0-F8E5-4B87-8A77-BD8B30643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Structures and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24119-1E83-4B4A-A08E-E57C6A8A0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Structures and records have two complications</a:t>
            </a:r>
          </a:p>
          <a:p>
            <a:pPr>
              <a:spcBef>
                <a:spcPts val="18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Each declared structure has a set of fields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Size and offset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Compute base + offset for field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Use size to choose load width and register width</a:t>
            </a:r>
          </a:p>
          <a:p>
            <a:pPr>
              <a:spcBef>
                <a:spcPts val="24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Structures and records can have dimensions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Arrays of structures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Fields that are arrays or arrays of structures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Use array address calculation techniques, as needed</a:t>
            </a:r>
          </a:p>
          <a:p>
            <a:pPr marL="3175" indent="4763">
              <a:spcBef>
                <a:spcPts val="24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Structures and records require compile-time support in the form of a table that maps field names to </a:t>
            </a:r>
            <a:r>
              <a:rPr lang="en-US" sz="2800" baseline="-2000" dirty="0">
                <a:solidFill>
                  <a:srgbClr val="003C75"/>
                </a:solidFill>
              </a:rPr>
              <a:t>&lt;</a:t>
            </a:r>
            <a:r>
              <a:rPr lang="en-US" sz="1800" i="1" dirty="0" err="1">
                <a:solidFill>
                  <a:srgbClr val="003C75"/>
                </a:solidFill>
              </a:rPr>
              <a:t>offset,size</a:t>
            </a:r>
            <a:r>
              <a:rPr lang="en-US" sz="1000" i="1" dirty="0">
                <a:solidFill>
                  <a:srgbClr val="003C75"/>
                </a:solidFill>
              </a:rPr>
              <a:t> </a:t>
            </a:r>
            <a:r>
              <a:rPr lang="en-US" sz="2800" baseline="-2000" dirty="0">
                <a:solidFill>
                  <a:srgbClr val="003C75"/>
                </a:solidFill>
              </a:rPr>
              <a:t>&gt;</a:t>
            </a:r>
            <a:r>
              <a:rPr lang="en-US" dirty="0">
                <a:solidFill>
                  <a:srgbClr val="003C75"/>
                </a:solidFill>
              </a:rPr>
              <a:t> </a:t>
            </a:r>
            <a:r>
              <a:rPr lang="en-US" dirty="0" err="1">
                <a:solidFill>
                  <a:srgbClr val="003C75"/>
                </a:solidFill>
              </a:rPr>
              <a:t>tuples</a:t>
            </a:r>
            <a:r>
              <a:rPr lang="en-US" dirty="0"/>
              <a:t>.</a:t>
            </a:r>
          </a:p>
        </p:txBody>
      </p:sp>
      <p:sp>
        <p:nvSpPr>
          <p:cNvPr id="44035" name="Footer Placeholder 3">
            <a:extLst>
              <a:ext uri="{FF2B5EF4-FFF2-40B4-BE49-F238E27FC236}">
                <a16:creationId xmlns:a16="http://schemas.microsoft.com/office/drawing/2014/main" id="{6DFC7E61-FA8F-4541-9919-9B9A3020A6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4036" name="Slide Number Placeholder 4">
            <a:extLst>
              <a:ext uri="{FF2B5EF4-FFF2-40B4-BE49-F238E27FC236}">
                <a16:creationId xmlns:a16="http://schemas.microsoft.com/office/drawing/2014/main" id="{22C92985-3CAA-4DCD-B50B-EE4518A996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D67324E-22E9-4D42-9CDD-9E3234CD28DC}" type="slidenum">
              <a:rPr lang="en-US" altLang="it-IT"/>
              <a:pPr/>
              <a:t>15</a:t>
            </a:fld>
            <a:endParaRPr lang="en-US" altLang="it-IT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Footer Placeholder 1">
            <a:extLst>
              <a:ext uri="{FF2B5EF4-FFF2-40B4-BE49-F238E27FC236}">
                <a16:creationId xmlns:a16="http://schemas.microsoft.com/office/drawing/2014/main" id="{24EFA2B0-C609-466A-8038-5ACC32ADC8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5058" name="Slide Number Placeholder 2">
            <a:extLst>
              <a:ext uri="{FF2B5EF4-FFF2-40B4-BE49-F238E27FC236}">
                <a16:creationId xmlns:a16="http://schemas.microsoft.com/office/drawing/2014/main" id="{E121682A-AEB9-4A78-A20A-D9B87AE9AB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571B821-4799-463B-8CEE-0FD2B8E3DDA2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37DF598F-F19F-4141-9395-77CF5FE56B6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Representing and Manipulating Strings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FAC47ABD-DC8B-4F6A-B96C-C935A780E6F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Character strings differ from scalars, arrays, &amp; structures</a:t>
            </a:r>
          </a:p>
          <a:p>
            <a:pPr eaLnBrk="1" hangingPunct="1"/>
            <a:r>
              <a:rPr lang="en-US" altLang="it-IT"/>
              <a:t>Fundamental unit is a character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Typical sizes are one or two bytes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Target ISA may (or may not) support character-size operations</a:t>
            </a:r>
          </a:p>
          <a:p>
            <a:pPr eaLnBrk="1" hangingPunct="1"/>
            <a:r>
              <a:rPr lang="en-US" altLang="it-IT"/>
              <a:t>Set of supported operations on strings is limited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Assignment, length, concatenation, translation (?)</a:t>
            </a:r>
          </a:p>
          <a:p>
            <a:pPr eaLnBrk="1" hangingPunct="1"/>
            <a:r>
              <a:rPr lang="en-US" altLang="it-IT"/>
              <a:t>Efficient string operations are complex on most R</a:t>
            </a:r>
            <a:r>
              <a:rPr lang="en-US" altLang="it-IT" sz="1600"/>
              <a:t>ISC</a:t>
            </a:r>
            <a:r>
              <a:rPr lang="en-US" altLang="it-IT"/>
              <a:t> I</a:t>
            </a:r>
            <a:r>
              <a:rPr lang="en-US" altLang="it-IT" sz="1600"/>
              <a:t>SA</a:t>
            </a:r>
            <a:r>
              <a:rPr lang="en-US" altLang="it-IT"/>
              <a:t>s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Ties into representation, linkage convention, &amp; source language</a:t>
            </a:r>
          </a:p>
        </p:txBody>
      </p:sp>
      <p:sp>
        <p:nvSpPr>
          <p:cNvPr id="72710" name="Text Box 4">
            <a:extLst>
              <a:ext uri="{FF2B5EF4-FFF2-40B4-BE49-F238E27FC236}">
                <a16:creationId xmlns:a16="http://schemas.microsoft.com/office/drawing/2014/main" id="{A49D5F15-ACB9-4891-B5A6-13B7FDFC4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6248400"/>
            <a:ext cx="1219200" cy="304800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§ 7.6 in EaC</a:t>
            </a:r>
          </a:p>
        </p:txBody>
      </p:sp>
      <p:grpSp>
        <p:nvGrpSpPr>
          <p:cNvPr id="45062" name="Group 11">
            <a:extLst>
              <a:ext uri="{FF2B5EF4-FFF2-40B4-BE49-F238E27FC236}">
                <a16:creationId xmlns:a16="http://schemas.microsoft.com/office/drawing/2014/main" id="{E7EDEA55-54FB-4438-880C-07CC0BFD7E3A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546225"/>
            <a:ext cx="2895600" cy="511175"/>
            <a:chOff x="3312" y="926"/>
            <a:chExt cx="1824" cy="322"/>
          </a:xfrm>
        </p:grpSpPr>
        <p:sp>
          <p:nvSpPr>
            <p:cNvPr id="72712" name="Text Box 7">
              <a:extLst>
                <a:ext uri="{FF2B5EF4-FFF2-40B4-BE49-F238E27FC236}">
                  <a16:creationId xmlns:a16="http://schemas.microsoft.com/office/drawing/2014/main" id="{0FB39DD4-C2B3-4D6C-8B8E-3B399F8A8C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926"/>
              <a:ext cx="960" cy="213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 dirty="0" err="1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Subword</a:t>
              </a:r>
              <a:r>
                <a:rPr lang="en-US" sz="1600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data</a:t>
              </a:r>
            </a:p>
          </p:txBody>
        </p:sp>
        <p:sp>
          <p:nvSpPr>
            <p:cNvPr id="45064" name="Freeform 9">
              <a:extLst>
                <a:ext uri="{FF2B5EF4-FFF2-40B4-BE49-F238E27FC236}">
                  <a16:creationId xmlns:a16="http://schemas.microsoft.com/office/drawing/2014/main" id="{26F08496-E5EC-4CF4-A4F0-0D37ADCCC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992"/>
              <a:ext cx="864" cy="256"/>
            </a:xfrm>
            <a:custGeom>
              <a:avLst/>
              <a:gdLst>
                <a:gd name="T0" fmla="*/ 0 w 864"/>
                <a:gd name="T1" fmla="*/ 256 h 256"/>
                <a:gd name="T2" fmla="*/ 288 w 864"/>
                <a:gd name="T3" fmla="*/ 16 h 256"/>
                <a:gd name="T4" fmla="*/ 336 w 864"/>
                <a:gd name="T5" fmla="*/ 160 h 256"/>
                <a:gd name="T6" fmla="*/ 864 w 864"/>
                <a:gd name="T7" fmla="*/ 16 h 2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64"/>
                <a:gd name="T13" fmla="*/ 0 h 256"/>
                <a:gd name="T14" fmla="*/ 864 w 864"/>
                <a:gd name="T15" fmla="*/ 256 h 2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64" h="256">
                  <a:moveTo>
                    <a:pt x="0" y="256"/>
                  </a:moveTo>
                  <a:cubicBezTo>
                    <a:pt x="116" y="144"/>
                    <a:pt x="232" y="32"/>
                    <a:pt x="288" y="16"/>
                  </a:cubicBezTo>
                  <a:cubicBezTo>
                    <a:pt x="344" y="0"/>
                    <a:pt x="240" y="160"/>
                    <a:pt x="336" y="160"/>
                  </a:cubicBezTo>
                  <a:cubicBezTo>
                    <a:pt x="432" y="160"/>
                    <a:pt x="648" y="88"/>
                    <a:pt x="864" y="16"/>
                  </a:cubicBezTo>
                </a:path>
              </a:pathLst>
            </a:custGeom>
            <a:noFill/>
            <a:ln w="19050" algn="ctr">
              <a:solidFill>
                <a:srgbClr val="7F7F7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Footer Placeholder 1">
            <a:extLst>
              <a:ext uri="{FF2B5EF4-FFF2-40B4-BE49-F238E27FC236}">
                <a16:creationId xmlns:a16="http://schemas.microsoft.com/office/drawing/2014/main" id="{052E9C3F-00D4-4E7E-B1EC-59ED68E90A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7106" name="Slide Number Placeholder 2">
            <a:extLst>
              <a:ext uri="{FF2B5EF4-FFF2-40B4-BE49-F238E27FC236}">
                <a16:creationId xmlns:a16="http://schemas.microsoft.com/office/drawing/2014/main" id="{9BA24484-EA80-448B-80F3-A5C1A0B6BF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513122F-E30C-44DB-BBA1-9C44D39B2BA9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8EF5E429-A2A9-4F6F-9CCA-26A47B8B25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Representing and Manipulating Strings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69529C6C-0A44-4BAC-A6A5-6684FC7FBF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Two common representations</a:t>
            </a:r>
          </a:p>
          <a:p>
            <a:pPr eaLnBrk="1" hangingPunct="1"/>
            <a:r>
              <a:rPr lang="en-US" altLang="it-IT"/>
              <a:t>Explicit length field</a:t>
            </a:r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>
              <a:spcBef>
                <a:spcPct val="90000"/>
              </a:spcBef>
            </a:pPr>
            <a:r>
              <a:rPr lang="en-US" altLang="it-IT"/>
              <a:t>Null termination</a:t>
            </a:r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endParaRPr lang="en-US" altLang="it-IT"/>
          </a:p>
          <a:p>
            <a:pPr eaLnBrk="1" hangingPunct="1"/>
            <a:r>
              <a:rPr lang="en-US" altLang="it-IT"/>
              <a:t>Language design issue</a:t>
            </a:r>
          </a:p>
          <a:p>
            <a:pPr lvl="1" eaLnBrk="1" hangingPunct="1"/>
            <a:r>
              <a:rPr lang="en-US" altLang="it-IT"/>
              <a:t>Fixed-length versus varying-length strings    </a:t>
            </a:r>
            <a:r>
              <a:rPr lang="en-US" altLang="it-IT" i="1">
                <a:solidFill>
                  <a:srgbClr val="003C75"/>
                </a:solidFill>
              </a:rPr>
              <a:t>(</a:t>
            </a:r>
            <a:r>
              <a:rPr lang="en-US" altLang="it-IT" sz="1600" i="1">
                <a:solidFill>
                  <a:srgbClr val="003C75"/>
                </a:solidFill>
              </a:rPr>
              <a:t>1 or 2 length fields</a:t>
            </a:r>
            <a:r>
              <a:rPr lang="en-US" altLang="it-IT" i="1">
                <a:solidFill>
                  <a:srgbClr val="003C75"/>
                </a:solidFill>
              </a:rPr>
              <a:t>)</a:t>
            </a:r>
            <a:endParaRPr lang="en-US" altLang="it-IT">
              <a:solidFill>
                <a:srgbClr val="003C75"/>
              </a:solidFill>
            </a:endParaRPr>
          </a:p>
        </p:txBody>
      </p:sp>
      <p:grpSp>
        <p:nvGrpSpPr>
          <p:cNvPr id="47109" name="Group 41">
            <a:extLst>
              <a:ext uri="{FF2B5EF4-FFF2-40B4-BE49-F238E27FC236}">
                <a16:creationId xmlns:a16="http://schemas.microsoft.com/office/drawing/2014/main" id="{792FF7A0-9E1B-42DF-B516-59D3E45615C6}"/>
              </a:ext>
            </a:extLst>
          </p:cNvPr>
          <p:cNvGrpSpPr>
            <a:grpSpLocks/>
          </p:cNvGrpSpPr>
          <p:nvPr/>
        </p:nvGrpSpPr>
        <p:grpSpPr bwMode="auto">
          <a:xfrm>
            <a:off x="1117600" y="3657600"/>
            <a:ext cx="4826000" cy="927100"/>
            <a:chOff x="1117600" y="3657600"/>
            <a:chExt cx="4826000" cy="927100"/>
          </a:xfrm>
        </p:grpSpPr>
        <p:grpSp>
          <p:nvGrpSpPr>
            <p:cNvPr id="47118" name="Group 40">
              <a:extLst>
                <a:ext uri="{FF2B5EF4-FFF2-40B4-BE49-F238E27FC236}">
                  <a16:creationId xmlns:a16="http://schemas.microsoft.com/office/drawing/2014/main" id="{6B186E1B-F867-4F34-86E2-4FA50DD99E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3000" y="3657600"/>
              <a:ext cx="4800600" cy="381000"/>
              <a:chOff x="1143000" y="3657600"/>
              <a:chExt cx="4800600" cy="381000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3A2A8346-981B-46EE-A112-94BDE2D1318A}"/>
                  </a:ext>
                </a:extLst>
              </p:cNvPr>
              <p:cNvGrpSpPr/>
              <p:nvPr/>
            </p:nvGrpSpPr>
            <p:grpSpPr>
              <a:xfrm>
                <a:off x="1143000" y="3657600"/>
                <a:ext cx="4800600" cy="381000"/>
                <a:chOff x="1143000" y="3657600"/>
                <a:chExt cx="4800600" cy="381000"/>
              </a:xfrm>
              <a:effectLst>
                <a:outerShdw blurRad="50800" dist="38100" dir="2700000">
                  <a:srgbClr val="000000">
                    <a:alpha val="43000"/>
                  </a:srgbClr>
                </a:outerShdw>
              </a:effectLst>
            </p:grpSpPr>
            <p:sp>
              <p:nvSpPr>
                <p:cNvPr id="74777" name="Rectangle 6">
                  <a:extLst>
                    <a:ext uri="{FF2B5EF4-FFF2-40B4-BE49-F238E27FC236}">
                      <a16:creationId xmlns:a16="http://schemas.microsoft.com/office/drawing/2014/main" id="{F7C47A38-0E7B-4EEE-B741-72B4267464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3000" y="3657600"/>
                  <a:ext cx="533400" cy="3810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>
                      <a:latin typeface="Comic Sans MS" charset="0"/>
                      <a:ea typeface="ヒラギノ角ゴ Pro W3" charset="-128"/>
                      <a:cs typeface="ヒラギノ角ゴ Pro W3" charset="-128"/>
                    </a:rPr>
                    <a:t>a</a:t>
                  </a:r>
                </a:p>
              </p:txBody>
            </p:sp>
            <p:sp>
              <p:nvSpPr>
                <p:cNvPr id="74778" name="Rectangle 7">
                  <a:extLst>
                    <a:ext uri="{FF2B5EF4-FFF2-40B4-BE49-F238E27FC236}">
                      <a16:creationId xmlns:a16="http://schemas.microsoft.com/office/drawing/2014/main" id="{2E53A912-A22D-4F27-A45D-DF6C3B5020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9800" y="3657600"/>
                  <a:ext cx="533400" cy="3810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>
                      <a:latin typeface="Comic Sans MS" charset="0"/>
                      <a:ea typeface="ヒラギノ角ゴ Pro W3" charset="-128"/>
                      <a:cs typeface="ヒラギノ角ゴ Pro W3" charset="-128"/>
                    </a:rPr>
                    <a:t>s</a:t>
                  </a:r>
                </a:p>
              </p:txBody>
            </p:sp>
            <p:sp>
              <p:nvSpPr>
                <p:cNvPr id="74779" name="Rectangle 8">
                  <a:extLst>
                    <a:ext uri="{FF2B5EF4-FFF2-40B4-BE49-F238E27FC236}">
                      <a16:creationId xmlns:a16="http://schemas.microsoft.com/office/drawing/2014/main" id="{30F5230E-6436-4BCA-92A4-2AC133ADF6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3200" y="3657600"/>
                  <a:ext cx="533400" cy="3810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>
                      <a:latin typeface="Comic Sans MS" charset="0"/>
                      <a:ea typeface="ヒラギノ角ゴ Pro W3" charset="-128"/>
                      <a:cs typeface="ヒラギノ角ゴ Pro W3" charset="-128"/>
                    </a:rPr>
                    <a:t>t</a:t>
                  </a:r>
                </a:p>
              </p:txBody>
            </p:sp>
            <p:sp>
              <p:nvSpPr>
                <p:cNvPr id="74780" name="Rectangle 9">
                  <a:extLst>
                    <a:ext uri="{FF2B5EF4-FFF2-40B4-BE49-F238E27FC236}">
                      <a16:creationId xmlns:a16="http://schemas.microsoft.com/office/drawing/2014/main" id="{07EC6AF1-501B-4A4C-B88C-835531A48E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76600" y="3657600"/>
                  <a:ext cx="533400" cy="3810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>
                      <a:latin typeface="Comic Sans MS" charset="0"/>
                      <a:ea typeface="ヒラギノ角ゴ Pro W3" charset="-128"/>
                      <a:cs typeface="ヒラギノ角ゴ Pro W3" charset="-128"/>
                    </a:rPr>
                    <a:t>r</a:t>
                  </a:r>
                </a:p>
              </p:txBody>
            </p:sp>
            <p:sp>
              <p:nvSpPr>
                <p:cNvPr id="74781" name="Rectangle 10">
                  <a:extLst>
                    <a:ext uri="{FF2B5EF4-FFF2-40B4-BE49-F238E27FC236}">
                      <a16:creationId xmlns:a16="http://schemas.microsoft.com/office/drawing/2014/main" id="{8243AE50-C5A5-4021-8460-089FA13914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10000" y="3657600"/>
                  <a:ext cx="533400" cy="3810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>
                      <a:latin typeface="Comic Sans MS" charset="0"/>
                      <a:ea typeface="ヒラギノ角ゴ Pro W3" charset="-128"/>
                      <a:cs typeface="ヒラギノ角ゴ Pro W3" charset="-128"/>
                    </a:rPr>
                    <a:t>i</a:t>
                  </a:r>
                </a:p>
              </p:txBody>
            </p:sp>
            <p:sp>
              <p:nvSpPr>
                <p:cNvPr id="74782" name="Rectangle 11">
                  <a:extLst>
                    <a:ext uri="{FF2B5EF4-FFF2-40B4-BE49-F238E27FC236}">
                      <a16:creationId xmlns:a16="http://schemas.microsoft.com/office/drawing/2014/main" id="{EBFBBD1C-8663-480A-88EB-B557B8741B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43400" y="3657600"/>
                  <a:ext cx="533400" cy="3810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>
                      <a:latin typeface="Comic Sans MS" charset="0"/>
                      <a:ea typeface="ヒラギノ角ゴ Pro W3" charset="-128"/>
                      <a:cs typeface="ヒラギノ角ゴ Pro W3" charset="-128"/>
                    </a:rPr>
                    <a:t>n</a:t>
                  </a:r>
                </a:p>
              </p:txBody>
            </p:sp>
            <p:sp>
              <p:nvSpPr>
                <p:cNvPr id="74783" name="Rectangle 12">
                  <a:extLst>
                    <a:ext uri="{FF2B5EF4-FFF2-40B4-BE49-F238E27FC236}">
                      <a16:creationId xmlns:a16="http://schemas.microsoft.com/office/drawing/2014/main" id="{B990F0A8-CB69-448F-8422-4BA628696B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76800" y="3657600"/>
                  <a:ext cx="533400" cy="3810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>
                      <a:latin typeface="Comic Sans MS" charset="0"/>
                      <a:ea typeface="ヒラギノ角ゴ Pro W3" charset="-128"/>
                      <a:cs typeface="ヒラギノ角ゴ Pro W3" charset="-128"/>
                    </a:rPr>
                    <a:t>g</a:t>
                  </a:r>
                </a:p>
              </p:txBody>
            </p:sp>
            <p:sp>
              <p:nvSpPr>
                <p:cNvPr id="74784" name="Rectangle 13">
                  <a:extLst>
                    <a:ext uri="{FF2B5EF4-FFF2-40B4-BE49-F238E27FC236}">
                      <a16:creationId xmlns:a16="http://schemas.microsoft.com/office/drawing/2014/main" id="{2FC329A9-53D5-4393-AD37-DC8565EA9F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10200" y="3657600"/>
                  <a:ext cx="533400" cy="3810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600">
                      <a:solidFill>
                        <a:srgbClr val="003C75"/>
                      </a:solidFill>
                      <a:latin typeface="Comic Sans MS" charset="0"/>
                      <a:ea typeface="ヒラギノ角ゴ Pro W3" charset="-128"/>
                      <a:cs typeface="ヒラギノ角ゴ Pro W3" charset="-128"/>
                    </a:rPr>
                    <a:t>\0</a:t>
                  </a:r>
                  <a:endParaRPr lang="en-US">
                    <a:solidFill>
                      <a:srgbClr val="003C75"/>
                    </a:solidFill>
                    <a:latin typeface="Comic Sans MS" charset="0"/>
                    <a:ea typeface="ヒラギノ角ゴ Pro W3" charset="-128"/>
                    <a:cs typeface="ヒラギノ角ゴ Pro W3" charset="-128"/>
                  </a:endParaRPr>
                </a:p>
              </p:txBody>
            </p:sp>
            <p:sp>
              <p:nvSpPr>
                <p:cNvPr id="74788" name="Rectangle 15">
                  <a:extLst>
                    <a:ext uri="{FF2B5EF4-FFF2-40B4-BE49-F238E27FC236}">
                      <a16:creationId xmlns:a16="http://schemas.microsoft.com/office/drawing/2014/main" id="{A9E7A0D6-7581-42CA-B901-0E0B0557D7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6400" y="3657600"/>
                  <a:ext cx="533400" cy="38100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>
                      <a:latin typeface="Comic Sans MS" charset="0"/>
                      <a:ea typeface="ヒラギノ角ゴ Pro W3" charset="-128"/>
                      <a:cs typeface="ヒラギノ角ゴ Pro W3" charset="-128"/>
                    </a:rPr>
                    <a:t>b</a:t>
                  </a:r>
                </a:p>
              </p:txBody>
            </p:sp>
          </p:grpSp>
          <p:sp>
            <p:nvSpPr>
              <p:cNvPr id="47122" name="Line 16">
                <a:extLst>
                  <a:ext uri="{FF2B5EF4-FFF2-40B4-BE49-F238E27FC236}">
                    <a16:creationId xmlns:a16="http://schemas.microsoft.com/office/drawing/2014/main" id="{70189DAE-CBE5-4BDD-9A7B-17BD2F7FE1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58433" y="3759201"/>
                <a:ext cx="165100" cy="2159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sp>
          <p:nvSpPr>
            <p:cNvPr id="47119" name="Text Box 18">
              <a:extLst>
                <a:ext uri="{FF2B5EF4-FFF2-40B4-BE49-F238E27FC236}">
                  <a16:creationId xmlns:a16="http://schemas.microsoft.com/office/drawing/2014/main" id="{98AC9DD8-9C65-472E-BD0A-FE1E5C5B5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7600" y="4203700"/>
              <a:ext cx="5334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003C75"/>
                  </a:solidFill>
                </a:rPr>
                <a:t>@</a:t>
              </a:r>
              <a:r>
                <a:rPr lang="en-US" altLang="it-IT">
                  <a:solidFill>
                    <a:srgbClr val="003C75"/>
                  </a:solidFill>
                </a:rPr>
                <a:t>b</a:t>
              </a:r>
            </a:p>
          </p:txBody>
        </p:sp>
        <p:sp>
          <p:nvSpPr>
            <p:cNvPr id="47120" name="Line 19">
              <a:extLst>
                <a:ext uri="{FF2B5EF4-FFF2-40B4-BE49-F238E27FC236}">
                  <a16:creationId xmlns:a16="http://schemas.microsoft.com/office/drawing/2014/main" id="{67F9282B-2DF1-4C03-BF4F-776E49EDF4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3000" y="4038600"/>
              <a:ext cx="0" cy="546100"/>
            </a:xfrm>
            <a:prstGeom prst="line">
              <a:avLst/>
            </a:prstGeom>
            <a:noFill/>
            <a:ln w="12700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74760" name="Text Box 36">
            <a:extLst>
              <a:ext uri="{FF2B5EF4-FFF2-40B4-BE49-F238E27FC236}">
                <a16:creationId xmlns:a16="http://schemas.microsoft.com/office/drawing/2014/main" id="{A118CDE6-D213-4279-B79C-A2BC31CB5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981200"/>
            <a:ext cx="1981200" cy="825500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Length field may take more space than terminator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810FB4-7053-4668-AC99-982D20219A7D}"/>
              </a:ext>
            </a:extLst>
          </p:cNvPr>
          <p:cNvSpPr txBox="1"/>
          <p:nvPr/>
        </p:nvSpPr>
        <p:spPr>
          <a:xfrm>
            <a:off x="3352800" y="5943600"/>
            <a:ext cx="4724400" cy="73818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String representation is a great case study in the way that one design decision (C, Unix) can have a long term impact on computing (security, buffer overflow)</a:t>
            </a:r>
          </a:p>
        </p:txBody>
      </p:sp>
      <p:grpSp>
        <p:nvGrpSpPr>
          <p:cNvPr id="47112" name="Group 38">
            <a:extLst>
              <a:ext uri="{FF2B5EF4-FFF2-40B4-BE49-F238E27FC236}">
                <a16:creationId xmlns:a16="http://schemas.microsoft.com/office/drawing/2014/main" id="{AC97A29A-55BF-4125-AAE7-F2FAC7A3F8BE}"/>
              </a:ext>
            </a:extLst>
          </p:cNvPr>
          <p:cNvGrpSpPr>
            <a:grpSpLocks/>
          </p:cNvGrpSpPr>
          <p:nvPr/>
        </p:nvGrpSpPr>
        <p:grpSpPr bwMode="auto">
          <a:xfrm>
            <a:off x="1168400" y="2057400"/>
            <a:ext cx="4800600" cy="927100"/>
            <a:chOff x="1168401" y="2057400"/>
            <a:chExt cx="4800599" cy="927100"/>
          </a:xfrm>
        </p:grpSpPr>
        <p:grpSp>
          <p:nvGrpSpPr>
            <p:cNvPr id="47113" name="Group 37">
              <a:extLst>
                <a:ext uri="{FF2B5EF4-FFF2-40B4-BE49-F238E27FC236}">
                  <a16:creationId xmlns:a16="http://schemas.microsoft.com/office/drawing/2014/main" id="{D1CFB328-C916-487F-8241-9F56E3EBF6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6400" y="2438400"/>
              <a:ext cx="533400" cy="546100"/>
              <a:chOff x="1056" y="1536"/>
              <a:chExt cx="336" cy="344"/>
            </a:xfrm>
          </p:grpSpPr>
          <p:sp>
            <p:nvSpPr>
              <p:cNvPr id="47116" name="Text Box 22">
                <a:extLst>
                  <a:ext uri="{FF2B5EF4-FFF2-40B4-BE49-F238E27FC236}">
                    <a16:creationId xmlns:a16="http://schemas.microsoft.com/office/drawing/2014/main" id="{DBDFD476-DAF4-43A2-8549-BC8E414F50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1640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it-IT" sz="1600">
                    <a:solidFill>
                      <a:srgbClr val="003C75"/>
                    </a:solidFill>
                  </a:rPr>
                  <a:t>@</a:t>
                </a:r>
                <a:r>
                  <a:rPr lang="en-US" altLang="it-IT">
                    <a:solidFill>
                      <a:srgbClr val="003C75"/>
                    </a:solidFill>
                  </a:rPr>
                  <a:t>b</a:t>
                </a:r>
              </a:p>
            </p:txBody>
          </p:sp>
          <p:sp>
            <p:nvSpPr>
              <p:cNvPr id="47117" name="Line 23">
                <a:extLst>
                  <a:ext uri="{FF2B5EF4-FFF2-40B4-BE49-F238E27FC236}">
                    <a16:creationId xmlns:a16="http://schemas.microsoft.com/office/drawing/2014/main" id="{9F4AAB0E-54AA-4D52-9B32-E21DDE40F4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72" y="1536"/>
                <a:ext cx="0" cy="344"/>
              </a:xfrm>
              <a:prstGeom prst="line">
                <a:avLst/>
              </a:prstGeom>
              <a:noFill/>
              <a:ln w="12700">
                <a:solidFill>
                  <a:srgbClr val="003C75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B67FC92-49EE-45BA-8D4C-EFBB7E068DAF}"/>
                </a:ext>
              </a:extLst>
            </p:cNvPr>
            <p:cNvGrpSpPr/>
            <p:nvPr/>
          </p:nvGrpSpPr>
          <p:grpSpPr>
            <a:xfrm>
              <a:off x="1168401" y="2057400"/>
              <a:ext cx="4800599" cy="381000"/>
              <a:chOff x="1168401" y="2057400"/>
              <a:chExt cx="4800599" cy="381000"/>
            </a:xfrm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grpSpPr>
          <p:sp>
            <p:nvSpPr>
              <p:cNvPr id="74765" name="Rectangle 26">
                <a:extLst>
                  <a:ext uri="{FF2B5EF4-FFF2-40B4-BE49-F238E27FC236}">
                    <a16:creationId xmlns:a16="http://schemas.microsoft.com/office/drawing/2014/main" id="{85855EBE-F97E-418B-8D1A-D728B1EF56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8600" y="2057400"/>
                <a:ext cx="533400" cy="3810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>
                    <a:latin typeface="Comic Sans MS" charset="0"/>
                    <a:ea typeface="ヒラギノ角ゴ Pro W3" charset="-128"/>
                    <a:cs typeface="ヒラギノ角ゴ Pro W3" charset="-128"/>
                  </a:rPr>
                  <a:t>s</a:t>
                </a:r>
              </a:p>
            </p:txBody>
          </p:sp>
          <p:sp>
            <p:nvSpPr>
              <p:cNvPr id="74766" name="Rectangle 27">
                <a:extLst>
                  <a:ext uri="{FF2B5EF4-FFF2-40B4-BE49-F238E27FC236}">
                    <a16:creationId xmlns:a16="http://schemas.microsoft.com/office/drawing/2014/main" id="{08F02C75-751C-419B-B7C7-8FB2632E2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2000" y="2057400"/>
                <a:ext cx="533400" cy="3810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>
                    <a:latin typeface="Comic Sans MS" charset="0"/>
                    <a:ea typeface="ヒラギノ角ゴ Pro W3" charset="-128"/>
                    <a:cs typeface="ヒラギノ角ゴ Pro W3" charset="-128"/>
                  </a:rPr>
                  <a:t>t</a:t>
                </a:r>
              </a:p>
            </p:txBody>
          </p:sp>
          <p:sp>
            <p:nvSpPr>
              <p:cNvPr id="74767" name="Rectangle 28">
                <a:extLst>
                  <a:ext uri="{FF2B5EF4-FFF2-40B4-BE49-F238E27FC236}">
                    <a16:creationId xmlns:a16="http://schemas.microsoft.com/office/drawing/2014/main" id="{C91EF43B-4A47-4522-AA48-E64448E071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5400" y="2057400"/>
                <a:ext cx="533400" cy="3810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>
                    <a:latin typeface="Comic Sans MS" charset="0"/>
                    <a:ea typeface="ヒラギノ角ゴ Pro W3" charset="-128"/>
                    <a:cs typeface="ヒラギノ角ゴ Pro W3" charset="-128"/>
                  </a:rPr>
                  <a:t>r</a:t>
                </a:r>
              </a:p>
            </p:txBody>
          </p:sp>
          <p:sp>
            <p:nvSpPr>
              <p:cNvPr id="74768" name="Rectangle 29">
                <a:extLst>
                  <a:ext uri="{FF2B5EF4-FFF2-40B4-BE49-F238E27FC236}">
                    <a16:creationId xmlns:a16="http://schemas.microsoft.com/office/drawing/2014/main" id="{6CD616C8-DF80-4CC0-B2BB-0D9727BAD5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800" y="2057400"/>
                <a:ext cx="533400" cy="3810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>
                    <a:latin typeface="Comic Sans MS" charset="0"/>
                    <a:ea typeface="ヒラギノ角ゴ Pro W3" charset="-128"/>
                    <a:cs typeface="ヒラギノ角ゴ Pro W3" charset="-128"/>
                  </a:rPr>
                  <a:t>i</a:t>
                </a:r>
              </a:p>
            </p:txBody>
          </p:sp>
          <p:sp>
            <p:nvSpPr>
              <p:cNvPr id="74769" name="Rectangle 30">
                <a:extLst>
                  <a:ext uri="{FF2B5EF4-FFF2-40B4-BE49-F238E27FC236}">
                    <a16:creationId xmlns:a16="http://schemas.microsoft.com/office/drawing/2014/main" id="{2FE7E946-E48D-4822-B2FE-DA7B57F5A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200" y="2057400"/>
                <a:ext cx="533400" cy="3810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>
                    <a:latin typeface="Comic Sans MS" charset="0"/>
                    <a:ea typeface="ヒラギノ角ゴ Pro W3" charset="-128"/>
                    <a:cs typeface="ヒラギノ角ゴ Pro W3" charset="-128"/>
                  </a:rPr>
                  <a:t>n</a:t>
                </a:r>
              </a:p>
            </p:txBody>
          </p:sp>
          <p:sp>
            <p:nvSpPr>
              <p:cNvPr id="74770" name="Rectangle 31">
                <a:extLst>
                  <a:ext uri="{FF2B5EF4-FFF2-40B4-BE49-F238E27FC236}">
                    <a16:creationId xmlns:a16="http://schemas.microsoft.com/office/drawing/2014/main" id="{84EE98FE-79ED-4A52-96CB-E4300DE8A9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5600" y="2057400"/>
                <a:ext cx="533400" cy="3810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>
                    <a:latin typeface="Comic Sans MS" charset="0"/>
                    <a:ea typeface="ヒラギノ角ゴ Pro W3" charset="-128"/>
                    <a:cs typeface="ヒラギノ角ゴ Pro W3" charset="-128"/>
                  </a:rPr>
                  <a:t>g</a:t>
                </a:r>
              </a:p>
            </p:txBody>
          </p:sp>
          <p:sp>
            <p:nvSpPr>
              <p:cNvPr id="74773" name="Rectangle 33">
                <a:extLst>
                  <a:ext uri="{FF2B5EF4-FFF2-40B4-BE49-F238E27FC236}">
                    <a16:creationId xmlns:a16="http://schemas.microsoft.com/office/drawing/2014/main" id="{AD0DA754-BD79-47D7-A5D1-64F7FEBCE8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5200" y="2057400"/>
                <a:ext cx="533400" cy="3810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>
                    <a:latin typeface="Comic Sans MS" charset="0"/>
                    <a:ea typeface="ヒラギノ角ゴ Pro W3" charset="-128"/>
                    <a:cs typeface="ヒラギノ角ゴ Pro W3" charset="-128"/>
                  </a:rPr>
                  <a:t>b</a:t>
                </a:r>
              </a:p>
            </p:txBody>
          </p:sp>
          <p:sp>
            <p:nvSpPr>
              <p:cNvPr id="74772" name="Rectangle 35">
                <a:extLst>
                  <a:ext uri="{FF2B5EF4-FFF2-40B4-BE49-F238E27FC236}">
                    <a16:creationId xmlns:a16="http://schemas.microsoft.com/office/drawing/2014/main" id="{A2431DC2-F994-47EA-AFB3-CBD805F0F3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8401" y="2057400"/>
                <a:ext cx="533400" cy="3810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 dirty="0">
                    <a:solidFill>
                      <a:srgbClr val="003C75"/>
                    </a:solidFill>
                    <a:latin typeface="Comic Sans MS" charset="0"/>
                    <a:ea typeface="ヒラギノ角ゴ Pro W3" charset="-128"/>
                    <a:cs typeface="ヒラギノ角ゴ Pro W3" charset="-128"/>
                  </a:rPr>
                  <a:t>8</a:t>
                </a:r>
                <a:endParaRPr lang="en-US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74764" name="Rectangle 25">
                <a:extLst>
                  <a:ext uri="{FF2B5EF4-FFF2-40B4-BE49-F238E27FC236}">
                    <a16:creationId xmlns:a16="http://schemas.microsoft.com/office/drawing/2014/main" id="{22A22F0C-A517-419F-9DF5-B77E477CE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1800" y="2057400"/>
                <a:ext cx="533400" cy="3810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>
                    <a:latin typeface="Comic Sans MS" charset="0"/>
                    <a:ea typeface="ヒラギノ角ゴ Pro W3" charset="-128"/>
                    <a:cs typeface="ヒラギノ角ゴ Pro W3" charset="-128"/>
                  </a:rPr>
                  <a:t>a</a:t>
                </a:r>
              </a:p>
            </p:txBody>
          </p:sp>
        </p:grpSp>
        <p:sp>
          <p:nvSpPr>
            <p:cNvPr id="47115" name="Line 34">
              <a:extLst>
                <a:ext uri="{FF2B5EF4-FFF2-40B4-BE49-F238E27FC236}">
                  <a16:creationId xmlns:a16="http://schemas.microsoft.com/office/drawing/2014/main" id="{3B22E009-C80D-4CAF-8ABD-6749A4F155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8766" y="2154767"/>
              <a:ext cx="165100" cy="2159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Footer Placeholder 1">
            <a:extLst>
              <a:ext uri="{FF2B5EF4-FFF2-40B4-BE49-F238E27FC236}">
                <a16:creationId xmlns:a16="http://schemas.microsoft.com/office/drawing/2014/main" id="{D71B08C6-A070-47C9-8EEF-72443F9961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9154" name="Slide Number Placeholder 2">
            <a:extLst>
              <a:ext uri="{FF2B5EF4-FFF2-40B4-BE49-F238E27FC236}">
                <a16:creationId xmlns:a16="http://schemas.microsoft.com/office/drawing/2014/main" id="{4FC47402-A6E3-4A49-A0DE-D6D13E0463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648000C-9FFC-4C33-850A-8EC1B908760E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D9037380-B226-48F8-BA09-B4AFDCDFFE2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Representing and Manipulating Strings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13B58A9-02C5-40BE-9821-E0D9D4FFC72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Each representation as advantages and disadvantages</a:t>
            </a:r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ts val="4325"/>
              </a:spcBef>
              <a:buFont typeface="Times" panose="02020603050405020304" pitchFamily="18" charset="0"/>
              <a:buNone/>
            </a:pPr>
            <a:r>
              <a:rPr lang="en-US" altLang="it-IT"/>
              <a:t>Unfortunately, null termination is almost considered normal</a:t>
            </a:r>
          </a:p>
          <a:p>
            <a:pPr eaLnBrk="1" hangingPunct="1"/>
            <a:r>
              <a:rPr lang="en-US" altLang="it-IT"/>
              <a:t>Hangover from design of C</a:t>
            </a:r>
          </a:p>
          <a:p>
            <a:pPr eaLnBrk="1" hangingPunct="1"/>
            <a:r>
              <a:rPr lang="en-US" altLang="it-IT"/>
              <a:t>Embedded in OS and API designs</a:t>
            </a:r>
          </a:p>
        </p:txBody>
      </p:sp>
      <p:graphicFrame>
        <p:nvGraphicFramePr>
          <p:cNvPr id="64579" name="Group 67">
            <a:extLst>
              <a:ext uri="{FF2B5EF4-FFF2-40B4-BE49-F238E27FC236}">
                <a16:creationId xmlns:a16="http://schemas.microsoft.com/office/drawing/2014/main" id="{28D1F6AB-C3D5-475A-BF0B-6A73F091B5B8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1676400"/>
          <a:ext cx="7086600" cy="2520951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Operation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Explicit Length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Null Termination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Assignment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Straightforward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Straightforward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Checked Assignment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Checking is easy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Must count length</a:t>
                      </a:r>
                      <a:r>
                        <a:rPr kumimoji="0" 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Length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O(1)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O(n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Concatenation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Must copy data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Length + copy data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3A5F85D-5341-4117-8685-9293B043A387}"/>
              </a:ext>
            </a:extLst>
          </p:cNvPr>
          <p:cNvSpPr txBox="1"/>
          <p:nvPr/>
        </p:nvSpPr>
        <p:spPr>
          <a:xfrm>
            <a:off x="3505200" y="6105525"/>
            <a:ext cx="4648200" cy="52387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 baseline="300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1 </a:t>
            </a: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Checked assignment requires both a current length for the string and an allocated length for the buffer.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Footer Placeholder 1">
            <a:extLst>
              <a:ext uri="{FF2B5EF4-FFF2-40B4-BE49-F238E27FC236}">
                <a16:creationId xmlns:a16="http://schemas.microsoft.com/office/drawing/2014/main" id="{AC3185F2-2AB6-4741-88F3-11725A3D3C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1202" name="Slide Number Placeholder 2">
            <a:extLst>
              <a:ext uri="{FF2B5EF4-FFF2-40B4-BE49-F238E27FC236}">
                <a16:creationId xmlns:a16="http://schemas.microsoft.com/office/drawing/2014/main" id="{C05EF058-3EAF-4978-9B10-06112407E3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0FC4A58-CA1E-45D3-9FA8-97DF64035857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85367AB1-CB17-4C98-B9C7-0FD3BB79E1B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Manipulating Strings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2CCABEDF-59E8-40C6-BA43-0F481D9F776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Single character assignment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it-IT"/>
              <a:t>With character operations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Compute address of rhs, load character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Compute address of lhs, store character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it-IT"/>
              <a:t>With only word operations   	           </a:t>
            </a:r>
            <a:r>
              <a:rPr lang="en-US" altLang="it-IT">
                <a:solidFill>
                  <a:srgbClr val="FF0065"/>
                </a:solidFill>
              </a:rPr>
              <a:t>(</a:t>
            </a:r>
            <a:r>
              <a:rPr lang="en-US" altLang="it-IT" sz="1800" i="1">
                <a:solidFill>
                  <a:srgbClr val="FF0065"/>
                </a:solidFill>
              </a:rPr>
              <a:t>&gt;1 char per word</a:t>
            </a:r>
            <a:r>
              <a:rPr lang="en-US" altLang="it-IT">
                <a:solidFill>
                  <a:srgbClr val="FF0065"/>
                </a:solidFill>
              </a:rPr>
              <a:t>)</a:t>
            </a:r>
            <a:endParaRPr lang="en-US" altLang="it-IT"/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Compute address of word containing rhs &amp; load it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Move character to destination position within word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Compute address of word containing lhs &amp; load it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Mask out current character &amp; mask in new character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Store lhs word back into place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Footer Placeholder 1">
            <a:extLst>
              <a:ext uri="{FF2B5EF4-FFF2-40B4-BE49-F238E27FC236}">
                <a16:creationId xmlns:a16="http://schemas.microsoft.com/office/drawing/2014/main" id="{96C9E2DD-7CE0-44E4-B4A7-042DE7C60B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3250" name="Slide Number Placeholder 2">
            <a:extLst>
              <a:ext uri="{FF2B5EF4-FFF2-40B4-BE49-F238E27FC236}">
                <a16:creationId xmlns:a16="http://schemas.microsoft.com/office/drawing/2014/main" id="{B24C1031-4B87-4CD5-B396-E56C48B091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FC31F8C-890A-4DA8-8C51-723D3AECBD3C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790CBCC-BCB9-4DF9-A009-CAB2E014D83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Manipulating Strings</a:t>
            </a:r>
          </a:p>
        </p:txBody>
      </p:sp>
      <p:sp>
        <p:nvSpPr>
          <p:cNvPr id="80901" name="Rectangle 3">
            <a:extLst>
              <a:ext uri="{FF2B5EF4-FFF2-40B4-BE49-F238E27FC236}">
                <a16:creationId xmlns:a16="http://schemas.microsoft.com/office/drawing/2014/main" id="{5D4C3375-5E55-4673-A00B-8D5638DEC4B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81000" indent="-381000" eaLnBrk="1" hangingPunct="1"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Multiple character assignment</a:t>
            </a:r>
          </a:p>
          <a:p>
            <a:pPr marL="381000" indent="-381000" eaLnBrk="1" hangingPunct="1"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Two strategies </a:t>
            </a:r>
          </a:p>
          <a:p>
            <a:pPr marL="800100" lvl="1" eaLnBrk="1" hangingPunct="1">
              <a:buFontTx/>
              <a:buAutoNum type="arabicPeriod"/>
              <a:defRPr/>
            </a:pPr>
            <a:r>
              <a:rPr lang="en-US" dirty="0"/>
              <a:t>Wrap a loop around the single character code, or</a:t>
            </a:r>
          </a:p>
          <a:p>
            <a:pPr marL="800100" lvl="1" eaLnBrk="1" hangingPunct="1">
              <a:buFontTx/>
              <a:buAutoNum type="arabicPeriod"/>
              <a:defRPr/>
            </a:pPr>
            <a:r>
              <a:rPr lang="en-US" dirty="0"/>
              <a:t>Work up to a word-aligned case, repeat whole word moves, and handle any partial-word end case</a:t>
            </a:r>
          </a:p>
          <a:p>
            <a:pPr marL="381000" indent="-381000" eaLnBrk="1" hangingPunct="1">
              <a:spcBef>
                <a:spcPct val="750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With character operations</a:t>
            </a:r>
          </a:p>
          <a:p>
            <a:pPr marL="800100" lvl="1" indent="-342900" eaLnBrk="1" hangingPunct="1">
              <a:buFontTx/>
              <a:buAutoNum type="arabicPeriod"/>
              <a:defRPr/>
            </a:pPr>
            <a:r>
              <a:rPr lang="en-US" dirty="0"/>
              <a:t>Easy to generate; inefficient use of resources </a:t>
            </a:r>
          </a:p>
          <a:p>
            <a:pPr marL="800100" lvl="1" indent="-342900" eaLnBrk="1" hangingPunct="1">
              <a:buFontTx/>
              <a:buAutoNum type="arabicPeriod"/>
              <a:defRPr/>
            </a:pPr>
            <a:r>
              <a:rPr lang="en-US" dirty="0"/>
              <a:t>Harder to generate; better use of resources</a:t>
            </a:r>
          </a:p>
          <a:p>
            <a:pPr marL="381000" indent="-381000" eaLnBrk="1" hangingPunct="1">
              <a:spcBef>
                <a:spcPts val="18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3C75"/>
                </a:solidFill>
              </a:rPr>
              <a:t>With only word operations</a:t>
            </a:r>
          </a:p>
          <a:p>
            <a:pPr marL="800100" lvl="1" indent="-342900" eaLnBrk="1" hangingPunct="1">
              <a:buFontTx/>
              <a:buAutoNum type="arabicPeriod"/>
              <a:defRPr/>
            </a:pPr>
            <a:r>
              <a:rPr lang="en-US" dirty="0"/>
              <a:t>Lots of complication to generate; inefficient at runtime, too</a:t>
            </a:r>
          </a:p>
          <a:p>
            <a:pPr marL="800100" lvl="1" indent="-342900" eaLnBrk="1" hangingPunct="1">
              <a:buFontTx/>
              <a:buAutoNum type="arabicPeriod"/>
              <a:defRPr/>
            </a:pPr>
            <a:r>
              <a:rPr lang="en-US" dirty="0"/>
              <a:t>Fold complications into end case; reasonable efficiency </a:t>
            </a:r>
          </a:p>
        </p:txBody>
      </p:sp>
      <p:sp>
        <p:nvSpPr>
          <p:cNvPr id="68612" name="Text Box 4">
            <a:extLst>
              <a:ext uri="{FF2B5EF4-FFF2-40B4-BE49-F238E27FC236}">
                <a16:creationId xmlns:a16="http://schemas.microsoft.com/office/drawing/2014/main" id="{1065E0F7-68AD-4DA5-AA36-DEE5811D0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971800"/>
            <a:ext cx="2209800" cy="120967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Requires explicit code to check for buffer overflow</a:t>
            </a:r>
          </a:p>
          <a:p>
            <a:pPr eaLnBrk="0" hangingPunct="0">
              <a:defRPr/>
            </a:pP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</a:t>
            </a: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 length)</a:t>
            </a:r>
            <a:endParaRPr lang="en-US">
              <a:solidFill>
                <a:srgbClr val="003C75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53254" name="Text Box 5">
            <a:extLst>
              <a:ext uri="{FF2B5EF4-FFF2-40B4-BE49-F238E27FC236}">
                <a16:creationId xmlns:a16="http://schemas.microsoft.com/office/drawing/2014/main" id="{5A37E2F6-331E-4CB9-B460-54E2BE6BF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410200"/>
            <a:ext cx="533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</a:rPr>
              <a:t>Source &amp; destination aligned differently </a:t>
            </a:r>
          </a:p>
          <a:p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 much harder cases for word operations</a:t>
            </a:r>
            <a:r>
              <a:rPr lang="en-US" altLang="it-IT">
                <a:solidFill>
                  <a:srgbClr val="003C75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2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Footer Placeholder 1">
            <a:extLst>
              <a:ext uri="{FF2B5EF4-FFF2-40B4-BE49-F238E27FC236}">
                <a16:creationId xmlns:a16="http://schemas.microsoft.com/office/drawing/2014/main" id="{2316003E-6893-4ED8-B13C-94FBEFCE01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5298" name="Slide Number Placeholder 2">
            <a:extLst>
              <a:ext uri="{FF2B5EF4-FFF2-40B4-BE49-F238E27FC236}">
                <a16:creationId xmlns:a16="http://schemas.microsoft.com/office/drawing/2014/main" id="{AE75E799-D159-43AD-9D6C-BCAF228A34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6A1A9A0-D7D0-41CC-AFE1-05918E782F7C}" type="slidenum">
              <a:rPr lang="en-US" altLang="it-IT"/>
              <a:pPr/>
              <a:t>21</a:t>
            </a:fld>
            <a:endParaRPr lang="en-US" altLang="it-IT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572C4F44-6E60-41C0-8D53-AE57C32F36B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Manipulating Strings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A02ED654-952B-4B8B-93AB-C0AB54652AA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Concatenation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String concatenation is a length computation followed by a pair of whole-string assignments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Touches every character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it-IT"/>
              <a:t>Exposes representation issues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Is string a descriptor that points to text?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Is string a buffer that holds the text?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Consider a </a:t>
            </a:r>
            <a:r>
              <a:rPr lang="en-US" altLang="it-IT">
                <a:sym typeface="Symbol" panose="05050102010706020507" pitchFamily="18" charset="2"/>
              </a:rPr>
              <a:t> b || c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it-IT"/>
              <a:t>Compute b || c and assign descriptor to a?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it-IT"/>
              <a:t>Compute b || c into a temporary &amp; copy it into a?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it-IT"/>
              <a:t>Compute b || c directly into a?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it-IT"/>
              <a:t>What about a call to fee( b || c ) 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Footer Placeholder 1">
            <a:extLst>
              <a:ext uri="{FF2B5EF4-FFF2-40B4-BE49-F238E27FC236}">
                <a16:creationId xmlns:a16="http://schemas.microsoft.com/office/drawing/2014/main" id="{866FD3F6-C515-45FF-A050-7645E40C5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7346" name="Slide Number Placeholder 2">
            <a:extLst>
              <a:ext uri="{FF2B5EF4-FFF2-40B4-BE49-F238E27FC236}">
                <a16:creationId xmlns:a16="http://schemas.microsoft.com/office/drawing/2014/main" id="{EF74E831-398A-4F35-B2BD-2B35F51E6B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2B5CD3C-87B5-4A4B-BBFD-A130FBCC552D}" type="slidenum">
              <a:rPr lang="en-US" altLang="it-IT"/>
              <a:pPr/>
              <a:t>22</a:t>
            </a:fld>
            <a:endParaRPr lang="en-US" altLang="it-IT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A7313213-77AF-499C-ACBA-78AFD7B6E7E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Manipulating Strings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DA9E218-A150-434C-871C-E14F8404BBE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Length Computation</a:t>
            </a:r>
          </a:p>
          <a:p>
            <a:pPr eaLnBrk="1" hangingPunct="1">
              <a:spcBef>
                <a:spcPct val="75000"/>
              </a:spcBef>
            </a:pPr>
            <a:r>
              <a:rPr lang="en-US" altLang="it-IT"/>
              <a:t>Representation determines cost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Explicit length turns </a:t>
            </a:r>
            <a:r>
              <a:rPr lang="en-US" altLang="it-IT">
                <a:solidFill>
                  <a:srgbClr val="003C75"/>
                </a:solidFill>
              </a:rPr>
              <a:t>length(b) </a:t>
            </a:r>
            <a:r>
              <a:rPr lang="en-US" altLang="it-IT"/>
              <a:t>into a memory reference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Null termination turns </a:t>
            </a:r>
            <a:r>
              <a:rPr lang="en-US" altLang="it-IT">
                <a:solidFill>
                  <a:srgbClr val="003C75"/>
                </a:solidFill>
              </a:rPr>
              <a:t>length(b) </a:t>
            </a:r>
            <a:r>
              <a:rPr lang="en-US" altLang="it-IT"/>
              <a:t>into a loop of memory references and arithmetic operations</a:t>
            </a:r>
          </a:p>
          <a:p>
            <a:pPr eaLnBrk="1" hangingPunct="1">
              <a:spcBef>
                <a:spcPct val="90000"/>
              </a:spcBef>
            </a:pPr>
            <a:r>
              <a:rPr lang="en-US" altLang="it-IT"/>
              <a:t>Length computation arises in other contexts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Whole-string or substring assignment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Checked assignment (buffer overflow)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Concatenation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Evaluating call-by-value actual parameter or concatenation as an actual parameter</a:t>
            </a:r>
          </a:p>
        </p:txBody>
      </p:sp>
      <p:sp>
        <p:nvSpPr>
          <p:cNvPr id="84998" name="Text Box 4">
            <a:extLst>
              <a:ext uri="{FF2B5EF4-FFF2-40B4-BE49-F238E27FC236}">
                <a16:creationId xmlns:a16="http://schemas.microsoft.com/office/drawing/2014/main" id="{5A3517BD-4058-48D3-A2F2-191E3F85F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6248400"/>
            <a:ext cx="3962400" cy="304800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And we didn’t consider a list of characters, 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ヒラギノ角ゴ Pro W3"/>
        <a:cs typeface="ヒラギノ角ゴ Pro W3"/>
      </a:majorFont>
      <a:minorFont>
        <a:latin typeface="Comic Sans M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1172</TotalTime>
  <Words>1835</Words>
  <Application>Microsoft Office PowerPoint</Application>
  <PresentationFormat>Presentazione su schermo (4:3)</PresentationFormat>
  <Paragraphs>399</Paragraphs>
  <Slides>23</Slides>
  <Notes>20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24" baseType="lpstr">
      <vt:lpstr>Blank Presentation</vt:lpstr>
      <vt:lpstr>Code Shape, Part II Addressing Arrays, Aggregates, &amp; Strings  Comp 412</vt:lpstr>
      <vt:lpstr>Last Lecture</vt:lpstr>
      <vt:lpstr>How does the compiler handle A[i,j] ?</vt:lpstr>
      <vt:lpstr>Laying Out Arrays</vt:lpstr>
      <vt:lpstr>Computing an Array Address</vt:lpstr>
      <vt:lpstr>Computing an Array Address</vt:lpstr>
      <vt:lpstr>Computing an Array Address</vt:lpstr>
      <vt:lpstr>Optimizing Address Calculation for A[i,j]</vt:lpstr>
      <vt:lpstr>Array References</vt:lpstr>
      <vt:lpstr>Array References</vt:lpstr>
      <vt:lpstr>Array References</vt:lpstr>
      <vt:lpstr>Array Address Calculations</vt:lpstr>
      <vt:lpstr>Example: Array Address Calculations in a Loop</vt:lpstr>
      <vt:lpstr>Example: Array Address Calculations in a Loop</vt:lpstr>
      <vt:lpstr>Example: Array Address Calculations in a Loop</vt:lpstr>
      <vt:lpstr>Structures and Records</vt:lpstr>
      <vt:lpstr>Representing and Manipulating Strings</vt:lpstr>
      <vt:lpstr>Representing and Manipulating Strings</vt:lpstr>
      <vt:lpstr>Representing and Manipulating Strings</vt:lpstr>
      <vt:lpstr>Manipulating Strings</vt:lpstr>
      <vt:lpstr>Manipulating Strings</vt:lpstr>
      <vt:lpstr>Manipulating Strings</vt:lpstr>
      <vt:lpstr>Manipulating Strings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 Cooper</dc:creator>
  <cp:lastModifiedBy>Elsevier</cp:lastModifiedBy>
  <cp:revision>35</cp:revision>
  <cp:lastPrinted>2009-11-06T12:46:20Z</cp:lastPrinted>
  <dcterms:created xsi:type="dcterms:W3CDTF">2010-11-01T12:35:35Z</dcterms:created>
  <dcterms:modified xsi:type="dcterms:W3CDTF">2020-10-20T11:44:08Z</dcterms:modified>
</cp:coreProperties>
</file>