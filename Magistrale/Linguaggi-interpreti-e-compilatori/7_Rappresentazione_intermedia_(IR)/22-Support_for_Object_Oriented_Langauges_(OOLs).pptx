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trictFirstAndLastChars="0" saveSubsetFonts="1" autoCompressPictures="0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1"/>
    <p:sldId id="265" r:id="rId12"/>
    <p:sldId id="266" r:id="rId13"/>
    <p:sldId id="268" r:id="rId14"/>
    <p:sldId id="269" r:id="rId15"/>
    <p:sldId id="270" r:id="rId16"/>
    <p:sldId id="271" r:id="rId1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ヒラギノ角ゴ Pro W3"/>
        <a:cs typeface="ヒラギノ角ゴ Pro W3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ヒラギノ角ゴ Pro W3"/>
        <a:cs typeface="ヒラギノ角ゴ Pro W3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ヒラギノ角ゴ Pro W3"/>
        <a:cs typeface="ヒラギノ角ゴ Pro W3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ヒラギノ角ゴ Pro W3"/>
        <a:cs typeface="ヒラギノ角ゴ Pro W3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ヒラギノ角ゴ Pro W3"/>
        <a:cs typeface="ヒラギノ角ゴ Pro W3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ヒラギノ角ゴ Pro W3"/>
        <a:cs typeface="ヒラギノ角ゴ Pro W3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ヒラギノ角ゴ Pro W3"/>
        <a:cs typeface="ヒラギノ角ゴ Pro W3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ヒラギノ角ゴ Pro W3"/>
        <a:cs typeface="ヒラギノ角ゴ Pro W3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ヒラギノ角ゴ Pro W3"/>
        <a:cs typeface="ヒラギノ角ゴ Pro W3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clrMru>
    <a:srgbClr val="CCCCCC"/>
    <a:srgbClr val="B025A6"/>
    <a:srgbClr val="FF0065"/>
    <a:srgbClr val="003C7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-210" y="-1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681DB16-2A4A-4E7E-B4AB-F936C330D49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0" hangingPunct="0">
              <a:defRPr sz="1200" dirty="0">
                <a:latin typeface="Comic Sans MS" pitchFamily="-108" charset="0"/>
                <a:ea typeface="ヒラギノ角ゴ Pro W3" pitchFamily="-108" charset="-128"/>
                <a:cs typeface="ヒラギノ角ゴ Pro W3" pitchFamily="-108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6641C1-D53B-4BF7-8E37-E176197714A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0" hangingPunct="0">
              <a:defRPr sz="1200">
                <a:latin typeface="Comic Sans MS" pitchFamily="-108" charset="0"/>
                <a:ea typeface="ヒラギノ角ゴ Pro W3" pitchFamily="-108" charset="-128"/>
                <a:cs typeface="ヒラギノ角ゴ Pro W3" pitchFamily="-108" charset="-128"/>
              </a:defRPr>
            </a:lvl1pPr>
          </a:lstStyle>
          <a:p>
            <a:pPr>
              <a:defRPr/>
            </a:pPr>
            <a:fld id="{943D4468-002D-4BB5-8FF0-F72EC178D7C8}" type="datetime1">
              <a:rPr lang="en-US"/>
              <a:pPr>
                <a:defRPr/>
              </a:pPr>
              <a:t>10/20/2020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BD02AF-99DC-4BEB-933F-95A5B312FB3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0" hangingPunct="0">
              <a:defRPr sz="1200" dirty="0">
                <a:latin typeface="Comic Sans MS" pitchFamily="-108" charset="0"/>
                <a:ea typeface="ヒラギノ角ゴ Pro W3" pitchFamily="-108" charset="-128"/>
                <a:cs typeface="ヒラギノ角ゴ Pro W3" pitchFamily="-108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E00AA9-2BC0-4858-968D-CB2DEAAE5BF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fld id="{47B4EDAA-53D4-41A5-B8A7-A7E30774AC83}" type="slidenum">
              <a:rPr lang="en-US" altLang="it-IT"/>
              <a:pPr/>
              <a:t>‹N›</a:t>
            </a:fld>
            <a:endParaRPr lang="en-US" alt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4758D9E8-3B54-45E3-8527-FEC53398697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 dirty="0">
                <a:latin typeface="Comic Sans MS" pitchFamily="-108" charset="0"/>
                <a:ea typeface="ヒラギノ角ゴ Pro W3" pitchFamily="-108" charset="-128"/>
                <a:cs typeface="ヒラギノ角ゴ Pro W3" pitchFamily="-108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60DA69D1-8D1D-4DEA-9CBA-4BB2BC1A6C1F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 dirty="0">
                <a:latin typeface="Comic Sans MS" pitchFamily="-108" charset="0"/>
                <a:ea typeface="ヒラギノ角ゴ Pro W3" pitchFamily="-108" charset="-128"/>
                <a:cs typeface="ヒラギノ角ゴ Pro W3" pitchFamily="-108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316" name="Rectangle 4">
            <a:extLst>
              <a:ext uri="{FF2B5EF4-FFF2-40B4-BE49-F238E27FC236}">
                <a16:creationId xmlns:a16="http://schemas.microsoft.com/office/drawing/2014/main" id="{838FEED1-1869-484B-AD8F-46EFC36E585C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5" name="Rectangle 5">
            <a:extLst>
              <a:ext uri="{FF2B5EF4-FFF2-40B4-BE49-F238E27FC236}">
                <a16:creationId xmlns:a16="http://schemas.microsoft.com/office/drawing/2014/main" id="{F75119F7-97E2-4A7E-8E6A-00F785D17642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126" name="Rectangle 6">
            <a:extLst>
              <a:ext uri="{FF2B5EF4-FFF2-40B4-BE49-F238E27FC236}">
                <a16:creationId xmlns:a16="http://schemas.microsoft.com/office/drawing/2014/main" id="{80478F3A-118F-4B0B-8306-6671DD780039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 dirty="0">
                <a:latin typeface="Comic Sans MS" pitchFamily="-108" charset="0"/>
                <a:ea typeface="ヒラギノ角ゴ Pro W3" pitchFamily="-108" charset="-128"/>
                <a:cs typeface="ヒラギノ角ゴ Pro W3" pitchFamily="-108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7" name="Rectangle 7">
            <a:extLst>
              <a:ext uri="{FF2B5EF4-FFF2-40B4-BE49-F238E27FC236}">
                <a16:creationId xmlns:a16="http://schemas.microsoft.com/office/drawing/2014/main" id="{AD1C81A1-DCE3-4907-B0A0-A98F65BC388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fld id="{C22C0FD4-3C33-4120-8BF0-1FC95D4212D1}" type="slidenum">
              <a:rPr lang="en-US" altLang="it-IT"/>
              <a:pPr/>
              <a:t>‹N›</a:t>
            </a:fld>
            <a:endParaRPr lang="en-US" alt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08" charset="0"/>
        <a:ea typeface="ヒラギノ角ゴ Pro W3" pitchFamily="-108" charset="-128"/>
        <a:cs typeface="ヒラギノ角ゴ Pro W3" pitchFamily="-108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08" charset="0"/>
        <a:ea typeface="ヒラギノ角ゴ Pro W3" pitchFamily="-108" charset="-128"/>
        <a:cs typeface="ヒラギノ角ゴ Pro W3" pitchFamily="-108" charset="-128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08" charset="0"/>
        <a:ea typeface="ヒラギノ角ゴ Pro W3" pitchFamily="-108" charset="-128"/>
        <a:cs typeface="ヒラギノ角ゴ Pro W3" pitchFamily="-108" charset="-128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08" charset="0"/>
        <a:ea typeface="ヒラギノ角ゴ Pro W3" pitchFamily="-108" charset="-128"/>
        <a:cs typeface="ヒラギノ角ゴ Pro W3" pitchFamily="-108" charset="-128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08" charset="0"/>
        <a:ea typeface="ヒラギノ角ゴ Pro W3" pitchFamily="-108" charset="-128"/>
        <a:cs typeface="ヒラギノ角ゴ Pro W3" pitchFamily="-108" charset="-128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7">
            <a:extLst>
              <a:ext uri="{FF2B5EF4-FFF2-40B4-BE49-F238E27FC236}">
                <a16:creationId xmlns:a16="http://schemas.microsoft.com/office/drawing/2014/main" id="{203D16B5-1E67-47DA-8457-5EC0639BEDF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2285C223-7837-4B4D-9EDA-CBB172BEE6F2}" type="slidenum">
              <a:rPr lang="en-US" altLang="it-IT"/>
              <a:pPr/>
              <a:t>0</a:t>
            </a:fld>
            <a:endParaRPr lang="en-US" altLang="it-IT"/>
          </a:p>
        </p:txBody>
      </p:sp>
      <p:sp>
        <p:nvSpPr>
          <p:cNvPr id="16386" name="Rectangle 2">
            <a:extLst>
              <a:ext uri="{FF2B5EF4-FFF2-40B4-BE49-F238E27FC236}">
                <a16:creationId xmlns:a16="http://schemas.microsoft.com/office/drawing/2014/main" id="{8F48C189-7329-48B9-B990-60C7B61C749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BB30E6D7-E3E5-4912-9DD2-B3A6530A42D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7">
            <a:extLst>
              <a:ext uri="{FF2B5EF4-FFF2-40B4-BE49-F238E27FC236}">
                <a16:creationId xmlns:a16="http://schemas.microsoft.com/office/drawing/2014/main" id="{281AC3AB-7FDC-4E7E-8280-DAA8D99E2D1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C38EB570-945E-4F09-92D0-85A86674DA2C}" type="slidenum">
              <a:rPr lang="en-US" altLang="it-IT"/>
              <a:pPr/>
              <a:t>1</a:t>
            </a:fld>
            <a:endParaRPr lang="en-US" altLang="it-IT"/>
          </a:p>
        </p:txBody>
      </p:sp>
      <p:sp>
        <p:nvSpPr>
          <p:cNvPr id="18434" name="Rectangle 2">
            <a:extLst>
              <a:ext uri="{FF2B5EF4-FFF2-40B4-BE49-F238E27FC236}">
                <a16:creationId xmlns:a16="http://schemas.microsoft.com/office/drawing/2014/main" id="{27D01431-CFDD-4C16-9141-B448FFDA6B94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C6745BF4-D7AA-47FC-8AFA-25C1C7F6957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7">
            <a:extLst>
              <a:ext uri="{FF2B5EF4-FFF2-40B4-BE49-F238E27FC236}">
                <a16:creationId xmlns:a16="http://schemas.microsoft.com/office/drawing/2014/main" id="{8A13D80B-842C-455E-826D-ACD9B4FFB1E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D897CFC1-2702-450D-951B-40DDF6121593}" type="slidenum">
              <a:rPr lang="en-US" altLang="it-IT"/>
              <a:pPr/>
              <a:t>3</a:t>
            </a:fld>
            <a:endParaRPr lang="en-US" altLang="it-IT"/>
          </a:p>
        </p:txBody>
      </p:sp>
      <p:sp>
        <p:nvSpPr>
          <p:cNvPr id="21506" name="Rectangle 2">
            <a:extLst>
              <a:ext uri="{FF2B5EF4-FFF2-40B4-BE49-F238E27FC236}">
                <a16:creationId xmlns:a16="http://schemas.microsoft.com/office/drawing/2014/main" id="{90CF348C-6A4A-499A-AABB-E678AAED3478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B412EF1C-B4E7-4F8E-A7FB-59E228EAB26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7">
            <a:extLst>
              <a:ext uri="{FF2B5EF4-FFF2-40B4-BE49-F238E27FC236}">
                <a16:creationId xmlns:a16="http://schemas.microsoft.com/office/drawing/2014/main" id="{452B6352-335A-4FAF-A654-10F8F90C022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89C8626A-A745-4ABE-9508-70C2E94ADCA6}" type="slidenum">
              <a:rPr lang="en-US" altLang="it-IT"/>
              <a:pPr/>
              <a:t>4</a:t>
            </a:fld>
            <a:endParaRPr lang="en-US" altLang="it-IT"/>
          </a:p>
        </p:txBody>
      </p:sp>
      <p:sp>
        <p:nvSpPr>
          <p:cNvPr id="23554" name="Rectangle 2">
            <a:extLst>
              <a:ext uri="{FF2B5EF4-FFF2-40B4-BE49-F238E27FC236}">
                <a16:creationId xmlns:a16="http://schemas.microsoft.com/office/drawing/2014/main" id="{84F2EEE8-021A-40EE-AFC2-50F18C817C02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B7F8F846-2D98-463D-A964-5749541B19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7">
            <a:extLst>
              <a:ext uri="{FF2B5EF4-FFF2-40B4-BE49-F238E27FC236}">
                <a16:creationId xmlns:a16="http://schemas.microsoft.com/office/drawing/2014/main" id="{22B4CE82-DF26-46B7-AC6B-0C1C61F9CED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57E161EC-9ADF-4745-89ED-295BDF1DBC47}" type="slidenum">
              <a:rPr lang="en-US" altLang="it-IT"/>
              <a:pPr/>
              <a:t>5</a:t>
            </a:fld>
            <a:endParaRPr lang="en-US" altLang="it-IT"/>
          </a:p>
        </p:txBody>
      </p:sp>
      <p:sp>
        <p:nvSpPr>
          <p:cNvPr id="25602" name="Rectangle 2">
            <a:extLst>
              <a:ext uri="{FF2B5EF4-FFF2-40B4-BE49-F238E27FC236}">
                <a16:creationId xmlns:a16="http://schemas.microsoft.com/office/drawing/2014/main" id="{C3F9C5A8-1AC4-4731-8803-5CA651714E36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C7EE3D5F-0D0F-4D44-A5F2-0AD0B3A6E37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r>
              <a:rPr lang="en-US" altLang="it-IT">
                <a:latin typeface="Arial" panose="020B0604020202020204" pitchFamily="34" charset="0"/>
                <a:ea typeface="ヒラギノ角ゴ Pro W3"/>
                <a:cs typeface="ヒラギノ角ゴ Pro W3"/>
              </a:rPr>
              <a:t>The language may support more than one global scope.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7">
            <a:extLst>
              <a:ext uri="{FF2B5EF4-FFF2-40B4-BE49-F238E27FC236}">
                <a16:creationId xmlns:a16="http://schemas.microsoft.com/office/drawing/2014/main" id="{61A31AAC-5D3F-4B7C-9388-7D4E42E4C40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7F2F3E9C-6AE9-4FBB-9208-A763BEE784E4}" type="slidenum">
              <a:rPr lang="en-US" altLang="it-IT"/>
              <a:pPr/>
              <a:t>6</a:t>
            </a:fld>
            <a:endParaRPr lang="en-US" altLang="it-IT"/>
          </a:p>
        </p:txBody>
      </p:sp>
      <p:sp>
        <p:nvSpPr>
          <p:cNvPr id="27650" name="Rectangle 2">
            <a:extLst>
              <a:ext uri="{FF2B5EF4-FFF2-40B4-BE49-F238E27FC236}">
                <a16:creationId xmlns:a16="http://schemas.microsoft.com/office/drawing/2014/main" id="{ABE42870-80A0-48C2-AEBA-0D8CB4D6E1B1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E82E1AA1-73E0-4209-AA19-39E9633DB83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7">
            <a:extLst>
              <a:ext uri="{FF2B5EF4-FFF2-40B4-BE49-F238E27FC236}">
                <a16:creationId xmlns:a16="http://schemas.microsoft.com/office/drawing/2014/main" id="{853C7FFD-DD88-455C-AA8B-73C4DA7E05F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DC4563AF-0545-433A-99D1-51FB143AF6CC}" type="slidenum">
              <a:rPr lang="en-US" altLang="it-IT"/>
              <a:pPr/>
              <a:t>7</a:t>
            </a:fld>
            <a:endParaRPr lang="en-US" altLang="it-IT"/>
          </a:p>
        </p:txBody>
      </p:sp>
      <p:sp>
        <p:nvSpPr>
          <p:cNvPr id="29698" name="Rectangle 2">
            <a:extLst>
              <a:ext uri="{FF2B5EF4-FFF2-40B4-BE49-F238E27FC236}">
                <a16:creationId xmlns:a16="http://schemas.microsoft.com/office/drawing/2014/main" id="{6B7E04BC-A4A4-4471-B263-118091C07A16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C99618A6-87FF-4A0F-AF1F-451D391DFCF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7">
            <a:extLst>
              <a:ext uri="{FF2B5EF4-FFF2-40B4-BE49-F238E27FC236}">
                <a16:creationId xmlns:a16="http://schemas.microsoft.com/office/drawing/2014/main" id="{EA1D0802-693F-417A-AC17-F7947BC103D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C5B1A7B8-04AD-4F6C-A54D-DE3F4A207381}" type="slidenum">
              <a:rPr lang="en-US" altLang="it-IT"/>
              <a:pPr/>
              <a:t>8</a:t>
            </a:fld>
            <a:endParaRPr lang="en-US" altLang="it-IT"/>
          </a:p>
        </p:txBody>
      </p:sp>
      <p:sp>
        <p:nvSpPr>
          <p:cNvPr id="31746" name="Rectangle 2">
            <a:extLst>
              <a:ext uri="{FF2B5EF4-FFF2-40B4-BE49-F238E27FC236}">
                <a16:creationId xmlns:a16="http://schemas.microsoft.com/office/drawing/2014/main" id="{C59420EA-3E2D-41C6-9E6C-2E90D284A88D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5EDD1B32-3F68-490E-8C4A-701D4A6F82E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r>
              <a:rPr lang="en-US" altLang="it-IT">
                <a:latin typeface="Arial" panose="020B0604020202020204" pitchFamily="34" charset="0"/>
                <a:ea typeface="ヒラギノ角ゴ Pro W3"/>
                <a:cs typeface="ヒラギノ角ゴ Pro W3"/>
              </a:rPr>
              <a:t>Moving from Pascal to Java, we split the global symbol table away from the lexical hierarchy and insert the inheritance symbol table between the lexical and the global.</a:t>
            </a:r>
          </a:p>
          <a:p>
            <a:pPr eaLnBrk="1" hangingPunct="1"/>
            <a:r>
              <a:rPr lang="en-US" altLang="it-IT">
                <a:latin typeface="Arial" panose="020B0604020202020204" pitchFamily="34" charset="0"/>
                <a:ea typeface="ヒラギノ角ゴ Pro W3"/>
                <a:cs typeface="ヒラギノ角ゴ Pro W3"/>
              </a:rPr>
              <a:t>This produces a set of three distinct places to look, and an order among them.  (Typical order is lexical hierarchy, class hierarchy, global name space.)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7">
            <a:extLst>
              <a:ext uri="{FF2B5EF4-FFF2-40B4-BE49-F238E27FC236}">
                <a16:creationId xmlns:a16="http://schemas.microsoft.com/office/drawing/2014/main" id="{9DA5F68C-D3F0-493A-BF1F-7EC91B7F788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BE68700D-3B55-4585-9A1B-EDF5973908CB}" type="slidenum">
              <a:rPr lang="en-US" altLang="it-IT"/>
              <a:pPr/>
              <a:t>10</a:t>
            </a:fld>
            <a:endParaRPr lang="en-US" altLang="it-IT"/>
          </a:p>
        </p:txBody>
      </p:sp>
      <p:sp>
        <p:nvSpPr>
          <p:cNvPr id="34818" name="Rectangle 2">
            <a:extLst>
              <a:ext uri="{FF2B5EF4-FFF2-40B4-BE49-F238E27FC236}">
                <a16:creationId xmlns:a16="http://schemas.microsoft.com/office/drawing/2014/main" id="{DBC12C96-4D2A-420D-A4F4-58E86B38FCFA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E8017FEC-6733-4569-957A-7497741B516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2A489088-E190-4E30-A579-FB0309B0DF7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 412, Fall 2010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11BA33F3-F031-4787-81F6-3CA08750991C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8CE595C-316F-4EBE-B7CB-8AD82833689B}" type="slidenum">
              <a:rPr lang="en-US" altLang="it-IT"/>
              <a:pPr/>
              <a:t>‹N›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429507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70FCE122-E3FC-4616-9526-0A30E3F82F0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 412, Fall 2010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32B4A1FB-D403-439A-A3C3-F796AAB6FF48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5383773-0B90-4ED8-9076-04C6F9966AA4}" type="slidenum">
              <a:rPr lang="en-US" altLang="it-IT"/>
              <a:pPr/>
              <a:t>‹N›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27617891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9F6E640D-2C33-420B-BDD5-10F6494C0B9B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 412, Fall 2010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9FA06189-57A2-42F8-B109-7A0A1E41BE4E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8F38C80-5BD0-4ED7-B821-348EA3B92697}" type="slidenum">
              <a:rPr lang="en-US" altLang="it-IT"/>
              <a:pPr/>
              <a:t>‹N›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6576363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143000"/>
            <a:ext cx="38100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143000"/>
            <a:ext cx="38100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C9C9236-014C-48FF-8B84-5D08382A5467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 412, Fall 2010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26D5B39-2897-4939-8F98-5D91F6168410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E757997-F6B1-448C-8D2A-8CD075B24EDB}" type="slidenum">
              <a:rPr lang="en-US" altLang="it-IT"/>
              <a:pPr/>
              <a:t>‹N›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24633080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98EF4600-AA60-4B52-9730-B347A6CA4F07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 412, Fall 2010</a:t>
            </a:r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79BDACC4-2127-44DF-89E3-CEF8AA21D7CB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F84AA36-F687-433C-ACFB-0020F1259306}" type="slidenum">
              <a:rPr lang="en-US" altLang="it-IT"/>
              <a:pPr/>
              <a:t>‹N›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33597688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52D1E313-CC50-4EA8-946F-86F31E44F65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 412, Fall 2010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830FF058-6790-408C-98EB-9021DECC1E03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B7175D6-3727-4399-9A76-B5F019CFE524}" type="slidenum">
              <a:rPr lang="en-US" altLang="it-IT"/>
              <a:pPr/>
              <a:t>‹N›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7460422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3FA78C72-2148-44A7-B08A-672FF2AC2909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 412, Fall 2010</a:t>
            </a: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6FBC9738-673A-40FA-A437-F24EE365FB33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5F7AE46-D22C-49D6-91D2-B7BFBE049CE1}" type="slidenum">
              <a:rPr lang="en-US" altLang="it-IT"/>
              <a:pPr/>
              <a:t>‹N›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28760737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E42107C-6ECA-4D10-BF10-98A13E25C1BB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 412, Fall 2010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0FD8404-C511-4247-9333-F89EDB110832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BF0E827-431A-4EE0-AA56-F1ACCF5FB52E}" type="slidenum">
              <a:rPr lang="en-US" altLang="it-IT"/>
              <a:pPr/>
              <a:t>‹N›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14318853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9E3452C-A204-4FCC-B7FF-71A4E2C49BC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 412, Fall 2010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3F50622-5F20-4FD8-ABBA-3C4539AC597E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6FE9D0A-FD2A-4170-A6FD-E1EFBD9CE4D8}" type="slidenum">
              <a:rPr lang="en-US" altLang="it-IT"/>
              <a:pPr/>
              <a:t>‹N›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38923091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02BD26FF-4372-4455-A95E-2B84037CD66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 412, Fall 2010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82F92FFD-703F-4FAE-9E68-BC7C4443F24F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C413E77-A672-4281-AF2D-865BD1423DE8}" type="slidenum">
              <a:rPr lang="en-US" altLang="it-IT"/>
              <a:pPr/>
              <a:t>‹N›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5488689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533400"/>
            <a:ext cx="1943100" cy="5562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533400"/>
            <a:ext cx="5676900" cy="55626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BDB833E8-0FF5-4176-A769-278602DF39E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 412, Fall 2010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C84C809B-FFA1-47E9-933F-D889E88ECCD5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055C7C0-69D8-4BF4-8816-770E53DA46E1}" type="slidenum">
              <a:rPr lang="en-US" altLang="it-IT"/>
              <a:pPr/>
              <a:t>‹N›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10505047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6A8F60EB-2008-4A0A-B09C-B09D543CB12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533400"/>
            <a:ext cx="7772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it-IT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26B9AE8F-DAD6-4608-9506-57361E91A5E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143000"/>
            <a:ext cx="7772400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it-IT"/>
              <a:t>Click to edit Master text styles</a:t>
            </a:r>
          </a:p>
          <a:p>
            <a:pPr lvl="1"/>
            <a:r>
              <a:rPr lang="en-US" altLang="it-IT"/>
              <a:t>Second level</a:t>
            </a:r>
          </a:p>
          <a:p>
            <a:pPr lvl="2"/>
            <a:r>
              <a:rPr lang="en-US" altLang="it-IT"/>
              <a:t>Third level</a:t>
            </a:r>
          </a:p>
          <a:p>
            <a:pPr lvl="3"/>
            <a:r>
              <a:rPr lang="en-US" altLang="it-IT"/>
              <a:t>Fourth level</a:t>
            </a:r>
          </a:p>
          <a:p>
            <a:pPr lvl="4"/>
            <a:r>
              <a:rPr lang="en-US" altLang="it-IT"/>
              <a:t>Fifth level</a:t>
            </a:r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C59E8A00-20BD-4A05-8F76-8CB982D7C781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6858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 dirty="0">
                <a:latin typeface="Comic Sans MS" pitchFamily="-108" charset="0"/>
                <a:ea typeface="ヒラギノ角ゴ Pro W3" pitchFamily="-108" charset="-128"/>
                <a:cs typeface="ヒラギノ角ゴ Pro W3" pitchFamily="-108" charset="-128"/>
              </a:defRPr>
            </a:lvl1pPr>
          </a:lstStyle>
          <a:p>
            <a:pPr>
              <a:defRPr/>
            </a:pPr>
            <a:r>
              <a:rPr lang="en-US"/>
              <a:t>Comp 412, Fall 2010</a:t>
            </a:r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93474698-2B5B-40EB-B308-E3E9B1DE4508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fld id="{E4EF7256-0345-41BB-87D9-327A4ABC9D98}" type="slidenum">
              <a:rPr lang="en-US" altLang="it-IT"/>
              <a:pPr/>
              <a:t>‹N›</a:t>
            </a:fld>
            <a:endParaRPr lang="en-US" altLang="it-IT"/>
          </a:p>
        </p:txBody>
      </p:sp>
      <p:pic>
        <p:nvPicPr>
          <p:cNvPr id="2" name="Picture 7" descr="2007Shield">
            <a:extLst>
              <a:ext uri="{FF2B5EF4-FFF2-40B4-BE49-F238E27FC236}">
                <a16:creationId xmlns:a16="http://schemas.microsoft.com/office/drawing/2014/main" id="{F6F23523-A30E-471D-B32A-4FC7FEC72B8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3800" y="228600"/>
            <a:ext cx="958850" cy="1120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2" name="Line 8">
            <a:extLst>
              <a:ext uri="{FF2B5EF4-FFF2-40B4-BE49-F238E27FC236}">
                <a16:creationId xmlns:a16="http://schemas.microsoft.com/office/drawing/2014/main" id="{ECC1E6D6-2E1E-43C1-B3D1-D33619C8878B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85800" y="1066800"/>
            <a:ext cx="6858000" cy="0"/>
          </a:xfrm>
          <a:prstGeom prst="line">
            <a:avLst/>
          </a:prstGeom>
          <a:noFill/>
          <a:ln w="57150">
            <a:solidFill>
              <a:srgbClr val="003C75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>
              <a:defRPr/>
            </a:pPr>
            <a:endParaRPr lang="en-US" dirty="0">
              <a:latin typeface="Comic Sans MS" pitchFamily="-108" charset="0"/>
              <a:ea typeface="ヒラギノ角ゴ Pro W3" pitchFamily="-108" charset="-128"/>
              <a:cs typeface="ヒラギノ角ゴ Pro W3" pitchFamily="-108" charset="-128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Comic Sans MS" pitchFamily="-108" charset="0"/>
          <a:ea typeface="ヒラギノ角ゴ Pro W3" pitchFamily="-108" charset="-128"/>
          <a:cs typeface="ヒラギノ角ゴ Pro W3" pitchFamily="-108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Comic Sans MS" pitchFamily="-108" charset="0"/>
          <a:ea typeface="ヒラギノ角ゴ Pro W3" pitchFamily="-108" charset="-128"/>
          <a:cs typeface="ヒラギノ角ゴ Pro W3" pitchFamily="-108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Comic Sans MS" pitchFamily="-108" charset="0"/>
          <a:ea typeface="ヒラギノ角ゴ Pro W3" pitchFamily="-108" charset="-128"/>
          <a:cs typeface="ヒラギノ角ゴ Pro W3" pitchFamily="-108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Comic Sans MS" pitchFamily="-108" charset="0"/>
          <a:ea typeface="ヒラギノ角ゴ Pro W3" pitchFamily="-108" charset="-128"/>
          <a:cs typeface="ヒラギノ角ゴ Pro W3" pitchFamily="-108" charset="-128"/>
        </a:defRPr>
      </a:lvl5pPr>
      <a:lvl6pPr marL="457200"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Comic Sans MS" pitchFamily="-108" charset="0"/>
          <a:ea typeface="ヒラギノ角ゴ Pro W3" pitchFamily="-108" charset="-128"/>
          <a:cs typeface="ヒラギノ角ゴ Pro W3" pitchFamily="-108" charset="-128"/>
        </a:defRPr>
      </a:lvl6pPr>
      <a:lvl7pPr marL="914400"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Comic Sans MS" pitchFamily="-108" charset="0"/>
          <a:ea typeface="ヒラギノ角ゴ Pro W3" pitchFamily="-108" charset="-128"/>
          <a:cs typeface="ヒラギノ角ゴ Pro W3" pitchFamily="-108" charset="-128"/>
        </a:defRPr>
      </a:lvl7pPr>
      <a:lvl8pPr marL="1371600"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Comic Sans MS" pitchFamily="-108" charset="0"/>
          <a:ea typeface="ヒラギノ角ゴ Pro W3" pitchFamily="-108" charset="-128"/>
          <a:cs typeface="ヒラギノ角ゴ Pro W3" pitchFamily="-108" charset="-128"/>
        </a:defRPr>
      </a:lvl8pPr>
      <a:lvl9pPr marL="1828800"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Comic Sans MS" pitchFamily="-108" charset="0"/>
          <a:ea typeface="ヒラギノ角ゴ Pro W3" pitchFamily="-108" charset="-128"/>
          <a:cs typeface="ヒラギノ角ゴ Pro W3" pitchFamily="-108" charset="-128"/>
        </a:defRPr>
      </a:lvl9pPr>
    </p:titleStyle>
    <p:bodyStyle>
      <a:lvl1pPr marL="342900" indent="-342900" algn="l" rtl="0" eaLnBrk="0" fontAlgn="base" hangingPunct="0">
        <a:spcBef>
          <a:spcPts val="600"/>
        </a:spcBef>
        <a:spcAft>
          <a:spcPct val="0"/>
        </a:spcAft>
        <a:buClr>
          <a:srgbClr val="003C75"/>
        </a:buClr>
        <a:buSzPct val="120000"/>
        <a:buFont typeface="Times" panose="02020603050405020304" pitchFamily="18" charset="0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ts val="600"/>
        </a:spcBef>
        <a:spcAft>
          <a:spcPct val="0"/>
        </a:spcAft>
        <a:buClr>
          <a:srgbClr val="003C75"/>
        </a:buClr>
        <a:buChar char="—"/>
        <a:defRPr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ts val="600"/>
        </a:spcBef>
        <a:spcAft>
          <a:spcPct val="0"/>
        </a:spcAft>
        <a:buClr>
          <a:srgbClr val="003C75"/>
        </a:buClr>
        <a:buSzPct val="90000"/>
        <a:buFont typeface="Symbol" panose="05050102010706020507" pitchFamily="18" charset="2"/>
        <a:buChar char=""/>
        <a:defRPr sz="16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ts val="600"/>
        </a:spcBef>
        <a:spcAft>
          <a:spcPct val="0"/>
        </a:spcAft>
        <a:buClr>
          <a:srgbClr val="003C75"/>
        </a:buClr>
        <a:buChar char="–"/>
        <a:defRPr sz="16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ts val="600"/>
        </a:spcBef>
        <a:spcAft>
          <a:spcPct val="0"/>
        </a:spcAft>
        <a:buClr>
          <a:srgbClr val="003C75"/>
        </a:buClr>
        <a:buChar char="»"/>
        <a:defRPr sz="16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rgbClr val="003C75"/>
        </a:buClr>
        <a:buChar char="»"/>
        <a:defRPr sz="16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rgbClr val="003C75"/>
        </a:buClr>
        <a:buChar char="»"/>
        <a:defRPr sz="16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rgbClr val="003C75"/>
        </a:buClr>
        <a:buChar char="»"/>
        <a:defRPr sz="16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rgbClr val="003C75"/>
        </a:buClr>
        <a:buChar char="»"/>
        <a:defRPr sz="16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2">
            <a:extLst>
              <a:ext uri="{FF2B5EF4-FFF2-40B4-BE49-F238E27FC236}">
                <a16:creationId xmlns:a16="http://schemas.microsoft.com/office/drawing/2014/main" id="{D8DA70F7-286E-4B77-9668-4068F92752C5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1447800"/>
            <a:ext cx="7772400" cy="2209800"/>
          </a:xfrm>
        </p:spPr>
        <p:txBody>
          <a:bodyPr/>
          <a:lstStyle/>
          <a:p>
            <a:pPr algn="ctr" eaLnBrk="1" hangingPunct="1"/>
            <a:r>
              <a:rPr lang="en-US" altLang="it-IT" sz="3200" i="1">
                <a:solidFill>
                  <a:schemeClr val="tx1"/>
                </a:solidFill>
              </a:rPr>
              <a:t>The Procedure Abstraction, Part V:</a:t>
            </a:r>
            <a:br>
              <a:rPr lang="en-US" altLang="it-IT" sz="3200" i="1">
                <a:solidFill>
                  <a:schemeClr val="tx1"/>
                </a:solidFill>
              </a:rPr>
            </a:br>
            <a:r>
              <a:rPr lang="en-US" altLang="it-IT" sz="3200" i="1">
                <a:solidFill>
                  <a:schemeClr val="tx1"/>
                </a:solidFill>
              </a:rPr>
              <a:t>Support for OOLs</a:t>
            </a:r>
            <a:br>
              <a:rPr lang="en-US" altLang="it-IT" sz="3200" i="1">
                <a:solidFill>
                  <a:schemeClr val="tx1"/>
                </a:solidFill>
              </a:rPr>
            </a:br>
            <a:br>
              <a:rPr lang="en-US" altLang="it-IT" sz="3200" i="1">
                <a:solidFill>
                  <a:schemeClr val="tx1"/>
                </a:solidFill>
              </a:rPr>
            </a:br>
            <a:r>
              <a:rPr lang="en-US" altLang="it-IT" sz="3200" i="1">
                <a:solidFill>
                  <a:schemeClr val="tx1"/>
                </a:solidFill>
              </a:rPr>
              <a:t>Comp 412</a:t>
            </a:r>
          </a:p>
        </p:txBody>
      </p:sp>
      <p:sp>
        <p:nvSpPr>
          <p:cNvPr id="15362" name="Rectangle 3">
            <a:extLst>
              <a:ext uri="{FF2B5EF4-FFF2-40B4-BE49-F238E27FC236}">
                <a16:creationId xmlns:a16="http://schemas.microsoft.com/office/drawing/2014/main" id="{87D4FDD2-6010-4007-878F-3CA250A0EA48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762000" y="4953000"/>
            <a:ext cx="7772400" cy="1295400"/>
          </a:xfrm>
          <a:ln w="12700">
            <a:solidFill>
              <a:srgbClr val="003C75"/>
            </a:solidFill>
            <a:miter lim="800000"/>
            <a:headEnd/>
            <a:tailEnd/>
          </a:ln>
        </p:spPr>
        <p:txBody>
          <a:bodyPr/>
          <a:lstStyle/>
          <a:p>
            <a:pPr algn="l" eaLnBrk="1" hangingPunct="1"/>
            <a:r>
              <a:rPr lang="en-US" altLang="it-IT" sz="1400">
                <a:solidFill>
                  <a:srgbClr val="003C75"/>
                </a:solidFill>
              </a:rPr>
              <a:t>Copyright 2010, Keith D. Cooper &amp; Linda Torczon, all rights reserved.</a:t>
            </a:r>
          </a:p>
          <a:p>
            <a:pPr algn="l" eaLnBrk="1" hangingPunct="1"/>
            <a:r>
              <a:rPr lang="en-US" altLang="it-IT" sz="1400">
                <a:solidFill>
                  <a:srgbClr val="003C75"/>
                </a:solidFill>
              </a:rPr>
              <a:t>Students enrolled in Comp 412 at Rice University have explicit permission to make copies of these materials for their personal use.  </a:t>
            </a:r>
          </a:p>
          <a:p>
            <a:pPr algn="l" eaLnBrk="1" hangingPunct="1"/>
            <a:r>
              <a:rPr lang="en-US" altLang="it-IT" sz="1400">
                <a:solidFill>
                  <a:srgbClr val="003C75"/>
                </a:solidFill>
              </a:rPr>
              <a:t>Faculty from other educational institutions may use these materials for nonprofit educational purposes, provided this copyright notice is preserved.</a:t>
            </a:r>
            <a:endParaRPr lang="en-US" altLang="it-IT">
              <a:solidFill>
                <a:srgbClr val="003C75"/>
              </a:solidFill>
            </a:endParaRPr>
          </a:p>
        </p:txBody>
      </p:sp>
      <p:pic>
        <p:nvPicPr>
          <p:cNvPr id="15363" name="Picture 4" descr="2007Logo">
            <a:extLst>
              <a:ext uri="{FF2B5EF4-FFF2-40B4-BE49-F238E27FC236}">
                <a16:creationId xmlns:a16="http://schemas.microsoft.com/office/drawing/2014/main" id="{985B9263-2828-4000-AF92-C66D076001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304800"/>
            <a:ext cx="2330450" cy="949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4" name="Text Box 6">
            <a:extLst>
              <a:ext uri="{FF2B5EF4-FFF2-40B4-BE49-F238E27FC236}">
                <a16:creationId xmlns:a16="http://schemas.microsoft.com/office/drawing/2014/main" id="{ADAAE38C-5BF8-4F2C-B234-87D0E095FA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1200" y="381000"/>
            <a:ext cx="2667000" cy="841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 algn="r">
              <a:spcBef>
                <a:spcPct val="5000"/>
              </a:spcBef>
            </a:pPr>
            <a:r>
              <a:rPr lang="en-US" altLang="it-IT" sz="2400">
                <a:solidFill>
                  <a:srgbClr val="003C75"/>
                </a:solidFill>
                <a:latin typeface="Utopia Std"/>
              </a:rPr>
              <a:t>COMP 412</a:t>
            </a:r>
          </a:p>
          <a:p>
            <a:pPr algn="r">
              <a:spcBef>
                <a:spcPct val="5000"/>
              </a:spcBef>
            </a:pPr>
            <a:r>
              <a:rPr lang="en-US" altLang="it-IT" sz="2400">
                <a:solidFill>
                  <a:srgbClr val="003C75"/>
                </a:solidFill>
                <a:latin typeface="Utopia Std"/>
              </a:rPr>
              <a:t>FALL 2010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Footer Placeholder 3">
            <a:extLst>
              <a:ext uri="{FF2B5EF4-FFF2-40B4-BE49-F238E27FC236}">
                <a16:creationId xmlns:a16="http://schemas.microsoft.com/office/drawing/2014/main" id="{3278DFA4-845E-49A7-915B-865E1C0A374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17410" name="Slide Number Placeholder 4">
            <a:extLst>
              <a:ext uri="{FF2B5EF4-FFF2-40B4-BE49-F238E27FC236}">
                <a16:creationId xmlns:a16="http://schemas.microsoft.com/office/drawing/2014/main" id="{C4BF8BFE-2CE3-4F90-AA5C-61AD7F1A63A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0B059609-486E-46FF-92D0-17F179F50739}" type="slidenum">
              <a:rPr lang="en-US" altLang="it-IT"/>
              <a:pPr/>
              <a:t>1</a:t>
            </a:fld>
            <a:endParaRPr lang="en-US" altLang="it-IT"/>
          </a:p>
        </p:txBody>
      </p:sp>
      <p:sp>
        <p:nvSpPr>
          <p:cNvPr id="17411" name="Rectangle 2">
            <a:extLst>
              <a:ext uri="{FF2B5EF4-FFF2-40B4-BE49-F238E27FC236}">
                <a16:creationId xmlns:a16="http://schemas.microsoft.com/office/drawing/2014/main" id="{F5ECDD90-3600-4094-80FF-BCA4B9FC01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What about  Object-Oriented Languages?</a:t>
            </a:r>
          </a:p>
        </p:txBody>
      </p:sp>
      <p:sp>
        <p:nvSpPr>
          <p:cNvPr id="17412" name="Rectangle 3">
            <a:extLst>
              <a:ext uri="{FF2B5EF4-FFF2-40B4-BE49-F238E27FC236}">
                <a16:creationId xmlns:a16="http://schemas.microsoft.com/office/drawing/2014/main" id="{1A532D0F-54BB-41A9-B7BB-94FDF8CBB24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066800"/>
            <a:ext cx="7772400" cy="5202238"/>
          </a:xfrm>
        </p:spPr>
        <p:txBody>
          <a:bodyPr/>
          <a:lstStyle/>
          <a:p>
            <a:pPr eaLnBrk="1" hangingPunct="1">
              <a:buFont typeface="Times" panose="02020603050405020304" pitchFamily="18" charset="0"/>
              <a:buNone/>
            </a:pPr>
            <a:r>
              <a:rPr lang="en-US" altLang="it-IT">
                <a:solidFill>
                  <a:srgbClr val="003C75"/>
                </a:solidFill>
              </a:rPr>
              <a:t>What is an OOL?</a:t>
            </a:r>
            <a:endParaRPr lang="en-US" altLang="it-IT"/>
          </a:p>
          <a:p>
            <a:pPr eaLnBrk="1" hangingPunct="1"/>
            <a:r>
              <a:rPr lang="en-US" altLang="it-IT"/>
              <a:t>A language that supports “object-oriented programming”</a:t>
            </a:r>
          </a:p>
          <a:p>
            <a:pPr eaLnBrk="1" hangingPunct="1">
              <a:spcBef>
                <a:spcPct val="75000"/>
              </a:spcBef>
              <a:buFont typeface="Times" panose="02020603050405020304" pitchFamily="18" charset="0"/>
              <a:buNone/>
            </a:pPr>
            <a:r>
              <a:rPr lang="en-US" altLang="it-IT">
                <a:solidFill>
                  <a:srgbClr val="003C75"/>
                </a:solidFill>
              </a:rPr>
              <a:t>How does an OOL differ from an ALL?  </a:t>
            </a:r>
            <a:r>
              <a:rPr lang="en-US" altLang="it-IT" sz="1800">
                <a:solidFill>
                  <a:srgbClr val="003C75"/>
                </a:solidFill>
              </a:rPr>
              <a:t>(</a:t>
            </a:r>
            <a:r>
              <a:rPr lang="en-US" altLang="it-IT" sz="1800" u="sng">
                <a:solidFill>
                  <a:srgbClr val="003C75"/>
                </a:solidFill>
              </a:rPr>
              <a:t>A</a:t>
            </a:r>
            <a:r>
              <a:rPr lang="en-US" altLang="it-IT" sz="1400" b="1">
                <a:solidFill>
                  <a:srgbClr val="003C75"/>
                </a:solidFill>
              </a:rPr>
              <a:t>LGOL</a:t>
            </a:r>
            <a:r>
              <a:rPr lang="en-US" altLang="it-IT" sz="1800">
                <a:solidFill>
                  <a:srgbClr val="003C75"/>
                </a:solidFill>
              </a:rPr>
              <a:t>-</a:t>
            </a:r>
            <a:r>
              <a:rPr lang="en-US" altLang="it-IT" sz="1800" u="sng">
                <a:solidFill>
                  <a:srgbClr val="003C75"/>
                </a:solidFill>
              </a:rPr>
              <a:t>L</a:t>
            </a:r>
            <a:r>
              <a:rPr lang="en-US" altLang="it-IT" sz="1800">
                <a:solidFill>
                  <a:srgbClr val="003C75"/>
                </a:solidFill>
              </a:rPr>
              <a:t>ike </a:t>
            </a:r>
            <a:r>
              <a:rPr lang="en-US" altLang="it-IT" sz="1800" u="sng">
                <a:solidFill>
                  <a:srgbClr val="003C75"/>
                </a:solidFill>
              </a:rPr>
              <a:t>L</a:t>
            </a:r>
            <a:r>
              <a:rPr lang="en-US" altLang="it-IT" sz="1800">
                <a:solidFill>
                  <a:srgbClr val="003C75"/>
                </a:solidFill>
              </a:rPr>
              <a:t>anguage)</a:t>
            </a:r>
            <a:endParaRPr lang="en-US" altLang="it-IT">
              <a:solidFill>
                <a:srgbClr val="003C75"/>
              </a:solidFill>
            </a:endParaRPr>
          </a:p>
          <a:p>
            <a:pPr eaLnBrk="1" hangingPunct="1"/>
            <a:r>
              <a:rPr lang="en-US" altLang="it-IT"/>
              <a:t>Data-centric name scopes for values &amp; functions</a:t>
            </a:r>
          </a:p>
          <a:p>
            <a:pPr eaLnBrk="1" hangingPunct="1"/>
            <a:r>
              <a:rPr lang="en-US" altLang="it-IT"/>
              <a:t>Dynamic resolution of names to their implementations</a:t>
            </a:r>
          </a:p>
          <a:p>
            <a:pPr eaLnBrk="1" hangingPunct="1">
              <a:spcBef>
                <a:spcPct val="75000"/>
              </a:spcBef>
              <a:buFont typeface="Times" panose="02020603050405020304" pitchFamily="18" charset="0"/>
              <a:buNone/>
            </a:pPr>
            <a:r>
              <a:rPr lang="en-US" altLang="it-IT">
                <a:solidFill>
                  <a:srgbClr val="003C75"/>
                </a:solidFill>
              </a:rPr>
              <a:t>How do we compile OOLs ?</a:t>
            </a:r>
          </a:p>
          <a:p>
            <a:pPr eaLnBrk="1" hangingPunct="1"/>
            <a:r>
              <a:rPr lang="en-US" altLang="it-IT"/>
              <a:t>Need to define what we mean by an OOL</a:t>
            </a:r>
          </a:p>
          <a:p>
            <a:pPr eaLnBrk="1" hangingPunct="1"/>
            <a:r>
              <a:rPr lang="en-US" altLang="it-IT"/>
              <a:t>Term is almost meaningless today — </a:t>
            </a:r>
          </a:p>
          <a:p>
            <a:pPr lvl="1" eaLnBrk="1" hangingPunct="1"/>
            <a:r>
              <a:rPr lang="en-US" altLang="it-IT"/>
              <a:t>Smalltalk to C++ to Java </a:t>
            </a:r>
          </a:p>
          <a:p>
            <a:pPr eaLnBrk="1" hangingPunct="1"/>
            <a:r>
              <a:rPr lang="en-US" altLang="it-IT"/>
              <a:t>We will focus on Java and C++</a:t>
            </a:r>
          </a:p>
          <a:p>
            <a:pPr eaLnBrk="1" hangingPunct="1"/>
            <a:r>
              <a:rPr lang="en-US" altLang="it-IT"/>
              <a:t>Differences from an ALL lie in naming and addressability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D35E48-901E-4243-98E8-B5EC98E62F5E}"/>
              </a:ext>
            </a:extLst>
          </p:cNvPr>
          <p:cNvSpPr txBox="1"/>
          <p:nvPr/>
        </p:nvSpPr>
        <p:spPr>
          <a:xfrm>
            <a:off x="5562600" y="6167438"/>
            <a:ext cx="2667000" cy="461962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rgbClr val="7F7F7F"/>
            </a:solidFill>
          </a:ln>
        </p:spPr>
        <p:txBody>
          <a:bodyPr>
            <a:spAutoFit/>
          </a:bodyPr>
          <a:lstStyle/>
          <a:p>
            <a:pPr eaLnBrk="0" hangingPunct="0">
              <a:defRPr/>
            </a:pPr>
            <a:r>
              <a:rPr lang="en-US" sz="1200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OOL ≅ </a:t>
            </a:r>
            <a:r>
              <a:rPr lang="en-US" sz="1200" u="sng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O</a:t>
            </a:r>
            <a:r>
              <a:rPr lang="en-US" sz="1200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bject-</a:t>
            </a:r>
            <a:r>
              <a:rPr lang="en-US" sz="1200" u="sng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O</a:t>
            </a:r>
            <a:r>
              <a:rPr lang="en-US" sz="1200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riented </a:t>
            </a:r>
            <a:r>
              <a:rPr lang="en-US" sz="1200" u="sng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L</a:t>
            </a:r>
            <a:r>
              <a:rPr lang="en-US" sz="1200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anguage</a:t>
            </a:r>
          </a:p>
          <a:p>
            <a:pPr eaLnBrk="0" hangingPunct="0">
              <a:defRPr/>
            </a:pPr>
            <a:r>
              <a:rPr lang="en-US" sz="1200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ALL ≅ </a:t>
            </a:r>
            <a:r>
              <a:rPr lang="en-US" sz="1200" u="sng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A</a:t>
            </a:r>
            <a:r>
              <a:rPr lang="en-US" sz="1200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lgol-</a:t>
            </a:r>
            <a:r>
              <a:rPr lang="en-US" sz="1200" u="sng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L</a:t>
            </a:r>
            <a:r>
              <a:rPr lang="en-US" sz="1200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ike </a:t>
            </a:r>
            <a:r>
              <a:rPr lang="en-US" sz="1200" u="sng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L</a:t>
            </a:r>
            <a:r>
              <a:rPr lang="en-US" sz="1200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anguage</a:t>
            </a:r>
          </a:p>
        </p:txBody>
      </p:sp>
    </p:spTree>
  </p:cSld>
  <p:clrMapOvr>
    <a:masterClrMapping/>
  </p:clrMapOvr>
  <p:transition>
    <p:wipe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Title 1">
            <a:extLst>
              <a:ext uri="{FF2B5EF4-FFF2-40B4-BE49-F238E27FC236}">
                <a16:creationId xmlns:a16="http://schemas.microsoft.com/office/drawing/2014/main" id="{65C680F2-8122-49E0-98DB-6D78E467F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it-IT"/>
              <a:t>What Are The Issues?</a:t>
            </a:r>
          </a:p>
        </p:txBody>
      </p:sp>
      <p:sp>
        <p:nvSpPr>
          <p:cNvPr id="19458" name="Content Placeholder 2">
            <a:extLst>
              <a:ext uri="{FF2B5EF4-FFF2-40B4-BE49-F238E27FC236}">
                <a16:creationId xmlns:a16="http://schemas.microsoft.com/office/drawing/2014/main" id="{726B2AE9-8E9F-4A42-9EC2-2478C24096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143000"/>
            <a:ext cx="7772400" cy="1981200"/>
          </a:xfrm>
        </p:spPr>
        <p:txBody>
          <a:bodyPr/>
          <a:lstStyle/>
          <a:p>
            <a:pPr>
              <a:buFont typeface="Times" panose="02020603050405020304" pitchFamily="18" charset="0"/>
              <a:buNone/>
            </a:pPr>
            <a:r>
              <a:rPr lang="en-US" altLang="it-IT">
                <a:solidFill>
                  <a:srgbClr val="003C75"/>
                </a:solidFill>
              </a:rPr>
              <a:t>In an ALL, the compiler needs</a:t>
            </a:r>
          </a:p>
          <a:p>
            <a:r>
              <a:rPr lang="en-US" altLang="it-IT"/>
              <a:t>Compile-time mechanism for name resolution</a:t>
            </a:r>
          </a:p>
          <a:p>
            <a:r>
              <a:rPr lang="en-US" altLang="it-IT"/>
              <a:t>Runtime mechanism to compute an address from a name</a:t>
            </a:r>
          </a:p>
          <a:p>
            <a:pPr>
              <a:buFont typeface="Times" panose="02020603050405020304" pitchFamily="18" charset="0"/>
              <a:buNone/>
            </a:pPr>
            <a:r>
              <a:rPr lang="en-US" altLang="it-IT"/>
              <a:t>Compiler must emit code that builds &amp; maintains the runtime structures for addressability</a:t>
            </a:r>
          </a:p>
        </p:txBody>
      </p:sp>
      <p:sp>
        <p:nvSpPr>
          <p:cNvPr id="19459" name="Footer Placeholder 3">
            <a:extLst>
              <a:ext uri="{FF2B5EF4-FFF2-40B4-BE49-F238E27FC236}">
                <a16:creationId xmlns:a16="http://schemas.microsoft.com/office/drawing/2014/main" id="{2ADF2172-EAA5-46AD-87B7-6F1DCBBE5B9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19460" name="Slide Number Placeholder 4">
            <a:extLst>
              <a:ext uri="{FF2B5EF4-FFF2-40B4-BE49-F238E27FC236}">
                <a16:creationId xmlns:a16="http://schemas.microsoft.com/office/drawing/2014/main" id="{99A35029-56AE-4D5D-BEDD-79076FF17B4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CCA5112E-913A-405C-929E-BA01456C63FA}" type="slidenum">
              <a:rPr lang="en-US" altLang="it-IT"/>
              <a:pPr/>
              <a:t>2</a:t>
            </a:fld>
            <a:endParaRPr lang="en-US" altLang="it-IT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A985A91-7EC3-4838-9469-E959C2FAD28E}"/>
              </a:ext>
            </a:extLst>
          </p:cNvPr>
          <p:cNvSpPr txBox="1">
            <a:spLocks/>
          </p:cNvSpPr>
          <p:nvPr/>
        </p:nvSpPr>
        <p:spPr bwMode="auto">
          <a:xfrm>
            <a:off x="685800" y="3276600"/>
            <a:ext cx="77724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ts val="600"/>
              </a:spcBef>
              <a:buClr>
                <a:srgbClr val="003C75"/>
              </a:buClr>
              <a:buSzPct val="120000"/>
              <a:buFont typeface="Times" charset="0"/>
              <a:buNone/>
              <a:defRPr/>
            </a:pPr>
            <a:r>
              <a:rPr lang="en-US" sz="2000" kern="0" dirty="0">
                <a:solidFill>
                  <a:srgbClr val="003C75"/>
                </a:solidFill>
                <a:latin typeface="+mn-lt"/>
                <a:ea typeface="+mn-ea"/>
                <a:cs typeface="+mn-cs"/>
              </a:rPr>
              <a:t>In an OOL, the compiler needs</a:t>
            </a:r>
          </a:p>
          <a:p>
            <a:pPr marL="342900" indent="-342900" eaLnBrk="0" hangingPunct="0">
              <a:spcBef>
                <a:spcPts val="600"/>
              </a:spcBef>
              <a:buClr>
                <a:srgbClr val="003C75"/>
              </a:buClr>
              <a:buSzPct val="120000"/>
              <a:buFont typeface="Times" charset="0"/>
              <a:buChar char="•"/>
              <a:defRPr/>
            </a:pPr>
            <a:r>
              <a:rPr lang="en-US" sz="2000" kern="0" dirty="0">
                <a:latin typeface="+mn-lt"/>
                <a:ea typeface="+mn-ea"/>
                <a:cs typeface="+mn-cs"/>
              </a:rPr>
              <a:t>Compile-time mechanism for name resolution</a:t>
            </a:r>
          </a:p>
          <a:p>
            <a:pPr marL="342900" indent="-342900" eaLnBrk="0" hangingPunct="0">
              <a:spcBef>
                <a:spcPts val="600"/>
              </a:spcBef>
              <a:buClr>
                <a:srgbClr val="003C75"/>
              </a:buClr>
              <a:buSzPct val="120000"/>
              <a:buFont typeface="Times" charset="0"/>
              <a:buChar char="•"/>
              <a:defRPr/>
            </a:pPr>
            <a:r>
              <a:rPr lang="en-US" sz="2000" kern="0" dirty="0">
                <a:latin typeface="+mn-lt"/>
                <a:ea typeface="+mn-ea"/>
                <a:cs typeface="+mn-cs"/>
              </a:rPr>
              <a:t>Runtime mechanism to compute an address from a name</a:t>
            </a:r>
          </a:p>
          <a:p>
            <a:pPr marL="342900" indent="-342900" eaLnBrk="0" hangingPunct="0">
              <a:spcBef>
                <a:spcPts val="600"/>
              </a:spcBef>
              <a:buClr>
                <a:srgbClr val="003C75"/>
              </a:buClr>
              <a:buSzPct val="120000"/>
              <a:buFont typeface="Times" charset="0"/>
              <a:buNone/>
              <a:defRPr/>
            </a:pPr>
            <a:r>
              <a:rPr lang="en-US" sz="2000" kern="0" dirty="0">
                <a:latin typeface="+mn-lt"/>
                <a:ea typeface="+mn-ea"/>
                <a:cs typeface="+mn-cs"/>
              </a:rPr>
              <a:t>Compiler must emit code that builds &amp; maintains the runtime structures for addressability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929AF6-C7F3-4369-821B-4A4A894DC16A}"/>
              </a:ext>
            </a:extLst>
          </p:cNvPr>
          <p:cNvSpPr txBox="1"/>
          <p:nvPr/>
        </p:nvSpPr>
        <p:spPr>
          <a:xfrm>
            <a:off x="685800" y="5486400"/>
            <a:ext cx="7772400" cy="584200"/>
          </a:xfrm>
          <a:prstGeom prst="rect">
            <a:avLst/>
          </a:prstGeom>
          <a:solidFill>
            <a:srgbClr val="BFBFBF"/>
          </a:solidFill>
          <a:ln w="19050" cap="flat" cmpd="sng" algn="ctr">
            <a:solidFill>
              <a:srgbClr val="7F7F7F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>
              <a:srgbClr val="000000">
                <a:alpha val="43000"/>
              </a:srgbClr>
            </a:outerShdw>
          </a:effectLst>
        </p:spPr>
        <p:txBody>
          <a:bodyPr>
            <a:spAutoFit/>
          </a:bodyPr>
          <a:lstStyle/>
          <a:p>
            <a:pPr eaLnBrk="0" hangingPunct="0">
              <a:defRPr/>
            </a:pPr>
            <a:r>
              <a:rPr lang="en-US" sz="1600" i="1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This lecture focuses on these three mechanisms.</a:t>
            </a:r>
          </a:p>
          <a:p>
            <a:pPr eaLnBrk="0" hangingPunct="0">
              <a:defRPr/>
            </a:pPr>
            <a:r>
              <a:rPr lang="en-US" sz="1600" i="1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The issue of code generation for a method call is discussed in a later lecture.</a:t>
            </a:r>
          </a:p>
        </p:txBody>
      </p:sp>
      <p:sp>
        <p:nvSpPr>
          <p:cNvPr id="19463" name="TextBox 7">
            <a:extLst>
              <a:ext uri="{FF2B5EF4-FFF2-40B4-BE49-F238E27FC236}">
                <a16:creationId xmlns:a16="http://schemas.microsoft.com/office/drawing/2014/main" id="{EDCD61D7-7302-4CCB-BAB7-320D40FAB6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05800" y="6248400"/>
            <a:ext cx="3048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 sz="1200"/>
              <a:t>*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Footer Placeholder 3">
            <a:extLst>
              <a:ext uri="{FF2B5EF4-FFF2-40B4-BE49-F238E27FC236}">
                <a16:creationId xmlns:a16="http://schemas.microsoft.com/office/drawing/2014/main" id="{3D74C54E-A9C1-4C52-A4F2-A519D91244E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20482" name="Slide Number Placeholder 4">
            <a:extLst>
              <a:ext uri="{FF2B5EF4-FFF2-40B4-BE49-F238E27FC236}">
                <a16:creationId xmlns:a16="http://schemas.microsoft.com/office/drawing/2014/main" id="{5DC5D71F-7819-4CE0-BF01-F76564EB66B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995363AB-35B6-43FA-9953-CADCCB310D16}" type="slidenum">
              <a:rPr lang="en-US" altLang="it-IT"/>
              <a:pPr/>
              <a:t>3</a:t>
            </a:fld>
            <a:endParaRPr lang="en-US" altLang="it-IT"/>
          </a:p>
        </p:txBody>
      </p:sp>
      <p:sp>
        <p:nvSpPr>
          <p:cNvPr id="20483" name="Rectangle 2">
            <a:extLst>
              <a:ext uri="{FF2B5EF4-FFF2-40B4-BE49-F238E27FC236}">
                <a16:creationId xmlns:a16="http://schemas.microsoft.com/office/drawing/2014/main" id="{88B47FDA-F3BF-4881-AC92-CB6FA284420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What is an Object?</a:t>
            </a:r>
          </a:p>
        </p:txBody>
      </p:sp>
      <p:sp>
        <p:nvSpPr>
          <p:cNvPr id="20484" name="Rectangle 3">
            <a:extLst>
              <a:ext uri="{FF2B5EF4-FFF2-40B4-BE49-F238E27FC236}">
                <a16:creationId xmlns:a16="http://schemas.microsoft.com/office/drawing/2014/main" id="{7C070B43-7F20-4E35-8DD8-CED26F855B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 algn="ctr" eaLnBrk="1" hangingPunct="1">
              <a:spcBef>
                <a:spcPct val="0"/>
              </a:spcBef>
              <a:buFontTx/>
              <a:buNone/>
            </a:pPr>
            <a:r>
              <a:rPr lang="en-US" altLang="it-IT" sz="1600" i="1">
                <a:solidFill>
                  <a:srgbClr val="003C75"/>
                </a:solidFill>
              </a:rPr>
              <a:t>An object is an abstract data type that encapsulates data, </a:t>
            </a:r>
          </a:p>
          <a:p>
            <a:pPr lvl="1" algn="ctr" eaLnBrk="1" hangingPunct="1">
              <a:spcBef>
                <a:spcPct val="0"/>
              </a:spcBef>
              <a:buFontTx/>
              <a:buNone/>
            </a:pPr>
            <a:r>
              <a:rPr lang="en-US" altLang="it-IT" sz="1600" i="1">
                <a:solidFill>
                  <a:srgbClr val="003C75"/>
                </a:solidFill>
              </a:rPr>
              <a:t>operations and internal state behind a simple, consistent interface</a:t>
            </a:r>
            <a:r>
              <a:rPr lang="en-US" altLang="it-IT" sz="2000" i="1">
                <a:solidFill>
                  <a:srgbClr val="003C75"/>
                </a:solidFill>
                <a:latin typeface="Times" panose="02020603050405020304" pitchFamily="18" charset="0"/>
              </a:rPr>
              <a:t>.</a:t>
            </a:r>
            <a:endParaRPr lang="en-US" altLang="it-IT" sz="2000" i="1">
              <a:latin typeface="Times" panose="02020603050405020304" pitchFamily="18" charset="0"/>
            </a:endParaRPr>
          </a:p>
          <a:p>
            <a:pPr lvl="1" eaLnBrk="1" hangingPunct="1">
              <a:spcBef>
                <a:spcPct val="0"/>
              </a:spcBef>
              <a:buFontTx/>
              <a:buNone/>
            </a:pPr>
            <a:endParaRPr lang="en-US" altLang="it-IT" sz="2000" i="1">
              <a:latin typeface="Times" panose="02020603050405020304" pitchFamily="18" charset="0"/>
            </a:endParaRPr>
          </a:p>
          <a:p>
            <a:pPr eaLnBrk="1" hangingPunct="1">
              <a:spcBef>
                <a:spcPct val="400000"/>
              </a:spcBef>
              <a:buFont typeface="Times" panose="02020603050405020304" pitchFamily="18" charset="0"/>
              <a:buNone/>
            </a:pPr>
            <a:r>
              <a:rPr lang="en-US" altLang="it-IT">
                <a:solidFill>
                  <a:srgbClr val="003C75"/>
                </a:solidFill>
              </a:rPr>
              <a:t>Elaborating the concepts</a:t>
            </a:r>
            <a:r>
              <a:rPr lang="en-US" altLang="it-IT"/>
              <a:t>:</a:t>
            </a:r>
          </a:p>
          <a:p>
            <a:pPr eaLnBrk="1" hangingPunct="1"/>
            <a:r>
              <a:rPr lang="en-US" altLang="it-IT"/>
              <a:t>Each object has internal state</a:t>
            </a:r>
          </a:p>
          <a:p>
            <a:pPr lvl="1" eaLnBrk="1" hangingPunct="1">
              <a:spcBef>
                <a:spcPct val="15000"/>
              </a:spcBef>
            </a:pPr>
            <a:r>
              <a:rPr lang="en-US" altLang="it-IT"/>
              <a:t>Data members are static (</a:t>
            </a:r>
            <a:r>
              <a:rPr lang="en-US" altLang="it-IT" i="1"/>
              <a:t>lifetime of object</a:t>
            </a:r>
            <a:r>
              <a:rPr lang="en-US" altLang="it-IT" sz="1200" i="1"/>
              <a:t> </a:t>
            </a:r>
            <a:r>
              <a:rPr lang="en-US" altLang="it-IT"/>
              <a:t>) </a:t>
            </a:r>
          </a:p>
          <a:p>
            <a:pPr lvl="1" eaLnBrk="1" hangingPunct="1">
              <a:spcBef>
                <a:spcPct val="15000"/>
              </a:spcBef>
            </a:pPr>
            <a:r>
              <a:rPr lang="en-US" altLang="it-IT"/>
              <a:t>External access is through code members</a:t>
            </a:r>
          </a:p>
          <a:p>
            <a:pPr eaLnBrk="1" hangingPunct="1"/>
            <a:r>
              <a:rPr lang="en-US" altLang="it-IT"/>
              <a:t>Each object has a set of associated procedures, or methods</a:t>
            </a:r>
          </a:p>
          <a:p>
            <a:pPr lvl="1" eaLnBrk="1" hangingPunct="1"/>
            <a:r>
              <a:rPr lang="en-US" altLang="it-IT"/>
              <a:t>Some methods are public, others are private</a:t>
            </a:r>
          </a:p>
          <a:p>
            <a:pPr lvl="1" eaLnBrk="1" hangingPunct="1">
              <a:spcBef>
                <a:spcPct val="15000"/>
              </a:spcBef>
            </a:pPr>
            <a:r>
              <a:rPr lang="en-US" altLang="it-IT"/>
              <a:t>Locating a procedure by name is more complex than in an ALL</a:t>
            </a:r>
          </a:p>
          <a:p>
            <a:pPr eaLnBrk="1" hangingPunct="1"/>
            <a:r>
              <a:rPr lang="en-US" altLang="it-IT"/>
              <a:t>Object’s internal state leads to complex behavior</a:t>
            </a:r>
          </a:p>
        </p:txBody>
      </p:sp>
      <p:grpSp>
        <p:nvGrpSpPr>
          <p:cNvPr id="20485" name="Group 32">
            <a:extLst>
              <a:ext uri="{FF2B5EF4-FFF2-40B4-BE49-F238E27FC236}">
                <a16:creationId xmlns:a16="http://schemas.microsoft.com/office/drawing/2014/main" id="{59EFB68A-43E3-4D5B-8B3B-51C7ED3A6272}"/>
              </a:ext>
            </a:extLst>
          </p:cNvPr>
          <p:cNvGrpSpPr>
            <a:grpSpLocks/>
          </p:cNvGrpSpPr>
          <p:nvPr/>
        </p:nvGrpSpPr>
        <p:grpSpPr bwMode="auto">
          <a:xfrm>
            <a:off x="2619375" y="1768475"/>
            <a:ext cx="5000625" cy="1584325"/>
            <a:chOff x="1650" y="1114"/>
            <a:chExt cx="3150" cy="998"/>
          </a:xfrm>
        </p:grpSpPr>
        <p:sp>
          <p:nvSpPr>
            <p:cNvPr id="19473" name="AutoShape 7">
              <a:extLst>
                <a:ext uri="{FF2B5EF4-FFF2-40B4-BE49-F238E27FC236}">
                  <a16:creationId xmlns:a16="http://schemas.microsoft.com/office/drawing/2014/main" id="{FC678AF4-6E62-465E-8E95-130021450C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6" y="1248"/>
              <a:ext cx="672" cy="672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>
                <a:srgbClr val="000000">
                  <a:alpha val="43000"/>
                </a:srgbClr>
              </a:outerShdw>
            </a:effectLst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en-US" sz="1600" dirty="0">
                  <a:latin typeface="Geneva" charset="0"/>
                  <a:ea typeface="ヒラギノ角ゴ Pro W3" charset="-128"/>
                  <a:cs typeface="ヒラギノ角ゴ Pro W3" charset="-128"/>
                </a:rPr>
                <a:t>Data</a:t>
              </a:r>
            </a:p>
            <a:p>
              <a:pPr algn="ctr" eaLnBrk="0" hangingPunct="0">
                <a:spcBef>
                  <a:spcPct val="50000"/>
                </a:spcBef>
                <a:defRPr/>
              </a:pPr>
              <a:r>
                <a:rPr lang="en-US" sz="1600" dirty="0">
                  <a:latin typeface="Geneva" charset="0"/>
                  <a:ea typeface="ヒラギノ角ゴ Pro W3" charset="-128"/>
                  <a:cs typeface="ヒラギノ角ゴ Pro W3" charset="-128"/>
                </a:rPr>
                <a:t>Code</a:t>
              </a:r>
            </a:p>
          </p:txBody>
        </p:sp>
        <p:sp>
          <p:nvSpPr>
            <p:cNvPr id="20492" name="Text Box 8">
              <a:extLst>
                <a:ext uri="{FF2B5EF4-FFF2-40B4-BE49-F238E27FC236}">
                  <a16:creationId xmlns:a16="http://schemas.microsoft.com/office/drawing/2014/main" id="{28F1152D-FA7C-410C-A59F-E2543350B42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50" y="1162"/>
              <a:ext cx="19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it-IT" sz="1400" i="1">
                  <a:latin typeface="Geneva"/>
                </a:rPr>
                <a:t>x</a:t>
              </a:r>
            </a:p>
          </p:txBody>
        </p:sp>
        <p:sp>
          <p:nvSpPr>
            <p:cNvPr id="19475" name="AutoShape 11">
              <a:extLst>
                <a:ext uri="{FF2B5EF4-FFF2-40B4-BE49-F238E27FC236}">
                  <a16:creationId xmlns:a16="http://schemas.microsoft.com/office/drawing/2014/main" id="{40F1AE9A-0CEE-4AD4-AC3E-8AD861D051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6" y="1440"/>
              <a:ext cx="672" cy="672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>
                <a:srgbClr val="000000">
                  <a:alpha val="43000"/>
                </a:srgbClr>
              </a:outerShdw>
            </a:effectLst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en-US" sz="1600">
                  <a:latin typeface="Geneva" charset="0"/>
                  <a:ea typeface="ヒラギノ角ゴ Pro W3" charset="-128"/>
                  <a:cs typeface="ヒラギノ角ゴ Pro W3" charset="-128"/>
                </a:rPr>
                <a:t>Data</a:t>
              </a:r>
            </a:p>
            <a:p>
              <a:pPr algn="ctr" eaLnBrk="0" hangingPunct="0">
                <a:spcBef>
                  <a:spcPct val="50000"/>
                </a:spcBef>
                <a:defRPr/>
              </a:pPr>
              <a:r>
                <a:rPr lang="en-US" sz="1600">
                  <a:latin typeface="Geneva" charset="0"/>
                  <a:ea typeface="ヒラギノ角ゴ Pro W3" charset="-128"/>
                  <a:cs typeface="ヒラギノ角ゴ Pro W3" charset="-128"/>
                </a:rPr>
                <a:t>Code</a:t>
              </a:r>
            </a:p>
          </p:txBody>
        </p:sp>
        <p:sp>
          <p:nvSpPr>
            <p:cNvPr id="20494" name="Text Box 12">
              <a:extLst>
                <a:ext uri="{FF2B5EF4-FFF2-40B4-BE49-F238E27FC236}">
                  <a16:creationId xmlns:a16="http://schemas.microsoft.com/office/drawing/2014/main" id="{F6FE4858-5658-46CA-A27E-C7E42B28D3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50" y="1354"/>
              <a:ext cx="19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it-IT" sz="1400" i="1">
                  <a:latin typeface="Geneva"/>
                </a:rPr>
                <a:t>y</a:t>
              </a:r>
            </a:p>
          </p:txBody>
        </p:sp>
        <p:sp>
          <p:nvSpPr>
            <p:cNvPr id="19478" name="AutoShape 16">
              <a:extLst>
                <a:ext uri="{FF2B5EF4-FFF2-40B4-BE49-F238E27FC236}">
                  <a16:creationId xmlns:a16="http://schemas.microsoft.com/office/drawing/2014/main" id="{FC505B3E-B362-4381-8F8C-A5988E9C3D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28" y="1200"/>
              <a:ext cx="672" cy="672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>
                <a:srgbClr val="000000">
                  <a:alpha val="43000"/>
                </a:srgbClr>
              </a:outerShdw>
            </a:effectLst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en-US" sz="1600">
                  <a:latin typeface="Geneva" charset="0"/>
                  <a:ea typeface="ヒラギノ角ゴ Pro W3" charset="-128"/>
                  <a:cs typeface="ヒラギノ角ゴ Pro W3" charset="-128"/>
                </a:rPr>
                <a:t>Data</a:t>
              </a:r>
            </a:p>
            <a:p>
              <a:pPr algn="ctr" eaLnBrk="0" hangingPunct="0">
                <a:spcBef>
                  <a:spcPct val="50000"/>
                </a:spcBef>
                <a:defRPr/>
              </a:pPr>
              <a:r>
                <a:rPr lang="en-US" sz="1600">
                  <a:latin typeface="Geneva" charset="0"/>
                  <a:ea typeface="ヒラギノ角ゴ Pro W3" charset="-128"/>
                  <a:cs typeface="ヒラギノ角ゴ Pro W3" charset="-128"/>
                </a:rPr>
                <a:t>Code</a:t>
              </a:r>
            </a:p>
          </p:txBody>
        </p:sp>
        <p:sp>
          <p:nvSpPr>
            <p:cNvPr id="20496" name="Text Box 17">
              <a:extLst>
                <a:ext uri="{FF2B5EF4-FFF2-40B4-BE49-F238E27FC236}">
                  <a16:creationId xmlns:a16="http://schemas.microsoft.com/office/drawing/2014/main" id="{289B76F2-823F-4171-BE3E-0F577546D2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02" y="1114"/>
              <a:ext cx="19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it-IT" sz="1400" i="1">
                  <a:latin typeface="Geneva"/>
                </a:rPr>
                <a:t>z</a:t>
              </a:r>
            </a:p>
          </p:txBody>
        </p:sp>
        <p:sp>
          <p:nvSpPr>
            <p:cNvPr id="20497" name="Line 5">
              <a:extLst>
                <a:ext uri="{FF2B5EF4-FFF2-40B4-BE49-F238E27FC236}">
                  <a16:creationId xmlns:a16="http://schemas.microsoft.com/office/drawing/2014/main" id="{388708C5-4754-4E23-91D7-8B3E5D3B5B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76" y="1584"/>
              <a:ext cx="673" cy="0"/>
            </a:xfrm>
            <a:prstGeom prst="line">
              <a:avLst/>
            </a:prstGeom>
            <a:noFill/>
            <a:ln w="19050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20498" name="Line 13">
              <a:extLst>
                <a:ext uri="{FF2B5EF4-FFF2-40B4-BE49-F238E27FC236}">
                  <a16:creationId xmlns:a16="http://schemas.microsoft.com/office/drawing/2014/main" id="{34415209-9E9B-44EB-AD83-7A53768997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73" y="1786"/>
              <a:ext cx="681" cy="0"/>
            </a:xfrm>
            <a:prstGeom prst="line">
              <a:avLst/>
            </a:prstGeom>
            <a:noFill/>
            <a:ln w="19050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20499" name="Line 18">
              <a:extLst>
                <a:ext uri="{FF2B5EF4-FFF2-40B4-BE49-F238E27FC236}">
                  <a16:creationId xmlns:a16="http://schemas.microsoft.com/office/drawing/2014/main" id="{226F518E-DF66-4CF4-A8C0-954793823CA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27" y="1543"/>
              <a:ext cx="673" cy="0"/>
            </a:xfrm>
            <a:prstGeom prst="line">
              <a:avLst/>
            </a:prstGeom>
            <a:noFill/>
            <a:ln w="19050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</p:grpSp>
      <p:sp>
        <p:nvSpPr>
          <p:cNvPr id="20486" name="Text Box 19">
            <a:extLst>
              <a:ext uri="{FF2B5EF4-FFF2-40B4-BE49-F238E27FC236}">
                <a16:creationId xmlns:a16="http://schemas.microsoft.com/office/drawing/2014/main" id="{0F0FE653-9910-4C29-9F8C-01FF698745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2286000"/>
            <a:ext cx="1676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it-IT"/>
              <a:t>The Concept:</a:t>
            </a:r>
            <a:endParaRPr lang="en-US" altLang="it-IT" sz="1600"/>
          </a:p>
        </p:txBody>
      </p:sp>
      <p:grpSp>
        <p:nvGrpSpPr>
          <p:cNvPr id="20487" name="Group 31">
            <a:extLst>
              <a:ext uri="{FF2B5EF4-FFF2-40B4-BE49-F238E27FC236}">
                <a16:creationId xmlns:a16="http://schemas.microsoft.com/office/drawing/2014/main" id="{416FDEAF-C9AF-455F-9384-14F23368BD39}"/>
              </a:ext>
            </a:extLst>
          </p:cNvPr>
          <p:cNvGrpSpPr>
            <a:grpSpLocks/>
          </p:cNvGrpSpPr>
          <p:nvPr/>
        </p:nvGrpSpPr>
        <p:grpSpPr bwMode="auto">
          <a:xfrm>
            <a:off x="6324600" y="3097213"/>
            <a:ext cx="2667000" cy="1017587"/>
            <a:chOff x="4032" y="1911"/>
            <a:chExt cx="1680" cy="641"/>
          </a:xfrm>
        </p:grpSpPr>
        <p:sp>
          <p:nvSpPr>
            <p:cNvPr id="19469" name="Text Box 22">
              <a:extLst>
                <a:ext uri="{FF2B5EF4-FFF2-40B4-BE49-F238E27FC236}">
                  <a16:creationId xmlns:a16="http://schemas.microsoft.com/office/drawing/2014/main" id="{7AA16B32-5D0E-4357-905A-31D36C8181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56" y="1911"/>
              <a:ext cx="1056" cy="368"/>
            </a:xfrm>
            <a:prstGeom prst="rect">
              <a:avLst/>
            </a:prstGeom>
            <a:solidFill>
              <a:srgbClr val="BFBFBF"/>
            </a:solidFill>
            <a:ln w="19050" cap="flat" cmpd="sng" algn="ctr">
              <a:solidFill>
                <a:srgbClr val="7F7F7F"/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outerShdw blurRad="50800" dist="38100" dir="2700000">
                <a:srgbClr val="000000">
                  <a:alpha val="43000"/>
                </a:srgbClr>
              </a:outerShdw>
            </a:effec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  <a:defRPr/>
              </a:pPr>
              <a:r>
                <a:rPr lang="en-US" sz="1600" dirty="0">
                  <a:solidFill>
                    <a:srgbClr val="003C75"/>
                  </a:solidFill>
                  <a:latin typeface="Comic Sans MS" charset="0"/>
                  <a:ea typeface="ヒラギノ角ゴ Pro W3" charset="-128"/>
                  <a:cs typeface="ヒラギノ角ゴ Pro W3" charset="-128"/>
                </a:rPr>
                <a:t>Data members, variables</a:t>
              </a:r>
            </a:p>
          </p:txBody>
        </p:sp>
        <p:sp>
          <p:nvSpPr>
            <p:cNvPr id="20490" name="Freeform 24">
              <a:extLst>
                <a:ext uri="{FF2B5EF4-FFF2-40B4-BE49-F238E27FC236}">
                  <a16:creationId xmlns:a16="http://schemas.microsoft.com/office/drawing/2014/main" id="{DA8F3015-4C79-4B69-970B-753AE9FC2E6B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2" y="2051"/>
              <a:ext cx="627" cy="501"/>
            </a:xfrm>
            <a:custGeom>
              <a:avLst/>
              <a:gdLst>
                <a:gd name="T0" fmla="*/ 0 w 800"/>
                <a:gd name="T1" fmla="*/ 340 h 570"/>
                <a:gd name="T2" fmla="*/ 616 w 800"/>
                <a:gd name="T3" fmla="*/ 160 h 570"/>
                <a:gd name="T4" fmla="*/ 390 w 800"/>
                <a:gd name="T5" fmla="*/ 115 h 570"/>
                <a:gd name="T6" fmla="*/ 825 w 800"/>
                <a:gd name="T7" fmla="*/ 0 h 57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00"/>
                <a:gd name="T13" fmla="*/ 0 h 570"/>
                <a:gd name="T14" fmla="*/ 800 w 800"/>
                <a:gd name="T15" fmla="*/ 570 h 57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00" h="570">
                  <a:moveTo>
                    <a:pt x="0" y="570"/>
                  </a:moveTo>
                  <a:cubicBezTo>
                    <a:pt x="267" y="450"/>
                    <a:pt x="534" y="330"/>
                    <a:pt x="597" y="267"/>
                  </a:cubicBezTo>
                  <a:cubicBezTo>
                    <a:pt x="660" y="204"/>
                    <a:pt x="343" y="237"/>
                    <a:pt x="377" y="193"/>
                  </a:cubicBezTo>
                  <a:cubicBezTo>
                    <a:pt x="411" y="149"/>
                    <a:pt x="605" y="74"/>
                    <a:pt x="800" y="0"/>
                  </a:cubicBezTo>
                </a:path>
              </a:pathLst>
            </a:custGeom>
            <a:noFill/>
            <a:ln w="19050" algn="ctr">
              <a:solidFill>
                <a:srgbClr val="7F7F7F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</p:grpSp>
      <p:grpSp>
        <p:nvGrpSpPr>
          <p:cNvPr id="4" name="Group 30">
            <a:extLst>
              <a:ext uri="{FF2B5EF4-FFF2-40B4-BE49-F238E27FC236}">
                <a16:creationId xmlns:a16="http://schemas.microsoft.com/office/drawing/2014/main" id="{FB714EF3-65C0-45AA-9D49-9EA67A749C11}"/>
              </a:ext>
            </a:extLst>
          </p:cNvPr>
          <p:cNvGrpSpPr>
            <a:grpSpLocks/>
          </p:cNvGrpSpPr>
          <p:nvPr/>
        </p:nvGrpSpPr>
        <p:grpSpPr bwMode="auto">
          <a:xfrm>
            <a:off x="6502400" y="4097338"/>
            <a:ext cx="2489200" cy="703262"/>
            <a:chOff x="4144" y="2533"/>
            <a:chExt cx="1568" cy="443"/>
          </a:xfrm>
          <a:solidFill>
            <a:srgbClr val="BFBFBF"/>
          </a:solidFill>
          <a:effectLst/>
        </p:grpSpPr>
        <p:sp>
          <p:nvSpPr>
            <p:cNvPr id="19466" name="Text Box 27">
              <a:extLst>
                <a:ext uri="{FF2B5EF4-FFF2-40B4-BE49-F238E27FC236}">
                  <a16:creationId xmlns:a16="http://schemas.microsoft.com/office/drawing/2014/main" id="{5FCCA56B-5DC4-4257-A23B-21BD8004F9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52" y="2533"/>
              <a:ext cx="1060" cy="368"/>
            </a:xfrm>
            <a:prstGeom prst="rect">
              <a:avLst/>
            </a:prstGeom>
            <a:grpFill/>
            <a:ln w="19050" cap="flat" cmpd="sng" algn="ctr">
              <a:solidFill>
                <a:srgbClr val="7F7F7F"/>
              </a:solidFill>
              <a:prstDash val="solid"/>
              <a:miter lim="800000"/>
              <a:headEnd type="none" w="med" len="med"/>
              <a:tailEnd w="med" len="med"/>
            </a:ln>
            <a:effectLst>
              <a:outerShdw blurRad="50800" dist="38100" dir="2700000">
                <a:srgbClr val="000000">
                  <a:alpha val="43000"/>
                </a:srgbClr>
              </a:outerShdw>
            </a:effec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  <a:defRPr/>
              </a:pPr>
              <a:r>
                <a:rPr lang="en-US" sz="1600" dirty="0">
                  <a:solidFill>
                    <a:srgbClr val="003C75"/>
                  </a:solidFill>
                  <a:latin typeface="Comic Sans MS" charset="0"/>
                  <a:ea typeface="ヒラギノ角ゴ Pro W3" charset="-128"/>
                  <a:cs typeface="ヒラギノ角ゴ Pro W3" charset="-128"/>
                </a:rPr>
                <a:t>Code members, or methods</a:t>
              </a:r>
            </a:p>
          </p:txBody>
        </p:sp>
        <p:sp>
          <p:nvSpPr>
            <p:cNvPr id="19468" name="Freeform 29">
              <a:extLst>
                <a:ext uri="{FF2B5EF4-FFF2-40B4-BE49-F238E27FC236}">
                  <a16:creationId xmlns:a16="http://schemas.microsoft.com/office/drawing/2014/main" id="{2209854E-D42A-48C1-AF64-F82B105159EA}"/>
                </a:ext>
              </a:extLst>
            </p:cNvPr>
            <p:cNvSpPr>
              <a:spLocks/>
            </p:cNvSpPr>
            <p:nvPr/>
          </p:nvSpPr>
          <p:spPr bwMode="auto">
            <a:xfrm>
              <a:off x="4144" y="2651"/>
              <a:ext cx="503" cy="325"/>
            </a:xfrm>
            <a:custGeom>
              <a:avLst/>
              <a:gdLst>
                <a:gd name="T0" fmla="*/ 503 w 503"/>
                <a:gd name="T1" fmla="*/ 0 h 275"/>
                <a:gd name="T2" fmla="*/ 252 w 503"/>
                <a:gd name="T3" fmla="*/ 99 h 275"/>
                <a:gd name="T4" fmla="*/ 328 w 503"/>
                <a:gd name="T5" fmla="*/ 138 h 275"/>
                <a:gd name="T6" fmla="*/ 0 w 503"/>
                <a:gd name="T7" fmla="*/ 275 h 27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03"/>
                <a:gd name="T13" fmla="*/ 0 h 275"/>
                <a:gd name="T14" fmla="*/ 503 w 503"/>
                <a:gd name="T15" fmla="*/ 275 h 27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03" h="275">
                  <a:moveTo>
                    <a:pt x="503" y="0"/>
                  </a:moveTo>
                  <a:cubicBezTo>
                    <a:pt x="392" y="38"/>
                    <a:pt x="281" y="76"/>
                    <a:pt x="252" y="99"/>
                  </a:cubicBezTo>
                  <a:cubicBezTo>
                    <a:pt x="223" y="122"/>
                    <a:pt x="370" y="109"/>
                    <a:pt x="328" y="138"/>
                  </a:cubicBezTo>
                  <a:cubicBezTo>
                    <a:pt x="286" y="167"/>
                    <a:pt x="143" y="221"/>
                    <a:pt x="0" y="275"/>
                  </a:cubicBezTo>
                </a:path>
              </a:pathLst>
            </a:custGeom>
            <a:noFill/>
            <a:ln w="19050" cap="flat" cmpd="sng" algn="ctr">
              <a:solidFill>
                <a:srgbClr val="7F7F7F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 eaLnBrk="0" hangingPunct="0">
                <a:defRPr/>
              </a:pPr>
              <a:endParaRPr lang="en-US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endParaRPr>
            </a:p>
          </p:txBody>
        </p:sp>
      </p:grpSp>
    </p:spTree>
  </p:cSld>
  <p:clrMapOvr>
    <a:masterClrMapping/>
  </p:clrMapOvr>
  <p:transition>
    <p:wipe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Footer Placeholder 3">
            <a:extLst>
              <a:ext uri="{FF2B5EF4-FFF2-40B4-BE49-F238E27FC236}">
                <a16:creationId xmlns:a16="http://schemas.microsoft.com/office/drawing/2014/main" id="{2923E164-4260-4938-9849-506916468BD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22530" name="Slide Number Placeholder 4">
            <a:extLst>
              <a:ext uri="{FF2B5EF4-FFF2-40B4-BE49-F238E27FC236}">
                <a16:creationId xmlns:a16="http://schemas.microsoft.com/office/drawing/2014/main" id="{68369F5A-5E03-4F62-9C1E-6A25CB1A95B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CE3E62BE-1AE0-4ECC-8DD5-20E7F77D7E5B}" type="slidenum">
              <a:rPr lang="en-US" altLang="it-IT"/>
              <a:pPr/>
              <a:t>4</a:t>
            </a:fld>
            <a:endParaRPr lang="en-US" altLang="it-IT"/>
          </a:p>
        </p:txBody>
      </p:sp>
      <p:sp>
        <p:nvSpPr>
          <p:cNvPr id="22531" name="Rectangle 2">
            <a:extLst>
              <a:ext uri="{FF2B5EF4-FFF2-40B4-BE49-F238E27FC236}">
                <a16:creationId xmlns:a16="http://schemas.microsoft.com/office/drawing/2014/main" id="{6F06432C-6A84-4064-B650-B9BCAB6C80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OOLs &amp; the Procedure Abstraction</a:t>
            </a:r>
          </a:p>
        </p:txBody>
      </p:sp>
      <p:sp>
        <p:nvSpPr>
          <p:cNvPr id="22532" name="Rectangle 3">
            <a:extLst>
              <a:ext uri="{FF2B5EF4-FFF2-40B4-BE49-F238E27FC236}">
                <a16:creationId xmlns:a16="http://schemas.microsoft.com/office/drawing/2014/main" id="{E1D9EC45-496C-41F7-9379-E17D4D1310F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066800"/>
            <a:ext cx="8001000" cy="5172075"/>
          </a:xfrm>
        </p:spPr>
        <p:txBody>
          <a:bodyPr/>
          <a:lstStyle/>
          <a:p>
            <a:pPr eaLnBrk="1" hangingPunct="1">
              <a:spcBef>
                <a:spcPct val="15000"/>
              </a:spcBef>
              <a:buFont typeface="Times" panose="02020603050405020304" pitchFamily="18" charset="0"/>
              <a:buNone/>
            </a:pPr>
            <a:r>
              <a:rPr lang="en-US" altLang="it-IT">
                <a:solidFill>
                  <a:srgbClr val="003C75"/>
                </a:solidFill>
              </a:rPr>
              <a:t>What is the shape of an OOL’s name space?</a:t>
            </a:r>
            <a:endParaRPr lang="en-US" altLang="it-IT"/>
          </a:p>
          <a:p>
            <a:pPr eaLnBrk="1" hangingPunct="1"/>
            <a:r>
              <a:rPr lang="en-US" altLang="it-IT"/>
              <a:t>Local storage in objects    (</a:t>
            </a:r>
            <a:r>
              <a:rPr lang="en-US" altLang="it-IT" sz="1600" i="1"/>
              <a:t>both public &amp; private</a:t>
            </a:r>
            <a:r>
              <a:rPr lang="en-US" altLang="it-IT"/>
              <a:t>)</a:t>
            </a:r>
          </a:p>
          <a:p>
            <a:pPr eaLnBrk="1" hangingPunct="1"/>
            <a:r>
              <a:rPr lang="en-US" altLang="it-IT"/>
              <a:t>Storage defined in methods (</a:t>
            </a:r>
            <a:r>
              <a:rPr lang="en-US" altLang="it-IT" sz="1600" i="1"/>
              <a:t>they are procedures</a:t>
            </a:r>
            <a:r>
              <a:rPr lang="en-US" altLang="it-IT"/>
              <a:t>)</a:t>
            </a:r>
          </a:p>
          <a:p>
            <a:pPr lvl="1" eaLnBrk="1" hangingPunct="1">
              <a:spcBef>
                <a:spcPct val="15000"/>
              </a:spcBef>
            </a:pPr>
            <a:r>
              <a:rPr lang="en-US" altLang="it-IT"/>
              <a:t>Local values inside a method</a:t>
            </a:r>
          </a:p>
          <a:p>
            <a:pPr lvl="1" eaLnBrk="1" hangingPunct="1">
              <a:spcBef>
                <a:spcPct val="15000"/>
              </a:spcBef>
            </a:pPr>
            <a:r>
              <a:rPr lang="en-US" altLang="it-IT"/>
              <a:t>Static values with lifetimes beyond methods</a:t>
            </a:r>
          </a:p>
          <a:p>
            <a:pPr eaLnBrk="1" hangingPunct="1"/>
            <a:r>
              <a:rPr lang="en-US" altLang="it-IT"/>
              <a:t>Methods shared among multiple objects</a:t>
            </a:r>
          </a:p>
          <a:p>
            <a:pPr eaLnBrk="1" hangingPunct="1"/>
            <a:r>
              <a:rPr lang="en-US" altLang="it-IT"/>
              <a:t>Global name space for global objects and (</a:t>
            </a:r>
            <a:r>
              <a:rPr lang="en-US" altLang="it-IT" sz="1800" i="1"/>
              <a:t>some?</a:t>
            </a:r>
            <a:r>
              <a:rPr lang="en-US" altLang="it-IT"/>
              <a:t>) code</a:t>
            </a:r>
          </a:p>
          <a:p>
            <a:pPr eaLnBrk="1" hangingPunct="1">
              <a:spcBef>
                <a:spcPct val="75000"/>
              </a:spcBef>
              <a:buFont typeface="Times" panose="02020603050405020304" pitchFamily="18" charset="0"/>
              <a:buNone/>
            </a:pPr>
            <a:r>
              <a:rPr lang="en-US" altLang="it-IT">
                <a:solidFill>
                  <a:srgbClr val="003C75"/>
                </a:solidFill>
              </a:rPr>
              <a:t>Classe</a:t>
            </a:r>
            <a:r>
              <a:rPr lang="en-US" altLang="it-IT"/>
              <a:t>s</a:t>
            </a:r>
          </a:p>
          <a:p>
            <a:pPr eaLnBrk="1" hangingPunct="1"/>
            <a:r>
              <a:rPr lang="en-US" altLang="it-IT"/>
              <a:t>Objects with the same state are grouped into a </a:t>
            </a:r>
            <a:r>
              <a:rPr lang="en-US" altLang="it-IT" i="1" u="sng"/>
              <a:t>class</a:t>
            </a:r>
            <a:endParaRPr lang="en-US" altLang="it-IT" u="sng"/>
          </a:p>
          <a:p>
            <a:pPr lvl="1" eaLnBrk="1" hangingPunct="1">
              <a:spcBef>
                <a:spcPct val="15000"/>
              </a:spcBef>
            </a:pPr>
            <a:r>
              <a:rPr lang="en-US" altLang="it-IT"/>
              <a:t>Same </a:t>
            </a:r>
            <a:r>
              <a:rPr lang="en-US" altLang="it-IT">
                <a:solidFill>
                  <a:srgbClr val="FF0065"/>
                </a:solidFill>
              </a:rPr>
              <a:t>code</a:t>
            </a:r>
            <a:r>
              <a:rPr lang="en-US" altLang="it-IT"/>
              <a:t>, same </a:t>
            </a:r>
            <a:r>
              <a:rPr lang="en-US" altLang="it-IT">
                <a:solidFill>
                  <a:srgbClr val="FF0065"/>
                </a:solidFill>
              </a:rPr>
              <a:t>data</a:t>
            </a:r>
            <a:r>
              <a:rPr lang="en-US" altLang="it-IT"/>
              <a:t>, same </a:t>
            </a:r>
            <a:r>
              <a:rPr lang="en-US" altLang="it-IT">
                <a:solidFill>
                  <a:srgbClr val="FF0065"/>
                </a:solidFill>
              </a:rPr>
              <a:t>naming environment</a:t>
            </a:r>
            <a:endParaRPr lang="en-US" altLang="it-IT">
              <a:solidFill>
                <a:srgbClr val="FF0000"/>
              </a:solidFill>
            </a:endParaRPr>
          </a:p>
          <a:p>
            <a:pPr lvl="1" eaLnBrk="1" hangingPunct="1">
              <a:spcBef>
                <a:spcPct val="15000"/>
              </a:spcBef>
            </a:pPr>
            <a:r>
              <a:rPr lang="en-US" altLang="it-IT"/>
              <a:t>Class members are static &amp; shared among instances of the class</a:t>
            </a:r>
          </a:p>
          <a:p>
            <a:pPr eaLnBrk="1" hangingPunct="1"/>
            <a:r>
              <a:rPr lang="en-US" altLang="it-IT"/>
              <a:t>Allows abstraction-oriented naming </a:t>
            </a:r>
          </a:p>
          <a:p>
            <a:pPr eaLnBrk="1" hangingPunct="1"/>
            <a:r>
              <a:rPr lang="en-US" altLang="it-IT"/>
              <a:t>Should foster code reuse in both source &amp; implementation</a:t>
            </a:r>
          </a:p>
        </p:txBody>
      </p:sp>
      <p:sp>
        <p:nvSpPr>
          <p:cNvPr id="9220" name="Text Box 4">
            <a:extLst>
              <a:ext uri="{FF2B5EF4-FFF2-40B4-BE49-F238E27FC236}">
                <a16:creationId xmlns:a16="http://schemas.microsoft.com/office/drawing/2014/main" id="{7E5422C9-7023-4035-B586-5C2045558D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45288" y="1524000"/>
            <a:ext cx="2246312" cy="1281113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 cap="flat" cmpd="sng" algn="ctr">
            <a:solidFill>
              <a:srgbClr val="7F7F7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25000"/>
              </a:spcBef>
              <a:defRPr/>
            </a:pPr>
            <a:r>
              <a:rPr lang="en-US" sz="1400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In some </a:t>
            </a:r>
            <a:r>
              <a:rPr lang="en-US" sz="1400" dirty="0" err="1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OOLs</a:t>
            </a:r>
            <a:r>
              <a:rPr lang="en-US" sz="1400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, everything is an object.</a:t>
            </a:r>
          </a:p>
          <a:p>
            <a:pPr eaLnBrk="0" hangingPunct="0">
              <a:spcBef>
                <a:spcPct val="50000"/>
              </a:spcBef>
              <a:defRPr/>
            </a:pPr>
            <a:r>
              <a:rPr lang="en-US" sz="1400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In others, variables        co-exist with objects &amp; inside objects.</a:t>
            </a:r>
          </a:p>
        </p:txBody>
      </p:sp>
      <p:grpSp>
        <p:nvGrpSpPr>
          <p:cNvPr id="22534" name="Group 8">
            <a:extLst>
              <a:ext uri="{FF2B5EF4-FFF2-40B4-BE49-F238E27FC236}">
                <a16:creationId xmlns:a16="http://schemas.microsoft.com/office/drawing/2014/main" id="{1FDF4F2E-4686-406D-BB97-694E2387B790}"/>
              </a:ext>
            </a:extLst>
          </p:cNvPr>
          <p:cNvGrpSpPr>
            <a:grpSpLocks/>
          </p:cNvGrpSpPr>
          <p:nvPr/>
        </p:nvGrpSpPr>
        <p:grpSpPr bwMode="auto">
          <a:xfrm>
            <a:off x="3810000" y="3827463"/>
            <a:ext cx="1341438" cy="587375"/>
            <a:chOff x="3816292" y="3448847"/>
            <a:chExt cx="1341438" cy="588165"/>
          </a:xfrm>
        </p:grpSpPr>
        <p:sp>
          <p:nvSpPr>
            <p:cNvPr id="22535" name="Line 6">
              <a:extLst>
                <a:ext uri="{FF2B5EF4-FFF2-40B4-BE49-F238E27FC236}">
                  <a16:creationId xmlns:a16="http://schemas.microsoft.com/office/drawing/2014/main" id="{D76618AC-F9B4-480E-B2CA-697CACE752E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21010" y="3671887"/>
              <a:ext cx="1079500" cy="365125"/>
            </a:xfrm>
            <a:prstGeom prst="line">
              <a:avLst/>
            </a:prstGeom>
            <a:noFill/>
            <a:ln w="28575">
              <a:solidFill>
                <a:srgbClr val="FF006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22536" name="Text Box 7">
              <a:extLst>
                <a:ext uri="{FF2B5EF4-FFF2-40B4-BE49-F238E27FC236}">
                  <a16:creationId xmlns:a16="http://schemas.microsoft.com/office/drawing/2014/main" id="{4FAD1CCA-E9B6-42D2-91A7-833BB7AF55C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1076158">
              <a:off x="3816292" y="3448847"/>
              <a:ext cx="1341438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it-IT">
                  <a:solidFill>
                    <a:srgbClr val="FF0065"/>
                  </a:solidFill>
                </a:rPr>
                <a:t>members</a:t>
              </a:r>
            </a:p>
          </p:txBody>
        </p:sp>
      </p:grpSp>
    </p:spTree>
  </p:cSld>
  <p:clrMapOvr>
    <a:masterClrMapping/>
  </p:clrMapOvr>
  <p:transition>
    <p:wipe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Footer Placeholder 3">
            <a:extLst>
              <a:ext uri="{FF2B5EF4-FFF2-40B4-BE49-F238E27FC236}">
                <a16:creationId xmlns:a16="http://schemas.microsoft.com/office/drawing/2014/main" id="{0D03AF74-EEDB-4979-BCD2-8CF34F66CF1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24578" name="Slide Number Placeholder 4">
            <a:extLst>
              <a:ext uri="{FF2B5EF4-FFF2-40B4-BE49-F238E27FC236}">
                <a16:creationId xmlns:a16="http://schemas.microsoft.com/office/drawing/2014/main" id="{0E5F2B66-8036-44CD-8E97-BC08767831B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47BFFD24-9520-49D5-91D5-29805ACF6E14}" type="slidenum">
              <a:rPr lang="en-US" altLang="it-IT"/>
              <a:pPr/>
              <a:t>5</a:t>
            </a:fld>
            <a:endParaRPr lang="en-US" altLang="it-IT"/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6910EACE-4111-4F66-B1F9-4E7401D03C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Implementing Object-Oriented Languages</a:t>
            </a:r>
          </a:p>
        </p:txBody>
      </p:sp>
      <p:sp>
        <p:nvSpPr>
          <p:cNvPr id="24580" name="Rectangle 3">
            <a:extLst>
              <a:ext uri="{FF2B5EF4-FFF2-40B4-BE49-F238E27FC236}">
                <a16:creationId xmlns:a16="http://schemas.microsoft.com/office/drawing/2014/main" id="{59F10CCB-0E9F-4AFC-A063-3E64F5B14F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066800"/>
            <a:ext cx="8077200" cy="5245100"/>
          </a:xfrm>
        </p:spPr>
        <p:txBody>
          <a:bodyPr/>
          <a:lstStyle/>
          <a:p>
            <a:pPr eaLnBrk="1" hangingPunct="1">
              <a:buFont typeface="Times" panose="02020603050405020304" pitchFamily="18" charset="0"/>
              <a:buNone/>
            </a:pPr>
            <a:r>
              <a:rPr lang="en-US" altLang="it-IT">
                <a:solidFill>
                  <a:srgbClr val="003C75"/>
                </a:solidFill>
              </a:rPr>
              <a:t>So, what can an executing method access?</a:t>
            </a:r>
            <a:endParaRPr lang="en-US" altLang="it-IT"/>
          </a:p>
          <a:p>
            <a:pPr eaLnBrk="1" hangingPunct="1"/>
            <a:r>
              <a:rPr lang="en-US" altLang="it-IT"/>
              <a:t>Names defined by the method</a:t>
            </a:r>
          </a:p>
          <a:p>
            <a:pPr lvl="1" eaLnBrk="1" hangingPunct="1">
              <a:spcBef>
                <a:spcPts val="300"/>
              </a:spcBef>
            </a:pPr>
            <a:r>
              <a:rPr lang="en-US" altLang="it-IT" i="1"/>
              <a:t>And its surrounding lexical context</a:t>
            </a:r>
          </a:p>
          <a:p>
            <a:pPr eaLnBrk="1" hangingPunct="1"/>
            <a:r>
              <a:rPr lang="en-US" altLang="it-IT"/>
              <a:t>The receiving object’s data members</a:t>
            </a:r>
          </a:p>
          <a:p>
            <a:pPr lvl="1" eaLnBrk="1" hangingPunct="1">
              <a:spcBef>
                <a:spcPts val="300"/>
              </a:spcBef>
            </a:pPr>
            <a:r>
              <a:rPr lang="en-US" altLang="it-IT"/>
              <a:t>Smalltalk terminology: </a:t>
            </a:r>
            <a:r>
              <a:rPr lang="en-US" altLang="it-IT" i="1">
                <a:solidFill>
                  <a:srgbClr val="003C75"/>
                </a:solidFill>
              </a:rPr>
              <a:t>instance variables</a:t>
            </a:r>
            <a:r>
              <a:rPr lang="en-US" altLang="it-IT" i="1">
                <a:solidFill>
                  <a:srgbClr val="FF0000"/>
                </a:solidFill>
              </a:rPr>
              <a:t> </a:t>
            </a:r>
            <a:endParaRPr lang="en-US" altLang="it-IT"/>
          </a:p>
          <a:p>
            <a:pPr eaLnBrk="1" hangingPunct="1"/>
            <a:r>
              <a:rPr lang="en-US" altLang="it-IT"/>
              <a:t>The code &amp; data members of the class that defines it </a:t>
            </a:r>
          </a:p>
          <a:p>
            <a:pPr lvl="1" eaLnBrk="1" hangingPunct="1">
              <a:spcBef>
                <a:spcPts val="300"/>
              </a:spcBef>
            </a:pPr>
            <a:r>
              <a:rPr lang="en-US" altLang="it-IT" i="1"/>
              <a:t>And its context from inheritance</a:t>
            </a:r>
          </a:p>
          <a:p>
            <a:pPr lvl="1" eaLnBrk="1" hangingPunct="1">
              <a:spcBef>
                <a:spcPts val="300"/>
              </a:spcBef>
            </a:pPr>
            <a:r>
              <a:rPr lang="en-US" altLang="it-IT"/>
              <a:t>Smalltalk terminology: </a:t>
            </a:r>
            <a:r>
              <a:rPr lang="en-US" altLang="it-IT" i="1">
                <a:solidFill>
                  <a:srgbClr val="003C75"/>
                </a:solidFill>
              </a:rPr>
              <a:t>class variables and methods</a:t>
            </a:r>
          </a:p>
          <a:p>
            <a:pPr eaLnBrk="1" hangingPunct="1"/>
            <a:r>
              <a:rPr lang="en-US" altLang="it-IT"/>
              <a:t>Any object defined in the global name space                </a:t>
            </a:r>
          </a:p>
          <a:p>
            <a:pPr eaLnBrk="1" hangingPunct="1">
              <a:buFont typeface="Times" panose="02020603050405020304" pitchFamily="18" charset="0"/>
              <a:buNone/>
            </a:pPr>
            <a:r>
              <a:rPr lang="en-US" altLang="it-IT"/>
              <a:t>The method might need the address for any of these objects</a:t>
            </a:r>
          </a:p>
          <a:p>
            <a:pPr eaLnBrk="1" hangingPunct="1">
              <a:spcBef>
                <a:spcPct val="100000"/>
              </a:spcBef>
              <a:buFont typeface="Times" panose="02020603050405020304" pitchFamily="18" charset="0"/>
              <a:buNone/>
            </a:pPr>
            <a:r>
              <a:rPr lang="en-US" altLang="it-IT">
                <a:solidFill>
                  <a:srgbClr val="003C75"/>
                </a:solidFill>
              </a:rPr>
              <a:t>An OOL resembles an ALL, with a wildly different name space</a:t>
            </a:r>
          </a:p>
          <a:p>
            <a:pPr eaLnBrk="1" hangingPunct="1"/>
            <a:r>
              <a:rPr lang="en-US" altLang="it-IT"/>
              <a:t>Scoping is relative to hierarchy in the code of an ALL</a:t>
            </a:r>
          </a:p>
          <a:p>
            <a:pPr eaLnBrk="1" hangingPunct="1"/>
            <a:r>
              <a:rPr lang="en-US" altLang="it-IT"/>
              <a:t>Scoping is relative to hierarchy in the data of an ALL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CD70BF-A97F-461B-8962-6819C1B3DF17}"/>
              </a:ext>
            </a:extLst>
          </p:cNvPr>
          <p:cNvSpPr txBox="1"/>
          <p:nvPr/>
        </p:nvSpPr>
        <p:spPr>
          <a:xfrm>
            <a:off x="6248400" y="1295400"/>
            <a:ext cx="2667000" cy="338138"/>
          </a:xfrm>
          <a:prstGeom prst="rect">
            <a:avLst/>
          </a:prstGeom>
          <a:solidFill>
            <a:srgbClr val="BFBFBF"/>
          </a:solidFill>
          <a:ln w="19050" cap="flat" cmpd="sng" algn="ctr">
            <a:solidFill>
              <a:srgbClr val="7F7F7F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>
              <a:srgbClr val="000000">
                <a:alpha val="43000"/>
              </a:srgbClr>
            </a:outerShdw>
          </a:effectLst>
        </p:spPr>
        <p:txBody>
          <a:bodyPr>
            <a:spAutoFit/>
          </a:bodyPr>
          <a:lstStyle/>
          <a:p>
            <a:pPr eaLnBrk="0" hangingPunct="0">
              <a:defRPr/>
            </a:pPr>
            <a:r>
              <a:rPr lang="en-US" sz="1600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The fundamental question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5AD7C5-FFF0-41E3-9DCC-69250628A973}"/>
              </a:ext>
            </a:extLst>
          </p:cNvPr>
          <p:cNvSpPr txBox="1"/>
          <p:nvPr/>
        </p:nvSpPr>
        <p:spPr>
          <a:xfrm>
            <a:off x="7315200" y="3200400"/>
            <a:ext cx="1600200" cy="523875"/>
          </a:xfrm>
          <a:prstGeom prst="rect">
            <a:avLst/>
          </a:prstGeom>
          <a:solidFill>
            <a:srgbClr val="BFBFBF"/>
          </a:solidFill>
          <a:ln w="19050" cap="flat" cmpd="sng" algn="ctr">
            <a:solidFill>
              <a:srgbClr val="7F7F7F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>
              <a:srgbClr val="000000">
                <a:alpha val="43000"/>
              </a:srgbClr>
            </a:outerShdw>
          </a:effectLst>
        </p:spPr>
        <p:txBody>
          <a:bodyPr>
            <a:spAutoFit/>
          </a:bodyPr>
          <a:lstStyle/>
          <a:p>
            <a:pPr eaLnBrk="0" hangingPunct="0">
              <a:defRPr/>
            </a:pPr>
            <a:r>
              <a:rPr lang="en-US" sz="1400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Inheritance adds some twists.</a:t>
            </a:r>
          </a:p>
        </p:txBody>
      </p:sp>
    </p:spTree>
  </p:cSld>
  <p:clrMapOvr>
    <a:masterClrMapping/>
  </p:clrMapOvr>
  <p:transition>
    <p:wipe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Footer Placeholder 3">
            <a:extLst>
              <a:ext uri="{FF2B5EF4-FFF2-40B4-BE49-F238E27FC236}">
                <a16:creationId xmlns:a16="http://schemas.microsoft.com/office/drawing/2014/main" id="{CCB5EBFC-10DA-48CD-827E-0A670035936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26626" name="Slide Number Placeholder 4">
            <a:extLst>
              <a:ext uri="{FF2B5EF4-FFF2-40B4-BE49-F238E27FC236}">
                <a16:creationId xmlns:a16="http://schemas.microsoft.com/office/drawing/2014/main" id="{E5BC34F4-C330-43BF-8167-FA8F34A414E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C50DD53A-BC3B-4679-B17D-511FDCB0D480}" type="slidenum">
              <a:rPr lang="en-US" altLang="it-IT"/>
              <a:pPr/>
              <a:t>6</a:t>
            </a:fld>
            <a:endParaRPr lang="en-US" altLang="it-IT"/>
          </a:p>
        </p:txBody>
      </p:sp>
      <p:sp>
        <p:nvSpPr>
          <p:cNvPr id="26627" name="Rectangle 2">
            <a:extLst>
              <a:ext uri="{FF2B5EF4-FFF2-40B4-BE49-F238E27FC236}">
                <a16:creationId xmlns:a16="http://schemas.microsoft.com/office/drawing/2014/main" id="{6E7C4EBD-1F36-4DBF-8710-E076BFAD7B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Concrete Example: The Java Name Space</a:t>
            </a:r>
          </a:p>
        </p:txBody>
      </p:sp>
      <p:sp>
        <p:nvSpPr>
          <p:cNvPr id="26628" name="Rectangle 3">
            <a:extLst>
              <a:ext uri="{FF2B5EF4-FFF2-40B4-BE49-F238E27FC236}">
                <a16:creationId xmlns:a16="http://schemas.microsoft.com/office/drawing/2014/main" id="{B2CECC8C-5FBF-4816-914D-3EBBA87E36B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066800"/>
            <a:ext cx="7848600" cy="5168900"/>
          </a:xfrm>
        </p:spPr>
        <p:txBody>
          <a:bodyPr/>
          <a:lstStyle/>
          <a:p>
            <a:pPr eaLnBrk="1" hangingPunct="1">
              <a:buFont typeface="Times" panose="02020603050405020304" pitchFamily="18" charset="0"/>
              <a:buNone/>
            </a:pPr>
            <a:r>
              <a:rPr lang="en-US" altLang="it-IT">
                <a:solidFill>
                  <a:srgbClr val="003C75"/>
                </a:solidFill>
              </a:rPr>
              <a:t>Code within a method M for object O of class C can see:</a:t>
            </a:r>
          </a:p>
          <a:p>
            <a:pPr eaLnBrk="1" hangingPunct="1"/>
            <a:r>
              <a:rPr lang="en-US" altLang="it-IT"/>
              <a:t>Local variables declared within M 		      (</a:t>
            </a:r>
            <a:r>
              <a:rPr lang="en-US" altLang="it-IT" sz="1800" i="1"/>
              <a:t>lexical scoping</a:t>
            </a:r>
            <a:r>
              <a:rPr lang="en-US" altLang="it-IT"/>
              <a:t>)</a:t>
            </a:r>
          </a:p>
          <a:p>
            <a:pPr eaLnBrk="1" hangingPunct="1"/>
            <a:r>
              <a:rPr lang="en-US" altLang="it-IT"/>
              <a:t>All instance variables &amp; class variables of C</a:t>
            </a:r>
          </a:p>
          <a:p>
            <a:pPr eaLnBrk="1" hangingPunct="1"/>
            <a:r>
              <a:rPr lang="en-US" altLang="it-IT"/>
              <a:t>All public and protected variables of any </a:t>
            </a:r>
            <a:r>
              <a:rPr lang="en-US" altLang="it-IT" i="1" u="sng"/>
              <a:t>superclass</a:t>
            </a:r>
            <a:r>
              <a:rPr lang="en-US" altLang="it-IT"/>
              <a:t> of C</a:t>
            </a:r>
          </a:p>
          <a:p>
            <a:pPr eaLnBrk="1" hangingPunct="1"/>
            <a:r>
              <a:rPr lang="en-US" altLang="it-IT"/>
              <a:t>Classes defined in the same package as C or in any explicitly imported package</a:t>
            </a:r>
          </a:p>
          <a:p>
            <a:pPr lvl="1" eaLnBrk="1" hangingPunct="1"/>
            <a:r>
              <a:rPr lang="en-US" altLang="it-IT"/>
              <a:t>public class variables and public instance variables of imported classes</a:t>
            </a:r>
          </a:p>
          <a:p>
            <a:pPr lvl="1" eaLnBrk="1" hangingPunct="1"/>
            <a:r>
              <a:rPr lang="en-US" altLang="it-IT"/>
              <a:t>package class and instance variables in the package containing C</a:t>
            </a:r>
          </a:p>
          <a:p>
            <a:pPr eaLnBrk="1" hangingPunct="1"/>
            <a:r>
              <a:rPr lang="en-US" altLang="it-IT"/>
              <a:t>Class declarations can be nested!</a:t>
            </a:r>
          </a:p>
          <a:p>
            <a:pPr lvl="1" eaLnBrk="1" hangingPunct="1"/>
            <a:r>
              <a:rPr lang="en-US" altLang="it-IT"/>
              <a:t>These member declarations hide outer class declarations of the same name  			                    (</a:t>
            </a:r>
            <a:r>
              <a:rPr lang="en-US" altLang="it-IT" i="1"/>
              <a:t>lexical scoping</a:t>
            </a:r>
            <a:r>
              <a:rPr lang="en-US" altLang="it-IT"/>
              <a:t>)</a:t>
            </a:r>
          </a:p>
          <a:p>
            <a:pPr lvl="1" eaLnBrk="1" hangingPunct="1"/>
            <a:r>
              <a:rPr lang="en-US" altLang="it-IT"/>
              <a:t>Accessibility: public, private, protected, package </a:t>
            </a:r>
          </a:p>
        </p:txBody>
      </p:sp>
      <p:grpSp>
        <p:nvGrpSpPr>
          <p:cNvPr id="26629" name="Group 19">
            <a:extLst>
              <a:ext uri="{FF2B5EF4-FFF2-40B4-BE49-F238E27FC236}">
                <a16:creationId xmlns:a16="http://schemas.microsoft.com/office/drawing/2014/main" id="{208D199C-3F1F-450A-BFAC-DA3EFA67E844}"/>
              </a:ext>
            </a:extLst>
          </p:cNvPr>
          <p:cNvGrpSpPr>
            <a:grpSpLocks/>
          </p:cNvGrpSpPr>
          <p:nvPr/>
        </p:nvGrpSpPr>
        <p:grpSpPr bwMode="auto">
          <a:xfrm>
            <a:off x="4724400" y="2209800"/>
            <a:ext cx="4156075" cy="4243388"/>
            <a:chOff x="2976" y="1392"/>
            <a:chExt cx="2618" cy="2673"/>
          </a:xfrm>
        </p:grpSpPr>
        <p:sp>
          <p:nvSpPr>
            <p:cNvPr id="27662" name="Text Box 6">
              <a:extLst>
                <a:ext uri="{FF2B5EF4-FFF2-40B4-BE49-F238E27FC236}">
                  <a16:creationId xmlns:a16="http://schemas.microsoft.com/office/drawing/2014/main" id="{598A912F-5B8E-4E74-B6B2-E27B3A0852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76" y="3699"/>
              <a:ext cx="1778" cy="366"/>
            </a:xfrm>
            <a:prstGeom prst="rect">
              <a:avLst/>
            </a:prstGeom>
            <a:solidFill>
              <a:srgbClr val="BFBFBF"/>
            </a:solidFill>
            <a:ln w="19050" cap="flat" cmpd="sng" algn="ctr">
              <a:solidFill>
                <a:srgbClr val="7F7F7F"/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outerShdw blurRad="50800" dist="38100" dir="2700000">
                <a:srgbClr val="000000">
                  <a:alpha val="43000"/>
                </a:srgbClr>
              </a:outerShdw>
            </a:effectLst>
          </p:spPr>
          <p:txBody>
            <a:bodyPr>
              <a:spAutoFit/>
            </a:bodyPr>
            <a:lstStyle/>
            <a:p>
              <a:pPr algn="r" eaLnBrk="0" hangingPunct="0">
                <a:spcBef>
                  <a:spcPct val="50000"/>
                </a:spcBef>
                <a:defRPr/>
              </a:pPr>
              <a:r>
                <a:rPr lang="en-US" sz="1600" i="1" dirty="0" err="1">
                  <a:solidFill>
                    <a:srgbClr val="003C75"/>
                  </a:solidFill>
                  <a:latin typeface="Comic Sans MS" charset="0"/>
                  <a:ea typeface="ヒラギノ角ゴ Pro W3" charset="-128"/>
                  <a:cs typeface="ヒラギノ角ゴ Pro W3" charset="-128"/>
                </a:rPr>
                <a:t>Superclass</a:t>
              </a:r>
              <a:r>
                <a:rPr lang="en-US" sz="1600" dirty="0">
                  <a:solidFill>
                    <a:srgbClr val="003C75"/>
                  </a:solidFill>
                  <a:latin typeface="Comic Sans MS" charset="0"/>
                  <a:ea typeface="ヒラギノ角ゴ Pro W3" charset="-128"/>
                  <a:cs typeface="ヒラギノ角ゴ Pro W3" charset="-128"/>
                </a:rPr>
                <a:t> is an ancestor in the inheritance hierarchy</a:t>
              </a:r>
            </a:p>
          </p:txBody>
        </p:sp>
        <p:sp>
          <p:nvSpPr>
            <p:cNvPr id="26637" name="Freeform 8">
              <a:extLst>
                <a:ext uri="{FF2B5EF4-FFF2-40B4-BE49-F238E27FC236}">
                  <a16:creationId xmlns:a16="http://schemas.microsoft.com/office/drawing/2014/main" id="{0BFD3DAB-19A5-460A-9866-CF8FF84412D2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7" y="1392"/>
              <a:ext cx="1107" cy="2410"/>
            </a:xfrm>
            <a:custGeom>
              <a:avLst/>
              <a:gdLst>
                <a:gd name="T0" fmla="*/ 267 w 1107"/>
                <a:gd name="T1" fmla="*/ 2410 h 2475"/>
                <a:gd name="T2" fmla="*/ 815 w 1107"/>
                <a:gd name="T3" fmla="*/ 2158 h 2475"/>
                <a:gd name="T4" fmla="*/ 1067 w 1107"/>
                <a:gd name="T5" fmla="*/ 1445 h 2475"/>
                <a:gd name="T6" fmla="*/ 1052 w 1107"/>
                <a:gd name="T7" fmla="*/ 622 h 2475"/>
                <a:gd name="T8" fmla="*/ 892 w 1107"/>
                <a:gd name="T9" fmla="*/ 155 h 2475"/>
                <a:gd name="T10" fmla="*/ 480 w 1107"/>
                <a:gd name="T11" fmla="*/ 14 h 2475"/>
                <a:gd name="T12" fmla="*/ 0 w 1107"/>
                <a:gd name="T13" fmla="*/ 73 h 247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107"/>
                <a:gd name="T22" fmla="*/ 0 h 2475"/>
                <a:gd name="T23" fmla="*/ 1107 w 1107"/>
                <a:gd name="T24" fmla="*/ 2475 h 2475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107" h="2475">
                  <a:moveTo>
                    <a:pt x="267" y="2475"/>
                  </a:moveTo>
                  <a:cubicBezTo>
                    <a:pt x="474" y="2428"/>
                    <a:pt x="682" y="2381"/>
                    <a:pt x="815" y="2216"/>
                  </a:cubicBezTo>
                  <a:cubicBezTo>
                    <a:pt x="948" y="2051"/>
                    <a:pt x="1027" y="1747"/>
                    <a:pt x="1067" y="1484"/>
                  </a:cubicBezTo>
                  <a:cubicBezTo>
                    <a:pt x="1107" y="1221"/>
                    <a:pt x="1081" y="860"/>
                    <a:pt x="1052" y="639"/>
                  </a:cubicBezTo>
                  <a:cubicBezTo>
                    <a:pt x="1023" y="418"/>
                    <a:pt x="987" y="263"/>
                    <a:pt x="892" y="159"/>
                  </a:cubicBezTo>
                  <a:cubicBezTo>
                    <a:pt x="797" y="55"/>
                    <a:pt x="629" y="28"/>
                    <a:pt x="480" y="14"/>
                  </a:cubicBezTo>
                  <a:cubicBezTo>
                    <a:pt x="331" y="0"/>
                    <a:pt x="165" y="37"/>
                    <a:pt x="0" y="75"/>
                  </a:cubicBezTo>
                </a:path>
              </a:pathLst>
            </a:custGeom>
            <a:noFill/>
            <a:ln w="19050" algn="ctr">
              <a:solidFill>
                <a:srgbClr val="7F7F7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</p:grpSp>
      <p:grpSp>
        <p:nvGrpSpPr>
          <p:cNvPr id="26630" name="Group 18">
            <a:extLst>
              <a:ext uri="{FF2B5EF4-FFF2-40B4-BE49-F238E27FC236}">
                <a16:creationId xmlns:a16="http://schemas.microsoft.com/office/drawing/2014/main" id="{1855B7C8-6635-4B36-A567-4CA1BE4921FB}"/>
              </a:ext>
            </a:extLst>
          </p:cNvPr>
          <p:cNvGrpSpPr>
            <a:grpSpLocks/>
          </p:cNvGrpSpPr>
          <p:nvPr/>
        </p:nvGrpSpPr>
        <p:grpSpPr bwMode="auto">
          <a:xfrm>
            <a:off x="76200" y="2344738"/>
            <a:ext cx="2819400" cy="3903662"/>
            <a:chOff x="48" y="1477"/>
            <a:chExt cx="1776" cy="2459"/>
          </a:xfrm>
        </p:grpSpPr>
        <p:sp>
          <p:nvSpPr>
            <p:cNvPr id="27658" name="Text Box 12">
              <a:extLst>
                <a:ext uri="{FF2B5EF4-FFF2-40B4-BE49-F238E27FC236}">
                  <a16:creationId xmlns:a16="http://schemas.microsoft.com/office/drawing/2014/main" id="{421938DA-F0B9-41DC-B1B0-8E0D3E8C58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8" y="3570"/>
              <a:ext cx="1466" cy="366"/>
            </a:xfrm>
            <a:prstGeom prst="rect">
              <a:avLst/>
            </a:prstGeom>
            <a:solidFill>
              <a:srgbClr val="BFBFBF"/>
            </a:solidFill>
            <a:ln w="19050" cap="flat" cmpd="sng" algn="ctr">
              <a:solidFill>
                <a:srgbClr val="7F7F7F"/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outerShdw blurRad="50800" dist="38100" dir="2700000">
                <a:srgbClr val="000000">
                  <a:alpha val="43000"/>
                </a:srgbClr>
              </a:outerShdw>
            </a:effec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  <a:defRPr/>
              </a:pPr>
              <a:r>
                <a:rPr lang="en-US" sz="1600" dirty="0">
                  <a:solidFill>
                    <a:srgbClr val="003C75"/>
                  </a:solidFill>
                  <a:latin typeface="Comic Sans MS" charset="0"/>
                  <a:ea typeface="ヒラギノ角ゴ Pro W3" charset="-128"/>
                  <a:cs typeface="ヒラギノ角ゴ Pro W3" charset="-128"/>
                </a:rPr>
                <a:t>Both lexical nesting &amp; class hierarchy at play</a:t>
              </a:r>
            </a:p>
          </p:txBody>
        </p:sp>
        <p:sp>
          <p:nvSpPr>
            <p:cNvPr id="26634" name="Freeform 14">
              <a:extLst>
                <a:ext uri="{FF2B5EF4-FFF2-40B4-BE49-F238E27FC236}">
                  <a16:creationId xmlns:a16="http://schemas.microsoft.com/office/drawing/2014/main" id="{98A8E7D3-F1C4-4D27-A715-F22C8E33C986}"/>
                </a:ext>
              </a:extLst>
            </p:cNvPr>
            <p:cNvSpPr>
              <a:spLocks/>
            </p:cNvSpPr>
            <p:nvPr/>
          </p:nvSpPr>
          <p:spPr bwMode="auto">
            <a:xfrm>
              <a:off x="94" y="2850"/>
              <a:ext cx="595" cy="798"/>
            </a:xfrm>
            <a:custGeom>
              <a:avLst/>
              <a:gdLst>
                <a:gd name="T0" fmla="*/ 260 w 595"/>
                <a:gd name="T1" fmla="*/ 798 h 746"/>
                <a:gd name="T2" fmla="*/ 130 w 595"/>
                <a:gd name="T3" fmla="*/ 725 h 746"/>
                <a:gd name="T4" fmla="*/ 77 w 595"/>
                <a:gd name="T5" fmla="*/ 464 h 746"/>
                <a:gd name="T6" fmla="*/ 595 w 595"/>
                <a:gd name="T7" fmla="*/ 0 h 74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95"/>
                <a:gd name="T13" fmla="*/ 0 h 746"/>
                <a:gd name="T14" fmla="*/ 595 w 595"/>
                <a:gd name="T15" fmla="*/ 746 h 74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95" h="746">
                  <a:moveTo>
                    <a:pt x="260" y="746"/>
                  </a:moveTo>
                  <a:cubicBezTo>
                    <a:pt x="210" y="738"/>
                    <a:pt x="161" y="730"/>
                    <a:pt x="130" y="678"/>
                  </a:cubicBezTo>
                  <a:cubicBezTo>
                    <a:pt x="99" y="626"/>
                    <a:pt x="0" y="547"/>
                    <a:pt x="77" y="434"/>
                  </a:cubicBezTo>
                  <a:cubicBezTo>
                    <a:pt x="154" y="321"/>
                    <a:pt x="374" y="160"/>
                    <a:pt x="595" y="0"/>
                  </a:cubicBezTo>
                </a:path>
              </a:pathLst>
            </a:custGeom>
            <a:noFill/>
            <a:ln w="19050" algn="ctr">
              <a:solidFill>
                <a:srgbClr val="7F7F7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26635" name="Freeform 15">
              <a:extLst>
                <a:ext uri="{FF2B5EF4-FFF2-40B4-BE49-F238E27FC236}">
                  <a16:creationId xmlns:a16="http://schemas.microsoft.com/office/drawing/2014/main" id="{4AEF7D3A-189D-49BC-A5C3-B009F004BECE}"/>
                </a:ext>
              </a:extLst>
            </p:cNvPr>
            <p:cNvSpPr>
              <a:spLocks/>
            </p:cNvSpPr>
            <p:nvPr/>
          </p:nvSpPr>
          <p:spPr bwMode="auto">
            <a:xfrm>
              <a:off x="48" y="1477"/>
              <a:ext cx="405" cy="2267"/>
            </a:xfrm>
            <a:custGeom>
              <a:avLst/>
              <a:gdLst>
                <a:gd name="T0" fmla="*/ 306 w 405"/>
                <a:gd name="T1" fmla="*/ 2235 h 2226"/>
                <a:gd name="T2" fmla="*/ 153 w 405"/>
                <a:gd name="T3" fmla="*/ 2213 h 2226"/>
                <a:gd name="T4" fmla="*/ 1 w 405"/>
                <a:gd name="T5" fmla="*/ 1910 h 2226"/>
                <a:gd name="T6" fmla="*/ 161 w 405"/>
                <a:gd name="T7" fmla="*/ 816 h 2226"/>
                <a:gd name="T8" fmla="*/ 192 w 405"/>
                <a:gd name="T9" fmla="*/ 133 h 2226"/>
                <a:gd name="T10" fmla="*/ 405 w 405"/>
                <a:gd name="T11" fmla="*/ 16 h 222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405"/>
                <a:gd name="T19" fmla="*/ 0 h 2226"/>
                <a:gd name="T20" fmla="*/ 405 w 405"/>
                <a:gd name="T21" fmla="*/ 2226 h 222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405" h="2226">
                  <a:moveTo>
                    <a:pt x="306" y="2195"/>
                  </a:moveTo>
                  <a:cubicBezTo>
                    <a:pt x="255" y="2210"/>
                    <a:pt x="204" y="2226"/>
                    <a:pt x="153" y="2173"/>
                  </a:cubicBezTo>
                  <a:cubicBezTo>
                    <a:pt x="102" y="2120"/>
                    <a:pt x="0" y="2104"/>
                    <a:pt x="1" y="1875"/>
                  </a:cubicBezTo>
                  <a:cubicBezTo>
                    <a:pt x="2" y="1646"/>
                    <a:pt x="129" y="1092"/>
                    <a:pt x="161" y="801"/>
                  </a:cubicBezTo>
                  <a:cubicBezTo>
                    <a:pt x="193" y="510"/>
                    <a:pt x="151" y="262"/>
                    <a:pt x="192" y="131"/>
                  </a:cubicBezTo>
                  <a:cubicBezTo>
                    <a:pt x="233" y="0"/>
                    <a:pt x="319" y="8"/>
                    <a:pt x="405" y="16"/>
                  </a:cubicBezTo>
                </a:path>
              </a:pathLst>
            </a:custGeom>
            <a:noFill/>
            <a:ln w="19050" algn="ctr">
              <a:solidFill>
                <a:srgbClr val="7F7F7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</p:grpSp>
      <p:sp>
        <p:nvSpPr>
          <p:cNvPr id="27656" name="Text Box 16">
            <a:extLst>
              <a:ext uri="{FF2B5EF4-FFF2-40B4-BE49-F238E27FC236}">
                <a16:creationId xmlns:a16="http://schemas.microsoft.com/office/drawing/2014/main" id="{3A9589EE-0AF1-493B-944E-073A028021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4827588"/>
            <a:ext cx="725488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lexical</a:t>
            </a:r>
          </a:p>
        </p:txBody>
      </p:sp>
      <p:sp>
        <p:nvSpPr>
          <p:cNvPr id="27657" name="Text Box 17">
            <a:extLst>
              <a:ext uri="{FF2B5EF4-FFF2-40B4-BE49-F238E27FC236}">
                <a16:creationId xmlns:a16="http://schemas.microsoft.com/office/drawing/2014/main" id="{BA3A7442-190D-4C57-8F27-EF5660E703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4288" y="3132138"/>
            <a:ext cx="895351" cy="554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0" hangingPunct="0">
              <a:spcBef>
                <a:spcPts val="0"/>
              </a:spcBef>
              <a:defRPr/>
            </a:pP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class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hierarchy</a:t>
            </a:r>
            <a:endParaRPr lang="en-US" dirty="0">
              <a:solidFill>
                <a:schemeClr val="bg1">
                  <a:lumMod val="50000"/>
                </a:schemeClr>
              </a:solidFill>
              <a:latin typeface="Comic Sans MS" charset="0"/>
              <a:ea typeface="ヒラギノ角ゴ Pro W3" charset="-128"/>
              <a:cs typeface="ヒラギノ角ゴ Pro W3" charset="-128"/>
            </a:endParaRPr>
          </a:p>
        </p:txBody>
      </p:sp>
    </p:spTree>
  </p:cSld>
  <p:clrMapOvr>
    <a:masterClrMapping/>
  </p:clrMapOvr>
  <p:transition>
    <p:wipe dir="r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Footer Placeholder 2">
            <a:extLst>
              <a:ext uri="{FF2B5EF4-FFF2-40B4-BE49-F238E27FC236}">
                <a16:creationId xmlns:a16="http://schemas.microsoft.com/office/drawing/2014/main" id="{32CFCA20-8A8A-4ACB-BBF9-D19FFD040E8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28674" name="Slide Number Placeholder 3">
            <a:extLst>
              <a:ext uri="{FF2B5EF4-FFF2-40B4-BE49-F238E27FC236}">
                <a16:creationId xmlns:a16="http://schemas.microsoft.com/office/drawing/2014/main" id="{D6EF0FE5-2E20-4431-98BF-2CA34BDE775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7FD522E9-6D88-419C-9502-D3BDDFEF31D3}" type="slidenum">
              <a:rPr lang="en-US" altLang="it-IT"/>
              <a:pPr/>
              <a:t>7</a:t>
            </a:fld>
            <a:endParaRPr lang="en-US" altLang="it-IT"/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73C009C7-A747-46C9-ADFA-4F6EC415650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The Java Name Space</a:t>
            </a:r>
          </a:p>
        </p:txBody>
      </p:sp>
      <p:sp>
        <p:nvSpPr>
          <p:cNvPr id="28676" name="Text Box 3">
            <a:extLst>
              <a:ext uri="{FF2B5EF4-FFF2-40B4-BE49-F238E27FC236}">
                <a16:creationId xmlns:a16="http://schemas.microsoft.com/office/drawing/2014/main" id="{44494F57-CA60-4FA1-901C-E7205706F8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6913" y="1092200"/>
            <a:ext cx="7813675" cy="4492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174625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defTabSz="174625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defTabSz="174625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defTabSz="174625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defTabSz="174625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defTabSz="1746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defTabSz="1746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defTabSz="1746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defTabSz="1746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 sz="1600"/>
              <a:t>Class Point {</a:t>
            </a:r>
          </a:p>
          <a:p>
            <a:r>
              <a:rPr lang="en-US" altLang="it-IT" sz="1600"/>
              <a:t>		public int x, y;</a:t>
            </a:r>
          </a:p>
          <a:p>
            <a:r>
              <a:rPr lang="en-US" altLang="it-IT" sz="1600"/>
              <a:t>		public void draw();</a:t>
            </a:r>
          </a:p>
          <a:p>
            <a:r>
              <a:rPr lang="en-US" altLang="it-IT" sz="1600"/>
              <a:t>}</a:t>
            </a:r>
          </a:p>
          <a:p>
            <a:r>
              <a:rPr lang="en-US" altLang="it-IT" sz="1600"/>
              <a:t>Class ColorPoint extends Point {	 					// inherits x, y, &amp; draw() from Point</a:t>
            </a:r>
          </a:p>
          <a:p>
            <a:r>
              <a:rPr lang="en-US" altLang="it-IT" sz="1600"/>
              <a:t>		Color c;																 // local data</a:t>
            </a:r>
          </a:p>
          <a:p>
            <a:r>
              <a:rPr lang="en-US" altLang="it-IT" sz="1600"/>
              <a:t>		public void draw() {…} 									 // override (hide) Point’s draw</a:t>
            </a:r>
          </a:p>
          <a:p>
            <a:r>
              <a:rPr lang="en-US" altLang="it-IT" sz="1600"/>
              <a:t>		public void test() { y = x; draw(); }		 //  local code</a:t>
            </a:r>
          </a:p>
          <a:p>
            <a:r>
              <a:rPr lang="en-US" altLang="it-IT" sz="1600"/>
              <a:t>}</a:t>
            </a:r>
          </a:p>
          <a:p>
            <a:r>
              <a:rPr lang="en-US" altLang="it-IT" sz="1600"/>
              <a:t>Class C {																		 // independent of Point &amp; ColorPoint</a:t>
            </a:r>
          </a:p>
          <a:p>
            <a:r>
              <a:rPr lang="en-US" altLang="it-IT" sz="1600"/>
              <a:t>		int x, y;																// local data</a:t>
            </a:r>
          </a:p>
          <a:p>
            <a:r>
              <a:rPr lang="en-US" altLang="it-IT" sz="1600"/>
              <a:t>		public void m() 												 // local code</a:t>
            </a:r>
          </a:p>
          <a:p>
            <a:r>
              <a:rPr lang="en-US" altLang="it-IT" sz="1600"/>
              <a:t>		{ </a:t>
            </a:r>
          </a:p>
          <a:p>
            <a:r>
              <a:rPr lang="en-US" altLang="it-IT" sz="1600"/>
              <a:t>				Point p = new ColorPoint(); 				 // uses ColorPoint, and, by inheritance</a:t>
            </a:r>
          </a:p>
          <a:p>
            <a:r>
              <a:rPr lang="en-US" altLang="it-IT" sz="1600"/>
              <a:t>				y = p.x; 													   // the definitions from Point</a:t>
            </a:r>
          </a:p>
          <a:p>
            <a:r>
              <a:rPr lang="en-US" altLang="it-IT" sz="1600"/>
              <a:t>				p.draw();</a:t>
            </a:r>
          </a:p>
          <a:p>
            <a:r>
              <a:rPr lang="en-US" altLang="it-IT" sz="1600"/>
              <a:t>		}</a:t>
            </a:r>
          </a:p>
          <a:p>
            <a:r>
              <a:rPr lang="en-US" altLang="it-IT" sz="1600"/>
              <a:t>}</a:t>
            </a:r>
          </a:p>
        </p:txBody>
      </p:sp>
      <p:sp>
        <p:nvSpPr>
          <p:cNvPr id="17412" name="Text Box 4">
            <a:extLst>
              <a:ext uri="{FF2B5EF4-FFF2-40B4-BE49-F238E27FC236}">
                <a16:creationId xmlns:a16="http://schemas.microsoft.com/office/drawing/2014/main" id="{54C27506-C6C6-4390-BF44-20E58B9AA8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64300" y="1360488"/>
            <a:ext cx="2386013" cy="660400"/>
          </a:xfrm>
          <a:prstGeom prst="rect">
            <a:avLst/>
          </a:prstGeom>
          <a:solidFill>
            <a:srgbClr val="BFBFBF"/>
          </a:solidFill>
          <a:ln w="19050" cap="flat" cmpd="sng" algn="ctr">
            <a:solidFill>
              <a:srgbClr val="7F7F7F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63500" dist="38099" dir="2700000" algn="ctr" rotWithShape="0">
              <a:schemeClr val="bg2">
                <a:alpha val="74998"/>
              </a:schemeClr>
            </a:outerShdw>
          </a:effec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 dirty="0">
                <a:solidFill>
                  <a:srgbClr val="000000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We will use and extend this example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Footer Placeholder 3">
            <a:extLst>
              <a:ext uri="{FF2B5EF4-FFF2-40B4-BE49-F238E27FC236}">
                <a16:creationId xmlns:a16="http://schemas.microsoft.com/office/drawing/2014/main" id="{8EB2B4E3-8766-4859-A2AF-D67D61AEF84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30722" name="Slide Number Placeholder 4">
            <a:extLst>
              <a:ext uri="{FF2B5EF4-FFF2-40B4-BE49-F238E27FC236}">
                <a16:creationId xmlns:a16="http://schemas.microsoft.com/office/drawing/2014/main" id="{F2E14B72-D337-42E3-B7D4-7A876C47741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8ABF2D5F-7414-4483-B095-AEFEDC75E29E}" type="slidenum">
              <a:rPr lang="en-US" altLang="it-IT"/>
              <a:pPr/>
              <a:t>8</a:t>
            </a:fld>
            <a:endParaRPr lang="en-US" altLang="it-IT"/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5C636D90-2E6F-49CE-8E4C-FC26352FB10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Java Symbol Tables</a:t>
            </a:r>
          </a:p>
        </p:txBody>
      </p:sp>
      <p:sp>
        <p:nvSpPr>
          <p:cNvPr id="30724" name="Rectangle 3">
            <a:extLst>
              <a:ext uri="{FF2B5EF4-FFF2-40B4-BE49-F238E27FC236}">
                <a16:creationId xmlns:a16="http://schemas.microsoft.com/office/drawing/2014/main" id="{A2A66641-F14F-4197-BC31-3C0FD2321F7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143000"/>
            <a:ext cx="7924800" cy="4953000"/>
          </a:xfrm>
        </p:spPr>
        <p:txBody>
          <a:bodyPr/>
          <a:lstStyle/>
          <a:p>
            <a:pPr eaLnBrk="1" hangingPunct="1">
              <a:buFont typeface="Times" panose="02020603050405020304" pitchFamily="18" charset="0"/>
              <a:buNone/>
            </a:pPr>
            <a:r>
              <a:rPr lang="en-US" altLang="it-IT">
                <a:solidFill>
                  <a:srgbClr val="003C75"/>
                </a:solidFill>
              </a:rPr>
              <a:t>To compile method M of object O in class C, the compiler needs: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it-IT"/>
              <a:t>Lexically scoped symbol table for the current block and its surrounding scopes </a:t>
            </a:r>
          </a:p>
          <a:p>
            <a:pPr lvl="1" eaLnBrk="1" hangingPunct="1"/>
            <a:r>
              <a:rPr lang="en-US" altLang="it-IT"/>
              <a:t>Just like ALL — inner declarations hide outer declarations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it-IT"/>
              <a:t>Chain of symbol tables for inheritance</a:t>
            </a:r>
          </a:p>
          <a:p>
            <a:pPr lvl="1" eaLnBrk="1" hangingPunct="1"/>
            <a:r>
              <a:rPr lang="en-US" altLang="it-IT"/>
              <a:t>Class C and all of its superclasses</a:t>
            </a:r>
          </a:p>
          <a:p>
            <a:pPr lvl="1" eaLnBrk="1" hangingPunct="1"/>
            <a:r>
              <a:rPr lang="en-US" altLang="it-IT"/>
              <a:t>Need to find methods and instance variables in any superclass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it-IT"/>
              <a:t>Symbol tables for all global classes (package scope)</a:t>
            </a:r>
          </a:p>
          <a:p>
            <a:pPr lvl="1" eaLnBrk="1" hangingPunct="1"/>
            <a:r>
              <a:rPr lang="en-US" altLang="it-IT"/>
              <a:t>Entries for all members with visibility</a:t>
            </a:r>
          </a:p>
          <a:p>
            <a:pPr lvl="1" eaLnBrk="1" hangingPunct="1"/>
            <a:r>
              <a:rPr lang="en-US" altLang="it-IT"/>
              <a:t>Need to construct symbol tables for imported packages and link them into the structure in appropriate places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FB494A-2860-4736-971E-C2F7D951FA0E}"/>
              </a:ext>
            </a:extLst>
          </p:cNvPr>
          <p:cNvSpPr txBox="1"/>
          <p:nvPr/>
        </p:nvSpPr>
        <p:spPr>
          <a:xfrm>
            <a:off x="1219200" y="5434013"/>
            <a:ext cx="6705600" cy="661987"/>
          </a:xfrm>
          <a:prstGeom prst="rect">
            <a:avLst/>
          </a:prstGeom>
          <a:solidFill>
            <a:srgbClr val="BFBFBF"/>
          </a:solidFill>
          <a:ln w="19050" cap="flat" cmpd="sng" algn="ctr">
            <a:solidFill>
              <a:srgbClr val="7F7F7F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>
              <a:srgbClr val="000000">
                <a:alpha val="43000"/>
              </a:srgbClr>
            </a:outerShdw>
          </a:effectLst>
        </p:spPr>
        <p:txBody>
          <a:bodyPr>
            <a:spAutoFit/>
          </a:bodyPr>
          <a:lstStyle/>
          <a:p>
            <a:pPr algn="ctr" eaLnBrk="0" hangingPunct="0">
              <a:defRPr/>
            </a:pPr>
            <a:r>
              <a:rPr lang="en-US" sz="1600" i="1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Three sets of tables for name resolution</a:t>
            </a:r>
          </a:p>
          <a:p>
            <a:pPr algn="ctr" eaLnBrk="0" hangingPunct="0">
              <a:spcBef>
                <a:spcPts val="600"/>
              </a:spcBef>
              <a:defRPr/>
            </a:pPr>
            <a:r>
              <a:rPr lang="en-US" sz="1600" i="1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In an ALL, we could combine 1 &amp; 3 for a single unified set of tables.</a:t>
            </a:r>
          </a:p>
        </p:txBody>
      </p:sp>
    </p:spTree>
  </p:cSld>
  <p:clrMapOvr>
    <a:masterClrMapping/>
  </p:clrMapOvr>
  <p:transition>
    <p:wipe dir="r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Title 1">
            <a:extLst>
              <a:ext uri="{FF2B5EF4-FFF2-40B4-BE49-F238E27FC236}">
                <a16:creationId xmlns:a16="http://schemas.microsoft.com/office/drawing/2014/main" id="{7482B078-AD21-4C71-89ED-32E72AB062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it-IT"/>
              <a:t>OOL Symbol Tables</a:t>
            </a:r>
          </a:p>
        </p:txBody>
      </p:sp>
      <p:sp>
        <p:nvSpPr>
          <p:cNvPr id="32770" name="Content Placeholder 2">
            <a:extLst>
              <a:ext uri="{FF2B5EF4-FFF2-40B4-BE49-F238E27FC236}">
                <a16:creationId xmlns:a16="http://schemas.microsoft.com/office/drawing/2014/main" id="{16C54EF4-D29A-475D-BE97-78C553CFA1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143000"/>
            <a:ext cx="7848600" cy="762000"/>
          </a:xfrm>
        </p:spPr>
        <p:txBody>
          <a:bodyPr/>
          <a:lstStyle/>
          <a:p>
            <a:pPr>
              <a:buFont typeface="Times" panose="02020603050405020304" pitchFamily="18" charset="0"/>
              <a:buNone/>
            </a:pPr>
            <a:r>
              <a:rPr lang="en-US" altLang="it-IT">
                <a:solidFill>
                  <a:srgbClr val="003C75"/>
                </a:solidFill>
              </a:rPr>
              <a:t>Conceptually</a:t>
            </a:r>
          </a:p>
        </p:txBody>
      </p:sp>
      <p:sp>
        <p:nvSpPr>
          <p:cNvPr id="32771" name="Footer Placeholder 3">
            <a:extLst>
              <a:ext uri="{FF2B5EF4-FFF2-40B4-BE49-F238E27FC236}">
                <a16:creationId xmlns:a16="http://schemas.microsoft.com/office/drawing/2014/main" id="{F9516FD7-01D3-4FAF-92D0-33770503E17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32772" name="Slide Number Placeholder 4">
            <a:extLst>
              <a:ext uri="{FF2B5EF4-FFF2-40B4-BE49-F238E27FC236}">
                <a16:creationId xmlns:a16="http://schemas.microsoft.com/office/drawing/2014/main" id="{82938F31-46D6-4CC5-B331-0DB25042C4E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E116B622-E4B1-4C47-A917-F0C53696ECA2}" type="slidenum">
              <a:rPr lang="en-US" altLang="it-IT"/>
              <a:pPr/>
              <a:t>9</a:t>
            </a:fld>
            <a:endParaRPr lang="en-US" altLang="it-IT"/>
          </a:p>
        </p:txBody>
      </p:sp>
      <p:grpSp>
        <p:nvGrpSpPr>
          <p:cNvPr id="32773" name="Group 114">
            <a:extLst>
              <a:ext uri="{FF2B5EF4-FFF2-40B4-BE49-F238E27FC236}">
                <a16:creationId xmlns:a16="http://schemas.microsoft.com/office/drawing/2014/main" id="{9A1274C7-8DCF-4655-B964-FFAB7434DAC5}"/>
              </a:ext>
            </a:extLst>
          </p:cNvPr>
          <p:cNvGrpSpPr>
            <a:grpSpLocks/>
          </p:cNvGrpSpPr>
          <p:nvPr/>
        </p:nvGrpSpPr>
        <p:grpSpPr bwMode="auto">
          <a:xfrm>
            <a:off x="601663" y="1749425"/>
            <a:ext cx="2971800" cy="3584575"/>
            <a:chOff x="601133" y="1749623"/>
            <a:chExt cx="2971800" cy="3584377"/>
          </a:xfrm>
        </p:grpSpPr>
        <p:sp>
          <p:nvSpPr>
            <p:cNvPr id="147" name="Rounded Rectangle 146">
              <a:extLst>
                <a:ext uri="{FF2B5EF4-FFF2-40B4-BE49-F238E27FC236}">
                  <a16:creationId xmlns:a16="http://schemas.microsoft.com/office/drawing/2014/main" id="{4B515DC8-C0CF-4D1A-BCC2-F6E4B64A6B18}"/>
                </a:ext>
              </a:extLst>
            </p:cNvPr>
            <p:cNvSpPr/>
            <p:nvPr/>
          </p:nvSpPr>
          <p:spPr bwMode="auto">
            <a:xfrm>
              <a:off x="601133" y="1749623"/>
              <a:ext cx="2971800" cy="3200223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0" hangingPunct="0">
                <a:defRPr/>
              </a:pPr>
              <a:endParaRPr lang="en-US">
                <a:latin typeface="Comic Sans MS" pitchFamily="-108" charset="0"/>
                <a:ea typeface="ヒラギノ角ゴ Pro W3" pitchFamily="-108" charset="-128"/>
                <a:cs typeface="ヒラギノ角ゴ Pro W3" pitchFamily="-108" charset="-128"/>
              </a:endParaRPr>
            </a:p>
          </p:txBody>
        </p:sp>
        <p:grpSp>
          <p:nvGrpSpPr>
            <p:cNvPr id="32839" name="Group 58">
              <a:extLst>
                <a:ext uri="{FF2B5EF4-FFF2-40B4-BE49-F238E27FC236}">
                  <a16:creationId xmlns:a16="http://schemas.microsoft.com/office/drawing/2014/main" id="{7CF38018-A750-4977-9578-CE220C675C9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60589" y="1910490"/>
              <a:ext cx="2652888" cy="2963333"/>
              <a:chOff x="1157112" y="1524000"/>
              <a:chExt cx="2652888" cy="2963333"/>
            </a:xfrm>
          </p:grpSpPr>
          <p:grpSp>
            <p:nvGrpSpPr>
              <p:cNvPr id="32841" name="Group 17">
                <a:extLst>
                  <a:ext uri="{FF2B5EF4-FFF2-40B4-BE49-F238E27FC236}">
                    <a16:creationId xmlns:a16="http://schemas.microsoft.com/office/drawing/2014/main" id="{81EEF1A7-C87C-4B82-AE81-C482C5FE66D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24000" y="2133600"/>
                <a:ext cx="609600" cy="1676400"/>
                <a:chOff x="1524000" y="2133600"/>
                <a:chExt cx="609600" cy="1676400"/>
              </a:xfrm>
            </p:grpSpPr>
            <p:sp>
              <p:nvSpPr>
                <p:cNvPr id="32870" name="Rectangle 6">
                  <a:extLst>
                    <a:ext uri="{FF2B5EF4-FFF2-40B4-BE49-F238E27FC236}">
                      <a16:creationId xmlns:a16="http://schemas.microsoft.com/office/drawing/2014/main" id="{389A50D4-F0F3-465C-84A6-9EB971E0287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24000" y="2133600"/>
                  <a:ext cx="609600" cy="152400"/>
                </a:xfrm>
                <a:prstGeom prst="rect">
                  <a:avLst/>
                </a:prstGeom>
                <a:noFill/>
                <a:ln w="12700" algn="ctr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32871" name="Rectangle 7">
                  <a:extLst>
                    <a:ext uri="{FF2B5EF4-FFF2-40B4-BE49-F238E27FC236}">
                      <a16:creationId xmlns:a16="http://schemas.microsoft.com/office/drawing/2014/main" id="{A9E89034-FB69-4C62-8AEF-E7DCA1ED2A8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24000" y="2286000"/>
                  <a:ext cx="609600" cy="152400"/>
                </a:xfrm>
                <a:prstGeom prst="rect">
                  <a:avLst/>
                </a:prstGeom>
                <a:noFill/>
                <a:ln w="12700" algn="ctr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32872" name="Rectangle 8">
                  <a:extLst>
                    <a:ext uri="{FF2B5EF4-FFF2-40B4-BE49-F238E27FC236}">
                      <a16:creationId xmlns:a16="http://schemas.microsoft.com/office/drawing/2014/main" id="{A634275E-A426-4701-813A-5BA5D173C93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24000" y="2438400"/>
                  <a:ext cx="609600" cy="152400"/>
                </a:xfrm>
                <a:prstGeom prst="rect">
                  <a:avLst/>
                </a:prstGeom>
                <a:noFill/>
                <a:ln w="12700" algn="ctr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32873" name="Rectangle 9">
                  <a:extLst>
                    <a:ext uri="{FF2B5EF4-FFF2-40B4-BE49-F238E27FC236}">
                      <a16:creationId xmlns:a16="http://schemas.microsoft.com/office/drawing/2014/main" id="{054F6284-49A0-4E7E-A769-D9356841C27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24000" y="2590800"/>
                  <a:ext cx="609600" cy="152400"/>
                </a:xfrm>
                <a:prstGeom prst="rect">
                  <a:avLst/>
                </a:prstGeom>
                <a:noFill/>
                <a:ln w="12700" algn="ctr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32874" name="Rectangle 10">
                  <a:extLst>
                    <a:ext uri="{FF2B5EF4-FFF2-40B4-BE49-F238E27FC236}">
                      <a16:creationId xmlns:a16="http://schemas.microsoft.com/office/drawing/2014/main" id="{7DADC157-1D13-4724-AF4C-9B49D764EC3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24000" y="2743200"/>
                  <a:ext cx="609600" cy="152400"/>
                </a:xfrm>
                <a:prstGeom prst="rect">
                  <a:avLst/>
                </a:prstGeom>
                <a:noFill/>
                <a:ln w="12700" algn="ctr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32875" name="Rectangle 11">
                  <a:extLst>
                    <a:ext uri="{FF2B5EF4-FFF2-40B4-BE49-F238E27FC236}">
                      <a16:creationId xmlns:a16="http://schemas.microsoft.com/office/drawing/2014/main" id="{4A1FE62E-0992-4FE4-8B86-75665B277F4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24000" y="2895600"/>
                  <a:ext cx="609600" cy="152400"/>
                </a:xfrm>
                <a:prstGeom prst="rect">
                  <a:avLst/>
                </a:prstGeom>
                <a:noFill/>
                <a:ln w="12700" algn="ctr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32876" name="Rectangle 12">
                  <a:extLst>
                    <a:ext uri="{FF2B5EF4-FFF2-40B4-BE49-F238E27FC236}">
                      <a16:creationId xmlns:a16="http://schemas.microsoft.com/office/drawing/2014/main" id="{4B167E9C-E166-4F84-B8AE-64BF8029EDC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24000" y="3048000"/>
                  <a:ext cx="609600" cy="152400"/>
                </a:xfrm>
                <a:prstGeom prst="rect">
                  <a:avLst/>
                </a:prstGeom>
                <a:noFill/>
                <a:ln w="12700" algn="ctr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32877" name="Rectangle 13">
                  <a:extLst>
                    <a:ext uri="{FF2B5EF4-FFF2-40B4-BE49-F238E27FC236}">
                      <a16:creationId xmlns:a16="http://schemas.microsoft.com/office/drawing/2014/main" id="{A658A5FE-000A-4027-9B4C-88FB21BBF03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24000" y="3200400"/>
                  <a:ext cx="609600" cy="152400"/>
                </a:xfrm>
                <a:prstGeom prst="rect">
                  <a:avLst/>
                </a:prstGeom>
                <a:noFill/>
                <a:ln w="12700" algn="ctr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32878" name="Rectangle 14">
                  <a:extLst>
                    <a:ext uri="{FF2B5EF4-FFF2-40B4-BE49-F238E27FC236}">
                      <a16:creationId xmlns:a16="http://schemas.microsoft.com/office/drawing/2014/main" id="{878D8167-3440-42E4-B9E1-5A6D5D0F89D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24000" y="3352800"/>
                  <a:ext cx="609600" cy="152400"/>
                </a:xfrm>
                <a:prstGeom prst="rect">
                  <a:avLst/>
                </a:prstGeom>
                <a:noFill/>
                <a:ln w="12700" algn="ctr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32879" name="Rectangle 15">
                  <a:extLst>
                    <a:ext uri="{FF2B5EF4-FFF2-40B4-BE49-F238E27FC236}">
                      <a16:creationId xmlns:a16="http://schemas.microsoft.com/office/drawing/2014/main" id="{5258EA2D-B102-47E2-B9F9-54F6E1DF58D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24000" y="3505200"/>
                  <a:ext cx="609600" cy="152400"/>
                </a:xfrm>
                <a:prstGeom prst="rect">
                  <a:avLst/>
                </a:prstGeom>
                <a:noFill/>
                <a:ln w="12700" algn="ctr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32880" name="Rectangle 16">
                  <a:extLst>
                    <a:ext uri="{FF2B5EF4-FFF2-40B4-BE49-F238E27FC236}">
                      <a16:creationId xmlns:a16="http://schemas.microsoft.com/office/drawing/2014/main" id="{F85B8847-D61B-4D51-B463-1F6A32DD6A8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24000" y="3657600"/>
                  <a:ext cx="609600" cy="152400"/>
                </a:xfrm>
                <a:prstGeom prst="rect">
                  <a:avLst/>
                </a:prstGeom>
                <a:noFill/>
                <a:ln w="12700" algn="ctr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</p:grpSp>
          <p:grpSp>
            <p:nvGrpSpPr>
              <p:cNvPr id="32842" name="Group 18">
                <a:extLst>
                  <a:ext uri="{FF2B5EF4-FFF2-40B4-BE49-F238E27FC236}">
                    <a16:creationId xmlns:a16="http://schemas.microsoft.com/office/drawing/2014/main" id="{CB8FE01D-FA25-45AD-A278-FF730ED56ED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62200" y="1828800"/>
                <a:ext cx="609600" cy="1676400"/>
                <a:chOff x="1524000" y="2133600"/>
                <a:chExt cx="609600" cy="1676400"/>
              </a:xfrm>
            </p:grpSpPr>
            <p:sp>
              <p:nvSpPr>
                <p:cNvPr id="32859" name="Rectangle 19">
                  <a:extLst>
                    <a:ext uri="{FF2B5EF4-FFF2-40B4-BE49-F238E27FC236}">
                      <a16:creationId xmlns:a16="http://schemas.microsoft.com/office/drawing/2014/main" id="{756F8A66-9404-4488-A939-CAF6559D66D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24000" y="2133600"/>
                  <a:ext cx="609600" cy="152400"/>
                </a:xfrm>
                <a:prstGeom prst="rect">
                  <a:avLst/>
                </a:prstGeom>
                <a:noFill/>
                <a:ln w="12700" algn="ctr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32860" name="Rectangle 20">
                  <a:extLst>
                    <a:ext uri="{FF2B5EF4-FFF2-40B4-BE49-F238E27FC236}">
                      <a16:creationId xmlns:a16="http://schemas.microsoft.com/office/drawing/2014/main" id="{03686B7A-142F-4CDC-8D31-7CC2113D808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24000" y="2286000"/>
                  <a:ext cx="609600" cy="152400"/>
                </a:xfrm>
                <a:prstGeom prst="rect">
                  <a:avLst/>
                </a:prstGeom>
                <a:noFill/>
                <a:ln w="12700" algn="ctr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32861" name="Rectangle 21">
                  <a:extLst>
                    <a:ext uri="{FF2B5EF4-FFF2-40B4-BE49-F238E27FC236}">
                      <a16:creationId xmlns:a16="http://schemas.microsoft.com/office/drawing/2014/main" id="{0F766F94-852D-4D44-A6FB-50032FF5F18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24000" y="2438400"/>
                  <a:ext cx="609600" cy="152400"/>
                </a:xfrm>
                <a:prstGeom prst="rect">
                  <a:avLst/>
                </a:prstGeom>
                <a:noFill/>
                <a:ln w="12700" algn="ctr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32862" name="Rectangle 22">
                  <a:extLst>
                    <a:ext uri="{FF2B5EF4-FFF2-40B4-BE49-F238E27FC236}">
                      <a16:creationId xmlns:a16="http://schemas.microsoft.com/office/drawing/2014/main" id="{76F040AE-B0ED-4A29-AFC3-9E63B249186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24000" y="2590800"/>
                  <a:ext cx="609600" cy="152400"/>
                </a:xfrm>
                <a:prstGeom prst="rect">
                  <a:avLst/>
                </a:prstGeom>
                <a:noFill/>
                <a:ln w="12700" algn="ctr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32863" name="Rectangle 23">
                  <a:extLst>
                    <a:ext uri="{FF2B5EF4-FFF2-40B4-BE49-F238E27FC236}">
                      <a16:creationId xmlns:a16="http://schemas.microsoft.com/office/drawing/2014/main" id="{AF8D98B5-2026-4B47-B68E-A58265FE6D2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24000" y="2743200"/>
                  <a:ext cx="609600" cy="152400"/>
                </a:xfrm>
                <a:prstGeom prst="rect">
                  <a:avLst/>
                </a:prstGeom>
                <a:noFill/>
                <a:ln w="12700" algn="ctr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32864" name="Rectangle 24">
                  <a:extLst>
                    <a:ext uri="{FF2B5EF4-FFF2-40B4-BE49-F238E27FC236}">
                      <a16:creationId xmlns:a16="http://schemas.microsoft.com/office/drawing/2014/main" id="{6850C3E8-E495-4A14-A41C-546B661F3FA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24000" y="2895600"/>
                  <a:ext cx="609600" cy="152400"/>
                </a:xfrm>
                <a:prstGeom prst="rect">
                  <a:avLst/>
                </a:prstGeom>
                <a:noFill/>
                <a:ln w="12700" algn="ctr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32865" name="Rectangle 25">
                  <a:extLst>
                    <a:ext uri="{FF2B5EF4-FFF2-40B4-BE49-F238E27FC236}">
                      <a16:creationId xmlns:a16="http://schemas.microsoft.com/office/drawing/2014/main" id="{CFFA2297-401F-43F7-9568-CC62D56D0D3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24000" y="3048000"/>
                  <a:ext cx="609600" cy="152400"/>
                </a:xfrm>
                <a:prstGeom prst="rect">
                  <a:avLst/>
                </a:prstGeom>
                <a:noFill/>
                <a:ln w="12700" algn="ctr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32866" name="Rectangle 26">
                  <a:extLst>
                    <a:ext uri="{FF2B5EF4-FFF2-40B4-BE49-F238E27FC236}">
                      <a16:creationId xmlns:a16="http://schemas.microsoft.com/office/drawing/2014/main" id="{9F04ED46-29F9-44ED-A74F-4EFE701A1E8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24000" y="3200400"/>
                  <a:ext cx="609600" cy="152400"/>
                </a:xfrm>
                <a:prstGeom prst="rect">
                  <a:avLst/>
                </a:prstGeom>
                <a:noFill/>
                <a:ln w="12700" algn="ctr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32867" name="Rectangle 27">
                  <a:extLst>
                    <a:ext uri="{FF2B5EF4-FFF2-40B4-BE49-F238E27FC236}">
                      <a16:creationId xmlns:a16="http://schemas.microsoft.com/office/drawing/2014/main" id="{CEB23681-3BC0-45A3-80D0-15B69C10F59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24000" y="3352800"/>
                  <a:ext cx="609600" cy="152400"/>
                </a:xfrm>
                <a:prstGeom prst="rect">
                  <a:avLst/>
                </a:prstGeom>
                <a:noFill/>
                <a:ln w="12700" algn="ctr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32868" name="Rectangle 28">
                  <a:extLst>
                    <a:ext uri="{FF2B5EF4-FFF2-40B4-BE49-F238E27FC236}">
                      <a16:creationId xmlns:a16="http://schemas.microsoft.com/office/drawing/2014/main" id="{67B021E7-320E-4FE9-B65D-B840114D8E7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24000" y="3505200"/>
                  <a:ext cx="609600" cy="152400"/>
                </a:xfrm>
                <a:prstGeom prst="rect">
                  <a:avLst/>
                </a:prstGeom>
                <a:noFill/>
                <a:ln w="12700" algn="ctr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32869" name="Rectangle 29">
                  <a:extLst>
                    <a:ext uri="{FF2B5EF4-FFF2-40B4-BE49-F238E27FC236}">
                      <a16:creationId xmlns:a16="http://schemas.microsoft.com/office/drawing/2014/main" id="{7A5EB320-DCC5-4F00-ADE4-A0C970BA4C0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24000" y="3657600"/>
                  <a:ext cx="609600" cy="152400"/>
                </a:xfrm>
                <a:prstGeom prst="rect">
                  <a:avLst/>
                </a:prstGeom>
                <a:noFill/>
                <a:ln w="12700" algn="ctr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</p:grpSp>
          <p:grpSp>
            <p:nvGrpSpPr>
              <p:cNvPr id="32843" name="Group 30">
                <a:extLst>
                  <a:ext uri="{FF2B5EF4-FFF2-40B4-BE49-F238E27FC236}">
                    <a16:creationId xmlns:a16="http://schemas.microsoft.com/office/drawing/2014/main" id="{5F4E90B5-968B-4CAA-BAB7-B02528146C0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200400" y="1524000"/>
                <a:ext cx="609600" cy="1676400"/>
                <a:chOff x="1524000" y="2133600"/>
                <a:chExt cx="609600" cy="1676400"/>
              </a:xfrm>
            </p:grpSpPr>
            <p:sp>
              <p:nvSpPr>
                <p:cNvPr id="32848" name="Rectangle 31">
                  <a:extLst>
                    <a:ext uri="{FF2B5EF4-FFF2-40B4-BE49-F238E27FC236}">
                      <a16:creationId xmlns:a16="http://schemas.microsoft.com/office/drawing/2014/main" id="{5DD7B855-BA4E-4552-B4C0-2C9DB8356AB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24000" y="2133600"/>
                  <a:ext cx="609600" cy="152400"/>
                </a:xfrm>
                <a:prstGeom prst="rect">
                  <a:avLst/>
                </a:prstGeom>
                <a:noFill/>
                <a:ln w="12700" algn="ctr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32849" name="Rectangle 32">
                  <a:extLst>
                    <a:ext uri="{FF2B5EF4-FFF2-40B4-BE49-F238E27FC236}">
                      <a16:creationId xmlns:a16="http://schemas.microsoft.com/office/drawing/2014/main" id="{E84845B4-DCC1-4BDC-9159-3E39037C7F6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24000" y="2286000"/>
                  <a:ext cx="609600" cy="152400"/>
                </a:xfrm>
                <a:prstGeom prst="rect">
                  <a:avLst/>
                </a:prstGeom>
                <a:noFill/>
                <a:ln w="12700" algn="ctr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32850" name="Rectangle 33">
                  <a:extLst>
                    <a:ext uri="{FF2B5EF4-FFF2-40B4-BE49-F238E27FC236}">
                      <a16:creationId xmlns:a16="http://schemas.microsoft.com/office/drawing/2014/main" id="{045712C1-627B-4E84-8726-562E94D992C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24000" y="2438400"/>
                  <a:ext cx="609600" cy="152400"/>
                </a:xfrm>
                <a:prstGeom prst="rect">
                  <a:avLst/>
                </a:prstGeom>
                <a:noFill/>
                <a:ln w="12700" algn="ctr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32851" name="Rectangle 34">
                  <a:extLst>
                    <a:ext uri="{FF2B5EF4-FFF2-40B4-BE49-F238E27FC236}">
                      <a16:creationId xmlns:a16="http://schemas.microsoft.com/office/drawing/2014/main" id="{47E72229-6305-493C-BA0A-864F58E76E9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24000" y="2590800"/>
                  <a:ext cx="609600" cy="152400"/>
                </a:xfrm>
                <a:prstGeom prst="rect">
                  <a:avLst/>
                </a:prstGeom>
                <a:noFill/>
                <a:ln w="12700" algn="ctr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32852" name="Rectangle 35">
                  <a:extLst>
                    <a:ext uri="{FF2B5EF4-FFF2-40B4-BE49-F238E27FC236}">
                      <a16:creationId xmlns:a16="http://schemas.microsoft.com/office/drawing/2014/main" id="{3D1C71D4-7353-4F69-95F6-0B5BED1682D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24000" y="2743200"/>
                  <a:ext cx="609600" cy="152400"/>
                </a:xfrm>
                <a:prstGeom prst="rect">
                  <a:avLst/>
                </a:prstGeom>
                <a:noFill/>
                <a:ln w="12700" algn="ctr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32853" name="Rectangle 36">
                  <a:extLst>
                    <a:ext uri="{FF2B5EF4-FFF2-40B4-BE49-F238E27FC236}">
                      <a16:creationId xmlns:a16="http://schemas.microsoft.com/office/drawing/2014/main" id="{D8EA993B-4F58-4AFE-939B-DCB9297F135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24000" y="2895600"/>
                  <a:ext cx="609600" cy="152400"/>
                </a:xfrm>
                <a:prstGeom prst="rect">
                  <a:avLst/>
                </a:prstGeom>
                <a:noFill/>
                <a:ln w="12700" algn="ctr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32854" name="Rectangle 37">
                  <a:extLst>
                    <a:ext uri="{FF2B5EF4-FFF2-40B4-BE49-F238E27FC236}">
                      <a16:creationId xmlns:a16="http://schemas.microsoft.com/office/drawing/2014/main" id="{0A223881-3F21-4581-B699-F0FA6FC5E94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24000" y="3048000"/>
                  <a:ext cx="609600" cy="152400"/>
                </a:xfrm>
                <a:prstGeom prst="rect">
                  <a:avLst/>
                </a:prstGeom>
                <a:noFill/>
                <a:ln w="12700" algn="ctr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32855" name="Rectangle 38">
                  <a:extLst>
                    <a:ext uri="{FF2B5EF4-FFF2-40B4-BE49-F238E27FC236}">
                      <a16:creationId xmlns:a16="http://schemas.microsoft.com/office/drawing/2014/main" id="{76BA20B8-ED39-4A96-B0C9-B09701284C3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24000" y="3200400"/>
                  <a:ext cx="609600" cy="152400"/>
                </a:xfrm>
                <a:prstGeom prst="rect">
                  <a:avLst/>
                </a:prstGeom>
                <a:noFill/>
                <a:ln w="12700" algn="ctr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32856" name="Rectangle 39">
                  <a:extLst>
                    <a:ext uri="{FF2B5EF4-FFF2-40B4-BE49-F238E27FC236}">
                      <a16:creationId xmlns:a16="http://schemas.microsoft.com/office/drawing/2014/main" id="{A7B33BA3-9CF2-41AD-B226-5BD47E05299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24000" y="3352800"/>
                  <a:ext cx="609600" cy="152400"/>
                </a:xfrm>
                <a:prstGeom prst="rect">
                  <a:avLst/>
                </a:prstGeom>
                <a:noFill/>
                <a:ln w="12700" algn="ctr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32857" name="Rectangle 40">
                  <a:extLst>
                    <a:ext uri="{FF2B5EF4-FFF2-40B4-BE49-F238E27FC236}">
                      <a16:creationId xmlns:a16="http://schemas.microsoft.com/office/drawing/2014/main" id="{5C64B5B0-0508-49B1-84E4-C6E44DA7999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24000" y="3505200"/>
                  <a:ext cx="609600" cy="152400"/>
                </a:xfrm>
                <a:prstGeom prst="rect">
                  <a:avLst/>
                </a:prstGeom>
                <a:noFill/>
                <a:ln w="12700" algn="ctr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32858" name="Rectangle 41">
                  <a:extLst>
                    <a:ext uri="{FF2B5EF4-FFF2-40B4-BE49-F238E27FC236}">
                      <a16:creationId xmlns:a16="http://schemas.microsoft.com/office/drawing/2014/main" id="{48DB371A-919E-4FE2-88E8-772B0AB24D1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24000" y="3657600"/>
                  <a:ext cx="609600" cy="152400"/>
                </a:xfrm>
                <a:prstGeom prst="rect">
                  <a:avLst/>
                </a:prstGeom>
                <a:noFill/>
                <a:ln w="12700" algn="ctr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</p:grpSp>
          <p:sp>
            <p:nvSpPr>
              <p:cNvPr id="32844" name="Rectangle 43">
                <a:extLst>
                  <a:ext uri="{FF2B5EF4-FFF2-40B4-BE49-F238E27FC236}">
                    <a16:creationId xmlns:a16="http://schemas.microsoft.com/office/drawing/2014/main" id="{C0876C82-6155-4622-B6D6-8AF7DBE138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24000" y="4334933"/>
                <a:ext cx="609600" cy="152400"/>
              </a:xfrm>
              <a:prstGeom prst="rect">
                <a:avLst/>
              </a:prstGeom>
              <a:noFill/>
              <a:ln w="12700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endParaRPr lang="en-GB" altLang="it-IT"/>
              </a:p>
            </p:txBody>
          </p:sp>
          <p:cxnSp>
            <p:nvCxnSpPr>
              <p:cNvPr id="32845" name="Straight Arrow Connector 55">
                <a:extLst>
                  <a:ext uri="{FF2B5EF4-FFF2-40B4-BE49-F238E27FC236}">
                    <a16:creationId xmlns:a16="http://schemas.microsoft.com/office/drawing/2014/main" id="{D5EE7369-6123-4D14-906C-B88FAF984D7E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V="1">
                <a:off x="1828800" y="1828800"/>
                <a:ext cx="533400" cy="381000"/>
              </a:xfrm>
              <a:prstGeom prst="straightConnector1">
                <a:avLst/>
              </a:prstGeom>
              <a:noFill/>
              <a:ln w="19050" algn="ctr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32846" name="Straight Arrow Connector 56">
                <a:extLst>
                  <a:ext uri="{FF2B5EF4-FFF2-40B4-BE49-F238E27FC236}">
                    <a16:creationId xmlns:a16="http://schemas.microsoft.com/office/drawing/2014/main" id="{52C24A54-8A87-443E-BFC6-409434EBADBC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V="1">
                <a:off x="2667000" y="1524000"/>
                <a:ext cx="533400" cy="381000"/>
              </a:xfrm>
              <a:prstGeom prst="straightConnector1">
                <a:avLst/>
              </a:prstGeom>
              <a:noFill/>
              <a:ln w="19050" algn="ctr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sp>
            <p:nvSpPr>
              <p:cNvPr id="32847" name="Freeform 57">
                <a:extLst>
                  <a:ext uri="{FF2B5EF4-FFF2-40B4-BE49-F238E27FC236}">
                    <a16:creationId xmlns:a16="http://schemas.microsoft.com/office/drawing/2014/main" id="{A6E9C215-D848-4872-93F1-F9B2F9E007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57112" y="2142067"/>
                <a:ext cx="663222" cy="2277534"/>
              </a:xfrm>
              <a:custGeom>
                <a:avLst/>
                <a:gdLst>
                  <a:gd name="T0" fmla="*/ 663222 w 663222"/>
                  <a:gd name="T1" fmla="*/ 2277534 h 2277534"/>
                  <a:gd name="T2" fmla="*/ 172155 w 663222"/>
                  <a:gd name="T3" fmla="*/ 1998134 h 2277534"/>
                  <a:gd name="T4" fmla="*/ 36689 w 663222"/>
                  <a:gd name="T5" fmla="*/ 1346200 h 2277534"/>
                  <a:gd name="T6" fmla="*/ 53622 w 663222"/>
                  <a:gd name="T7" fmla="*/ 270934 h 2277534"/>
                  <a:gd name="T8" fmla="*/ 358422 w 663222"/>
                  <a:gd name="T9" fmla="*/ 0 h 227753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63222"/>
                  <a:gd name="T16" fmla="*/ 0 h 2277534"/>
                  <a:gd name="T17" fmla="*/ 663222 w 663222"/>
                  <a:gd name="T18" fmla="*/ 2277534 h 227753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63222" h="2277534">
                    <a:moveTo>
                      <a:pt x="663222" y="2277534"/>
                    </a:moveTo>
                    <a:cubicBezTo>
                      <a:pt x="469899" y="2215445"/>
                      <a:pt x="276577" y="2153356"/>
                      <a:pt x="172155" y="1998134"/>
                    </a:cubicBezTo>
                    <a:cubicBezTo>
                      <a:pt x="67733" y="1842912"/>
                      <a:pt x="56444" y="1634067"/>
                      <a:pt x="36689" y="1346200"/>
                    </a:cubicBezTo>
                    <a:cubicBezTo>
                      <a:pt x="16934" y="1058333"/>
                      <a:pt x="0" y="495301"/>
                      <a:pt x="53622" y="270934"/>
                    </a:cubicBezTo>
                    <a:cubicBezTo>
                      <a:pt x="107244" y="46567"/>
                      <a:pt x="232833" y="23283"/>
                      <a:pt x="358422" y="0"/>
                    </a:cubicBezTo>
                  </a:path>
                </a:pathLst>
              </a:custGeom>
              <a:noFill/>
              <a:ln w="19050" algn="ctr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endParaRPr lang="en-GB" altLang="it-IT"/>
              </a:p>
            </p:txBody>
          </p:sp>
        </p:grpSp>
        <p:sp>
          <p:nvSpPr>
            <p:cNvPr id="32840" name="TextBox 143">
              <a:extLst>
                <a:ext uri="{FF2B5EF4-FFF2-40B4-BE49-F238E27FC236}">
                  <a16:creationId xmlns:a16="http://schemas.microsoft.com/office/drawing/2014/main" id="{58180106-3D09-4420-9F95-C326A750B4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9233" y="5026223"/>
              <a:ext cx="2895600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400">
                  <a:solidFill>
                    <a:srgbClr val="003C75"/>
                  </a:solidFill>
                </a:rPr>
                <a:t>Lexical Hierarchy</a:t>
              </a:r>
            </a:p>
          </p:txBody>
        </p:sp>
      </p:grpSp>
      <p:grpSp>
        <p:nvGrpSpPr>
          <p:cNvPr id="32774" name="Group 115">
            <a:extLst>
              <a:ext uri="{FF2B5EF4-FFF2-40B4-BE49-F238E27FC236}">
                <a16:creationId xmlns:a16="http://schemas.microsoft.com/office/drawing/2014/main" id="{A880DB65-7BEE-43D3-BBF6-CCAE1FB10549}"/>
              </a:ext>
            </a:extLst>
          </p:cNvPr>
          <p:cNvGrpSpPr>
            <a:grpSpLocks/>
          </p:cNvGrpSpPr>
          <p:nvPr/>
        </p:nvGrpSpPr>
        <p:grpSpPr bwMode="auto">
          <a:xfrm>
            <a:off x="3767138" y="1749425"/>
            <a:ext cx="2971800" cy="3584575"/>
            <a:chOff x="3767667" y="1749623"/>
            <a:chExt cx="2971800" cy="3584377"/>
          </a:xfrm>
        </p:grpSpPr>
        <p:sp>
          <p:nvSpPr>
            <p:cNvPr id="148" name="Rounded Rectangle 147">
              <a:extLst>
                <a:ext uri="{FF2B5EF4-FFF2-40B4-BE49-F238E27FC236}">
                  <a16:creationId xmlns:a16="http://schemas.microsoft.com/office/drawing/2014/main" id="{0C2683D5-14AD-45DF-9DB5-809B7D4BC404}"/>
                </a:ext>
              </a:extLst>
            </p:cNvPr>
            <p:cNvSpPr/>
            <p:nvPr/>
          </p:nvSpPr>
          <p:spPr bwMode="auto">
            <a:xfrm>
              <a:off x="3767667" y="1749623"/>
              <a:ext cx="2971800" cy="3200223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0" hangingPunct="0">
                <a:defRPr/>
              </a:pPr>
              <a:endParaRPr lang="en-US">
                <a:latin typeface="Comic Sans MS" pitchFamily="-108" charset="0"/>
                <a:ea typeface="ヒラギノ角ゴ Pro W3" pitchFamily="-108" charset="-128"/>
                <a:cs typeface="ヒラギノ角ゴ Pro W3" pitchFamily="-108" charset="-128"/>
              </a:endParaRPr>
            </a:p>
          </p:txBody>
        </p:sp>
        <p:grpSp>
          <p:nvGrpSpPr>
            <p:cNvPr id="32796" name="Group 59">
              <a:extLst>
                <a:ext uri="{FF2B5EF4-FFF2-40B4-BE49-F238E27FC236}">
                  <a16:creationId xmlns:a16="http://schemas.microsoft.com/office/drawing/2014/main" id="{EED32155-0A33-494A-86CF-23FC26B439B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27123" y="1910490"/>
              <a:ext cx="2652888" cy="2963333"/>
              <a:chOff x="1157112" y="1524000"/>
              <a:chExt cx="2652888" cy="2963333"/>
            </a:xfrm>
          </p:grpSpPr>
          <p:grpSp>
            <p:nvGrpSpPr>
              <p:cNvPr id="32798" name="Group 60">
                <a:extLst>
                  <a:ext uri="{FF2B5EF4-FFF2-40B4-BE49-F238E27FC236}">
                    <a16:creationId xmlns:a16="http://schemas.microsoft.com/office/drawing/2014/main" id="{7CE1298C-686B-4C1E-9E09-FD01938A88D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24000" y="2133600"/>
                <a:ext cx="609600" cy="1676400"/>
                <a:chOff x="1524000" y="2133600"/>
                <a:chExt cx="609600" cy="1676400"/>
              </a:xfrm>
            </p:grpSpPr>
            <p:sp>
              <p:nvSpPr>
                <p:cNvPr id="32827" name="Rectangle 89">
                  <a:extLst>
                    <a:ext uri="{FF2B5EF4-FFF2-40B4-BE49-F238E27FC236}">
                      <a16:creationId xmlns:a16="http://schemas.microsoft.com/office/drawing/2014/main" id="{21A6D6D0-8C63-48F7-997A-EF74D077C2A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24000" y="2133600"/>
                  <a:ext cx="609600" cy="152400"/>
                </a:xfrm>
                <a:prstGeom prst="rect">
                  <a:avLst/>
                </a:prstGeom>
                <a:noFill/>
                <a:ln w="12700" algn="ctr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32828" name="Rectangle 90">
                  <a:extLst>
                    <a:ext uri="{FF2B5EF4-FFF2-40B4-BE49-F238E27FC236}">
                      <a16:creationId xmlns:a16="http://schemas.microsoft.com/office/drawing/2014/main" id="{AD029327-BF41-47A4-8EB4-08DF8CFE9A2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24000" y="2286000"/>
                  <a:ext cx="609600" cy="152400"/>
                </a:xfrm>
                <a:prstGeom prst="rect">
                  <a:avLst/>
                </a:prstGeom>
                <a:noFill/>
                <a:ln w="12700" algn="ctr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32829" name="Rectangle 91">
                  <a:extLst>
                    <a:ext uri="{FF2B5EF4-FFF2-40B4-BE49-F238E27FC236}">
                      <a16:creationId xmlns:a16="http://schemas.microsoft.com/office/drawing/2014/main" id="{B27CA30A-EE92-4540-BA92-02D1567B003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24000" y="2438400"/>
                  <a:ext cx="609600" cy="152400"/>
                </a:xfrm>
                <a:prstGeom prst="rect">
                  <a:avLst/>
                </a:prstGeom>
                <a:noFill/>
                <a:ln w="12700" algn="ctr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32830" name="Rectangle 92">
                  <a:extLst>
                    <a:ext uri="{FF2B5EF4-FFF2-40B4-BE49-F238E27FC236}">
                      <a16:creationId xmlns:a16="http://schemas.microsoft.com/office/drawing/2014/main" id="{1203BD91-838F-4140-B46D-768859750AF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24000" y="2590800"/>
                  <a:ext cx="609600" cy="152400"/>
                </a:xfrm>
                <a:prstGeom prst="rect">
                  <a:avLst/>
                </a:prstGeom>
                <a:noFill/>
                <a:ln w="12700" algn="ctr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32831" name="Rectangle 93">
                  <a:extLst>
                    <a:ext uri="{FF2B5EF4-FFF2-40B4-BE49-F238E27FC236}">
                      <a16:creationId xmlns:a16="http://schemas.microsoft.com/office/drawing/2014/main" id="{8063C23D-0D16-455A-A8DA-3E8F5490A5B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24000" y="2743200"/>
                  <a:ext cx="609600" cy="152400"/>
                </a:xfrm>
                <a:prstGeom prst="rect">
                  <a:avLst/>
                </a:prstGeom>
                <a:noFill/>
                <a:ln w="12700" algn="ctr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32832" name="Rectangle 94">
                  <a:extLst>
                    <a:ext uri="{FF2B5EF4-FFF2-40B4-BE49-F238E27FC236}">
                      <a16:creationId xmlns:a16="http://schemas.microsoft.com/office/drawing/2014/main" id="{770072D3-E5C2-44CB-8079-2A512388025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24000" y="2895600"/>
                  <a:ext cx="609600" cy="152400"/>
                </a:xfrm>
                <a:prstGeom prst="rect">
                  <a:avLst/>
                </a:prstGeom>
                <a:noFill/>
                <a:ln w="12700" algn="ctr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32833" name="Rectangle 95">
                  <a:extLst>
                    <a:ext uri="{FF2B5EF4-FFF2-40B4-BE49-F238E27FC236}">
                      <a16:creationId xmlns:a16="http://schemas.microsoft.com/office/drawing/2014/main" id="{9A997F8E-544F-41D0-8722-BD7186A4FDA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24000" y="3048000"/>
                  <a:ext cx="609600" cy="152400"/>
                </a:xfrm>
                <a:prstGeom prst="rect">
                  <a:avLst/>
                </a:prstGeom>
                <a:noFill/>
                <a:ln w="12700" algn="ctr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32834" name="Rectangle 96">
                  <a:extLst>
                    <a:ext uri="{FF2B5EF4-FFF2-40B4-BE49-F238E27FC236}">
                      <a16:creationId xmlns:a16="http://schemas.microsoft.com/office/drawing/2014/main" id="{20738F10-9C40-440E-B12A-C9C6B9647D1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24000" y="3200400"/>
                  <a:ext cx="609600" cy="152400"/>
                </a:xfrm>
                <a:prstGeom prst="rect">
                  <a:avLst/>
                </a:prstGeom>
                <a:noFill/>
                <a:ln w="12700" algn="ctr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32835" name="Rectangle 97">
                  <a:extLst>
                    <a:ext uri="{FF2B5EF4-FFF2-40B4-BE49-F238E27FC236}">
                      <a16:creationId xmlns:a16="http://schemas.microsoft.com/office/drawing/2014/main" id="{E79C2816-7E65-48E8-AE21-827D76DDB13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24000" y="3352800"/>
                  <a:ext cx="609600" cy="152400"/>
                </a:xfrm>
                <a:prstGeom prst="rect">
                  <a:avLst/>
                </a:prstGeom>
                <a:noFill/>
                <a:ln w="12700" algn="ctr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32836" name="Rectangle 98">
                  <a:extLst>
                    <a:ext uri="{FF2B5EF4-FFF2-40B4-BE49-F238E27FC236}">
                      <a16:creationId xmlns:a16="http://schemas.microsoft.com/office/drawing/2014/main" id="{F3685797-DB3C-4320-B16E-42C7A1C7322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24000" y="3505200"/>
                  <a:ext cx="609600" cy="152400"/>
                </a:xfrm>
                <a:prstGeom prst="rect">
                  <a:avLst/>
                </a:prstGeom>
                <a:noFill/>
                <a:ln w="12700" algn="ctr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32837" name="Rectangle 99">
                  <a:extLst>
                    <a:ext uri="{FF2B5EF4-FFF2-40B4-BE49-F238E27FC236}">
                      <a16:creationId xmlns:a16="http://schemas.microsoft.com/office/drawing/2014/main" id="{D816B576-DFAF-4D4C-9B81-F73037ACC62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24000" y="3657600"/>
                  <a:ext cx="609600" cy="152400"/>
                </a:xfrm>
                <a:prstGeom prst="rect">
                  <a:avLst/>
                </a:prstGeom>
                <a:noFill/>
                <a:ln w="12700" algn="ctr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</p:grpSp>
          <p:grpSp>
            <p:nvGrpSpPr>
              <p:cNvPr id="32799" name="Group 61">
                <a:extLst>
                  <a:ext uri="{FF2B5EF4-FFF2-40B4-BE49-F238E27FC236}">
                    <a16:creationId xmlns:a16="http://schemas.microsoft.com/office/drawing/2014/main" id="{AFCBC265-04D2-4FF5-A767-72448E95104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62200" y="1828800"/>
                <a:ext cx="609600" cy="1676400"/>
                <a:chOff x="1524000" y="2133600"/>
                <a:chExt cx="609600" cy="1676400"/>
              </a:xfrm>
            </p:grpSpPr>
            <p:sp>
              <p:nvSpPr>
                <p:cNvPr id="32816" name="Rectangle 78">
                  <a:extLst>
                    <a:ext uri="{FF2B5EF4-FFF2-40B4-BE49-F238E27FC236}">
                      <a16:creationId xmlns:a16="http://schemas.microsoft.com/office/drawing/2014/main" id="{411EF95A-505A-497E-B9E5-783FD66EC57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24000" y="2133600"/>
                  <a:ext cx="609600" cy="152400"/>
                </a:xfrm>
                <a:prstGeom prst="rect">
                  <a:avLst/>
                </a:prstGeom>
                <a:noFill/>
                <a:ln w="12700" algn="ctr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32817" name="Rectangle 79">
                  <a:extLst>
                    <a:ext uri="{FF2B5EF4-FFF2-40B4-BE49-F238E27FC236}">
                      <a16:creationId xmlns:a16="http://schemas.microsoft.com/office/drawing/2014/main" id="{886FE235-6A74-459B-819C-411ED7ECB03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24000" y="2286000"/>
                  <a:ext cx="609600" cy="152400"/>
                </a:xfrm>
                <a:prstGeom prst="rect">
                  <a:avLst/>
                </a:prstGeom>
                <a:noFill/>
                <a:ln w="12700" algn="ctr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32818" name="Rectangle 80">
                  <a:extLst>
                    <a:ext uri="{FF2B5EF4-FFF2-40B4-BE49-F238E27FC236}">
                      <a16:creationId xmlns:a16="http://schemas.microsoft.com/office/drawing/2014/main" id="{EF9D4A06-0FD1-4500-8CB0-9571892250E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24000" y="2438400"/>
                  <a:ext cx="609600" cy="152400"/>
                </a:xfrm>
                <a:prstGeom prst="rect">
                  <a:avLst/>
                </a:prstGeom>
                <a:noFill/>
                <a:ln w="12700" algn="ctr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32819" name="Rectangle 81">
                  <a:extLst>
                    <a:ext uri="{FF2B5EF4-FFF2-40B4-BE49-F238E27FC236}">
                      <a16:creationId xmlns:a16="http://schemas.microsoft.com/office/drawing/2014/main" id="{D5AB9369-0281-48F8-B8C9-2A46D2AB48F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24000" y="2590800"/>
                  <a:ext cx="609600" cy="152400"/>
                </a:xfrm>
                <a:prstGeom prst="rect">
                  <a:avLst/>
                </a:prstGeom>
                <a:noFill/>
                <a:ln w="12700" algn="ctr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32820" name="Rectangle 82">
                  <a:extLst>
                    <a:ext uri="{FF2B5EF4-FFF2-40B4-BE49-F238E27FC236}">
                      <a16:creationId xmlns:a16="http://schemas.microsoft.com/office/drawing/2014/main" id="{4A0ED3DB-0028-4FCA-AA97-A4170C1F62F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24000" y="2743200"/>
                  <a:ext cx="609600" cy="152400"/>
                </a:xfrm>
                <a:prstGeom prst="rect">
                  <a:avLst/>
                </a:prstGeom>
                <a:noFill/>
                <a:ln w="12700" algn="ctr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32821" name="Rectangle 83">
                  <a:extLst>
                    <a:ext uri="{FF2B5EF4-FFF2-40B4-BE49-F238E27FC236}">
                      <a16:creationId xmlns:a16="http://schemas.microsoft.com/office/drawing/2014/main" id="{370DBA36-4130-430F-A0E2-58DC4875C42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24000" y="2895600"/>
                  <a:ext cx="609600" cy="152400"/>
                </a:xfrm>
                <a:prstGeom prst="rect">
                  <a:avLst/>
                </a:prstGeom>
                <a:noFill/>
                <a:ln w="12700" algn="ctr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32822" name="Rectangle 84">
                  <a:extLst>
                    <a:ext uri="{FF2B5EF4-FFF2-40B4-BE49-F238E27FC236}">
                      <a16:creationId xmlns:a16="http://schemas.microsoft.com/office/drawing/2014/main" id="{2E17B01F-01A7-43CD-9731-67DA958A496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24000" y="3048000"/>
                  <a:ext cx="609600" cy="152400"/>
                </a:xfrm>
                <a:prstGeom prst="rect">
                  <a:avLst/>
                </a:prstGeom>
                <a:noFill/>
                <a:ln w="12700" algn="ctr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32823" name="Rectangle 85">
                  <a:extLst>
                    <a:ext uri="{FF2B5EF4-FFF2-40B4-BE49-F238E27FC236}">
                      <a16:creationId xmlns:a16="http://schemas.microsoft.com/office/drawing/2014/main" id="{20AD86E8-B3C0-43C7-A9A8-7AC770A0C51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24000" y="3200400"/>
                  <a:ext cx="609600" cy="152400"/>
                </a:xfrm>
                <a:prstGeom prst="rect">
                  <a:avLst/>
                </a:prstGeom>
                <a:noFill/>
                <a:ln w="12700" algn="ctr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32824" name="Rectangle 86">
                  <a:extLst>
                    <a:ext uri="{FF2B5EF4-FFF2-40B4-BE49-F238E27FC236}">
                      <a16:creationId xmlns:a16="http://schemas.microsoft.com/office/drawing/2014/main" id="{45CBDFE9-7873-46E6-8952-470E36B5FC0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24000" y="3352800"/>
                  <a:ext cx="609600" cy="152400"/>
                </a:xfrm>
                <a:prstGeom prst="rect">
                  <a:avLst/>
                </a:prstGeom>
                <a:noFill/>
                <a:ln w="12700" algn="ctr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32825" name="Rectangle 87">
                  <a:extLst>
                    <a:ext uri="{FF2B5EF4-FFF2-40B4-BE49-F238E27FC236}">
                      <a16:creationId xmlns:a16="http://schemas.microsoft.com/office/drawing/2014/main" id="{DEA468E6-4066-4D62-90BA-52F52AA816F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24000" y="3505200"/>
                  <a:ext cx="609600" cy="152400"/>
                </a:xfrm>
                <a:prstGeom prst="rect">
                  <a:avLst/>
                </a:prstGeom>
                <a:noFill/>
                <a:ln w="12700" algn="ctr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32826" name="Rectangle 88">
                  <a:extLst>
                    <a:ext uri="{FF2B5EF4-FFF2-40B4-BE49-F238E27FC236}">
                      <a16:creationId xmlns:a16="http://schemas.microsoft.com/office/drawing/2014/main" id="{377A7E2D-6723-4EF1-9653-C419E93AF25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24000" y="3657600"/>
                  <a:ext cx="609600" cy="152400"/>
                </a:xfrm>
                <a:prstGeom prst="rect">
                  <a:avLst/>
                </a:prstGeom>
                <a:noFill/>
                <a:ln w="12700" algn="ctr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</p:grpSp>
          <p:grpSp>
            <p:nvGrpSpPr>
              <p:cNvPr id="32800" name="Group 62">
                <a:extLst>
                  <a:ext uri="{FF2B5EF4-FFF2-40B4-BE49-F238E27FC236}">
                    <a16:creationId xmlns:a16="http://schemas.microsoft.com/office/drawing/2014/main" id="{A215053A-8D49-4210-A12F-F4E7DA03840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200400" y="1524000"/>
                <a:ext cx="609600" cy="1676400"/>
                <a:chOff x="1524000" y="2133600"/>
                <a:chExt cx="609600" cy="1676400"/>
              </a:xfrm>
            </p:grpSpPr>
            <p:sp>
              <p:nvSpPr>
                <p:cNvPr id="32805" name="Rectangle 67">
                  <a:extLst>
                    <a:ext uri="{FF2B5EF4-FFF2-40B4-BE49-F238E27FC236}">
                      <a16:creationId xmlns:a16="http://schemas.microsoft.com/office/drawing/2014/main" id="{A7321B9B-412A-4801-88C1-83955FDB71E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24000" y="2133600"/>
                  <a:ext cx="609600" cy="152400"/>
                </a:xfrm>
                <a:prstGeom prst="rect">
                  <a:avLst/>
                </a:prstGeom>
                <a:noFill/>
                <a:ln w="12700" algn="ctr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32806" name="Rectangle 68">
                  <a:extLst>
                    <a:ext uri="{FF2B5EF4-FFF2-40B4-BE49-F238E27FC236}">
                      <a16:creationId xmlns:a16="http://schemas.microsoft.com/office/drawing/2014/main" id="{D36749AF-3D6F-4EF6-B753-74CC41A3A19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24000" y="2286000"/>
                  <a:ext cx="609600" cy="152400"/>
                </a:xfrm>
                <a:prstGeom prst="rect">
                  <a:avLst/>
                </a:prstGeom>
                <a:noFill/>
                <a:ln w="12700" algn="ctr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32807" name="Rectangle 69">
                  <a:extLst>
                    <a:ext uri="{FF2B5EF4-FFF2-40B4-BE49-F238E27FC236}">
                      <a16:creationId xmlns:a16="http://schemas.microsoft.com/office/drawing/2014/main" id="{4BAF1A2E-72F8-424F-835F-A27095568CF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24000" y="2438400"/>
                  <a:ext cx="609600" cy="152400"/>
                </a:xfrm>
                <a:prstGeom prst="rect">
                  <a:avLst/>
                </a:prstGeom>
                <a:noFill/>
                <a:ln w="12700" algn="ctr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32808" name="Rectangle 70">
                  <a:extLst>
                    <a:ext uri="{FF2B5EF4-FFF2-40B4-BE49-F238E27FC236}">
                      <a16:creationId xmlns:a16="http://schemas.microsoft.com/office/drawing/2014/main" id="{0A448CEF-668E-4818-BFFA-67B4CF3A255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24000" y="2590800"/>
                  <a:ext cx="609600" cy="152400"/>
                </a:xfrm>
                <a:prstGeom prst="rect">
                  <a:avLst/>
                </a:prstGeom>
                <a:noFill/>
                <a:ln w="12700" algn="ctr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32809" name="Rectangle 71">
                  <a:extLst>
                    <a:ext uri="{FF2B5EF4-FFF2-40B4-BE49-F238E27FC236}">
                      <a16:creationId xmlns:a16="http://schemas.microsoft.com/office/drawing/2014/main" id="{DE7E4712-D031-41BC-AC5B-01B1BD6413A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24000" y="2743200"/>
                  <a:ext cx="609600" cy="152400"/>
                </a:xfrm>
                <a:prstGeom prst="rect">
                  <a:avLst/>
                </a:prstGeom>
                <a:noFill/>
                <a:ln w="12700" algn="ctr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32810" name="Rectangle 72">
                  <a:extLst>
                    <a:ext uri="{FF2B5EF4-FFF2-40B4-BE49-F238E27FC236}">
                      <a16:creationId xmlns:a16="http://schemas.microsoft.com/office/drawing/2014/main" id="{1DAF59B5-F52D-4042-A698-AAA1D60D330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24000" y="2895600"/>
                  <a:ext cx="609600" cy="152400"/>
                </a:xfrm>
                <a:prstGeom prst="rect">
                  <a:avLst/>
                </a:prstGeom>
                <a:noFill/>
                <a:ln w="12700" algn="ctr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32811" name="Rectangle 73">
                  <a:extLst>
                    <a:ext uri="{FF2B5EF4-FFF2-40B4-BE49-F238E27FC236}">
                      <a16:creationId xmlns:a16="http://schemas.microsoft.com/office/drawing/2014/main" id="{1AAB5E41-7E4E-4E5B-8C21-A73E31465AD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24000" y="3048000"/>
                  <a:ext cx="609600" cy="152400"/>
                </a:xfrm>
                <a:prstGeom prst="rect">
                  <a:avLst/>
                </a:prstGeom>
                <a:noFill/>
                <a:ln w="12700" algn="ctr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32812" name="Rectangle 74">
                  <a:extLst>
                    <a:ext uri="{FF2B5EF4-FFF2-40B4-BE49-F238E27FC236}">
                      <a16:creationId xmlns:a16="http://schemas.microsoft.com/office/drawing/2014/main" id="{F01C8D1D-073E-4184-8F59-0135C7A3305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24000" y="3200400"/>
                  <a:ext cx="609600" cy="152400"/>
                </a:xfrm>
                <a:prstGeom prst="rect">
                  <a:avLst/>
                </a:prstGeom>
                <a:noFill/>
                <a:ln w="12700" algn="ctr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32813" name="Rectangle 75">
                  <a:extLst>
                    <a:ext uri="{FF2B5EF4-FFF2-40B4-BE49-F238E27FC236}">
                      <a16:creationId xmlns:a16="http://schemas.microsoft.com/office/drawing/2014/main" id="{B1985C0C-2F75-43E0-9163-B5EAC2F6AE3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24000" y="3352800"/>
                  <a:ext cx="609600" cy="152400"/>
                </a:xfrm>
                <a:prstGeom prst="rect">
                  <a:avLst/>
                </a:prstGeom>
                <a:noFill/>
                <a:ln w="12700" algn="ctr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32814" name="Rectangle 76">
                  <a:extLst>
                    <a:ext uri="{FF2B5EF4-FFF2-40B4-BE49-F238E27FC236}">
                      <a16:creationId xmlns:a16="http://schemas.microsoft.com/office/drawing/2014/main" id="{42921544-648E-467A-8E97-94229E6D634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24000" y="3505200"/>
                  <a:ext cx="609600" cy="152400"/>
                </a:xfrm>
                <a:prstGeom prst="rect">
                  <a:avLst/>
                </a:prstGeom>
                <a:noFill/>
                <a:ln w="12700" algn="ctr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32815" name="Rectangle 77">
                  <a:extLst>
                    <a:ext uri="{FF2B5EF4-FFF2-40B4-BE49-F238E27FC236}">
                      <a16:creationId xmlns:a16="http://schemas.microsoft.com/office/drawing/2014/main" id="{694FFD30-CC5A-4F68-9AAC-07A28E33EF6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24000" y="3657600"/>
                  <a:ext cx="609600" cy="152400"/>
                </a:xfrm>
                <a:prstGeom prst="rect">
                  <a:avLst/>
                </a:prstGeom>
                <a:noFill/>
                <a:ln w="12700" algn="ctr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</p:grpSp>
          <p:sp>
            <p:nvSpPr>
              <p:cNvPr id="32801" name="Rectangle 63">
                <a:extLst>
                  <a:ext uri="{FF2B5EF4-FFF2-40B4-BE49-F238E27FC236}">
                    <a16:creationId xmlns:a16="http://schemas.microsoft.com/office/drawing/2014/main" id="{B90CB9CC-E958-4177-BED7-469F671EAA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24000" y="4334933"/>
                <a:ext cx="609600" cy="152400"/>
              </a:xfrm>
              <a:prstGeom prst="rect">
                <a:avLst/>
              </a:prstGeom>
              <a:noFill/>
              <a:ln w="12700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endParaRPr lang="en-GB" altLang="it-IT"/>
              </a:p>
            </p:txBody>
          </p:sp>
          <p:cxnSp>
            <p:nvCxnSpPr>
              <p:cNvPr id="32802" name="Straight Arrow Connector 64">
                <a:extLst>
                  <a:ext uri="{FF2B5EF4-FFF2-40B4-BE49-F238E27FC236}">
                    <a16:creationId xmlns:a16="http://schemas.microsoft.com/office/drawing/2014/main" id="{502FC579-E232-476B-8176-1208A2B0DD44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V="1">
                <a:off x="1828800" y="1828800"/>
                <a:ext cx="533400" cy="381000"/>
              </a:xfrm>
              <a:prstGeom prst="straightConnector1">
                <a:avLst/>
              </a:prstGeom>
              <a:noFill/>
              <a:ln w="19050" algn="ctr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32803" name="Straight Arrow Connector 65">
                <a:extLst>
                  <a:ext uri="{FF2B5EF4-FFF2-40B4-BE49-F238E27FC236}">
                    <a16:creationId xmlns:a16="http://schemas.microsoft.com/office/drawing/2014/main" id="{296D5FC2-81B0-4E69-8BC6-74F84FDD1092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V="1">
                <a:off x="2667000" y="1524000"/>
                <a:ext cx="533400" cy="381000"/>
              </a:xfrm>
              <a:prstGeom prst="straightConnector1">
                <a:avLst/>
              </a:prstGeom>
              <a:noFill/>
              <a:ln w="19050" algn="ctr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sp>
            <p:nvSpPr>
              <p:cNvPr id="32804" name="Freeform 66">
                <a:extLst>
                  <a:ext uri="{FF2B5EF4-FFF2-40B4-BE49-F238E27FC236}">
                    <a16:creationId xmlns:a16="http://schemas.microsoft.com/office/drawing/2014/main" id="{6072CBE4-3826-4600-BC1E-26ACAE0C5F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57112" y="2142067"/>
                <a:ext cx="663222" cy="2277534"/>
              </a:xfrm>
              <a:custGeom>
                <a:avLst/>
                <a:gdLst>
                  <a:gd name="T0" fmla="*/ 663222 w 663222"/>
                  <a:gd name="T1" fmla="*/ 2277534 h 2277534"/>
                  <a:gd name="T2" fmla="*/ 172155 w 663222"/>
                  <a:gd name="T3" fmla="*/ 1998134 h 2277534"/>
                  <a:gd name="T4" fmla="*/ 36689 w 663222"/>
                  <a:gd name="T5" fmla="*/ 1346200 h 2277534"/>
                  <a:gd name="T6" fmla="*/ 53622 w 663222"/>
                  <a:gd name="T7" fmla="*/ 270934 h 2277534"/>
                  <a:gd name="T8" fmla="*/ 358422 w 663222"/>
                  <a:gd name="T9" fmla="*/ 0 h 227753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63222"/>
                  <a:gd name="T16" fmla="*/ 0 h 2277534"/>
                  <a:gd name="T17" fmla="*/ 663222 w 663222"/>
                  <a:gd name="T18" fmla="*/ 2277534 h 227753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63222" h="2277534">
                    <a:moveTo>
                      <a:pt x="663222" y="2277534"/>
                    </a:moveTo>
                    <a:cubicBezTo>
                      <a:pt x="469899" y="2215445"/>
                      <a:pt x="276577" y="2153356"/>
                      <a:pt x="172155" y="1998134"/>
                    </a:cubicBezTo>
                    <a:cubicBezTo>
                      <a:pt x="67733" y="1842912"/>
                      <a:pt x="56444" y="1634067"/>
                      <a:pt x="36689" y="1346200"/>
                    </a:cubicBezTo>
                    <a:cubicBezTo>
                      <a:pt x="16934" y="1058333"/>
                      <a:pt x="0" y="495301"/>
                      <a:pt x="53622" y="270934"/>
                    </a:cubicBezTo>
                    <a:cubicBezTo>
                      <a:pt x="107244" y="46567"/>
                      <a:pt x="232833" y="23283"/>
                      <a:pt x="358422" y="0"/>
                    </a:cubicBezTo>
                  </a:path>
                </a:pathLst>
              </a:custGeom>
              <a:noFill/>
              <a:ln w="19050" algn="ctr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endParaRPr lang="en-GB" altLang="it-IT"/>
              </a:p>
            </p:txBody>
          </p:sp>
        </p:grpSp>
        <p:sp>
          <p:nvSpPr>
            <p:cNvPr id="32797" name="TextBox 144">
              <a:extLst>
                <a:ext uri="{FF2B5EF4-FFF2-40B4-BE49-F238E27FC236}">
                  <a16:creationId xmlns:a16="http://schemas.microsoft.com/office/drawing/2014/main" id="{ABB751DE-2963-45C7-B64F-9C3D4356C8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05767" y="5026223"/>
              <a:ext cx="2895600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400">
                  <a:solidFill>
                    <a:srgbClr val="003C75"/>
                  </a:solidFill>
                </a:rPr>
                <a:t>Class Hierarchy</a:t>
              </a:r>
            </a:p>
          </p:txBody>
        </p:sp>
      </p:grpSp>
      <p:grpSp>
        <p:nvGrpSpPr>
          <p:cNvPr id="32775" name="Group 116">
            <a:extLst>
              <a:ext uri="{FF2B5EF4-FFF2-40B4-BE49-F238E27FC236}">
                <a16:creationId xmlns:a16="http://schemas.microsoft.com/office/drawing/2014/main" id="{6F9927C9-B6AB-4CCE-A926-3DEC235E2322}"/>
              </a:ext>
            </a:extLst>
          </p:cNvPr>
          <p:cNvGrpSpPr>
            <a:grpSpLocks/>
          </p:cNvGrpSpPr>
          <p:nvPr/>
        </p:nvGrpSpPr>
        <p:grpSpPr bwMode="auto">
          <a:xfrm>
            <a:off x="6934200" y="2206625"/>
            <a:ext cx="1600200" cy="3127375"/>
            <a:chOff x="6934200" y="2206823"/>
            <a:chExt cx="1600200" cy="3127177"/>
          </a:xfrm>
        </p:grpSpPr>
        <p:sp>
          <p:nvSpPr>
            <p:cNvPr id="32777" name="Rounded Rectangle 151">
              <a:extLst>
                <a:ext uri="{FF2B5EF4-FFF2-40B4-BE49-F238E27FC236}">
                  <a16:creationId xmlns:a16="http://schemas.microsoft.com/office/drawing/2014/main" id="{B6E2C046-3E01-411D-A55F-188021FD70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34200" y="2206823"/>
              <a:ext cx="1524000" cy="2743200"/>
            </a:xfrm>
            <a:prstGeom prst="roundRect">
              <a:avLst>
                <a:gd name="adj" fmla="val 16667"/>
              </a:avLst>
            </a:prstGeom>
            <a:solidFill>
              <a:srgbClr val="BFBFBF"/>
            </a:solidFill>
            <a:ln w="9525" algn="ctr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grpSp>
          <p:nvGrpSpPr>
            <p:cNvPr id="32778" name="Group 150">
              <a:extLst>
                <a:ext uri="{FF2B5EF4-FFF2-40B4-BE49-F238E27FC236}">
                  <a16:creationId xmlns:a16="http://schemas.microsoft.com/office/drawing/2014/main" id="{B75D4D7C-77A1-4418-850F-F88A9B8D1A8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934200" y="2520090"/>
              <a:ext cx="1600200" cy="2813910"/>
              <a:chOff x="6705600" y="2218267"/>
              <a:chExt cx="1600200" cy="2813910"/>
            </a:xfrm>
          </p:grpSpPr>
          <p:grpSp>
            <p:nvGrpSpPr>
              <p:cNvPr id="32779" name="Group 149">
                <a:extLst>
                  <a:ext uri="{FF2B5EF4-FFF2-40B4-BE49-F238E27FC236}">
                    <a16:creationId xmlns:a16="http://schemas.microsoft.com/office/drawing/2014/main" id="{43588A71-F734-4D37-93FB-CDFC406189B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781800" y="2218267"/>
                <a:ext cx="976488" cy="2353733"/>
                <a:chOff x="6781800" y="2218267"/>
                <a:chExt cx="976488" cy="2353733"/>
              </a:xfrm>
            </p:grpSpPr>
            <p:grpSp>
              <p:nvGrpSpPr>
                <p:cNvPr id="32781" name="Group 101">
                  <a:extLst>
                    <a:ext uri="{FF2B5EF4-FFF2-40B4-BE49-F238E27FC236}">
                      <a16:creationId xmlns:a16="http://schemas.microsoft.com/office/drawing/2014/main" id="{76F2B791-7AE7-4E8F-A641-B4E9C2BFB84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7148688" y="2218267"/>
                  <a:ext cx="609600" cy="1676400"/>
                  <a:chOff x="1524000" y="2133600"/>
                  <a:chExt cx="609600" cy="1676400"/>
                </a:xfrm>
              </p:grpSpPr>
              <p:sp>
                <p:nvSpPr>
                  <p:cNvPr id="32784" name="Rectangle 130">
                    <a:extLst>
                      <a:ext uri="{FF2B5EF4-FFF2-40B4-BE49-F238E27FC236}">
                        <a16:creationId xmlns:a16="http://schemas.microsoft.com/office/drawing/2014/main" id="{6D85635B-C17C-4049-99C5-60040EB5CE3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524000" y="2133600"/>
                    <a:ext cx="609600" cy="152400"/>
                  </a:xfrm>
                  <a:prstGeom prst="rect">
                    <a:avLst/>
                  </a:prstGeom>
                  <a:noFill/>
                  <a:ln w="12700" algn="ctr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9pPr>
                  </a:lstStyle>
                  <a:p>
                    <a:endParaRPr lang="en-GB" altLang="it-IT"/>
                  </a:p>
                </p:txBody>
              </p:sp>
              <p:sp>
                <p:nvSpPr>
                  <p:cNvPr id="32785" name="Rectangle 131">
                    <a:extLst>
                      <a:ext uri="{FF2B5EF4-FFF2-40B4-BE49-F238E27FC236}">
                        <a16:creationId xmlns:a16="http://schemas.microsoft.com/office/drawing/2014/main" id="{DDA8861C-0E01-4D1E-A58D-D462D3AB066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524000" y="2286000"/>
                    <a:ext cx="609600" cy="152400"/>
                  </a:xfrm>
                  <a:prstGeom prst="rect">
                    <a:avLst/>
                  </a:prstGeom>
                  <a:noFill/>
                  <a:ln w="12700" algn="ctr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9pPr>
                  </a:lstStyle>
                  <a:p>
                    <a:endParaRPr lang="en-GB" altLang="it-IT"/>
                  </a:p>
                </p:txBody>
              </p:sp>
              <p:sp>
                <p:nvSpPr>
                  <p:cNvPr id="32786" name="Rectangle 132">
                    <a:extLst>
                      <a:ext uri="{FF2B5EF4-FFF2-40B4-BE49-F238E27FC236}">
                        <a16:creationId xmlns:a16="http://schemas.microsoft.com/office/drawing/2014/main" id="{5A2C100A-0454-4B05-8E08-2217890797B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524000" y="2438400"/>
                    <a:ext cx="609600" cy="152400"/>
                  </a:xfrm>
                  <a:prstGeom prst="rect">
                    <a:avLst/>
                  </a:prstGeom>
                  <a:noFill/>
                  <a:ln w="12700" algn="ctr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9pPr>
                  </a:lstStyle>
                  <a:p>
                    <a:endParaRPr lang="en-GB" altLang="it-IT"/>
                  </a:p>
                </p:txBody>
              </p:sp>
              <p:sp>
                <p:nvSpPr>
                  <p:cNvPr id="32787" name="Rectangle 133">
                    <a:extLst>
                      <a:ext uri="{FF2B5EF4-FFF2-40B4-BE49-F238E27FC236}">
                        <a16:creationId xmlns:a16="http://schemas.microsoft.com/office/drawing/2014/main" id="{64E3E5B4-8BF8-46C3-817B-AE1A0C4A56C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524000" y="2590800"/>
                    <a:ext cx="609600" cy="152400"/>
                  </a:xfrm>
                  <a:prstGeom prst="rect">
                    <a:avLst/>
                  </a:prstGeom>
                  <a:noFill/>
                  <a:ln w="12700" algn="ctr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9pPr>
                  </a:lstStyle>
                  <a:p>
                    <a:endParaRPr lang="en-GB" altLang="it-IT"/>
                  </a:p>
                </p:txBody>
              </p:sp>
              <p:sp>
                <p:nvSpPr>
                  <p:cNvPr id="32788" name="Rectangle 134">
                    <a:extLst>
                      <a:ext uri="{FF2B5EF4-FFF2-40B4-BE49-F238E27FC236}">
                        <a16:creationId xmlns:a16="http://schemas.microsoft.com/office/drawing/2014/main" id="{75459FAC-87B5-4E2D-A934-3C9FF00DF5A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524000" y="2743200"/>
                    <a:ext cx="609600" cy="152400"/>
                  </a:xfrm>
                  <a:prstGeom prst="rect">
                    <a:avLst/>
                  </a:prstGeom>
                  <a:noFill/>
                  <a:ln w="12700" algn="ctr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9pPr>
                  </a:lstStyle>
                  <a:p>
                    <a:endParaRPr lang="en-GB" altLang="it-IT"/>
                  </a:p>
                </p:txBody>
              </p:sp>
              <p:sp>
                <p:nvSpPr>
                  <p:cNvPr id="32789" name="Rectangle 135">
                    <a:extLst>
                      <a:ext uri="{FF2B5EF4-FFF2-40B4-BE49-F238E27FC236}">
                        <a16:creationId xmlns:a16="http://schemas.microsoft.com/office/drawing/2014/main" id="{F7E21B8B-4DDD-455A-823F-88B9EB0D21F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524000" y="2895600"/>
                    <a:ext cx="609600" cy="152400"/>
                  </a:xfrm>
                  <a:prstGeom prst="rect">
                    <a:avLst/>
                  </a:prstGeom>
                  <a:noFill/>
                  <a:ln w="12700" algn="ctr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9pPr>
                  </a:lstStyle>
                  <a:p>
                    <a:endParaRPr lang="en-GB" altLang="it-IT"/>
                  </a:p>
                </p:txBody>
              </p:sp>
              <p:sp>
                <p:nvSpPr>
                  <p:cNvPr id="32790" name="Rectangle 136">
                    <a:extLst>
                      <a:ext uri="{FF2B5EF4-FFF2-40B4-BE49-F238E27FC236}">
                        <a16:creationId xmlns:a16="http://schemas.microsoft.com/office/drawing/2014/main" id="{AC70DCAD-7FB7-4F78-8961-54DCBDE3282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524000" y="3048000"/>
                    <a:ext cx="609600" cy="152400"/>
                  </a:xfrm>
                  <a:prstGeom prst="rect">
                    <a:avLst/>
                  </a:prstGeom>
                  <a:noFill/>
                  <a:ln w="12700" algn="ctr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9pPr>
                  </a:lstStyle>
                  <a:p>
                    <a:endParaRPr lang="en-GB" altLang="it-IT"/>
                  </a:p>
                </p:txBody>
              </p:sp>
              <p:sp>
                <p:nvSpPr>
                  <p:cNvPr id="32791" name="Rectangle 137">
                    <a:extLst>
                      <a:ext uri="{FF2B5EF4-FFF2-40B4-BE49-F238E27FC236}">
                        <a16:creationId xmlns:a16="http://schemas.microsoft.com/office/drawing/2014/main" id="{A00ED044-32F3-4BB2-918E-E3CBDF77065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524000" y="3200400"/>
                    <a:ext cx="609600" cy="152400"/>
                  </a:xfrm>
                  <a:prstGeom prst="rect">
                    <a:avLst/>
                  </a:prstGeom>
                  <a:noFill/>
                  <a:ln w="12700" algn="ctr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9pPr>
                  </a:lstStyle>
                  <a:p>
                    <a:endParaRPr lang="en-GB" altLang="it-IT"/>
                  </a:p>
                </p:txBody>
              </p:sp>
              <p:sp>
                <p:nvSpPr>
                  <p:cNvPr id="32792" name="Rectangle 138">
                    <a:extLst>
                      <a:ext uri="{FF2B5EF4-FFF2-40B4-BE49-F238E27FC236}">
                        <a16:creationId xmlns:a16="http://schemas.microsoft.com/office/drawing/2014/main" id="{BFFA6391-41FD-4492-BF39-122F348F833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524000" y="3352800"/>
                    <a:ext cx="609600" cy="152400"/>
                  </a:xfrm>
                  <a:prstGeom prst="rect">
                    <a:avLst/>
                  </a:prstGeom>
                  <a:noFill/>
                  <a:ln w="12700" algn="ctr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9pPr>
                  </a:lstStyle>
                  <a:p>
                    <a:endParaRPr lang="en-GB" altLang="it-IT"/>
                  </a:p>
                </p:txBody>
              </p:sp>
              <p:sp>
                <p:nvSpPr>
                  <p:cNvPr id="32793" name="Rectangle 139">
                    <a:extLst>
                      <a:ext uri="{FF2B5EF4-FFF2-40B4-BE49-F238E27FC236}">
                        <a16:creationId xmlns:a16="http://schemas.microsoft.com/office/drawing/2014/main" id="{1B58B1B8-66B1-4DE3-B851-87EB412C42B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524000" y="3505200"/>
                    <a:ext cx="609600" cy="152400"/>
                  </a:xfrm>
                  <a:prstGeom prst="rect">
                    <a:avLst/>
                  </a:prstGeom>
                  <a:noFill/>
                  <a:ln w="12700" algn="ctr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9pPr>
                  </a:lstStyle>
                  <a:p>
                    <a:endParaRPr lang="en-GB" altLang="it-IT"/>
                  </a:p>
                </p:txBody>
              </p:sp>
              <p:sp>
                <p:nvSpPr>
                  <p:cNvPr id="32794" name="Rectangle 140">
                    <a:extLst>
                      <a:ext uri="{FF2B5EF4-FFF2-40B4-BE49-F238E27FC236}">
                        <a16:creationId xmlns:a16="http://schemas.microsoft.com/office/drawing/2014/main" id="{85029132-ACBD-4DD5-855E-D1B823E2806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524000" y="3657600"/>
                    <a:ext cx="609600" cy="152400"/>
                  </a:xfrm>
                  <a:prstGeom prst="rect">
                    <a:avLst/>
                  </a:prstGeom>
                  <a:noFill/>
                  <a:ln w="12700" algn="ctr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9pPr>
                  </a:lstStyle>
                  <a:p>
                    <a:endParaRPr lang="en-GB" altLang="it-IT"/>
                  </a:p>
                </p:txBody>
              </p:sp>
            </p:grpSp>
            <p:sp>
              <p:nvSpPr>
                <p:cNvPr id="32782" name="Rectangle 104">
                  <a:extLst>
                    <a:ext uri="{FF2B5EF4-FFF2-40B4-BE49-F238E27FC236}">
                      <a16:creationId xmlns:a16="http://schemas.microsoft.com/office/drawing/2014/main" id="{693825EA-61A7-4331-A17F-562B87323DD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148688" y="4419600"/>
                  <a:ext cx="609600" cy="152400"/>
                </a:xfrm>
                <a:prstGeom prst="rect">
                  <a:avLst/>
                </a:prstGeom>
                <a:noFill/>
                <a:ln w="12700" algn="ctr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  <p:sp>
              <p:nvSpPr>
                <p:cNvPr id="32783" name="Freeform 107">
                  <a:extLst>
                    <a:ext uri="{FF2B5EF4-FFF2-40B4-BE49-F238E27FC236}">
                      <a16:creationId xmlns:a16="http://schemas.microsoft.com/office/drawing/2014/main" id="{B88F2E53-9B83-4AEA-84E5-9B3E5FA862D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781800" y="2226734"/>
                  <a:ext cx="663222" cy="2277534"/>
                </a:xfrm>
                <a:custGeom>
                  <a:avLst/>
                  <a:gdLst>
                    <a:gd name="T0" fmla="*/ 663222 w 663222"/>
                    <a:gd name="T1" fmla="*/ 2277534 h 2277534"/>
                    <a:gd name="T2" fmla="*/ 172155 w 663222"/>
                    <a:gd name="T3" fmla="*/ 1998134 h 2277534"/>
                    <a:gd name="T4" fmla="*/ 36689 w 663222"/>
                    <a:gd name="T5" fmla="*/ 1346200 h 2277534"/>
                    <a:gd name="T6" fmla="*/ 53622 w 663222"/>
                    <a:gd name="T7" fmla="*/ 270934 h 2277534"/>
                    <a:gd name="T8" fmla="*/ 358422 w 663222"/>
                    <a:gd name="T9" fmla="*/ 0 h 227753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63222"/>
                    <a:gd name="T16" fmla="*/ 0 h 2277534"/>
                    <a:gd name="T17" fmla="*/ 663222 w 663222"/>
                    <a:gd name="T18" fmla="*/ 2277534 h 227753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63222" h="2277534">
                      <a:moveTo>
                        <a:pt x="663222" y="2277534"/>
                      </a:moveTo>
                      <a:cubicBezTo>
                        <a:pt x="469899" y="2215445"/>
                        <a:pt x="276577" y="2153356"/>
                        <a:pt x="172155" y="1998134"/>
                      </a:cubicBezTo>
                      <a:cubicBezTo>
                        <a:pt x="67733" y="1842912"/>
                        <a:pt x="56444" y="1634067"/>
                        <a:pt x="36689" y="1346200"/>
                      </a:cubicBezTo>
                      <a:cubicBezTo>
                        <a:pt x="16934" y="1058333"/>
                        <a:pt x="0" y="495301"/>
                        <a:pt x="53622" y="270934"/>
                      </a:cubicBezTo>
                      <a:cubicBezTo>
                        <a:pt x="107244" y="46567"/>
                        <a:pt x="232833" y="23283"/>
                        <a:pt x="358422" y="0"/>
                      </a:cubicBezTo>
                    </a:path>
                  </a:pathLst>
                </a:custGeom>
                <a:noFill/>
                <a:ln w="19050" algn="ctr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endParaRPr lang="en-GB" altLang="it-IT"/>
                </a:p>
              </p:txBody>
            </p:sp>
          </p:grpSp>
          <p:sp>
            <p:nvSpPr>
              <p:cNvPr id="32780" name="TextBox 145">
                <a:extLst>
                  <a:ext uri="{FF2B5EF4-FFF2-40B4-BE49-F238E27FC236}">
                    <a16:creationId xmlns:a16="http://schemas.microsoft.com/office/drawing/2014/main" id="{97800C72-23E6-4DA8-89E8-5C9A42761AC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705600" y="4724400"/>
                <a:ext cx="1600200" cy="3077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/>
                <a:r>
                  <a:rPr lang="en-US" altLang="it-IT" sz="1400">
                    <a:solidFill>
                      <a:srgbClr val="003C75"/>
                    </a:solidFill>
                  </a:rPr>
                  <a:t>Global Scope</a:t>
                </a:r>
              </a:p>
            </p:txBody>
          </p:sp>
        </p:grpSp>
      </p:grpSp>
      <p:sp>
        <p:nvSpPr>
          <p:cNvPr id="113" name="Content Placeholder 2">
            <a:extLst>
              <a:ext uri="{FF2B5EF4-FFF2-40B4-BE49-F238E27FC236}">
                <a16:creationId xmlns:a16="http://schemas.microsoft.com/office/drawing/2014/main" id="{DCE6F036-DCE4-4EA7-A725-85FBB41CE76F}"/>
              </a:ext>
            </a:extLst>
          </p:cNvPr>
          <p:cNvSpPr txBox="1">
            <a:spLocks/>
          </p:cNvSpPr>
          <p:nvPr/>
        </p:nvSpPr>
        <p:spPr bwMode="auto">
          <a:xfrm>
            <a:off x="685800" y="5638800"/>
            <a:ext cx="78486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ts val="600"/>
              </a:spcBef>
              <a:buClr>
                <a:srgbClr val="003C75"/>
              </a:buClr>
              <a:buSzPct val="120000"/>
              <a:buFont typeface="Times" charset="0"/>
              <a:buNone/>
              <a:defRPr/>
            </a:pPr>
            <a:r>
              <a:rPr lang="en-US" sz="2000" kern="0" dirty="0">
                <a:latin typeface="+mn-lt"/>
                <a:ea typeface="+mn-ea"/>
                <a:cs typeface="+mn-cs"/>
              </a:rPr>
              <a:t>Search Order: lexical, class, global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Footer Placeholder 3">
            <a:extLst>
              <a:ext uri="{FF2B5EF4-FFF2-40B4-BE49-F238E27FC236}">
                <a16:creationId xmlns:a16="http://schemas.microsoft.com/office/drawing/2014/main" id="{6028BE44-3FD3-41BB-9877-9BCF58EA66B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33794" name="Slide Number Placeholder 4">
            <a:extLst>
              <a:ext uri="{FF2B5EF4-FFF2-40B4-BE49-F238E27FC236}">
                <a16:creationId xmlns:a16="http://schemas.microsoft.com/office/drawing/2014/main" id="{F6EEDBDC-A56D-4FA1-A23D-E23414A4A8B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4912301F-C533-4CD1-B985-531A25C23904}" type="slidenum">
              <a:rPr lang="en-US" altLang="it-IT"/>
              <a:pPr/>
              <a:t>10</a:t>
            </a:fld>
            <a:endParaRPr lang="en-US" altLang="it-IT"/>
          </a:p>
        </p:txBody>
      </p:sp>
      <p:sp>
        <p:nvSpPr>
          <p:cNvPr id="33795" name="Rectangle 2">
            <a:extLst>
              <a:ext uri="{FF2B5EF4-FFF2-40B4-BE49-F238E27FC236}">
                <a16:creationId xmlns:a16="http://schemas.microsoft.com/office/drawing/2014/main" id="{0C105FDD-4C99-45AB-BECC-81D849F60F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Java Symbol Tables</a:t>
            </a:r>
          </a:p>
        </p:txBody>
      </p:sp>
      <p:sp>
        <p:nvSpPr>
          <p:cNvPr id="33796" name="Rectangle 3">
            <a:extLst>
              <a:ext uri="{FF2B5EF4-FFF2-40B4-BE49-F238E27FC236}">
                <a16:creationId xmlns:a16="http://schemas.microsoft.com/office/drawing/2014/main" id="{1CAADBE8-E5A3-4084-9561-7D531C8B713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066800"/>
            <a:ext cx="7772400" cy="5257800"/>
          </a:xfrm>
        </p:spPr>
        <p:txBody>
          <a:bodyPr/>
          <a:lstStyle/>
          <a:p>
            <a:pPr eaLnBrk="1" hangingPunct="1">
              <a:buFont typeface="Times" panose="02020603050405020304" pitchFamily="18" charset="0"/>
              <a:buNone/>
            </a:pPr>
            <a:r>
              <a:rPr lang="en-US" altLang="it-IT">
                <a:solidFill>
                  <a:srgbClr val="003C75"/>
                </a:solidFill>
              </a:rPr>
              <a:t>To find the address for a reference to </a:t>
            </a:r>
            <a:r>
              <a:rPr lang="en-US" altLang="it-IT" i="1">
                <a:solidFill>
                  <a:srgbClr val="003C75"/>
                </a:solidFill>
              </a:rPr>
              <a:t>x</a:t>
            </a:r>
            <a:r>
              <a:rPr lang="en-US" altLang="it-IT">
                <a:solidFill>
                  <a:srgbClr val="003C75"/>
                </a:solidFill>
              </a:rPr>
              <a:t> in method M for an object O of class C, the compiler must:</a:t>
            </a:r>
            <a:endParaRPr lang="en-US" altLang="it-IT"/>
          </a:p>
          <a:p>
            <a:pPr eaLnBrk="1" hangingPunct="1"/>
            <a:r>
              <a:rPr lang="en-US" altLang="it-IT"/>
              <a:t>For an unqualified use (i.e., </a:t>
            </a:r>
            <a:r>
              <a:rPr lang="en-US" altLang="it-IT">
                <a:solidFill>
                  <a:srgbClr val="003C75"/>
                </a:solidFill>
              </a:rPr>
              <a:t>x</a:t>
            </a:r>
            <a:r>
              <a:rPr lang="en-US" altLang="it-IT"/>
              <a:t>):</a:t>
            </a:r>
          </a:p>
          <a:p>
            <a:pPr lvl="1" eaLnBrk="1" hangingPunct="1"/>
            <a:r>
              <a:rPr lang="en-US" altLang="it-IT"/>
              <a:t>Search the symbol table for the method’s lexical hierarchy</a:t>
            </a:r>
          </a:p>
          <a:p>
            <a:pPr lvl="1" eaLnBrk="1" hangingPunct="1"/>
            <a:r>
              <a:rPr lang="en-US" altLang="it-IT"/>
              <a:t>Search the symbol tables for the receiver’s class hierarchy</a:t>
            </a:r>
          </a:p>
          <a:p>
            <a:pPr lvl="1" eaLnBrk="1" hangingPunct="1"/>
            <a:r>
              <a:rPr lang="en-US" altLang="it-IT"/>
              <a:t>Search global symbol table (current package and imported)</a:t>
            </a:r>
          </a:p>
          <a:p>
            <a:pPr lvl="1" eaLnBrk="1" hangingPunct="1"/>
            <a:r>
              <a:rPr lang="en-US" altLang="it-IT"/>
              <a:t>In each case check visibility attribute of </a:t>
            </a:r>
            <a:r>
              <a:rPr lang="en-US" altLang="it-IT">
                <a:solidFill>
                  <a:srgbClr val="003C75"/>
                </a:solidFill>
              </a:rPr>
              <a:t>x</a:t>
            </a:r>
          </a:p>
          <a:p>
            <a:pPr eaLnBrk="1" hangingPunct="1"/>
            <a:r>
              <a:rPr lang="en-US" altLang="it-IT"/>
              <a:t>For a qualified use (i.e.: </a:t>
            </a:r>
            <a:r>
              <a:rPr lang="en-US" altLang="it-IT">
                <a:solidFill>
                  <a:srgbClr val="003C75"/>
                </a:solidFill>
              </a:rPr>
              <a:t>Q.x</a:t>
            </a:r>
            <a:r>
              <a:rPr lang="en-US" altLang="it-IT"/>
              <a:t>):</a:t>
            </a:r>
          </a:p>
          <a:p>
            <a:pPr lvl="1" eaLnBrk="1" hangingPunct="1"/>
            <a:r>
              <a:rPr lang="en-US" altLang="it-IT"/>
              <a:t>Find </a:t>
            </a:r>
            <a:r>
              <a:rPr lang="en-US" altLang="it-IT">
                <a:solidFill>
                  <a:srgbClr val="003C75"/>
                </a:solidFill>
              </a:rPr>
              <a:t>Q </a:t>
            </a:r>
            <a:r>
              <a:rPr lang="en-US" altLang="it-IT"/>
              <a:t>by the method above</a:t>
            </a:r>
          </a:p>
          <a:p>
            <a:pPr lvl="1" eaLnBrk="1" hangingPunct="1"/>
            <a:r>
              <a:rPr lang="en-US" altLang="it-IT"/>
              <a:t>Search from </a:t>
            </a:r>
            <a:r>
              <a:rPr lang="en-US" altLang="it-IT">
                <a:solidFill>
                  <a:srgbClr val="003C75"/>
                </a:solidFill>
              </a:rPr>
              <a:t>Q </a:t>
            </a:r>
            <a:r>
              <a:rPr lang="en-US" altLang="it-IT"/>
              <a:t>for </a:t>
            </a:r>
            <a:r>
              <a:rPr lang="en-US" altLang="it-IT">
                <a:solidFill>
                  <a:srgbClr val="003C75"/>
                </a:solidFill>
              </a:rPr>
              <a:t>x</a:t>
            </a:r>
          </a:p>
          <a:p>
            <a:pPr lvl="2" eaLnBrk="1" hangingPunct="1"/>
            <a:r>
              <a:rPr lang="en-US" altLang="it-IT"/>
              <a:t>Must be a class or instance variable of </a:t>
            </a:r>
            <a:r>
              <a:rPr lang="en-US" altLang="it-IT">
                <a:solidFill>
                  <a:srgbClr val="003C75"/>
                </a:solidFill>
              </a:rPr>
              <a:t>Q </a:t>
            </a:r>
            <a:r>
              <a:rPr lang="en-US" altLang="it-IT"/>
              <a:t>or some class it extends</a:t>
            </a:r>
          </a:p>
          <a:p>
            <a:pPr lvl="1" eaLnBrk="1" hangingPunct="1"/>
            <a:r>
              <a:rPr lang="en-US" altLang="it-IT"/>
              <a:t>Check visibility attribute of </a:t>
            </a:r>
            <a:r>
              <a:rPr lang="en-US" altLang="it-IT">
                <a:solidFill>
                  <a:srgbClr val="003C75"/>
                </a:solidFill>
              </a:rPr>
              <a:t>x</a:t>
            </a:r>
          </a:p>
        </p:txBody>
      </p:sp>
      <p:sp>
        <p:nvSpPr>
          <p:cNvPr id="21508" name="Text Box 4">
            <a:extLst>
              <a:ext uri="{FF2B5EF4-FFF2-40B4-BE49-F238E27FC236}">
                <a16:creationId xmlns:a16="http://schemas.microsoft.com/office/drawing/2014/main" id="{296733F2-B770-4CA9-A824-F4756DF7BB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7200" y="6105525"/>
            <a:ext cx="3886200" cy="523875"/>
          </a:xfrm>
          <a:prstGeom prst="rect">
            <a:avLst/>
          </a:prstGeom>
          <a:solidFill>
            <a:srgbClr val="BFBFBF"/>
          </a:solidFill>
          <a:ln w="19050" cap="flat" cmpd="sng" algn="ctr">
            <a:solidFill>
              <a:srgbClr val="7F7F7F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63500" dist="38099" dir="2700000" algn="ctr" rotWithShape="0">
              <a:schemeClr val="bg2">
                <a:alpha val="74998"/>
              </a:schemeClr>
            </a:outerShdw>
          </a:effec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 sz="1400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Again, the “sheaf of tables” implementation makes simplifies the conceptual picture.</a:t>
            </a:r>
          </a:p>
        </p:txBody>
      </p:sp>
    </p:spTree>
  </p:cSld>
  <p:clrMapOvr>
    <a:masterClrMapping/>
  </p:clrMapOvr>
  <p:transition>
    <p:wipe dir="r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Title 1">
            <a:extLst>
              <a:ext uri="{FF2B5EF4-FFF2-40B4-BE49-F238E27FC236}">
                <a16:creationId xmlns:a16="http://schemas.microsoft.com/office/drawing/2014/main" id="{1E7DFE72-69CB-4A8D-8D9C-4D22CE0A16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it-IT"/>
              <a:t>What Are The Issues?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B1586B-4F8F-4C58-AE58-C0BCA07D72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143000"/>
            <a:ext cx="7772400" cy="1981200"/>
          </a:xfrm>
        </p:spPr>
        <p:txBody>
          <a:bodyPr/>
          <a:lstStyle/>
          <a:p>
            <a:pPr>
              <a:buFont typeface="Times" charset="0"/>
              <a:buNone/>
              <a:defRPr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In an ALL, the compiler needs</a:t>
            </a:r>
          </a:p>
          <a:p>
            <a:pPr>
              <a:buFont typeface="Times" charset="0"/>
              <a:buChar char="•"/>
              <a:defRPr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Compile-time mechanism for name resolution</a:t>
            </a:r>
          </a:p>
          <a:p>
            <a:pPr>
              <a:buFont typeface="Times" charset="0"/>
              <a:buChar char="•"/>
              <a:defRPr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Runtime mechanism to compute an address from a name</a:t>
            </a:r>
          </a:p>
          <a:p>
            <a:pPr>
              <a:buFont typeface="Times" charset="0"/>
              <a:buNone/>
              <a:defRPr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Compiler must emit code that builds &amp; maintains the runtime structures for addressability</a:t>
            </a:r>
          </a:p>
        </p:txBody>
      </p:sp>
      <p:sp>
        <p:nvSpPr>
          <p:cNvPr id="35843" name="Footer Placeholder 3">
            <a:extLst>
              <a:ext uri="{FF2B5EF4-FFF2-40B4-BE49-F238E27FC236}">
                <a16:creationId xmlns:a16="http://schemas.microsoft.com/office/drawing/2014/main" id="{59A31180-C673-460B-888B-8B735AC6D58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35844" name="Slide Number Placeholder 4">
            <a:extLst>
              <a:ext uri="{FF2B5EF4-FFF2-40B4-BE49-F238E27FC236}">
                <a16:creationId xmlns:a16="http://schemas.microsoft.com/office/drawing/2014/main" id="{DC033A54-4BA7-4AD3-A3F2-B8549BADFED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8E728D93-59AB-40E1-8B8D-E29839FE01B4}" type="slidenum">
              <a:rPr lang="en-US" altLang="it-IT"/>
              <a:pPr/>
              <a:t>11</a:t>
            </a:fld>
            <a:endParaRPr lang="en-US" altLang="it-IT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EA87BF1-6BA9-4850-A18A-693E97E4261F}"/>
              </a:ext>
            </a:extLst>
          </p:cNvPr>
          <p:cNvSpPr txBox="1">
            <a:spLocks/>
          </p:cNvSpPr>
          <p:nvPr/>
        </p:nvSpPr>
        <p:spPr bwMode="auto">
          <a:xfrm>
            <a:off x="685800" y="3276600"/>
            <a:ext cx="77724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ts val="600"/>
              </a:spcBef>
              <a:buClr>
                <a:srgbClr val="003C75"/>
              </a:buClr>
              <a:buSzPct val="120000"/>
              <a:buFont typeface="Times" charset="0"/>
              <a:buNone/>
              <a:defRPr/>
            </a:pPr>
            <a:r>
              <a:rPr lang="en-US" sz="2000" kern="0" dirty="0">
                <a:solidFill>
                  <a:srgbClr val="003C75"/>
                </a:solidFill>
                <a:latin typeface="+mn-lt"/>
                <a:ea typeface="+mn-ea"/>
                <a:cs typeface="+mn-cs"/>
              </a:rPr>
              <a:t>In an OOL, the compiler needs</a:t>
            </a:r>
          </a:p>
          <a:p>
            <a:pPr marL="342900" indent="-342900" eaLnBrk="0" hangingPunct="0">
              <a:spcBef>
                <a:spcPts val="600"/>
              </a:spcBef>
              <a:buClr>
                <a:srgbClr val="003C75"/>
              </a:buClr>
              <a:buSzPct val="120000"/>
              <a:buFont typeface="Times" charset="0"/>
              <a:buChar char="•"/>
              <a:defRPr/>
            </a:pPr>
            <a:r>
              <a:rPr lang="en-US" sz="2000" kern="0" dirty="0">
                <a:latin typeface="+mn-lt"/>
                <a:ea typeface="+mn-ea"/>
                <a:cs typeface="+mn-cs"/>
              </a:rPr>
              <a:t>Compile-time mechanism for name resolution</a:t>
            </a:r>
          </a:p>
          <a:p>
            <a:pPr marL="342900" indent="-342900" eaLnBrk="0" hangingPunct="0">
              <a:spcBef>
                <a:spcPts val="600"/>
              </a:spcBef>
              <a:buClr>
                <a:srgbClr val="003C75"/>
              </a:buClr>
              <a:buSzPct val="120000"/>
              <a:buFont typeface="Times" charset="0"/>
              <a:buChar char="•"/>
              <a:defRPr/>
            </a:pPr>
            <a:r>
              <a:rPr lang="en-US" sz="2000" kern="0" dirty="0">
                <a:latin typeface="+mn-lt"/>
                <a:ea typeface="+mn-ea"/>
                <a:cs typeface="+mn-cs"/>
              </a:rPr>
              <a:t>Runtime mechanism to compute an address from a name</a:t>
            </a:r>
          </a:p>
          <a:p>
            <a:pPr marL="342900" indent="-342900" eaLnBrk="0" hangingPunct="0">
              <a:spcBef>
                <a:spcPts val="600"/>
              </a:spcBef>
              <a:buClr>
                <a:srgbClr val="003C75"/>
              </a:buClr>
              <a:buSzPct val="120000"/>
              <a:buFont typeface="Times" charset="0"/>
              <a:buNone/>
              <a:defRPr/>
            </a:pPr>
            <a:r>
              <a:rPr lang="en-US" sz="2000" kern="0" dirty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rPr>
              <a:t>Compiler must emit code that builds &amp; maintains the runtime structures for addressability</a:t>
            </a:r>
          </a:p>
        </p:txBody>
      </p:sp>
      <p:sp>
        <p:nvSpPr>
          <p:cNvPr id="35846" name="TextBox 10">
            <a:extLst>
              <a:ext uri="{FF2B5EF4-FFF2-40B4-BE49-F238E27FC236}">
                <a16:creationId xmlns:a16="http://schemas.microsoft.com/office/drawing/2014/main" id="{1EBD23F1-F043-4AFC-A037-5750B5F1FE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0800" y="3606800"/>
            <a:ext cx="6858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 sz="2400">
                <a:solidFill>
                  <a:srgbClr val="FF0065"/>
                </a:solidFill>
                <a:latin typeface="Zapf Dingbats"/>
                <a:ea typeface="Zapf Dingbats"/>
                <a:cs typeface="Zapf Dingbats"/>
              </a:rPr>
              <a:t>✓</a:t>
            </a:r>
            <a:endParaRPr lang="en-US" altLang="it-IT" sz="2400">
              <a:solidFill>
                <a:srgbClr val="FF0065"/>
              </a:solidFill>
            </a:endParaRPr>
          </a:p>
        </p:txBody>
      </p:sp>
      <p:sp>
        <p:nvSpPr>
          <p:cNvPr id="35847" name="TextBox 11">
            <a:extLst>
              <a:ext uri="{FF2B5EF4-FFF2-40B4-BE49-F238E27FC236}">
                <a16:creationId xmlns:a16="http://schemas.microsoft.com/office/drawing/2014/main" id="{17298239-FD7D-4502-B983-07E2BF891617}"/>
              </a:ext>
            </a:extLst>
          </p:cNvPr>
          <p:cNvSpPr txBox="1">
            <a:spLocks noChangeArrowheads="1"/>
          </p:cNvSpPr>
          <p:nvPr/>
        </p:nvSpPr>
        <p:spPr bwMode="auto">
          <a:xfrm rot="10800000">
            <a:off x="7696200" y="4065588"/>
            <a:ext cx="6096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 algn="r"/>
            <a:r>
              <a:rPr lang="en-US" altLang="it-IT" sz="2400">
                <a:solidFill>
                  <a:srgbClr val="FF0065"/>
                </a:solidFill>
              </a:rPr>
              <a:t>➙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6047374-BFAC-4F63-BCD7-BE1AFE1E8523}"/>
              </a:ext>
            </a:extLst>
          </p:cNvPr>
          <p:cNvSpPr txBox="1"/>
          <p:nvPr/>
        </p:nvSpPr>
        <p:spPr>
          <a:xfrm>
            <a:off x="1600200" y="5334000"/>
            <a:ext cx="5867400" cy="523875"/>
          </a:xfrm>
          <a:prstGeom prst="rect">
            <a:avLst/>
          </a:prstGeom>
          <a:solidFill>
            <a:srgbClr val="BFBFBF"/>
          </a:solidFill>
          <a:ln w="190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>
              <a:srgbClr val="000000">
                <a:alpha val="43000"/>
              </a:srgbClr>
            </a:outerShdw>
          </a:effectLst>
        </p:spPr>
        <p:txBody>
          <a:bodyPr>
            <a:spAutoFit/>
          </a:bodyPr>
          <a:lstStyle/>
          <a:p>
            <a:pPr algn="ctr" eaLnBrk="0" hangingPunct="0">
              <a:defRPr/>
            </a:pPr>
            <a:r>
              <a:rPr lang="en-US" sz="1400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We need both a representation for each object and a mechanism to establish addressability of each object and its various members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Title 1">
            <a:extLst>
              <a:ext uri="{FF2B5EF4-FFF2-40B4-BE49-F238E27FC236}">
                <a16:creationId xmlns:a16="http://schemas.microsoft.com/office/drawing/2014/main" id="{C3C6C4A8-5D7C-4AD8-AA7D-B5F568F58A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it-IT"/>
              <a:t>Runtime Structures for OOLs</a:t>
            </a:r>
          </a:p>
        </p:txBody>
      </p:sp>
      <p:sp>
        <p:nvSpPr>
          <p:cNvPr id="36866" name="Content Placeholder 2">
            <a:extLst>
              <a:ext uri="{FF2B5EF4-FFF2-40B4-BE49-F238E27FC236}">
                <a16:creationId xmlns:a16="http://schemas.microsoft.com/office/drawing/2014/main" id="{730A49AC-DC89-4BF2-B241-ACF8EEFE6E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Times" panose="02020603050405020304" pitchFamily="18" charset="0"/>
              <a:buNone/>
            </a:pPr>
            <a:r>
              <a:rPr lang="en-US" altLang="it-IT">
                <a:solidFill>
                  <a:srgbClr val="003C75"/>
                </a:solidFill>
              </a:rPr>
              <a:t>Object lifetimes are independent</a:t>
            </a:r>
            <a:r>
              <a:rPr lang="en-US" altLang="it-IT"/>
              <a:t> </a:t>
            </a:r>
          </a:p>
          <a:p>
            <a:pPr>
              <a:spcBef>
                <a:spcPts val="1200"/>
              </a:spcBef>
            </a:pPr>
            <a:r>
              <a:rPr lang="en-US" altLang="it-IT"/>
              <a:t>Each object needs an object record (OR) to hold its state</a:t>
            </a:r>
          </a:p>
          <a:p>
            <a:pPr lvl="1"/>
            <a:r>
              <a:rPr lang="en-US" altLang="it-IT"/>
              <a:t>Independent allocation and deallocation</a:t>
            </a:r>
          </a:p>
          <a:p>
            <a:r>
              <a:rPr lang="en-US" altLang="it-IT"/>
              <a:t>Classes are objects, too</a:t>
            </a:r>
          </a:p>
          <a:p>
            <a:pPr lvl="1"/>
            <a:r>
              <a:rPr lang="en-US" altLang="it-IT"/>
              <a:t>ORs of classes instantiate the class hierarchy</a:t>
            </a:r>
          </a:p>
          <a:p>
            <a:pPr>
              <a:spcBef>
                <a:spcPts val="2400"/>
              </a:spcBef>
              <a:buFont typeface="Times" panose="02020603050405020304" pitchFamily="18" charset="0"/>
              <a:buNone/>
            </a:pPr>
            <a:r>
              <a:rPr lang="en-US" altLang="it-IT">
                <a:solidFill>
                  <a:srgbClr val="003C75"/>
                </a:solidFill>
              </a:rPr>
              <a:t>Object Records</a:t>
            </a:r>
          </a:p>
          <a:p>
            <a:r>
              <a:rPr lang="en-US" altLang="it-IT"/>
              <a:t>Static private storage for members</a:t>
            </a:r>
          </a:p>
          <a:p>
            <a:r>
              <a:rPr lang="en-US" altLang="it-IT"/>
              <a:t>Need fast, consistent access</a:t>
            </a:r>
          </a:p>
          <a:p>
            <a:pPr lvl="1"/>
            <a:r>
              <a:rPr lang="en-US" altLang="it-IT"/>
              <a:t>Known constant offsets from OR pointer</a:t>
            </a:r>
          </a:p>
          <a:p>
            <a:r>
              <a:rPr lang="en-US" altLang="it-IT"/>
              <a:t>Provision for initialization </a:t>
            </a:r>
          </a:p>
        </p:txBody>
      </p:sp>
      <p:sp>
        <p:nvSpPr>
          <p:cNvPr id="36867" name="Footer Placeholder 3">
            <a:extLst>
              <a:ext uri="{FF2B5EF4-FFF2-40B4-BE49-F238E27FC236}">
                <a16:creationId xmlns:a16="http://schemas.microsoft.com/office/drawing/2014/main" id="{5BBE379E-6F12-4D35-BACD-26E3ECE9525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36868" name="Slide Number Placeholder 4">
            <a:extLst>
              <a:ext uri="{FF2B5EF4-FFF2-40B4-BE49-F238E27FC236}">
                <a16:creationId xmlns:a16="http://schemas.microsoft.com/office/drawing/2014/main" id="{5C4C33D3-E51A-43C7-8F1A-BEB5C9EF4BA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6BD9292A-44B8-4802-AB36-3B017C618AD5}" type="slidenum">
              <a:rPr lang="en-US" altLang="it-IT"/>
              <a:pPr/>
              <a:t>12</a:t>
            </a:fld>
            <a:endParaRPr lang="en-US" altLang="it-IT"/>
          </a:p>
        </p:txBody>
      </p:sp>
      <p:sp>
        <p:nvSpPr>
          <p:cNvPr id="36869" name="TextBox 5">
            <a:extLst>
              <a:ext uri="{FF2B5EF4-FFF2-40B4-BE49-F238E27FC236}">
                <a16:creationId xmlns:a16="http://schemas.microsoft.com/office/drawing/2014/main" id="{7E3113E5-6E58-4044-B111-B4140182B2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3600" y="1066800"/>
            <a:ext cx="2514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 sz="1200">
                <a:solidFill>
                  <a:srgbClr val="003C75"/>
                </a:solidFill>
              </a:rPr>
              <a:t>of method lifetimes, </a:t>
            </a:r>
          </a:p>
          <a:p>
            <a:r>
              <a:rPr lang="en-US" altLang="it-IT" sz="1200">
                <a:solidFill>
                  <a:srgbClr val="003C75"/>
                </a:solidFill>
              </a:rPr>
              <a:t>of lifetimes of other objects …</a:t>
            </a:r>
          </a:p>
        </p:txBody>
      </p:sp>
      <p:grpSp>
        <p:nvGrpSpPr>
          <p:cNvPr id="36870" name="Group 20">
            <a:extLst>
              <a:ext uri="{FF2B5EF4-FFF2-40B4-BE49-F238E27FC236}">
                <a16:creationId xmlns:a16="http://schemas.microsoft.com/office/drawing/2014/main" id="{BA637662-7929-44A9-9C54-5638D39D2475}"/>
              </a:ext>
            </a:extLst>
          </p:cNvPr>
          <p:cNvGrpSpPr>
            <a:grpSpLocks/>
          </p:cNvGrpSpPr>
          <p:nvPr/>
        </p:nvGrpSpPr>
        <p:grpSpPr bwMode="auto">
          <a:xfrm>
            <a:off x="5105400" y="4895850"/>
            <a:ext cx="3276600" cy="1354138"/>
            <a:chOff x="3520" y="2881"/>
            <a:chExt cx="2064" cy="853"/>
          </a:xfrm>
        </p:grpSpPr>
        <p:grpSp>
          <p:nvGrpSpPr>
            <p:cNvPr id="36871" name="Group 16">
              <a:extLst>
                <a:ext uri="{FF2B5EF4-FFF2-40B4-BE49-F238E27FC236}">
                  <a16:creationId xmlns:a16="http://schemas.microsoft.com/office/drawing/2014/main" id="{7D71D88B-18CF-445E-9F68-90D87F95403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20" y="2881"/>
              <a:ext cx="2064" cy="853"/>
              <a:chOff x="3520" y="2881"/>
              <a:chExt cx="2064" cy="853"/>
            </a:xfrm>
          </p:grpSpPr>
          <p:sp>
            <p:nvSpPr>
              <p:cNvPr id="10" name="Rectangle 5">
                <a:extLst>
                  <a:ext uri="{FF2B5EF4-FFF2-40B4-BE49-F238E27FC236}">
                    <a16:creationId xmlns:a16="http://schemas.microsoft.com/office/drawing/2014/main" id="{3804907A-5F82-4389-AC5B-E5BEE9292E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64" y="3312"/>
                <a:ext cx="480" cy="28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p:spPr>
            <p:txBody>
              <a:bodyPr wrap="none" anchor="ctr"/>
              <a:lstStyle/>
              <a:p>
                <a:pPr algn="ctr" eaLnBrk="0" hangingPunct="0">
                  <a:defRPr/>
                </a:pPr>
                <a:r>
                  <a:rPr lang="en-US" sz="1400" b="1">
                    <a:latin typeface="Geneva" charset="0"/>
                    <a:ea typeface="ヒラギノ角ゴ Pro W3" charset="-128"/>
                    <a:cs typeface="ヒラギノ角ゴ Pro W3" charset="-128"/>
                  </a:rPr>
                  <a:t>fee()</a:t>
                </a:r>
                <a:endParaRPr lang="en-US" sz="1400">
                  <a:latin typeface="Geneva" charset="0"/>
                  <a:ea typeface="ヒラギノ角ゴ Pro W3" charset="-128"/>
                  <a:cs typeface="ヒラギノ角ゴ Pro W3" charset="-128"/>
                </a:endParaRPr>
              </a:p>
            </p:txBody>
          </p:sp>
          <p:sp>
            <p:nvSpPr>
              <p:cNvPr id="11" name="Rectangle 6">
                <a:extLst>
                  <a:ext uri="{FF2B5EF4-FFF2-40B4-BE49-F238E27FC236}">
                    <a16:creationId xmlns:a16="http://schemas.microsoft.com/office/drawing/2014/main" id="{22C4849D-0F07-4A35-BBE7-B4627DB3A4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4" y="3312"/>
                <a:ext cx="480" cy="28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p:spPr>
            <p:txBody>
              <a:bodyPr wrap="none" anchor="ctr"/>
              <a:lstStyle/>
              <a:p>
                <a:pPr algn="ctr" eaLnBrk="0" hangingPunct="0">
                  <a:defRPr/>
                </a:pPr>
                <a:r>
                  <a:rPr lang="en-US" sz="1400" b="1">
                    <a:latin typeface="Geneva" charset="0"/>
                    <a:ea typeface="ヒラギノ角ゴ Pro W3" charset="-128"/>
                    <a:cs typeface="ヒラギノ角ゴ Pro W3" charset="-128"/>
                  </a:rPr>
                  <a:t>fie()</a:t>
                </a:r>
                <a:endParaRPr lang="en-US" sz="1400">
                  <a:latin typeface="Geneva" charset="0"/>
                  <a:ea typeface="ヒラギノ角ゴ Pro W3" charset="-128"/>
                  <a:cs typeface="ヒラギノ角ゴ Pro W3" charset="-128"/>
                </a:endParaRPr>
              </a:p>
            </p:txBody>
          </p:sp>
          <p:sp>
            <p:nvSpPr>
              <p:cNvPr id="12" name="Rectangle 7">
                <a:extLst>
                  <a:ext uri="{FF2B5EF4-FFF2-40B4-BE49-F238E27FC236}">
                    <a16:creationId xmlns:a16="http://schemas.microsoft.com/office/drawing/2014/main" id="{9BDF7D4A-F268-4F1A-893B-3925AA653C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24" y="3312"/>
                <a:ext cx="480" cy="28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p:spPr>
            <p:txBody>
              <a:bodyPr wrap="none" anchor="ctr"/>
              <a:lstStyle/>
              <a:p>
                <a:pPr algn="ctr" eaLnBrk="0" hangingPunct="0">
                  <a:defRPr/>
                </a:pPr>
                <a:r>
                  <a:rPr lang="en-US" sz="1400" b="1">
                    <a:latin typeface="Geneva" charset="0"/>
                    <a:ea typeface="ヒラギノ角ゴ Pro W3" charset="-128"/>
                    <a:cs typeface="ヒラギノ角ゴ Pro W3" charset="-128"/>
                  </a:rPr>
                  <a:t>foe()</a:t>
                </a:r>
                <a:endParaRPr lang="en-US" sz="1400">
                  <a:latin typeface="Geneva" charset="0"/>
                  <a:ea typeface="ヒラギノ角ゴ Pro W3" charset="-128"/>
                  <a:cs typeface="ヒラギノ角ゴ Pro W3" charset="-128"/>
                </a:endParaRPr>
              </a:p>
            </p:txBody>
          </p:sp>
          <p:sp>
            <p:nvSpPr>
              <p:cNvPr id="13" name="Rectangle 8">
                <a:extLst>
                  <a:ext uri="{FF2B5EF4-FFF2-40B4-BE49-F238E27FC236}">
                    <a16:creationId xmlns:a16="http://schemas.microsoft.com/office/drawing/2014/main" id="{9FC2AE61-6F8D-43CC-8F53-561C83C9F7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04" y="3312"/>
                <a:ext cx="480" cy="28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p:spPr>
            <p:txBody>
              <a:bodyPr wrap="none" anchor="ctr"/>
              <a:lstStyle/>
              <a:p>
                <a:pPr algn="ctr" eaLnBrk="0" hangingPunct="0">
                  <a:defRPr/>
                </a:pPr>
                <a:r>
                  <a:rPr lang="en-US" sz="1400" b="1">
                    <a:latin typeface="Geneva" charset="0"/>
                    <a:ea typeface="ヒラギノ角ゴ Pro W3" charset="-128"/>
                    <a:cs typeface="ヒラギノ角ゴ Pro W3" charset="-128"/>
                  </a:rPr>
                  <a:t>count</a:t>
                </a:r>
                <a:endParaRPr lang="en-US" sz="1400">
                  <a:latin typeface="Geneva" charset="0"/>
                  <a:ea typeface="ヒラギノ角ゴ Pro W3" charset="-128"/>
                  <a:cs typeface="ヒラギノ角ゴ Pro W3" charset="-128"/>
                </a:endParaRPr>
              </a:p>
            </p:txBody>
          </p:sp>
          <p:sp>
            <p:nvSpPr>
              <p:cNvPr id="14" name="Text Box 9">
                <a:extLst>
                  <a:ext uri="{FF2B5EF4-FFF2-40B4-BE49-F238E27FC236}">
                    <a16:creationId xmlns:a16="http://schemas.microsoft.com/office/drawing/2014/main" id="{2AD15CBD-750E-4D99-A6F7-5D6DD4C3B4D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16" y="3579"/>
                <a:ext cx="192" cy="15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p:spPr>
            <p:txBody>
              <a:bodyPr>
                <a:spAutoFit/>
              </a:bodyPr>
              <a:lstStyle/>
              <a:p>
                <a:pPr eaLnBrk="0" hangingPunct="0">
                  <a:spcBef>
                    <a:spcPct val="50000"/>
                  </a:spcBef>
                  <a:defRPr/>
                </a:pPr>
                <a:r>
                  <a:rPr lang="en-US" sz="1000" dirty="0">
                    <a:solidFill>
                      <a:srgbClr val="003C75"/>
                    </a:solidFill>
                    <a:latin typeface="Comic Sans MS" charset="0"/>
                    <a:ea typeface="ヒラギノ角ゴ Pro W3" charset="-128"/>
                    <a:cs typeface="ヒラギノ角ゴ Pro W3" charset="-128"/>
                  </a:rPr>
                  <a:t>0</a:t>
                </a:r>
              </a:p>
            </p:txBody>
          </p:sp>
          <p:sp>
            <p:nvSpPr>
              <p:cNvPr id="15" name="Text Box 10">
                <a:extLst>
                  <a:ext uri="{FF2B5EF4-FFF2-40B4-BE49-F238E27FC236}">
                    <a16:creationId xmlns:a16="http://schemas.microsoft.com/office/drawing/2014/main" id="{ADC7227F-951A-4D07-83B6-AB51D49BF80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08" y="3579"/>
                <a:ext cx="228" cy="15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p:spPr>
            <p:txBody>
              <a:bodyPr>
                <a:spAutoFit/>
              </a:bodyPr>
              <a:lstStyle/>
              <a:p>
                <a:pPr eaLnBrk="0" hangingPunct="0">
                  <a:spcBef>
                    <a:spcPct val="50000"/>
                  </a:spcBef>
                  <a:defRPr/>
                </a:pPr>
                <a:r>
                  <a:rPr lang="en-US" sz="1000" dirty="0">
                    <a:solidFill>
                      <a:srgbClr val="003C75"/>
                    </a:solidFill>
                    <a:latin typeface="Comic Sans MS" charset="0"/>
                    <a:ea typeface="ヒラギノ角ゴ Pro W3" charset="-128"/>
                    <a:cs typeface="ヒラギノ角ゴ Pro W3" charset="-128"/>
                  </a:rPr>
                  <a:t>4</a:t>
                </a:r>
              </a:p>
            </p:txBody>
          </p:sp>
          <p:sp>
            <p:nvSpPr>
              <p:cNvPr id="16" name="Text Box 11">
                <a:extLst>
                  <a:ext uri="{FF2B5EF4-FFF2-40B4-BE49-F238E27FC236}">
                    <a16:creationId xmlns:a16="http://schemas.microsoft.com/office/drawing/2014/main" id="{98CA5794-6BBC-4040-9767-BCE95FB1174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576" y="3579"/>
                <a:ext cx="192" cy="15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p:spPr>
            <p:txBody>
              <a:bodyPr>
                <a:spAutoFit/>
              </a:bodyPr>
              <a:lstStyle/>
              <a:p>
                <a:pPr eaLnBrk="0" hangingPunct="0">
                  <a:spcBef>
                    <a:spcPct val="50000"/>
                  </a:spcBef>
                  <a:defRPr/>
                </a:pPr>
                <a:r>
                  <a:rPr lang="en-US" sz="1000" dirty="0">
                    <a:solidFill>
                      <a:srgbClr val="003C75"/>
                    </a:solidFill>
                    <a:latin typeface="Comic Sans MS" charset="0"/>
                    <a:ea typeface="ヒラギノ角ゴ Pro W3" charset="-128"/>
                    <a:cs typeface="ヒラギノ角ゴ Pro W3" charset="-128"/>
                  </a:rPr>
                  <a:t>8</a:t>
                </a:r>
              </a:p>
            </p:txBody>
          </p:sp>
          <p:sp>
            <p:nvSpPr>
              <p:cNvPr id="17" name="Text Box 12">
                <a:extLst>
                  <a:ext uri="{FF2B5EF4-FFF2-40B4-BE49-F238E27FC236}">
                    <a16:creationId xmlns:a16="http://schemas.microsoft.com/office/drawing/2014/main" id="{704BEF3A-E51A-431C-9A6E-CE4C2B593AB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068" y="3579"/>
                <a:ext cx="228" cy="15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p:spPr>
            <p:txBody>
              <a:bodyPr>
                <a:spAutoFit/>
              </a:bodyPr>
              <a:lstStyle/>
              <a:p>
                <a:pPr eaLnBrk="0" hangingPunct="0">
                  <a:spcBef>
                    <a:spcPct val="50000"/>
                  </a:spcBef>
                  <a:defRPr/>
                </a:pPr>
                <a:r>
                  <a:rPr lang="en-US" sz="1000">
                    <a:solidFill>
                      <a:srgbClr val="003C75"/>
                    </a:solidFill>
                    <a:latin typeface="Comic Sans MS" charset="0"/>
                    <a:ea typeface="ヒラギノ角ゴ Pro W3" charset="-128"/>
                    <a:cs typeface="ヒラギノ角ゴ Pro W3" charset="-128"/>
                  </a:rPr>
                  <a:t>12</a:t>
                </a:r>
              </a:p>
            </p:txBody>
          </p:sp>
          <p:sp>
            <p:nvSpPr>
              <p:cNvPr id="18" name="Text Box 14">
                <a:extLst>
                  <a:ext uri="{FF2B5EF4-FFF2-40B4-BE49-F238E27FC236}">
                    <a16:creationId xmlns:a16="http://schemas.microsoft.com/office/drawing/2014/main" id="{56B5CBF7-1206-495E-A024-08328ECAA93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20" y="2881"/>
                <a:ext cx="288" cy="21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p:spPr>
            <p:txBody>
              <a:bodyPr>
                <a:spAutoFit/>
              </a:bodyPr>
              <a:lstStyle/>
              <a:p>
                <a:pPr algn="ctr" eaLnBrk="0" hangingPunct="0">
                  <a:spcBef>
                    <a:spcPct val="50000"/>
                  </a:spcBef>
                  <a:defRPr/>
                </a:pPr>
                <a:r>
                  <a:rPr lang="en-US" sz="1600" i="1" dirty="0" err="1">
                    <a:latin typeface="Geneva" charset="0"/>
                    <a:ea typeface="ヒラギノ角ゴ Pro W3" charset="-128"/>
                    <a:cs typeface="ヒラギノ角ゴ Pro W3" charset="-128"/>
                  </a:rPr>
                  <a:t>x</a:t>
                </a:r>
                <a:endParaRPr lang="en-US" sz="1600" dirty="0">
                  <a:latin typeface="Times" charset="0"/>
                  <a:ea typeface="ヒラギノ角ゴ Pro W3" charset="-128"/>
                  <a:cs typeface="ヒラギノ角ゴ Pro W3" charset="-128"/>
                </a:endParaRPr>
              </a:p>
            </p:txBody>
          </p:sp>
          <p:sp>
            <p:nvSpPr>
              <p:cNvPr id="19" name="Line 15">
                <a:extLst>
                  <a:ext uri="{FF2B5EF4-FFF2-40B4-BE49-F238E27FC236}">
                    <a16:creationId xmlns:a16="http://schemas.microsoft.com/office/drawing/2014/main" id="{E4A2B202-3874-45D8-8ED0-3F9FF345914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60" y="3064"/>
                <a:ext cx="8" cy="240"/>
              </a:xfrm>
              <a:prstGeom prst="line">
                <a:avLst/>
              </a:prstGeom>
              <a:noFill/>
              <a:ln w="9525">
                <a:solidFill>
                  <a:srgbClr val="003C75"/>
                </a:solidFill>
                <a:round/>
                <a:headEnd/>
                <a:tailEnd type="triangle" w="med" len="med"/>
              </a:ln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p:spPr>
            <p:txBody>
              <a:bodyPr wrap="none" anchor="ctr"/>
              <a:lstStyle/>
              <a:p>
                <a:pPr eaLnBrk="0" hangingPunct="0">
                  <a:defRPr/>
                </a:pPr>
                <a:endParaRPr lang="en-US">
                  <a:solidFill>
                    <a:srgbClr val="003C75"/>
                  </a:solidFill>
                  <a:latin typeface="Comic Sans MS" charset="0"/>
                  <a:ea typeface="ヒラギノ角ゴ Pro W3" charset="-128"/>
                  <a:cs typeface="ヒラギノ角ゴ Pro W3" charset="-128"/>
                </a:endParaRPr>
              </a:p>
            </p:txBody>
          </p:sp>
        </p:grpSp>
        <p:sp>
          <p:nvSpPr>
            <p:cNvPr id="36872" name="Text Box 17">
              <a:extLst>
                <a:ext uri="{FF2B5EF4-FFF2-40B4-BE49-F238E27FC236}">
                  <a16:creationId xmlns:a16="http://schemas.microsoft.com/office/drawing/2014/main" id="{29AB94CD-3959-4411-9017-0FCED8EA82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28" y="2993"/>
              <a:ext cx="124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it-IT" sz="1600" i="1">
                  <a:solidFill>
                    <a:srgbClr val="003C75"/>
                  </a:solidFill>
                </a:rPr>
                <a:t>The Concept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Title 1">
            <a:extLst>
              <a:ext uri="{FF2B5EF4-FFF2-40B4-BE49-F238E27FC236}">
                <a16:creationId xmlns:a16="http://schemas.microsoft.com/office/drawing/2014/main" id="{67504E57-2664-4DDB-BB57-913C665850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it-IT"/>
              <a:t>Object Record Layout</a:t>
            </a:r>
          </a:p>
        </p:txBody>
      </p:sp>
      <p:sp>
        <p:nvSpPr>
          <p:cNvPr id="37890" name="Content Placeholder 2">
            <a:extLst>
              <a:ext uri="{FF2B5EF4-FFF2-40B4-BE49-F238E27FC236}">
                <a16:creationId xmlns:a16="http://schemas.microsoft.com/office/drawing/2014/main" id="{E16C3B5D-BE06-4F1E-8C9C-5D247EE0F8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Times" panose="02020603050405020304" pitchFamily="18" charset="0"/>
              <a:buNone/>
            </a:pPr>
            <a:r>
              <a:rPr lang="en-US" altLang="it-IT">
                <a:solidFill>
                  <a:srgbClr val="003C75"/>
                </a:solidFill>
              </a:rPr>
              <a:t>Assume a Fixed-size OR</a:t>
            </a:r>
          </a:p>
          <a:p>
            <a:r>
              <a:rPr lang="en-US" altLang="it-IT"/>
              <a:t>Data members are at known fixed offsets from OR pointer</a:t>
            </a:r>
          </a:p>
          <a:p>
            <a:r>
              <a:rPr lang="en-US" altLang="it-IT"/>
              <a:t>Code members occur only in objects of class “class”</a:t>
            </a:r>
          </a:p>
          <a:p>
            <a:pPr lvl="1"/>
            <a:r>
              <a:rPr lang="en-US" altLang="it-IT"/>
              <a:t>Code vector is a data-member of the class</a:t>
            </a:r>
          </a:p>
          <a:p>
            <a:pPr lvl="1"/>
            <a:r>
              <a:rPr lang="en-US" altLang="it-IT"/>
              <a:t>Method pointers are at known fixed offsets in the code vector</a:t>
            </a:r>
          </a:p>
          <a:p>
            <a:pPr lvl="1"/>
            <a:r>
              <a:rPr lang="en-US" altLang="it-IT"/>
              <a:t>Method-local storage kept in method’s AR, as in an ALL</a:t>
            </a:r>
          </a:p>
          <a:p>
            <a:r>
              <a:rPr lang="en-US" altLang="it-IT"/>
              <a:t>Variable-sized members ⇒ store descriptor to space in heap</a:t>
            </a:r>
          </a:p>
          <a:p>
            <a:pPr>
              <a:spcBef>
                <a:spcPts val="1800"/>
              </a:spcBef>
              <a:buFont typeface="Times" panose="02020603050405020304" pitchFamily="18" charset="0"/>
              <a:buNone/>
            </a:pPr>
            <a:r>
              <a:rPr lang="en-US" altLang="it-IT">
                <a:solidFill>
                  <a:srgbClr val="003C75"/>
                </a:solidFill>
              </a:rPr>
              <a:t>Locating ORs</a:t>
            </a:r>
          </a:p>
          <a:p>
            <a:r>
              <a:rPr lang="en-US" altLang="it-IT"/>
              <a:t>For a receiver, the OR pointer is implicit</a:t>
            </a:r>
          </a:p>
          <a:p>
            <a:r>
              <a:rPr lang="en-US" altLang="it-IT"/>
              <a:t>For a receiver’s class, the receiver’s OR has a class pointer</a:t>
            </a:r>
          </a:p>
          <a:p>
            <a:r>
              <a:rPr lang="en-US" altLang="it-IT"/>
              <a:t>Top-level classes and static classes can be accessed by name</a:t>
            </a:r>
          </a:p>
          <a:p>
            <a:pPr lvl="1"/>
            <a:r>
              <a:rPr lang="en-US" altLang="it-IT"/>
              <a:t>Mangle the class name &amp; use it as a relocatable symbol</a:t>
            </a:r>
          </a:p>
          <a:p>
            <a:pPr lvl="1"/>
            <a:r>
              <a:rPr lang="en-US" altLang="it-IT"/>
              <a:t>Handle nested classes as we would nested blocks in an ALL</a:t>
            </a:r>
          </a:p>
          <a:p>
            <a:endParaRPr lang="en-US" altLang="it-IT"/>
          </a:p>
        </p:txBody>
      </p:sp>
      <p:sp>
        <p:nvSpPr>
          <p:cNvPr id="37891" name="Footer Placeholder 3">
            <a:extLst>
              <a:ext uri="{FF2B5EF4-FFF2-40B4-BE49-F238E27FC236}">
                <a16:creationId xmlns:a16="http://schemas.microsoft.com/office/drawing/2014/main" id="{5F16E783-5521-4E45-954F-1DC8912CF25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37892" name="Slide Number Placeholder 4">
            <a:extLst>
              <a:ext uri="{FF2B5EF4-FFF2-40B4-BE49-F238E27FC236}">
                <a16:creationId xmlns:a16="http://schemas.microsoft.com/office/drawing/2014/main" id="{E99994F9-C265-4066-ABD2-1FD10EB3006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BE8CF2E1-9C8C-4DD5-831F-3D5AC71ABC8D}" type="slidenum">
              <a:rPr lang="en-US" altLang="it-IT"/>
              <a:pPr/>
              <a:t>13</a:t>
            </a:fld>
            <a:endParaRPr lang="en-US" altLang="it-IT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Title 1">
            <a:extLst>
              <a:ext uri="{FF2B5EF4-FFF2-40B4-BE49-F238E27FC236}">
                <a16:creationId xmlns:a16="http://schemas.microsoft.com/office/drawing/2014/main" id="{1E067379-D2EA-4608-AC1D-8F9B2A2FD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it-IT"/>
              <a:t>What About Inheritance?</a:t>
            </a:r>
          </a:p>
        </p:txBody>
      </p:sp>
      <p:sp>
        <p:nvSpPr>
          <p:cNvPr id="38914" name="Content Placeholder 2">
            <a:extLst>
              <a:ext uri="{FF2B5EF4-FFF2-40B4-BE49-F238E27FC236}">
                <a16:creationId xmlns:a16="http://schemas.microsoft.com/office/drawing/2014/main" id="{5CF1CC3D-D1ED-4CC3-87C8-00230C418A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Times" panose="02020603050405020304" pitchFamily="18" charset="0"/>
              <a:buNone/>
            </a:pPr>
            <a:r>
              <a:rPr lang="en-US" altLang="it-IT">
                <a:solidFill>
                  <a:srgbClr val="003C75"/>
                </a:solidFill>
              </a:rPr>
              <a:t>Impact on OR Layout</a:t>
            </a:r>
          </a:p>
          <a:p>
            <a:r>
              <a:rPr lang="en-US" altLang="it-IT"/>
              <a:t>OR needs slots for each member declared, all the way up the class hierarchy          (class, superclass, super-superclass, …)</a:t>
            </a:r>
          </a:p>
          <a:p>
            <a:r>
              <a:rPr lang="en-US" altLang="it-IT"/>
              <a:t>Can use </a:t>
            </a:r>
            <a:r>
              <a:rPr lang="en-US" altLang="it-IT">
                <a:solidFill>
                  <a:srgbClr val="003C75"/>
                </a:solidFill>
              </a:rPr>
              <a:t>prefixing of storage</a:t>
            </a:r>
            <a:r>
              <a:rPr lang="en-US" altLang="it-IT"/>
              <a:t> to lay out the OR</a:t>
            </a:r>
          </a:p>
          <a:p>
            <a:pPr>
              <a:spcBef>
                <a:spcPts val="2400"/>
              </a:spcBef>
              <a:buFont typeface="Times" panose="02020603050405020304" pitchFamily="18" charset="0"/>
              <a:buNone/>
            </a:pPr>
            <a:r>
              <a:rPr lang="en-US" altLang="it-IT">
                <a:solidFill>
                  <a:srgbClr val="003C75"/>
                </a:solidFill>
              </a:rPr>
              <a:t>Back to Our Java Example — Class Point</a:t>
            </a:r>
          </a:p>
          <a:p>
            <a:endParaRPr lang="en-US" altLang="it-IT"/>
          </a:p>
        </p:txBody>
      </p:sp>
      <p:sp>
        <p:nvSpPr>
          <p:cNvPr id="38915" name="Footer Placeholder 3">
            <a:extLst>
              <a:ext uri="{FF2B5EF4-FFF2-40B4-BE49-F238E27FC236}">
                <a16:creationId xmlns:a16="http://schemas.microsoft.com/office/drawing/2014/main" id="{BC3314E3-34DA-409B-8288-AF8C4E1F4B4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38916" name="Slide Number Placeholder 4">
            <a:extLst>
              <a:ext uri="{FF2B5EF4-FFF2-40B4-BE49-F238E27FC236}">
                <a16:creationId xmlns:a16="http://schemas.microsoft.com/office/drawing/2014/main" id="{3E44538C-A3FB-482F-8EA8-144E1713221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0773D7B4-9E12-45A4-8329-5D85FC8C81F5}" type="slidenum">
              <a:rPr lang="en-US" altLang="it-IT"/>
              <a:pPr/>
              <a:t>14</a:t>
            </a:fld>
            <a:endParaRPr lang="en-US" altLang="it-IT"/>
          </a:p>
        </p:txBody>
      </p:sp>
      <p:sp>
        <p:nvSpPr>
          <p:cNvPr id="38917" name="TextBox 5">
            <a:extLst>
              <a:ext uri="{FF2B5EF4-FFF2-40B4-BE49-F238E27FC236}">
                <a16:creationId xmlns:a16="http://schemas.microsoft.com/office/drawing/2014/main" id="{2C42EF3B-404B-49EE-A4D2-957AA3B4A0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3322638"/>
            <a:ext cx="4191000" cy="2287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174625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defTabSz="174625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defTabSz="174625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defTabSz="174625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defTabSz="174625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defTabSz="1746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defTabSz="1746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defTabSz="1746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defTabSz="1746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Class Point {</a:t>
            </a:r>
          </a:p>
          <a:p>
            <a:r>
              <a:rPr lang="en-US" altLang="it-IT"/>
              <a:t>		public int x, y;</a:t>
            </a:r>
          </a:p>
          <a:p>
            <a:pPr>
              <a:lnSpc>
                <a:spcPts val="1000"/>
              </a:lnSpc>
            </a:pPr>
            <a:r>
              <a:rPr lang="en-US" altLang="it-IT"/>
              <a:t>		…</a:t>
            </a:r>
          </a:p>
          <a:p>
            <a:r>
              <a:rPr lang="en-US" altLang="it-IT"/>
              <a:t>}</a:t>
            </a:r>
          </a:p>
          <a:p>
            <a:endParaRPr lang="en-US" altLang="it-IT"/>
          </a:p>
          <a:p>
            <a:r>
              <a:rPr lang="en-US" altLang="it-IT"/>
              <a:t>Class ColorPoint extends Point {		</a:t>
            </a:r>
          </a:p>
          <a:p>
            <a:r>
              <a:rPr lang="en-US" altLang="it-IT"/>
              <a:t>		Color c;																 </a:t>
            </a:r>
          </a:p>
          <a:p>
            <a:pPr>
              <a:lnSpc>
                <a:spcPts val="1000"/>
              </a:lnSpc>
            </a:pPr>
            <a:r>
              <a:rPr lang="en-US" altLang="it-IT"/>
              <a:t>		…</a:t>
            </a:r>
          </a:p>
          <a:p>
            <a:r>
              <a:rPr lang="en-US" altLang="it-IT"/>
              <a:t>}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3F53DB5-5EBC-472C-BB3F-3F4383E8FFE0}"/>
              </a:ext>
            </a:extLst>
          </p:cNvPr>
          <p:cNvSpPr txBox="1"/>
          <p:nvPr/>
        </p:nvSpPr>
        <p:spPr>
          <a:xfrm>
            <a:off x="4648200" y="6248400"/>
            <a:ext cx="3429000" cy="338138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>
              <a:srgbClr val="000000">
                <a:alpha val="43000"/>
              </a:srgbClr>
            </a:outerShdw>
          </a:effectLst>
        </p:spPr>
        <p:txBody>
          <a:bodyPr>
            <a:spAutoFit/>
          </a:bodyPr>
          <a:lstStyle/>
          <a:p>
            <a:pPr eaLnBrk="0" hangingPunct="0">
              <a:defRPr/>
            </a:pPr>
            <a:r>
              <a:rPr lang="en-US" sz="1600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Take the word </a:t>
            </a:r>
            <a:r>
              <a:rPr lang="en-US" sz="1600" u="sng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extends</a:t>
            </a:r>
            <a:r>
              <a:rPr lang="en-US" sz="1600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 literally.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24848E7-77EB-40BD-994D-51D1DE0071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5907088"/>
            <a:ext cx="3200400" cy="64611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>
              <a:spcAft>
                <a:spcPts val="1200"/>
              </a:spcAft>
            </a:pPr>
            <a:r>
              <a:rPr lang="en-US" altLang="it-IT">
                <a:solidFill>
                  <a:srgbClr val="FF0065"/>
                </a:solidFill>
              </a:rPr>
              <a:t>What happens if we cast a ColorPoint to a Point?</a:t>
            </a:r>
          </a:p>
        </p:txBody>
      </p:sp>
      <p:grpSp>
        <p:nvGrpSpPr>
          <p:cNvPr id="38920" name="Group 30">
            <a:extLst>
              <a:ext uri="{FF2B5EF4-FFF2-40B4-BE49-F238E27FC236}">
                <a16:creationId xmlns:a16="http://schemas.microsoft.com/office/drawing/2014/main" id="{8D5E0669-2717-4FAF-86D2-7695C7B8AF06}"/>
              </a:ext>
            </a:extLst>
          </p:cNvPr>
          <p:cNvGrpSpPr>
            <a:grpSpLocks/>
          </p:cNvGrpSpPr>
          <p:nvPr/>
        </p:nvGrpSpPr>
        <p:grpSpPr bwMode="auto">
          <a:xfrm>
            <a:off x="6210300" y="3200400"/>
            <a:ext cx="1981200" cy="1219200"/>
            <a:chOff x="6172200" y="2743200"/>
            <a:chExt cx="1981200" cy="1219200"/>
          </a:xfrm>
        </p:grpSpPr>
        <p:sp>
          <p:nvSpPr>
            <p:cNvPr id="38927" name="TextBox 31">
              <a:extLst>
                <a:ext uri="{FF2B5EF4-FFF2-40B4-BE49-F238E27FC236}">
                  <a16:creationId xmlns:a16="http://schemas.microsoft.com/office/drawing/2014/main" id="{73C4A265-3868-4020-93EE-8EBA5CC418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72200" y="3316069"/>
              <a:ext cx="1295400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>
                  <a:solidFill>
                    <a:srgbClr val="003C75"/>
                  </a:solidFill>
                </a:rPr>
                <a:t>OR for a </a:t>
              </a:r>
            </a:p>
            <a:p>
              <a:pPr algn="ctr"/>
              <a:r>
                <a:rPr lang="en-US" altLang="it-IT">
                  <a:solidFill>
                    <a:srgbClr val="003C75"/>
                  </a:solidFill>
                </a:rPr>
                <a:t>Point</a:t>
              </a:r>
            </a:p>
          </p:txBody>
        </p:sp>
        <p:grpSp>
          <p:nvGrpSpPr>
            <p:cNvPr id="38928" name="Group 33">
              <a:extLst>
                <a:ext uri="{FF2B5EF4-FFF2-40B4-BE49-F238E27FC236}">
                  <a16:creationId xmlns:a16="http://schemas.microsoft.com/office/drawing/2014/main" id="{EA486B08-CBA1-4A50-A4DB-D422E50865A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324600" y="2743200"/>
              <a:ext cx="1828800" cy="897354"/>
              <a:chOff x="6324600" y="2933700"/>
              <a:chExt cx="1828800" cy="897354"/>
            </a:xfrm>
          </p:grpSpPr>
          <p:sp>
            <p:nvSpPr>
              <p:cNvPr id="38929" name="TextBox 34">
                <a:extLst>
                  <a:ext uri="{FF2B5EF4-FFF2-40B4-BE49-F238E27FC236}">
                    <a16:creationId xmlns:a16="http://schemas.microsoft.com/office/drawing/2014/main" id="{746DDF22-FD94-45A6-A4A0-E252C7CEA17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324600" y="2933700"/>
                <a:ext cx="609601" cy="338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r"/>
                <a:r>
                  <a:rPr lang="en-US" altLang="it-IT" sz="1600"/>
                  <a:t>self</a:t>
                </a:r>
              </a:p>
            </p:txBody>
          </p:sp>
          <p:cxnSp>
            <p:nvCxnSpPr>
              <p:cNvPr id="38930" name="Straight Arrow Connector 35">
                <a:extLst>
                  <a:ext uri="{FF2B5EF4-FFF2-40B4-BE49-F238E27FC236}">
                    <a16:creationId xmlns:a16="http://schemas.microsoft.com/office/drawing/2014/main" id="{7D01FD25-D47C-4459-8FE9-3A27E2FD7BE3}"/>
                  </a:ext>
                </a:extLst>
              </p:cNvPr>
              <p:cNvCxnSpPr>
                <a:cxnSpLocks noChangeShapeType="1"/>
                <a:stCxn id="38929" idx="3"/>
              </p:cNvCxnSpPr>
              <p:nvPr/>
            </p:nvCxnSpPr>
            <p:spPr bwMode="auto">
              <a:xfrm>
                <a:off x="6934200" y="3102977"/>
                <a:ext cx="533400" cy="4177"/>
              </a:xfrm>
              <a:prstGeom prst="straightConnector1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 type="arrow" w="med" len="med"/>
              </a:ln>
            </p:spPr>
          </p:cxnSp>
          <p:grpSp>
            <p:nvGrpSpPr>
              <p:cNvPr id="37" name="Group 31">
                <a:extLst>
                  <a:ext uri="{FF2B5EF4-FFF2-40B4-BE49-F238E27FC236}">
                    <a16:creationId xmlns:a16="http://schemas.microsoft.com/office/drawing/2014/main" id="{704714DB-B101-4CD7-8E12-8E7B927F352A}"/>
                  </a:ext>
                </a:extLst>
              </p:cNvPr>
              <p:cNvGrpSpPr/>
              <p:nvPr/>
            </p:nvGrpSpPr>
            <p:grpSpPr>
              <a:xfrm>
                <a:off x="7467600" y="2946400"/>
                <a:ext cx="685800" cy="884654"/>
                <a:chOff x="7467600" y="2946400"/>
                <a:chExt cx="685800" cy="884654"/>
              </a:xfrm>
              <a:effectLst>
                <a:outerShdw blurRad="50800" dist="38100" dir="2700000">
                  <a:srgbClr val="000000">
                    <a:alpha val="43000"/>
                  </a:srgbClr>
                </a:outerShdw>
              </a:effectLst>
            </p:grpSpPr>
            <p:sp>
              <p:nvSpPr>
                <p:cNvPr id="38" name="Rectangle 6">
                  <a:extLst>
                    <a:ext uri="{FF2B5EF4-FFF2-40B4-BE49-F238E27FC236}">
                      <a16:creationId xmlns:a16="http://schemas.microsoft.com/office/drawing/2014/main" id="{DED2A2DA-817B-4C5E-84FE-9803AAF4BCCC}"/>
                    </a:ext>
                  </a:extLst>
                </p:cNvPr>
                <p:cNvSpPr/>
                <p:nvPr/>
              </p:nvSpPr>
              <p:spPr bwMode="auto">
                <a:xfrm>
                  <a:off x="7467600" y="3221454"/>
                  <a:ext cx="685800" cy="304800"/>
                </a:xfrm>
                <a:prstGeom prst="rect">
                  <a:avLst/>
                </a:prstGeom>
                <a:solidFill>
                  <a:schemeClr val="bg1"/>
                </a:solidFill>
                <a:ln w="19050" cap="flat" cmpd="sng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anchor="b"/>
                <a:lstStyle/>
                <a:p>
                  <a:pPr algn="ctr" eaLnBrk="0" hangingPunct="0">
                    <a:defRPr/>
                  </a:pPr>
                  <a:r>
                    <a:rPr lang="en-US" sz="1600" dirty="0" err="1">
                      <a:latin typeface="Comic Sans MS" pitchFamily="-108" charset="0"/>
                      <a:ea typeface="ヒラギノ角ゴ Pro W3" pitchFamily="-108" charset="-128"/>
                      <a:cs typeface="ヒラギノ角ゴ Pro W3" pitchFamily="-108" charset="-128"/>
                    </a:rPr>
                    <a:t>x</a:t>
                  </a:r>
                  <a:endParaRPr lang="en-US" sz="1600" dirty="0">
                    <a:latin typeface="Comic Sans MS" pitchFamily="-108" charset="0"/>
                    <a:ea typeface="ヒラギノ角ゴ Pro W3" pitchFamily="-108" charset="-128"/>
                    <a:cs typeface="ヒラギノ角ゴ Pro W3" pitchFamily="-108" charset="-128"/>
                  </a:endParaRPr>
                </a:p>
              </p:txBody>
            </p:sp>
            <p:sp>
              <p:nvSpPr>
                <p:cNvPr id="39" name="Rectangle 38">
                  <a:extLst>
                    <a:ext uri="{FF2B5EF4-FFF2-40B4-BE49-F238E27FC236}">
                      <a16:creationId xmlns:a16="http://schemas.microsoft.com/office/drawing/2014/main" id="{3CE28DCB-3177-456E-ADAD-5F9E4A165A3D}"/>
                    </a:ext>
                  </a:extLst>
                </p:cNvPr>
                <p:cNvSpPr/>
                <p:nvPr/>
              </p:nvSpPr>
              <p:spPr bwMode="auto">
                <a:xfrm>
                  <a:off x="7467600" y="3526254"/>
                  <a:ext cx="685800" cy="304800"/>
                </a:xfrm>
                <a:prstGeom prst="rect">
                  <a:avLst/>
                </a:prstGeom>
                <a:solidFill>
                  <a:schemeClr val="bg1"/>
                </a:solidFill>
                <a:ln w="19050" cap="flat" cmpd="sng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anchor="b"/>
                <a:lstStyle/>
                <a:p>
                  <a:pPr algn="ctr" eaLnBrk="0" hangingPunct="0">
                    <a:defRPr/>
                  </a:pPr>
                  <a:r>
                    <a:rPr lang="en-US" sz="1600" dirty="0" err="1">
                      <a:latin typeface="Comic Sans MS" pitchFamily="-108" charset="0"/>
                      <a:ea typeface="ヒラギノ角ゴ Pro W3" pitchFamily="-108" charset="-128"/>
                      <a:cs typeface="ヒラギノ角ゴ Pro W3" pitchFamily="-108" charset="-128"/>
                    </a:rPr>
                    <a:t>y</a:t>
                  </a:r>
                  <a:endParaRPr lang="en-US" sz="1600" dirty="0">
                    <a:latin typeface="Comic Sans MS" pitchFamily="-108" charset="0"/>
                    <a:ea typeface="ヒラギノ角ゴ Pro W3" pitchFamily="-108" charset="-128"/>
                    <a:cs typeface="ヒラギノ角ゴ Pro W3" pitchFamily="-108" charset="-128"/>
                  </a:endParaRPr>
                </a:p>
              </p:txBody>
            </p:sp>
            <p:sp>
              <p:nvSpPr>
                <p:cNvPr id="40" name="Rectangle 39">
                  <a:extLst>
                    <a:ext uri="{FF2B5EF4-FFF2-40B4-BE49-F238E27FC236}">
                      <a16:creationId xmlns:a16="http://schemas.microsoft.com/office/drawing/2014/main" id="{FC0111A3-6089-46E9-85FB-79F5DB2B18C3}"/>
                    </a:ext>
                  </a:extLst>
                </p:cNvPr>
                <p:cNvSpPr/>
                <p:nvPr/>
              </p:nvSpPr>
              <p:spPr bwMode="auto">
                <a:xfrm>
                  <a:off x="7467600" y="2946400"/>
                  <a:ext cx="685800" cy="304800"/>
                </a:xfrm>
                <a:prstGeom prst="rect">
                  <a:avLst/>
                </a:prstGeom>
                <a:solidFill>
                  <a:schemeClr val="bg1"/>
                </a:solidFill>
                <a:ln w="19050" cap="flat" cmpd="sng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anchor="b"/>
                <a:lstStyle/>
                <a:p>
                  <a:pPr algn="ctr" eaLnBrk="0" hangingPunct="0">
                    <a:defRPr/>
                  </a:pPr>
                  <a:r>
                    <a:rPr lang="en-US" sz="1600" dirty="0">
                      <a:latin typeface="Comic Sans MS" pitchFamily="-108" charset="0"/>
                      <a:ea typeface="ヒラギノ角ゴ Pro W3" pitchFamily="-108" charset="-128"/>
                      <a:cs typeface="ヒラギノ角ゴ Pro W3" pitchFamily="-108" charset="-128"/>
                    </a:rPr>
                    <a:t>class</a:t>
                  </a:r>
                </a:p>
              </p:txBody>
            </p:sp>
          </p:grpSp>
        </p:grpSp>
      </p:grpSp>
      <p:grpSp>
        <p:nvGrpSpPr>
          <p:cNvPr id="38921" name="Group 40">
            <a:extLst>
              <a:ext uri="{FF2B5EF4-FFF2-40B4-BE49-F238E27FC236}">
                <a16:creationId xmlns:a16="http://schemas.microsoft.com/office/drawing/2014/main" id="{E1E7A916-1FF7-4C25-AE77-EA30D89A8A6F}"/>
              </a:ext>
            </a:extLst>
          </p:cNvPr>
          <p:cNvGrpSpPr>
            <a:grpSpLocks/>
          </p:cNvGrpSpPr>
          <p:nvPr/>
        </p:nvGrpSpPr>
        <p:grpSpPr bwMode="auto">
          <a:xfrm>
            <a:off x="6019800" y="4713288"/>
            <a:ext cx="2171700" cy="1230312"/>
            <a:chOff x="6019800" y="4292600"/>
            <a:chExt cx="2171700" cy="1230531"/>
          </a:xfrm>
        </p:grpSpPr>
        <p:sp>
          <p:nvSpPr>
            <p:cNvPr id="38922" name="TextBox 41">
              <a:extLst>
                <a:ext uri="{FF2B5EF4-FFF2-40B4-BE49-F238E27FC236}">
                  <a16:creationId xmlns:a16="http://schemas.microsoft.com/office/drawing/2014/main" id="{320B710D-2A3D-4A33-83C0-CEECFB38D1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19800" y="4876800"/>
              <a:ext cx="1524000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>
                  <a:solidFill>
                    <a:srgbClr val="003C75"/>
                  </a:solidFill>
                </a:rPr>
                <a:t>OR for a </a:t>
              </a:r>
            </a:p>
            <a:p>
              <a:pPr algn="ctr"/>
              <a:r>
                <a:rPr lang="en-US" altLang="it-IT">
                  <a:solidFill>
                    <a:srgbClr val="003C75"/>
                  </a:solidFill>
                </a:rPr>
                <a:t>ColorPoint</a:t>
              </a:r>
            </a:p>
          </p:txBody>
        </p:sp>
        <p:grpSp>
          <p:nvGrpSpPr>
            <p:cNvPr id="38923" name="Group 38">
              <a:extLst>
                <a:ext uri="{FF2B5EF4-FFF2-40B4-BE49-F238E27FC236}">
                  <a16:creationId xmlns:a16="http://schemas.microsoft.com/office/drawing/2014/main" id="{FA29953E-69BA-4E98-95D9-79E2747E1EE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362700" y="4292600"/>
              <a:ext cx="1828800" cy="1219200"/>
              <a:chOff x="6362700" y="4292600"/>
              <a:chExt cx="1828800" cy="1219200"/>
            </a:xfrm>
          </p:grpSpPr>
          <p:sp>
            <p:nvSpPr>
              <p:cNvPr id="38924" name="TextBox 43">
                <a:extLst>
                  <a:ext uri="{FF2B5EF4-FFF2-40B4-BE49-F238E27FC236}">
                    <a16:creationId xmlns:a16="http://schemas.microsoft.com/office/drawing/2014/main" id="{11FF4182-23EE-47EC-8633-26041F44C9D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362700" y="4292600"/>
                <a:ext cx="609600" cy="338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r"/>
                <a:r>
                  <a:rPr lang="en-US" altLang="it-IT" sz="1600"/>
                  <a:t>self</a:t>
                </a:r>
              </a:p>
            </p:txBody>
          </p:sp>
          <p:cxnSp>
            <p:nvCxnSpPr>
              <p:cNvPr id="38925" name="Straight Arrow Connector 44">
                <a:extLst>
                  <a:ext uri="{FF2B5EF4-FFF2-40B4-BE49-F238E27FC236}">
                    <a16:creationId xmlns:a16="http://schemas.microsoft.com/office/drawing/2014/main" id="{41DABD14-8431-4169-9871-EC1CCAFB6B29}"/>
                  </a:ext>
                </a:extLst>
              </p:cNvPr>
              <p:cNvCxnSpPr>
                <a:cxnSpLocks noChangeShapeType="1"/>
                <a:stCxn id="38924" idx="3"/>
              </p:cNvCxnSpPr>
              <p:nvPr/>
            </p:nvCxnSpPr>
            <p:spPr bwMode="auto">
              <a:xfrm>
                <a:off x="6972300" y="4461877"/>
                <a:ext cx="533400" cy="4177"/>
              </a:xfrm>
              <a:prstGeom prst="straightConnector1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 type="arrow" w="med" len="med"/>
              </a:ln>
            </p:spPr>
          </p:cxnSp>
          <p:grpSp>
            <p:nvGrpSpPr>
              <p:cNvPr id="46" name="Group 37">
                <a:extLst>
                  <a:ext uri="{FF2B5EF4-FFF2-40B4-BE49-F238E27FC236}">
                    <a16:creationId xmlns:a16="http://schemas.microsoft.com/office/drawing/2014/main" id="{E753B9FD-86E3-4F25-8A92-5B0B6BB74235}"/>
                  </a:ext>
                </a:extLst>
              </p:cNvPr>
              <p:cNvGrpSpPr/>
              <p:nvPr/>
            </p:nvGrpSpPr>
            <p:grpSpPr>
              <a:xfrm>
                <a:off x="7505700" y="4305300"/>
                <a:ext cx="685800" cy="1206500"/>
                <a:chOff x="7505700" y="4305300"/>
                <a:chExt cx="685800" cy="1206500"/>
              </a:xfrm>
              <a:effectLst>
                <a:outerShdw blurRad="50800" dist="38100" dir="2700000">
                  <a:srgbClr val="000000">
                    <a:alpha val="43000"/>
                  </a:srgbClr>
                </a:outerShdw>
              </a:effectLst>
            </p:grpSpPr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F5FF8E86-4B96-48D4-9C36-4C9A174889CC}"/>
                    </a:ext>
                  </a:extLst>
                </p:cNvPr>
                <p:cNvSpPr/>
                <p:nvPr/>
              </p:nvSpPr>
              <p:spPr bwMode="auto">
                <a:xfrm>
                  <a:off x="7505700" y="4593054"/>
                  <a:ext cx="685800" cy="304800"/>
                </a:xfrm>
                <a:prstGeom prst="rect">
                  <a:avLst/>
                </a:prstGeom>
                <a:solidFill>
                  <a:schemeClr val="bg1"/>
                </a:solidFill>
                <a:ln w="19050" cap="flat" cmpd="sng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anchor="b"/>
                <a:lstStyle/>
                <a:p>
                  <a:pPr algn="ctr" eaLnBrk="0" hangingPunct="0">
                    <a:defRPr/>
                  </a:pPr>
                  <a:r>
                    <a:rPr lang="en-US" sz="1600" dirty="0" err="1">
                      <a:latin typeface="Comic Sans MS" pitchFamily="-108" charset="0"/>
                      <a:ea typeface="ヒラギノ角ゴ Pro W3" pitchFamily="-108" charset="-128"/>
                      <a:cs typeface="ヒラギノ角ゴ Pro W3" pitchFamily="-108" charset="-128"/>
                    </a:rPr>
                    <a:t>x</a:t>
                  </a:r>
                  <a:endParaRPr lang="en-US" sz="1600" dirty="0">
                    <a:latin typeface="Comic Sans MS" pitchFamily="-108" charset="0"/>
                    <a:ea typeface="ヒラギノ角ゴ Pro W3" pitchFamily="-108" charset="-128"/>
                    <a:cs typeface="ヒラギノ角ゴ Pro W3" pitchFamily="-108" charset="-128"/>
                  </a:endParaRPr>
                </a:p>
              </p:txBody>
            </p:sp>
            <p:sp>
              <p:nvSpPr>
                <p:cNvPr id="48" name="Rectangle 47">
                  <a:extLst>
                    <a:ext uri="{FF2B5EF4-FFF2-40B4-BE49-F238E27FC236}">
                      <a16:creationId xmlns:a16="http://schemas.microsoft.com/office/drawing/2014/main" id="{35050047-9D9A-4475-AF98-B9C0B4EE0B65}"/>
                    </a:ext>
                  </a:extLst>
                </p:cNvPr>
                <p:cNvSpPr/>
                <p:nvPr/>
              </p:nvSpPr>
              <p:spPr bwMode="auto">
                <a:xfrm>
                  <a:off x="7505700" y="4897854"/>
                  <a:ext cx="685800" cy="304800"/>
                </a:xfrm>
                <a:prstGeom prst="rect">
                  <a:avLst/>
                </a:prstGeom>
                <a:solidFill>
                  <a:schemeClr val="bg1"/>
                </a:solidFill>
                <a:ln w="19050" cap="flat" cmpd="sng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anchor="b"/>
                <a:lstStyle/>
                <a:p>
                  <a:pPr algn="ctr" eaLnBrk="0" hangingPunct="0">
                    <a:defRPr/>
                  </a:pPr>
                  <a:r>
                    <a:rPr lang="en-US" sz="1600" dirty="0" err="1">
                      <a:latin typeface="Comic Sans MS" pitchFamily="-108" charset="0"/>
                      <a:ea typeface="ヒラギノ角ゴ Pro W3" pitchFamily="-108" charset="-128"/>
                      <a:cs typeface="ヒラギノ角ゴ Pro W3" pitchFamily="-108" charset="-128"/>
                    </a:rPr>
                    <a:t>y</a:t>
                  </a:r>
                  <a:endParaRPr lang="en-US" sz="1600" dirty="0">
                    <a:latin typeface="Comic Sans MS" pitchFamily="-108" charset="0"/>
                    <a:ea typeface="ヒラギノ角ゴ Pro W3" pitchFamily="-108" charset="-128"/>
                    <a:cs typeface="ヒラギノ角ゴ Pro W3" pitchFamily="-108" charset="-128"/>
                  </a:endParaRPr>
                </a:p>
              </p:txBody>
            </p:sp>
            <p:sp>
              <p:nvSpPr>
                <p:cNvPr id="49" name="Rectangle 48">
                  <a:extLst>
                    <a:ext uri="{FF2B5EF4-FFF2-40B4-BE49-F238E27FC236}">
                      <a16:creationId xmlns:a16="http://schemas.microsoft.com/office/drawing/2014/main" id="{DF5844F9-8D97-4809-9270-CE7EBCAF68C7}"/>
                    </a:ext>
                  </a:extLst>
                </p:cNvPr>
                <p:cNvSpPr/>
                <p:nvPr/>
              </p:nvSpPr>
              <p:spPr bwMode="auto">
                <a:xfrm>
                  <a:off x="7505700" y="5207000"/>
                  <a:ext cx="685800" cy="304800"/>
                </a:xfrm>
                <a:prstGeom prst="rect">
                  <a:avLst/>
                </a:prstGeom>
                <a:solidFill>
                  <a:schemeClr val="bg1"/>
                </a:solidFill>
                <a:ln w="19050" cap="flat" cmpd="sng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anchor="b"/>
                <a:lstStyle/>
                <a:p>
                  <a:pPr algn="ctr" eaLnBrk="0" hangingPunct="0">
                    <a:defRPr/>
                  </a:pPr>
                  <a:r>
                    <a:rPr lang="en-US" sz="1600" dirty="0" err="1">
                      <a:latin typeface="Comic Sans MS" pitchFamily="-108" charset="0"/>
                      <a:ea typeface="ヒラギノ角ゴ Pro W3" pitchFamily="-108" charset="-128"/>
                      <a:cs typeface="ヒラギノ角ゴ Pro W3" pitchFamily="-108" charset="-128"/>
                    </a:rPr>
                    <a:t>c</a:t>
                  </a:r>
                  <a:endParaRPr lang="en-US" sz="1600" dirty="0">
                    <a:latin typeface="Comic Sans MS" pitchFamily="-108" charset="0"/>
                    <a:ea typeface="ヒラギノ角ゴ Pro W3" pitchFamily="-108" charset="-128"/>
                    <a:cs typeface="ヒラギノ角ゴ Pro W3" pitchFamily="-108" charset="-128"/>
                  </a:endParaRPr>
                </a:p>
              </p:txBody>
            </p:sp>
            <p:sp>
              <p:nvSpPr>
                <p:cNvPr id="50" name="Rectangle 49">
                  <a:extLst>
                    <a:ext uri="{FF2B5EF4-FFF2-40B4-BE49-F238E27FC236}">
                      <a16:creationId xmlns:a16="http://schemas.microsoft.com/office/drawing/2014/main" id="{ED1B8964-18B9-41E9-A19C-AA66C6169406}"/>
                    </a:ext>
                  </a:extLst>
                </p:cNvPr>
                <p:cNvSpPr/>
                <p:nvPr/>
              </p:nvSpPr>
              <p:spPr bwMode="auto">
                <a:xfrm>
                  <a:off x="7505700" y="4305300"/>
                  <a:ext cx="685800" cy="304800"/>
                </a:xfrm>
                <a:prstGeom prst="rect">
                  <a:avLst/>
                </a:prstGeom>
                <a:solidFill>
                  <a:schemeClr val="bg1"/>
                </a:solidFill>
                <a:ln w="19050" cap="flat" cmpd="sng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anchor="b"/>
                <a:lstStyle/>
                <a:p>
                  <a:pPr algn="ctr" eaLnBrk="0" hangingPunct="0">
                    <a:defRPr/>
                  </a:pPr>
                  <a:r>
                    <a:rPr lang="en-US" sz="1600" dirty="0">
                      <a:latin typeface="Comic Sans MS" pitchFamily="-108" charset="0"/>
                      <a:ea typeface="ヒラギノ角ゴ Pro W3" pitchFamily="-108" charset="-128"/>
                      <a:cs typeface="ヒラギノ角ゴ Pro W3" pitchFamily="-108" charset="-128"/>
                    </a:rPr>
                    <a:t>class</a:t>
                  </a:r>
                </a:p>
              </p:txBody>
            </p:sp>
          </p:grp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Title 1">
            <a:extLst>
              <a:ext uri="{FF2B5EF4-FFF2-40B4-BE49-F238E27FC236}">
                <a16:creationId xmlns:a16="http://schemas.microsoft.com/office/drawing/2014/main" id="{5AFAE6DA-FDC8-421B-AB08-87B598E6FE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it-IT"/>
              <a:t>Open World versus Closed World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EA17FE-F858-4A9C-8920-6229AE5DB7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Font typeface="Times" charset="0"/>
              <a:buNone/>
              <a:defRPr/>
            </a:pPr>
            <a:r>
              <a:rPr lang="en-US" dirty="0">
                <a:solidFill>
                  <a:srgbClr val="003C75"/>
                </a:solidFill>
              </a:rPr>
              <a:t>Prefixing assumes that the class structure is known when layout is performed.  Two common cases occur.</a:t>
            </a:r>
          </a:p>
          <a:p>
            <a:pPr>
              <a:spcBef>
                <a:spcPts val="1800"/>
              </a:spcBef>
              <a:buFont typeface="Times" charset="0"/>
              <a:buNone/>
              <a:defRPr/>
            </a:pPr>
            <a:r>
              <a:rPr lang="en-US" dirty="0">
                <a:solidFill>
                  <a:srgbClr val="003C75"/>
                </a:solidFill>
              </a:rPr>
              <a:t>Closed-World Assumption			       (</a:t>
            </a:r>
            <a:r>
              <a:rPr lang="en-US" sz="1800" dirty="0">
                <a:solidFill>
                  <a:srgbClr val="003C75"/>
                </a:solidFill>
              </a:rPr>
              <a:t>Compile time)</a:t>
            </a:r>
            <a:endParaRPr lang="en-US" dirty="0">
              <a:solidFill>
                <a:srgbClr val="003C75"/>
              </a:solidFill>
            </a:endParaRPr>
          </a:p>
          <a:p>
            <a:pPr>
              <a:buFont typeface="Times" charset="0"/>
              <a:buChar char="•"/>
              <a:defRPr/>
            </a:pPr>
            <a:r>
              <a:rPr lang="en-US" dirty="0"/>
              <a:t>Class structure is known and closed prior to runtime</a:t>
            </a:r>
          </a:p>
          <a:p>
            <a:pPr>
              <a:buFont typeface="Times" charset="0"/>
              <a:buChar char="•"/>
              <a:defRPr/>
            </a:pPr>
            <a:r>
              <a:rPr lang="en-US" dirty="0"/>
              <a:t>Can lay out </a:t>
            </a:r>
            <a:r>
              <a:rPr lang="en-US" dirty="0" err="1"/>
              <a:t>ORs</a:t>
            </a:r>
            <a:r>
              <a:rPr lang="en-US" dirty="0"/>
              <a:t> in the compiler and/or the linker</a:t>
            </a:r>
          </a:p>
          <a:p>
            <a:pPr>
              <a:spcBef>
                <a:spcPts val="1800"/>
              </a:spcBef>
              <a:buFont typeface="Times" charset="0"/>
              <a:buNone/>
              <a:defRPr/>
            </a:pPr>
            <a:r>
              <a:rPr lang="en-US" dirty="0">
                <a:solidFill>
                  <a:srgbClr val="003C75"/>
                </a:solidFill>
              </a:rPr>
              <a:t>Open-World Assumption 		         (</a:t>
            </a:r>
            <a:r>
              <a:rPr lang="en-US" sz="1800" dirty="0">
                <a:solidFill>
                  <a:srgbClr val="003C75"/>
                </a:solidFill>
              </a:rPr>
              <a:t>Interpreter or JIT</a:t>
            </a:r>
            <a:r>
              <a:rPr lang="en-US" dirty="0">
                <a:solidFill>
                  <a:srgbClr val="003C75"/>
                </a:solidFill>
              </a:rPr>
              <a:t>)</a:t>
            </a:r>
          </a:p>
          <a:p>
            <a:pPr>
              <a:buFont typeface="Times" charset="0"/>
              <a:buChar char="•"/>
              <a:defRPr/>
            </a:pPr>
            <a:r>
              <a:rPr lang="en-US" dirty="0"/>
              <a:t>Class structure can change at runtime</a:t>
            </a:r>
          </a:p>
          <a:p>
            <a:pPr>
              <a:buFont typeface="Times" charset="0"/>
              <a:buChar char="•"/>
              <a:defRPr/>
            </a:pPr>
            <a:r>
              <a:rPr lang="en-US" dirty="0"/>
              <a:t>Cannot lay out </a:t>
            </a:r>
            <a:r>
              <a:rPr lang="en-US" dirty="0" err="1"/>
              <a:t>ORs</a:t>
            </a:r>
            <a:r>
              <a:rPr lang="en-US" dirty="0"/>
              <a:t> until they are allocated</a:t>
            </a:r>
          </a:p>
          <a:p>
            <a:pPr lvl="1">
              <a:defRPr/>
            </a:pPr>
            <a:r>
              <a:rPr lang="en-US" dirty="0"/>
              <a:t>Walk class hierarchy at allocation</a:t>
            </a:r>
          </a:p>
          <a:p>
            <a:pPr>
              <a:spcBef>
                <a:spcPts val="4200"/>
              </a:spcBef>
              <a:buFont typeface="Times" charset="0"/>
              <a:buNone/>
              <a:defRPr/>
            </a:pPr>
            <a:r>
              <a:rPr lang="en-US" dirty="0"/>
              <a:t>C++ has a closed class structure.  </a:t>
            </a:r>
          </a:p>
          <a:p>
            <a:pPr>
              <a:buFont typeface="Times" charset="0"/>
              <a:buNone/>
              <a:defRPr/>
            </a:pPr>
            <a:r>
              <a:rPr lang="en-US" dirty="0"/>
              <a:t>Java as an open class structure.</a:t>
            </a:r>
          </a:p>
        </p:txBody>
      </p:sp>
      <p:sp>
        <p:nvSpPr>
          <p:cNvPr id="39939" name="Footer Placeholder 3">
            <a:extLst>
              <a:ext uri="{FF2B5EF4-FFF2-40B4-BE49-F238E27FC236}">
                <a16:creationId xmlns:a16="http://schemas.microsoft.com/office/drawing/2014/main" id="{473668AE-17FE-4D12-8DAD-571CA820FEB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39940" name="Slide Number Placeholder 4">
            <a:extLst>
              <a:ext uri="{FF2B5EF4-FFF2-40B4-BE49-F238E27FC236}">
                <a16:creationId xmlns:a16="http://schemas.microsoft.com/office/drawing/2014/main" id="{1E1D39C8-1C64-4E1D-99A0-FB20DD14B79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1A8B0B87-BEFF-43DE-A4D3-56B602640DE0}" type="slidenum">
              <a:rPr lang="en-US" altLang="it-IT"/>
              <a:pPr/>
              <a:t>15</a:t>
            </a:fld>
            <a:endParaRPr lang="en-US" altLang="it-IT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 Presentation">
      <a:majorFont>
        <a:latin typeface="Comic Sans MS"/>
        <a:ea typeface="ヒラギノ角ゴ Pro W3"/>
        <a:cs typeface="ヒラギノ角ゴ Pro W3"/>
      </a:majorFont>
      <a:minorFont>
        <a:latin typeface="Comic Sans MS"/>
        <a:ea typeface="ヒラギノ角ゴ Pro W3"/>
        <a:cs typeface="ヒラギノ角ゴ Pro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Comic Sans MS" pitchFamily="-108" charset="0"/>
            <a:ea typeface="ヒラギノ角ゴ Pro W3" pitchFamily="-108" charset="-128"/>
            <a:cs typeface="ヒラギノ角ゴ Pro W3" pitchFamily="-108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Comic Sans MS" pitchFamily="-108" charset="0"/>
            <a:ea typeface="ヒラギノ角ゴ Pro W3" pitchFamily="-108" charset="-128"/>
            <a:cs typeface="ヒラギノ角ゴ Pro W3" pitchFamily="-108" charset="-128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1496</TotalTime>
  <Words>1566</Words>
  <Application>Microsoft Office PowerPoint</Application>
  <PresentationFormat>Presentazione su schermo (4:3)</PresentationFormat>
  <Paragraphs>278</Paragraphs>
  <Slides>16</Slides>
  <Notes>9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16</vt:i4>
      </vt:variant>
    </vt:vector>
  </HeadingPairs>
  <TitlesOfParts>
    <vt:vector size="17" baseType="lpstr">
      <vt:lpstr>Blank Presentation</vt:lpstr>
      <vt:lpstr>The Procedure Abstraction, Part V: Support for OOLs  Comp 412</vt:lpstr>
      <vt:lpstr>What about  Object-Oriented Languages?</vt:lpstr>
      <vt:lpstr>What Are The Issues?</vt:lpstr>
      <vt:lpstr>What is an Object?</vt:lpstr>
      <vt:lpstr>OOLs &amp; the Procedure Abstraction</vt:lpstr>
      <vt:lpstr>Implementing Object-Oriented Languages</vt:lpstr>
      <vt:lpstr>Concrete Example: The Java Name Space</vt:lpstr>
      <vt:lpstr>The Java Name Space</vt:lpstr>
      <vt:lpstr>Java Symbol Tables</vt:lpstr>
      <vt:lpstr>OOL Symbol Tables</vt:lpstr>
      <vt:lpstr>Java Symbol Tables</vt:lpstr>
      <vt:lpstr>What Are The Issues?</vt:lpstr>
      <vt:lpstr>Runtime Structures for OOLs</vt:lpstr>
      <vt:lpstr>Object Record Layout</vt:lpstr>
      <vt:lpstr>What About Inheritance?</vt:lpstr>
      <vt:lpstr>Open World versus Closed World</vt:lpstr>
    </vt:vector>
  </TitlesOfParts>
  <Company>Rice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Keith Cooper</dc:creator>
  <cp:lastModifiedBy>Elsevier</cp:lastModifiedBy>
  <cp:revision>72</cp:revision>
  <cp:lastPrinted>2010-10-22T12:54:09Z</cp:lastPrinted>
  <dcterms:created xsi:type="dcterms:W3CDTF">2010-10-25T17:36:36Z</dcterms:created>
  <dcterms:modified xsi:type="dcterms:W3CDTF">2020-10-20T11:43:58Z</dcterms:modified>
</cp:coreProperties>
</file>